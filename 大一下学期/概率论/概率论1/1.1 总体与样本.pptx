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1185" r:id="rId2"/>
    <p:sldId id="1186" r:id="rId3"/>
    <p:sldId id="1195" r:id="rId4"/>
    <p:sldId id="284" r:id="rId5"/>
    <p:sldId id="281" r:id="rId6"/>
    <p:sldId id="257" r:id="rId7"/>
    <p:sldId id="309" r:id="rId8"/>
    <p:sldId id="324" r:id="rId9"/>
    <p:sldId id="291" r:id="rId10"/>
    <p:sldId id="292" r:id="rId11"/>
    <p:sldId id="293" r:id="rId12"/>
    <p:sldId id="295" r:id="rId13"/>
    <p:sldId id="296" r:id="rId14"/>
    <p:sldId id="1196" r:id="rId15"/>
    <p:sldId id="328" r:id="rId16"/>
    <p:sldId id="329" r:id="rId17"/>
    <p:sldId id="331" r:id="rId18"/>
    <p:sldId id="334" r:id="rId19"/>
    <p:sldId id="336" r:id="rId20"/>
    <p:sldId id="337" r:id="rId21"/>
    <p:sldId id="340" r:id="rId22"/>
    <p:sldId id="341" r:id="rId23"/>
    <p:sldId id="345" r:id="rId24"/>
    <p:sldId id="346" r:id="rId25"/>
    <p:sldId id="1154" r:id="rId26"/>
    <p:sldId id="1155" r:id="rId27"/>
    <p:sldId id="1188" r:id="rId28"/>
    <p:sldId id="1165" r:id="rId29"/>
    <p:sldId id="1193" r:id="rId30"/>
    <p:sldId id="1156" r:id="rId31"/>
    <p:sldId id="1163" r:id="rId32"/>
    <p:sldId id="1167" r:id="rId33"/>
    <p:sldId id="1157" r:id="rId34"/>
    <p:sldId id="1158" r:id="rId35"/>
    <p:sldId id="1159" r:id="rId36"/>
    <p:sldId id="1190" r:id="rId37"/>
    <p:sldId id="1191" r:id="rId38"/>
    <p:sldId id="1192" r:id="rId39"/>
    <p:sldId id="1160" r:id="rId40"/>
    <p:sldId id="1189" r:id="rId41"/>
    <p:sldId id="1194" r:id="rId42"/>
    <p:sldId id="1187" r:id="rId43"/>
    <p:sldId id="1161" r:id="rId44"/>
    <p:sldId id="483" r:id="rId45"/>
  </p:sldIdLst>
  <p:sldSz cx="9144000" cy="5143500" type="screen16x9"/>
  <p:notesSz cx="6858000" cy="9144000"/>
  <p:custDataLst>
    <p:tags r:id="rId47"/>
  </p:custDataLst>
  <p:defaultText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pos="476" userDrawn="1">
          <p15:clr>
            <a:srgbClr val="A4A3A4"/>
          </p15:clr>
        </p15:guide>
        <p15:guide id="4" pos="52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B70"/>
    <a:srgbClr val="E88D22"/>
    <a:srgbClr val="94CDD4"/>
    <a:srgbClr val="F2F2F2"/>
    <a:srgbClr val="034EA2"/>
    <a:srgbClr val="0075BF"/>
    <a:srgbClr val="0087CD"/>
    <a:srgbClr val="C68F06"/>
    <a:srgbClr val="DB2C03"/>
    <a:srgbClr val="EBAC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0143" autoAdjust="0"/>
  </p:normalViewPr>
  <p:slideViewPr>
    <p:cSldViewPr>
      <p:cViewPr varScale="1">
        <p:scale>
          <a:sx n="134" d="100"/>
          <a:sy n="134" d="100"/>
        </p:scale>
        <p:origin x="702" y="120"/>
      </p:cViewPr>
      <p:guideLst>
        <p:guide orient="horz" pos="1620"/>
        <p:guide pos="2880"/>
        <p:guide pos="476"/>
        <p:guide pos="5284"/>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pPr/>
              <a:t>2023/9/5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pPr/>
              <a:t>‹#›</a:t>
            </a:fld>
            <a:endParaRPr lang="zh-CN" altLang="en-US"/>
          </a:p>
        </p:txBody>
      </p:sp>
    </p:spTree>
    <p:extLst>
      <p:ext uri="{BB962C8B-B14F-4D97-AF65-F5344CB8AC3E}">
        <p14:creationId xmlns:p14="http://schemas.microsoft.com/office/powerpoint/2010/main" val="48234476"/>
      </p:ext>
    </p:extLst>
  </p:cSld>
  <p:clrMap bg1="lt1" tx1="dk1" bg2="lt2" tx2="dk2" accent1="accent1" accent2="accent2" accent3="accent3" accent4="accent4" accent5="accent5" accent6="accent6" hlink="hlink" folHlink="folHlink"/>
  <p:notesStyle>
    <a:lvl1pPr marL="0" algn="l" defTabSz="914282" rtl="0" eaLnBrk="1" latinLnBrk="0" hangingPunct="1">
      <a:defRPr sz="1200" kern="1200">
        <a:solidFill>
          <a:schemeClr val="tx1"/>
        </a:solidFill>
        <a:latin typeface="+mn-lt"/>
        <a:ea typeface="+mn-ea"/>
        <a:cs typeface="+mn-cs"/>
      </a:defRPr>
    </a:lvl1pPr>
    <a:lvl2pPr marL="457140" algn="l" defTabSz="914282" rtl="0" eaLnBrk="1" latinLnBrk="0" hangingPunct="1">
      <a:defRPr sz="1200" kern="1200">
        <a:solidFill>
          <a:schemeClr val="tx1"/>
        </a:solidFill>
        <a:latin typeface="+mn-lt"/>
        <a:ea typeface="+mn-ea"/>
        <a:cs typeface="+mn-cs"/>
      </a:defRPr>
    </a:lvl2pPr>
    <a:lvl3pPr marL="914282" algn="l" defTabSz="914282" rtl="0" eaLnBrk="1" latinLnBrk="0" hangingPunct="1">
      <a:defRPr sz="1200" kern="1200">
        <a:solidFill>
          <a:schemeClr val="tx1"/>
        </a:solidFill>
        <a:latin typeface="+mn-lt"/>
        <a:ea typeface="+mn-ea"/>
        <a:cs typeface="+mn-cs"/>
      </a:defRPr>
    </a:lvl3pPr>
    <a:lvl4pPr marL="1371422" algn="l" defTabSz="914282" rtl="0" eaLnBrk="1" latinLnBrk="0" hangingPunct="1">
      <a:defRPr sz="1200" kern="1200">
        <a:solidFill>
          <a:schemeClr val="tx1"/>
        </a:solidFill>
        <a:latin typeface="+mn-lt"/>
        <a:ea typeface="+mn-ea"/>
        <a:cs typeface="+mn-cs"/>
      </a:defRPr>
    </a:lvl4pPr>
    <a:lvl5pPr marL="1828563" algn="l" defTabSz="914282" rtl="0" eaLnBrk="1" latinLnBrk="0" hangingPunct="1">
      <a:defRPr sz="1200" kern="1200">
        <a:solidFill>
          <a:schemeClr val="tx1"/>
        </a:solidFill>
        <a:latin typeface="+mn-lt"/>
        <a:ea typeface="+mn-ea"/>
        <a:cs typeface="+mn-cs"/>
      </a:defRPr>
    </a:lvl5pPr>
    <a:lvl6pPr marL="2285704" algn="l" defTabSz="914282" rtl="0" eaLnBrk="1" latinLnBrk="0" hangingPunct="1">
      <a:defRPr sz="1200" kern="1200">
        <a:solidFill>
          <a:schemeClr val="tx1"/>
        </a:solidFill>
        <a:latin typeface="+mn-lt"/>
        <a:ea typeface="+mn-ea"/>
        <a:cs typeface="+mn-cs"/>
      </a:defRPr>
    </a:lvl6pPr>
    <a:lvl7pPr marL="2742845" algn="l" defTabSz="914282" rtl="0" eaLnBrk="1" latinLnBrk="0" hangingPunct="1">
      <a:defRPr sz="1200" kern="1200">
        <a:solidFill>
          <a:schemeClr val="tx1"/>
        </a:solidFill>
        <a:latin typeface="+mn-lt"/>
        <a:ea typeface="+mn-ea"/>
        <a:cs typeface="+mn-cs"/>
      </a:defRPr>
    </a:lvl7pPr>
    <a:lvl8pPr marL="3199985" algn="l" defTabSz="914282" rtl="0" eaLnBrk="1" latinLnBrk="0" hangingPunct="1">
      <a:defRPr sz="1200" kern="1200">
        <a:solidFill>
          <a:schemeClr val="tx1"/>
        </a:solidFill>
        <a:latin typeface="+mn-lt"/>
        <a:ea typeface="+mn-ea"/>
        <a:cs typeface="+mn-cs"/>
      </a:defRPr>
    </a:lvl8pPr>
    <a:lvl9pPr marL="3657126" algn="l" defTabSz="91428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1</a:t>
            </a:fld>
            <a:endParaRPr lang="zh-CN" altLang="en-US"/>
          </a:p>
        </p:txBody>
      </p:sp>
    </p:spTree>
    <p:extLst>
      <p:ext uri="{BB962C8B-B14F-4D97-AF65-F5344CB8AC3E}">
        <p14:creationId xmlns:p14="http://schemas.microsoft.com/office/powerpoint/2010/main" val="262203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zh-CN" altLang="en-US" dirty="0"/>
              <a:t>同学们好！从本章开始，我们进入到数理统计部分的学习</a:t>
            </a:r>
            <a:r>
              <a:rPr lang="en-US" altLang="zh-CN" dirty="0"/>
              <a:t>.</a:t>
            </a:r>
            <a:r>
              <a:rPr lang="zh-CN" altLang="en-US" dirty="0"/>
              <a:t>数理统计与前五章的概率论都是研究随机现象的数学学科，那么它们的区别何在呢？我们用一个例子来回答这个问题</a:t>
            </a:r>
            <a:r>
              <a:rPr lang="en-US" altLang="zh-CN" dirty="0"/>
              <a: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a:t>
            </a:fld>
            <a:endParaRPr lang="zh-CN" altLang="en-US"/>
          </a:p>
        </p:txBody>
      </p:sp>
    </p:spTree>
    <p:extLst>
      <p:ext uri="{BB962C8B-B14F-4D97-AF65-F5344CB8AC3E}">
        <p14:creationId xmlns:p14="http://schemas.microsoft.com/office/powerpoint/2010/main" val="2002580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E8500CB2-3700-42EB-8562-F49969B3A5AB}"/>
              </a:ext>
            </a:extLst>
          </p:cNvPr>
          <p:cNvSpPr>
            <a:spLocks noGrp="1" noRot="1" noChangeAspect="1" noChangeArrowheads="1" noTextEdit="1"/>
          </p:cNvSpPr>
          <p:nvPr>
            <p:ph type="sldImg"/>
          </p:nvPr>
        </p:nvSpPr>
        <p:spPr/>
      </p:sp>
      <p:sp>
        <p:nvSpPr>
          <p:cNvPr id="8195" name="备注占位符 2">
            <a:extLst>
              <a:ext uri="{FF2B5EF4-FFF2-40B4-BE49-F238E27FC236}">
                <a16:creationId xmlns:a16="http://schemas.microsoft.com/office/drawing/2014/main" id="{688BCD3A-1C44-4742-8FD8-2B3CC699680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6" name="灯片编号占位符 3">
            <a:extLst>
              <a:ext uri="{FF2B5EF4-FFF2-40B4-BE49-F238E27FC236}">
                <a16:creationId xmlns:a16="http://schemas.microsoft.com/office/drawing/2014/main" id="{7AE81525-3DD9-4DB2-8668-E041394F6FA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宋体" panose="02010600030101010101" pitchFamily="2" charset="-122"/>
              </a:defRPr>
            </a:lvl1pPr>
            <a:lvl2pPr marL="742950" indent="-285750">
              <a:defRPr sz="3600">
                <a:solidFill>
                  <a:schemeClr val="tx1"/>
                </a:solidFill>
                <a:latin typeface="Times New Roman" panose="02020603050405020304" pitchFamily="18" charset="0"/>
                <a:ea typeface="宋体" panose="02010600030101010101" pitchFamily="2" charset="-122"/>
              </a:defRPr>
            </a:lvl2pPr>
            <a:lvl3pPr marL="1143000" indent="-228600">
              <a:defRPr sz="3600">
                <a:solidFill>
                  <a:schemeClr val="tx1"/>
                </a:solidFill>
                <a:latin typeface="Times New Roman" panose="02020603050405020304" pitchFamily="18" charset="0"/>
                <a:ea typeface="宋体" panose="02010600030101010101" pitchFamily="2" charset="-122"/>
              </a:defRPr>
            </a:lvl3pPr>
            <a:lvl4pPr marL="1600200" indent="-228600">
              <a:defRPr sz="3600">
                <a:solidFill>
                  <a:schemeClr val="tx1"/>
                </a:solidFill>
                <a:latin typeface="Times New Roman" panose="02020603050405020304" pitchFamily="18" charset="0"/>
                <a:ea typeface="宋体" panose="02010600030101010101" pitchFamily="2" charset="-122"/>
              </a:defRPr>
            </a:lvl4pPr>
            <a:lvl5pPr marL="2057400" indent="-22860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fld id="{E725A590-024C-43ED-955F-68CA6306FA0F}" type="slidenum">
              <a:rPr lang="zh-CN" altLang="zh-CN" sz="1200">
                <a:latin typeface="Arial" panose="020B0604020202020204" pitchFamily="34" charset="0"/>
              </a:rPr>
              <a:pPr/>
              <a:t>8</a:t>
            </a:fld>
            <a:endParaRPr lang="zh-CN" altLang="zh-CN" sz="120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4B936706-5407-7E92-A2AE-458FF519DBD9}"/>
              </a:ext>
            </a:extLst>
          </p:cNvPr>
          <p:cNvSpPr>
            <a:spLocks noGrp="1" noRot="1" noChangeAspect="1" noChangeArrowheads="1" noTextEdit="1"/>
          </p:cNvSpPr>
          <p:nvPr>
            <p:ph type="sldImg"/>
          </p:nvPr>
        </p:nvSpPr>
        <p:spPr/>
      </p:sp>
      <p:sp>
        <p:nvSpPr>
          <p:cNvPr id="48131" name="备注占位符 2">
            <a:extLst>
              <a:ext uri="{FF2B5EF4-FFF2-40B4-BE49-F238E27FC236}">
                <a16:creationId xmlns:a16="http://schemas.microsoft.com/office/drawing/2014/main" id="{521486E0-7143-78BC-AE68-C60894E7E8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2" name="灯片编号占位符 3">
            <a:extLst>
              <a:ext uri="{FF2B5EF4-FFF2-40B4-BE49-F238E27FC236}">
                <a16:creationId xmlns:a16="http://schemas.microsoft.com/office/drawing/2014/main" id="{81B6FA2F-9049-F62D-5196-89C04CEB10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宋体" panose="02010600030101010101" pitchFamily="2" charset="-122"/>
              </a:defRPr>
            </a:lvl1pPr>
            <a:lvl2pPr marL="742950" indent="-285750">
              <a:defRPr sz="3600">
                <a:solidFill>
                  <a:schemeClr val="tx1"/>
                </a:solidFill>
                <a:latin typeface="Times New Roman" panose="02020603050405020304" pitchFamily="18" charset="0"/>
                <a:ea typeface="宋体" panose="02010600030101010101" pitchFamily="2" charset="-122"/>
              </a:defRPr>
            </a:lvl2pPr>
            <a:lvl3pPr marL="1143000" indent="-228600">
              <a:defRPr sz="3600">
                <a:solidFill>
                  <a:schemeClr val="tx1"/>
                </a:solidFill>
                <a:latin typeface="Times New Roman" panose="02020603050405020304" pitchFamily="18" charset="0"/>
                <a:ea typeface="宋体" panose="02010600030101010101" pitchFamily="2" charset="-122"/>
              </a:defRPr>
            </a:lvl3pPr>
            <a:lvl4pPr marL="1600200" indent="-228600">
              <a:defRPr sz="3600">
                <a:solidFill>
                  <a:schemeClr val="tx1"/>
                </a:solidFill>
                <a:latin typeface="Times New Roman" panose="02020603050405020304" pitchFamily="18" charset="0"/>
                <a:ea typeface="宋体" panose="02010600030101010101" pitchFamily="2" charset="-122"/>
              </a:defRPr>
            </a:lvl4pPr>
            <a:lvl5pPr marL="2057400" indent="-22860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宋体" panose="02010600030101010101" pitchFamily="2" charset="-122"/>
              </a:defRPr>
            </a:lvl9pPr>
          </a:lstStyle>
          <a:p>
            <a:fld id="{EEF00BAE-A285-4FB5-857E-3BADFE9A1184}" type="slidenum">
              <a:rPr lang="zh-CN" altLang="zh-CN" sz="1200">
                <a:latin typeface="Arial" panose="020B0604020202020204" pitchFamily="34" charset="0"/>
              </a:rPr>
              <a:pPr/>
              <a:t>13</a:t>
            </a:fld>
            <a:endParaRPr lang="zh-CN" altLang="zh-CN" sz="120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E7ED285-BD1A-D950-63B7-C7F1948781B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FA2EFEF-9AF9-48F5-ADB6-A07212884560}" type="slidenum">
              <a:rPr lang="en-US" altLang="zh-CN"/>
              <a:pPr>
                <a:spcBef>
                  <a:spcPct val="0"/>
                </a:spcBef>
              </a:pPr>
              <a:t>23</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为了严谨的研究统计问题，先要建立几个数理统计的基本概念</a:t>
            </a:r>
            <a:r>
              <a:rPr lang="en-US" altLang="zh-CN" dirty="0"/>
              <a:t>.</a:t>
            </a:r>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首先是总体，它是我们</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研究对象的全体，它通常表现为一些数量指标，如前例中一批产品的寿命、尺寸、重量等，而我们关注的是这些数量的分布状态，因此在数理统计中将总体定义为随机变量或该随机变量的分布</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它是未知的，也是数理统计的研究目标</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0" lang="zh-CN" altLang="en-US" sz="1200" dirty="0">
                <a:solidFill>
                  <a:schemeClr val="tx1"/>
                </a:solidFill>
                <a:latin typeface="+mn-lt"/>
                <a:ea typeface="+mn-ea"/>
                <a:cs typeface="+mn-cs"/>
              </a:rPr>
              <a:t>其次是样本，它是</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总体的部分个体，它表现为对总体观察（试验）的一些结果，在数理统计中将样本定义为</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个独立同分布于总体的随机变量</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它们“同分布于总体” 就带来了总体的信息，而“独立”的条件则方便我们提取有用的信息</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值得提醒的是，样本作为实验结果在实验前是随机变量，用大写的</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表示；在试验后是实数，成为样本观察值，用小写的</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表示</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这里</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称为样本容量，它反映了样本带来总体信息量的大小</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25</a:t>
            </a:fld>
            <a:endParaRPr lang="zh-CN" altLang="en-US"/>
          </a:p>
        </p:txBody>
      </p:sp>
    </p:spTree>
    <p:extLst>
      <p:ext uri="{BB962C8B-B14F-4D97-AF65-F5344CB8AC3E}">
        <p14:creationId xmlns:p14="http://schemas.microsoft.com/office/powerpoint/2010/main" val="4287408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这样，“数理统计”可表述为：由样本对总体的分布（特征）进行合理地</a:t>
            </a:r>
            <a:r>
              <a:rPr kumimoji="1" lang="zh-CN" altLang="en-US" sz="12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推断</a:t>
            </a:r>
            <a:r>
              <a:rPr kumimoji="1" lang="en-US" altLang="zh-CN" sz="12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2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这里用“推断”一词以区别其他数学学科的“求解”，后面大家会看到“推断”表现为：</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对未知量的估计；</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对某种说法合理性的判断</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26</a:t>
            </a:fld>
            <a:endParaRPr lang="zh-CN" altLang="en-US"/>
          </a:p>
        </p:txBody>
      </p:sp>
    </p:spTree>
    <p:extLst>
      <p:ext uri="{BB962C8B-B14F-4D97-AF65-F5344CB8AC3E}">
        <p14:creationId xmlns:p14="http://schemas.microsoft.com/office/powerpoint/2010/main" val="4051818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就是用经验分布函数估计理论分布函数</a:t>
            </a:r>
            <a:r>
              <a:rPr lang="en-US" altLang="zh-CN" dirty="0"/>
              <a:t>.</a:t>
            </a:r>
          </a:p>
          <a:p>
            <a:r>
              <a:rPr lang="zh-CN" altLang="en-US" dirty="0"/>
              <a:t>理论分布函数就是总体的分布函数</a:t>
            </a:r>
            <a:r>
              <a:rPr lang="en-US" altLang="zh-CN" dirty="0"/>
              <a:t>F(x)</a:t>
            </a:r>
            <a:r>
              <a:rPr lang="zh-CN" altLang="en-US" dirty="0"/>
              <a:t>，它是客观存在的未知函数，按定义：</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样本的联合分布函数是总体分布函数</a:t>
            </a:r>
            <a:r>
              <a:rPr lang="en-US" altLang="zh-CN" dirty="0"/>
              <a:t>F(xi)</a:t>
            </a:r>
            <a:r>
              <a:rPr lang="zh-CN" altLang="en-US" dirty="0"/>
              <a:t>的乘积</a:t>
            </a:r>
            <a:r>
              <a:rPr lang="en-US" altLang="zh-CN" dirty="0"/>
              <a:t>.</a:t>
            </a:r>
          </a:p>
          <a:p>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我们主要关注两类总体：</a:t>
            </a:r>
            <a:endPar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对离散型总体，样本的联合分布律为各</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Xi</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的分布律的乘积，</a:t>
            </a:r>
            <a:endPar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例如：</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2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为取自总体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B</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的样本，则其联合分布律为</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27</a:t>
            </a:fld>
            <a:endParaRPr lang="zh-CN" altLang="en-US"/>
          </a:p>
        </p:txBody>
      </p:sp>
    </p:spTree>
    <p:extLst>
      <p:ext uri="{BB962C8B-B14F-4D97-AF65-F5344CB8AC3E}">
        <p14:creationId xmlns:p14="http://schemas.microsoft.com/office/powerpoint/2010/main" val="742919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对连续型总体：</a:t>
            </a:r>
            <a:r>
              <a:rPr kumimoji="0" lang="zh-CN" altLang="en-US" dirty="0">
                <a:solidFill>
                  <a:schemeClr val="tx1"/>
                </a:solidFill>
                <a:latin typeface="+mn-lt"/>
                <a:ea typeface="+mn-ea"/>
                <a:cs typeface="+mn-cs"/>
              </a:rPr>
              <a:t>样本的联合密度函数为各</a:t>
            </a:r>
            <a:r>
              <a:rPr kumimoji="0" lang="en-US" altLang="zh-CN" dirty="0">
                <a:solidFill>
                  <a:schemeClr val="tx1"/>
                </a:solidFill>
                <a:latin typeface="+mn-lt"/>
                <a:ea typeface="+mn-ea"/>
                <a:cs typeface="+mn-cs"/>
              </a:rPr>
              <a:t>Xi</a:t>
            </a:r>
            <a:r>
              <a:rPr kumimoji="0" lang="zh-CN" altLang="en-US" dirty="0">
                <a:solidFill>
                  <a:schemeClr val="tx1"/>
                </a:solidFill>
                <a:latin typeface="+mn-lt"/>
                <a:ea typeface="+mn-ea"/>
                <a:cs typeface="+mn-cs"/>
              </a:rPr>
              <a:t>的密度函数的乘积，</a:t>
            </a:r>
            <a:endParaRPr kumimoji="0" lang="en-US" altLang="zh-CN" dirty="0">
              <a:solidFill>
                <a:schemeClr val="tx1"/>
              </a:solidFill>
              <a:latin typeface="+mn-lt"/>
              <a:ea typeface="+mn-ea"/>
              <a:cs typeface="+mn-cs"/>
            </a:endParaRP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例如：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为取自总体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(0,σ</a:t>
            </a:r>
            <a:r>
              <a:rPr kumimoji="1" lang="en-US" altLang="zh-CN" sz="12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的样本，则其联合密度函数为</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p>
          <a:p>
            <a:pPr marL="0" marR="0" indent="0" algn="l" defTabSz="914282" rtl="0" eaLnBrk="1" fontAlgn="auto" latinLnBrk="0" hangingPunct="1">
              <a:lnSpc>
                <a:spcPct val="100000"/>
              </a:lnSpc>
              <a:spcBef>
                <a:spcPts val="0"/>
              </a:spcBef>
              <a:spcAft>
                <a:spcPts val="0"/>
              </a:spcAft>
              <a:buClrTx/>
              <a:buSzTx/>
              <a:buFontTx/>
              <a:buNone/>
              <a:tabLst/>
              <a:defRPr/>
            </a:pPr>
            <a:endPar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28</a:t>
            </a:fld>
            <a:endParaRPr lang="zh-CN" altLang="en-US"/>
          </a:p>
        </p:txBody>
      </p:sp>
    </p:spTree>
    <p:extLst>
      <p:ext uri="{BB962C8B-B14F-4D97-AF65-F5344CB8AC3E}">
        <p14:creationId xmlns:p14="http://schemas.microsoft.com/office/powerpoint/2010/main" val="742919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再来说经验分布函数，它是这样构建的一个实函数：</a:t>
            </a:r>
            <a:endParaRPr lang="en-US" altLang="zh-CN" dirty="0"/>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首先，将样本观察值</a:t>
            </a:r>
            <a:r>
              <a:rPr kumimoji="1" lang="en-US" altLang="zh-CN" sz="1200" i="1" dirty="0">
                <a:solidFill>
                  <a:srgbClr val="1F4B70"/>
                </a:solidFill>
                <a:latin typeface="Times New Roman" panose="02020603050405020304" pitchFamily="18" charset="0"/>
              </a:rPr>
              <a:t>x</a:t>
            </a:r>
            <a:r>
              <a:rPr kumimoji="1" lang="en-US" altLang="zh-CN" sz="1200" baseline="-25000" dirty="0">
                <a:solidFill>
                  <a:srgbClr val="1F4B70"/>
                </a:solidFill>
                <a:latin typeface="Times New Roman" panose="02020603050405020304" pitchFamily="18" charset="0"/>
              </a:rPr>
              <a:t>1</a:t>
            </a:r>
            <a:r>
              <a:rPr kumimoji="1" lang="en-US" altLang="zh-CN" sz="1200" dirty="0">
                <a:solidFill>
                  <a:srgbClr val="1F4B70"/>
                </a:solidFill>
                <a:latin typeface="Times New Roman" panose="02020603050405020304" pitchFamily="18" charset="0"/>
              </a:rPr>
              <a:t>, </a:t>
            </a:r>
            <a:r>
              <a:rPr kumimoji="1" lang="en-US" altLang="zh-CN" sz="1200" i="1" dirty="0">
                <a:solidFill>
                  <a:srgbClr val="1F4B70"/>
                </a:solidFill>
                <a:latin typeface="Times New Roman" panose="02020603050405020304" pitchFamily="18" charset="0"/>
              </a:rPr>
              <a:t>x</a:t>
            </a:r>
            <a:r>
              <a:rPr kumimoji="1" lang="en-US" altLang="zh-CN" sz="1200" baseline="-25000" dirty="0">
                <a:solidFill>
                  <a:srgbClr val="1F4B70"/>
                </a:solidFill>
                <a:latin typeface="Times New Roman" panose="02020603050405020304" pitchFamily="18" charset="0"/>
              </a:rPr>
              <a:t>2</a:t>
            </a:r>
            <a:r>
              <a:rPr kumimoji="1" lang="en-US" altLang="zh-CN" sz="1200" dirty="0">
                <a:solidFill>
                  <a:srgbClr val="1F4B70"/>
                </a:solidFill>
                <a:latin typeface="Times New Roman" panose="02020603050405020304" pitchFamily="18" charset="0"/>
              </a:rPr>
              <a:t>, </a:t>
            </a:r>
            <a:r>
              <a:rPr lang="en-US" altLang="zh-CN" sz="1200" dirty="0">
                <a:solidFill>
                  <a:srgbClr val="1F4B70"/>
                </a:solidFill>
                <a:latin typeface="Times New Roman" pitchFamily="18" charset="0"/>
                <a:cs typeface="Times New Roman" pitchFamily="18" charset="0"/>
              </a:rPr>
              <a:t>∙∙∙</a:t>
            </a:r>
            <a:r>
              <a:rPr kumimoji="1" lang="en-US" altLang="zh-CN" sz="1200" dirty="0">
                <a:solidFill>
                  <a:srgbClr val="1F4B70"/>
                </a:solidFill>
                <a:latin typeface="Times New Roman" panose="02020603050405020304" pitchFamily="18" charset="0"/>
              </a:rPr>
              <a:t>, </a:t>
            </a:r>
            <a:r>
              <a:rPr kumimoji="1" lang="en-US" altLang="zh-CN" sz="1200" i="1" dirty="0" err="1">
                <a:solidFill>
                  <a:srgbClr val="1F4B70"/>
                </a:solidFill>
                <a:latin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rPr>
              <a:t>n</a:t>
            </a:r>
            <a:r>
              <a:rPr kumimoji="1" lang="zh-CN" altLang="en-US" sz="1200" i="0" baseline="0" dirty="0">
                <a:solidFill>
                  <a:srgbClr val="1F4B70"/>
                </a:solidFill>
                <a:latin typeface="Times New Roman" panose="02020603050405020304" pitchFamily="18" charset="0"/>
              </a:rPr>
              <a:t>从小到大排序，记为</a:t>
            </a:r>
            <a:r>
              <a:rPr kumimoji="1" lang="en-US" altLang="zh-CN" sz="1200" i="1" dirty="0">
                <a:solidFill>
                  <a:srgbClr val="1F4B70"/>
                </a:solidFill>
                <a:latin typeface="Times New Roman" panose="02020603050405020304" pitchFamily="18" charset="0"/>
              </a:rPr>
              <a:t>x</a:t>
            </a:r>
            <a:r>
              <a:rPr kumimoji="1" lang="en-US" altLang="zh-CN" sz="1200" baseline="-25000" dirty="0">
                <a:solidFill>
                  <a:srgbClr val="1F4B70"/>
                </a:solidFill>
                <a:latin typeface="Times New Roman" panose="02020603050405020304" pitchFamily="18" charset="0"/>
              </a:rPr>
              <a:t>1</a:t>
            </a:r>
            <a:r>
              <a:rPr kumimoji="1" lang="en-US" altLang="zh-CN" sz="1200" baseline="30000" dirty="0">
                <a:solidFill>
                  <a:srgbClr val="1F4B70"/>
                </a:solidFill>
                <a:latin typeface="Times New Roman" panose="02020603050405020304" pitchFamily="18" charset="0"/>
              </a:rPr>
              <a:t>* </a:t>
            </a:r>
            <a:r>
              <a:rPr kumimoji="1" lang="zh-CN" altLang="en-US" sz="1200" baseline="0" dirty="0">
                <a:solidFill>
                  <a:srgbClr val="1F4B70"/>
                </a:solidFill>
                <a:latin typeface="Times New Roman" panose="02020603050405020304" pitchFamily="18" charset="0"/>
              </a:rPr>
              <a:t>，</a:t>
            </a:r>
            <a:r>
              <a:rPr kumimoji="1" lang="en-US" altLang="zh-CN" sz="1200" i="1" dirty="0">
                <a:solidFill>
                  <a:srgbClr val="1F4B70"/>
                </a:solidFill>
                <a:latin typeface="Times New Roman" panose="02020603050405020304" pitchFamily="18" charset="0"/>
              </a:rPr>
              <a:t>x</a:t>
            </a:r>
            <a:r>
              <a:rPr kumimoji="1" lang="en-US" altLang="zh-CN" sz="1200" baseline="-25000" dirty="0">
                <a:solidFill>
                  <a:srgbClr val="1F4B70"/>
                </a:solidFill>
                <a:latin typeface="Times New Roman" panose="02020603050405020304" pitchFamily="18" charset="0"/>
              </a:rPr>
              <a:t>2</a:t>
            </a:r>
            <a:r>
              <a:rPr kumimoji="1" lang="en-US" altLang="zh-CN" sz="1200" baseline="30000" dirty="0">
                <a:solidFill>
                  <a:srgbClr val="1F4B70"/>
                </a:solidFill>
                <a:latin typeface="Times New Roman" panose="02020603050405020304" pitchFamily="18" charset="0"/>
              </a:rPr>
              <a:t>*</a:t>
            </a:r>
            <a:r>
              <a:rPr kumimoji="1" lang="zh-CN" altLang="en-US" sz="1200" baseline="0" dirty="0">
                <a:solidFill>
                  <a:srgbClr val="1F4B70"/>
                </a:solidFill>
                <a:latin typeface="Times New Roman" panose="02020603050405020304" pitchFamily="18" charset="0"/>
              </a:rPr>
              <a:t>，</a:t>
            </a:r>
            <a:r>
              <a:rPr lang="en-US" altLang="zh-CN" sz="1200" dirty="0">
                <a:solidFill>
                  <a:srgbClr val="1F4B70"/>
                </a:solidFill>
                <a:latin typeface="Times New Roman" pitchFamily="18" charset="0"/>
                <a:cs typeface="Times New Roman" pitchFamily="18" charset="0"/>
              </a:rPr>
              <a:t>∙∙∙</a:t>
            </a:r>
            <a:r>
              <a:rPr kumimoji="1" lang="zh-CN" altLang="en-US" sz="1200" baseline="0" dirty="0">
                <a:solidFill>
                  <a:srgbClr val="1F4B70"/>
                </a:solidFill>
                <a:latin typeface="Times New Roman" panose="02020603050405020304" pitchFamily="18" charset="0"/>
              </a:rPr>
              <a:t>，</a:t>
            </a:r>
            <a:r>
              <a:rPr kumimoji="1" lang="en-US" altLang="zh-CN" sz="1200" i="1" dirty="0" err="1">
                <a:solidFill>
                  <a:srgbClr val="1F4B70"/>
                </a:solidFill>
                <a:latin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rPr>
              <a:t>n</a:t>
            </a:r>
            <a:r>
              <a:rPr kumimoji="1" lang="en-US" altLang="zh-CN" sz="1200" baseline="30000" dirty="0">
                <a:solidFill>
                  <a:srgbClr val="1F4B70"/>
                </a:solidFill>
                <a:latin typeface="Times New Roman" panose="02020603050405020304" pitchFamily="18" charset="0"/>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i="0" baseline="0" dirty="0">
                <a:solidFill>
                  <a:srgbClr val="1F4B70"/>
                </a:solidFill>
                <a:latin typeface="Times New Roman" panose="02020603050405020304" pitchFamily="18" charset="0"/>
              </a:rPr>
              <a:t>然后，建立一个分段函数</a:t>
            </a:r>
            <a:r>
              <a:rPr kumimoji="1" lang="en-US" altLang="zh-CN" sz="1200" i="1" baseline="0" dirty="0" err="1">
                <a:solidFill>
                  <a:srgbClr val="1F4B70"/>
                </a:solidFill>
                <a:latin typeface="Times New Roman" panose="02020603050405020304" pitchFamily="18" charset="0"/>
              </a:rPr>
              <a:t>F</a:t>
            </a:r>
            <a:r>
              <a:rPr kumimoji="1" lang="en-US" altLang="zh-CN" sz="1200" i="1" baseline="-25000" dirty="0" err="1">
                <a:solidFill>
                  <a:srgbClr val="1F4B70"/>
                </a:solidFill>
                <a:latin typeface="Times New Roman" panose="02020603050405020304" pitchFamily="18" charset="0"/>
              </a:rPr>
              <a:t>n</a:t>
            </a:r>
            <a:r>
              <a:rPr kumimoji="1" lang="en-US" altLang="zh-CN" sz="1200" i="0" baseline="0" dirty="0">
                <a:solidFill>
                  <a:srgbClr val="1F4B70"/>
                </a:solidFill>
                <a:latin typeface="Times New Roman" panose="02020603050405020304" pitchFamily="18" charset="0"/>
              </a:rPr>
              <a:t>(</a:t>
            </a:r>
            <a:r>
              <a:rPr kumimoji="1" lang="en-US" altLang="zh-CN" sz="1200" i="1" baseline="0" dirty="0">
                <a:solidFill>
                  <a:srgbClr val="1F4B70"/>
                </a:solidFill>
                <a:latin typeface="Times New Roman" panose="02020603050405020304" pitchFamily="18" charset="0"/>
              </a:rPr>
              <a:t>x</a:t>
            </a:r>
            <a:r>
              <a:rPr kumimoji="1" lang="en-US" altLang="zh-CN" sz="1200" i="0" baseline="0" dirty="0">
                <a:solidFill>
                  <a:srgbClr val="1F4B70"/>
                </a:solidFill>
                <a:latin typeface="Times New Roman" panose="02020603050405020304" pitchFamily="18" charset="0"/>
              </a:rPr>
              <a:t>)</a:t>
            </a:r>
            <a:r>
              <a:rPr kumimoji="1" lang="zh-CN" altLang="en-US" sz="1200" i="0" baseline="0" dirty="0">
                <a:solidFill>
                  <a:srgbClr val="1F4B70"/>
                </a:solidFill>
                <a:latin typeface="Times New Roman" panose="02020603050405020304" pitchFamily="18" charset="0"/>
              </a:rPr>
              <a:t>：当自变量小于</a:t>
            </a:r>
            <a:r>
              <a:rPr kumimoji="1" lang="en-US" altLang="zh-CN" sz="1200" i="1" dirty="0">
                <a:solidFill>
                  <a:srgbClr val="1F4B70"/>
                </a:solidFill>
                <a:latin typeface="Times New Roman" panose="02020603050405020304" pitchFamily="18" charset="0"/>
              </a:rPr>
              <a:t>x</a:t>
            </a:r>
            <a:r>
              <a:rPr kumimoji="1" lang="en-US" altLang="zh-CN" sz="1200" baseline="-25000" dirty="0">
                <a:solidFill>
                  <a:srgbClr val="1F4B70"/>
                </a:solidFill>
                <a:latin typeface="Times New Roman" panose="02020603050405020304" pitchFamily="18" charset="0"/>
              </a:rPr>
              <a:t>1</a:t>
            </a:r>
            <a:r>
              <a:rPr kumimoji="1" lang="en-US" altLang="zh-CN" sz="1200" baseline="30000" dirty="0">
                <a:solidFill>
                  <a:srgbClr val="1F4B70"/>
                </a:solidFill>
                <a:latin typeface="Times New Roman" panose="02020603050405020304" pitchFamily="18" charset="0"/>
              </a:rPr>
              <a:t>*</a:t>
            </a:r>
            <a:r>
              <a:rPr kumimoji="1" lang="zh-CN" altLang="en-US" sz="1200" i="0" baseline="0" dirty="0">
                <a:solidFill>
                  <a:srgbClr val="1F4B70"/>
                </a:solidFill>
                <a:latin typeface="Times New Roman" panose="02020603050405020304" pitchFamily="18" charset="0"/>
              </a:rPr>
              <a:t>时函数值为</a:t>
            </a:r>
            <a:r>
              <a:rPr kumimoji="1" lang="en-US" altLang="zh-CN" sz="1200" i="0" baseline="0" dirty="0">
                <a:solidFill>
                  <a:srgbClr val="1F4B70"/>
                </a:solidFill>
                <a:latin typeface="Times New Roman" panose="02020603050405020304" pitchFamily="18" charset="0"/>
              </a:rPr>
              <a:t>0</a:t>
            </a:r>
            <a:r>
              <a:rPr kumimoji="1" lang="zh-CN" altLang="en-US" sz="1200" i="0" baseline="0" dirty="0">
                <a:solidFill>
                  <a:srgbClr val="1F4B70"/>
                </a:solidFill>
                <a:latin typeface="Times New Roman" panose="02020603050405020304" pitchFamily="18" charset="0"/>
              </a:rPr>
              <a:t>；当自变量在</a:t>
            </a:r>
            <a:r>
              <a:rPr kumimoji="1" lang="en-US" altLang="zh-CN" sz="1200" i="1" dirty="0" err="1">
                <a:solidFill>
                  <a:srgbClr val="1F4B70"/>
                </a:solidFill>
                <a:latin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rPr>
              <a:t>k</a:t>
            </a:r>
            <a:r>
              <a:rPr kumimoji="1" lang="en-US" altLang="zh-CN" sz="1200" baseline="30000" dirty="0">
                <a:solidFill>
                  <a:srgbClr val="1F4B70"/>
                </a:solidFill>
                <a:latin typeface="Times New Roman" panose="02020603050405020304" pitchFamily="18" charset="0"/>
              </a:rPr>
              <a:t>*</a:t>
            </a:r>
            <a:r>
              <a:rPr kumimoji="1" lang="zh-CN" altLang="en-US" sz="1200" i="0" baseline="0" dirty="0">
                <a:solidFill>
                  <a:srgbClr val="1F4B70"/>
                </a:solidFill>
                <a:latin typeface="Times New Roman" panose="02020603050405020304" pitchFamily="18" charset="0"/>
              </a:rPr>
              <a:t>与</a:t>
            </a:r>
            <a:r>
              <a:rPr kumimoji="1" lang="en-US" altLang="zh-CN" sz="1200" i="1" dirty="0">
                <a:solidFill>
                  <a:srgbClr val="1F4B70"/>
                </a:solidFill>
                <a:latin typeface="Times New Roman" panose="02020603050405020304" pitchFamily="18" charset="0"/>
              </a:rPr>
              <a:t>x</a:t>
            </a:r>
            <a:r>
              <a:rPr kumimoji="1" lang="en-US" altLang="zh-CN" sz="1200" i="1" baseline="-25000" dirty="0">
                <a:solidFill>
                  <a:srgbClr val="1F4B70"/>
                </a:solidFill>
                <a:latin typeface="Times New Roman" panose="02020603050405020304" pitchFamily="18" charset="0"/>
              </a:rPr>
              <a:t>k</a:t>
            </a:r>
            <a:r>
              <a:rPr kumimoji="1" lang="en-US" altLang="zh-CN" sz="1200" i="0" baseline="-25000" dirty="0">
                <a:solidFill>
                  <a:srgbClr val="1F4B70"/>
                </a:solidFill>
                <a:latin typeface="Times New Roman" panose="02020603050405020304" pitchFamily="18" charset="0"/>
              </a:rPr>
              <a:t>+1</a:t>
            </a:r>
            <a:r>
              <a:rPr kumimoji="1" lang="en-US" altLang="zh-CN" sz="1200" baseline="30000" dirty="0">
                <a:solidFill>
                  <a:srgbClr val="1F4B70"/>
                </a:solidFill>
                <a:latin typeface="Times New Roman" panose="02020603050405020304" pitchFamily="18" charset="0"/>
              </a:rPr>
              <a:t>*</a:t>
            </a:r>
            <a:r>
              <a:rPr kumimoji="1" lang="zh-CN" altLang="en-US" sz="1200" i="0" baseline="0" dirty="0">
                <a:solidFill>
                  <a:srgbClr val="1F4B70"/>
                </a:solidFill>
                <a:latin typeface="Times New Roman" panose="02020603050405020304" pitchFamily="18" charset="0"/>
              </a:rPr>
              <a:t>之间时函数值为</a:t>
            </a:r>
            <a:r>
              <a:rPr kumimoji="1" lang="en-US" altLang="zh-CN" sz="1200" i="0" baseline="0" dirty="0">
                <a:solidFill>
                  <a:srgbClr val="1F4B70"/>
                </a:solidFill>
                <a:latin typeface="Times New Roman" panose="02020603050405020304" pitchFamily="18" charset="0"/>
              </a:rPr>
              <a:t>k/n</a:t>
            </a:r>
            <a:r>
              <a:rPr kumimoji="1" lang="zh-CN" altLang="en-US" sz="1200" i="0" baseline="0" dirty="0">
                <a:solidFill>
                  <a:srgbClr val="1F4B70"/>
                </a:solidFill>
                <a:latin typeface="Times New Roman" panose="02020603050405020304" pitchFamily="18" charset="0"/>
              </a:rPr>
              <a:t>；当自变量大于</a:t>
            </a:r>
            <a:r>
              <a:rPr kumimoji="1" lang="en-US" altLang="zh-CN" sz="1200" i="1" dirty="0" err="1">
                <a:solidFill>
                  <a:srgbClr val="1F4B70"/>
                </a:solidFill>
                <a:latin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rPr>
              <a:t>n</a:t>
            </a:r>
            <a:r>
              <a:rPr kumimoji="1" lang="en-US" altLang="zh-CN" sz="1200" baseline="30000" dirty="0">
                <a:solidFill>
                  <a:srgbClr val="1F4B70"/>
                </a:solidFill>
                <a:latin typeface="Times New Roman" panose="02020603050405020304" pitchFamily="18" charset="0"/>
              </a:rPr>
              <a:t>*</a:t>
            </a:r>
            <a:r>
              <a:rPr kumimoji="1" lang="zh-CN" altLang="en-US" sz="1200" i="0" baseline="0" dirty="0">
                <a:solidFill>
                  <a:srgbClr val="1F4B70"/>
                </a:solidFill>
                <a:latin typeface="Times New Roman" panose="02020603050405020304" pitchFamily="18" charset="0"/>
              </a:rPr>
              <a:t>时函数值为</a:t>
            </a:r>
            <a:r>
              <a:rPr kumimoji="1" lang="en-US" altLang="zh-CN" sz="1200" i="0" baseline="0" dirty="0">
                <a:solidFill>
                  <a:srgbClr val="1F4B70"/>
                </a:solidFill>
                <a:latin typeface="Times New Roman" panose="02020603050405020304" pitchFamily="18" charset="0"/>
              </a:rPr>
              <a:t>1.</a:t>
            </a:r>
          </a:p>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30</a:t>
            </a:fld>
            <a:endParaRPr lang="zh-CN" altLang="en-US"/>
          </a:p>
        </p:txBody>
      </p:sp>
    </p:spTree>
    <p:extLst>
      <p:ext uri="{BB962C8B-B14F-4D97-AF65-F5344CB8AC3E}">
        <p14:creationId xmlns:p14="http://schemas.microsoft.com/office/powerpoint/2010/main" val="512424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下面通过一个例子来体验一下经验分布函数的形态</a:t>
            </a:r>
            <a:r>
              <a:rPr lang="en-US" altLang="zh-CN" dirty="0"/>
              <a:t>.</a:t>
            </a:r>
          </a:p>
          <a:p>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利用随机地观测总体的</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8</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个数据，建立一个经验分布函数</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a:p>
            <a:r>
              <a:rPr lang="zh-CN" altLang="en-US" dirty="0"/>
              <a:t>首先将这</a:t>
            </a:r>
            <a:r>
              <a:rPr lang="en-US" altLang="zh-CN" dirty="0"/>
              <a:t>8</a:t>
            </a:r>
            <a:r>
              <a:rPr lang="zh-CN" altLang="en-US" dirty="0"/>
              <a:t>个数值从小到大排序，然后按定义写出分段函数</a:t>
            </a:r>
            <a:r>
              <a:rPr lang="en-US" altLang="zh-CN" i="1" dirty="0"/>
              <a:t>F</a:t>
            </a:r>
            <a:r>
              <a:rPr lang="en-US" altLang="zh-CN" baseline="-25000" dirty="0"/>
              <a:t>8</a:t>
            </a:r>
            <a:r>
              <a:rPr lang="en-US" altLang="zh-CN" dirty="0"/>
              <a:t>(</a:t>
            </a:r>
            <a:r>
              <a:rPr lang="en-US" altLang="zh-CN" i="1" dirty="0"/>
              <a:t>x</a:t>
            </a:r>
            <a:r>
              <a:rPr lang="en-US" altLang="zh-CN" dirty="0"/>
              <a:t>)</a:t>
            </a:r>
            <a:r>
              <a:rPr lang="zh-CN" altLang="en-US" dirty="0"/>
              <a:t>：（读表达式）</a:t>
            </a:r>
            <a:endParaRPr lang="en-US" altLang="zh-CN" dirty="0"/>
          </a:p>
          <a:p>
            <a:r>
              <a:rPr lang="zh-CN" altLang="en-US" dirty="0"/>
              <a:t>该函数的图像是这样一个阶梯图形：它分别在</a:t>
            </a:r>
            <a:r>
              <a:rPr lang="en-US" altLang="zh-CN" dirty="0"/>
              <a:t>2</a:t>
            </a:r>
            <a:r>
              <a:rPr lang="zh-CN" altLang="en-US" dirty="0"/>
              <a:t>、</a:t>
            </a:r>
            <a:r>
              <a:rPr lang="en-US" altLang="zh-CN" dirty="0"/>
              <a:t>2.7</a:t>
            </a:r>
            <a:r>
              <a:rPr lang="zh-CN" altLang="en-US" dirty="0"/>
              <a:t>和</a:t>
            </a:r>
            <a:r>
              <a:rPr lang="en-US" altLang="zh-CN" dirty="0"/>
              <a:t>3.5</a:t>
            </a:r>
            <a:r>
              <a:rPr lang="zh-CN" altLang="en-US" dirty="0"/>
              <a:t>处上升</a:t>
            </a:r>
            <a:r>
              <a:rPr lang="en-US" altLang="zh-CN" dirty="0"/>
              <a:t>1/8</a:t>
            </a:r>
            <a:r>
              <a:rPr lang="zh-CN" altLang="en-US" dirty="0"/>
              <a:t>，而在</a:t>
            </a:r>
            <a:r>
              <a:rPr lang="en-US" altLang="zh-CN" dirty="0"/>
              <a:t>2.5</a:t>
            </a:r>
            <a:r>
              <a:rPr lang="zh-CN" altLang="en-US" dirty="0"/>
              <a:t>处上升</a:t>
            </a:r>
            <a:r>
              <a:rPr lang="en-US" altLang="zh-CN" dirty="0"/>
              <a:t>3/8</a:t>
            </a:r>
            <a:r>
              <a:rPr lang="zh-CN" altLang="en-US" dirty="0"/>
              <a:t>，在</a:t>
            </a:r>
            <a:r>
              <a:rPr lang="en-US" altLang="zh-CN" dirty="0"/>
              <a:t>3</a:t>
            </a:r>
            <a:r>
              <a:rPr lang="zh-CN" altLang="en-US" dirty="0"/>
              <a:t>处上升</a:t>
            </a:r>
            <a:r>
              <a:rPr lang="en-US" altLang="zh-CN" dirty="0"/>
              <a:t>2/8</a:t>
            </a:r>
            <a:r>
              <a:rPr lang="zh-CN" altLang="en-US" dirty="0"/>
              <a:t>，这是因为该组数据中有三个</a:t>
            </a:r>
            <a:r>
              <a:rPr lang="en-US" altLang="zh-CN" dirty="0"/>
              <a:t>2.5</a:t>
            </a:r>
            <a:r>
              <a:rPr lang="zh-CN" altLang="en-US" dirty="0"/>
              <a:t>和两个</a:t>
            </a:r>
            <a:r>
              <a:rPr lang="en-US" altLang="zh-CN" dirty="0"/>
              <a:t>3.</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31</a:t>
            </a:fld>
            <a:endParaRPr lang="zh-CN" altLang="en-US"/>
          </a:p>
        </p:txBody>
      </p:sp>
    </p:spTree>
    <p:extLst>
      <p:ext uri="{BB962C8B-B14F-4D97-AF65-F5344CB8AC3E}">
        <p14:creationId xmlns:p14="http://schemas.microsoft.com/office/powerpoint/2010/main" val="1662014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由概率知识知本题求得的经验分布函数是这样一个离散型随机变量的分布函数</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32</a:t>
            </a:fld>
            <a:endParaRPr lang="zh-CN" altLang="en-US"/>
          </a:p>
        </p:txBody>
      </p:sp>
    </p:spTree>
    <p:extLst>
      <p:ext uri="{BB962C8B-B14F-4D97-AF65-F5344CB8AC3E}">
        <p14:creationId xmlns:p14="http://schemas.microsoft.com/office/powerpoint/2010/main" val="1662014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一般的经验分布函数</a:t>
            </a:r>
            <a:r>
              <a:rPr lang="en-US" altLang="zh-CN" dirty="0" err="1"/>
              <a:t>Fn</a:t>
            </a:r>
            <a:r>
              <a:rPr lang="en-US" altLang="zh-CN" dirty="0"/>
              <a:t>(x)</a:t>
            </a:r>
            <a:r>
              <a:rPr lang="zh-CN" altLang="en-US" dirty="0"/>
              <a:t>是这样的离散型随机变量</a:t>
            </a:r>
            <a:r>
              <a:rPr lang="en-US" altLang="zh-CN" dirty="0"/>
              <a:t>X</a:t>
            </a:r>
            <a:r>
              <a:rPr lang="zh-CN" altLang="en-US" dirty="0"/>
              <a:t>的分布函数，</a:t>
            </a:r>
            <a:r>
              <a:rPr lang="en-US" altLang="zh-CN" dirty="0"/>
              <a:t>X</a:t>
            </a:r>
            <a:r>
              <a:rPr lang="zh-CN" altLang="en-US" dirty="0"/>
              <a:t>在每个样本观察值</a:t>
            </a:r>
            <a:r>
              <a:rPr lang="en-US" altLang="zh-CN" dirty="0"/>
              <a:t>xi</a:t>
            </a:r>
            <a:r>
              <a:rPr lang="zh-CN" altLang="en-US" dirty="0"/>
              <a:t>上的概率为</a:t>
            </a:r>
            <a:r>
              <a:rPr lang="en-US" altLang="zh-CN" dirty="0"/>
              <a:t>1/n</a:t>
            </a:r>
            <a:r>
              <a:rPr lang="zh-CN" altLang="en-US" dirty="0"/>
              <a:t>，若有相同的观察值，则将相应的概率叠加</a:t>
            </a:r>
            <a:r>
              <a:rPr lang="en-US" altLang="zh-CN" dirty="0"/>
              <a:t>.</a:t>
            </a:r>
          </a:p>
          <a:p>
            <a:r>
              <a:rPr lang="zh-CN" altLang="en-US" dirty="0"/>
              <a:t>这样的经验分布函数与我们要推断的理论分布函数有什么关系呢？</a:t>
            </a:r>
            <a:endParaRPr lang="en-US" altLang="zh-CN" dirty="0"/>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格列汶科定理</a:t>
            </a:r>
            <a:r>
              <a:rPr kumimoji="0" lang="zh-CN" altLang="en-US" sz="1200" b="0" dirty="0">
                <a:solidFill>
                  <a:schemeClr val="tx1"/>
                </a:solidFill>
                <a:latin typeface="+mn-lt"/>
                <a:ea typeface="+mn-ea"/>
                <a:cs typeface="+mn-cs"/>
              </a:rPr>
              <a:t>对此作了严谨的数学刻画：</a:t>
            </a:r>
            <a:endParaRPr kumimoji="0" lang="en-US" altLang="zh-CN" sz="1200" b="0" dirty="0">
              <a:solidFill>
                <a:schemeClr val="tx1"/>
              </a:solidFill>
              <a:latin typeface="+mn-lt"/>
              <a:ea typeface="+mn-ea"/>
              <a:cs typeface="+mn-cs"/>
            </a:endParaRPr>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经验分布函数</a:t>
            </a:r>
            <a:r>
              <a:rPr lang="en-US" altLang="zh-CN" dirty="0" err="1"/>
              <a:t>Fn</a:t>
            </a:r>
            <a:r>
              <a:rPr lang="en-US" altLang="zh-CN" dirty="0"/>
              <a:t>(x)</a:t>
            </a:r>
            <a:r>
              <a:rPr lang="zh-CN" altLang="en-US" dirty="0"/>
              <a:t>与理论分布函数</a:t>
            </a:r>
            <a:r>
              <a:rPr lang="en-US" altLang="zh-CN" dirty="0"/>
              <a:t>F(x)</a:t>
            </a:r>
            <a:r>
              <a:rPr lang="zh-CN" altLang="en-US" dirty="0"/>
              <a:t>的偏差，在所有</a:t>
            </a:r>
            <a:r>
              <a:rPr lang="en-US" altLang="zh-CN" dirty="0"/>
              <a:t>x</a:t>
            </a:r>
            <a:r>
              <a:rPr lang="zh-CN" altLang="en-US" dirty="0"/>
              <a:t>处的最大者，当</a:t>
            </a:r>
            <a:r>
              <a:rPr lang="en-US" altLang="zh-CN" dirty="0"/>
              <a:t>n</a:t>
            </a:r>
            <a:r>
              <a:rPr lang="zh-CN" altLang="en-US" dirty="0"/>
              <a:t>趋于无穷时的极限为</a:t>
            </a:r>
            <a:r>
              <a:rPr lang="en-US" altLang="zh-CN" dirty="0"/>
              <a:t>0</a:t>
            </a:r>
            <a:r>
              <a:rPr lang="zh-CN" altLang="en-US" dirty="0"/>
              <a:t>，这件事的概率为</a:t>
            </a:r>
            <a:r>
              <a:rPr lang="en-US" altLang="zh-CN" dirty="0"/>
              <a:t>1</a:t>
            </a:r>
            <a:r>
              <a:rPr lang="zh-CN" altLang="en-US" dirty="0"/>
              <a:t>（每个逗号对应一个动画）</a:t>
            </a:r>
            <a:r>
              <a:rPr lang="en-US" altLang="zh-CN" dirty="0"/>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b="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下面图形显示了</a:t>
            </a:r>
            <a:r>
              <a:rPr lang="zh-CN" altLang="en-US" dirty="0"/>
              <a:t>经验分布函数</a:t>
            </a:r>
            <a:r>
              <a:rPr lang="en-US" altLang="zh-CN" dirty="0" err="1"/>
              <a:t>Fn</a:t>
            </a:r>
            <a:r>
              <a:rPr lang="en-US" altLang="zh-CN" dirty="0"/>
              <a:t>(x)</a:t>
            </a:r>
            <a:r>
              <a:rPr lang="zh-CN" altLang="en-US" dirty="0"/>
              <a:t>是如何</a:t>
            </a:r>
            <a:r>
              <a:rPr kumimoji="1" lang="zh-CN" altLang="en-US" sz="1200" b="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随机地收敛到</a:t>
            </a:r>
            <a:r>
              <a:rPr lang="zh-CN" altLang="en-US" dirty="0"/>
              <a:t>理论分布函数</a:t>
            </a:r>
            <a:r>
              <a:rPr lang="en-US" altLang="zh-CN" dirty="0"/>
              <a:t>F(x)</a:t>
            </a:r>
            <a:r>
              <a:rPr lang="zh-CN" altLang="en-US" dirty="0"/>
              <a:t>的，这是</a:t>
            </a:r>
            <a:r>
              <a:rPr lang="en-US" altLang="zh-CN" dirty="0"/>
              <a:t>n=5</a:t>
            </a:r>
            <a:r>
              <a:rPr lang="zh-CN" altLang="en-US" dirty="0"/>
              <a:t>的情形（三幅），这是</a:t>
            </a:r>
            <a:r>
              <a:rPr lang="en-US" altLang="zh-CN" dirty="0"/>
              <a:t>n=10</a:t>
            </a:r>
            <a:r>
              <a:rPr lang="zh-CN" altLang="en-US" dirty="0"/>
              <a:t>的情形（三幅），这是</a:t>
            </a:r>
            <a:r>
              <a:rPr lang="en-US" altLang="zh-CN" dirty="0"/>
              <a:t>n=100</a:t>
            </a:r>
            <a:r>
              <a:rPr lang="zh-CN" altLang="en-US" dirty="0"/>
              <a:t>的情形（三幅）</a:t>
            </a:r>
            <a:r>
              <a:rPr lang="en-US" altLang="zh-CN" dirty="0"/>
              <a:t>.</a:t>
            </a:r>
            <a:endParaRPr kumimoji="1" lang="zh-CN" altLang="en-US" sz="1200" b="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33</a:t>
            </a:fld>
            <a:endParaRPr lang="zh-CN" altLang="en-US"/>
          </a:p>
        </p:txBody>
      </p:sp>
    </p:spTree>
    <p:extLst>
      <p:ext uri="{BB962C8B-B14F-4D97-AF65-F5344CB8AC3E}">
        <p14:creationId xmlns:p14="http://schemas.microsoft.com/office/powerpoint/2010/main" val="581115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设</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为来自总体</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的一个样本，若</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连续</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中不含有关总体的未知参数</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则称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a:t>
            </a:r>
            <a:r>
              <a:rPr kumimoji="1" lang="zh-CN" altLang="en-US"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统计量，当自变量由样本换为小写的样本观察值时，所得的函数值成为统计量观察值</a:t>
            </a:r>
            <a:r>
              <a:rPr kumimoji="1" lang="en-US" altLang="zh-CN"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t>其中条件</a:t>
            </a:r>
            <a:r>
              <a:rPr lang="en-US" altLang="zh-CN" dirty="0"/>
              <a:t>(1)</a:t>
            </a:r>
            <a:r>
              <a:rPr lang="zh-CN" altLang="en-US" dirty="0"/>
              <a:t>可放宽为</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为随机变量</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a:p>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例如，设</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为来自总体</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12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的样本，其中</a:t>
            </a:r>
            <a:r>
              <a:rPr kumimoji="1" lang="en-US" altLang="en-US"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已知，</a:t>
            </a:r>
            <a:r>
              <a:rPr kumimoji="1" lang="en-US" altLang="en-US"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en-US" sz="12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未知，那么下面样本的函数中那些是统计量呢？</a:t>
            </a:r>
            <a:endPar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(1)</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和</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(4)</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满足定义，是统计量，而</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(3)</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因含有未知的</a:t>
            </a:r>
            <a:r>
              <a:rPr kumimoji="1" lang="en-US" altLang="en-US"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zh-CN" altLang="en-US" sz="1200" i="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不是统计量</a:t>
            </a:r>
            <a:r>
              <a:rPr kumimoji="1" lang="en-US" altLang="zh-CN" sz="1200" i="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lang="zh-CN" altLang="en-US" i="0"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34</a:t>
            </a:fld>
            <a:endParaRPr lang="zh-CN" altLang="en-US"/>
          </a:p>
        </p:txBody>
      </p:sp>
    </p:spTree>
    <p:extLst>
      <p:ext uri="{BB962C8B-B14F-4D97-AF65-F5344CB8AC3E}">
        <p14:creationId xmlns:p14="http://schemas.microsoft.com/office/powerpoint/2010/main" val="4277208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统计量的作用在于提取样本中的有用信息，下面是一些常用的统计量：</a:t>
            </a:r>
            <a:endParaRPr lang="en-US" altLang="zh-CN" dirty="0"/>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第一是样本均值，它</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提取了总体期望的信息；</a:t>
            </a:r>
          </a:p>
          <a:p>
            <a:r>
              <a:rPr lang="zh-CN" altLang="en-US" dirty="0"/>
              <a:t>第二是样本方差，它</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提取了总体方差的信息，它的平方根称为样本标准差；</a:t>
            </a:r>
            <a:endPar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a:p>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第三是样本</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阶原点矩，</a:t>
            </a:r>
            <a:r>
              <a:rPr lang="zh-CN" altLang="en-US" dirty="0"/>
              <a:t>它</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提取了总体</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阶原点矩的信息，特别，</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就是样本均值；</a:t>
            </a:r>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第四是</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样本</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阶中心矩，</a:t>
            </a:r>
            <a:r>
              <a:rPr lang="zh-CN" altLang="en-US" dirty="0"/>
              <a:t>它</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提取了总体</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阶中心矩的信息，注意</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B</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是样本方差的</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(n-1)/n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倍；</a:t>
            </a:r>
          </a:p>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35</a:t>
            </a:fld>
            <a:endParaRPr lang="zh-CN" altLang="en-US"/>
          </a:p>
        </p:txBody>
      </p:sp>
    </p:spTree>
    <p:extLst>
      <p:ext uri="{BB962C8B-B14F-4D97-AF65-F5344CB8AC3E}">
        <p14:creationId xmlns:p14="http://schemas.microsoft.com/office/powerpoint/2010/main" val="2176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第五是顺序统计量，它是将随机抽取的</a:t>
            </a:r>
            <a:r>
              <a:rPr lang="en-US" altLang="zh-CN" dirty="0"/>
              <a:t>n</a:t>
            </a:r>
            <a:r>
              <a:rPr lang="zh-CN" altLang="en-US" dirty="0"/>
              <a:t>个样本量从小到大排序</a:t>
            </a:r>
            <a:endParaRPr lang="en-US" altLang="zh-CN" dirty="0"/>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进而选取排在正中间位置的量称为样本中位数，它</a:t>
            </a:r>
            <a:r>
              <a:rPr kumimoji="1" lang="zh-CN" altLang="en-US" sz="1200" dirty="0">
                <a:solidFill>
                  <a:srgbClr val="1F4B70"/>
                </a:solidFill>
                <a:latin typeface="微软雅黑" panose="020B0503020204020204" pitchFamily="34" charset="-122"/>
                <a:ea typeface="微软雅黑" panose="020B0503020204020204" pitchFamily="34" charset="-122"/>
              </a:rPr>
              <a:t>提取了分布中心位置的信息；</a:t>
            </a:r>
          </a:p>
          <a:p>
            <a:r>
              <a:rPr lang="zh-CN" altLang="en-US" dirty="0"/>
              <a:t>将排在两头的量作差称为样本极差，它</a:t>
            </a:r>
            <a:r>
              <a:rPr kumimoji="1" lang="zh-CN" altLang="en-US" sz="1200" dirty="0">
                <a:solidFill>
                  <a:srgbClr val="1F4B70"/>
                </a:solidFill>
                <a:latin typeface="微软雅黑" panose="020B0503020204020204" pitchFamily="34" charset="-122"/>
                <a:ea typeface="微软雅黑" panose="020B0503020204020204" pitchFamily="34" charset="-122"/>
              </a:rPr>
              <a:t>提取了分布范围大小的信息</a:t>
            </a:r>
            <a:r>
              <a:rPr kumimoji="1" lang="en-US" altLang="zh-CN" sz="1200" dirty="0">
                <a:solidFill>
                  <a:srgbClr val="1F4B70"/>
                </a:solidFill>
                <a:latin typeface="微软雅黑" panose="020B0503020204020204" pitchFamily="34" charset="-122"/>
                <a:ea typeface="微软雅黑" panose="020B0503020204020204" pitchFamily="34" charset="-122"/>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微软雅黑" panose="020B0503020204020204" pitchFamily="34" charset="-122"/>
                <a:ea typeface="微软雅黑" panose="020B0503020204020204" pitchFamily="34" charset="-122"/>
              </a:rPr>
              <a:t>须要注意的是：</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2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并不是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中的一个，比如</a:t>
            </a:r>
          </a:p>
          <a:p>
            <a:pPr marL="0" marR="0" lvl="0" indent="0" algn="l" defTabSz="914282" rtl="0" eaLnBrk="1" fontAlgn="auto" latinLnBrk="0" hangingPunct="1">
              <a:lnSpc>
                <a:spcPct val="100000"/>
              </a:lnSpc>
              <a:spcBef>
                <a:spcPts val="0"/>
              </a:spcBef>
              <a:spcAft>
                <a:spcPts val="0"/>
              </a:spcAft>
              <a:buClrTx/>
              <a:buSzTx/>
              <a:buFontTx/>
              <a:buNone/>
              <a:tabLst/>
              <a:defRPr/>
            </a:pP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dirty="0">
                <a:latin typeface="Times New Roman" panose="02020603050405020304" pitchFamily="18" charset="0"/>
              </a:rPr>
              <a:t>, </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 </a:t>
            </a:r>
            <a:r>
              <a:rPr kumimoji="1" lang="zh-CN" altLang="en-US" sz="1200" baseline="0" dirty="0">
                <a:latin typeface="Times New Roman" panose="02020603050405020304" pitchFamily="18" charset="0"/>
              </a:rPr>
              <a:t>独立同分布于</a:t>
            </a:r>
            <a:r>
              <a:rPr kumimoji="1" lang="en-US" altLang="zh-CN" sz="1200" dirty="0">
                <a:latin typeface="Times New Roman" panose="02020603050405020304" pitchFamily="18" charset="0"/>
              </a:rPr>
              <a:t>B(1, </a:t>
            </a:r>
            <a:r>
              <a:rPr kumimoji="1" lang="en-US" altLang="zh-CN" sz="1200" i="1" dirty="0">
                <a:latin typeface="Times New Roman" panose="02020603050405020304" pitchFamily="18" charset="0"/>
              </a:rPr>
              <a:t>p</a:t>
            </a:r>
            <a:r>
              <a:rPr kumimoji="1" lang="en-US" altLang="zh-CN" sz="1200" dirty="0">
                <a:latin typeface="Times New Roman" panose="02020603050405020304" pitchFamily="18" charset="0"/>
              </a:rPr>
              <a:t>)</a:t>
            </a:r>
            <a:r>
              <a:rPr kumimoji="1" lang="zh-CN" altLang="en-US" sz="1200" dirty="0">
                <a:latin typeface="Times New Roman" panose="02020603050405020304" pitchFamily="18" charset="0"/>
              </a:rPr>
              <a:t>，</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zh-CN" altLang="en-US" sz="1200" baseline="0" dirty="0">
                <a:latin typeface="Times New Roman" panose="02020603050405020304" pitchFamily="18" charset="0"/>
              </a:rPr>
              <a:t>服从</a:t>
            </a:r>
            <a:r>
              <a:rPr kumimoji="1" lang="en-US" altLang="zh-CN" sz="1200" dirty="0">
                <a:latin typeface="Times New Roman" panose="02020603050405020304" pitchFamily="18" charset="0"/>
              </a:rPr>
              <a:t>B(1, </a:t>
            </a:r>
            <a:r>
              <a:rPr kumimoji="1" lang="en-US" altLang="zh-CN" sz="1200" b="0" i="1" dirty="0">
                <a:solidFill>
                  <a:srgbClr val="E88D22"/>
                </a:solidFill>
                <a:latin typeface="Times New Roman" panose="02020603050405020304" pitchFamily="18" charset="0"/>
                <a:ea typeface="+mn-ea"/>
              </a:rPr>
              <a:t>p</a:t>
            </a:r>
            <a:r>
              <a:rPr kumimoji="1" lang="en-US" altLang="zh-CN" sz="1200" b="0" baseline="38000" dirty="0">
                <a:solidFill>
                  <a:srgbClr val="E88D22"/>
                </a:solidFill>
                <a:latin typeface="Times New Roman" panose="02020603050405020304" pitchFamily="18" charset="0"/>
                <a:ea typeface="+mn-ea"/>
              </a:rPr>
              <a:t>2</a:t>
            </a:r>
            <a:r>
              <a:rPr kumimoji="1" lang="en-US" altLang="zh-CN" sz="1200" dirty="0">
                <a:latin typeface="Times New Roman" panose="02020603050405020304" pitchFamily="18" charset="0"/>
              </a:rPr>
              <a:t> ),</a:t>
            </a:r>
            <a:r>
              <a:rPr kumimoji="1" lang="zh-CN" altLang="en-US" sz="1200" dirty="0">
                <a:latin typeface="Times New Roman" panose="02020603050405020304" pitchFamily="18" charset="0"/>
              </a:rPr>
              <a:t>因为</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en-US" altLang="zh-CN" sz="1200" dirty="0">
                <a:latin typeface="Times New Roman" panose="02020603050405020304" pitchFamily="18" charset="0"/>
              </a:rPr>
              <a:t>=1</a:t>
            </a:r>
            <a:r>
              <a:rPr kumimoji="1" lang="zh-CN" altLang="en-US" sz="1200" dirty="0">
                <a:latin typeface="Times New Roman" panose="02020603050405020304" pitchFamily="18" charset="0"/>
              </a:rPr>
              <a:t>意味着</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和</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zh-CN" altLang="en-US" sz="1200" dirty="0">
                <a:latin typeface="Times New Roman" panose="02020603050405020304" pitchFamily="18" charset="0"/>
              </a:rPr>
              <a:t>都取</a:t>
            </a:r>
            <a:r>
              <a:rPr kumimoji="1" lang="en-US" altLang="zh-CN" sz="1200" dirty="0">
                <a:latin typeface="Times New Roman" panose="02020603050405020304" pitchFamily="18" charset="0"/>
              </a:rPr>
              <a:t>1</a:t>
            </a:r>
            <a:r>
              <a:rPr kumimoji="1" lang="zh-CN" altLang="en-US" sz="1200" dirty="0">
                <a:latin typeface="Times New Roman" panose="02020603050405020304" pitchFamily="18" charset="0"/>
              </a:rPr>
              <a:t>，概率</a:t>
            </a:r>
            <a:r>
              <a:rPr kumimoji="1" lang="en-US" altLang="zh-CN" sz="1200" dirty="0">
                <a:latin typeface="Times New Roman" panose="02020603050405020304" pitchFamily="18" charset="0"/>
              </a:rPr>
              <a:t>=</a:t>
            </a:r>
            <a:r>
              <a:rPr kumimoji="1" lang="en-US" altLang="zh-CN" sz="1200" b="0" i="1" dirty="0">
                <a:solidFill>
                  <a:srgbClr val="E88D22"/>
                </a:solidFill>
                <a:latin typeface="Times New Roman" panose="02020603050405020304" pitchFamily="18" charset="0"/>
                <a:ea typeface="+mn-ea"/>
              </a:rPr>
              <a:t>p</a:t>
            </a:r>
            <a:r>
              <a:rPr kumimoji="1" lang="en-US" altLang="zh-CN" sz="1200" b="0" baseline="38000" dirty="0">
                <a:solidFill>
                  <a:srgbClr val="E88D22"/>
                </a:solidFill>
                <a:latin typeface="Times New Roman" panose="02020603050405020304" pitchFamily="18" charset="0"/>
                <a:ea typeface="+mn-ea"/>
              </a:rPr>
              <a:t>2</a:t>
            </a:r>
            <a:r>
              <a:rPr kumimoji="1" lang="zh-CN" altLang="en-US" sz="1200" dirty="0">
                <a:latin typeface="Times New Roman" panose="02020603050405020304" pitchFamily="18" charset="0"/>
              </a:rPr>
              <a:t>，可见</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zh-CN" altLang="en-US" sz="1200" dirty="0">
                <a:latin typeface="Times New Roman" panose="02020603050405020304" pitchFamily="18" charset="0"/>
              </a:rPr>
              <a:t>既不是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也不是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0" dirty="0">
                <a:latin typeface="Times New Roman" panose="02020603050405020304" pitchFamily="18" charset="0"/>
              </a:rPr>
              <a:t>.</a:t>
            </a:r>
          </a:p>
          <a:p>
            <a:pPr marL="0" marR="0" lvl="0" indent="0" algn="l" defTabSz="914282" rtl="0" eaLnBrk="1" fontAlgn="auto" latinLnBrk="0" hangingPunct="1">
              <a:lnSpc>
                <a:spcPct val="100000"/>
              </a:lnSpc>
              <a:spcBef>
                <a:spcPts val="0"/>
              </a:spcBef>
              <a:spcAft>
                <a:spcPts val="0"/>
              </a:spcAft>
              <a:buClrTx/>
              <a:buSzTx/>
              <a:buFontTx/>
              <a:buNone/>
              <a:tabLst/>
              <a:defRPr/>
            </a:pPr>
            <a:r>
              <a:rPr kumimoji="1" lang="zh-CN" altLang="en-US" sz="1200" baseline="0" dirty="0">
                <a:latin typeface="Times New Roman" panose="02020603050405020304" pitchFamily="18" charset="0"/>
              </a:rPr>
              <a:t>同理，</a:t>
            </a:r>
            <a:r>
              <a:rPr kumimoji="1" lang="zh-CN" altLang="en-US" sz="1200" dirty="0">
                <a:latin typeface="Times New Roman" panose="02020603050405020304" pitchFamily="18" charset="0"/>
              </a:rPr>
              <a:t>可见</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30000" dirty="0">
                <a:latin typeface="Times New Roman" panose="02020603050405020304" pitchFamily="18" charset="0"/>
              </a:rPr>
              <a:t>*</a:t>
            </a:r>
            <a:r>
              <a:rPr kumimoji="1" lang="zh-CN" altLang="en-US" sz="1200" dirty="0">
                <a:latin typeface="Times New Roman" panose="02020603050405020304" pitchFamily="18" charset="0"/>
              </a:rPr>
              <a:t>既不是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也不是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0" dirty="0">
                <a:latin typeface="Times New Roman" panose="02020603050405020304" pitchFamily="18" charset="0"/>
              </a:rPr>
              <a:t>.</a:t>
            </a:r>
          </a:p>
          <a:p>
            <a:pPr marL="0" marR="0" lvl="0" indent="0" algn="l" defTabSz="914282" rtl="0" eaLnBrk="1" fontAlgn="auto" latinLnBrk="0" hangingPunct="1">
              <a:lnSpc>
                <a:spcPct val="100000"/>
              </a:lnSpc>
              <a:spcBef>
                <a:spcPts val="0"/>
              </a:spcBef>
              <a:spcAft>
                <a:spcPts val="0"/>
              </a:spcAft>
              <a:buClrTx/>
              <a:buSzTx/>
              <a:buFontTx/>
              <a:buNone/>
              <a:tabLst/>
              <a:defRPr/>
            </a:pPr>
            <a:endParaRPr lang="zh-CN" altLang="en-US" baseline="0"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39</a:t>
            </a:fld>
            <a:endParaRPr lang="zh-CN" altLang="en-US"/>
          </a:p>
        </p:txBody>
      </p:sp>
    </p:spTree>
    <p:extLst>
      <p:ext uri="{BB962C8B-B14F-4D97-AF65-F5344CB8AC3E}">
        <p14:creationId xmlns:p14="http://schemas.microsoft.com/office/powerpoint/2010/main" val="4153157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第五是顺序统计量，它是将随机抽取的</a:t>
            </a:r>
            <a:r>
              <a:rPr lang="en-US" altLang="zh-CN" dirty="0"/>
              <a:t>n</a:t>
            </a:r>
            <a:r>
              <a:rPr lang="zh-CN" altLang="en-US" dirty="0"/>
              <a:t>个样本量从小到大排序</a:t>
            </a:r>
            <a:endParaRPr lang="en-US" altLang="zh-CN" dirty="0"/>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进而选取排在正中间位置的量称为样本中位数，它</a:t>
            </a:r>
            <a:r>
              <a:rPr kumimoji="1" lang="zh-CN" altLang="en-US" sz="1200" dirty="0">
                <a:solidFill>
                  <a:srgbClr val="1F4B70"/>
                </a:solidFill>
                <a:latin typeface="微软雅黑" panose="020B0503020204020204" pitchFamily="34" charset="-122"/>
                <a:ea typeface="微软雅黑" panose="020B0503020204020204" pitchFamily="34" charset="-122"/>
              </a:rPr>
              <a:t>提取了分布中心位置的信息；</a:t>
            </a:r>
          </a:p>
          <a:p>
            <a:r>
              <a:rPr lang="zh-CN" altLang="en-US" dirty="0"/>
              <a:t>将排在两头的量作差称为样本极差，它</a:t>
            </a:r>
            <a:r>
              <a:rPr kumimoji="1" lang="zh-CN" altLang="en-US" sz="1200" dirty="0">
                <a:solidFill>
                  <a:srgbClr val="1F4B70"/>
                </a:solidFill>
                <a:latin typeface="微软雅黑" panose="020B0503020204020204" pitchFamily="34" charset="-122"/>
                <a:ea typeface="微软雅黑" panose="020B0503020204020204" pitchFamily="34" charset="-122"/>
              </a:rPr>
              <a:t>提取了分布范围大小的信息</a:t>
            </a:r>
            <a:r>
              <a:rPr kumimoji="1" lang="en-US" altLang="zh-CN" sz="1200" dirty="0">
                <a:solidFill>
                  <a:srgbClr val="1F4B70"/>
                </a:solidFill>
                <a:latin typeface="微软雅黑" panose="020B0503020204020204" pitchFamily="34" charset="-122"/>
                <a:ea typeface="微软雅黑" panose="020B0503020204020204" pitchFamily="34" charset="-122"/>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微软雅黑" panose="020B0503020204020204" pitchFamily="34" charset="-122"/>
                <a:ea typeface="微软雅黑" panose="020B0503020204020204" pitchFamily="34" charset="-122"/>
              </a:rPr>
              <a:t>须要注意的是：</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2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并不是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中的一个，比如</a:t>
            </a:r>
          </a:p>
          <a:p>
            <a:pPr marL="0" marR="0" lvl="0" indent="0" algn="l" defTabSz="914282" rtl="0" eaLnBrk="1" fontAlgn="auto" latinLnBrk="0" hangingPunct="1">
              <a:lnSpc>
                <a:spcPct val="100000"/>
              </a:lnSpc>
              <a:spcBef>
                <a:spcPts val="0"/>
              </a:spcBef>
              <a:spcAft>
                <a:spcPts val="0"/>
              </a:spcAft>
              <a:buClrTx/>
              <a:buSzTx/>
              <a:buFontTx/>
              <a:buNone/>
              <a:tabLst/>
              <a:defRPr/>
            </a:pP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dirty="0">
                <a:latin typeface="Times New Roman" panose="02020603050405020304" pitchFamily="18" charset="0"/>
              </a:rPr>
              <a:t>, </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 </a:t>
            </a:r>
            <a:r>
              <a:rPr kumimoji="1" lang="zh-CN" altLang="en-US" sz="1200" baseline="0" dirty="0">
                <a:latin typeface="Times New Roman" panose="02020603050405020304" pitchFamily="18" charset="0"/>
              </a:rPr>
              <a:t>独立同分布于</a:t>
            </a:r>
            <a:r>
              <a:rPr kumimoji="1" lang="en-US" altLang="zh-CN" sz="1200" dirty="0">
                <a:latin typeface="Times New Roman" panose="02020603050405020304" pitchFamily="18" charset="0"/>
              </a:rPr>
              <a:t>B(1, </a:t>
            </a:r>
            <a:r>
              <a:rPr kumimoji="1" lang="en-US" altLang="zh-CN" sz="1200" i="1" dirty="0">
                <a:latin typeface="Times New Roman" panose="02020603050405020304" pitchFamily="18" charset="0"/>
              </a:rPr>
              <a:t>p</a:t>
            </a:r>
            <a:r>
              <a:rPr kumimoji="1" lang="en-US" altLang="zh-CN" sz="1200" dirty="0">
                <a:latin typeface="Times New Roman" panose="02020603050405020304" pitchFamily="18" charset="0"/>
              </a:rPr>
              <a:t>)</a:t>
            </a:r>
            <a:r>
              <a:rPr kumimoji="1" lang="zh-CN" altLang="en-US" sz="1200" dirty="0">
                <a:latin typeface="Times New Roman" panose="02020603050405020304" pitchFamily="18" charset="0"/>
              </a:rPr>
              <a:t>，</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zh-CN" altLang="en-US" sz="1200" baseline="0" dirty="0">
                <a:latin typeface="Times New Roman" panose="02020603050405020304" pitchFamily="18" charset="0"/>
              </a:rPr>
              <a:t>服从</a:t>
            </a:r>
            <a:r>
              <a:rPr kumimoji="1" lang="en-US" altLang="zh-CN" sz="1200" dirty="0">
                <a:latin typeface="Times New Roman" panose="02020603050405020304" pitchFamily="18" charset="0"/>
              </a:rPr>
              <a:t>B(1, </a:t>
            </a:r>
            <a:r>
              <a:rPr kumimoji="1" lang="en-US" altLang="zh-CN" sz="1200" b="0" i="1" dirty="0">
                <a:solidFill>
                  <a:srgbClr val="E88D22"/>
                </a:solidFill>
                <a:latin typeface="Times New Roman" panose="02020603050405020304" pitchFamily="18" charset="0"/>
                <a:ea typeface="+mn-ea"/>
              </a:rPr>
              <a:t>p</a:t>
            </a:r>
            <a:r>
              <a:rPr kumimoji="1" lang="en-US" altLang="zh-CN" sz="1200" b="0" baseline="38000" dirty="0">
                <a:solidFill>
                  <a:srgbClr val="E88D22"/>
                </a:solidFill>
                <a:latin typeface="Times New Roman" panose="02020603050405020304" pitchFamily="18" charset="0"/>
                <a:ea typeface="+mn-ea"/>
              </a:rPr>
              <a:t>2</a:t>
            </a:r>
            <a:r>
              <a:rPr kumimoji="1" lang="en-US" altLang="zh-CN" sz="1200" dirty="0">
                <a:latin typeface="Times New Roman" panose="02020603050405020304" pitchFamily="18" charset="0"/>
              </a:rPr>
              <a:t> ),</a:t>
            </a:r>
            <a:r>
              <a:rPr kumimoji="1" lang="zh-CN" altLang="en-US" sz="1200" dirty="0">
                <a:latin typeface="Times New Roman" panose="02020603050405020304" pitchFamily="18" charset="0"/>
              </a:rPr>
              <a:t>因为</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en-US" altLang="zh-CN" sz="1200" dirty="0">
                <a:latin typeface="Times New Roman" panose="02020603050405020304" pitchFamily="18" charset="0"/>
              </a:rPr>
              <a:t>=1</a:t>
            </a:r>
            <a:r>
              <a:rPr kumimoji="1" lang="zh-CN" altLang="en-US" sz="1200" dirty="0">
                <a:latin typeface="Times New Roman" panose="02020603050405020304" pitchFamily="18" charset="0"/>
              </a:rPr>
              <a:t>意味着</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和</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zh-CN" altLang="en-US" sz="1200" dirty="0">
                <a:latin typeface="Times New Roman" panose="02020603050405020304" pitchFamily="18" charset="0"/>
              </a:rPr>
              <a:t>都取</a:t>
            </a:r>
            <a:r>
              <a:rPr kumimoji="1" lang="en-US" altLang="zh-CN" sz="1200" dirty="0">
                <a:latin typeface="Times New Roman" panose="02020603050405020304" pitchFamily="18" charset="0"/>
              </a:rPr>
              <a:t>1</a:t>
            </a:r>
            <a:r>
              <a:rPr kumimoji="1" lang="zh-CN" altLang="en-US" sz="1200" dirty="0">
                <a:latin typeface="Times New Roman" panose="02020603050405020304" pitchFamily="18" charset="0"/>
              </a:rPr>
              <a:t>，概率</a:t>
            </a:r>
            <a:r>
              <a:rPr kumimoji="1" lang="en-US" altLang="zh-CN" sz="1200" dirty="0">
                <a:latin typeface="Times New Roman" panose="02020603050405020304" pitchFamily="18" charset="0"/>
              </a:rPr>
              <a:t>=</a:t>
            </a:r>
            <a:r>
              <a:rPr kumimoji="1" lang="en-US" altLang="zh-CN" sz="1200" b="0" i="1" dirty="0">
                <a:solidFill>
                  <a:srgbClr val="E88D22"/>
                </a:solidFill>
                <a:latin typeface="Times New Roman" panose="02020603050405020304" pitchFamily="18" charset="0"/>
                <a:ea typeface="+mn-ea"/>
              </a:rPr>
              <a:t>p</a:t>
            </a:r>
            <a:r>
              <a:rPr kumimoji="1" lang="en-US" altLang="zh-CN" sz="1200" b="0" baseline="38000" dirty="0">
                <a:solidFill>
                  <a:srgbClr val="E88D22"/>
                </a:solidFill>
                <a:latin typeface="Times New Roman" panose="02020603050405020304" pitchFamily="18" charset="0"/>
                <a:ea typeface="+mn-ea"/>
              </a:rPr>
              <a:t>2</a:t>
            </a:r>
            <a:r>
              <a:rPr kumimoji="1" lang="zh-CN" altLang="en-US" sz="1200" dirty="0">
                <a:latin typeface="Times New Roman" panose="02020603050405020304" pitchFamily="18" charset="0"/>
              </a:rPr>
              <a:t>，可见</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zh-CN" altLang="en-US" sz="1200" dirty="0">
                <a:latin typeface="Times New Roman" panose="02020603050405020304" pitchFamily="18" charset="0"/>
              </a:rPr>
              <a:t>既不是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也不是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0" dirty="0">
                <a:latin typeface="Times New Roman" panose="02020603050405020304" pitchFamily="18" charset="0"/>
              </a:rPr>
              <a:t>.</a:t>
            </a:r>
          </a:p>
          <a:p>
            <a:pPr marL="0" marR="0" lvl="0" indent="0" algn="l" defTabSz="914282" rtl="0" eaLnBrk="1" fontAlgn="auto" latinLnBrk="0" hangingPunct="1">
              <a:lnSpc>
                <a:spcPct val="100000"/>
              </a:lnSpc>
              <a:spcBef>
                <a:spcPts val="0"/>
              </a:spcBef>
              <a:spcAft>
                <a:spcPts val="0"/>
              </a:spcAft>
              <a:buClrTx/>
              <a:buSzTx/>
              <a:buFontTx/>
              <a:buNone/>
              <a:tabLst/>
              <a:defRPr/>
            </a:pPr>
            <a:r>
              <a:rPr kumimoji="1" lang="zh-CN" altLang="en-US" sz="1200" baseline="0" dirty="0">
                <a:latin typeface="Times New Roman" panose="02020603050405020304" pitchFamily="18" charset="0"/>
              </a:rPr>
              <a:t>同理，</a:t>
            </a:r>
            <a:r>
              <a:rPr kumimoji="1" lang="zh-CN" altLang="en-US" sz="1200" dirty="0">
                <a:latin typeface="Times New Roman" panose="02020603050405020304" pitchFamily="18" charset="0"/>
              </a:rPr>
              <a:t>可见</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30000" dirty="0">
                <a:latin typeface="Times New Roman" panose="02020603050405020304" pitchFamily="18" charset="0"/>
              </a:rPr>
              <a:t>*</a:t>
            </a:r>
            <a:r>
              <a:rPr kumimoji="1" lang="zh-CN" altLang="en-US" sz="1200" dirty="0">
                <a:latin typeface="Times New Roman" panose="02020603050405020304" pitchFamily="18" charset="0"/>
              </a:rPr>
              <a:t>既不是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也不是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0" dirty="0">
                <a:latin typeface="Times New Roman" panose="02020603050405020304" pitchFamily="18" charset="0"/>
              </a:rPr>
              <a:t>.</a:t>
            </a:r>
          </a:p>
          <a:p>
            <a:pPr marL="0" marR="0" lvl="0" indent="0" algn="l" defTabSz="914282" rtl="0" eaLnBrk="1" fontAlgn="auto" latinLnBrk="0" hangingPunct="1">
              <a:lnSpc>
                <a:spcPct val="100000"/>
              </a:lnSpc>
              <a:spcBef>
                <a:spcPts val="0"/>
              </a:spcBef>
              <a:spcAft>
                <a:spcPts val="0"/>
              </a:spcAft>
              <a:buClrTx/>
              <a:buSzTx/>
              <a:buFontTx/>
              <a:buNone/>
              <a:tabLst/>
              <a:defRPr/>
            </a:pPr>
            <a:endParaRPr lang="zh-CN" altLang="en-US" baseline="0"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40</a:t>
            </a:fld>
            <a:endParaRPr lang="zh-CN" altLang="en-US"/>
          </a:p>
        </p:txBody>
      </p:sp>
    </p:spTree>
    <p:extLst>
      <p:ext uri="{BB962C8B-B14F-4D97-AF65-F5344CB8AC3E}">
        <p14:creationId xmlns:p14="http://schemas.microsoft.com/office/powerpoint/2010/main" val="1521886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第五是顺序统计量，它是将随机抽取的</a:t>
            </a:r>
            <a:r>
              <a:rPr lang="en-US" altLang="zh-CN" dirty="0"/>
              <a:t>n</a:t>
            </a:r>
            <a:r>
              <a:rPr lang="zh-CN" altLang="en-US" dirty="0"/>
              <a:t>个样本量从小到大排序</a:t>
            </a:r>
            <a:endParaRPr lang="en-US" altLang="zh-CN" dirty="0"/>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t>进而选取排在正中间位置的量称为样本中位数，它</a:t>
            </a:r>
            <a:r>
              <a:rPr kumimoji="1" lang="zh-CN" altLang="en-US" sz="1200" dirty="0">
                <a:solidFill>
                  <a:srgbClr val="1F4B70"/>
                </a:solidFill>
                <a:latin typeface="微软雅黑" panose="020B0503020204020204" pitchFamily="34" charset="-122"/>
                <a:ea typeface="微软雅黑" panose="020B0503020204020204" pitchFamily="34" charset="-122"/>
              </a:rPr>
              <a:t>提取了分布中心位置的信息；</a:t>
            </a:r>
          </a:p>
          <a:p>
            <a:r>
              <a:rPr lang="zh-CN" altLang="en-US" dirty="0"/>
              <a:t>将排在两头的量作差称为样本极差，它</a:t>
            </a:r>
            <a:r>
              <a:rPr kumimoji="1" lang="zh-CN" altLang="en-US" sz="1200" dirty="0">
                <a:solidFill>
                  <a:srgbClr val="1F4B70"/>
                </a:solidFill>
                <a:latin typeface="微软雅黑" panose="020B0503020204020204" pitchFamily="34" charset="-122"/>
                <a:ea typeface="微软雅黑" panose="020B0503020204020204" pitchFamily="34" charset="-122"/>
              </a:rPr>
              <a:t>提取了分布范围大小的信息</a:t>
            </a:r>
            <a:r>
              <a:rPr kumimoji="1" lang="en-US" altLang="zh-CN" sz="1200" dirty="0">
                <a:solidFill>
                  <a:srgbClr val="1F4B70"/>
                </a:solidFill>
                <a:latin typeface="微软雅黑" panose="020B0503020204020204" pitchFamily="34" charset="-122"/>
                <a:ea typeface="微软雅黑" panose="020B0503020204020204" pitchFamily="34" charset="-122"/>
              </a:rPr>
              <a:t>.</a:t>
            </a:r>
          </a:p>
          <a:p>
            <a:pPr marL="0" marR="0" indent="0" algn="l" defTabSz="914282" rtl="0" eaLnBrk="1" fontAlgn="auto" latinLnBrk="0" hangingPunct="1">
              <a:lnSpc>
                <a:spcPct val="100000"/>
              </a:lnSpc>
              <a:spcBef>
                <a:spcPts val="0"/>
              </a:spcBef>
              <a:spcAft>
                <a:spcPts val="0"/>
              </a:spcAft>
              <a:buClrTx/>
              <a:buSzTx/>
              <a:buFontTx/>
              <a:buNone/>
              <a:tabLst/>
              <a:defRPr/>
            </a:pPr>
            <a:r>
              <a:rPr kumimoji="1" lang="zh-CN" altLang="en-US" sz="1200" dirty="0">
                <a:solidFill>
                  <a:srgbClr val="1F4B70"/>
                </a:solidFill>
                <a:latin typeface="微软雅黑" panose="020B0503020204020204" pitchFamily="34" charset="-122"/>
                <a:ea typeface="微软雅黑" panose="020B0503020204020204" pitchFamily="34" charset="-122"/>
              </a:rPr>
              <a:t>须要注意的是：</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2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并不是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2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2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2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中的一个，比如</a:t>
            </a:r>
          </a:p>
          <a:p>
            <a:pPr marL="0" marR="0" lvl="0" indent="0" algn="l" defTabSz="914282" rtl="0" eaLnBrk="1" fontAlgn="auto" latinLnBrk="0" hangingPunct="1">
              <a:lnSpc>
                <a:spcPct val="100000"/>
              </a:lnSpc>
              <a:spcBef>
                <a:spcPts val="0"/>
              </a:spcBef>
              <a:spcAft>
                <a:spcPts val="0"/>
              </a:spcAft>
              <a:buClrTx/>
              <a:buSzTx/>
              <a:buFontTx/>
              <a:buNone/>
              <a:tabLst/>
              <a:defRPr/>
            </a:pP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dirty="0">
                <a:latin typeface="Times New Roman" panose="02020603050405020304" pitchFamily="18" charset="0"/>
              </a:rPr>
              <a:t>, </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 </a:t>
            </a:r>
            <a:r>
              <a:rPr kumimoji="1" lang="zh-CN" altLang="en-US" sz="1200" baseline="0" dirty="0">
                <a:latin typeface="Times New Roman" panose="02020603050405020304" pitchFamily="18" charset="0"/>
              </a:rPr>
              <a:t>独立同分布于</a:t>
            </a:r>
            <a:r>
              <a:rPr kumimoji="1" lang="en-US" altLang="zh-CN" sz="1200" dirty="0">
                <a:latin typeface="Times New Roman" panose="02020603050405020304" pitchFamily="18" charset="0"/>
              </a:rPr>
              <a:t>B(1, </a:t>
            </a:r>
            <a:r>
              <a:rPr kumimoji="1" lang="en-US" altLang="zh-CN" sz="1200" i="1" dirty="0">
                <a:latin typeface="Times New Roman" panose="02020603050405020304" pitchFamily="18" charset="0"/>
              </a:rPr>
              <a:t>p</a:t>
            </a:r>
            <a:r>
              <a:rPr kumimoji="1" lang="en-US" altLang="zh-CN" sz="1200" dirty="0">
                <a:latin typeface="Times New Roman" panose="02020603050405020304" pitchFamily="18" charset="0"/>
              </a:rPr>
              <a:t>)</a:t>
            </a:r>
            <a:r>
              <a:rPr kumimoji="1" lang="zh-CN" altLang="en-US" sz="1200" dirty="0">
                <a:latin typeface="Times New Roman" panose="02020603050405020304" pitchFamily="18" charset="0"/>
              </a:rPr>
              <a:t>，</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zh-CN" altLang="en-US" sz="1200" baseline="0" dirty="0">
                <a:latin typeface="Times New Roman" panose="02020603050405020304" pitchFamily="18" charset="0"/>
              </a:rPr>
              <a:t>服从</a:t>
            </a:r>
            <a:r>
              <a:rPr kumimoji="1" lang="en-US" altLang="zh-CN" sz="1200" dirty="0">
                <a:latin typeface="Times New Roman" panose="02020603050405020304" pitchFamily="18" charset="0"/>
              </a:rPr>
              <a:t>B(1, </a:t>
            </a:r>
            <a:r>
              <a:rPr kumimoji="1" lang="en-US" altLang="zh-CN" sz="1200" b="0" i="1" dirty="0">
                <a:solidFill>
                  <a:srgbClr val="E88D22"/>
                </a:solidFill>
                <a:latin typeface="Times New Roman" panose="02020603050405020304" pitchFamily="18" charset="0"/>
                <a:ea typeface="+mn-ea"/>
              </a:rPr>
              <a:t>p</a:t>
            </a:r>
            <a:r>
              <a:rPr kumimoji="1" lang="en-US" altLang="zh-CN" sz="1200" b="0" baseline="38000" dirty="0">
                <a:solidFill>
                  <a:srgbClr val="E88D22"/>
                </a:solidFill>
                <a:latin typeface="Times New Roman" panose="02020603050405020304" pitchFamily="18" charset="0"/>
                <a:ea typeface="+mn-ea"/>
              </a:rPr>
              <a:t>2</a:t>
            </a:r>
            <a:r>
              <a:rPr kumimoji="1" lang="en-US" altLang="zh-CN" sz="1200" dirty="0">
                <a:latin typeface="Times New Roman" panose="02020603050405020304" pitchFamily="18" charset="0"/>
              </a:rPr>
              <a:t> ),</a:t>
            </a:r>
            <a:r>
              <a:rPr kumimoji="1" lang="zh-CN" altLang="en-US" sz="1200" dirty="0">
                <a:latin typeface="Times New Roman" panose="02020603050405020304" pitchFamily="18" charset="0"/>
              </a:rPr>
              <a:t>因为</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en-US" altLang="zh-CN" sz="1200" dirty="0">
                <a:latin typeface="Times New Roman" panose="02020603050405020304" pitchFamily="18" charset="0"/>
              </a:rPr>
              <a:t>=1</a:t>
            </a:r>
            <a:r>
              <a:rPr kumimoji="1" lang="zh-CN" altLang="en-US" sz="1200" dirty="0">
                <a:latin typeface="Times New Roman" panose="02020603050405020304" pitchFamily="18" charset="0"/>
              </a:rPr>
              <a:t>意味着</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和</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zh-CN" altLang="en-US" sz="1200" dirty="0">
                <a:latin typeface="Times New Roman" panose="02020603050405020304" pitchFamily="18" charset="0"/>
              </a:rPr>
              <a:t>都取</a:t>
            </a:r>
            <a:r>
              <a:rPr kumimoji="1" lang="en-US" altLang="zh-CN" sz="1200" dirty="0">
                <a:latin typeface="Times New Roman" panose="02020603050405020304" pitchFamily="18" charset="0"/>
              </a:rPr>
              <a:t>1</a:t>
            </a:r>
            <a:r>
              <a:rPr kumimoji="1" lang="zh-CN" altLang="en-US" sz="1200" dirty="0">
                <a:latin typeface="Times New Roman" panose="02020603050405020304" pitchFamily="18" charset="0"/>
              </a:rPr>
              <a:t>，概率</a:t>
            </a:r>
            <a:r>
              <a:rPr kumimoji="1" lang="en-US" altLang="zh-CN" sz="1200" dirty="0">
                <a:latin typeface="Times New Roman" panose="02020603050405020304" pitchFamily="18" charset="0"/>
              </a:rPr>
              <a:t>=</a:t>
            </a:r>
            <a:r>
              <a:rPr kumimoji="1" lang="en-US" altLang="zh-CN" sz="1200" b="0" i="1" dirty="0">
                <a:solidFill>
                  <a:srgbClr val="E88D22"/>
                </a:solidFill>
                <a:latin typeface="Times New Roman" panose="02020603050405020304" pitchFamily="18" charset="0"/>
                <a:ea typeface="+mn-ea"/>
              </a:rPr>
              <a:t>p</a:t>
            </a:r>
            <a:r>
              <a:rPr kumimoji="1" lang="en-US" altLang="zh-CN" sz="1200" b="0" baseline="38000" dirty="0">
                <a:solidFill>
                  <a:srgbClr val="E88D22"/>
                </a:solidFill>
                <a:latin typeface="Times New Roman" panose="02020603050405020304" pitchFamily="18" charset="0"/>
                <a:ea typeface="+mn-ea"/>
              </a:rPr>
              <a:t>2</a:t>
            </a:r>
            <a:r>
              <a:rPr kumimoji="1" lang="zh-CN" altLang="en-US" sz="1200" dirty="0">
                <a:latin typeface="Times New Roman" panose="02020603050405020304" pitchFamily="18" charset="0"/>
              </a:rPr>
              <a:t>，可见</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en-US" altLang="zh-CN" sz="1200" baseline="30000" dirty="0">
                <a:latin typeface="Times New Roman" panose="02020603050405020304" pitchFamily="18" charset="0"/>
              </a:rPr>
              <a:t>*</a:t>
            </a:r>
            <a:r>
              <a:rPr kumimoji="1" lang="zh-CN" altLang="en-US" sz="1200" dirty="0">
                <a:latin typeface="Times New Roman" panose="02020603050405020304" pitchFamily="18" charset="0"/>
              </a:rPr>
              <a:t>既不是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也不是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0" dirty="0">
                <a:latin typeface="Times New Roman" panose="02020603050405020304" pitchFamily="18" charset="0"/>
              </a:rPr>
              <a:t>.</a:t>
            </a:r>
          </a:p>
          <a:p>
            <a:pPr marL="0" marR="0" lvl="0" indent="0" algn="l" defTabSz="914282" rtl="0" eaLnBrk="1" fontAlgn="auto" latinLnBrk="0" hangingPunct="1">
              <a:lnSpc>
                <a:spcPct val="100000"/>
              </a:lnSpc>
              <a:spcBef>
                <a:spcPts val="0"/>
              </a:spcBef>
              <a:spcAft>
                <a:spcPts val="0"/>
              </a:spcAft>
              <a:buClrTx/>
              <a:buSzTx/>
              <a:buFontTx/>
              <a:buNone/>
              <a:tabLst/>
              <a:defRPr/>
            </a:pPr>
            <a:r>
              <a:rPr kumimoji="1" lang="zh-CN" altLang="en-US" sz="1200" baseline="0" dirty="0">
                <a:latin typeface="Times New Roman" panose="02020603050405020304" pitchFamily="18" charset="0"/>
              </a:rPr>
              <a:t>同理，</a:t>
            </a:r>
            <a:r>
              <a:rPr kumimoji="1" lang="zh-CN" altLang="en-US" sz="1200" dirty="0">
                <a:latin typeface="Times New Roman" panose="02020603050405020304" pitchFamily="18" charset="0"/>
              </a:rPr>
              <a:t>可见</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30000" dirty="0">
                <a:latin typeface="Times New Roman" panose="02020603050405020304" pitchFamily="18" charset="0"/>
              </a:rPr>
              <a:t>*</a:t>
            </a:r>
            <a:r>
              <a:rPr kumimoji="1" lang="zh-CN" altLang="en-US" sz="1200" dirty="0">
                <a:latin typeface="Times New Roman" panose="02020603050405020304" pitchFamily="18" charset="0"/>
              </a:rPr>
              <a:t>既不是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1</a:t>
            </a:r>
            <a:r>
              <a:rPr kumimoji="1" lang="zh-CN" altLang="en-US" sz="1200" dirty="0">
                <a:latin typeface="Times New Roman" panose="02020603050405020304" pitchFamily="18" charset="0"/>
              </a:rPr>
              <a:t>也不是</a:t>
            </a:r>
            <a:r>
              <a:rPr kumimoji="1" lang="en-US" altLang="zh-CN" sz="1200" i="1" dirty="0">
                <a:latin typeface="Times New Roman" panose="02020603050405020304" pitchFamily="18" charset="0"/>
              </a:rPr>
              <a:t>X</a:t>
            </a:r>
            <a:r>
              <a:rPr kumimoji="1" lang="en-US" altLang="zh-CN" sz="1200" baseline="-25000" dirty="0">
                <a:latin typeface="Times New Roman" panose="02020603050405020304" pitchFamily="18" charset="0"/>
              </a:rPr>
              <a:t>2</a:t>
            </a:r>
            <a:r>
              <a:rPr kumimoji="1" lang="en-US" altLang="zh-CN" sz="1200" baseline="0" dirty="0">
                <a:latin typeface="Times New Roman" panose="02020603050405020304" pitchFamily="18" charset="0"/>
              </a:rPr>
              <a:t>.</a:t>
            </a:r>
          </a:p>
          <a:p>
            <a:pPr marL="0" marR="0" lvl="0" indent="0" algn="l" defTabSz="914282" rtl="0" eaLnBrk="1" fontAlgn="auto" latinLnBrk="0" hangingPunct="1">
              <a:lnSpc>
                <a:spcPct val="100000"/>
              </a:lnSpc>
              <a:spcBef>
                <a:spcPts val="0"/>
              </a:spcBef>
              <a:spcAft>
                <a:spcPts val="0"/>
              </a:spcAft>
              <a:buClrTx/>
              <a:buSzTx/>
              <a:buFontTx/>
              <a:buNone/>
              <a:tabLst/>
              <a:defRPr/>
            </a:pPr>
            <a:endParaRPr lang="zh-CN" altLang="en-US" baseline="0"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42</a:t>
            </a:fld>
            <a:endParaRPr lang="zh-CN" altLang="en-US"/>
          </a:p>
        </p:txBody>
      </p:sp>
    </p:spTree>
    <p:extLst>
      <p:ext uri="{BB962C8B-B14F-4D97-AF65-F5344CB8AC3E}">
        <p14:creationId xmlns:p14="http://schemas.microsoft.com/office/powerpoint/2010/main" val="1714842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solidFill>
                  <a:srgbClr val="034EA2"/>
                </a:solidFill>
                <a:latin typeface="微软雅黑" panose="020B0503020204020204" pitchFamily="34" charset="-122"/>
                <a:ea typeface="微软雅黑" panose="020B0503020204020204" pitchFamily="34" charset="-122"/>
              </a:rPr>
              <a:t>统计量的作用在于压缩样本信息，使</a:t>
            </a:r>
            <a:r>
              <a:rPr lang="en-US" altLang="zh-CN" dirty="0">
                <a:solidFill>
                  <a:srgbClr val="034EA2"/>
                </a:solidFill>
                <a:latin typeface="微软雅黑" panose="020B0503020204020204" pitchFamily="34" charset="-122"/>
                <a:ea typeface="微软雅黑" panose="020B0503020204020204" pitchFamily="34" charset="-122"/>
              </a:rPr>
              <a:t>n</a:t>
            </a:r>
            <a:r>
              <a:rPr lang="zh-CN" altLang="en-US" dirty="0">
                <a:solidFill>
                  <a:srgbClr val="034EA2"/>
                </a:solidFill>
                <a:latin typeface="微软雅黑" panose="020B0503020204020204" pitchFamily="34" charset="-122"/>
                <a:ea typeface="微软雅黑" panose="020B0503020204020204" pitchFamily="34" charset="-122"/>
              </a:rPr>
              <a:t>维的量变成一维的量，同时提取我们需要的信息</a:t>
            </a:r>
            <a:r>
              <a:rPr lang="en-US" altLang="zh-CN" dirty="0">
                <a:solidFill>
                  <a:srgbClr val="034EA2"/>
                </a:solidFill>
                <a:latin typeface="微软雅黑" panose="020B0503020204020204" pitchFamily="34" charset="-122"/>
                <a:ea typeface="微软雅黑" panose="020B0503020204020204" pitchFamily="34" charset="-122"/>
              </a:rPr>
              <a:t>.</a:t>
            </a:r>
            <a:endParaRPr lang="zh-CN" altLang="en-US" dirty="0">
              <a:solidFill>
                <a:srgbClr val="034EA2"/>
              </a:solidFill>
              <a:latin typeface="微软雅黑" panose="020B0503020204020204" pitchFamily="34" charset="-122"/>
              <a:ea typeface="微软雅黑" panose="020B0503020204020204" pitchFamily="34" charset="-122"/>
            </a:endParaRPr>
          </a:p>
          <a:p>
            <a:r>
              <a:rPr lang="zh-CN" altLang="en-US" dirty="0"/>
              <a:t>比如说容量为</a:t>
            </a:r>
            <a:r>
              <a:rPr lang="en-US" altLang="zh-CN" dirty="0"/>
              <a:t>10</a:t>
            </a:r>
            <a:r>
              <a:rPr lang="zh-CN" altLang="en-US" dirty="0"/>
              <a:t>的样本中每一个量都按总体的分布在一个较宽的区域，</a:t>
            </a:r>
            <a:endParaRPr lang="en-US" altLang="zh-CN" dirty="0"/>
          </a:p>
          <a:p>
            <a:r>
              <a:rPr lang="zh-CN" altLang="en-US" dirty="0"/>
              <a:t>而由它们算得的样本均值就只能以很大的概率在一个狭窄的范围波动，使得它不会偏离总体期望太远</a:t>
            </a:r>
            <a:r>
              <a:rPr lang="en-US" altLang="zh-CN" dirty="0"/>
              <a:t>.</a:t>
            </a:r>
          </a:p>
          <a:p>
            <a:r>
              <a:rPr lang="zh-CN" altLang="en-US" dirty="0"/>
              <a:t>这样，样本均值就给我们提供了总体期望的位置信息</a:t>
            </a:r>
            <a:r>
              <a:rPr lang="en-US" altLang="zh-CN" dirty="0"/>
              <a:t>.</a:t>
            </a:r>
          </a:p>
          <a:p>
            <a:r>
              <a:rPr lang="zh-CN" altLang="en-US" dirty="0"/>
              <a:t>注意到在构造样本方差时，先将每个</a:t>
            </a:r>
            <a:r>
              <a:rPr lang="en-US" altLang="zh-CN" i="1" dirty="0"/>
              <a:t>X</a:t>
            </a:r>
            <a:r>
              <a:rPr lang="en-US" altLang="zh-CN" i="1" baseline="-25000" dirty="0"/>
              <a:t>i </a:t>
            </a:r>
            <a:r>
              <a:rPr lang="zh-CN" altLang="en-US" dirty="0"/>
              <a:t>统一减去样本均值，这就过滤掉了</a:t>
            </a:r>
            <a:r>
              <a:rPr lang="en-US" altLang="zh-CN" i="1" dirty="0"/>
              <a:t>X</a:t>
            </a:r>
            <a:r>
              <a:rPr lang="en-US" altLang="zh-CN" i="1" baseline="-25000" dirty="0"/>
              <a:t>i </a:t>
            </a:r>
            <a:r>
              <a:rPr lang="zh-CN" altLang="en-US" dirty="0"/>
              <a:t>的位置信息，也就是过滤掉了总体期望的信息，保留了</a:t>
            </a:r>
            <a:r>
              <a:rPr lang="en-US" altLang="zh-CN" i="1" dirty="0"/>
              <a:t>X</a:t>
            </a:r>
            <a:r>
              <a:rPr lang="en-US" altLang="zh-CN" i="1" baseline="-25000" dirty="0"/>
              <a:t>i </a:t>
            </a:r>
            <a:r>
              <a:rPr lang="zh-CN" altLang="en-US" dirty="0"/>
              <a:t>的波动幅度信息</a:t>
            </a:r>
            <a:r>
              <a:rPr lang="en-US" altLang="zh-CN" dirty="0"/>
              <a:t>.</a:t>
            </a:r>
            <a:r>
              <a:rPr lang="zh-CN" altLang="en-US" dirty="0"/>
              <a:t>然后将这些差的平方算平均，作用与样本均值一样，使得样本方差更加靠近总体方差</a:t>
            </a:r>
            <a:r>
              <a:rPr lang="en-US" altLang="zh-CN" dirty="0"/>
              <a:t>.</a:t>
            </a:r>
          </a:p>
          <a:p>
            <a:r>
              <a:rPr lang="zh-CN" altLang="en-US" dirty="0"/>
              <a:t>大家一定会问，算平均为什么不是除以</a:t>
            </a:r>
            <a:r>
              <a:rPr lang="en-US" altLang="zh-CN" dirty="0"/>
              <a:t>n</a:t>
            </a:r>
            <a:r>
              <a:rPr lang="zh-CN" altLang="en-US" dirty="0"/>
              <a:t>，而除以</a:t>
            </a:r>
            <a:r>
              <a:rPr lang="en-US" altLang="zh-CN" dirty="0"/>
              <a:t>n-1</a:t>
            </a:r>
            <a:r>
              <a:rPr lang="zh-CN" altLang="en-US" dirty="0"/>
              <a:t>呢？下一章将会看到，用这样的样本方差估计总体方差，效果比除以</a:t>
            </a:r>
            <a:r>
              <a:rPr lang="en-US" altLang="zh-CN" dirty="0"/>
              <a:t>n</a:t>
            </a:r>
            <a:r>
              <a:rPr lang="zh-CN" altLang="en-US" dirty="0"/>
              <a:t>的更好</a:t>
            </a:r>
            <a:r>
              <a:rPr lang="en-US" altLang="zh-CN" dirty="0"/>
              <a:t>.</a:t>
            </a:r>
          </a:p>
          <a:p>
            <a:r>
              <a:rPr lang="zh-CN" altLang="en-US" dirty="0"/>
              <a:t>下面将样本方差推演一下会让我们看到什么：将差的平方二项展开，分别求和再合并同类项</a:t>
            </a:r>
            <a:endParaRPr lang="en-US" altLang="zh-CN" dirty="0"/>
          </a:p>
          <a:p>
            <a:r>
              <a:rPr lang="zh-CN" altLang="en-US" dirty="0"/>
              <a:t>结果表明样本方差等于样本二阶原点矩与样本均值平方之差的</a:t>
            </a:r>
            <a:r>
              <a:rPr lang="en-US" altLang="zh-CN" dirty="0"/>
              <a:t>n/(n-1)</a:t>
            </a:r>
            <a:r>
              <a:rPr lang="zh-CN" altLang="en-US" dirty="0"/>
              <a:t>被</a:t>
            </a:r>
            <a:r>
              <a:rPr lang="en-US" altLang="zh-CN" dirty="0"/>
              <a:t>.</a:t>
            </a:r>
          </a:p>
          <a:p>
            <a:r>
              <a:rPr lang="zh-CN" altLang="en-US" dirty="0"/>
              <a:t>即样本二阶中心矩等于样本二阶原点矩减一阶原点矩的平方</a:t>
            </a:r>
            <a:r>
              <a:rPr lang="en-US" altLang="zh-CN" dirty="0"/>
              <a:t>.</a:t>
            </a:r>
          </a:p>
          <a:p>
            <a:r>
              <a:rPr lang="zh-CN" altLang="en-US" dirty="0"/>
              <a:t>一般，一般样本</a:t>
            </a:r>
            <a:r>
              <a:rPr lang="en-US" altLang="zh-CN" dirty="0"/>
              <a:t>k</a:t>
            </a:r>
            <a:r>
              <a:rPr lang="zh-CN" altLang="en-US" dirty="0"/>
              <a:t>阶中心矩可以表示为样本</a:t>
            </a:r>
            <a:r>
              <a:rPr lang="en-US" altLang="zh-CN" dirty="0"/>
              <a:t>1</a:t>
            </a:r>
            <a:r>
              <a:rPr lang="zh-CN" altLang="en-US" dirty="0"/>
              <a:t>至</a:t>
            </a:r>
            <a:r>
              <a:rPr lang="en-US" altLang="zh-CN" dirty="0"/>
              <a:t>k</a:t>
            </a:r>
            <a:r>
              <a:rPr lang="zh-CN" altLang="en-US" dirty="0"/>
              <a:t>阶原点矩的多项式</a:t>
            </a:r>
            <a:r>
              <a:rPr lang="en-US" altLang="zh-CN" dirty="0"/>
              <a:t>.</a:t>
            </a:r>
          </a:p>
          <a:p>
            <a:pPr marL="0" marR="0" indent="0" algn="l" defTabSz="914282" rtl="0" eaLnBrk="1" fontAlgn="auto" latinLnBrk="0" hangingPunct="1">
              <a:lnSpc>
                <a:spcPct val="100000"/>
              </a:lnSpc>
              <a:spcBef>
                <a:spcPts val="0"/>
              </a:spcBef>
              <a:spcAft>
                <a:spcPts val="0"/>
              </a:spcAft>
              <a:buClrTx/>
              <a:buSzTx/>
              <a:buFontTx/>
              <a:buNone/>
              <a:tabLst/>
              <a:defRPr/>
            </a:pPr>
            <a:r>
              <a:rPr lang="zh-CN" altLang="en-US" dirty="0">
                <a:solidFill>
                  <a:srgbClr val="034EA2"/>
                </a:solidFill>
                <a:latin typeface="微软雅黑" panose="020B0503020204020204" pitchFamily="34" charset="-122"/>
                <a:ea typeface="微软雅黑" panose="020B0503020204020204" pitchFamily="34" charset="-122"/>
              </a:rPr>
              <a:t>总体矩也有这样的表示吗？</a:t>
            </a:r>
            <a:r>
              <a:rPr lang="zh-CN" altLang="en-US" dirty="0">
                <a:solidFill>
                  <a:schemeClr val="tx1"/>
                </a:solidFill>
                <a:latin typeface="+mn-lt"/>
                <a:ea typeface="+mn-ea"/>
              </a:rPr>
              <a:t>理解这一点对后面求矩估计是有帮助的</a:t>
            </a:r>
            <a:r>
              <a:rPr lang="en-US" altLang="zh-CN" dirty="0">
                <a:solidFill>
                  <a:schemeClr val="tx1"/>
                </a:solidFill>
                <a:latin typeface="+mn-lt"/>
                <a:ea typeface="+mn-ea"/>
              </a:rPr>
              <a:t>.</a:t>
            </a:r>
            <a:endParaRPr lang="zh-CN" altLang="en-US" dirty="0">
              <a:solidFill>
                <a:srgbClr val="034E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43</a:t>
            </a:fld>
            <a:endParaRPr lang="zh-CN" altLang="en-US"/>
          </a:p>
        </p:txBody>
      </p:sp>
    </p:spTree>
    <p:extLst>
      <p:ext uri="{BB962C8B-B14F-4D97-AF65-F5344CB8AC3E}">
        <p14:creationId xmlns:p14="http://schemas.microsoft.com/office/powerpoint/2010/main" val="1745879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2023/9/5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6" name="燕尾形 5"/>
          <p:cNvSpPr/>
          <p:nvPr userDrawn="1"/>
        </p:nvSpPr>
        <p:spPr>
          <a:xfrm>
            <a:off x="243136" y="267494"/>
            <a:ext cx="216024" cy="28803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userDrawn="1"/>
        </p:nvSpPr>
        <p:spPr>
          <a:xfrm>
            <a:off x="395536" y="267494"/>
            <a:ext cx="216024" cy="28803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93213560"/>
      </p:ext>
    </p:extLst>
  </p:cSld>
  <p:clrMapOvr>
    <a:masterClrMapping/>
  </p:clrMapOvr>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2023/9/5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15" name="文本框 12"/>
          <p:cNvSpPr txBox="1">
            <a:spLocks noChangeArrowheads="1"/>
          </p:cNvSpPr>
          <p:nvPr userDrawn="1"/>
        </p:nvSpPr>
        <p:spPr bwMode="auto">
          <a:xfrm>
            <a:off x="680039" y="212870"/>
            <a:ext cx="2444162" cy="373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r>
              <a:rPr lang="en-US" altLang="zh-CN" sz="20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mn-lt"/>
              </a:rPr>
              <a:t>1.1 </a:t>
            </a:r>
            <a:r>
              <a:rPr lang="zh-CN" altLang="en-US" sz="20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mn-lt"/>
              </a:rPr>
              <a:t>总体与样本</a:t>
            </a:r>
          </a:p>
        </p:txBody>
      </p:sp>
      <p:sp>
        <p:nvSpPr>
          <p:cNvPr id="6" name="燕尾形 5"/>
          <p:cNvSpPr/>
          <p:nvPr userDrawn="1"/>
        </p:nvSpPr>
        <p:spPr>
          <a:xfrm>
            <a:off x="243136" y="267494"/>
            <a:ext cx="216024" cy="28803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userDrawn="1"/>
        </p:nvSpPr>
        <p:spPr>
          <a:xfrm>
            <a:off x="395536" y="267494"/>
            <a:ext cx="216024" cy="28803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73954210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2023/9/5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15" name="文本框 12"/>
          <p:cNvSpPr txBox="1">
            <a:spLocks noChangeArrowheads="1"/>
          </p:cNvSpPr>
          <p:nvPr userDrawn="1"/>
        </p:nvSpPr>
        <p:spPr bwMode="auto">
          <a:xfrm>
            <a:off x="680039" y="212870"/>
            <a:ext cx="1515697" cy="373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r>
              <a:rPr lang="zh-CN" altLang="en-US" sz="20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mn-lt"/>
              </a:rPr>
              <a:t>总体与样本</a:t>
            </a:r>
          </a:p>
        </p:txBody>
      </p:sp>
      <p:sp>
        <p:nvSpPr>
          <p:cNvPr id="6" name="燕尾形 5"/>
          <p:cNvSpPr/>
          <p:nvPr userDrawn="1"/>
        </p:nvSpPr>
        <p:spPr>
          <a:xfrm>
            <a:off x="243136" y="267494"/>
            <a:ext cx="216024" cy="28803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userDrawn="1"/>
        </p:nvSpPr>
        <p:spPr>
          <a:xfrm>
            <a:off x="395536" y="267494"/>
            <a:ext cx="216024" cy="28803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93139618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2023/9/5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14" name="文本框 37"/>
          <p:cNvSpPr txBox="1"/>
          <p:nvPr userDrawn="1"/>
        </p:nvSpPr>
        <p:spPr>
          <a:xfrm>
            <a:off x="899592" y="239588"/>
            <a:ext cx="912897" cy="312819"/>
          </a:xfrm>
          <a:prstGeom prst="rect">
            <a:avLst/>
          </a:prstGeom>
          <a:noFill/>
        </p:spPr>
        <p:txBody>
          <a:bodyPr wrap="none" lIns="96434" tIns="48217" rIns="96434" bIns="48217" rtlCol="0">
            <a:spAutoFit/>
          </a:bodyPr>
          <a:lstStyle/>
          <a:p>
            <a:pPr defTabSz="964278"/>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工作回顾</a:t>
            </a:r>
          </a:p>
        </p:txBody>
      </p:sp>
      <p:sp>
        <p:nvSpPr>
          <p:cNvPr id="15" name="文本框 38"/>
          <p:cNvSpPr txBox="1"/>
          <p:nvPr userDrawn="1"/>
        </p:nvSpPr>
        <p:spPr>
          <a:xfrm>
            <a:off x="899592" y="432889"/>
            <a:ext cx="892058" cy="258958"/>
          </a:xfrm>
          <a:prstGeom prst="rect">
            <a:avLst/>
          </a:prstGeom>
          <a:noFill/>
        </p:spPr>
        <p:txBody>
          <a:bodyPr wrap="none" lIns="96434" tIns="48217" rIns="96434" bIns="48217" rtlCol="0">
            <a:spAutoFit/>
          </a:bodyPr>
          <a:lstStyle/>
          <a:p>
            <a:pPr defTabSz="964278"/>
            <a:r>
              <a:rPr lang="en-US" altLang="zh-CN" sz="1050" dirty="0">
                <a:solidFill>
                  <a:schemeClr val="tx1">
                    <a:lumMod val="50000"/>
                    <a:lumOff val="50000"/>
                  </a:schemeClr>
                </a:solidFill>
                <a:cs typeface="+mn-ea"/>
                <a:sym typeface="+mn-lt"/>
              </a:rPr>
              <a:t>Work review</a:t>
            </a:r>
            <a:endParaRPr lang="zh-CN" altLang="en-US" sz="1050" dirty="0">
              <a:solidFill>
                <a:schemeClr val="tx1">
                  <a:lumMod val="50000"/>
                  <a:lumOff val="50000"/>
                </a:schemeClr>
              </a:solidFill>
              <a:cs typeface="+mn-ea"/>
              <a:sym typeface="+mn-lt"/>
            </a:endParaRPr>
          </a:p>
        </p:txBody>
      </p:sp>
      <p:pic>
        <p:nvPicPr>
          <p:cNvPr id="10" name="Picture 3" descr="C:\Users\Administrator\Desktop\微立体创业计划\005.png"/>
          <p:cNvPicPr>
            <a:picLocks noChangeAspect="1" noChangeArrowheads="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504" y="123478"/>
            <a:ext cx="609601" cy="609601"/>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1" name="Picture 4" descr="C:\Users\Administrator\Desktop\微立体创业计划\004.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59903" y="132850"/>
            <a:ext cx="609601" cy="609601"/>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1356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32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1" y="0"/>
            <a:ext cx="9143499" cy="5143500"/>
          </a:xfrm>
          <a:prstGeom prst="rect">
            <a:avLst/>
          </a:prstGeom>
        </p:spPr>
      </p:pic>
      <p:grpSp>
        <p:nvGrpSpPr>
          <p:cNvPr id="2" name="组合 3"/>
          <p:cNvGrpSpPr/>
          <p:nvPr userDrawn="1"/>
        </p:nvGrpSpPr>
        <p:grpSpPr bwMode="auto">
          <a:xfrm flipH="1">
            <a:off x="-1" y="248018"/>
            <a:ext cx="1797166" cy="507206"/>
            <a:chOff x="2370576" y="533400"/>
            <a:chExt cx="2417494" cy="675969"/>
          </a:xfrm>
          <a:solidFill>
            <a:srgbClr val="EE1C39"/>
          </a:solidFill>
        </p:grpSpPr>
        <p:sp>
          <p:nvSpPr>
            <p:cNvPr id="3" name="矩形 2"/>
            <p:cNvSpPr/>
            <p:nvPr/>
          </p:nvSpPr>
          <p:spPr>
            <a:xfrm>
              <a:off x="2738030" y="533400"/>
              <a:ext cx="2050040" cy="6759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cs typeface="+mn-ea"/>
                <a:sym typeface="+mn-lt"/>
              </a:endParaRPr>
            </a:p>
          </p:txBody>
        </p:sp>
        <p:sp>
          <p:nvSpPr>
            <p:cNvPr id="4" name="椭圆 3"/>
            <p:cNvSpPr/>
            <p:nvPr/>
          </p:nvSpPr>
          <p:spPr>
            <a:xfrm>
              <a:off x="2370576" y="533400"/>
              <a:ext cx="623734" cy="6759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cs typeface="+mn-ea"/>
                <a:sym typeface="+mn-lt"/>
              </a:endParaRPr>
            </a:p>
          </p:txBody>
        </p:sp>
      </p:grpSp>
      <p:sp>
        <p:nvSpPr>
          <p:cNvPr id="6" name="文本框 12"/>
          <p:cNvSpPr txBox="1">
            <a:spLocks noChangeArrowheads="1"/>
          </p:cNvSpPr>
          <p:nvPr userDrawn="1"/>
        </p:nvSpPr>
        <p:spPr bwMode="auto">
          <a:xfrm>
            <a:off x="-1" y="370296"/>
            <a:ext cx="1796090" cy="61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r>
              <a:rPr lang="zh-CN" altLang="en-US" dirty="0">
                <a:solidFill>
                  <a:schemeClr val="bg1"/>
                </a:solidFill>
                <a:latin typeface="微软雅黑" panose="020B0503020204020204" pitchFamily="34" charset="-122"/>
                <a:ea typeface="微软雅黑" panose="020B0503020204020204" pitchFamily="34" charset="-122"/>
                <a:cs typeface="+mn-ea"/>
                <a:sym typeface="+mn-lt"/>
              </a:rPr>
              <a:t>点击添加相关标题文字</a:t>
            </a:r>
          </a:p>
        </p:txBody>
      </p:sp>
    </p:spTree>
    <p:extLst>
      <p:ext uri="{BB962C8B-B14F-4D97-AF65-F5344CB8AC3E}">
        <p14:creationId xmlns:p14="http://schemas.microsoft.com/office/powerpoint/2010/main" val="2116808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pPr/>
              <a:t>2023/9/5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pPr/>
              <a:t>‹#›</a:t>
            </a:fld>
            <a:endParaRPr lang="zh-CN" altLang="en-US"/>
          </a:p>
        </p:txBody>
      </p:sp>
    </p:spTree>
    <p:extLst>
      <p:ext uri="{BB962C8B-B14F-4D97-AF65-F5344CB8AC3E}">
        <p14:creationId xmlns:p14="http://schemas.microsoft.com/office/powerpoint/2010/main" val="95072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12E7D96-F42B-4509-B023-C58BC2FE5B29}"/>
              </a:ext>
            </a:extLst>
          </p:cNvPr>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a:extLst>
              <a:ext uri="{FF2B5EF4-FFF2-40B4-BE49-F238E27FC236}">
                <a16:creationId xmlns:a16="http://schemas.microsoft.com/office/drawing/2014/main" id="{22FD7A35-D0F8-426F-9EBC-AE08AA515290}"/>
              </a:ext>
            </a:extLst>
          </p:cNvPr>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a:extLst>
              <a:ext uri="{FF2B5EF4-FFF2-40B4-BE49-F238E27FC236}">
                <a16:creationId xmlns:a16="http://schemas.microsoft.com/office/drawing/2014/main" id="{6B2EF1DC-14B2-45DC-BD90-0D4E6BBE0909}"/>
              </a:ext>
            </a:extLst>
          </p:cNvPr>
          <p:cNvSpPr>
            <a:spLocks noGrp="1" noChangeArrowheads="1"/>
          </p:cNvSpPr>
          <p:nvPr>
            <p:ph type="sldNum" sz="quarter" idx="12"/>
          </p:nvPr>
        </p:nvSpPr>
        <p:spPr>
          <a:ln/>
        </p:spPr>
        <p:txBody>
          <a:bodyPr/>
          <a:lstStyle>
            <a:lvl1pPr>
              <a:defRPr/>
            </a:lvl1pPr>
          </a:lstStyle>
          <a:p>
            <a:pPr>
              <a:defRPr/>
            </a:pPr>
            <a:fld id="{3A4DD39E-664D-4520-8A32-9D6CE9A218AD}" type="slidenum">
              <a:rPr lang="zh-CN" altLang="zh-CN"/>
              <a:pPr>
                <a:defRPr/>
              </a:pPr>
              <a:t>‹#›</a:t>
            </a:fld>
            <a:endParaRPr lang="zh-CN" altLang="zh-CN"/>
          </a:p>
        </p:txBody>
      </p:sp>
    </p:spTree>
    <p:extLst>
      <p:ext uri="{BB962C8B-B14F-4D97-AF65-F5344CB8AC3E}">
        <p14:creationId xmlns:p14="http://schemas.microsoft.com/office/powerpoint/2010/main" val="4017283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1C518F25-F4EC-4215-B566-F6C939391A13}"/>
              </a:ext>
            </a:extLst>
          </p:cNvPr>
          <p:cNvSpPr>
            <a:spLocks noGrp="1" noChangeArrowheads="1"/>
          </p:cNvSpPr>
          <p:nvPr>
            <p:ph type="dt" sz="half" idx="10"/>
          </p:nvPr>
        </p:nvSpPr>
        <p:spPr>
          <a:ln/>
        </p:spPr>
        <p:txBody>
          <a:bodyPr/>
          <a:lstStyle>
            <a:lvl1pPr>
              <a:defRPr/>
            </a:lvl1pPr>
          </a:lstStyle>
          <a:p>
            <a:pPr>
              <a:defRPr/>
            </a:pPr>
            <a:endParaRPr lang="zh-CN" altLang="zh-CN"/>
          </a:p>
        </p:txBody>
      </p:sp>
      <p:sp>
        <p:nvSpPr>
          <p:cNvPr id="4" name="Rectangle 5">
            <a:extLst>
              <a:ext uri="{FF2B5EF4-FFF2-40B4-BE49-F238E27FC236}">
                <a16:creationId xmlns:a16="http://schemas.microsoft.com/office/drawing/2014/main" id="{BB5CAB91-B080-4029-A777-949082ACD846}"/>
              </a:ext>
            </a:extLst>
          </p:cNvPr>
          <p:cNvSpPr>
            <a:spLocks noGrp="1" noChangeArrowheads="1"/>
          </p:cNvSpPr>
          <p:nvPr>
            <p:ph type="ftr" sz="quarter" idx="11"/>
          </p:nvPr>
        </p:nvSpPr>
        <p:spPr>
          <a:ln/>
        </p:spPr>
        <p:txBody>
          <a:bodyPr/>
          <a:lstStyle>
            <a:lvl1pPr>
              <a:defRPr/>
            </a:lvl1pPr>
          </a:lstStyle>
          <a:p>
            <a:pPr>
              <a:defRPr/>
            </a:pPr>
            <a:endParaRPr lang="zh-CN" altLang="zh-CN"/>
          </a:p>
        </p:txBody>
      </p:sp>
      <p:sp>
        <p:nvSpPr>
          <p:cNvPr id="5" name="Rectangle 6">
            <a:extLst>
              <a:ext uri="{FF2B5EF4-FFF2-40B4-BE49-F238E27FC236}">
                <a16:creationId xmlns:a16="http://schemas.microsoft.com/office/drawing/2014/main" id="{39475F80-3724-41B2-B38E-47B039014A73}"/>
              </a:ext>
            </a:extLst>
          </p:cNvPr>
          <p:cNvSpPr>
            <a:spLocks noGrp="1" noChangeArrowheads="1"/>
          </p:cNvSpPr>
          <p:nvPr>
            <p:ph type="sldNum" sz="quarter" idx="12"/>
          </p:nvPr>
        </p:nvSpPr>
        <p:spPr>
          <a:ln/>
        </p:spPr>
        <p:txBody>
          <a:bodyPr/>
          <a:lstStyle>
            <a:lvl1pPr>
              <a:defRPr/>
            </a:lvl1pPr>
          </a:lstStyle>
          <a:p>
            <a:pPr>
              <a:defRPr/>
            </a:pPr>
            <a:fld id="{C15F5C08-B50A-46B9-9CE2-47713BA025CB}" type="slidenum">
              <a:rPr lang="zh-CN" altLang="zh-CN"/>
              <a:pPr>
                <a:defRPr/>
              </a:pPr>
              <a:t>‹#›</a:t>
            </a:fld>
            <a:endParaRPr lang="zh-CN" altLang="zh-CN"/>
          </a:p>
        </p:txBody>
      </p:sp>
    </p:spTree>
    <p:extLst>
      <p:ext uri="{BB962C8B-B14F-4D97-AF65-F5344CB8AC3E}">
        <p14:creationId xmlns:p14="http://schemas.microsoft.com/office/powerpoint/2010/main" val="1925111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1F5DE50-316B-F983-B04C-BF59E7D978CB}"/>
              </a:ext>
            </a:extLst>
          </p:cNvPr>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5">
            <a:extLst>
              <a:ext uri="{FF2B5EF4-FFF2-40B4-BE49-F238E27FC236}">
                <a16:creationId xmlns:a16="http://schemas.microsoft.com/office/drawing/2014/main" id="{C6672625-45F5-8C4B-5664-BDA5D170DFB1}"/>
              </a:ext>
            </a:extLst>
          </p:cNvPr>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6">
            <a:extLst>
              <a:ext uri="{FF2B5EF4-FFF2-40B4-BE49-F238E27FC236}">
                <a16:creationId xmlns:a16="http://schemas.microsoft.com/office/drawing/2014/main" id="{0C03165C-B6A4-71D0-4B56-745A9C5F9842}"/>
              </a:ext>
            </a:extLst>
          </p:cNvPr>
          <p:cNvSpPr>
            <a:spLocks noGrp="1" noChangeArrowheads="1"/>
          </p:cNvSpPr>
          <p:nvPr>
            <p:ph type="sldNum" sz="quarter" idx="12"/>
          </p:nvPr>
        </p:nvSpPr>
        <p:spPr>
          <a:ln/>
        </p:spPr>
        <p:txBody>
          <a:bodyPr/>
          <a:lstStyle>
            <a:lvl1pPr>
              <a:defRPr/>
            </a:lvl1pPr>
          </a:lstStyle>
          <a:p>
            <a:pPr>
              <a:defRPr/>
            </a:pPr>
            <a:fld id="{0BB83817-E1E6-477B-811E-BA9964CB81C9}" type="slidenum">
              <a:rPr lang="zh-CN" altLang="zh-CN"/>
              <a:pPr>
                <a:defRPr/>
              </a:pPr>
              <a:t>‹#›</a:t>
            </a:fld>
            <a:endParaRPr lang="zh-CN" altLang="zh-CN"/>
          </a:p>
        </p:txBody>
      </p:sp>
    </p:spTree>
    <p:extLst>
      <p:ext uri="{BB962C8B-B14F-4D97-AF65-F5344CB8AC3E}">
        <p14:creationId xmlns:p14="http://schemas.microsoft.com/office/powerpoint/2010/main" val="1471371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pPr/>
              <a:t>2023/9/5</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pPr/>
              <a:t>‹#›</a:t>
            </a:fld>
            <a:endParaRPr lang="zh-CN" altLang="en-US"/>
          </a:p>
        </p:txBody>
      </p:sp>
    </p:spTree>
    <p:extLst>
      <p:ext uri="{BB962C8B-B14F-4D97-AF65-F5344CB8AC3E}">
        <p14:creationId xmlns:p14="http://schemas.microsoft.com/office/powerpoint/2010/main" val="3795072685"/>
      </p:ext>
    </p:extLst>
  </p:cSld>
  <p:clrMap bg1="lt1" tx1="dk1" bg2="lt2" tx2="dk2" accent1="accent1" accent2="accent2" accent3="accent3" accent4="accent4" accent5="accent5" accent6="accent6" hlink="hlink" folHlink="folHlink"/>
  <p:sldLayoutIdLst>
    <p:sldLayoutId id="2147483655" r:id="rId1"/>
    <p:sldLayoutId id="2147483675" r:id="rId2"/>
    <p:sldLayoutId id="2147483676" r:id="rId3"/>
    <p:sldLayoutId id="2147483670" r:id="rId4"/>
    <p:sldLayoutId id="2147483668" r:id="rId5"/>
    <p:sldLayoutId id="2147483674" r:id="rId6"/>
    <p:sldLayoutId id="2147483677" r:id="rId7"/>
    <p:sldLayoutId id="2147483678" r:id="rId8"/>
    <p:sldLayoutId id="2147483679" r:id="rId9"/>
    <p:sldLayoutId id="2147483680" r:id="rId10"/>
  </p:sldLayoutIdLst>
  <p:transition/>
  <p:txStyles>
    <p:titleStyle>
      <a:lvl1pPr algn="ctr" defTabSz="914282" rtl="0" eaLnBrk="1" latinLnBrk="0" hangingPunct="1">
        <a:spcBef>
          <a:spcPct val="0"/>
        </a:spcBef>
        <a:buNone/>
        <a:defRPr sz="4400" kern="1200">
          <a:solidFill>
            <a:schemeClr val="tx1"/>
          </a:solidFill>
          <a:latin typeface="+mj-lt"/>
          <a:ea typeface="+mj-ea"/>
          <a:cs typeface="+mj-cs"/>
        </a:defRPr>
      </a:lvl1pPr>
    </p:titleStyle>
    <p:body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8.xml"/><Relationship Id="rId6" Type="http://schemas.openxmlformats.org/officeDocument/2006/relationships/oleObject" Target="../embeddings/oleObject3.bin"/><Relationship Id="rId5" Type="http://schemas.openxmlformats.org/officeDocument/2006/relationships/image" Target="../media/image9.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slideLayout" Target="../slideLayouts/slideLayout1.xml"/><Relationship Id="rId6" Type="http://schemas.openxmlformats.org/officeDocument/2006/relationships/oleObject" Target="../embeddings/oleObject6.bin"/><Relationship Id="rId5" Type="http://schemas.openxmlformats.org/officeDocument/2006/relationships/image" Target="../media/image12.wmf"/><Relationship Id="rId4"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6.w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10.xml"/><Relationship Id="rId6" Type="http://schemas.openxmlformats.org/officeDocument/2006/relationships/oleObject" Target="../embeddings/oleObject9.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7.wmf"/></Relationships>
</file>

<file path=ppt/slides/_rels/slide13.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oleObject" Target="../embeddings/oleObject17.bin"/><Relationship Id="rId3" Type="http://schemas.openxmlformats.org/officeDocument/2006/relationships/audio" Target="../media/audio1.wav"/><Relationship Id="rId7" Type="http://schemas.openxmlformats.org/officeDocument/2006/relationships/image" Target="../media/image21.wmf"/><Relationship Id="rId12" Type="http://schemas.openxmlformats.org/officeDocument/2006/relationships/image" Target="../media/image24.w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oleObject" Target="../embeddings/oleObject14.bin"/><Relationship Id="rId11" Type="http://schemas.openxmlformats.org/officeDocument/2006/relationships/oleObject" Target="../embeddings/oleObject16.bin"/><Relationship Id="rId5" Type="http://schemas.openxmlformats.org/officeDocument/2006/relationships/image" Target="../media/image20.wmf"/><Relationship Id="rId15" Type="http://schemas.openxmlformats.org/officeDocument/2006/relationships/image" Target="../media/image26.png"/><Relationship Id="rId10" Type="http://schemas.openxmlformats.org/officeDocument/2006/relationships/image" Target="../media/image23.wmf"/><Relationship Id="rId4" Type="http://schemas.openxmlformats.org/officeDocument/2006/relationships/oleObject" Target="../embeddings/oleObject13.bin"/><Relationship Id="rId9" Type="http://schemas.openxmlformats.org/officeDocument/2006/relationships/oleObject" Target="../embeddings/oleObject15.bin"/><Relationship Id="rId14" Type="http://schemas.openxmlformats.org/officeDocument/2006/relationships/image" Target="../media/image25.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32.wmf"/><Relationship Id="rId3" Type="http://schemas.openxmlformats.org/officeDocument/2006/relationships/image" Target="../media/image27.wmf"/><Relationship Id="rId7" Type="http://schemas.openxmlformats.org/officeDocument/2006/relationships/image" Target="../media/image29.wmf"/><Relationship Id="rId12" Type="http://schemas.openxmlformats.org/officeDocument/2006/relationships/oleObject" Target="../embeddings/oleObject23.bin"/><Relationship Id="rId17" Type="http://schemas.openxmlformats.org/officeDocument/2006/relationships/image" Target="../media/image34.wmf"/><Relationship Id="rId2" Type="http://schemas.openxmlformats.org/officeDocument/2006/relationships/oleObject" Target="../embeddings/oleObject18.bin"/><Relationship Id="rId16" Type="http://schemas.openxmlformats.org/officeDocument/2006/relationships/oleObject" Target="../embeddings/oleObject25.bin"/><Relationship Id="rId1" Type="http://schemas.openxmlformats.org/officeDocument/2006/relationships/slideLayout" Target="../slideLayouts/slideLayout1.xml"/><Relationship Id="rId6" Type="http://schemas.openxmlformats.org/officeDocument/2006/relationships/oleObject" Target="../embeddings/oleObject20.bin"/><Relationship Id="rId11" Type="http://schemas.openxmlformats.org/officeDocument/2006/relationships/image" Target="../media/image31.wmf"/><Relationship Id="rId5" Type="http://schemas.openxmlformats.org/officeDocument/2006/relationships/image" Target="../media/image28.wmf"/><Relationship Id="rId15" Type="http://schemas.openxmlformats.org/officeDocument/2006/relationships/image" Target="../media/image33.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30.wmf"/><Relationship Id="rId14"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40.wmf"/><Relationship Id="rId18" Type="http://schemas.openxmlformats.org/officeDocument/2006/relationships/oleObject" Target="../embeddings/oleObject34.bin"/><Relationship Id="rId26" Type="http://schemas.openxmlformats.org/officeDocument/2006/relationships/oleObject" Target="../embeddings/oleObject38.bin"/><Relationship Id="rId3" Type="http://schemas.openxmlformats.org/officeDocument/2006/relationships/image" Target="../media/image35.wmf"/><Relationship Id="rId21" Type="http://schemas.openxmlformats.org/officeDocument/2006/relationships/image" Target="../media/image44.wmf"/><Relationship Id="rId34" Type="http://schemas.openxmlformats.org/officeDocument/2006/relationships/oleObject" Target="../embeddings/oleObject42.bin"/><Relationship Id="rId7" Type="http://schemas.openxmlformats.org/officeDocument/2006/relationships/image" Target="../media/image37.wmf"/><Relationship Id="rId12" Type="http://schemas.openxmlformats.org/officeDocument/2006/relationships/oleObject" Target="../embeddings/oleObject31.bin"/><Relationship Id="rId17" Type="http://schemas.openxmlformats.org/officeDocument/2006/relationships/image" Target="../media/image42.wmf"/><Relationship Id="rId25" Type="http://schemas.openxmlformats.org/officeDocument/2006/relationships/image" Target="../media/image46.wmf"/><Relationship Id="rId33" Type="http://schemas.openxmlformats.org/officeDocument/2006/relationships/image" Target="../media/image50.wmf"/><Relationship Id="rId2" Type="http://schemas.openxmlformats.org/officeDocument/2006/relationships/oleObject" Target="../embeddings/oleObject26.bin"/><Relationship Id="rId16" Type="http://schemas.openxmlformats.org/officeDocument/2006/relationships/oleObject" Target="../embeddings/oleObject33.bin"/><Relationship Id="rId20" Type="http://schemas.openxmlformats.org/officeDocument/2006/relationships/oleObject" Target="../embeddings/oleObject35.bin"/><Relationship Id="rId29" Type="http://schemas.openxmlformats.org/officeDocument/2006/relationships/image" Target="../media/image48.wmf"/><Relationship Id="rId1" Type="http://schemas.openxmlformats.org/officeDocument/2006/relationships/slideLayout" Target="../slideLayouts/slideLayout1.xml"/><Relationship Id="rId6" Type="http://schemas.openxmlformats.org/officeDocument/2006/relationships/oleObject" Target="../embeddings/oleObject28.bin"/><Relationship Id="rId11" Type="http://schemas.openxmlformats.org/officeDocument/2006/relationships/image" Target="../media/image39.wmf"/><Relationship Id="rId24" Type="http://schemas.openxmlformats.org/officeDocument/2006/relationships/oleObject" Target="../embeddings/oleObject37.bin"/><Relationship Id="rId32" Type="http://schemas.openxmlformats.org/officeDocument/2006/relationships/oleObject" Target="../embeddings/oleObject41.bin"/><Relationship Id="rId37" Type="http://schemas.openxmlformats.org/officeDocument/2006/relationships/image" Target="../media/image52.wmf"/><Relationship Id="rId5" Type="http://schemas.openxmlformats.org/officeDocument/2006/relationships/image" Target="../media/image36.wmf"/><Relationship Id="rId15" Type="http://schemas.openxmlformats.org/officeDocument/2006/relationships/image" Target="../media/image41.wmf"/><Relationship Id="rId23" Type="http://schemas.openxmlformats.org/officeDocument/2006/relationships/image" Target="../media/image45.wmf"/><Relationship Id="rId28" Type="http://schemas.openxmlformats.org/officeDocument/2006/relationships/oleObject" Target="../embeddings/oleObject39.bin"/><Relationship Id="rId36" Type="http://schemas.openxmlformats.org/officeDocument/2006/relationships/oleObject" Target="../embeddings/oleObject43.bin"/><Relationship Id="rId10" Type="http://schemas.openxmlformats.org/officeDocument/2006/relationships/oleObject" Target="../embeddings/oleObject30.bin"/><Relationship Id="rId19" Type="http://schemas.openxmlformats.org/officeDocument/2006/relationships/image" Target="../media/image43.wmf"/><Relationship Id="rId31" Type="http://schemas.openxmlformats.org/officeDocument/2006/relationships/image" Target="../media/image49.wmf"/><Relationship Id="rId4" Type="http://schemas.openxmlformats.org/officeDocument/2006/relationships/oleObject" Target="../embeddings/oleObject27.bin"/><Relationship Id="rId9" Type="http://schemas.openxmlformats.org/officeDocument/2006/relationships/image" Target="../media/image38.wmf"/><Relationship Id="rId14" Type="http://schemas.openxmlformats.org/officeDocument/2006/relationships/oleObject" Target="../embeddings/oleObject32.bin"/><Relationship Id="rId22" Type="http://schemas.openxmlformats.org/officeDocument/2006/relationships/oleObject" Target="../embeddings/oleObject36.bin"/><Relationship Id="rId27" Type="http://schemas.openxmlformats.org/officeDocument/2006/relationships/image" Target="../media/image47.wmf"/><Relationship Id="rId30" Type="http://schemas.openxmlformats.org/officeDocument/2006/relationships/oleObject" Target="../embeddings/oleObject40.bin"/><Relationship Id="rId35" Type="http://schemas.openxmlformats.org/officeDocument/2006/relationships/image" Target="../media/image51.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oleObject" Target="../embeddings/oleObject50.bin"/><Relationship Id="rId18" Type="http://schemas.openxmlformats.org/officeDocument/2006/relationships/image" Target="../media/image60.wmf"/><Relationship Id="rId26" Type="http://schemas.openxmlformats.org/officeDocument/2006/relationships/image" Target="../media/image64.wmf"/><Relationship Id="rId3" Type="http://schemas.openxmlformats.org/officeDocument/2006/relationships/image" Target="../media/image53.wmf"/><Relationship Id="rId21" Type="http://schemas.openxmlformats.org/officeDocument/2006/relationships/oleObject" Target="../embeddings/oleObject54.bin"/><Relationship Id="rId7" Type="http://schemas.openxmlformats.org/officeDocument/2006/relationships/image" Target="../media/image55.wmf"/><Relationship Id="rId12" Type="http://schemas.openxmlformats.org/officeDocument/2006/relationships/image" Target="../media/image57.wmf"/><Relationship Id="rId17" Type="http://schemas.openxmlformats.org/officeDocument/2006/relationships/oleObject" Target="../embeddings/oleObject52.bin"/><Relationship Id="rId25" Type="http://schemas.openxmlformats.org/officeDocument/2006/relationships/oleObject" Target="../embeddings/oleObject56.bin"/><Relationship Id="rId2" Type="http://schemas.openxmlformats.org/officeDocument/2006/relationships/oleObject" Target="../embeddings/oleObject44.bin"/><Relationship Id="rId16" Type="http://schemas.openxmlformats.org/officeDocument/2006/relationships/image" Target="../media/image59.wmf"/><Relationship Id="rId20" Type="http://schemas.openxmlformats.org/officeDocument/2006/relationships/image" Target="../media/image61.wmf"/><Relationship Id="rId1" Type="http://schemas.openxmlformats.org/officeDocument/2006/relationships/slideLayout" Target="../slideLayouts/slideLayout1.xml"/><Relationship Id="rId6" Type="http://schemas.openxmlformats.org/officeDocument/2006/relationships/oleObject" Target="../embeddings/oleObject46.bin"/><Relationship Id="rId11" Type="http://schemas.openxmlformats.org/officeDocument/2006/relationships/oleObject" Target="../embeddings/oleObject49.bin"/><Relationship Id="rId24" Type="http://schemas.openxmlformats.org/officeDocument/2006/relationships/image" Target="../media/image63.wmf"/><Relationship Id="rId5" Type="http://schemas.openxmlformats.org/officeDocument/2006/relationships/image" Target="../media/image54.wmf"/><Relationship Id="rId15" Type="http://schemas.openxmlformats.org/officeDocument/2006/relationships/oleObject" Target="../embeddings/oleObject51.bin"/><Relationship Id="rId23" Type="http://schemas.openxmlformats.org/officeDocument/2006/relationships/oleObject" Target="../embeddings/oleObject55.bin"/><Relationship Id="rId28" Type="http://schemas.openxmlformats.org/officeDocument/2006/relationships/image" Target="../media/image65.wmf"/><Relationship Id="rId10" Type="http://schemas.openxmlformats.org/officeDocument/2006/relationships/image" Target="../media/image56.wmf"/><Relationship Id="rId19" Type="http://schemas.openxmlformats.org/officeDocument/2006/relationships/oleObject" Target="../embeddings/oleObject53.bin"/><Relationship Id="rId4" Type="http://schemas.openxmlformats.org/officeDocument/2006/relationships/oleObject" Target="../embeddings/oleObject45.bin"/><Relationship Id="rId9" Type="http://schemas.openxmlformats.org/officeDocument/2006/relationships/oleObject" Target="../embeddings/oleObject48.bin"/><Relationship Id="rId14" Type="http://schemas.openxmlformats.org/officeDocument/2006/relationships/image" Target="../media/image58.wmf"/><Relationship Id="rId22" Type="http://schemas.openxmlformats.org/officeDocument/2006/relationships/image" Target="../media/image62.wmf"/><Relationship Id="rId27" Type="http://schemas.openxmlformats.org/officeDocument/2006/relationships/oleObject" Target="../embeddings/oleObject57.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image" Target="../media/image66.wmf"/><Relationship Id="rId7" Type="http://schemas.openxmlformats.org/officeDocument/2006/relationships/oleObject" Target="../embeddings/oleObject61.bin"/><Relationship Id="rId2" Type="http://schemas.openxmlformats.org/officeDocument/2006/relationships/oleObject" Target="../embeddings/oleObject58.bin"/><Relationship Id="rId1" Type="http://schemas.openxmlformats.org/officeDocument/2006/relationships/slideLayout" Target="../slideLayouts/slideLayout1.xml"/><Relationship Id="rId6" Type="http://schemas.openxmlformats.org/officeDocument/2006/relationships/image" Target="../media/image67.emf"/><Relationship Id="rId5" Type="http://schemas.openxmlformats.org/officeDocument/2006/relationships/oleObject" Target="../embeddings/oleObject60.bin"/><Relationship Id="rId4" Type="http://schemas.openxmlformats.org/officeDocument/2006/relationships/oleObject" Target="../embeddings/oleObject59.bin"/></Relationships>
</file>

<file path=ppt/slides/_rels/slide1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oleObject" Target="../embeddings/oleObject62.bin"/><Relationship Id="rId1" Type="http://schemas.openxmlformats.org/officeDocument/2006/relationships/slideLayout" Target="../slideLayouts/slideLayout1.xml"/><Relationship Id="rId5" Type="http://schemas.openxmlformats.org/officeDocument/2006/relationships/image" Target="../media/image70.emf"/><Relationship Id="rId4" Type="http://schemas.openxmlformats.org/officeDocument/2006/relationships/oleObject" Target="../embeddings/oleObject6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image" Target="../media/image66.wmf"/><Relationship Id="rId7" Type="http://schemas.openxmlformats.org/officeDocument/2006/relationships/oleObject" Target="../embeddings/oleObject67.bin"/><Relationship Id="rId2" Type="http://schemas.openxmlformats.org/officeDocument/2006/relationships/oleObject" Target="../embeddings/oleObject64.bin"/><Relationship Id="rId1" Type="http://schemas.openxmlformats.org/officeDocument/2006/relationships/slideLayout" Target="../slideLayouts/slideLayout1.xml"/><Relationship Id="rId6" Type="http://schemas.openxmlformats.org/officeDocument/2006/relationships/image" Target="../media/image71.emf"/><Relationship Id="rId5" Type="http://schemas.openxmlformats.org/officeDocument/2006/relationships/oleObject" Target="../embeddings/oleObject66.bin"/><Relationship Id="rId4" Type="http://schemas.openxmlformats.org/officeDocument/2006/relationships/oleObject" Target="../embeddings/oleObject65.bin"/></Relationships>
</file>

<file path=ppt/slides/_rels/slide22.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image" Target="../media/image73.emf"/><Relationship Id="rId7" Type="http://schemas.openxmlformats.org/officeDocument/2006/relationships/oleObject" Target="../embeddings/oleObject71.bin"/><Relationship Id="rId2" Type="http://schemas.openxmlformats.org/officeDocument/2006/relationships/oleObject" Target="../embeddings/oleObject68.bin"/><Relationship Id="rId1" Type="http://schemas.openxmlformats.org/officeDocument/2006/relationships/slideLayout" Target="../slideLayouts/slideLayout1.xml"/><Relationship Id="rId6" Type="http://schemas.openxmlformats.org/officeDocument/2006/relationships/oleObject" Target="../embeddings/oleObject70.bin"/><Relationship Id="rId5" Type="http://schemas.openxmlformats.org/officeDocument/2006/relationships/image" Target="../media/image66.wmf"/><Relationship Id="rId10" Type="http://schemas.openxmlformats.org/officeDocument/2006/relationships/image" Target="../media/image75.emf"/><Relationship Id="rId4" Type="http://schemas.openxmlformats.org/officeDocument/2006/relationships/oleObject" Target="../embeddings/oleObject69.bin"/><Relationship Id="rId9" Type="http://schemas.openxmlformats.org/officeDocument/2006/relationships/oleObject" Target="../embeddings/oleObject72.bin"/></Relationships>
</file>

<file path=ppt/slides/_rels/slide23.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7.emf"/><Relationship Id="rId5" Type="http://schemas.openxmlformats.org/officeDocument/2006/relationships/oleObject" Target="../embeddings/oleObject74.bin"/><Relationship Id="rId4" Type="http://schemas.openxmlformats.org/officeDocument/2006/relationships/image" Target="../media/image76.emf"/><Relationship Id="rId9" Type="http://schemas.openxmlformats.org/officeDocument/2006/relationships/oleObject" Target="../embeddings/oleObject76.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image" Target="../media/image83.wmf"/><Relationship Id="rId3" Type="http://schemas.openxmlformats.org/officeDocument/2006/relationships/image" Target="../media/image78.emf"/><Relationship Id="rId7" Type="http://schemas.openxmlformats.org/officeDocument/2006/relationships/image" Target="../media/image80.wmf"/><Relationship Id="rId12" Type="http://schemas.openxmlformats.org/officeDocument/2006/relationships/oleObject" Target="../embeddings/oleObject82.bin"/><Relationship Id="rId2" Type="http://schemas.openxmlformats.org/officeDocument/2006/relationships/oleObject" Target="../embeddings/oleObject77.bin"/><Relationship Id="rId1" Type="http://schemas.openxmlformats.org/officeDocument/2006/relationships/slideLayout" Target="../slideLayouts/slideLayout1.xml"/><Relationship Id="rId6" Type="http://schemas.openxmlformats.org/officeDocument/2006/relationships/oleObject" Target="../embeddings/oleObject79.bin"/><Relationship Id="rId11" Type="http://schemas.openxmlformats.org/officeDocument/2006/relationships/image" Target="../media/image82.wmf"/><Relationship Id="rId5" Type="http://schemas.openxmlformats.org/officeDocument/2006/relationships/image" Target="../media/image79.wmf"/><Relationship Id="rId10" Type="http://schemas.openxmlformats.org/officeDocument/2006/relationships/oleObject" Target="../embeddings/oleObject81.bin"/><Relationship Id="rId4" Type="http://schemas.openxmlformats.org/officeDocument/2006/relationships/oleObject" Target="../embeddings/oleObject78.bin"/><Relationship Id="rId9" Type="http://schemas.openxmlformats.org/officeDocument/2006/relationships/image" Target="../media/image81.wmf"/></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NUL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84.bin"/><Relationship Id="rId7" Type="http://schemas.openxmlformats.org/officeDocument/2006/relationships/image" Target="../media/image85.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oleObject" Target="../embeddings/oleObject83.bin"/><Relationship Id="rId5" Type="http://schemas.openxmlformats.org/officeDocument/2006/relationships/image" Target="NULL"/><Relationship Id="rId4" Type="http://schemas.openxmlformats.org/officeDocument/2006/relationships/image" Target="NULL"/><Relationship Id="rId9" Type="http://schemas.openxmlformats.org/officeDocument/2006/relationships/image" Target="../media/image86.wmf"/></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1.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7.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8.wmf"/></Relationships>
</file>

<file path=ppt/slides/_rels/slide3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3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teachermate.com.cn/classes/1004668" TargetMode="External"/><Relationship Id="rId5" Type="http://schemas.openxmlformats.org/officeDocument/2006/relationships/image" Target="../media/image84.png"/><Relationship Id="rId4" Type="http://schemas.openxmlformats.org/officeDocument/2006/relationships/audio" Target="../media/audio3.wav"/></Relationships>
</file>

<file path=ppt/slides/_rels/slide3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media/image84.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15.xml"/><Relationship Id="rId16"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3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1.wmf"/><Relationship Id="rId5" Type="http://schemas.openxmlformats.org/officeDocument/2006/relationships/oleObject" Target="../embeddings/oleObject88.bin"/><Relationship Id="rId4" Type="http://schemas.openxmlformats.org/officeDocument/2006/relationships/image" Target="../media/image90.wmf"/></Relationships>
</file>

<file path=ppt/slides/_rels/slide40.xml.rels><?xml version="1.0" encoding="UTF-8" standalone="yes"?>
<Relationships xmlns="http://schemas.openxmlformats.org/package/2006/relationships"><Relationship Id="rId3" Type="http://schemas.openxmlformats.org/officeDocument/2006/relationships/hyperlink" Target="http://math.hust.edu.cn:8080/vote"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NULL"/></Relationships>
</file>

<file path=ppt/slides/_rels/slide4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92.png"/><Relationship Id="rId7"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93.png"/></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92.bin"/><Relationship Id="rId13" Type="http://schemas.openxmlformats.org/officeDocument/2006/relationships/image" Target="../media/image99.wmf"/><Relationship Id="rId3" Type="http://schemas.openxmlformats.org/officeDocument/2006/relationships/image" Target="../media/image94.wmf"/><Relationship Id="rId7" Type="http://schemas.openxmlformats.org/officeDocument/2006/relationships/image" Target="../media/image96.wmf"/><Relationship Id="rId12" Type="http://schemas.openxmlformats.org/officeDocument/2006/relationships/oleObject" Target="../embeddings/oleObject94.bin"/><Relationship Id="rId2" Type="http://schemas.openxmlformats.org/officeDocument/2006/relationships/oleObject" Target="../embeddings/oleObject89.bin"/><Relationship Id="rId1" Type="http://schemas.openxmlformats.org/officeDocument/2006/relationships/slideLayout" Target="../slideLayouts/slideLayout5.xml"/><Relationship Id="rId6" Type="http://schemas.openxmlformats.org/officeDocument/2006/relationships/oleObject" Target="../embeddings/oleObject91.bin"/><Relationship Id="rId11" Type="http://schemas.openxmlformats.org/officeDocument/2006/relationships/image" Target="../media/image98.wmf"/><Relationship Id="rId5" Type="http://schemas.openxmlformats.org/officeDocument/2006/relationships/image" Target="../media/image95.wmf"/><Relationship Id="rId15" Type="http://schemas.openxmlformats.org/officeDocument/2006/relationships/image" Target="../media/image100.wmf"/><Relationship Id="rId10" Type="http://schemas.openxmlformats.org/officeDocument/2006/relationships/oleObject" Target="../embeddings/oleObject93.bin"/><Relationship Id="rId4" Type="http://schemas.openxmlformats.org/officeDocument/2006/relationships/oleObject" Target="../embeddings/oleObject90.bin"/><Relationship Id="rId9" Type="http://schemas.openxmlformats.org/officeDocument/2006/relationships/image" Target="../media/image97.wmf"/><Relationship Id="rId14" Type="http://schemas.openxmlformats.org/officeDocument/2006/relationships/oleObject" Target="../embeddings/oleObject9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istrator\Desktop\1057523b4226046.png"/>
          <p:cNvPicPr>
            <a:picLocks noChangeAspect="1" noChangeArrowheads="1"/>
          </p:cNvPicPr>
          <p:nvPr/>
        </p:nvPicPr>
        <p:blipFill>
          <a:blip r:embed="rId3" cstate="print"/>
          <a:srcRect/>
          <a:stretch>
            <a:fillRect/>
          </a:stretch>
        </p:blipFill>
        <p:spPr bwMode="auto">
          <a:xfrm>
            <a:off x="4600601" y="627534"/>
            <a:ext cx="4403278" cy="3888433"/>
          </a:xfrm>
          <a:prstGeom prst="rect">
            <a:avLst/>
          </a:prstGeom>
          <a:noFill/>
        </p:spPr>
      </p:pic>
      <p:sp>
        <p:nvSpPr>
          <p:cNvPr id="9" name="矩形 259"/>
          <p:cNvSpPr>
            <a:spLocks noChangeArrowheads="1"/>
          </p:cNvSpPr>
          <p:nvPr/>
        </p:nvSpPr>
        <p:spPr bwMode="auto">
          <a:xfrm>
            <a:off x="755650" y="1956197"/>
            <a:ext cx="4104456" cy="6155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4000" b="1" cap="all" dirty="0">
                <a:solidFill>
                  <a:schemeClr val="tx1">
                    <a:lumMod val="65000"/>
                    <a:lumOff val="35000"/>
                  </a:schemeClr>
                </a:solidFill>
                <a:latin typeface="Arial" panose="020B0604020202020204" pitchFamily="34" charset="0"/>
                <a:cs typeface="Arial" panose="020B0604020202020204" pitchFamily="34" charset="0"/>
              </a:rPr>
              <a:t>数理统计</a:t>
            </a:r>
          </a:p>
        </p:txBody>
      </p:sp>
      <p:sp>
        <p:nvSpPr>
          <p:cNvPr id="10" name="矩形 259"/>
          <p:cNvSpPr>
            <a:spLocks noChangeArrowheads="1"/>
          </p:cNvSpPr>
          <p:nvPr/>
        </p:nvSpPr>
        <p:spPr bwMode="auto">
          <a:xfrm>
            <a:off x="899592" y="2667672"/>
            <a:ext cx="3168352"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2000" dirty="0">
                <a:solidFill>
                  <a:schemeClr val="tx1">
                    <a:lumMod val="65000"/>
                    <a:lumOff val="35000"/>
                  </a:schemeClr>
                </a:solidFill>
                <a:cs typeface="Arial" panose="020B0604020202020204" pitchFamily="34" charset="0"/>
              </a:rPr>
              <a:t>华中科技大学  概率统计系</a:t>
            </a:r>
            <a:endParaRPr lang="en-US" altLang="zh-CN" sz="2000" dirty="0">
              <a:solidFill>
                <a:schemeClr val="tx1">
                  <a:lumMod val="65000"/>
                  <a:lumOff val="35000"/>
                </a:schemeClr>
              </a:solidFill>
              <a:cs typeface="Arial" panose="020B0604020202020204" pitchFamily="34" charset="0"/>
            </a:endParaRPr>
          </a:p>
        </p:txBody>
      </p:sp>
    </p:spTree>
    <p:extLst>
      <p:ext uri="{BB962C8B-B14F-4D97-AF65-F5344CB8AC3E}">
        <p14:creationId xmlns:p14="http://schemas.microsoft.com/office/powerpoint/2010/main" val="346008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anim calcmode="lin" valueType="num">
                                      <p:cBhvr>
                                        <p:cTn id="8" dur="500" fill="hold"/>
                                        <p:tgtEl>
                                          <p:spTgt spid="1026"/>
                                        </p:tgtEl>
                                        <p:attrNameLst>
                                          <p:attrName>ppt_x</p:attrName>
                                        </p:attrNameLst>
                                      </p:cBhvr>
                                      <p:tavLst>
                                        <p:tav tm="0">
                                          <p:val>
                                            <p:strVal val="#ppt_x"/>
                                          </p:val>
                                        </p:tav>
                                        <p:tav tm="100000">
                                          <p:val>
                                            <p:strVal val="#ppt_x"/>
                                          </p:val>
                                        </p:tav>
                                      </p:tavLst>
                                    </p:anim>
                                    <p:anim calcmode="lin" valueType="num">
                                      <p:cBhvr>
                                        <p:cTn id="9" dur="500" fill="hold"/>
                                        <p:tgtEl>
                                          <p:spTgt spid="102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9"/>
                                        </p:tgtEl>
                                        <p:attrNameLst>
                                          <p:attrName>ppt_y</p:attrName>
                                        </p:attrNameLst>
                                      </p:cBhvr>
                                      <p:tavLst>
                                        <p:tav tm="0">
                                          <p:val>
                                            <p:strVal val="#ppt_y"/>
                                          </p:val>
                                        </p:tav>
                                        <p:tav tm="100000">
                                          <p:val>
                                            <p:strVal val="#ppt_y"/>
                                          </p:val>
                                        </p:tav>
                                      </p:tavLst>
                                    </p:anim>
                                    <p:anim calcmode="lin" valueType="num">
                                      <p:cBhvr>
                                        <p:cTn id="15"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9"/>
                                        </p:tgtEl>
                                      </p:cBhvr>
                                    </p:animEffect>
                                  </p:childTnLst>
                                </p:cTn>
                              </p:par>
                            </p:childTnLst>
                          </p:cTn>
                        </p:par>
                        <p:par>
                          <p:cTn id="18" fill="hold">
                            <p:stCondLst>
                              <p:cond delay="1150"/>
                            </p:stCondLst>
                            <p:childTnLst>
                              <p:par>
                                <p:cTn id="19" presetID="26" presetClass="emph" presetSubtype="0" fill="hold" grpId="1" nodeType="afterEffect">
                                  <p:stCondLst>
                                    <p:cond delay="0"/>
                                  </p:stCondLst>
                                  <p:iterate type="lt">
                                    <p:tmPct val="0"/>
                                  </p:iterate>
                                  <p:childTnLst>
                                    <p:animEffect transition="out" filter="fade">
                                      <p:cBhvr>
                                        <p:cTn id="20" dur="500" tmFilter="0, 0; .2, .5; .8, .5; 1, 0"/>
                                        <p:tgtEl>
                                          <p:spTgt spid="9"/>
                                        </p:tgtEl>
                                      </p:cBhvr>
                                    </p:animEffect>
                                    <p:animScale>
                                      <p:cBhvr>
                                        <p:cTn id="21" dur="250" autoRev="1" fill="hold"/>
                                        <p:tgtEl>
                                          <p:spTgt spid="9"/>
                                        </p:tgtEl>
                                      </p:cBhvr>
                                      <p:by x="105000" y="105000"/>
                                    </p:animScale>
                                  </p:childTnLst>
                                </p:cTn>
                              </p:par>
                            </p:childTnLst>
                          </p:cTn>
                        </p:par>
                        <p:par>
                          <p:cTn id="22" fill="hold">
                            <p:stCondLst>
                              <p:cond delay="1650"/>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0"/>
                                        </p:tgtEl>
                                        <p:attrNameLst>
                                          <p:attrName>ppt_y</p:attrName>
                                        </p:attrNameLst>
                                      </p:cBhvr>
                                      <p:tavLst>
                                        <p:tav tm="0">
                                          <p:val>
                                            <p:strVal val="#ppt_y"/>
                                          </p:val>
                                        </p:tav>
                                        <p:tav tm="100000">
                                          <p:val>
                                            <p:strVal val="#ppt_y"/>
                                          </p:val>
                                        </p:tav>
                                      </p:tavLst>
                                    </p:anim>
                                    <p:anim calcmode="lin" valueType="num">
                                      <p:cBhvr>
                                        <p:cTn id="27"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0"/>
                                        </p:tgtEl>
                                      </p:cBhvr>
                                    </p:animEffect>
                                  </p:childTnLst>
                                </p:cTn>
                              </p:par>
                            </p:childTnLst>
                          </p:cTn>
                        </p:par>
                        <p:par>
                          <p:cTn id="30" fill="hold">
                            <p:stCondLst>
                              <p:cond delay="2650"/>
                            </p:stCondLst>
                            <p:childTnLst>
                              <p:par>
                                <p:cTn id="31" presetID="26" presetClass="emph" presetSubtype="0" fill="hold" grpId="1" nodeType="afterEffect">
                                  <p:stCondLst>
                                    <p:cond delay="0"/>
                                  </p:stCondLst>
                                  <p:iterate type="lt">
                                    <p:tmPct val="0"/>
                                  </p:iterate>
                                  <p:childTnLst>
                                    <p:animEffect transition="out" filter="fade">
                                      <p:cBhvr>
                                        <p:cTn id="32" dur="500" tmFilter="0, 0; .2, .5; .8, .5; 1, 0"/>
                                        <p:tgtEl>
                                          <p:spTgt spid="10"/>
                                        </p:tgtEl>
                                      </p:cBhvr>
                                    </p:animEffect>
                                    <p:animScale>
                                      <p:cBhvr>
                                        <p:cTn id="33"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0"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 name="组合 98">
            <a:extLst>
              <a:ext uri="{FF2B5EF4-FFF2-40B4-BE49-F238E27FC236}">
                <a16:creationId xmlns:a16="http://schemas.microsoft.com/office/drawing/2014/main" id="{2131B0C1-14D8-4285-BF46-F98E21D335FE}"/>
              </a:ext>
            </a:extLst>
          </p:cNvPr>
          <p:cNvGrpSpPr/>
          <p:nvPr/>
        </p:nvGrpSpPr>
        <p:grpSpPr>
          <a:xfrm>
            <a:off x="3995936" y="1297102"/>
            <a:ext cx="823015" cy="761106"/>
            <a:chOff x="5308588" y="1203598"/>
            <a:chExt cx="1012247" cy="936104"/>
          </a:xfrm>
        </p:grpSpPr>
        <p:sp>
          <p:nvSpPr>
            <p:cNvPr id="100" name="椭圆 99">
              <a:extLst>
                <a:ext uri="{FF2B5EF4-FFF2-40B4-BE49-F238E27FC236}">
                  <a16:creationId xmlns:a16="http://schemas.microsoft.com/office/drawing/2014/main" id="{C1F618C2-DC06-4822-A44D-5DCBFB6FB8DE}"/>
                </a:ext>
              </a:extLst>
            </p:cNvPr>
            <p:cNvSpPr/>
            <p:nvPr/>
          </p:nvSpPr>
          <p:spPr>
            <a:xfrm>
              <a:off x="5364088" y="1203598"/>
              <a:ext cx="936104" cy="93610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a:extLst>
                <a:ext uri="{FF2B5EF4-FFF2-40B4-BE49-F238E27FC236}">
                  <a16:creationId xmlns:a16="http://schemas.microsoft.com/office/drawing/2014/main" id="{FD64F61A-A00E-438E-8AD2-D96663D20007}"/>
                </a:ext>
              </a:extLst>
            </p:cNvPr>
            <p:cNvSpPr txBox="1"/>
            <p:nvPr/>
          </p:nvSpPr>
          <p:spPr>
            <a:xfrm>
              <a:off x="5308588" y="1316131"/>
              <a:ext cx="1012247" cy="686420"/>
            </a:xfrm>
            <a:prstGeom prst="rect">
              <a:avLst/>
            </a:prstGeom>
            <a:noFill/>
          </p:spPr>
          <p:txBody>
            <a:bodyPr wrap="square" lIns="65023" tIns="32511" rIns="65023" bIns="32511" rtlCol="0">
              <a:spAutoFit/>
            </a:bodyPr>
            <a:lstStyle/>
            <a:p>
              <a:pPr algn="ctr"/>
              <a:r>
                <a:rPr lang="en-US" altLang="zh-CN" sz="3200" b="1" dirty="0">
                  <a:solidFill>
                    <a:schemeClr val="bg1"/>
                  </a:solidFill>
                  <a:latin typeface="Times New Roman" panose="02020603050405020304" pitchFamily="18" charset="0"/>
                  <a:ea typeface="微软雅黑" pitchFamily="34" charset="-122"/>
                  <a:cs typeface="Times New Roman" panose="02020603050405020304" pitchFamily="18" charset="0"/>
                  <a:sym typeface="Arial" panose="020B0604020202020204" pitchFamily="34" charset="0"/>
                </a:rPr>
                <a:t>01</a:t>
              </a:r>
              <a:endParaRPr lang="zh-CN" altLang="en-US" sz="3200" b="1" dirty="0">
                <a:solidFill>
                  <a:schemeClr val="bg1"/>
                </a:solidFill>
                <a:latin typeface="Times New Roman" panose="02020603050405020304" pitchFamily="18" charset="0"/>
                <a:ea typeface="微软雅黑" pitchFamily="34" charset="-122"/>
                <a:cs typeface="Times New Roman" panose="02020603050405020304" pitchFamily="18" charset="0"/>
                <a:sym typeface="Arial" panose="020B0604020202020204" pitchFamily="34" charset="0"/>
              </a:endParaRPr>
            </a:p>
          </p:txBody>
        </p:sp>
      </p:grpSp>
      <p:sp>
        <p:nvSpPr>
          <p:cNvPr id="102" name="矩形 101">
            <a:extLst>
              <a:ext uri="{FF2B5EF4-FFF2-40B4-BE49-F238E27FC236}">
                <a16:creationId xmlns:a16="http://schemas.microsoft.com/office/drawing/2014/main" id="{5445B3AD-FB30-4C78-9B52-EAAAE1245BFB}"/>
              </a:ext>
            </a:extLst>
          </p:cNvPr>
          <p:cNvSpPr/>
          <p:nvPr/>
        </p:nvSpPr>
        <p:spPr>
          <a:xfrm>
            <a:off x="2360963" y="2211710"/>
            <a:ext cx="4182972" cy="492443"/>
          </a:xfrm>
          <a:prstGeom prst="rect">
            <a:avLst/>
          </a:prstGeom>
        </p:spPr>
        <p:txBody>
          <a:bodyPr wrap="square" lIns="0" tIns="0" rIns="0" bIns="0">
            <a:spAutoFit/>
          </a:bodyPr>
          <a:lstStyle/>
          <a:p>
            <a:pPr algn="ctr"/>
            <a:r>
              <a:rPr lang="zh-CN" altLang="en-US" sz="32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数理统计的基本概念</a:t>
            </a:r>
          </a:p>
        </p:txBody>
      </p:sp>
      <p:grpSp>
        <p:nvGrpSpPr>
          <p:cNvPr id="103" name="组合 102">
            <a:extLst>
              <a:ext uri="{FF2B5EF4-FFF2-40B4-BE49-F238E27FC236}">
                <a16:creationId xmlns:a16="http://schemas.microsoft.com/office/drawing/2014/main" id="{73F530C0-4DEF-4307-B3C5-10ED8F637F04}"/>
              </a:ext>
            </a:extLst>
          </p:cNvPr>
          <p:cNvGrpSpPr/>
          <p:nvPr/>
        </p:nvGrpSpPr>
        <p:grpSpPr>
          <a:xfrm>
            <a:off x="2940267" y="3059519"/>
            <a:ext cx="2934352" cy="1157731"/>
            <a:chOff x="1588" y="3059113"/>
            <a:chExt cx="10031413" cy="3654425"/>
          </a:xfrm>
        </p:grpSpPr>
        <p:sp>
          <p:nvSpPr>
            <p:cNvPr id="104" name="Rectangle 5">
              <a:extLst>
                <a:ext uri="{FF2B5EF4-FFF2-40B4-BE49-F238E27FC236}">
                  <a16:creationId xmlns:a16="http://schemas.microsoft.com/office/drawing/2014/main" id="{CEBF21E0-43EB-4B0B-A370-07EE942E2BB0}"/>
                </a:ext>
              </a:extLst>
            </p:cNvPr>
            <p:cNvSpPr>
              <a:spLocks noChangeArrowheads="1"/>
            </p:cNvSpPr>
            <p:nvPr/>
          </p:nvSpPr>
          <p:spPr bwMode="auto">
            <a:xfrm>
              <a:off x="879475" y="5126038"/>
              <a:ext cx="261938" cy="30163"/>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Rectangle 6">
              <a:extLst>
                <a:ext uri="{FF2B5EF4-FFF2-40B4-BE49-F238E27FC236}">
                  <a16:creationId xmlns:a16="http://schemas.microsoft.com/office/drawing/2014/main" id="{63C46A34-9757-406F-A82D-974DEA9CB169}"/>
                </a:ext>
              </a:extLst>
            </p:cNvPr>
            <p:cNvSpPr>
              <a:spLocks noChangeArrowheads="1"/>
            </p:cNvSpPr>
            <p:nvPr/>
          </p:nvSpPr>
          <p:spPr bwMode="auto">
            <a:xfrm>
              <a:off x="879475" y="5191125"/>
              <a:ext cx="261938" cy="115888"/>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Rectangle 7">
              <a:extLst>
                <a:ext uri="{FF2B5EF4-FFF2-40B4-BE49-F238E27FC236}">
                  <a16:creationId xmlns:a16="http://schemas.microsoft.com/office/drawing/2014/main" id="{78FE2439-3821-497E-B5A4-77E536DB8027}"/>
                </a:ext>
              </a:extLst>
            </p:cNvPr>
            <p:cNvSpPr>
              <a:spLocks noChangeArrowheads="1"/>
            </p:cNvSpPr>
            <p:nvPr/>
          </p:nvSpPr>
          <p:spPr bwMode="auto">
            <a:xfrm>
              <a:off x="879475" y="3876675"/>
              <a:ext cx="261938" cy="1214438"/>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Rectangle 8">
              <a:extLst>
                <a:ext uri="{FF2B5EF4-FFF2-40B4-BE49-F238E27FC236}">
                  <a16:creationId xmlns:a16="http://schemas.microsoft.com/office/drawing/2014/main" id="{684F8419-82C0-4C2E-A804-0740D30A7886}"/>
                </a:ext>
              </a:extLst>
            </p:cNvPr>
            <p:cNvSpPr>
              <a:spLocks noChangeArrowheads="1"/>
            </p:cNvSpPr>
            <p:nvPr/>
          </p:nvSpPr>
          <p:spPr bwMode="auto">
            <a:xfrm>
              <a:off x="879475" y="3719513"/>
              <a:ext cx="261938" cy="95250"/>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Rectangle 9">
              <a:extLst>
                <a:ext uri="{FF2B5EF4-FFF2-40B4-BE49-F238E27FC236}">
                  <a16:creationId xmlns:a16="http://schemas.microsoft.com/office/drawing/2014/main" id="{67247324-E276-40D7-818F-743170E37AEF}"/>
                </a:ext>
              </a:extLst>
            </p:cNvPr>
            <p:cNvSpPr>
              <a:spLocks noChangeArrowheads="1"/>
            </p:cNvSpPr>
            <p:nvPr/>
          </p:nvSpPr>
          <p:spPr bwMode="auto">
            <a:xfrm>
              <a:off x="549275" y="5126038"/>
              <a:ext cx="261938" cy="30163"/>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Rectangle 10">
              <a:extLst>
                <a:ext uri="{FF2B5EF4-FFF2-40B4-BE49-F238E27FC236}">
                  <a16:creationId xmlns:a16="http://schemas.microsoft.com/office/drawing/2014/main" id="{2E409FE8-627C-42E9-891E-581E584354F6}"/>
                </a:ext>
              </a:extLst>
            </p:cNvPr>
            <p:cNvSpPr>
              <a:spLocks noChangeArrowheads="1"/>
            </p:cNvSpPr>
            <p:nvPr/>
          </p:nvSpPr>
          <p:spPr bwMode="auto">
            <a:xfrm>
              <a:off x="549275" y="3719513"/>
              <a:ext cx="261938" cy="95250"/>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Rectangle 11">
              <a:extLst>
                <a:ext uri="{FF2B5EF4-FFF2-40B4-BE49-F238E27FC236}">
                  <a16:creationId xmlns:a16="http://schemas.microsoft.com/office/drawing/2014/main" id="{3AF91818-84E4-41D1-9D0C-A682DE5C08C1}"/>
                </a:ext>
              </a:extLst>
            </p:cNvPr>
            <p:cNvSpPr>
              <a:spLocks noChangeArrowheads="1"/>
            </p:cNvSpPr>
            <p:nvPr/>
          </p:nvSpPr>
          <p:spPr bwMode="auto">
            <a:xfrm>
              <a:off x="549275" y="5191125"/>
              <a:ext cx="261938" cy="115888"/>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Rectangle 12">
              <a:extLst>
                <a:ext uri="{FF2B5EF4-FFF2-40B4-BE49-F238E27FC236}">
                  <a16:creationId xmlns:a16="http://schemas.microsoft.com/office/drawing/2014/main" id="{E0AA6F7D-D544-4B04-9BF8-3D6D1CE12CE8}"/>
                </a:ext>
              </a:extLst>
            </p:cNvPr>
            <p:cNvSpPr>
              <a:spLocks noChangeArrowheads="1"/>
            </p:cNvSpPr>
            <p:nvPr/>
          </p:nvSpPr>
          <p:spPr bwMode="auto">
            <a:xfrm>
              <a:off x="549275" y="3876675"/>
              <a:ext cx="261938" cy="1214438"/>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Rectangle 13">
              <a:extLst>
                <a:ext uri="{FF2B5EF4-FFF2-40B4-BE49-F238E27FC236}">
                  <a16:creationId xmlns:a16="http://schemas.microsoft.com/office/drawing/2014/main" id="{BB5DCBE1-427C-4AC4-BA62-5898419997C4}"/>
                </a:ext>
              </a:extLst>
            </p:cNvPr>
            <p:cNvSpPr>
              <a:spLocks noChangeArrowheads="1"/>
            </p:cNvSpPr>
            <p:nvPr/>
          </p:nvSpPr>
          <p:spPr bwMode="auto">
            <a:xfrm>
              <a:off x="7137400" y="4057650"/>
              <a:ext cx="1454150" cy="307975"/>
            </a:xfrm>
            <a:prstGeom prst="rect">
              <a:avLst/>
            </a:prstGeom>
            <a:solidFill>
              <a:srgbClr val="F7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14">
              <a:extLst>
                <a:ext uri="{FF2B5EF4-FFF2-40B4-BE49-F238E27FC236}">
                  <a16:creationId xmlns:a16="http://schemas.microsoft.com/office/drawing/2014/main" id="{D31D27D5-0F85-4A6F-9322-62D6AB4E4031}"/>
                </a:ext>
              </a:extLst>
            </p:cNvPr>
            <p:cNvSpPr>
              <a:spLocks/>
            </p:cNvSpPr>
            <p:nvPr/>
          </p:nvSpPr>
          <p:spPr bwMode="auto">
            <a:xfrm>
              <a:off x="7137400" y="4064000"/>
              <a:ext cx="1454150" cy="304800"/>
            </a:xfrm>
            <a:custGeom>
              <a:avLst/>
              <a:gdLst>
                <a:gd name="T0" fmla="*/ 0 w 916"/>
                <a:gd name="T1" fmla="*/ 192 h 192"/>
                <a:gd name="T2" fmla="*/ 0 w 916"/>
                <a:gd name="T3" fmla="*/ 0 h 192"/>
                <a:gd name="T4" fmla="*/ 916 w 916"/>
                <a:gd name="T5" fmla="*/ 0 h 192"/>
                <a:gd name="T6" fmla="*/ 0 w 916"/>
                <a:gd name="T7" fmla="*/ 192 h 192"/>
              </a:gdLst>
              <a:ahLst/>
              <a:cxnLst>
                <a:cxn ang="0">
                  <a:pos x="T0" y="T1"/>
                </a:cxn>
                <a:cxn ang="0">
                  <a:pos x="T2" y="T3"/>
                </a:cxn>
                <a:cxn ang="0">
                  <a:pos x="T4" y="T5"/>
                </a:cxn>
                <a:cxn ang="0">
                  <a:pos x="T6" y="T7"/>
                </a:cxn>
              </a:cxnLst>
              <a:rect l="0" t="0" r="r" b="b"/>
              <a:pathLst>
                <a:path w="916" h="192">
                  <a:moveTo>
                    <a:pt x="0" y="192"/>
                  </a:moveTo>
                  <a:lnTo>
                    <a:pt x="0" y="0"/>
                  </a:lnTo>
                  <a:lnTo>
                    <a:pt x="916" y="0"/>
                  </a:lnTo>
                  <a:lnTo>
                    <a:pt x="0" y="192"/>
                  </a:ln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15">
              <a:extLst>
                <a:ext uri="{FF2B5EF4-FFF2-40B4-BE49-F238E27FC236}">
                  <a16:creationId xmlns:a16="http://schemas.microsoft.com/office/drawing/2014/main" id="{617CFC01-7554-4813-8AA1-5EEBD514C822}"/>
                </a:ext>
              </a:extLst>
            </p:cNvPr>
            <p:cNvSpPr>
              <a:spLocks/>
            </p:cNvSpPr>
            <p:nvPr/>
          </p:nvSpPr>
          <p:spPr bwMode="auto">
            <a:xfrm>
              <a:off x="7137400" y="4064000"/>
              <a:ext cx="1454150" cy="304800"/>
            </a:xfrm>
            <a:custGeom>
              <a:avLst/>
              <a:gdLst>
                <a:gd name="T0" fmla="*/ 0 w 916"/>
                <a:gd name="T1" fmla="*/ 192 h 192"/>
                <a:gd name="T2" fmla="*/ 0 w 916"/>
                <a:gd name="T3" fmla="*/ 0 h 192"/>
                <a:gd name="T4" fmla="*/ 916 w 916"/>
                <a:gd name="T5" fmla="*/ 0 h 192"/>
              </a:gdLst>
              <a:ahLst/>
              <a:cxnLst>
                <a:cxn ang="0">
                  <a:pos x="T0" y="T1"/>
                </a:cxn>
                <a:cxn ang="0">
                  <a:pos x="T2" y="T3"/>
                </a:cxn>
                <a:cxn ang="0">
                  <a:pos x="T4" y="T5"/>
                </a:cxn>
              </a:cxnLst>
              <a:rect l="0" t="0" r="r" b="b"/>
              <a:pathLst>
                <a:path w="916" h="192">
                  <a:moveTo>
                    <a:pt x="0" y="192"/>
                  </a:moveTo>
                  <a:lnTo>
                    <a:pt x="0" y="0"/>
                  </a:lnTo>
                  <a:lnTo>
                    <a:pt x="9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16">
              <a:extLst>
                <a:ext uri="{FF2B5EF4-FFF2-40B4-BE49-F238E27FC236}">
                  <a16:creationId xmlns:a16="http://schemas.microsoft.com/office/drawing/2014/main" id="{0BB256FF-4BB0-453A-A8FF-3B1DC2F682CF}"/>
                </a:ext>
              </a:extLst>
            </p:cNvPr>
            <p:cNvSpPr>
              <a:spLocks/>
            </p:cNvSpPr>
            <p:nvPr/>
          </p:nvSpPr>
          <p:spPr bwMode="auto">
            <a:xfrm>
              <a:off x="6964363" y="4038600"/>
              <a:ext cx="1687513" cy="349250"/>
            </a:xfrm>
            <a:custGeom>
              <a:avLst/>
              <a:gdLst>
                <a:gd name="T0" fmla="*/ 916 w 925"/>
                <a:gd name="T1" fmla="*/ 178 h 192"/>
                <a:gd name="T2" fmla="*/ 412 w 925"/>
                <a:gd name="T3" fmla="*/ 178 h 192"/>
                <a:gd name="T4" fmla="*/ 144 w 925"/>
                <a:gd name="T5" fmla="*/ 178 h 192"/>
                <a:gd name="T6" fmla="*/ 70 w 925"/>
                <a:gd name="T7" fmla="*/ 166 h 192"/>
                <a:gd name="T8" fmla="*/ 42 w 925"/>
                <a:gd name="T9" fmla="*/ 57 h 192"/>
                <a:gd name="T10" fmla="*/ 112 w 925"/>
                <a:gd name="T11" fmla="*/ 16 h 192"/>
                <a:gd name="T12" fmla="*/ 646 w 925"/>
                <a:gd name="T13" fmla="*/ 16 h 192"/>
                <a:gd name="T14" fmla="*/ 916 w 925"/>
                <a:gd name="T15" fmla="*/ 16 h 192"/>
                <a:gd name="T16" fmla="*/ 916 w 925"/>
                <a:gd name="T17" fmla="*/ 2 h 192"/>
                <a:gd name="T18" fmla="*/ 412 w 925"/>
                <a:gd name="T19" fmla="*/ 2 h 192"/>
                <a:gd name="T20" fmla="*/ 144 w 925"/>
                <a:gd name="T21" fmla="*/ 2 h 192"/>
                <a:gd name="T22" fmla="*/ 77 w 925"/>
                <a:gd name="T23" fmla="*/ 8 h 192"/>
                <a:gd name="T24" fmla="*/ 54 w 925"/>
                <a:gd name="T25" fmla="*/ 172 h 192"/>
                <a:gd name="T26" fmla="*/ 134 w 925"/>
                <a:gd name="T27" fmla="*/ 192 h 192"/>
                <a:gd name="T28" fmla="*/ 235 w 925"/>
                <a:gd name="T29" fmla="*/ 192 h 192"/>
                <a:gd name="T30" fmla="*/ 563 w 925"/>
                <a:gd name="T31" fmla="*/ 192 h 192"/>
                <a:gd name="T32" fmla="*/ 916 w 925"/>
                <a:gd name="T33" fmla="*/ 192 h 192"/>
                <a:gd name="T34" fmla="*/ 916 w 925"/>
                <a:gd name="T35" fmla="*/ 17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5" h="192">
                  <a:moveTo>
                    <a:pt x="916" y="178"/>
                  </a:moveTo>
                  <a:cubicBezTo>
                    <a:pt x="748" y="178"/>
                    <a:pt x="580" y="178"/>
                    <a:pt x="412" y="178"/>
                  </a:cubicBezTo>
                  <a:cubicBezTo>
                    <a:pt x="323" y="178"/>
                    <a:pt x="234" y="178"/>
                    <a:pt x="144" y="178"/>
                  </a:cubicBezTo>
                  <a:cubicBezTo>
                    <a:pt x="118" y="178"/>
                    <a:pt x="94" y="180"/>
                    <a:pt x="70" y="166"/>
                  </a:cubicBezTo>
                  <a:cubicBezTo>
                    <a:pt x="33" y="145"/>
                    <a:pt x="24" y="94"/>
                    <a:pt x="42" y="57"/>
                  </a:cubicBezTo>
                  <a:cubicBezTo>
                    <a:pt x="55" y="31"/>
                    <a:pt x="84" y="16"/>
                    <a:pt x="112" y="16"/>
                  </a:cubicBezTo>
                  <a:cubicBezTo>
                    <a:pt x="290" y="16"/>
                    <a:pt x="468" y="16"/>
                    <a:pt x="646" y="16"/>
                  </a:cubicBezTo>
                  <a:cubicBezTo>
                    <a:pt x="736" y="16"/>
                    <a:pt x="826" y="16"/>
                    <a:pt x="916" y="16"/>
                  </a:cubicBezTo>
                  <a:cubicBezTo>
                    <a:pt x="925" y="16"/>
                    <a:pt x="925" y="2"/>
                    <a:pt x="916" y="2"/>
                  </a:cubicBezTo>
                  <a:cubicBezTo>
                    <a:pt x="748" y="2"/>
                    <a:pt x="580" y="2"/>
                    <a:pt x="412" y="2"/>
                  </a:cubicBezTo>
                  <a:cubicBezTo>
                    <a:pt x="323" y="2"/>
                    <a:pt x="234" y="2"/>
                    <a:pt x="144" y="2"/>
                  </a:cubicBezTo>
                  <a:cubicBezTo>
                    <a:pt x="121" y="2"/>
                    <a:pt x="99" y="0"/>
                    <a:pt x="77" y="8"/>
                  </a:cubicBezTo>
                  <a:cubicBezTo>
                    <a:pt x="9" y="34"/>
                    <a:pt x="0" y="129"/>
                    <a:pt x="54" y="172"/>
                  </a:cubicBezTo>
                  <a:cubicBezTo>
                    <a:pt x="78" y="192"/>
                    <a:pt x="106" y="192"/>
                    <a:pt x="134" y="192"/>
                  </a:cubicBezTo>
                  <a:cubicBezTo>
                    <a:pt x="168" y="192"/>
                    <a:pt x="202" y="192"/>
                    <a:pt x="235" y="192"/>
                  </a:cubicBezTo>
                  <a:cubicBezTo>
                    <a:pt x="345" y="192"/>
                    <a:pt x="454" y="192"/>
                    <a:pt x="563" y="192"/>
                  </a:cubicBezTo>
                  <a:cubicBezTo>
                    <a:pt x="681" y="192"/>
                    <a:pt x="798" y="192"/>
                    <a:pt x="916" y="192"/>
                  </a:cubicBezTo>
                  <a:cubicBezTo>
                    <a:pt x="925" y="192"/>
                    <a:pt x="925" y="178"/>
                    <a:pt x="916" y="178"/>
                  </a:cubicBezTo>
                  <a:close/>
                </a:path>
              </a:pathLst>
            </a:custGeom>
            <a:solidFill>
              <a:srgbClr val="7A6A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Rectangle 17">
              <a:extLst>
                <a:ext uri="{FF2B5EF4-FFF2-40B4-BE49-F238E27FC236}">
                  <a16:creationId xmlns:a16="http://schemas.microsoft.com/office/drawing/2014/main" id="{A9385924-D096-422E-B8C0-7D09E3BFA303}"/>
                </a:ext>
              </a:extLst>
            </p:cNvPr>
            <p:cNvSpPr>
              <a:spLocks noChangeArrowheads="1"/>
            </p:cNvSpPr>
            <p:nvPr/>
          </p:nvSpPr>
          <p:spPr bwMode="auto">
            <a:xfrm>
              <a:off x="8516938" y="4460875"/>
              <a:ext cx="114300" cy="212725"/>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Rectangle 18">
              <a:extLst>
                <a:ext uri="{FF2B5EF4-FFF2-40B4-BE49-F238E27FC236}">
                  <a16:creationId xmlns:a16="http://schemas.microsoft.com/office/drawing/2014/main" id="{2F5D1F2E-D418-474B-8DA5-29AC2F2C88AA}"/>
                </a:ext>
              </a:extLst>
            </p:cNvPr>
            <p:cNvSpPr>
              <a:spLocks noChangeArrowheads="1"/>
            </p:cNvSpPr>
            <p:nvPr/>
          </p:nvSpPr>
          <p:spPr bwMode="auto">
            <a:xfrm>
              <a:off x="7038975" y="4460875"/>
              <a:ext cx="1362075" cy="212725"/>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Rectangle 19">
              <a:extLst>
                <a:ext uri="{FF2B5EF4-FFF2-40B4-BE49-F238E27FC236}">
                  <a16:creationId xmlns:a16="http://schemas.microsoft.com/office/drawing/2014/main" id="{1B7E5BF7-3A6D-4379-86C5-38006612A28D}"/>
                </a:ext>
              </a:extLst>
            </p:cNvPr>
            <p:cNvSpPr>
              <a:spLocks noChangeArrowheads="1"/>
            </p:cNvSpPr>
            <p:nvPr/>
          </p:nvSpPr>
          <p:spPr bwMode="auto">
            <a:xfrm>
              <a:off x="8435975" y="4460875"/>
              <a:ext cx="46038" cy="212725"/>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Rectangle 20">
              <a:extLst>
                <a:ext uri="{FF2B5EF4-FFF2-40B4-BE49-F238E27FC236}">
                  <a16:creationId xmlns:a16="http://schemas.microsoft.com/office/drawing/2014/main" id="{4AD89C7A-3167-4169-A30D-805A0458335F}"/>
                </a:ext>
              </a:extLst>
            </p:cNvPr>
            <p:cNvSpPr>
              <a:spLocks noChangeArrowheads="1"/>
            </p:cNvSpPr>
            <p:nvPr/>
          </p:nvSpPr>
          <p:spPr bwMode="auto">
            <a:xfrm>
              <a:off x="4916488" y="4756150"/>
              <a:ext cx="298450" cy="33338"/>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Rectangle 21">
              <a:extLst>
                <a:ext uri="{FF2B5EF4-FFF2-40B4-BE49-F238E27FC236}">
                  <a16:creationId xmlns:a16="http://schemas.microsoft.com/office/drawing/2014/main" id="{2E4E11B0-FDEC-4EE8-9509-B42E86267D2B}"/>
                </a:ext>
              </a:extLst>
            </p:cNvPr>
            <p:cNvSpPr>
              <a:spLocks noChangeArrowheads="1"/>
            </p:cNvSpPr>
            <p:nvPr/>
          </p:nvSpPr>
          <p:spPr bwMode="auto">
            <a:xfrm>
              <a:off x="4916488" y="4586288"/>
              <a:ext cx="298450" cy="130175"/>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Rectangle 22">
              <a:extLst>
                <a:ext uri="{FF2B5EF4-FFF2-40B4-BE49-F238E27FC236}">
                  <a16:creationId xmlns:a16="http://schemas.microsoft.com/office/drawing/2014/main" id="{12276C9A-1357-44CE-9A3A-2ED6990018E6}"/>
                </a:ext>
              </a:extLst>
            </p:cNvPr>
            <p:cNvSpPr>
              <a:spLocks noChangeArrowheads="1"/>
            </p:cNvSpPr>
            <p:nvPr/>
          </p:nvSpPr>
          <p:spPr bwMode="auto">
            <a:xfrm>
              <a:off x="4916488" y="4829175"/>
              <a:ext cx="298450" cy="1370013"/>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Rectangle 23">
              <a:extLst>
                <a:ext uri="{FF2B5EF4-FFF2-40B4-BE49-F238E27FC236}">
                  <a16:creationId xmlns:a16="http://schemas.microsoft.com/office/drawing/2014/main" id="{1043E52E-28C3-4455-897D-47469A00D134}"/>
                </a:ext>
              </a:extLst>
            </p:cNvPr>
            <p:cNvSpPr>
              <a:spLocks noChangeArrowheads="1"/>
            </p:cNvSpPr>
            <p:nvPr/>
          </p:nvSpPr>
          <p:spPr bwMode="auto">
            <a:xfrm>
              <a:off x="4916488" y="6269038"/>
              <a:ext cx="298450" cy="109538"/>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Rectangle 24">
              <a:extLst>
                <a:ext uri="{FF2B5EF4-FFF2-40B4-BE49-F238E27FC236}">
                  <a16:creationId xmlns:a16="http://schemas.microsoft.com/office/drawing/2014/main" id="{1184592D-3035-4904-8340-418B0838653E}"/>
                </a:ext>
              </a:extLst>
            </p:cNvPr>
            <p:cNvSpPr>
              <a:spLocks noChangeArrowheads="1"/>
            </p:cNvSpPr>
            <p:nvPr/>
          </p:nvSpPr>
          <p:spPr bwMode="auto">
            <a:xfrm>
              <a:off x="4649788" y="4576763"/>
              <a:ext cx="184150" cy="1800225"/>
            </a:xfrm>
            <a:prstGeom prst="rect">
              <a:avLst/>
            </a:prstGeom>
            <a:solidFill>
              <a:srgbClr val="7A6A5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Rectangle 25">
              <a:extLst>
                <a:ext uri="{FF2B5EF4-FFF2-40B4-BE49-F238E27FC236}">
                  <a16:creationId xmlns:a16="http://schemas.microsoft.com/office/drawing/2014/main" id="{21FD5601-BF7B-4ED8-9139-D45D1FF5E934}"/>
                </a:ext>
              </a:extLst>
            </p:cNvPr>
            <p:cNvSpPr>
              <a:spLocks noChangeArrowheads="1"/>
            </p:cNvSpPr>
            <p:nvPr/>
          </p:nvSpPr>
          <p:spPr bwMode="auto">
            <a:xfrm>
              <a:off x="4383088" y="4576763"/>
              <a:ext cx="184150" cy="1800225"/>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Rectangle 26">
              <a:extLst>
                <a:ext uri="{FF2B5EF4-FFF2-40B4-BE49-F238E27FC236}">
                  <a16:creationId xmlns:a16="http://schemas.microsoft.com/office/drawing/2014/main" id="{AD770336-0CAC-470E-A6BD-BB607894A60C}"/>
                </a:ext>
              </a:extLst>
            </p:cNvPr>
            <p:cNvSpPr>
              <a:spLocks noChangeArrowheads="1"/>
            </p:cNvSpPr>
            <p:nvPr/>
          </p:nvSpPr>
          <p:spPr bwMode="auto">
            <a:xfrm>
              <a:off x="4129088" y="4576763"/>
              <a:ext cx="182563" cy="1800225"/>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Rectangle 27">
              <a:extLst>
                <a:ext uri="{FF2B5EF4-FFF2-40B4-BE49-F238E27FC236}">
                  <a16:creationId xmlns:a16="http://schemas.microsoft.com/office/drawing/2014/main" id="{5F185414-8267-4F0D-B8FB-8B315F7C05EC}"/>
                </a:ext>
              </a:extLst>
            </p:cNvPr>
            <p:cNvSpPr>
              <a:spLocks noChangeArrowheads="1"/>
            </p:cNvSpPr>
            <p:nvPr/>
          </p:nvSpPr>
          <p:spPr bwMode="auto">
            <a:xfrm>
              <a:off x="3913188" y="4908550"/>
              <a:ext cx="139700" cy="1468438"/>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28">
              <a:extLst>
                <a:ext uri="{FF2B5EF4-FFF2-40B4-BE49-F238E27FC236}">
                  <a16:creationId xmlns:a16="http://schemas.microsoft.com/office/drawing/2014/main" id="{AD46C30B-8620-417F-82EF-DE12460D854B}"/>
                </a:ext>
              </a:extLst>
            </p:cNvPr>
            <p:cNvSpPr>
              <a:spLocks/>
            </p:cNvSpPr>
            <p:nvPr/>
          </p:nvSpPr>
          <p:spPr bwMode="auto">
            <a:xfrm>
              <a:off x="3525838" y="4906963"/>
              <a:ext cx="365125" cy="1471613"/>
            </a:xfrm>
            <a:custGeom>
              <a:avLst/>
              <a:gdLst>
                <a:gd name="T0" fmla="*/ 0 w 230"/>
                <a:gd name="T1" fmla="*/ 913 h 927"/>
                <a:gd name="T2" fmla="*/ 87 w 230"/>
                <a:gd name="T3" fmla="*/ 927 h 927"/>
                <a:gd name="T4" fmla="*/ 230 w 230"/>
                <a:gd name="T5" fmla="*/ 14 h 927"/>
                <a:gd name="T6" fmla="*/ 143 w 230"/>
                <a:gd name="T7" fmla="*/ 0 h 927"/>
                <a:gd name="T8" fmla="*/ 0 w 230"/>
                <a:gd name="T9" fmla="*/ 913 h 927"/>
              </a:gdLst>
              <a:ahLst/>
              <a:cxnLst>
                <a:cxn ang="0">
                  <a:pos x="T0" y="T1"/>
                </a:cxn>
                <a:cxn ang="0">
                  <a:pos x="T2" y="T3"/>
                </a:cxn>
                <a:cxn ang="0">
                  <a:pos x="T4" y="T5"/>
                </a:cxn>
                <a:cxn ang="0">
                  <a:pos x="T6" y="T7"/>
                </a:cxn>
                <a:cxn ang="0">
                  <a:pos x="T8" y="T9"/>
                </a:cxn>
              </a:cxnLst>
              <a:rect l="0" t="0" r="r" b="b"/>
              <a:pathLst>
                <a:path w="230" h="927">
                  <a:moveTo>
                    <a:pt x="0" y="913"/>
                  </a:moveTo>
                  <a:lnTo>
                    <a:pt x="87" y="927"/>
                  </a:lnTo>
                  <a:lnTo>
                    <a:pt x="230" y="14"/>
                  </a:lnTo>
                  <a:lnTo>
                    <a:pt x="143" y="0"/>
                  </a:lnTo>
                  <a:lnTo>
                    <a:pt x="0" y="913"/>
                  </a:lnTo>
                  <a:close/>
                </a:path>
              </a:pathLst>
            </a:custGeom>
            <a:solidFill>
              <a:srgbClr val="7A6A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Rectangle 29">
              <a:extLst>
                <a:ext uri="{FF2B5EF4-FFF2-40B4-BE49-F238E27FC236}">
                  <a16:creationId xmlns:a16="http://schemas.microsoft.com/office/drawing/2014/main" id="{56A24F96-0929-4517-BEC2-7EC8C9AA4649}"/>
                </a:ext>
              </a:extLst>
            </p:cNvPr>
            <p:cNvSpPr>
              <a:spLocks noChangeArrowheads="1"/>
            </p:cNvSpPr>
            <p:nvPr/>
          </p:nvSpPr>
          <p:spPr bwMode="auto">
            <a:xfrm>
              <a:off x="8863013" y="3833813"/>
              <a:ext cx="184150" cy="1798638"/>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Rectangle 30">
              <a:extLst>
                <a:ext uri="{FF2B5EF4-FFF2-40B4-BE49-F238E27FC236}">
                  <a16:creationId xmlns:a16="http://schemas.microsoft.com/office/drawing/2014/main" id="{B9EDBACC-2FF0-499D-9521-B32B30F5F9C6}"/>
                </a:ext>
              </a:extLst>
            </p:cNvPr>
            <p:cNvSpPr>
              <a:spLocks noChangeArrowheads="1"/>
            </p:cNvSpPr>
            <p:nvPr/>
          </p:nvSpPr>
          <p:spPr bwMode="auto">
            <a:xfrm>
              <a:off x="9118600" y="3833813"/>
              <a:ext cx="184150" cy="1798638"/>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Rectangle 31">
              <a:extLst>
                <a:ext uri="{FF2B5EF4-FFF2-40B4-BE49-F238E27FC236}">
                  <a16:creationId xmlns:a16="http://schemas.microsoft.com/office/drawing/2014/main" id="{3433DA75-2CFE-44B5-89FA-1495829C710A}"/>
                </a:ext>
              </a:extLst>
            </p:cNvPr>
            <p:cNvSpPr>
              <a:spLocks noChangeArrowheads="1"/>
            </p:cNvSpPr>
            <p:nvPr/>
          </p:nvSpPr>
          <p:spPr bwMode="auto">
            <a:xfrm>
              <a:off x="9378950" y="4165600"/>
              <a:ext cx="139700" cy="1466850"/>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32">
              <a:extLst>
                <a:ext uri="{FF2B5EF4-FFF2-40B4-BE49-F238E27FC236}">
                  <a16:creationId xmlns:a16="http://schemas.microsoft.com/office/drawing/2014/main" id="{C5C84E39-D08B-4958-BD99-D9406EC1771F}"/>
                </a:ext>
              </a:extLst>
            </p:cNvPr>
            <p:cNvSpPr>
              <a:spLocks/>
            </p:cNvSpPr>
            <p:nvPr/>
          </p:nvSpPr>
          <p:spPr bwMode="auto">
            <a:xfrm>
              <a:off x="9540875" y="4164013"/>
              <a:ext cx="365125" cy="1470025"/>
            </a:xfrm>
            <a:custGeom>
              <a:avLst/>
              <a:gdLst>
                <a:gd name="T0" fmla="*/ 230 w 230"/>
                <a:gd name="T1" fmla="*/ 912 h 926"/>
                <a:gd name="T2" fmla="*/ 141 w 230"/>
                <a:gd name="T3" fmla="*/ 926 h 926"/>
                <a:gd name="T4" fmla="*/ 0 w 230"/>
                <a:gd name="T5" fmla="*/ 14 h 926"/>
                <a:gd name="T6" fmla="*/ 87 w 230"/>
                <a:gd name="T7" fmla="*/ 0 h 926"/>
                <a:gd name="T8" fmla="*/ 230 w 230"/>
                <a:gd name="T9" fmla="*/ 912 h 926"/>
              </a:gdLst>
              <a:ahLst/>
              <a:cxnLst>
                <a:cxn ang="0">
                  <a:pos x="T0" y="T1"/>
                </a:cxn>
                <a:cxn ang="0">
                  <a:pos x="T2" y="T3"/>
                </a:cxn>
                <a:cxn ang="0">
                  <a:pos x="T4" y="T5"/>
                </a:cxn>
                <a:cxn ang="0">
                  <a:pos x="T6" y="T7"/>
                </a:cxn>
                <a:cxn ang="0">
                  <a:pos x="T8" y="T9"/>
                </a:cxn>
              </a:cxnLst>
              <a:rect l="0" t="0" r="r" b="b"/>
              <a:pathLst>
                <a:path w="230" h="926">
                  <a:moveTo>
                    <a:pt x="230" y="912"/>
                  </a:moveTo>
                  <a:lnTo>
                    <a:pt x="141" y="926"/>
                  </a:lnTo>
                  <a:lnTo>
                    <a:pt x="0" y="14"/>
                  </a:lnTo>
                  <a:lnTo>
                    <a:pt x="87" y="0"/>
                  </a:lnTo>
                  <a:lnTo>
                    <a:pt x="230" y="912"/>
                  </a:lnTo>
                  <a:close/>
                </a:path>
              </a:pathLst>
            </a:custGeom>
            <a:solidFill>
              <a:srgbClr val="7A6A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Rectangle 33">
              <a:extLst>
                <a:ext uri="{FF2B5EF4-FFF2-40B4-BE49-F238E27FC236}">
                  <a16:creationId xmlns:a16="http://schemas.microsoft.com/office/drawing/2014/main" id="{230E1915-725F-42F6-8A11-307ACF6A97E6}"/>
                </a:ext>
              </a:extLst>
            </p:cNvPr>
            <p:cNvSpPr>
              <a:spLocks noChangeArrowheads="1"/>
            </p:cNvSpPr>
            <p:nvPr/>
          </p:nvSpPr>
          <p:spPr bwMode="auto">
            <a:xfrm>
              <a:off x="1428750" y="4200525"/>
              <a:ext cx="1466850" cy="311150"/>
            </a:xfrm>
            <a:prstGeom prst="rect">
              <a:avLst/>
            </a:prstGeom>
            <a:solidFill>
              <a:srgbClr val="F7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3" name="Freeform 34">
              <a:extLst>
                <a:ext uri="{FF2B5EF4-FFF2-40B4-BE49-F238E27FC236}">
                  <a16:creationId xmlns:a16="http://schemas.microsoft.com/office/drawing/2014/main" id="{59C0D12A-1B72-4387-8559-9511BE32FFCB}"/>
                </a:ext>
              </a:extLst>
            </p:cNvPr>
            <p:cNvSpPr>
              <a:spLocks/>
            </p:cNvSpPr>
            <p:nvPr/>
          </p:nvSpPr>
          <p:spPr bwMode="auto">
            <a:xfrm>
              <a:off x="1427163" y="4205288"/>
              <a:ext cx="1468438" cy="309563"/>
            </a:xfrm>
            <a:custGeom>
              <a:avLst/>
              <a:gdLst>
                <a:gd name="T0" fmla="*/ 0 w 925"/>
                <a:gd name="T1" fmla="*/ 195 h 195"/>
                <a:gd name="T2" fmla="*/ 0 w 925"/>
                <a:gd name="T3" fmla="*/ 0 h 195"/>
                <a:gd name="T4" fmla="*/ 925 w 925"/>
                <a:gd name="T5" fmla="*/ 0 h 195"/>
                <a:gd name="T6" fmla="*/ 0 w 925"/>
                <a:gd name="T7" fmla="*/ 195 h 195"/>
              </a:gdLst>
              <a:ahLst/>
              <a:cxnLst>
                <a:cxn ang="0">
                  <a:pos x="T0" y="T1"/>
                </a:cxn>
                <a:cxn ang="0">
                  <a:pos x="T2" y="T3"/>
                </a:cxn>
                <a:cxn ang="0">
                  <a:pos x="T4" y="T5"/>
                </a:cxn>
                <a:cxn ang="0">
                  <a:pos x="T6" y="T7"/>
                </a:cxn>
              </a:cxnLst>
              <a:rect l="0" t="0" r="r" b="b"/>
              <a:pathLst>
                <a:path w="925" h="195">
                  <a:moveTo>
                    <a:pt x="0" y="195"/>
                  </a:moveTo>
                  <a:lnTo>
                    <a:pt x="0" y="0"/>
                  </a:lnTo>
                  <a:lnTo>
                    <a:pt x="925" y="0"/>
                  </a:lnTo>
                  <a:lnTo>
                    <a:pt x="0" y="195"/>
                  </a:ln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 name="Freeform 35">
              <a:extLst>
                <a:ext uri="{FF2B5EF4-FFF2-40B4-BE49-F238E27FC236}">
                  <a16:creationId xmlns:a16="http://schemas.microsoft.com/office/drawing/2014/main" id="{308A924F-D947-4D5B-A8E1-C105F601F652}"/>
                </a:ext>
              </a:extLst>
            </p:cNvPr>
            <p:cNvSpPr>
              <a:spLocks/>
            </p:cNvSpPr>
            <p:nvPr/>
          </p:nvSpPr>
          <p:spPr bwMode="auto">
            <a:xfrm>
              <a:off x="1427163" y="4205288"/>
              <a:ext cx="1468438" cy="309563"/>
            </a:xfrm>
            <a:custGeom>
              <a:avLst/>
              <a:gdLst>
                <a:gd name="T0" fmla="*/ 0 w 925"/>
                <a:gd name="T1" fmla="*/ 195 h 195"/>
                <a:gd name="T2" fmla="*/ 0 w 925"/>
                <a:gd name="T3" fmla="*/ 0 h 195"/>
                <a:gd name="T4" fmla="*/ 925 w 925"/>
                <a:gd name="T5" fmla="*/ 0 h 195"/>
              </a:gdLst>
              <a:ahLst/>
              <a:cxnLst>
                <a:cxn ang="0">
                  <a:pos x="T0" y="T1"/>
                </a:cxn>
                <a:cxn ang="0">
                  <a:pos x="T2" y="T3"/>
                </a:cxn>
                <a:cxn ang="0">
                  <a:pos x="T4" y="T5"/>
                </a:cxn>
              </a:cxnLst>
              <a:rect l="0" t="0" r="r" b="b"/>
              <a:pathLst>
                <a:path w="925" h="195">
                  <a:moveTo>
                    <a:pt x="0" y="195"/>
                  </a:moveTo>
                  <a:lnTo>
                    <a:pt x="0" y="0"/>
                  </a:lnTo>
                  <a:lnTo>
                    <a:pt x="92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36">
              <a:extLst>
                <a:ext uri="{FF2B5EF4-FFF2-40B4-BE49-F238E27FC236}">
                  <a16:creationId xmlns:a16="http://schemas.microsoft.com/office/drawing/2014/main" id="{E2ACF4A1-124D-4E93-801F-542D14643856}"/>
                </a:ext>
              </a:extLst>
            </p:cNvPr>
            <p:cNvSpPr>
              <a:spLocks/>
            </p:cNvSpPr>
            <p:nvPr/>
          </p:nvSpPr>
          <p:spPr bwMode="auto">
            <a:xfrm>
              <a:off x="1252538" y="4179888"/>
              <a:ext cx="1704975" cy="354013"/>
            </a:xfrm>
            <a:custGeom>
              <a:avLst/>
              <a:gdLst>
                <a:gd name="T0" fmla="*/ 926 w 935"/>
                <a:gd name="T1" fmla="*/ 179 h 194"/>
                <a:gd name="T2" fmla="*/ 416 w 935"/>
                <a:gd name="T3" fmla="*/ 179 h 194"/>
                <a:gd name="T4" fmla="*/ 146 w 935"/>
                <a:gd name="T5" fmla="*/ 179 h 194"/>
                <a:gd name="T6" fmla="*/ 71 w 935"/>
                <a:gd name="T7" fmla="*/ 168 h 194"/>
                <a:gd name="T8" fmla="*/ 42 w 935"/>
                <a:gd name="T9" fmla="*/ 58 h 194"/>
                <a:gd name="T10" fmla="*/ 114 w 935"/>
                <a:gd name="T11" fmla="*/ 16 h 194"/>
                <a:gd name="T12" fmla="*/ 652 w 935"/>
                <a:gd name="T13" fmla="*/ 16 h 194"/>
                <a:gd name="T14" fmla="*/ 926 w 935"/>
                <a:gd name="T15" fmla="*/ 16 h 194"/>
                <a:gd name="T16" fmla="*/ 926 w 935"/>
                <a:gd name="T17" fmla="*/ 2 h 194"/>
                <a:gd name="T18" fmla="*/ 416 w 935"/>
                <a:gd name="T19" fmla="*/ 2 h 194"/>
                <a:gd name="T20" fmla="*/ 146 w 935"/>
                <a:gd name="T21" fmla="*/ 2 h 194"/>
                <a:gd name="T22" fmla="*/ 78 w 935"/>
                <a:gd name="T23" fmla="*/ 8 h 194"/>
                <a:gd name="T24" fmla="*/ 55 w 935"/>
                <a:gd name="T25" fmla="*/ 174 h 194"/>
                <a:gd name="T26" fmla="*/ 136 w 935"/>
                <a:gd name="T27" fmla="*/ 194 h 194"/>
                <a:gd name="T28" fmla="*/ 238 w 935"/>
                <a:gd name="T29" fmla="*/ 194 h 194"/>
                <a:gd name="T30" fmla="*/ 569 w 935"/>
                <a:gd name="T31" fmla="*/ 194 h 194"/>
                <a:gd name="T32" fmla="*/ 926 w 935"/>
                <a:gd name="T33" fmla="*/ 194 h 194"/>
                <a:gd name="T34" fmla="*/ 926 w 935"/>
                <a:gd name="T35" fmla="*/ 179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5" h="194">
                  <a:moveTo>
                    <a:pt x="926" y="179"/>
                  </a:moveTo>
                  <a:cubicBezTo>
                    <a:pt x="756" y="179"/>
                    <a:pt x="586" y="179"/>
                    <a:pt x="416" y="179"/>
                  </a:cubicBezTo>
                  <a:cubicBezTo>
                    <a:pt x="326" y="179"/>
                    <a:pt x="236" y="179"/>
                    <a:pt x="146" y="179"/>
                  </a:cubicBezTo>
                  <a:cubicBezTo>
                    <a:pt x="120" y="179"/>
                    <a:pt x="95" y="182"/>
                    <a:pt x="71" y="168"/>
                  </a:cubicBezTo>
                  <a:cubicBezTo>
                    <a:pt x="33" y="146"/>
                    <a:pt x="24" y="95"/>
                    <a:pt x="42" y="58"/>
                  </a:cubicBezTo>
                  <a:cubicBezTo>
                    <a:pt x="56" y="31"/>
                    <a:pt x="85" y="16"/>
                    <a:pt x="114" y="16"/>
                  </a:cubicBezTo>
                  <a:cubicBezTo>
                    <a:pt x="293" y="16"/>
                    <a:pt x="473" y="16"/>
                    <a:pt x="652" y="16"/>
                  </a:cubicBezTo>
                  <a:cubicBezTo>
                    <a:pt x="743" y="16"/>
                    <a:pt x="834" y="16"/>
                    <a:pt x="926" y="16"/>
                  </a:cubicBezTo>
                  <a:cubicBezTo>
                    <a:pt x="935" y="16"/>
                    <a:pt x="935" y="2"/>
                    <a:pt x="926" y="2"/>
                  </a:cubicBezTo>
                  <a:cubicBezTo>
                    <a:pt x="756" y="2"/>
                    <a:pt x="586" y="2"/>
                    <a:pt x="416" y="2"/>
                  </a:cubicBezTo>
                  <a:cubicBezTo>
                    <a:pt x="326" y="2"/>
                    <a:pt x="236" y="2"/>
                    <a:pt x="146" y="2"/>
                  </a:cubicBezTo>
                  <a:cubicBezTo>
                    <a:pt x="123" y="2"/>
                    <a:pt x="100" y="0"/>
                    <a:pt x="78" y="8"/>
                  </a:cubicBezTo>
                  <a:cubicBezTo>
                    <a:pt x="9" y="34"/>
                    <a:pt x="0" y="130"/>
                    <a:pt x="55" y="174"/>
                  </a:cubicBezTo>
                  <a:cubicBezTo>
                    <a:pt x="79" y="193"/>
                    <a:pt x="107" y="194"/>
                    <a:pt x="136" y="194"/>
                  </a:cubicBezTo>
                  <a:cubicBezTo>
                    <a:pt x="170" y="194"/>
                    <a:pt x="204" y="194"/>
                    <a:pt x="238" y="194"/>
                  </a:cubicBezTo>
                  <a:cubicBezTo>
                    <a:pt x="348" y="194"/>
                    <a:pt x="458" y="194"/>
                    <a:pt x="569" y="194"/>
                  </a:cubicBezTo>
                  <a:cubicBezTo>
                    <a:pt x="688" y="194"/>
                    <a:pt x="807" y="194"/>
                    <a:pt x="926" y="194"/>
                  </a:cubicBezTo>
                  <a:cubicBezTo>
                    <a:pt x="935" y="194"/>
                    <a:pt x="935" y="179"/>
                    <a:pt x="926" y="179"/>
                  </a:cubicBezTo>
                  <a:close/>
                </a:path>
              </a:pathLst>
            </a:custGeom>
            <a:solidFill>
              <a:srgbClr val="F398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37">
              <a:extLst>
                <a:ext uri="{FF2B5EF4-FFF2-40B4-BE49-F238E27FC236}">
                  <a16:creationId xmlns:a16="http://schemas.microsoft.com/office/drawing/2014/main" id="{699EBC29-2B69-452D-BC38-1F6871772D0B}"/>
                </a:ext>
              </a:extLst>
            </p:cNvPr>
            <p:cNvSpPr>
              <a:spLocks/>
            </p:cNvSpPr>
            <p:nvPr/>
          </p:nvSpPr>
          <p:spPr bwMode="auto">
            <a:xfrm>
              <a:off x="1482725" y="4325938"/>
              <a:ext cx="122238" cy="247650"/>
            </a:xfrm>
            <a:custGeom>
              <a:avLst/>
              <a:gdLst>
                <a:gd name="T0" fmla="*/ 77 w 77"/>
                <a:gd name="T1" fmla="*/ 156 h 156"/>
                <a:gd name="T2" fmla="*/ 39 w 77"/>
                <a:gd name="T3" fmla="*/ 127 h 156"/>
                <a:gd name="T4" fmla="*/ 0 w 77"/>
                <a:gd name="T5" fmla="*/ 156 h 156"/>
                <a:gd name="T6" fmla="*/ 0 w 77"/>
                <a:gd name="T7" fmla="*/ 0 h 156"/>
                <a:gd name="T8" fmla="*/ 77 w 77"/>
                <a:gd name="T9" fmla="*/ 0 h 156"/>
                <a:gd name="T10" fmla="*/ 77 w 77"/>
                <a:gd name="T11" fmla="*/ 156 h 156"/>
              </a:gdLst>
              <a:ahLst/>
              <a:cxnLst>
                <a:cxn ang="0">
                  <a:pos x="T0" y="T1"/>
                </a:cxn>
                <a:cxn ang="0">
                  <a:pos x="T2" y="T3"/>
                </a:cxn>
                <a:cxn ang="0">
                  <a:pos x="T4" y="T5"/>
                </a:cxn>
                <a:cxn ang="0">
                  <a:pos x="T6" y="T7"/>
                </a:cxn>
                <a:cxn ang="0">
                  <a:pos x="T8" y="T9"/>
                </a:cxn>
                <a:cxn ang="0">
                  <a:pos x="T10" y="T11"/>
                </a:cxn>
              </a:cxnLst>
              <a:rect l="0" t="0" r="r" b="b"/>
              <a:pathLst>
                <a:path w="77" h="156">
                  <a:moveTo>
                    <a:pt x="77" y="156"/>
                  </a:moveTo>
                  <a:lnTo>
                    <a:pt x="39" y="127"/>
                  </a:lnTo>
                  <a:lnTo>
                    <a:pt x="0" y="156"/>
                  </a:lnTo>
                  <a:lnTo>
                    <a:pt x="0" y="0"/>
                  </a:lnTo>
                  <a:lnTo>
                    <a:pt x="77" y="0"/>
                  </a:lnTo>
                  <a:lnTo>
                    <a:pt x="77" y="156"/>
                  </a:lnTo>
                  <a:close/>
                </a:path>
              </a:pathLst>
            </a:custGeom>
            <a:solidFill>
              <a:srgbClr val="7A6A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Rectangle 38">
              <a:extLst>
                <a:ext uri="{FF2B5EF4-FFF2-40B4-BE49-F238E27FC236}">
                  <a16:creationId xmlns:a16="http://schemas.microsoft.com/office/drawing/2014/main" id="{1A19CFDE-5004-4397-B37D-57B0F1949D6D}"/>
                </a:ext>
              </a:extLst>
            </p:cNvPr>
            <p:cNvSpPr>
              <a:spLocks noChangeArrowheads="1"/>
            </p:cNvSpPr>
            <p:nvPr/>
          </p:nvSpPr>
          <p:spPr bwMode="auto">
            <a:xfrm>
              <a:off x="2932113" y="4992688"/>
              <a:ext cx="36513" cy="307975"/>
            </a:xfrm>
            <a:prstGeom prst="rect">
              <a:avLst/>
            </a:prstGeom>
            <a:solidFill>
              <a:srgbClr val="7A6A5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8" name="Rectangle 39">
              <a:extLst>
                <a:ext uri="{FF2B5EF4-FFF2-40B4-BE49-F238E27FC236}">
                  <a16:creationId xmlns:a16="http://schemas.microsoft.com/office/drawing/2014/main" id="{7A71712B-6D47-4C62-9D45-19F907B7926C}"/>
                </a:ext>
              </a:extLst>
            </p:cNvPr>
            <p:cNvSpPr>
              <a:spLocks noChangeArrowheads="1"/>
            </p:cNvSpPr>
            <p:nvPr/>
          </p:nvSpPr>
          <p:spPr bwMode="auto">
            <a:xfrm>
              <a:off x="3009900" y="4992688"/>
              <a:ext cx="133350" cy="307975"/>
            </a:xfrm>
            <a:prstGeom prst="rect">
              <a:avLst/>
            </a:prstGeom>
            <a:solidFill>
              <a:srgbClr val="7A6A5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Rectangle 40">
              <a:extLst>
                <a:ext uri="{FF2B5EF4-FFF2-40B4-BE49-F238E27FC236}">
                  <a16:creationId xmlns:a16="http://schemas.microsoft.com/office/drawing/2014/main" id="{3935E4F6-D4A7-4F0F-9F0C-FDCFE65127A1}"/>
                </a:ext>
              </a:extLst>
            </p:cNvPr>
            <p:cNvSpPr>
              <a:spLocks noChangeArrowheads="1"/>
            </p:cNvSpPr>
            <p:nvPr/>
          </p:nvSpPr>
          <p:spPr bwMode="auto">
            <a:xfrm>
              <a:off x="1468438" y="4992688"/>
              <a:ext cx="1423988" cy="307975"/>
            </a:xfrm>
            <a:prstGeom prst="rect">
              <a:avLst/>
            </a:prstGeom>
            <a:solidFill>
              <a:srgbClr val="7A6A5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Rectangle 41">
              <a:extLst>
                <a:ext uri="{FF2B5EF4-FFF2-40B4-BE49-F238E27FC236}">
                  <a16:creationId xmlns:a16="http://schemas.microsoft.com/office/drawing/2014/main" id="{B77EF6E1-1BB6-4C89-BD9E-6578140F39DD}"/>
                </a:ext>
              </a:extLst>
            </p:cNvPr>
            <p:cNvSpPr>
              <a:spLocks noChangeArrowheads="1"/>
            </p:cNvSpPr>
            <p:nvPr/>
          </p:nvSpPr>
          <p:spPr bwMode="auto">
            <a:xfrm>
              <a:off x="1284288" y="4992688"/>
              <a:ext cx="112713" cy="307975"/>
            </a:xfrm>
            <a:prstGeom prst="rect">
              <a:avLst/>
            </a:prstGeom>
            <a:solidFill>
              <a:srgbClr val="7A6A5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Rectangle 42">
              <a:extLst>
                <a:ext uri="{FF2B5EF4-FFF2-40B4-BE49-F238E27FC236}">
                  <a16:creationId xmlns:a16="http://schemas.microsoft.com/office/drawing/2014/main" id="{2A2B1347-FAE8-4D74-868E-7430937D9E2B}"/>
                </a:ext>
              </a:extLst>
            </p:cNvPr>
            <p:cNvSpPr>
              <a:spLocks noChangeArrowheads="1"/>
            </p:cNvSpPr>
            <p:nvPr/>
          </p:nvSpPr>
          <p:spPr bwMode="auto">
            <a:xfrm>
              <a:off x="2932113" y="4606925"/>
              <a:ext cx="36513" cy="307975"/>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Rectangle 43">
              <a:extLst>
                <a:ext uri="{FF2B5EF4-FFF2-40B4-BE49-F238E27FC236}">
                  <a16:creationId xmlns:a16="http://schemas.microsoft.com/office/drawing/2014/main" id="{A2A3441B-1664-4F93-8F90-1E509EF3D313}"/>
                </a:ext>
              </a:extLst>
            </p:cNvPr>
            <p:cNvSpPr>
              <a:spLocks noChangeArrowheads="1"/>
            </p:cNvSpPr>
            <p:nvPr/>
          </p:nvSpPr>
          <p:spPr bwMode="auto">
            <a:xfrm>
              <a:off x="1284288" y="4606925"/>
              <a:ext cx="112713" cy="307975"/>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3" name="Rectangle 44">
              <a:extLst>
                <a:ext uri="{FF2B5EF4-FFF2-40B4-BE49-F238E27FC236}">
                  <a16:creationId xmlns:a16="http://schemas.microsoft.com/office/drawing/2014/main" id="{6A331C1D-F2D6-4259-8D4F-2D6CE7AA0A13}"/>
                </a:ext>
              </a:extLst>
            </p:cNvPr>
            <p:cNvSpPr>
              <a:spLocks noChangeArrowheads="1"/>
            </p:cNvSpPr>
            <p:nvPr/>
          </p:nvSpPr>
          <p:spPr bwMode="auto">
            <a:xfrm>
              <a:off x="3009900" y="4606925"/>
              <a:ext cx="133350" cy="307975"/>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4" name="Rectangle 45">
              <a:extLst>
                <a:ext uri="{FF2B5EF4-FFF2-40B4-BE49-F238E27FC236}">
                  <a16:creationId xmlns:a16="http://schemas.microsoft.com/office/drawing/2014/main" id="{B2B1A8C6-E4C9-48F2-B17D-29A4AB61B347}"/>
                </a:ext>
              </a:extLst>
            </p:cNvPr>
            <p:cNvSpPr>
              <a:spLocks noChangeArrowheads="1"/>
            </p:cNvSpPr>
            <p:nvPr/>
          </p:nvSpPr>
          <p:spPr bwMode="auto">
            <a:xfrm>
              <a:off x="1468438" y="4606925"/>
              <a:ext cx="1423988" cy="307975"/>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5" name="Rectangle 46">
              <a:extLst>
                <a:ext uri="{FF2B5EF4-FFF2-40B4-BE49-F238E27FC236}">
                  <a16:creationId xmlns:a16="http://schemas.microsoft.com/office/drawing/2014/main" id="{97B0F232-0F46-4634-A120-32BDD8D6B20F}"/>
                </a:ext>
              </a:extLst>
            </p:cNvPr>
            <p:cNvSpPr>
              <a:spLocks noChangeArrowheads="1"/>
            </p:cNvSpPr>
            <p:nvPr/>
          </p:nvSpPr>
          <p:spPr bwMode="auto">
            <a:xfrm>
              <a:off x="5594350" y="3432175"/>
              <a:ext cx="236538" cy="28575"/>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Rectangle 47">
              <a:extLst>
                <a:ext uri="{FF2B5EF4-FFF2-40B4-BE49-F238E27FC236}">
                  <a16:creationId xmlns:a16="http://schemas.microsoft.com/office/drawing/2014/main" id="{5D872C4E-8054-4895-B425-7355DFABF7B3}"/>
                </a:ext>
              </a:extLst>
            </p:cNvPr>
            <p:cNvSpPr>
              <a:spLocks noChangeArrowheads="1"/>
            </p:cNvSpPr>
            <p:nvPr/>
          </p:nvSpPr>
          <p:spPr bwMode="auto">
            <a:xfrm>
              <a:off x="5594350" y="4641850"/>
              <a:ext cx="236538" cy="85725"/>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Rectangle 48">
              <a:extLst>
                <a:ext uri="{FF2B5EF4-FFF2-40B4-BE49-F238E27FC236}">
                  <a16:creationId xmlns:a16="http://schemas.microsoft.com/office/drawing/2014/main" id="{C0E7261F-AD66-44CE-B3A6-730890BC2812}"/>
                </a:ext>
              </a:extLst>
            </p:cNvPr>
            <p:cNvSpPr>
              <a:spLocks noChangeArrowheads="1"/>
            </p:cNvSpPr>
            <p:nvPr/>
          </p:nvSpPr>
          <p:spPr bwMode="auto">
            <a:xfrm>
              <a:off x="5594350" y="3297238"/>
              <a:ext cx="236538" cy="103188"/>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8" name="Rectangle 49">
              <a:extLst>
                <a:ext uri="{FF2B5EF4-FFF2-40B4-BE49-F238E27FC236}">
                  <a16:creationId xmlns:a16="http://schemas.microsoft.com/office/drawing/2014/main" id="{B8DAB03A-F80D-4EC6-9D87-E46D6874D91F}"/>
                </a:ext>
              </a:extLst>
            </p:cNvPr>
            <p:cNvSpPr>
              <a:spLocks noChangeArrowheads="1"/>
            </p:cNvSpPr>
            <p:nvPr/>
          </p:nvSpPr>
          <p:spPr bwMode="auto">
            <a:xfrm>
              <a:off x="5594350" y="3490913"/>
              <a:ext cx="236538" cy="1093788"/>
            </a:xfrm>
            <a:prstGeom prst="rect">
              <a:avLst/>
            </a:prstGeom>
            <a:solidFill>
              <a:srgbClr val="B5B5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Rectangle 50">
              <a:extLst>
                <a:ext uri="{FF2B5EF4-FFF2-40B4-BE49-F238E27FC236}">
                  <a16:creationId xmlns:a16="http://schemas.microsoft.com/office/drawing/2014/main" id="{FB4C8186-BB73-4B8D-97CF-33475B5425F6}"/>
                </a:ext>
              </a:extLst>
            </p:cNvPr>
            <p:cNvSpPr>
              <a:spLocks noChangeArrowheads="1"/>
            </p:cNvSpPr>
            <p:nvPr/>
          </p:nvSpPr>
          <p:spPr bwMode="auto">
            <a:xfrm>
              <a:off x="5907088" y="4545013"/>
              <a:ext cx="271463" cy="30163"/>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Rectangle 51">
              <a:extLst>
                <a:ext uri="{FF2B5EF4-FFF2-40B4-BE49-F238E27FC236}">
                  <a16:creationId xmlns:a16="http://schemas.microsoft.com/office/drawing/2014/main" id="{18A47D49-6DE5-41A5-8513-3FE9DB959AFA}"/>
                </a:ext>
              </a:extLst>
            </p:cNvPr>
            <p:cNvSpPr>
              <a:spLocks noChangeArrowheads="1"/>
            </p:cNvSpPr>
            <p:nvPr/>
          </p:nvSpPr>
          <p:spPr bwMode="auto">
            <a:xfrm>
              <a:off x="5907088" y="4611688"/>
              <a:ext cx="271463" cy="119063"/>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1" name="Rectangle 52">
              <a:extLst>
                <a:ext uri="{FF2B5EF4-FFF2-40B4-BE49-F238E27FC236}">
                  <a16:creationId xmlns:a16="http://schemas.microsoft.com/office/drawing/2014/main" id="{5090CCFD-1375-47B4-BE35-FC4196343B75}"/>
                </a:ext>
              </a:extLst>
            </p:cNvPr>
            <p:cNvSpPr>
              <a:spLocks noChangeArrowheads="1"/>
            </p:cNvSpPr>
            <p:nvPr/>
          </p:nvSpPr>
          <p:spPr bwMode="auto">
            <a:xfrm>
              <a:off x="5907088" y="3246438"/>
              <a:ext cx="271463" cy="1262063"/>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2" name="Rectangle 53">
              <a:extLst>
                <a:ext uri="{FF2B5EF4-FFF2-40B4-BE49-F238E27FC236}">
                  <a16:creationId xmlns:a16="http://schemas.microsoft.com/office/drawing/2014/main" id="{44DCB7D0-842D-4C24-993E-EC0D0B696045}"/>
                </a:ext>
              </a:extLst>
            </p:cNvPr>
            <p:cNvSpPr>
              <a:spLocks noChangeArrowheads="1"/>
            </p:cNvSpPr>
            <p:nvPr/>
          </p:nvSpPr>
          <p:spPr bwMode="auto">
            <a:xfrm>
              <a:off x="5907088" y="3084513"/>
              <a:ext cx="271463" cy="100013"/>
            </a:xfrm>
            <a:prstGeom prst="rect">
              <a:avLst/>
            </a:prstGeom>
            <a:solidFill>
              <a:srgbClr val="1F4B7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3" name="Rectangle 54">
              <a:extLst>
                <a:ext uri="{FF2B5EF4-FFF2-40B4-BE49-F238E27FC236}">
                  <a16:creationId xmlns:a16="http://schemas.microsoft.com/office/drawing/2014/main" id="{F443E0F1-20A8-4106-A92A-F5069C8C23BD}"/>
                </a:ext>
              </a:extLst>
            </p:cNvPr>
            <p:cNvSpPr>
              <a:spLocks noChangeArrowheads="1"/>
            </p:cNvSpPr>
            <p:nvPr/>
          </p:nvSpPr>
          <p:spPr bwMode="auto">
            <a:xfrm>
              <a:off x="6529388" y="3216275"/>
              <a:ext cx="276225" cy="31750"/>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Rectangle 55">
              <a:extLst>
                <a:ext uri="{FF2B5EF4-FFF2-40B4-BE49-F238E27FC236}">
                  <a16:creationId xmlns:a16="http://schemas.microsoft.com/office/drawing/2014/main" id="{58464CF5-D136-492B-9D2E-B031B586D170}"/>
                </a:ext>
              </a:extLst>
            </p:cNvPr>
            <p:cNvSpPr>
              <a:spLocks noChangeArrowheads="1"/>
            </p:cNvSpPr>
            <p:nvPr/>
          </p:nvSpPr>
          <p:spPr bwMode="auto">
            <a:xfrm>
              <a:off x="6529388" y="4629150"/>
              <a:ext cx="276225" cy="100013"/>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Rectangle 56">
              <a:extLst>
                <a:ext uri="{FF2B5EF4-FFF2-40B4-BE49-F238E27FC236}">
                  <a16:creationId xmlns:a16="http://schemas.microsoft.com/office/drawing/2014/main" id="{D5F4211D-E4FF-45F9-812D-43718FA75371}"/>
                </a:ext>
              </a:extLst>
            </p:cNvPr>
            <p:cNvSpPr>
              <a:spLocks noChangeArrowheads="1"/>
            </p:cNvSpPr>
            <p:nvPr/>
          </p:nvSpPr>
          <p:spPr bwMode="auto">
            <a:xfrm>
              <a:off x="6529388" y="3059113"/>
              <a:ext cx="276225" cy="120650"/>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6" name="Rectangle 57">
              <a:extLst>
                <a:ext uri="{FF2B5EF4-FFF2-40B4-BE49-F238E27FC236}">
                  <a16:creationId xmlns:a16="http://schemas.microsoft.com/office/drawing/2014/main" id="{A57161FC-EE46-4376-9B12-28FC8C5624F7}"/>
                </a:ext>
              </a:extLst>
            </p:cNvPr>
            <p:cNvSpPr>
              <a:spLocks noChangeArrowheads="1"/>
            </p:cNvSpPr>
            <p:nvPr/>
          </p:nvSpPr>
          <p:spPr bwMode="auto">
            <a:xfrm>
              <a:off x="6529388" y="3284538"/>
              <a:ext cx="276225" cy="1277938"/>
            </a:xfrm>
            <a:prstGeom prst="rect">
              <a:avLst/>
            </a:prstGeom>
            <a:solidFill>
              <a:srgbClr val="F39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7" name="Rectangle 58">
              <a:extLst>
                <a:ext uri="{FF2B5EF4-FFF2-40B4-BE49-F238E27FC236}">
                  <a16:creationId xmlns:a16="http://schemas.microsoft.com/office/drawing/2014/main" id="{615370A0-FCB0-4D42-A1EA-35A9184E340D}"/>
                </a:ext>
              </a:extLst>
            </p:cNvPr>
            <p:cNvSpPr>
              <a:spLocks noChangeArrowheads="1"/>
            </p:cNvSpPr>
            <p:nvPr/>
          </p:nvSpPr>
          <p:spPr bwMode="auto">
            <a:xfrm>
              <a:off x="6280150" y="4630738"/>
              <a:ext cx="193675" cy="103188"/>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8" name="Rectangle 59">
              <a:extLst>
                <a:ext uri="{FF2B5EF4-FFF2-40B4-BE49-F238E27FC236}">
                  <a16:creationId xmlns:a16="http://schemas.microsoft.com/office/drawing/2014/main" id="{C827563B-C563-49D9-AAE2-0AD593944B8C}"/>
                </a:ext>
              </a:extLst>
            </p:cNvPr>
            <p:cNvSpPr>
              <a:spLocks noChangeArrowheads="1"/>
            </p:cNvSpPr>
            <p:nvPr/>
          </p:nvSpPr>
          <p:spPr bwMode="auto">
            <a:xfrm>
              <a:off x="6280150" y="3290888"/>
              <a:ext cx="193675" cy="1235075"/>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9" name="Rectangle 60">
              <a:extLst>
                <a:ext uri="{FF2B5EF4-FFF2-40B4-BE49-F238E27FC236}">
                  <a16:creationId xmlns:a16="http://schemas.microsoft.com/office/drawing/2014/main" id="{D7753C8E-4C71-40C4-A8E2-6E08F3098E5B}"/>
                </a:ext>
              </a:extLst>
            </p:cNvPr>
            <p:cNvSpPr>
              <a:spLocks noChangeArrowheads="1"/>
            </p:cNvSpPr>
            <p:nvPr/>
          </p:nvSpPr>
          <p:spPr bwMode="auto">
            <a:xfrm>
              <a:off x="6280150" y="4557713"/>
              <a:ext cx="193675" cy="41275"/>
            </a:xfrm>
            <a:prstGeom prst="rect">
              <a:avLst/>
            </a:prstGeom>
            <a:solidFill>
              <a:srgbClr val="94C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0" name="Freeform 61">
              <a:extLst>
                <a:ext uri="{FF2B5EF4-FFF2-40B4-BE49-F238E27FC236}">
                  <a16:creationId xmlns:a16="http://schemas.microsoft.com/office/drawing/2014/main" id="{E35ABC41-9014-4A9A-AD2F-B8B2ADA3E806}"/>
                </a:ext>
              </a:extLst>
            </p:cNvPr>
            <p:cNvSpPr>
              <a:spLocks/>
            </p:cNvSpPr>
            <p:nvPr/>
          </p:nvSpPr>
          <p:spPr bwMode="auto">
            <a:xfrm>
              <a:off x="1588" y="4860925"/>
              <a:ext cx="10031413" cy="1852613"/>
            </a:xfrm>
            <a:custGeom>
              <a:avLst/>
              <a:gdLst>
                <a:gd name="T0" fmla="*/ 1843 w 6319"/>
                <a:gd name="T1" fmla="*/ 1167 h 1167"/>
                <a:gd name="T2" fmla="*/ 1843 w 6319"/>
                <a:gd name="T3" fmla="*/ 502 h 1167"/>
                <a:gd name="T4" fmla="*/ 0 w 6319"/>
                <a:gd name="T5" fmla="*/ 502 h 1167"/>
                <a:gd name="T6" fmla="*/ 0 w 6319"/>
                <a:gd name="T7" fmla="*/ 375 h 1167"/>
                <a:gd name="T8" fmla="*/ 1971 w 6319"/>
                <a:gd name="T9" fmla="*/ 375 h 1167"/>
                <a:gd name="T10" fmla="*/ 1971 w 6319"/>
                <a:gd name="T11" fmla="*/ 1039 h 1167"/>
                <a:gd name="T12" fmla="*/ 3428 w 6319"/>
                <a:gd name="T13" fmla="*/ 1039 h 1167"/>
                <a:gd name="T14" fmla="*/ 3428 w 6319"/>
                <a:gd name="T15" fmla="*/ 0 h 1167"/>
                <a:gd name="T16" fmla="*/ 5481 w 6319"/>
                <a:gd name="T17" fmla="*/ 0 h 1167"/>
                <a:gd name="T18" fmla="*/ 5481 w 6319"/>
                <a:gd name="T19" fmla="*/ 562 h 1167"/>
                <a:gd name="T20" fmla="*/ 6319 w 6319"/>
                <a:gd name="T21" fmla="*/ 562 h 1167"/>
                <a:gd name="T22" fmla="*/ 6319 w 6319"/>
                <a:gd name="T23" fmla="*/ 689 h 1167"/>
                <a:gd name="T24" fmla="*/ 5353 w 6319"/>
                <a:gd name="T25" fmla="*/ 689 h 1167"/>
                <a:gd name="T26" fmla="*/ 5353 w 6319"/>
                <a:gd name="T27" fmla="*/ 128 h 1167"/>
                <a:gd name="T28" fmla="*/ 3556 w 6319"/>
                <a:gd name="T29" fmla="*/ 128 h 1167"/>
                <a:gd name="T30" fmla="*/ 3556 w 6319"/>
                <a:gd name="T31" fmla="*/ 1167 h 1167"/>
                <a:gd name="T32" fmla="*/ 1843 w 6319"/>
                <a:gd name="T33" fmla="*/ 1167 h 1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19" h="1167">
                  <a:moveTo>
                    <a:pt x="1843" y="1167"/>
                  </a:moveTo>
                  <a:lnTo>
                    <a:pt x="1843" y="502"/>
                  </a:lnTo>
                  <a:lnTo>
                    <a:pt x="0" y="502"/>
                  </a:lnTo>
                  <a:lnTo>
                    <a:pt x="0" y="375"/>
                  </a:lnTo>
                  <a:lnTo>
                    <a:pt x="1971" y="375"/>
                  </a:lnTo>
                  <a:lnTo>
                    <a:pt x="1971" y="1039"/>
                  </a:lnTo>
                  <a:lnTo>
                    <a:pt x="3428" y="1039"/>
                  </a:lnTo>
                  <a:lnTo>
                    <a:pt x="3428" y="0"/>
                  </a:lnTo>
                  <a:lnTo>
                    <a:pt x="5481" y="0"/>
                  </a:lnTo>
                  <a:lnTo>
                    <a:pt x="5481" y="562"/>
                  </a:lnTo>
                  <a:lnTo>
                    <a:pt x="6319" y="562"/>
                  </a:lnTo>
                  <a:lnTo>
                    <a:pt x="6319" y="689"/>
                  </a:lnTo>
                  <a:lnTo>
                    <a:pt x="5353" y="689"/>
                  </a:lnTo>
                  <a:lnTo>
                    <a:pt x="5353" y="128"/>
                  </a:lnTo>
                  <a:lnTo>
                    <a:pt x="3556" y="128"/>
                  </a:lnTo>
                  <a:lnTo>
                    <a:pt x="3556" y="1167"/>
                  </a:lnTo>
                  <a:lnTo>
                    <a:pt x="1843" y="1167"/>
                  </a:lnTo>
                  <a:close/>
                </a:path>
              </a:pathLst>
            </a:custGeom>
            <a:solidFill>
              <a:srgbClr val="1F4B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29526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anim calcmode="lin" valueType="num">
                                      <p:cBhvr>
                                        <p:cTn id="8" dur="1000" fill="hold"/>
                                        <p:tgtEl>
                                          <p:spTgt spid="99"/>
                                        </p:tgtEl>
                                        <p:attrNameLst>
                                          <p:attrName>ppt_x</p:attrName>
                                        </p:attrNameLst>
                                      </p:cBhvr>
                                      <p:tavLst>
                                        <p:tav tm="0">
                                          <p:val>
                                            <p:strVal val="#ppt_x"/>
                                          </p:val>
                                        </p:tav>
                                        <p:tav tm="100000">
                                          <p:val>
                                            <p:strVal val="#ppt_x"/>
                                          </p:val>
                                        </p:tav>
                                      </p:tavLst>
                                    </p:anim>
                                    <p:anim calcmode="lin" valueType="num">
                                      <p:cBhvr>
                                        <p:cTn id="9" dur="1000" fill="hold"/>
                                        <p:tgtEl>
                                          <p:spTgt spid="9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 calcmode="lin" valueType="num">
                                      <p:cBhvr>
                                        <p:cTn id="13" dur="500" fill="hold"/>
                                        <p:tgtEl>
                                          <p:spTgt spid="102"/>
                                        </p:tgtEl>
                                        <p:attrNameLst>
                                          <p:attrName>ppt_w</p:attrName>
                                        </p:attrNameLst>
                                      </p:cBhvr>
                                      <p:tavLst>
                                        <p:tav tm="0">
                                          <p:val>
                                            <p:fltVal val="0"/>
                                          </p:val>
                                        </p:tav>
                                        <p:tav tm="100000">
                                          <p:val>
                                            <p:strVal val="#ppt_w"/>
                                          </p:val>
                                        </p:tav>
                                      </p:tavLst>
                                    </p:anim>
                                    <p:anim calcmode="lin" valueType="num">
                                      <p:cBhvr>
                                        <p:cTn id="14" dur="500" fill="hold"/>
                                        <p:tgtEl>
                                          <p:spTgt spid="102"/>
                                        </p:tgtEl>
                                        <p:attrNameLst>
                                          <p:attrName>ppt_h</p:attrName>
                                        </p:attrNameLst>
                                      </p:cBhvr>
                                      <p:tavLst>
                                        <p:tav tm="0">
                                          <p:val>
                                            <p:fltVal val="0"/>
                                          </p:val>
                                        </p:tav>
                                        <p:tav tm="100000">
                                          <p:val>
                                            <p:strVal val="#ppt_h"/>
                                          </p:val>
                                        </p:tav>
                                      </p:tavLst>
                                    </p:anim>
                                    <p:animEffect transition="in" filter="fade">
                                      <p:cBhvr>
                                        <p:cTn id="15" dur="500"/>
                                        <p:tgtEl>
                                          <p:spTgt spid="10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284B43F-2F06-6550-B4AB-31F655BFE109}"/>
              </a:ext>
            </a:extLst>
          </p:cNvPr>
          <p:cNvSpPr txBox="1"/>
          <p:nvPr/>
        </p:nvSpPr>
        <p:spPr>
          <a:xfrm>
            <a:off x="3152513" y="128588"/>
            <a:ext cx="1832553" cy="584775"/>
          </a:xfrm>
          <a:prstGeom prst="rect">
            <a:avLst/>
          </a:prstGeom>
          <a:noFill/>
        </p:spPr>
        <p:txBody>
          <a:bodyPr wrap="none" rtlCol="0">
            <a:spAutoFit/>
          </a:bodyPr>
          <a:lstStyle/>
          <a:p>
            <a:r>
              <a:rPr lang="zh-CN" altLang="en-US" sz="3200" b="1" dirty="0">
                <a:latin typeface="微软雅黑" panose="020B0503020204020204" pitchFamily="34" charset="-122"/>
                <a:ea typeface="微软雅黑" panose="020B0503020204020204" pitchFamily="34" charset="-122"/>
              </a:rPr>
              <a:t>数理统计</a:t>
            </a:r>
          </a:p>
        </p:txBody>
      </p:sp>
      <p:sp>
        <p:nvSpPr>
          <p:cNvPr id="4" name="文本框 3">
            <a:extLst>
              <a:ext uri="{FF2B5EF4-FFF2-40B4-BE49-F238E27FC236}">
                <a16:creationId xmlns:a16="http://schemas.microsoft.com/office/drawing/2014/main" id="{35E82BFE-F8A4-D127-A018-905158109129}"/>
              </a:ext>
            </a:extLst>
          </p:cNvPr>
          <p:cNvSpPr txBox="1"/>
          <p:nvPr/>
        </p:nvSpPr>
        <p:spPr>
          <a:xfrm>
            <a:off x="991809" y="747805"/>
            <a:ext cx="1654620" cy="461665"/>
          </a:xfrm>
          <a:prstGeom prst="rect">
            <a:avLst/>
          </a:prstGeom>
          <a:noFill/>
        </p:spPr>
        <p:txBody>
          <a:bodyPr wrap="none" rtlCol="0">
            <a:spAutoFit/>
          </a:bodyPr>
          <a:lstStyle/>
          <a:p>
            <a:r>
              <a:rPr lang="zh-CN" altLang="en-US" sz="2400" b="1" dirty="0"/>
              <a:t>研究对象</a:t>
            </a:r>
            <a:r>
              <a:rPr lang="zh-CN" altLang="en-US" b="1" dirty="0"/>
              <a:t>：</a:t>
            </a:r>
          </a:p>
        </p:txBody>
      </p:sp>
      <p:sp>
        <p:nvSpPr>
          <p:cNvPr id="5" name="文本框 4">
            <a:extLst>
              <a:ext uri="{FF2B5EF4-FFF2-40B4-BE49-F238E27FC236}">
                <a16:creationId xmlns:a16="http://schemas.microsoft.com/office/drawing/2014/main" id="{29ACEC4B-5BAF-ECB8-29AE-B058A0706419}"/>
              </a:ext>
            </a:extLst>
          </p:cNvPr>
          <p:cNvSpPr txBox="1"/>
          <p:nvPr/>
        </p:nvSpPr>
        <p:spPr>
          <a:xfrm>
            <a:off x="2646429" y="783459"/>
            <a:ext cx="226215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受到随机影响的数据</a:t>
            </a:r>
          </a:p>
        </p:txBody>
      </p:sp>
      <p:sp>
        <p:nvSpPr>
          <p:cNvPr id="6" name="文本框 5">
            <a:extLst>
              <a:ext uri="{FF2B5EF4-FFF2-40B4-BE49-F238E27FC236}">
                <a16:creationId xmlns:a16="http://schemas.microsoft.com/office/drawing/2014/main" id="{AB3CAD4E-CCD0-8D3E-B40E-065F40D10D65}"/>
              </a:ext>
            </a:extLst>
          </p:cNvPr>
          <p:cNvSpPr txBox="1"/>
          <p:nvPr/>
        </p:nvSpPr>
        <p:spPr>
          <a:xfrm>
            <a:off x="991809" y="1515274"/>
            <a:ext cx="1723549" cy="461665"/>
          </a:xfrm>
          <a:prstGeom prst="rect">
            <a:avLst/>
          </a:prstGeom>
          <a:noFill/>
        </p:spPr>
        <p:txBody>
          <a:bodyPr wrap="none" rtlCol="0">
            <a:spAutoFit/>
          </a:bodyPr>
          <a:lstStyle/>
          <a:p>
            <a:r>
              <a:rPr lang="zh-CN" altLang="en-US" sz="2400" b="1" dirty="0"/>
              <a:t>研究目的</a:t>
            </a:r>
            <a:r>
              <a:rPr lang="zh-CN" altLang="en-US" sz="2400" dirty="0"/>
              <a:t>：</a:t>
            </a:r>
          </a:p>
        </p:txBody>
      </p:sp>
      <p:sp>
        <p:nvSpPr>
          <p:cNvPr id="8" name="文本框 7">
            <a:extLst>
              <a:ext uri="{FF2B5EF4-FFF2-40B4-BE49-F238E27FC236}">
                <a16:creationId xmlns:a16="http://schemas.microsoft.com/office/drawing/2014/main" id="{DA9342AC-50E6-CA7B-AEA5-E83EFBCDA839}"/>
              </a:ext>
            </a:extLst>
          </p:cNvPr>
          <p:cNvSpPr txBox="1"/>
          <p:nvPr/>
        </p:nvSpPr>
        <p:spPr>
          <a:xfrm>
            <a:off x="978985" y="2743286"/>
            <a:ext cx="1723549" cy="461665"/>
          </a:xfrm>
          <a:prstGeom prst="rect">
            <a:avLst/>
          </a:prstGeom>
          <a:noFill/>
        </p:spPr>
        <p:txBody>
          <a:bodyPr wrap="none" rtlCol="0">
            <a:spAutoFit/>
          </a:bodyPr>
          <a:lstStyle/>
          <a:p>
            <a:r>
              <a:rPr lang="zh-CN" altLang="en-US" sz="2400" b="1" dirty="0"/>
              <a:t>理论基础</a:t>
            </a:r>
            <a:r>
              <a:rPr lang="zh-CN" altLang="en-US" sz="2400" dirty="0"/>
              <a:t>：</a:t>
            </a:r>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7DFA87A6-D3FD-A4AE-ACB7-86EF88CA3D0F}"/>
                  </a:ext>
                </a:extLst>
              </p:cNvPr>
              <p:cNvSpPr txBox="1"/>
              <p:nvPr/>
            </p:nvSpPr>
            <p:spPr>
              <a:xfrm>
                <a:off x="2771800" y="2868896"/>
                <a:ext cx="76142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概率论</m:t>
                      </m:r>
                    </m:oMath>
                  </m:oMathPara>
                </a14:m>
                <a:endParaRPr lang="zh-CN" altLang="en-US" dirty="0">
                  <a:latin typeface="微软雅黑" panose="020B0503020204020204" pitchFamily="34" charset="-122"/>
                  <a:ea typeface="微软雅黑" panose="020B0503020204020204" pitchFamily="34" charset="-122"/>
                </a:endParaRPr>
              </a:p>
            </p:txBody>
          </p:sp>
        </mc:Choice>
        <mc:Fallback>
          <p:sp>
            <p:nvSpPr>
              <p:cNvPr id="9" name="文本框 8">
                <a:extLst>
                  <a:ext uri="{FF2B5EF4-FFF2-40B4-BE49-F238E27FC236}">
                    <a16:creationId xmlns:a16="http://schemas.microsoft.com/office/drawing/2014/main" id="{7DFA87A6-D3FD-A4AE-ACB7-86EF88CA3D0F}"/>
                  </a:ext>
                </a:extLst>
              </p:cNvPr>
              <p:cNvSpPr txBox="1">
                <a:spLocks noRot="1" noChangeAspect="1" noMove="1" noResize="1" noEditPoints="1" noAdjustHandles="1" noChangeArrowheads="1" noChangeShapeType="1" noTextEdit="1"/>
              </p:cNvSpPr>
              <p:nvPr/>
            </p:nvSpPr>
            <p:spPr>
              <a:xfrm>
                <a:off x="2771800" y="2868896"/>
                <a:ext cx="761427" cy="276999"/>
              </a:xfrm>
              <a:prstGeom prst="rect">
                <a:avLst/>
              </a:prstGeom>
              <a:blipFill>
                <a:blip r:embed="rId2"/>
                <a:stretch>
                  <a:fillRect l="-9600" t="-11111" r="-10400" b="-28889"/>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6F3E9257-146F-734B-694F-A58E7B322D63}"/>
              </a:ext>
            </a:extLst>
          </p:cNvPr>
          <p:cNvSpPr txBox="1"/>
          <p:nvPr/>
        </p:nvSpPr>
        <p:spPr>
          <a:xfrm>
            <a:off x="1043608" y="3363838"/>
            <a:ext cx="1107996" cy="461665"/>
          </a:xfrm>
          <a:prstGeom prst="rect">
            <a:avLst/>
          </a:prstGeom>
          <a:noFill/>
        </p:spPr>
        <p:txBody>
          <a:bodyPr wrap="none" rtlCol="0">
            <a:spAutoFit/>
          </a:bodyPr>
          <a:lstStyle/>
          <a:p>
            <a:r>
              <a:rPr lang="zh-CN" altLang="en-US" sz="2400" b="1" dirty="0"/>
              <a:t>内容：</a:t>
            </a:r>
          </a:p>
        </p:txBody>
      </p:sp>
      <p:sp>
        <p:nvSpPr>
          <p:cNvPr id="12" name="Text Box 5">
            <a:extLst>
              <a:ext uri="{FF2B5EF4-FFF2-40B4-BE49-F238E27FC236}">
                <a16:creationId xmlns:a16="http://schemas.microsoft.com/office/drawing/2014/main" id="{F097DC85-19CE-68D3-5D19-8487157B85C5}"/>
              </a:ext>
            </a:extLst>
          </p:cNvPr>
          <p:cNvSpPr txBox="1">
            <a:spLocks noChangeArrowheads="1"/>
          </p:cNvSpPr>
          <p:nvPr/>
        </p:nvSpPr>
        <p:spPr bwMode="auto">
          <a:xfrm>
            <a:off x="2665008" y="1340458"/>
            <a:ext cx="3185487"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200000"/>
              </a:lnSpc>
              <a:spcBef>
                <a:spcPct val="0"/>
              </a:spcBef>
              <a:buFontTx/>
              <a:buNone/>
            </a:pPr>
            <a:r>
              <a:rPr lang="zh-CN" altLang="en-US" sz="1800" dirty="0">
                <a:latin typeface="微软雅黑" panose="020B0503020204020204" pitchFamily="34" charset="-122"/>
                <a:ea typeface="微软雅黑" panose="020B0503020204020204" pitchFamily="34" charset="-122"/>
              </a:rPr>
              <a:t>探索数据的内在数量规律性，</a:t>
            </a:r>
            <a:endParaRPr lang="en-US" altLang="zh-CN" sz="1800" dirty="0">
              <a:latin typeface="微软雅黑" panose="020B0503020204020204" pitchFamily="34" charset="-122"/>
              <a:ea typeface="微软雅黑" panose="020B0503020204020204" pitchFamily="34" charset="-122"/>
            </a:endParaRPr>
          </a:p>
          <a:p>
            <a:pPr algn="ctr" eaLnBrk="1" hangingPunct="1">
              <a:lnSpc>
                <a:spcPct val="200000"/>
              </a:lnSpc>
              <a:spcBef>
                <a:spcPct val="0"/>
              </a:spcBef>
              <a:buFontTx/>
              <a:buNone/>
            </a:pPr>
            <a:r>
              <a:rPr lang="zh-CN" altLang="en-US" sz="1800" dirty="0">
                <a:latin typeface="微软雅黑" panose="020B0503020204020204" pitchFamily="34" charset="-122"/>
                <a:ea typeface="微软雅黑" panose="020B0503020204020204" pitchFamily="34" charset="-122"/>
              </a:rPr>
              <a:t>以达到对客观事物的科学认识</a:t>
            </a:r>
          </a:p>
        </p:txBody>
      </p:sp>
      <p:pic>
        <p:nvPicPr>
          <p:cNvPr id="13" name="Rectangle 6">
            <a:extLst>
              <a:ext uri="{FF2B5EF4-FFF2-40B4-BE49-F238E27FC236}">
                <a16:creationId xmlns:a16="http://schemas.microsoft.com/office/drawing/2014/main" id="{0DCAE469-B613-B7F4-4123-13BE0EC1F79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3301575"/>
            <a:ext cx="3926681" cy="211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450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P spid="10"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76BA7FD-89C3-4FF7-A86F-62152383EB03}"/>
              </a:ext>
            </a:extLst>
          </p:cNvPr>
          <p:cNvSpPr>
            <a:spLocks noGrp="1" noChangeArrowheads="1"/>
          </p:cNvSpPr>
          <p:nvPr>
            <p:ph type="title"/>
          </p:nvPr>
        </p:nvSpPr>
        <p:spPr/>
        <p:txBody>
          <a:bodyPr/>
          <a:lstStyle/>
          <a:p>
            <a:pPr eaLnBrk="1" hangingPunct="1"/>
            <a:r>
              <a:rPr lang="zh-CN" altLang="zh-CN" b="1">
                <a:solidFill>
                  <a:srgbClr val="0000FF"/>
                </a:solidFill>
                <a:latin typeface="微软雅黑" panose="020B0503020204020204" pitchFamily="34" charset="-122"/>
                <a:ea typeface="微软雅黑" panose="020B0503020204020204" pitchFamily="34" charset="-122"/>
              </a:rPr>
              <a:t>统计学的分科</a:t>
            </a:r>
          </a:p>
        </p:txBody>
      </p:sp>
      <p:grpSp>
        <p:nvGrpSpPr>
          <p:cNvPr id="14340" name="Group 4">
            <a:extLst>
              <a:ext uri="{FF2B5EF4-FFF2-40B4-BE49-F238E27FC236}">
                <a16:creationId xmlns:a16="http://schemas.microsoft.com/office/drawing/2014/main" id="{E18F9CD5-F79E-4EA2-8683-8F19058E534E}"/>
              </a:ext>
            </a:extLst>
          </p:cNvPr>
          <p:cNvGrpSpPr>
            <a:grpSpLocks/>
          </p:cNvGrpSpPr>
          <p:nvPr/>
        </p:nvGrpSpPr>
        <p:grpSpPr bwMode="auto">
          <a:xfrm>
            <a:off x="1543050" y="2286000"/>
            <a:ext cx="2971800" cy="1371600"/>
            <a:chOff x="0" y="0"/>
            <a:chExt cx="2496" cy="1152"/>
          </a:xfrm>
        </p:grpSpPr>
        <p:sp>
          <p:nvSpPr>
            <p:cNvPr id="14341" name="Text Box 5">
              <a:extLst>
                <a:ext uri="{FF2B5EF4-FFF2-40B4-BE49-F238E27FC236}">
                  <a16:creationId xmlns:a16="http://schemas.microsoft.com/office/drawing/2014/main" id="{C13EDBB8-FD61-45F5-9166-4180DBA8BAE7}"/>
                </a:ext>
              </a:extLst>
            </p:cNvPr>
            <p:cNvSpPr txBox="1">
              <a:spLocks noChangeArrowheads="1"/>
            </p:cNvSpPr>
            <p:nvPr/>
          </p:nvSpPr>
          <p:spPr bwMode="auto">
            <a:xfrm>
              <a:off x="0" y="720"/>
              <a:ext cx="1104" cy="432"/>
            </a:xfrm>
            <a:prstGeom prst="rect">
              <a:avLst/>
            </a:prstGeom>
            <a:solidFill>
              <a:srgbClr val="0FFFE8"/>
            </a:solidFill>
            <a:ln w="9525" cmpd="sng">
              <a:miter lim="800000"/>
              <a:headEnd/>
              <a:tailEnd/>
            </a:ln>
            <a:effectLst/>
            <a:scene3d>
              <a:camera prst="legacyObliqueTopRight"/>
              <a:lightRig rig="legacyFlat2" dir="t"/>
            </a:scene3d>
            <a:sp3d extrusionH="430200" prstMaterial="legacyMatte">
              <a:bevelT w="13500" h="13500" prst="angle"/>
              <a:bevelB w="13500" h="13500" prst="angle"/>
              <a:extrusionClr>
                <a:srgbClr val="0FFFE8"/>
              </a:extrusionClr>
              <a:contourClr>
                <a:srgbClr val="0FFFE8"/>
              </a:contourClr>
            </a:sp3d>
          </p:spPr>
          <p:txBody>
            <a:bodyPr>
              <a:flatTx/>
            </a:bodyPr>
            <a:lstStyle/>
            <a:p>
              <a:pPr algn="ctr" eaLnBrk="1" hangingPunct="1">
                <a:buFont typeface="Arial" panose="020B0604020202020204" pitchFamily="34" charset="0"/>
                <a:buNone/>
                <a:defRPr/>
              </a:pPr>
              <a:r>
                <a:rPr lang="zh-CN" altLang="zh-CN" sz="2100" b="1" dirty="0">
                  <a:solidFill>
                    <a:srgbClr val="0000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描述统计</a:t>
              </a:r>
              <a:endParaRPr lang="zh-CN" altLang="zh-CN" b="1" dirty="0">
                <a:solidFill>
                  <a:srgbClr val="0000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14342" name="Text Box 6">
              <a:extLst>
                <a:ext uri="{FF2B5EF4-FFF2-40B4-BE49-F238E27FC236}">
                  <a16:creationId xmlns:a16="http://schemas.microsoft.com/office/drawing/2014/main" id="{F84C5038-2F70-445D-8727-455FC2AB38D7}"/>
                </a:ext>
              </a:extLst>
            </p:cNvPr>
            <p:cNvSpPr txBox="1">
              <a:spLocks noChangeArrowheads="1"/>
            </p:cNvSpPr>
            <p:nvPr/>
          </p:nvSpPr>
          <p:spPr bwMode="auto">
            <a:xfrm>
              <a:off x="1296" y="720"/>
              <a:ext cx="1104" cy="432"/>
            </a:xfrm>
            <a:prstGeom prst="rect">
              <a:avLst/>
            </a:prstGeom>
            <a:solidFill>
              <a:srgbClr val="0FFFE8"/>
            </a:solidFill>
            <a:ln w="9525" cmpd="sng">
              <a:miter lim="800000"/>
              <a:headEnd/>
              <a:tailEnd/>
            </a:ln>
            <a:effectLst/>
            <a:scene3d>
              <a:camera prst="legacyObliqueTopRight"/>
              <a:lightRig rig="legacyFlat2" dir="t"/>
            </a:scene3d>
            <a:sp3d extrusionH="430200" prstMaterial="legacyMatte">
              <a:bevelT w="13500" h="13500" prst="angle"/>
              <a:bevelB w="13500" h="13500" prst="angle"/>
              <a:extrusionClr>
                <a:srgbClr val="0FFFE8"/>
              </a:extrusionClr>
              <a:contourClr>
                <a:srgbClr val="0FFFE8"/>
              </a:contourClr>
            </a:sp3d>
          </p:spPr>
          <p:txBody>
            <a:bodyPr>
              <a:flatTx/>
            </a:bodyPr>
            <a:lstStyle/>
            <a:p>
              <a:pPr algn="ctr" eaLnBrk="1" hangingPunct="1">
                <a:buFont typeface="Arial" panose="020B0604020202020204" pitchFamily="34" charset="0"/>
                <a:buNone/>
                <a:defRPr/>
              </a:pPr>
              <a:r>
                <a:rPr lang="zh-CN" altLang="zh-CN" sz="2100" b="1" dirty="0">
                  <a:solidFill>
                    <a:srgbClr val="0000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推断统计</a:t>
              </a:r>
              <a:endParaRPr lang="zh-CN" altLang="zh-CN" b="1" dirty="0">
                <a:solidFill>
                  <a:srgbClr val="0000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2542" name="Line 7">
              <a:extLst>
                <a:ext uri="{FF2B5EF4-FFF2-40B4-BE49-F238E27FC236}">
                  <a16:creationId xmlns:a16="http://schemas.microsoft.com/office/drawing/2014/main" id="{B3351012-9818-4B15-A28E-E920BFE170A3}"/>
                </a:ext>
              </a:extLst>
            </p:cNvPr>
            <p:cNvSpPr>
              <a:spLocks noChangeShapeType="1"/>
            </p:cNvSpPr>
            <p:nvPr/>
          </p:nvSpPr>
          <p:spPr bwMode="auto">
            <a:xfrm>
              <a:off x="2496" y="0"/>
              <a:ext cx="0" cy="236"/>
            </a:xfrm>
            <a:prstGeom prst="line">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350"/>
            </a:p>
          </p:txBody>
        </p:sp>
        <p:sp>
          <p:nvSpPr>
            <p:cNvPr id="22543" name="Line 8">
              <a:extLst>
                <a:ext uri="{FF2B5EF4-FFF2-40B4-BE49-F238E27FC236}">
                  <a16:creationId xmlns:a16="http://schemas.microsoft.com/office/drawing/2014/main" id="{76B31BBF-4A46-4FBC-9B80-D2406F279B87}"/>
                </a:ext>
              </a:extLst>
            </p:cNvPr>
            <p:cNvSpPr>
              <a:spLocks noChangeShapeType="1"/>
            </p:cNvSpPr>
            <p:nvPr/>
          </p:nvSpPr>
          <p:spPr bwMode="auto">
            <a:xfrm>
              <a:off x="624" y="240"/>
              <a:ext cx="1872" cy="0"/>
            </a:xfrm>
            <a:prstGeom prst="line">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350"/>
            </a:p>
          </p:txBody>
        </p:sp>
        <p:sp>
          <p:nvSpPr>
            <p:cNvPr id="22544" name="Line 9">
              <a:extLst>
                <a:ext uri="{FF2B5EF4-FFF2-40B4-BE49-F238E27FC236}">
                  <a16:creationId xmlns:a16="http://schemas.microsoft.com/office/drawing/2014/main" id="{4A6B0C88-BCD1-4D25-A9AE-621D301683BF}"/>
                </a:ext>
              </a:extLst>
            </p:cNvPr>
            <p:cNvSpPr>
              <a:spLocks noChangeShapeType="1"/>
            </p:cNvSpPr>
            <p:nvPr/>
          </p:nvSpPr>
          <p:spPr bwMode="auto">
            <a:xfrm>
              <a:off x="624" y="240"/>
              <a:ext cx="0" cy="432"/>
            </a:xfrm>
            <a:prstGeom prst="line">
              <a:avLst/>
            </a:prstGeom>
            <a:noFill/>
            <a:ln w="28575">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350"/>
            </a:p>
          </p:txBody>
        </p:sp>
        <p:sp>
          <p:nvSpPr>
            <p:cNvPr id="22545" name="Line 10">
              <a:extLst>
                <a:ext uri="{FF2B5EF4-FFF2-40B4-BE49-F238E27FC236}">
                  <a16:creationId xmlns:a16="http://schemas.microsoft.com/office/drawing/2014/main" id="{C2A98F04-3112-48F7-8969-604AFAA62654}"/>
                </a:ext>
              </a:extLst>
            </p:cNvPr>
            <p:cNvSpPr>
              <a:spLocks noChangeShapeType="1"/>
            </p:cNvSpPr>
            <p:nvPr/>
          </p:nvSpPr>
          <p:spPr bwMode="auto">
            <a:xfrm>
              <a:off x="1872" y="240"/>
              <a:ext cx="0" cy="432"/>
            </a:xfrm>
            <a:prstGeom prst="line">
              <a:avLst/>
            </a:prstGeom>
            <a:noFill/>
            <a:ln w="28575">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350"/>
            </a:p>
          </p:txBody>
        </p:sp>
      </p:grpSp>
      <p:sp>
        <p:nvSpPr>
          <p:cNvPr id="22532" name="AutoShape 11">
            <a:extLst>
              <a:ext uri="{FF2B5EF4-FFF2-40B4-BE49-F238E27FC236}">
                <a16:creationId xmlns:a16="http://schemas.microsoft.com/office/drawing/2014/main" id="{45F5CC85-EA7E-4883-912D-BB4F1A843100}"/>
              </a:ext>
            </a:extLst>
          </p:cNvPr>
          <p:cNvSpPr>
            <a:spLocks noChangeArrowheads="1"/>
          </p:cNvSpPr>
          <p:nvPr/>
        </p:nvSpPr>
        <p:spPr bwMode="auto">
          <a:xfrm>
            <a:off x="3257550" y="1714500"/>
            <a:ext cx="2686050" cy="571500"/>
          </a:xfrm>
          <a:prstGeom prst="roundRect">
            <a:avLst>
              <a:gd name="adj" fmla="val 16667"/>
            </a:avLst>
          </a:prstGeom>
          <a:solidFill>
            <a:schemeClr val="accent2"/>
          </a:solidFill>
          <a:ln w="9525">
            <a:round/>
            <a:headEnd/>
            <a:tailEnd/>
          </a:ln>
          <a:effectLst/>
          <a:scene3d>
            <a:camera prst="legacyObliqueTopRight"/>
            <a:lightRig rig="legacyFlat2" dir="t"/>
          </a:scene3d>
          <a:sp3d extrusionH="430200" prstMaterial="legacyMatte">
            <a:bevelT w="13500" h="13500" prst="angle"/>
            <a:bevelB w="13500" h="13500" prst="angle"/>
            <a:extrusionClr>
              <a:schemeClr val="accent2"/>
            </a:extrusionClr>
            <a:contourClr>
              <a:schemeClr val="accent2"/>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zh-CN" sz="2625" b="1">
                <a:solidFill>
                  <a:srgbClr val="FFFFFF"/>
                </a:solidFill>
                <a:latin typeface="微软雅黑" panose="020B0503020204020204" pitchFamily="34" charset="-122"/>
                <a:ea typeface="微软雅黑" panose="020B0503020204020204" pitchFamily="34" charset="-122"/>
              </a:rPr>
              <a:t>统计学的分科</a:t>
            </a:r>
          </a:p>
        </p:txBody>
      </p:sp>
      <p:grpSp>
        <p:nvGrpSpPr>
          <p:cNvPr id="14348" name="Group 12">
            <a:extLst>
              <a:ext uri="{FF2B5EF4-FFF2-40B4-BE49-F238E27FC236}">
                <a16:creationId xmlns:a16="http://schemas.microsoft.com/office/drawing/2014/main" id="{672B3AAC-F204-40E1-8310-9D82B2237975}"/>
              </a:ext>
            </a:extLst>
          </p:cNvPr>
          <p:cNvGrpSpPr>
            <a:grpSpLocks/>
          </p:cNvGrpSpPr>
          <p:nvPr/>
        </p:nvGrpSpPr>
        <p:grpSpPr bwMode="auto">
          <a:xfrm>
            <a:off x="4514850" y="2571750"/>
            <a:ext cx="3028950" cy="1085850"/>
            <a:chOff x="0" y="0"/>
            <a:chExt cx="2544" cy="912"/>
          </a:xfrm>
        </p:grpSpPr>
        <p:sp>
          <p:nvSpPr>
            <p:cNvPr id="14349" name="Text Box 13">
              <a:extLst>
                <a:ext uri="{FF2B5EF4-FFF2-40B4-BE49-F238E27FC236}">
                  <a16:creationId xmlns:a16="http://schemas.microsoft.com/office/drawing/2014/main" id="{D4D49F9D-31DD-4539-A4B2-6A7FA44F2184}"/>
                </a:ext>
              </a:extLst>
            </p:cNvPr>
            <p:cNvSpPr txBox="1">
              <a:spLocks noChangeArrowheads="1"/>
            </p:cNvSpPr>
            <p:nvPr/>
          </p:nvSpPr>
          <p:spPr bwMode="auto">
            <a:xfrm>
              <a:off x="96" y="480"/>
              <a:ext cx="1104" cy="432"/>
            </a:xfrm>
            <a:prstGeom prst="rect">
              <a:avLst/>
            </a:prstGeom>
            <a:solidFill>
              <a:srgbClr val="FF66FF"/>
            </a:solidFill>
            <a:ln w="9525" cmpd="sng">
              <a:miter lim="800000"/>
              <a:headEnd/>
              <a:tailEnd/>
            </a:ln>
            <a:effectLst/>
            <a:scene3d>
              <a:camera prst="legacyObliqueTopRight"/>
              <a:lightRig rig="legacyFlat2" dir="t"/>
            </a:scene3d>
            <a:sp3d extrusionH="430200" prstMaterial="legacyMatte">
              <a:bevelT w="13500" h="13500" prst="angle"/>
              <a:bevelB w="13500" h="13500" prst="angle"/>
              <a:extrusionClr>
                <a:srgbClr val="FF66FF"/>
              </a:extrusionClr>
              <a:contourClr>
                <a:srgbClr val="FF66FF"/>
              </a:contourClr>
            </a:sp3d>
          </p:spPr>
          <p:txBody>
            <a:bodyPr>
              <a:flatTx/>
            </a:bodyPr>
            <a:lstStyle/>
            <a:p>
              <a:pPr algn="ctr" eaLnBrk="1" hangingPunct="1">
                <a:buFont typeface="Arial" panose="020B0604020202020204" pitchFamily="34" charset="0"/>
                <a:buNone/>
                <a:defRPr/>
              </a:pPr>
              <a:r>
                <a:rPr lang="zh-CN" altLang="zh-CN" sz="2100" b="1">
                  <a:solidFill>
                    <a:srgbClr val="F0F0F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理论统计</a:t>
              </a:r>
              <a:endParaRPr lang="zh-CN" altLang="zh-CN" b="1">
                <a:solidFill>
                  <a:srgbClr val="F0F0F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14350" name="Text Box 14">
              <a:extLst>
                <a:ext uri="{FF2B5EF4-FFF2-40B4-BE49-F238E27FC236}">
                  <a16:creationId xmlns:a16="http://schemas.microsoft.com/office/drawing/2014/main" id="{28F0E063-9B94-44C9-B245-5EC9A2FD8B2D}"/>
                </a:ext>
              </a:extLst>
            </p:cNvPr>
            <p:cNvSpPr txBox="1">
              <a:spLocks noChangeArrowheads="1"/>
            </p:cNvSpPr>
            <p:nvPr/>
          </p:nvSpPr>
          <p:spPr bwMode="auto">
            <a:xfrm>
              <a:off x="1440" y="480"/>
              <a:ext cx="1104" cy="432"/>
            </a:xfrm>
            <a:prstGeom prst="rect">
              <a:avLst/>
            </a:prstGeom>
            <a:solidFill>
              <a:srgbClr val="FF66FF"/>
            </a:solidFill>
            <a:ln w="9525" cmpd="sng">
              <a:miter lim="800000"/>
              <a:headEnd/>
              <a:tailEnd/>
            </a:ln>
            <a:effectLst/>
            <a:scene3d>
              <a:camera prst="legacyObliqueTopRight"/>
              <a:lightRig rig="legacyFlat2" dir="t"/>
            </a:scene3d>
            <a:sp3d extrusionH="430200" prstMaterial="legacyMatte">
              <a:bevelT w="13500" h="13500" prst="angle"/>
              <a:bevelB w="13500" h="13500" prst="angle"/>
              <a:extrusionClr>
                <a:srgbClr val="FF66FF"/>
              </a:extrusionClr>
              <a:contourClr>
                <a:srgbClr val="FF66FF"/>
              </a:contourClr>
            </a:sp3d>
          </p:spPr>
          <p:txBody>
            <a:bodyPr>
              <a:flatTx/>
            </a:bodyPr>
            <a:lstStyle/>
            <a:p>
              <a:pPr algn="ctr" eaLnBrk="1" hangingPunct="1">
                <a:buFont typeface="Arial" panose="020B0604020202020204" pitchFamily="34" charset="0"/>
                <a:buNone/>
                <a:defRPr/>
              </a:pPr>
              <a:r>
                <a:rPr lang="zh-CN" altLang="zh-CN" sz="2100" b="1" dirty="0">
                  <a:solidFill>
                    <a:srgbClr val="F0F0F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应用统计</a:t>
              </a:r>
              <a:endParaRPr lang="zh-CN" altLang="zh-CN" b="1" dirty="0">
                <a:solidFill>
                  <a:srgbClr val="F0F0F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2537" name="Line 15">
              <a:extLst>
                <a:ext uri="{FF2B5EF4-FFF2-40B4-BE49-F238E27FC236}">
                  <a16:creationId xmlns:a16="http://schemas.microsoft.com/office/drawing/2014/main" id="{04D6ECF1-6C2C-435D-A3B4-955A737F442A}"/>
                </a:ext>
              </a:extLst>
            </p:cNvPr>
            <p:cNvSpPr>
              <a:spLocks noChangeShapeType="1"/>
            </p:cNvSpPr>
            <p:nvPr/>
          </p:nvSpPr>
          <p:spPr bwMode="auto">
            <a:xfrm>
              <a:off x="672" y="0"/>
              <a:ext cx="0" cy="432"/>
            </a:xfrm>
            <a:prstGeom prst="line">
              <a:avLst/>
            </a:prstGeom>
            <a:noFill/>
            <a:ln w="28575">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350"/>
            </a:p>
          </p:txBody>
        </p:sp>
        <p:sp>
          <p:nvSpPr>
            <p:cNvPr id="22538" name="Line 16">
              <a:extLst>
                <a:ext uri="{FF2B5EF4-FFF2-40B4-BE49-F238E27FC236}">
                  <a16:creationId xmlns:a16="http://schemas.microsoft.com/office/drawing/2014/main" id="{AA1B8181-7D9A-4106-982A-2E786392E216}"/>
                </a:ext>
              </a:extLst>
            </p:cNvPr>
            <p:cNvSpPr>
              <a:spLocks noChangeShapeType="1"/>
            </p:cNvSpPr>
            <p:nvPr/>
          </p:nvSpPr>
          <p:spPr bwMode="auto">
            <a:xfrm>
              <a:off x="1968" y="0"/>
              <a:ext cx="0" cy="432"/>
            </a:xfrm>
            <a:prstGeom prst="line">
              <a:avLst/>
            </a:prstGeom>
            <a:noFill/>
            <a:ln w="28575">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sz="1350"/>
            </a:p>
          </p:txBody>
        </p:sp>
        <p:sp>
          <p:nvSpPr>
            <p:cNvPr id="22539" name="Line 17">
              <a:extLst>
                <a:ext uri="{FF2B5EF4-FFF2-40B4-BE49-F238E27FC236}">
                  <a16:creationId xmlns:a16="http://schemas.microsoft.com/office/drawing/2014/main" id="{7E24F6E2-F44C-4C9B-8B1F-86A357B9E4BB}"/>
                </a:ext>
              </a:extLst>
            </p:cNvPr>
            <p:cNvSpPr>
              <a:spLocks noChangeShapeType="1"/>
            </p:cNvSpPr>
            <p:nvPr/>
          </p:nvSpPr>
          <p:spPr bwMode="auto">
            <a:xfrm>
              <a:off x="0" y="0"/>
              <a:ext cx="1968" cy="0"/>
            </a:xfrm>
            <a:prstGeom prst="line">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1350"/>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up)">
                                      <p:cBhvr>
                                        <p:cTn id="7" dur="500"/>
                                        <p:tgtEl>
                                          <p:spTgt spid="14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348"/>
                                        </p:tgtEl>
                                        <p:attrNameLst>
                                          <p:attrName>style.visibility</p:attrName>
                                        </p:attrNameLst>
                                      </p:cBhvr>
                                      <p:to>
                                        <p:strVal val="visible"/>
                                      </p:to>
                                    </p:set>
                                    <p:animEffect transition="in" filter="wipe(up)">
                                      <p:cBhvr>
                                        <p:cTn id="12" dur="500"/>
                                        <p:tgtEl>
                                          <p:spTgt spid="14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F492934-D299-4716-B46C-2264E43594BE}"/>
              </a:ext>
            </a:extLst>
          </p:cNvPr>
          <p:cNvSpPr>
            <a:spLocks noGrp="1" noChangeArrowheads="1"/>
          </p:cNvSpPr>
          <p:nvPr>
            <p:ph type="body" idx="1"/>
          </p:nvPr>
        </p:nvSpPr>
        <p:spPr>
          <a:xfrm>
            <a:off x="3028950" y="1143000"/>
            <a:ext cx="3143250" cy="3395663"/>
          </a:xfrm>
        </p:spPr>
        <p:txBody>
          <a:bodyPr/>
          <a:lstStyle/>
          <a:p>
            <a:pPr eaLnBrk="1" hangingPunct="1">
              <a:lnSpc>
                <a:spcPct val="150000"/>
              </a:lnSpc>
            </a:pPr>
            <a:r>
              <a:rPr lang="zh-CN" altLang="zh-CN" sz="2100" b="1">
                <a:latin typeface="微软雅黑" panose="020B0503020204020204" pitchFamily="34" charset="-122"/>
                <a:ea typeface="微软雅黑" panose="020B0503020204020204" pitchFamily="34" charset="-122"/>
              </a:rPr>
              <a:t>抽样分布</a:t>
            </a:r>
          </a:p>
          <a:p>
            <a:pPr eaLnBrk="1" hangingPunct="1">
              <a:lnSpc>
                <a:spcPct val="150000"/>
              </a:lnSpc>
            </a:pPr>
            <a:r>
              <a:rPr lang="zh-CN" altLang="zh-CN" sz="2100" b="1">
                <a:latin typeface="微软雅黑" panose="020B0503020204020204" pitchFamily="34" charset="-122"/>
                <a:ea typeface="微软雅黑" panose="020B0503020204020204" pitchFamily="34" charset="-122"/>
              </a:rPr>
              <a:t>参数估计</a:t>
            </a:r>
          </a:p>
          <a:p>
            <a:pPr eaLnBrk="1" hangingPunct="1">
              <a:lnSpc>
                <a:spcPct val="150000"/>
              </a:lnSpc>
            </a:pPr>
            <a:r>
              <a:rPr lang="zh-CN" altLang="zh-CN" sz="2100" b="1">
                <a:latin typeface="微软雅黑" panose="020B0503020204020204" pitchFamily="34" charset="-122"/>
                <a:ea typeface="微软雅黑" panose="020B0503020204020204" pitchFamily="34" charset="-122"/>
              </a:rPr>
              <a:t>假设检验</a:t>
            </a:r>
          </a:p>
          <a:p>
            <a:pPr eaLnBrk="1" hangingPunct="1">
              <a:lnSpc>
                <a:spcPct val="150000"/>
              </a:lnSpc>
            </a:pPr>
            <a:r>
              <a:rPr lang="zh-CN" altLang="zh-CN" sz="2100" b="1">
                <a:latin typeface="微软雅黑" panose="020B0503020204020204" pitchFamily="34" charset="-122"/>
                <a:ea typeface="微软雅黑" panose="020B0503020204020204" pitchFamily="34" charset="-122"/>
              </a:rPr>
              <a:t>方差分析</a:t>
            </a:r>
          </a:p>
          <a:p>
            <a:pPr eaLnBrk="1" hangingPunct="1">
              <a:lnSpc>
                <a:spcPct val="150000"/>
              </a:lnSpc>
            </a:pPr>
            <a:r>
              <a:rPr lang="zh-CN" altLang="zh-CN" sz="2100" b="1">
                <a:latin typeface="微软雅黑" panose="020B0503020204020204" pitchFamily="34" charset="-122"/>
                <a:ea typeface="微软雅黑" panose="020B0503020204020204" pitchFamily="34" charset="-122"/>
              </a:rPr>
              <a:t>回归模型</a:t>
            </a:r>
          </a:p>
          <a:p>
            <a:pPr eaLnBrk="1" hangingPunct="1">
              <a:lnSpc>
                <a:spcPct val="150000"/>
              </a:lnSpc>
            </a:pPr>
            <a:r>
              <a:rPr lang="zh-CN" altLang="zh-CN" sz="2100" b="1">
                <a:latin typeface="微软雅黑" panose="020B0503020204020204" pitchFamily="34" charset="-122"/>
                <a:ea typeface="微软雅黑" panose="020B0503020204020204" pitchFamily="34" charset="-122"/>
              </a:rPr>
              <a:t>正交实验设计</a:t>
            </a:r>
          </a:p>
          <a:p>
            <a:pPr eaLnBrk="1" hangingPunct="1">
              <a:lnSpc>
                <a:spcPct val="150000"/>
              </a:lnSpc>
            </a:pPr>
            <a:endParaRPr lang="zh-CN" altLang="zh-CN" sz="2100" b="1">
              <a:latin typeface="微软雅黑" panose="020B0503020204020204" pitchFamily="34" charset="-122"/>
              <a:ea typeface="微软雅黑" panose="020B0503020204020204" pitchFamily="34" charset="-122"/>
            </a:endParaRPr>
          </a:p>
        </p:txBody>
      </p:sp>
      <p:sp>
        <p:nvSpPr>
          <p:cNvPr id="5123" name="Text Box 3">
            <a:extLst>
              <a:ext uri="{FF2B5EF4-FFF2-40B4-BE49-F238E27FC236}">
                <a16:creationId xmlns:a16="http://schemas.microsoft.com/office/drawing/2014/main" id="{4418B896-EA73-4E6B-84A6-574EA5D7EF9E}"/>
              </a:ext>
            </a:extLst>
          </p:cNvPr>
          <p:cNvSpPr txBox="1">
            <a:spLocks noChangeArrowheads="1"/>
          </p:cNvSpPr>
          <p:nvPr/>
        </p:nvSpPr>
        <p:spPr bwMode="auto">
          <a:xfrm>
            <a:off x="3853264" y="457201"/>
            <a:ext cx="1689886" cy="511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609600" indent="-6096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5000"/>
              </a:lnSpc>
              <a:spcBef>
                <a:spcPct val="0"/>
              </a:spcBef>
              <a:buFontTx/>
              <a:buNone/>
            </a:pPr>
            <a:r>
              <a:rPr lang="zh-CN" altLang="zh-CN" sz="2400" b="1">
                <a:solidFill>
                  <a:srgbClr val="0000FF"/>
                </a:solidFill>
                <a:latin typeface="微软雅黑" panose="020B0503020204020204" pitchFamily="34" charset="-122"/>
                <a:ea typeface="微软雅黑" panose="020B0503020204020204" pitchFamily="34" charset="-122"/>
              </a:rPr>
              <a:t>课</a:t>
            </a:r>
            <a:r>
              <a:rPr lang="en-US" altLang="zh-CN" sz="2400" b="1">
                <a:solidFill>
                  <a:srgbClr val="0000FF"/>
                </a:solidFill>
                <a:latin typeface="微软雅黑" panose="020B0503020204020204" pitchFamily="34" charset="-122"/>
                <a:ea typeface="微软雅黑" panose="020B0503020204020204" pitchFamily="34" charset="-122"/>
              </a:rPr>
              <a:t> </a:t>
            </a:r>
            <a:r>
              <a:rPr lang="zh-CN" altLang="zh-CN" sz="2400" b="1">
                <a:solidFill>
                  <a:srgbClr val="0000FF"/>
                </a:solidFill>
                <a:latin typeface="微软雅黑" panose="020B0503020204020204" pitchFamily="34" charset="-122"/>
                <a:ea typeface="微软雅黑" panose="020B0503020204020204" pitchFamily="34" charset="-122"/>
              </a:rPr>
              <a:t>程</a:t>
            </a:r>
            <a:r>
              <a:rPr lang="en-US" altLang="zh-CN" sz="2400" b="1">
                <a:solidFill>
                  <a:srgbClr val="0000FF"/>
                </a:solidFill>
                <a:latin typeface="微软雅黑" panose="020B0503020204020204" pitchFamily="34" charset="-122"/>
                <a:ea typeface="微软雅黑" panose="020B0503020204020204" pitchFamily="34" charset="-122"/>
              </a:rPr>
              <a:t> </a:t>
            </a:r>
            <a:r>
              <a:rPr lang="zh-CN" altLang="zh-CN" sz="2400" b="1">
                <a:solidFill>
                  <a:srgbClr val="0000FF"/>
                </a:solidFill>
                <a:latin typeface="微软雅黑" panose="020B0503020204020204" pitchFamily="34" charset="-122"/>
                <a:ea typeface="微软雅黑" panose="020B0503020204020204" pitchFamily="34" charset="-122"/>
              </a:rPr>
              <a:t>内</a:t>
            </a:r>
            <a:r>
              <a:rPr lang="en-US" altLang="zh-CN" sz="2400" b="1">
                <a:solidFill>
                  <a:srgbClr val="0000FF"/>
                </a:solidFill>
                <a:latin typeface="微软雅黑" panose="020B0503020204020204" pitchFamily="34" charset="-122"/>
                <a:ea typeface="微软雅黑" panose="020B0503020204020204" pitchFamily="34" charset="-122"/>
              </a:rPr>
              <a:t> </a:t>
            </a:r>
            <a:r>
              <a:rPr lang="zh-CN" altLang="zh-CN" sz="2400" b="1">
                <a:solidFill>
                  <a:srgbClr val="0000FF"/>
                </a:solidFill>
                <a:latin typeface="微软雅黑" panose="020B0503020204020204" pitchFamily="34" charset="-122"/>
                <a:ea typeface="微软雅黑" panose="020B0503020204020204" pitchFamily="34" charset="-122"/>
              </a:rPr>
              <a:t>容</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08FD023-BEEB-4A53-9440-46109AB60BDD}"/>
              </a:ext>
            </a:extLst>
          </p:cNvPr>
          <p:cNvSpPr>
            <a:spLocks noChangeArrowheads="1"/>
          </p:cNvSpPr>
          <p:nvPr/>
        </p:nvSpPr>
        <p:spPr bwMode="auto">
          <a:xfrm>
            <a:off x="1763688" y="195486"/>
            <a:ext cx="5314950" cy="4556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609600" indent="-6096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5000"/>
              </a:lnSpc>
              <a:spcBef>
                <a:spcPct val="0"/>
              </a:spcBef>
              <a:buFontTx/>
              <a:buNone/>
            </a:pPr>
            <a:r>
              <a:rPr lang="zh-CN" altLang="en-US" sz="2400" b="1" dirty="0">
                <a:solidFill>
                  <a:srgbClr val="0000FF"/>
                </a:solidFill>
                <a:latin typeface="微软雅黑" panose="020B0503020204020204" pitchFamily="34" charset="-122"/>
                <a:ea typeface="微软雅黑" panose="020B0503020204020204" pitchFamily="34" charset="-122"/>
              </a:rPr>
              <a:t>  参 考 书</a:t>
            </a:r>
          </a:p>
          <a:p>
            <a:pPr eaLnBrk="1" hangingPunct="1">
              <a:lnSpc>
                <a:spcPct val="125000"/>
              </a:lnSpc>
              <a:spcBef>
                <a:spcPct val="0"/>
              </a:spcBef>
              <a:buFontTx/>
              <a:buAutoNum type="arabicPeriod"/>
            </a:pPr>
            <a:r>
              <a:rPr lang="zh-CN" altLang="en-US" sz="2100" b="1" dirty="0">
                <a:latin typeface="微软雅黑" panose="020B0503020204020204" pitchFamily="34" charset="-122"/>
                <a:ea typeface="微软雅黑" panose="020B0503020204020204" pitchFamily="34" charset="-122"/>
              </a:rPr>
              <a:t>赵喜林，李德宜，龚谊承，应用数理统计与SPSS操作（第二版），武汉：武汉大学出版社，2014.</a:t>
            </a:r>
          </a:p>
          <a:p>
            <a:pPr eaLnBrk="1" hangingPunct="1">
              <a:lnSpc>
                <a:spcPct val="125000"/>
              </a:lnSpc>
              <a:spcBef>
                <a:spcPct val="0"/>
              </a:spcBef>
              <a:buFontTx/>
              <a:buAutoNum type="arabicPeriod"/>
            </a:pPr>
            <a:r>
              <a:rPr lang="zh-CN" altLang="en-US" sz="2100" b="1" dirty="0">
                <a:latin typeface="微软雅黑" panose="020B0503020204020204" pitchFamily="34" charset="-122"/>
                <a:ea typeface="微软雅黑" panose="020B0503020204020204" pitchFamily="34" charset="-122"/>
              </a:rPr>
              <a:t>George Casella，Roger L. Berger，统计推断，北京：机械工业出版社，2010.</a:t>
            </a:r>
          </a:p>
          <a:p>
            <a:pPr eaLnBrk="1" hangingPunct="1">
              <a:lnSpc>
                <a:spcPct val="125000"/>
              </a:lnSpc>
              <a:spcBef>
                <a:spcPct val="0"/>
              </a:spcBef>
              <a:buFontTx/>
              <a:buNone/>
            </a:pPr>
            <a:r>
              <a:rPr lang="zh-CN" altLang="en-US" sz="2100" b="1" dirty="0">
                <a:latin typeface="微软雅黑" panose="020B0503020204020204" pitchFamily="34" charset="-122"/>
                <a:ea typeface="微软雅黑" panose="020B0503020204020204" pitchFamily="34" charset="-122"/>
              </a:rPr>
              <a:t>3.   王静龙，统计思想欣赏，北京： 科学出版社，201</a:t>
            </a:r>
            <a:r>
              <a:rPr lang="en-US" altLang="zh-CN" sz="2100" b="1" dirty="0">
                <a:latin typeface="微软雅黑" panose="020B0503020204020204" pitchFamily="34" charset="-122"/>
                <a:ea typeface="微软雅黑" panose="020B0503020204020204" pitchFamily="34" charset="-122"/>
              </a:rPr>
              <a:t>7</a:t>
            </a:r>
            <a:r>
              <a:rPr lang="zh-CN" altLang="en-US" sz="2100" b="1" dirty="0">
                <a:latin typeface="微软雅黑" panose="020B0503020204020204" pitchFamily="34" charset="-122"/>
                <a:ea typeface="微软雅黑" panose="020B0503020204020204" pitchFamily="34" charset="-122"/>
              </a:rPr>
              <a:t>.</a:t>
            </a:r>
          </a:p>
          <a:p>
            <a:pPr eaLnBrk="1" hangingPunct="1">
              <a:lnSpc>
                <a:spcPct val="125000"/>
              </a:lnSpc>
              <a:spcBef>
                <a:spcPct val="0"/>
              </a:spcBef>
              <a:buFontTx/>
              <a:buNone/>
            </a:pPr>
            <a:r>
              <a:rPr lang="zh-CN" altLang="en-US" sz="2100" b="1" dirty="0">
                <a:latin typeface="微软雅黑" panose="020B0503020204020204" pitchFamily="34" charset="-122"/>
                <a:ea typeface="微软雅黑" panose="020B0503020204020204" pitchFamily="34" charset="-122"/>
              </a:rPr>
              <a:t>4.   David Salsburg ，女士品茶，北京：中国统计出版社，2004.</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02A0304F-3DCA-473D-ACA0-49AD41DBC7A8}"/>
              </a:ext>
            </a:extLst>
          </p:cNvPr>
          <p:cNvSpPr txBox="1">
            <a:spLocks noChangeArrowheads="1"/>
          </p:cNvSpPr>
          <p:nvPr/>
        </p:nvSpPr>
        <p:spPr bwMode="auto">
          <a:xfrm>
            <a:off x="2628900" y="1028700"/>
            <a:ext cx="4751412" cy="1638910"/>
          </a:xfrm>
          <a:prstGeom prst="rect">
            <a:avLst/>
          </a:prstGeom>
          <a:noFill/>
          <a:ln>
            <a:noFill/>
          </a:ln>
          <a:effectLst/>
        </p:spPr>
        <p:txBody>
          <a:bodyPr wrap="square">
            <a:spAutoFit/>
          </a:bodyPr>
          <a:lstStyle/>
          <a:p>
            <a:pPr algn="ctr" eaLnBrk="1" hangingPunct="1">
              <a:buFont typeface="Arial" panose="020B0604020202020204" pitchFamily="34" charset="0"/>
              <a:buNone/>
              <a:defRPr/>
            </a:pPr>
            <a:r>
              <a:rPr lang="zh-CN" altLang="en-US" sz="135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rgbClr val="0000FF"/>
                </a:solidFill>
                <a:latin typeface="微软雅黑" panose="020B0503020204020204" pitchFamily="34" charset="-122"/>
                <a:ea typeface="微软雅黑" panose="020B0503020204020204" pitchFamily="34" charset="-122"/>
              </a:rPr>
              <a:t>考 试 形 式</a:t>
            </a:r>
          </a:p>
          <a:p>
            <a:pPr eaLnBrk="1" hangingPunct="1">
              <a:buFont typeface="Arial" panose="020B0604020202020204" pitchFamily="34" charset="0"/>
              <a:buNone/>
              <a:defRPr/>
            </a:pPr>
            <a:r>
              <a:rPr lang="zh-CN" altLang="en-US" sz="1350" b="1" dirty="0">
                <a:solidFill>
                  <a:schemeClr val="accent2"/>
                </a:solidFill>
                <a:latin typeface="微软雅黑" panose="020B0503020204020204" pitchFamily="34" charset="-122"/>
                <a:ea typeface="微软雅黑" panose="020B0503020204020204" pitchFamily="34" charset="-122"/>
              </a:rPr>
              <a:t>  </a:t>
            </a:r>
          </a:p>
          <a:p>
            <a:pPr marL="342900" indent="-342900">
              <a:buFont typeface="Arial" panose="020B0604020202020204" pitchFamily="34" charset="0"/>
              <a:buChar char="•"/>
              <a:defRPr/>
            </a:pPr>
            <a:r>
              <a:rPr lang="zh-CN" altLang="en-US" sz="2100" b="1" dirty="0">
                <a:latin typeface="微软雅黑" panose="020B0503020204020204" pitchFamily="34" charset="-122"/>
                <a:ea typeface="微软雅黑" panose="020B0503020204020204" pitchFamily="34" charset="-122"/>
              </a:rPr>
              <a:t> 平时作业：20%（学堂在线完成）</a:t>
            </a:r>
          </a:p>
          <a:p>
            <a:pPr marL="342900" indent="-342900">
              <a:buFont typeface="Arial" panose="020B0604020202020204" pitchFamily="34" charset="0"/>
              <a:buChar char="•"/>
              <a:defRPr/>
            </a:pPr>
            <a:endParaRPr lang="zh-CN" altLang="en-US" sz="2100" b="1"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2100" b="1" dirty="0">
                <a:latin typeface="微软雅黑" panose="020B0503020204020204" pitchFamily="34" charset="-122"/>
                <a:ea typeface="微软雅黑" panose="020B0503020204020204" pitchFamily="34" charset="-122"/>
              </a:rPr>
              <a:t> 期末考试（闭卷）：80%</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DEE93020-46B6-4400-B279-80912A4508AA}"/>
              </a:ext>
            </a:extLst>
          </p:cNvPr>
          <p:cNvSpPr>
            <a:spLocks noGrp="1" noChangeArrowheads="1"/>
          </p:cNvSpPr>
          <p:nvPr>
            <p:ph type="title"/>
          </p:nvPr>
        </p:nvSpPr>
        <p:spPr/>
        <p:txBody>
          <a:bodyPr/>
          <a:lstStyle/>
          <a:p>
            <a:r>
              <a:rPr lang="zh-CN" altLang="en-US" dirty="0"/>
              <a:t>电子资源</a:t>
            </a:r>
          </a:p>
        </p:txBody>
      </p:sp>
      <p:sp>
        <p:nvSpPr>
          <p:cNvPr id="7171" name="矩形 2">
            <a:extLst>
              <a:ext uri="{FF2B5EF4-FFF2-40B4-BE49-F238E27FC236}">
                <a16:creationId xmlns:a16="http://schemas.microsoft.com/office/drawing/2014/main" id="{43C98DF7-D3E0-4EA4-AB5F-4E5ABD0490BC}"/>
              </a:ext>
            </a:extLst>
          </p:cNvPr>
          <p:cNvSpPr>
            <a:spLocks noChangeArrowheads="1"/>
          </p:cNvSpPr>
          <p:nvPr/>
        </p:nvSpPr>
        <p:spPr bwMode="auto">
          <a:xfrm>
            <a:off x="2343150" y="1028700"/>
            <a:ext cx="520065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700" dirty="0">
                <a:latin typeface="Times New Roman" panose="02020603050405020304" pitchFamily="18" charset="0"/>
              </a:rPr>
              <a:t>概率论与数理统计慕课资源：</a:t>
            </a:r>
            <a:r>
              <a:rPr lang="en-US" altLang="zh-CN" sz="2700" dirty="0">
                <a:latin typeface="Times New Roman" panose="02020603050405020304" pitchFamily="18" charset="0"/>
              </a:rPr>
              <a:t>https://www.icourse163.org/course/HUST-1003448001</a:t>
            </a:r>
          </a:p>
        </p:txBody>
      </p:sp>
      <p:pic>
        <p:nvPicPr>
          <p:cNvPr id="3" name="图片 2">
            <a:extLst>
              <a:ext uri="{FF2B5EF4-FFF2-40B4-BE49-F238E27FC236}">
                <a16:creationId xmlns:a16="http://schemas.microsoft.com/office/drawing/2014/main" id="{437BAAED-C899-A9BA-FF57-072504F8C29F}"/>
              </a:ext>
            </a:extLst>
          </p:cNvPr>
          <p:cNvPicPr>
            <a:picLocks noChangeAspect="1"/>
          </p:cNvPicPr>
          <p:nvPr/>
        </p:nvPicPr>
        <p:blipFill>
          <a:blip r:embed="rId3"/>
          <a:stretch>
            <a:fillRect/>
          </a:stretch>
        </p:blipFill>
        <p:spPr>
          <a:xfrm>
            <a:off x="2336304" y="3182978"/>
            <a:ext cx="3258771" cy="1116964"/>
          </a:xfrm>
          <a:prstGeom prst="rect">
            <a:avLst/>
          </a:prstGeom>
        </p:spPr>
      </p:pic>
      <p:sp>
        <p:nvSpPr>
          <p:cNvPr id="4" name="文本框 3">
            <a:extLst>
              <a:ext uri="{FF2B5EF4-FFF2-40B4-BE49-F238E27FC236}">
                <a16:creationId xmlns:a16="http://schemas.microsoft.com/office/drawing/2014/main" id="{0CE3B7B2-0CC8-1BBF-AAD0-CE7B135E3BAC}"/>
              </a:ext>
            </a:extLst>
          </p:cNvPr>
          <p:cNvSpPr txBox="1"/>
          <p:nvPr/>
        </p:nvSpPr>
        <p:spPr>
          <a:xfrm>
            <a:off x="2162093" y="2545140"/>
            <a:ext cx="5203669" cy="461665"/>
          </a:xfrm>
          <a:prstGeom prst="rect">
            <a:avLst/>
          </a:prstGeom>
          <a:noFill/>
        </p:spPr>
        <p:txBody>
          <a:bodyPr wrap="none" rtlCol="0">
            <a:spAutoFit/>
          </a:bodyPr>
          <a:lstStyle/>
          <a:p>
            <a:r>
              <a:rPr lang="zh-CN" altLang="en-US" sz="2400" b="1" dirty="0"/>
              <a:t>学堂在线：华中科技大学</a:t>
            </a:r>
            <a:r>
              <a:rPr lang="en-US" altLang="zh-CN" sz="2400" b="1" dirty="0"/>
              <a:t>----</a:t>
            </a:r>
            <a:r>
              <a:rPr lang="zh-CN" altLang="en-US" sz="2400" b="1" dirty="0"/>
              <a:t>数理统计</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wipe(down)">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171"/>
                                        </p:tgtEl>
                                        <p:attrNameLst>
                                          <p:attrName>style.visibility</p:attrName>
                                        </p:attrNameLst>
                                      </p:cBhvr>
                                      <p:to>
                                        <p:strVal val="visible"/>
                                      </p:to>
                                    </p:set>
                                    <p:animEffect transition="in" filter="wipe(down)">
                                      <p:cBhvr>
                                        <p:cTn id="12" dur="500"/>
                                        <p:tgtEl>
                                          <p:spTgt spid="71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7171"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53A5642-86D0-9F31-3A53-341C9B5721D3}"/>
              </a:ext>
            </a:extLst>
          </p:cNvPr>
          <p:cNvSpPr>
            <a:spLocks noGrp="1" noChangeArrowheads="1"/>
          </p:cNvSpPr>
          <p:nvPr>
            <p:ph type="title"/>
          </p:nvPr>
        </p:nvSpPr>
        <p:spPr>
          <a:xfrm>
            <a:off x="1485900" y="228600"/>
            <a:ext cx="6172200" cy="857250"/>
          </a:xfrm>
        </p:spPr>
        <p:txBody>
          <a:bodyPr/>
          <a:lstStyle/>
          <a:p>
            <a:pPr eaLnBrk="1" hangingPunct="1"/>
            <a:r>
              <a:rPr lang="zh-CN" altLang="zh-CN" b="1">
                <a:solidFill>
                  <a:srgbClr val="0000FF"/>
                </a:solidFill>
                <a:latin typeface="微软雅黑" panose="020B0503020204020204" pitchFamily="34" charset="-122"/>
                <a:ea typeface="微软雅黑" panose="020B0503020204020204" pitchFamily="34" charset="-122"/>
              </a:rPr>
              <a:t>几种常用的软件</a:t>
            </a:r>
          </a:p>
        </p:txBody>
      </p:sp>
      <p:sp>
        <p:nvSpPr>
          <p:cNvPr id="26627" name="Rectangle 3">
            <a:extLst>
              <a:ext uri="{FF2B5EF4-FFF2-40B4-BE49-F238E27FC236}">
                <a16:creationId xmlns:a16="http://schemas.microsoft.com/office/drawing/2014/main" id="{007F9EEB-F044-5049-1D8A-8450B2662247}"/>
              </a:ext>
            </a:extLst>
          </p:cNvPr>
          <p:cNvSpPr>
            <a:spLocks noGrp="1" noChangeArrowheads="1"/>
          </p:cNvSpPr>
          <p:nvPr>
            <p:ph type="body" idx="1"/>
          </p:nvPr>
        </p:nvSpPr>
        <p:spPr>
          <a:xfrm>
            <a:off x="1714500" y="1085851"/>
            <a:ext cx="6172200" cy="3394472"/>
          </a:xfrm>
        </p:spPr>
        <p:txBody>
          <a:bodyPr>
            <a:normAutofit fontScale="92500" lnSpcReduction="10000"/>
          </a:bodyPr>
          <a:lstStyle/>
          <a:p>
            <a:pPr marL="0" indent="0">
              <a:lnSpc>
                <a:spcPct val="120000"/>
              </a:lnSpc>
              <a:buNone/>
              <a:defRPr/>
            </a:pPr>
            <a:r>
              <a:rPr lang="zh-CN" altLang="zh-CN" b="1" dirty="0">
                <a:latin typeface="微软雅黑" panose="020B0503020204020204" pitchFamily="34" charset="-122"/>
                <a:ea typeface="微软雅黑" panose="020B0503020204020204" pitchFamily="34" charset="-122"/>
                <a:sym typeface="Wingdings" panose="05000000000000000000" pitchFamily="2" charset="2"/>
              </a:rPr>
              <a:t></a:t>
            </a:r>
            <a:r>
              <a:rPr lang="zh-CN" altLang="zh-CN" b="1" dirty="0">
                <a:solidFill>
                  <a:srgbClr val="0000FF"/>
                </a:solidFill>
                <a:latin typeface="微软雅黑" panose="020B0503020204020204" pitchFamily="34" charset="-122"/>
                <a:ea typeface="微软雅黑" panose="020B0503020204020204" pitchFamily="34" charset="-122"/>
              </a:rPr>
              <a:t>典型的统计软件</a:t>
            </a:r>
          </a:p>
          <a:p>
            <a:pPr lvl="1" eaLnBrk="1" hangingPunct="1">
              <a:lnSpc>
                <a:spcPct val="120000"/>
              </a:lnSpc>
              <a:buFont typeface="Wingdings" panose="05000000000000000000" pitchFamily="2" charset="2"/>
              <a:buChar char="Ø"/>
              <a:defRPr/>
            </a:pPr>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SAS</a:t>
            </a:r>
          </a:p>
          <a:p>
            <a:pPr lvl="1" eaLnBrk="1" hangingPunct="1">
              <a:lnSpc>
                <a:spcPct val="120000"/>
              </a:lnSpc>
              <a:buFont typeface="Wingdings" panose="05000000000000000000" pitchFamily="2" charset="2"/>
              <a:buChar char="Ø"/>
              <a:defRPr/>
            </a:pPr>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SPSS</a:t>
            </a:r>
          </a:p>
          <a:p>
            <a:pPr lvl="1" eaLnBrk="1" hangingPunct="1">
              <a:lnSpc>
                <a:spcPct val="120000"/>
              </a:lnSpc>
              <a:buFont typeface="Wingdings" panose="05000000000000000000" pitchFamily="2" charset="2"/>
              <a:buChar char="Ø"/>
              <a:defRPr/>
            </a:pPr>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R</a:t>
            </a:r>
          </a:p>
          <a:p>
            <a:pPr lvl="1" eaLnBrk="1" hangingPunct="1">
              <a:lnSpc>
                <a:spcPct val="120000"/>
              </a:lnSpc>
              <a:buFont typeface="Wingdings" panose="05000000000000000000" pitchFamily="2" charset="2"/>
              <a:buChar char="Ø"/>
              <a:defRPr/>
            </a:pPr>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STATISTICA</a:t>
            </a:r>
          </a:p>
          <a:p>
            <a:pPr marL="0" indent="0">
              <a:lnSpc>
                <a:spcPct val="120000"/>
              </a:lnSpc>
              <a:buNone/>
              <a:defRPr/>
            </a:pPr>
            <a:r>
              <a:rPr lang="zh-CN" altLang="zh-CN" b="1" dirty="0">
                <a:latin typeface="微软雅黑" panose="020B0503020204020204" pitchFamily="34" charset="-122"/>
                <a:ea typeface="微软雅黑" panose="020B0503020204020204" pitchFamily="34" charset="-122"/>
                <a:sym typeface="Wingdings" panose="05000000000000000000" pitchFamily="2" charset="2"/>
              </a:rPr>
              <a:t></a:t>
            </a:r>
            <a:r>
              <a:rPr lang="zh-CN" altLang="zh-CN"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其他软件</a:t>
            </a:r>
            <a:endParaRPr lang="zh-CN" altLang="zh-CN" b="1" dirty="0">
              <a:solidFill>
                <a:srgbClr val="0000FF"/>
              </a:solidFill>
              <a:latin typeface="微软雅黑" panose="020B0503020204020204" pitchFamily="34" charset="-122"/>
              <a:ea typeface="微软雅黑" panose="020B0503020204020204" pitchFamily="34" charset="-122"/>
            </a:endParaRPr>
          </a:p>
          <a:p>
            <a:pPr lvl="1" eaLnBrk="1" hangingPunct="1">
              <a:lnSpc>
                <a:spcPct val="120000"/>
              </a:lnSpc>
              <a:buFont typeface="Wingdings" panose="05000000000000000000" pitchFamily="2" charset="2"/>
              <a:buChar char="Ø"/>
              <a:defRPr/>
            </a:pPr>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EXCEL</a:t>
            </a:r>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MATLAB</a:t>
            </a:r>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EVIEWS</a:t>
            </a:r>
          </a:p>
          <a:p>
            <a:pPr eaLnBrk="1" hangingPunct="1">
              <a:lnSpc>
                <a:spcPct val="120000"/>
              </a:lnSpc>
              <a:defRPr/>
            </a:pPr>
            <a:endParaRPr lang="zh-CN" altLang="zh-CN"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8300A98-FAC9-BDCC-4891-29ED1090E363}"/>
              </a:ext>
            </a:extLst>
          </p:cNvPr>
          <p:cNvSpPr>
            <a:spLocks noGrp="1" noChangeArrowheads="1"/>
          </p:cNvSpPr>
          <p:nvPr>
            <p:ph type="title"/>
          </p:nvPr>
        </p:nvSpPr>
        <p:spPr/>
        <p:txBody>
          <a:bodyPr/>
          <a:lstStyle/>
          <a:p>
            <a:pPr eaLnBrk="1" hangingPunct="1"/>
            <a:r>
              <a:rPr lang="zh-CN" altLang="zh-CN" sz="2700" b="1">
                <a:solidFill>
                  <a:srgbClr val="0000FF"/>
                </a:solidFill>
                <a:latin typeface="微软雅黑" panose="020B0503020204020204" pitchFamily="34" charset="-122"/>
                <a:ea typeface="微软雅黑" panose="020B0503020204020204" pitchFamily="34" charset="-122"/>
              </a:rPr>
              <a:t>预备知识 （常用分布）</a:t>
            </a:r>
          </a:p>
        </p:txBody>
      </p:sp>
      <p:sp>
        <p:nvSpPr>
          <p:cNvPr id="25603" name="Rectangle 3">
            <a:extLst>
              <a:ext uri="{FF2B5EF4-FFF2-40B4-BE49-F238E27FC236}">
                <a16:creationId xmlns:a16="http://schemas.microsoft.com/office/drawing/2014/main" id="{2606CB93-3E7B-EA6D-4017-1D096A47B50B}"/>
              </a:ext>
            </a:extLst>
          </p:cNvPr>
          <p:cNvSpPr>
            <a:spLocks noChangeArrowheads="1"/>
          </p:cNvSpPr>
          <p:nvPr/>
        </p:nvSpPr>
        <p:spPr bwMode="auto">
          <a:xfrm>
            <a:off x="1600200" y="1241823"/>
            <a:ext cx="2171700" cy="344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zh-CN" sz="1800" b="1">
                <a:solidFill>
                  <a:srgbClr val="FF3300"/>
                </a:solidFill>
                <a:latin typeface="微软雅黑" panose="020B0503020204020204" pitchFamily="34" charset="-122"/>
                <a:ea typeface="微软雅黑" panose="020B0503020204020204" pitchFamily="34" charset="-122"/>
              </a:rPr>
              <a:t>1</a:t>
            </a:r>
            <a:r>
              <a:rPr lang="en-US" altLang="zh-CN" sz="1800" b="1">
                <a:solidFill>
                  <a:srgbClr val="FF3300"/>
                </a:solidFill>
                <a:latin typeface="微软雅黑" panose="020B0503020204020204" pitchFamily="34" charset="-122"/>
                <a:ea typeface="微软雅黑" panose="020B0503020204020204" pitchFamily="34" charset="-122"/>
              </a:rPr>
              <a:t> </a:t>
            </a:r>
            <a:r>
              <a:rPr lang="zh-CN" altLang="zh-CN" sz="1800" b="1">
                <a:solidFill>
                  <a:srgbClr val="FF3300"/>
                </a:solidFill>
                <a:latin typeface="微软雅黑" panose="020B0503020204020204" pitchFamily="34" charset="-122"/>
                <a:ea typeface="微软雅黑" panose="020B0503020204020204" pitchFamily="34" charset="-122"/>
              </a:rPr>
              <a:t>) Bernoulli分布</a:t>
            </a:r>
          </a:p>
        </p:txBody>
      </p:sp>
      <p:graphicFrame>
        <p:nvGraphicFramePr>
          <p:cNvPr id="25604" name="Object 4">
            <a:extLst>
              <a:ext uri="{FF2B5EF4-FFF2-40B4-BE49-F238E27FC236}">
                <a16:creationId xmlns:a16="http://schemas.microsoft.com/office/drawing/2014/main" id="{A820B8DB-7AE9-C180-0299-2F820A91D2E3}"/>
              </a:ext>
            </a:extLst>
          </p:cNvPr>
          <p:cNvGraphicFramePr>
            <a:graphicFrameLocks noChangeAspect="1"/>
          </p:cNvGraphicFramePr>
          <p:nvPr/>
        </p:nvGraphicFramePr>
        <p:xfrm>
          <a:off x="2400300" y="1902619"/>
          <a:ext cx="3896916" cy="1183481"/>
        </p:xfrm>
        <a:graphic>
          <a:graphicData uri="http://schemas.openxmlformats.org/presentationml/2006/ole">
            <mc:AlternateContent xmlns:mc="http://schemas.openxmlformats.org/markup-compatibility/2006">
              <mc:Choice xmlns:v="urn:schemas-microsoft-com:vml" Requires="v">
                <p:oleObj r:id="rId2" imgW="6237720" imgH="1896840" progId="Word.Document.8">
                  <p:embed/>
                </p:oleObj>
              </mc:Choice>
              <mc:Fallback>
                <p:oleObj r:id="rId2" imgW="6237720" imgH="1896840" progId="Word.Document.8">
                  <p:embed/>
                  <p:pic>
                    <p:nvPicPr>
                      <p:cNvPr id="25604" name="Object 4">
                        <a:extLst>
                          <a:ext uri="{FF2B5EF4-FFF2-40B4-BE49-F238E27FC236}">
                            <a16:creationId xmlns:a16="http://schemas.microsoft.com/office/drawing/2014/main" id="{A820B8DB-7AE9-C180-0299-2F820A91D2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0" y="1902619"/>
                        <a:ext cx="3896916" cy="11834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 name="Object 5">
            <a:extLst>
              <a:ext uri="{FF2B5EF4-FFF2-40B4-BE49-F238E27FC236}">
                <a16:creationId xmlns:a16="http://schemas.microsoft.com/office/drawing/2014/main" id="{1E9FB755-C9C0-CF4B-CFAA-EFEDCABF1C3D}"/>
              </a:ext>
            </a:extLst>
          </p:cNvPr>
          <p:cNvGraphicFramePr>
            <a:graphicFrameLocks noChangeAspect="1"/>
          </p:cNvGraphicFramePr>
          <p:nvPr/>
        </p:nvGraphicFramePr>
        <p:xfrm>
          <a:off x="3725466" y="1247775"/>
          <a:ext cx="2546747" cy="371475"/>
        </p:xfrm>
        <a:graphic>
          <a:graphicData uri="http://schemas.openxmlformats.org/presentationml/2006/ole">
            <mc:AlternateContent xmlns:mc="http://schemas.openxmlformats.org/markup-compatibility/2006">
              <mc:Choice xmlns:v="urn:schemas-microsoft-com:vml" Requires="v">
                <p:oleObj r:id="rId4" imgW="1739145" imgH="253890" progId="Equation.DSMT4">
                  <p:embed/>
                </p:oleObj>
              </mc:Choice>
              <mc:Fallback>
                <p:oleObj r:id="rId4" imgW="1739145" imgH="253890" progId="Equation.DSMT4">
                  <p:embed/>
                  <p:pic>
                    <p:nvPicPr>
                      <p:cNvPr id="25605" name="Object 5">
                        <a:extLst>
                          <a:ext uri="{FF2B5EF4-FFF2-40B4-BE49-F238E27FC236}">
                            <a16:creationId xmlns:a16="http://schemas.microsoft.com/office/drawing/2014/main" id="{1E9FB755-C9C0-CF4B-CFAA-EFEDCABF1C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5466" y="1247775"/>
                        <a:ext cx="2546747" cy="37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6" name="Object 6">
            <a:extLst>
              <a:ext uri="{FF2B5EF4-FFF2-40B4-BE49-F238E27FC236}">
                <a16:creationId xmlns:a16="http://schemas.microsoft.com/office/drawing/2014/main" id="{9479EF0B-A6A6-6CE0-EB00-7D60412A971A}"/>
              </a:ext>
            </a:extLst>
          </p:cNvPr>
          <p:cNvGraphicFramePr>
            <a:graphicFrameLocks noChangeAspect="1"/>
          </p:cNvGraphicFramePr>
          <p:nvPr>
            <p:ph idx="1"/>
          </p:nvPr>
        </p:nvGraphicFramePr>
        <p:xfrm>
          <a:off x="2806304" y="3314700"/>
          <a:ext cx="3086100" cy="396479"/>
        </p:xfrm>
        <a:graphic>
          <a:graphicData uri="http://schemas.openxmlformats.org/presentationml/2006/ole">
            <mc:AlternateContent xmlns:mc="http://schemas.openxmlformats.org/markup-compatibility/2006">
              <mc:Choice xmlns:v="urn:schemas-microsoft-com:vml" Requires="v">
                <p:oleObj name="Equation" r:id="rId6" imgW="1574800" imgH="203200" progId="Equation.DSMT4">
                  <p:embed/>
                </p:oleObj>
              </mc:Choice>
              <mc:Fallback>
                <p:oleObj name="Equation" r:id="rId6" imgW="1574800" imgH="203200" progId="Equation.DSMT4">
                  <p:embed/>
                  <p:pic>
                    <p:nvPicPr>
                      <p:cNvPr id="25606" name="Object 6">
                        <a:extLst>
                          <a:ext uri="{FF2B5EF4-FFF2-40B4-BE49-F238E27FC236}">
                            <a16:creationId xmlns:a16="http://schemas.microsoft.com/office/drawing/2014/main" id="{9479EF0B-A6A6-6CE0-EB00-7D60412A97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6304" y="3314700"/>
                        <a:ext cx="3086100" cy="3964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blinds(horizontal)">
                                      <p:cBhvr>
                                        <p:cTn id="7" dur="500"/>
                                        <p:tgtEl>
                                          <p:spTgt spid="25603"/>
                                        </p:tgtEl>
                                      </p:cBhvr>
                                    </p:animEffect>
                                  </p:childTnLst>
                                </p:cTn>
                              </p:par>
                              <p:par>
                                <p:cTn id="8" presetID="3" presetClass="entr" presetSubtype="10" fill="hold" nodeType="withEffect">
                                  <p:stCondLst>
                                    <p:cond delay="0"/>
                                  </p:stCondLst>
                                  <p:childTnLst>
                                    <p:set>
                                      <p:cBhvr>
                                        <p:cTn id="9" dur="1" fill="hold">
                                          <p:stCondLst>
                                            <p:cond delay="0"/>
                                          </p:stCondLst>
                                        </p:cTn>
                                        <p:tgtEl>
                                          <p:spTgt spid="25604"/>
                                        </p:tgtEl>
                                        <p:attrNameLst>
                                          <p:attrName>style.visibility</p:attrName>
                                        </p:attrNameLst>
                                      </p:cBhvr>
                                      <p:to>
                                        <p:strVal val="visible"/>
                                      </p:to>
                                    </p:set>
                                    <p:animEffect transition="in" filter="blinds(horizontal)">
                                      <p:cBhvr>
                                        <p:cTn id="10" dur="500"/>
                                        <p:tgtEl>
                                          <p:spTgt spid="25604"/>
                                        </p:tgtEl>
                                      </p:cBhvr>
                                    </p:animEffect>
                                  </p:childTnLst>
                                </p:cTn>
                              </p:par>
                              <p:par>
                                <p:cTn id="11" presetID="3" presetClass="entr" presetSubtype="10" fill="hold" nodeType="withEffect">
                                  <p:stCondLst>
                                    <p:cond delay="0"/>
                                  </p:stCondLst>
                                  <p:childTnLst>
                                    <p:set>
                                      <p:cBhvr>
                                        <p:cTn id="12" dur="1" fill="hold">
                                          <p:stCondLst>
                                            <p:cond delay="0"/>
                                          </p:stCondLst>
                                        </p:cTn>
                                        <p:tgtEl>
                                          <p:spTgt spid="25605"/>
                                        </p:tgtEl>
                                        <p:attrNameLst>
                                          <p:attrName>style.visibility</p:attrName>
                                        </p:attrNameLst>
                                      </p:cBhvr>
                                      <p:to>
                                        <p:strVal val="visible"/>
                                      </p:to>
                                    </p:set>
                                    <p:animEffect transition="in" filter="blinds(horizontal)">
                                      <p:cBhvr>
                                        <p:cTn id="13" dur="500"/>
                                        <p:tgtEl>
                                          <p:spTgt spid="256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25606"/>
                                        </p:tgtEl>
                                        <p:attrNameLst>
                                          <p:attrName>style.visibility</p:attrName>
                                        </p:attrNameLst>
                                      </p:cBhvr>
                                      <p:to>
                                        <p:strVal val="visible"/>
                                      </p:to>
                                    </p:set>
                                    <p:animEffect transition="in" filter="wipe(down)">
                                      <p:cBhvr>
                                        <p:cTn id="18" dur="500"/>
                                        <p:tgtEl>
                                          <p:spTgt spid="25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18">
            <a:extLst>
              <a:ext uri="{FF2B5EF4-FFF2-40B4-BE49-F238E27FC236}">
                <a16:creationId xmlns:a16="http://schemas.microsoft.com/office/drawing/2014/main" id="{ABE197F4-C7F0-8FFD-3688-3E5526B3DAD1}"/>
              </a:ext>
            </a:extLst>
          </p:cNvPr>
          <p:cNvGrpSpPr>
            <a:grpSpLocks/>
          </p:cNvGrpSpPr>
          <p:nvPr/>
        </p:nvGrpSpPr>
        <p:grpSpPr bwMode="auto">
          <a:xfrm>
            <a:off x="2244329" y="3333750"/>
            <a:ext cx="5461396" cy="311944"/>
            <a:chOff x="0" y="0"/>
            <a:chExt cx="4587" cy="262"/>
          </a:xfrm>
        </p:grpSpPr>
        <p:sp>
          <p:nvSpPr>
            <p:cNvPr id="45091" name="Line 19">
              <a:extLst>
                <a:ext uri="{FF2B5EF4-FFF2-40B4-BE49-F238E27FC236}">
                  <a16:creationId xmlns:a16="http://schemas.microsoft.com/office/drawing/2014/main" id="{4CA16A45-1DF7-5925-CAFB-ED9FBFD0DCE0}"/>
                </a:ext>
              </a:extLst>
            </p:cNvPr>
            <p:cNvSpPr>
              <a:spLocks noChangeShapeType="1"/>
            </p:cNvSpPr>
            <p:nvPr/>
          </p:nvSpPr>
          <p:spPr bwMode="auto">
            <a:xfrm>
              <a:off x="0" y="59"/>
              <a:ext cx="4400" cy="0"/>
            </a:xfrm>
            <a:prstGeom prst="line">
              <a:avLst/>
            </a:prstGeom>
            <a:noFill/>
            <a:ln w="9525">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350"/>
            </a:p>
          </p:txBody>
        </p:sp>
        <p:sp>
          <p:nvSpPr>
            <p:cNvPr id="45092" name="Text Box 20">
              <a:extLst>
                <a:ext uri="{FF2B5EF4-FFF2-40B4-BE49-F238E27FC236}">
                  <a16:creationId xmlns:a16="http://schemas.microsoft.com/office/drawing/2014/main" id="{E440495F-5E08-E6A1-923A-6F152198BC6D}"/>
                </a:ext>
              </a:extLst>
            </p:cNvPr>
            <p:cNvSpPr txBox="1">
              <a:spLocks noChangeArrowheads="1"/>
            </p:cNvSpPr>
            <p:nvPr/>
          </p:nvSpPr>
          <p:spPr bwMode="auto">
            <a:xfrm>
              <a:off x="4355" y="0"/>
              <a:ext cx="232"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425" b="1" i="1">
                  <a:latin typeface="Times New Roman" panose="02020603050405020304" pitchFamily="18" charset="0"/>
                </a:rPr>
                <a:t>k</a:t>
              </a:r>
            </a:p>
          </p:txBody>
        </p:sp>
      </p:grpSp>
      <p:grpSp>
        <p:nvGrpSpPr>
          <p:cNvPr id="26629" name="Group 21">
            <a:extLst>
              <a:ext uri="{FF2B5EF4-FFF2-40B4-BE49-F238E27FC236}">
                <a16:creationId xmlns:a16="http://schemas.microsoft.com/office/drawing/2014/main" id="{747573D7-D870-9CBF-290F-7532CA9B5D0B}"/>
              </a:ext>
            </a:extLst>
          </p:cNvPr>
          <p:cNvGrpSpPr>
            <a:grpSpLocks/>
          </p:cNvGrpSpPr>
          <p:nvPr/>
        </p:nvGrpSpPr>
        <p:grpSpPr bwMode="auto">
          <a:xfrm>
            <a:off x="2406254" y="3242072"/>
            <a:ext cx="295275" cy="466726"/>
            <a:chOff x="0" y="0"/>
            <a:chExt cx="248" cy="392"/>
          </a:xfrm>
        </p:grpSpPr>
        <p:sp>
          <p:nvSpPr>
            <p:cNvPr id="45089" name="Line 22">
              <a:extLst>
                <a:ext uri="{FF2B5EF4-FFF2-40B4-BE49-F238E27FC236}">
                  <a16:creationId xmlns:a16="http://schemas.microsoft.com/office/drawing/2014/main" id="{51F130DD-2D01-A1F6-EEE2-65EE851CADF3}"/>
                </a:ext>
              </a:extLst>
            </p:cNvPr>
            <p:cNvSpPr>
              <a:spLocks noChangeShapeType="1"/>
            </p:cNvSpPr>
            <p:nvPr/>
          </p:nvSpPr>
          <p:spPr bwMode="auto">
            <a:xfrm>
              <a:off x="91" y="0"/>
              <a:ext cx="0" cy="136"/>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5090" name="Text Box 23">
              <a:extLst>
                <a:ext uri="{FF2B5EF4-FFF2-40B4-BE49-F238E27FC236}">
                  <a16:creationId xmlns:a16="http://schemas.microsoft.com/office/drawing/2014/main" id="{6D71A535-26DB-EA9A-39A8-44CDFA6B6E42}"/>
                </a:ext>
              </a:extLst>
            </p:cNvPr>
            <p:cNvSpPr txBox="1">
              <a:spLocks noChangeArrowheads="1"/>
            </p:cNvSpPr>
            <p:nvPr/>
          </p:nvSpPr>
          <p:spPr bwMode="auto">
            <a:xfrm>
              <a:off x="0" y="91"/>
              <a:ext cx="248"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725" b="1">
                  <a:latin typeface="Times New Roman" panose="02020603050405020304" pitchFamily="18" charset="0"/>
                </a:rPr>
                <a:t>0</a:t>
              </a:r>
            </a:p>
          </p:txBody>
        </p:sp>
      </p:grpSp>
      <p:grpSp>
        <p:nvGrpSpPr>
          <p:cNvPr id="26632" name="Group 24">
            <a:extLst>
              <a:ext uri="{FF2B5EF4-FFF2-40B4-BE49-F238E27FC236}">
                <a16:creationId xmlns:a16="http://schemas.microsoft.com/office/drawing/2014/main" id="{31852FD7-3642-CB37-DCE0-4B1F3D1600A3}"/>
              </a:ext>
            </a:extLst>
          </p:cNvPr>
          <p:cNvGrpSpPr>
            <a:grpSpLocks/>
          </p:cNvGrpSpPr>
          <p:nvPr/>
        </p:nvGrpSpPr>
        <p:grpSpPr bwMode="auto">
          <a:xfrm>
            <a:off x="2730104" y="2971800"/>
            <a:ext cx="295275" cy="736998"/>
            <a:chOff x="0" y="0"/>
            <a:chExt cx="248" cy="619"/>
          </a:xfrm>
        </p:grpSpPr>
        <p:sp>
          <p:nvSpPr>
            <p:cNvPr id="45087" name="Line 25">
              <a:extLst>
                <a:ext uri="{FF2B5EF4-FFF2-40B4-BE49-F238E27FC236}">
                  <a16:creationId xmlns:a16="http://schemas.microsoft.com/office/drawing/2014/main" id="{A0D4B139-EF4B-DA0C-E5EF-75D9BFF1CAE4}"/>
                </a:ext>
              </a:extLst>
            </p:cNvPr>
            <p:cNvSpPr>
              <a:spLocks noChangeShapeType="1"/>
            </p:cNvSpPr>
            <p:nvPr/>
          </p:nvSpPr>
          <p:spPr bwMode="auto">
            <a:xfrm>
              <a:off x="91" y="0"/>
              <a:ext cx="0" cy="363"/>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5088" name="Text Box 26">
              <a:extLst>
                <a:ext uri="{FF2B5EF4-FFF2-40B4-BE49-F238E27FC236}">
                  <a16:creationId xmlns:a16="http://schemas.microsoft.com/office/drawing/2014/main" id="{E980E91C-A12F-71F0-2A4F-979CB6A4F8E6}"/>
                </a:ext>
              </a:extLst>
            </p:cNvPr>
            <p:cNvSpPr txBox="1">
              <a:spLocks noChangeArrowheads="1"/>
            </p:cNvSpPr>
            <p:nvPr/>
          </p:nvSpPr>
          <p:spPr bwMode="auto">
            <a:xfrm>
              <a:off x="0" y="318"/>
              <a:ext cx="248"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725" b="1">
                  <a:latin typeface="Times New Roman" panose="02020603050405020304" pitchFamily="18" charset="0"/>
                </a:rPr>
                <a:t>1</a:t>
              </a:r>
            </a:p>
          </p:txBody>
        </p:sp>
      </p:grpSp>
      <p:sp>
        <p:nvSpPr>
          <p:cNvPr id="26635" name="Line 27">
            <a:extLst>
              <a:ext uri="{FF2B5EF4-FFF2-40B4-BE49-F238E27FC236}">
                <a16:creationId xmlns:a16="http://schemas.microsoft.com/office/drawing/2014/main" id="{99C980F7-EED6-FA5A-84A0-2359D1996A0B}"/>
              </a:ext>
            </a:extLst>
          </p:cNvPr>
          <p:cNvSpPr>
            <a:spLocks noChangeShapeType="1"/>
          </p:cNvSpPr>
          <p:nvPr/>
        </p:nvSpPr>
        <p:spPr bwMode="auto">
          <a:xfrm>
            <a:off x="4135041" y="2243138"/>
            <a:ext cx="0" cy="116086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26636" name="Line 28">
            <a:extLst>
              <a:ext uri="{FF2B5EF4-FFF2-40B4-BE49-F238E27FC236}">
                <a16:creationId xmlns:a16="http://schemas.microsoft.com/office/drawing/2014/main" id="{71EA4C5B-6D96-466F-7F5E-2DC11470BAE4}"/>
              </a:ext>
            </a:extLst>
          </p:cNvPr>
          <p:cNvSpPr>
            <a:spLocks noChangeShapeType="1"/>
          </p:cNvSpPr>
          <p:nvPr/>
        </p:nvSpPr>
        <p:spPr bwMode="auto">
          <a:xfrm>
            <a:off x="4458891" y="2459831"/>
            <a:ext cx="0" cy="944166"/>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26637" name="Line 29">
            <a:extLst>
              <a:ext uri="{FF2B5EF4-FFF2-40B4-BE49-F238E27FC236}">
                <a16:creationId xmlns:a16="http://schemas.microsoft.com/office/drawing/2014/main" id="{FEAEE9FC-0789-4003-2B46-527E708B6BBA}"/>
              </a:ext>
            </a:extLst>
          </p:cNvPr>
          <p:cNvSpPr>
            <a:spLocks noChangeShapeType="1"/>
          </p:cNvSpPr>
          <p:nvPr/>
        </p:nvSpPr>
        <p:spPr bwMode="auto">
          <a:xfrm>
            <a:off x="4782741" y="2756297"/>
            <a:ext cx="0" cy="64770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26638" name="Line 30">
            <a:extLst>
              <a:ext uri="{FF2B5EF4-FFF2-40B4-BE49-F238E27FC236}">
                <a16:creationId xmlns:a16="http://schemas.microsoft.com/office/drawing/2014/main" id="{13ACA8F8-F6C2-894A-F4BC-A56D19038A01}"/>
              </a:ext>
            </a:extLst>
          </p:cNvPr>
          <p:cNvSpPr>
            <a:spLocks noChangeShapeType="1"/>
          </p:cNvSpPr>
          <p:nvPr/>
        </p:nvSpPr>
        <p:spPr bwMode="auto">
          <a:xfrm>
            <a:off x="5430441" y="3133726"/>
            <a:ext cx="0" cy="270272"/>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pSp>
        <p:nvGrpSpPr>
          <p:cNvPr id="26639" name="Group 31">
            <a:extLst>
              <a:ext uri="{FF2B5EF4-FFF2-40B4-BE49-F238E27FC236}">
                <a16:creationId xmlns:a16="http://schemas.microsoft.com/office/drawing/2014/main" id="{AB1A750F-EF1C-3205-A67F-C489ECAF5B45}"/>
              </a:ext>
            </a:extLst>
          </p:cNvPr>
          <p:cNvGrpSpPr>
            <a:grpSpLocks/>
          </p:cNvGrpSpPr>
          <p:nvPr/>
        </p:nvGrpSpPr>
        <p:grpSpPr bwMode="auto">
          <a:xfrm>
            <a:off x="3055144" y="2701529"/>
            <a:ext cx="295275" cy="1007268"/>
            <a:chOff x="0" y="0"/>
            <a:chExt cx="248" cy="846"/>
          </a:xfrm>
        </p:grpSpPr>
        <p:sp>
          <p:nvSpPr>
            <p:cNvPr id="45085" name="Line 32">
              <a:extLst>
                <a:ext uri="{FF2B5EF4-FFF2-40B4-BE49-F238E27FC236}">
                  <a16:creationId xmlns:a16="http://schemas.microsoft.com/office/drawing/2014/main" id="{976501A9-D049-A37C-DC8E-2418BA3363CC}"/>
                </a:ext>
              </a:extLst>
            </p:cNvPr>
            <p:cNvSpPr>
              <a:spLocks noChangeShapeType="1"/>
            </p:cNvSpPr>
            <p:nvPr/>
          </p:nvSpPr>
          <p:spPr bwMode="auto">
            <a:xfrm>
              <a:off x="90" y="0"/>
              <a:ext cx="0" cy="589"/>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5086" name="Text Box 33">
              <a:extLst>
                <a:ext uri="{FF2B5EF4-FFF2-40B4-BE49-F238E27FC236}">
                  <a16:creationId xmlns:a16="http://schemas.microsoft.com/office/drawing/2014/main" id="{3D840F42-80F4-8ED4-7298-F3140E92B6EE}"/>
                </a:ext>
              </a:extLst>
            </p:cNvPr>
            <p:cNvSpPr txBox="1">
              <a:spLocks noChangeArrowheads="1"/>
            </p:cNvSpPr>
            <p:nvPr/>
          </p:nvSpPr>
          <p:spPr bwMode="auto">
            <a:xfrm>
              <a:off x="0" y="545"/>
              <a:ext cx="248"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725" b="1">
                  <a:latin typeface="Times New Roman" panose="02020603050405020304" pitchFamily="18" charset="0"/>
                </a:rPr>
                <a:t>2</a:t>
              </a:r>
            </a:p>
          </p:txBody>
        </p:sp>
      </p:grpSp>
      <p:grpSp>
        <p:nvGrpSpPr>
          <p:cNvPr id="26642" name="Group 34">
            <a:extLst>
              <a:ext uri="{FF2B5EF4-FFF2-40B4-BE49-F238E27FC236}">
                <a16:creationId xmlns:a16="http://schemas.microsoft.com/office/drawing/2014/main" id="{EF04776E-8A82-4359-98E7-BD7361E77CDB}"/>
              </a:ext>
            </a:extLst>
          </p:cNvPr>
          <p:cNvGrpSpPr>
            <a:grpSpLocks/>
          </p:cNvGrpSpPr>
          <p:nvPr/>
        </p:nvGrpSpPr>
        <p:grpSpPr bwMode="auto">
          <a:xfrm>
            <a:off x="3346848" y="2377679"/>
            <a:ext cx="352425" cy="1331118"/>
            <a:chOff x="0" y="0"/>
            <a:chExt cx="296" cy="1118"/>
          </a:xfrm>
        </p:grpSpPr>
        <p:sp>
          <p:nvSpPr>
            <p:cNvPr id="45083" name="Line 35">
              <a:extLst>
                <a:ext uri="{FF2B5EF4-FFF2-40B4-BE49-F238E27FC236}">
                  <a16:creationId xmlns:a16="http://schemas.microsoft.com/office/drawing/2014/main" id="{1DF2FD5E-0C7D-EEAE-4113-7642BF75A99E}"/>
                </a:ext>
              </a:extLst>
            </p:cNvPr>
            <p:cNvSpPr>
              <a:spLocks noChangeShapeType="1"/>
            </p:cNvSpPr>
            <p:nvPr/>
          </p:nvSpPr>
          <p:spPr bwMode="auto">
            <a:xfrm>
              <a:off x="117" y="0"/>
              <a:ext cx="0" cy="861"/>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5084" name="Text Box 36">
              <a:extLst>
                <a:ext uri="{FF2B5EF4-FFF2-40B4-BE49-F238E27FC236}">
                  <a16:creationId xmlns:a16="http://schemas.microsoft.com/office/drawing/2014/main" id="{39A95F89-186B-3523-7641-B04BCAD545BE}"/>
                </a:ext>
              </a:extLst>
            </p:cNvPr>
            <p:cNvSpPr txBox="1">
              <a:spLocks noChangeArrowheads="1"/>
            </p:cNvSpPr>
            <p:nvPr/>
          </p:nvSpPr>
          <p:spPr bwMode="auto">
            <a:xfrm>
              <a:off x="0" y="817"/>
              <a:ext cx="296"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725" b="1">
                  <a:latin typeface="Times New Roman" panose="02020603050405020304" pitchFamily="18" charset="0"/>
                </a:rPr>
                <a:t>...</a:t>
              </a:r>
            </a:p>
          </p:txBody>
        </p:sp>
      </p:grpSp>
      <p:grpSp>
        <p:nvGrpSpPr>
          <p:cNvPr id="26645" name="Group 37">
            <a:extLst>
              <a:ext uri="{FF2B5EF4-FFF2-40B4-BE49-F238E27FC236}">
                <a16:creationId xmlns:a16="http://schemas.microsoft.com/office/drawing/2014/main" id="{17796E05-B21C-D237-4337-AEE614B51619}"/>
              </a:ext>
            </a:extLst>
          </p:cNvPr>
          <p:cNvGrpSpPr>
            <a:grpSpLocks/>
          </p:cNvGrpSpPr>
          <p:nvPr/>
        </p:nvGrpSpPr>
        <p:grpSpPr bwMode="auto">
          <a:xfrm>
            <a:off x="3486150" y="2000250"/>
            <a:ext cx="870348" cy="1684734"/>
            <a:chOff x="0" y="0"/>
            <a:chExt cx="731" cy="1415"/>
          </a:xfrm>
        </p:grpSpPr>
        <p:sp>
          <p:nvSpPr>
            <p:cNvPr id="45081" name="Text Box 38">
              <a:extLst>
                <a:ext uri="{FF2B5EF4-FFF2-40B4-BE49-F238E27FC236}">
                  <a16:creationId xmlns:a16="http://schemas.microsoft.com/office/drawing/2014/main" id="{DE8C2C86-E83A-0BE0-5B92-12518E846C6D}"/>
                </a:ext>
              </a:extLst>
            </p:cNvPr>
            <p:cNvSpPr txBox="1">
              <a:spLocks noChangeArrowheads="1"/>
            </p:cNvSpPr>
            <p:nvPr/>
          </p:nvSpPr>
          <p:spPr bwMode="auto">
            <a:xfrm>
              <a:off x="0" y="1163"/>
              <a:ext cx="7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350" b="1">
                  <a:latin typeface="Times New Roman" panose="02020603050405020304" pitchFamily="18" charset="0"/>
                  <a:ea typeface="华文中宋" panose="02010600040101010101" pitchFamily="2" charset="-122"/>
                </a:rPr>
                <a:t>[(</a:t>
              </a:r>
              <a:r>
                <a:rPr lang="zh-CN" altLang="zh-CN" sz="1350" b="1" i="1">
                  <a:latin typeface="Times New Roman" panose="02020603050405020304" pitchFamily="18" charset="0"/>
                  <a:ea typeface="华文中宋" panose="02010600040101010101" pitchFamily="2" charset="-122"/>
                </a:rPr>
                <a:t>n </a:t>
              </a:r>
              <a:r>
                <a:rPr lang="zh-CN" altLang="zh-CN" sz="1350" b="1">
                  <a:latin typeface="Times New Roman" panose="02020603050405020304" pitchFamily="18" charset="0"/>
                  <a:ea typeface="华文中宋" panose="02010600040101010101" pitchFamily="2" charset="-122"/>
                </a:rPr>
                <a:t>+ 1)</a:t>
              </a:r>
              <a:r>
                <a:rPr lang="zh-CN" altLang="zh-CN" sz="1350" b="1" i="1">
                  <a:latin typeface="Times New Roman" panose="02020603050405020304" pitchFamily="18" charset="0"/>
                  <a:ea typeface="华文中宋" panose="02010600040101010101" pitchFamily="2" charset="-122"/>
                </a:rPr>
                <a:t>p</a:t>
              </a:r>
              <a:r>
                <a:rPr lang="zh-CN" altLang="zh-CN" sz="1350" b="1">
                  <a:latin typeface="Times New Roman" panose="02020603050405020304" pitchFamily="18" charset="0"/>
                  <a:ea typeface="华文中宋" panose="02010600040101010101" pitchFamily="2" charset="-122"/>
                </a:rPr>
                <a:t>]</a:t>
              </a:r>
            </a:p>
          </p:txBody>
        </p:sp>
        <p:sp>
          <p:nvSpPr>
            <p:cNvPr id="45082" name="Rectangle 39">
              <a:extLst>
                <a:ext uri="{FF2B5EF4-FFF2-40B4-BE49-F238E27FC236}">
                  <a16:creationId xmlns:a16="http://schemas.microsoft.com/office/drawing/2014/main" id="{15C25DEC-0609-F484-F146-0428DAC8CD78}"/>
                </a:ext>
              </a:extLst>
            </p:cNvPr>
            <p:cNvSpPr>
              <a:spLocks noChangeArrowheads="1"/>
            </p:cNvSpPr>
            <p:nvPr/>
          </p:nvSpPr>
          <p:spPr bwMode="auto">
            <a:xfrm>
              <a:off x="227" y="0"/>
              <a:ext cx="91" cy="1179"/>
            </a:xfrm>
            <a:prstGeom prst="rect">
              <a:avLst/>
            </a:prstGeom>
            <a:gradFill rotWithShape="1">
              <a:gsLst>
                <a:gs pos="0">
                  <a:srgbClr val="FF0000"/>
                </a:gs>
                <a:gs pos="50000">
                  <a:srgbClr val="760000"/>
                </a:gs>
                <a:gs pos="100000">
                  <a:srgbClr val="FF00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100" b="1">
                <a:latin typeface="Times New Roman" panose="02020603050405020304" pitchFamily="18" charset="0"/>
              </a:endParaRPr>
            </a:p>
          </p:txBody>
        </p:sp>
      </p:grpSp>
      <p:grpSp>
        <p:nvGrpSpPr>
          <p:cNvPr id="26648" name="Group 40">
            <a:extLst>
              <a:ext uri="{FF2B5EF4-FFF2-40B4-BE49-F238E27FC236}">
                <a16:creationId xmlns:a16="http://schemas.microsoft.com/office/drawing/2014/main" id="{53E5E6FB-6CA7-1C9A-081B-BC50F4C7C275}"/>
              </a:ext>
            </a:extLst>
          </p:cNvPr>
          <p:cNvGrpSpPr>
            <a:grpSpLocks/>
          </p:cNvGrpSpPr>
          <p:nvPr/>
        </p:nvGrpSpPr>
        <p:grpSpPr bwMode="auto">
          <a:xfrm>
            <a:off x="5970985" y="3350419"/>
            <a:ext cx="308372" cy="358379"/>
            <a:chOff x="0" y="0"/>
            <a:chExt cx="259" cy="301"/>
          </a:xfrm>
        </p:grpSpPr>
        <p:sp>
          <p:nvSpPr>
            <p:cNvPr id="45079" name="Text Box 41">
              <a:extLst>
                <a:ext uri="{FF2B5EF4-FFF2-40B4-BE49-F238E27FC236}">
                  <a16:creationId xmlns:a16="http://schemas.microsoft.com/office/drawing/2014/main" id="{D2779347-DDE4-B28B-B57A-2B4CB494F64B}"/>
                </a:ext>
              </a:extLst>
            </p:cNvPr>
            <p:cNvSpPr txBox="1">
              <a:spLocks noChangeArrowheads="1"/>
            </p:cNvSpPr>
            <p:nvPr/>
          </p:nvSpPr>
          <p:spPr bwMode="auto">
            <a:xfrm>
              <a:off x="0" y="0"/>
              <a:ext cx="25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725" b="1" i="1">
                  <a:latin typeface="Times New Roman" panose="02020603050405020304" pitchFamily="18" charset="0"/>
                </a:rPr>
                <a:t>n</a:t>
              </a:r>
            </a:p>
          </p:txBody>
        </p:sp>
        <p:sp>
          <p:nvSpPr>
            <p:cNvPr id="45080" name="Line 42">
              <a:extLst>
                <a:ext uri="{FF2B5EF4-FFF2-40B4-BE49-F238E27FC236}">
                  <a16:creationId xmlns:a16="http://schemas.microsoft.com/office/drawing/2014/main" id="{4ACC8446-4BDC-57E6-31E7-5F85B7C9F670}"/>
                </a:ext>
              </a:extLst>
            </p:cNvPr>
            <p:cNvSpPr>
              <a:spLocks noChangeShapeType="1"/>
            </p:cNvSpPr>
            <p:nvPr/>
          </p:nvSpPr>
          <p:spPr bwMode="auto">
            <a:xfrm>
              <a:off x="91" y="0"/>
              <a:ext cx="0" cy="45"/>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pSp>
      <p:grpSp>
        <p:nvGrpSpPr>
          <p:cNvPr id="26651" name="Group 43">
            <a:extLst>
              <a:ext uri="{FF2B5EF4-FFF2-40B4-BE49-F238E27FC236}">
                <a16:creationId xmlns:a16="http://schemas.microsoft.com/office/drawing/2014/main" id="{23D182E9-CF54-AE39-B92E-98EEEC0F75ED}"/>
              </a:ext>
            </a:extLst>
          </p:cNvPr>
          <p:cNvGrpSpPr>
            <a:grpSpLocks/>
          </p:cNvGrpSpPr>
          <p:nvPr/>
        </p:nvGrpSpPr>
        <p:grpSpPr bwMode="auto">
          <a:xfrm>
            <a:off x="5538787" y="3263504"/>
            <a:ext cx="540544" cy="440532"/>
            <a:chOff x="0" y="0"/>
            <a:chExt cx="454" cy="370"/>
          </a:xfrm>
        </p:grpSpPr>
        <p:sp>
          <p:nvSpPr>
            <p:cNvPr id="45077" name="Line 44">
              <a:extLst>
                <a:ext uri="{FF2B5EF4-FFF2-40B4-BE49-F238E27FC236}">
                  <a16:creationId xmlns:a16="http://schemas.microsoft.com/office/drawing/2014/main" id="{49918F52-5E5E-AA31-8B7B-9DD91C42DAFB}"/>
                </a:ext>
              </a:extLst>
            </p:cNvPr>
            <p:cNvSpPr>
              <a:spLocks noChangeShapeType="1"/>
            </p:cNvSpPr>
            <p:nvPr/>
          </p:nvSpPr>
          <p:spPr bwMode="auto">
            <a:xfrm>
              <a:off x="181" y="0"/>
              <a:ext cx="0" cy="113"/>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5078" name="Text Box 45">
              <a:extLst>
                <a:ext uri="{FF2B5EF4-FFF2-40B4-BE49-F238E27FC236}">
                  <a16:creationId xmlns:a16="http://schemas.microsoft.com/office/drawing/2014/main" id="{C7A066AA-2225-AE10-0CB6-431BDAE9ABFD}"/>
                </a:ext>
              </a:extLst>
            </p:cNvPr>
            <p:cNvSpPr txBox="1">
              <a:spLocks noChangeArrowheads="1"/>
            </p:cNvSpPr>
            <p:nvPr/>
          </p:nvSpPr>
          <p:spPr bwMode="auto">
            <a:xfrm>
              <a:off x="0" y="69"/>
              <a:ext cx="45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725" b="1" i="1">
                  <a:latin typeface="Times New Roman" panose="02020603050405020304" pitchFamily="18" charset="0"/>
                </a:rPr>
                <a:t>n</a:t>
              </a:r>
              <a:r>
                <a:rPr lang="zh-CN" altLang="zh-CN" sz="1725" b="1">
                  <a:latin typeface="Symbol" panose="05050102010706020507" pitchFamily="18" charset="2"/>
                </a:rPr>
                <a:t>-</a:t>
              </a:r>
              <a:r>
                <a:rPr lang="zh-CN" altLang="zh-CN" sz="1725" b="1">
                  <a:latin typeface="Times New Roman" panose="02020603050405020304" pitchFamily="18" charset="0"/>
                </a:rPr>
                <a:t>1</a:t>
              </a:r>
            </a:p>
          </p:txBody>
        </p:sp>
      </p:grpSp>
      <p:grpSp>
        <p:nvGrpSpPr>
          <p:cNvPr id="26654" name="Group 46">
            <a:extLst>
              <a:ext uri="{FF2B5EF4-FFF2-40B4-BE49-F238E27FC236}">
                <a16:creationId xmlns:a16="http://schemas.microsoft.com/office/drawing/2014/main" id="{0D26E44B-0977-6594-7119-46C93CB22F61}"/>
              </a:ext>
            </a:extLst>
          </p:cNvPr>
          <p:cNvGrpSpPr>
            <a:grpSpLocks/>
          </p:cNvGrpSpPr>
          <p:nvPr/>
        </p:nvGrpSpPr>
        <p:grpSpPr bwMode="auto">
          <a:xfrm>
            <a:off x="4966098" y="2999185"/>
            <a:ext cx="352425" cy="701277"/>
            <a:chOff x="0" y="0"/>
            <a:chExt cx="296" cy="589"/>
          </a:xfrm>
        </p:grpSpPr>
        <p:sp>
          <p:nvSpPr>
            <p:cNvPr id="45075" name="Line 47">
              <a:extLst>
                <a:ext uri="{FF2B5EF4-FFF2-40B4-BE49-F238E27FC236}">
                  <a16:creationId xmlns:a16="http://schemas.microsoft.com/office/drawing/2014/main" id="{49F75EF0-BEAE-2E9D-B969-D27FEA284CF6}"/>
                </a:ext>
              </a:extLst>
            </p:cNvPr>
            <p:cNvSpPr>
              <a:spLocks noChangeShapeType="1"/>
            </p:cNvSpPr>
            <p:nvPr/>
          </p:nvSpPr>
          <p:spPr bwMode="auto">
            <a:xfrm>
              <a:off x="118" y="0"/>
              <a:ext cx="0" cy="34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5076" name="Text Box 48">
              <a:extLst>
                <a:ext uri="{FF2B5EF4-FFF2-40B4-BE49-F238E27FC236}">
                  <a16:creationId xmlns:a16="http://schemas.microsoft.com/office/drawing/2014/main" id="{23F587A7-8D80-F5C3-1703-6AD060D7EF17}"/>
                </a:ext>
              </a:extLst>
            </p:cNvPr>
            <p:cNvSpPr txBox="1">
              <a:spLocks noChangeArrowheads="1"/>
            </p:cNvSpPr>
            <p:nvPr/>
          </p:nvSpPr>
          <p:spPr bwMode="auto">
            <a:xfrm>
              <a:off x="0" y="288"/>
              <a:ext cx="296"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SzPct val="70000"/>
                <a:buFont typeface="Wingdings" panose="05000000000000000000" pitchFamily="2" charset="2"/>
                <a:buNone/>
              </a:pPr>
              <a:r>
                <a:rPr lang="zh-CN" altLang="zh-CN" sz="1725" b="1">
                  <a:latin typeface="Times New Roman" panose="02020603050405020304" pitchFamily="18" charset="0"/>
                </a:rPr>
                <a:t>...</a:t>
              </a:r>
            </a:p>
          </p:txBody>
        </p:sp>
      </p:grpSp>
      <p:sp>
        <p:nvSpPr>
          <p:cNvPr id="45071" name="Rectangle 6">
            <a:extLst>
              <a:ext uri="{FF2B5EF4-FFF2-40B4-BE49-F238E27FC236}">
                <a16:creationId xmlns:a16="http://schemas.microsoft.com/office/drawing/2014/main" id="{A02D9C07-9862-A1D6-4D42-B9695F33962C}"/>
              </a:ext>
            </a:extLst>
          </p:cNvPr>
          <p:cNvSpPr>
            <a:spLocks noChangeArrowheads="1"/>
          </p:cNvSpPr>
          <p:nvPr/>
        </p:nvSpPr>
        <p:spPr bwMode="auto">
          <a:xfrm>
            <a:off x="1716881" y="3429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zh-CN" sz="1800" b="1">
                <a:solidFill>
                  <a:srgbClr val="FF3300"/>
                </a:solidFill>
                <a:latin typeface="微软雅黑" panose="020B0503020204020204" pitchFamily="34" charset="-122"/>
                <a:ea typeface="微软雅黑" panose="020B0503020204020204" pitchFamily="34" charset="-122"/>
              </a:rPr>
              <a:t>2）二项分布</a:t>
            </a:r>
          </a:p>
        </p:txBody>
      </p:sp>
      <p:graphicFrame>
        <p:nvGraphicFramePr>
          <p:cNvPr id="45072" name="Object 34">
            <a:extLst>
              <a:ext uri="{FF2B5EF4-FFF2-40B4-BE49-F238E27FC236}">
                <a16:creationId xmlns:a16="http://schemas.microsoft.com/office/drawing/2014/main" id="{8048148D-CDCC-9B74-5E80-B3F86A6EB6BA}"/>
              </a:ext>
            </a:extLst>
          </p:cNvPr>
          <p:cNvGraphicFramePr>
            <a:graphicFrameLocks noChangeAspect="1"/>
          </p:cNvGraphicFramePr>
          <p:nvPr/>
        </p:nvGraphicFramePr>
        <p:xfrm>
          <a:off x="2343150" y="1139429"/>
          <a:ext cx="4981575" cy="478631"/>
        </p:xfrm>
        <a:graphic>
          <a:graphicData uri="http://schemas.openxmlformats.org/presentationml/2006/ole">
            <mc:AlternateContent xmlns:mc="http://schemas.openxmlformats.org/markup-compatibility/2006">
              <mc:Choice xmlns:v="urn:schemas-microsoft-com:vml" Requires="v">
                <p:oleObj r:id="rId2" imgW="2908300" imgH="279400" progId="Equation.DSMT4">
                  <p:embed/>
                </p:oleObj>
              </mc:Choice>
              <mc:Fallback>
                <p:oleObj r:id="rId2" imgW="2908300" imgH="279400" progId="Equation.DSMT4">
                  <p:embed/>
                  <p:pic>
                    <p:nvPicPr>
                      <p:cNvPr id="45072" name="Object 34">
                        <a:extLst>
                          <a:ext uri="{FF2B5EF4-FFF2-40B4-BE49-F238E27FC236}">
                            <a16:creationId xmlns:a16="http://schemas.microsoft.com/office/drawing/2014/main" id="{8048148D-CDCC-9B74-5E80-B3F86A6EB6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150" y="1139429"/>
                        <a:ext cx="4981575" cy="47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73" name="Object 35">
            <a:extLst>
              <a:ext uri="{FF2B5EF4-FFF2-40B4-BE49-F238E27FC236}">
                <a16:creationId xmlns:a16="http://schemas.microsoft.com/office/drawing/2014/main" id="{368FDB8D-CCD7-D0CA-43FC-89F814F4D578}"/>
              </a:ext>
            </a:extLst>
          </p:cNvPr>
          <p:cNvGraphicFramePr>
            <a:graphicFrameLocks noChangeAspect="1"/>
          </p:cNvGraphicFramePr>
          <p:nvPr/>
        </p:nvGraphicFramePr>
        <p:xfrm>
          <a:off x="3719513" y="476250"/>
          <a:ext cx="3124200" cy="257175"/>
        </p:xfrm>
        <a:graphic>
          <a:graphicData uri="http://schemas.openxmlformats.org/presentationml/2006/ole">
            <mc:AlternateContent xmlns:mc="http://schemas.openxmlformats.org/markup-compatibility/2006">
              <mc:Choice xmlns:v="urn:schemas-microsoft-com:vml" Requires="v">
                <p:oleObj r:id="rId4" imgW="4163793" imgH="342751" progId="Equation.DSMT4">
                  <p:embed/>
                </p:oleObj>
              </mc:Choice>
              <mc:Fallback>
                <p:oleObj r:id="rId4" imgW="4163793" imgH="342751" progId="Equation.DSMT4">
                  <p:embed/>
                  <p:pic>
                    <p:nvPicPr>
                      <p:cNvPr id="45073" name="Object 35">
                        <a:extLst>
                          <a:ext uri="{FF2B5EF4-FFF2-40B4-BE49-F238E27FC236}">
                            <a16:creationId xmlns:a16="http://schemas.microsoft.com/office/drawing/2014/main" id="{368FDB8D-CCD7-D0CA-43FC-89F814F4D5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9513" y="476250"/>
                        <a:ext cx="312420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60" name="Object 36">
            <a:extLst>
              <a:ext uri="{FF2B5EF4-FFF2-40B4-BE49-F238E27FC236}">
                <a16:creationId xmlns:a16="http://schemas.microsoft.com/office/drawing/2014/main" id="{BF435397-C2C8-9D17-A74F-E926F05DA8E0}"/>
              </a:ext>
            </a:extLst>
          </p:cNvPr>
          <p:cNvGraphicFramePr>
            <a:graphicFrameLocks noChangeAspect="1"/>
          </p:cNvGraphicFramePr>
          <p:nvPr/>
        </p:nvGraphicFramePr>
        <p:xfrm>
          <a:off x="3292078" y="4020741"/>
          <a:ext cx="3309938" cy="396478"/>
        </p:xfrm>
        <a:graphic>
          <a:graphicData uri="http://schemas.openxmlformats.org/presentationml/2006/ole">
            <mc:AlternateContent xmlns:mc="http://schemas.openxmlformats.org/markup-compatibility/2006">
              <mc:Choice xmlns:v="urn:schemas-microsoft-com:vml" Requires="v">
                <p:oleObj r:id="rId6" imgW="1688367" imgH="203112" progId="Equation.DSMT4">
                  <p:embed/>
                </p:oleObj>
              </mc:Choice>
              <mc:Fallback>
                <p:oleObj r:id="rId6" imgW="1688367" imgH="203112" progId="Equation.DSMT4">
                  <p:embed/>
                  <p:pic>
                    <p:nvPicPr>
                      <p:cNvPr id="26660" name="Object 36">
                        <a:extLst>
                          <a:ext uri="{FF2B5EF4-FFF2-40B4-BE49-F238E27FC236}">
                            <a16:creationId xmlns:a16="http://schemas.microsoft.com/office/drawing/2014/main" id="{BF435397-C2C8-9D17-A74F-E926F05DA8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2078" y="4020741"/>
                        <a:ext cx="3309938" cy="396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slide(fromLeft)">
                                      <p:cBhvr>
                                        <p:cTn id="7" dur="500"/>
                                        <p:tgtEl>
                                          <p:spTgt spid="266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slide(fromBottom)">
                                      <p:cBhvr>
                                        <p:cTn id="12" dur="500"/>
                                        <p:tgtEl>
                                          <p:spTgt spid="266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26632"/>
                                        </p:tgtEl>
                                        <p:attrNameLst>
                                          <p:attrName>style.visibility</p:attrName>
                                        </p:attrNameLst>
                                      </p:cBhvr>
                                      <p:to>
                                        <p:strVal val="visible"/>
                                      </p:to>
                                    </p:set>
                                    <p:animEffect transition="in" filter="slide(fromBottom)">
                                      <p:cBhvr>
                                        <p:cTn id="17" dur="500"/>
                                        <p:tgtEl>
                                          <p:spTgt spid="266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26639"/>
                                        </p:tgtEl>
                                        <p:attrNameLst>
                                          <p:attrName>style.visibility</p:attrName>
                                        </p:attrNameLst>
                                      </p:cBhvr>
                                      <p:to>
                                        <p:strVal val="visible"/>
                                      </p:to>
                                    </p:set>
                                    <p:animEffect transition="in" filter="slide(fromBottom)">
                                      <p:cBhvr>
                                        <p:cTn id="22" dur="500"/>
                                        <p:tgtEl>
                                          <p:spTgt spid="266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26642"/>
                                        </p:tgtEl>
                                        <p:attrNameLst>
                                          <p:attrName>style.visibility</p:attrName>
                                        </p:attrNameLst>
                                      </p:cBhvr>
                                      <p:to>
                                        <p:strVal val="visible"/>
                                      </p:to>
                                    </p:set>
                                    <p:animEffect transition="in" filter="slide(fromBottom)">
                                      <p:cBhvr>
                                        <p:cTn id="27" dur="500"/>
                                        <p:tgtEl>
                                          <p:spTgt spid="266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26645"/>
                                        </p:tgtEl>
                                        <p:attrNameLst>
                                          <p:attrName>style.visibility</p:attrName>
                                        </p:attrNameLst>
                                      </p:cBhvr>
                                      <p:to>
                                        <p:strVal val="visible"/>
                                      </p:to>
                                    </p:set>
                                    <p:animEffect transition="in" filter="slide(fromBottom)">
                                      <p:cBhvr>
                                        <p:cTn id="32" dur="500"/>
                                        <p:tgtEl>
                                          <p:spTgt spid="266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26635"/>
                                        </p:tgtEl>
                                        <p:attrNameLst>
                                          <p:attrName>style.visibility</p:attrName>
                                        </p:attrNameLst>
                                      </p:cBhvr>
                                      <p:to>
                                        <p:strVal val="visible"/>
                                      </p:to>
                                    </p:set>
                                    <p:animEffect transition="in" filter="slide(fromBottom)">
                                      <p:cBhvr>
                                        <p:cTn id="37" dur="500"/>
                                        <p:tgtEl>
                                          <p:spTgt spid="266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26636"/>
                                        </p:tgtEl>
                                        <p:attrNameLst>
                                          <p:attrName>style.visibility</p:attrName>
                                        </p:attrNameLst>
                                      </p:cBhvr>
                                      <p:to>
                                        <p:strVal val="visible"/>
                                      </p:to>
                                    </p:set>
                                    <p:animEffect transition="in" filter="slide(fromBottom)">
                                      <p:cBhvr>
                                        <p:cTn id="42" dur="500"/>
                                        <p:tgtEl>
                                          <p:spTgt spid="266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26637"/>
                                        </p:tgtEl>
                                        <p:attrNameLst>
                                          <p:attrName>style.visibility</p:attrName>
                                        </p:attrNameLst>
                                      </p:cBhvr>
                                      <p:to>
                                        <p:strVal val="visible"/>
                                      </p:to>
                                    </p:set>
                                    <p:animEffect transition="in" filter="slide(fromBottom)">
                                      <p:cBhvr>
                                        <p:cTn id="47" dur="500"/>
                                        <p:tgtEl>
                                          <p:spTgt spid="266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26654"/>
                                        </p:tgtEl>
                                        <p:attrNameLst>
                                          <p:attrName>style.visibility</p:attrName>
                                        </p:attrNameLst>
                                      </p:cBhvr>
                                      <p:to>
                                        <p:strVal val="visible"/>
                                      </p:to>
                                    </p:set>
                                    <p:animEffect transition="in" filter="slide(fromBottom)">
                                      <p:cBhvr>
                                        <p:cTn id="52" dur="500"/>
                                        <p:tgtEl>
                                          <p:spTgt spid="2665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26638"/>
                                        </p:tgtEl>
                                        <p:attrNameLst>
                                          <p:attrName>style.visibility</p:attrName>
                                        </p:attrNameLst>
                                      </p:cBhvr>
                                      <p:to>
                                        <p:strVal val="visible"/>
                                      </p:to>
                                    </p:set>
                                    <p:animEffect transition="in" filter="slide(fromBottom)">
                                      <p:cBhvr>
                                        <p:cTn id="57" dur="500"/>
                                        <p:tgtEl>
                                          <p:spTgt spid="2663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nodeType="clickEffect">
                                  <p:stCondLst>
                                    <p:cond delay="0"/>
                                  </p:stCondLst>
                                  <p:childTnLst>
                                    <p:set>
                                      <p:cBhvr>
                                        <p:cTn id="61" dur="1" fill="hold">
                                          <p:stCondLst>
                                            <p:cond delay="0"/>
                                          </p:stCondLst>
                                        </p:cTn>
                                        <p:tgtEl>
                                          <p:spTgt spid="26651"/>
                                        </p:tgtEl>
                                        <p:attrNameLst>
                                          <p:attrName>style.visibility</p:attrName>
                                        </p:attrNameLst>
                                      </p:cBhvr>
                                      <p:to>
                                        <p:strVal val="visible"/>
                                      </p:to>
                                    </p:set>
                                    <p:animEffect transition="in" filter="slide(fromBottom)">
                                      <p:cBhvr>
                                        <p:cTn id="62" dur="500"/>
                                        <p:tgtEl>
                                          <p:spTgt spid="2665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nodeType="clickEffect">
                                  <p:stCondLst>
                                    <p:cond delay="0"/>
                                  </p:stCondLst>
                                  <p:childTnLst>
                                    <p:set>
                                      <p:cBhvr>
                                        <p:cTn id="66" dur="1" fill="hold">
                                          <p:stCondLst>
                                            <p:cond delay="0"/>
                                          </p:stCondLst>
                                        </p:cTn>
                                        <p:tgtEl>
                                          <p:spTgt spid="26648"/>
                                        </p:tgtEl>
                                        <p:attrNameLst>
                                          <p:attrName>style.visibility</p:attrName>
                                        </p:attrNameLst>
                                      </p:cBhvr>
                                      <p:to>
                                        <p:strVal val="visible"/>
                                      </p:to>
                                    </p:set>
                                    <p:animEffect transition="in" filter="slide(fromBottom)">
                                      <p:cBhvr>
                                        <p:cTn id="67" dur="500"/>
                                        <p:tgtEl>
                                          <p:spTgt spid="2664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26660"/>
                                        </p:tgtEl>
                                        <p:attrNameLst>
                                          <p:attrName>style.visibility</p:attrName>
                                        </p:attrNameLst>
                                      </p:cBhvr>
                                      <p:to>
                                        <p:strVal val="visible"/>
                                      </p:to>
                                    </p:set>
                                    <p:animEffect transition="in" filter="wipe(down)">
                                      <p:cBhvr>
                                        <p:cTn id="72" dur="500"/>
                                        <p:tgtEl>
                                          <p:spTgt spid="26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916C770-D88D-FAFD-64E0-20CC0D93C83E}"/>
              </a:ext>
            </a:extLst>
          </p:cNvPr>
          <p:cNvSpPr>
            <a:spLocks noChangeArrowheads="1"/>
          </p:cNvSpPr>
          <p:nvPr/>
        </p:nvSpPr>
        <p:spPr bwMode="auto">
          <a:xfrm>
            <a:off x="2805113" y="800100"/>
            <a:ext cx="3829050" cy="6286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700">
              <a:latin typeface="Times New Roman" panose="02020603050405020304" pitchFamily="18" charset="0"/>
            </a:endParaRPr>
          </a:p>
        </p:txBody>
      </p:sp>
      <p:sp>
        <p:nvSpPr>
          <p:cNvPr id="46083" name="Rectangle 3">
            <a:extLst>
              <a:ext uri="{FF2B5EF4-FFF2-40B4-BE49-F238E27FC236}">
                <a16:creationId xmlns:a16="http://schemas.microsoft.com/office/drawing/2014/main" id="{0AEEFA32-ECB4-32F0-5228-FD2A7D684F50}"/>
              </a:ext>
            </a:extLst>
          </p:cNvPr>
          <p:cNvSpPr>
            <a:spLocks noGrp="1" noChangeArrowheads="1"/>
          </p:cNvSpPr>
          <p:nvPr>
            <p:ph type="title"/>
          </p:nvPr>
        </p:nvSpPr>
        <p:spPr>
          <a:xfrm>
            <a:off x="1656160" y="-13097"/>
            <a:ext cx="2847975" cy="857251"/>
          </a:xfrm>
        </p:spPr>
        <p:txBody>
          <a:bodyPr/>
          <a:lstStyle/>
          <a:p>
            <a:pPr eaLnBrk="1" hangingPunct="1"/>
            <a:r>
              <a:rPr lang="zh-CN" altLang="zh-CN" sz="1800" b="1">
                <a:solidFill>
                  <a:srgbClr val="FF3300"/>
                </a:solidFill>
                <a:latin typeface="微软雅黑" panose="020B0503020204020204" pitchFamily="34" charset="-122"/>
                <a:ea typeface="微软雅黑" panose="020B0503020204020204" pitchFamily="34" charset="-122"/>
              </a:rPr>
              <a:t>3）泊松（Poisson）分布</a:t>
            </a:r>
            <a:endParaRPr lang="zh-CN" altLang="zh-CN" b="1">
              <a:solidFill>
                <a:srgbClr val="FF3300"/>
              </a:solidFill>
              <a:latin typeface="微软雅黑" panose="020B0503020204020204" pitchFamily="34" charset="-122"/>
              <a:ea typeface="微软雅黑" panose="020B0503020204020204" pitchFamily="34" charset="-122"/>
            </a:endParaRPr>
          </a:p>
        </p:txBody>
      </p:sp>
      <p:graphicFrame>
        <p:nvGraphicFramePr>
          <p:cNvPr id="27652" name="Object 4">
            <a:extLst>
              <a:ext uri="{FF2B5EF4-FFF2-40B4-BE49-F238E27FC236}">
                <a16:creationId xmlns:a16="http://schemas.microsoft.com/office/drawing/2014/main" id="{82E38BEE-7ED2-5615-E6F3-046C672237D8}"/>
              </a:ext>
            </a:extLst>
          </p:cNvPr>
          <p:cNvGraphicFramePr>
            <a:graphicFrameLocks noChangeAspect="1"/>
          </p:cNvGraphicFramePr>
          <p:nvPr>
            <p:ph sz="half" idx="1"/>
          </p:nvPr>
        </p:nvGraphicFramePr>
        <p:xfrm>
          <a:off x="1547813" y="1707356"/>
          <a:ext cx="2278856" cy="2943225"/>
        </p:xfrm>
        <a:graphic>
          <a:graphicData uri="http://schemas.openxmlformats.org/presentationml/2006/ole">
            <mc:AlternateContent xmlns:mc="http://schemas.openxmlformats.org/markup-compatibility/2006">
              <mc:Choice xmlns:v="urn:schemas-microsoft-com:vml" Requires="v">
                <p:oleObj r:id="rId2" imgW="3038095" imgH="3924848" progId="PBrush">
                  <p:embed/>
                </p:oleObj>
              </mc:Choice>
              <mc:Fallback>
                <p:oleObj r:id="rId2" imgW="3038095" imgH="3924848" progId="PBrush">
                  <p:embed/>
                  <p:pic>
                    <p:nvPicPr>
                      <p:cNvPr id="27652" name="Object 4">
                        <a:extLst>
                          <a:ext uri="{FF2B5EF4-FFF2-40B4-BE49-F238E27FC236}">
                            <a16:creationId xmlns:a16="http://schemas.microsoft.com/office/drawing/2014/main" id="{82E38BEE-7ED2-5615-E6F3-046C672237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707356"/>
                        <a:ext cx="2278856"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5" name="Object 5">
            <a:extLst>
              <a:ext uri="{FF2B5EF4-FFF2-40B4-BE49-F238E27FC236}">
                <a16:creationId xmlns:a16="http://schemas.microsoft.com/office/drawing/2014/main" id="{60943A23-8D64-9AE3-874D-11A47878F8F4}"/>
              </a:ext>
            </a:extLst>
          </p:cNvPr>
          <p:cNvGraphicFramePr>
            <a:graphicFrameLocks noChangeAspect="1"/>
          </p:cNvGraphicFramePr>
          <p:nvPr/>
        </p:nvGraphicFramePr>
        <p:xfrm>
          <a:off x="5560219" y="1028701"/>
          <a:ext cx="1007269" cy="250031"/>
        </p:xfrm>
        <a:graphic>
          <a:graphicData uri="http://schemas.openxmlformats.org/presentationml/2006/ole">
            <mc:AlternateContent xmlns:mc="http://schemas.openxmlformats.org/markup-compatibility/2006">
              <mc:Choice xmlns:v="urn:schemas-microsoft-com:vml" Requires="v">
                <p:oleObj r:id="rId4" imgW="813506" imgH="203377" progId="Equation.DSMT4">
                  <p:embed/>
                </p:oleObj>
              </mc:Choice>
              <mc:Fallback>
                <p:oleObj r:id="rId4" imgW="813506" imgH="203377" progId="Equation.DSMT4">
                  <p:embed/>
                  <p:pic>
                    <p:nvPicPr>
                      <p:cNvPr id="46085" name="Object 5">
                        <a:extLst>
                          <a:ext uri="{FF2B5EF4-FFF2-40B4-BE49-F238E27FC236}">
                            <a16:creationId xmlns:a16="http://schemas.microsoft.com/office/drawing/2014/main" id="{60943A23-8D64-9AE3-874D-11A47878F8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0219" y="1028701"/>
                        <a:ext cx="1007269" cy="250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6" name="Object 6">
            <a:extLst>
              <a:ext uri="{FF2B5EF4-FFF2-40B4-BE49-F238E27FC236}">
                <a16:creationId xmlns:a16="http://schemas.microsoft.com/office/drawing/2014/main" id="{64EAF325-975D-5180-B04F-A89EDF6FC035}"/>
              </a:ext>
            </a:extLst>
          </p:cNvPr>
          <p:cNvGraphicFramePr>
            <a:graphicFrameLocks noChangeAspect="1"/>
          </p:cNvGraphicFramePr>
          <p:nvPr/>
        </p:nvGraphicFramePr>
        <p:xfrm>
          <a:off x="4726782" y="1006079"/>
          <a:ext cx="584597" cy="245269"/>
        </p:xfrm>
        <a:graphic>
          <a:graphicData uri="http://schemas.openxmlformats.org/presentationml/2006/ole">
            <mc:AlternateContent xmlns:mc="http://schemas.openxmlformats.org/markup-compatibility/2006">
              <mc:Choice xmlns:v="urn:schemas-microsoft-com:vml" Requires="v">
                <p:oleObj r:id="rId6" imgW="483860" imgH="203731" progId="Equation.DSMT4">
                  <p:embed/>
                </p:oleObj>
              </mc:Choice>
              <mc:Fallback>
                <p:oleObj r:id="rId6" imgW="483860" imgH="203731" progId="Equation.DSMT4">
                  <p:embed/>
                  <p:pic>
                    <p:nvPicPr>
                      <p:cNvPr id="46086" name="Object 6">
                        <a:extLst>
                          <a:ext uri="{FF2B5EF4-FFF2-40B4-BE49-F238E27FC236}">
                            <a16:creationId xmlns:a16="http://schemas.microsoft.com/office/drawing/2014/main" id="{64EAF325-975D-5180-B04F-A89EDF6FC0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6782" y="1006079"/>
                        <a:ext cx="584597" cy="245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7" name="Object 7">
            <a:extLst>
              <a:ext uri="{FF2B5EF4-FFF2-40B4-BE49-F238E27FC236}">
                <a16:creationId xmlns:a16="http://schemas.microsoft.com/office/drawing/2014/main" id="{FF953871-4A31-CF0D-9D3A-D78C4C699B4B}"/>
              </a:ext>
            </a:extLst>
          </p:cNvPr>
          <p:cNvGraphicFramePr>
            <a:graphicFrameLocks noChangeAspect="1"/>
          </p:cNvGraphicFramePr>
          <p:nvPr/>
        </p:nvGraphicFramePr>
        <p:xfrm>
          <a:off x="4751785" y="303610"/>
          <a:ext cx="1028700" cy="315515"/>
        </p:xfrm>
        <a:graphic>
          <a:graphicData uri="http://schemas.openxmlformats.org/presentationml/2006/ole">
            <mc:AlternateContent xmlns:mc="http://schemas.openxmlformats.org/markup-compatibility/2006">
              <mc:Choice xmlns:v="urn:schemas-microsoft-com:vml" Requires="v">
                <p:oleObj r:id="rId8" imgW="661261" imgH="203465" progId="Equation.DSMT4">
                  <p:embed/>
                </p:oleObj>
              </mc:Choice>
              <mc:Fallback>
                <p:oleObj r:id="rId8" imgW="661261" imgH="203465" progId="Equation.DSMT4">
                  <p:embed/>
                  <p:pic>
                    <p:nvPicPr>
                      <p:cNvPr id="46087" name="Object 7">
                        <a:extLst>
                          <a:ext uri="{FF2B5EF4-FFF2-40B4-BE49-F238E27FC236}">
                            <a16:creationId xmlns:a16="http://schemas.microsoft.com/office/drawing/2014/main" id="{FF953871-4A31-CF0D-9D3A-D78C4C699B4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51785" y="303610"/>
                        <a:ext cx="1028700" cy="315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8" name="Object 8">
            <a:extLst>
              <a:ext uri="{FF2B5EF4-FFF2-40B4-BE49-F238E27FC236}">
                <a16:creationId xmlns:a16="http://schemas.microsoft.com/office/drawing/2014/main" id="{1667C031-E331-D3D3-826E-0CE5FE8AB618}"/>
              </a:ext>
            </a:extLst>
          </p:cNvPr>
          <p:cNvGraphicFramePr>
            <a:graphicFrameLocks noChangeAspect="1"/>
          </p:cNvGraphicFramePr>
          <p:nvPr/>
        </p:nvGraphicFramePr>
        <p:xfrm>
          <a:off x="2814638" y="800100"/>
          <a:ext cx="1809750" cy="628650"/>
        </p:xfrm>
        <a:graphic>
          <a:graphicData uri="http://schemas.openxmlformats.org/presentationml/2006/ole">
            <mc:AlternateContent xmlns:mc="http://schemas.openxmlformats.org/markup-compatibility/2006">
              <mc:Choice xmlns:v="urn:schemas-microsoft-com:vml" Requires="v">
                <p:oleObj r:id="rId10" imgW="1208598" imgH="419829" progId="Equation.DSMT4">
                  <p:embed/>
                </p:oleObj>
              </mc:Choice>
              <mc:Fallback>
                <p:oleObj r:id="rId10" imgW="1208598" imgH="419829" progId="Equation.DSMT4">
                  <p:embed/>
                  <p:pic>
                    <p:nvPicPr>
                      <p:cNvPr id="46088" name="Object 8">
                        <a:extLst>
                          <a:ext uri="{FF2B5EF4-FFF2-40B4-BE49-F238E27FC236}">
                            <a16:creationId xmlns:a16="http://schemas.microsoft.com/office/drawing/2014/main" id="{1667C031-E331-D3D3-826E-0CE5FE8AB61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4638" y="800100"/>
                        <a:ext cx="18097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7" name="Object 9">
            <a:extLst>
              <a:ext uri="{FF2B5EF4-FFF2-40B4-BE49-F238E27FC236}">
                <a16:creationId xmlns:a16="http://schemas.microsoft.com/office/drawing/2014/main" id="{1945717A-1215-390A-E46C-FD42AAEE0899}"/>
              </a:ext>
            </a:extLst>
          </p:cNvPr>
          <p:cNvGraphicFramePr>
            <a:graphicFrameLocks noChangeAspect="1"/>
          </p:cNvGraphicFramePr>
          <p:nvPr>
            <p:ph sz="half" idx="2"/>
          </p:nvPr>
        </p:nvGraphicFramePr>
        <p:xfrm>
          <a:off x="3815954" y="1707357"/>
          <a:ext cx="3942159" cy="2917031"/>
        </p:xfrm>
        <a:graphic>
          <a:graphicData uri="http://schemas.openxmlformats.org/presentationml/2006/ole">
            <mc:AlternateContent xmlns:mc="http://schemas.openxmlformats.org/markup-compatibility/2006">
              <mc:Choice xmlns:v="urn:schemas-microsoft-com:vml" Requires="v">
                <p:oleObj r:id="rId12" imgW="4419983" imgH="2659048" progId="PBrush">
                  <p:embed/>
                </p:oleObj>
              </mc:Choice>
              <mc:Fallback>
                <p:oleObj r:id="rId12" imgW="4419983" imgH="2659048" progId="PBrush">
                  <p:embed/>
                  <p:pic>
                    <p:nvPicPr>
                      <p:cNvPr id="27657" name="Object 9">
                        <a:extLst>
                          <a:ext uri="{FF2B5EF4-FFF2-40B4-BE49-F238E27FC236}">
                            <a16:creationId xmlns:a16="http://schemas.microsoft.com/office/drawing/2014/main" id="{1945717A-1215-390A-E46C-FD42AAEE089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5954" y="1707357"/>
                        <a:ext cx="3942159" cy="2917031"/>
                      </a:xfrm>
                      <a:prstGeom prst="rect">
                        <a:avLst/>
                      </a:prstGeom>
                      <a:noFill/>
                      <a:ln>
                        <a:noFill/>
                      </a:ln>
                      <a:effectLst/>
                      <a:extLst>
                        <a:ext uri="{909E8E84-426E-40DD-AFC4-6F175D3DCCD1}">
                          <a14:hiddenFill xmlns:a14="http://schemas.microsoft.com/office/drawing/2010/main">
                            <a:gradFill rotWithShape="0">
                              <a:gsLst>
                                <a:gs pos="0">
                                  <a:srgbClr val="707070"/>
                                </a:gs>
                                <a:gs pos="50000">
                                  <a:srgbClr val="FFFFFF"/>
                                </a:gs>
                                <a:gs pos="100000">
                                  <a:srgbClr val="707070"/>
                                </a:gs>
                              </a:gsLst>
                              <a:lin ang="27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blinds(horizontal)">
                                      <p:cBhvr>
                                        <p:cTn id="7" dur="500"/>
                                        <p:tgtEl>
                                          <p:spTgt spid="27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7657"/>
                                        </p:tgtEl>
                                        <p:attrNameLst>
                                          <p:attrName>style.visibility</p:attrName>
                                        </p:attrNameLst>
                                      </p:cBhvr>
                                      <p:to>
                                        <p:strVal val="visible"/>
                                      </p:to>
                                    </p:set>
                                    <p:animEffect transition="in" filter="checkerboard(across)">
                                      <p:cBhvr>
                                        <p:cTn id="12" dur="500"/>
                                        <p:tgtEl>
                                          <p:spTgt spid="27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0F89044-D5FF-2810-4940-1C098076889F}"/>
              </a:ext>
            </a:extLst>
          </p:cNvPr>
          <p:cNvSpPr>
            <a:spLocks noChangeArrowheads="1"/>
          </p:cNvSpPr>
          <p:nvPr/>
        </p:nvSpPr>
        <p:spPr bwMode="auto">
          <a:xfrm>
            <a:off x="1543050" y="514350"/>
            <a:ext cx="154305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None/>
            </a:pPr>
            <a:r>
              <a:rPr lang="zh-CN" altLang="zh-CN" sz="1800" b="1">
                <a:solidFill>
                  <a:srgbClr val="FF0000"/>
                </a:solidFill>
                <a:latin typeface="微软雅黑" panose="020B0503020204020204" pitchFamily="34" charset="-122"/>
                <a:ea typeface="微软雅黑" panose="020B0503020204020204" pitchFamily="34" charset="-122"/>
              </a:rPr>
              <a:t>4）均匀分布</a:t>
            </a:r>
            <a:endParaRPr lang="zh-CN" altLang="zh-CN" sz="2400" b="1">
              <a:solidFill>
                <a:srgbClr val="FF0000"/>
              </a:solidFill>
              <a:latin typeface="微软雅黑" panose="020B0503020204020204" pitchFamily="34" charset="-122"/>
              <a:ea typeface="微软雅黑" panose="020B0503020204020204" pitchFamily="34" charset="-122"/>
            </a:endParaRPr>
          </a:p>
        </p:txBody>
      </p:sp>
      <p:graphicFrame>
        <p:nvGraphicFramePr>
          <p:cNvPr id="28675" name="Object 3">
            <a:extLst>
              <a:ext uri="{FF2B5EF4-FFF2-40B4-BE49-F238E27FC236}">
                <a16:creationId xmlns:a16="http://schemas.microsoft.com/office/drawing/2014/main" id="{8EBBD4F2-25F9-7EE4-D900-0BDD3D1FE362}"/>
              </a:ext>
            </a:extLst>
          </p:cNvPr>
          <p:cNvGraphicFramePr>
            <a:graphicFrameLocks noChangeAspect="1"/>
          </p:cNvGraphicFramePr>
          <p:nvPr/>
        </p:nvGraphicFramePr>
        <p:xfrm>
          <a:off x="2228850" y="857251"/>
          <a:ext cx="2171700" cy="821531"/>
        </p:xfrm>
        <a:graphic>
          <a:graphicData uri="http://schemas.openxmlformats.org/presentationml/2006/ole">
            <mc:AlternateContent xmlns:mc="http://schemas.openxmlformats.org/markup-compatibility/2006">
              <mc:Choice xmlns:v="urn:schemas-microsoft-com:vml" Requires="v">
                <p:oleObj r:id="rId4" imgW="1613600" imgH="609865" progId="Equation.3">
                  <p:embed/>
                </p:oleObj>
              </mc:Choice>
              <mc:Fallback>
                <p:oleObj r:id="rId4" imgW="1613600" imgH="609865" progId="Equation.3">
                  <p:embed/>
                  <p:pic>
                    <p:nvPicPr>
                      <p:cNvPr id="28675" name="Object 3">
                        <a:extLst>
                          <a:ext uri="{FF2B5EF4-FFF2-40B4-BE49-F238E27FC236}">
                            <a16:creationId xmlns:a16="http://schemas.microsoft.com/office/drawing/2014/main" id="{8EBBD4F2-25F9-7EE4-D900-0BDD3D1FE3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850" y="857251"/>
                        <a:ext cx="2171700" cy="821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6" name="Line 4">
            <a:extLst>
              <a:ext uri="{FF2B5EF4-FFF2-40B4-BE49-F238E27FC236}">
                <a16:creationId xmlns:a16="http://schemas.microsoft.com/office/drawing/2014/main" id="{347A8BA1-2F4B-6FDA-20FC-756C1170A612}"/>
              </a:ext>
            </a:extLst>
          </p:cNvPr>
          <p:cNvSpPr>
            <a:spLocks noChangeShapeType="1"/>
          </p:cNvSpPr>
          <p:nvPr/>
        </p:nvSpPr>
        <p:spPr bwMode="auto">
          <a:xfrm>
            <a:off x="5725716" y="1228725"/>
            <a:ext cx="70127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aphicFrame>
        <p:nvGraphicFramePr>
          <p:cNvPr id="28677" name="Object 5">
            <a:extLst>
              <a:ext uri="{FF2B5EF4-FFF2-40B4-BE49-F238E27FC236}">
                <a16:creationId xmlns:a16="http://schemas.microsoft.com/office/drawing/2014/main" id="{17484978-B186-299B-70AE-960A1811614E}"/>
              </a:ext>
            </a:extLst>
          </p:cNvPr>
          <p:cNvGraphicFramePr>
            <a:graphicFrameLocks noChangeAspect="1"/>
          </p:cNvGraphicFramePr>
          <p:nvPr/>
        </p:nvGraphicFramePr>
        <p:xfrm>
          <a:off x="3143250" y="514350"/>
          <a:ext cx="1085850" cy="292894"/>
        </p:xfrm>
        <a:graphic>
          <a:graphicData uri="http://schemas.openxmlformats.org/presentationml/2006/ole">
            <mc:AlternateContent xmlns:mc="http://schemas.openxmlformats.org/markup-compatibility/2006">
              <mc:Choice xmlns:v="urn:schemas-microsoft-com:vml" Requires="v">
                <p:oleObj r:id="rId6" imgW="750277" imgH="203465" progId="Equation.3">
                  <p:embed/>
                </p:oleObj>
              </mc:Choice>
              <mc:Fallback>
                <p:oleObj r:id="rId6" imgW="750277" imgH="203465" progId="Equation.3">
                  <p:embed/>
                  <p:pic>
                    <p:nvPicPr>
                      <p:cNvPr id="28677" name="Object 5">
                        <a:extLst>
                          <a:ext uri="{FF2B5EF4-FFF2-40B4-BE49-F238E27FC236}">
                            <a16:creationId xmlns:a16="http://schemas.microsoft.com/office/drawing/2014/main" id="{17484978-B186-299B-70AE-960A181161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50" y="514350"/>
                        <a:ext cx="1085850" cy="292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678" name="Group 6">
            <a:extLst>
              <a:ext uri="{FF2B5EF4-FFF2-40B4-BE49-F238E27FC236}">
                <a16:creationId xmlns:a16="http://schemas.microsoft.com/office/drawing/2014/main" id="{75BD02C2-ABF7-6421-9B00-ED1EFE60071C}"/>
              </a:ext>
            </a:extLst>
          </p:cNvPr>
          <p:cNvGrpSpPr>
            <a:grpSpLocks/>
          </p:cNvGrpSpPr>
          <p:nvPr/>
        </p:nvGrpSpPr>
        <p:grpSpPr bwMode="auto">
          <a:xfrm>
            <a:off x="5057775" y="1600200"/>
            <a:ext cx="2314575" cy="239316"/>
            <a:chOff x="0" y="0"/>
            <a:chExt cx="1944" cy="201"/>
          </a:xfrm>
        </p:grpSpPr>
        <p:sp>
          <p:nvSpPr>
            <p:cNvPr id="47140" name="Line 7">
              <a:extLst>
                <a:ext uri="{FF2B5EF4-FFF2-40B4-BE49-F238E27FC236}">
                  <a16:creationId xmlns:a16="http://schemas.microsoft.com/office/drawing/2014/main" id="{92AEEA91-9373-6C7A-8754-66A887E87964}"/>
                </a:ext>
              </a:extLst>
            </p:cNvPr>
            <p:cNvSpPr>
              <a:spLocks noChangeShapeType="1"/>
            </p:cNvSpPr>
            <p:nvPr/>
          </p:nvSpPr>
          <p:spPr bwMode="auto">
            <a:xfrm>
              <a:off x="0" y="0"/>
              <a:ext cx="1944"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1350"/>
            </a:p>
          </p:txBody>
        </p:sp>
        <p:sp>
          <p:nvSpPr>
            <p:cNvPr id="47141" name="Text Box 8">
              <a:extLst>
                <a:ext uri="{FF2B5EF4-FFF2-40B4-BE49-F238E27FC236}">
                  <a16:creationId xmlns:a16="http://schemas.microsoft.com/office/drawing/2014/main" id="{0D0A7556-ED4A-FB26-47FC-3FC1734AEC7D}"/>
                </a:ext>
              </a:extLst>
            </p:cNvPr>
            <p:cNvSpPr txBox="1">
              <a:spLocks noChangeArrowheads="1"/>
            </p:cNvSpPr>
            <p:nvPr/>
          </p:nvSpPr>
          <p:spPr bwMode="auto">
            <a:xfrm>
              <a:off x="1800" y="0"/>
              <a:ext cx="144"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500" b="1" i="1">
                  <a:latin typeface="Times New Roman" panose="02020603050405020304" pitchFamily="18" charset="0"/>
                </a:rPr>
                <a:t>x</a:t>
              </a:r>
              <a:endParaRPr lang="zh-CN" altLang="zh-CN" sz="1500" b="1">
                <a:latin typeface="Times New Roman" panose="02020603050405020304" pitchFamily="18" charset="0"/>
              </a:endParaRPr>
            </a:p>
          </p:txBody>
        </p:sp>
      </p:grpSp>
      <p:grpSp>
        <p:nvGrpSpPr>
          <p:cNvPr id="28681" name="Group 9">
            <a:extLst>
              <a:ext uri="{FF2B5EF4-FFF2-40B4-BE49-F238E27FC236}">
                <a16:creationId xmlns:a16="http://schemas.microsoft.com/office/drawing/2014/main" id="{F68CFBD3-BF2F-F66E-7BFC-3C9019290D5E}"/>
              </a:ext>
            </a:extLst>
          </p:cNvPr>
          <p:cNvGrpSpPr>
            <a:grpSpLocks/>
          </p:cNvGrpSpPr>
          <p:nvPr/>
        </p:nvGrpSpPr>
        <p:grpSpPr bwMode="auto">
          <a:xfrm>
            <a:off x="5715000" y="1228725"/>
            <a:ext cx="171450" cy="602457"/>
            <a:chOff x="0" y="0"/>
            <a:chExt cx="144" cy="506"/>
          </a:xfrm>
        </p:grpSpPr>
        <p:sp>
          <p:nvSpPr>
            <p:cNvPr id="47138" name="Line 10">
              <a:extLst>
                <a:ext uri="{FF2B5EF4-FFF2-40B4-BE49-F238E27FC236}">
                  <a16:creationId xmlns:a16="http://schemas.microsoft.com/office/drawing/2014/main" id="{FA63622E-AD38-3079-1805-605344C772CD}"/>
                </a:ext>
              </a:extLst>
            </p:cNvPr>
            <p:cNvSpPr>
              <a:spLocks noChangeShapeType="1"/>
            </p:cNvSpPr>
            <p:nvPr/>
          </p:nvSpPr>
          <p:spPr bwMode="auto">
            <a:xfrm>
              <a:off x="0" y="0"/>
              <a:ext cx="0" cy="312"/>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7139" name="Text Box 11">
              <a:extLst>
                <a:ext uri="{FF2B5EF4-FFF2-40B4-BE49-F238E27FC236}">
                  <a16:creationId xmlns:a16="http://schemas.microsoft.com/office/drawing/2014/main" id="{72288D19-861C-383C-165E-937292B25CF6}"/>
                </a:ext>
              </a:extLst>
            </p:cNvPr>
            <p:cNvSpPr txBox="1">
              <a:spLocks noChangeArrowheads="1"/>
            </p:cNvSpPr>
            <p:nvPr/>
          </p:nvSpPr>
          <p:spPr bwMode="auto">
            <a:xfrm>
              <a:off x="0" y="305"/>
              <a:ext cx="144"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500" b="1" i="1">
                  <a:latin typeface="Times New Roman" panose="02020603050405020304" pitchFamily="18" charset="0"/>
                </a:rPr>
                <a:t>a</a:t>
              </a:r>
              <a:endParaRPr lang="zh-CN" altLang="zh-CN" sz="1500" b="1">
                <a:latin typeface="Times New Roman" panose="02020603050405020304" pitchFamily="18" charset="0"/>
              </a:endParaRPr>
            </a:p>
          </p:txBody>
        </p:sp>
      </p:grpSp>
      <p:grpSp>
        <p:nvGrpSpPr>
          <p:cNvPr id="28684" name="Group 12">
            <a:extLst>
              <a:ext uri="{FF2B5EF4-FFF2-40B4-BE49-F238E27FC236}">
                <a16:creationId xmlns:a16="http://schemas.microsoft.com/office/drawing/2014/main" id="{8073FBB2-F45B-95F7-61EB-15BA621BE15E}"/>
              </a:ext>
            </a:extLst>
          </p:cNvPr>
          <p:cNvGrpSpPr>
            <a:grpSpLocks/>
          </p:cNvGrpSpPr>
          <p:nvPr/>
        </p:nvGrpSpPr>
        <p:grpSpPr bwMode="auto">
          <a:xfrm>
            <a:off x="6400800" y="1228725"/>
            <a:ext cx="171450" cy="610791"/>
            <a:chOff x="0" y="0"/>
            <a:chExt cx="144" cy="513"/>
          </a:xfrm>
        </p:grpSpPr>
        <p:sp>
          <p:nvSpPr>
            <p:cNvPr id="47136" name="Line 13">
              <a:extLst>
                <a:ext uri="{FF2B5EF4-FFF2-40B4-BE49-F238E27FC236}">
                  <a16:creationId xmlns:a16="http://schemas.microsoft.com/office/drawing/2014/main" id="{93B424D1-7325-FF7B-69FB-C2ED67D899C4}"/>
                </a:ext>
              </a:extLst>
            </p:cNvPr>
            <p:cNvSpPr>
              <a:spLocks noChangeShapeType="1"/>
            </p:cNvSpPr>
            <p:nvPr/>
          </p:nvSpPr>
          <p:spPr bwMode="auto">
            <a:xfrm>
              <a:off x="24" y="0"/>
              <a:ext cx="0" cy="312"/>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7137" name="Text Box 14">
              <a:extLst>
                <a:ext uri="{FF2B5EF4-FFF2-40B4-BE49-F238E27FC236}">
                  <a16:creationId xmlns:a16="http://schemas.microsoft.com/office/drawing/2014/main" id="{689AACAB-9712-94CC-B85C-BCA4C8A7E75A}"/>
                </a:ext>
              </a:extLst>
            </p:cNvPr>
            <p:cNvSpPr txBox="1">
              <a:spLocks noChangeArrowheads="1"/>
            </p:cNvSpPr>
            <p:nvPr/>
          </p:nvSpPr>
          <p:spPr bwMode="auto">
            <a:xfrm>
              <a:off x="0" y="312"/>
              <a:ext cx="144"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500" b="1" i="1">
                  <a:latin typeface="Times New Roman" panose="02020603050405020304" pitchFamily="18" charset="0"/>
                </a:rPr>
                <a:t>b</a:t>
              </a:r>
              <a:endParaRPr lang="zh-CN" altLang="zh-CN" sz="1500" b="1">
                <a:latin typeface="Times New Roman" panose="02020603050405020304" pitchFamily="18" charset="0"/>
              </a:endParaRPr>
            </a:p>
          </p:txBody>
        </p:sp>
      </p:grpSp>
      <p:grpSp>
        <p:nvGrpSpPr>
          <p:cNvPr id="28687" name="Group 15">
            <a:extLst>
              <a:ext uri="{FF2B5EF4-FFF2-40B4-BE49-F238E27FC236}">
                <a16:creationId xmlns:a16="http://schemas.microsoft.com/office/drawing/2014/main" id="{8DC875DC-146F-2F59-28D5-E6003A466E31}"/>
              </a:ext>
            </a:extLst>
          </p:cNvPr>
          <p:cNvGrpSpPr>
            <a:grpSpLocks/>
          </p:cNvGrpSpPr>
          <p:nvPr/>
        </p:nvGrpSpPr>
        <p:grpSpPr bwMode="auto">
          <a:xfrm>
            <a:off x="5314950" y="628650"/>
            <a:ext cx="514350" cy="979885"/>
            <a:chOff x="0" y="0"/>
            <a:chExt cx="432" cy="823"/>
          </a:xfrm>
        </p:grpSpPr>
        <p:sp>
          <p:nvSpPr>
            <p:cNvPr id="47134" name="Line 16">
              <a:extLst>
                <a:ext uri="{FF2B5EF4-FFF2-40B4-BE49-F238E27FC236}">
                  <a16:creationId xmlns:a16="http://schemas.microsoft.com/office/drawing/2014/main" id="{2908ED36-9671-466F-6235-A09506158176}"/>
                </a:ext>
              </a:extLst>
            </p:cNvPr>
            <p:cNvSpPr>
              <a:spLocks noChangeShapeType="1"/>
            </p:cNvSpPr>
            <p:nvPr/>
          </p:nvSpPr>
          <p:spPr bwMode="auto">
            <a:xfrm flipV="1">
              <a:off x="0" y="12"/>
              <a:ext cx="1" cy="811"/>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1350"/>
            </a:p>
          </p:txBody>
        </p:sp>
        <p:sp>
          <p:nvSpPr>
            <p:cNvPr id="47135" name="Text Box 17">
              <a:extLst>
                <a:ext uri="{FF2B5EF4-FFF2-40B4-BE49-F238E27FC236}">
                  <a16:creationId xmlns:a16="http://schemas.microsoft.com/office/drawing/2014/main" id="{3C26B68D-8BE7-96AB-9F92-CD7E8E6CBD44}"/>
                </a:ext>
              </a:extLst>
            </p:cNvPr>
            <p:cNvSpPr txBox="1">
              <a:spLocks noChangeArrowheads="1"/>
            </p:cNvSpPr>
            <p:nvPr/>
          </p:nvSpPr>
          <p:spPr bwMode="auto">
            <a:xfrm>
              <a:off x="96" y="0"/>
              <a:ext cx="336"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500" b="1" i="1">
                  <a:latin typeface="Times New Roman" panose="02020603050405020304" pitchFamily="18" charset="0"/>
                </a:rPr>
                <a:t>f </a:t>
              </a:r>
              <a:r>
                <a:rPr lang="zh-CN" altLang="zh-CN" sz="1500" b="1">
                  <a:latin typeface="Times New Roman" panose="02020603050405020304" pitchFamily="18" charset="0"/>
                </a:rPr>
                <a:t>(</a:t>
              </a:r>
              <a:r>
                <a:rPr lang="zh-CN" altLang="zh-CN" sz="1500" b="1" i="1">
                  <a:latin typeface="Times New Roman" panose="02020603050405020304" pitchFamily="18" charset="0"/>
                </a:rPr>
                <a:t>x</a:t>
              </a:r>
              <a:r>
                <a:rPr lang="zh-CN" altLang="zh-CN" sz="1500" b="1">
                  <a:latin typeface="Times New Roman" panose="02020603050405020304" pitchFamily="18" charset="0"/>
                </a:rPr>
                <a:t>)</a:t>
              </a:r>
            </a:p>
          </p:txBody>
        </p:sp>
      </p:grpSp>
      <p:sp>
        <p:nvSpPr>
          <p:cNvPr id="28690" name="Line 18">
            <a:extLst>
              <a:ext uri="{FF2B5EF4-FFF2-40B4-BE49-F238E27FC236}">
                <a16:creationId xmlns:a16="http://schemas.microsoft.com/office/drawing/2014/main" id="{295949A4-F7EF-2B24-7925-92AF42B8D564}"/>
              </a:ext>
            </a:extLst>
          </p:cNvPr>
          <p:cNvSpPr>
            <a:spLocks noChangeShapeType="1"/>
          </p:cNvSpPr>
          <p:nvPr/>
        </p:nvSpPr>
        <p:spPr bwMode="auto">
          <a:xfrm>
            <a:off x="5020866" y="1600200"/>
            <a:ext cx="6858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28691" name="Line 19">
            <a:extLst>
              <a:ext uri="{FF2B5EF4-FFF2-40B4-BE49-F238E27FC236}">
                <a16:creationId xmlns:a16="http://schemas.microsoft.com/office/drawing/2014/main" id="{73B9D1B3-04E4-355C-1D9E-5A175391C5C1}"/>
              </a:ext>
            </a:extLst>
          </p:cNvPr>
          <p:cNvSpPr>
            <a:spLocks noChangeShapeType="1"/>
          </p:cNvSpPr>
          <p:nvPr/>
        </p:nvSpPr>
        <p:spPr bwMode="auto">
          <a:xfrm>
            <a:off x="6429375" y="1600200"/>
            <a:ext cx="8572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28692" name="Text Box 20" descr="羊皮纸">
            <a:extLst>
              <a:ext uri="{FF2B5EF4-FFF2-40B4-BE49-F238E27FC236}">
                <a16:creationId xmlns:a16="http://schemas.microsoft.com/office/drawing/2014/main" id="{B29332FA-FE17-D9E3-9B97-FB3EAF655CA7}"/>
              </a:ext>
            </a:extLst>
          </p:cNvPr>
          <p:cNvSpPr txBox="1">
            <a:spLocks noChangeArrowheads="1"/>
          </p:cNvSpPr>
          <p:nvPr/>
        </p:nvSpPr>
        <p:spPr bwMode="auto">
          <a:xfrm>
            <a:off x="5595938" y="1633538"/>
            <a:ext cx="1146468" cy="276999"/>
          </a:xfrm>
          <a:prstGeom prst="rect">
            <a:avLst/>
          </a:prstGeom>
          <a:blipFill dpi="0" rotWithShape="1">
            <a:blip r:embed="rId8"/>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1200" b="1">
                <a:latin typeface="Times New Roman" panose="02020603050405020304" pitchFamily="18" charset="0"/>
              </a:rPr>
              <a:t>29.2   29.4 29.5</a:t>
            </a:r>
            <a:endParaRPr lang="zh-CN" altLang="zh-CN" sz="1800" b="1">
              <a:latin typeface="Times New Roman" panose="02020603050405020304" pitchFamily="18" charset="0"/>
            </a:endParaRPr>
          </a:p>
        </p:txBody>
      </p:sp>
      <p:sp>
        <p:nvSpPr>
          <p:cNvPr id="28693" name="Rectangle 21">
            <a:extLst>
              <a:ext uri="{FF2B5EF4-FFF2-40B4-BE49-F238E27FC236}">
                <a16:creationId xmlns:a16="http://schemas.microsoft.com/office/drawing/2014/main" id="{08E284C6-805F-91A8-DF1C-B0D2A0E2A4DE}"/>
              </a:ext>
            </a:extLst>
          </p:cNvPr>
          <p:cNvSpPr>
            <a:spLocks noChangeArrowheads="1"/>
          </p:cNvSpPr>
          <p:nvPr/>
        </p:nvSpPr>
        <p:spPr bwMode="auto">
          <a:xfrm>
            <a:off x="6200775" y="1226344"/>
            <a:ext cx="228600" cy="375047"/>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700">
              <a:latin typeface="Times New Roman" panose="02020603050405020304" pitchFamily="18" charset="0"/>
            </a:endParaRPr>
          </a:p>
        </p:txBody>
      </p:sp>
      <p:sp>
        <p:nvSpPr>
          <p:cNvPr id="28694" name="Rectangle 22">
            <a:extLst>
              <a:ext uri="{FF2B5EF4-FFF2-40B4-BE49-F238E27FC236}">
                <a16:creationId xmlns:a16="http://schemas.microsoft.com/office/drawing/2014/main" id="{B26B3CD6-5BC7-6E9E-2A96-9F92D7204560}"/>
              </a:ext>
            </a:extLst>
          </p:cNvPr>
          <p:cNvSpPr>
            <a:spLocks noChangeArrowheads="1"/>
          </p:cNvSpPr>
          <p:nvPr/>
        </p:nvSpPr>
        <p:spPr bwMode="auto">
          <a:xfrm>
            <a:off x="1485900" y="2149079"/>
            <a:ext cx="1633538"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zh-CN" sz="1800" b="1">
                <a:solidFill>
                  <a:srgbClr val="FF0000"/>
                </a:solidFill>
                <a:latin typeface="微软雅黑" panose="020B0503020204020204" pitchFamily="34" charset="-122"/>
                <a:ea typeface="微软雅黑" panose="020B0503020204020204" pitchFamily="34" charset="-122"/>
              </a:rPr>
              <a:t>5）指数分布</a:t>
            </a:r>
            <a:endParaRPr lang="zh-CN" altLang="zh-CN" sz="3300" b="1">
              <a:solidFill>
                <a:srgbClr val="FF0000"/>
              </a:solidFill>
              <a:latin typeface="微软雅黑" panose="020B0503020204020204" pitchFamily="34" charset="-122"/>
              <a:ea typeface="微软雅黑" panose="020B0503020204020204" pitchFamily="34" charset="-122"/>
            </a:endParaRPr>
          </a:p>
        </p:txBody>
      </p:sp>
      <p:graphicFrame>
        <p:nvGraphicFramePr>
          <p:cNvPr id="28695" name="Object 23">
            <a:extLst>
              <a:ext uri="{FF2B5EF4-FFF2-40B4-BE49-F238E27FC236}">
                <a16:creationId xmlns:a16="http://schemas.microsoft.com/office/drawing/2014/main" id="{943DD586-4845-1D0E-BA7C-0B756EA68D1B}"/>
              </a:ext>
            </a:extLst>
          </p:cNvPr>
          <p:cNvGraphicFramePr>
            <a:graphicFrameLocks noChangeAspect="1"/>
          </p:cNvGraphicFramePr>
          <p:nvPr/>
        </p:nvGraphicFramePr>
        <p:xfrm>
          <a:off x="3200400" y="2274094"/>
          <a:ext cx="1101329" cy="286941"/>
        </p:xfrm>
        <a:graphic>
          <a:graphicData uri="http://schemas.openxmlformats.org/presentationml/2006/ole">
            <mc:AlternateContent xmlns:mc="http://schemas.openxmlformats.org/markup-compatibility/2006">
              <mc:Choice xmlns:v="urn:schemas-microsoft-com:vml" Requires="v">
                <p:oleObj r:id="rId9" imgW="1016441" imgH="266816" progId="Equation.DSMT4">
                  <p:embed/>
                </p:oleObj>
              </mc:Choice>
              <mc:Fallback>
                <p:oleObj r:id="rId9" imgW="1016441" imgH="266816" progId="Equation.DSMT4">
                  <p:embed/>
                  <p:pic>
                    <p:nvPicPr>
                      <p:cNvPr id="28695" name="Object 23">
                        <a:extLst>
                          <a:ext uri="{FF2B5EF4-FFF2-40B4-BE49-F238E27FC236}">
                            <a16:creationId xmlns:a16="http://schemas.microsoft.com/office/drawing/2014/main" id="{943DD586-4845-1D0E-BA7C-0B756EA68D1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0400" y="2274094"/>
                        <a:ext cx="1101329" cy="2869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96" name="Text Box 24">
            <a:extLst>
              <a:ext uri="{FF2B5EF4-FFF2-40B4-BE49-F238E27FC236}">
                <a16:creationId xmlns:a16="http://schemas.microsoft.com/office/drawing/2014/main" id="{C04E1669-9CC0-8C33-A41A-0CA84393E837}"/>
              </a:ext>
            </a:extLst>
          </p:cNvPr>
          <p:cNvSpPr txBox="1">
            <a:spLocks noChangeArrowheads="1"/>
          </p:cNvSpPr>
          <p:nvPr/>
        </p:nvSpPr>
        <p:spPr bwMode="auto">
          <a:xfrm>
            <a:off x="4301729" y="2228850"/>
            <a:ext cx="7012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1800" b="1">
                <a:solidFill>
                  <a:srgbClr val="000000"/>
                </a:solidFill>
                <a:latin typeface="Times New Roman" panose="02020603050405020304" pitchFamily="18" charset="0"/>
              </a:rPr>
              <a:t>其中</a:t>
            </a:r>
          </a:p>
        </p:txBody>
      </p:sp>
      <p:graphicFrame>
        <p:nvGraphicFramePr>
          <p:cNvPr id="28697" name="Object 25">
            <a:extLst>
              <a:ext uri="{FF2B5EF4-FFF2-40B4-BE49-F238E27FC236}">
                <a16:creationId xmlns:a16="http://schemas.microsoft.com/office/drawing/2014/main" id="{F9CB69F8-896D-B852-0475-2FB543B3EE27}"/>
              </a:ext>
            </a:extLst>
          </p:cNvPr>
          <p:cNvGraphicFramePr>
            <a:graphicFrameLocks noChangeAspect="1"/>
          </p:cNvGraphicFramePr>
          <p:nvPr/>
        </p:nvGraphicFramePr>
        <p:xfrm>
          <a:off x="4787504" y="2266950"/>
          <a:ext cx="225028" cy="285750"/>
        </p:xfrm>
        <a:graphic>
          <a:graphicData uri="http://schemas.openxmlformats.org/presentationml/2006/ole">
            <mc:AlternateContent xmlns:mc="http://schemas.openxmlformats.org/markup-compatibility/2006">
              <mc:Choice xmlns:v="urn:schemas-microsoft-com:vml" Requires="v">
                <p:oleObj r:id="rId11" imgW="140493" imgH="178809" progId="Equation.3">
                  <p:embed/>
                </p:oleObj>
              </mc:Choice>
              <mc:Fallback>
                <p:oleObj r:id="rId11" imgW="140493" imgH="178809" progId="Equation.3">
                  <p:embed/>
                  <p:pic>
                    <p:nvPicPr>
                      <p:cNvPr id="28697" name="Object 25">
                        <a:extLst>
                          <a:ext uri="{FF2B5EF4-FFF2-40B4-BE49-F238E27FC236}">
                            <a16:creationId xmlns:a16="http://schemas.microsoft.com/office/drawing/2014/main" id="{F9CB69F8-896D-B852-0475-2FB543B3EE2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7504" y="2266950"/>
                        <a:ext cx="22502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98" name="Text Box 26">
            <a:extLst>
              <a:ext uri="{FF2B5EF4-FFF2-40B4-BE49-F238E27FC236}">
                <a16:creationId xmlns:a16="http://schemas.microsoft.com/office/drawing/2014/main" id="{85D25EE0-262D-0144-1273-75A98F6BD542}"/>
              </a:ext>
            </a:extLst>
          </p:cNvPr>
          <p:cNvSpPr txBox="1">
            <a:spLocks noChangeArrowheads="1"/>
          </p:cNvSpPr>
          <p:nvPr/>
        </p:nvSpPr>
        <p:spPr bwMode="auto">
          <a:xfrm>
            <a:off x="4920853" y="2230041"/>
            <a:ext cx="12037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1800" b="1">
                <a:solidFill>
                  <a:srgbClr val="000000"/>
                </a:solidFill>
                <a:latin typeface="Times New Roman" panose="02020603050405020304" pitchFamily="18" charset="0"/>
              </a:rPr>
              <a:t>&gt;0为常数.</a:t>
            </a:r>
          </a:p>
        </p:txBody>
      </p:sp>
      <p:graphicFrame>
        <p:nvGraphicFramePr>
          <p:cNvPr id="28699" name="Object 27">
            <a:extLst>
              <a:ext uri="{FF2B5EF4-FFF2-40B4-BE49-F238E27FC236}">
                <a16:creationId xmlns:a16="http://schemas.microsoft.com/office/drawing/2014/main" id="{A94ACE34-4899-3615-21C1-1678617D25A9}"/>
              </a:ext>
            </a:extLst>
          </p:cNvPr>
          <p:cNvGraphicFramePr>
            <a:graphicFrameLocks noChangeAspect="1"/>
          </p:cNvGraphicFramePr>
          <p:nvPr/>
        </p:nvGraphicFramePr>
        <p:xfrm>
          <a:off x="1885950" y="3200400"/>
          <a:ext cx="2057400" cy="721519"/>
        </p:xfrm>
        <a:graphic>
          <a:graphicData uri="http://schemas.openxmlformats.org/presentationml/2006/ole">
            <mc:AlternateContent xmlns:mc="http://schemas.openxmlformats.org/markup-compatibility/2006">
              <mc:Choice xmlns:v="urn:schemas-microsoft-com:vml" Requires="v">
                <p:oleObj r:id="rId13" imgW="1373388" imgH="483229" progId="Equation.3">
                  <p:embed/>
                </p:oleObj>
              </mc:Choice>
              <mc:Fallback>
                <p:oleObj r:id="rId13" imgW="1373388" imgH="483229" progId="Equation.3">
                  <p:embed/>
                  <p:pic>
                    <p:nvPicPr>
                      <p:cNvPr id="28699" name="Object 27">
                        <a:extLst>
                          <a:ext uri="{FF2B5EF4-FFF2-40B4-BE49-F238E27FC236}">
                            <a16:creationId xmlns:a16="http://schemas.microsoft.com/office/drawing/2014/main" id="{A94ACE34-4899-3615-21C1-1678617D25A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85950" y="3200400"/>
                        <a:ext cx="2057400" cy="72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700" name="Group 28">
            <a:extLst>
              <a:ext uri="{FF2B5EF4-FFF2-40B4-BE49-F238E27FC236}">
                <a16:creationId xmlns:a16="http://schemas.microsoft.com/office/drawing/2014/main" id="{558A642E-087A-3F4F-B50C-FEF773768BBC}"/>
              </a:ext>
            </a:extLst>
          </p:cNvPr>
          <p:cNvGrpSpPr>
            <a:grpSpLocks/>
          </p:cNvGrpSpPr>
          <p:nvPr/>
        </p:nvGrpSpPr>
        <p:grpSpPr bwMode="auto">
          <a:xfrm>
            <a:off x="4857750" y="4286250"/>
            <a:ext cx="2343150" cy="289322"/>
            <a:chOff x="0" y="0"/>
            <a:chExt cx="1968" cy="243"/>
          </a:xfrm>
        </p:grpSpPr>
        <p:sp>
          <p:nvSpPr>
            <p:cNvPr id="47131" name="Line 29">
              <a:extLst>
                <a:ext uri="{FF2B5EF4-FFF2-40B4-BE49-F238E27FC236}">
                  <a16:creationId xmlns:a16="http://schemas.microsoft.com/office/drawing/2014/main" id="{13B032D3-0D31-AAB5-10DD-D463BA4E69B2}"/>
                </a:ext>
              </a:extLst>
            </p:cNvPr>
            <p:cNvSpPr>
              <a:spLocks noChangeShapeType="1"/>
            </p:cNvSpPr>
            <p:nvPr/>
          </p:nvSpPr>
          <p:spPr bwMode="auto">
            <a:xfrm>
              <a:off x="0" y="0"/>
              <a:ext cx="19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47132" name="Text Box 30">
              <a:extLst>
                <a:ext uri="{FF2B5EF4-FFF2-40B4-BE49-F238E27FC236}">
                  <a16:creationId xmlns:a16="http://schemas.microsoft.com/office/drawing/2014/main" id="{09EE3C40-F7BE-10C5-10DA-81B3D16203B2}"/>
                </a:ext>
              </a:extLst>
            </p:cNvPr>
            <p:cNvSpPr txBox="1">
              <a:spLocks noChangeArrowheads="1"/>
            </p:cNvSpPr>
            <p:nvPr/>
          </p:nvSpPr>
          <p:spPr bwMode="auto">
            <a:xfrm>
              <a:off x="1776" y="3"/>
              <a:ext cx="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800" b="1" i="1">
                  <a:latin typeface="Times New Roman" panose="02020603050405020304" pitchFamily="18" charset="0"/>
                </a:rPr>
                <a:t>x</a:t>
              </a:r>
              <a:endParaRPr lang="zh-CN" altLang="zh-CN" sz="1500" b="1">
                <a:latin typeface="Times New Roman" panose="02020603050405020304" pitchFamily="18" charset="0"/>
              </a:endParaRPr>
            </a:p>
          </p:txBody>
        </p:sp>
        <p:sp>
          <p:nvSpPr>
            <p:cNvPr id="47133" name="Text Box 31">
              <a:extLst>
                <a:ext uri="{FF2B5EF4-FFF2-40B4-BE49-F238E27FC236}">
                  <a16:creationId xmlns:a16="http://schemas.microsoft.com/office/drawing/2014/main" id="{D4B7CFC4-D54D-1C89-B058-0DF93738B7AE}"/>
                </a:ext>
              </a:extLst>
            </p:cNvPr>
            <p:cNvSpPr txBox="1">
              <a:spLocks noChangeArrowheads="1"/>
            </p:cNvSpPr>
            <p:nvPr/>
          </p:nvSpPr>
          <p:spPr bwMode="auto">
            <a:xfrm>
              <a:off x="432" y="0"/>
              <a:ext cx="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800" b="1">
                  <a:latin typeface="Times New Roman" panose="02020603050405020304" pitchFamily="18" charset="0"/>
                </a:rPr>
                <a:t>0</a:t>
              </a:r>
              <a:endParaRPr lang="zh-CN" altLang="zh-CN" sz="1500" b="1">
                <a:latin typeface="Times New Roman" panose="02020603050405020304" pitchFamily="18" charset="0"/>
              </a:endParaRPr>
            </a:p>
          </p:txBody>
        </p:sp>
      </p:grpSp>
      <p:sp>
        <p:nvSpPr>
          <p:cNvPr id="28704" name="Text Box 32">
            <a:extLst>
              <a:ext uri="{FF2B5EF4-FFF2-40B4-BE49-F238E27FC236}">
                <a16:creationId xmlns:a16="http://schemas.microsoft.com/office/drawing/2014/main" id="{3355C410-F822-185D-9665-BB1B016F0054}"/>
              </a:ext>
            </a:extLst>
          </p:cNvPr>
          <p:cNvSpPr txBox="1">
            <a:spLocks noChangeArrowheads="1"/>
          </p:cNvSpPr>
          <p:nvPr/>
        </p:nvSpPr>
        <p:spPr bwMode="auto">
          <a:xfrm>
            <a:off x="5200650" y="3203972"/>
            <a:ext cx="228600" cy="285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800" b="1" i="1">
                <a:latin typeface="Times New Roman" panose="02020603050405020304" pitchFamily="18" charset="0"/>
                <a:sym typeface="Symbol" panose="05050102010706020507" pitchFamily="18" charset="2"/>
              </a:rPr>
              <a:t></a:t>
            </a:r>
            <a:endParaRPr lang="zh-CN" altLang="zh-CN" sz="1500" b="1">
              <a:latin typeface="Times New Roman" panose="02020603050405020304" pitchFamily="18" charset="0"/>
            </a:endParaRPr>
          </a:p>
        </p:txBody>
      </p:sp>
      <p:grpSp>
        <p:nvGrpSpPr>
          <p:cNvPr id="28705" name="Group 33">
            <a:extLst>
              <a:ext uri="{FF2B5EF4-FFF2-40B4-BE49-F238E27FC236}">
                <a16:creationId xmlns:a16="http://schemas.microsoft.com/office/drawing/2014/main" id="{1BB45E19-6BFA-2A5F-A5DA-8FF7B92D15AE}"/>
              </a:ext>
            </a:extLst>
          </p:cNvPr>
          <p:cNvGrpSpPr>
            <a:grpSpLocks/>
          </p:cNvGrpSpPr>
          <p:nvPr/>
        </p:nvGrpSpPr>
        <p:grpSpPr bwMode="auto">
          <a:xfrm>
            <a:off x="5372100" y="2857500"/>
            <a:ext cx="628650" cy="1428750"/>
            <a:chOff x="0" y="0"/>
            <a:chExt cx="528" cy="1200"/>
          </a:xfrm>
        </p:grpSpPr>
        <p:sp>
          <p:nvSpPr>
            <p:cNvPr id="47129" name="Line 34">
              <a:extLst>
                <a:ext uri="{FF2B5EF4-FFF2-40B4-BE49-F238E27FC236}">
                  <a16:creationId xmlns:a16="http://schemas.microsoft.com/office/drawing/2014/main" id="{E38EBB15-B124-CD47-DB5B-A7C033B4AF98}"/>
                </a:ext>
              </a:extLst>
            </p:cNvPr>
            <p:cNvSpPr>
              <a:spLocks noChangeShapeType="1"/>
            </p:cNvSpPr>
            <p:nvPr/>
          </p:nvSpPr>
          <p:spPr bwMode="auto">
            <a:xfrm>
              <a:off x="0" y="48"/>
              <a:ext cx="0" cy="1152"/>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47130" name="Text Box 35">
              <a:extLst>
                <a:ext uri="{FF2B5EF4-FFF2-40B4-BE49-F238E27FC236}">
                  <a16:creationId xmlns:a16="http://schemas.microsoft.com/office/drawing/2014/main" id="{010EEE12-1DB8-E34A-BC24-E160B332CF17}"/>
                </a:ext>
              </a:extLst>
            </p:cNvPr>
            <p:cNvSpPr txBox="1">
              <a:spLocks noChangeArrowheads="1"/>
            </p:cNvSpPr>
            <p:nvPr/>
          </p:nvSpPr>
          <p:spPr bwMode="auto">
            <a:xfrm>
              <a:off x="96" y="0"/>
              <a:ext cx="43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81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lang="zh-CN" altLang="zh-CN" sz="1800" b="1" i="1">
                  <a:latin typeface="Times New Roman" panose="02020603050405020304" pitchFamily="18" charset="0"/>
                </a:rPr>
                <a:t>f </a:t>
              </a:r>
              <a:r>
                <a:rPr lang="zh-CN" altLang="zh-CN" sz="1800" b="1">
                  <a:latin typeface="Times New Roman" panose="02020603050405020304" pitchFamily="18" charset="0"/>
                </a:rPr>
                <a:t>(</a:t>
              </a:r>
              <a:r>
                <a:rPr lang="zh-CN" altLang="zh-CN" sz="1800" b="1" i="1">
                  <a:latin typeface="Times New Roman" panose="02020603050405020304" pitchFamily="18" charset="0"/>
                </a:rPr>
                <a:t>x</a:t>
              </a:r>
              <a:r>
                <a:rPr lang="zh-CN" altLang="zh-CN" sz="1800" b="1">
                  <a:latin typeface="Times New Roman" panose="02020603050405020304" pitchFamily="18" charset="0"/>
                </a:rPr>
                <a:t>)</a:t>
              </a:r>
              <a:endParaRPr lang="zh-CN" altLang="zh-CN" sz="1500" b="1">
                <a:latin typeface="Times New Roman" panose="02020603050405020304" pitchFamily="18" charset="0"/>
              </a:endParaRPr>
            </a:p>
          </p:txBody>
        </p:sp>
      </p:grpSp>
      <p:sp>
        <p:nvSpPr>
          <p:cNvPr id="28708" name="Line 36">
            <a:extLst>
              <a:ext uri="{FF2B5EF4-FFF2-40B4-BE49-F238E27FC236}">
                <a16:creationId xmlns:a16="http://schemas.microsoft.com/office/drawing/2014/main" id="{4DA62656-09FD-D724-7393-48C7D1AF0794}"/>
              </a:ext>
            </a:extLst>
          </p:cNvPr>
          <p:cNvSpPr>
            <a:spLocks noChangeShapeType="1"/>
          </p:cNvSpPr>
          <p:nvPr/>
        </p:nvSpPr>
        <p:spPr bwMode="auto">
          <a:xfrm>
            <a:off x="4857750" y="4286250"/>
            <a:ext cx="51435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pic>
        <p:nvPicPr>
          <p:cNvPr id="28709" name="Picture 37">
            <a:extLst>
              <a:ext uri="{FF2B5EF4-FFF2-40B4-BE49-F238E27FC236}">
                <a16:creationId xmlns:a16="http://schemas.microsoft.com/office/drawing/2014/main" id="{35D2A5A7-4BBD-8AE0-8AAC-6E3E58F7AA5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72100" y="3344466"/>
            <a:ext cx="1657350" cy="941784"/>
          </a:xfrm>
          <a:prstGeom prst="rect">
            <a:avLst/>
          </a:prstGeom>
          <a:blipFill dpi="0" rotWithShape="1">
            <a:blip r:embed="rId8"/>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 calcmode="lin" valueType="num">
                                      <p:cBhvr additive="base">
                                        <p:cTn id="7" dur="500" fill="hold"/>
                                        <p:tgtEl>
                                          <p:spTgt spid="286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67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nodeType="clickEffect">
                                  <p:stCondLst>
                                    <p:cond delay="0"/>
                                  </p:stCondLst>
                                  <p:childTnLst>
                                    <p:set>
                                      <p:cBhvr>
                                        <p:cTn id="12" dur="1" fill="hold">
                                          <p:stCondLst>
                                            <p:cond delay="0"/>
                                          </p:stCondLst>
                                        </p:cTn>
                                        <p:tgtEl>
                                          <p:spTgt spid="28675"/>
                                        </p:tgtEl>
                                        <p:attrNameLst>
                                          <p:attrName>style.visibility</p:attrName>
                                        </p:attrNameLst>
                                      </p:cBhvr>
                                      <p:to>
                                        <p:strVal val="visible"/>
                                      </p:to>
                                    </p:set>
                                    <p:animEffect transition="in" filter="slide(fromTop)">
                                      <p:cBhvr>
                                        <p:cTn id="13" dur="500"/>
                                        <p:tgtEl>
                                          <p:spTgt spid="2867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8" fill="hold" nodeType="clickEffect">
                                  <p:stCondLst>
                                    <p:cond delay="0"/>
                                  </p:stCondLst>
                                  <p:childTnLst>
                                    <p:set>
                                      <p:cBhvr>
                                        <p:cTn id="17" dur="1" fill="hold">
                                          <p:stCondLst>
                                            <p:cond delay="0"/>
                                          </p:stCondLst>
                                        </p:cTn>
                                        <p:tgtEl>
                                          <p:spTgt spid="28678"/>
                                        </p:tgtEl>
                                        <p:attrNameLst>
                                          <p:attrName>style.visibility</p:attrName>
                                        </p:attrNameLst>
                                      </p:cBhvr>
                                      <p:to>
                                        <p:strVal val="visible"/>
                                      </p:to>
                                    </p:set>
                                    <p:animEffect transition="in" filter="slide(fromLeft)">
                                      <p:cBhvr>
                                        <p:cTn id="18" dur="500"/>
                                        <p:tgtEl>
                                          <p:spTgt spid="2867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28687"/>
                                        </p:tgtEl>
                                        <p:attrNameLst>
                                          <p:attrName>style.visibility</p:attrName>
                                        </p:attrNameLst>
                                      </p:cBhvr>
                                      <p:to>
                                        <p:strVal val="visible"/>
                                      </p:to>
                                    </p:set>
                                    <p:animEffect transition="in" filter="slide(fromBottom)">
                                      <p:cBhvr>
                                        <p:cTn id="23" dur="500"/>
                                        <p:tgtEl>
                                          <p:spTgt spid="2868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8690"/>
                                        </p:tgtEl>
                                        <p:attrNameLst>
                                          <p:attrName>style.visibility</p:attrName>
                                        </p:attrNameLst>
                                      </p:cBhvr>
                                      <p:to>
                                        <p:strVal val="visible"/>
                                      </p:to>
                                    </p:set>
                                    <p:animEffect transition="in" filter="wipe(left)">
                                      <p:cBhvr>
                                        <p:cTn id="28" dur="500"/>
                                        <p:tgtEl>
                                          <p:spTgt spid="2869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28681"/>
                                        </p:tgtEl>
                                        <p:attrNameLst>
                                          <p:attrName>style.visibility</p:attrName>
                                        </p:attrNameLst>
                                      </p:cBhvr>
                                      <p:to>
                                        <p:strVal val="visible"/>
                                      </p:to>
                                    </p:set>
                                    <p:animEffect transition="in" filter="wipe(down)">
                                      <p:cBhvr>
                                        <p:cTn id="33" dur="500"/>
                                        <p:tgtEl>
                                          <p:spTgt spid="2868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8676"/>
                                        </p:tgtEl>
                                        <p:attrNameLst>
                                          <p:attrName>style.visibility</p:attrName>
                                        </p:attrNameLst>
                                      </p:cBhvr>
                                      <p:to>
                                        <p:strVal val="visible"/>
                                      </p:to>
                                    </p:set>
                                    <p:animEffect transition="in" filter="wipe(left)">
                                      <p:cBhvr>
                                        <p:cTn id="38" dur="500"/>
                                        <p:tgtEl>
                                          <p:spTgt spid="2867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8684"/>
                                        </p:tgtEl>
                                        <p:attrNameLst>
                                          <p:attrName>style.visibility</p:attrName>
                                        </p:attrNameLst>
                                      </p:cBhvr>
                                      <p:to>
                                        <p:strVal val="visible"/>
                                      </p:to>
                                    </p:set>
                                    <p:animEffect transition="in" filter="wipe(up)">
                                      <p:cBhvr>
                                        <p:cTn id="43" dur="500"/>
                                        <p:tgtEl>
                                          <p:spTgt spid="2868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8691"/>
                                        </p:tgtEl>
                                        <p:attrNameLst>
                                          <p:attrName>style.visibility</p:attrName>
                                        </p:attrNameLst>
                                      </p:cBhvr>
                                      <p:to>
                                        <p:strVal val="visible"/>
                                      </p:to>
                                    </p:set>
                                    <p:animEffect transition="in" filter="wipe(left)">
                                      <p:cBhvr>
                                        <p:cTn id="48" dur="500"/>
                                        <p:tgtEl>
                                          <p:spTgt spid="2869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4" fill="hold" nodeType="clickEffect">
                                  <p:stCondLst>
                                    <p:cond delay="0"/>
                                  </p:stCondLst>
                                  <p:childTnLst>
                                    <p:set>
                                      <p:cBhvr>
                                        <p:cTn id="52" dur="1" fill="hold">
                                          <p:stCondLst>
                                            <p:cond delay="0"/>
                                          </p:stCondLst>
                                        </p:cTn>
                                        <p:tgtEl>
                                          <p:spTgt spid="28677"/>
                                        </p:tgtEl>
                                        <p:attrNameLst>
                                          <p:attrName>style.visibility</p:attrName>
                                        </p:attrNameLst>
                                      </p:cBhvr>
                                      <p:to>
                                        <p:strVal val="visible"/>
                                      </p:to>
                                    </p:set>
                                    <p:animEffect transition="in" filter="slide(fromBottom)">
                                      <p:cBhvr>
                                        <p:cTn id="53" dur="500"/>
                                        <p:tgtEl>
                                          <p:spTgt spid="2867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1" fill="hold" nodeType="clickEffect">
                                  <p:stCondLst>
                                    <p:cond delay="0"/>
                                  </p:stCondLst>
                                  <p:childTnLst>
                                    <p:set>
                                      <p:cBhvr>
                                        <p:cTn id="57" dur="1" fill="hold">
                                          <p:stCondLst>
                                            <p:cond delay="0"/>
                                          </p:stCondLst>
                                        </p:cTn>
                                        <p:tgtEl>
                                          <p:spTgt spid="28692"/>
                                        </p:tgtEl>
                                        <p:attrNameLst>
                                          <p:attrName>style.visibility</p:attrName>
                                        </p:attrNameLst>
                                      </p:cBhvr>
                                      <p:to>
                                        <p:strVal val="visible"/>
                                      </p:to>
                                    </p:set>
                                    <p:animEffect transition="in" filter="slide(fromTop)">
                                      <p:cBhvr>
                                        <p:cTn id="58" dur="500"/>
                                        <p:tgtEl>
                                          <p:spTgt spid="2869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28693"/>
                                        </p:tgtEl>
                                        <p:attrNameLst>
                                          <p:attrName>style.visibility</p:attrName>
                                        </p:attrNameLst>
                                      </p:cBhvr>
                                      <p:to>
                                        <p:strVal val="visible"/>
                                      </p:to>
                                    </p:set>
                                    <p:animEffect transition="in" filter="wipe(down)">
                                      <p:cBhvr>
                                        <p:cTn id="63" dur="500"/>
                                        <p:tgtEl>
                                          <p:spTgt spid="28693"/>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8" fill="hold" nodeType="clickEffect">
                                  <p:stCondLst>
                                    <p:cond delay="0"/>
                                  </p:stCondLst>
                                  <p:childTnLst>
                                    <p:set>
                                      <p:cBhvr>
                                        <p:cTn id="67" dur="1" fill="hold">
                                          <p:stCondLst>
                                            <p:cond delay="0"/>
                                          </p:stCondLst>
                                        </p:cTn>
                                        <p:tgtEl>
                                          <p:spTgt spid="28694"/>
                                        </p:tgtEl>
                                        <p:attrNameLst>
                                          <p:attrName>style.visibility</p:attrName>
                                        </p:attrNameLst>
                                      </p:cBhvr>
                                      <p:to>
                                        <p:strVal val="visible"/>
                                      </p:to>
                                    </p:set>
                                    <p:anim calcmode="lin" valueType="num">
                                      <p:cBhvr additive="base">
                                        <p:cTn id="68" dur="500" fill="hold"/>
                                        <p:tgtEl>
                                          <p:spTgt spid="28694"/>
                                        </p:tgtEl>
                                        <p:attrNameLst>
                                          <p:attrName>ppt_x</p:attrName>
                                        </p:attrNameLst>
                                      </p:cBhvr>
                                      <p:tavLst>
                                        <p:tav tm="0">
                                          <p:val>
                                            <p:strVal val="0-#ppt_w/2"/>
                                          </p:val>
                                        </p:tav>
                                        <p:tav tm="100000">
                                          <p:val>
                                            <p:strVal val="#ppt_x"/>
                                          </p:val>
                                        </p:tav>
                                      </p:tavLst>
                                    </p:anim>
                                    <p:anim calcmode="lin" valueType="num">
                                      <p:cBhvr additive="base">
                                        <p:cTn id="69" dur="500" fill="hold"/>
                                        <p:tgtEl>
                                          <p:spTgt spid="28694"/>
                                        </p:tgtEl>
                                        <p:attrNameLst>
                                          <p:attrName>ppt_y</p:attrName>
                                        </p:attrNameLst>
                                      </p:cBhvr>
                                      <p:tavLst>
                                        <p:tav tm="0">
                                          <p:val>
                                            <p:strVal val="#ppt_y"/>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nodeType="clickEffect">
                                  <p:stCondLst>
                                    <p:cond delay="0"/>
                                  </p:stCondLst>
                                  <p:childTnLst>
                                    <p:set>
                                      <p:cBhvr>
                                        <p:cTn id="73" dur="1" fill="hold">
                                          <p:stCondLst>
                                            <p:cond delay="499"/>
                                          </p:stCondLst>
                                        </p:cTn>
                                        <p:tgtEl>
                                          <p:spTgt spid="28697"/>
                                        </p:tgtEl>
                                        <p:attrNameLst>
                                          <p:attrName>style.visibility</p:attrName>
                                        </p:attrNameLst>
                                      </p:cBhvr>
                                      <p:to>
                                        <p:strVal val="visible"/>
                                      </p:to>
                                    </p:set>
                                  </p:childTnLst>
                                </p:cTn>
                              </p:par>
                            </p:childTnLst>
                          </p:cTn>
                        </p:par>
                        <p:par>
                          <p:cTn id="74" fill="hold" nodeType="afterGroup">
                            <p:stCondLst>
                              <p:cond delay="500"/>
                            </p:stCondLst>
                            <p:childTnLst>
                              <p:par>
                                <p:cTn id="75" presetID="1" presetClass="entr" presetSubtype="0" fill="hold" nodeType="afterEffect">
                                  <p:stCondLst>
                                    <p:cond delay="0"/>
                                  </p:stCondLst>
                                  <p:childTnLst>
                                    <p:set>
                                      <p:cBhvr>
                                        <p:cTn id="76" dur="1" fill="hold">
                                          <p:stCondLst>
                                            <p:cond delay="499"/>
                                          </p:stCondLst>
                                        </p:cTn>
                                        <p:tgtEl>
                                          <p:spTgt spid="28698"/>
                                        </p:tgtEl>
                                        <p:attrNameLst>
                                          <p:attrName>style.visibility</p:attrName>
                                        </p:attrNameLst>
                                      </p:cBhvr>
                                      <p:to>
                                        <p:strVal val="visible"/>
                                      </p:to>
                                    </p:set>
                                  </p:childTnLst>
                                </p:cTn>
                              </p:par>
                            </p:childTnLst>
                          </p:cTn>
                        </p:par>
                        <p:par>
                          <p:cTn id="77" fill="hold" nodeType="afterGroup">
                            <p:stCondLst>
                              <p:cond delay="1000"/>
                            </p:stCondLst>
                            <p:childTnLst>
                              <p:par>
                                <p:cTn id="78" presetID="1" presetClass="entr" presetSubtype="0" fill="hold" nodeType="afterEffect">
                                  <p:stCondLst>
                                    <p:cond delay="0"/>
                                  </p:stCondLst>
                                  <p:childTnLst>
                                    <p:set>
                                      <p:cBhvr>
                                        <p:cTn id="79" dur="1" fill="hold">
                                          <p:stCondLst>
                                            <p:cond delay="499"/>
                                          </p:stCondLst>
                                        </p:cTn>
                                        <p:tgtEl>
                                          <p:spTgt spid="28696"/>
                                        </p:tgtEl>
                                        <p:attrNameLst>
                                          <p:attrName>style.visibility</p:attrName>
                                        </p:attrNameLst>
                                      </p:cBhvr>
                                      <p:to>
                                        <p:strVal val="visible"/>
                                      </p:to>
                                    </p:set>
                                  </p:childTnLst>
                                </p:cTn>
                              </p:par>
                            </p:childTnLst>
                          </p:cTn>
                        </p:par>
                        <p:par>
                          <p:cTn id="80" fill="hold" nodeType="afterGroup">
                            <p:stCondLst>
                              <p:cond delay="1500"/>
                            </p:stCondLst>
                            <p:childTnLst>
                              <p:par>
                                <p:cTn id="81" presetID="1" presetClass="entr" presetSubtype="0" fill="hold" nodeType="afterEffect">
                                  <p:stCondLst>
                                    <p:cond delay="0"/>
                                  </p:stCondLst>
                                  <p:childTnLst>
                                    <p:set>
                                      <p:cBhvr>
                                        <p:cTn id="82" dur="1" fill="hold">
                                          <p:stCondLst>
                                            <p:cond delay="499"/>
                                          </p:stCondLst>
                                        </p:cTn>
                                        <p:tgtEl>
                                          <p:spTgt spid="2869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1" fill="hold" nodeType="clickEffect">
                                  <p:stCondLst>
                                    <p:cond delay="0"/>
                                  </p:stCondLst>
                                  <p:childTnLst>
                                    <p:set>
                                      <p:cBhvr>
                                        <p:cTn id="86" dur="1" fill="hold">
                                          <p:stCondLst>
                                            <p:cond delay="0"/>
                                          </p:stCondLst>
                                        </p:cTn>
                                        <p:tgtEl>
                                          <p:spTgt spid="28699"/>
                                        </p:tgtEl>
                                        <p:attrNameLst>
                                          <p:attrName>style.visibility</p:attrName>
                                        </p:attrNameLst>
                                      </p:cBhvr>
                                      <p:to>
                                        <p:strVal val="visible"/>
                                      </p:to>
                                    </p:set>
                                    <p:animEffect transition="in" filter="slide(fromTop)">
                                      <p:cBhvr>
                                        <p:cTn id="87" dur="500"/>
                                        <p:tgtEl>
                                          <p:spTgt spid="2869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28700"/>
                                        </p:tgtEl>
                                        <p:attrNameLst>
                                          <p:attrName>style.visibility</p:attrName>
                                        </p:attrNameLst>
                                      </p:cBhvr>
                                      <p:to>
                                        <p:strVal val="visible"/>
                                      </p:to>
                                    </p:set>
                                    <p:animEffect transition="in" filter="blinds(horizontal)">
                                      <p:cBhvr>
                                        <p:cTn id="92" dur="500"/>
                                        <p:tgtEl>
                                          <p:spTgt spid="28700"/>
                                        </p:tgtEl>
                                      </p:cBhvr>
                                    </p:animEffect>
                                  </p:childTnLst>
                                </p:cTn>
                              </p:par>
                            </p:childTnLst>
                          </p:cTn>
                        </p:par>
                        <p:par>
                          <p:cTn id="93" fill="hold" nodeType="afterGroup">
                            <p:stCondLst>
                              <p:cond delay="500"/>
                            </p:stCondLst>
                            <p:childTnLst>
                              <p:par>
                                <p:cTn id="94" presetID="3" presetClass="entr" presetSubtype="10" fill="hold" nodeType="afterEffect">
                                  <p:stCondLst>
                                    <p:cond delay="0"/>
                                  </p:stCondLst>
                                  <p:childTnLst>
                                    <p:set>
                                      <p:cBhvr>
                                        <p:cTn id="95" dur="1" fill="hold">
                                          <p:stCondLst>
                                            <p:cond delay="0"/>
                                          </p:stCondLst>
                                        </p:cTn>
                                        <p:tgtEl>
                                          <p:spTgt spid="28704"/>
                                        </p:tgtEl>
                                        <p:attrNameLst>
                                          <p:attrName>style.visibility</p:attrName>
                                        </p:attrNameLst>
                                      </p:cBhvr>
                                      <p:to>
                                        <p:strVal val="visible"/>
                                      </p:to>
                                    </p:set>
                                    <p:animEffect transition="in" filter="blinds(horizontal)">
                                      <p:cBhvr>
                                        <p:cTn id="96" dur="500"/>
                                        <p:tgtEl>
                                          <p:spTgt spid="28704"/>
                                        </p:tgtEl>
                                      </p:cBhvr>
                                    </p:animEffect>
                                  </p:childTnLst>
                                </p:cTn>
                              </p:par>
                            </p:childTnLst>
                          </p:cTn>
                        </p:par>
                        <p:par>
                          <p:cTn id="97" fill="hold" nodeType="afterGroup">
                            <p:stCondLst>
                              <p:cond delay="1000"/>
                            </p:stCondLst>
                            <p:childTnLst>
                              <p:par>
                                <p:cTn id="98" presetID="3" presetClass="entr" presetSubtype="10" fill="hold" nodeType="afterEffect">
                                  <p:stCondLst>
                                    <p:cond delay="0"/>
                                  </p:stCondLst>
                                  <p:childTnLst>
                                    <p:set>
                                      <p:cBhvr>
                                        <p:cTn id="99" dur="1" fill="hold">
                                          <p:stCondLst>
                                            <p:cond delay="0"/>
                                          </p:stCondLst>
                                        </p:cTn>
                                        <p:tgtEl>
                                          <p:spTgt spid="28705"/>
                                        </p:tgtEl>
                                        <p:attrNameLst>
                                          <p:attrName>style.visibility</p:attrName>
                                        </p:attrNameLst>
                                      </p:cBhvr>
                                      <p:to>
                                        <p:strVal val="visible"/>
                                      </p:to>
                                    </p:set>
                                    <p:animEffect transition="in" filter="blinds(horizontal)">
                                      <p:cBhvr>
                                        <p:cTn id="100" dur="500"/>
                                        <p:tgtEl>
                                          <p:spTgt spid="28705"/>
                                        </p:tgtEl>
                                      </p:cBhvr>
                                    </p:animEffect>
                                  </p:childTnLst>
                                </p:cTn>
                              </p:par>
                            </p:childTnLst>
                          </p:cTn>
                        </p:par>
                        <p:par>
                          <p:cTn id="101" fill="hold" nodeType="afterGroup">
                            <p:stCondLst>
                              <p:cond delay="1500"/>
                            </p:stCondLst>
                            <p:childTnLst>
                              <p:par>
                                <p:cTn id="102" presetID="3" presetClass="entr" presetSubtype="10" fill="hold" nodeType="afterEffect">
                                  <p:stCondLst>
                                    <p:cond delay="0"/>
                                  </p:stCondLst>
                                  <p:childTnLst>
                                    <p:set>
                                      <p:cBhvr>
                                        <p:cTn id="103" dur="1" fill="hold">
                                          <p:stCondLst>
                                            <p:cond delay="0"/>
                                          </p:stCondLst>
                                        </p:cTn>
                                        <p:tgtEl>
                                          <p:spTgt spid="28708"/>
                                        </p:tgtEl>
                                        <p:attrNameLst>
                                          <p:attrName>style.visibility</p:attrName>
                                        </p:attrNameLst>
                                      </p:cBhvr>
                                      <p:to>
                                        <p:strVal val="visible"/>
                                      </p:to>
                                    </p:set>
                                    <p:animEffect transition="in" filter="blinds(horizontal)">
                                      <p:cBhvr>
                                        <p:cTn id="104" dur="500"/>
                                        <p:tgtEl>
                                          <p:spTgt spid="28708"/>
                                        </p:tgtEl>
                                      </p:cBhvr>
                                    </p:animEffect>
                                  </p:childTnLst>
                                </p:cTn>
                              </p:par>
                            </p:childTnLst>
                          </p:cTn>
                        </p:par>
                        <p:par>
                          <p:cTn id="105" fill="hold" nodeType="afterGroup">
                            <p:stCondLst>
                              <p:cond delay="2000"/>
                            </p:stCondLst>
                            <p:childTnLst>
                              <p:par>
                                <p:cTn id="106" presetID="3" presetClass="entr" presetSubtype="10" fill="hold" nodeType="afterEffect">
                                  <p:stCondLst>
                                    <p:cond delay="0"/>
                                  </p:stCondLst>
                                  <p:childTnLst>
                                    <p:set>
                                      <p:cBhvr>
                                        <p:cTn id="107" dur="1" fill="hold">
                                          <p:stCondLst>
                                            <p:cond delay="0"/>
                                          </p:stCondLst>
                                        </p:cTn>
                                        <p:tgtEl>
                                          <p:spTgt spid="28709"/>
                                        </p:tgtEl>
                                        <p:attrNameLst>
                                          <p:attrName>style.visibility</p:attrName>
                                        </p:attrNameLst>
                                      </p:cBhvr>
                                      <p:to>
                                        <p:strVal val="visible"/>
                                      </p:to>
                                    </p:set>
                                    <p:animEffect transition="in" filter="blinds(horizontal)">
                                      <p:cBhvr>
                                        <p:cTn id="108" dur="500"/>
                                        <p:tgtEl>
                                          <p:spTgt spid="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animBg="1" autoUpdateAnimBg="0"/>
      <p:bldP spid="28692" grpId="0" animBg="1" autoUpdateAnimBg="0"/>
      <p:bldP spid="28694" grpId="0" animBg="1" autoUpdateAnimBg="0"/>
      <p:bldP spid="28696" grpId="0" animBg="1" autoUpdateAnimBg="0"/>
      <p:bldP spid="28698" grpId="0" animBg="1" autoUpdateAnimBg="0"/>
      <p:bldP spid="28704"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5C52D7EA-0C08-6B68-C020-4C5AE23FF941}"/>
              </a:ext>
            </a:extLst>
          </p:cNvPr>
          <p:cNvSpPr>
            <a:spLocks noChangeArrowheads="1"/>
          </p:cNvSpPr>
          <p:nvPr/>
        </p:nvSpPr>
        <p:spPr bwMode="auto">
          <a:xfrm>
            <a:off x="1600200" y="190501"/>
            <a:ext cx="2647950" cy="507831"/>
          </a:xfrm>
          <a:prstGeom prst="rect">
            <a:avLst/>
          </a:prstGeom>
          <a:noFill/>
          <a:ln>
            <a:noFill/>
          </a:ln>
          <a:effectLst/>
        </p:spPr>
        <p:txBody>
          <a:bodyPr>
            <a:spAutoFit/>
          </a:bodyPr>
          <a:lstStyle/>
          <a:p>
            <a:pPr eaLnBrk="1" hangingPunct="1">
              <a:spcBef>
                <a:spcPct val="50000"/>
              </a:spcBef>
              <a:defRPr/>
            </a:pPr>
            <a:r>
              <a:rPr lang="zh-CN" altLang="en-US" sz="2700" b="1">
                <a:solidFill>
                  <a:srgbClr val="FF33CC"/>
                </a:solidFill>
                <a:effectLst>
                  <a:outerShdw blurRad="38100" dist="38100" dir="2700000" algn="tl">
                    <a:srgbClr val="C0C0C0"/>
                  </a:outerShdw>
                </a:effectLst>
                <a:latin typeface="宋体" pitchFamily="2" charset="-122"/>
              </a:rPr>
              <a:t>五</a:t>
            </a:r>
            <a:r>
              <a:rPr lang="en-US" altLang="zh-CN" sz="2700" b="1">
                <a:solidFill>
                  <a:srgbClr val="FF33CC"/>
                </a:solidFill>
                <a:effectLst>
                  <a:outerShdw blurRad="38100" dist="38100" dir="2700000" algn="tl">
                    <a:srgbClr val="C0C0C0"/>
                  </a:outerShdw>
                </a:effectLst>
                <a:latin typeface="宋体" pitchFamily="2" charset="-122"/>
              </a:rPr>
              <a:t>.</a:t>
            </a:r>
            <a:r>
              <a:rPr lang="zh-CN" altLang="en-US" sz="2700" b="1">
                <a:solidFill>
                  <a:srgbClr val="FF33CC"/>
                </a:solidFill>
                <a:effectLst>
                  <a:outerShdw blurRad="38100" dist="38100" dir="2700000" algn="tl">
                    <a:srgbClr val="C0C0C0"/>
                  </a:outerShdw>
                </a:effectLst>
                <a:latin typeface="宋体" pitchFamily="2" charset="-122"/>
              </a:rPr>
              <a:t>正态分布</a:t>
            </a:r>
          </a:p>
        </p:txBody>
      </p:sp>
      <p:grpSp>
        <p:nvGrpSpPr>
          <p:cNvPr id="249859" name="Group 3">
            <a:extLst>
              <a:ext uri="{FF2B5EF4-FFF2-40B4-BE49-F238E27FC236}">
                <a16:creationId xmlns:a16="http://schemas.microsoft.com/office/drawing/2014/main" id="{EBFD4A35-36CF-94FC-EE48-1A97D834CF65}"/>
              </a:ext>
            </a:extLst>
          </p:cNvPr>
          <p:cNvGrpSpPr>
            <a:grpSpLocks/>
          </p:cNvGrpSpPr>
          <p:nvPr/>
        </p:nvGrpSpPr>
        <p:grpSpPr bwMode="auto">
          <a:xfrm>
            <a:off x="1908254" y="901304"/>
            <a:ext cx="5507831" cy="1351359"/>
            <a:chOff x="72" y="3"/>
            <a:chExt cx="4398" cy="1135"/>
          </a:xfrm>
        </p:grpSpPr>
        <p:sp>
          <p:nvSpPr>
            <p:cNvPr id="77836" name="Rectangle 4">
              <a:extLst>
                <a:ext uri="{FF2B5EF4-FFF2-40B4-BE49-F238E27FC236}">
                  <a16:creationId xmlns:a16="http://schemas.microsoft.com/office/drawing/2014/main" id="{ACB0E721-CB99-3DE9-EFD7-3CD7FD31BA49}"/>
                </a:ext>
              </a:extLst>
            </p:cNvPr>
            <p:cNvSpPr>
              <a:spLocks noChangeArrowheads="1"/>
            </p:cNvSpPr>
            <p:nvPr/>
          </p:nvSpPr>
          <p:spPr bwMode="auto">
            <a:xfrm>
              <a:off x="72" y="3"/>
              <a:ext cx="4398"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100" b="1" dirty="0">
                  <a:latin typeface="楷体_GB2312" pitchFamily="49" charset="-122"/>
                  <a:ea typeface="楷体_GB2312" pitchFamily="49" charset="-122"/>
                </a:rPr>
                <a:t>随机变量              ，     其概率密度为：</a:t>
              </a:r>
            </a:p>
          </p:txBody>
        </p:sp>
        <p:graphicFrame>
          <p:nvGraphicFramePr>
            <p:cNvPr id="77837" name="Object 5">
              <a:extLst>
                <a:ext uri="{FF2B5EF4-FFF2-40B4-BE49-F238E27FC236}">
                  <a16:creationId xmlns:a16="http://schemas.microsoft.com/office/drawing/2014/main" id="{2AE892F5-499D-51F3-F2E4-A38F816EBCC4}"/>
                </a:ext>
              </a:extLst>
            </p:cNvPr>
            <p:cNvGraphicFramePr>
              <a:graphicFrameLocks noChangeAspect="1"/>
            </p:cNvGraphicFramePr>
            <p:nvPr>
              <p:extLst>
                <p:ext uri="{D42A27DB-BD31-4B8C-83A1-F6EECF244321}">
                  <p14:modId xmlns:p14="http://schemas.microsoft.com/office/powerpoint/2010/main" val="3323918304"/>
                </p:ext>
              </p:extLst>
            </p:nvPr>
          </p:nvGraphicFramePr>
          <p:xfrm>
            <a:off x="934" y="6"/>
            <a:ext cx="1452" cy="343"/>
          </p:xfrm>
          <a:graphic>
            <a:graphicData uri="http://schemas.openxmlformats.org/presentationml/2006/ole">
              <mc:AlternateContent xmlns:mc="http://schemas.openxmlformats.org/markup-compatibility/2006">
                <mc:Choice xmlns:v="urn:schemas-microsoft-com:vml" Requires="v">
                  <p:oleObj r:id="rId2" imgW="990600" imgH="228600" progId="Equation.3">
                    <p:embed/>
                  </p:oleObj>
                </mc:Choice>
                <mc:Fallback>
                  <p:oleObj r:id="rId2" imgW="990600" imgH="228600" progId="Equation.3">
                    <p:embed/>
                    <p:pic>
                      <p:nvPicPr>
                        <p:cNvPr id="77837" name="Object 5">
                          <a:extLst>
                            <a:ext uri="{FF2B5EF4-FFF2-40B4-BE49-F238E27FC236}">
                              <a16:creationId xmlns:a16="http://schemas.microsoft.com/office/drawing/2014/main" id="{2AE892F5-499D-51F3-F2E4-A38F816EBC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 y="6"/>
                          <a:ext cx="1452"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38" name="Object 6">
              <a:extLst>
                <a:ext uri="{FF2B5EF4-FFF2-40B4-BE49-F238E27FC236}">
                  <a16:creationId xmlns:a16="http://schemas.microsoft.com/office/drawing/2014/main" id="{259D31D4-9260-C11C-F466-25EE4B071E75}"/>
                </a:ext>
              </a:extLst>
            </p:cNvPr>
            <p:cNvGraphicFramePr>
              <a:graphicFrameLocks noChangeAspect="1"/>
            </p:cNvGraphicFramePr>
            <p:nvPr/>
          </p:nvGraphicFramePr>
          <p:xfrm>
            <a:off x="384" y="465"/>
            <a:ext cx="3566" cy="673"/>
          </p:xfrm>
          <a:graphic>
            <a:graphicData uri="http://schemas.openxmlformats.org/presentationml/2006/ole">
              <mc:AlternateContent xmlns:mc="http://schemas.openxmlformats.org/markup-compatibility/2006">
                <mc:Choice xmlns:v="urn:schemas-microsoft-com:vml" Requires="v">
                  <p:oleObj r:id="rId4" imgW="2615065" imgH="482391" progId="Equation.3">
                    <p:embed/>
                  </p:oleObj>
                </mc:Choice>
                <mc:Fallback>
                  <p:oleObj r:id="rId4" imgW="2615065" imgH="482391" progId="Equation.3">
                    <p:embed/>
                    <p:pic>
                      <p:nvPicPr>
                        <p:cNvPr id="77838" name="Object 6">
                          <a:extLst>
                            <a:ext uri="{FF2B5EF4-FFF2-40B4-BE49-F238E27FC236}">
                              <a16:creationId xmlns:a16="http://schemas.microsoft.com/office/drawing/2014/main" id="{259D31D4-9260-C11C-F466-25EE4B071E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 y="465"/>
                          <a:ext cx="3566" cy="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49863" name="Object 7">
            <a:extLst>
              <a:ext uri="{FF2B5EF4-FFF2-40B4-BE49-F238E27FC236}">
                <a16:creationId xmlns:a16="http://schemas.microsoft.com/office/drawing/2014/main" id="{14E77517-4642-4AC6-E602-00B06731D010}"/>
              </a:ext>
            </a:extLst>
          </p:cNvPr>
          <p:cNvGraphicFramePr>
            <a:graphicFrameLocks noChangeAspect="1"/>
          </p:cNvGraphicFramePr>
          <p:nvPr/>
        </p:nvGraphicFramePr>
        <p:xfrm>
          <a:off x="1385888" y="2518172"/>
          <a:ext cx="2322910" cy="585788"/>
        </p:xfrm>
        <a:graphic>
          <a:graphicData uri="http://schemas.openxmlformats.org/presentationml/2006/ole">
            <mc:AlternateContent xmlns:mc="http://schemas.openxmlformats.org/markup-compatibility/2006">
              <mc:Choice xmlns:v="urn:schemas-microsoft-com:vml" Requires="v">
                <p:oleObj r:id="rId6" imgW="1308100" imgH="330200" progId="Equation.3">
                  <p:embed/>
                </p:oleObj>
              </mc:Choice>
              <mc:Fallback>
                <p:oleObj r:id="rId6" imgW="1308100" imgH="330200" progId="Equation.3">
                  <p:embed/>
                  <p:pic>
                    <p:nvPicPr>
                      <p:cNvPr id="249863" name="Object 7">
                        <a:extLst>
                          <a:ext uri="{FF2B5EF4-FFF2-40B4-BE49-F238E27FC236}">
                            <a16:creationId xmlns:a16="http://schemas.microsoft.com/office/drawing/2014/main" id="{14E77517-4642-4AC6-E602-00B06731D0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5888" y="2518172"/>
                        <a:ext cx="232291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9864" name="Object 8">
            <a:extLst>
              <a:ext uri="{FF2B5EF4-FFF2-40B4-BE49-F238E27FC236}">
                <a16:creationId xmlns:a16="http://schemas.microsoft.com/office/drawing/2014/main" id="{0E3ACC0C-A06E-C8B3-C665-8E66BAB40AED}"/>
              </a:ext>
            </a:extLst>
          </p:cNvPr>
          <p:cNvGraphicFramePr>
            <a:graphicFrameLocks noChangeAspect="1"/>
          </p:cNvGraphicFramePr>
          <p:nvPr/>
        </p:nvGraphicFramePr>
        <p:xfrm>
          <a:off x="3708798" y="2409826"/>
          <a:ext cx="2591990" cy="794147"/>
        </p:xfrm>
        <a:graphic>
          <a:graphicData uri="http://schemas.openxmlformats.org/presentationml/2006/ole">
            <mc:AlternateContent xmlns:mc="http://schemas.openxmlformats.org/markup-compatibility/2006">
              <mc:Choice xmlns:v="urn:schemas-microsoft-com:vml" Requires="v">
                <p:oleObj r:id="rId8" imgW="1612900" imgH="482600" progId="Equation.3">
                  <p:embed/>
                </p:oleObj>
              </mc:Choice>
              <mc:Fallback>
                <p:oleObj r:id="rId8" imgW="1612900" imgH="482600" progId="Equation.3">
                  <p:embed/>
                  <p:pic>
                    <p:nvPicPr>
                      <p:cNvPr id="249864" name="Object 8">
                        <a:extLst>
                          <a:ext uri="{FF2B5EF4-FFF2-40B4-BE49-F238E27FC236}">
                            <a16:creationId xmlns:a16="http://schemas.microsoft.com/office/drawing/2014/main" id="{0E3ACC0C-A06E-C8B3-C665-8E66BAB40A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8798" y="2409826"/>
                        <a:ext cx="2591990" cy="794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9865" name="Group 9">
            <a:extLst>
              <a:ext uri="{FF2B5EF4-FFF2-40B4-BE49-F238E27FC236}">
                <a16:creationId xmlns:a16="http://schemas.microsoft.com/office/drawing/2014/main" id="{E5CAA05B-1CCB-981B-3FDE-8A38700423A5}"/>
              </a:ext>
            </a:extLst>
          </p:cNvPr>
          <p:cNvGrpSpPr>
            <a:grpSpLocks/>
          </p:cNvGrpSpPr>
          <p:nvPr/>
        </p:nvGrpSpPr>
        <p:grpSpPr bwMode="auto">
          <a:xfrm>
            <a:off x="6247210" y="2518172"/>
            <a:ext cx="3239690" cy="571500"/>
            <a:chOff x="0" y="0"/>
            <a:chExt cx="2721" cy="480"/>
          </a:xfrm>
        </p:grpSpPr>
        <p:sp>
          <p:nvSpPr>
            <p:cNvPr id="77834" name="Text Box 10">
              <a:extLst>
                <a:ext uri="{FF2B5EF4-FFF2-40B4-BE49-F238E27FC236}">
                  <a16:creationId xmlns:a16="http://schemas.microsoft.com/office/drawing/2014/main" id="{C44CF1EA-ADE5-1099-1CA4-77780CD0F5B7}"/>
                </a:ext>
              </a:extLst>
            </p:cNvPr>
            <p:cNvSpPr txBox="1">
              <a:spLocks noChangeArrowheads="1"/>
            </p:cNvSpPr>
            <p:nvPr/>
          </p:nvSpPr>
          <p:spPr bwMode="auto">
            <a:xfrm>
              <a:off x="0" y="90"/>
              <a:ext cx="2721"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100" b="1">
                  <a:latin typeface="楷体_GB2312" pitchFamily="49" charset="-122"/>
                  <a:ea typeface="楷体_GB2312" pitchFamily="49" charset="-122"/>
                </a:rPr>
                <a:t>（令       ）</a:t>
              </a:r>
            </a:p>
          </p:txBody>
        </p:sp>
        <p:graphicFrame>
          <p:nvGraphicFramePr>
            <p:cNvPr id="77835" name="Object 11">
              <a:extLst>
                <a:ext uri="{FF2B5EF4-FFF2-40B4-BE49-F238E27FC236}">
                  <a16:creationId xmlns:a16="http://schemas.microsoft.com/office/drawing/2014/main" id="{C141172E-E369-1C54-9BA0-699980172775}"/>
                </a:ext>
              </a:extLst>
            </p:cNvPr>
            <p:cNvGraphicFramePr>
              <a:graphicFrameLocks noChangeAspect="1"/>
            </p:cNvGraphicFramePr>
            <p:nvPr/>
          </p:nvGraphicFramePr>
          <p:xfrm>
            <a:off x="544" y="0"/>
            <a:ext cx="746" cy="480"/>
          </p:xfrm>
          <a:graphic>
            <a:graphicData uri="http://schemas.openxmlformats.org/presentationml/2006/ole">
              <mc:AlternateContent xmlns:mc="http://schemas.openxmlformats.org/markup-compatibility/2006">
                <mc:Choice xmlns:v="urn:schemas-microsoft-com:vml" Requires="v">
                  <p:oleObj r:id="rId10" imgW="647419" imgH="406224" progId="Equation.3">
                    <p:embed/>
                  </p:oleObj>
                </mc:Choice>
                <mc:Fallback>
                  <p:oleObj r:id="rId10" imgW="647419" imgH="406224" progId="Equation.3">
                    <p:embed/>
                    <p:pic>
                      <p:nvPicPr>
                        <p:cNvPr id="77835" name="Object 11">
                          <a:extLst>
                            <a:ext uri="{FF2B5EF4-FFF2-40B4-BE49-F238E27FC236}">
                              <a16:creationId xmlns:a16="http://schemas.microsoft.com/office/drawing/2014/main" id="{C141172E-E369-1C54-9BA0-69998017277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4" y="0"/>
                          <a:ext cx="74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49868" name="Object 12">
            <a:extLst>
              <a:ext uri="{FF2B5EF4-FFF2-40B4-BE49-F238E27FC236}">
                <a16:creationId xmlns:a16="http://schemas.microsoft.com/office/drawing/2014/main" id="{5680B6F7-6A2A-7813-1165-C6616ACC4E86}"/>
              </a:ext>
            </a:extLst>
          </p:cNvPr>
          <p:cNvGraphicFramePr>
            <a:graphicFrameLocks noChangeAspect="1"/>
          </p:cNvGraphicFramePr>
          <p:nvPr/>
        </p:nvGraphicFramePr>
        <p:xfrm>
          <a:off x="1597819" y="3257551"/>
          <a:ext cx="3299222" cy="803672"/>
        </p:xfrm>
        <a:graphic>
          <a:graphicData uri="http://schemas.openxmlformats.org/presentationml/2006/ole">
            <mc:AlternateContent xmlns:mc="http://schemas.openxmlformats.org/markup-compatibility/2006">
              <mc:Choice xmlns:v="urn:schemas-microsoft-com:vml" Requires="v">
                <p:oleObj r:id="rId12" imgW="1905000" imgH="482600" progId="Equation.3">
                  <p:embed/>
                </p:oleObj>
              </mc:Choice>
              <mc:Fallback>
                <p:oleObj r:id="rId12" imgW="1905000" imgH="482600" progId="Equation.3">
                  <p:embed/>
                  <p:pic>
                    <p:nvPicPr>
                      <p:cNvPr id="249868" name="Object 12">
                        <a:extLst>
                          <a:ext uri="{FF2B5EF4-FFF2-40B4-BE49-F238E27FC236}">
                            <a16:creationId xmlns:a16="http://schemas.microsoft.com/office/drawing/2014/main" id="{5680B6F7-6A2A-7813-1165-C6616ACC4E8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97819" y="3257551"/>
                        <a:ext cx="3299222" cy="803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9869" name="Object 13">
            <a:extLst>
              <a:ext uri="{FF2B5EF4-FFF2-40B4-BE49-F238E27FC236}">
                <a16:creationId xmlns:a16="http://schemas.microsoft.com/office/drawing/2014/main" id="{C6FF7466-1AFB-75E2-5FA0-DC21887757ED}"/>
              </a:ext>
            </a:extLst>
          </p:cNvPr>
          <p:cNvGraphicFramePr>
            <a:graphicFrameLocks noChangeAspect="1"/>
          </p:cNvGraphicFramePr>
          <p:nvPr/>
        </p:nvGraphicFramePr>
        <p:xfrm>
          <a:off x="4950619" y="3219450"/>
          <a:ext cx="1997869" cy="810816"/>
        </p:xfrm>
        <a:graphic>
          <a:graphicData uri="http://schemas.openxmlformats.org/presentationml/2006/ole">
            <mc:AlternateContent xmlns:mc="http://schemas.openxmlformats.org/markup-compatibility/2006">
              <mc:Choice xmlns:v="urn:schemas-microsoft-com:vml" Requires="v">
                <p:oleObj r:id="rId14" imgW="1143000" imgH="482600" progId="Equation.3">
                  <p:embed/>
                </p:oleObj>
              </mc:Choice>
              <mc:Fallback>
                <p:oleObj r:id="rId14" imgW="1143000" imgH="482600" progId="Equation.3">
                  <p:embed/>
                  <p:pic>
                    <p:nvPicPr>
                      <p:cNvPr id="249869" name="Object 13">
                        <a:extLst>
                          <a:ext uri="{FF2B5EF4-FFF2-40B4-BE49-F238E27FC236}">
                            <a16:creationId xmlns:a16="http://schemas.microsoft.com/office/drawing/2014/main" id="{C6FF7466-1AFB-75E2-5FA0-DC21887757E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50619" y="3219450"/>
                        <a:ext cx="1997869" cy="810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9870" name="Object 14">
            <a:extLst>
              <a:ext uri="{FF2B5EF4-FFF2-40B4-BE49-F238E27FC236}">
                <a16:creationId xmlns:a16="http://schemas.microsoft.com/office/drawing/2014/main" id="{5945FCD4-C9BC-3F2A-CE3F-866FE47A4819}"/>
              </a:ext>
            </a:extLst>
          </p:cNvPr>
          <p:cNvGraphicFramePr>
            <a:graphicFrameLocks noChangeAspect="1"/>
          </p:cNvGraphicFramePr>
          <p:nvPr/>
        </p:nvGraphicFramePr>
        <p:xfrm>
          <a:off x="2033588" y="4300538"/>
          <a:ext cx="486966" cy="277416"/>
        </p:xfrm>
        <a:graphic>
          <a:graphicData uri="http://schemas.openxmlformats.org/presentationml/2006/ole">
            <mc:AlternateContent xmlns:mc="http://schemas.openxmlformats.org/markup-compatibility/2006">
              <mc:Choice xmlns:v="urn:schemas-microsoft-com:vml" Requires="v">
                <p:oleObj r:id="rId16" imgW="279400" imgH="165100" progId="Equation.3">
                  <p:embed/>
                </p:oleObj>
              </mc:Choice>
              <mc:Fallback>
                <p:oleObj r:id="rId16" imgW="279400" imgH="165100" progId="Equation.3">
                  <p:embed/>
                  <p:pic>
                    <p:nvPicPr>
                      <p:cNvPr id="249870" name="Object 14">
                        <a:extLst>
                          <a:ext uri="{FF2B5EF4-FFF2-40B4-BE49-F238E27FC236}">
                            <a16:creationId xmlns:a16="http://schemas.microsoft.com/office/drawing/2014/main" id="{5945FCD4-C9BC-3F2A-CE3F-866FE47A481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33588" y="4300538"/>
                        <a:ext cx="486966" cy="277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249858"/>
                                        </p:tgtEl>
                                        <p:attrNameLst>
                                          <p:attrName>style.visibility</p:attrName>
                                        </p:attrNameLst>
                                      </p:cBhvr>
                                      <p:to>
                                        <p:strVal val="visible"/>
                                      </p:to>
                                    </p:set>
                                    <p:anim calcmode="lin" valueType="num">
                                      <p:cBhvr>
                                        <p:cTn id="7" dur="500" fill="hold"/>
                                        <p:tgtEl>
                                          <p:spTgt spid="249858"/>
                                        </p:tgtEl>
                                        <p:attrNameLst>
                                          <p:attrName>ppt_w</p:attrName>
                                        </p:attrNameLst>
                                      </p:cBhvr>
                                      <p:tavLst>
                                        <p:tav tm="0">
                                          <p:val>
                                            <p:strVal val="#ppt_w*0.05"/>
                                          </p:val>
                                        </p:tav>
                                        <p:tav tm="100000">
                                          <p:val>
                                            <p:strVal val="#ppt_w"/>
                                          </p:val>
                                        </p:tav>
                                      </p:tavLst>
                                    </p:anim>
                                    <p:anim calcmode="lin" valueType="num">
                                      <p:cBhvr>
                                        <p:cTn id="8" dur="500" fill="hold"/>
                                        <p:tgtEl>
                                          <p:spTgt spid="249858"/>
                                        </p:tgtEl>
                                        <p:attrNameLst>
                                          <p:attrName>ppt_h</p:attrName>
                                        </p:attrNameLst>
                                      </p:cBhvr>
                                      <p:tavLst>
                                        <p:tav tm="0">
                                          <p:val>
                                            <p:strVal val="#ppt_h"/>
                                          </p:val>
                                        </p:tav>
                                        <p:tav tm="100000">
                                          <p:val>
                                            <p:strVal val="#ppt_h"/>
                                          </p:val>
                                        </p:tav>
                                      </p:tavLst>
                                    </p:anim>
                                    <p:anim calcmode="lin" valueType="num">
                                      <p:cBhvr>
                                        <p:cTn id="9" dur="500" fill="hold"/>
                                        <p:tgtEl>
                                          <p:spTgt spid="249858"/>
                                        </p:tgtEl>
                                        <p:attrNameLst>
                                          <p:attrName>ppt_x</p:attrName>
                                        </p:attrNameLst>
                                      </p:cBhvr>
                                      <p:tavLst>
                                        <p:tav tm="0">
                                          <p:val>
                                            <p:strVal val="#ppt_x-.2"/>
                                          </p:val>
                                        </p:tav>
                                        <p:tav tm="100000">
                                          <p:val>
                                            <p:strVal val="#ppt_x"/>
                                          </p:val>
                                        </p:tav>
                                      </p:tavLst>
                                    </p:anim>
                                    <p:anim calcmode="lin" valueType="num">
                                      <p:cBhvr>
                                        <p:cTn id="10" dur="500" fill="hold"/>
                                        <p:tgtEl>
                                          <p:spTgt spid="249858"/>
                                        </p:tgtEl>
                                        <p:attrNameLst>
                                          <p:attrName>ppt_y</p:attrName>
                                        </p:attrNameLst>
                                      </p:cBhvr>
                                      <p:tavLst>
                                        <p:tav tm="0">
                                          <p:val>
                                            <p:strVal val="#ppt_y"/>
                                          </p:val>
                                        </p:tav>
                                        <p:tav tm="100000">
                                          <p:val>
                                            <p:strVal val="#ppt_y"/>
                                          </p:val>
                                        </p:tav>
                                      </p:tavLst>
                                    </p:anim>
                                    <p:animEffect transition="in" filter="fade">
                                      <p:cBhvr>
                                        <p:cTn id="11" dur="500"/>
                                        <p:tgtEl>
                                          <p:spTgt spid="2498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49859"/>
                                        </p:tgtEl>
                                        <p:attrNameLst>
                                          <p:attrName>style.visibility</p:attrName>
                                        </p:attrNameLst>
                                      </p:cBhvr>
                                      <p:to>
                                        <p:strVal val="visible"/>
                                      </p:to>
                                    </p:set>
                                    <p:animEffect transition="in" filter="wipe(up)">
                                      <p:cBhvr>
                                        <p:cTn id="16" dur="1000"/>
                                        <p:tgtEl>
                                          <p:spTgt spid="24985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249863"/>
                                        </p:tgtEl>
                                        <p:attrNameLst>
                                          <p:attrName>style.visibility</p:attrName>
                                        </p:attrNameLst>
                                      </p:cBhvr>
                                      <p:to>
                                        <p:strVal val="visible"/>
                                      </p:to>
                                    </p:set>
                                    <p:animEffect transition="in" filter="slide(fromBottom)">
                                      <p:cBhvr>
                                        <p:cTn id="21" dur="1000"/>
                                        <p:tgtEl>
                                          <p:spTgt spid="24986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2" fill="hold" nodeType="clickEffect">
                                  <p:stCondLst>
                                    <p:cond delay="0"/>
                                  </p:stCondLst>
                                  <p:childTnLst>
                                    <p:set>
                                      <p:cBhvr>
                                        <p:cTn id="25" dur="1" fill="hold">
                                          <p:stCondLst>
                                            <p:cond delay="0"/>
                                          </p:stCondLst>
                                        </p:cTn>
                                        <p:tgtEl>
                                          <p:spTgt spid="249864"/>
                                        </p:tgtEl>
                                        <p:attrNameLst>
                                          <p:attrName>style.visibility</p:attrName>
                                        </p:attrNameLst>
                                      </p:cBhvr>
                                      <p:to>
                                        <p:strVal val="visible"/>
                                      </p:to>
                                    </p:set>
                                    <p:anim calcmode="lin" valueType="num">
                                      <p:cBhvr additive="base">
                                        <p:cTn id="26" dur="1000" fill="hold"/>
                                        <p:tgtEl>
                                          <p:spTgt spid="249864"/>
                                        </p:tgtEl>
                                        <p:attrNameLst>
                                          <p:attrName>ppt_x</p:attrName>
                                        </p:attrNameLst>
                                      </p:cBhvr>
                                      <p:tavLst>
                                        <p:tav tm="0">
                                          <p:val>
                                            <p:strVal val="1+#ppt_w/2"/>
                                          </p:val>
                                        </p:tav>
                                        <p:tav tm="100000">
                                          <p:val>
                                            <p:strVal val="#ppt_x"/>
                                          </p:val>
                                        </p:tav>
                                      </p:tavLst>
                                    </p:anim>
                                    <p:anim calcmode="lin" valueType="num">
                                      <p:cBhvr additive="base">
                                        <p:cTn id="27" dur="1000" fill="hold"/>
                                        <p:tgtEl>
                                          <p:spTgt spid="249864"/>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2" fill="hold" nodeType="clickEffect">
                                  <p:stCondLst>
                                    <p:cond delay="0"/>
                                  </p:stCondLst>
                                  <p:childTnLst>
                                    <p:set>
                                      <p:cBhvr>
                                        <p:cTn id="31" dur="1" fill="hold">
                                          <p:stCondLst>
                                            <p:cond delay="0"/>
                                          </p:stCondLst>
                                        </p:cTn>
                                        <p:tgtEl>
                                          <p:spTgt spid="249865"/>
                                        </p:tgtEl>
                                        <p:attrNameLst>
                                          <p:attrName>style.visibility</p:attrName>
                                        </p:attrNameLst>
                                      </p:cBhvr>
                                      <p:to>
                                        <p:strVal val="visible"/>
                                      </p:to>
                                    </p:set>
                                    <p:animEffect transition="in" filter="slide(fromRight)">
                                      <p:cBhvr>
                                        <p:cTn id="32" dur="1000"/>
                                        <p:tgtEl>
                                          <p:spTgt spid="2498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32" fill="hold" nodeType="clickEffect">
                                  <p:stCondLst>
                                    <p:cond delay="0"/>
                                  </p:stCondLst>
                                  <p:childTnLst>
                                    <p:set>
                                      <p:cBhvr>
                                        <p:cTn id="36" dur="1" fill="hold">
                                          <p:stCondLst>
                                            <p:cond delay="0"/>
                                          </p:stCondLst>
                                        </p:cTn>
                                        <p:tgtEl>
                                          <p:spTgt spid="249868"/>
                                        </p:tgtEl>
                                        <p:attrNameLst>
                                          <p:attrName>style.visibility</p:attrName>
                                        </p:attrNameLst>
                                      </p:cBhvr>
                                      <p:to>
                                        <p:strVal val="visible"/>
                                      </p:to>
                                    </p:set>
                                    <p:animEffect transition="in" filter="circle(out)">
                                      <p:cBhvr>
                                        <p:cTn id="37" dur="1000"/>
                                        <p:tgtEl>
                                          <p:spTgt spid="2498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nodeType="clickEffect">
                                  <p:stCondLst>
                                    <p:cond delay="0"/>
                                  </p:stCondLst>
                                  <p:childTnLst>
                                    <p:set>
                                      <p:cBhvr>
                                        <p:cTn id="41" dur="1" fill="hold">
                                          <p:stCondLst>
                                            <p:cond delay="0"/>
                                          </p:stCondLst>
                                        </p:cTn>
                                        <p:tgtEl>
                                          <p:spTgt spid="249869"/>
                                        </p:tgtEl>
                                        <p:attrNameLst>
                                          <p:attrName>style.visibility</p:attrName>
                                        </p:attrNameLst>
                                      </p:cBhvr>
                                      <p:to>
                                        <p:strVal val="visible"/>
                                      </p:to>
                                    </p:set>
                                    <p:anim calcmode="lin" valueType="num">
                                      <p:cBhvr additive="base">
                                        <p:cTn id="42" dur="1000" fill="hold"/>
                                        <p:tgtEl>
                                          <p:spTgt spid="249869"/>
                                        </p:tgtEl>
                                        <p:attrNameLst>
                                          <p:attrName>ppt_x</p:attrName>
                                        </p:attrNameLst>
                                      </p:cBhvr>
                                      <p:tavLst>
                                        <p:tav tm="0">
                                          <p:val>
                                            <p:strVal val="1+#ppt_w/2"/>
                                          </p:val>
                                        </p:tav>
                                        <p:tav tm="100000">
                                          <p:val>
                                            <p:strVal val="#ppt_x"/>
                                          </p:val>
                                        </p:tav>
                                      </p:tavLst>
                                    </p:anim>
                                    <p:anim calcmode="lin" valueType="num">
                                      <p:cBhvr additive="base">
                                        <p:cTn id="43" dur="1000" fill="hold"/>
                                        <p:tgtEl>
                                          <p:spTgt spid="249869"/>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6" presetClass="entr" presetSubtype="32" fill="hold" nodeType="clickEffect">
                                  <p:stCondLst>
                                    <p:cond delay="0"/>
                                  </p:stCondLst>
                                  <p:childTnLst>
                                    <p:set>
                                      <p:cBhvr>
                                        <p:cTn id="47" dur="1" fill="hold">
                                          <p:stCondLst>
                                            <p:cond delay="0"/>
                                          </p:stCondLst>
                                        </p:cTn>
                                        <p:tgtEl>
                                          <p:spTgt spid="249870"/>
                                        </p:tgtEl>
                                        <p:attrNameLst>
                                          <p:attrName>style.visibility</p:attrName>
                                        </p:attrNameLst>
                                      </p:cBhvr>
                                      <p:to>
                                        <p:strVal val="visible"/>
                                      </p:to>
                                    </p:set>
                                    <p:animEffect transition="in" filter="circle(out)">
                                      <p:cBhvr>
                                        <p:cTn id="48" dur="1000"/>
                                        <p:tgtEl>
                                          <p:spTgt spid="249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3954" name="Group 2">
            <a:extLst>
              <a:ext uri="{FF2B5EF4-FFF2-40B4-BE49-F238E27FC236}">
                <a16:creationId xmlns:a16="http://schemas.microsoft.com/office/drawing/2014/main" id="{ED8E317B-8614-36B5-3652-604B140BE603}"/>
              </a:ext>
            </a:extLst>
          </p:cNvPr>
          <p:cNvGrpSpPr>
            <a:grpSpLocks/>
          </p:cNvGrpSpPr>
          <p:nvPr/>
        </p:nvGrpSpPr>
        <p:grpSpPr bwMode="auto">
          <a:xfrm>
            <a:off x="1404937" y="657226"/>
            <a:ext cx="6596063" cy="477440"/>
            <a:chOff x="62" y="-37"/>
            <a:chExt cx="5540" cy="401"/>
          </a:xfrm>
        </p:grpSpPr>
        <p:sp>
          <p:nvSpPr>
            <p:cNvPr id="253955" name="Text Box 3">
              <a:extLst>
                <a:ext uri="{FF2B5EF4-FFF2-40B4-BE49-F238E27FC236}">
                  <a16:creationId xmlns:a16="http://schemas.microsoft.com/office/drawing/2014/main" id="{800F977D-0FAD-5695-4FFD-C8640B0D040A}"/>
                </a:ext>
              </a:extLst>
            </p:cNvPr>
            <p:cNvSpPr txBox="1">
              <a:spLocks noChangeArrowheads="1"/>
            </p:cNvSpPr>
            <p:nvPr/>
          </p:nvSpPr>
          <p:spPr bwMode="auto">
            <a:xfrm>
              <a:off x="62" y="-37"/>
              <a:ext cx="5137" cy="388"/>
            </a:xfrm>
            <a:prstGeom prst="rect">
              <a:avLst/>
            </a:prstGeom>
            <a:noFill/>
            <a:ln>
              <a:noFill/>
            </a:ln>
            <a:effectLst/>
          </p:spPr>
          <p:txBody>
            <a:bodyPr>
              <a:spAutoFit/>
            </a:bodyPr>
            <a:lstStyle/>
            <a:p>
              <a:pPr eaLnBrk="1" hangingPunct="1">
                <a:spcBef>
                  <a:spcPct val="50000"/>
                </a:spcBef>
                <a:defRPr/>
              </a:pPr>
              <a:r>
                <a:rPr lang="zh-CN" altLang="en-US" sz="2400" b="1" dirty="0">
                  <a:solidFill>
                    <a:srgbClr val="0000FF"/>
                  </a:solidFill>
                  <a:effectLst>
                    <a:outerShdw blurRad="38100" dist="38100" dir="2700000" algn="tl">
                      <a:srgbClr val="C0C0C0"/>
                    </a:outerShdw>
                  </a:effectLst>
                  <a:ea typeface="黑体" pitchFamily="2" charset="-122"/>
                </a:rPr>
                <a:t>例</a:t>
              </a:r>
              <a:r>
                <a:rPr lang="en-US" altLang="zh-CN" sz="2400" b="1" dirty="0">
                  <a:solidFill>
                    <a:srgbClr val="0000FF"/>
                  </a:solidFill>
                  <a:effectLst>
                    <a:outerShdw blurRad="38100" dist="38100" dir="2700000" algn="tl">
                      <a:srgbClr val="C0C0C0"/>
                    </a:outerShdw>
                  </a:effectLst>
                  <a:ea typeface="黑体" pitchFamily="2" charset="-122"/>
                </a:rPr>
                <a:t>1.</a:t>
              </a:r>
              <a:r>
                <a:rPr lang="zh-CN" altLang="en-US" sz="2100" b="1" dirty="0">
                  <a:latin typeface="楷体_GB2312" pitchFamily="49" charset="-122"/>
                  <a:ea typeface="楷体_GB2312" pitchFamily="49" charset="-122"/>
                </a:rPr>
                <a:t>已知                              求         </a:t>
              </a:r>
            </a:p>
          </p:txBody>
        </p:sp>
        <p:graphicFrame>
          <p:nvGraphicFramePr>
            <p:cNvPr id="81939" name="Object 4">
              <a:extLst>
                <a:ext uri="{FF2B5EF4-FFF2-40B4-BE49-F238E27FC236}">
                  <a16:creationId xmlns:a16="http://schemas.microsoft.com/office/drawing/2014/main" id="{EAC1441C-3D1A-B53F-4CBE-F01073B95FE9}"/>
                </a:ext>
              </a:extLst>
            </p:cNvPr>
            <p:cNvGraphicFramePr>
              <a:graphicFrameLocks noChangeAspect="1"/>
            </p:cNvGraphicFramePr>
            <p:nvPr/>
          </p:nvGraphicFramePr>
          <p:xfrm>
            <a:off x="1006" y="37"/>
            <a:ext cx="891" cy="287"/>
          </p:xfrm>
          <a:graphic>
            <a:graphicData uri="http://schemas.openxmlformats.org/presentationml/2006/ole">
              <mc:AlternateContent xmlns:mc="http://schemas.openxmlformats.org/markup-compatibility/2006">
                <mc:Choice xmlns:v="urn:schemas-microsoft-com:vml" Requires="v">
                  <p:oleObj name="Equation" r:id="rId2" imgW="685800" imgH="215640" progId="Equation.DSMT4">
                    <p:embed/>
                  </p:oleObj>
                </mc:Choice>
                <mc:Fallback>
                  <p:oleObj name="Equation" r:id="rId2" imgW="685800" imgH="215640" progId="Equation.DSMT4">
                    <p:embed/>
                    <p:pic>
                      <p:nvPicPr>
                        <p:cNvPr id="81939" name="Object 4">
                          <a:extLst>
                            <a:ext uri="{FF2B5EF4-FFF2-40B4-BE49-F238E27FC236}">
                              <a16:creationId xmlns:a16="http://schemas.microsoft.com/office/drawing/2014/main" id="{EAC1441C-3D1A-B53F-4CBE-F01073B95FE9}"/>
                            </a:ext>
                          </a:extLst>
                        </p:cNvPr>
                        <p:cNvPicPr>
                          <a:picLocks noChangeAspect="1" noChangeArrowheads="1"/>
                        </p:cNvPicPr>
                        <p:nvPr/>
                      </p:nvPicPr>
                      <p:blipFill>
                        <a:blip r:embed="rId3"/>
                        <a:srcRect/>
                        <a:stretch>
                          <a:fillRect/>
                        </a:stretch>
                      </p:blipFill>
                      <p:spPr bwMode="auto">
                        <a:xfrm>
                          <a:off x="1006" y="37"/>
                          <a:ext cx="891"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40" name="Object 5">
              <a:extLst>
                <a:ext uri="{FF2B5EF4-FFF2-40B4-BE49-F238E27FC236}">
                  <a16:creationId xmlns:a16="http://schemas.microsoft.com/office/drawing/2014/main" id="{E54194F7-D4E6-05CB-5A27-B8AB7C0E72F3}"/>
                </a:ext>
              </a:extLst>
            </p:cNvPr>
            <p:cNvGraphicFramePr>
              <a:graphicFrameLocks noChangeAspect="1"/>
            </p:cNvGraphicFramePr>
            <p:nvPr/>
          </p:nvGraphicFramePr>
          <p:xfrm>
            <a:off x="1891" y="55"/>
            <a:ext cx="1089" cy="279"/>
          </p:xfrm>
          <a:graphic>
            <a:graphicData uri="http://schemas.openxmlformats.org/presentationml/2006/ole">
              <mc:AlternateContent xmlns:mc="http://schemas.openxmlformats.org/markup-compatibility/2006">
                <mc:Choice xmlns:v="urn:schemas-microsoft-com:vml" Requires="v">
                  <p:oleObj r:id="rId4" imgW="812447" imgH="203112" progId="Equation.3">
                    <p:embed/>
                  </p:oleObj>
                </mc:Choice>
                <mc:Fallback>
                  <p:oleObj r:id="rId4" imgW="812447" imgH="203112" progId="Equation.3">
                    <p:embed/>
                    <p:pic>
                      <p:nvPicPr>
                        <p:cNvPr id="81940" name="Object 5">
                          <a:extLst>
                            <a:ext uri="{FF2B5EF4-FFF2-40B4-BE49-F238E27FC236}">
                              <a16:creationId xmlns:a16="http://schemas.microsoft.com/office/drawing/2014/main" id="{E54194F7-D4E6-05CB-5A27-B8AB7C0E72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1" y="55"/>
                          <a:ext cx="1089"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41" name="Object 6">
              <a:extLst>
                <a:ext uri="{FF2B5EF4-FFF2-40B4-BE49-F238E27FC236}">
                  <a16:creationId xmlns:a16="http://schemas.microsoft.com/office/drawing/2014/main" id="{D104146C-56CD-C87C-A9BF-8BD26F27EE8B}"/>
                </a:ext>
              </a:extLst>
            </p:cNvPr>
            <p:cNvGraphicFramePr>
              <a:graphicFrameLocks noChangeAspect="1"/>
            </p:cNvGraphicFramePr>
            <p:nvPr/>
          </p:nvGraphicFramePr>
          <p:xfrm>
            <a:off x="3266" y="45"/>
            <a:ext cx="590" cy="269"/>
          </p:xfrm>
          <a:graphic>
            <a:graphicData uri="http://schemas.openxmlformats.org/presentationml/2006/ole">
              <mc:AlternateContent xmlns:mc="http://schemas.openxmlformats.org/markup-compatibility/2006">
                <mc:Choice xmlns:v="urn:schemas-microsoft-com:vml" Requires="v">
                  <p:oleObj r:id="rId6" imgW="444500" imgH="203200" progId="Equation.3">
                    <p:embed/>
                  </p:oleObj>
                </mc:Choice>
                <mc:Fallback>
                  <p:oleObj r:id="rId6" imgW="444500" imgH="203200" progId="Equation.3">
                    <p:embed/>
                    <p:pic>
                      <p:nvPicPr>
                        <p:cNvPr id="81941" name="Object 6">
                          <a:extLst>
                            <a:ext uri="{FF2B5EF4-FFF2-40B4-BE49-F238E27FC236}">
                              <a16:creationId xmlns:a16="http://schemas.microsoft.com/office/drawing/2014/main" id="{D104146C-56CD-C87C-A9BF-8BD26F27EE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6" y="45"/>
                          <a:ext cx="59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42" name="Object 7">
              <a:extLst>
                <a:ext uri="{FF2B5EF4-FFF2-40B4-BE49-F238E27FC236}">
                  <a16:creationId xmlns:a16="http://schemas.microsoft.com/office/drawing/2014/main" id="{481980CE-C424-C378-FCBD-9A96C2274BD6}"/>
                </a:ext>
              </a:extLst>
            </p:cNvPr>
            <p:cNvGraphicFramePr>
              <a:graphicFrameLocks noChangeAspect="1"/>
            </p:cNvGraphicFramePr>
            <p:nvPr/>
          </p:nvGraphicFramePr>
          <p:xfrm>
            <a:off x="3811" y="66"/>
            <a:ext cx="589" cy="269"/>
          </p:xfrm>
          <a:graphic>
            <a:graphicData uri="http://schemas.openxmlformats.org/presentationml/2006/ole">
              <mc:AlternateContent xmlns:mc="http://schemas.openxmlformats.org/markup-compatibility/2006">
                <mc:Choice xmlns:v="urn:schemas-microsoft-com:vml" Requires="v">
                  <p:oleObj r:id="rId8" imgW="444500" imgH="203200" progId="Equation.3">
                    <p:embed/>
                  </p:oleObj>
                </mc:Choice>
                <mc:Fallback>
                  <p:oleObj r:id="rId8" imgW="444500" imgH="203200" progId="Equation.3">
                    <p:embed/>
                    <p:pic>
                      <p:nvPicPr>
                        <p:cNvPr id="81942" name="Object 7">
                          <a:extLst>
                            <a:ext uri="{FF2B5EF4-FFF2-40B4-BE49-F238E27FC236}">
                              <a16:creationId xmlns:a16="http://schemas.microsoft.com/office/drawing/2014/main" id="{481980CE-C424-C378-FCBD-9A96C2274BD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1" y="66"/>
                          <a:ext cx="58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43" name="Object 8">
              <a:extLst>
                <a:ext uri="{FF2B5EF4-FFF2-40B4-BE49-F238E27FC236}">
                  <a16:creationId xmlns:a16="http://schemas.microsoft.com/office/drawing/2014/main" id="{83A609E2-4BA9-AE0A-FD6E-B5B755E5B92E}"/>
                </a:ext>
              </a:extLst>
            </p:cNvPr>
            <p:cNvGraphicFramePr>
              <a:graphicFrameLocks noChangeAspect="1"/>
            </p:cNvGraphicFramePr>
            <p:nvPr/>
          </p:nvGraphicFramePr>
          <p:xfrm>
            <a:off x="4400" y="45"/>
            <a:ext cx="1202" cy="319"/>
          </p:xfrm>
          <a:graphic>
            <a:graphicData uri="http://schemas.openxmlformats.org/presentationml/2006/ole">
              <mc:AlternateContent xmlns:mc="http://schemas.openxmlformats.org/markup-compatibility/2006">
                <mc:Choice xmlns:v="urn:schemas-microsoft-com:vml" Requires="v">
                  <p:oleObj r:id="rId10" imgW="863600" imgH="228600" progId="Equation.3">
                    <p:embed/>
                  </p:oleObj>
                </mc:Choice>
                <mc:Fallback>
                  <p:oleObj r:id="rId10" imgW="863600" imgH="228600" progId="Equation.3">
                    <p:embed/>
                    <p:pic>
                      <p:nvPicPr>
                        <p:cNvPr id="81943" name="Object 8">
                          <a:extLst>
                            <a:ext uri="{FF2B5EF4-FFF2-40B4-BE49-F238E27FC236}">
                              <a16:creationId xmlns:a16="http://schemas.microsoft.com/office/drawing/2014/main" id="{83A609E2-4BA9-AE0A-FD6E-B5B755E5B92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00" y="45"/>
                          <a:ext cx="120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53961" name="Rectangle 9">
            <a:extLst>
              <a:ext uri="{FF2B5EF4-FFF2-40B4-BE49-F238E27FC236}">
                <a16:creationId xmlns:a16="http://schemas.microsoft.com/office/drawing/2014/main" id="{0DE463B4-FC2D-F4B8-1C80-8135113CF491}"/>
              </a:ext>
            </a:extLst>
          </p:cNvPr>
          <p:cNvSpPr>
            <a:spLocks noChangeArrowheads="1"/>
          </p:cNvSpPr>
          <p:nvPr/>
        </p:nvSpPr>
        <p:spPr bwMode="auto">
          <a:xfrm>
            <a:off x="1277541" y="1235869"/>
            <a:ext cx="803425" cy="461665"/>
          </a:xfrm>
          <a:prstGeom prst="rect">
            <a:avLst/>
          </a:prstGeom>
          <a:noFill/>
          <a:ln>
            <a:noFill/>
          </a:ln>
          <a:effectLst/>
        </p:spPr>
        <p:txBody>
          <a:bodyPr wrap="none">
            <a:spAutoFit/>
          </a:bodyPr>
          <a:lstStyle/>
          <a:p>
            <a:pPr eaLnBrk="1" hangingPunct="1">
              <a:defRPr/>
            </a:pPr>
            <a:r>
              <a:rPr lang="zh-CN" altLang="en-US" sz="2400" b="1">
                <a:solidFill>
                  <a:srgbClr val="0000FF"/>
                </a:solidFill>
                <a:effectLst>
                  <a:outerShdw blurRad="38100" dist="38100" dir="2700000" algn="tl">
                    <a:srgbClr val="C0C0C0"/>
                  </a:outerShdw>
                </a:effectLst>
                <a:ea typeface="黑体" pitchFamily="2" charset="-122"/>
              </a:rPr>
              <a:t>解：</a:t>
            </a:r>
          </a:p>
        </p:txBody>
      </p:sp>
      <p:graphicFrame>
        <p:nvGraphicFramePr>
          <p:cNvPr id="253962" name="Object 10">
            <a:extLst>
              <a:ext uri="{FF2B5EF4-FFF2-40B4-BE49-F238E27FC236}">
                <a16:creationId xmlns:a16="http://schemas.microsoft.com/office/drawing/2014/main" id="{32D330B3-532D-6CEA-2059-546B023EAB96}"/>
              </a:ext>
            </a:extLst>
          </p:cNvPr>
          <p:cNvGraphicFramePr>
            <a:graphicFrameLocks noChangeAspect="1"/>
          </p:cNvGraphicFramePr>
          <p:nvPr/>
        </p:nvGraphicFramePr>
        <p:xfrm>
          <a:off x="1862138" y="1319213"/>
          <a:ext cx="1154906" cy="359569"/>
        </p:xfrm>
        <a:graphic>
          <a:graphicData uri="http://schemas.openxmlformats.org/presentationml/2006/ole">
            <mc:AlternateContent xmlns:mc="http://schemas.openxmlformats.org/markup-compatibility/2006">
              <mc:Choice xmlns:v="urn:schemas-microsoft-com:vml" Requires="v">
                <p:oleObj name="Equation" r:id="rId12" imgW="711000" imgH="215640" progId="Equation.DSMT4">
                  <p:embed/>
                </p:oleObj>
              </mc:Choice>
              <mc:Fallback>
                <p:oleObj name="Equation" r:id="rId12" imgW="711000" imgH="215640" progId="Equation.DSMT4">
                  <p:embed/>
                  <p:pic>
                    <p:nvPicPr>
                      <p:cNvPr id="253962" name="Object 10">
                        <a:extLst>
                          <a:ext uri="{FF2B5EF4-FFF2-40B4-BE49-F238E27FC236}">
                            <a16:creationId xmlns:a16="http://schemas.microsoft.com/office/drawing/2014/main" id="{32D330B3-532D-6CEA-2059-546B023EAB96}"/>
                          </a:ext>
                        </a:extLst>
                      </p:cNvPr>
                      <p:cNvPicPr>
                        <a:picLocks noChangeAspect="1" noChangeArrowheads="1"/>
                      </p:cNvPicPr>
                      <p:nvPr/>
                    </p:nvPicPr>
                    <p:blipFill>
                      <a:blip r:embed="rId13"/>
                      <a:srcRect/>
                      <a:stretch>
                        <a:fillRect/>
                      </a:stretch>
                    </p:blipFill>
                    <p:spPr bwMode="auto">
                      <a:xfrm>
                        <a:off x="1862138" y="1319213"/>
                        <a:ext cx="1154906" cy="359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3963" name="Text Box 11">
            <a:extLst>
              <a:ext uri="{FF2B5EF4-FFF2-40B4-BE49-F238E27FC236}">
                <a16:creationId xmlns:a16="http://schemas.microsoft.com/office/drawing/2014/main" id="{2B905835-BA2F-1EEB-169C-B3995FBC7554}"/>
              </a:ext>
            </a:extLst>
          </p:cNvPr>
          <p:cNvSpPr txBox="1">
            <a:spLocks noChangeArrowheads="1"/>
          </p:cNvSpPr>
          <p:nvPr/>
        </p:nvSpPr>
        <p:spPr bwMode="auto">
          <a:xfrm>
            <a:off x="6192441" y="1275160"/>
            <a:ext cx="5715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100" b="1">
                <a:ea typeface="楷体_GB2312" pitchFamily="49" charset="-122"/>
              </a:rPr>
              <a:t>则</a:t>
            </a:r>
          </a:p>
        </p:txBody>
      </p:sp>
      <p:graphicFrame>
        <p:nvGraphicFramePr>
          <p:cNvPr id="253964" name="Object 12">
            <a:extLst>
              <a:ext uri="{FF2B5EF4-FFF2-40B4-BE49-F238E27FC236}">
                <a16:creationId xmlns:a16="http://schemas.microsoft.com/office/drawing/2014/main" id="{EB2B8532-E970-EBBA-5F23-C214205AADCA}"/>
              </a:ext>
            </a:extLst>
          </p:cNvPr>
          <p:cNvGraphicFramePr>
            <a:graphicFrameLocks noChangeAspect="1"/>
          </p:cNvGraphicFramePr>
          <p:nvPr/>
        </p:nvGraphicFramePr>
        <p:xfrm>
          <a:off x="3492104" y="1383506"/>
          <a:ext cx="1082278" cy="310754"/>
        </p:xfrm>
        <a:graphic>
          <a:graphicData uri="http://schemas.openxmlformats.org/presentationml/2006/ole">
            <mc:AlternateContent xmlns:mc="http://schemas.openxmlformats.org/markup-compatibility/2006">
              <mc:Choice xmlns:v="urn:schemas-microsoft-com:vml" Requires="v">
                <p:oleObj r:id="rId14" imgW="723900" imgH="203200" progId="Equation.3">
                  <p:embed/>
                </p:oleObj>
              </mc:Choice>
              <mc:Fallback>
                <p:oleObj r:id="rId14" imgW="723900" imgH="203200" progId="Equation.3">
                  <p:embed/>
                  <p:pic>
                    <p:nvPicPr>
                      <p:cNvPr id="253964" name="Object 12">
                        <a:extLst>
                          <a:ext uri="{FF2B5EF4-FFF2-40B4-BE49-F238E27FC236}">
                            <a16:creationId xmlns:a16="http://schemas.microsoft.com/office/drawing/2014/main" id="{EB2B8532-E970-EBBA-5F23-C214205AADC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92104" y="1383506"/>
                        <a:ext cx="1082278" cy="31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65" name="Object 13">
            <a:extLst>
              <a:ext uri="{FF2B5EF4-FFF2-40B4-BE49-F238E27FC236}">
                <a16:creationId xmlns:a16="http://schemas.microsoft.com/office/drawing/2014/main" id="{99A1EA17-AFB1-BCDA-7586-33B007CB09CB}"/>
              </a:ext>
            </a:extLst>
          </p:cNvPr>
          <p:cNvGraphicFramePr>
            <a:graphicFrameLocks noChangeAspect="1"/>
          </p:cNvGraphicFramePr>
          <p:nvPr/>
        </p:nvGraphicFramePr>
        <p:xfrm>
          <a:off x="4787504" y="1329928"/>
          <a:ext cx="1067990" cy="336947"/>
        </p:xfrm>
        <a:graphic>
          <a:graphicData uri="http://schemas.openxmlformats.org/presentationml/2006/ole">
            <mc:AlternateContent xmlns:mc="http://schemas.openxmlformats.org/markup-compatibility/2006">
              <mc:Choice xmlns:v="urn:schemas-microsoft-com:vml" Requires="v">
                <p:oleObj r:id="rId16" imgW="660400" imgH="203200" progId="Equation.3">
                  <p:embed/>
                </p:oleObj>
              </mc:Choice>
              <mc:Fallback>
                <p:oleObj r:id="rId16" imgW="660400" imgH="203200" progId="Equation.3">
                  <p:embed/>
                  <p:pic>
                    <p:nvPicPr>
                      <p:cNvPr id="253965" name="Object 13">
                        <a:extLst>
                          <a:ext uri="{FF2B5EF4-FFF2-40B4-BE49-F238E27FC236}">
                            <a16:creationId xmlns:a16="http://schemas.microsoft.com/office/drawing/2014/main" id="{99A1EA17-AFB1-BCDA-7586-33B007CB09C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87504" y="1329928"/>
                        <a:ext cx="1067990" cy="33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66" name="Object 14">
            <a:extLst>
              <a:ext uri="{FF2B5EF4-FFF2-40B4-BE49-F238E27FC236}">
                <a16:creationId xmlns:a16="http://schemas.microsoft.com/office/drawing/2014/main" id="{FE5CB9A0-7023-77A6-80F1-53D72CAF8646}"/>
              </a:ext>
            </a:extLst>
          </p:cNvPr>
          <p:cNvGraphicFramePr>
            <a:graphicFrameLocks noChangeAspect="1"/>
          </p:cNvGraphicFramePr>
          <p:nvPr/>
        </p:nvGraphicFramePr>
        <p:xfrm>
          <a:off x="1763316" y="1869282"/>
          <a:ext cx="711994" cy="345281"/>
        </p:xfrm>
        <a:graphic>
          <a:graphicData uri="http://schemas.openxmlformats.org/presentationml/2006/ole">
            <mc:AlternateContent xmlns:mc="http://schemas.openxmlformats.org/markup-compatibility/2006">
              <mc:Choice xmlns:v="urn:schemas-microsoft-com:vml" Requires="v">
                <p:oleObj r:id="rId18" imgW="419100" imgH="203200" progId="Equation.3">
                  <p:embed/>
                </p:oleObj>
              </mc:Choice>
              <mc:Fallback>
                <p:oleObj r:id="rId18" imgW="419100" imgH="203200" progId="Equation.3">
                  <p:embed/>
                  <p:pic>
                    <p:nvPicPr>
                      <p:cNvPr id="253966" name="Object 14">
                        <a:extLst>
                          <a:ext uri="{FF2B5EF4-FFF2-40B4-BE49-F238E27FC236}">
                            <a16:creationId xmlns:a16="http://schemas.microsoft.com/office/drawing/2014/main" id="{FE5CB9A0-7023-77A6-80F1-53D72CAF864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3316" y="1869282"/>
                        <a:ext cx="711994" cy="345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67" name="Object 15">
            <a:extLst>
              <a:ext uri="{FF2B5EF4-FFF2-40B4-BE49-F238E27FC236}">
                <a16:creationId xmlns:a16="http://schemas.microsoft.com/office/drawing/2014/main" id="{2E711366-C2CC-062E-B779-CAC58676B4C1}"/>
              </a:ext>
            </a:extLst>
          </p:cNvPr>
          <p:cNvGraphicFramePr>
            <a:graphicFrameLocks noChangeAspect="1"/>
          </p:cNvGraphicFramePr>
          <p:nvPr/>
        </p:nvGraphicFramePr>
        <p:xfrm>
          <a:off x="2412207" y="1869281"/>
          <a:ext cx="1889522" cy="363141"/>
        </p:xfrm>
        <a:graphic>
          <a:graphicData uri="http://schemas.openxmlformats.org/presentationml/2006/ole">
            <mc:AlternateContent xmlns:mc="http://schemas.openxmlformats.org/markup-compatibility/2006">
              <mc:Choice xmlns:v="urn:schemas-microsoft-com:vml" Requires="v">
                <p:oleObj r:id="rId20" imgW="863225" imgH="203112" progId="Equation.3">
                  <p:embed/>
                </p:oleObj>
              </mc:Choice>
              <mc:Fallback>
                <p:oleObj r:id="rId20" imgW="863225" imgH="203112" progId="Equation.3">
                  <p:embed/>
                  <p:pic>
                    <p:nvPicPr>
                      <p:cNvPr id="253967" name="Object 15">
                        <a:extLst>
                          <a:ext uri="{FF2B5EF4-FFF2-40B4-BE49-F238E27FC236}">
                            <a16:creationId xmlns:a16="http://schemas.microsoft.com/office/drawing/2014/main" id="{2E711366-C2CC-062E-B779-CAC58676B4C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12207" y="1869281"/>
                        <a:ext cx="1889522" cy="363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68" name="Object 16">
            <a:extLst>
              <a:ext uri="{FF2B5EF4-FFF2-40B4-BE49-F238E27FC236}">
                <a16:creationId xmlns:a16="http://schemas.microsoft.com/office/drawing/2014/main" id="{FED42FB7-5F65-E2FB-733A-A9B8F492F941}"/>
              </a:ext>
            </a:extLst>
          </p:cNvPr>
          <p:cNvGraphicFramePr>
            <a:graphicFrameLocks noChangeAspect="1"/>
          </p:cNvGraphicFramePr>
          <p:nvPr/>
        </p:nvGraphicFramePr>
        <p:xfrm>
          <a:off x="4248150" y="1815703"/>
          <a:ext cx="485775" cy="347663"/>
        </p:xfrm>
        <a:graphic>
          <a:graphicData uri="http://schemas.openxmlformats.org/presentationml/2006/ole">
            <mc:AlternateContent xmlns:mc="http://schemas.openxmlformats.org/markup-compatibility/2006">
              <mc:Choice xmlns:v="urn:schemas-microsoft-com:vml" Requires="v">
                <p:oleObj r:id="rId22" imgW="253890" imgH="177723" progId="Equation.3">
                  <p:embed/>
                </p:oleObj>
              </mc:Choice>
              <mc:Fallback>
                <p:oleObj r:id="rId22" imgW="253890" imgH="177723" progId="Equation.3">
                  <p:embed/>
                  <p:pic>
                    <p:nvPicPr>
                      <p:cNvPr id="253968" name="Object 16">
                        <a:extLst>
                          <a:ext uri="{FF2B5EF4-FFF2-40B4-BE49-F238E27FC236}">
                            <a16:creationId xmlns:a16="http://schemas.microsoft.com/office/drawing/2014/main" id="{FED42FB7-5F65-E2FB-733A-A9B8F492F94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48150" y="1815703"/>
                        <a:ext cx="48577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69" name="Object 17">
            <a:extLst>
              <a:ext uri="{FF2B5EF4-FFF2-40B4-BE49-F238E27FC236}">
                <a16:creationId xmlns:a16="http://schemas.microsoft.com/office/drawing/2014/main" id="{B71418CA-0F6A-5CB2-C83E-FEA5DFAEC1DA}"/>
              </a:ext>
            </a:extLst>
          </p:cNvPr>
          <p:cNvGraphicFramePr>
            <a:graphicFrameLocks noChangeAspect="1"/>
          </p:cNvGraphicFramePr>
          <p:nvPr/>
        </p:nvGraphicFramePr>
        <p:xfrm>
          <a:off x="1763316" y="2447925"/>
          <a:ext cx="702469" cy="363141"/>
        </p:xfrm>
        <a:graphic>
          <a:graphicData uri="http://schemas.openxmlformats.org/presentationml/2006/ole">
            <mc:AlternateContent xmlns:mc="http://schemas.openxmlformats.org/markup-compatibility/2006">
              <mc:Choice xmlns:v="urn:schemas-microsoft-com:vml" Requires="v">
                <p:oleObj r:id="rId24" imgW="393700" imgH="203200" progId="Equation.3">
                  <p:embed/>
                </p:oleObj>
              </mc:Choice>
              <mc:Fallback>
                <p:oleObj r:id="rId24" imgW="393700" imgH="203200" progId="Equation.3">
                  <p:embed/>
                  <p:pic>
                    <p:nvPicPr>
                      <p:cNvPr id="253969" name="Object 17">
                        <a:extLst>
                          <a:ext uri="{FF2B5EF4-FFF2-40B4-BE49-F238E27FC236}">
                            <a16:creationId xmlns:a16="http://schemas.microsoft.com/office/drawing/2014/main" id="{B71418CA-0F6A-5CB2-C83E-FEA5DFAEC1DA}"/>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763316" y="2447925"/>
                        <a:ext cx="702469" cy="363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70" name="Object 18">
            <a:extLst>
              <a:ext uri="{FF2B5EF4-FFF2-40B4-BE49-F238E27FC236}">
                <a16:creationId xmlns:a16="http://schemas.microsoft.com/office/drawing/2014/main" id="{F89CE15D-3503-E6C8-F5D9-2E1F8B9E5373}"/>
              </a:ext>
            </a:extLst>
          </p:cNvPr>
          <p:cNvGraphicFramePr>
            <a:graphicFrameLocks noChangeAspect="1"/>
          </p:cNvGraphicFramePr>
          <p:nvPr/>
        </p:nvGraphicFramePr>
        <p:xfrm>
          <a:off x="2519363" y="2463404"/>
          <a:ext cx="1350169" cy="353615"/>
        </p:xfrm>
        <a:graphic>
          <a:graphicData uri="http://schemas.openxmlformats.org/presentationml/2006/ole">
            <mc:AlternateContent xmlns:mc="http://schemas.openxmlformats.org/markup-compatibility/2006">
              <mc:Choice xmlns:v="urn:schemas-microsoft-com:vml" Requires="v">
                <p:oleObj r:id="rId26" imgW="635000" imgH="203200" progId="Equation.3">
                  <p:embed/>
                </p:oleObj>
              </mc:Choice>
              <mc:Fallback>
                <p:oleObj r:id="rId26" imgW="635000" imgH="203200" progId="Equation.3">
                  <p:embed/>
                  <p:pic>
                    <p:nvPicPr>
                      <p:cNvPr id="253970" name="Object 18">
                        <a:extLst>
                          <a:ext uri="{FF2B5EF4-FFF2-40B4-BE49-F238E27FC236}">
                            <a16:creationId xmlns:a16="http://schemas.microsoft.com/office/drawing/2014/main" id="{F89CE15D-3503-E6C8-F5D9-2E1F8B9E5373}"/>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19363" y="2463404"/>
                        <a:ext cx="1350169" cy="353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71" name="Object 19">
            <a:extLst>
              <a:ext uri="{FF2B5EF4-FFF2-40B4-BE49-F238E27FC236}">
                <a16:creationId xmlns:a16="http://schemas.microsoft.com/office/drawing/2014/main" id="{18894CB4-D3BC-F95F-F25A-2095173C274A}"/>
              </a:ext>
            </a:extLst>
          </p:cNvPr>
          <p:cNvGraphicFramePr>
            <a:graphicFrameLocks noChangeAspect="1"/>
          </p:cNvGraphicFramePr>
          <p:nvPr/>
        </p:nvGraphicFramePr>
        <p:xfrm>
          <a:off x="3869532" y="2409826"/>
          <a:ext cx="594122" cy="316706"/>
        </p:xfrm>
        <a:graphic>
          <a:graphicData uri="http://schemas.openxmlformats.org/presentationml/2006/ole">
            <mc:AlternateContent xmlns:mc="http://schemas.openxmlformats.org/markup-compatibility/2006">
              <mc:Choice xmlns:v="urn:schemas-microsoft-com:vml" Requires="v">
                <p:oleObj r:id="rId28" imgW="317500" imgH="165100" progId="Equation.3">
                  <p:embed/>
                </p:oleObj>
              </mc:Choice>
              <mc:Fallback>
                <p:oleObj r:id="rId28" imgW="317500" imgH="165100" progId="Equation.3">
                  <p:embed/>
                  <p:pic>
                    <p:nvPicPr>
                      <p:cNvPr id="253971" name="Object 19">
                        <a:extLst>
                          <a:ext uri="{FF2B5EF4-FFF2-40B4-BE49-F238E27FC236}">
                            <a16:creationId xmlns:a16="http://schemas.microsoft.com/office/drawing/2014/main" id="{18894CB4-D3BC-F95F-F25A-2095173C274A}"/>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869532" y="2409826"/>
                        <a:ext cx="594122" cy="31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72" name="Object 20">
            <a:extLst>
              <a:ext uri="{FF2B5EF4-FFF2-40B4-BE49-F238E27FC236}">
                <a16:creationId xmlns:a16="http://schemas.microsoft.com/office/drawing/2014/main" id="{BF4C144F-8AC8-E511-7B59-1A204E6D7DB1}"/>
              </a:ext>
            </a:extLst>
          </p:cNvPr>
          <p:cNvGraphicFramePr>
            <a:graphicFrameLocks noChangeAspect="1"/>
          </p:cNvGraphicFramePr>
          <p:nvPr/>
        </p:nvGraphicFramePr>
        <p:xfrm>
          <a:off x="1763316" y="2986088"/>
          <a:ext cx="1512094" cy="401241"/>
        </p:xfrm>
        <a:graphic>
          <a:graphicData uri="http://schemas.openxmlformats.org/presentationml/2006/ole">
            <mc:AlternateContent xmlns:mc="http://schemas.openxmlformats.org/markup-compatibility/2006">
              <mc:Choice xmlns:v="urn:schemas-microsoft-com:vml" Requires="v">
                <p:oleObj r:id="rId30" imgW="863600" imgH="228600" progId="Equation.3">
                  <p:embed/>
                </p:oleObj>
              </mc:Choice>
              <mc:Fallback>
                <p:oleObj r:id="rId30" imgW="863600" imgH="228600" progId="Equation.3">
                  <p:embed/>
                  <p:pic>
                    <p:nvPicPr>
                      <p:cNvPr id="253972" name="Object 20">
                        <a:extLst>
                          <a:ext uri="{FF2B5EF4-FFF2-40B4-BE49-F238E27FC236}">
                            <a16:creationId xmlns:a16="http://schemas.microsoft.com/office/drawing/2014/main" id="{BF4C144F-8AC8-E511-7B59-1A204E6D7DB1}"/>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763316" y="2986088"/>
                        <a:ext cx="1512094" cy="401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73" name="Object 21">
            <a:extLst>
              <a:ext uri="{FF2B5EF4-FFF2-40B4-BE49-F238E27FC236}">
                <a16:creationId xmlns:a16="http://schemas.microsoft.com/office/drawing/2014/main" id="{7D3F94CF-9F0B-F5D2-75D2-C2E495C71536}"/>
              </a:ext>
            </a:extLst>
          </p:cNvPr>
          <p:cNvGraphicFramePr>
            <a:graphicFrameLocks noChangeAspect="1"/>
          </p:cNvGraphicFramePr>
          <p:nvPr/>
        </p:nvGraphicFramePr>
        <p:xfrm>
          <a:off x="3383756" y="3003948"/>
          <a:ext cx="1566863" cy="392906"/>
        </p:xfrm>
        <a:graphic>
          <a:graphicData uri="http://schemas.openxmlformats.org/presentationml/2006/ole">
            <mc:AlternateContent xmlns:mc="http://schemas.openxmlformats.org/markup-compatibility/2006">
              <mc:Choice xmlns:v="urn:schemas-microsoft-com:vml" Requires="v">
                <p:oleObj r:id="rId32" imgW="914797" imgH="228699" progId="Equation.3">
                  <p:embed/>
                </p:oleObj>
              </mc:Choice>
              <mc:Fallback>
                <p:oleObj r:id="rId32" imgW="914797" imgH="228699" progId="Equation.3">
                  <p:embed/>
                  <p:pic>
                    <p:nvPicPr>
                      <p:cNvPr id="253973" name="Object 21">
                        <a:extLst>
                          <a:ext uri="{FF2B5EF4-FFF2-40B4-BE49-F238E27FC236}">
                            <a16:creationId xmlns:a16="http://schemas.microsoft.com/office/drawing/2014/main" id="{7D3F94CF-9F0B-F5D2-75D2-C2E495C71536}"/>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383756" y="3003948"/>
                        <a:ext cx="1566863" cy="39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74" name="Object 22">
            <a:extLst>
              <a:ext uri="{FF2B5EF4-FFF2-40B4-BE49-F238E27FC236}">
                <a16:creationId xmlns:a16="http://schemas.microsoft.com/office/drawing/2014/main" id="{50298239-3C1B-7B43-516C-4C2995131CC7}"/>
              </a:ext>
            </a:extLst>
          </p:cNvPr>
          <p:cNvGraphicFramePr>
            <a:graphicFrameLocks noChangeAspect="1"/>
          </p:cNvGraphicFramePr>
          <p:nvPr/>
        </p:nvGraphicFramePr>
        <p:xfrm>
          <a:off x="1656160" y="3543301"/>
          <a:ext cx="2862263" cy="403622"/>
        </p:xfrm>
        <a:graphic>
          <a:graphicData uri="http://schemas.openxmlformats.org/presentationml/2006/ole">
            <mc:AlternateContent xmlns:mc="http://schemas.openxmlformats.org/markup-compatibility/2006">
              <mc:Choice xmlns:v="urn:schemas-microsoft-com:vml" Requires="v">
                <p:oleObj r:id="rId34" imgW="1626306" imgH="228699" progId="Equation.3">
                  <p:embed/>
                </p:oleObj>
              </mc:Choice>
              <mc:Fallback>
                <p:oleObj r:id="rId34" imgW="1626306" imgH="228699" progId="Equation.3">
                  <p:embed/>
                  <p:pic>
                    <p:nvPicPr>
                      <p:cNvPr id="253974" name="Object 22">
                        <a:extLst>
                          <a:ext uri="{FF2B5EF4-FFF2-40B4-BE49-F238E27FC236}">
                            <a16:creationId xmlns:a16="http://schemas.microsoft.com/office/drawing/2014/main" id="{50298239-3C1B-7B43-516C-4C2995131CC7}"/>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656160" y="3543301"/>
                        <a:ext cx="2862263" cy="40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3975" name="Object 23">
            <a:extLst>
              <a:ext uri="{FF2B5EF4-FFF2-40B4-BE49-F238E27FC236}">
                <a16:creationId xmlns:a16="http://schemas.microsoft.com/office/drawing/2014/main" id="{C6F09449-A519-62F9-0B2B-E09D5407FC76}"/>
              </a:ext>
            </a:extLst>
          </p:cNvPr>
          <p:cNvGraphicFramePr>
            <a:graphicFrameLocks noChangeAspect="1"/>
          </p:cNvGraphicFramePr>
          <p:nvPr/>
        </p:nvGraphicFramePr>
        <p:xfrm>
          <a:off x="4518422" y="3543301"/>
          <a:ext cx="594122" cy="327422"/>
        </p:xfrm>
        <a:graphic>
          <a:graphicData uri="http://schemas.openxmlformats.org/presentationml/2006/ole">
            <mc:AlternateContent xmlns:mc="http://schemas.openxmlformats.org/markup-compatibility/2006">
              <mc:Choice xmlns:v="urn:schemas-microsoft-com:vml" Requires="v">
                <p:oleObj r:id="rId36" imgW="330057" imgH="177723" progId="Equation.3">
                  <p:embed/>
                </p:oleObj>
              </mc:Choice>
              <mc:Fallback>
                <p:oleObj r:id="rId36" imgW="330057" imgH="177723" progId="Equation.3">
                  <p:embed/>
                  <p:pic>
                    <p:nvPicPr>
                      <p:cNvPr id="253975" name="Object 23">
                        <a:extLst>
                          <a:ext uri="{FF2B5EF4-FFF2-40B4-BE49-F238E27FC236}">
                            <a16:creationId xmlns:a16="http://schemas.microsoft.com/office/drawing/2014/main" id="{C6F09449-A519-62F9-0B2B-E09D5407FC76}"/>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518422" y="3543301"/>
                        <a:ext cx="594122" cy="327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253954"/>
                                        </p:tgtEl>
                                        <p:attrNameLst>
                                          <p:attrName>style.visibility</p:attrName>
                                        </p:attrNameLst>
                                      </p:cBhvr>
                                      <p:to>
                                        <p:strVal val="visible"/>
                                      </p:to>
                                    </p:set>
                                    <p:anim calcmode="lin" valueType="num">
                                      <p:cBhvr>
                                        <p:cTn id="7" dur="500" fill="hold"/>
                                        <p:tgtEl>
                                          <p:spTgt spid="253954"/>
                                        </p:tgtEl>
                                        <p:attrNameLst>
                                          <p:attrName>ppt_w</p:attrName>
                                        </p:attrNameLst>
                                      </p:cBhvr>
                                      <p:tavLst>
                                        <p:tav tm="0">
                                          <p:val>
                                            <p:strVal val="#ppt_w*0.05"/>
                                          </p:val>
                                        </p:tav>
                                        <p:tav tm="100000">
                                          <p:val>
                                            <p:strVal val="#ppt_w"/>
                                          </p:val>
                                        </p:tav>
                                      </p:tavLst>
                                    </p:anim>
                                    <p:anim calcmode="lin" valueType="num">
                                      <p:cBhvr>
                                        <p:cTn id="8" dur="500" fill="hold"/>
                                        <p:tgtEl>
                                          <p:spTgt spid="253954"/>
                                        </p:tgtEl>
                                        <p:attrNameLst>
                                          <p:attrName>ppt_h</p:attrName>
                                        </p:attrNameLst>
                                      </p:cBhvr>
                                      <p:tavLst>
                                        <p:tav tm="0">
                                          <p:val>
                                            <p:strVal val="#ppt_h"/>
                                          </p:val>
                                        </p:tav>
                                        <p:tav tm="100000">
                                          <p:val>
                                            <p:strVal val="#ppt_h"/>
                                          </p:val>
                                        </p:tav>
                                      </p:tavLst>
                                    </p:anim>
                                    <p:anim calcmode="lin" valueType="num">
                                      <p:cBhvr>
                                        <p:cTn id="9" dur="500" fill="hold"/>
                                        <p:tgtEl>
                                          <p:spTgt spid="253954"/>
                                        </p:tgtEl>
                                        <p:attrNameLst>
                                          <p:attrName>ppt_x</p:attrName>
                                        </p:attrNameLst>
                                      </p:cBhvr>
                                      <p:tavLst>
                                        <p:tav tm="0">
                                          <p:val>
                                            <p:strVal val="#ppt_x-.2"/>
                                          </p:val>
                                        </p:tav>
                                        <p:tav tm="100000">
                                          <p:val>
                                            <p:strVal val="#ppt_x"/>
                                          </p:val>
                                        </p:tav>
                                      </p:tavLst>
                                    </p:anim>
                                    <p:anim calcmode="lin" valueType="num">
                                      <p:cBhvr>
                                        <p:cTn id="10" dur="500" fill="hold"/>
                                        <p:tgtEl>
                                          <p:spTgt spid="253954"/>
                                        </p:tgtEl>
                                        <p:attrNameLst>
                                          <p:attrName>ppt_y</p:attrName>
                                        </p:attrNameLst>
                                      </p:cBhvr>
                                      <p:tavLst>
                                        <p:tav tm="0">
                                          <p:val>
                                            <p:strVal val="#ppt_y"/>
                                          </p:val>
                                        </p:tav>
                                        <p:tav tm="100000">
                                          <p:val>
                                            <p:strVal val="#ppt_y"/>
                                          </p:val>
                                        </p:tav>
                                      </p:tavLst>
                                    </p:anim>
                                    <p:animEffect transition="in" filter="fade">
                                      <p:cBhvr>
                                        <p:cTn id="11" dur="500"/>
                                        <p:tgtEl>
                                          <p:spTgt spid="25395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53961"/>
                                        </p:tgtEl>
                                        <p:attrNameLst>
                                          <p:attrName>style.visibility</p:attrName>
                                        </p:attrNameLst>
                                      </p:cBhvr>
                                      <p:to>
                                        <p:strVal val="visible"/>
                                      </p:to>
                                    </p:set>
                                    <p:animEffect transition="in" filter="wipe(left)">
                                      <p:cBhvr>
                                        <p:cTn id="16" dur="1000"/>
                                        <p:tgtEl>
                                          <p:spTgt spid="253961"/>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53962"/>
                                        </p:tgtEl>
                                        <p:attrNameLst>
                                          <p:attrName>style.visibility</p:attrName>
                                        </p:attrNameLst>
                                      </p:cBhvr>
                                      <p:to>
                                        <p:strVal val="visible"/>
                                      </p:to>
                                    </p:set>
                                    <p:animEffect transition="in" filter="wipe(left)">
                                      <p:cBhvr>
                                        <p:cTn id="20" dur="1000"/>
                                        <p:tgtEl>
                                          <p:spTgt spid="2539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53964"/>
                                        </p:tgtEl>
                                        <p:attrNameLst>
                                          <p:attrName>style.visibility</p:attrName>
                                        </p:attrNameLst>
                                      </p:cBhvr>
                                      <p:to>
                                        <p:strVal val="visible"/>
                                      </p:to>
                                    </p:set>
                                    <p:animEffect transition="in" filter="wipe(left)">
                                      <p:cBhvr>
                                        <p:cTn id="25" dur="1000"/>
                                        <p:tgtEl>
                                          <p:spTgt spid="253964"/>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253965"/>
                                        </p:tgtEl>
                                        <p:attrNameLst>
                                          <p:attrName>style.visibility</p:attrName>
                                        </p:attrNameLst>
                                      </p:cBhvr>
                                      <p:to>
                                        <p:strVal val="visible"/>
                                      </p:to>
                                    </p:set>
                                    <p:animEffect transition="in" filter="wipe(left)">
                                      <p:cBhvr>
                                        <p:cTn id="29" dur="1000"/>
                                        <p:tgtEl>
                                          <p:spTgt spid="253965"/>
                                        </p:tgtEl>
                                      </p:cBhvr>
                                    </p:animEffect>
                                  </p:childTnLst>
                                </p:cTn>
                              </p:par>
                            </p:childTnLst>
                          </p:cTn>
                        </p:par>
                        <p:par>
                          <p:cTn id="30" fill="hold" nodeType="afterGroup">
                            <p:stCondLst>
                              <p:cond delay="2000"/>
                            </p:stCondLst>
                            <p:childTnLst>
                              <p:par>
                                <p:cTn id="31" presetID="22" presetClass="entr" presetSubtype="8" fill="hold" nodeType="afterEffect">
                                  <p:stCondLst>
                                    <p:cond delay="0"/>
                                  </p:stCondLst>
                                  <p:childTnLst>
                                    <p:set>
                                      <p:cBhvr>
                                        <p:cTn id="32" dur="1" fill="hold">
                                          <p:stCondLst>
                                            <p:cond delay="0"/>
                                          </p:stCondLst>
                                        </p:cTn>
                                        <p:tgtEl>
                                          <p:spTgt spid="253963"/>
                                        </p:tgtEl>
                                        <p:attrNameLst>
                                          <p:attrName>style.visibility</p:attrName>
                                        </p:attrNameLst>
                                      </p:cBhvr>
                                      <p:to>
                                        <p:strVal val="visible"/>
                                      </p:to>
                                    </p:set>
                                    <p:animEffect transition="in" filter="wipe(left)">
                                      <p:cBhvr>
                                        <p:cTn id="33" dur="1000"/>
                                        <p:tgtEl>
                                          <p:spTgt spid="25396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nodeType="clickEffect">
                                  <p:stCondLst>
                                    <p:cond delay="0"/>
                                  </p:stCondLst>
                                  <p:childTnLst>
                                    <p:set>
                                      <p:cBhvr>
                                        <p:cTn id="37" dur="1" fill="hold">
                                          <p:stCondLst>
                                            <p:cond delay="0"/>
                                          </p:stCondLst>
                                        </p:cTn>
                                        <p:tgtEl>
                                          <p:spTgt spid="253966"/>
                                        </p:tgtEl>
                                        <p:attrNameLst>
                                          <p:attrName>style.visibility</p:attrName>
                                        </p:attrNameLst>
                                      </p:cBhvr>
                                      <p:to>
                                        <p:strVal val="visible"/>
                                      </p:to>
                                    </p:set>
                                    <p:anim calcmode="lin" valueType="num">
                                      <p:cBhvr additive="base">
                                        <p:cTn id="38" dur="1000" fill="hold"/>
                                        <p:tgtEl>
                                          <p:spTgt spid="253966"/>
                                        </p:tgtEl>
                                        <p:attrNameLst>
                                          <p:attrName>ppt_x</p:attrName>
                                        </p:attrNameLst>
                                      </p:cBhvr>
                                      <p:tavLst>
                                        <p:tav tm="0">
                                          <p:val>
                                            <p:strVal val="0-#ppt_w/2"/>
                                          </p:val>
                                        </p:tav>
                                        <p:tav tm="100000">
                                          <p:val>
                                            <p:strVal val="#ppt_x"/>
                                          </p:val>
                                        </p:tav>
                                      </p:tavLst>
                                    </p:anim>
                                    <p:anim calcmode="lin" valueType="num">
                                      <p:cBhvr additive="base">
                                        <p:cTn id="39" dur="1000" fill="hold"/>
                                        <p:tgtEl>
                                          <p:spTgt spid="253966"/>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1000"/>
                            </p:stCondLst>
                            <p:childTnLst>
                              <p:par>
                                <p:cTn id="41" presetID="22" presetClass="entr" presetSubtype="8" fill="hold" nodeType="afterEffect">
                                  <p:stCondLst>
                                    <p:cond delay="500"/>
                                  </p:stCondLst>
                                  <p:childTnLst>
                                    <p:set>
                                      <p:cBhvr>
                                        <p:cTn id="42" dur="1" fill="hold">
                                          <p:stCondLst>
                                            <p:cond delay="0"/>
                                          </p:stCondLst>
                                        </p:cTn>
                                        <p:tgtEl>
                                          <p:spTgt spid="253967"/>
                                        </p:tgtEl>
                                        <p:attrNameLst>
                                          <p:attrName>style.visibility</p:attrName>
                                        </p:attrNameLst>
                                      </p:cBhvr>
                                      <p:to>
                                        <p:strVal val="visible"/>
                                      </p:to>
                                    </p:set>
                                    <p:animEffect transition="in" filter="wipe(left)">
                                      <p:cBhvr>
                                        <p:cTn id="43" dur="1000"/>
                                        <p:tgtEl>
                                          <p:spTgt spid="253967"/>
                                        </p:tgtEl>
                                      </p:cBhvr>
                                    </p:animEffect>
                                  </p:childTnLst>
                                </p:cTn>
                              </p:par>
                            </p:childTnLst>
                          </p:cTn>
                        </p:par>
                        <p:par>
                          <p:cTn id="44" fill="hold" nodeType="afterGroup">
                            <p:stCondLst>
                              <p:cond delay="2500"/>
                            </p:stCondLst>
                            <p:childTnLst>
                              <p:par>
                                <p:cTn id="45" presetID="22" presetClass="entr" presetSubtype="8" fill="hold" nodeType="afterEffect">
                                  <p:stCondLst>
                                    <p:cond delay="0"/>
                                  </p:stCondLst>
                                  <p:childTnLst>
                                    <p:set>
                                      <p:cBhvr>
                                        <p:cTn id="46" dur="1" fill="hold">
                                          <p:stCondLst>
                                            <p:cond delay="0"/>
                                          </p:stCondLst>
                                        </p:cTn>
                                        <p:tgtEl>
                                          <p:spTgt spid="253968"/>
                                        </p:tgtEl>
                                        <p:attrNameLst>
                                          <p:attrName>style.visibility</p:attrName>
                                        </p:attrNameLst>
                                      </p:cBhvr>
                                      <p:to>
                                        <p:strVal val="visible"/>
                                      </p:to>
                                    </p:set>
                                    <p:animEffect transition="in" filter="wipe(left)">
                                      <p:cBhvr>
                                        <p:cTn id="47" dur="1000"/>
                                        <p:tgtEl>
                                          <p:spTgt spid="25396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53969"/>
                                        </p:tgtEl>
                                        <p:attrNameLst>
                                          <p:attrName>style.visibility</p:attrName>
                                        </p:attrNameLst>
                                      </p:cBhvr>
                                      <p:to>
                                        <p:strVal val="visible"/>
                                      </p:to>
                                    </p:set>
                                    <p:animEffect transition="in" filter="wipe(left)">
                                      <p:cBhvr>
                                        <p:cTn id="52" dur="1000"/>
                                        <p:tgtEl>
                                          <p:spTgt spid="253969"/>
                                        </p:tgtEl>
                                      </p:cBhvr>
                                    </p:animEffect>
                                  </p:childTnLst>
                                </p:cTn>
                              </p:par>
                            </p:childTnLst>
                          </p:cTn>
                        </p:par>
                        <p:par>
                          <p:cTn id="53" fill="hold" nodeType="afterGroup">
                            <p:stCondLst>
                              <p:cond delay="1000"/>
                            </p:stCondLst>
                            <p:childTnLst>
                              <p:par>
                                <p:cTn id="54" presetID="22" presetClass="entr" presetSubtype="8" fill="hold" nodeType="afterEffect">
                                  <p:stCondLst>
                                    <p:cond delay="500"/>
                                  </p:stCondLst>
                                  <p:childTnLst>
                                    <p:set>
                                      <p:cBhvr>
                                        <p:cTn id="55" dur="1" fill="hold">
                                          <p:stCondLst>
                                            <p:cond delay="0"/>
                                          </p:stCondLst>
                                        </p:cTn>
                                        <p:tgtEl>
                                          <p:spTgt spid="253970"/>
                                        </p:tgtEl>
                                        <p:attrNameLst>
                                          <p:attrName>style.visibility</p:attrName>
                                        </p:attrNameLst>
                                      </p:cBhvr>
                                      <p:to>
                                        <p:strVal val="visible"/>
                                      </p:to>
                                    </p:set>
                                    <p:animEffect transition="in" filter="wipe(left)">
                                      <p:cBhvr>
                                        <p:cTn id="56" dur="1000"/>
                                        <p:tgtEl>
                                          <p:spTgt spid="253970"/>
                                        </p:tgtEl>
                                      </p:cBhvr>
                                    </p:animEffect>
                                  </p:childTnLst>
                                </p:cTn>
                              </p:par>
                            </p:childTnLst>
                          </p:cTn>
                        </p:par>
                        <p:par>
                          <p:cTn id="57" fill="hold" nodeType="afterGroup">
                            <p:stCondLst>
                              <p:cond delay="2500"/>
                            </p:stCondLst>
                            <p:childTnLst>
                              <p:par>
                                <p:cTn id="58" presetID="22" presetClass="entr" presetSubtype="8" fill="hold" nodeType="afterEffect">
                                  <p:stCondLst>
                                    <p:cond delay="0"/>
                                  </p:stCondLst>
                                  <p:childTnLst>
                                    <p:set>
                                      <p:cBhvr>
                                        <p:cTn id="59" dur="1" fill="hold">
                                          <p:stCondLst>
                                            <p:cond delay="0"/>
                                          </p:stCondLst>
                                        </p:cTn>
                                        <p:tgtEl>
                                          <p:spTgt spid="253971"/>
                                        </p:tgtEl>
                                        <p:attrNameLst>
                                          <p:attrName>style.visibility</p:attrName>
                                        </p:attrNameLst>
                                      </p:cBhvr>
                                      <p:to>
                                        <p:strVal val="visible"/>
                                      </p:to>
                                    </p:set>
                                    <p:animEffect transition="in" filter="wipe(left)">
                                      <p:cBhvr>
                                        <p:cTn id="60" dur="1000"/>
                                        <p:tgtEl>
                                          <p:spTgt spid="25397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53972"/>
                                        </p:tgtEl>
                                        <p:attrNameLst>
                                          <p:attrName>style.visibility</p:attrName>
                                        </p:attrNameLst>
                                      </p:cBhvr>
                                      <p:to>
                                        <p:strVal val="visible"/>
                                      </p:to>
                                    </p:set>
                                    <p:animEffect transition="in" filter="wipe(left)">
                                      <p:cBhvr>
                                        <p:cTn id="65" dur="1000"/>
                                        <p:tgtEl>
                                          <p:spTgt spid="253972"/>
                                        </p:tgtEl>
                                      </p:cBhvr>
                                    </p:animEffect>
                                  </p:childTnLst>
                                </p:cTn>
                              </p:par>
                            </p:childTnLst>
                          </p:cTn>
                        </p:par>
                        <p:par>
                          <p:cTn id="66" fill="hold" nodeType="afterGroup">
                            <p:stCondLst>
                              <p:cond delay="1000"/>
                            </p:stCondLst>
                            <p:childTnLst>
                              <p:par>
                                <p:cTn id="67" presetID="22" presetClass="entr" presetSubtype="8" fill="hold" nodeType="afterEffect">
                                  <p:stCondLst>
                                    <p:cond delay="500"/>
                                  </p:stCondLst>
                                  <p:childTnLst>
                                    <p:set>
                                      <p:cBhvr>
                                        <p:cTn id="68" dur="1" fill="hold">
                                          <p:stCondLst>
                                            <p:cond delay="0"/>
                                          </p:stCondLst>
                                        </p:cTn>
                                        <p:tgtEl>
                                          <p:spTgt spid="253973"/>
                                        </p:tgtEl>
                                        <p:attrNameLst>
                                          <p:attrName>style.visibility</p:attrName>
                                        </p:attrNameLst>
                                      </p:cBhvr>
                                      <p:to>
                                        <p:strVal val="visible"/>
                                      </p:to>
                                    </p:set>
                                    <p:animEffect transition="in" filter="wipe(left)">
                                      <p:cBhvr>
                                        <p:cTn id="69" dur="1000"/>
                                        <p:tgtEl>
                                          <p:spTgt spid="25397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53974"/>
                                        </p:tgtEl>
                                        <p:attrNameLst>
                                          <p:attrName>style.visibility</p:attrName>
                                        </p:attrNameLst>
                                      </p:cBhvr>
                                      <p:to>
                                        <p:strVal val="visible"/>
                                      </p:to>
                                    </p:set>
                                    <p:animEffect transition="in" filter="wipe(left)">
                                      <p:cBhvr>
                                        <p:cTn id="74" dur="1000"/>
                                        <p:tgtEl>
                                          <p:spTgt spid="253974"/>
                                        </p:tgtEl>
                                      </p:cBhvr>
                                    </p:animEffect>
                                  </p:childTnLst>
                                </p:cTn>
                              </p:par>
                            </p:childTnLst>
                          </p:cTn>
                        </p:par>
                        <p:par>
                          <p:cTn id="75" fill="hold" nodeType="afterGroup">
                            <p:stCondLst>
                              <p:cond delay="1000"/>
                            </p:stCondLst>
                            <p:childTnLst>
                              <p:par>
                                <p:cTn id="76" presetID="22" presetClass="entr" presetSubtype="8" fill="hold" nodeType="afterEffect">
                                  <p:stCondLst>
                                    <p:cond delay="0"/>
                                  </p:stCondLst>
                                  <p:childTnLst>
                                    <p:set>
                                      <p:cBhvr>
                                        <p:cTn id="77" dur="1" fill="hold">
                                          <p:stCondLst>
                                            <p:cond delay="0"/>
                                          </p:stCondLst>
                                        </p:cTn>
                                        <p:tgtEl>
                                          <p:spTgt spid="253975"/>
                                        </p:tgtEl>
                                        <p:attrNameLst>
                                          <p:attrName>style.visibility</p:attrName>
                                        </p:attrNameLst>
                                      </p:cBhvr>
                                      <p:to>
                                        <p:strVal val="visible"/>
                                      </p:to>
                                    </p:set>
                                    <p:animEffect transition="in" filter="wipe(left)">
                                      <p:cBhvr>
                                        <p:cTn id="78" dur="1000"/>
                                        <p:tgtEl>
                                          <p:spTgt spid="253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61" grpId="0" autoUpdateAnimBg="0"/>
      <p:bldP spid="25396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4978" name="Object 2">
            <a:extLst>
              <a:ext uri="{FF2B5EF4-FFF2-40B4-BE49-F238E27FC236}">
                <a16:creationId xmlns:a16="http://schemas.microsoft.com/office/drawing/2014/main" id="{561EFC85-1E94-376B-8106-0A54A1EB9ADB}"/>
              </a:ext>
            </a:extLst>
          </p:cNvPr>
          <p:cNvGraphicFramePr>
            <a:graphicFrameLocks noChangeAspect="1"/>
          </p:cNvGraphicFramePr>
          <p:nvPr/>
        </p:nvGraphicFramePr>
        <p:xfrm>
          <a:off x="5868591" y="1795463"/>
          <a:ext cx="1188244" cy="346472"/>
        </p:xfrm>
        <a:graphic>
          <a:graphicData uri="http://schemas.openxmlformats.org/presentationml/2006/ole">
            <mc:AlternateContent xmlns:mc="http://schemas.openxmlformats.org/markup-compatibility/2006">
              <mc:Choice xmlns:v="urn:schemas-microsoft-com:vml" Requires="v">
                <p:oleObj r:id="rId2" imgW="863225" imgH="203112" progId="Equation.3">
                  <p:embed/>
                </p:oleObj>
              </mc:Choice>
              <mc:Fallback>
                <p:oleObj r:id="rId2" imgW="863225" imgH="203112" progId="Equation.3">
                  <p:embed/>
                  <p:pic>
                    <p:nvPicPr>
                      <p:cNvPr id="254978" name="Object 2">
                        <a:extLst>
                          <a:ext uri="{FF2B5EF4-FFF2-40B4-BE49-F238E27FC236}">
                            <a16:creationId xmlns:a16="http://schemas.microsoft.com/office/drawing/2014/main" id="{561EFC85-1E94-376B-8106-0A54A1EB9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591" y="1795463"/>
                        <a:ext cx="1188244" cy="346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4979" name="Rectangle 3">
            <a:extLst>
              <a:ext uri="{FF2B5EF4-FFF2-40B4-BE49-F238E27FC236}">
                <a16:creationId xmlns:a16="http://schemas.microsoft.com/office/drawing/2014/main" id="{BF949B0B-F470-7C34-A2CA-04CD014CAE87}"/>
              </a:ext>
            </a:extLst>
          </p:cNvPr>
          <p:cNvSpPr>
            <a:spLocks noChangeArrowheads="1"/>
          </p:cNvSpPr>
          <p:nvPr/>
        </p:nvSpPr>
        <p:spPr bwMode="auto">
          <a:xfrm>
            <a:off x="1332310" y="1647825"/>
            <a:ext cx="803425" cy="461665"/>
          </a:xfrm>
          <a:prstGeom prst="rect">
            <a:avLst/>
          </a:prstGeom>
          <a:noFill/>
          <a:ln>
            <a:noFill/>
          </a:ln>
          <a:effectLst/>
        </p:spPr>
        <p:txBody>
          <a:bodyPr wrap="none">
            <a:spAutoFit/>
          </a:bodyPr>
          <a:lstStyle/>
          <a:p>
            <a:pPr eaLnBrk="1" hangingPunct="1">
              <a:defRPr/>
            </a:pPr>
            <a:r>
              <a:rPr lang="zh-CN" altLang="en-US" sz="2400" b="1">
                <a:solidFill>
                  <a:srgbClr val="0000FF"/>
                </a:solidFill>
                <a:effectLst>
                  <a:outerShdw blurRad="38100" dist="38100" dir="2700000" algn="tl">
                    <a:srgbClr val="C0C0C0"/>
                  </a:outerShdw>
                </a:effectLst>
                <a:ea typeface="黑体" pitchFamily="2" charset="-122"/>
              </a:rPr>
              <a:t>解：</a:t>
            </a:r>
          </a:p>
        </p:txBody>
      </p:sp>
      <p:sp>
        <p:nvSpPr>
          <p:cNvPr id="254980" name="Rectangle 4">
            <a:extLst>
              <a:ext uri="{FF2B5EF4-FFF2-40B4-BE49-F238E27FC236}">
                <a16:creationId xmlns:a16="http://schemas.microsoft.com/office/drawing/2014/main" id="{2776958C-87A8-50CC-399B-5A0F1BDAACF2}"/>
              </a:ext>
            </a:extLst>
          </p:cNvPr>
          <p:cNvSpPr>
            <a:spLocks noChangeArrowheads="1"/>
          </p:cNvSpPr>
          <p:nvPr/>
        </p:nvSpPr>
        <p:spPr bwMode="auto">
          <a:xfrm>
            <a:off x="1980010" y="1762125"/>
            <a:ext cx="386676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100" b="1">
                <a:ea typeface="楷体_GB2312" pitchFamily="49" charset="-122"/>
              </a:rPr>
              <a:t>X</a:t>
            </a:r>
            <a:r>
              <a:rPr kumimoji="0" lang="zh-CN" altLang="en-US" sz="2100" b="1">
                <a:latin typeface="楷体_GB2312" pitchFamily="49" charset="-122"/>
                <a:ea typeface="楷体_GB2312" pitchFamily="49" charset="-122"/>
              </a:rPr>
              <a:t>在区间</a:t>
            </a:r>
            <a:r>
              <a:rPr kumimoji="0" lang="en-US" altLang="zh-CN" sz="2100" b="1">
                <a:ea typeface="楷体_GB2312" pitchFamily="49" charset="-122"/>
              </a:rPr>
              <a:t>(1</a:t>
            </a:r>
            <a:r>
              <a:rPr kumimoji="0" lang="zh-CN" altLang="en-US" sz="2100" b="1">
                <a:ea typeface="楷体_GB2312" pitchFamily="49" charset="-122"/>
              </a:rPr>
              <a:t>，</a:t>
            </a:r>
            <a:r>
              <a:rPr kumimoji="0" lang="en-US" altLang="zh-CN" sz="2100" b="1">
                <a:ea typeface="楷体_GB2312" pitchFamily="49" charset="-122"/>
              </a:rPr>
              <a:t>5)</a:t>
            </a:r>
            <a:r>
              <a:rPr kumimoji="0" lang="zh-CN" altLang="en-US" sz="2100" b="1">
                <a:latin typeface="楷体_GB2312" pitchFamily="49" charset="-122"/>
                <a:ea typeface="楷体_GB2312" pitchFamily="49" charset="-122"/>
              </a:rPr>
              <a:t>上服从均匀分布</a:t>
            </a:r>
            <a:r>
              <a:rPr kumimoji="0" lang="en-US" altLang="zh-CN" sz="2100" b="1">
                <a:latin typeface="楷体_GB2312" pitchFamily="49" charset="-122"/>
                <a:ea typeface="楷体_GB2312" pitchFamily="49" charset="-122"/>
              </a:rPr>
              <a:t>,</a:t>
            </a:r>
          </a:p>
        </p:txBody>
      </p:sp>
      <p:grpSp>
        <p:nvGrpSpPr>
          <p:cNvPr id="254981" name="Group 5">
            <a:extLst>
              <a:ext uri="{FF2B5EF4-FFF2-40B4-BE49-F238E27FC236}">
                <a16:creationId xmlns:a16="http://schemas.microsoft.com/office/drawing/2014/main" id="{69A4380B-60CC-64D5-86CA-06124562305E}"/>
              </a:ext>
            </a:extLst>
          </p:cNvPr>
          <p:cNvGrpSpPr>
            <a:grpSpLocks/>
          </p:cNvGrpSpPr>
          <p:nvPr/>
        </p:nvGrpSpPr>
        <p:grpSpPr bwMode="auto">
          <a:xfrm>
            <a:off x="1494235" y="357188"/>
            <a:ext cx="6066234" cy="1419226"/>
            <a:chOff x="0" y="0"/>
            <a:chExt cx="5095" cy="1192"/>
          </a:xfrm>
        </p:grpSpPr>
        <p:sp>
          <p:nvSpPr>
            <p:cNvPr id="254982" name="Text Box 6">
              <a:extLst>
                <a:ext uri="{FF2B5EF4-FFF2-40B4-BE49-F238E27FC236}">
                  <a16:creationId xmlns:a16="http://schemas.microsoft.com/office/drawing/2014/main" id="{F3683DCF-BE60-DD12-43DA-33E436D843FA}"/>
                </a:ext>
              </a:extLst>
            </p:cNvPr>
            <p:cNvSpPr txBox="1">
              <a:spLocks noChangeArrowheads="1"/>
            </p:cNvSpPr>
            <p:nvPr/>
          </p:nvSpPr>
          <p:spPr bwMode="auto">
            <a:xfrm>
              <a:off x="0" y="0"/>
              <a:ext cx="5095" cy="804"/>
            </a:xfrm>
            <a:prstGeom prst="rect">
              <a:avLst/>
            </a:prstGeom>
            <a:noFill/>
            <a:ln>
              <a:noFill/>
            </a:ln>
            <a:effectLst/>
          </p:spPr>
          <p:txBody>
            <a:bodyPr>
              <a:spAutoFit/>
            </a:bodyPr>
            <a:lstStyle/>
            <a:p>
              <a:pPr eaLnBrk="1" hangingPunct="1">
                <a:lnSpc>
                  <a:spcPct val="130000"/>
                </a:lnSpc>
                <a:spcBef>
                  <a:spcPct val="50000"/>
                </a:spcBef>
                <a:defRPr/>
              </a:pPr>
              <a:r>
                <a:rPr lang="zh-CN" altLang="en-US" sz="2400" b="1" dirty="0">
                  <a:solidFill>
                    <a:srgbClr val="0000FF"/>
                  </a:solidFill>
                  <a:effectLst>
                    <a:outerShdw blurRad="38100" dist="38100" dir="2700000" algn="tl">
                      <a:srgbClr val="C0C0C0"/>
                    </a:outerShdw>
                  </a:effectLst>
                  <a:ea typeface="黑体" pitchFamily="2" charset="-122"/>
                </a:rPr>
                <a:t>例</a:t>
              </a:r>
              <a:r>
                <a:rPr lang="en-US" altLang="zh-CN" sz="2400" b="1" dirty="0">
                  <a:solidFill>
                    <a:srgbClr val="0000FF"/>
                  </a:solidFill>
                  <a:effectLst>
                    <a:outerShdw blurRad="38100" dist="38100" dir="2700000" algn="tl">
                      <a:srgbClr val="C0C0C0"/>
                    </a:outerShdw>
                  </a:effectLst>
                  <a:ea typeface="黑体" pitchFamily="2" charset="-122"/>
                </a:rPr>
                <a:t>2.</a:t>
              </a:r>
              <a:r>
                <a:rPr lang="zh-CN" altLang="en-US" sz="2100" b="1" dirty="0">
                  <a:latin typeface="楷体_GB2312" pitchFamily="49" charset="-122"/>
                  <a:ea typeface="楷体_GB2312" pitchFamily="49" charset="-122"/>
                </a:rPr>
                <a:t>已知</a:t>
              </a:r>
              <a:r>
                <a:rPr lang="en-US" altLang="zh-CN" sz="2100" b="1" dirty="0">
                  <a:ea typeface="楷体_GB2312" pitchFamily="49" charset="-122"/>
                </a:rPr>
                <a:t>X</a:t>
              </a:r>
              <a:r>
                <a:rPr lang="zh-CN" altLang="en-US" sz="2100" b="1" dirty="0">
                  <a:latin typeface="楷体_GB2312" pitchFamily="49" charset="-122"/>
                  <a:ea typeface="楷体_GB2312" pitchFamily="49" charset="-122"/>
                </a:rPr>
                <a:t>和</a:t>
              </a:r>
              <a:r>
                <a:rPr lang="en-US" altLang="zh-CN" sz="2100" b="1" dirty="0">
                  <a:ea typeface="楷体_GB2312" pitchFamily="49" charset="-122"/>
                </a:rPr>
                <a:t>Y</a:t>
              </a:r>
              <a:r>
                <a:rPr lang="zh-CN" altLang="en-US" sz="2100" b="1" dirty="0">
                  <a:latin typeface="楷体_GB2312" pitchFamily="49" charset="-122"/>
                  <a:ea typeface="楷体_GB2312" pitchFamily="49" charset="-122"/>
                </a:rPr>
                <a:t>相互独立，且</a:t>
              </a:r>
              <a:r>
                <a:rPr lang="en-US" altLang="zh-CN" sz="2100" b="1" dirty="0">
                  <a:ea typeface="楷体_GB2312" pitchFamily="49" charset="-122"/>
                </a:rPr>
                <a:t>X</a:t>
              </a:r>
              <a:r>
                <a:rPr lang="zh-CN" altLang="en-US" sz="2100" b="1" dirty="0">
                  <a:latin typeface="楷体_GB2312" pitchFamily="49" charset="-122"/>
                  <a:ea typeface="楷体_GB2312" pitchFamily="49" charset="-122"/>
                </a:rPr>
                <a:t>在区间</a:t>
              </a:r>
              <a:r>
                <a:rPr lang="en-US" altLang="zh-CN" sz="2100" b="1" dirty="0">
                  <a:ea typeface="楷体_GB2312" pitchFamily="49" charset="-122"/>
                </a:rPr>
                <a:t>(1</a:t>
              </a:r>
              <a:r>
                <a:rPr lang="zh-CN" altLang="en-US" sz="2100" b="1" dirty="0">
                  <a:ea typeface="楷体_GB2312" pitchFamily="49" charset="-122"/>
                </a:rPr>
                <a:t>，</a:t>
              </a:r>
              <a:r>
                <a:rPr lang="en-US" altLang="zh-CN" sz="2100" b="1" dirty="0">
                  <a:ea typeface="楷体_GB2312" pitchFamily="49" charset="-122"/>
                </a:rPr>
                <a:t>5)</a:t>
              </a:r>
              <a:r>
                <a:rPr lang="zh-CN" altLang="en-US" sz="2100" b="1" dirty="0">
                  <a:latin typeface="楷体_GB2312" pitchFamily="49" charset="-122"/>
                  <a:ea typeface="楷体_GB2312" pitchFamily="49" charset="-122"/>
                </a:rPr>
                <a:t>上服从均匀分布，                    求</a:t>
              </a:r>
              <a:r>
                <a:rPr lang="en-US" altLang="zh-CN" sz="2100" b="1" dirty="0">
                  <a:ea typeface="楷体_GB2312" pitchFamily="49" charset="-122"/>
                </a:rPr>
                <a:t>(1) (X,Y)</a:t>
              </a:r>
              <a:r>
                <a:rPr lang="zh-CN" altLang="en-US" sz="2100" b="1" dirty="0">
                  <a:latin typeface="楷体_GB2312" pitchFamily="49" charset="-122"/>
                  <a:ea typeface="楷体_GB2312" pitchFamily="49" charset="-122"/>
                </a:rPr>
                <a:t>的概率密度</a:t>
              </a:r>
              <a:r>
                <a:rPr lang="en-US" altLang="zh-CN" sz="2100" b="1" dirty="0">
                  <a:ea typeface="楷体_GB2312" pitchFamily="49" charset="-122"/>
                </a:rPr>
                <a:t>;(2)</a:t>
              </a:r>
            </a:p>
          </p:txBody>
        </p:sp>
        <p:graphicFrame>
          <p:nvGraphicFramePr>
            <p:cNvPr id="82961" name="Object 7">
              <a:extLst>
                <a:ext uri="{FF2B5EF4-FFF2-40B4-BE49-F238E27FC236}">
                  <a16:creationId xmlns:a16="http://schemas.microsoft.com/office/drawing/2014/main" id="{A70B0053-23EB-6F43-2ED6-72D5A18E3CCB}"/>
                </a:ext>
              </a:extLst>
            </p:cNvPr>
            <p:cNvGraphicFramePr>
              <a:graphicFrameLocks noChangeAspect="1"/>
            </p:cNvGraphicFramePr>
            <p:nvPr/>
          </p:nvGraphicFramePr>
          <p:xfrm>
            <a:off x="966" y="468"/>
            <a:ext cx="1632" cy="300"/>
          </p:xfrm>
          <a:graphic>
            <a:graphicData uri="http://schemas.openxmlformats.org/presentationml/2006/ole">
              <mc:AlternateContent xmlns:mc="http://schemas.openxmlformats.org/markup-compatibility/2006">
                <mc:Choice xmlns:v="urn:schemas-microsoft-com:vml" Requires="v">
                  <p:oleObj r:id="rId4" imgW="1104421" imgH="203112" progId="Equation.3">
                    <p:embed/>
                  </p:oleObj>
                </mc:Choice>
                <mc:Fallback>
                  <p:oleObj r:id="rId4" imgW="1104421" imgH="203112" progId="Equation.3">
                    <p:embed/>
                    <p:pic>
                      <p:nvPicPr>
                        <p:cNvPr id="82961" name="Object 7">
                          <a:extLst>
                            <a:ext uri="{FF2B5EF4-FFF2-40B4-BE49-F238E27FC236}">
                              <a16:creationId xmlns:a16="http://schemas.microsoft.com/office/drawing/2014/main" id="{A70B0053-23EB-6F43-2ED6-72D5A18E3C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6" y="468"/>
                          <a:ext cx="1632"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62" name="Object 8">
              <a:extLst>
                <a:ext uri="{FF2B5EF4-FFF2-40B4-BE49-F238E27FC236}">
                  <a16:creationId xmlns:a16="http://schemas.microsoft.com/office/drawing/2014/main" id="{00BA0F14-4F47-B08D-24FD-24738D877749}"/>
                </a:ext>
              </a:extLst>
            </p:cNvPr>
            <p:cNvGraphicFramePr>
              <a:graphicFrameLocks noChangeAspect="1"/>
            </p:cNvGraphicFramePr>
            <p:nvPr/>
          </p:nvGraphicFramePr>
          <p:xfrm>
            <a:off x="2509" y="816"/>
            <a:ext cx="1542" cy="290"/>
          </p:xfrm>
          <a:graphic>
            <a:graphicData uri="http://schemas.openxmlformats.org/presentationml/2006/ole">
              <mc:AlternateContent xmlns:mc="http://schemas.openxmlformats.org/markup-compatibility/2006">
                <mc:Choice xmlns:v="urn:schemas-microsoft-com:vml" Requires="v">
                  <p:oleObj r:id="rId6" imgW="1079032" imgH="203112" progId="Equation.3">
                    <p:embed/>
                  </p:oleObj>
                </mc:Choice>
                <mc:Fallback>
                  <p:oleObj r:id="rId6" imgW="1079032" imgH="203112" progId="Equation.3">
                    <p:embed/>
                    <p:pic>
                      <p:nvPicPr>
                        <p:cNvPr id="82962" name="Object 8">
                          <a:extLst>
                            <a:ext uri="{FF2B5EF4-FFF2-40B4-BE49-F238E27FC236}">
                              <a16:creationId xmlns:a16="http://schemas.microsoft.com/office/drawing/2014/main" id="{00BA0F14-4F47-B08D-24FD-24738D8777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9" y="816"/>
                          <a:ext cx="154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63" name="Object 9">
              <a:extLst>
                <a:ext uri="{FF2B5EF4-FFF2-40B4-BE49-F238E27FC236}">
                  <a16:creationId xmlns:a16="http://schemas.microsoft.com/office/drawing/2014/main" id="{CD8DCE69-6703-7BE6-5A40-534E28A17267}"/>
                </a:ext>
              </a:extLst>
            </p:cNvPr>
            <p:cNvGraphicFramePr>
              <a:graphicFrameLocks noChangeAspect="1"/>
            </p:cNvGraphicFramePr>
            <p:nvPr/>
          </p:nvGraphicFramePr>
          <p:xfrm>
            <a:off x="484" y="886"/>
            <a:ext cx="1270" cy="306"/>
          </p:xfrm>
          <a:graphic>
            <a:graphicData uri="http://schemas.openxmlformats.org/presentationml/2006/ole">
              <mc:AlternateContent xmlns:mc="http://schemas.openxmlformats.org/markup-compatibility/2006">
                <mc:Choice xmlns:v="urn:schemas-microsoft-com:vml" Requires="v">
                  <p:oleObj r:id="rId8" imgW="863225" imgH="203112" progId="Equation.3">
                    <p:embed/>
                  </p:oleObj>
                </mc:Choice>
                <mc:Fallback>
                  <p:oleObj r:id="rId8" imgW="863225" imgH="203112" progId="Equation.3">
                    <p:embed/>
                    <p:pic>
                      <p:nvPicPr>
                        <p:cNvPr id="82963" name="Object 9">
                          <a:extLst>
                            <a:ext uri="{FF2B5EF4-FFF2-40B4-BE49-F238E27FC236}">
                              <a16:creationId xmlns:a16="http://schemas.microsoft.com/office/drawing/2014/main" id="{CD8DCE69-6703-7BE6-5A40-534E28A17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 y="886"/>
                          <a:ext cx="1270"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54986" name="Object 10">
            <a:extLst>
              <a:ext uri="{FF2B5EF4-FFF2-40B4-BE49-F238E27FC236}">
                <a16:creationId xmlns:a16="http://schemas.microsoft.com/office/drawing/2014/main" id="{7E3F62F1-B9D4-D11E-FDBC-BC9BE00C3A51}"/>
              </a:ext>
            </a:extLst>
          </p:cNvPr>
          <p:cNvGraphicFramePr>
            <a:graphicFrameLocks noChangeAspect="1"/>
          </p:cNvGraphicFramePr>
          <p:nvPr/>
        </p:nvGraphicFramePr>
        <p:xfrm>
          <a:off x="1547813" y="2238375"/>
          <a:ext cx="2808685" cy="1134666"/>
        </p:xfrm>
        <a:graphic>
          <a:graphicData uri="http://schemas.openxmlformats.org/presentationml/2006/ole">
            <mc:AlternateContent xmlns:mc="http://schemas.openxmlformats.org/markup-compatibility/2006">
              <mc:Choice xmlns:v="urn:schemas-microsoft-com:vml" Requires="v">
                <p:oleObj r:id="rId9" imgW="1638300" imgH="660400" progId="Equation.3">
                  <p:embed/>
                </p:oleObj>
              </mc:Choice>
              <mc:Fallback>
                <p:oleObj r:id="rId9" imgW="1638300" imgH="660400" progId="Equation.3">
                  <p:embed/>
                  <p:pic>
                    <p:nvPicPr>
                      <p:cNvPr id="254986" name="Object 10">
                        <a:extLst>
                          <a:ext uri="{FF2B5EF4-FFF2-40B4-BE49-F238E27FC236}">
                            <a16:creationId xmlns:a16="http://schemas.microsoft.com/office/drawing/2014/main" id="{7E3F62F1-B9D4-D11E-FDBC-BC9BE00C3A5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2238375"/>
                        <a:ext cx="2808685" cy="113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87" name="Object 11">
            <a:extLst>
              <a:ext uri="{FF2B5EF4-FFF2-40B4-BE49-F238E27FC236}">
                <a16:creationId xmlns:a16="http://schemas.microsoft.com/office/drawing/2014/main" id="{72987881-F448-6F79-DFAE-718683F31625}"/>
              </a:ext>
            </a:extLst>
          </p:cNvPr>
          <p:cNvGraphicFramePr>
            <a:graphicFrameLocks noChangeAspect="1"/>
          </p:cNvGraphicFramePr>
          <p:nvPr/>
        </p:nvGraphicFramePr>
        <p:xfrm>
          <a:off x="5004198" y="2461022"/>
          <a:ext cx="701278" cy="351234"/>
        </p:xfrm>
        <a:graphic>
          <a:graphicData uri="http://schemas.openxmlformats.org/presentationml/2006/ole">
            <mc:AlternateContent xmlns:mc="http://schemas.openxmlformats.org/markup-compatibility/2006">
              <mc:Choice xmlns:v="urn:schemas-microsoft-com:vml" Requires="v">
                <p:oleObj r:id="rId11" imgW="406400" imgH="203200" progId="Equation.3">
                  <p:embed/>
                </p:oleObj>
              </mc:Choice>
              <mc:Fallback>
                <p:oleObj r:id="rId11" imgW="406400" imgH="203200" progId="Equation.3">
                  <p:embed/>
                  <p:pic>
                    <p:nvPicPr>
                      <p:cNvPr id="254987" name="Object 11">
                        <a:extLst>
                          <a:ext uri="{FF2B5EF4-FFF2-40B4-BE49-F238E27FC236}">
                            <a16:creationId xmlns:a16="http://schemas.microsoft.com/office/drawing/2014/main" id="{72987881-F448-6F79-DFAE-718683F3162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4198" y="2461022"/>
                        <a:ext cx="701278" cy="351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88" name="Object 12">
            <a:extLst>
              <a:ext uri="{FF2B5EF4-FFF2-40B4-BE49-F238E27FC236}">
                <a16:creationId xmlns:a16="http://schemas.microsoft.com/office/drawing/2014/main" id="{2C24CDB0-9DBD-23FB-E064-5CBDAE5197A4}"/>
              </a:ext>
            </a:extLst>
          </p:cNvPr>
          <p:cNvGraphicFramePr>
            <a:graphicFrameLocks noChangeAspect="1"/>
          </p:cNvGraphicFramePr>
          <p:nvPr/>
        </p:nvGraphicFramePr>
        <p:xfrm>
          <a:off x="5705475" y="2247900"/>
          <a:ext cx="810816" cy="682229"/>
        </p:xfrm>
        <a:graphic>
          <a:graphicData uri="http://schemas.openxmlformats.org/presentationml/2006/ole">
            <mc:AlternateContent xmlns:mc="http://schemas.openxmlformats.org/markup-compatibility/2006">
              <mc:Choice xmlns:v="urn:schemas-microsoft-com:vml" Requires="v">
                <p:oleObj r:id="rId13" imgW="482600" imgH="406400" progId="Equation.3">
                  <p:embed/>
                </p:oleObj>
              </mc:Choice>
              <mc:Fallback>
                <p:oleObj r:id="rId13" imgW="482600" imgH="406400" progId="Equation.3">
                  <p:embed/>
                  <p:pic>
                    <p:nvPicPr>
                      <p:cNvPr id="254988" name="Object 12">
                        <a:extLst>
                          <a:ext uri="{FF2B5EF4-FFF2-40B4-BE49-F238E27FC236}">
                            <a16:creationId xmlns:a16="http://schemas.microsoft.com/office/drawing/2014/main" id="{2C24CDB0-9DBD-23FB-E064-5CBDAE5197A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05475" y="2247900"/>
                        <a:ext cx="810816" cy="682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89" name="Object 13">
            <a:extLst>
              <a:ext uri="{FF2B5EF4-FFF2-40B4-BE49-F238E27FC236}">
                <a16:creationId xmlns:a16="http://schemas.microsoft.com/office/drawing/2014/main" id="{24E5CB18-704E-6FAF-46B5-59C2F14EC8B7}"/>
              </a:ext>
            </a:extLst>
          </p:cNvPr>
          <p:cNvGraphicFramePr>
            <a:graphicFrameLocks noChangeAspect="1"/>
          </p:cNvGraphicFramePr>
          <p:nvPr/>
        </p:nvGraphicFramePr>
        <p:xfrm>
          <a:off x="6569869" y="2409825"/>
          <a:ext cx="485775" cy="339329"/>
        </p:xfrm>
        <a:graphic>
          <a:graphicData uri="http://schemas.openxmlformats.org/presentationml/2006/ole">
            <mc:AlternateContent xmlns:mc="http://schemas.openxmlformats.org/markup-compatibility/2006">
              <mc:Choice xmlns:v="urn:schemas-microsoft-com:vml" Requires="v">
                <p:oleObj r:id="rId15" imgW="253890" imgH="177723" progId="Equation.3">
                  <p:embed/>
                </p:oleObj>
              </mc:Choice>
              <mc:Fallback>
                <p:oleObj r:id="rId15" imgW="253890" imgH="177723" progId="Equation.3">
                  <p:embed/>
                  <p:pic>
                    <p:nvPicPr>
                      <p:cNvPr id="254989" name="Object 13">
                        <a:extLst>
                          <a:ext uri="{FF2B5EF4-FFF2-40B4-BE49-F238E27FC236}">
                            <a16:creationId xmlns:a16="http://schemas.microsoft.com/office/drawing/2014/main" id="{24E5CB18-704E-6FAF-46B5-59C2F14EC8B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69869" y="2409825"/>
                        <a:ext cx="485775" cy="339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90" name="Object 14">
            <a:extLst>
              <a:ext uri="{FF2B5EF4-FFF2-40B4-BE49-F238E27FC236}">
                <a16:creationId xmlns:a16="http://schemas.microsoft.com/office/drawing/2014/main" id="{89669605-6733-FE2F-8492-9F49F59EB0B0}"/>
              </a:ext>
            </a:extLst>
          </p:cNvPr>
          <p:cNvGraphicFramePr>
            <a:graphicFrameLocks noChangeAspect="1"/>
          </p:cNvGraphicFramePr>
          <p:nvPr/>
        </p:nvGraphicFramePr>
        <p:xfrm>
          <a:off x="5004198" y="3165872"/>
          <a:ext cx="701278" cy="351234"/>
        </p:xfrm>
        <a:graphic>
          <a:graphicData uri="http://schemas.openxmlformats.org/presentationml/2006/ole">
            <mc:AlternateContent xmlns:mc="http://schemas.openxmlformats.org/markup-compatibility/2006">
              <mc:Choice xmlns:v="urn:schemas-microsoft-com:vml" Requires="v">
                <p:oleObj r:id="rId17" imgW="406400" imgH="203200" progId="Equation.3">
                  <p:embed/>
                </p:oleObj>
              </mc:Choice>
              <mc:Fallback>
                <p:oleObj r:id="rId17" imgW="406400" imgH="203200" progId="Equation.3">
                  <p:embed/>
                  <p:pic>
                    <p:nvPicPr>
                      <p:cNvPr id="254990" name="Object 14">
                        <a:extLst>
                          <a:ext uri="{FF2B5EF4-FFF2-40B4-BE49-F238E27FC236}">
                            <a16:creationId xmlns:a16="http://schemas.microsoft.com/office/drawing/2014/main" id="{89669605-6733-FE2F-8492-9F49F59EB0B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04198" y="3165872"/>
                        <a:ext cx="701278" cy="351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91" name="Object 15">
            <a:extLst>
              <a:ext uri="{FF2B5EF4-FFF2-40B4-BE49-F238E27FC236}">
                <a16:creationId xmlns:a16="http://schemas.microsoft.com/office/drawing/2014/main" id="{80CE3416-D82D-BEF4-740C-F53985E41D28}"/>
              </a:ext>
            </a:extLst>
          </p:cNvPr>
          <p:cNvGraphicFramePr>
            <a:graphicFrameLocks noChangeAspect="1"/>
          </p:cNvGraphicFramePr>
          <p:nvPr/>
        </p:nvGraphicFramePr>
        <p:xfrm>
          <a:off x="5705475" y="2952751"/>
          <a:ext cx="1026319" cy="651272"/>
        </p:xfrm>
        <a:graphic>
          <a:graphicData uri="http://schemas.openxmlformats.org/presentationml/2006/ole">
            <mc:AlternateContent xmlns:mc="http://schemas.openxmlformats.org/markup-compatibility/2006">
              <mc:Choice xmlns:v="urn:schemas-microsoft-com:vml" Requires="v">
                <p:oleObj r:id="rId19" imgW="660400" imgH="419100" progId="Equation.3">
                  <p:embed/>
                </p:oleObj>
              </mc:Choice>
              <mc:Fallback>
                <p:oleObj r:id="rId19" imgW="660400" imgH="419100" progId="Equation.3">
                  <p:embed/>
                  <p:pic>
                    <p:nvPicPr>
                      <p:cNvPr id="254991" name="Object 15">
                        <a:extLst>
                          <a:ext uri="{FF2B5EF4-FFF2-40B4-BE49-F238E27FC236}">
                            <a16:creationId xmlns:a16="http://schemas.microsoft.com/office/drawing/2014/main" id="{80CE3416-D82D-BEF4-740C-F53985E41D2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05475" y="2952751"/>
                        <a:ext cx="1026319" cy="651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92" name="Object 16">
            <a:extLst>
              <a:ext uri="{FF2B5EF4-FFF2-40B4-BE49-F238E27FC236}">
                <a16:creationId xmlns:a16="http://schemas.microsoft.com/office/drawing/2014/main" id="{671CF11C-2EB3-70EF-C287-67498221B394}"/>
              </a:ext>
            </a:extLst>
          </p:cNvPr>
          <p:cNvGraphicFramePr>
            <a:graphicFrameLocks noChangeAspect="1"/>
          </p:cNvGraphicFramePr>
          <p:nvPr/>
        </p:nvGraphicFramePr>
        <p:xfrm>
          <a:off x="6731794" y="2950369"/>
          <a:ext cx="519113" cy="756047"/>
        </p:xfrm>
        <a:graphic>
          <a:graphicData uri="http://schemas.openxmlformats.org/presentationml/2006/ole">
            <mc:AlternateContent xmlns:mc="http://schemas.openxmlformats.org/markup-compatibility/2006">
              <mc:Choice xmlns:v="urn:schemas-microsoft-com:vml" Requires="v">
                <p:oleObj r:id="rId21" imgW="279400" imgH="406400" progId="Equation.3">
                  <p:embed/>
                </p:oleObj>
              </mc:Choice>
              <mc:Fallback>
                <p:oleObj r:id="rId21" imgW="279400" imgH="406400" progId="Equation.3">
                  <p:embed/>
                  <p:pic>
                    <p:nvPicPr>
                      <p:cNvPr id="254992" name="Object 16">
                        <a:extLst>
                          <a:ext uri="{FF2B5EF4-FFF2-40B4-BE49-F238E27FC236}">
                            <a16:creationId xmlns:a16="http://schemas.microsoft.com/office/drawing/2014/main" id="{671CF11C-2EB3-70EF-C287-67498221B39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31794" y="2950369"/>
                        <a:ext cx="519113" cy="756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93" name="Object 17">
            <a:extLst>
              <a:ext uri="{FF2B5EF4-FFF2-40B4-BE49-F238E27FC236}">
                <a16:creationId xmlns:a16="http://schemas.microsoft.com/office/drawing/2014/main" id="{B7DB86E5-62AA-B107-EABE-7D90DA4D47B9}"/>
              </a:ext>
            </a:extLst>
          </p:cNvPr>
          <p:cNvGraphicFramePr>
            <a:graphicFrameLocks noChangeAspect="1"/>
          </p:cNvGraphicFramePr>
          <p:nvPr/>
        </p:nvGraphicFramePr>
        <p:xfrm>
          <a:off x="1494235" y="3438525"/>
          <a:ext cx="4536281" cy="864394"/>
        </p:xfrm>
        <a:graphic>
          <a:graphicData uri="http://schemas.openxmlformats.org/presentationml/2006/ole">
            <mc:AlternateContent xmlns:mc="http://schemas.openxmlformats.org/markup-compatibility/2006">
              <mc:Choice xmlns:v="urn:schemas-microsoft-com:vml" Requires="v">
                <p:oleObj r:id="rId23" imgW="2589676" imgH="482391" progId="Equation.3">
                  <p:embed/>
                </p:oleObj>
              </mc:Choice>
              <mc:Fallback>
                <p:oleObj r:id="rId23" imgW="2589676" imgH="482391" progId="Equation.3">
                  <p:embed/>
                  <p:pic>
                    <p:nvPicPr>
                      <p:cNvPr id="254993" name="Object 17">
                        <a:extLst>
                          <a:ext uri="{FF2B5EF4-FFF2-40B4-BE49-F238E27FC236}">
                            <a16:creationId xmlns:a16="http://schemas.microsoft.com/office/drawing/2014/main" id="{B7DB86E5-62AA-B107-EABE-7D90DA4D47B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94235" y="3438525"/>
                        <a:ext cx="4536281" cy="864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94" name="Object 18">
            <a:extLst>
              <a:ext uri="{FF2B5EF4-FFF2-40B4-BE49-F238E27FC236}">
                <a16:creationId xmlns:a16="http://schemas.microsoft.com/office/drawing/2014/main" id="{B6610B14-ED4E-7A62-24E0-3F9E93CAA4B3}"/>
              </a:ext>
            </a:extLst>
          </p:cNvPr>
          <p:cNvGraphicFramePr>
            <a:graphicFrameLocks noChangeAspect="1"/>
          </p:cNvGraphicFramePr>
          <p:nvPr/>
        </p:nvGraphicFramePr>
        <p:xfrm>
          <a:off x="2411017" y="4370785"/>
          <a:ext cx="1296590" cy="391715"/>
        </p:xfrm>
        <a:graphic>
          <a:graphicData uri="http://schemas.openxmlformats.org/presentationml/2006/ole">
            <mc:AlternateContent xmlns:mc="http://schemas.openxmlformats.org/markup-compatibility/2006">
              <mc:Choice xmlns:v="urn:schemas-microsoft-com:vml" Requires="v">
                <p:oleObj r:id="rId25" imgW="673100" imgH="203200" progId="Equation.3">
                  <p:embed/>
                </p:oleObj>
              </mc:Choice>
              <mc:Fallback>
                <p:oleObj r:id="rId25" imgW="673100" imgH="203200" progId="Equation.3">
                  <p:embed/>
                  <p:pic>
                    <p:nvPicPr>
                      <p:cNvPr id="254994" name="Object 18">
                        <a:extLst>
                          <a:ext uri="{FF2B5EF4-FFF2-40B4-BE49-F238E27FC236}">
                            <a16:creationId xmlns:a16="http://schemas.microsoft.com/office/drawing/2014/main" id="{B6610B14-ED4E-7A62-24E0-3F9E93CAA4B3}"/>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11017" y="4370785"/>
                        <a:ext cx="1296590" cy="391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4995" name="Object 19">
            <a:extLst>
              <a:ext uri="{FF2B5EF4-FFF2-40B4-BE49-F238E27FC236}">
                <a16:creationId xmlns:a16="http://schemas.microsoft.com/office/drawing/2014/main" id="{D8311196-AA04-36A6-53F2-2909DA2C236B}"/>
              </a:ext>
            </a:extLst>
          </p:cNvPr>
          <p:cNvGraphicFramePr>
            <a:graphicFrameLocks noChangeAspect="1"/>
          </p:cNvGraphicFramePr>
          <p:nvPr/>
        </p:nvGraphicFramePr>
        <p:xfrm>
          <a:off x="3977878" y="4354116"/>
          <a:ext cx="1241822" cy="404813"/>
        </p:xfrm>
        <a:graphic>
          <a:graphicData uri="http://schemas.openxmlformats.org/presentationml/2006/ole">
            <mc:AlternateContent xmlns:mc="http://schemas.openxmlformats.org/markup-compatibility/2006">
              <mc:Choice xmlns:v="urn:schemas-microsoft-com:vml" Requires="v">
                <p:oleObj r:id="rId27" imgW="622300" imgH="203200" progId="Equation.3">
                  <p:embed/>
                </p:oleObj>
              </mc:Choice>
              <mc:Fallback>
                <p:oleObj r:id="rId27" imgW="622300" imgH="203200" progId="Equation.3">
                  <p:embed/>
                  <p:pic>
                    <p:nvPicPr>
                      <p:cNvPr id="254995" name="Object 19">
                        <a:extLst>
                          <a:ext uri="{FF2B5EF4-FFF2-40B4-BE49-F238E27FC236}">
                            <a16:creationId xmlns:a16="http://schemas.microsoft.com/office/drawing/2014/main" id="{D8311196-AA04-36A6-53F2-2909DA2C236B}"/>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77878" y="4354116"/>
                        <a:ext cx="1241822"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254981"/>
                                        </p:tgtEl>
                                        <p:attrNameLst>
                                          <p:attrName>style.visibility</p:attrName>
                                        </p:attrNameLst>
                                      </p:cBhvr>
                                      <p:to>
                                        <p:strVal val="visible"/>
                                      </p:to>
                                    </p:set>
                                    <p:anim calcmode="lin" valueType="num">
                                      <p:cBhvr>
                                        <p:cTn id="7" dur="500" fill="hold"/>
                                        <p:tgtEl>
                                          <p:spTgt spid="254981"/>
                                        </p:tgtEl>
                                        <p:attrNameLst>
                                          <p:attrName>ppt_w</p:attrName>
                                        </p:attrNameLst>
                                      </p:cBhvr>
                                      <p:tavLst>
                                        <p:tav tm="0">
                                          <p:val>
                                            <p:strVal val="#ppt_w*0.05"/>
                                          </p:val>
                                        </p:tav>
                                        <p:tav tm="100000">
                                          <p:val>
                                            <p:strVal val="#ppt_w"/>
                                          </p:val>
                                        </p:tav>
                                      </p:tavLst>
                                    </p:anim>
                                    <p:anim calcmode="lin" valueType="num">
                                      <p:cBhvr>
                                        <p:cTn id="8" dur="500" fill="hold"/>
                                        <p:tgtEl>
                                          <p:spTgt spid="254981"/>
                                        </p:tgtEl>
                                        <p:attrNameLst>
                                          <p:attrName>ppt_h</p:attrName>
                                        </p:attrNameLst>
                                      </p:cBhvr>
                                      <p:tavLst>
                                        <p:tav tm="0">
                                          <p:val>
                                            <p:strVal val="#ppt_h"/>
                                          </p:val>
                                        </p:tav>
                                        <p:tav tm="100000">
                                          <p:val>
                                            <p:strVal val="#ppt_h"/>
                                          </p:val>
                                        </p:tav>
                                      </p:tavLst>
                                    </p:anim>
                                    <p:anim calcmode="lin" valueType="num">
                                      <p:cBhvr>
                                        <p:cTn id="9" dur="500" fill="hold"/>
                                        <p:tgtEl>
                                          <p:spTgt spid="254981"/>
                                        </p:tgtEl>
                                        <p:attrNameLst>
                                          <p:attrName>ppt_x</p:attrName>
                                        </p:attrNameLst>
                                      </p:cBhvr>
                                      <p:tavLst>
                                        <p:tav tm="0">
                                          <p:val>
                                            <p:strVal val="#ppt_x-.2"/>
                                          </p:val>
                                        </p:tav>
                                        <p:tav tm="100000">
                                          <p:val>
                                            <p:strVal val="#ppt_x"/>
                                          </p:val>
                                        </p:tav>
                                      </p:tavLst>
                                    </p:anim>
                                    <p:anim calcmode="lin" valueType="num">
                                      <p:cBhvr>
                                        <p:cTn id="10" dur="500" fill="hold"/>
                                        <p:tgtEl>
                                          <p:spTgt spid="254981"/>
                                        </p:tgtEl>
                                        <p:attrNameLst>
                                          <p:attrName>ppt_y</p:attrName>
                                        </p:attrNameLst>
                                      </p:cBhvr>
                                      <p:tavLst>
                                        <p:tav tm="0">
                                          <p:val>
                                            <p:strVal val="#ppt_y"/>
                                          </p:val>
                                        </p:tav>
                                        <p:tav tm="100000">
                                          <p:val>
                                            <p:strVal val="#ppt_y"/>
                                          </p:val>
                                        </p:tav>
                                      </p:tavLst>
                                    </p:anim>
                                    <p:animEffect transition="in" filter="fade">
                                      <p:cBhvr>
                                        <p:cTn id="11" dur="500"/>
                                        <p:tgtEl>
                                          <p:spTgt spid="25498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nodeType="clickEffect">
                                  <p:stCondLst>
                                    <p:cond delay="0"/>
                                  </p:stCondLst>
                                  <p:childTnLst>
                                    <p:set>
                                      <p:cBhvr>
                                        <p:cTn id="15" dur="1" fill="hold">
                                          <p:stCondLst>
                                            <p:cond delay="0"/>
                                          </p:stCondLst>
                                        </p:cTn>
                                        <p:tgtEl>
                                          <p:spTgt spid="254979"/>
                                        </p:tgtEl>
                                        <p:attrNameLst>
                                          <p:attrName>style.visibility</p:attrName>
                                        </p:attrNameLst>
                                      </p:cBhvr>
                                      <p:to>
                                        <p:strVal val="visible"/>
                                      </p:to>
                                    </p:set>
                                    <p:anim calcmode="lin" valueType="num">
                                      <p:cBhvr additive="base">
                                        <p:cTn id="16" dur="1000" fill="hold"/>
                                        <p:tgtEl>
                                          <p:spTgt spid="254979"/>
                                        </p:tgtEl>
                                        <p:attrNameLst>
                                          <p:attrName>ppt_x</p:attrName>
                                        </p:attrNameLst>
                                      </p:cBhvr>
                                      <p:tavLst>
                                        <p:tav tm="0">
                                          <p:val>
                                            <p:strVal val="0-#ppt_w/2"/>
                                          </p:val>
                                        </p:tav>
                                        <p:tav tm="100000">
                                          <p:val>
                                            <p:strVal val="#ppt_x"/>
                                          </p:val>
                                        </p:tav>
                                      </p:tavLst>
                                    </p:anim>
                                    <p:anim calcmode="lin" valueType="num">
                                      <p:cBhvr additive="base">
                                        <p:cTn id="17" dur="1000" fill="hold"/>
                                        <p:tgtEl>
                                          <p:spTgt spid="254979"/>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254980"/>
                                        </p:tgtEl>
                                        <p:attrNameLst>
                                          <p:attrName>style.visibility</p:attrName>
                                        </p:attrNameLst>
                                      </p:cBhvr>
                                      <p:to>
                                        <p:strVal val="visible"/>
                                      </p:to>
                                    </p:set>
                                    <p:animEffect transition="in" filter="wipe(left)">
                                      <p:cBhvr>
                                        <p:cTn id="21" dur="1000"/>
                                        <p:tgtEl>
                                          <p:spTgt spid="254980"/>
                                        </p:tgtEl>
                                      </p:cBhvr>
                                    </p:animEffect>
                                  </p:childTnLst>
                                </p:cTn>
                              </p:par>
                            </p:childTnLst>
                          </p:cTn>
                        </p:par>
                        <p:par>
                          <p:cTn id="22" fill="hold" nodeType="afterGroup">
                            <p:stCondLst>
                              <p:cond delay="2000"/>
                            </p:stCondLst>
                            <p:childTnLst>
                              <p:par>
                                <p:cTn id="23" presetID="22" presetClass="entr" presetSubtype="8" fill="hold" nodeType="afterEffect">
                                  <p:stCondLst>
                                    <p:cond delay="0"/>
                                  </p:stCondLst>
                                  <p:childTnLst>
                                    <p:set>
                                      <p:cBhvr>
                                        <p:cTn id="24" dur="1" fill="hold">
                                          <p:stCondLst>
                                            <p:cond delay="0"/>
                                          </p:stCondLst>
                                        </p:cTn>
                                        <p:tgtEl>
                                          <p:spTgt spid="254978"/>
                                        </p:tgtEl>
                                        <p:attrNameLst>
                                          <p:attrName>style.visibility</p:attrName>
                                        </p:attrNameLst>
                                      </p:cBhvr>
                                      <p:to>
                                        <p:strVal val="visible"/>
                                      </p:to>
                                    </p:set>
                                    <p:animEffect transition="in" filter="wipe(left)">
                                      <p:cBhvr>
                                        <p:cTn id="25" dur="1000"/>
                                        <p:tgtEl>
                                          <p:spTgt spid="25497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54986"/>
                                        </p:tgtEl>
                                        <p:attrNameLst>
                                          <p:attrName>style.visibility</p:attrName>
                                        </p:attrNameLst>
                                      </p:cBhvr>
                                      <p:to>
                                        <p:strVal val="visible"/>
                                      </p:to>
                                    </p:set>
                                    <p:animEffect transition="in" filter="wipe(left)">
                                      <p:cBhvr>
                                        <p:cTn id="30" dur="1000"/>
                                        <p:tgtEl>
                                          <p:spTgt spid="254986"/>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254993"/>
                                        </p:tgtEl>
                                        <p:attrNameLst>
                                          <p:attrName>style.visibility</p:attrName>
                                        </p:attrNameLst>
                                      </p:cBhvr>
                                      <p:to>
                                        <p:strVal val="visible"/>
                                      </p:to>
                                    </p:set>
                                    <p:animEffect transition="in" filter="wipe(left)">
                                      <p:cBhvr>
                                        <p:cTn id="34" dur="1000"/>
                                        <p:tgtEl>
                                          <p:spTgt spid="25499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54987"/>
                                        </p:tgtEl>
                                        <p:attrNameLst>
                                          <p:attrName>style.visibility</p:attrName>
                                        </p:attrNameLst>
                                      </p:cBhvr>
                                      <p:to>
                                        <p:strVal val="visible"/>
                                      </p:to>
                                    </p:set>
                                    <p:animEffect transition="in" filter="wipe(left)">
                                      <p:cBhvr>
                                        <p:cTn id="39" dur="1000"/>
                                        <p:tgtEl>
                                          <p:spTgt spid="25498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54988"/>
                                        </p:tgtEl>
                                        <p:attrNameLst>
                                          <p:attrName>style.visibility</p:attrName>
                                        </p:attrNameLst>
                                      </p:cBhvr>
                                      <p:to>
                                        <p:strVal val="visible"/>
                                      </p:to>
                                    </p:set>
                                    <p:animEffect transition="in" filter="wipe(left)">
                                      <p:cBhvr>
                                        <p:cTn id="44" dur="1000"/>
                                        <p:tgtEl>
                                          <p:spTgt spid="254988"/>
                                        </p:tgtEl>
                                      </p:cBhvr>
                                    </p:animEffect>
                                  </p:childTnLst>
                                </p:cTn>
                              </p:par>
                            </p:childTnLst>
                          </p:cTn>
                        </p:par>
                        <p:par>
                          <p:cTn id="45" fill="hold" nodeType="afterGroup">
                            <p:stCondLst>
                              <p:cond delay="1000"/>
                            </p:stCondLst>
                            <p:childTnLst>
                              <p:par>
                                <p:cTn id="46" presetID="6" presetClass="entr" presetSubtype="32" fill="hold" nodeType="afterEffect">
                                  <p:stCondLst>
                                    <p:cond delay="0"/>
                                  </p:stCondLst>
                                  <p:childTnLst>
                                    <p:set>
                                      <p:cBhvr>
                                        <p:cTn id="47" dur="1" fill="hold">
                                          <p:stCondLst>
                                            <p:cond delay="0"/>
                                          </p:stCondLst>
                                        </p:cTn>
                                        <p:tgtEl>
                                          <p:spTgt spid="254989"/>
                                        </p:tgtEl>
                                        <p:attrNameLst>
                                          <p:attrName>style.visibility</p:attrName>
                                        </p:attrNameLst>
                                      </p:cBhvr>
                                      <p:to>
                                        <p:strVal val="visible"/>
                                      </p:to>
                                    </p:set>
                                    <p:animEffect transition="in" filter="circle(out)">
                                      <p:cBhvr>
                                        <p:cTn id="48" dur="1000"/>
                                        <p:tgtEl>
                                          <p:spTgt spid="25498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54990"/>
                                        </p:tgtEl>
                                        <p:attrNameLst>
                                          <p:attrName>style.visibility</p:attrName>
                                        </p:attrNameLst>
                                      </p:cBhvr>
                                      <p:to>
                                        <p:strVal val="visible"/>
                                      </p:to>
                                    </p:set>
                                    <p:animEffect transition="in" filter="wipe(left)">
                                      <p:cBhvr>
                                        <p:cTn id="53" dur="1000"/>
                                        <p:tgtEl>
                                          <p:spTgt spid="25499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54991"/>
                                        </p:tgtEl>
                                        <p:attrNameLst>
                                          <p:attrName>style.visibility</p:attrName>
                                        </p:attrNameLst>
                                      </p:cBhvr>
                                      <p:to>
                                        <p:strVal val="visible"/>
                                      </p:to>
                                    </p:set>
                                    <p:animEffect transition="in" filter="wipe(left)">
                                      <p:cBhvr>
                                        <p:cTn id="58" dur="1000"/>
                                        <p:tgtEl>
                                          <p:spTgt spid="254991"/>
                                        </p:tgtEl>
                                      </p:cBhvr>
                                    </p:animEffect>
                                  </p:childTnLst>
                                </p:cTn>
                              </p:par>
                            </p:childTnLst>
                          </p:cTn>
                        </p:par>
                        <p:par>
                          <p:cTn id="59" fill="hold" nodeType="afterGroup">
                            <p:stCondLst>
                              <p:cond delay="1000"/>
                            </p:stCondLst>
                            <p:childTnLst>
                              <p:par>
                                <p:cTn id="60" presetID="6" presetClass="entr" presetSubtype="32" fill="hold" nodeType="afterEffect">
                                  <p:stCondLst>
                                    <p:cond delay="0"/>
                                  </p:stCondLst>
                                  <p:childTnLst>
                                    <p:set>
                                      <p:cBhvr>
                                        <p:cTn id="61" dur="1" fill="hold">
                                          <p:stCondLst>
                                            <p:cond delay="0"/>
                                          </p:stCondLst>
                                        </p:cTn>
                                        <p:tgtEl>
                                          <p:spTgt spid="254992"/>
                                        </p:tgtEl>
                                        <p:attrNameLst>
                                          <p:attrName>style.visibility</p:attrName>
                                        </p:attrNameLst>
                                      </p:cBhvr>
                                      <p:to>
                                        <p:strVal val="visible"/>
                                      </p:to>
                                    </p:set>
                                    <p:animEffect transition="in" filter="circle(out)">
                                      <p:cBhvr>
                                        <p:cTn id="62" dur="1000"/>
                                        <p:tgtEl>
                                          <p:spTgt spid="25499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nodeType="clickEffect">
                                  <p:stCondLst>
                                    <p:cond delay="0"/>
                                  </p:stCondLst>
                                  <p:childTnLst>
                                    <p:set>
                                      <p:cBhvr>
                                        <p:cTn id="66" dur="1" fill="hold">
                                          <p:stCondLst>
                                            <p:cond delay="0"/>
                                          </p:stCondLst>
                                        </p:cTn>
                                        <p:tgtEl>
                                          <p:spTgt spid="254994"/>
                                        </p:tgtEl>
                                        <p:attrNameLst>
                                          <p:attrName>style.visibility</p:attrName>
                                        </p:attrNameLst>
                                      </p:cBhvr>
                                      <p:to>
                                        <p:strVal val="visible"/>
                                      </p:to>
                                    </p:set>
                                    <p:animEffect transition="in" filter="slide(fromBottom)">
                                      <p:cBhvr>
                                        <p:cTn id="67" dur="500"/>
                                        <p:tgtEl>
                                          <p:spTgt spid="254994"/>
                                        </p:tgtEl>
                                      </p:cBhvr>
                                    </p:animEffect>
                                  </p:childTnLst>
                                </p:cTn>
                              </p:par>
                            </p:childTnLst>
                          </p:cTn>
                        </p:par>
                        <p:par>
                          <p:cTn id="68" fill="hold" nodeType="afterGroup">
                            <p:stCondLst>
                              <p:cond delay="500"/>
                            </p:stCondLst>
                            <p:childTnLst>
                              <p:par>
                                <p:cTn id="69" presetID="12" presetClass="entr" presetSubtype="4" fill="hold" nodeType="afterEffect">
                                  <p:stCondLst>
                                    <p:cond delay="0"/>
                                  </p:stCondLst>
                                  <p:childTnLst>
                                    <p:set>
                                      <p:cBhvr>
                                        <p:cTn id="70" dur="1" fill="hold">
                                          <p:stCondLst>
                                            <p:cond delay="0"/>
                                          </p:stCondLst>
                                        </p:cTn>
                                        <p:tgtEl>
                                          <p:spTgt spid="254995"/>
                                        </p:tgtEl>
                                        <p:attrNameLst>
                                          <p:attrName>style.visibility</p:attrName>
                                        </p:attrNameLst>
                                      </p:cBhvr>
                                      <p:to>
                                        <p:strVal val="visible"/>
                                      </p:to>
                                    </p:set>
                                    <p:animEffect transition="in" filter="slide(fromBottom)">
                                      <p:cBhvr>
                                        <p:cTn id="71" dur="500"/>
                                        <p:tgtEl>
                                          <p:spTgt spid="254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autoUpdateAnimBg="0"/>
      <p:bldP spid="25498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ext Box 2">
            <a:extLst>
              <a:ext uri="{FF2B5EF4-FFF2-40B4-BE49-F238E27FC236}">
                <a16:creationId xmlns:a16="http://schemas.microsoft.com/office/drawing/2014/main" id="{56E53E16-E8A2-A622-0E9E-6C331286FA4D}"/>
              </a:ext>
            </a:extLst>
          </p:cNvPr>
          <p:cNvSpPr txBox="1">
            <a:spLocks noChangeArrowheads="1"/>
          </p:cNvSpPr>
          <p:nvPr/>
        </p:nvSpPr>
        <p:spPr bwMode="auto">
          <a:xfrm>
            <a:off x="1818085" y="1383507"/>
            <a:ext cx="5022056" cy="1489447"/>
          </a:xfrm>
          <a:prstGeom prst="rect">
            <a:avLst/>
          </a:prstGeom>
          <a:solidFill>
            <a:srgbClr val="FFFF99">
              <a:alpha val="41176"/>
            </a:srgbClr>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0" lang="en-US" altLang="zh-CN" sz="2100" b="1">
                <a:latin typeface="楷体_GB2312" pitchFamily="49" charset="-122"/>
                <a:ea typeface="楷体_GB2312" pitchFamily="49" charset="-122"/>
              </a:rPr>
              <a:t>    </a:t>
            </a:r>
            <a:r>
              <a:rPr kumimoji="0" lang="zh-CN" altLang="en-US" sz="2100" b="1">
                <a:latin typeface="楷体_GB2312" pitchFamily="49" charset="-122"/>
                <a:ea typeface="楷体_GB2312" pitchFamily="49" charset="-122"/>
              </a:rPr>
              <a:t>概率论中用来阐明大量随机现象平均结果的稳定性的一系列定理，称为大数定律</a:t>
            </a:r>
          </a:p>
        </p:txBody>
      </p:sp>
      <p:sp>
        <p:nvSpPr>
          <p:cNvPr id="258051" name="Rectangle 3">
            <a:extLst>
              <a:ext uri="{FF2B5EF4-FFF2-40B4-BE49-F238E27FC236}">
                <a16:creationId xmlns:a16="http://schemas.microsoft.com/office/drawing/2014/main" id="{05E7213A-42E9-0F7A-2144-3E491B314DAE}"/>
              </a:ext>
            </a:extLst>
          </p:cNvPr>
          <p:cNvSpPr>
            <a:spLocks noChangeArrowheads="1"/>
          </p:cNvSpPr>
          <p:nvPr/>
        </p:nvSpPr>
        <p:spPr bwMode="auto">
          <a:xfrm>
            <a:off x="2627710" y="573881"/>
            <a:ext cx="356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000" b="1" dirty="0">
                <a:latin typeface="宋体" panose="02010600030101010101" pitchFamily="2" charset="-122"/>
              </a:rPr>
              <a:t>大数定律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258051"/>
                                        </p:tgtEl>
                                        <p:attrNameLst>
                                          <p:attrName>style.visibility</p:attrName>
                                        </p:attrNameLst>
                                      </p:cBhvr>
                                      <p:to>
                                        <p:strVal val="visible"/>
                                      </p:to>
                                    </p:set>
                                    <p:anim calcmode="lin" valueType="num">
                                      <p:cBhvr>
                                        <p:cTn id="7" dur="500" fill="hold"/>
                                        <p:tgtEl>
                                          <p:spTgt spid="258051"/>
                                        </p:tgtEl>
                                        <p:attrNameLst>
                                          <p:attrName>ppt_w</p:attrName>
                                        </p:attrNameLst>
                                      </p:cBhvr>
                                      <p:tavLst>
                                        <p:tav tm="0">
                                          <p:val>
                                            <p:strVal val="#ppt_w*0.05"/>
                                          </p:val>
                                        </p:tav>
                                        <p:tav tm="100000">
                                          <p:val>
                                            <p:strVal val="#ppt_w"/>
                                          </p:val>
                                        </p:tav>
                                      </p:tavLst>
                                    </p:anim>
                                    <p:anim calcmode="lin" valueType="num">
                                      <p:cBhvr>
                                        <p:cTn id="8" dur="500" fill="hold"/>
                                        <p:tgtEl>
                                          <p:spTgt spid="258051"/>
                                        </p:tgtEl>
                                        <p:attrNameLst>
                                          <p:attrName>ppt_h</p:attrName>
                                        </p:attrNameLst>
                                      </p:cBhvr>
                                      <p:tavLst>
                                        <p:tav tm="0">
                                          <p:val>
                                            <p:strVal val="#ppt_h"/>
                                          </p:val>
                                        </p:tav>
                                        <p:tav tm="100000">
                                          <p:val>
                                            <p:strVal val="#ppt_h"/>
                                          </p:val>
                                        </p:tav>
                                      </p:tavLst>
                                    </p:anim>
                                    <p:anim calcmode="lin" valueType="num">
                                      <p:cBhvr>
                                        <p:cTn id="9" dur="500" fill="hold"/>
                                        <p:tgtEl>
                                          <p:spTgt spid="258051"/>
                                        </p:tgtEl>
                                        <p:attrNameLst>
                                          <p:attrName>ppt_x</p:attrName>
                                        </p:attrNameLst>
                                      </p:cBhvr>
                                      <p:tavLst>
                                        <p:tav tm="0">
                                          <p:val>
                                            <p:strVal val="#ppt_x-.2"/>
                                          </p:val>
                                        </p:tav>
                                        <p:tav tm="100000">
                                          <p:val>
                                            <p:strVal val="#ppt_x"/>
                                          </p:val>
                                        </p:tav>
                                      </p:tavLst>
                                    </p:anim>
                                    <p:anim calcmode="lin" valueType="num">
                                      <p:cBhvr>
                                        <p:cTn id="10" dur="500" fill="hold"/>
                                        <p:tgtEl>
                                          <p:spTgt spid="258051"/>
                                        </p:tgtEl>
                                        <p:attrNameLst>
                                          <p:attrName>ppt_y</p:attrName>
                                        </p:attrNameLst>
                                      </p:cBhvr>
                                      <p:tavLst>
                                        <p:tav tm="0">
                                          <p:val>
                                            <p:strVal val="#ppt_y"/>
                                          </p:val>
                                        </p:tav>
                                        <p:tav tm="100000">
                                          <p:val>
                                            <p:strVal val="#ppt_y"/>
                                          </p:val>
                                        </p:tav>
                                      </p:tavLst>
                                    </p:anim>
                                    <p:animEffect transition="in" filter="fade">
                                      <p:cBhvr>
                                        <p:cTn id="11" dur="500"/>
                                        <p:tgtEl>
                                          <p:spTgt spid="258051"/>
                                        </p:tgtEl>
                                      </p:cBhvr>
                                    </p:animEffect>
                                  </p:childTnLst>
                                </p:cTn>
                              </p:par>
                            </p:childTnLst>
                          </p:cTn>
                        </p:par>
                        <p:par>
                          <p:cTn id="12" fill="hold" nodeType="afterGroup">
                            <p:stCondLst>
                              <p:cond delay="500"/>
                            </p:stCondLst>
                            <p:childTnLst>
                              <p:par>
                                <p:cTn id="13" presetID="22" presetClass="entr" presetSubtype="1" fill="hold" nodeType="afterEffect">
                                  <p:stCondLst>
                                    <p:cond delay="500"/>
                                  </p:stCondLst>
                                  <p:childTnLst>
                                    <p:set>
                                      <p:cBhvr>
                                        <p:cTn id="14" dur="1" fill="hold">
                                          <p:stCondLst>
                                            <p:cond delay="0"/>
                                          </p:stCondLst>
                                        </p:cTn>
                                        <p:tgtEl>
                                          <p:spTgt spid="258050"/>
                                        </p:tgtEl>
                                        <p:attrNameLst>
                                          <p:attrName>style.visibility</p:attrName>
                                        </p:attrNameLst>
                                      </p:cBhvr>
                                      <p:to>
                                        <p:strVal val="visible"/>
                                      </p:to>
                                    </p:set>
                                    <p:animEffect transition="in" filter="wipe(up)">
                                      <p:cBhvr>
                                        <p:cTn id="15" dur="1000"/>
                                        <p:tgtEl>
                                          <p:spTgt spid="258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animBg="1"/>
      <p:bldP spid="258051"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8066" name="Object 2">
            <a:extLst>
              <a:ext uri="{FF2B5EF4-FFF2-40B4-BE49-F238E27FC236}">
                <a16:creationId xmlns:a16="http://schemas.microsoft.com/office/drawing/2014/main" id="{62BF1933-2244-D37C-CD40-0FB236C1F2D6}"/>
              </a:ext>
            </a:extLst>
          </p:cNvPr>
          <p:cNvGraphicFramePr>
            <a:graphicFrameLocks noChangeAspect="1"/>
          </p:cNvGraphicFramePr>
          <p:nvPr/>
        </p:nvGraphicFramePr>
        <p:xfrm>
          <a:off x="4529138" y="2781300"/>
          <a:ext cx="84535" cy="160735"/>
        </p:xfrm>
        <a:graphic>
          <a:graphicData uri="http://schemas.openxmlformats.org/presentationml/2006/ole">
            <mc:AlternateContent xmlns:mc="http://schemas.openxmlformats.org/markup-compatibility/2006">
              <mc:Choice xmlns:v="urn:schemas-microsoft-com:vml" Requires="v">
                <p:oleObj name="公式" r:id="rId2" imgW="114151" imgH="215619" progId="Equation.3">
                  <p:embed/>
                </p:oleObj>
              </mc:Choice>
              <mc:Fallback>
                <p:oleObj name="公式" r:id="rId2" imgW="114151" imgH="215619" progId="Equation.3">
                  <p:embed/>
                  <p:pic>
                    <p:nvPicPr>
                      <p:cNvPr id="88066" name="Object 2">
                        <a:extLst>
                          <a:ext uri="{FF2B5EF4-FFF2-40B4-BE49-F238E27FC236}">
                            <a16:creationId xmlns:a16="http://schemas.microsoft.com/office/drawing/2014/main" id="{62BF1933-2244-D37C-CD40-0FB236C1F2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138" y="2781300"/>
                        <a:ext cx="84535"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7" name="Object 3">
            <a:extLst>
              <a:ext uri="{FF2B5EF4-FFF2-40B4-BE49-F238E27FC236}">
                <a16:creationId xmlns:a16="http://schemas.microsoft.com/office/drawing/2014/main" id="{A7FDFA97-C229-742A-D85C-ECDD1736D607}"/>
              </a:ext>
            </a:extLst>
          </p:cNvPr>
          <p:cNvGraphicFramePr>
            <a:graphicFrameLocks noChangeAspect="1"/>
          </p:cNvGraphicFramePr>
          <p:nvPr/>
        </p:nvGraphicFramePr>
        <p:xfrm>
          <a:off x="4529138" y="2781300"/>
          <a:ext cx="84535" cy="160735"/>
        </p:xfrm>
        <a:graphic>
          <a:graphicData uri="http://schemas.openxmlformats.org/presentationml/2006/ole">
            <mc:AlternateContent xmlns:mc="http://schemas.openxmlformats.org/markup-compatibility/2006">
              <mc:Choice xmlns:v="urn:schemas-microsoft-com:vml" Requires="v">
                <p:oleObj name="公式" r:id="rId4" imgW="114151" imgH="215619" progId="Equation.3">
                  <p:embed/>
                </p:oleObj>
              </mc:Choice>
              <mc:Fallback>
                <p:oleObj name="公式" r:id="rId4" imgW="114151" imgH="215619" progId="Equation.3">
                  <p:embed/>
                  <p:pic>
                    <p:nvPicPr>
                      <p:cNvPr id="88067" name="Object 3">
                        <a:extLst>
                          <a:ext uri="{FF2B5EF4-FFF2-40B4-BE49-F238E27FC236}">
                            <a16:creationId xmlns:a16="http://schemas.microsoft.com/office/drawing/2014/main" id="{A7FDFA97-C229-742A-D85C-ECDD1736D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138" y="2781300"/>
                        <a:ext cx="84535"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4" name="Rectangle 4">
            <a:extLst>
              <a:ext uri="{FF2B5EF4-FFF2-40B4-BE49-F238E27FC236}">
                <a16:creationId xmlns:a16="http://schemas.microsoft.com/office/drawing/2014/main" id="{134F575B-1277-AD82-B760-B3D9B4C8A01B}"/>
              </a:ext>
            </a:extLst>
          </p:cNvPr>
          <p:cNvSpPr>
            <a:spLocks noChangeArrowheads="1"/>
          </p:cNvSpPr>
          <p:nvPr/>
        </p:nvSpPr>
        <p:spPr bwMode="auto">
          <a:xfrm>
            <a:off x="1494235" y="1341348"/>
            <a:ext cx="6291263" cy="148925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100" b="1">
                <a:ea typeface="楷体_GB2312" pitchFamily="49" charset="-122"/>
              </a:rPr>
              <a:t>         </a:t>
            </a:r>
            <a:r>
              <a:rPr lang="zh-CN" altLang="en-US" sz="2100" b="1">
                <a:ea typeface="楷体_GB2312" pitchFamily="49" charset="-122"/>
              </a:rPr>
              <a:t>设</a:t>
            </a:r>
            <a:r>
              <a:rPr lang="en-US" altLang="zh-CN" sz="2100" b="1" i="1">
                <a:ea typeface="楷体_GB2312" pitchFamily="49" charset="-122"/>
              </a:rPr>
              <a:t>n</a:t>
            </a:r>
            <a:r>
              <a:rPr lang="zh-CN" altLang="en-US" sz="2100" b="1">
                <a:ea typeface="楷体_GB2312" pitchFamily="49" charset="-122"/>
              </a:rPr>
              <a:t>重贝努里试验中事件</a:t>
            </a:r>
            <a:r>
              <a:rPr lang="en-US" altLang="zh-CN" sz="2100" b="1" i="1">
                <a:ea typeface="楷体_GB2312" pitchFamily="49" charset="-122"/>
              </a:rPr>
              <a:t>A</a:t>
            </a:r>
            <a:r>
              <a:rPr lang="zh-CN" altLang="en-US" sz="2100" b="1">
                <a:ea typeface="楷体_GB2312" pitchFamily="49" charset="-122"/>
              </a:rPr>
              <a:t>发生的次数为</a:t>
            </a:r>
            <a:r>
              <a:rPr lang="el-GR" altLang="zh-CN" sz="2100" b="1" i="1">
                <a:ea typeface="楷体_GB2312" pitchFamily="49" charset="-122"/>
                <a:cs typeface="Times New Roman" panose="02020603050405020304" pitchFamily="18" charset="0"/>
              </a:rPr>
              <a:t>μ</a:t>
            </a:r>
            <a:r>
              <a:rPr lang="en-US" altLang="zh-CN" sz="2100" b="1" i="1" baseline="-25000">
                <a:ea typeface="楷体_GB2312" pitchFamily="49" charset="-122"/>
                <a:cs typeface="Times New Roman" panose="02020603050405020304" pitchFamily="18" charset="0"/>
              </a:rPr>
              <a:t>n</a:t>
            </a:r>
            <a:r>
              <a:rPr lang="zh-CN" altLang="en-US" sz="2100" b="1">
                <a:ea typeface="楷体_GB2312" pitchFamily="49" charset="-122"/>
              </a:rPr>
              <a:t>，</a:t>
            </a:r>
            <a:r>
              <a:rPr lang="en-US" altLang="zh-CN" sz="2100" b="1" i="1">
                <a:ea typeface="楷体_GB2312" pitchFamily="49" charset="-122"/>
              </a:rPr>
              <a:t>A</a:t>
            </a:r>
            <a:r>
              <a:rPr lang="zh-CN" altLang="en-US" sz="2100" b="1">
                <a:ea typeface="楷体_GB2312" pitchFamily="49" charset="-122"/>
              </a:rPr>
              <a:t>在每次试验中发生的概率为 </a:t>
            </a:r>
            <a:r>
              <a:rPr lang="en-US" altLang="zh-CN" sz="2100" b="1" i="1">
                <a:ea typeface="楷体_GB2312" pitchFamily="49" charset="-122"/>
              </a:rPr>
              <a:t>p</a:t>
            </a:r>
            <a:r>
              <a:rPr lang="en-US" altLang="zh-CN" sz="2100" b="1">
                <a:ea typeface="楷体_GB2312" pitchFamily="49" charset="-122"/>
              </a:rPr>
              <a:t> </a:t>
            </a:r>
            <a:r>
              <a:rPr lang="zh-CN" altLang="en-US" sz="2100" b="1">
                <a:ea typeface="楷体_GB2312" pitchFamily="49" charset="-122"/>
              </a:rPr>
              <a:t>，则对任给的</a:t>
            </a:r>
            <a:r>
              <a:rPr lang="en-US" altLang="zh-CN" sz="2100" b="1" i="1">
                <a:ea typeface="楷体_GB2312" pitchFamily="49" charset="-122"/>
              </a:rPr>
              <a:t>ε&gt;</a:t>
            </a:r>
            <a:r>
              <a:rPr lang="en-US" altLang="zh-CN" sz="2100" b="1">
                <a:ea typeface="楷体_GB2312" pitchFamily="49" charset="-122"/>
              </a:rPr>
              <a:t>0</a:t>
            </a:r>
            <a:r>
              <a:rPr lang="zh-CN" altLang="en-US" sz="2100" b="1">
                <a:ea typeface="楷体_GB2312" pitchFamily="49" charset="-122"/>
              </a:rPr>
              <a:t>，总成立</a:t>
            </a:r>
          </a:p>
        </p:txBody>
      </p:sp>
      <p:sp>
        <p:nvSpPr>
          <p:cNvPr id="261125" name="Rectangle 5">
            <a:extLst>
              <a:ext uri="{FF2B5EF4-FFF2-40B4-BE49-F238E27FC236}">
                <a16:creationId xmlns:a16="http://schemas.microsoft.com/office/drawing/2014/main" id="{598E01EF-4C4D-A8B2-5C24-CC2606F5BB64}"/>
              </a:ext>
            </a:extLst>
          </p:cNvPr>
          <p:cNvSpPr>
            <a:spLocks noChangeArrowheads="1"/>
          </p:cNvSpPr>
          <p:nvPr/>
        </p:nvSpPr>
        <p:spPr bwMode="auto">
          <a:xfrm>
            <a:off x="1331119" y="776303"/>
            <a:ext cx="3833813" cy="415498"/>
          </a:xfrm>
          <a:prstGeom prst="rect">
            <a:avLst/>
          </a:prstGeom>
          <a:noFill/>
          <a:ln>
            <a:noFill/>
          </a:ln>
          <a:effectLst/>
        </p:spPr>
        <p:txBody>
          <a:bodyPr anchor="ctr">
            <a:spAutoFit/>
          </a:bodyPr>
          <a:lstStyle/>
          <a:p>
            <a:pPr algn="ctr" eaLnBrk="1" hangingPunct="1">
              <a:defRPr/>
            </a:pP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定理</a:t>
            </a:r>
            <a:r>
              <a:rPr lang="en-US" altLang="zh-CN" sz="2100" b="1">
                <a:solidFill>
                  <a:srgbClr val="FF3399"/>
                </a:solidFill>
                <a:effectLst>
                  <a:outerShdw blurRad="38100" dist="38100" dir="2700000" algn="tl">
                    <a:srgbClr val="C0C0C0"/>
                  </a:outerShdw>
                </a:effectLst>
                <a:latin typeface="华文楷体" pitchFamily="2" charset="-122"/>
                <a:ea typeface="华文楷体" pitchFamily="2" charset="-122"/>
              </a:rPr>
              <a:t>1</a:t>
            </a: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（贝努利大数定律）</a:t>
            </a:r>
          </a:p>
        </p:txBody>
      </p:sp>
      <p:graphicFrame>
        <p:nvGraphicFramePr>
          <p:cNvPr id="261126" name="Object 6">
            <a:extLst>
              <a:ext uri="{FF2B5EF4-FFF2-40B4-BE49-F238E27FC236}">
                <a16:creationId xmlns:a16="http://schemas.microsoft.com/office/drawing/2014/main" id="{04578956-18E6-2C46-C0AC-81EAFA089172}"/>
              </a:ext>
            </a:extLst>
          </p:cNvPr>
          <p:cNvGraphicFramePr>
            <a:graphicFrameLocks noChangeAspect="1"/>
          </p:cNvGraphicFramePr>
          <p:nvPr/>
        </p:nvGraphicFramePr>
        <p:xfrm>
          <a:off x="2844404" y="2680097"/>
          <a:ext cx="3078956" cy="817959"/>
        </p:xfrm>
        <a:graphic>
          <a:graphicData uri="http://schemas.openxmlformats.org/presentationml/2006/ole">
            <mc:AlternateContent xmlns:mc="http://schemas.openxmlformats.org/markup-compatibility/2006">
              <mc:Choice xmlns:v="urn:schemas-microsoft-com:vml" Requires="v">
                <p:oleObj name="公式" r:id="rId5" imgW="1495349" imgH="380913" progId="Equation.3">
                  <p:embed/>
                </p:oleObj>
              </mc:Choice>
              <mc:Fallback>
                <p:oleObj name="公式" r:id="rId5" imgW="1495349" imgH="380913" progId="Equation.3">
                  <p:embed/>
                  <p:pic>
                    <p:nvPicPr>
                      <p:cNvPr id="261126" name="Object 6">
                        <a:extLst>
                          <a:ext uri="{FF2B5EF4-FFF2-40B4-BE49-F238E27FC236}">
                            <a16:creationId xmlns:a16="http://schemas.microsoft.com/office/drawing/2014/main" id="{04578956-18E6-2C46-C0AC-81EAFA0891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4404" y="2680097"/>
                        <a:ext cx="3078956" cy="81795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7" name="Rectangle 7">
            <a:extLst>
              <a:ext uri="{FF2B5EF4-FFF2-40B4-BE49-F238E27FC236}">
                <a16:creationId xmlns:a16="http://schemas.microsoft.com/office/drawing/2014/main" id="{C0325352-B135-0CBB-491E-413D2E3E34EE}"/>
              </a:ext>
            </a:extLst>
          </p:cNvPr>
          <p:cNvSpPr>
            <a:spLocks noChangeArrowheads="1"/>
          </p:cNvSpPr>
          <p:nvPr/>
        </p:nvSpPr>
        <p:spPr bwMode="auto">
          <a:xfrm>
            <a:off x="1925242" y="3436144"/>
            <a:ext cx="72327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100" b="1">
                <a:latin typeface="楷体_GB2312" pitchFamily="49" charset="-122"/>
                <a:ea typeface="楷体_GB2312" pitchFamily="49" charset="-122"/>
              </a:rPr>
              <a:t>即：</a:t>
            </a:r>
          </a:p>
        </p:txBody>
      </p:sp>
      <p:graphicFrame>
        <p:nvGraphicFramePr>
          <p:cNvPr id="261128" name="Object 8">
            <a:extLst>
              <a:ext uri="{FF2B5EF4-FFF2-40B4-BE49-F238E27FC236}">
                <a16:creationId xmlns:a16="http://schemas.microsoft.com/office/drawing/2014/main" id="{1169520E-6AAF-2F21-2B6D-B60F8558494F}"/>
              </a:ext>
            </a:extLst>
          </p:cNvPr>
          <p:cNvGraphicFramePr>
            <a:graphicFrameLocks noChangeAspect="1"/>
          </p:cNvGraphicFramePr>
          <p:nvPr/>
        </p:nvGraphicFramePr>
        <p:xfrm>
          <a:off x="2897982" y="3759994"/>
          <a:ext cx="2645569" cy="682229"/>
        </p:xfrm>
        <a:graphic>
          <a:graphicData uri="http://schemas.openxmlformats.org/presentationml/2006/ole">
            <mc:AlternateContent xmlns:mc="http://schemas.openxmlformats.org/markup-compatibility/2006">
              <mc:Choice xmlns:v="urn:schemas-microsoft-com:vml" Requires="v">
                <p:oleObj name="公式" r:id="rId7" imgW="1428902" imgH="380913" progId="Equation.3">
                  <p:embed/>
                </p:oleObj>
              </mc:Choice>
              <mc:Fallback>
                <p:oleObj name="公式" r:id="rId7" imgW="1428902" imgH="380913" progId="Equation.3">
                  <p:embed/>
                  <p:pic>
                    <p:nvPicPr>
                      <p:cNvPr id="261128" name="Object 8">
                        <a:extLst>
                          <a:ext uri="{FF2B5EF4-FFF2-40B4-BE49-F238E27FC236}">
                            <a16:creationId xmlns:a16="http://schemas.microsoft.com/office/drawing/2014/main" id="{1169520E-6AAF-2F21-2B6D-B60F855849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7982" y="3759994"/>
                        <a:ext cx="2645569" cy="682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9" name="Rectangle 9">
            <a:extLst>
              <a:ext uri="{FF2B5EF4-FFF2-40B4-BE49-F238E27FC236}">
                <a16:creationId xmlns:a16="http://schemas.microsoft.com/office/drawing/2014/main" id="{6BFD683B-8A1D-41B9-1C3A-5F1E03B544F4}"/>
              </a:ext>
            </a:extLst>
          </p:cNvPr>
          <p:cNvSpPr>
            <a:spLocks noChangeArrowheads="1"/>
          </p:cNvSpPr>
          <p:nvPr/>
        </p:nvSpPr>
        <p:spPr bwMode="auto">
          <a:xfrm>
            <a:off x="1457564" y="181719"/>
            <a:ext cx="2954655" cy="461665"/>
          </a:xfrm>
          <a:prstGeom prst="rect">
            <a:avLst/>
          </a:prstGeom>
          <a:noFill/>
          <a:ln>
            <a:noFill/>
          </a:ln>
          <a:effectLst/>
        </p:spPr>
        <p:txBody>
          <a:bodyPr wrap="none" anchor="ctr">
            <a:spAutoFit/>
          </a:bodyPr>
          <a:lstStyle/>
          <a:p>
            <a:pPr algn="ctr" eaLnBrk="1" hangingPunct="1">
              <a:spcBef>
                <a:spcPct val="50000"/>
              </a:spcBef>
              <a:defRPr/>
            </a:pPr>
            <a:r>
              <a:rPr lang="zh-CN" altLang="en-US" sz="2400" b="1">
                <a:solidFill>
                  <a:srgbClr val="FF33CC"/>
                </a:solidFill>
                <a:effectLst>
                  <a:outerShdw blurRad="38100" dist="38100" dir="2700000" algn="tl">
                    <a:srgbClr val="C0C0C0"/>
                  </a:outerShdw>
                </a:effectLst>
                <a:ea typeface="华文楷体" pitchFamily="2" charset="-122"/>
              </a:rPr>
              <a:t>三个常见的大数定律</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261129"/>
                                        </p:tgtEl>
                                        <p:attrNameLst>
                                          <p:attrName>style.visibility</p:attrName>
                                        </p:attrNameLst>
                                      </p:cBhvr>
                                      <p:to>
                                        <p:strVal val="visible"/>
                                      </p:to>
                                    </p:set>
                                    <p:anim calcmode="lin" valueType="num">
                                      <p:cBhvr>
                                        <p:cTn id="7" dur="1000" fill="hold"/>
                                        <p:tgtEl>
                                          <p:spTgt spid="261129"/>
                                        </p:tgtEl>
                                        <p:attrNameLst>
                                          <p:attrName>ppt_w</p:attrName>
                                        </p:attrNameLst>
                                      </p:cBhvr>
                                      <p:tavLst>
                                        <p:tav tm="0">
                                          <p:val>
                                            <p:fltVal val="0"/>
                                          </p:val>
                                        </p:tav>
                                        <p:tav tm="100000">
                                          <p:val>
                                            <p:strVal val="#ppt_w"/>
                                          </p:val>
                                        </p:tav>
                                      </p:tavLst>
                                    </p:anim>
                                    <p:anim calcmode="lin" valueType="num">
                                      <p:cBhvr>
                                        <p:cTn id="8" dur="1000" fill="hold"/>
                                        <p:tgtEl>
                                          <p:spTgt spid="26112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61125"/>
                                        </p:tgtEl>
                                        <p:attrNameLst>
                                          <p:attrName>style.visibility</p:attrName>
                                        </p:attrNameLst>
                                      </p:cBhvr>
                                      <p:to>
                                        <p:strVal val="visible"/>
                                      </p:to>
                                    </p:set>
                                    <p:animEffect transition="in" filter="wipe(left)">
                                      <p:cBhvr>
                                        <p:cTn id="13" dur="1000"/>
                                        <p:tgtEl>
                                          <p:spTgt spid="261125"/>
                                        </p:tgtEl>
                                      </p:cBhvr>
                                    </p:animEffect>
                                  </p:childTnLst>
                                </p:cTn>
                              </p:par>
                            </p:childTnLst>
                          </p:cTn>
                        </p:par>
                        <p:par>
                          <p:cTn id="14" fill="hold" nodeType="afterGroup">
                            <p:stCondLst>
                              <p:cond delay="1000"/>
                            </p:stCondLst>
                            <p:childTnLst>
                              <p:par>
                                <p:cTn id="15" presetID="12" presetClass="entr" presetSubtype="4" fill="hold" nodeType="afterEffect">
                                  <p:stCondLst>
                                    <p:cond delay="500"/>
                                  </p:stCondLst>
                                  <p:childTnLst>
                                    <p:set>
                                      <p:cBhvr>
                                        <p:cTn id="16" dur="1" fill="hold">
                                          <p:stCondLst>
                                            <p:cond delay="0"/>
                                          </p:stCondLst>
                                        </p:cTn>
                                        <p:tgtEl>
                                          <p:spTgt spid="261124"/>
                                        </p:tgtEl>
                                        <p:attrNameLst>
                                          <p:attrName>style.visibility</p:attrName>
                                        </p:attrNameLst>
                                      </p:cBhvr>
                                      <p:to>
                                        <p:strVal val="visible"/>
                                      </p:to>
                                    </p:set>
                                    <p:animEffect transition="in" filter="slide(fromBottom)">
                                      <p:cBhvr>
                                        <p:cTn id="17" dur="1000"/>
                                        <p:tgtEl>
                                          <p:spTgt spid="261124"/>
                                        </p:tgtEl>
                                      </p:cBhvr>
                                    </p:animEffect>
                                  </p:childTnLst>
                                </p:cTn>
                              </p:par>
                            </p:childTnLst>
                          </p:cTn>
                        </p:par>
                        <p:par>
                          <p:cTn id="18" fill="hold" nodeType="afterGroup">
                            <p:stCondLst>
                              <p:cond delay="2500"/>
                            </p:stCondLst>
                            <p:childTnLst>
                              <p:par>
                                <p:cTn id="19" presetID="12" presetClass="entr" presetSubtype="4" fill="hold" nodeType="afterEffect">
                                  <p:stCondLst>
                                    <p:cond delay="500"/>
                                  </p:stCondLst>
                                  <p:childTnLst>
                                    <p:set>
                                      <p:cBhvr>
                                        <p:cTn id="20" dur="1" fill="hold">
                                          <p:stCondLst>
                                            <p:cond delay="0"/>
                                          </p:stCondLst>
                                        </p:cTn>
                                        <p:tgtEl>
                                          <p:spTgt spid="261126"/>
                                        </p:tgtEl>
                                        <p:attrNameLst>
                                          <p:attrName>style.visibility</p:attrName>
                                        </p:attrNameLst>
                                      </p:cBhvr>
                                      <p:to>
                                        <p:strVal val="visible"/>
                                      </p:to>
                                    </p:set>
                                    <p:animEffect transition="in" filter="slide(fromBottom)">
                                      <p:cBhvr>
                                        <p:cTn id="21" dur="1000"/>
                                        <p:tgtEl>
                                          <p:spTgt spid="261126"/>
                                        </p:tgtEl>
                                      </p:cBhvr>
                                    </p:animEffect>
                                  </p:childTnLst>
                                </p:cTn>
                              </p:par>
                            </p:childTnLst>
                          </p:cTn>
                        </p:par>
                        <p:par>
                          <p:cTn id="22" fill="hold" nodeType="afterGroup">
                            <p:stCondLst>
                              <p:cond delay="4000"/>
                            </p:stCondLst>
                            <p:childTnLst>
                              <p:par>
                                <p:cTn id="23" presetID="22" presetClass="entr" presetSubtype="8" fill="hold" nodeType="afterEffect">
                                  <p:stCondLst>
                                    <p:cond delay="0"/>
                                  </p:stCondLst>
                                  <p:childTnLst>
                                    <p:set>
                                      <p:cBhvr>
                                        <p:cTn id="24" dur="1" fill="hold">
                                          <p:stCondLst>
                                            <p:cond delay="0"/>
                                          </p:stCondLst>
                                        </p:cTn>
                                        <p:tgtEl>
                                          <p:spTgt spid="261127"/>
                                        </p:tgtEl>
                                        <p:attrNameLst>
                                          <p:attrName>style.visibility</p:attrName>
                                        </p:attrNameLst>
                                      </p:cBhvr>
                                      <p:to>
                                        <p:strVal val="visible"/>
                                      </p:to>
                                    </p:set>
                                    <p:animEffect transition="in" filter="wipe(left)">
                                      <p:cBhvr>
                                        <p:cTn id="25" dur="1000"/>
                                        <p:tgtEl>
                                          <p:spTgt spid="261127"/>
                                        </p:tgtEl>
                                      </p:cBhvr>
                                    </p:animEffect>
                                  </p:childTnLst>
                                </p:cTn>
                              </p:par>
                            </p:childTnLst>
                          </p:cTn>
                        </p:par>
                        <p:par>
                          <p:cTn id="26" fill="hold" nodeType="afterGroup">
                            <p:stCondLst>
                              <p:cond delay="5000"/>
                            </p:stCondLst>
                            <p:childTnLst>
                              <p:par>
                                <p:cTn id="27" presetID="12" presetClass="entr" presetSubtype="4" fill="hold" nodeType="afterEffect">
                                  <p:stCondLst>
                                    <p:cond delay="0"/>
                                  </p:stCondLst>
                                  <p:childTnLst>
                                    <p:set>
                                      <p:cBhvr>
                                        <p:cTn id="28" dur="1" fill="hold">
                                          <p:stCondLst>
                                            <p:cond delay="0"/>
                                          </p:stCondLst>
                                        </p:cTn>
                                        <p:tgtEl>
                                          <p:spTgt spid="261128"/>
                                        </p:tgtEl>
                                        <p:attrNameLst>
                                          <p:attrName>style.visibility</p:attrName>
                                        </p:attrNameLst>
                                      </p:cBhvr>
                                      <p:to>
                                        <p:strVal val="visible"/>
                                      </p:to>
                                    </p:set>
                                    <p:animEffect transition="in" filter="slide(fromBottom)">
                                      <p:cBhvr>
                                        <p:cTn id="29" dur="1000"/>
                                        <p:tgtEl>
                                          <p:spTgt spid="261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4" grpId="0" autoUpdateAnimBg="0"/>
      <p:bldP spid="261125" grpId="0" autoUpdateAnimBg="0"/>
      <p:bldP spid="261127" grpId="0"/>
      <p:bldP spid="26112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2">
            <a:extLst>
              <a:ext uri="{FF2B5EF4-FFF2-40B4-BE49-F238E27FC236}">
                <a16:creationId xmlns:a16="http://schemas.microsoft.com/office/drawing/2014/main" id="{23C4794D-3D38-D765-5248-27EEF54D94AE}"/>
              </a:ext>
            </a:extLst>
          </p:cNvPr>
          <p:cNvSpPr txBox="1">
            <a:spLocks noChangeArrowheads="1"/>
          </p:cNvSpPr>
          <p:nvPr/>
        </p:nvSpPr>
        <p:spPr bwMode="auto">
          <a:xfrm>
            <a:off x="1396604" y="236949"/>
            <a:ext cx="5389959" cy="415498"/>
          </a:xfrm>
          <a:prstGeom prst="rect">
            <a:avLst/>
          </a:prstGeom>
          <a:noFill/>
          <a:ln>
            <a:noFill/>
          </a:ln>
          <a:effectLst/>
        </p:spPr>
        <p:txBody>
          <a:bodyPr anchor="ctr">
            <a:spAutoFit/>
          </a:bodyPr>
          <a:lstStyle/>
          <a:p>
            <a:pPr algn="ctr" eaLnBrk="1" hangingPunct="1">
              <a:defRPr/>
            </a:pP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定理</a:t>
            </a:r>
            <a:r>
              <a:rPr lang="en-US" altLang="zh-CN" sz="2100" b="1">
                <a:solidFill>
                  <a:srgbClr val="FF3399"/>
                </a:solidFill>
                <a:effectLst>
                  <a:outerShdw blurRad="38100" dist="38100" dir="2700000" algn="tl">
                    <a:srgbClr val="C0C0C0"/>
                  </a:outerShdw>
                </a:effectLst>
                <a:latin typeface="华文楷体" pitchFamily="2" charset="-122"/>
                <a:ea typeface="华文楷体" pitchFamily="2" charset="-122"/>
              </a:rPr>
              <a:t>2</a:t>
            </a: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（契比雪夫大数定律的特殊情形）</a:t>
            </a:r>
          </a:p>
        </p:txBody>
      </p:sp>
      <p:graphicFrame>
        <p:nvGraphicFramePr>
          <p:cNvPr id="263171" name="Object 3">
            <a:extLst>
              <a:ext uri="{FF2B5EF4-FFF2-40B4-BE49-F238E27FC236}">
                <a16:creationId xmlns:a16="http://schemas.microsoft.com/office/drawing/2014/main" id="{676F2919-07AB-0A41-DA6E-6ED330EF02C0}"/>
              </a:ext>
            </a:extLst>
          </p:cNvPr>
          <p:cNvGraphicFramePr>
            <a:graphicFrameLocks noChangeAspect="1"/>
          </p:cNvGraphicFramePr>
          <p:nvPr/>
        </p:nvGraphicFramePr>
        <p:xfrm>
          <a:off x="2357437" y="2193132"/>
          <a:ext cx="3368279" cy="841772"/>
        </p:xfrm>
        <a:graphic>
          <a:graphicData uri="http://schemas.openxmlformats.org/presentationml/2006/ole">
            <mc:AlternateContent xmlns:mc="http://schemas.openxmlformats.org/markup-compatibility/2006">
              <mc:Choice xmlns:v="urn:schemas-microsoft-com:vml" Requires="v">
                <p:oleObj name="公式" r:id="rId2" imgW="1771802" imgH="400017" progId="Equation.3">
                  <p:embed/>
                </p:oleObj>
              </mc:Choice>
              <mc:Fallback>
                <p:oleObj name="公式" r:id="rId2" imgW="1771802" imgH="400017" progId="Equation.3">
                  <p:embed/>
                  <p:pic>
                    <p:nvPicPr>
                      <p:cNvPr id="263171" name="Object 3">
                        <a:extLst>
                          <a:ext uri="{FF2B5EF4-FFF2-40B4-BE49-F238E27FC236}">
                            <a16:creationId xmlns:a16="http://schemas.microsoft.com/office/drawing/2014/main" id="{676F2919-07AB-0A41-DA6E-6ED330EF02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7437" y="2193132"/>
                        <a:ext cx="3368279" cy="84177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72" name="Text Box 4">
            <a:extLst>
              <a:ext uri="{FF2B5EF4-FFF2-40B4-BE49-F238E27FC236}">
                <a16:creationId xmlns:a16="http://schemas.microsoft.com/office/drawing/2014/main" id="{8D8551BA-76E0-C4BD-AFCD-77A740F4FF05}"/>
              </a:ext>
            </a:extLst>
          </p:cNvPr>
          <p:cNvSpPr txBox="1">
            <a:spLocks noChangeArrowheads="1"/>
          </p:cNvSpPr>
          <p:nvPr/>
        </p:nvSpPr>
        <p:spPr bwMode="auto">
          <a:xfrm>
            <a:off x="1385888" y="704363"/>
            <a:ext cx="6373416" cy="148925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100" b="1">
                <a:ea typeface="楷体_GB2312" pitchFamily="49" charset="-122"/>
              </a:rPr>
              <a:t>    </a:t>
            </a:r>
            <a:r>
              <a:rPr lang="zh-CN" altLang="en-US" sz="2100" b="1">
                <a:ea typeface="楷体_GB2312" pitchFamily="49" charset="-122"/>
              </a:rPr>
              <a:t>设随机变量序列</a:t>
            </a:r>
            <a:r>
              <a:rPr lang="en-US" altLang="zh-CN" sz="2100" b="1" i="1">
                <a:ea typeface="楷体_GB2312" pitchFamily="49" charset="-122"/>
              </a:rPr>
              <a:t>X</a:t>
            </a:r>
            <a:r>
              <a:rPr lang="en-US" altLang="zh-CN" sz="2100" b="1" baseline="-25000">
                <a:ea typeface="楷体_GB2312" pitchFamily="49" charset="-122"/>
              </a:rPr>
              <a:t>1</a:t>
            </a:r>
            <a:r>
              <a:rPr lang="en-US" altLang="zh-CN" sz="2100" b="1">
                <a:ea typeface="楷体_GB2312" pitchFamily="49" charset="-122"/>
              </a:rPr>
              <a:t>,</a:t>
            </a:r>
            <a:r>
              <a:rPr lang="en-US" altLang="zh-CN" sz="2100" b="1" i="1">
                <a:ea typeface="楷体_GB2312" pitchFamily="49" charset="-122"/>
              </a:rPr>
              <a:t>X</a:t>
            </a:r>
            <a:r>
              <a:rPr lang="en-US" altLang="zh-CN" sz="2100" b="1" baseline="-25000">
                <a:ea typeface="楷体_GB2312" pitchFamily="49" charset="-122"/>
              </a:rPr>
              <a:t>2</a:t>
            </a:r>
            <a:r>
              <a:rPr lang="en-US" altLang="zh-CN" sz="2100" b="1">
                <a:ea typeface="楷体_GB2312" pitchFamily="49" charset="-122"/>
              </a:rPr>
              <a:t>, …</a:t>
            </a:r>
            <a:r>
              <a:rPr lang="zh-CN" altLang="en-US" sz="2100" b="1">
                <a:ea typeface="楷体_GB2312" pitchFamily="49" charset="-122"/>
              </a:rPr>
              <a:t>相互独立，并且具有相同的数学期望和方差，</a:t>
            </a:r>
            <a:r>
              <a:rPr lang="en-US" altLang="zh-CN" sz="2100" b="1">
                <a:ea typeface="楷体_GB2312" pitchFamily="49" charset="-122"/>
              </a:rPr>
              <a:t>E(X</a:t>
            </a:r>
            <a:r>
              <a:rPr lang="en-US" altLang="zh-CN" sz="2100" b="1" i="1" baseline="-25000">
                <a:ea typeface="楷体_GB2312" pitchFamily="49" charset="-122"/>
              </a:rPr>
              <a:t>i</a:t>
            </a:r>
            <a:r>
              <a:rPr lang="en-US" altLang="zh-CN" sz="2100" b="1">
                <a:ea typeface="楷体_GB2312" pitchFamily="49" charset="-122"/>
              </a:rPr>
              <a:t>)=</a:t>
            </a:r>
            <a:r>
              <a:rPr lang="el-GR" altLang="zh-CN" sz="2100" b="1" i="1">
                <a:ea typeface="楷体_GB2312" pitchFamily="49" charset="-122"/>
                <a:cs typeface="Times New Roman" panose="02020603050405020304" pitchFamily="18" charset="0"/>
              </a:rPr>
              <a:t>μ</a:t>
            </a:r>
            <a:r>
              <a:rPr lang="zh-CN" altLang="en-US" sz="2100" b="1">
                <a:ea typeface="楷体_GB2312" pitchFamily="49" charset="-122"/>
              </a:rPr>
              <a:t>，</a:t>
            </a:r>
            <a:r>
              <a:rPr lang="en-US" altLang="zh-CN" sz="2100" b="1">
                <a:ea typeface="楷体_GB2312" pitchFamily="49" charset="-122"/>
              </a:rPr>
              <a:t>D(X</a:t>
            </a:r>
            <a:r>
              <a:rPr lang="en-US" altLang="zh-CN" sz="2100" b="1" i="1" baseline="-25000">
                <a:ea typeface="楷体_GB2312" pitchFamily="49" charset="-122"/>
              </a:rPr>
              <a:t>i</a:t>
            </a:r>
            <a:r>
              <a:rPr lang="en-US" altLang="zh-CN" sz="2100" b="1">
                <a:ea typeface="楷体_GB2312" pitchFamily="49" charset="-122"/>
              </a:rPr>
              <a:t>)=</a:t>
            </a:r>
            <a:r>
              <a:rPr lang="el-GR" altLang="zh-CN" sz="2100" b="1" i="1">
                <a:ea typeface="楷体_GB2312" pitchFamily="49" charset="-122"/>
              </a:rPr>
              <a:t>σ</a:t>
            </a:r>
            <a:r>
              <a:rPr lang="en-US" altLang="zh-CN" sz="2100" b="1" baseline="30000">
                <a:ea typeface="楷体_GB2312" pitchFamily="49" charset="-122"/>
              </a:rPr>
              <a:t>2</a:t>
            </a:r>
            <a:r>
              <a:rPr lang="en-US" altLang="zh-CN" sz="2100" b="1">
                <a:ea typeface="楷体_GB2312" pitchFamily="49" charset="-122"/>
              </a:rPr>
              <a:t>,</a:t>
            </a:r>
            <a:r>
              <a:rPr lang="en-US" altLang="zh-CN" sz="2100" b="1" i="1">
                <a:ea typeface="楷体_GB2312" pitchFamily="49" charset="-122"/>
              </a:rPr>
              <a:t>i</a:t>
            </a:r>
            <a:r>
              <a:rPr lang="en-US" altLang="zh-CN" sz="2100" b="1">
                <a:ea typeface="楷体_GB2312" pitchFamily="49" charset="-122"/>
              </a:rPr>
              <a:t>=1,2, …,</a:t>
            </a:r>
            <a:r>
              <a:rPr lang="zh-CN" altLang="en-US" sz="2100" b="1">
                <a:ea typeface="楷体_GB2312" pitchFamily="49" charset="-122"/>
              </a:rPr>
              <a:t>则对任给的</a:t>
            </a:r>
            <a:r>
              <a:rPr lang="en-US" altLang="zh-CN" sz="2100" b="1" i="1">
                <a:ea typeface="楷体_GB2312" pitchFamily="49" charset="-122"/>
              </a:rPr>
              <a:t>ε&gt;</a:t>
            </a:r>
            <a:r>
              <a:rPr lang="en-US" altLang="zh-CN" sz="2100" b="1">
                <a:ea typeface="楷体_GB2312" pitchFamily="49" charset="-122"/>
              </a:rPr>
              <a:t>0</a:t>
            </a:r>
            <a:r>
              <a:rPr lang="zh-CN" altLang="en-US" sz="2100" b="1">
                <a:ea typeface="楷体_GB2312" pitchFamily="49" charset="-122"/>
              </a:rPr>
              <a:t>，总成立</a:t>
            </a:r>
          </a:p>
        </p:txBody>
      </p:sp>
      <p:sp>
        <p:nvSpPr>
          <p:cNvPr id="263173" name="Rectangle 5">
            <a:extLst>
              <a:ext uri="{FF2B5EF4-FFF2-40B4-BE49-F238E27FC236}">
                <a16:creationId xmlns:a16="http://schemas.microsoft.com/office/drawing/2014/main" id="{D70599C3-7282-31E7-1568-367BDB3EDF57}"/>
              </a:ext>
            </a:extLst>
          </p:cNvPr>
          <p:cNvSpPr>
            <a:spLocks noChangeArrowheads="1"/>
          </p:cNvSpPr>
          <p:nvPr/>
        </p:nvSpPr>
        <p:spPr bwMode="auto">
          <a:xfrm>
            <a:off x="1601391" y="3057525"/>
            <a:ext cx="45397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100" b="1">
                <a:latin typeface="楷体_GB2312" pitchFamily="49" charset="-122"/>
                <a:ea typeface="楷体_GB2312" pitchFamily="49" charset="-122"/>
              </a:rPr>
              <a:t>即</a:t>
            </a:r>
          </a:p>
        </p:txBody>
      </p:sp>
      <p:graphicFrame>
        <p:nvGraphicFramePr>
          <p:cNvPr id="263174" name="Object 6">
            <a:extLst>
              <a:ext uri="{FF2B5EF4-FFF2-40B4-BE49-F238E27FC236}">
                <a16:creationId xmlns:a16="http://schemas.microsoft.com/office/drawing/2014/main" id="{7D866D5E-D8D4-B56F-0D3C-6E797A63662A}"/>
              </a:ext>
            </a:extLst>
          </p:cNvPr>
          <p:cNvGraphicFramePr>
            <a:graphicFrameLocks noChangeAspect="1"/>
          </p:cNvGraphicFramePr>
          <p:nvPr/>
        </p:nvGraphicFramePr>
        <p:xfrm>
          <a:off x="2681288" y="3381375"/>
          <a:ext cx="3152775" cy="723900"/>
        </p:xfrm>
        <a:graphic>
          <a:graphicData uri="http://schemas.openxmlformats.org/presentationml/2006/ole">
            <mc:AlternateContent xmlns:mc="http://schemas.openxmlformats.org/markup-compatibility/2006">
              <mc:Choice xmlns:v="urn:schemas-microsoft-com:vml" Requires="v">
                <p:oleObj name="公式" r:id="rId4" imgW="1714500" imgH="400017" progId="Equation.3">
                  <p:embed/>
                </p:oleObj>
              </mc:Choice>
              <mc:Fallback>
                <p:oleObj name="公式" r:id="rId4" imgW="1714500" imgH="400017" progId="Equation.3">
                  <p:embed/>
                  <p:pic>
                    <p:nvPicPr>
                      <p:cNvPr id="263174" name="Object 6">
                        <a:extLst>
                          <a:ext uri="{FF2B5EF4-FFF2-40B4-BE49-F238E27FC236}">
                            <a16:creationId xmlns:a16="http://schemas.microsoft.com/office/drawing/2014/main" id="{7D866D5E-D8D4-B56F-0D3C-6E797A6366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1288" y="3381375"/>
                        <a:ext cx="3152775"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63170"/>
                                        </p:tgtEl>
                                        <p:attrNameLst>
                                          <p:attrName>style.visibility</p:attrName>
                                        </p:attrNameLst>
                                      </p:cBhvr>
                                      <p:to>
                                        <p:strVal val="visible"/>
                                      </p:to>
                                    </p:set>
                                    <p:animEffect transition="in" filter="wipe(left)">
                                      <p:cBhvr>
                                        <p:cTn id="7" dur="1000"/>
                                        <p:tgtEl>
                                          <p:spTgt spid="263170"/>
                                        </p:tgtEl>
                                      </p:cBhvr>
                                    </p:animEffect>
                                  </p:childTnLst>
                                </p:cTn>
                              </p:par>
                            </p:childTnLst>
                          </p:cTn>
                        </p:par>
                        <p:par>
                          <p:cTn id="8" fill="hold" nodeType="afterGroup">
                            <p:stCondLst>
                              <p:cond delay="1000"/>
                            </p:stCondLst>
                            <p:childTnLst>
                              <p:par>
                                <p:cTn id="9" presetID="12" presetClass="entr" presetSubtype="4" fill="hold" nodeType="afterEffect">
                                  <p:stCondLst>
                                    <p:cond delay="500"/>
                                  </p:stCondLst>
                                  <p:childTnLst>
                                    <p:set>
                                      <p:cBhvr>
                                        <p:cTn id="10" dur="1" fill="hold">
                                          <p:stCondLst>
                                            <p:cond delay="0"/>
                                          </p:stCondLst>
                                        </p:cTn>
                                        <p:tgtEl>
                                          <p:spTgt spid="263172"/>
                                        </p:tgtEl>
                                        <p:attrNameLst>
                                          <p:attrName>style.visibility</p:attrName>
                                        </p:attrNameLst>
                                      </p:cBhvr>
                                      <p:to>
                                        <p:strVal val="visible"/>
                                      </p:to>
                                    </p:set>
                                    <p:animEffect transition="in" filter="slide(fromBottom)">
                                      <p:cBhvr>
                                        <p:cTn id="11" dur="1000"/>
                                        <p:tgtEl>
                                          <p:spTgt spid="263172"/>
                                        </p:tgtEl>
                                      </p:cBhvr>
                                    </p:animEffect>
                                  </p:childTnLst>
                                </p:cTn>
                              </p:par>
                            </p:childTnLst>
                          </p:cTn>
                        </p:par>
                        <p:par>
                          <p:cTn id="12" fill="hold" nodeType="afterGroup">
                            <p:stCondLst>
                              <p:cond delay="2500"/>
                            </p:stCondLst>
                            <p:childTnLst>
                              <p:par>
                                <p:cTn id="13" presetID="12" presetClass="entr" presetSubtype="4" fill="hold" nodeType="afterEffect">
                                  <p:stCondLst>
                                    <p:cond delay="0"/>
                                  </p:stCondLst>
                                  <p:childTnLst>
                                    <p:set>
                                      <p:cBhvr>
                                        <p:cTn id="14" dur="1" fill="hold">
                                          <p:stCondLst>
                                            <p:cond delay="0"/>
                                          </p:stCondLst>
                                        </p:cTn>
                                        <p:tgtEl>
                                          <p:spTgt spid="263171"/>
                                        </p:tgtEl>
                                        <p:attrNameLst>
                                          <p:attrName>style.visibility</p:attrName>
                                        </p:attrNameLst>
                                      </p:cBhvr>
                                      <p:to>
                                        <p:strVal val="visible"/>
                                      </p:to>
                                    </p:set>
                                    <p:animEffect transition="in" filter="slide(fromBottom)">
                                      <p:cBhvr>
                                        <p:cTn id="15" dur="1000"/>
                                        <p:tgtEl>
                                          <p:spTgt spid="263171"/>
                                        </p:tgtEl>
                                      </p:cBhvr>
                                    </p:animEffect>
                                  </p:childTnLst>
                                </p:cTn>
                              </p:par>
                            </p:childTnLst>
                          </p:cTn>
                        </p:par>
                        <p:par>
                          <p:cTn id="16" fill="hold" nodeType="afterGroup">
                            <p:stCondLst>
                              <p:cond delay="3500"/>
                            </p:stCondLst>
                            <p:childTnLst>
                              <p:par>
                                <p:cTn id="17" presetID="22" presetClass="entr" presetSubtype="8" fill="hold" nodeType="afterEffect">
                                  <p:stCondLst>
                                    <p:cond delay="500"/>
                                  </p:stCondLst>
                                  <p:childTnLst>
                                    <p:set>
                                      <p:cBhvr>
                                        <p:cTn id="18" dur="1" fill="hold">
                                          <p:stCondLst>
                                            <p:cond delay="0"/>
                                          </p:stCondLst>
                                        </p:cTn>
                                        <p:tgtEl>
                                          <p:spTgt spid="263173"/>
                                        </p:tgtEl>
                                        <p:attrNameLst>
                                          <p:attrName>style.visibility</p:attrName>
                                        </p:attrNameLst>
                                      </p:cBhvr>
                                      <p:to>
                                        <p:strVal val="visible"/>
                                      </p:to>
                                    </p:set>
                                    <p:animEffect transition="in" filter="wipe(left)">
                                      <p:cBhvr>
                                        <p:cTn id="19" dur="1000"/>
                                        <p:tgtEl>
                                          <p:spTgt spid="263173"/>
                                        </p:tgtEl>
                                      </p:cBhvr>
                                    </p:animEffect>
                                  </p:childTnLst>
                                </p:cTn>
                              </p:par>
                            </p:childTnLst>
                          </p:cTn>
                        </p:par>
                        <p:par>
                          <p:cTn id="20" fill="hold" nodeType="afterGroup">
                            <p:stCondLst>
                              <p:cond delay="5000"/>
                            </p:stCondLst>
                            <p:childTnLst>
                              <p:par>
                                <p:cTn id="21" presetID="12" presetClass="entr" presetSubtype="4" fill="hold" nodeType="afterEffect">
                                  <p:stCondLst>
                                    <p:cond delay="0"/>
                                  </p:stCondLst>
                                  <p:childTnLst>
                                    <p:set>
                                      <p:cBhvr>
                                        <p:cTn id="22" dur="1" fill="hold">
                                          <p:stCondLst>
                                            <p:cond delay="0"/>
                                          </p:stCondLst>
                                        </p:cTn>
                                        <p:tgtEl>
                                          <p:spTgt spid="263174"/>
                                        </p:tgtEl>
                                        <p:attrNameLst>
                                          <p:attrName>style.visibility</p:attrName>
                                        </p:attrNameLst>
                                      </p:cBhvr>
                                      <p:to>
                                        <p:strVal val="visible"/>
                                      </p:to>
                                    </p:set>
                                    <p:animEffect transition="in" filter="slide(fromBottom)">
                                      <p:cBhvr>
                                        <p:cTn id="23" dur="1000"/>
                                        <p:tgtEl>
                                          <p:spTgt spid="263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autoUpdateAnimBg="0"/>
      <p:bldP spid="263172" grpId="0" autoUpdateAnimBg="0"/>
      <p:bldP spid="26317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Text Box 2">
            <a:extLst>
              <a:ext uri="{FF2B5EF4-FFF2-40B4-BE49-F238E27FC236}">
                <a16:creationId xmlns:a16="http://schemas.microsoft.com/office/drawing/2014/main" id="{EF61D893-6B03-B099-9390-D57DD00106DF}"/>
              </a:ext>
            </a:extLst>
          </p:cNvPr>
          <p:cNvSpPr txBox="1">
            <a:spLocks noChangeArrowheads="1"/>
          </p:cNvSpPr>
          <p:nvPr/>
        </p:nvSpPr>
        <p:spPr bwMode="auto">
          <a:xfrm>
            <a:off x="1494235" y="271463"/>
            <a:ext cx="2483644" cy="471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100" b="1">
                <a:solidFill>
                  <a:srgbClr val="0000FF"/>
                </a:solidFill>
                <a:ea typeface="楷体_GB2312" pitchFamily="49" charset="-122"/>
              </a:rPr>
              <a:t>定理</a:t>
            </a:r>
            <a:r>
              <a:rPr lang="en-US" altLang="zh-CN" sz="2100" b="1">
                <a:solidFill>
                  <a:srgbClr val="0000FF"/>
                </a:solidFill>
                <a:ea typeface="楷体_GB2312" pitchFamily="49" charset="-122"/>
              </a:rPr>
              <a:t>2</a:t>
            </a:r>
            <a:r>
              <a:rPr lang="zh-CN" altLang="en-US" sz="2100" b="1">
                <a:solidFill>
                  <a:srgbClr val="0000FF"/>
                </a:solidFill>
                <a:ea typeface="楷体_GB2312" pitchFamily="49" charset="-122"/>
              </a:rPr>
              <a:t>的意义</a:t>
            </a:r>
          </a:p>
        </p:txBody>
      </p:sp>
      <p:sp>
        <p:nvSpPr>
          <p:cNvPr id="264195" name="Rectangle 3">
            <a:extLst>
              <a:ext uri="{FF2B5EF4-FFF2-40B4-BE49-F238E27FC236}">
                <a16:creationId xmlns:a16="http://schemas.microsoft.com/office/drawing/2014/main" id="{A07046E4-DD26-A472-4A3D-62E5D68EA055}"/>
              </a:ext>
            </a:extLst>
          </p:cNvPr>
          <p:cNvSpPr>
            <a:spLocks noChangeArrowheads="1"/>
          </p:cNvSpPr>
          <p:nvPr/>
        </p:nvSpPr>
        <p:spPr bwMode="auto">
          <a:xfrm>
            <a:off x="1385888" y="897731"/>
            <a:ext cx="6485335" cy="1489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100" b="1">
                <a:ea typeface="楷体_GB2312" pitchFamily="49" charset="-122"/>
              </a:rPr>
              <a:t>   </a:t>
            </a:r>
            <a:r>
              <a:rPr lang="zh-CN" altLang="en-US" sz="2100" b="1">
                <a:ea typeface="楷体_GB2312" pitchFamily="49" charset="-122"/>
              </a:rPr>
              <a:t>具有相同数学期望和方差的独立随机变量序列的算术平均值依概率收敛于数学期望</a:t>
            </a:r>
            <a:r>
              <a:rPr lang="en-US" altLang="zh-CN" sz="2100" b="1">
                <a:ea typeface="楷体_GB2312" pitchFamily="49" charset="-122"/>
              </a:rPr>
              <a:t>.</a:t>
            </a:r>
            <a:r>
              <a:rPr lang="zh-CN" altLang="en-US" sz="2100" b="1">
                <a:ea typeface="楷体_GB2312" pitchFamily="49" charset="-122"/>
              </a:rPr>
              <a:t>当</a:t>
            </a:r>
            <a:r>
              <a:rPr lang="zh-CN" altLang="en-US" sz="2100" b="1" i="1">
                <a:ea typeface="楷体_GB2312" pitchFamily="49" charset="-122"/>
              </a:rPr>
              <a:t> </a:t>
            </a:r>
            <a:r>
              <a:rPr lang="en-US" altLang="zh-CN" sz="2100" b="1" i="1">
                <a:ea typeface="楷体_GB2312" pitchFamily="49" charset="-122"/>
              </a:rPr>
              <a:t>n</a:t>
            </a:r>
            <a:r>
              <a:rPr lang="en-US" altLang="zh-CN" sz="2100" b="1">
                <a:ea typeface="楷体_GB2312" pitchFamily="49" charset="-122"/>
              </a:rPr>
              <a:t> </a:t>
            </a:r>
            <a:r>
              <a:rPr lang="zh-CN" altLang="en-US" sz="2100" b="1">
                <a:ea typeface="楷体_GB2312" pitchFamily="49" charset="-122"/>
              </a:rPr>
              <a:t>足够大时</a:t>
            </a:r>
            <a:r>
              <a:rPr lang="en-US" altLang="zh-CN" sz="2100" b="1">
                <a:ea typeface="楷体_GB2312" pitchFamily="49" charset="-122"/>
              </a:rPr>
              <a:t>, </a:t>
            </a:r>
            <a:r>
              <a:rPr lang="zh-CN" altLang="en-US" sz="2100" b="1">
                <a:ea typeface="楷体_GB2312" pitchFamily="49" charset="-122"/>
              </a:rPr>
              <a:t>实验结果的算术平均几乎是一常数</a:t>
            </a:r>
            <a:r>
              <a:rPr lang="en-US" altLang="zh-CN" sz="2100" b="1">
                <a:ea typeface="楷体_GB2312" pitchFamily="49" charset="-122"/>
              </a:rPr>
              <a:t>.</a:t>
            </a:r>
          </a:p>
        </p:txBody>
      </p:sp>
      <p:sp>
        <p:nvSpPr>
          <p:cNvPr id="264196" name="Text Box 4">
            <a:extLst>
              <a:ext uri="{FF2B5EF4-FFF2-40B4-BE49-F238E27FC236}">
                <a16:creationId xmlns:a16="http://schemas.microsoft.com/office/drawing/2014/main" id="{AF981D5C-D105-B945-F999-25AD13FBED18}"/>
              </a:ext>
            </a:extLst>
          </p:cNvPr>
          <p:cNvSpPr txBox="1">
            <a:spLocks noChangeArrowheads="1"/>
          </p:cNvSpPr>
          <p:nvPr/>
        </p:nvSpPr>
        <p:spPr bwMode="auto">
          <a:xfrm>
            <a:off x="1385888" y="2463404"/>
            <a:ext cx="6265069" cy="1311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en-US" altLang="zh-CN" sz="2100" b="1">
                <a:ea typeface="楷体_GB2312" pitchFamily="49" charset="-122"/>
              </a:rPr>
              <a:t>     </a:t>
            </a:r>
            <a:r>
              <a:rPr lang="zh-CN" altLang="en-US" sz="2100" b="1">
                <a:ea typeface="楷体_GB2312" pitchFamily="49" charset="-122"/>
              </a:rPr>
              <a:t>因此，在实际应用中，当试验次数</a:t>
            </a:r>
            <a:r>
              <a:rPr lang="zh-CN" altLang="en-US" sz="2100" b="1">
                <a:latin typeface="楷体_GB2312" pitchFamily="49" charset="-122"/>
                <a:ea typeface="楷体_GB2312" pitchFamily="49" charset="-122"/>
              </a:rPr>
              <a:t>足够大时</a:t>
            </a:r>
            <a:r>
              <a:rPr lang="en-US" altLang="zh-CN" sz="2100" b="1">
                <a:latin typeface="楷体_GB2312" pitchFamily="49" charset="-122"/>
                <a:ea typeface="楷体_GB2312" pitchFamily="49" charset="-122"/>
              </a:rPr>
              <a:t>,</a:t>
            </a:r>
            <a:r>
              <a:rPr lang="zh-CN" altLang="en-US" sz="2100" b="1">
                <a:ea typeface="楷体_GB2312" pitchFamily="49" charset="-122"/>
              </a:rPr>
              <a:t>可用独立重复试验结果的</a:t>
            </a:r>
            <a:r>
              <a:rPr lang="zh-CN" altLang="en-US" sz="2100" b="1">
                <a:latin typeface="楷体_GB2312" pitchFamily="49" charset="-122"/>
                <a:ea typeface="楷体_GB2312" pitchFamily="49" charset="-122"/>
              </a:rPr>
              <a:t>算术平均数来估计随机变量的数学期望</a:t>
            </a:r>
            <a:r>
              <a:rPr lang="en-US" altLang="zh-CN" sz="2100" b="1">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64194"/>
                                        </p:tgtEl>
                                        <p:attrNameLst>
                                          <p:attrName>style.visibility</p:attrName>
                                        </p:attrNameLst>
                                      </p:cBhvr>
                                      <p:to>
                                        <p:strVal val="visible"/>
                                      </p:to>
                                    </p:set>
                                    <p:animEffect transition="in" filter="wipe(left)">
                                      <p:cBhvr>
                                        <p:cTn id="7" dur="1000"/>
                                        <p:tgtEl>
                                          <p:spTgt spid="264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64195"/>
                                        </p:tgtEl>
                                        <p:attrNameLst>
                                          <p:attrName>style.visibility</p:attrName>
                                        </p:attrNameLst>
                                      </p:cBhvr>
                                      <p:to>
                                        <p:strVal val="visible"/>
                                      </p:to>
                                    </p:set>
                                    <p:animEffect transition="in" filter="slide(fromBottom)">
                                      <p:cBhvr>
                                        <p:cTn id="12" dur="1000"/>
                                        <p:tgtEl>
                                          <p:spTgt spid="264195"/>
                                        </p:tgtEl>
                                      </p:cBhvr>
                                    </p:animEffect>
                                  </p:childTnLst>
                                </p:cTn>
                              </p:par>
                            </p:childTnLst>
                          </p:cTn>
                        </p:par>
                        <p:par>
                          <p:cTn id="13" fill="hold" nodeType="afterGroup">
                            <p:stCondLst>
                              <p:cond delay="1000"/>
                            </p:stCondLst>
                            <p:childTnLst>
                              <p:par>
                                <p:cTn id="14" presetID="12" presetClass="entr" presetSubtype="4" fill="hold" nodeType="afterEffect">
                                  <p:stCondLst>
                                    <p:cond delay="0"/>
                                  </p:stCondLst>
                                  <p:childTnLst>
                                    <p:set>
                                      <p:cBhvr>
                                        <p:cTn id="15" dur="1" fill="hold">
                                          <p:stCondLst>
                                            <p:cond delay="0"/>
                                          </p:stCondLst>
                                        </p:cTn>
                                        <p:tgtEl>
                                          <p:spTgt spid="264196"/>
                                        </p:tgtEl>
                                        <p:attrNameLst>
                                          <p:attrName>style.visibility</p:attrName>
                                        </p:attrNameLst>
                                      </p:cBhvr>
                                      <p:to>
                                        <p:strVal val="visible"/>
                                      </p:to>
                                    </p:set>
                                    <p:animEffect transition="in" filter="slide(fromBottom)">
                                      <p:cBhvr>
                                        <p:cTn id="16" dur="1000"/>
                                        <p:tgtEl>
                                          <p:spTgt spid="264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autoUpdateAnimBg="0"/>
      <p:bldP spid="264195" grpId="0" autoUpdateAnimBg="0"/>
      <p:bldP spid="26419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210" name="Object 2">
            <a:extLst>
              <a:ext uri="{FF2B5EF4-FFF2-40B4-BE49-F238E27FC236}">
                <a16:creationId xmlns:a16="http://schemas.microsoft.com/office/drawing/2014/main" id="{BE6AA188-C4D2-B44C-BC02-221A37E81233}"/>
              </a:ext>
            </a:extLst>
          </p:cNvPr>
          <p:cNvGraphicFramePr>
            <a:graphicFrameLocks noChangeAspect="1"/>
          </p:cNvGraphicFramePr>
          <p:nvPr/>
        </p:nvGraphicFramePr>
        <p:xfrm>
          <a:off x="4529138" y="2490788"/>
          <a:ext cx="84535" cy="160735"/>
        </p:xfrm>
        <a:graphic>
          <a:graphicData uri="http://schemas.openxmlformats.org/presentationml/2006/ole">
            <mc:AlternateContent xmlns:mc="http://schemas.openxmlformats.org/markup-compatibility/2006">
              <mc:Choice xmlns:v="urn:schemas-microsoft-com:vml" Requires="v">
                <p:oleObj name="公式" r:id="rId2" imgW="114151" imgH="215619" progId="Equation.3">
                  <p:embed/>
                </p:oleObj>
              </mc:Choice>
              <mc:Fallback>
                <p:oleObj name="公式" r:id="rId2" imgW="114151" imgH="215619" progId="Equation.3">
                  <p:embed/>
                  <p:pic>
                    <p:nvPicPr>
                      <p:cNvPr id="94210" name="Object 2">
                        <a:extLst>
                          <a:ext uri="{FF2B5EF4-FFF2-40B4-BE49-F238E27FC236}">
                            <a16:creationId xmlns:a16="http://schemas.microsoft.com/office/drawing/2014/main" id="{BE6AA188-C4D2-B44C-BC02-221A37E81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138" y="2490788"/>
                        <a:ext cx="84535"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11" name="Object 3">
            <a:extLst>
              <a:ext uri="{FF2B5EF4-FFF2-40B4-BE49-F238E27FC236}">
                <a16:creationId xmlns:a16="http://schemas.microsoft.com/office/drawing/2014/main" id="{8EEA0D3F-356D-E16D-AB91-3D335BE95ADB}"/>
              </a:ext>
            </a:extLst>
          </p:cNvPr>
          <p:cNvGraphicFramePr>
            <a:graphicFrameLocks noChangeAspect="1"/>
          </p:cNvGraphicFramePr>
          <p:nvPr/>
        </p:nvGraphicFramePr>
        <p:xfrm>
          <a:off x="4529138" y="2490788"/>
          <a:ext cx="84535" cy="160735"/>
        </p:xfrm>
        <a:graphic>
          <a:graphicData uri="http://schemas.openxmlformats.org/presentationml/2006/ole">
            <mc:AlternateContent xmlns:mc="http://schemas.openxmlformats.org/markup-compatibility/2006">
              <mc:Choice xmlns:v="urn:schemas-microsoft-com:vml" Requires="v">
                <p:oleObj name="公式" r:id="rId4" imgW="114151" imgH="215619" progId="Equation.3">
                  <p:embed/>
                </p:oleObj>
              </mc:Choice>
              <mc:Fallback>
                <p:oleObj name="公式" r:id="rId4" imgW="114151" imgH="215619" progId="Equation.3">
                  <p:embed/>
                  <p:pic>
                    <p:nvPicPr>
                      <p:cNvPr id="94211" name="Object 3">
                        <a:extLst>
                          <a:ext uri="{FF2B5EF4-FFF2-40B4-BE49-F238E27FC236}">
                            <a16:creationId xmlns:a16="http://schemas.microsoft.com/office/drawing/2014/main" id="{8EEA0D3F-356D-E16D-AB91-3D335BE95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138" y="2490788"/>
                        <a:ext cx="84535"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68" name="Rectangle 4">
            <a:extLst>
              <a:ext uri="{FF2B5EF4-FFF2-40B4-BE49-F238E27FC236}">
                <a16:creationId xmlns:a16="http://schemas.microsoft.com/office/drawing/2014/main" id="{FFB84ED9-3E6A-47D7-34AE-1C9FD46ED1E8}"/>
              </a:ext>
            </a:extLst>
          </p:cNvPr>
          <p:cNvSpPr>
            <a:spLocks noChangeArrowheads="1"/>
          </p:cNvSpPr>
          <p:nvPr/>
        </p:nvSpPr>
        <p:spPr bwMode="auto">
          <a:xfrm>
            <a:off x="1439467" y="921057"/>
            <a:ext cx="6373415" cy="148925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100" b="1">
                <a:ea typeface="楷体_GB2312" pitchFamily="49" charset="-122"/>
              </a:rPr>
              <a:t>      </a:t>
            </a:r>
            <a:r>
              <a:rPr lang="zh-CN" altLang="en-US" sz="2100" b="1">
                <a:ea typeface="楷体_GB2312" pitchFamily="49" charset="-122"/>
              </a:rPr>
              <a:t>设随机变量序列</a:t>
            </a:r>
            <a:r>
              <a:rPr lang="en-US" altLang="zh-CN" sz="2100" b="1" i="1">
                <a:ea typeface="楷体_GB2312" pitchFamily="49" charset="-122"/>
              </a:rPr>
              <a:t>X</a:t>
            </a:r>
            <a:r>
              <a:rPr lang="en-US" altLang="zh-CN" sz="2100" b="1" baseline="-25000">
                <a:ea typeface="楷体_GB2312" pitchFamily="49" charset="-122"/>
              </a:rPr>
              <a:t>1</a:t>
            </a:r>
            <a:r>
              <a:rPr lang="en-US" altLang="zh-CN" sz="2100" b="1">
                <a:ea typeface="楷体_GB2312" pitchFamily="49" charset="-122"/>
              </a:rPr>
              <a:t>,</a:t>
            </a:r>
            <a:r>
              <a:rPr lang="en-US" altLang="zh-CN" sz="2100" b="1" i="1">
                <a:ea typeface="楷体_GB2312" pitchFamily="49" charset="-122"/>
              </a:rPr>
              <a:t>X</a:t>
            </a:r>
            <a:r>
              <a:rPr lang="en-US" altLang="zh-CN" sz="2100" b="1" baseline="-25000">
                <a:ea typeface="楷体_GB2312" pitchFamily="49" charset="-122"/>
              </a:rPr>
              <a:t>2</a:t>
            </a:r>
            <a:r>
              <a:rPr lang="en-US" altLang="zh-CN" sz="2100" b="1">
                <a:ea typeface="楷体_GB2312" pitchFamily="49" charset="-122"/>
              </a:rPr>
              <a:t>, …</a:t>
            </a:r>
            <a:r>
              <a:rPr lang="zh-CN" altLang="en-US" sz="2100" b="1">
                <a:ea typeface="楷体_GB2312" pitchFamily="49" charset="-122"/>
              </a:rPr>
              <a:t>相互独立，服从同一分布，具有相同的数学期 望</a:t>
            </a:r>
            <a:r>
              <a:rPr lang="en-US" altLang="zh-CN" sz="2100" b="1" i="1">
                <a:ea typeface="楷体_GB2312" pitchFamily="49" charset="-122"/>
              </a:rPr>
              <a:t>E</a:t>
            </a:r>
            <a:r>
              <a:rPr lang="en-US" altLang="zh-CN" sz="2100" b="1">
                <a:ea typeface="楷体_GB2312" pitchFamily="49" charset="-122"/>
              </a:rPr>
              <a:t>(</a:t>
            </a:r>
            <a:r>
              <a:rPr lang="en-US" altLang="zh-CN" sz="2100" b="1" i="1">
                <a:ea typeface="楷体_GB2312" pitchFamily="49" charset="-122"/>
              </a:rPr>
              <a:t>X</a:t>
            </a:r>
            <a:r>
              <a:rPr lang="en-US" altLang="zh-CN" sz="2100" b="1" i="1" baseline="-25000">
                <a:ea typeface="楷体_GB2312" pitchFamily="49" charset="-122"/>
              </a:rPr>
              <a:t>i</a:t>
            </a:r>
            <a:r>
              <a:rPr lang="en-US" altLang="zh-CN" sz="2100" b="1">
                <a:ea typeface="楷体_GB2312" pitchFamily="49" charset="-122"/>
              </a:rPr>
              <a:t>)=</a:t>
            </a:r>
            <a:r>
              <a:rPr lang="en-US" altLang="zh-CN" sz="2100" b="1" i="1">
                <a:ea typeface="楷体_GB2312" pitchFamily="49" charset="-122"/>
              </a:rPr>
              <a:t>μ, i</a:t>
            </a:r>
            <a:r>
              <a:rPr lang="en-US" altLang="zh-CN" sz="2100" b="1">
                <a:ea typeface="楷体_GB2312" pitchFamily="49" charset="-122"/>
              </a:rPr>
              <a:t>=1,2,…</a:t>
            </a:r>
            <a:r>
              <a:rPr lang="zh-CN" altLang="en-US" sz="2100" b="1">
                <a:ea typeface="楷体_GB2312" pitchFamily="49" charset="-122"/>
              </a:rPr>
              <a:t>， 则对于任给正数</a:t>
            </a:r>
            <a:r>
              <a:rPr lang="en-US" altLang="zh-CN" sz="2100" b="1" i="1">
                <a:ea typeface="楷体_GB2312" pitchFamily="49" charset="-122"/>
              </a:rPr>
              <a:t>ε</a:t>
            </a:r>
            <a:r>
              <a:rPr lang="en-US" altLang="zh-CN" sz="2100" b="1">
                <a:ea typeface="楷体_GB2312" pitchFamily="49" charset="-122"/>
              </a:rPr>
              <a:t> &gt;0 </a:t>
            </a:r>
            <a:r>
              <a:rPr lang="zh-CN" altLang="en-US" sz="2100" b="1">
                <a:ea typeface="楷体_GB2312" pitchFamily="49" charset="-122"/>
              </a:rPr>
              <a:t>，总成立</a:t>
            </a:r>
          </a:p>
        </p:txBody>
      </p:sp>
      <p:sp>
        <p:nvSpPr>
          <p:cNvPr id="267269" name="Rectangle 5">
            <a:extLst>
              <a:ext uri="{FF2B5EF4-FFF2-40B4-BE49-F238E27FC236}">
                <a16:creationId xmlns:a16="http://schemas.microsoft.com/office/drawing/2014/main" id="{43521B40-54CD-D719-9E7B-03D2CE89DE7F}"/>
              </a:ext>
            </a:extLst>
          </p:cNvPr>
          <p:cNvSpPr>
            <a:spLocks noChangeArrowheads="1"/>
          </p:cNvSpPr>
          <p:nvPr/>
        </p:nvSpPr>
        <p:spPr bwMode="auto">
          <a:xfrm>
            <a:off x="1547812" y="452453"/>
            <a:ext cx="3833813" cy="415498"/>
          </a:xfrm>
          <a:prstGeom prst="rect">
            <a:avLst/>
          </a:prstGeom>
          <a:noFill/>
          <a:ln>
            <a:noFill/>
          </a:ln>
          <a:effectLst/>
        </p:spPr>
        <p:txBody>
          <a:bodyPr anchor="ctr">
            <a:spAutoFit/>
          </a:bodyPr>
          <a:lstStyle/>
          <a:p>
            <a:pPr algn="ctr" eaLnBrk="1" hangingPunct="1">
              <a:spcBef>
                <a:spcPct val="50000"/>
              </a:spcBef>
              <a:defRPr/>
            </a:pP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定理</a:t>
            </a:r>
            <a:r>
              <a:rPr lang="en-US" altLang="zh-CN" sz="2100" b="1">
                <a:solidFill>
                  <a:srgbClr val="FF3399"/>
                </a:solidFill>
                <a:effectLst>
                  <a:outerShdw blurRad="38100" dist="38100" dir="2700000" algn="tl">
                    <a:srgbClr val="C0C0C0"/>
                  </a:outerShdw>
                </a:effectLst>
                <a:latin typeface="华文楷体" pitchFamily="2" charset="-122"/>
                <a:ea typeface="华文楷体" pitchFamily="2" charset="-122"/>
              </a:rPr>
              <a:t>4 </a:t>
            </a: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（辛钦大数定律）</a:t>
            </a:r>
          </a:p>
        </p:txBody>
      </p:sp>
      <p:graphicFrame>
        <p:nvGraphicFramePr>
          <p:cNvPr id="267270" name="Object 6">
            <a:extLst>
              <a:ext uri="{FF2B5EF4-FFF2-40B4-BE49-F238E27FC236}">
                <a16:creationId xmlns:a16="http://schemas.microsoft.com/office/drawing/2014/main" id="{BA1BB3BA-5832-A397-D161-609B6220DF63}"/>
              </a:ext>
            </a:extLst>
          </p:cNvPr>
          <p:cNvGraphicFramePr>
            <a:graphicFrameLocks noChangeAspect="1"/>
          </p:cNvGraphicFramePr>
          <p:nvPr/>
        </p:nvGraphicFramePr>
        <p:xfrm>
          <a:off x="2627710" y="2625328"/>
          <a:ext cx="3143250" cy="765572"/>
        </p:xfrm>
        <a:graphic>
          <a:graphicData uri="http://schemas.openxmlformats.org/presentationml/2006/ole">
            <mc:AlternateContent xmlns:mc="http://schemas.openxmlformats.org/markup-compatibility/2006">
              <mc:Choice xmlns:v="urn:schemas-microsoft-com:vml" Requires="v">
                <p:oleObj name="公式" r:id="rId5" imgW="1733702" imgH="400017" progId="Equation.3">
                  <p:embed/>
                </p:oleObj>
              </mc:Choice>
              <mc:Fallback>
                <p:oleObj name="公式" r:id="rId5" imgW="1733702" imgH="400017" progId="Equation.3">
                  <p:embed/>
                  <p:pic>
                    <p:nvPicPr>
                      <p:cNvPr id="267270" name="Object 6">
                        <a:extLst>
                          <a:ext uri="{FF2B5EF4-FFF2-40B4-BE49-F238E27FC236}">
                            <a16:creationId xmlns:a16="http://schemas.microsoft.com/office/drawing/2014/main" id="{BA1BB3BA-5832-A397-D161-609B6220DF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710" y="2625328"/>
                        <a:ext cx="3143250" cy="76557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71" name="Rectangle 7">
            <a:extLst>
              <a:ext uri="{FF2B5EF4-FFF2-40B4-BE49-F238E27FC236}">
                <a16:creationId xmlns:a16="http://schemas.microsoft.com/office/drawing/2014/main" id="{DC3E5B46-75A2-BB4E-1A7E-4118C379451C}"/>
              </a:ext>
            </a:extLst>
          </p:cNvPr>
          <p:cNvSpPr>
            <a:spLocks noChangeArrowheads="1"/>
          </p:cNvSpPr>
          <p:nvPr/>
        </p:nvSpPr>
        <p:spPr bwMode="auto">
          <a:xfrm>
            <a:off x="1871662" y="3327797"/>
            <a:ext cx="45397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100" b="1">
                <a:latin typeface="楷体_GB2312" pitchFamily="49" charset="-122"/>
                <a:ea typeface="楷体_GB2312" pitchFamily="49" charset="-122"/>
              </a:rPr>
              <a:t>即</a:t>
            </a:r>
          </a:p>
        </p:txBody>
      </p:sp>
      <p:graphicFrame>
        <p:nvGraphicFramePr>
          <p:cNvPr id="267272" name="Object 8">
            <a:extLst>
              <a:ext uri="{FF2B5EF4-FFF2-40B4-BE49-F238E27FC236}">
                <a16:creationId xmlns:a16="http://schemas.microsoft.com/office/drawing/2014/main" id="{EF573EE5-EC7D-8349-C754-DFC6058F2289}"/>
              </a:ext>
            </a:extLst>
          </p:cNvPr>
          <p:cNvGraphicFramePr>
            <a:graphicFrameLocks noChangeAspect="1"/>
          </p:cNvGraphicFramePr>
          <p:nvPr/>
        </p:nvGraphicFramePr>
        <p:xfrm>
          <a:off x="2658666" y="3739754"/>
          <a:ext cx="3128963" cy="723900"/>
        </p:xfrm>
        <a:graphic>
          <a:graphicData uri="http://schemas.openxmlformats.org/presentationml/2006/ole">
            <mc:AlternateContent xmlns:mc="http://schemas.openxmlformats.org/markup-compatibility/2006">
              <mc:Choice xmlns:v="urn:schemas-microsoft-com:vml" Requires="v">
                <p:oleObj name="公式" r:id="rId7" imgW="1695602" imgH="400017" progId="Equation.3">
                  <p:embed/>
                </p:oleObj>
              </mc:Choice>
              <mc:Fallback>
                <p:oleObj name="公式" r:id="rId7" imgW="1695602" imgH="400017" progId="Equation.3">
                  <p:embed/>
                  <p:pic>
                    <p:nvPicPr>
                      <p:cNvPr id="267272" name="Object 8">
                        <a:extLst>
                          <a:ext uri="{FF2B5EF4-FFF2-40B4-BE49-F238E27FC236}">
                            <a16:creationId xmlns:a16="http://schemas.microsoft.com/office/drawing/2014/main" id="{EF573EE5-EC7D-8349-C754-DFC6058F228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58666" y="3739754"/>
                        <a:ext cx="3128963"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67269"/>
                                        </p:tgtEl>
                                        <p:attrNameLst>
                                          <p:attrName>style.visibility</p:attrName>
                                        </p:attrNameLst>
                                      </p:cBhvr>
                                      <p:to>
                                        <p:strVal val="visible"/>
                                      </p:to>
                                    </p:set>
                                    <p:animEffect transition="in" filter="wipe(left)">
                                      <p:cBhvr>
                                        <p:cTn id="7" dur="1000"/>
                                        <p:tgtEl>
                                          <p:spTgt spid="267269"/>
                                        </p:tgtEl>
                                      </p:cBhvr>
                                    </p:animEffect>
                                  </p:childTnLst>
                                </p:cTn>
                              </p:par>
                            </p:childTnLst>
                          </p:cTn>
                        </p:par>
                        <p:par>
                          <p:cTn id="8" fill="hold" nodeType="afterGroup">
                            <p:stCondLst>
                              <p:cond delay="1000"/>
                            </p:stCondLst>
                            <p:childTnLst>
                              <p:par>
                                <p:cTn id="9" presetID="12" presetClass="entr" presetSubtype="4" fill="hold" nodeType="afterEffect">
                                  <p:stCondLst>
                                    <p:cond delay="500"/>
                                  </p:stCondLst>
                                  <p:childTnLst>
                                    <p:set>
                                      <p:cBhvr>
                                        <p:cTn id="10" dur="1" fill="hold">
                                          <p:stCondLst>
                                            <p:cond delay="0"/>
                                          </p:stCondLst>
                                        </p:cTn>
                                        <p:tgtEl>
                                          <p:spTgt spid="267268"/>
                                        </p:tgtEl>
                                        <p:attrNameLst>
                                          <p:attrName>style.visibility</p:attrName>
                                        </p:attrNameLst>
                                      </p:cBhvr>
                                      <p:to>
                                        <p:strVal val="visible"/>
                                      </p:to>
                                    </p:set>
                                    <p:animEffect transition="in" filter="slide(fromBottom)">
                                      <p:cBhvr>
                                        <p:cTn id="11" dur="1000"/>
                                        <p:tgtEl>
                                          <p:spTgt spid="267268"/>
                                        </p:tgtEl>
                                      </p:cBhvr>
                                    </p:animEffect>
                                  </p:childTnLst>
                                </p:cTn>
                              </p:par>
                            </p:childTnLst>
                          </p:cTn>
                        </p:par>
                        <p:par>
                          <p:cTn id="12" fill="hold" nodeType="afterGroup">
                            <p:stCondLst>
                              <p:cond delay="2500"/>
                            </p:stCondLst>
                            <p:childTnLst>
                              <p:par>
                                <p:cTn id="13" presetID="12" presetClass="entr" presetSubtype="4" fill="hold" nodeType="afterEffect">
                                  <p:stCondLst>
                                    <p:cond delay="0"/>
                                  </p:stCondLst>
                                  <p:childTnLst>
                                    <p:set>
                                      <p:cBhvr>
                                        <p:cTn id="14" dur="1" fill="hold">
                                          <p:stCondLst>
                                            <p:cond delay="0"/>
                                          </p:stCondLst>
                                        </p:cTn>
                                        <p:tgtEl>
                                          <p:spTgt spid="267270"/>
                                        </p:tgtEl>
                                        <p:attrNameLst>
                                          <p:attrName>style.visibility</p:attrName>
                                        </p:attrNameLst>
                                      </p:cBhvr>
                                      <p:to>
                                        <p:strVal val="visible"/>
                                      </p:to>
                                    </p:set>
                                    <p:animEffect transition="in" filter="slide(fromBottom)">
                                      <p:cBhvr>
                                        <p:cTn id="15" dur="1000"/>
                                        <p:tgtEl>
                                          <p:spTgt spid="267270"/>
                                        </p:tgtEl>
                                      </p:cBhvr>
                                    </p:animEffect>
                                  </p:childTnLst>
                                </p:cTn>
                              </p:par>
                            </p:childTnLst>
                          </p:cTn>
                        </p:par>
                        <p:par>
                          <p:cTn id="16" fill="hold" nodeType="afterGroup">
                            <p:stCondLst>
                              <p:cond delay="3500"/>
                            </p:stCondLst>
                            <p:childTnLst>
                              <p:par>
                                <p:cTn id="17" presetID="22" presetClass="entr" presetSubtype="8" fill="hold" nodeType="afterEffect">
                                  <p:stCondLst>
                                    <p:cond delay="500"/>
                                  </p:stCondLst>
                                  <p:childTnLst>
                                    <p:set>
                                      <p:cBhvr>
                                        <p:cTn id="18" dur="1" fill="hold">
                                          <p:stCondLst>
                                            <p:cond delay="0"/>
                                          </p:stCondLst>
                                        </p:cTn>
                                        <p:tgtEl>
                                          <p:spTgt spid="267271"/>
                                        </p:tgtEl>
                                        <p:attrNameLst>
                                          <p:attrName>style.visibility</p:attrName>
                                        </p:attrNameLst>
                                      </p:cBhvr>
                                      <p:to>
                                        <p:strVal val="visible"/>
                                      </p:to>
                                    </p:set>
                                    <p:animEffect transition="in" filter="wipe(left)">
                                      <p:cBhvr>
                                        <p:cTn id="19" dur="1000"/>
                                        <p:tgtEl>
                                          <p:spTgt spid="267271"/>
                                        </p:tgtEl>
                                      </p:cBhvr>
                                    </p:animEffect>
                                  </p:childTnLst>
                                </p:cTn>
                              </p:par>
                            </p:childTnLst>
                          </p:cTn>
                        </p:par>
                        <p:par>
                          <p:cTn id="20" fill="hold" nodeType="afterGroup">
                            <p:stCondLst>
                              <p:cond delay="5000"/>
                            </p:stCondLst>
                            <p:childTnLst>
                              <p:par>
                                <p:cTn id="21" presetID="12" presetClass="entr" presetSubtype="4" fill="hold" nodeType="afterEffect">
                                  <p:stCondLst>
                                    <p:cond delay="0"/>
                                  </p:stCondLst>
                                  <p:childTnLst>
                                    <p:set>
                                      <p:cBhvr>
                                        <p:cTn id="22" dur="1" fill="hold">
                                          <p:stCondLst>
                                            <p:cond delay="0"/>
                                          </p:stCondLst>
                                        </p:cTn>
                                        <p:tgtEl>
                                          <p:spTgt spid="267272"/>
                                        </p:tgtEl>
                                        <p:attrNameLst>
                                          <p:attrName>style.visibility</p:attrName>
                                        </p:attrNameLst>
                                      </p:cBhvr>
                                      <p:to>
                                        <p:strVal val="visible"/>
                                      </p:to>
                                    </p:set>
                                    <p:animEffect transition="in" filter="slide(fromBottom)">
                                      <p:cBhvr>
                                        <p:cTn id="23" dur="1000"/>
                                        <p:tgtEl>
                                          <p:spTgt spid="267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8" grpId="0" autoUpdateAnimBg="0"/>
      <p:bldP spid="267269" grpId="0" autoUpdateAnimBg="0"/>
      <p:bldP spid="2672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8290" name="Object 2">
            <a:extLst>
              <a:ext uri="{FF2B5EF4-FFF2-40B4-BE49-F238E27FC236}">
                <a16:creationId xmlns:a16="http://schemas.microsoft.com/office/drawing/2014/main" id="{260EC582-975B-CF46-77D0-FB69404C0630}"/>
              </a:ext>
            </a:extLst>
          </p:cNvPr>
          <p:cNvGraphicFramePr>
            <a:graphicFrameLocks noChangeAspect="1"/>
          </p:cNvGraphicFramePr>
          <p:nvPr/>
        </p:nvGraphicFramePr>
        <p:xfrm>
          <a:off x="2465785" y="2206229"/>
          <a:ext cx="3186113" cy="732234"/>
        </p:xfrm>
        <a:graphic>
          <a:graphicData uri="http://schemas.openxmlformats.org/presentationml/2006/ole">
            <mc:AlternateContent xmlns:mc="http://schemas.openxmlformats.org/markup-compatibility/2006">
              <mc:Choice xmlns:v="urn:schemas-microsoft-com:vml" Requires="v">
                <p:oleObj name="公式" r:id="rId2" imgW="1838249" imgH="400017" progId="Equation.3">
                  <p:embed/>
                </p:oleObj>
              </mc:Choice>
              <mc:Fallback>
                <p:oleObj name="公式" r:id="rId2" imgW="1838249" imgH="400017" progId="Equation.3">
                  <p:embed/>
                  <p:pic>
                    <p:nvPicPr>
                      <p:cNvPr id="268290" name="Object 2">
                        <a:extLst>
                          <a:ext uri="{FF2B5EF4-FFF2-40B4-BE49-F238E27FC236}">
                            <a16:creationId xmlns:a16="http://schemas.microsoft.com/office/drawing/2014/main" id="{260EC582-975B-CF46-77D0-FB69404C06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5785" y="2206229"/>
                        <a:ext cx="3186113" cy="73223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5" name="Object 3">
            <a:extLst>
              <a:ext uri="{FF2B5EF4-FFF2-40B4-BE49-F238E27FC236}">
                <a16:creationId xmlns:a16="http://schemas.microsoft.com/office/drawing/2014/main" id="{25783DE7-B4B5-73BF-CC51-A77BEB069302}"/>
              </a:ext>
            </a:extLst>
          </p:cNvPr>
          <p:cNvGraphicFramePr>
            <a:graphicFrameLocks noChangeAspect="1"/>
          </p:cNvGraphicFramePr>
          <p:nvPr/>
        </p:nvGraphicFramePr>
        <p:xfrm>
          <a:off x="4419600" y="1940719"/>
          <a:ext cx="84535" cy="160735"/>
        </p:xfrm>
        <a:graphic>
          <a:graphicData uri="http://schemas.openxmlformats.org/presentationml/2006/ole">
            <mc:AlternateContent xmlns:mc="http://schemas.openxmlformats.org/markup-compatibility/2006">
              <mc:Choice xmlns:v="urn:schemas-microsoft-com:vml" Requires="v">
                <p:oleObj name="公式" r:id="rId4" imgW="114151" imgH="215619" progId="Equation.3">
                  <p:embed/>
                </p:oleObj>
              </mc:Choice>
              <mc:Fallback>
                <p:oleObj name="公式" r:id="rId4" imgW="114151" imgH="215619" progId="Equation.3">
                  <p:embed/>
                  <p:pic>
                    <p:nvPicPr>
                      <p:cNvPr id="95235" name="Object 3">
                        <a:extLst>
                          <a:ext uri="{FF2B5EF4-FFF2-40B4-BE49-F238E27FC236}">
                            <a16:creationId xmlns:a16="http://schemas.microsoft.com/office/drawing/2014/main" id="{25783DE7-B4B5-73BF-CC51-A77BEB0693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1940719"/>
                        <a:ext cx="84535"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6" name="Object 4">
            <a:extLst>
              <a:ext uri="{FF2B5EF4-FFF2-40B4-BE49-F238E27FC236}">
                <a16:creationId xmlns:a16="http://schemas.microsoft.com/office/drawing/2014/main" id="{6081E4FA-0C99-B593-BD79-D395AD074714}"/>
              </a:ext>
            </a:extLst>
          </p:cNvPr>
          <p:cNvGraphicFramePr>
            <a:graphicFrameLocks noChangeAspect="1"/>
          </p:cNvGraphicFramePr>
          <p:nvPr/>
        </p:nvGraphicFramePr>
        <p:xfrm>
          <a:off x="4419600" y="1940719"/>
          <a:ext cx="84535" cy="160735"/>
        </p:xfrm>
        <a:graphic>
          <a:graphicData uri="http://schemas.openxmlformats.org/presentationml/2006/ole">
            <mc:AlternateContent xmlns:mc="http://schemas.openxmlformats.org/markup-compatibility/2006">
              <mc:Choice xmlns:v="urn:schemas-microsoft-com:vml" Requires="v">
                <p:oleObj name="公式" r:id="rId6" imgW="114151" imgH="215619" progId="Equation.3">
                  <p:embed/>
                </p:oleObj>
              </mc:Choice>
              <mc:Fallback>
                <p:oleObj name="公式" r:id="rId6" imgW="114151" imgH="215619" progId="Equation.3">
                  <p:embed/>
                  <p:pic>
                    <p:nvPicPr>
                      <p:cNvPr id="95236" name="Object 4">
                        <a:extLst>
                          <a:ext uri="{FF2B5EF4-FFF2-40B4-BE49-F238E27FC236}">
                            <a16:creationId xmlns:a16="http://schemas.microsoft.com/office/drawing/2014/main" id="{6081E4FA-0C99-B593-BD79-D395AD0747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1940719"/>
                        <a:ext cx="84535"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8293" name="Group 5">
            <a:extLst>
              <a:ext uri="{FF2B5EF4-FFF2-40B4-BE49-F238E27FC236}">
                <a16:creationId xmlns:a16="http://schemas.microsoft.com/office/drawing/2014/main" id="{5F59DCFA-9EC7-DACB-9146-8F66D1EC3519}"/>
              </a:ext>
            </a:extLst>
          </p:cNvPr>
          <p:cNvGrpSpPr>
            <a:grpSpLocks/>
          </p:cNvGrpSpPr>
          <p:nvPr/>
        </p:nvGrpSpPr>
        <p:grpSpPr bwMode="auto">
          <a:xfrm>
            <a:off x="1494235" y="585789"/>
            <a:ext cx="6317456" cy="1483519"/>
            <a:chOff x="295" y="492"/>
            <a:chExt cx="5306" cy="1246"/>
          </a:xfrm>
        </p:grpSpPr>
        <p:sp>
          <p:nvSpPr>
            <p:cNvPr id="268294" name="Rectangle 6">
              <a:extLst>
                <a:ext uri="{FF2B5EF4-FFF2-40B4-BE49-F238E27FC236}">
                  <a16:creationId xmlns:a16="http://schemas.microsoft.com/office/drawing/2014/main" id="{D21DEDB0-52F9-E186-BACD-55CEA2DAA599}"/>
                </a:ext>
              </a:extLst>
            </p:cNvPr>
            <p:cNvSpPr>
              <a:spLocks noChangeArrowheads="1"/>
            </p:cNvSpPr>
            <p:nvPr/>
          </p:nvSpPr>
          <p:spPr bwMode="auto">
            <a:xfrm>
              <a:off x="295" y="492"/>
              <a:ext cx="5261" cy="804"/>
            </a:xfrm>
            <a:prstGeom prst="rect">
              <a:avLst/>
            </a:prstGeom>
            <a:noFill/>
            <a:ln>
              <a:noFill/>
            </a:ln>
            <a:effectLst/>
          </p:spPr>
          <p:txBody>
            <a:bodyPr anchor="ctr">
              <a:spAutoFit/>
            </a:bodyPr>
            <a:lstStyle/>
            <a:p>
              <a:pPr eaLnBrk="1" hangingPunct="1">
                <a:lnSpc>
                  <a:spcPct val="130000"/>
                </a:lnSpc>
                <a:defRPr/>
              </a:pP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推论</a:t>
              </a:r>
              <a:r>
                <a:rPr lang="zh-CN" altLang="en-US" sz="2100" b="1">
                  <a:solidFill>
                    <a:schemeClr val="tx2"/>
                  </a:solidFill>
                  <a:latin typeface="楷体_GB2312" pitchFamily="49" charset="-122"/>
                  <a:ea typeface="楷体_GB2312" pitchFamily="49" charset="-122"/>
                </a:rPr>
                <a:t>  </a:t>
              </a:r>
              <a:r>
                <a:rPr lang="zh-CN" altLang="en-US" sz="2100" b="1">
                  <a:latin typeface="楷体_GB2312" pitchFamily="49" charset="-122"/>
                  <a:ea typeface="楷体_GB2312" pitchFamily="49" charset="-122"/>
                </a:rPr>
                <a:t>设随机变量序列</a:t>
              </a:r>
              <a:r>
                <a:rPr lang="en-US" altLang="zh-CN" sz="2400" b="1" i="1"/>
                <a:t>X</a:t>
              </a:r>
              <a:r>
                <a:rPr lang="en-US" altLang="zh-CN" sz="2400" b="1" baseline="-25000"/>
                <a:t>1</a:t>
              </a:r>
              <a:r>
                <a:rPr lang="en-US" altLang="zh-CN" sz="2400" b="1"/>
                <a:t>,</a:t>
              </a:r>
              <a:r>
                <a:rPr lang="en-US" altLang="zh-CN" sz="2400" b="1" i="1"/>
                <a:t>X</a:t>
              </a:r>
              <a:r>
                <a:rPr lang="en-US" altLang="zh-CN" sz="2400" b="1" baseline="-25000"/>
                <a:t>2</a:t>
              </a:r>
              <a:r>
                <a:rPr lang="en-US" altLang="zh-CN" sz="2400" b="1"/>
                <a:t>, …</a:t>
              </a:r>
              <a:r>
                <a:rPr lang="zh-CN" altLang="en-US" sz="2100" b="1">
                  <a:ea typeface="楷体_GB2312" pitchFamily="49" charset="-122"/>
                </a:rPr>
                <a:t>相互独立，服从同一分布，且具有相同的</a:t>
              </a:r>
              <a:r>
                <a:rPr lang="en-US" altLang="zh-CN" sz="2100" b="1" i="1">
                  <a:ea typeface="楷体_GB2312" pitchFamily="49" charset="-122"/>
                </a:rPr>
                <a:t>k </a:t>
              </a:r>
              <a:r>
                <a:rPr lang="zh-CN" altLang="en-US" sz="2100" b="1">
                  <a:ea typeface="楷体_GB2312" pitchFamily="49" charset="-122"/>
                </a:rPr>
                <a:t>阶矩</a:t>
              </a:r>
            </a:p>
          </p:txBody>
        </p:sp>
        <p:graphicFrame>
          <p:nvGraphicFramePr>
            <p:cNvPr id="95241" name="Object 7">
              <a:extLst>
                <a:ext uri="{FF2B5EF4-FFF2-40B4-BE49-F238E27FC236}">
                  <a16:creationId xmlns:a16="http://schemas.microsoft.com/office/drawing/2014/main" id="{0C907E56-22E0-772C-9A8B-95949BFFC470}"/>
                </a:ext>
              </a:extLst>
            </p:cNvPr>
            <p:cNvGraphicFramePr>
              <a:graphicFrameLocks noChangeAspect="1"/>
            </p:cNvGraphicFramePr>
            <p:nvPr/>
          </p:nvGraphicFramePr>
          <p:xfrm>
            <a:off x="3288" y="935"/>
            <a:ext cx="2313" cy="355"/>
          </p:xfrm>
          <a:graphic>
            <a:graphicData uri="http://schemas.openxmlformats.org/presentationml/2006/ole">
              <mc:AlternateContent xmlns:mc="http://schemas.openxmlformats.org/markup-compatibility/2006">
                <mc:Choice xmlns:v="urn:schemas-microsoft-com:vml" Requires="v">
                  <p:oleObj name="公式" r:id="rId7" imgW="1533449" imgH="209561" progId="Equation.3">
                    <p:embed/>
                  </p:oleObj>
                </mc:Choice>
                <mc:Fallback>
                  <p:oleObj name="公式" r:id="rId7" imgW="1533449" imgH="209561" progId="Equation.3">
                    <p:embed/>
                    <p:pic>
                      <p:nvPicPr>
                        <p:cNvPr id="95241" name="Object 7">
                          <a:extLst>
                            <a:ext uri="{FF2B5EF4-FFF2-40B4-BE49-F238E27FC236}">
                              <a16:creationId xmlns:a16="http://schemas.microsoft.com/office/drawing/2014/main" id="{0C907E56-22E0-772C-9A8B-95949BFFC4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8" y="935"/>
                          <a:ext cx="2313" cy="35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42" name="Rectangle 8">
              <a:extLst>
                <a:ext uri="{FF2B5EF4-FFF2-40B4-BE49-F238E27FC236}">
                  <a16:creationId xmlns:a16="http://schemas.microsoft.com/office/drawing/2014/main" id="{0231B3D7-6FEC-E87A-4627-3B0A504A6E30}"/>
                </a:ext>
              </a:extLst>
            </p:cNvPr>
            <p:cNvSpPr>
              <a:spLocks noChangeArrowheads="1"/>
            </p:cNvSpPr>
            <p:nvPr/>
          </p:nvSpPr>
          <p:spPr bwMode="auto">
            <a:xfrm>
              <a:off x="295" y="1389"/>
              <a:ext cx="2779"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100" b="1">
                  <a:latin typeface="楷体_GB2312" pitchFamily="49" charset="-122"/>
                  <a:ea typeface="楷体_GB2312" pitchFamily="49" charset="-122"/>
                </a:rPr>
                <a:t>则对任给正数</a:t>
              </a:r>
              <a:r>
                <a:rPr lang="en-US" altLang="zh-CN" sz="2100" b="1" i="1">
                  <a:ea typeface="楷体_GB2312" pitchFamily="49" charset="-122"/>
                </a:rPr>
                <a:t>ε&gt;</a:t>
              </a:r>
              <a:r>
                <a:rPr lang="en-US" altLang="zh-CN" sz="2100" b="1">
                  <a:latin typeface="楷体_GB2312" pitchFamily="49" charset="-122"/>
                  <a:ea typeface="楷体_GB2312" pitchFamily="49" charset="-122"/>
                </a:rPr>
                <a:t>0</a:t>
              </a:r>
              <a:r>
                <a:rPr lang="zh-CN" altLang="en-US" sz="2100" b="1">
                  <a:latin typeface="楷体_GB2312" pitchFamily="49" charset="-122"/>
                  <a:ea typeface="楷体_GB2312" pitchFamily="49" charset="-122"/>
                </a:rPr>
                <a:t>，总成立</a:t>
              </a:r>
            </a:p>
          </p:txBody>
        </p:sp>
      </p:grpSp>
      <p:sp>
        <p:nvSpPr>
          <p:cNvPr id="268297" name="Rectangle 9">
            <a:extLst>
              <a:ext uri="{FF2B5EF4-FFF2-40B4-BE49-F238E27FC236}">
                <a16:creationId xmlns:a16="http://schemas.microsoft.com/office/drawing/2014/main" id="{526B23D4-6D62-07C9-558F-60DE82278095}"/>
              </a:ext>
            </a:extLst>
          </p:cNvPr>
          <p:cNvSpPr>
            <a:spLocks noChangeArrowheads="1"/>
          </p:cNvSpPr>
          <p:nvPr/>
        </p:nvSpPr>
        <p:spPr bwMode="auto">
          <a:xfrm>
            <a:off x="1763316" y="3112294"/>
            <a:ext cx="45397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100" b="1">
                <a:latin typeface="楷体_GB2312" pitchFamily="49" charset="-122"/>
                <a:ea typeface="楷体_GB2312" pitchFamily="49" charset="-122"/>
              </a:rPr>
              <a:t>即</a:t>
            </a:r>
          </a:p>
        </p:txBody>
      </p:sp>
      <p:graphicFrame>
        <p:nvGraphicFramePr>
          <p:cNvPr id="268298" name="Object 10">
            <a:extLst>
              <a:ext uri="{FF2B5EF4-FFF2-40B4-BE49-F238E27FC236}">
                <a16:creationId xmlns:a16="http://schemas.microsoft.com/office/drawing/2014/main" id="{A89DA1AD-55F1-16DE-12C3-C8BCCB6618A5}"/>
              </a:ext>
            </a:extLst>
          </p:cNvPr>
          <p:cNvGraphicFramePr>
            <a:graphicFrameLocks noChangeAspect="1"/>
          </p:cNvGraphicFramePr>
          <p:nvPr/>
        </p:nvGraphicFramePr>
        <p:xfrm>
          <a:off x="2538413" y="3524250"/>
          <a:ext cx="3151585" cy="723900"/>
        </p:xfrm>
        <a:graphic>
          <a:graphicData uri="http://schemas.openxmlformats.org/presentationml/2006/ole">
            <mc:AlternateContent xmlns:mc="http://schemas.openxmlformats.org/markup-compatibility/2006">
              <mc:Choice xmlns:v="urn:schemas-microsoft-com:vml" Requires="v">
                <p:oleObj name="公式" r:id="rId9" imgW="1714500" imgH="400017" progId="Equation.3">
                  <p:embed/>
                </p:oleObj>
              </mc:Choice>
              <mc:Fallback>
                <p:oleObj name="公式" r:id="rId9" imgW="1714500" imgH="400017" progId="Equation.3">
                  <p:embed/>
                  <p:pic>
                    <p:nvPicPr>
                      <p:cNvPr id="268298" name="Object 10">
                        <a:extLst>
                          <a:ext uri="{FF2B5EF4-FFF2-40B4-BE49-F238E27FC236}">
                            <a16:creationId xmlns:a16="http://schemas.microsoft.com/office/drawing/2014/main" id="{A89DA1AD-55F1-16DE-12C3-C8BCCB6618A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8413" y="3524250"/>
                        <a:ext cx="3151585"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268293"/>
                                        </p:tgtEl>
                                        <p:attrNameLst>
                                          <p:attrName>style.visibility</p:attrName>
                                        </p:attrNameLst>
                                      </p:cBhvr>
                                      <p:to>
                                        <p:strVal val="visible"/>
                                      </p:to>
                                    </p:set>
                                    <p:anim calcmode="lin" valueType="num">
                                      <p:cBhvr>
                                        <p:cTn id="7" dur="1000" fill="hold"/>
                                        <p:tgtEl>
                                          <p:spTgt spid="268293"/>
                                        </p:tgtEl>
                                        <p:attrNameLst>
                                          <p:attrName>ppt_w</p:attrName>
                                        </p:attrNameLst>
                                      </p:cBhvr>
                                      <p:tavLst>
                                        <p:tav tm="0">
                                          <p:val>
                                            <p:strVal val="#ppt_w*0.05"/>
                                          </p:val>
                                        </p:tav>
                                        <p:tav tm="100000">
                                          <p:val>
                                            <p:strVal val="#ppt_w"/>
                                          </p:val>
                                        </p:tav>
                                      </p:tavLst>
                                    </p:anim>
                                    <p:anim calcmode="lin" valueType="num">
                                      <p:cBhvr>
                                        <p:cTn id="8" dur="1000" fill="hold"/>
                                        <p:tgtEl>
                                          <p:spTgt spid="268293"/>
                                        </p:tgtEl>
                                        <p:attrNameLst>
                                          <p:attrName>ppt_h</p:attrName>
                                        </p:attrNameLst>
                                      </p:cBhvr>
                                      <p:tavLst>
                                        <p:tav tm="0">
                                          <p:val>
                                            <p:strVal val="#ppt_h"/>
                                          </p:val>
                                        </p:tav>
                                        <p:tav tm="100000">
                                          <p:val>
                                            <p:strVal val="#ppt_h"/>
                                          </p:val>
                                        </p:tav>
                                      </p:tavLst>
                                    </p:anim>
                                    <p:anim calcmode="lin" valueType="num">
                                      <p:cBhvr>
                                        <p:cTn id="9" dur="1000" fill="hold"/>
                                        <p:tgtEl>
                                          <p:spTgt spid="268293"/>
                                        </p:tgtEl>
                                        <p:attrNameLst>
                                          <p:attrName>ppt_x</p:attrName>
                                        </p:attrNameLst>
                                      </p:cBhvr>
                                      <p:tavLst>
                                        <p:tav tm="0">
                                          <p:val>
                                            <p:strVal val="#ppt_x-.2"/>
                                          </p:val>
                                        </p:tav>
                                        <p:tav tm="100000">
                                          <p:val>
                                            <p:strVal val="#ppt_x"/>
                                          </p:val>
                                        </p:tav>
                                      </p:tavLst>
                                    </p:anim>
                                    <p:anim calcmode="lin" valueType="num">
                                      <p:cBhvr>
                                        <p:cTn id="10" dur="1000" fill="hold"/>
                                        <p:tgtEl>
                                          <p:spTgt spid="268293"/>
                                        </p:tgtEl>
                                        <p:attrNameLst>
                                          <p:attrName>ppt_y</p:attrName>
                                        </p:attrNameLst>
                                      </p:cBhvr>
                                      <p:tavLst>
                                        <p:tav tm="0">
                                          <p:val>
                                            <p:strVal val="#ppt_y"/>
                                          </p:val>
                                        </p:tav>
                                        <p:tav tm="100000">
                                          <p:val>
                                            <p:strVal val="#ppt_y"/>
                                          </p:val>
                                        </p:tav>
                                      </p:tavLst>
                                    </p:anim>
                                    <p:animEffect transition="in" filter="fade">
                                      <p:cBhvr>
                                        <p:cTn id="11" dur="1000"/>
                                        <p:tgtEl>
                                          <p:spTgt spid="268293"/>
                                        </p:tgtEl>
                                      </p:cBhvr>
                                    </p:animEffect>
                                  </p:childTnLst>
                                </p:cTn>
                              </p:par>
                            </p:childTnLst>
                          </p:cTn>
                        </p:par>
                        <p:par>
                          <p:cTn id="12" fill="hold" nodeType="afterGroup">
                            <p:stCondLst>
                              <p:cond delay="1000"/>
                            </p:stCondLst>
                            <p:childTnLst>
                              <p:par>
                                <p:cTn id="13" presetID="12" presetClass="entr" presetSubtype="4" fill="hold" nodeType="afterEffect">
                                  <p:stCondLst>
                                    <p:cond delay="0"/>
                                  </p:stCondLst>
                                  <p:childTnLst>
                                    <p:set>
                                      <p:cBhvr>
                                        <p:cTn id="14" dur="1" fill="hold">
                                          <p:stCondLst>
                                            <p:cond delay="0"/>
                                          </p:stCondLst>
                                        </p:cTn>
                                        <p:tgtEl>
                                          <p:spTgt spid="268290"/>
                                        </p:tgtEl>
                                        <p:attrNameLst>
                                          <p:attrName>style.visibility</p:attrName>
                                        </p:attrNameLst>
                                      </p:cBhvr>
                                      <p:to>
                                        <p:strVal val="visible"/>
                                      </p:to>
                                    </p:set>
                                    <p:animEffect transition="in" filter="slide(fromBottom)">
                                      <p:cBhvr>
                                        <p:cTn id="15" dur="1000"/>
                                        <p:tgtEl>
                                          <p:spTgt spid="268290"/>
                                        </p:tgtEl>
                                      </p:cBhvr>
                                    </p:animEffect>
                                  </p:childTnLst>
                                </p:cTn>
                              </p:par>
                            </p:childTnLst>
                          </p:cTn>
                        </p:par>
                        <p:par>
                          <p:cTn id="16" fill="hold" nodeType="afterGroup">
                            <p:stCondLst>
                              <p:cond delay="2000"/>
                            </p:stCondLst>
                            <p:childTnLst>
                              <p:par>
                                <p:cTn id="17" presetID="22" presetClass="entr" presetSubtype="8" fill="hold" nodeType="afterEffect">
                                  <p:stCondLst>
                                    <p:cond delay="500"/>
                                  </p:stCondLst>
                                  <p:childTnLst>
                                    <p:set>
                                      <p:cBhvr>
                                        <p:cTn id="18" dur="1" fill="hold">
                                          <p:stCondLst>
                                            <p:cond delay="0"/>
                                          </p:stCondLst>
                                        </p:cTn>
                                        <p:tgtEl>
                                          <p:spTgt spid="268297"/>
                                        </p:tgtEl>
                                        <p:attrNameLst>
                                          <p:attrName>style.visibility</p:attrName>
                                        </p:attrNameLst>
                                      </p:cBhvr>
                                      <p:to>
                                        <p:strVal val="visible"/>
                                      </p:to>
                                    </p:set>
                                    <p:animEffect transition="in" filter="wipe(left)">
                                      <p:cBhvr>
                                        <p:cTn id="19" dur="1000"/>
                                        <p:tgtEl>
                                          <p:spTgt spid="268297"/>
                                        </p:tgtEl>
                                      </p:cBhvr>
                                    </p:animEffect>
                                  </p:childTnLst>
                                </p:cTn>
                              </p:par>
                            </p:childTnLst>
                          </p:cTn>
                        </p:par>
                        <p:par>
                          <p:cTn id="20" fill="hold" nodeType="afterGroup">
                            <p:stCondLst>
                              <p:cond delay="3500"/>
                            </p:stCondLst>
                            <p:childTnLst>
                              <p:par>
                                <p:cTn id="21" presetID="12" presetClass="entr" presetSubtype="4" fill="hold" nodeType="afterEffect">
                                  <p:stCondLst>
                                    <p:cond delay="0"/>
                                  </p:stCondLst>
                                  <p:childTnLst>
                                    <p:set>
                                      <p:cBhvr>
                                        <p:cTn id="22" dur="1" fill="hold">
                                          <p:stCondLst>
                                            <p:cond delay="0"/>
                                          </p:stCondLst>
                                        </p:cTn>
                                        <p:tgtEl>
                                          <p:spTgt spid="268298"/>
                                        </p:tgtEl>
                                        <p:attrNameLst>
                                          <p:attrName>style.visibility</p:attrName>
                                        </p:attrNameLst>
                                      </p:cBhvr>
                                      <p:to>
                                        <p:strVal val="visible"/>
                                      </p:to>
                                    </p:set>
                                    <p:animEffect transition="in" filter="slide(fromBottom)">
                                      <p:cBhvr>
                                        <p:cTn id="23" dur="1000"/>
                                        <p:tgtEl>
                                          <p:spTgt spid="268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2386" name="Object 2">
            <a:extLst>
              <a:ext uri="{FF2B5EF4-FFF2-40B4-BE49-F238E27FC236}">
                <a16:creationId xmlns:a16="http://schemas.microsoft.com/office/drawing/2014/main" id="{29300A4A-D951-2B4C-5CFC-D750F3889BB2}"/>
              </a:ext>
            </a:extLst>
          </p:cNvPr>
          <p:cNvGraphicFramePr>
            <a:graphicFrameLocks noChangeAspect="1"/>
          </p:cNvGraphicFramePr>
          <p:nvPr/>
        </p:nvGraphicFramePr>
        <p:xfrm>
          <a:off x="2015728" y="2571751"/>
          <a:ext cx="2470547" cy="1088231"/>
        </p:xfrm>
        <a:graphic>
          <a:graphicData uri="http://schemas.openxmlformats.org/presentationml/2006/ole">
            <mc:AlternateContent xmlns:mc="http://schemas.openxmlformats.org/markup-compatibility/2006">
              <mc:Choice xmlns:v="urn:schemas-microsoft-com:vml" Requires="v">
                <p:oleObj name="公式" r:id="rId3" imgW="1505102" imgH="618983" progId="Equation.3">
                  <p:embed/>
                </p:oleObj>
              </mc:Choice>
              <mc:Fallback>
                <p:oleObj name="公式" r:id="rId3" imgW="1505102" imgH="618983" progId="Equation.3">
                  <p:embed/>
                  <p:pic>
                    <p:nvPicPr>
                      <p:cNvPr id="272386" name="Object 2">
                        <a:extLst>
                          <a:ext uri="{FF2B5EF4-FFF2-40B4-BE49-F238E27FC236}">
                            <a16:creationId xmlns:a16="http://schemas.microsoft.com/office/drawing/2014/main" id="{29300A4A-D951-2B4C-5CFC-D750F3889B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5728" y="2571751"/>
                        <a:ext cx="2470547" cy="108823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2387" name="Rectangle 3">
            <a:extLst>
              <a:ext uri="{FF2B5EF4-FFF2-40B4-BE49-F238E27FC236}">
                <a16:creationId xmlns:a16="http://schemas.microsoft.com/office/drawing/2014/main" id="{78306727-36BE-4296-02A4-5C0F9F9CD661}"/>
              </a:ext>
            </a:extLst>
          </p:cNvPr>
          <p:cNvSpPr>
            <a:spLocks noChangeArrowheads="1"/>
          </p:cNvSpPr>
          <p:nvPr/>
        </p:nvSpPr>
        <p:spPr bwMode="auto">
          <a:xfrm>
            <a:off x="1331119" y="667956"/>
            <a:ext cx="5183981" cy="415498"/>
          </a:xfrm>
          <a:prstGeom prst="rect">
            <a:avLst/>
          </a:prstGeom>
          <a:noFill/>
          <a:ln>
            <a:noFill/>
          </a:ln>
          <a:effectLst/>
        </p:spPr>
        <p:txBody>
          <a:bodyPr anchor="ctr">
            <a:spAutoFit/>
          </a:bodyPr>
          <a:lstStyle/>
          <a:p>
            <a:pPr algn="ctr" eaLnBrk="1" hangingPunct="1">
              <a:defRPr/>
            </a:pP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定理</a:t>
            </a:r>
            <a:r>
              <a:rPr lang="en-US" altLang="zh-CN" sz="2100" b="1">
                <a:solidFill>
                  <a:srgbClr val="FF3399"/>
                </a:solidFill>
                <a:effectLst>
                  <a:outerShdw blurRad="38100" dist="38100" dir="2700000" algn="tl">
                    <a:srgbClr val="C0C0C0"/>
                  </a:outerShdw>
                </a:effectLst>
                <a:latin typeface="华文楷体" pitchFamily="2" charset="-122"/>
                <a:ea typeface="华文楷体" pitchFamily="2" charset="-122"/>
              </a:rPr>
              <a:t>1</a:t>
            </a:r>
            <a:r>
              <a:rPr lang="zh-CN" altLang="en-US" sz="2100" b="1">
                <a:solidFill>
                  <a:srgbClr val="FF3399"/>
                </a:solidFill>
                <a:effectLst>
                  <a:outerShdw blurRad="38100" dist="38100" dir="2700000" algn="tl">
                    <a:srgbClr val="C0C0C0"/>
                  </a:outerShdw>
                </a:effectLst>
                <a:latin typeface="华文楷体" pitchFamily="2" charset="-122"/>
                <a:ea typeface="华文楷体" pitchFamily="2" charset="-122"/>
              </a:rPr>
              <a:t>（独立同分布下的中心极限定理）</a:t>
            </a:r>
          </a:p>
        </p:txBody>
      </p:sp>
      <p:graphicFrame>
        <p:nvGraphicFramePr>
          <p:cNvPr id="272388" name="Object 4">
            <a:extLst>
              <a:ext uri="{FF2B5EF4-FFF2-40B4-BE49-F238E27FC236}">
                <a16:creationId xmlns:a16="http://schemas.microsoft.com/office/drawing/2014/main" id="{18D31B62-8185-37C9-BA4B-5CA2AF72456F}"/>
              </a:ext>
            </a:extLst>
          </p:cNvPr>
          <p:cNvGraphicFramePr>
            <a:graphicFrameLocks noChangeAspect="1"/>
          </p:cNvGraphicFramePr>
          <p:nvPr/>
        </p:nvGraphicFramePr>
        <p:xfrm>
          <a:off x="4463654" y="2842022"/>
          <a:ext cx="1990725" cy="833438"/>
        </p:xfrm>
        <a:graphic>
          <a:graphicData uri="http://schemas.openxmlformats.org/presentationml/2006/ole">
            <mc:AlternateContent xmlns:mc="http://schemas.openxmlformats.org/markup-compatibility/2006">
              <mc:Choice xmlns:v="urn:schemas-microsoft-com:vml" Requires="v">
                <p:oleObj name="公式" r:id="rId5" imgW="1047902" imgH="400017" progId="Equation.3">
                  <p:embed/>
                </p:oleObj>
              </mc:Choice>
              <mc:Fallback>
                <p:oleObj name="公式" r:id="rId5" imgW="1047902" imgH="400017" progId="Equation.3">
                  <p:embed/>
                  <p:pic>
                    <p:nvPicPr>
                      <p:cNvPr id="272388" name="Object 4">
                        <a:extLst>
                          <a:ext uri="{FF2B5EF4-FFF2-40B4-BE49-F238E27FC236}">
                            <a16:creationId xmlns:a16="http://schemas.microsoft.com/office/drawing/2014/main" id="{18D31B62-8185-37C9-BA4B-5CA2AF7245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3654" y="2842022"/>
                        <a:ext cx="1990725" cy="833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3" name="Object 5">
            <a:extLst>
              <a:ext uri="{FF2B5EF4-FFF2-40B4-BE49-F238E27FC236}">
                <a16:creationId xmlns:a16="http://schemas.microsoft.com/office/drawing/2014/main" id="{37CBF922-CA49-2E7F-C3C5-A2084F3C294F}"/>
              </a:ext>
            </a:extLst>
          </p:cNvPr>
          <p:cNvGraphicFramePr>
            <a:graphicFrameLocks noChangeAspect="1"/>
          </p:cNvGraphicFramePr>
          <p:nvPr/>
        </p:nvGraphicFramePr>
        <p:xfrm>
          <a:off x="4635104" y="1571625"/>
          <a:ext cx="84534" cy="160735"/>
        </p:xfrm>
        <a:graphic>
          <a:graphicData uri="http://schemas.openxmlformats.org/presentationml/2006/ole">
            <mc:AlternateContent xmlns:mc="http://schemas.openxmlformats.org/markup-compatibility/2006">
              <mc:Choice xmlns:v="urn:schemas-microsoft-com:vml" Requires="v">
                <p:oleObj name="公式" r:id="rId7" imgW="114151" imgH="215619" progId="Equation.3">
                  <p:embed/>
                </p:oleObj>
              </mc:Choice>
              <mc:Fallback>
                <p:oleObj name="公式" r:id="rId7" imgW="114151" imgH="215619" progId="Equation.3">
                  <p:embed/>
                  <p:pic>
                    <p:nvPicPr>
                      <p:cNvPr id="99333" name="Object 5">
                        <a:extLst>
                          <a:ext uri="{FF2B5EF4-FFF2-40B4-BE49-F238E27FC236}">
                            <a16:creationId xmlns:a16="http://schemas.microsoft.com/office/drawing/2014/main" id="{37CBF922-CA49-2E7F-C3C5-A2084F3C29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5104" y="1571625"/>
                        <a:ext cx="84534"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4" name="Object 6">
            <a:extLst>
              <a:ext uri="{FF2B5EF4-FFF2-40B4-BE49-F238E27FC236}">
                <a16:creationId xmlns:a16="http://schemas.microsoft.com/office/drawing/2014/main" id="{A681117F-A203-F87A-F74B-E546F94E5698}"/>
              </a:ext>
            </a:extLst>
          </p:cNvPr>
          <p:cNvGraphicFramePr>
            <a:graphicFrameLocks noChangeAspect="1"/>
          </p:cNvGraphicFramePr>
          <p:nvPr/>
        </p:nvGraphicFramePr>
        <p:xfrm>
          <a:off x="4635104" y="1571625"/>
          <a:ext cx="84534" cy="160735"/>
        </p:xfrm>
        <a:graphic>
          <a:graphicData uri="http://schemas.openxmlformats.org/presentationml/2006/ole">
            <mc:AlternateContent xmlns:mc="http://schemas.openxmlformats.org/markup-compatibility/2006">
              <mc:Choice xmlns:v="urn:schemas-microsoft-com:vml" Requires="v">
                <p:oleObj name="公式" r:id="rId9" imgW="114151" imgH="215619" progId="Equation.3">
                  <p:embed/>
                </p:oleObj>
              </mc:Choice>
              <mc:Fallback>
                <p:oleObj name="公式" r:id="rId9" imgW="114151" imgH="215619" progId="Equation.3">
                  <p:embed/>
                  <p:pic>
                    <p:nvPicPr>
                      <p:cNvPr id="99334" name="Object 6">
                        <a:extLst>
                          <a:ext uri="{FF2B5EF4-FFF2-40B4-BE49-F238E27FC236}">
                            <a16:creationId xmlns:a16="http://schemas.microsoft.com/office/drawing/2014/main" id="{A681117F-A203-F87A-F74B-E546F94E56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5104" y="1571625"/>
                        <a:ext cx="84534" cy="16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2391" name="Rectangle 7">
            <a:extLst>
              <a:ext uri="{FF2B5EF4-FFF2-40B4-BE49-F238E27FC236}">
                <a16:creationId xmlns:a16="http://schemas.microsoft.com/office/drawing/2014/main" id="{C6952BFD-9DD7-4731-0695-72B6394997F8}"/>
              </a:ext>
            </a:extLst>
          </p:cNvPr>
          <p:cNvSpPr>
            <a:spLocks noChangeArrowheads="1"/>
          </p:cNvSpPr>
          <p:nvPr/>
        </p:nvSpPr>
        <p:spPr bwMode="auto">
          <a:xfrm>
            <a:off x="1547813" y="1329928"/>
            <a:ext cx="6155531" cy="1004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100" b="1">
                <a:ea typeface="楷体_GB2312" pitchFamily="49" charset="-122"/>
              </a:rPr>
              <a:t>       </a:t>
            </a:r>
            <a:r>
              <a:rPr lang="zh-CN" altLang="en-US" sz="2100" b="1">
                <a:ea typeface="楷体_GB2312" pitchFamily="49" charset="-122"/>
              </a:rPr>
              <a:t>设</a:t>
            </a:r>
            <a:r>
              <a:rPr lang="en-US" altLang="zh-CN" sz="2100" b="1" i="1">
                <a:ea typeface="楷体_GB2312" pitchFamily="49" charset="-122"/>
              </a:rPr>
              <a:t>X</a:t>
            </a:r>
            <a:r>
              <a:rPr lang="en-US" altLang="zh-CN" sz="2100" b="1" baseline="-25000">
                <a:ea typeface="楷体_GB2312" pitchFamily="49" charset="-122"/>
              </a:rPr>
              <a:t>1</a:t>
            </a:r>
            <a:r>
              <a:rPr lang="en-US" altLang="zh-CN" sz="2100" b="1">
                <a:ea typeface="楷体_GB2312" pitchFamily="49" charset="-122"/>
              </a:rPr>
              <a:t>,</a:t>
            </a:r>
            <a:r>
              <a:rPr lang="en-US" altLang="zh-CN" sz="2100" b="1" i="1">
                <a:ea typeface="楷体_GB2312" pitchFamily="49" charset="-122"/>
              </a:rPr>
              <a:t>X</a:t>
            </a:r>
            <a:r>
              <a:rPr lang="en-US" altLang="zh-CN" sz="2100" b="1" baseline="-25000">
                <a:ea typeface="楷体_GB2312" pitchFamily="49" charset="-122"/>
              </a:rPr>
              <a:t>2</a:t>
            </a:r>
            <a:r>
              <a:rPr lang="en-US" altLang="zh-CN" sz="2100" b="1">
                <a:ea typeface="楷体_GB2312" pitchFamily="49" charset="-122"/>
              </a:rPr>
              <a:t>, …</a:t>
            </a:r>
            <a:r>
              <a:rPr lang="zh-CN" altLang="en-US" sz="2100" b="1">
                <a:ea typeface="楷体_GB2312" pitchFamily="49" charset="-122"/>
              </a:rPr>
              <a:t>是独立同分布的随机变量序列，且</a:t>
            </a:r>
            <a:r>
              <a:rPr lang="en-US" altLang="zh-CN" sz="2100" b="1" i="1">
                <a:ea typeface="楷体_GB2312" pitchFamily="49" charset="-122"/>
              </a:rPr>
              <a:t>E</a:t>
            </a:r>
            <a:r>
              <a:rPr lang="en-US" altLang="zh-CN" sz="2100" b="1">
                <a:ea typeface="楷体_GB2312" pitchFamily="49" charset="-122"/>
              </a:rPr>
              <a:t>(</a:t>
            </a:r>
            <a:r>
              <a:rPr lang="en-US" altLang="zh-CN" sz="2100" b="1" i="1">
                <a:ea typeface="楷体_GB2312" pitchFamily="49" charset="-122"/>
              </a:rPr>
              <a:t>X</a:t>
            </a:r>
            <a:r>
              <a:rPr lang="en-US" altLang="zh-CN" sz="2100" b="1" i="1" baseline="-25000">
                <a:ea typeface="楷体_GB2312" pitchFamily="49" charset="-122"/>
              </a:rPr>
              <a:t>i</a:t>
            </a:r>
            <a:r>
              <a:rPr lang="en-US" altLang="zh-CN" sz="2100" b="1">
                <a:ea typeface="楷体_GB2312" pitchFamily="49" charset="-122"/>
              </a:rPr>
              <a:t>)=</a:t>
            </a:r>
            <a:r>
              <a:rPr lang="el-GR" altLang="zh-CN" sz="2100" b="1" i="1">
                <a:ea typeface="楷体_GB2312" pitchFamily="49" charset="-122"/>
                <a:cs typeface="Times New Roman" panose="02020603050405020304" pitchFamily="18" charset="0"/>
              </a:rPr>
              <a:t>μ</a:t>
            </a:r>
            <a:r>
              <a:rPr lang="zh-CN" altLang="en-US" sz="2100" b="1">
                <a:ea typeface="楷体_GB2312" pitchFamily="49" charset="-122"/>
              </a:rPr>
              <a:t>，</a:t>
            </a:r>
            <a:r>
              <a:rPr lang="en-US" altLang="zh-CN" sz="2100" b="1" i="1">
                <a:ea typeface="楷体_GB2312" pitchFamily="49" charset="-122"/>
              </a:rPr>
              <a:t>D</a:t>
            </a:r>
            <a:r>
              <a:rPr lang="en-US" altLang="zh-CN" sz="2100" b="1">
                <a:ea typeface="楷体_GB2312" pitchFamily="49" charset="-122"/>
              </a:rPr>
              <a:t>(</a:t>
            </a:r>
            <a:r>
              <a:rPr lang="en-US" altLang="zh-CN" sz="2100" b="1" i="1">
                <a:ea typeface="楷体_GB2312" pitchFamily="49" charset="-122"/>
              </a:rPr>
              <a:t>X</a:t>
            </a:r>
            <a:r>
              <a:rPr lang="en-US" altLang="zh-CN" sz="2100" b="1" baseline="-25000">
                <a:ea typeface="楷体_GB2312" pitchFamily="49" charset="-122"/>
              </a:rPr>
              <a:t>i</a:t>
            </a:r>
            <a:r>
              <a:rPr lang="en-US" altLang="zh-CN" sz="2100" b="1">
                <a:ea typeface="楷体_GB2312" pitchFamily="49" charset="-122"/>
              </a:rPr>
              <a:t>)=</a:t>
            </a:r>
            <a:r>
              <a:rPr lang="el-GR" altLang="zh-CN" sz="2100" b="1" i="1">
                <a:ea typeface="楷体_GB2312" pitchFamily="49" charset="-122"/>
              </a:rPr>
              <a:t>σ</a:t>
            </a:r>
            <a:r>
              <a:rPr lang="en-US" altLang="zh-CN" sz="2100" b="1" baseline="30000">
                <a:ea typeface="楷体_GB2312" pitchFamily="49" charset="-122"/>
              </a:rPr>
              <a:t>2</a:t>
            </a:r>
            <a:r>
              <a:rPr lang="zh-CN" altLang="en-US" sz="2100" b="1">
                <a:ea typeface="楷体_GB2312" pitchFamily="49" charset="-122"/>
              </a:rPr>
              <a:t>，</a:t>
            </a:r>
            <a:r>
              <a:rPr lang="en-US" altLang="zh-CN" sz="2100" b="1" i="1">
                <a:ea typeface="楷体_GB2312" pitchFamily="49" charset="-122"/>
              </a:rPr>
              <a:t>i</a:t>
            </a:r>
            <a:r>
              <a:rPr lang="en-US" altLang="zh-CN" sz="2100" b="1">
                <a:ea typeface="楷体_GB2312" pitchFamily="49" charset="-122"/>
              </a:rPr>
              <a:t>=1,2,…</a:t>
            </a:r>
            <a:r>
              <a:rPr lang="zh-CN" altLang="en-US" sz="2100" b="1">
                <a:ea typeface="楷体_GB2312" pitchFamily="49" charset="-122"/>
              </a:rPr>
              <a:t>，则</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2387"/>
                                        </p:tgtEl>
                                        <p:attrNameLst>
                                          <p:attrName>style.visibility</p:attrName>
                                        </p:attrNameLst>
                                      </p:cBhvr>
                                      <p:to>
                                        <p:strVal val="visible"/>
                                      </p:to>
                                    </p:set>
                                    <p:animEffect transition="in" filter="wipe(left)">
                                      <p:cBhvr>
                                        <p:cTn id="7" dur="1000"/>
                                        <p:tgtEl>
                                          <p:spTgt spid="272387"/>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272391"/>
                                        </p:tgtEl>
                                        <p:attrNameLst>
                                          <p:attrName>style.visibility</p:attrName>
                                        </p:attrNameLst>
                                      </p:cBhvr>
                                      <p:to>
                                        <p:strVal val="visible"/>
                                      </p:to>
                                    </p:set>
                                    <p:animEffect transition="in" filter="slide(fromBottom)">
                                      <p:cBhvr>
                                        <p:cTn id="11" dur="1000"/>
                                        <p:tgtEl>
                                          <p:spTgt spid="272391"/>
                                        </p:tgtEl>
                                      </p:cBhvr>
                                    </p:animEffect>
                                  </p:childTnLst>
                                </p:cTn>
                              </p:par>
                            </p:childTnLst>
                          </p:cTn>
                        </p:par>
                        <p:par>
                          <p:cTn id="12" fill="hold" nodeType="afterGroup">
                            <p:stCondLst>
                              <p:cond delay="2000"/>
                            </p:stCondLst>
                            <p:childTnLst>
                              <p:par>
                                <p:cTn id="13" presetID="12" presetClass="entr" presetSubtype="2" fill="hold" nodeType="afterEffect">
                                  <p:stCondLst>
                                    <p:cond delay="0"/>
                                  </p:stCondLst>
                                  <p:childTnLst>
                                    <p:set>
                                      <p:cBhvr>
                                        <p:cTn id="14" dur="1" fill="hold">
                                          <p:stCondLst>
                                            <p:cond delay="0"/>
                                          </p:stCondLst>
                                        </p:cTn>
                                        <p:tgtEl>
                                          <p:spTgt spid="272386"/>
                                        </p:tgtEl>
                                        <p:attrNameLst>
                                          <p:attrName>style.visibility</p:attrName>
                                        </p:attrNameLst>
                                      </p:cBhvr>
                                      <p:to>
                                        <p:strVal val="visible"/>
                                      </p:to>
                                    </p:set>
                                    <p:animEffect transition="in" filter="slide(fromRight)">
                                      <p:cBhvr>
                                        <p:cTn id="15" dur="1000"/>
                                        <p:tgtEl>
                                          <p:spTgt spid="272386"/>
                                        </p:tgtEl>
                                      </p:cBhvr>
                                    </p:animEffect>
                                  </p:childTnLst>
                                </p:cTn>
                              </p:par>
                            </p:childTnLst>
                          </p:cTn>
                        </p:par>
                        <p:par>
                          <p:cTn id="16" fill="hold" nodeType="afterGroup">
                            <p:stCondLst>
                              <p:cond delay="3000"/>
                            </p:stCondLst>
                            <p:childTnLst>
                              <p:par>
                                <p:cTn id="17" presetID="12" presetClass="entr" presetSubtype="2" fill="hold" nodeType="afterEffect">
                                  <p:stCondLst>
                                    <p:cond delay="0"/>
                                  </p:stCondLst>
                                  <p:childTnLst>
                                    <p:set>
                                      <p:cBhvr>
                                        <p:cTn id="18" dur="1" fill="hold">
                                          <p:stCondLst>
                                            <p:cond delay="0"/>
                                          </p:stCondLst>
                                        </p:cTn>
                                        <p:tgtEl>
                                          <p:spTgt spid="272388"/>
                                        </p:tgtEl>
                                        <p:attrNameLst>
                                          <p:attrName>style.visibility</p:attrName>
                                        </p:attrNameLst>
                                      </p:cBhvr>
                                      <p:to>
                                        <p:strVal val="visible"/>
                                      </p:to>
                                    </p:set>
                                    <p:animEffect transition="in" filter="slide(fromRight)">
                                      <p:cBhvr>
                                        <p:cTn id="19" dur="1000"/>
                                        <p:tgtEl>
                                          <p:spTgt spid="272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C29B077D-A942-2733-AB62-439E556449BD}"/>
              </a:ext>
            </a:extLst>
          </p:cNvPr>
          <p:cNvSpPr>
            <a:spLocks noChangeArrowheads="1"/>
          </p:cNvSpPr>
          <p:nvPr/>
        </p:nvSpPr>
        <p:spPr bwMode="auto">
          <a:xfrm>
            <a:off x="1385888" y="419203"/>
            <a:ext cx="6343650" cy="471283"/>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en-US" altLang="zh-CN" sz="2100" b="1" dirty="0">
                <a:latin typeface="楷体_GB2312" pitchFamily="49" charset="-122"/>
                <a:ea typeface="楷体_GB2312" pitchFamily="49" charset="-122"/>
              </a:rPr>
              <a:t>  </a:t>
            </a:r>
            <a:r>
              <a:rPr lang="zh-CN" altLang="en-US" sz="2100" b="1" dirty="0">
                <a:solidFill>
                  <a:srgbClr val="0000FF"/>
                </a:solidFill>
                <a:ea typeface="楷体_GB2312" pitchFamily="49" charset="-122"/>
              </a:rPr>
              <a:t>定理表明：</a:t>
            </a:r>
            <a:r>
              <a:rPr lang="zh-CN" altLang="en-US" sz="2100" b="1" dirty="0">
                <a:latin typeface="楷体_GB2312" pitchFamily="49" charset="-122"/>
                <a:ea typeface="楷体_GB2312" pitchFamily="49" charset="-122"/>
              </a:rPr>
              <a:t>当</a:t>
            </a:r>
            <a:r>
              <a:rPr lang="en-US" altLang="zh-CN" sz="2100" b="1" i="1" dirty="0">
                <a:ea typeface="楷体_GB2312" pitchFamily="49" charset="-122"/>
              </a:rPr>
              <a:t>n</a:t>
            </a:r>
            <a:r>
              <a:rPr lang="zh-CN" altLang="en-US" sz="2100" b="1" dirty="0">
                <a:latin typeface="楷体_GB2312" pitchFamily="49" charset="-122"/>
                <a:ea typeface="楷体_GB2312" pitchFamily="49" charset="-122"/>
              </a:rPr>
              <a:t>充分大时，标准化随机变量</a:t>
            </a:r>
          </a:p>
        </p:txBody>
      </p:sp>
      <p:sp>
        <p:nvSpPr>
          <p:cNvPr id="273411" name="Rectangle 3">
            <a:extLst>
              <a:ext uri="{FF2B5EF4-FFF2-40B4-BE49-F238E27FC236}">
                <a16:creationId xmlns:a16="http://schemas.microsoft.com/office/drawing/2014/main" id="{CA367B16-8827-E779-5035-D79D382C0B51}"/>
              </a:ext>
            </a:extLst>
          </p:cNvPr>
          <p:cNvSpPr>
            <a:spLocks noChangeArrowheads="1"/>
          </p:cNvSpPr>
          <p:nvPr/>
        </p:nvSpPr>
        <p:spPr bwMode="auto">
          <a:xfrm>
            <a:off x="2681288" y="1168004"/>
            <a:ext cx="2954655" cy="471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100" b="1">
                <a:latin typeface="楷体_GB2312" pitchFamily="49" charset="-122"/>
                <a:ea typeface="楷体_GB2312" pitchFamily="49" charset="-122"/>
              </a:rPr>
              <a:t>近似服从标准正态分布</a:t>
            </a:r>
            <a:r>
              <a:rPr lang="en-US" altLang="zh-CN" sz="2100" b="1">
                <a:latin typeface="楷体_GB2312" pitchFamily="49" charset="-122"/>
                <a:ea typeface="楷体_GB2312" pitchFamily="49" charset="-122"/>
              </a:rPr>
              <a:t>.</a:t>
            </a:r>
          </a:p>
        </p:txBody>
      </p:sp>
      <p:graphicFrame>
        <p:nvGraphicFramePr>
          <p:cNvPr id="273412" name="Object 4">
            <a:extLst>
              <a:ext uri="{FF2B5EF4-FFF2-40B4-BE49-F238E27FC236}">
                <a16:creationId xmlns:a16="http://schemas.microsoft.com/office/drawing/2014/main" id="{8B8C33F5-0B32-FA5B-458B-2775BC34BE80}"/>
              </a:ext>
            </a:extLst>
          </p:cNvPr>
          <p:cNvGraphicFramePr>
            <a:graphicFrameLocks noChangeAspect="1"/>
          </p:cNvGraphicFramePr>
          <p:nvPr/>
        </p:nvGraphicFramePr>
        <p:xfrm>
          <a:off x="1385888" y="844154"/>
          <a:ext cx="1188244" cy="1053703"/>
        </p:xfrm>
        <a:graphic>
          <a:graphicData uri="http://schemas.openxmlformats.org/presentationml/2006/ole">
            <mc:AlternateContent xmlns:mc="http://schemas.openxmlformats.org/markup-compatibility/2006">
              <mc:Choice xmlns:v="urn:schemas-microsoft-com:vml" Requires="v">
                <p:oleObj name="公式" r:id="rId2" imgW="733349" imgH="618983" progId="Equation.3">
                  <p:embed/>
                </p:oleObj>
              </mc:Choice>
              <mc:Fallback>
                <p:oleObj name="公式" r:id="rId2" imgW="733349" imgH="618983" progId="Equation.3">
                  <p:embed/>
                  <p:pic>
                    <p:nvPicPr>
                      <p:cNvPr id="273412" name="Object 4">
                        <a:extLst>
                          <a:ext uri="{FF2B5EF4-FFF2-40B4-BE49-F238E27FC236}">
                            <a16:creationId xmlns:a16="http://schemas.microsoft.com/office/drawing/2014/main" id="{8B8C33F5-0B32-FA5B-458B-2775BC34B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888" y="844154"/>
                        <a:ext cx="1188244" cy="105370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3413" name="Group 5">
            <a:extLst>
              <a:ext uri="{FF2B5EF4-FFF2-40B4-BE49-F238E27FC236}">
                <a16:creationId xmlns:a16="http://schemas.microsoft.com/office/drawing/2014/main" id="{69E6688A-9D32-11DE-7D36-A3317ECEDF03}"/>
              </a:ext>
            </a:extLst>
          </p:cNvPr>
          <p:cNvGrpSpPr>
            <a:grpSpLocks/>
          </p:cNvGrpSpPr>
          <p:nvPr/>
        </p:nvGrpSpPr>
        <p:grpSpPr bwMode="auto">
          <a:xfrm>
            <a:off x="1763316" y="1951434"/>
            <a:ext cx="6048375" cy="2455069"/>
            <a:chOff x="340" y="1866"/>
            <a:chExt cx="5080" cy="2062"/>
          </a:xfrm>
        </p:grpSpPr>
        <p:sp>
          <p:nvSpPr>
            <p:cNvPr id="101382" name="Text Box 6">
              <a:extLst>
                <a:ext uri="{FF2B5EF4-FFF2-40B4-BE49-F238E27FC236}">
                  <a16:creationId xmlns:a16="http://schemas.microsoft.com/office/drawing/2014/main" id="{A5D01A26-7D09-2071-6B18-38CF00327A2E}"/>
                </a:ext>
              </a:extLst>
            </p:cNvPr>
            <p:cNvSpPr txBox="1">
              <a:spLocks noChangeArrowheads="1"/>
            </p:cNvSpPr>
            <p:nvPr/>
          </p:nvSpPr>
          <p:spPr bwMode="auto">
            <a:xfrm>
              <a:off x="340" y="1866"/>
              <a:ext cx="5080" cy="1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100" b="1" dirty="0">
                  <a:latin typeface="楷体_GB2312" pitchFamily="49" charset="-122"/>
                  <a:ea typeface="楷体_GB2312" pitchFamily="49" charset="-122"/>
                </a:rPr>
                <a:t>    </a:t>
              </a:r>
              <a:r>
                <a:rPr lang="zh-CN" altLang="en-US" sz="2100" b="1" dirty="0">
                  <a:latin typeface="楷体_GB2312" pitchFamily="49" charset="-122"/>
                  <a:ea typeface="楷体_GB2312" pitchFamily="49" charset="-122"/>
                </a:rPr>
                <a:t>由此可知：</a:t>
              </a:r>
              <a:r>
                <a:rPr kumimoji="0" lang="zh-CN" altLang="en-US" sz="2100" b="1" dirty="0">
                  <a:latin typeface="楷体_GB2312" pitchFamily="49" charset="-122"/>
                  <a:ea typeface="楷体_GB2312" pitchFamily="49" charset="-122"/>
                </a:rPr>
                <a:t>对于独立的随机变量序列     ， 不管                  服从什么分布，只要它们是同分布，且有有限的数学期望和方差，那么，当</a:t>
              </a:r>
              <a:r>
                <a:rPr kumimoji="0" lang="en-US" altLang="zh-CN" sz="2100" b="1" dirty="0">
                  <a:latin typeface="楷体_GB2312" pitchFamily="49" charset="-122"/>
                  <a:ea typeface="楷体_GB2312" pitchFamily="49" charset="-122"/>
                </a:rPr>
                <a:t>n</a:t>
              </a:r>
              <a:r>
                <a:rPr kumimoji="0" lang="zh-CN" altLang="en-US" sz="2100" b="1" dirty="0">
                  <a:latin typeface="楷体_GB2312" pitchFamily="49" charset="-122"/>
                  <a:ea typeface="楷体_GB2312" pitchFamily="49" charset="-122"/>
                </a:rPr>
                <a:t>充分大时，这些随机变量之和        近似地服从正态分布</a:t>
              </a:r>
            </a:p>
          </p:txBody>
        </p:sp>
        <p:graphicFrame>
          <p:nvGraphicFramePr>
            <p:cNvPr id="101383" name="Object 7">
              <a:extLst>
                <a:ext uri="{FF2B5EF4-FFF2-40B4-BE49-F238E27FC236}">
                  <a16:creationId xmlns:a16="http://schemas.microsoft.com/office/drawing/2014/main" id="{58DE1EB4-CF6F-EAC1-CFA9-15875905C462}"/>
                </a:ext>
              </a:extLst>
            </p:cNvPr>
            <p:cNvGraphicFramePr>
              <a:graphicFrameLocks noChangeAspect="1"/>
            </p:cNvGraphicFramePr>
            <p:nvPr/>
          </p:nvGraphicFramePr>
          <p:xfrm>
            <a:off x="4241" y="1933"/>
            <a:ext cx="498" cy="337"/>
          </p:xfrm>
          <a:graphic>
            <a:graphicData uri="http://schemas.openxmlformats.org/presentationml/2006/ole">
              <mc:AlternateContent xmlns:mc="http://schemas.openxmlformats.org/markup-compatibility/2006">
                <mc:Choice xmlns:v="urn:schemas-microsoft-com:vml" Requires="v">
                  <p:oleObj name="Equation" r:id="rId4" imgW="368140" imgH="253890" progId="Equation.DSMT4">
                    <p:embed/>
                  </p:oleObj>
                </mc:Choice>
                <mc:Fallback>
                  <p:oleObj name="Equation" r:id="rId4" imgW="368140" imgH="253890" progId="Equation.DSMT4">
                    <p:embed/>
                    <p:pic>
                      <p:nvPicPr>
                        <p:cNvPr id="101383" name="Object 7">
                          <a:extLst>
                            <a:ext uri="{FF2B5EF4-FFF2-40B4-BE49-F238E27FC236}">
                              <a16:creationId xmlns:a16="http://schemas.microsoft.com/office/drawing/2014/main" id="{58DE1EB4-CF6F-EAC1-CFA9-15875905C4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1" y="1933"/>
                          <a:ext cx="498"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4" name="Object 8">
              <a:extLst>
                <a:ext uri="{FF2B5EF4-FFF2-40B4-BE49-F238E27FC236}">
                  <a16:creationId xmlns:a16="http://schemas.microsoft.com/office/drawing/2014/main" id="{C84B7FEC-5426-49E6-8F6A-2E821AF0FDA3}"/>
                </a:ext>
              </a:extLst>
            </p:cNvPr>
            <p:cNvGraphicFramePr>
              <a:graphicFrameLocks noChangeAspect="1"/>
            </p:cNvGraphicFramePr>
            <p:nvPr/>
          </p:nvGraphicFramePr>
          <p:xfrm>
            <a:off x="1135" y="2208"/>
            <a:ext cx="1210" cy="266"/>
          </p:xfrm>
          <a:graphic>
            <a:graphicData uri="http://schemas.openxmlformats.org/presentationml/2006/ole">
              <mc:AlternateContent xmlns:mc="http://schemas.openxmlformats.org/markup-compatibility/2006">
                <mc:Choice xmlns:v="urn:schemas-microsoft-com:vml" Requires="v">
                  <p:oleObj name="Equation" r:id="rId6" imgW="901309" imgH="203112" progId="Equation.DSMT4">
                    <p:embed/>
                  </p:oleObj>
                </mc:Choice>
                <mc:Fallback>
                  <p:oleObj name="Equation" r:id="rId6" imgW="901309" imgH="203112" progId="Equation.DSMT4">
                    <p:embed/>
                    <p:pic>
                      <p:nvPicPr>
                        <p:cNvPr id="101384" name="Object 8">
                          <a:extLst>
                            <a:ext uri="{FF2B5EF4-FFF2-40B4-BE49-F238E27FC236}">
                              <a16:creationId xmlns:a16="http://schemas.microsoft.com/office/drawing/2014/main" id="{C84B7FEC-5426-49E6-8F6A-2E821AF0FDA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5" y="2208"/>
                          <a:ext cx="1210"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5" name="Object 9">
              <a:extLst>
                <a:ext uri="{FF2B5EF4-FFF2-40B4-BE49-F238E27FC236}">
                  <a16:creationId xmlns:a16="http://schemas.microsoft.com/office/drawing/2014/main" id="{60B9ECA0-0C9F-78A3-DFAF-A855BA2D911C}"/>
                </a:ext>
              </a:extLst>
            </p:cNvPr>
            <p:cNvGraphicFramePr>
              <a:graphicFrameLocks noChangeAspect="1"/>
            </p:cNvGraphicFramePr>
            <p:nvPr>
              <p:extLst>
                <p:ext uri="{D42A27DB-BD31-4B8C-83A1-F6EECF244321}">
                  <p14:modId xmlns:p14="http://schemas.microsoft.com/office/powerpoint/2010/main" val="4101554091"/>
                </p:ext>
              </p:extLst>
            </p:nvPr>
          </p:nvGraphicFramePr>
          <p:xfrm>
            <a:off x="1308" y="3052"/>
            <a:ext cx="595" cy="620"/>
          </p:xfrm>
          <a:graphic>
            <a:graphicData uri="http://schemas.openxmlformats.org/presentationml/2006/ole">
              <mc:AlternateContent xmlns:mc="http://schemas.openxmlformats.org/markup-compatibility/2006">
                <mc:Choice xmlns:v="urn:schemas-microsoft-com:vml" Requires="v">
                  <p:oleObj name="Equation" r:id="rId8" imgW="406224" imgH="431613" progId="Equation.DSMT4">
                    <p:embed/>
                  </p:oleObj>
                </mc:Choice>
                <mc:Fallback>
                  <p:oleObj name="Equation" r:id="rId8" imgW="406224" imgH="431613" progId="Equation.DSMT4">
                    <p:embed/>
                    <p:pic>
                      <p:nvPicPr>
                        <p:cNvPr id="101385" name="Object 9">
                          <a:extLst>
                            <a:ext uri="{FF2B5EF4-FFF2-40B4-BE49-F238E27FC236}">
                              <a16:creationId xmlns:a16="http://schemas.microsoft.com/office/drawing/2014/main" id="{60B9ECA0-0C9F-78A3-DFAF-A855BA2D911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08" y="3052"/>
                          <a:ext cx="595" cy="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6" name="Object 10">
              <a:extLst>
                <a:ext uri="{FF2B5EF4-FFF2-40B4-BE49-F238E27FC236}">
                  <a16:creationId xmlns:a16="http://schemas.microsoft.com/office/drawing/2014/main" id="{477D833D-801F-39C1-237E-2030820D96E3}"/>
                </a:ext>
              </a:extLst>
            </p:cNvPr>
            <p:cNvGraphicFramePr>
              <a:graphicFrameLocks noChangeAspect="1"/>
            </p:cNvGraphicFramePr>
            <p:nvPr/>
          </p:nvGraphicFramePr>
          <p:xfrm>
            <a:off x="1020" y="3521"/>
            <a:ext cx="1249" cy="407"/>
          </p:xfrm>
          <a:graphic>
            <a:graphicData uri="http://schemas.openxmlformats.org/presentationml/2006/ole">
              <mc:AlternateContent xmlns:mc="http://schemas.openxmlformats.org/markup-compatibility/2006">
                <mc:Choice xmlns:v="urn:schemas-microsoft-com:vml" Requires="v">
                  <p:oleObj name="Equation" r:id="rId10" imgW="838200" imgH="279400" progId="Equation.DSMT4">
                    <p:embed/>
                  </p:oleObj>
                </mc:Choice>
                <mc:Fallback>
                  <p:oleObj name="Equation" r:id="rId10" imgW="838200" imgH="279400" progId="Equation.DSMT4">
                    <p:embed/>
                    <p:pic>
                      <p:nvPicPr>
                        <p:cNvPr id="101386" name="Object 10">
                          <a:extLst>
                            <a:ext uri="{FF2B5EF4-FFF2-40B4-BE49-F238E27FC236}">
                              <a16:creationId xmlns:a16="http://schemas.microsoft.com/office/drawing/2014/main" id="{477D833D-801F-39C1-237E-2030820D96E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0" y="3521"/>
                          <a:ext cx="1249"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7" name="Object 11">
              <a:extLst>
                <a:ext uri="{FF2B5EF4-FFF2-40B4-BE49-F238E27FC236}">
                  <a16:creationId xmlns:a16="http://schemas.microsoft.com/office/drawing/2014/main" id="{5898A88F-B950-B2AB-92AB-B671EA54EB49}"/>
                </a:ext>
              </a:extLst>
            </p:cNvPr>
            <p:cNvGraphicFramePr>
              <a:graphicFrameLocks noChangeAspect="1"/>
            </p:cNvGraphicFramePr>
            <p:nvPr/>
          </p:nvGraphicFramePr>
          <p:xfrm>
            <a:off x="747" y="2174"/>
            <a:ext cx="273" cy="300"/>
          </p:xfrm>
          <a:graphic>
            <a:graphicData uri="http://schemas.openxmlformats.org/presentationml/2006/ole">
              <mc:AlternateContent xmlns:mc="http://schemas.openxmlformats.org/markup-compatibility/2006">
                <mc:Choice xmlns:v="urn:schemas-microsoft-com:vml" Requires="v">
                  <p:oleObj name="Equation" r:id="rId12" imgW="203112" imgH="228501" progId="Equation.DSMT4">
                    <p:embed/>
                  </p:oleObj>
                </mc:Choice>
                <mc:Fallback>
                  <p:oleObj name="Equation" r:id="rId12" imgW="203112" imgH="228501" progId="Equation.DSMT4">
                    <p:embed/>
                    <p:pic>
                      <p:nvPicPr>
                        <p:cNvPr id="101387" name="Object 11">
                          <a:extLst>
                            <a:ext uri="{FF2B5EF4-FFF2-40B4-BE49-F238E27FC236}">
                              <a16:creationId xmlns:a16="http://schemas.microsoft.com/office/drawing/2014/main" id="{5898A88F-B950-B2AB-92AB-B671EA54EB4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7" y="2174"/>
                          <a:ext cx="273"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3410"/>
                                        </p:tgtEl>
                                        <p:attrNameLst>
                                          <p:attrName>style.visibility</p:attrName>
                                        </p:attrNameLst>
                                      </p:cBhvr>
                                      <p:to>
                                        <p:strVal val="visible"/>
                                      </p:to>
                                    </p:set>
                                    <p:animEffect transition="in" filter="wipe(left)">
                                      <p:cBhvr>
                                        <p:cTn id="7" dur="1000"/>
                                        <p:tgtEl>
                                          <p:spTgt spid="273410"/>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273412"/>
                                        </p:tgtEl>
                                        <p:attrNameLst>
                                          <p:attrName>style.visibility</p:attrName>
                                        </p:attrNameLst>
                                      </p:cBhvr>
                                      <p:to>
                                        <p:strVal val="visible"/>
                                      </p:to>
                                    </p:set>
                                    <p:animEffect transition="in" filter="wipe(left)">
                                      <p:cBhvr>
                                        <p:cTn id="11" dur="1000"/>
                                        <p:tgtEl>
                                          <p:spTgt spid="273412"/>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273411"/>
                                        </p:tgtEl>
                                        <p:attrNameLst>
                                          <p:attrName>style.visibility</p:attrName>
                                        </p:attrNameLst>
                                      </p:cBhvr>
                                      <p:to>
                                        <p:strVal val="visible"/>
                                      </p:to>
                                    </p:set>
                                    <p:animEffect transition="in" filter="wipe(left)">
                                      <p:cBhvr>
                                        <p:cTn id="15" dur="1000"/>
                                        <p:tgtEl>
                                          <p:spTgt spid="27341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4" fill="hold" nodeType="clickEffect">
                                  <p:stCondLst>
                                    <p:cond delay="0"/>
                                  </p:stCondLst>
                                  <p:childTnLst>
                                    <p:set>
                                      <p:cBhvr>
                                        <p:cTn id="19" dur="1" fill="hold">
                                          <p:stCondLst>
                                            <p:cond delay="0"/>
                                          </p:stCondLst>
                                        </p:cTn>
                                        <p:tgtEl>
                                          <p:spTgt spid="273413"/>
                                        </p:tgtEl>
                                        <p:attrNameLst>
                                          <p:attrName>style.visibility</p:attrName>
                                        </p:attrNameLst>
                                      </p:cBhvr>
                                      <p:to>
                                        <p:strVal val="visible"/>
                                      </p:to>
                                    </p:set>
                                    <p:animEffect transition="in" filter="slide(fromBottom)">
                                      <p:cBhvr>
                                        <p:cTn id="20" dur="1000"/>
                                        <p:tgtEl>
                                          <p:spTgt spid="273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a:extLst>
              <a:ext uri="{FF2B5EF4-FFF2-40B4-BE49-F238E27FC236}">
                <a16:creationId xmlns:a16="http://schemas.microsoft.com/office/drawing/2014/main" id="{30DB6076-9B1C-418C-9CE6-332D6577B0EA}"/>
              </a:ext>
            </a:extLst>
          </p:cNvPr>
          <p:cNvGrpSpPr/>
          <p:nvPr/>
        </p:nvGrpSpPr>
        <p:grpSpPr>
          <a:xfrm>
            <a:off x="755650" y="2035000"/>
            <a:ext cx="1474876" cy="454020"/>
            <a:chOff x="2473891" y="699816"/>
            <a:chExt cx="1474876" cy="454020"/>
          </a:xfrm>
        </p:grpSpPr>
        <p:sp>
          <p:nvSpPr>
            <p:cNvPr id="46" name="ïŝḷiďé">
              <a:extLst>
                <a:ext uri="{FF2B5EF4-FFF2-40B4-BE49-F238E27FC236}">
                  <a16:creationId xmlns:a16="http://schemas.microsoft.com/office/drawing/2014/main" id="{6E91AC90-36B1-4B0E-B158-4413937943DD}"/>
                </a:ext>
              </a:extLst>
            </p:cNvPr>
            <p:cNvSpPr/>
            <p:nvPr/>
          </p:nvSpPr>
          <p:spPr>
            <a:xfrm>
              <a:off x="2473891" y="699816"/>
              <a:ext cx="1474876" cy="454020"/>
            </a:xfrm>
            <a:prstGeom prst="snip2DiagRect">
              <a:avLst>
                <a:gd name="adj1" fmla="val 0"/>
                <a:gd name="adj2" fmla="val 22549"/>
              </a:avLst>
            </a:prstGeom>
            <a:solidFill>
              <a:srgbClr val="E88D2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7" name="Text Box 3">
              <a:extLst>
                <a:ext uri="{FF2B5EF4-FFF2-40B4-BE49-F238E27FC236}">
                  <a16:creationId xmlns:a16="http://schemas.microsoft.com/office/drawing/2014/main" id="{236DCE1A-7699-4C5E-9612-D876180BB38E}"/>
                </a:ext>
              </a:extLst>
            </p:cNvPr>
            <p:cNvSpPr txBox="1">
              <a:spLocks noChangeArrowheads="1"/>
            </p:cNvSpPr>
            <p:nvPr/>
          </p:nvSpPr>
          <p:spPr bwMode="auto">
            <a:xfrm>
              <a:off x="2761849" y="735358"/>
              <a:ext cx="8194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defRPr/>
              </a:pPr>
              <a:r>
                <a:rPr kumimoji="1"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样本 </a:t>
              </a:r>
            </a:p>
          </p:txBody>
        </p:sp>
      </p:grpSp>
      <p:sp>
        <p:nvSpPr>
          <p:cNvPr id="14" name="Text Box 4">
            <a:extLst>
              <a:ext uri="{FF2B5EF4-FFF2-40B4-BE49-F238E27FC236}">
                <a16:creationId xmlns:a16="http://schemas.microsoft.com/office/drawing/2014/main" id="{6AB7EF43-F52B-4124-BBA6-E8A53738AA61}"/>
              </a:ext>
            </a:extLst>
          </p:cNvPr>
          <p:cNvSpPr txBox="1">
            <a:spLocks noChangeArrowheads="1"/>
          </p:cNvSpPr>
          <p:nvPr/>
        </p:nvSpPr>
        <p:spPr bwMode="auto">
          <a:xfrm>
            <a:off x="827733" y="1555304"/>
            <a:ext cx="16415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研究对象的全体</a:t>
            </a:r>
          </a:p>
        </p:txBody>
      </p:sp>
      <p:sp>
        <p:nvSpPr>
          <p:cNvPr id="15" name="Text Box 5">
            <a:extLst>
              <a:ext uri="{FF2B5EF4-FFF2-40B4-BE49-F238E27FC236}">
                <a16:creationId xmlns:a16="http://schemas.microsoft.com/office/drawing/2014/main" id="{FCC72875-05D3-4F25-A4D2-6A0CC166938B}"/>
              </a:ext>
            </a:extLst>
          </p:cNvPr>
          <p:cNvSpPr txBox="1">
            <a:spLocks noChangeArrowheads="1"/>
          </p:cNvSpPr>
          <p:nvPr/>
        </p:nvSpPr>
        <p:spPr bwMode="auto">
          <a:xfrm>
            <a:off x="3270325" y="1557147"/>
            <a:ext cx="10981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指标集</a:t>
            </a:r>
          </a:p>
        </p:txBody>
      </p:sp>
      <p:grpSp>
        <p:nvGrpSpPr>
          <p:cNvPr id="16" name="Group 6">
            <a:extLst>
              <a:ext uri="{FF2B5EF4-FFF2-40B4-BE49-F238E27FC236}">
                <a16:creationId xmlns:a16="http://schemas.microsoft.com/office/drawing/2014/main" id="{25C271F9-29BA-48D3-8202-53B7F18CE386}"/>
              </a:ext>
            </a:extLst>
          </p:cNvPr>
          <p:cNvGrpSpPr>
            <a:grpSpLocks/>
          </p:cNvGrpSpPr>
          <p:nvPr/>
        </p:nvGrpSpPr>
        <p:grpSpPr bwMode="auto">
          <a:xfrm>
            <a:off x="2510938" y="1410954"/>
            <a:ext cx="765021" cy="352135"/>
            <a:chOff x="2208" y="1127"/>
            <a:chExt cx="680" cy="313"/>
          </a:xfrm>
        </p:grpSpPr>
        <p:sp>
          <p:nvSpPr>
            <p:cNvPr id="17" name="Text Box 7">
              <a:extLst>
                <a:ext uri="{FF2B5EF4-FFF2-40B4-BE49-F238E27FC236}">
                  <a16:creationId xmlns:a16="http://schemas.microsoft.com/office/drawing/2014/main" id="{EA68E28D-9281-40A8-B62C-2C0A9B953B86}"/>
                </a:ext>
              </a:extLst>
            </p:cNvPr>
            <p:cNvSpPr txBox="1">
              <a:spLocks noChangeArrowheads="1"/>
            </p:cNvSpPr>
            <p:nvPr/>
          </p:nvSpPr>
          <p:spPr bwMode="auto">
            <a:xfrm>
              <a:off x="2333" y="1127"/>
              <a:ext cx="38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量化</a:t>
              </a:r>
            </a:p>
          </p:txBody>
        </p:sp>
        <p:sp>
          <p:nvSpPr>
            <p:cNvPr id="18" name="Line 8">
              <a:extLst>
                <a:ext uri="{FF2B5EF4-FFF2-40B4-BE49-F238E27FC236}">
                  <a16:creationId xmlns:a16="http://schemas.microsoft.com/office/drawing/2014/main" id="{35BFBE91-0E68-4F7B-A722-B42B2C85A39A}"/>
                </a:ext>
              </a:extLst>
            </p:cNvPr>
            <p:cNvSpPr>
              <a:spLocks noChangeShapeType="1"/>
            </p:cNvSpPr>
            <p:nvPr/>
          </p:nvSpPr>
          <p:spPr bwMode="auto">
            <a:xfrm>
              <a:off x="2208" y="1440"/>
              <a:ext cx="6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9" name="Text Box 9">
            <a:extLst>
              <a:ext uri="{FF2B5EF4-FFF2-40B4-BE49-F238E27FC236}">
                <a16:creationId xmlns:a16="http://schemas.microsoft.com/office/drawing/2014/main" id="{EB06BD47-0393-40B1-96EA-A6CE6EAA476F}"/>
              </a:ext>
            </a:extLst>
          </p:cNvPr>
          <p:cNvSpPr txBox="1">
            <a:spLocks noChangeArrowheads="1"/>
          </p:cNvSpPr>
          <p:nvPr/>
        </p:nvSpPr>
        <p:spPr bwMode="auto">
          <a:xfrm>
            <a:off x="4758860" y="1555304"/>
            <a:ext cx="14757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R.V.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或</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nvGrpSpPr>
          <p:cNvPr id="20" name="Group 10">
            <a:extLst>
              <a:ext uri="{FF2B5EF4-FFF2-40B4-BE49-F238E27FC236}">
                <a16:creationId xmlns:a16="http://schemas.microsoft.com/office/drawing/2014/main" id="{D047D640-ADB8-4574-8834-8E0FEBA77DA8}"/>
              </a:ext>
            </a:extLst>
          </p:cNvPr>
          <p:cNvGrpSpPr>
            <a:grpSpLocks/>
          </p:cNvGrpSpPr>
          <p:nvPr/>
        </p:nvGrpSpPr>
        <p:grpSpPr bwMode="auto">
          <a:xfrm>
            <a:off x="4155725" y="1424205"/>
            <a:ext cx="540015" cy="345383"/>
            <a:chOff x="3408" y="1133"/>
            <a:chExt cx="480" cy="307"/>
          </a:xfrm>
        </p:grpSpPr>
        <p:sp>
          <p:nvSpPr>
            <p:cNvPr id="21" name="Text Box 11">
              <a:extLst>
                <a:ext uri="{FF2B5EF4-FFF2-40B4-BE49-F238E27FC236}">
                  <a16:creationId xmlns:a16="http://schemas.microsoft.com/office/drawing/2014/main" id="{2A42B4A1-1AD7-4B67-A574-3E57C98CD8F6}"/>
                </a:ext>
              </a:extLst>
            </p:cNvPr>
            <p:cNvSpPr txBox="1">
              <a:spLocks noChangeArrowheads="1"/>
            </p:cNvSpPr>
            <p:nvPr/>
          </p:nvSpPr>
          <p:spPr bwMode="auto">
            <a:xfrm>
              <a:off x="3469" y="1133"/>
              <a:ext cx="38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规律</a:t>
              </a:r>
            </a:p>
          </p:txBody>
        </p:sp>
        <p:sp>
          <p:nvSpPr>
            <p:cNvPr id="22" name="Line 12">
              <a:extLst>
                <a:ext uri="{FF2B5EF4-FFF2-40B4-BE49-F238E27FC236}">
                  <a16:creationId xmlns:a16="http://schemas.microsoft.com/office/drawing/2014/main" id="{16B1C053-92D0-4B79-8957-A42756353D94}"/>
                </a:ext>
              </a:extLst>
            </p:cNvPr>
            <p:cNvSpPr>
              <a:spLocks noChangeShapeType="1"/>
            </p:cNvSpPr>
            <p:nvPr/>
          </p:nvSpPr>
          <p:spPr bwMode="auto">
            <a:xfrm>
              <a:off x="3408" y="1440"/>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76">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4" name="Text Box 14">
            <a:extLst>
              <a:ext uri="{FF2B5EF4-FFF2-40B4-BE49-F238E27FC236}">
                <a16:creationId xmlns:a16="http://schemas.microsoft.com/office/drawing/2014/main" id="{BB4E694B-C866-4442-A4ED-3451C624F5EC}"/>
              </a:ext>
            </a:extLst>
          </p:cNvPr>
          <p:cNvSpPr txBox="1">
            <a:spLocks noChangeArrowheads="1"/>
          </p:cNvSpPr>
          <p:nvPr/>
        </p:nvSpPr>
        <p:spPr bwMode="auto">
          <a:xfrm>
            <a:off x="791683" y="2578207"/>
            <a:ext cx="18724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总体的部分个体：</a:t>
            </a:r>
          </a:p>
        </p:txBody>
      </p:sp>
      <p:sp>
        <p:nvSpPr>
          <p:cNvPr id="25" name="Text Box 15">
            <a:extLst>
              <a:ext uri="{FF2B5EF4-FFF2-40B4-BE49-F238E27FC236}">
                <a16:creationId xmlns:a16="http://schemas.microsoft.com/office/drawing/2014/main" id="{00D39BE2-5B8E-405F-B663-1E32CC1254BD}"/>
              </a:ext>
            </a:extLst>
          </p:cNvPr>
          <p:cNvSpPr txBox="1">
            <a:spLocks noChangeArrowheads="1"/>
          </p:cNvSpPr>
          <p:nvPr/>
        </p:nvSpPr>
        <p:spPr bwMode="auto">
          <a:xfrm>
            <a:off x="2597511" y="2542100"/>
            <a:ext cx="34020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独立同分布于</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6" name="Text Box 16">
            <a:extLst>
              <a:ext uri="{FF2B5EF4-FFF2-40B4-BE49-F238E27FC236}">
                <a16:creationId xmlns:a16="http://schemas.microsoft.com/office/drawing/2014/main" id="{6E04B23E-F9B5-4451-A2F9-32F94CC112FA}"/>
              </a:ext>
            </a:extLst>
          </p:cNvPr>
          <p:cNvSpPr txBox="1">
            <a:spLocks noChangeArrowheads="1"/>
          </p:cNvSpPr>
          <p:nvPr/>
        </p:nvSpPr>
        <p:spPr bwMode="auto">
          <a:xfrm>
            <a:off x="736668" y="2982051"/>
            <a:ext cx="32940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试验前： </a:t>
            </a: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baseline="-250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baseline="-250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b="1" i="1"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i="1" baseline="-25000"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R.V.</a:t>
            </a:r>
          </a:p>
        </p:txBody>
      </p:sp>
      <p:sp>
        <p:nvSpPr>
          <p:cNvPr id="27" name="Text Box 17">
            <a:extLst>
              <a:ext uri="{FF2B5EF4-FFF2-40B4-BE49-F238E27FC236}">
                <a16:creationId xmlns:a16="http://schemas.microsoft.com/office/drawing/2014/main" id="{4C1D2776-E884-4004-BA3F-77ABFD73C6F1}"/>
              </a:ext>
            </a:extLst>
          </p:cNvPr>
          <p:cNvSpPr txBox="1">
            <a:spLocks noChangeArrowheads="1"/>
          </p:cNvSpPr>
          <p:nvPr/>
        </p:nvSpPr>
        <p:spPr bwMode="auto">
          <a:xfrm>
            <a:off x="791365" y="3414063"/>
            <a:ext cx="35539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试验后：  </a:t>
            </a: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baseline="-250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baseline="-250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b="1" i="1"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i="1" baseline="-25000"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为样本观察值</a:t>
            </a:r>
          </a:p>
        </p:txBody>
      </p:sp>
      <p:sp>
        <p:nvSpPr>
          <p:cNvPr id="28" name="Text Box 18">
            <a:extLst>
              <a:ext uri="{FF2B5EF4-FFF2-40B4-BE49-F238E27FC236}">
                <a16:creationId xmlns:a16="http://schemas.microsoft.com/office/drawing/2014/main" id="{331E31FF-76DA-4FFE-9E87-570363916885}"/>
              </a:ext>
            </a:extLst>
          </p:cNvPr>
          <p:cNvSpPr txBox="1">
            <a:spLocks noChangeArrowheads="1"/>
          </p:cNvSpPr>
          <p:nvPr/>
        </p:nvSpPr>
        <p:spPr bwMode="auto">
          <a:xfrm>
            <a:off x="1238072" y="3876232"/>
            <a:ext cx="29674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8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样本容量（样本大小）</a:t>
            </a:r>
          </a:p>
        </p:txBody>
      </p:sp>
      <p:sp>
        <p:nvSpPr>
          <p:cNvPr id="42" name="Line 21">
            <a:extLst>
              <a:ext uri="{FF2B5EF4-FFF2-40B4-BE49-F238E27FC236}">
                <a16:creationId xmlns:a16="http://schemas.microsoft.com/office/drawing/2014/main" id="{4B104530-4E21-4CA0-8010-75E97C51331A}"/>
              </a:ext>
            </a:extLst>
          </p:cNvPr>
          <p:cNvSpPr>
            <a:spLocks noChangeShapeType="1"/>
          </p:cNvSpPr>
          <p:nvPr/>
        </p:nvSpPr>
        <p:spPr bwMode="auto">
          <a:xfrm>
            <a:off x="4425732" y="2911432"/>
            <a:ext cx="1298396" cy="0"/>
          </a:xfrm>
          <a:prstGeom prst="line">
            <a:avLst/>
          </a:prstGeom>
          <a:noFill/>
          <a:ln w="19050">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sp>
        <p:nvSpPr>
          <p:cNvPr id="43" name="Line 22">
            <a:extLst>
              <a:ext uri="{FF2B5EF4-FFF2-40B4-BE49-F238E27FC236}">
                <a16:creationId xmlns:a16="http://schemas.microsoft.com/office/drawing/2014/main" id="{DF007CEB-4715-43C2-8190-6398FBDCA899}"/>
              </a:ext>
            </a:extLst>
          </p:cNvPr>
          <p:cNvSpPr>
            <a:spLocks noChangeShapeType="1"/>
          </p:cNvSpPr>
          <p:nvPr/>
        </p:nvSpPr>
        <p:spPr bwMode="auto">
          <a:xfrm>
            <a:off x="3918202" y="2911432"/>
            <a:ext cx="450284" cy="0"/>
          </a:xfrm>
          <a:prstGeom prst="line">
            <a:avLst/>
          </a:prstGeom>
          <a:noFill/>
          <a:ln w="19050">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grpSp>
        <p:nvGrpSpPr>
          <p:cNvPr id="2" name="组合 1">
            <a:extLst>
              <a:ext uri="{FF2B5EF4-FFF2-40B4-BE49-F238E27FC236}">
                <a16:creationId xmlns:a16="http://schemas.microsoft.com/office/drawing/2014/main" id="{C6BB2A76-70EF-4380-AA0B-6F549CDF306D}"/>
              </a:ext>
            </a:extLst>
          </p:cNvPr>
          <p:cNvGrpSpPr/>
          <p:nvPr/>
        </p:nvGrpSpPr>
        <p:grpSpPr>
          <a:xfrm>
            <a:off x="755650" y="845066"/>
            <a:ext cx="1474876" cy="454020"/>
            <a:chOff x="2473891" y="699816"/>
            <a:chExt cx="1474876" cy="454020"/>
          </a:xfrm>
        </p:grpSpPr>
        <p:sp>
          <p:nvSpPr>
            <p:cNvPr id="44" name="ïŝḷiďé">
              <a:extLst>
                <a:ext uri="{FF2B5EF4-FFF2-40B4-BE49-F238E27FC236}">
                  <a16:creationId xmlns:a16="http://schemas.microsoft.com/office/drawing/2014/main" id="{56EE28B4-2AB0-4F74-BA61-42CE721C9264}"/>
                </a:ext>
              </a:extLst>
            </p:cNvPr>
            <p:cNvSpPr/>
            <p:nvPr/>
          </p:nvSpPr>
          <p:spPr>
            <a:xfrm>
              <a:off x="2473891" y="699816"/>
              <a:ext cx="1474876" cy="454020"/>
            </a:xfrm>
            <a:prstGeom prst="snip2DiagRect">
              <a:avLst>
                <a:gd name="adj1" fmla="val 0"/>
                <a:gd name="adj2" fmla="val 22549"/>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Text Box 3">
              <a:extLst>
                <a:ext uri="{FF2B5EF4-FFF2-40B4-BE49-F238E27FC236}">
                  <a16:creationId xmlns:a16="http://schemas.microsoft.com/office/drawing/2014/main" id="{EB3D1184-B04B-41E1-A6CE-21F995C4E214}"/>
                </a:ext>
              </a:extLst>
            </p:cNvPr>
            <p:cNvSpPr txBox="1">
              <a:spLocks noChangeArrowheads="1"/>
            </p:cNvSpPr>
            <p:nvPr/>
          </p:nvSpPr>
          <p:spPr bwMode="auto">
            <a:xfrm>
              <a:off x="2849898" y="735358"/>
              <a:ext cx="7040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defRPr/>
              </a:pPr>
              <a:r>
                <a:rPr kumimoji="1"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总体 </a:t>
              </a:r>
            </a:p>
          </p:txBody>
        </p:sp>
      </p:grpSp>
      <p:pic>
        <p:nvPicPr>
          <p:cNvPr id="29" name="图片 28">
            <a:extLst>
              <a:ext uri="{FF2B5EF4-FFF2-40B4-BE49-F238E27FC236}">
                <a16:creationId xmlns:a16="http://schemas.microsoft.com/office/drawing/2014/main" id="{310BEC7A-532A-4F24-98D7-F2FF446C7B14}"/>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58421" y="3034182"/>
            <a:ext cx="2571122" cy="2109318"/>
          </a:xfrm>
          <a:prstGeom prst="rect">
            <a:avLst/>
          </a:prstGeom>
        </p:spPr>
      </p:pic>
    </p:spTree>
    <p:extLst>
      <p:ext uri="{BB962C8B-B14F-4D97-AF65-F5344CB8AC3E}">
        <p14:creationId xmlns:p14="http://schemas.microsoft.com/office/powerpoint/2010/main" val="38662300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lide(fromLeft)">
                                      <p:cBhvr>
                                        <p:cTn id="17" dur="500"/>
                                        <p:tgtEl>
                                          <p:spTgt spid="16"/>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slide(fromLeft)">
                                      <p:cBhvr>
                                        <p:cTn id="26" dur="500"/>
                                        <p:tgtEl>
                                          <p:spTgt spid="20"/>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wipe(left)">
                                      <p:cBhvr>
                                        <p:cTn id="50" dur="500"/>
                                        <p:tgtEl>
                                          <p:spTgt spid="42"/>
                                        </p:tgtEl>
                                      </p:cBhvr>
                                    </p:animEffec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wipe(left)">
                                      <p:cBhvr>
                                        <p:cTn id="55" dur="500"/>
                                        <p:tgtEl>
                                          <p:spTgt spid="43"/>
                                        </p:tgtEl>
                                      </p:cBhvr>
                                    </p:animEffec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26">
                                            <p:txEl>
                                              <p:pRg st="0" end="0"/>
                                            </p:txEl>
                                          </p:spTgt>
                                        </p:tgtEl>
                                        <p:attrNameLst>
                                          <p:attrName>style.visibility</p:attrName>
                                        </p:attrNameLst>
                                      </p:cBhvr>
                                      <p:to>
                                        <p:strVal val="visible"/>
                                      </p:to>
                                    </p:set>
                                    <p:anim calcmode="lin" valueType="num">
                                      <p:cBhvr additive="base">
                                        <p:cTn id="60"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61"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grpId="0" nodeType="clickEffect">
                                  <p:stCondLst>
                                    <p:cond delay="0"/>
                                  </p:stCondLst>
                                  <p:childTnLst>
                                    <p:set>
                                      <p:cBhvr>
                                        <p:cTn id="65" dur="1" fill="hold">
                                          <p:stCondLst>
                                            <p:cond delay="0"/>
                                          </p:stCondLst>
                                        </p:cTn>
                                        <p:tgtEl>
                                          <p:spTgt spid="27">
                                            <p:txEl>
                                              <p:pRg st="0" end="0"/>
                                            </p:txEl>
                                          </p:spTgt>
                                        </p:tgtEl>
                                        <p:attrNameLst>
                                          <p:attrName>style.visibility</p:attrName>
                                        </p:attrNameLst>
                                      </p:cBhvr>
                                      <p:to>
                                        <p:strVal val="visible"/>
                                      </p:to>
                                    </p:set>
                                    <p:anim calcmode="lin" valueType="num">
                                      <p:cBhvr additive="base">
                                        <p:cTn id="66"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p:bldP spid="24" grpId="0"/>
      <p:bldP spid="25" grpId="0"/>
      <p:bldP spid="26" grpId="0" build="p" autoUpdateAnimBg="0"/>
      <p:bldP spid="27" grpId="0" build="p" autoUpdateAnimBg="0"/>
      <p:bldP spid="28" grpId="0"/>
      <p:bldP spid="42" grpId="0" animBg="1"/>
      <p:bldP spid="4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6BB2A76-70EF-4380-AA0B-6F549CDF306D}"/>
              </a:ext>
            </a:extLst>
          </p:cNvPr>
          <p:cNvGrpSpPr/>
          <p:nvPr/>
        </p:nvGrpSpPr>
        <p:grpSpPr>
          <a:xfrm>
            <a:off x="755576" y="915566"/>
            <a:ext cx="4642410" cy="454020"/>
            <a:chOff x="2473891" y="699816"/>
            <a:chExt cx="2437408" cy="454020"/>
          </a:xfrm>
        </p:grpSpPr>
        <p:sp>
          <p:nvSpPr>
            <p:cNvPr id="44" name="ïŝḷiďé">
              <a:extLst>
                <a:ext uri="{FF2B5EF4-FFF2-40B4-BE49-F238E27FC236}">
                  <a16:creationId xmlns:a16="http://schemas.microsoft.com/office/drawing/2014/main" id="{56EE28B4-2AB0-4F74-BA61-42CE721C9264}"/>
                </a:ext>
              </a:extLst>
            </p:cNvPr>
            <p:cNvSpPr/>
            <p:nvPr/>
          </p:nvSpPr>
          <p:spPr>
            <a:xfrm>
              <a:off x="2473891" y="699816"/>
              <a:ext cx="1474876" cy="454020"/>
            </a:xfrm>
            <a:prstGeom prst="snip2DiagRect">
              <a:avLst>
                <a:gd name="adj1" fmla="val 0"/>
                <a:gd name="adj2" fmla="val 22549"/>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Text Box 3">
              <a:extLst>
                <a:ext uri="{FF2B5EF4-FFF2-40B4-BE49-F238E27FC236}">
                  <a16:creationId xmlns:a16="http://schemas.microsoft.com/office/drawing/2014/main" id="{EB3D1184-B04B-41E1-A6CE-21F995C4E214}"/>
                </a:ext>
              </a:extLst>
            </p:cNvPr>
            <p:cNvSpPr txBox="1">
              <a:spLocks noChangeArrowheads="1"/>
            </p:cNvSpPr>
            <p:nvPr/>
          </p:nvSpPr>
          <p:spPr bwMode="auto">
            <a:xfrm>
              <a:off x="2661965" y="735358"/>
              <a:ext cx="22493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defRPr/>
              </a:pPr>
              <a:r>
                <a:rPr kumimoji="1"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数理统计的基本思想</a:t>
              </a:r>
            </a:p>
          </p:txBody>
        </p:sp>
      </p:grpSp>
      <p:sp>
        <p:nvSpPr>
          <p:cNvPr id="30" name="Text Box 20">
            <a:extLst>
              <a:ext uri="{FF2B5EF4-FFF2-40B4-BE49-F238E27FC236}">
                <a16:creationId xmlns:a16="http://schemas.microsoft.com/office/drawing/2014/main" id="{181238FB-0B20-41D3-9619-E42D028AD02D}"/>
              </a:ext>
            </a:extLst>
          </p:cNvPr>
          <p:cNvSpPr txBox="1">
            <a:spLocks noChangeArrowheads="1"/>
          </p:cNvSpPr>
          <p:nvPr/>
        </p:nvSpPr>
        <p:spPr bwMode="auto">
          <a:xfrm>
            <a:off x="1403648" y="1779662"/>
            <a:ext cx="46424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由</a:t>
            </a:r>
            <a:r>
              <a:rPr kumimoji="1" lang="zh-CN" altLang="en-US" sz="1800" dirty="0">
                <a:solidFill>
                  <a:srgbClr val="E88D2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样本</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a:t>
            </a:r>
            <a:r>
              <a:rPr kumimoji="1" lang="zh-CN" altLang="en-US" sz="1800" dirty="0">
                <a:solidFill>
                  <a:srgbClr val="E88D2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总体</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的分布（特征）进行合理地</a:t>
            </a:r>
            <a:r>
              <a:rPr kumimoji="1" lang="zh-CN" altLang="en-US"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推断</a:t>
            </a:r>
            <a:endParaRPr kumimoji="1" lang="zh-CN" altLang="en-US" sz="18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9" name="图片 28">
            <a:extLst>
              <a:ext uri="{FF2B5EF4-FFF2-40B4-BE49-F238E27FC236}">
                <a16:creationId xmlns:a16="http://schemas.microsoft.com/office/drawing/2014/main" id="{310BEC7A-532A-4F24-98D7-F2FF446C7B14}"/>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58421" y="3034182"/>
            <a:ext cx="2571122" cy="2109318"/>
          </a:xfrm>
          <a:prstGeom prst="rect">
            <a:avLst/>
          </a:prstGeom>
        </p:spPr>
      </p:pic>
    </p:spTree>
    <p:extLst>
      <p:ext uri="{BB962C8B-B14F-4D97-AF65-F5344CB8AC3E}">
        <p14:creationId xmlns:p14="http://schemas.microsoft.com/office/powerpoint/2010/main" val="24167888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0"/>
                                        </p:tgtEl>
                                        <p:attrNameLst>
                                          <p:attrName>style.visibility</p:attrName>
                                        </p:attrNameLst>
                                      </p:cBhvr>
                                      <p:to>
                                        <p:strVal val="visible"/>
                                      </p:to>
                                    </p:set>
                                    <p:animEffect transition="in" filter="wipe(up)">
                                      <p:cBhvr>
                                        <p:cTn id="12" dur="2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Box 3">
            <a:extLst>
              <a:ext uri="{FF2B5EF4-FFF2-40B4-BE49-F238E27FC236}">
                <a16:creationId xmlns:a16="http://schemas.microsoft.com/office/drawing/2014/main" id="{6E01B10E-6736-4386-AAF4-5F231002A528}"/>
              </a:ext>
            </a:extLst>
          </p:cNvPr>
          <p:cNvSpPr txBox="1">
            <a:spLocks noChangeArrowheads="1"/>
          </p:cNvSpPr>
          <p:nvPr/>
        </p:nvSpPr>
        <p:spPr bwMode="auto">
          <a:xfrm>
            <a:off x="755650" y="843558"/>
            <a:ext cx="20505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理论分布函数</a:t>
            </a: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p>
        </p:txBody>
      </p:sp>
      <p:grpSp>
        <p:nvGrpSpPr>
          <p:cNvPr id="40" name="Group 12">
            <a:extLst>
              <a:ext uri="{FF2B5EF4-FFF2-40B4-BE49-F238E27FC236}">
                <a16:creationId xmlns:a16="http://schemas.microsoft.com/office/drawing/2014/main" id="{508F6CA4-91C6-478A-BAAA-0700837C1301}"/>
              </a:ext>
            </a:extLst>
          </p:cNvPr>
          <p:cNvGrpSpPr>
            <a:grpSpLocks/>
          </p:cNvGrpSpPr>
          <p:nvPr/>
        </p:nvGrpSpPr>
        <p:grpSpPr bwMode="auto">
          <a:xfrm>
            <a:off x="1259632" y="1294769"/>
            <a:ext cx="5915411" cy="466889"/>
            <a:chOff x="1746" y="1025"/>
            <a:chExt cx="5258" cy="415"/>
          </a:xfrm>
        </p:grpSpPr>
        <p:sp>
          <p:nvSpPr>
            <p:cNvPr id="41" name="Text Box 13">
              <a:extLst>
                <a:ext uri="{FF2B5EF4-FFF2-40B4-BE49-F238E27FC236}">
                  <a16:creationId xmlns:a16="http://schemas.microsoft.com/office/drawing/2014/main" id="{4B51E1F3-950D-4EA1-8A52-868E777343A9}"/>
                </a:ext>
              </a:extLst>
            </p:cNvPr>
            <p:cNvSpPr txBox="1">
              <a:spLocks noChangeArrowheads="1"/>
            </p:cNvSpPr>
            <p:nvPr/>
          </p:nvSpPr>
          <p:spPr bwMode="auto">
            <a:xfrm>
              <a:off x="1746" y="1056"/>
              <a:ext cx="5258"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对总体</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：样本的联合分布函数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1800" dirty="0">
                  <a:solidFill>
                    <a:srgbClr val="1F4B70"/>
                  </a:solidFill>
                  <a:latin typeface="Symbol" panose="05050102010706020507" pitchFamily="18" charset="2"/>
                  <a:ea typeface="微软雅黑" panose="020B0503020204020204" pitchFamily="34" charset="-122"/>
                  <a:cs typeface="Times New Roman" panose="02020603050405020304" pitchFamily="18" charset="0"/>
                </a:rPr>
                <a:t>P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4" name="Text Box 14">
              <a:extLst>
                <a:ext uri="{FF2B5EF4-FFF2-40B4-BE49-F238E27FC236}">
                  <a16:creationId xmlns:a16="http://schemas.microsoft.com/office/drawing/2014/main" id="{52F3BBBB-B93B-4758-9F42-956469A8C92D}"/>
                </a:ext>
              </a:extLst>
            </p:cNvPr>
            <p:cNvSpPr txBox="1">
              <a:spLocks noChangeArrowheads="1"/>
            </p:cNvSpPr>
            <p:nvPr/>
          </p:nvSpPr>
          <p:spPr bwMode="auto">
            <a:xfrm>
              <a:off x="6198" y="1194"/>
              <a:ext cx="34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45" name="Text Box 15">
              <a:extLst>
                <a:ext uri="{FF2B5EF4-FFF2-40B4-BE49-F238E27FC236}">
                  <a16:creationId xmlns:a16="http://schemas.microsoft.com/office/drawing/2014/main" id="{C6335CF1-F562-4CC6-82CD-3785284DBA26}"/>
                </a:ext>
              </a:extLst>
            </p:cNvPr>
            <p:cNvSpPr txBox="1">
              <a:spLocks noChangeArrowheads="1"/>
            </p:cNvSpPr>
            <p:nvPr/>
          </p:nvSpPr>
          <p:spPr bwMode="auto">
            <a:xfrm>
              <a:off x="6249" y="1025"/>
              <a:ext cx="233"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endParaRPr kumimoji="1" lang="en-US" altLang="zh-CN" sz="18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6" name="组合 15"/>
          <p:cNvGrpSpPr/>
          <p:nvPr/>
        </p:nvGrpSpPr>
        <p:grpSpPr>
          <a:xfrm>
            <a:off x="1619672" y="2323096"/>
            <a:ext cx="5631437" cy="474764"/>
            <a:chOff x="1613514" y="2355729"/>
            <a:chExt cx="5631437" cy="474764"/>
          </a:xfrm>
        </p:grpSpPr>
        <p:sp>
          <p:nvSpPr>
            <p:cNvPr id="33" name="Text Box 5">
              <a:extLst>
                <a:ext uri="{FF2B5EF4-FFF2-40B4-BE49-F238E27FC236}">
                  <a16:creationId xmlns:a16="http://schemas.microsoft.com/office/drawing/2014/main" id="{BBFD1DF1-479D-419C-AE8F-566B1EC059D4}"/>
                </a:ext>
              </a:extLst>
            </p:cNvPr>
            <p:cNvSpPr txBox="1">
              <a:spLocks noChangeArrowheads="1"/>
            </p:cNvSpPr>
            <p:nvPr/>
          </p:nvSpPr>
          <p:spPr bwMode="auto">
            <a:xfrm>
              <a:off x="1613514" y="2425599"/>
              <a:ext cx="16415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对离散型总体：</a:t>
              </a:r>
            </a:p>
          </p:txBody>
        </p:sp>
        <p:grpSp>
          <p:nvGrpSpPr>
            <p:cNvPr id="46" name="Group 16">
              <a:extLst>
                <a:ext uri="{FF2B5EF4-FFF2-40B4-BE49-F238E27FC236}">
                  <a16:creationId xmlns:a16="http://schemas.microsoft.com/office/drawing/2014/main" id="{8ACB55B0-1726-4A62-9F3A-282E4B7CE1AB}"/>
                </a:ext>
              </a:extLst>
            </p:cNvPr>
            <p:cNvGrpSpPr>
              <a:grpSpLocks/>
            </p:cNvGrpSpPr>
            <p:nvPr/>
          </p:nvGrpSpPr>
          <p:grpSpPr bwMode="auto">
            <a:xfrm>
              <a:off x="3131840" y="2355729"/>
              <a:ext cx="4113111" cy="474764"/>
              <a:chOff x="2083" y="1445"/>
              <a:chExt cx="3656" cy="422"/>
            </a:xfrm>
          </p:grpSpPr>
          <p:sp>
            <p:nvSpPr>
              <p:cNvPr id="47" name="Text Box 17">
                <a:extLst>
                  <a:ext uri="{FF2B5EF4-FFF2-40B4-BE49-F238E27FC236}">
                    <a16:creationId xmlns:a16="http://schemas.microsoft.com/office/drawing/2014/main" id="{503F501B-26D7-4F66-9205-3479A7C34880}"/>
                  </a:ext>
                </a:extLst>
              </p:cNvPr>
              <p:cNvSpPr txBox="1">
                <a:spLocks noChangeArrowheads="1"/>
              </p:cNvSpPr>
              <p:nvPr/>
            </p:nvSpPr>
            <p:spPr bwMode="auto">
              <a:xfrm>
                <a:off x="2083" y="1488"/>
                <a:ext cx="3656"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1800" dirty="0">
                    <a:solidFill>
                      <a:srgbClr val="1F4B70"/>
                    </a:solidFill>
                    <a:latin typeface="Symbol" panose="05050102010706020507" pitchFamily="18" charset="2"/>
                    <a:ea typeface="微软雅黑" panose="020B0503020204020204" pitchFamily="34" charset="-122"/>
                    <a:cs typeface="Times New Roman" panose="02020603050405020304" pitchFamily="18" charset="0"/>
                  </a:rPr>
                  <a:t>P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P(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8" name="Text Box 18">
                <a:extLst>
                  <a:ext uri="{FF2B5EF4-FFF2-40B4-BE49-F238E27FC236}">
                    <a16:creationId xmlns:a16="http://schemas.microsoft.com/office/drawing/2014/main" id="{16C76113-92AA-4684-9DB3-3FF586CFE988}"/>
                  </a:ext>
                </a:extLst>
              </p:cNvPr>
              <p:cNvSpPr txBox="1">
                <a:spLocks noChangeArrowheads="1"/>
              </p:cNvSpPr>
              <p:nvPr/>
            </p:nvSpPr>
            <p:spPr bwMode="auto">
              <a:xfrm>
                <a:off x="4595" y="1621"/>
                <a:ext cx="34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49" name="Text Box 19">
                <a:extLst>
                  <a:ext uri="{FF2B5EF4-FFF2-40B4-BE49-F238E27FC236}">
                    <a16:creationId xmlns:a16="http://schemas.microsoft.com/office/drawing/2014/main" id="{D0494A2F-3DA3-4DFF-9400-B190D55E4D24}"/>
                  </a:ext>
                </a:extLst>
              </p:cNvPr>
              <p:cNvSpPr txBox="1">
                <a:spLocks noChangeArrowheads="1"/>
              </p:cNvSpPr>
              <p:nvPr/>
            </p:nvSpPr>
            <p:spPr bwMode="auto">
              <a:xfrm>
                <a:off x="4634" y="1445"/>
                <a:ext cx="233"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endParaRPr kumimoji="1" lang="en-US" altLang="zh-CN" sz="18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grpSp>
        <p:nvGrpSpPr>
          <p:cNvPr id="17" name="组合 16"/>
          <p:cNvGrpSpPr/>
          <p:nvPr/>
        </p:nvGrpSpPr>
        <p:grpSpPr>
          <a:xfrm>
            <a:off x="539552" y="2227411"/>
            <a:ext cx="7128792" cy="920403"/>
            <a:chOff x="539552" y="2155403"/>
            <a:chExt cx="7128792" cy="920403"/>
          </a:xfrm>
        </p:grpSpPr>
        <p:sp>
          <p:nvSpPr>
            <p:cNvPr id="123" name="Freeform 7">
              <a:extLst>
                <a:ext uri="{FF2B5EF4-FFF2-40B4-BE49-F238E27FC236}">
                  <a16:creationId xmlns:a16="http://schemas.microsoft.com/office/drawing/2014/main" id="{E24960F7-DACD-45BA-ABAF-8B4C3DACC029}"/>
                </a:ext>
              </a:extLst>
            </p:cNvPr>
            <p:cNvSpPr>
              <a:spLocks/>
            </p:cNvSpPr>
            <p:nvPr/>
          </p:nvSpPr>
          <p:spPr bwMode="auto">
            <a:xfrm>
              <a:off x="539552" y="2434323"/>
              <a:ext cx="720080" cy="641483"/>
            </a:xfrm>
            <a:custGeom>
              <a:avLst/>
              <a:gdLst>
                <a:gd name="T0" fmla="*/ 593 w 593"/>
                <a:gd name="T1" fmla="*/ 248 h 545"/>
                <a:gd name="T2" fmla="*/ 295 w 593"/>
                <a:gd name="T3" fmla="*/ 545 h 545"/>
                <a:gd name="T4" fmla="*/ 0 w 593"/>
                <a:gd name="T5" fmla="*/ 248 h 545"/>
                <a:gd name="T6" fmla="*/ 0 w 593"/>
                <a:gd name="T7" fmla="*/ 0 h 545"/>
                <a:gd name="T8" fmla="*/ 295 w 593"/>
                <a:gd name="T9" fmla="*/ 297 h 545"/>
                <a:gd name="T10" fmla="*/ 593 w 593"/>
                <a:gd name="T11" fmla="*/ 0 h 545"/>
                <a:gd name="T12" fmla="*/ 593 w 593"/>
                <a:gd name="T13" fmla="*/ 248 h 545"/>
              </a:gdLst>
              <a:ahLst/>
              <a:cxnLst>
                <a:cxn ang="0">
                  <a:pos x="T0" y="T1"/>
                </a:cxn>
                <a:cxn ang="0">
                  <a:pos x="T2" y="T3"/>
                </a:cxn>
                <a:cxn ang="0">
                  <a:pos x="T4" y="T5"/>
                </a:cxn>
                <a:cxn ang="0">
                  <a:pos x="T6" y="T7"/>
                </a:cxn>
                <a:cxn ang="0">
                  <a:pos x="T8" y="T9"/>
                </a:cxn>
                <a:cxn ang="0">
                  <a:pos x="T10" y="T11"/>
                </a:cxn>
                <a:cxn ang="0">
                  <a:pos x="T12" y="T13"/>
                </a:cxn>
              </a:cxnLst>
              <a:rect l="0" t="0" r="r" b="b"/>
              <a:pathLst>
                <a:path w="593" h="545">
                  <a:moveTo>
                    <a:pt x="593" y="248"/>
                  </a:moveTo>
                  <a:lnTo>
                    <a:pt x="295" y="545"/>
                  </a:lnTo>
                  <a:lnTo>
                    <a:pt x="0" y="248"/>
                  </a:lnTo>
                  <a:lnTo>
                    <a:pt x="0" y="0"/>
                  </a:lnTo>
                  <a:lnTo>
                    <a:pt x="295" y="297"/>
                  </a:lnTo>
                  <a:lnTo>
                    <a:pt x="593" y="0"/>
                  </a:lnTo>
                  <a:lnTo>
                    <a:pt x="593" y="248"/>
                  </a:lnTo>
                  <a:close/>
                </a:path>
              </a:pathLst>
            </a:custGeom>
            <a:solidFill>
              <a:srgbClr val="E88D22"/>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800">
                <a:solidFill>
                  <a:srgbClr val="FEFABC"/>
                </a:solidFill>
                <a:latin typeface="Bebas" pitchFamily="2" charset="0"/>
                <a:ea typeface="微软雅黑" panose="020B0503020204020204" pitchFamily="34" charset="-122"/>
                <a:sym typeface="Bebas" pitchFamily="2" charset="0"/>
              </a:endParaRPr>
            </a:p>
          </p:txBody>
        </p:sp>
        <p:cxnSp>
          <p:nvCxnSpPr>
            <p:cNvPr id="131" name="直接箭头连接符 130">
              <a:extLst>
                <a:ext uri="{FF2B5EF4-FFF2-40B4-BE49-F238E27FC236}">
                  <a16:creationId xmlns:a16="http://schemas.microsoft.com/office/drawing/2014/main" id="{8DBB3EF3-F647-4F27-8F02-BFEABB6BE9B8}"/>
                </a:ext>
              </a:extLst>
            </p:cNvPr>
            <p:cNvCxnSpPr>
              <a:cxnSpLocks/>
            </p:cNvCxnSpPr>
            <p:nvPr/>
          </p:nvCxnSpPr>
          <p:spPr>
            <a:xfrm>
              <a:off x="1247729" y="2733350"/>
              <a:ext cx="6420615" cy="1"/>
            </a:xfrm>
            <a:prstGeom prst="straightConnector1">
              <a:avLst/>
            </a:prstGeom>
            <a:ln>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697782" y="2155403"/>
              <a:ext cx="432048" cy="372387"/>
              <a:chOff x="1835696" y="3831926"/>
              <a:chExt cx="432048" cy="324000"/>
            </a:xfrm>
          </p:grpSpPr>
          <p:cxnSp>
            <p:nvCxnSpPr>
              <p:cNvPr id="10" name="直接连接符 9"/>
              <p:cNvCxnSpPr/>
              <p:nvPr/>
            </p:nvCxnSpPr>
            <p:spPr>
              <a:xfrm>
                <a:off x="1979712" y="3831926"/>
                <a:ext cx="0" cy="324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2060512" y="3939926"/>
                <a:ext cx="0" cy="216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140904" y="4011926"/>
                <a:ext cx="0" cy="144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195736" y="4047926"/>
                <a:ext cx="0" cy="108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2267744" y="4083926"/>
                <a:ext cx="0" cy="72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907704" y="3975926"/>
                <a:ext cx="0" cy="180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835696" y="4083926"/>
                <a:ext cx="0" cy="72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grpSp>
      </p:grpSp>
      <p:sp>
        <p:nvSpPr>
          <p:cNvPr id="50" name="Text Box 7">
            <a:extLst>
              <a:ext uri="{FF2B5EF4-FFF2-40B4-BE49-F238E27FC236}">
                <a16:creationId xmlns:a16="http://schemas.microsoft.com/office/drawing/2014/main" id="{00FAFA77-E2F6-4D48-A7FA-00E5F991A4DF}"/>
              </a:ext>
            </a:extLst>
          </p:cNvPr>
          <p:cNvSpPr txBox="1">
            <a:spLocks noChangeArrowheads="1"/>
          </p:cNvSpPr>
          <p:nvPr/>
        </p:nvSpPr>
        <p:spPr bwMode="auto">
          <a:xfrm>
            <a:off x="1331640" y="3003798"/>
            <a:ext cx="62069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如：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为取自总体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B</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的样本，则其联合分布律 </a:t>
            </a:r>
          </a:p>
        </p:txBody>
      </p:sp>
      <p:sp>
        <p:nvSpPr>
          <p:cNvPr id="51" name="Text Box 21">
            <a:extLst>
              <a:ext uri="{FF2B5EF4-FFF2-40B4-BE49-F238E27FC236}">
                <a16:creationId xmlns:a16="http://schemas.microsoft.com/office/drawing/2014/main" id="{B7F04859-EA5D-404D-9BC9-566A50F9EBBF}"/>
              </a:ext>
            </a:extLst>
          </p:cNvPr>
          <p:cNvSpPr txBox="1">
            <a:spLocks noChangeArrowheads="1"/>
          </p:cNvSpPr>
          <p:nvPr/>
        </p:nvSpPr>
        <p:spPr bwMode="auto">
          <a:xfrm>
            <a:off x="1331640" y="3507854"/>
            <a:ext cx="29674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P(</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 </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panose="02020603050405020304" pitchFamily="18" charset="0"/>
                <a:ea typeface="宋体"/>
                <a:cs typeface="Times New Roman" panose="02020603050405020304" pitchFamily="18" charset="0"/>
              </a:rPr>
              <a:t>∙∙∙</a:t>
            </a:r>
            <a:r>
              <a:rPr kumimoji="1" lang="en-US" altLang="zh-CN" sz="1800" dirty="0">
                <a:solidFill>
                  <a:srgbClr val="1F4B70"/>
                </a:solidFill>
                <a:latin typeface="Times New Roman" panose="02020603050405020304" pitchFamily="18" charset="0"/>
              </a:rPr>
              <a:t>,</a:t>
            </a:r>
            <a:r>
              <a:rPr kumimoji="1" lang="en-US" altLang="zh-CN" sz="1800" b="1"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dirty="0">
                <a:solidFill>
                  <a:srgbClr val="1F4B70"/>
                </a:solidFill>
                <a:latin typeface="Times New Roman" panose="02020603050405020304" pitchFamily="18" charset="0"/>
              </a:rPr>
              <a:t>) =</a:t>
            </a:r>
            <a:endParaRPr kumimoji="1" lang="en-US" altLang="zh-CN" sz="1800" i="1" baseline="24000" dirty="0">
              <a:solidFill>
                <a:srgbClr val="1F4B70"/>
              </a:solidFill>
              <a:latin typeface="Times New Roman" panose="02020603050405020304" pitchFamily="18" charset="0"/>
            </a:endParaRPr>
          </a:p>
        </p:txBody>
      </p:sp>
      <p:grpSp>
        <p:nvGrpSpPr>
          <p:cNvPr id="19" name="组合 18"/>
          <p:cNvGrpSpPr/>
          <p:nvPr/>
        </p:nvGrpSpPr>
        <p:grpSpPr>
          <a:xfrm>
            <a:off x="4139952" y="3498562"/>
            <a:ext cx="1413788" cy="400078"/>
            <a:chOff x="4139952" y="3498562"/>
            <a:chExt cx="1413788" cy="400078"/>
          </a:xfrm>
        </p:grpSpPr>
        <p:grpSp>
          <p:nvGrpSpPr>
            <p:cNvPr id="52" name="组合 51">
              <a:extLst>
                <a:ext uri="{FF2B5EF4-FFF2-40B4-BE49-F238E27FC236}">
                  <a16:creationId xmlns:a16="http://schemas.microsoft.com/office/drawing/2014/main" id="{36227A59-5483-47A7-A861-83A1C5735D8A}"/>
                </a:ext>
              </a:extLst>
            </p:cNvPr>
            <p:cNvGrpSpPr/>
            <p:nvPr/>
          </p:nvGrpSpPr>
          <p:grpSpPr>
            <a:xfrm>
              <a:off x="4139952" y="3507854"/>
              <a:ext cx="348172" cy="390786"/>
              <a:chOff x="8272056" y="1187140"/>
              <a:chExt cx="491296" cy="551428"/>
            </a:xfrm>
          </p:grpSpPr>
          <p:sp>
            <p:nvSpPr>
              <p:cNvPr id="53" name="Text Box 22">
                <a:extLst>
                  <a:ext uri="{FF2B5EF4-FFF2-40B4-BE49-F238E27FC236}">
                    <a16:creationId xmlns:a16="http://schemas.microsoft.com/office/drawing/2014/main" id="{FD3A89F4-3CE3-47EE-B1CA-07C5FDE2B8C2}"/>
                  </a:ext>
                </a:extLst>
              </p:cNvPr>
              <p:cNvSpPr txBox="1">
                <a:spLocks noChangeArrowheads="1"/>
              </p:cNvSpPr>
              <p:nvPr/>
            </p:nvSpPr>
            <p:spPr bwMode="auto">
              <a:xfrm>
                <a:off x="8272056" y="1403164"/>
                <a:ext cx="491296" cy="335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17" i="1" baseline="-25000" dirty="0" err="1">
                    <a:solidFill>
                      <a:srgbClr val="1F4B70"/>
                    </a:solidFill>
                    <a:latin typeface="Times New Roman" panose="02020603050405020304" pitchFamily="18" charset="0"/>
                  </a:rPr>
                  <a:t>i</a:t>
                </a:r>
                <a:r>
                  <a:rPr kumimoji="1" lang="en-US" altLang="zh-CN" sz="1417" baseline="-25000" dirty="0">
                    <a:solidFill>
                      <a:srgbClr val="1F4B70"/>
                    </a:solidFill>
                    <a:latin typeface="Times New Roman" panose="02020603050405020304" pitchFamily="18" charset="0"/>
                  </a:rPr>
                  <a:t>=1</a:t>
                </a:r>
              </a:p>
            </p:txBody>
          </p:sp>
          <p:sp>
            <p:nvSpPr>
              <p:cNvPr id="54" name="Text Box 23">
                <a:extLst>
                  <a:ext uri="{FF2B5EF4-FFF2-40B4-BE49-F238E27FC236}">
                    <a16:creationId xmlns:a16="http://schemas.microsoft.com/office/drawing/2014/main" id="{CDEFF931-AA82-4ECE-8558-21E904A98D24}"/>
                  </a:ext>
                </a:extLst>
              </p:cNvPr>
              <p:cNvSpPr txBox="1">
                <a:spLocks noChangeArrowheads="1"/>
              </p:cNvSpPr>
              <p:nvPr/>
            </p:nvSpPr>
            <p:spPr bwMode="auto">
              <a:xfrm>
                <a:off x="8350047" y="1187140"/>
                <a:ext cx="346531" cy="335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17" i="1" baseline="30000" dirty="0">
                    <a:solidFill>
                      <a:srgbClr val="1F4B70"/>
                    </a:solidFill>
                    <a:latin typeface="Times New Roman" panose="02020603050405020304" pitchFamily="18" charset="0"/>
                  </a:rPr>
                  <a:t>n</a:t>
                </a:r>
                <a:endParaRPr kumimoji="1" lang="en-US" altLang="zh-CN" sz="1417" baseline="30000" dirty="0">
                  <a:solidFill>
                    <a:srgbClr val="1F4B70"/>
                  </a:solidFill>
                  <a:latin typeface="Times New Roman" panose="02020603050405020304" pitchFamily="18" charset="0"/>
                </a:endParaRPr>
              </a:p>
            </p:txBody>
          </p:sp>
          <p:sp>
            <p:nvSpPr>
              <p:cNvPr id="55" name="矩形 54">
                <a:extLst>
                  <a:ext uri="{FF2B5EF4-FFF2-40B4-BE49-F238E27FC236}">
                    <a16:creationId xmlns:a16="http://schemas.microsoft.com/office/drawing/2014/main" id="{F2DA13FA-0E88-45E1-82C2-D04A1E156591}"/>
                  </a:ext>
                </a:extLst>
              </p:cNvPr>
              <p:cNvSpPr/>
              <p:nvPr/>
            </p:nvSpPr>
            <p:spPr>
              <a:xfrm>
                <a:off x="8281989" y="1239142"/>
                <a:ext cx="457368" cy="438006"/>
              </a:xfrm>
              <a:prstGeom prst="rect">
                <a:avLst/>
              </a:prstGeom>
            </p:spPr>
            <p:txBody>
              <a:bodyPr wrap="none">
                <a:spAutoFit/>
              </a:bodyPr>
              <a:lstStyle/>
              <a:p>
                <a:r>
                  <a:rPr kumimoji="1" lang="en-US" altLang="zh-CN" sz="1417" dirty="0">
                    <a:solidFill>
                      <a:srgbClr val="1F4B70"/>
                    </a:solidFill>
                    <a:latin typeface="Symbol" panose="05050102010706020507" pitchFamily="18" charset="2"/>
                  </a:rPr>
                  <a:t>P</a:t>
                </a:r>
                <a:endParaRPr lang="zh-CN" altLang="en-US" sz="1417" dirty="0">
                  <a:solidFill>
                    <a:srgbClr val="1F4B70"/>
                  </a:solidFill>
                </a:endParaRPr>
              </a:p>
            </p:txBody>
          </p:sp>
        </p:grpSp>
        <p:sp>
          <p:nvSpPr>
            <p:cNvPr id="56" name="矩形 55">
              <a:extLst>
                <a:ext uri="{FF2B5EF4-FFF2-40B4-BE49-F238E27FC236}">
                  <a16:creationId xmlns:a16="http://schemas.microsoft.com/office/drawing/2014/main" id="{DE5EC152-BE0B-4A56-B960-3955830CB677}"/>
                </a:ext>
              </a:extLst>
            </p:cNvPr>
            <p:cNvSpPr/>
            <p:nvPr/>
          </p:nvSpPr>
          <p:spPr>
            <a:xfrm>
              <a:off x="4355976" y="3498562"/>
              <a:ext cx="1197764" cy="369332"/>
            </a:xfrm>
            <a:prstGeom prst="rect">
              <a:avLst/>
            </a:prstGeom>
          </p:spPr>
          <p:txBody>
            <a:bodyPr wrap="none">
              <a:spAutoFit/>
            </a:bodyPr>
            <a:lstStyle/>
            <a:p>
              <a:pPr lvl="0" eaLnBrk="1" hangingPunct="1"/>
              <a:r>
                <a:rPr kumimoji="1" lang="en-US" altLang="zh-CN" i="1" dirty="0" err="1">
                  <a:solidFill>
                    <a:srgbClr val="1F4B70"/>
                  </a:solidFill>
                  <a:latin typeface="Times New Roman" panose="02020603050405020304" pitchFamily="18" charset="0"/>
                </a:rPr>
                <a:t>p</a:t>
              </a:r>
              <a:r>
                <a:rPr kumimoji="1" lang="en-US" altLang="zh-CN" i="1" baseline="38000" dirty="0" err="1">
                  <a:solidFill>
                    <a:srgbClr val="1F4B70"/>
                  </a:solidFill>
                  <a:latin typeface="Times New Roman" panose="02020603050405020304" pitchFamily="18" charset="0"/>
                </a:rPr>
                <a:t>x</a:t>
              </a:r>
              <a:r>
                <a:rPr kumimoji="1" lang="en-US" altLang="zh-CN" sz="1400" i="1" baseline="30000" dirty="0" err="1">
                  <a:solidFill>
                    <a:srgbClr val="1F4B70"/>
                  </a:solidFill>
                  <a:latin typeface="Times New Roman" panose="02020603050405020304" pitchFamily="18" charset="0"/>
                </a:rPr>
                <a:t>i</a:t>
              </a:r>
              <a:r>
                <a:rPr kumimoji="1" lang="en-US" altLang="zh-CN" dirty="0">
                  <a:solidFill>
                    <a:srgbClr val="1F4B70"/>
                  </a:solidFill>
                  <a:latin typeface="Times New Roman" panose="02020603050405020304" pitchFamily="18" charset="0"/>
                </a:rPr>
                <a:t>(1</a:t>
              </a:r>
              <a:r>
                <a:rPr kumimoji="1" lang="en-US" altLang="zh-CN" dirty="0">
                  <a:solidFill>
                    <a:srgbClr val="1F4B70"/>
                  </a:solidFill>
                  <a:latin typeface="Symbol" panose="05050102010706020507" pitchFamily="18" charset="2"/>
                </a:rPr>
                <a:t>-</a:t>
              </a:r>
              <a:r>
                <a:rPr kumimoji="1" lang="en-US" altLang="zh-CN" i="1" dirty="0">
                  <a:solidFill>
                    <a:srgbClr val="1F4B70"/>
                  </a:solidFill>
                  <a:latin typeface="Times New Roman" panose="02020603050405020304" pitchFamily="18" charset="0"/>
                </a:rPr>
                <a:t>p</a:t>
              </a:r>
              <a:r>
                <a:rPr kumimoji="1" lang="en-US" altLang="zh-CN" dirty="0">
                  <a:solidFill>
                    <a:srgbClr val="1F4B70"/>
                  </a:solidFill>
                  <a:latin typeface="Times New Roman" panose="02020603050405020304" pitchFamily="18" charset="0"/>
                </a:rPr>
                <a:t>)</a:t>
              </a:r>
              <a:r>
                <a:rPr kumimoji="1" lang="en-US" altLang="zh-CN" baseline="38000" dirty="0">
                  <a:solidFill>
                    <a:srgbClr val="1F4B70"/>
                  </a:solidFill>
                  <a:latin typeface="Times New Roman" panose="02020603050405020304" pitchFamily="18" charset="0"/>
                </a:rPr>
                <a:t>1</a:t>
              </a:r>
              <a:r>
                <a:rPr kumimoji="1" lang="en-US" altLang="zh-CN" baseline="38000" dirty="0">
                  <a:solidFill>
                    <a:srgbClr val="1F4B70"/>
                  </a:solidFill>
                  <a:latin typeface="Symbol" panose="05050102010706020507" pitchFamily="18" charset="2"/>
                </a:rPr>
                <a:t>-</a:t>
              </a:r>
              <a:r>
                <a:rPr kumimoji="1" lang="en-US" altLang="zh-CN" i="1" baseline="38000" dirty="0">
                  <a:solidFill>
                    <a:srgbClr val="1F4B70"/>
                  </a:solidFill>
                  <a:latin typeface="Times New Roman" panose="02020603050405020304" pitchFamily="18" charset="0"/>
                </a:rPr>
                <a:t>x</a:t>
              </a:r>
              <a:r>
                <a:rPr kumimoji="1" lang="en-US" altLang="zh-CN" sz="1400" i="1" baseline="30000" dirty="0">
                  <a:solidFill>
                    <a:srgbClr val="1F4B70"/>
                  </a:solidFill>
                  <a:latin typeface="Times New Roman" panose="02020603050405020304" pitchFamily="18" charset="0"/>
                </a:rPr>
                <a:t>i</a:t>
              </a:r>
              <a:endParaRPr kumimoji="1" lang="en-US" altLang="zh-CN" i="1" baseline="30000" dirty="0">
                <a:solidFill>
                  <a:srgbClr val="1F4B70"/>
                </a:solidFill>
                <a:latin typeface="Times New Roman" panose="02020603050405020304" pitchFamily="18" charset="0"/>
              </a:endParaRPr>
            </a:p>
          </p:txBody>
        </p:sp>
      </p:grpSp>
      <p:grpSp>
        <p:nvGrpSpPr>
          <p:cNvPr id="2" name="组合 1">
            <a:extLst>
              <a:ext uri="{FF2B5EF4-FFF2-40B4-BE49-F238E27FC236}">
                <a16:creationId xmlns:a16="http://schemas.microsoft.com/office/drawing/2014/main" id="{45219C0E-572A-4983-AAF0-EFDA717F4A28}"/>
              </a:ext>
            </a:extLst>
          </p:cNvPr>
          <p:cNvGrpSpPr/>
          <p:nvPr/>
        </p:nvGrpSpPr>
        <p:grpSpPr>
          <a:xfrm>
            <a:off x="5443438" y="3372113"/>
            <a:ext cx="1678994" cy="495763"/>
            <a:chOff x="6118901" y="1756526"/>
            <a:chExt cx="1678994" cy="495763"/>
          </a:xfrm>
        </p:grpSpPr>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C8BB7621-9661-4443-9DFC-6F76504D05D5}"/>
                    </a:ext>
                  </a:extLst>
                </p:cNvPr>
                <p:cNvSpPr txBox="1"/>
                <p:nvPr/>
              </p:nvSpPr>
              <p:spPr>
                <a:xfrm>
                  <a:off x="6357809" y="1756526"/>
                  <a:ext cx="657039" cy="3361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800" i="1" smtClean="0">
                                <a:solidFill>
                                  <a:srgbClr val="1F4B70"/>
                                </a:solidFill>
                                <a:latin typeface="Cambria Math" panose="02040503050406030204" pitchFamily="18" charset="0"/>
                                <a:ea typeface="微软雅黑" panose="020B0503020204020204" pitchFamily="34" charset="-122"/>
                              </a:rPr>
                            </m:ctrlPr>
                          </m:naryPr>
                          <m:sub>
                            <m:r>
                              <m:rPr>
                                <m:brk m:alnAt="23"/>
                              </m:rPr>
                              <a:rPr lang="en-US" altLang="zh-CN" sz="800" b="0" i="1" smtClean="0">
                                <a:solidFill>
                                  <a:srgbClr val="1F4B70"/>
                                </a:solidFill>
                                <a:latin typeface="Cambria Math" panose="02040503050406030204" pitchFamily="18" charset="0"/>
                                <a:ea typeface="微软雅黑" panose="020B0503020204020204" pitchFamily="34" charset="-122"/>
                              </a:rPr>
                              <m:t>𝑖</m:t>
                            </m:r>
                            <m:r>
                              <a:rPr lang="en-US" altLang="zh-CN" sz="800" b="0" i="1" smtClean="0">
                                <a:solidFill>
                                  <a:srgbClr val="1F4B70"/>
                                </a:solidFill>
                                <a:latin typeface="Cambria Math" panose="02040503050406030204" pitchFamily="18" charset="0"/>
                                <a:ea typeface="微软雅黑" panose="020B0503020204020204" pitchFamily="34" charset="-122"/>
                              </a:rPr>
                              <m:t>=1</m:t>
                            </m:r>
                          </m:sub>
                          <m:sup>
                            <m:r>
                              <a:rPr lang="en-US" altLang="zh-CN" sz="800" b="0" i="1" smtClean="0">
                                <a:solidFill>
                                  <a:srgbClr val="1F4B70"/>
                                </a:solidFill>
                                <a:latin typeface="Cambria Math" panose="02040503050406030204" pitchFamily="18" charset="0"/>
                                <a:ea typeface="微软雅黑" panose="020B0503020204020204" pitchFamily="34" charset="-122"/>
                              </a:rPr>
                              <m:t>𝑛</m:t>
                            </m:r>
                          </m:sup>
                          <m:e>
                            <m:r>
                              <a:rPr lang="en-US" altLang="zh-CN" sz="800" b="0" i="1" smtClean="0">
                                <a:solidFill>
                                  <a:srgbClr val="1F4B70"/>
                                </a:solidFill>
                                <a:latin typeface="Cambria Math" panose="02040503050406030204" pitchFamily="18" charset="0"/>
                                <a:ea typeface="微软雅黑" panose="020B0503020204020204" pitchFamily="34" charset="-122"/>
                              </a:rPr>
                              <m:t>𝑥</m:t>
                            </m:r>
                            <m:r>
                              <a:rPr lang="en-US" altLang="zh-CN" sz="800" b="0" i="1" baseline="-25000" smtClean="0">
                                <a:solidFill>
                                  <a:srgbClr val="1F4B70"/>
                                </a:solidFill>
                                <a:latin typeface="Cambria Math" panose="02040503050406030204" pitchFamily="18" charset="0"/>
                                <a:ea typeface="微软雅黑" panose="020B0503020204020204" pitchFamily="34" charset="-122"/>
                              </a:rPr>
                              <m:t>𝑖</m:t>
                            </m:r>
                          </m:e>
                        </m:nary>
                      </m:oMath>
                    </m:oMathPara>
                  </a14:m>
                  <a:endParaRPr lang="zh-CN" altLang="en-US" sz="7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34" name="文本框 33">
                  <a:extLst>
                    <a:ext uri="{FF2B5EF4-FFF2-40B4-BE49-F238E27FC236}">
                      <a16:creationId xmlns:a16="http://schemas.microsoft.com/office/drawing/2014/main" id="{C8BB7621-9661-4443-9DFC-6F76504D05D5}"/>
                    </a:ext>
                  </a:extLst>
                </p:cNvPr>
                <p:cNvSpPr txBox="1">
                  <a:spLocks noRot="1" noChangeAspect="1" noMove="1" noResize="1" noEditPoints="1" noAdjustHandles="1" noChangeArrowheads="1" noChangeShapeType="1" noTextEdit="1"/>
                </p:cNvSpPr>
                <p:nvPr/>
              </p:nvSpPr>
              <p:spPr>
                <a:xfrm>
                  <a:off x="6357809" y="1756526"/>
                  <a:ext cx="657039" cy="336182"/>
                </a:xfrm>
                <a:prstGeom prst="rect">
                  <a:avLst/>
                </a:prstGeom>
                <a:blipFill>
                  <a:blip r:embed="rId3"/>
                  <a:stretch>
                    <a:fillRect l="-26852" t="-123636" r="-70370" b="-185455"/>
                  </a:stretch>
                </a:blipFill>
              </p:spPr>
              <p:txBody>
                <a:bodyPr/>
                <a:lstStyle/>
                <a:p>
                  <a:r>
                    <a:rPr lang="zh-CN" altLang="en-US">
                      <a:noFill/>
                    </a:rPr>
                    <a:t> </a:t>
                  </a:r>
                </a:p>
              </p:txBody>
            </p:sp>
          </mc:Fallback>
        </mc:AlternateContent>
        <p:sp>
          <p:nvSpPr>
            <p:cNvPr id="43" name="矩形 42">
              <a:extLst>
                <a:ext uri="{FF2B5EF4-FFF2-40B4-BE49-F238E27FC236}">
                  <a16:creationId xmlns:a16="http://schemas.microsoft.com/office/drawing/2014/main" id="{1BCBBF20-1BE4-438C-B490-AC64AE95E364}"/>
                </a:ext>
              </a:extLst>
            </p:cNvPr>
            <p:cNvSpPr/>
            <p:nvPr/>
          </p:nvSpPr>
          <p:spPr>
            <a:xfrm>
              <a:off x="6118901" y="1882957"/>
              <a:ext cx="1205779" cy="369332"/>
            </a:xfrm>
            <a:prstGeom prst="rect">
              <a:avLst/>
            </a:prstGeom>
          </p:spPr>
          <p:txBody>
            <a:bodyPr wrap="none">
              <a:spAutoFit/>
            </a:bodyPr>
            <a:lstStyle/>
            <a:p>
              <a:pPr lvl="0" eaLnBrk="1" hangingPunct="1"/>
              <a:r>
                <a:rPr kumimoji="1" lang="en-US" altLang="zh-CN" i="1" dirty="0">
                  <a:solidFill>
                    <a:srgbClr val="1F4B70"/>
                  </a:solidFill>
                  <a:latin typeface="Times New Roman" panose="02020603050405020304" pitchFamily="18" charset="0"/>
                </a:rPr>
                <a:t>=p     </a:t>
              </a:r>
              <a:r>
                <a:rPr kumimoji="1" lang="en-US" altLang="zh-CN" dirty="0">
                  <a:solidFill>
                    <a:srgbClr val="1F4B70"/>
                  </a:solidFill>
                  <a:latin typeface="Times New Roman" panose="02020603050405020304" pitchFamily="18" charset="0"/>
                </a:rPr>
                <a:t>(1</a:t>
              </a:r>
              <a:r>
                <a:rPr kumimoji="1" lang="en-US" altLang="zh-CN" i="1" dirty="0">
                  <a:solidFill>
                    <a:srgbClr val="1F4B70"/>
                  </a:solidFill>
                  <a:latin typeface="Times New Roman" panose="02020603050405020304" pitchFamily="18" charset="0"/>
                </a:rPr>
                <a:t>-p</a:t>
              </a:r>
              <a:r>
                <a:rPr kumimoji="1" lang="en-US" altLang="zh-CN" dirty="0">
                  <a:solidFill>
                    <a:srgbClr val="1F4B70"/>
                  </a:solidFill>
                  <a:latin typeface="Times New Roman" panose="02020603050405020304" pitchFamily="18" charset="0"/>
                </a:rPr>
                <a:t>)</a:t>
              </a:r>
              <a:endParaRPr kumimoji="1" lang="en-US" altLang="zh-CN" baseline="24000" dirty="0">
                <a:solidFill>
                  <a:srgbClr val="1F4B7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6C26162F-2CCA-4252-A676-14FA2C23FE54}"/>
                    </a:ext>
                  </a:extLst>
                </p:cNvPr>
                <p:cNvSpPr txBox="1"/>
                <p:nvPr/>
              </p:nvSpPr>
              <p:spPr>
                <a:xfrm>
                  <a:off x="7140856" y="1756526"/>
                  <a:ext cx="657039" cy="3361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800" i="1" smtClean="0">
                                <a:solidFill>
                                  <a:srgbClr val="1F4B70"/>
                                </a:solidFill>
                                <a:latin typeface="Cambria Math" panose="02040503050406030204" pitchFamily="18" charset="0"/>
                                <a:ea typeface="微软雅黑" panose="020B0503020204020204" pitchFamily="34" charset="-122"/>
                              </a:rPr>
                            </m:ctrlPr>
                          </m:naryPr>
                          <m:sub>
                            <m:r>
                              <m:rPr>
                                <m:brk m:alnAt="23"/>
                              </m:rPr>
                              <a:rPr lang="en-US" altLang="zh-CN" sz="800" b="0" i="1" smtClean="0">
                                <a:solidFill>
                                  <a:srgbClr val="1F4B70"/>
                                </a:solidFill>
                                <a:latin typeface="Cambria Math" panose="02040503050406030204" pitchFamily="18" charset="0"/>
                                <a:ea typeface="微软雅黑" panose="020B0503020204020204" pitchFamily="34" charset="-122"/>
                              </a:rPr>
                              <m:t>𝑖</m:t>
                            </m:r>
                            <m:r>
                              <a:rPr lang="en-US" altLang="zh-CN" sz="800" b="0" i="1" smtClean="0">
                                <a:solidFill>
                                  <a:srgbClr val="1F4B70"/>
                                </a:solidFill>
                                <a:latin typeface="Cambria Math" panose="02040503050406030204" pitchFamily="18" charset="0"/>
                                <a:ea typeface="微软雅黑" panose="020B0503020204020204" pitchFamily="34" charset="-122"/>
                              </a:rPr>
                              <m:t>=1</m:t>
                            </m:r>
                          </m:sub>
                          <m:sup>
                            <m:r>
                              <a:rPr lang="en-US" altLang="zh-CN" sz="800" b="0" i="1" smtClean="0">
                                <a:solidFill>
                                  <a:srgbClr val="1F4B70"/>
                                </a:solidFill>
                                <a:latin typeface="Cambria Math" panose="02040503050406030204" pitchFamily="18" charset="0"/>
                                <a:ea typeface="微软雅黑" panose="020B0503020204020204" pitchFamily="34" charset="-122"/>
                              </a:rPr>
                              <m:t>𝑛</m:t>
                            </m:r>
                          </m:sup>
                          <m:e>
                            <m:r>
                              <a:rPr lang="en-US" altLang="zh-CN" sz="800" b="0" i="1" smtClean="0">
                                <a:solidFill>
                                  <a:srgbClr val="1F4B70"/>
                                </a:solidFill>
                                <a:latin typeface="Cambria Math" panose="02040503050406030204" pitchFamily="18" charset="0"/>
                                <a:ea typeface="微软雅黑" panose="020B0503020204020204" pitchFamily="34" charset="-122"/>
                              </a:rPr>
                              <m:t>𝑥</m:t>
                            </m:r>
                            <m:r>
                              <a:rPr lang="en-US" altLang="zh-CN" sz="800" b="0" i="1" baseline="-25000" smtClean="0">
                                <a:solidFill>
                                  <a:srgbClr val="1F4B70"/>
                                </a:solidFill>
                                <a:latin typeface="Cambria Math" panose="02040503050406030204" pitchFamily="18" charset="0"/>
                                <a:ea typeface="微软雅黑" panose="020B0503020204020204" pitchFamily="34" charset="-122"/>
                              </a:rPr>
                              <m:t>𝑖</m:t>
                            </m:r>
                          </m:e>
                        </m:nary>
                      </m:oMath>
                    </m:oMathPara>
                  </a14:m>
                  <a:endParaRPr lang="zh-CN" altLang="en-US" sz="7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57" name="文本框 56">
                  <a:extLst>
                    <a:ext uri="{FF2B5EF4-FFF2-40B4-BE49-F238E27FC236}">
                      <a16:creationId xmlns:a16="http://schemas.microsoft.com/office/drawing/2014/main" id="{6C26162F-2CCA-4252-A676-14FA2C23FE54}"/>
                    </a:ext>
                  </a:extLst>
                </p:cNvPr>
                <p:cNvSpPr txBox="1">
                  <a:spLocks noRot="1" noChangeAspect="1" noMove="1" noResize="1" noEditPoints="1" noAdjustHandles="1" noChangeArrowheads="1" noChangeShapeType="1" noTextEdit="1"/>
                </p:cNvSpPr>
                <p:nvPr/>
              </p:nvSpPr>
              <p:spPr>
                <a:xfrm>
                  <a:off x="7140856" y="1756526"/>
                  <a:ext cx="657039" cy="336182"/>
                </a:xfrm>
                <a:prstGeom prst="rect">
                  <a:avLst/>
                </a:prstGeom>
                <a:blipFill>
                  <a:blip r:embed="rId4"/>
                  <a:stretch>
                    <a:fillRect l="-28037" t="-123636" r="-71028" b="-185455"/>
                  </a:stretch>
                </a:blipFill>
              </p:spPr>
              <p:txBody>
                <a:bodyPr/>
                <a:lstStyle/>
                <a:p>
                  <a:r>
                    <a:rPr lang="zh-CN" altLang="en-US">
                      <a:noFill/>
                    </a:rPr>
                    <a:t> </a:t>
                  </a:r>
                </a:p>
              </p:txBody>
            </p:sp>
          </mc:Fallback>
        </mc:AlternateContent>
        <p:sp>
          <p:nvSpPr>
            <p:cNvPr id="58" name="矩形 57">
              <a:extLst>
                <a:ext uri="{FF2B5EF4-FFF2-40B4-BE49-F238E27FC236}">
                  <a16:creationId xmlns:a16="http://schemas.microsoft.com/office/drawing/2014/main" id="{ADEF3F88-0F34-4579-AA29-055B25C37F63}"/>
                </a:ext>
              </a:extLst>
            </p:cNvPr>
            <p:cNvSpPr/>
            <p:nvPr/>
          </p:nvSpPr>
          <p:spPr>
            <a:xfrm>
              <a:off x="7167831" y="1801506"/>
              <a:ext cx="292068" cy="246221"/>
            </a:xfrm>
            <a:prstGeom prst="rect">
              <a:avLst/>
            </a:prstGeom>
          </p:spPr>
          <p:txBody>
            <a:bodyPr wrap="none">
              <a:spAutoFit/>
            </a:bodyPr>
            <a:lstStyle/>
            <a:p>
              <a:pPr lvl="0" eaLnBrk="1" hangingPunct="1"/>
              <a:r>
                <a:rPr kumimoji="1" lang="en-US" altLang="zh-CN" sz="1000" i="1" dirty="0">
                  <a:solidFill>
                    <a:srgbClr val="1F4B70"/>
                  </a:solidFill>
                  <a:latin typeface="Times New Roman" panose="02020603050405020304" pitchFamily="18" charset="0"/>
                </a:rPr>
                <a:t>n-</a:t>
              </a:r>
              <a:endParaRPr kumimoji="1" lang="en-US" altLang="zh-CN" sz="1000" i="1" baseline="24000" dirty="0">
                <a:solidFill>
                  <a:srgbClr val="1F4B70"/>
                </a:solidFill>
                <a:latin typeface="Times New Roman" panose="02020603050405020304" pitchFamily="18" charset="0"/>
              </a:endParaRPr>
            </a:p>
          </p:txBody>
        </p:sp>
      </p:grpSp>
      <p:pic>
        <p:nvPicPr>
          <p:cNvPr id="60" name="图片 59">
            <a:extLst>
              <a:ext uri="{FF2B5EF4-FFF2-40B4-BE49-F238E27FC236}">
                <a16:creationId xmlns:a16="http://schemas.microsoft.com/office/drawing/2014/main" id="{F738A0D6-6203-41C6-A7FE-3622AF762F48}"/>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spTree>
    <p:extLst>
      <p:ext uri="{BB962C8B-B14F-4D97-AF65-F5344CB8AC3E}">
        <p14:creationId xmlns:p14="http://schemas.microsoft.com/office/powerpoint/2010/main" val="2426249348"/>
      </p:ext>
    </p:extLst>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par>
                          <p:cTn id="18" fill="hold">
                            <p:stCondLst>
                              <p:cond delay="500"/>
                            </p:stCondLst>
                            <p:childTnLst>
                              <p:par>
                                <p:cTn id="19" presetID="12" presetClass="entr" presetSubtype="4"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p:tgtEl>
                                          <p:spTgt spid="16"/>
                                        </p:tgtEl>
                                        <p:attrNameLst>
                                          <p:attrName>ppt_y</p:attrName>
                                        </p:attrNameLst>
                                      </p:cBhvr>
                                      <p:tavLst>
                                        <p:tav tm="0">
                                          <p:val>
                                            <p:strVal val="#ppt_y+#ppt_h*1.125000"/>
                                          </p:val>
                                        </p:tav>
                                        <p:tav tm="100000">
                                          <p:val>
                                            <p:strVal val="#ppt_y"/>
                                          </p:val>
                                        </p:tav>
                                      </p:tavLst>
                                    </p:anim>
                                    <p:animEffect transition="in" filter="wipe(up)">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left)">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50" grpId="0"/>
      <p:bldP spid="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39552" y="2927807"/>
            <a:ext cx="7128792" cy="925283"/>
            <a:chOff x="539552" y="3230643"/>
            <a:chExt cx="7128792" cy="925283"/>
          </a:xfrm>
        </p:grpSpPr>
        <p:sp>
          <p:nvSpPr>
            <p:cNvPr id="57" name="Freeform 7">
              <a:extLst>
                <a:ext uri="{FF2B5EF4-FFF2-40B4-BE49-F238E27FC236}">
                  <a16:creationId xmlns:a16="http://schemas.microsoft.com/office/drawing/2014/main" id="{E24960F7-DACD-45BA-ABAF-8B4C3DACC029}"/>
                </a:ext>
              </a:extLst>
            </p:cNvPr>
            <p:cNvSpPr>
              <a:spLocks/>
            </p:cNvSpPr>
            <p:nvPr/>
          </p:nvSpPr>
          <p:spPr bwMode="auto">
            <a:xfrm>
              <a:off x="539552" y="3514443"/>
              <a:ext cx="720080" cy="641483"/>
            </a:xfrm>
            <a:custGeom>
              <a:avLst/>
              <a:gdLst>
                <a:gd name="T0" fmla="*/ 593 w 593"/>
                <a:gd name="T1" fmla="*/ 248 h 545"/>
                <a:gd name="T2" fmla="*/ 295 w 593"/>
                <a:gd name="T3" fmla="*/ 545 h 545"/>
                <a:gd name="T4" fmla="*/ 0 w 593"/>
                <a:gd name="T5" fmla="*/ 248 h 545"/>
                <a:gd name="T6" fmla="*/ 0 w 593"/>
                <a:gd name="T7" fmla="*/ 0 h 545"/>
                <a:gd name="T8" fmla="*/ 295 w 593"/>
                <a:gd name="T9" fmla="*/ 297 h 545"/>
                <a:gd name="T10" fmla="*/ 593 w 593"/>
                <a:gd name="T11" fmla="*/ 0 h 545"/>
                <a:gd name="T12" fmla="*/ 593 w 593"/>
                <a:gd name="T13" fmla="*/ 248 h 545"/>
              </a:gdLst>
              <a:ahLst/>
              <a:cxnLst>
                <a:cxn ang="0">
                  <a:pos x="T0" y="T1"/>
                </a:cxn>
                <a:cxn ang="0">
                  <a:pos x="T2" y="T3"/>
                </a:cxn>
                <a:cxn ang="0">
                  <a:pos x="T4" y="T5"/>
                </a:cxn>
                <a:cxn ang="0">
                  <a:pos x="T6" y="T7"/>
                </a:cxn>
                <a:cxn ang="0">
                  <a:pos x="T8" y="T9"/>
                </a:cxn>
                <a:cxn ang="0">
                  <a:pos x="T10" y="T11"/>
                </a:cxn>
                <a:cxn ang="0">
                  <a:pos x="T12" y="T13"/>
                </a:cxn>
              </a:cxnLst>
              <a:rect l="0" t="0" r="r" b="b"/>
              <a:pathLst>
                <a:path w="593" h="545">
                  <a:moveTo>
                    <a:pt x="593" y="248"/>
                  </a:moveTo>
                  <a:lnTo>
                    <a:pt x="295" y="545"/>
                  </a:lnTo>
                  <a:lnTo>
                    <a:pt x="0" y="248"/>
                  </a:lnTo>
                  <a:lnTo>
                    <a:pt x="0" y="0"/>
                  </a:lnTo>
                  <a:lnTo>
                    <a:pt x="295" y="297"/>
                  </a:lnTo>
                  <a:lnTo>
                    <a:pt x="593" y="0"/>
                  </a:lnTo>
                  <a:lnTo>
                    <a:pt x="593" y="248"/>
                  </a:lnTo>
                  <a:close/>
                </a:path>
              </a:pathLst>
            </a:custGeom>
            <a:solidFill>
              <a:srgbClr val="E88D22"/>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800">
                <a:solidFill>
                  <a:srgbClr val="FEFABC"/>
                </a:solidFill>
                <a:latin typeface="Bebas" pitchFamily="2" charset="0"/>
                <a:ea typeface="微软雅黑" panose="020B0503020204020204" pitchFamily="34" charset="-122"/>
                <a:sym typeface="Bebas" pitchFamily="2" charset="0"/>
              </a:endParaRPr>
            </a:p>
          </p:txBody>
        </p:sp>
        <p:cxnSp>
          <p:nvCxnSpPr>
            <p:cNvPr id="58" name="直接箭头连接符 57">
              <a:extLst>
                <a:ext uri="{FF2B5EF4-FFF2-40B4-BE49-F238E27FC236}">
                  <a16:creationId xmlns:a16="http://schemas.microsoft.com/office/drawing/2014/main" id="{8DBB3EF3-F647-4F27-8F02-BFEABB6BE9B8}"/>
                </a:ext>
              </a:extLst>
            </p:cNvPr>
            <p:cNvCxnSpPr>
              <a:cxnSpLocks/>
            </p:cNvCxnSpPr>
            <p:nvPr/>
          </p:nvCxnSpPr>
          <p:spPr>
            <a:xfrm>
              <a:off x="1247729" y="3813470"/>
              <a:ext cx="6420615" cy="1"/>
            </a:xfrm>
            <a:prstGeom prst="straightConnector1">
              <a:avLst/>
            </a:prstGeom>
            <a:ln>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611560" y="3230643"/>
              <a:ext cx="570980" cy="314051"/>
              <a:chOff x="628809" y="3200392"/>
              <a:chExt cx="570980" cy="314051"/>
            </a:xfrm>
          </p:grpSpPr>
          <p:cxnSp>
            <p:nvCxnSpPr>
              <p:cNvPr id="6" name="直接箭头连接符 5"/>
              <p:cNvCxnSpPr/>
              <p:nvPr/>
            </p:nvCxnSpPr>
            <p:spPr>
              <a:xfrm>
                <a:off x="628809" y="3514443"/>
                <a:ext cx="570980" cy="0"/>
              </a:xfrm>
              <a:prstGeom prst="straightConnector1">
                <a:avLst/>
              </a:prstGeom>
              <a:ln w="6350">
                <a:solidFill>
                  <a:srgbClr val="E88D22"/>
                </a:solidFill>
                <a:tailEnd type="stealth"/>
              </a:ln>
            </p:spPr>
            <p:style>
              <a:lnRef idx="1">
                <a:schemeClr val="accent1"/>
              </a:lnRef>
              <a:fillRef idx="0">
                <a:schemeClr val="accent1"/>
              </a:fillRef>
              <a:effectRef idx="0">
                <a:schemeClr val="accent1"/>
              </a:effectRef>
              <a:fontRef idx="minor">
                <a:schemeClr val="tx1"/>
              </a:fontRef>
            </p:style>
          </p:cxnSp>
          <p:sp>
            <p:nvSpPr>
              <p:cNvPr id="8" name="任意多边形 7"/>
              <p:cNvSpPr/>
              <p:nvPr/>
            </p:nvSpPr>
            <p:spPr>
              <a:xfrm>
                <a:off x="641838" y="3200392"/>
                <a:ext cx="545124" cy="307739"/>
              </a:xfrm>
              <a:custGeom>
                <a:avLst/>
                <a:gdLst>
                  <a:gd name="connsiteX0" fmla="*/ 0 w 545124"/>
                  <a:gd name="connsiteY0" fmla="*/ 298946 h 307739"/>
                  <a:gd name="connsiteX1" fmla="*/ 131885 w 545124"/>
                  <a:gd name="connsiteY1" fmla="*/ 254985 h 307739"/>
                  <a:gd name="connsiteX2" fmla="*/ 272562 w 545124"/>
                  <a:gd name="connsiteY2" fmla="*/ 8 h 307739"/>
                  <a:gd name="connsiteX3" fmla="*/ 430824 w 545124"/>
                  <a:gd name="connsiteY3" fmla="*/ 246193 h 307739"/>
                  <a:gd name="connsiteX4" fmla="*/ 545124 w 545124"/>
                  <a:gd name="connsiteY4" fmla="*/ 307739 h 307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124" h="307739">
                    <a:moveTo>
                      <a:pt x="0" y="298946"/>
                    </a:moveTo>
                    <a:cubicBezTo>
                      <a:pt x="43229" y="301877"/>
                      <a:pt x="86458" y="304808"/>
                      <a:pt x="131885" y="254985"/>
                    </a:cubicBezTo>
                    <a:cubicBezTo>
                      <a:pt x="177312" y="205162"/>
                      <a:pt x="222739" y="1473"/>
                      <a:pt x="272562" y="8"/>
                    </a:cubicBezTo>
                    <a:cubicBezTo>
                      <a:pt x="322385" y="-1457"/>
                      <a:pt x="385397" y="194905"/>
                      <a:pt x="430824" y="246193"/>
                    </a:cubicBezTo>
                    <a:cubicBezTo>
                      <a:pt x="476251" y="297481"/>
                      <a:pt x="510687" y="302610"/>
                      <a:pt x="545124" y="307739"/>
                    </a:cubicBezTo>
                  </a:path>
                </a:pathLst>
              </a:custGeom>
              <a:noFill/>
              <a:ln w="28575">
                <a:solidFill>
                  <a:srgbClr val="E88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3" name="组合 12"/>
          <p:cNvGrpSpPr/>
          <p:nvPr/>
        </p:nvGrpSpPr>
        <p:grpSpPr>
          <a:xfrm>
            <a:off x="1618327" y="2988994"/>
            <a:ext cx="4168039" cy="483912"/>
            <a:chOff x="1763688" y="3291830"/>
            <a:chExt cx="4168039" cy="483912"/>
          </a:xfrm>
        </p:grpSpPr>
        <p:grpSp>
          <p:nvGrpSpPr>
            <p:cNvPr id="70" name="Group 24">
              <a:extLst>
                <a:ext uri="{FF2B5EF4-FFF2-40B4-BE49-F238E27FC236}">
                  <a16:creationId xmlns:a16="http://schemas.microsoft.com/office/drawing/2014/main" id="{CBCE1DDD-6E80-4295-8884-4A5E2A322139}"/>
                </a:ext>
              </a:extLst>
            </p:cNvPr>
            <p:cNvGrpSpPr>
              <a:grpSpLocks/>
            </p:cNvGrpSpPr>
            <p:nvPr/>
          </p:nvGrpSpPr>
          <p:grpSpPr bwMode="auto">
            <a:xfrm>
              <a:off x="3491880" y="3291830"/>
              <a:ext cx="2439847" cy="483912"/>
              <a:chOff x="2200" y="2700"/>
              <a:chExt cx="1563" cy="310"/>
            </a:xfrm>
          </p:grpSpPr>
          <p:sp>
            <p:nvSpPr>
              <p:cNvPr id="71" name="Rectangle 25">
                <a:extLst>
                  <a:ext uri="{FF2B5EF4-FFF2-40B4-BE49-F238E27FC236}">
                    <a16:creationId xmlns:a16="http://schemas.microsoft.com/office/drawing/2014/main" id="{F3B2556A-C440-4278-938D-362E80E17A66}"/>
                  </a:ext>
                </a:extLst>
              </p:cNvPr>
              <p:cNvSpPr>
                <a:spLocks noChangeArrowheads="1"/>
              </p:cNvSpPr>
              <p:nvPr/>
            </p:nvSpPr>
            <p:spPr bwMode="auto">
              <a:xfrm>
                <a:off x="2200" y="2734"/>
                <a:ext cx="1563"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f </a:t>
                </a:r>
                <a:r>
                  <a:rPr kumimoji="1" lang="en-US" altLang="zh-CN" sz="1800" dirty="0">
                    <a:solidFill>
                      <a:srgbClr val="1F4B70"/>
                    </a:solidFill>
                    <a:latin typeface="Times New Roman" panose="02020603050405020304" pitchFamily="18" charset="0"/>
                  </a:rPr>
                  <a:t>(</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panose="02020603050405020304" pitchFamily="18" charset="0"/>
                    <a:ea typeface="宋体"/>
                    <a:cs typeface="Times New Roman" panose="02020603050405020304" pitchFamily="18" charset="0"/>
                  </a:rPr>
                  <a:t>∙∙∙</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dirty="0">
                    <a:solidFill>
                      <a:srgbClr val="1F4B70"/>
                    </a:solidFill>
                    <a:latin typeface="Times New Roman" panose="02020603050405020304" pitchFamily="18" charset="0"/>
                  </a:rPr>
                  <a:t>) = </a:t>
                </a:r>
                <a:r>
                  <a:rPr kumimoji="1" lang="en-US" altLang="zh-CN" sz="1800" dirty="0">
                    <a:solidFill>
                      <a:srgbClr val="1F4B70"/>
                    </a:solidFill>
                    <a:latin typeface="Symbol" panose="05050102010706020507" pitchFamily="18" charset="2"/>
                  </a:rPr>
                  <a:t>P </a:t>
                </a:r>
                <a:r>
                  <a:rPr kumimoji="1" lang="en-US" altLang="zh-CN" sz="1800" i="1" dirty="0">
                    <a:solidFill>
                      <a:srgbClr val="1F4B70"/>
                    </a:solidFill>
                    <a:latin typeface="Times New Roman" panose="02020603050405020304" pitchFamily="18" charset="0"/>
                  </a:rPr>
                  <a:t>f </a:t>
                </a:r>
                <a:r>
                  <a:rPr kumimoji="1" lang="en-US" altLang="zh-CN" sz="1800" dirty="0">
                    <a:solidFill>
                      <a:srgbClr val="1F4B70"/>
                    </a:solidFill>
                    <a:latin typeface="Times New Roman" panose="02020603050405020304" pitchFamily="18" charset="0"/>
                  </a:rPr>
                  <a:t>(</a:t>
                </a:r>
                <a:r>
                  <a:rPr kumimoji="1" lang="en-US" altLang="zh-CN" sz="1800" i="1" dirty="0">
                    <a:solidFill>
                      <a:srgbClr val="1F4B70"/>
                    </a:solidFill>
                    <a:latin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rPr>
                  <a:t>i</a:t>
                </a:r>
                <a:r>
                  <a:rPr kumimoji="1" lang="en-US" altLang="zh-CN" sz="1800" dirty="0">
                    <a:solidFill>
                      <a:srgbClr val="1F4B70"/>
                    </a:solidFill>
                    <a:latin typeface="Times New Roman" panose="02020603050405020304" pitchFamily="18" charset="0"/>
                  </a:rPr>
                  <a:t>)</a:t>
                </a:r>
              </a:p>
            </p:txBody>
          </p:sp>
          <p:sp>
            <p:nvSpPr>
              <p:cNvPr id="72" name="Text Box 26">
                <a:extLst>
                  <a:ext uri="{FF2B5EF4-FFF2-40B4-BE49-F238E27FC236}">
                    <a16:creationId xmlns:a16="http://schemas.microsoft.com/office/drawing/2014/main" id="{94555E8B-CBC1-46D7-A656-F4B894C5299E}"/>
                  </a:ext>
                </a:extLst>
              </p:cNvPr>
              <p:cNvSpPr txBox="1">
                <a:spLocks noChangeArrowheads="1"/>
              </p:cNvSpPr>
              <p:nvPr/>
            </p:nvSpPr>
            <p:spPr bwMode="auto">
              <a:xfrm>
                <a:off x="3195" y="2833"/>
                <a:ext cx="251"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err="1">
                    <a:solidFill>
                      <a:srgbClr val="1F4B70"/>
                    </a:solidFill>
                    <a:latin typeface="Times New Roman" panose="02020603050405020304" pitchFamily="18" charset="0"/>
                  </a:rPr>
                  <a:t>i</a:t>
                </a:r>
                <a:r>
                  <a:rPr kumimoji="1" lang="en-US" altLang="zh-CN" sz="1800" baseline="-25000" dirty="0">
                    <a:solidFill>
                      <a:srgbClr val="1F4B70"/>
                    </a:solidFill>
                    <a:latin typeface="Times New Roman" panose="02020603050405020304" pitchFamily="18" charset="0"/>
                  </a:rPr>
                  <a:t>=1</a:t>
                </a:r>
              </a:p>
            </p:txBody>
          </p:sp>
          <p:sp>
            <p:nvSpPr>
              <p:cNvPr id="73" name="Text Box 27">
                <a:extLst>
                  <a:ext uri="{FF2B5EF4-FFF2-40B4-BE49-F238E27FC236}">
                    <a16:creationId xmlns:a16="http://schemas.microsoft.com/office/drawing/2014/main" id="{6FA2EC85-917B-4E39-A868-39C592858F71}"/>
                  </a:ext>
                </a:extLst>
              </p:cNvPr>
              <p:cNvSpPr txBox="1">
                <a:spLocks noChangeArrowheads="1"/>
              </p:cNvSpPr>
              <p:nvPr/>
            </p:nvSpPr>
            <p:spPr bwMode="auto">
              <a:xfrm>
                <a:off x="3230" y="2700"/>
                <a:ext cx="168"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30000" dirty="0">
                    <a:solidFill>
                      <a:srgbClr val="1F4B70"/>
                    </a:solidFill>
                    <a:latin typeface="Times New Roman" panose="02020603050405020304" pitchFamily="18" charset="0"/>
                  </a:rPr>
                  <a:t>n</a:t>
                </a:r>
                <a:endParaRPr kumimoji="1" lang="en-US" altLang="zh-CN" sz="1800" baseline="30000" dirty="0">
                  <a:solidFill>
                    <a:srgbClr val="1F4B70"/>
                  </a:solidFill>
                  <a:latin typeface="Times New Roman" panose="02020603050405020304" pitchFamily="18" charset="0"/>
                </a:endParaRPr>
              </a:p>
            </p:txBody>
          </p:sp>
        </p:grpSp>
        <p:sp>
          <p:nvSpPr>
            <p:cNvPr id="12" name="矩形 11"/>
            <p:cNvSpPr/>
            <p:nvPr/>
          </p:nvSpPr>
          <p:spPr>
            <a:xfrm>
              <a:off x="1763688" y="3372630"/>
              <a:ext cx="1800493" cy="369332"/>
            </a:xfrm>
            <a:prstGeom prst="rect">
              <a:avLst/>
            </a:prstGeom>
          </p:spPr>
          <p:txBody>
            <a:bodyPr wrap="none">
              <a:spAutoFit/>
            </a:bodyPr>
            <a:lstStyle/>
            <a:p>
              <a:pPr>
                <a:spcBef>
                  <a:spcPct val="50000"/>
                </a:spcBef>
              </a:pP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对连续型总体：</a:t>
              </a:r>
            </a:p>
          </p:txBody>
        </p:sp>
      </p:grpSp>
      <p:sp>
        <p:nvSpPr>
          <p:cNvPr id="74" name="Text Box 9">
            <a:extLst>
              <a:ext uri="{FF2B5EF4-FFF2-40B4-BE49-F238E27FC236}">
                <a16:creationId xmlns:a16="http://schemas.microsoft.com/office/drawing/2014/main" id="{BFE6537C-E878-4D24-BA34-D7E5946F033B}"/>
              </a:ext>
            </a:extLst>
          </p:cNvPr>
          <p:cNvSpPr txBox="1">
            <a:spLocks noChangeArrowheads="1"/>
          </p:cNvSpPr>
          <p:nvPr/>
        </p:nvSpPr>
        <p:spPr bwMode="auto">
          <a:xfrm>
            <a:off x="1331640" y="3637066"/>
            <a:ext cx="65018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如：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为取自总体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l-GR"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μ</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Symbol" panose="05050102010706020507" pitchFamily="18" charset="2"/>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的样本，则其联合密度函数 </a:t>
            </a:r>
          </a:p>
        </p:txBody>
      </p:sp>
      <p:grpSp>
        <p:nvGrpSpPr>
          <p:cNvPr id="19" name="组合 18">
            <a:extLst>
              <a:ext uri="{FF2B5EF4-FFF2-40B4-BE49-F238E27FC236}">
                <a16:creationId xmlns:a16="http://schemas.microsoft.com/office/drawing/2014/main" id="{F740F3F2-154C-47B5-B0CD-DF3363B9DE8B}"/>
              </a:ext>
            </a:extLst>
          </p:cNvPr>
          <p:cNvGrpSpPr/>
          <p:nvPr/>
        </p:nvGrpSpPr>
        <p:grpSpPr>
          <a:xfrm>
            <a:off x="539552" y="915566"/>
            <a:ext cx="7128792" cy="1671229"/>
            <a:chOff x="539552" y="915566"/>
            <a:chExt cx="7128792" cy="1671229"/>
          </a:xfrm>
        </p:grpSpPr>
        <p:grpSp>
          <p:nvGrpSpPr>
            <p:cNvPr id="2" name="组合 1"/>
            <p:cNvGrpSpPr/>
            <p:nvPr/>
          </p:nvGrpSpPr>
          <p:grpSpPr>
            <a:xfrm>
              <a:off x="539552" y="915566"/>
              <a:ext cx="7128792" cy="1671229"/>
              <a:chOff x="539552" y="1347614"/>
              <a:chExt cx="7128792" cy="1671229"/>
            </a:xfrm>
          </p:grpSpPr>
          <p:grpSp>
            <p:nvGrpSpPr>
              <p:cNvPr id="16" name="组合 15"/>
              <p:cNvGrpSpPr/>
              <p:nvPr/>
            </p:nvGrpSpPr>
            <p:grpSpPr>
              <a:xfrm>
                <a:off x="1619672" y="1443299"/>
                <a:ext cx="5578561" cy="474764"/>
                <a:chOff x="1613514" y="2355729"/>
                <a:chExt cx="5578561" cy="474764"/>
              </a:xfrm>
            </p:grpSpPr>
            <p:sp>
              <p:nvSpPr>
                <p:cNvPr id="33" name="Text Box 5">
                  <a:extLst>
                    <a:ext uri="{FF2B5EF4-FFF2-40B4-BE49-F238E27FC236}">
                      <a16:creationId xmlns:a16="http://schemas.microsoft.com/office/drawing/2014/main" id="{BBFD1DF1-479D-419C-AE8F-566B1EC059D4}"/>
                    </a:ext>
                  </a:extLst>
                </p:cNvPr>
                <p:cNvSpPr txBox="1">
                  <a:spLocks noChangeArrowheads="1"/>
                </p:cNvSpPr>
                <p:nvPr/>
              </p:nvSpPr>
              <p:spPr bwMode="auto">
                <a:xfrm>
                  <a:off x="1613514" y="2425599"/>
                  <a:ext cx="16415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对离散型总体：</a:t>
                  </a:r>
                </a:p>
              </p:txBody>
            </p:sp>
            <p:grpSp>
              <p:nvGrpSpPr>
                <p:cNvPr id="46" name="Group 16">
                  <a:extLst>
                    <a:ext uri="{FF2B5EF4-FFF2-40B4-BE49-F238E27FC236}">
                      <a16:creationId xmlns:a16="http://schemas.microsoft.com/office/drawing/2014/main" id="{8ACB55B0-1726-4A62-9F3A-282E4B7CE1AB}"/>
                    </a:ext>
                  </a:extLst>
                </p:cNvPr>
                <p:cNvGrpSpPr>
                  <a:grpSpLocks/>
                </p:cNvGrpSpPr>
                <p:nvPr/>
              </p:nvGrpSpPr>
              <p:grpSpPr bwMode="auto">
                <a:xfrm>
                  <a:off x="3131840" y="2355729"/>
                  <a:ext cx="4060235" cy="474764"/>
                  <a:chOff x="2083" y="1445"/>
                  <a:chExt cx="3609" cy="422"/>
                </a:xfrm>
              </p:grpSpPr>
              <p:sp>
                <p:nvSpPr>
                  <p:cNvPr id="47" name="Text Box 17">
                    <a:extLst>
                      <a:ext uri="{FF2B5EF4-FFF2-40B4-BE49-F238E27FC236}">
                        <a16:creationId xmlns:a16="http://schemas.microsoft.com/office/drawing/2014/main" id="{503F501B-26D7-4F66-9205-3479A7C34880}"/>
                      </a:ext>
                    </a:extLst>
                  </p:cNvPr>
                  <p:cNvSpPr txBox="1">
                    <a:spLocks noChangeArrowheads="1"/>
                  </p:cNvSpPr>
                  <p:nvPr/>
                </p:nvSpPr>
                <p:spPr bwMode="auto">
                  <a:xfrm>
                    <a:off x="2083" y="1488"/>
                    <a:ext cx="3609"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1800" dirty="0">
                        <a:solidFill>
                          <a:srgbClr val="1F4B70"/>
                        </a:solidFill>
                        <a:latin typeface="Symbol" panose="05050102010706020507" pitchFamily="18" charset="2"/>
                        <a:ea typeface="微软雅黑" panose="020B0503020204020204" pitchFamily="34" charset="-122"/>
                        <a:cs typeface="Times New Roman" panose="02020603050405020304" pitchFamily="18" charset="0"/>
                      </a:rPr>
                      <a:t>P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8" name="Text Box 18">
                    <a:extLst>
                      <a:ext uri="{FF2B5EF4-FFF2-40B4-BE49-F238E27FC236}">
                        <a16:creationId xmlns:a16="http://schemas.microsoft.com/office/drawing/2014/main" id="{16C76113-92AA-4684-9DB3-3FF586CFE988}"/>
                      </a:ext>
                    </a:extLst>
                  </p:cNvPr>
                  <p:cNvSpPr txBox="1">
                    <a:spLocks noChangeArrowheads="1"/>
                  </p:cNvSpPr>
                  <p:nvPr/>
                </p:nvSpPr>
                <p:spPr bwMode="auto">
                  <a:xfrm>
                    <a:off x="4595" y="1621"/>
                    <a:ext cx="34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49" name="Text Box 19">
                    <a:extLst>
                      <a:ext uri="{FF2B5EF4-FFF2-40B4-BE49-F238E27FC236}">
                        <a16:creationId xmlns:a16="http://schemas.microsoft.com/office/drawing/2014/main" id="{D0494A2F-3DA3-4DFF-9400-B190D55E4D24}"/>
                      </a:ext>
                    </a:extLst>
                  </p:cNvPr>
                  <p:cNvSpPr txBox="1">
                    <a:spLocks noChangeArrowheads="1"/>
                  </p:cNvSpPr>
                  <p:nvPr/>
                </p:nvSpPr>
                <p:spPr bwMode="auto">
                  <a:xfrm>
                    <a:off x="4634" y="1445"/>
                    <a:ext cx="233"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endParaRPr kumimoji="1" lang="en-US" altLang="zh-CN" sz="18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grpSp>
            <p:nvGrpSpPr>
              <p:cNvPr id="17" name="组合 16"/>
              <p:cNvGrpSpPr/>
              <p:nvPr/>
            </p:nvGrpSpPr>
            <p:grpSpPr>
              <a:xfrm>
                <a:off x="539552" y="1347614"/>
                <a:ext cx="7128792" cy="920403"/>
                <a:chOff x="539552" y="2155403"/>
                <a:chExt cx="7128792" cy="920403"/>
              </a:xfrm>
            </p:grpSpPr>
            <p:sp>
              <p:nvSpPr>
                <p:cNvPr id="123" name="Freeform 7">
                  <a:extLst>
                    <a:ext uri="{FF2B5EF4-FFF2-40B4-BE49-F238E27FC236}">
                      <a16:creationId xmlns:a16="http://schemas.microsoft.com/office/drawing/2014/main" id="{E24960F7-DACD-45BA-ABAF-8B4C3DACC029}"/>
                    </a:ext>
                  </a:extLst>
                </p:cNvPr>
                <p:cNvSpPr>
                  <a:spLocks/>
                </p:cNvSpPr>
                <p:nvPr/>
              </p:nvSpPr>
              <p:spPr bwMode="auto">
                <a:xfrm>
                  <a:off x="539552" y="2434323"/>
                  <a:ext cx="720080" cy="641483"/>
                </a:xfrm>
                <a:custGeom>
                  <a:avLst/>
                  <a:gdLst>
                    <a:gd name="T0" fmla="*/ 593 w 593"/>
                    <a:gd name="T1" fmla="*/ 248 h 545"/>
                    <a:gd name="T2" fmla="*/ 295 w 593"/>
                    <a:gd name="T3" fmla="*/ 545 h 545"/>
                    <a:gd name="T4" fmla="*/ 0 w 593"/>
                    <a:gd name="T5" fmla="*/ 248 h 545"/>
                    <a:gd name="T6" fmla="*/ 0 w 593"/>
                    <a:gd name="T7" fmla="*/ 0 h 545"/>
                    <a:gd name="T8" fmla="*/ 295 w 593"/>
                    <a:gd name="T9" fmla="*/ 297 h 545"/>
                    <a:gd name="T10" fmla="*/ 593 w 593"/>
                    <a:gd name="T11" fmla="*/ 0 h 545"/>
                    <a:gd name="T12" fmla="*/ 593 w 593"/>
                    <a:gd name="T13" fmla="*/ 248 h 545"/>
                  </a:gdLst>
                  <a:ahLst/>
                  <a:cxnLst>
                    <a:cxn ang="0">
                      <a:pos x="T0" y="T1"/>
                    </a:cxn>
                    <a:cxn ang="0">
                      <a:pos x="T2" y="T3"/>
                    </a:cxn>
                    <a:cxn ang="0">
                      <a:pos x="T4" y="T5"/>
                    </a:cxn>
                    <a:cxn ang="0">
                      <a:pos x="T6" y="T7"/>
                    </a:cxn>
                    <a:cxn ang="0">
                      <a:pos x="T8" y="T9"/>
                    </a:cxn>
                    <a:cxn ang="0">
                      <a:pos x="T10" y="T11"/>
                    </a:cxn>
                    <a:cxn ang="0">
                      <a:pos x="T12" y="T13"/>
                    </a:cxn>
                  </a:cxnLst>
                  <a:rect l="0" t="0" r="r" b="b"/>
                  <a:pathLst>
                    <a:path w="593" h="545">
                      <a:moveTo>
                        <a:pt x="593" y="248"/>
                      </a:moveTo>
                      <a:lnTo>
                        <a:pt x="295" y="545"/>
                      </a:lnTo>
                      <a:lnTo>
                        <a:pt x="0" y="248"/>
                      </a:lnTo>
                      <a:lnTo>
                        <a:pt x="0" y="0"/>
                      </a:lnTo>
                      <a:lnTo>
                        <a:pt x="295" y="297"/>
                      </a:lnTo>
                      <a:lnTo>
                        <a:pt x="593" y="0"/>
                      </a:lnTo>
                      <a:lnTo>
                        <a:pt x="593" y="248"/>
                      </a:lnTo>
                      <a:close/>
                    </a:path>
                  </a:pathLst>
                </a:custGeom>
                <a:solidFill>
                  <a:srgbClr val="E88D22"/>
                </a:solidFill>
                <a:ln w="25400">
                  <a:noFill/>
                </a:ln>
                <a:effectLst>
                  <a:outerShdw blurRad="1397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800">
                    <a:solidFill>
                      <a:srgbClr val="FEFABC"/>
                    </a:solidFill>
                    <a:latin typeface="Bebas" pitchFamily="2" charset="0"/>
                    <a:ea typeface="微软雅黑" panose="020B0503020204020204" pitchFamily="34" charset="-122"/>
                    <a:sym typeface="Bebas" pitchFamily="2" charset="0"/>
                  </a:endParaRPr>
                </a:p>
              </p:txBody>
            </p:sp>
            <p:cxnSp>
              <p:nvCxnSpPr>
                <p:cNvPr id="131" name="直接箭头连接符 130">
                  <a:extLst>
                    <a:ext uri="{FF2B5EF4-FFF2-40B4-BE49-F238E27FC236}">
                      <a16:creationId xmlns:a16="http://schemas.microsoft.com/office/drawing/2014/main" id="{8DBB3EF3-F647-4F27-8F02-BFEABB6BE9B8}"/>
                    </a:ext>
                  </a:extLst>
                </p:cNvPr>
                <p:cNvCxnSpPr>
                  <a:cxnSpLocks/>
                </p:cNvCxnSpPr>
                <p:nvPr/>
              </p:nvCxnSpPr>
              <p:spPr>
                <a:xfrm>
                  <a:off x="1247729" y="2733350"/>
                  <a:ext cx="6420615" cy="1"/>
                </a:xfrm>
                <a:prstGeom prst="straightConnector1">
                  <a:avLst/>
                </a:prstGeom>
                <a:ln>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697782" y="2155403"/>
                  <a:ext cx="432048" cy="372387"/>
                  <a:chOff x="1835696" y="3831926"/>
                  <a:chExt cx="432048" cy="324000"/>
                </a:xfrm>
              </p:grpSpPr>
              <p:cxnSp>
                <p:nvCxnSpPr>
                  <p:cNvPr id="10" name="直接连接符 9"/>
                  <p:cNvCxnSpPr/>
                  <p:nvPr/>
                </p:nvCxnSpPr>
                <p:spPr>
                  <a:xfrm>
                    <a:off x="1979712" y="3831926"/>
                    <a:ext cx="0" cy="324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2060512" y="3939926"/>
                    <a:ext cx="0" cy="216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140904" y="4011926"/>
                    <a:ext cx="0" cy="144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195736" y="4047926"/>
                    <a:ext cx="0" cy="108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2267744" y="4083926"/>
                    <a:ext cx="0" cy="72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907704" y="3975926"/>
                    <a:ext cx="0" cy="180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835696" y="4083926"/>
                    <a:ext cx="0" cy="72000"/>
                  </a:xfrm>
                  <a:prstGeom prst="line">
                    <a:avLst/>
                  </a:prstGeom>
                  <a:ln w="38100">
                    <a:solidFill>
                      <a:srgbClr val="E88D22"/>
                    </a:solidFill>
                  </a:ln>
                </p:spPr>
                <p:style>
                  <a:lnRef idx="1">
                    <a:schemeClr val="accent1"/>
                  </a:lnRef>
                  <a:fillRef idx="0">
                    <a:schemeClr val="accent1"/>
                  </a:fillRef>
                  <a:effectRef idx="0">
                    <a:schemeClr val="accent1"/>
                  </a:effectRef>
                  <a:fontRef idx="minor">
                    <a:schemeClr val="tx1"/>
                  </a:fontRef>
                </p:style>
              </p:cxnSp>
            </p:grpSp>
          </p:grpSp>
          <p:sp>
            <p:nvSpPr>
              <p:cNvPr id="50" name="Text Box 7">
                <a:extLst>
                  <a:ext uri="{FF2B5EF4-FFF2-40B4-BE49-F238E27FC236}">
                    <a16:creationId xmlns:a16="http://schemas.microsoft.com/office/drawing/2014/main" id="{00FAFA77-E2F6-4D48-A7FA-00E5F991A4DF}"/>
                  </a:ext>
                </a:extLst>
              </p:cNvPr>
              <p:cNvSpPr txBox="1">
                <a:spLocks noChangeArrowheads="1"/>
              </p:cNvSpPr>
              <p:nvPr/>
            </p:nvSpPr>
            <p:spPr bwMode="auto">
              <a:xfrm>
                <a:off x="1331640" y="2124001"/>
                <a:ext cx="62069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如：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为取自总体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B</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的样本，则其联合分布律 </a:t>
                </a:r>
              </a:p>
            </p:txBody>
          </p:sp>
          <p:sp>
            <p:nvSpPr>
              <p:cNvPr id="51" name="Text Box 21">
                <a:extLst>
                  <a:ext uri="{FF2B5EF4-FFF2-40B4-BE49-F238E27FC236}">
                    <a16:creationId xmlns:a16="http://schemas.microsoft.com/office/drawing/2014/main" id="{B7F04859-EA5D-404D-9BC9-566A50F9EBBF}"/>
                  </a:ext>
                </a:extLst>
              </p:cNvPr>
              <p:cNvSpPr txBox="1">
                <a:spLocks noChangeArrowheads="1"/>
              </p:cNvSpPr>
              <p:nvPr/>
            </p:nvSpPr>
            <p:spPr bwMode="auto">
              <a:xfrm>
                <a:off x="1331640" y="2628057"/>
                <a:ext cx="29674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P(</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 </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panose="02020603050405020304" pitchFamily="18" charset="0"/>
                    <a:ea typeface="宋体"/>
                    <a:cs typeface="Times New Roman" panose="02020603050405020304" pitchFamily="18" charset="0"/>
                  </a:rPr>
                  <a:t>∙∙∙</a:t>
                </a:r>
                <a:r>
                  <a:rPr kumimoji="1" lang="en-US" altLang="zh-CN" sz="1800" dirty="0">
                    <a:solidFill>
                      <a:srgbClr val="1F4B70"/>
                    </a:solidFill>
                    <a:latin typeface="Times New Roman" panose="02020603050405020304" pitchFamily="18" charset="0"/>
                  </a:rPr>
                  <a:t>,</a:t>
                </a:r>
                <a:r>
                  <a:rPr kumimoji="1" lang="en-US" altLang="zh-CN" sz="1800" b="1"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dirty="0">
                    <a:solidFill>
                      <a:srgbClr val="1F4B70"/>
                    </a:solidFill>
                    <a:latin typeface="Times New Roman" panose="02020603050405020304" pitchFamily="18" charset="0"/>
                  </a:rPr>
                  <a:t>) =</a:t>
                </a:r>
                <a:endParaRPr kumimoji="1" lang="en-US" altLang="zh-CN" sz="1800" i="1" baseline="24000" dirty="0">
                  <a:solidFill>
                    <a:srgbClr val="1F4B70"/>
                  </a:solidFill>
                  <a:latin typeface="Times New Roman" panose="02020603050405020304" pitchFamily="18" charset="0"/>
                </a:endParaRPr>
              </a:p>
            </p:txBody>
          </p:sp>
          <p:grpSp>
            <p:nvGrpSpPr>
              <p:cNvPr id="52" name="组合 51">
                <a:extLst>
                  <a:ext uri="{FF2B5EF4-FFF2-40B4-BE49-F238E27FC236}">
                    <a16:creationId xmlns:a16="http://schemas.microsoft.com/office/drawing/2014/main" id="{36227A59-5483-47A7-A861-83A1C5735D8A}"/>
                  </a:ext>
                </a:extLst>
              </p:cNvPr>
              <p:cNvGrpSpPr/>
              <p:nvPr/>
            </p:nvGrpSpPr>
            <p:grpSpPr>
              <a:xfrm>
                <a:off x="4139952" y="2628057"/>
                <a:ext cx="348172" cy="390786"/>
                <a:chOff x="8272056" y="1187140"/>
                <a:chExt cx="491296" cy="551428"/>
              </a:xfrm>
            </p:grpSpPr>
            <p:sp>
              <p:nvSpPr>
                <p:cNvPr id="53" name="Text Box 22">
                  <a:extLst>
                    <a:ext uri="{FF2B5EF4-FFF2-40B4-BE49-F238E27FC236}">
                      <a16:creationId xmlns:a16="http://schemas.microsoft.com/office/drawing/2014/main" id="{FD3A89F4-3CE3-47EE-B1CA-07C5FDE2B8C2}"/>
                    </a:ext>
                  </a:extLst>
                </p:cNvPr>
                <p:cNvSpPr txBox="1">
                  <a:spLocks noChangeArrowheads="1"/>
                </p:cNvSpPr>
                <p:nvPr/>
              </p:nvSpPr>
              <p:spPr bwMode="auto">
                <a:xfrm>
                  <a:off x="8272056" y="1403164"/>
                  <a:ext cx="491296" cy="335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17" i="1" baseline="-25000" dirty="0" err="1">
                      <a:solidFill>
                        <a:srgbClr val="1F4B70"/>
                      </a:solidFill>
                      <a:latin typeface="Times New Roman" panose="02020603050405020304" pitchFamily="18" charset="0"/>
                    </a:rPr>
                    <a:t>i</a:t>
                  </a:r>
                  <a:r>
                    <a:rPr kumimoji="1" lang="en-US" altLang="zh-CN" sz="1417" baseline="-25000" dirty="0">
                      <a:solidFill>
                        <a:srgbClr val="1F4B70"/>
                      </a:solidFill>
                      <a:latin typeface="Times New Roman" panose="02020603050405020304" pitchFamily="18" charset="0"/>
                    </a:rPr>
                    <a:t>=1</a:t>
                  </a:r>
                </a:p>
              </p:txBody>
            </p:sp>
            <p:sp>
              <p:nvSpPr>
                <p:cNvPr id="54" name="Text Box 23">
                  <a:extLst>
                    <a:ext uri="{FF2B5EF4-FFF2-40B4-BE49-F238E27FC236}">
                      <a16:creationId xmlns:a16="http://schemas.microsoft.com/office/drawing/2014/main" id="{CDEFF931-AA82-4ECE-8558-21E904A98D24}"/>
                    </a:ext>
                  </a:extLst>
                </p:cNvPr>
                <p:cNvSpPr txBox="1">
                  <a:spLocks noChangeArrowheads="1"/>
                </p:cNvSpPr>
                <p:nvPr/>
              </p:nvSpPr>
              <p:spPr bwMode="auto">
                <a:xfrm>
                  <a:off x="8350047" y="1187140"/>
                  <a:ext cx="346531" cy="335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17" i="1" baseline="30000" dirty="0">
                      <a:solidFill>
                        <a:srgbClr val="1F4B70"/>
                      </a:solidFill>
                      <a:latin typeface="Times New Roman" panose="02020603050405020304" pitchFamily="18" charset="0"/>
                    </a:rPr>
                    <a:t>n</a:t>
                  </a:r>
                  <a:endParaRPr kumimoji="1" lang="en-US" altLang="zh-CN" sz="1417" baseline="30000" dirty="0">
                    <a:solidFill>
                      <a:srgbClr val="1F4B70"/>
                    </a:solidFill>
                    <a:latin typeface="Times New Roman" panose="02020603050405020304" pitchFamily="18" charset="0"/>
                  </a:endParaRPr>
                </a:p>
              </p:txBody>
            </p:sp>
            <p:sp>
              <p:nvSpPr>
                <p:cNvPr id="55" name="矩形 54">
                  <a:extLst>
                    <a:ext uri="{FF2B5EF4-FFF2-40B4-BE49-F238E27FC236}">
                      <a16:creationId xmlns:a16="http://schemas.microsoft.com/office/drawing/2014/main" id="{F2DA13FA-0E88-45E1-82C2-D04A1E156591}"/>
                    </a:ext>
                  </a:extLst>
                </p:cNvPr>
                <p:cNvSpPr/>
                <p:nvPr/>
              </p:nvSpPr>
              <p:spPr>
                <a:xfrm>
                  <a:off x="8281989" y="1239142"/>
                  <a:ext cx="457368" cy="438006"/>
                </a:xfrm>
                <a:prstGeom prst="rect">
                  <a:avLst/>
                </a:prstGeom>
              </p:spPr>
              <p:txBody>
                <a:bodyPr wrap="none">
                  <a:spAutoFit/>
                </a:bodyPr>
                <a:lstStyle/>
                <a:p>
                  <a:r>
                    <a:rPr kumimoji="1" lang="en-US" altLang="zh-CN" sz="1417" dirty="0">
                      <a:solidFill>
                        <a:srgbClr val="1F4B70"/>
                      </a:solidFill>
                      <a:latin typeface="Symbol" panose="05050102010706020507" pitchFamily="18" charset="2"/>
                    </a:rPr>
                    <a:t>P</a:t>
                  </a:r>
                  <a:endParaRPr lang="zh-CN" altLang="en-US" sz="1417" dirty="0">
                    <a:solidFill>
                      <a:srgbClr val="1F4B70"/>
                    </a:solidFill>
                  </a:endParaRPr>
                </a:p>
              </p:txBody>
            </p:sp>
          </p:grpSp>
          <p:sp>
            <p:nvSpPr>
              <p:cNvPr id="56" name="矩形 55">
                <a:extLst>
                  <a:ext uri="{FF2B5EF4-FFF2-40B4-BE49-F238E27FC236}">
                    <a16:creationId xmlns:a16="http://schemas.microsoft.com/office/drawing/2014/main" id="{DE5EC152-BE0B-4A56-B960-3955830CB677}"/>
                  </a:ext>
                </a:extLst>
              </p:cNvPr>
              <p:cNvSpPr/>
              <p:nvPr/>
            </p:nvSpPr>
            <p:spPr>
              <a:xfrm>
                <a:off x="4355976" y="2618765"/>
                <a:ext cx="1197764" cy="369332"/>
              </a:xfrm>
              <a:prstGeom prst="rect">
                <a:avLst/>
              </a:prstGeom>
            </p:spPr>
            <p:txBody>
              <a:bodyPr wrap="none">
                <a:spAutoFit/>
              </a:bodyPr>
              <a:lstStyle/>
              <a:p>
                <a:pPr lvl="0" eaLnBrk="1" hangingPunct="1"/>
                <a:r>
                  <a:rPr kumimoji="1" lang="en-US" altLang="zh-CN" i="1" dirty="0" err="1">
                    <a:solidFill>
                      <a:srgbClr val="1F4B70"/>
                    </a:solidFill>
                    <a:latin typeface="Times New Roman" panose="02020603050405020304" pitchFamily="18" charset="0"/>
                  </a:rPr>
                  <a:t>p</a:t>
                </a:r>
                <a:r>
                  <a:rPr kumimoji="1" lang="en-US" altLang="zh-CN" i="1" baseline="38000" dirty="0" err="1">
                    <a:solidFill>
                      <a:srgbClr val="1F4B70"/>
                    </a:solidFill>
                    <a:latin typeface="Times New Roman" panose="02020603050405020304" pitchFamily="18" charset="0"/>
                  </a:rPr>
                  <a:t>x</a:t>
                </a:r>
                <a:r>
                  <a:rPr kumimoji="1" lang="en-US" altLang="zh-CN" sz="1600" i="1" baseline="24000" dirty="0" err="1">
                    <a:solidFill>
                      <a:srgbClr val="1F4B70"/>
                    </a:solidFill>
                    <a:latin typeface="Times New Roman" panose="02020603050405020304" pitchFamily="18" charset="0"/>
                  </a:rPr>
                  <a:t>i</a:t>
                </a:r>
                <a:r>
                  <a:rPr kumimoji="1" lang="en-US" altLang="zh-CN" dirty="0">
                    <a:solidFill>
                      <a:srgbClr val="1F4B70"/>
                    </a:solidFill>
                    <a:latin typeface="Times New Roman" panose="02020603050405020304" pitchFamily="18" charset="0"/>
                  </a:rPr>
                  <a:t>(1</a:t>
                </a:r>
                <a:r>
                  <a:rPr kumimoji="1" lang="en-US" altLang="zh-CN" dirty="0">
                    <a:solidFill>
                      <a:srgbClr val="1F4B70"/>
                    </a:solidFill>
                    <a:latin typeface="Symbol" panose="05050102010706020507" pitchFamily="18" charset="2"/>
                  </a:rPr>
                  <a:t>-</a:t>
                </a:r>
                <a:r>
                  <a:rPr kumimoji="1" lang="en-US" altLang="zh-CN" i="1" dirty="0">
                    <a:solidFill>
                      <a:srgbClr val="1F4B70"/>
                    </a:solidFill>
                    <a:latin typeface="Times New Roman" panose="02020603050405020304" pitchFamily="18" charset="0"/>
                  </a:rPr>
                  <a:t>p</a:t>
                </a:r>
                <a:r>
                  <a:rPr kumimoji="1" lang="en-US" altLang="zh-CN" dirty="0">
                    <a:solidFill>
                      <a:srgbClr val="1F4B70"/>
                    </a:solidFill>
                    <a:latin typeface="Times New Roman" panose="02020603050405020304" pitchFamily="18" charset="0"/>
                  </a:rPr>
                  <a:t>)</a:t>
                </a:r>
                <a:r>
                  <a:rPr kumimoji="1" lang="en-US" altLang="zh-CN" baseline="38000" dirty="0">
                    <a:solidFill>
                      <a:srgbClr val="1F4B70"/>
                    </a:solidFill>
                    <a:latin typeface="Times New Roman" panose="02020603050405020304" pitchFamily="18" charset="0"/>
                  </a:rPr>
                  <a:t>1</a:t>
                </a:r>
                <a:r>
                  <a:rPr kumimoji="1" lang="en-US" altLang="zh-CN" baseline="38000" dirty="0">
                    <a:solidFill>
                      <a:srgbClr val="1F4B70"/>
                    </a:solidFill>
                    <a:latin typeface="Symbol" panose="05050102010706020507" pitchFamily="18" charset="2"/>
                  </a:rPr>
                  <a:t>-</a:t>
                </a:r>
                <a:r>
                  <a:rPr kumimoji="1" lang="en-US" altLang="zh-CN" i="1" baseline="38000" dirty="0">
                    <a:solidFill>
                      <a:srgbClr val="1F4B70"/>
                    </a:solidFill>
                    <a:latin typeface="Times New Roman" panose="02020603050405020304" pitchFamily="18" charset="0"/>
                  </a:rPr>
                  <a:t>x</a:t>
                </a:r>
                <a:r>
                  <a:rPr kumimoji="1" lang="en-US" altLang="zh-CN" sz="1600" i="1" baseline="24000" dirty="0">
                    <a:solidFill>
                      <a:srgbClr val="1F4B70"/>
                    </a:solidFill>
                    <a:latin typeface="Times New Roman" panose="02020603050405020304" pitchFamily="18" charset="0"/>
                  </a:rPr>
                  <a:t>i</a:t>
                </a:r>
                <a:endParaRPr kumimoji="1" lang="en-US" altLang="zh-CN" i="1" baseline="24000" dirty="0">
                  <a:solidFill>
                    <a:srgbClr val="1F4B70"/>
                  </a:solidFill>
                  <a:latin typeface="Times New Roman" panose="02020603050405020304" pitchFamily="18" charset="0"/>
                </a:endParaRPr>
              </a:p>
            </p:txBody>
          </p:sp>
        </p:grpSp>
        <p:grpSp>
          <p:nvGrpSpPr>
            <p:cNvPr id="15" name="组合 14">
              <a:extLst>
                <a:ext uri="{FF2B5EF4-FFF2-40B4-BE49-F238E27FC236}">
                  <a16:creationId xmlns:a16="http://schemas.microsoft.com/office/drawing/2014/main" id="{BF73D584-994E-48D3-A7AD-5E541A54B2D2}"/>
                </a:ext>
              </a:extLst>
            </p:cNvPr>
            <p:cNvGrpSpPr/>
            <p:nvPr/>
          </p:nvGrpSpPr>
          <p:grpSpPr>
            <a:xfrm>
              <a:off x="5430585" y="2027918"/>
              <a:ext cx="1705969" cy="510094"/>
              <a:chOff x="6871888" y="2714295"/>
              <a:chExt cx="1705969" cy="510094"/>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9137F0D-DB28-4153-BE7E-111710737A69}"/>
                      </a:ext>
                    </a:extLst>
                  </p:cNvPr>
                  <p:cNvSpPr txBox="1"/>
                  <p:nvPr/>
                </p:nvSpPr>
                <p:spPr>
                  <a:xfrm>
                    <a:off x="7059515" y="2728626"/>
                    <a:ext cx="657039" cy="3361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800" i="1" smtClean="0">
                                  <a:solidFill>
                                    <a:srgbClr val="1F4B70"/>
                                  </a:solidFill>
                                  <a:latin typeface="Cambria Math" panose="02040503050406030204" pitchFamily="18" charset="0"/>
                                  <a:ea typeface="微软雅黑" panose="020B0503020204020204" pitchFamily="34" charset="-122"/>
                                </a:rPr>
                              </m:ctrlPr>
                            </m:naryPr>
                            <m:sub>
                              <m:r>
                                <m:rPr>
                                  <m:brk m:alnAt="23"/>
                                </m:rPr>
                                <a:rPr lang="en-US" altLang="zh-CN" sz="800" b="0" i="1" smtClean="0">
                                  <a:solidFill>
                                    <a:srgbClr val="1F4B70"/>
                                  </a:solidFill>
                                  <a:latin typeface="Cambria Math" panose="02040503050406030204" pitchFamily="18" charset="0"/>
                                  <a:ea typeface="微软雅黑" panose="020B0503020204020204" pitchFamily="34" charset="-122"/>
                                </a:rPr>
                                <m:t>𝑖</m:t>
                              </m:r>
                              <m:r>
                                <a:rPr lang="en-US" altLang="zh-CN" sz="800" b="0" i="1" smtClean="0">
                                  <a:solidFill>
                                    <a:srgbClr val="1F4B70"/>
                                  </a:solidFill>
                                  <a:latin typeface="Cambria Math" panose="02040503050406030204" pitchFamily="18" charset="0"/>
                                  <a:ea typeface="微软雅黑" panose="020B0503020204020204" pitchFamily="34" charset="-122"/>
                                </a:rPr>
                                <m:t>=1</m:t>
                              </m:r>
                            </m:sub>
                            <m:sup>
                              <m:r>
                                <a:rPr lang="en-US" altLang="zh-CN" sz="800" b="0" i="1" smtClean="0">
                                  <a:solidFill>
                                    <a:srgbClr val="1F4B70"/>
                                  </a:solidFill>
                                  <a:latin typeface="Cambria Math" panose="02040503050406030204" pitchFamily="18" charset="0"/>
                                  <a:ea typeface="微软雅黑" panose="020B0503020204020204" pitchFamily="34" charset="-122"/>
                                </a:rPr>
                                <m:t>𝑛</m:t>
                              </m:r>
                            </m:sup>
                            <m:e>
                              <m:r>
                                <a:rPr lang="en-US" altLang="zh-CN" sz="800" b="0" i="1" smtClean="0">
                                  <a:solidFill>
                                    <a:srgbClr val="1F4B70"/>
                                  </a:solidFill>
                                  <a:latin typeface="Cambria Math" panose="02040503050406030204" pitchFamily="18" charset="0"/>
                                  <a:ea typeface="微软雅黑" panose="020B0503020204020204" pitchFamily="34" charset="-122"/>
                                </a:rPr>
                                <m:t>𝑥</m:t>
                              </m:r>
                              <m:r>
                                <a:rPr lang="en-US" altLang="zh-CN" sz="800" b="0" i="1" baseline="-25000" smtClean="0">
                                  <a:solidFill>
                                    <a:srgbClr val="1F4B70"/>
                                  </a:solidFill>
                                  <a:latin typeface="Cambria Math" panose="02040503050406030204" pitchFamily="18" charset="0"/>
                                  <a:ea typeface="微软雅黑" panose="020B0503020204020204" pitchFamily="34" charset="-122"/>
                                </a:rPr>
                                <m:t>𝑖</m:t>
                              </m:r>
                            </m:e>
                          </m:nary>
                        </m:oMath>
                      </m:oMathPara>
                    </a14:m>
                    <a:endParaRPr lang="zh-CN" altLang="en-US" sz="7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79137F0D-DB28-4153-BE7E-111710737A69}"/>
                      </a:ext>
                    </a:extLst>
                  </p:cNvPr>
                  <p:cNvSpPr txBox="1">
                    <a:spLocks noRot="1" noChangeAspect="1" noMove="1" noResize="1" noEditPoints="1" noAdjustHandles="1" noChangeArrowheads="1" noChangeShapeType="1" noTextEdit="1"/>
                  </p:cNvSpPr>
                  <p:nvPr/>
                </p:nvSpPr>
                <p:spPr>
                  <a:xfrm>
                    <a:off x="7059515" y="2728626"/>
                    <a:ext cx="657039" cy="336182"/>
                  </a:xfrm>
                  <a:prstGeom prst="rect">
                    <a:avLst/>
                  </a:prstGeom>
                  <a:blipFill>
                    <a:blip r:embed="rId4"/>
                    <a:stretch>
                      <a:fillRect l="-28037" t="-123636" r="-71028" b="-185455"/>
                    </a:stretch>
                  </a:blipFill>
                </p:spPr>
                <p:txBody>
                  <a:bodyPr/>
                  <a:lstStyle/>
                  <a:p>
                    <a:r>
                      <a:rPr lang="zh-CN" altLang="en-US">
                        <a:noFill/>
                      </a:rPr>
                      <a:t> </a:t>
                    </a:r>
                  </a:p>
                </p:txBody>
              </p:sp>
            </mc:Fallback>
          </mc:AlternateContent>
          <p:sp>
            <p:nvSpPr>
              <p:cNvPr id="59" name="矩形 58">
                <a:extLst>
                  <a:ext uri="{FF2B5EF4-FFF2-40B4-BE49-F238E27FC236}">
                    <a16:creationId xmlns:a16="http://schemas.microsoft.com/office/drawing/2014/main" id="{3BD1AAF7-6368-405B-97AA-51A98E20EECC}"/>
                  </a:ext>
                </a:extLst>
              </p:cNvPr>
              <p:cNvSpPr/>
              <p:nvPr/>
            </p:nvSpPr>
            <p:spPr>
              <a:xfrm>
                <a:off x="6871888" y="2855057"/>
                <a:ext cx="1205779" cy="369332"/>
              </a:xfrm>
              <a:prstGeom prst="rect">
                <a:avLst/>
              </a:prstGeom>
            </p:spPr>
            <p:txBody>
              <a:bodyPr wrap="none">
                <a:spAutoFit/>
              </a:bodyPr>
              <a:lstStyle/>
              <a:p>
                <a:pPr lvl="0" eaLnBrk="1" hangingPunct="1"/>
                <a:r>
                  <a:rPr kumimoji="1" lang="en-US" altLang="zh-CN" i="1" dirty="0">
                    <a:solidFill>
                      <a:srgbClr val="1F4B70"/>
                    </a:solidFill>
                    <a:latin typeface="Times New Roman" panose="02020603050405020304" pitchFamily="18" charset="0"/>
                  </a:rPr>
                  <a:t>=p     </a:t>
                </a:r>
                <a:r>
                  <a:rPr kumimoji="1" lang="en-US" altLang="zh-CN" dirty="0">
                    <a:solidFill>
                      <a:srgbClr val="1F4B70"/>
                    </a:solidFill>
                    <a:latin typeface="Times New Roman" panose="02020603050405020304" pitchFamily="18" charset="0"/>
                  </a:rPr>
                  <a:t>(1</a:t>
                </a:r>
                <a:r>
                  <a:rPr kumimoji="1" lang="en-US" altLang="zh-CN" i="1" dirty="0">
                    <a:solidFill>
                      <a:srgbClr val="1F4B70"/>
                    </a:solidFill>
                    <a:latin typeface="Times New Roman" panose="02020603050405020304" pitchFamily="18" charset="0"/>
                  </a:rPr>
                  <a:t>-p</a:t>
                </a:r>
                <a:r>
                  <a:rPr kumimoji="1" lang="en-US" altLang="zh-CN" dirty="0">
                    <a:solidFill>
                      <a:srgbClr val="1F4B70"/>
                    </a:solidFill>
                    <a:latin typeface="Times New Roman" panose="02020603050405020304" pitchFamily="18" charset="0"/>
                  </a:rPr>
                  <a:t>)</a:t>
                </a:r>
                <a:endParaRPr kumimoji="1" lang="en-US" altLang="zh-CN" baseline="24000" dirty="0">
                  <a:solidFill>
                    <a:srgbClr val="1F4B70"/>
                  </a:solidFill>
                  <a:latin typeface="Times New Roman" panose="02020603050405020304" pitchFamily="18" charset="0"/>
                </a:endParaRPr>
              </a:p>
            </p:txBody>
          </p:sp>
          <p:grpSp>
            <p:nvGrpSpPr>
              <p:cNvPr id="7" name="组合 6">
                <a:extLst>
                  <a:ext uri="{FF2B5EF4-FFF2-40B4-BE49-F238E27FC236}">
                    <a16:creationId xmlns:a16="http://schemas.microsoft.com/office/drawing/2014/main" id="{978A2CA5-D2A6-4621-9498-89EAF8F75174}"/>
                  </a:ext>
                </a:extLst>
              </p:cNvPr>
              <p:cNvGrpSpPr/>
              <p:nvPr/>
            </p:nvGrpSpPr>
            <p:grpSpPr>
              <a:xfrm>
                <a:off x="7920818" y="2714295"/>
                <a:ext cx="657039" cy="336182"/>
                <a:chOff x="7871186" y="2714295"/>
                <a:chExt cx="657039" cy="336182"/>
              </a:xfrm>
            </p:grpSpPr>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D24CE87A-8DDF-4EC5-8059-28AA6682346D}"/>
                        </a:ext>
                      </a:extLst>
                    </p:cNvPr>
                    <p:cNvSpPr txBox="1"/>
                    <p:nvPr/>
                  </p:nvSpPr>
                  <p:spPr>
                    <a:xfrm>
                      <a:off x="7871186" y="2714295"/>
                      <a:ext cx="657039" cy="3361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800" i="1" smtClean="0">
                                    <a:solidFill>
                                      <a:srgbClr val="1F4B70"/>
                                    </a:solidFill>
                                    <a:latin typeface="Cambria Math" panose="02040503050406030204" pitchFamily="18" charset="0"/>
                                    <a:ea typeface="微软雅黑" panose="020B0503020204020204" pitchFamily="34" charset="-122"/>
                                  </a:rPr>
                                </m:ctrlPr>
                              </m:naryPr>
                              <m:sub>
                                <m:r>
                                  <m:rPr>
                                    <m:brk m:alnAt="23"/>
                                  </m:rPr>
                                  <a:rPr lang="en-US" altLang="zh-CN" sz="800" b="0" i="1" smtClean="0">
                                    <a:solidFill>
                                      <a:srgbClr val="1F4B70"/>
                                    </a:solidFill>
                                    <a:latin typeface="Cambria Math" panose="02040503050406030204" pitchFamily="18" charset="0"/>
                                    <a:ea typeface="微软雅黑" panose="020B0503020204020204" pitchFamily="34" charset="-122"/>
                                  </a:rPr>
                                  <m:t>𝑖</m:t>
                                </m:r>
                                <m:r>
                                  <a:rPr lang="en-US" altLang="zh-CN" sz="800" b="0" i="1" smtClean="0">
                                    <a:solidFill>
                                      <a:srgbClr val="1F4B70"/>
                                    </a:solidFill>
                                    <a:latin typeface="Cambria Math" panose="02040503050406030204" pitchFamily="18" charset="0"/>
                                    <a:ea typeface="微软雅黑" panose="020B0503020204020204" pitchFamily="34" charset="-122"/>
                                  </a:rPr>
                                  <m:t>=1</m:t>
                                </m:r>
                              </m:sub>
                              <m:sup>
                                <m:r>
                                  <a:rPr lang="en-US" altLang="zh-CN" sz="800" b="0" i="1" smtClean="0">
                                    <a:solidFill>
                                      <a:srgbClr val="1F4B70"/>
                                    </a:solidFill>
                                    <a:latin typeface="Cambria Math" panose="02040503050406030204" pitchFamily="18" charset="0"/>
                                    <a:ea typeface="微软雅黑" panose="020B0503020204020204" pitchFamily="34" charset="-122"/>
                                  </a:rPr>
                                  <m:t>𝑛</m:t>
                                </m:r>
                              </m:sup>
                              <m:e>
                                <m:r>
                                  <a:rPr lang="en-US" altLang="zh-CN" sz="800" b="0" i="1" smtClean="0">
                                    <a:solidFill>
                                      <a:srgbClr val="1F4B70"/>
                                    </a:solidFill>
                                    <a:latin typeface="Cambria Math" panose="02040503050406030204" pitchFamily="18" charset="0"/>
                                    <a:ea typeface="微软雅黑" panose="020B0503020204020204" pitchFamily="34" charset="-122"/>
                                  </a:rPr>
                                  <m:t>𝑥</m:t>
                                </m:r>
                                <m:r>
                                  <a:rPr lang="en-US" altLang="zh-CN" sz="800" b="0" i="1" baseline="-25000" smtClean="0">
                                    <a:solidFill>
                                      <a:srgbClr val="1F4B70"/>
                                    </a:solidFill>
                                    <a:latin typeface="Cambria Math" panose="02040503050406030204" pitchFamily="18" charset="0"/>
                                    <a:ea typeface="微软雅黑" panose="020B0503020204020204" pitchFamily="34" charset="-122"/>
                                  </a:rPr>
                                  <m:t>𝑖</m:t>
                                </m:r>
                              </m:e>
                            </m:nary>
                          </m:oMath>
                        </m:oMathPara>
                      </a14:m>
                      <a:endParaRPr lang="zh-CN" altLang="en-US" sz="7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60" name="文本框 59">
                      <a:extLst>
                        <a:ext uri="{FF2B5EF4-FFF2-40B4-BE49-F238E27FC236}">
                          <a16:creationId xmlns:a16="http://schemas.microsoft.com/office/drawing/2014/main" id="{D24CE87A-8DDF-4EC5-8059-28AA6682346D}"/>
                        </a:ext>
                      </a:extLst>
                    </p:cNvPr>
                    <p:cNvSpPr txBox="1">
                      <a:spLocks noRot="1" noChangeAspect="1" noMove="1" noResize="1" noEditPoints="1" noAdjustHandles="1" noChangeArrowheads="1" noChangeShapeType="1" noTextEdit="1"/>
                    </p:cNvSpPr>
                    <p:nvPr/>
                  </p:nvSpPr>
                  <p:spPr>
                    <a:xfrm>
                      <a:off x="7871186" y="2714295"/>
                      <a:ext cx="657039" cy="336182"/>
                    </a:xfrm>
                    <a:prstGeom prst="rect">
                      <a:avLst/>
                    </a:prstGeom>
                    <a:blipFill>
                      <a:blip r:embed="rId5"/>
                      <a:stretch>
                        <a:fillRect l="-27778" t="-125455" r="-69444" b="-183636"/>
                      </a:stretch>
                    </a:blipFill>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928C37DA-F0E9-46F5-B29C-3E1FCD25C4B4}"/>
                    </a:ext>
                  </a:extLst>
                </p:cNvPr>
                <p:cNvSpPr/>
                <p:nvPr/>
              </p:nvSpPr>
              <p:spPr>
                <a:xfrm>
                  <a:off x="7871186" y="2773606"/>
                  <a:ext cx="292068" cy="246221"/>
                </a:xfrm>
                <a:prstGeom prst="rect">
                  <a:avLst/>
                </a:prstGeom>
              </p:spPr>
              <p:txBody>
                <a:bodyPr wrap="none">
                  <a:spAutoFit/>
                </a:bodyPr>
                <a:lstStyle/>
                <a:p>
                  <a:pPr lvl="0" eaLnBrk="1" hangingPunct="1"/>
                  <a:r>
                    <a:rPr kumimoji="1" lang="en-US" altLang="zh-CN" sz="1000" i="1" dirty="0">
                      <a:solidFill>
                        <a:srgbClr val="1F4B70"/>
                      </a:solidFill>
                      <a:latin typeface="Times New Roman" panose="02020603050405020304" pitchFamily="18" charset="0"/>
                    </a:rPr>
                    <a:t>n-</a:t>
                  </a:r>
                  <a:endParaRPr kumimoji="1" lang="en-US" altLang="zh-CN" sz="1000" i="1" baseline="24000" dirty="0">
                    <a:solidFill>
                      <a:srgbClr val="1F4B70"/>
                    </a:solidFill>
                    <a:latin typeface="Times New Roman" panose="02020603050405020304" pitchFamily="18" charset="0"/>
                  </a:endParaRPr>
                </a:p>
              </p:txBody>
            </p:sp>
          </p:grpSp>
        </p:grpSp>
      </p:grpSp>
      <p:graphicFrame>
        <p:nvGraphicFramePr>
          <p:cNvPr id="62" name="Object 16">
            <a:extLst>
              <a:ext uri="{FF2B5EF4-FFF2-40B4-BE49-F238E27FC236}">
                <a16:creationId xmlns:a16="http://schemas.microsoft.com/office/drawing/2014/main" id="{0F070A20-32F0-484E-BC6A-21152AE77694}"/>
              </a:ext>
            </a:extLst>
          </p:cNvPr>
          <p:cNvGraphicFramePr>
            <a:graphicFrameLocks noChangeAspect="1"/>
          </p:cNvGraphicFramePr>
          <p:nvPr/>
        </p:nvGraphicFramePr>
        <p:xfrm>
          <a:off x="1811338" y="4097338"/>
          <a:ext cx="2827337" cy="665162"/>
        </p:xfrm>
        <a:graphic>
          <a:graphicData uri="http://schemas.openxmlformats.org/presentationml/2006/ole">
            <mc:AlternateContent xmlns:mc="http://schemas.openxmlformats.org/markup-compatibility/2006">
              <mc:Choice xmlns:v="urn:schemas-microsoft-com:vml" Requires="v">
                <p:oleObj name="Equation" r:id="rId6" imgW="1295280" imgH="304560" progId="Equation.DSMT4">
                  <p:embed/>
                </p:oleObj>
              </mc:Choice>
              <mc:Fallback>
                <p:oleObj name="Equation" r:id="rId6" imgW="1295280" imgH="304560" progId="Equation.DSMT4">
                  <p:embed/>
                  <p:pic>
                    <p:nvPicPr>
                      <p:cNvPr id="62" name="Object 16">
                        <a:extLst>
                          <a:ext uri="{FF2B5EF4-FFF2-40B4-BE49-F238E27FC236}">
                            <a16:creationId xmlns:a16="http://schemas.microsoft.com/office/drawing/2014/main" id="{0F070A20-32F0-484E-BC6A-21152AE77694}"/>
                          </a:ext>
                        </a:extLst>
                      </p:cNvPr>
                      <p:cNvPicPr>
                        <a:picLocks noChangeAspect="1" noChangeArrowheads="1"/>
                      </p:cNvPicPr>
                      <p:nvPr/>
                    </p:nvPicPr>
                    <p:blipFill>
                      <a:blip r:embed="rId7"/>
                      <a:srcRect/>
                      <a:stretch>
                        <a:fillRect/>
                      </a:stretch>
                    </p:blipFill>
                    <p:spPr bwMode="auto">
                      <a:xfrm>
                        <a:off x="1811338" y="4097338"/>
                        <a:ext cx="2827337"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 name="Object 17">
            <a:extLst>
              <a:ext uri="{FF2B5EF4-FFF2-40B4-BE49-F238E27FC236}">
                <a16:creationId xmlns:a16="http://schemas.microsoft.com/office/drawing/2014/main" id="{CA8ED142-94BD-4DCD-8387-F9EB514A0B16}"/>
              </a:ext>
            </a:extLst>
          </p:cNvPr>
          <p:cNvGraphicFramePr>
            <a:graphicFrameLocks noChangeAspect="1"/>
          </p:cNvGraphicFramePr>
          <p:nvPr/>
        </p:nvGraphicFramePr>
        <p:xfrm>
          <a:off x="4601617" y="4292252"/>
          <a:ext cx="2706687" cy="439738"/>
        </p:xfrm>
        <a:graphic>
          <a:graphicData uri="http://schemas.openxmlformats.org/presentationml/2006/ole">
            <mc:AlternateContent xmlns:mc="http://schemas.openxmlformats.org/markup-compatibility/2006">
              <mc:Choice xmlns:v="urn:schemas-microsoft-com:vml" Requires="v">
                <p:oleObj name="Equation" r:id="rId8" imgW="1320480" imgH="215640" progId="Equation.DSMT4">
                  <p:embed/>
                </p:oleObj>
              </mc:Choice>
              <mc:Fallback>
                <p:oleObj name="Equation" r:id="rId8" imgW="1320480" imgH="215640" progId="Equation.DSMT4">
                  <p:embed/>
                  <p:pic>
                    <p:nvPicPr>
                      <p:cNvPr id="63" name="Object 17">
                        <a:extLst>
                          <a:ext uri="{FF2B5EF4-FFF2-40B4-BE49-F238E27FC236}">
                            <a16:creationId xmlns:a16="http://schemas.microsoft.com/office/drawing/2014/main" id="{CA8ED142-94BD-4DCD-8387-F9EB514A0B16}"/>
                          </a:ext>
                        </a:extLst>
                      </p:cNvPr>
                      <p:cNvPicPr>
                        <a:picLocks noChangeAspect="1" noChangeArrowheads="1"/>
                      </p:cNvPicPr>
                      <p:nvPr/>
                    </p:nvPicPr>
                    <p:blipFill>
                      <a:blip r:embed="rId9"/>
                      <a:srcRect/>
                      <a:stretch>
                        <a:fillRect/>
                      </a:stretch>
                    </p:blipFill>
                    <p:spPr bwMode="auto">
                      <a:xfrm>
                        <a:off x="4601617" y="4292252"/>
                        <a:ext cx="270668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43953298"/>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1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p:tgtEl>
                                          <p:spTgt spid="13"/>
                                        </p:tgtEl>
                                        <p:attrNameLst>
                                          <p:attrName>ppt_y</p:attrName>
                                        </p:attrNameLst>
                                      </p:cBhvr>
                                      <p:tavLst>
                                        <p:tav tm="0">
                                          <p:val>
                                            <p:strVal val="#ppt_y+#ppt_h*1.125000"/>
                                          </p:val>
                                        </p:tav>
                                        <p:tav tm="100000">
                                          <p:val>
                                            <p:strVal val="#ppt_y"/>
                                          </p:val>
                                        </p:tav>
                                      </p:tavLst>
                                    </p:anim>
                                    <p:animEffect transition="in" filter="wipe(up)">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wipe(left)">
                                      <p:cBhvr>
                                        <p:cTn id="21" dur="500"/>
                                        <p:tgtEl>
                                          <p:spTgt spid="7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wipe(left)">
                                      <p:cBhvr>
                                        <p:cTn id="26" dur="500"/>
                                        <p:tgtEl>
                                          <p:spTgt spid="62"/>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slide(fromLeft)">
                                      <p:cBhvr>
                                        <p:cTn id="31"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2DF83D3-A210-403C-8A7A-BD2886ADEA6F}"/>
                  </a:ext>
                </a:extLst>
              </p:cNvPr>
              <p:cNvSpPr txBox="1"/>
              <p:nvPr/>
            </p:nvSpPr>
            <p:spPr>
              <a:xfrm>
                <a:off x="1043608" y="915566"/>
                <a:ext cx="7436716" cy="461665"/>
              </a:xfrm>
              <a:prstGeom prst="rect">
                <a:avLst/>
              </a:prstGeom>
              <a:noFill/>
            </p:spPr>
            <p:txBody>
              <a:bodyPr wrap="none" rtlCol="0">
                <a:spAutoFit/>
              </a:bodyPr>
              <a:lstStyle/>
              <a:p>
                <a:r>
                  <a:rPr lang="zh-CN" altLang="en-US" sz="2400" dirty="0"/>
                  <a:t>如何利用样本</a:t>
                </a:r>
                <a14:m>
                  <m:oMath xmlns:m="http://schemas.openxmlformats.org/officeDocument/2006/math">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oMath>
                </a14:m>
                <a:r>
                  <a:rPr lang="zh-CN" altLang="en-US" sz="2400" dirty="0"/>
                  <a:t>推断总体</a:t>
                </a:r>
                <a14:m>
                  <m:oMath xmlns:m="http://schemas.openxmlformats.org/officeDocument/2006/math">
                    <m:r>
                      <a:rPr lang="en-US" altLang="zh-CN" sz="2400" b="0" i="1" smtClean="0">
                        <a:latin typeface="Cambria Math" panose="02040503050406030204" pitchFamily="18" charset="0"/>
                      </a:rPr>
                      <m:t>𝑋</m:t>
                    </m:r>
                  </m:oMath>
                </a14:m>
                <a:r>
                  <a:rPr lang="zh-CN" altLang="en-US" sz="2400" dirty="0"/>
                  <a:t>的分布函数</a:t>
                </a:r>
                <a14:m>
                  <m:oMath xmlns:m="http://schemas.openxmlformats.org/officeDocument/2006/math">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oMath>
                </a14:m>
                <a:r>
                  <a:rPr lang="zh-CN" altLang="en-US" sz="2400" dirty="0"/>
                  <a:t>？</a:t>
                </a:r>
              </a:p>
            </p:txBody>
          </p:sp>
        </mc:Choice>
        <mc:Fallback xmlns="">
          <p:sp>
            <p:nvSpPr>
              <p:cNvPr id="3" name="文本框 2">
                <a:extLst>
                  <a:ext uri="{FF2B5EF4-FFF2-40B4-BE49-F238E27FC236}">
                    <a16:creationId xmlns:a16="http://schemas.microsoft.com/office/drawing/2014/main" id="{E2DF83D3-A210-403C-8A7A-BD2886ADEA6F}"/>
                  </a:ext>
                </a:extLst>
              </p:cNvPr>
              <p:cNvSpPr txBox="1">
                <a:spLocks noRot="1" noChangeAspect="1" noMove="1" noResize="1" noEditPoints="1" noAdjustHandles="1" noChangeArrowheads="1" noChangeShapeType="1" noTextEdit="1"/>
              </p:cNvSpPr>
              <p:nvPr/>
            </p:nvSpPr>
            <p:spPr>
              <a:xfrm>
                <a:off x="1043608" y="915566"/>
                <a:ext cx="7436716" cy="461665"/>
              </a:xfrm>
              <a:prstGeom prst="rect">
                <a:avLst/>
              </a:prstGeom>
              <a:blipFill>
                <a:blip r:embed="rId2"/>
                <a:stretch>
                  <a:fillRect l="-1230" t="-15789" b="-236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A0A5F03-FE5A-4740-BD1F-5773DB7B2020}"/>
                  </a:ext>
                </a:extLst>
              </p:cNvPr>
              <p:cNvSpPr txBox="1"/>
              <p:nvPr/>
            </p:nvSpPr>
            <p:spPr>
              <a:xfrm>
                <a:off x="1331640" y="1707654"/>
                <a:ext cx="23325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𝐹</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𝑃</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𝑋</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4" name="文本框 3">
                <a:extLst>
                  <a:ext uri="{FF2B5EF4-FFF2-40B4-BE49-F238E27FC236}">
                    <a16:creationId xmlns:a16="http://schemas.microsoft.com/office/drawing/2014/main" id="{8A0A5F03-FE5A-4740-BD1F-5773DB7B2020}"/>
                  </a:ext>
                </a:extLst>
              </p:cNvPr>
              <p:cNvSpPr txBox="1">
                <a:spLocks noRot="1" noChangeAspect="1" noMove="1" noResize="1" noEditPoints="1" noAdjustHandles="1" noChangeArrowheads="1" noChangeShapeType="1" noTextEdit="1"/>
              </p:cNvSpPr>
              <p:nvPr/>
            </p:nvSpPr>
            <p:spPr>
              <a:xfrm>
                <a:off x="1331640" y="1707654"/>
                <a:ext cx="2332562" cy="369332"/>
              </a:xfrm>
              <a:prstGeom prst="rect">
                <a:avLst/>
              </a:prstGeom>
              <a:blipFill>
                <a:blip r:embed="rId3"/>
                <a:stretch>
                  <a:fillRect l="-2611" r="-4178" b="-344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DE5E895-F810-4336-B34F-722CC2FCA8FC}"/>
                  </a:ext>
                </a:extLst>
              </p:cNvPr>
              <p:cNvSpPr txBox="1"/>
              <p:nvPr/>
            </p:nvSpPr>
            <p:spPr>
              <a:xfrm>
                <a:off x="799196" y="2130410"/>
                <a:ext cx="5861035" cy="461665"/>
              </a:xfrm>
              <a:prstGeom prst="rect">
                <a:avLst/>
              </a:prstGeom>
              <a:noFill/>
            </p:spPr>
            <p:txBody>
              <a:bodyPr wrap="square">
                <a:spAutoFit/>
              </a:bodyPr>
              <a:lstStyle/>
              <a:p>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𝑛</m:t>
                        </m:r>
                      </m:sub>
                    </m:sSub>
                    <m:r>
                      <a:rPr lang="zh-CN" altLang="en-US" sz="2400" i="1">
                        <a:latin typeface="Cambria Math" panose="02040503050406030204" pitchFamily="18" charset="0"/>
                      </a:rPr>
                      <m:t>是</m:t>
                    </m:r>
                  </m:oMath>
                </a14:m>
                <a:r>
                  <a:rPr lang="zh-CN" altLang="en-US" sz="2400" dirty="0"/>
                  <a:t>对总体</a:t>
                </a:r>
                <a14:m>
                  <m:oMath xmlns:m="http://schemas.openxmlformats.org/officeDocument/2006/math">
                    <m:r>
                      <m:rPr>
                        <m:sty m:val="p"/>
                      </m:rPr>
                      <a:rPr lang="en-US" altLang="zh-CN" sz="2400" i="1" dirty="0">
                        <a:latin typeface="Cambria Math" panose="02040503050406030204" pitchFamily="18" charset="0"/>
                      </a:rPr>
                      <m:t>X</m:t>
                    </m:r>
                  </m:oMath>
                </a14:m>
                <a:r>
                  <a:rPr lang="zh-CN" altLang="en-US" sz="2400" dirty="0"/>
                  <a:t>做</a:t>
                </a:r>
                <a14:m>
                  <m:oMath xmlns:m="http://schemas.openxmlformats.org/officeDocument/2006/math">
                    <m:r>
                      <a:rPr lang="en-US" altLang="zh-CN" sz="2400" b="0" i="1" dirty="0" smtClean="0">
                        <a:latin typeface="Cambria Math" panose="02040503050406030204" pitchFamily="18" charset="0"/>
                      </a:rPr>
                      <m:t>𝑛</m:t>
                    </m:r>
                    <m:r>
                      <a:rPr lang="zh-CN" altLang="en-US" sz="2400" i="1" dirty="0">
                        <a:latin typeface="Cambria Math" panose="02040503050406030204" pitchFamily="18" charset="0"/>
                      </a:rPr>
                      <m:t>次</m:t>
                    </m:r>
                  </m:oMath>
                </a14:m>
                <a:r>
                  <a:rPr lang="zh-CN" altLang="en-US" sz="2400" dirty="0"/>
                  <a:t>独立观察的结果</a:t>
                </a:r>
              </a:p>
            </p:txBody>
          </p:sp>
        </mc:Choice>
        <mc:Fallback xmlns="">
          <p:sp>
            <p:nvSpPr>
              <p:cNvPr id="6" name="文本框 5">
                <a:extLst>
                  <a:ext uri="{FF2B5EF4-FFF2-40B4-BE49-F238E27FC236}">
                    <a16:creationId xmlns:a16="http://schemas.microsoft.com/office/drawing/2014/main" id="{3DE5E895-F810-4336-B34F-722CC2FCA8FC}"/>
                  </a:ext>
                </a:extLst>
              </p:cNvPr>
              <p:cNvSpPr txBox="1">
                <a:spLocks noRot="1" noChangeAspect="1" noMove="1" noResize="1" noEditPoints="1" noAdjustHandles="1" noChangeArrowheads="1" noChangeShapeType="1" noTextEdit="1"/>
              </p:cNvSpPr>
              <p:nvPr/>
            </p:nvSpPr>
            <p:spPr>
              <a:xfrm>
                <a:off x="799196" y="2130410"/>
                <a:ext cx="5861035" cy="461665"/>
              </a:xfrm>
              <a:prstGeom prst="rect">
                <a:avLst/>
              </a:prstGeom>
              <a:blipFill>
                <a:blip r:embed="rId4"/>
                <a:stretch>
                  <a:fillRect l="-208" t="-15789" b="-236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8FCBFE8-08FF-47F5-AB35-EAB585FF447F}"/>
                  </a:ext>
                </a:extLst>
              </p:cNvPr>
              <p:cNvSpPr txBox="1"/>
              <p:nvPr/>
            </p:nvSpPr>
            <p:spPr>
              <a:xfrm>
                <a:off x="799197" y="2586561"/>
                <a:ext cx="4572000" cy="461665"/>
              </a:xfrm>
              <a:prstGeom prst="rect">
                <a:avLst/>
              </a:prstGeom>
              <a:noFill/>
            </p:spPr>
            <p:txBody>
              <a:bodyPr wrap="square">
                <a:spAutoFit/>
              </a:bodyPr>
              <a:lstStyle/>
              <a:p>
                <a14:m>
                  <m:oMath xmlns:m="http://schemas.openxmlformats.org/officeDocument/2006/math">
                    <m:r>
                      <a:rPr lang="zh-CN" altLang="en-US" sz="2400" b="0" i="1" smtClean="0">
                        <a:latin typeface="Cambria Math" panose="02040503050406030204" pitchFamily="18" charset="0"/>
                      </a:rPr>
                      <m:t>事件</m:t>
                    </m:r>
                    <m:r>
                      <a:rPr lang="en-US" altLang="zh-CN" sz="2400" b="0" i="1" smtClean="0">
                        <a:latin typeface="Cambria Math" panose="02040503050406030204" pitchFamily="18" charset="0"/>
                      </a:rPr>
                      <m:t>“</m:t>
                    </m:r>
                    <m:r>
                      <m:rPr>
                        <m:sty m:val="p"/>
                      </m:rPr>
                      <a:rPr lang="en-US" altLang="zh-CN" sz="2400" i="1" dirty="0">
                        <a:latin typeface="Cambria Math" panose="02040503050406030204" pitchFamily="18" charset="0"/>
                      </a:rPr>
                      <m:t>X</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r>
                      <a:rPr lang="zh-CN" altLang="en-US" sz="2400" i="1" dirty="0">
                        <a:latin typeface="Cambria Math" panose="02040503050406030204" pitchFamily="18" charset="0"/>
                      </a:rPr>
                      <m:t>发生</m:t>
                    </m:r>
                  </m:oMath>
                </a14:m>
                <a:r>
                  <a:rPr lang="zh-CN" altLang="en-US" sz="2400" dirty="0"/>
                  <a:t>的频率：</a:t>
                </a:r>
              </a:p>
            </p:txBody>
          </p:sp>
        </mc:Choice>
        <mc:Fallback xmlns="">
          <p:sp>
            <p:nvSpPr>
              <p:cNvPr id="7" name="文本框 6">
                <a:extLst>
                  <a:ext uri="{FF2B5EF4-FFF2-40B4-BE49-F238E27FC236}">
                    <a16:creationId xmlns:a16="http://schemas.microsoft.com/office/drawing/2014/main" id="{A8FCBFE8-08FF-47F5-AB35-EAB585FF447F}"/>
                  </a:ext>
                </a:extLst>
              </p:cNvPr>
              <p:cNvSpPr txBox="1">
                <a:spLocks noRot="1" noChangeAspect="1" noMove="1" noResize="1" noEditPoints="1" noAdjustHandles="1" noChangeArrowheads="1" noChangeShapeType="1" noTextEdit="1"/>
              </p:cNvSpPr>
              <p:nvPr/>
            </p:nvSpPr>
            <p:spPr>
              <a:xfrm>
                <a:off x="799197" y="2586561"/>
                <a:ext cx="4572000" cy="461665"/>
              </a:xfrm>
              <a:prstGeom prst="rect">
                <a:avLst/>
              </a:prstGeom>
              <a:blipFill>
                <a:blip r:embed="rId5"/>
                <a:stretch>
                  <a:fillRect l="-1067" t="-15789" b="-236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143F719-0BCF-4EFE-8685-0A5803AE7657}"/>
                  </a:ext>
                </a:extLst>
              </p:cNvPr>
              <p:cNvSpPr txBox="1"/>
              <p:nvPr/>
            </p:nvSpPr>
            <p:spPr>
              <a:xfrm>
                <a:off x="799197" y="3068255"/>
                <a:ext cx="4572000" cy="8323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400" b="0" i="1" dirty="0" smtClean="0">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𝑋</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𝑋</m:t>
                              </m:r>
                            </m:e>
                            <m:sub>
                              <m:r>
                                <a:rPr lang="en-US" altLang="zh-CN" sz="2400" i="1">
                                  <a:latin typeface="Cambria Math" panose="02040503050406030204" pitchFamily="18" charset="0"/>
                                </a:rPr>
                                <m:t>𝑛</m:t>
                              </m:r>
                            </m:sub>
                          </m:sSub>
                          <m:r>
                            <a:rPr lang="zh-CN" altLang="en-US" sz="2400" i="1">
                              <a:latin typeface="Cambria Math" panose="02040503050406030204" pitchFamily="18" charset="0"/>
                            </a:rPr>
                            <m:t>中</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zh-CN" altLang="en-US" sz="2400" i="1">
                              <a:latin typeface="Cambria Math" panose="02040503050406030204" pitchFamily="18" charset="0"/>
                            </a:rPr>
                            <m:t>的</m:t>
                          </m:r>
                          <m:r>
                            <m:rPr>
                              <m:nor/>
                            </m:rPr>
                            <a:rPr lang="zh-CN" altLang="en-US" sz="2400" dirty="0"/>
                            <m:t>个数</m:t>
                          </m:r>
                        </m:num>
                        <m:den>
                          <m:r>
                            <a:rPr lang="en-US" altLang="zh-CN" sz="2400" b="0" i="1" dirty="0" smtClean="0">
                              <a:latin typeface="Cambria Math" panose="02040503050406030204" pitchFamily="18" charset="0"/>
                            </a:rPr>
                            <m:t>𝑛</m:t>
                          </m:r>
                        </m:den>
                      </m:f>
                    </m:oMath>
                  </m:oMathPara>
                </a14:m>
                <a:endParaRPr lang="zh-CN" altLang="en-US" sz="2400" dirty="0"/>
              </a:p>
            </p:txBody>
          </p:sp>
        </mc:Choice>
        <mc:Fallback xmlns="">
          <p:sp>
            <p:nvSpPr>
              <p:cNvPr id="8" name="文本框 7">
                <a:extLst>
                  <a:ext uri="{FF2B5EF4-FFF2-40B4-BE49-F238E27FC236}">
                    <a16:creationId xmlns:a16="http://schemas.microsoft.com/office/drawing/2014/main" id="{9143F719-0BCF-4EFE-8685-0A5803AE7657}"/>
                  </a:ext>
                </a:extLst>
              </p:cNvPr>
              <p:cNvSpPr txBox="1">
                <a:spLocks noRot="1" noChangeAspect="1" noMove="1" noResize="1" noEditPoints="1" noAdjustHandles="1" noChangeArrowheads="1" noChangeShapeType="1" noTextEdit="1"/>
              </p:cNvSpPr>
              <p:nvPr/>
            </p:nvSpPr>
            <p:spPr>
              <a:xfrm>
                <a:off x="799197" y="3068255"/>
                <a:ext cx="4572000" cy="83234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B4223E2-D18D-4837-991E-6421143336AE}"/>
                  </a:ext>
                </a:extLst>
              </p:cNvPr>
              <p:cNvSpPr txBox="1"/>
              <p:nvPr/>
            </p:nvSpPr>
            <p:spPr>
              <a:xfrm>
                <a:off x="814410" y="3827910"/>
                <a:ext cx="5773814"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可作为</m:t>
                    </m:r>
                    <m:r>
                      <a:rPr lang="zh-CN" altLang="en-US" sz="2400" b="0" i="1" smtClean="0">
                        <a:latin typeface="Cambria Math" panose="02040503050406030204" pitchFamily="18" charset="0"/>
                      </a:rPr>
                      <m:t>事件</m:t>
                    </m:r>
                    <m:r>
                      <a:rPr lang="en-US" altLang="zh-CN" sz="2400" b="0" i="1" smtClean="0">
                        <a:latin typeface="Cambria Math" panose="02040503050406030204" pitchFamily="18" charset="0"/>
                      </a:rPr>
                      <m:t>“</m:t>
                    </m:r>
                    <m:r>
                      <m:rPr>
                        <m:sty m:val="p"/>
                      </m:rPr>
                      <a:rPr lang="en-US" altLang="zh-CN" sz="2400" i="1" dirty="0">
                        <a:latin typeface="Cambria Math" panose="02040503050406030204" pitchFamily="18" charset="0"/>
                      </a:rPr>
                      <m:t>X</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r>
                      <a:rPr lang="zh-CN" altLang="en-US" sz="2400" i="1" dirty="0">
                        <a:latin typeface="Cambria Math" panose="02040503050406030204" pitchFamily="18" charset="0"/>
                      </a:rPr>
                      <m:t>发生</m:t>
                    </m:r>
                  </m:oMath>
                </a14:m>
                <a:r>
                  <a:rPr lang="zh-CN" altLang="en-US" sz="2400" dirty="0"/>
                  <a:t>的概率</a:t>
                </a:r>
                <a14:m>
                  <m:oMath xmlns:m="http://schemas.openxmlformats.org/officeDocument/2006/math">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oMath>
                </a14:m>
                <a:r>
                  <a:rPr lang="zh-CN" altLang="en-US" sz="2400" dirty="0"/>
                  <a:t>的估计</a:t>
                </a:r>
              </a:p>
            </p:txBody>
          </p:sp>
        </mc:Choice>
        <mc:Fallback xmlns="">
          <p:sp>
            <p:nvSpPr>
              <p:cNvPr id="9" name="文本框 8">
                <a:extLst>
                  <a:ext uri="{FF2B5EF4-FFF2-40B4-BE49-F238E27FC236}">
                    <a16:creationId xmlns:a16="http://schemas.microsoft.com/office/drawing/2014/main" id="{AB4223E2-D18D-4837-991E-6421143336AE}"/>
                  </a:ext>
                </a:extLst>
              </p:cNvPr>
              <p:cNvSpPr txBox="1">
                <a:spLocks noRot="1" noChangeAspect="1" noMove="1" noResize="1" noEditPoints="1" noAdjustHandles="1" noChangeArrowheads="1" noChangeShapeType="1" noTextEdit="1"/>
              </p:cNvSpPr>
              <p:nvPr/>
            </p:nvSpPr>
            <p:spPr>
              <a:xfrm>
                <a:off x="814410" y="3827910"/>
                <a:ext cx="5773814" cy="461665"/>
              </a:xfrm>
              <a:prstGeom prst="rect">
                <a:avLst/>
              </a:prstGeom>
              <a:blipFill>
                <a:blip r:embed="rId7"/>
                <a:stretch>
                  <a:fillRect l="-950" t="-15789" r="-845" b="-236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094202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416559" y="1635646"/>
            <a:ext cx="4015985" cy="393775"/>
            <a:chOff x="1416559" y="1488208"/>
            <a:chExt cx="4015985" cy="393775"/>
          </a:xfrm>
        </p:grpSpPr>
        <p:sp>
          <p:nvSpPr>
            <p:cNvPr id="67" name="Text Box 9">
              <a:extLst>
                <a:ext uri="{FF2B5EF4-FFF2-40B4-BE49-F238E27FC236}">
                  <a16:creationId xmlns:a16="http://schemas.microsoft.com/office/drawing/2014/main" id="{6CBF1717-14EB-4974-B22B-28069928E753}"/>
                </a:ext>
              </a:extLst>
            </p:cNvPr>
            <p:cNvSpPr txBox="1">
              <a:spLocks noChangeArrowheads="1"/>
            </p:cNvSpPr>
            <p:nvPr/>
          </p:nvSpPr>
          <p:spPr bwMode="auto">
            <a:xfrm>
              <a:off x="1868821" y="1488208"/>
              <a:ext cx="12426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dirty="0">
                  <a:solidFill>
                    <a:srgbClr val="1F4B70"/>
                  </a:solidFill>
                  <a:latin typeface="Times New Roman" panose="02020603050405020304" pitchFamily="18" charset="0"/>
                </a:rPr>
                <a:t>, </a:t>
              </a:r>
              <a:r>
                <a:rPr lang="en-US" altLang="zh-CN" sz="1800" dirty="0">
                  <a:solidFill>
                    <a:srgbClr val="1F4B70"/>
                  </a:solidFill>
                  <a:latin typeface="Times New Roman" pitchFamily="18" charset="0"/>
                  <a:cs typeface="Times New Roman" pitchFamily="18" charset="0"/>
                </a:rPr>
                <a:t>∙∙∙</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endParaRPr kumimoji="1" lang="en-US" altLang="zh-CN" sz="1800" i="1" baseline="-25000" dirty="0">
                <a:solidFill>
                  <a:srgbClr val="1F4B70"/>
                </a:solidFill>
                <a:latin typeface="Times New Roman" panose="02020603050405020304" pitchFamily="18" charset="0"/>
              </a:endParaRPr>
            </a:p>
          </p:txBody>
        </p:sp>
        <p:sp>
          <p:nvSpPr>
            <p:cNvPr id="68" name="Rectangle 10">
              <a:extLst>
                <a:ext uri="{FF2B5EF4-FFF2-40B4-BE49-F238E27FC236}">
                  <a16:creationId xmlns:a16="http://schemas.microsoft.com/office/drawing/2014/main" id="{12F7B85C-1C81-47FA-80A3-8F5B47199E6F}"/>
                </a:ext>
              </a:extLst>
            </p:cNvPr>
            <p:cNvSpPr>
              <a:spLocks noChangeArrowheads="1"/>
            </p:cNvSpPr>
            <p:nvPr/>
          </p:nvSpPr>
          <p:spPr bwMode="auto">
            <a:xfrm>
              <a:off x="1416559" y="1507333"/>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(1)</a:t>
              </a:r>
            </a:p>
          </p:txBody>
        </p:sp>
        <p:sp>
          <p:nvSpPr>
            <p:cNvPr id="70" name="AutoShape 12">
              <a:extLst>
                <a:ext uri="{FF2B5EF4-FFF2-40B4-BE49-F238E27FC236}">
                  <a16:creationId xmlns:a16="http://schemas.microsoft.com/office/drawing/2014/main" id="{0124A8EE-DFE9-4253-9BF7-722F7FA73A67}"/>
                </a:ext>
              </a:extLst>
            </p:cNvPr>
            <p:cNvSpPr>
              <a:spLocks noChangeArrowheads="1"/>
            </p:cNvSpPr>
            <p:nvPr/>
          </p:nvSpPr>
          <p:spPr bwMode="auto">
            <a:xfrm>
              <a:off x="3209012" y="1646734"/>
              <a:ext cx="306008" cy="153004"/>
            </a:xfrm>
            <a:custGeom>
              <a:avLst/>
              <a:gdLst>
                <a:gd name="T0" fmla="*/ 129420076 w 21600"/>
                <a:gd name="T1" fmla="*/ 0 h 21600"/>
                <a:gd name="T2" fmla="*/ 0 w 21600"/>
                <a:gd name="T3" fmla="*/ 10785005 h 21600"/>
                <a:gd name="T4" fmla="*/ 129420076 w 21600"/>
                <a:gd name="T5" fmla="*/ 21570009 h 21600"/>
                <a:gd name="T6" fmla="*/ 172560114 w 21600"/>
                <a:gd name="T7" fmla="*/ 10785005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1F4B70"/>
            </a:solidFill>
            <a:ln>
              <a:noFill/>
            </a:ln>
            <a:effectLst/>
          </p:spPr>
          <p:txBody>
            <a:bodyPr wrap="none" anchor="ctr"/>
            <a:lstStyle/>
            <a:p>
              <a:endParaRPr lang="zh-CN" altLang="en-US" sz="1417"/>
            </a:p>
          </p:txBody>
        </p:sp>
        <p:sp>
          <p:nvSpPr>
            <p:cNvPr id="71" name="Text Box 13">
              <a:extLst>
                <a:ext uri="{FF2B5EF4-FFF2-40B4-BE49-F238E27FC236}">
                  <a16:creationId xmlns:a16="http://schemas.microsoft.com/office/drawing/2014/main" id="{5275AF0D-2ED1-4E7C-B986-E53E63E46274}"/>
                </a:ext>
              </a:extLst>
            </p:cNvPr>
            <p:cNvSpPr txBox="1">
              <a:spLocks noChangeArrowheads="1"/>
            </p:cNvSpPr>
            <p:nvPr/>
          </p:nvSpPr>
          <p:spPr bwMode="auto">
            <a:xfrm>
              <a:off x="3603197" y="1512651"/>
              <a:ext cx="1829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lang="en-US" altLang="zh-CN" sz="1800" dirty="0">
                  <a:solidFill>
                    <a:srgbClr val="1F4B70"/>
                  </a:solidFill>
                  <a:latin typeface="Times New Roman" pitchFamily="18" charset="0"/>
                  <a:cs typeface="Times New Roman" pitchFamily="18" charset="0"/>
                </a:rPr>
                <a:t>∙∙∙</a:t>
              </a:r>
              <a:r>
                <a:rPr kumimoji="1" lang="en-US" altLang="zh-CN" sz="1800" dirty="0">
                  <a:solidFill>
                    <a:srgbClr val="1F4B70"/>
                  </a:solidFill>
                  <a:latin typeface="MT Extra" panose="05050102010205020202" pitchFamily="18" charset="2"/>
                </a:rPr>
                <a:t> </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baseline="30000" dirty="0">
                  <a:solidFill>
                    <a:srgbClr val="1F4B70"/>
                  </a:solidFill>
                  <a:latin typeface="Times New Roman" panose="02020603050405020304" pitchFamily="18" charset="0"/>
                </a:rPr>
                <a:t>*</a:t>
              </a:r>
            </a:p>
          </p:txBody>
        </p:sp>
      </p:grpSp>
      <p:sp>
        <p:nvSpPr>
          <p:cNvPr id="72" name="AutoShape 6">
            <a:extLst>
              <a:ext uri="{FF2B5EF4-FFF2-40B4-BE49-F238E27FC236}">
                <a16:creationId xmlns:a16="http://schemas.microsoft.com/office/drawing/2014/main" id="{B82F2553-343F-424B-A808-004EF0321CEE}"/>
              </a:ext>
            </a:extLst>
          </p:cNvPr>
          <p:cNvSpPr>
            <a:spLocks/>
          </p:cNvSpPr>
          <p:nvPr/>
        </p:nvSpPr>
        <p:spPr bwMode="auto">
          <a:xfrm>
            <a:off x="2680268" y="2406298"/>
            <a:ext cx="72678" cy="714429"/>
          </a:xfrm>
          <a:prstGeom prst="leftBrace">
            <a:avLst>
              <a:gd name="adj1" fmla="val 44424"/>
              <a:gd name="adj2" fmla="val 50000"/>
            </a:avLst>
          </a:prstGeom>
          <a:noFill/>
          <a:ln w="19050">
            <a:solidFill>
              <a:srgbClr val="1F4B7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31">
              <a:solidFill>
                <a:srgbClr val="1F4B70"/>
              </a:solidFill>
            </a:endParaRPr>
          </a:p>
        </p:txBody>
      </p:sp>
      <p:grpSp>
        <p:nvGrpSpPr>
          <p:cNvPr id="4" name="组合 3"/>
          <p:cNvGrpSpPr/>
          <p:nvPr/>
        </p:nvGrpSpPr>
        <p:grpSpPr>
          <a:xfrm>
            <a:off x="1428544" y="2552577"/>
            <a:ext cx="1300320" cy="373666"/>
            <a:chOff x="1428544" y="2405139"/>
            <a:chExt cx="1300320" cy="373666"/>
          </a:xfrm>
        </p:grpSpPr>
        <p:sp>
          <p:nvSpPr>
            <p:cNvPr id="69" name="Rectangle 11">
              <a:extLst>
                <a:ext uri="{FF2B5EF4-FFF2-40B4-BE49-F238E27FC236}">
                  <a16:creationId xmlns:a16="http://schemas.microsoft.com/office/drawing/2014/main" id="{72C182CF-5941-474E-8527-4C742D01C22C}"/>
                </a:ext>
              </a:extLst>
            </p:cNvPr>
            <p:cNvSpPr>
              <a:spLocks noChangeArrowheads="1"/>
            </p:cNvSpPr>
            <p:nvPr/>
          </p:nvSpPr>
          <p:spPr bwMode="auto">
            <a:xfrm>
              <a:off x="1428544" y="2405139"/>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(2)</a:t>
              </a:r>
            </a:p>
          </p:txBody>
        </p:sp>
        <p:sp>
          <p:nvSpPr>
            <p:cNvPr id="73" name="TextBox 2">
              <a:extLst>
                <a:ext uri="{FF2B5EF4-FFF2-40B4-BE49-F238E27FC236}">
                  <a16:creationId xmlns:a16="http://schemas.microsoft.com/office/drawing/2014/main" id="{07838DD4-090E-4CA7-A1F3-CE46FCC78C6A}"/>
                </a:ext>
              </a:extLst>
            </p:cNvPr>
            <p:cNvSpPr txBox="1"/>
            <p:nvPr/>
          </p:nvSpPr>
          <p:spPr>
            <a:xfrm>
              <a:off x="1824449" y="2409473"/>
              <a:ext cx="904415" cy="369332"/>
            </a:xfrm>
            <a:prstGeom prst="rect">
              <a:avLst/>
            </a:prstGeom>
            <a:noFill/>
          </p:spPr>
          <p:txBody>
            <a:bodyPr wrap="none" rtlCol="0">
              <a:spAutoFit/>
            </a:bodyPr>
            <a:lstStyle/>
            <a:p>
              <a:r>
                <a:rPr lang="en-US" altLang="zh-CN" i="1" dirty="0" err="1">
                  <a:solidFill>
                    <a:srgbClr val="1F4B70"/>
                  </a:solidFill>
                  <a:latin typeface="Times New Roman" panose="02020603050405020304" pitchFamily="18" charset="0"/>
                  <a:cs typeface="Times New Roman" panose="02020603050405020304" pitchFamily="18" charset="0"/>
                </a:rPr>
                <a:t>F</a:t>
              </a:r>
              <a:r>
                <a:rPr lang="en-US" altLang="zh-CN" i="1" baseline="-25000" dirty="0" err="1">
                  <a:solidFill>
                    <a:srgbClr val="1F4B70"/>
                  </a:solidFill>
                  <a:latin typeface="Times New Roman" panose="02020603050405020304" pitchFamily="18" charset="0"/>
                  <a:cs typeface="Times New Roman" panose="02020603050405020304" pitchFamily="18" charset="0"/>
                </a:rPr>
                <a:t>n</a:t>
              </a:r>
              <a:r>
                <a:rPr lang="en-US" altLang="zh-CN" dirty="0">
                  <a:solidFill>
                    <a:srgbClr val="1F4B70"/>
                  </a:solidFill>
                  <a:latin typeface="Times New Roman" panose="02020603050405020304" pitchFamily="18" charset="0"/>
                  <a:cs typeface="Times New Roman" panose="02020603050405020304" pitchFamily="18" charset="0"/>
                </a:rPr>
                <a:t>(</a:t>
              </a:r>
              <a:r>
                <a:rPr lang="en-US" altLang="zh-CN" i="1" dirty="0">
                  <a:solidFill>
                    <a:srgbClr val="1F4B70"/>
                  </a:solidFill>
                  <a:latin typeface="Times New Roman" panose="02020603050405020304" pitchFamily="18" charset="0"/>
                  <a:cs typeface="Times New Roman" panose="02020603050405020304" pitchFamily="18" charset="0"/>
                </a:rPr>
                <a:t>x</a:t>
              </a:r>
              <a:r>
                <a:rPr lang="en-US" altLang="zh-CN" dirty="0">
                  <a:solidFill>
                    <a:srgbClr val="1F4B70"/>
                  </a:solidFill>
                  <a:latin typeface="Times New Roman" panose="02020603050405020304" pitchFamily="18" charset="0"/>
                  <a:cs typeface="Times New Roman" panose="02020603050405020304" pitchFamily="18" charset="0"/>
                </a:rPr>
                <a:t>) = </a:t>
              </a:r>
              <a:endParaRPr lang="zh-CN" altLang="en-US" dirty="0">
                <a:solidFill>
                  <a:srgbClr val="1F4B70"/>
                </a:solidFill>
                <a:latin typeface="Times New Roman" panose="02020603050405020304" pitchFamily="18" charset="0"/>
                <a:cs typeface="Times New Roman" panose="02020603050405020304" pitchFamily="18" charset="0"/>
              </a:endParaRPr>
            </a:p>
          </p:txBody>
        </p:sp>
      </p:grpSp>
      <p:grpSp>
        <p:nvGrpSpPr>
          <p:cNvPr id="74" name="组合 73">
            <a:extLst>
              <a:ext uri="{FF2B5EF4-FFF2-40B4-BE49-F238E27FC236}">
                <a16:creationId xmlns:a16="http://schemas.microsoft.com/office/drawing/2014/main" id="{D5A1E2C8-B46B-4576-9672-F3CF24F632B8}"/>
              </a:ext>
            </a:extLst>
          </p:cNvPr>
          <p:cNvGrpSpPr/>
          <p:nvPr/>
        </p:nvGrpSpPr>
        <p:grpSpPr>
          <a:xfrm>
            <a:off x="2770200" y="2131149"/>
            <a:ext cx="3231975" cy="1135888"/>
            <a:chOff x="2652934" y="1340767"/>
            <a:chExt cx="4560550" cy="1602821"/>
          </a:xfrm>
        </p:grpSpPr>
        <p:sp>
          <p:nvSpPr>
            <p:cNvPr id="75" name="TextBox 18">
              <a:extLst>
                <a:ext uri="{FF2B5EF4-FFF2-40B4-BE49-F238E27FC236}">
                  <a16:creationId xmlns:a16="http://schemas.microsoft.com/office/drawing/2014/main" id="{2807A54F-7A46-484C-9182-DF20381E080F}"/>
                </a:ext>
              </a:extLst>
            </p:cNvPr>
            <p:cNvSpPr txBox="1"/>
            <p:nvPr/>
          </p:nvSpPr>
          <p:spPr>
            <a:xfrm>
              <a:off x="2652934" y="1340767"/>
              <a:ext cx="4560550" cy="1602821"/>
            </a:xfrm>
            <a:prstGeom prst="rect">
              <a:avLst/>
            </a:prstGeom>
            <a:noFill/>
          </p:spPr>
          <p:txBody>
            <a:bodyPr wrap="none" rtlCol="0">
              <a:spAutoFit/>
            </a:bodyPr>
            <a:lstStyle/>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0 ,         </a:t>
              </a:r>
              <a:r>
                <a:rPr lang="en-US" altLang="zh-CN" i="1" dirty="0">
                  <a:solidFill>
                    <a:srgbClr val="1F4B70"/>
                  </a:solidFill>
                  <a:latin typeface="Times New Roman" panose="02020603050405020304" pitchFamily="18" charset="0"/>
                  <a:cs typeface="Times New Roman" panose="02020603050405020304" pitchFamily="18" charset="0"/>
                </a:rPr>
                <a:t>x</a:t>
              </a:r>
              <a:r>
                <a:rPr lang="en-US" altLang="zh-CN" dirty="0">
                  <a:solidFill>
                    <a:srgbClr val="1F4B70"/>
                  </a:solidFill>
                  <a:latin typeface="Times New Roman" panose="02020603050405020304" pitchFamily="18" charset="0"/>
                  <a:cs typeface="Times New Roman" panose="02020603050405020304" pitchFamily="18" charset="0"/>
                </a:rPr>
                <a:t> &lt; </a:t>
              </a:r>
              <a:r>
                <a:rPr lang="en-US" altLang="zh-CN" i="1" dirty="0">
                  <a:solidFill>
                    <a:srgbClr val="1F4B70"/>
                  </a:solidFill>
                  <a:latin typeface="Times New Roman" panose="02020603050405020304" pitchFamily="18" charset="0"/>
                  <a:cs typeface="Times New Roman" panose="02020603050405020304" pitchFamily="18" charset="0"/>
                </a:rPr>
                <a:t>x</a:t>
              </a:r>
              <a:r>
                <a:rPr lang="en-US" altLang="zh-CN" baseline="-25000" dirty="0">
                  <a:solidFill>
                    <a:srgbClr val="1F4B70"/>
                  </a:solidFill>
                  <a:latin typeface="Times New Roman" panose="02020603050405020304" pitchFamily="18" charset="0"/>
                  <a:cs typeface="Times New Roman" panose="02020603050405020304" pitchFamily="18" charset="0"/>
                </a:rPr>
                <a:t>1</a:t>
              </a:r>
              <a:r>
                <a:rPr lang="en-US" altLang="zh-CN" baseline="30000" dirty="0">
                  <a:solidFill>
                    <a:srgbClr val="1F4B70"/>
                  </a:solidFill>
                  <a:latin typeface="Times New Roman" panose="02020603050405020304" pitchFamily="18" charset="0"/>
                  <a:cs typeface="Times New Roman" panose="02020603050405020304" pitchFamily="18" charset="0"/>
                </a:rPr>
                <a:t>*</a:t>
              </a:r>
              <a:r>
                <a:rPr lang="en-US" altLang="zh-CN" dirty="0">
                  <a:solidFill>
                    <a:srgbClr val="1F4B70"/>
                  </a:solidFill>
                  <a:latin typeface="Times New Roman" panose="02020603050405020304" pitchFamily="18" charset="0"/>
                  <a:cs typeface="Times New Roman" panose="02020603050405020304" pitchFamily="18" charset="0"/>
                </a:rPr>
                <a:t>,</a:t>
              </a:r>
            </a:p>
            <a:p>
              <a:pPr>
                <a:lnSpc>
                  <a:spcPct val="130000"/>
                </a:lnSpc>
              </a:pPr>
              <a:r>
                <a:rPr lang="en-US" altLang="zh-CN" i="1" dirty="0">
                  <a:solidFill>
                    <a:srgbClr val="1F4B70"/>
                  </a:solidFill>
                  <a:latin typeface="Times New Roman" panose="02020603050405020304" pitchFamily="18" charset="0"/>
                  <a:cs typeface="Times New Roman" panose="02020603050405020304" pitchFamily="18" charset="0"/>
                </a:rPr>
                <a:t>k/n</a:t>
              </a:r>
              <a:r>
                <a:rPr lang="en-US" altLang="zh-CN" dirty="0">
                  <a:solidFill>
                    <a:srgbClr val="1F4B70"/>
                  </a:solidFill>
                  <a:latin typeface="Times New Roman" panose="02020603050405020304" pitchFamily="18" charset="0"/>
                  <a:cs typeface="Times New Roman" panose="02020603050405020304" pitchFamily="18" charset="0"/>
                </a:rPr>
                <a:t>,  </a:t>
              </a:r>
              <a:r>
                <a:rPr lang="en-US" altLang="zh-CN" i="1" dirty="0" err="1">
                  <a:solidFill>
                    <a:srgbClr val="1F4B70"/>
                  </a:solidFill>
                  <a:latin typeface="Times New Roman" panose="02020603050405020304" pitchFamily="18" charset="0"/>
                  <a:cs typeface="Times New Roman" panose="02020603050405020304" pitchFamily="18" charset="0"/>
                </a:rPr>
                <a:t>x</a:t>
              </a:r>
              <a:r>
                <a:rPr lang="en-US" altLang="zh-CN" i="1" baseline="-25000" dirty="0" err="1">
                  <a:solidFill>
                    <a:srgbClr val="1F4B70"/>
                  </a:solidFill>
                  <a:latin typeface="Times New Roman" panose="02020603050405020304" pitchFamily="18" charset="0"/>
                  <a:cs typeface="Times New Roman" panose="02020603050405020304" pitchFamily="18" charset="0"/>
                </a:rPr>
                <a:t>k</a:t>
              </a:r>
              <a:r>
                <a:rPr lang="en-US" altLang="zh-CN" baseline="30000" dirty="0">
                  <a:solidFill>
                    <a:srgbClr val="1F4B70"/>
                  </a:solidFill>
                  <a:latin typeface="Times New Roman" panose="02020603050405020304" pitchFamily="18" charset="0"/>
                  <a:cs typeface="Times New Roman" panose="02020603050405020304" pitchFamily="18" charset="0"/>
                </a:rPr>
                <a:t>*</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 &lt; </a:t>
              </a:r>
              <a:r>
                <a:rPr lang="en-US" altLang="zh-CN" i="1" dirty="0">
                  <a:solidFill>
                    <a:srgbClr val="1F4B70"/>
                  </a:solidFill>
                  <a:latin typeface="Times New Roman" panose="02020603050405020304" pitchFamily="18" charset="0"/>
                  <a:cs typeface="Times New Roman" panose="02020603050405020304" pitchFamily="18" charset="0"/>
                </a:rPr>
                <a:t>x </a:t>
              </a:r>
              <a:r>
                <a:rPr lang="en-US" altLang="zh-CN" baseline="30000" dirty="0">
                  <a:solidFill>
                    <a:srgbClr val="1F4B70"/>
                  </a:solidFill>
                  <a:latin typeface="Times New Roman" panose="02020603050405020304" pitchFamily="18" charset="0"/>
                  <a:cs typeface="Times New Roman" panose="02020603050405020304" pitchFamily="18" charset="0"/>
                </a:rPr>
                <a:t>*   </a:t>
              </a:r>
              <a:r>
                <a:rPr lang="en-US" altLang="zh-CN" dirty="0">
                  <a:solidFill>
                    <a:srgbClr val="1F4B70"/>
                  </a:solidFill>
                  <a:latin typeface="Times New Roman" panose="02020603050405020304" pitchFamily="18" charset="0"/>
                  <a:cs typeface="Times New Roman" panose="02020603050405020304" pitchFamily="18" charset="0"/>
                </a:rPr>
                <a:t>,  </a:t>
              </a:r>
              <a:r>
                <a:rPr lang="en-US" altLang="zh-CN" i="1" dirty="0">
                  <a:solidFill>
                    <a:srgbClr val="1F4B70"/>
                  </a:solidFill>
                  <a:latin typeface="Times New Roman" panose="02020603050405020304" pitchFamily="18" charset="0"/>
                  <a:cs typeface="Times New Roman" panose="02020603050405020304" pitchFamily="18" charset="0"/>
                </a:rPr>
                <a:t>k</a:t>
              </a:r>
              <a:r>
                <a:rPr lang="en-US" altLang="zh-CN" dirty="0">
                  <a:solidFill>
                    <a:srgbClr val="1F4B70"/>
                  </a:solidFill>
                  <a:latin typeface="Times New Roman" panose="02020603050405020304" pitchFamily="18" charset="0"/>
                  <a:cs typeface="Times New Roman" panose="02020603050405020304" pitchFamily="18" charset="0"/>
                </a:rPr>
                <a:t>=1,2, ∙∙∙,</a:t>
              </a:r>
              <a:r>
                <a:rPr lang="en-US" altLang="zh-CN" i="1" dirty="0">
                  <a:solidFill>
                    <a:srgbClr val="1F4B70"/>
                  </a:solidFill>
                  <a:latin typeface="Times New Roman" pitchFamily="18" charset="0"/>
                  <a:cs typeface="Times New Roman" pitchFamily="18" charset="0"/>
                </a:rPr>
                <a:t>n</a:t>
              </a:r>
              <a:r>
                <a:rPr lang="en-US" altLang="zh-CN" dirty="0">
                  <a:solidFill>
                    <a:srgbClr val="1F4B70"/>
                  </a:solidFill>
                  <a:latin typeface="Times New Roman" pitchFamily="18" charset="0"/>
                  <a:cs typeface="Times New Roman" pitchFamily="18" charset="0"/>
                </a:rPr>
                <a:t>−1,</a:t>
              </a:r>
            </a:p>
            <a:p>
              <a:pPr>
                <a:lnSpc>
                  <a:spcPct val="130000"/>
                </a:lnSpc>
              </a:pPr>
              <a:r>
                <a:rPr lang="en-US" altLang="zh-CN" dirty="0">
                  <a:solidFill>
                    <a:srgbClr val="1F4B70"/>
                  </a:solidFill>
                  <a:latin typeface="Times New Roman" pitchFamily="18" charset="0"/>
                  <a:cs typeface="Times New Roman" pitchFamily="18" charset="0"/>
                </a:rPr>
                <a:t>1,           </a:t>
              </a:r>
              <a:r>
                <a:rPr lang="en-US" altLang="zh-CN" i="1" dirty="0">
                  <a:solidFill>
                    <a:srgbClr val="1F4B70"/>
                  </a:solidFill>
                  <a:latin typeface="Times New Roman" panose="02020603050405020304" pitchFamily="18" charset="0"/>
                  <a:cs typeface="Times New Roman" panose="02020603050405020304" pitchFamily="18" charset="0"/>
                </a:rPr>
                <a:t>x </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err="1">
                  <a:solidFill>
                    <a:srgbClr val="1F4B70"/>
                  </a:solidFill>
                  <a:latin typeface="Times New Roman" panose="02020603050405020304" pitchFamily="18" charset="0"/>
                  <a:cs typeface="Times New Roman" panose="02020603050405020304" pitchFamily="18" charset="0"/>
                </a:rPr>
                <a:t>x</a:t>
              </a:r>
              <a:r>
                <a:rPr lang="en-US" altLang="zh-CN" i="1" baseline="-25000" dirty="0" err="1">
                  <a:solidFill>
                    <a:srgbClr val="1F4B70"/>
                  </a:solidFill>
                  <a:latin typeface="Times New Roman" panose="02020603050405020304" pitchFamily="18" charset="0"/>
                  <a:cs typeface="Times New Roman" panose="02020603050405020304" pitchFamily="18" charset="0"/>
                </a:rPr>
                <a:t>n</a:t>
              </a:r>
              <a:r>
                <a:rPr lang="en-US" altLang="zh-CN" baseline="30000" dirty="0">
                  <a:solidFill>
                    <a:srgbClr val="1F4B70"/>
                  </a:solidFill>
                  <a:latin typeface="Times New Roman" panose="02020603050405020304" pitchFamily="18" charset="0"/>
                  <a:cs typeface="Times New Roman" panose="02020603050405020304" pitchFamily="18" charset="0"/>
                </a:rPr>
                <a:t>*</a:t>
              </a:r>
              <a:r>
                <a:rPr lang="en-US" altLang="zh-CN" dirty="0">
                  <a:solidFill>
                    <a:srgbClr val="1F4B70"/>
                  </a:solidFill>
                  <a:latin typeface="Times New Roman" panose="02020603050405020304" pitchFamily="18" charset="0"/>
                  <a:cs typeface="Times New Roman" panose="02020603050405020304" pitchFamily="18" charset="0"/>
                </a:rPr>
                <a:t>.</a:t>
              </a:r>
            </a:p>
          </p:txBody>
        </p:sp>
        <p:sp>
          <p:nvSpPr>
            <p:cNvPr id="76" name="矩形 75">
              <a:extLst>
                <a:ext uri="{FF2B5EF4-FFF2-40B4-BE49-F238E27FC236}">
                  <a16:creationId xmlns:a16="http://schemas.microsoft.com/office/drawing/2014/main" id="{BFCA81B2-9E23-4D21-AD47-C0CF83FEE0F7}"/>
                </a:ext>
              </a:extLst>
            </p:cNvPr>
            <p:cNvSpPr/>
            <p:nvPr/>
          </p:nvSpPr>
          <p:spPr>
            <a:xfrm>
              <a:off x="4544614" y="1827051"/>
              <a:ext cx="588561" cy="597337"/>
            </a:xfrm>
            <a:prstGeom prst="rect">
              <a:avLst/>
            </a:prstGeom>
          </p:spPr>
          <p:txBody>
            <a:bodyPr wrap="none">
              <a:spAutoFit/>
            </a:bodyPr>
            <a:lstStyle/>
            <a:p>
              <a:pPr>
                <a:lnSpc>
                  <a:spcPct val="130000"/>
                </a:lnSpc>
              </a:pPr>
              <a:r>
                <a:rPr lang="en-US" altLang="zh-CN" i="1" baseline="-25000" dirty="0">
                  <a:solidFill>
                    <a:srgbClr val="1F4B70"/>
                  </a:solidFill>
                  <a:latin typeface="Times New Roman" panose="02020603050405020304" pitchFamily="18" charset="0"/>
                  <a:cs typeface="Times New Roman" panose="02020603050405020304" pitchFamily="18" charset="0"/>
                </a:rPr>
                <a:t>k</a:t>
              </a:r>
              <a:r>
                <a:rPr lang="en-US" altLang="zh-CN" baseline="-25000" dirty="0">
                  <a:solidFill>
                    <a:srgbClr val="1F4B70"/>
                  </a:solidFill>
                  <a:latin typeface="Times New Roman" panose="02020603050405020304" pitchFamily="18" charset="0"/>
                  <a:cs typeface="Times New Roman" panose="02020603050405020304" pitchFamily="18" charset="0"/>
                </a:rPr>
                <a:t>+1</a:t>
              </a:r>
              <a:endParaRPr lang="zh-CN" altLang="en-US" sz="2000" dirty="0">
                <a:solidFill>
                  <a:srgbClr val="1F4B70"/>
                </a:solidFill>
              </a:endParaRPr>
            </a:p>
          </p:txBody>
        </p:sp>
      </p:grpSp>
      <p:sp>
        <p:nvSpPr>
          <p:cNvPr id="83" name="Text Box 3">
            <a:extLst>
              <a:ext uri="{FF2B5EF4-FFF2-40B4-BE49-F238E27FC236}">
                <a16:creationId xmlns:a16="http://schemas.microsoft.com/office/drawing/2014/main" id="{6E01B10E-6736-4386-AAF4-5F231002A528}"/>
              </a:ext>
            </a:extLst>
          </p:cNvPr>
          <p:cNvSpPr txBox="1">
            <a:spLocks noChangeArrowheads="1"/>
          </p:cNvSpPr>
          <p:nvPr/>
        </p:nvSpPr>
        <p:spPr bwMode="auto">
          <a:xfrm>
            <a:off x="755650" y="987574"/>
            <a:ext cx="21932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经验分布函数 </a:t>
            </a:r>
            <a:r>
              <a:rPr kumimoji="1" lang="en-US" altLang="zh-CN" sz="1800" b="1" i="1"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1800" b="1" i="1" baseline="-25000"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b="1"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 </a:t>
            </a:r>
          </a:p>
        </p:txBody>
      </p:sp>
      <p:pic>
        <p:nvPicPr>
          <p:cNvPr id="15" name="图片 14">
            <a:extLst>
              <a:ext uri="{FF2B5EF4-FFF2-40B4-BE49-F238E27FC236}">
                <a16:creationId xmlns:a16="http://schemas.microsoft.com/office/drawing/2014/main" id="{41432D39-E969-465C-B910-DDFD73F4E710}"/>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spTree>
    <p:extLst>
      <p:ext uri="{BB962C8B-B14F-4D97-AF65-F5344CB8AC3E}">
        <p14:creationId xmlns:p14="http://schemas.microsoft.com/office/powerpoint/2010/main" val="231883185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500"/>
                            </p:stCondLst>
                            <p:childTnLst>
                              <p:par>
                                <p:cTn id="14" presetID="16" presetClass="entr" presetSubtype="42" fill="hold" grpId="0" nodeType="after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barn(outHorizontal)">
                                      <p:cBhvr>
                                        <p:cTn id="16" dur="500"/>
                                        <p:tgtEl>
                                          <p:spTgt spid="7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wipe(left)">
                                      <p:cBhvr>
                                        <p:cTn id="21"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Box 4">
            <a:extLst>
              <a:ext uri="{FF2B5EF4-FFF2-40B4-BE49-F238E27FC236}">
                <a16:creationId xmlns:a16="http://schemas.microsoft.com/office/drawing/2014/main" id="{5E273FB7-97B1-4C4E-9F68-4FAE42CF5E6F}"/>
              </a:ext>
            </a:extLst>
          </p:cNvPr>
          <p:cNvSpPr txBox="1">
            <a:spLocks noChangeArrowheads="1"/>
          </p:cNvSpPr>
          <p:nvPr/>
        </p:nvSpPr>
        <p:spPr bwMode="auto">
          <a:xfrm>
            <a:off x="323528" y="823116"/>
            <a:ext cx="7632700" cy="777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例</a:t>
            </a:r>
            <a:r>
              <a:rPr kumimoji="1" lang="en-US" altLang="zh-CN"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随机地观测总体</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得</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8</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个数据：</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2.5, 3, 2.5, 3.5, 3, 2.7, 2.5, 2,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试求</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的一个经验分布函数</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4" name="Text Box 5">
            <a:extLst>
              <a:ext uri="{FF2B5EF4-FFF2-40B4-BE49-F238E27FC236}">
                <a16:creationId xmlns:a16="http://schemas.microsoft.com/office/drawing/2014/main" id="{EE8EF316-0D9E-4868-9710-7247CD45FEE8}"/>
              </a:ext>
            </a:extLst>
          </p:cNvPr>
          <p:cNvSpPr txBox="1">
            <a:spLocks noChangeArrowheads="1"/>
          </p:cNvSpPr>
          <p:nvPr/>
        </p:nvSpPr>
        <p:spPr bwMode="auto">
          <a:xfrm>
            <a:off x="762938" y="1770370"/>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b="1" dirty="0">
                <a:solidFill>
                  <a:srgbClr val="1F4B70"/>
                </a:solidFill>
                <a:latin typeface="微软雅黑" panose="020B0503020204020204" pitchFamily="34" charset="-122"/>
                <a:ea typeface="微软雅黑" panose="020B0503020204020204" pitchFamily="34" charset="-122"/>
              </a:rPr>
              <a:t>解</a:t>
            </a:r>
            <a:endParaRPr kumimoji="1" lang="zh-CN" altLang="en-US" sz="1800" dirty="0">
              <a:solidFill>
                <a:srgbClr val="1F4B70"/>
              </a:solidFill>
              <a:latin typeface="微软雅黑" panose="020B0503020204020204" pitchFamily="34" charset="-122"/>
              <a:ea typeface="微软雅黑" panose="020B0503020204020204" pitchFamily="34" charset="-122"/>
            </a:endParaRPr>
          </a:p>
        </p:txBody>
      </p:sp>
      <p:sp>
        <p:nvSpPr>
          <p:cNvPr id="65" name="Text Box 6">
            <a:extLst>
              <a:ext uri="{FF2B5EF4-FFF2-40B4-BE49-F238E27FC236}">
                <a16:creationId xmlns:a16="http://schemas.microsoft.com/office/drawing/2014/main" id="{A0111713-EAE5-4C59-8CA1-3C0B721E33F3}"/>
              </a:ext>
            </a:extLst>
          </p:cNvPr>
          <p:cNvSpPr txBox="1">
            <a:spLocks noChangeArrowheads="1"/>
          </p:cNvSpPr>
          <p:nvPr/>
        </p:nvSpPr>
        <p:spPr bwMode="auto">
          <a:xfrm>
            <a:off x="1115616" y="1760256"/>
            <a:ext cx="41383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dirty="0">
                <a:solidFill>
                  <a:srgbClr val="1F4B70"/>
                </a:solidFill>
                <a:latin typeface="Times New Roman" panose="02020603050405020304" pitchFamily="18" charset="0"/>
              </a:rPr>
              <a:t>2 &lt; 2.5 = 2.5 = 2.5 &lt; 2.7 &lt; 3 = 3 &lt; 3.5</a:t>
            </a:r>
          </a:p>
        </p:txBody>
      </p:sp>
      <p:graphicFrame>
        <p:nvGraphicFramePr>
          <p:cNvPr id="66" name="Object 8">
            <a:extLst>
              <a:ext uri="{FF2B5EF4-FFF2-40B4-BE49-F238E27FC236}">
                <a16:creationId xmlns:a16="http://schemas.microsoft.com/office/drawing/2014/main" id="{687F65AB-FA95-4801-B4E9-D938C2C871BB}"/>
              </a:ext>
            </a:extLst>
          </p:cNvPr>
          <p:cNvGraphicFramePr>
            <a:graphicFrameLocks noChangeAspect="1"/>
          </p:cNvGraphicFramePr>
          <p:nvPr/>
        </p:nvGraphicFramePr>
        <p:xfrm>
          <a:off x="4283968" y="2571750"/>
          <a:ext cx="3710609" cy="1851088"/>
        </p:xfrm>
        <a:graphic>
          <a:graphicData uri="http://schemas.openxmlformats.org/presentationml/2006/ole">
            <mc:AlternateContent xmlns:mc="http://schemas.openxmlformats.org/markup-compatibility/2006">
              <mc:Choice xmlns:v="urn:schemas-microsoft-com:vml" Requires="v">
                <p:oleObj name="BMP 图象" r:id="rId3" imgW="3438095" imgH="1714739" progId="Paint.Picture">
                  <p:embed/>
                </p:oleObj>
              </mc:Choice>
              <mc:Fallback>
                <p:oleObj name="BMP 图象" r:id="rId3" imgW="3438095" imgH="1714739" progId="Paint.Picture">
                  <p:embed/>
                  <p:pic>
                    <p:nvPicPr>
                      <p:cNvPr id="66" name="Object 8">
                        <a:extLst>
                          <a:ext uri="{FF2B5EF4-FFF2-40B4-BE49-F238E27FC236}">
                            <a16:creationId xmlns:a16="http://schemas.microsoft.com/office/drawing/2014/main" id="{687F65AB-FA95-4801-B4E9-D938C2C871B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2571750"/>
                        <a:ext cx="3710609" cy="1851088"/>
                      </a:xfrm>
                      <a:prstGeom prst="rect">
                        <a:avLst/>
                      </a:prstGeom>
                      <a:noFill/>
                      <a:ln>
                        <a:noFill/>
                      </a:ln>
                      <a:effectLst/>
                    </p:spPr>
                  </p:pic>
                </p:oleObj>
              </mc:Fallback>
            </mc:AlternateContent>
          </a:graphicData>
        </a:graphic>
      </p:graphicFrame>
      <p:sp>
        <p:nvSpPr>
          <p:cNvPr id="77" name="AutoShape 6">
            <a:extLst>
              <a:ext uri="{FF2B5EF4-FFF2-40B4-BE49-F238E27FC236}">
                <a16:creationId xmlns:a16="http://schemas.microsoft.com/office/drawing/2014/main" id="{3D40BCC5-60F6-4D12-B45D-0C5CE87AA133}"/>
              </a:ext>
            </a:extLst>
          </p:cNvPr>
          <p:cNvSpPr>
            <a:spLocks/>
          </p:cNvSpPr>
          <p:nvPr/>
        </p:nvSpPr>
        <p:spPr bwMode="auto">
          <a:xfrm>
            <a:off x="1697848" y="2528949"/>
            <a:ext cx="157659" cy="1883429"/>
          </a:xfrm>
          <a:prstGeom prst="leftBrace">
            <a:avLst>
              <a:gd name="adj1" fmla="val 44424"/>
              <a:gd name="adj2" fmla="val 50000"/>
            </a:avLst>
          </a:prstGeom>
          <a:noFill/>
          <a:ln w="12700">
            <a:solidFill>
              <a:srgbClr val="1F4B7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31"/>
          </a:p>
        </p:txBody>
      </p:sp>
      <p:sp>
        <p:nvSpPr>
          <p:cNvPr id="78" name="TextBox 23">
            <a:extLst>
              <a:ext uri="{FF2B5EF4-FFF2-40B4-BE49-F238E27FC236}">
                <a16:creationId xmlns:a16="http://schemas.microsoft.com/office/drawing/2014/main" id="{DFA9D309-D3D5-49EB-8E4D-85A45FA43E93}"/>
              </a:ext>
            </a:extLst>
          </p:cNvPr>
          <p:cNvSpPr txBox="1"/>
          <p:nvPr/>
        </p:nvSpPr>
        <p:spPr>
          <a:xfrm>
            <a:off x="798919" y="3279152"/>
            <a:ext cx="904415" cy="369332"/>
          </a:xfrm>
          <a:prstGeom prst="rect">
            <a:avLst/>
          </a:prstGeom>
          <a:noFill/>
        </p:spPr>
        <p:txBody>
          <a:bodyPr wrap="none" rtlCol="0">
            <a:spAutoFit/>
          </a:bodyPr>
          <a:lstStyle/>
          <a:p>
            <a:r>
              <a:rPr lang="en-US" altLang="zh-CN" i="1" dirty="0">
                <a:solidFill>
                  <a:srgbClr val="1F4B70"/>
                </a:solidFill>
                <a:latin typeface="Times New Roman" panose="02020603050405020304" pitchFamily="18" charset="0"/>
                <a:cs typeface="Times New Roman" panose="02020603050405020304" pitchFamily="18" charset="0"/>
              </a:rPr>
              <a:t>F</a:t>
            </a:r>
            <a:r>
              <a:rPr lang="en-US" altLang="zh-CN" baseline="-25000" dirty="0">
                <a:solidFill>
                  <a:srgbClr val="1F4B70"/>
                </a:solidFill>
                <a:latin typeface="Times New Roman" panose="02020603050405020304" pitchFamily="18" charset="0"/>
                <a:cs typeface="Times New Roman" panose="02020603050405020304" pitchFamily="18" charset="0"/>
              </a:rPr>
              <a:t>8</a:t>
            </a:r>
            <a:r>
              <a:rPr lang="en-US" altLang="zh-CN" dirty="0">
                <a:solidFill>
                  <a:srgbClr val="1F4B70"/>
                </a:solidFill>
                <a:latin typeface="Times New Roman" panose="02020603050405020304" pitchFamily="18" charset="0"/>
                <a:cs typeface="Times New Roman" panose="02020603050405020304" pitchFamily="18" charset="0"/>
              </a:rPr>
              <a:t>(</a:t>
            </a:r>
            <a:r>
              <a:rPr lang="en-US" altLang="zh-CN" i="1" dirty="0">
                <a:solidFill>
                  <a:srgbClr val="1F4B70"/>
                </a:solidFill>
                <a:latin typeface="Times New Roman" panose="02020603050405020304" pitchFamily="18" charset="0"/>
                <a:cs typeface="Times New Roman" panose="02020603050405020304" pitchFamily="18" charset="0"/>
              </a:rPr>
              <a:t>x</a:t>
            </a:r>
            <a:r>
              <a:rPr lang="en-US" altLang="zh-CN" dirty="0">
                <a:solidFill>
                  <a:srgbClr val="1F4B70"/>
                </a:solidFill>
                <a:latin typeface="Times New Roman" panose="02020603050405020304" pitchFamily="18" charset="0"/>
                <a:cs typeface="Times New Roman" panose="02020603050405020304" pitchFamily="18" charset="0"/>
              </a:rPr>
              <a:t>) = </a:t>
            </a:r>
            <a:endParaRPr lang="zh-CN" altLang="en-US" dirty="0">
              <a:solidFill>
                <a:srgbClr val="1F4B70"/>
              </a:solidFill>
              <a:latin typeface="Times New Roman" panose="02020603050405020304" pitchFamily="18" charset="0"/>
              <a:cs typeface="Times New Roman" panose="02020603050405020304" pitchFamily="18" charset="0"/>
            </a:endParaRPr>
          </a:p>
        </p:txBody>
      </p:sp>
      <p:sp>
        <p:nvSpPr>
          <p:cNvPr id="79" name="TextBox 24">
            <a:extLst>
              <a:ext uri="{FF2B5EF4-FFF2-40B4-BE49-F238E27FC236}">
                <a16:creationId xmlns:a16="http://schemas.microsoft.com/office/drawing/2014/main" id="{699B0AE3-E9FF-4C4D-9CB1-E99A547834A9}"/>
              </a:ext>
            </a:extLst>
          </p:cNvPr>
          <p:cNvSpPr txBox="1"/>
          <p:nvPr/>
        </p:nvSpPr>
        <p:spPr>
          <a:xfrm>
            <a:off x="2051720" y="2355726"/>
            <a:ext cx="1741182" cy="2216184"/>
          </a:xfrm>
          <a:prstGeom prst="rect">
            <a:avLst/>
          </a:prstGeom>
          <a:noFill/>
        </p:spPr>
        <p:txBody>
          <a:bodyPr wrap="none" rtlCol="0">
            <a:spAutoFit/>
          </a:bodyPr>
          <a:lstStyle/>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 0 ,         </a:t>
            </a:r>
            <a:r>
              <a:rPr lang="en-US" altLang="zh-CN" i="1" dirty="0">
                <a:solidFill>
                  <a:srgbClr val="1F4B70"/>
                </a:solidFill>
                <a:latin typeface="Times New Roman" panose="02020603050405020304" pitchFamily="18" charset="0"/>
                <a:cs typeface="Times New Roman" panose="02020603050405020304" pitchFamily="18" charset="0"/>
              </a:rPr>
              <a:t>x</a:t>
            </a:r>
            <a:r>
              <a:rPr lang="en-US" altLang="zh-CN" dirty="0">
                <a:solidFill>
                  <a:srgbClr val="1F4B70"/>
                </a:solidFill>
                <a:latin typeface="Times New Roman" panose="02020603050405020304" pitchFamily="18" charset="0"/>
                <a:cs typeface="Times New Roman" panose="02020603050405020304" pitchFamily="18" charset="0"/>
              </a:rPr>
              <a:t> &lt; 2,</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1/8,    2</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a:t>
            </a:r>
            <a:r>
              <a:rPr lang="en-US" altLang="zh-CN" dirty="0">
                <a:solidFill>
                  <a:srgbClr val="1F4B70"/>
                </a:solidFill>
                <a:latin typeface="Times New Roman" panose="02020603050405020304" pitchFamily="18" charset="0"/>
                <a:cs typeface="Times New Roman" panose="02020603050405020304" pitchFamily="18" charset="0"/>
              </a:rPr>
              <a:t>2.5</a:t>
            </a:r>
            <a:r>
              <a:rPr lang="en-US" altLang="zh-CN" baseline="30000" dirty="0">
                <a:solidFill>
                  <a:srgbClr val="1F4B70"/>
                </a:solidFill>
                <a:latin typeface="Times New Roman" panose="02020603050405020304" pitchFamily="18" charset="0"/>
                <a:cs typeface="Times New Roman" panose="02020603050405020304" pitchFamily="18" charset="0"/>
              </a:rPr>
              <a:t> </a:t>
            </a:r>
            <a:r>
              <a:rPr lang="en-US" altLang="zh-CN" dirty="0">
                <a:solidFill>
                  <a:srgbClr val="1F4B70"/>
                </a:solidFill>
                <a:latin typeface="Times New Roman" panose="02020603050405020304" pitchFamily="18" charset="0"/>
                <a:cs typeface="Times New Roman" panose="02020603050405020304" pitchFamily="18" charset="0"/>
              </a:rPr>
              <a:t>,</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4/8,  2.5</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a:t>
            </a:r>
            <a:r>
              <a:rPr lang="en-US" altLang="zh-CN" dirty="0">
                <a:solidFill>
                  <a:srgbClr val="1F4B70"/>
                </a:solidFill>
                <a:latin typeface="Times New Roman" panose="02020603050405020304" pitchFamily="18" charset="0"/>
                <a:cs typeface="Times New Roman" panose="02020603050405020304" pitchFamily="18" charset="0"/>
              </a:rPr>
              <a:t>2.7,</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5/8,  2.7</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 </a:t>
            </a:r>
            <a:r>
              <a:rPr lang="en-US" altLang="zh-CN" dirty="0">
                <a:solidFill>
                  <a:srgbClr val="1F4B70"/>
                </a:solidFill>
                <a:latin typeface="Times New Roman" panose="02020603050405020304" pitchFamily="18" charset="0"/>
                <a:cs typeface="Times New Roman" panose="02020603050405020304" pitchFamily="18" charset="0"/>
              </a:rPr>
              <a:t>3,</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7/8,    3</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a:t>
            </a:r>
            <a:r>
              <a:rPr lang="en-US" altLang="zh-CN" dirty="0">
                <a:solidFill>
                  <a:srgbClr val="1F4B70"/>
                </a:solidFill>
                <a:latin typeface="Times New Roman" panose="02020603050405020304" pitchFamily="18" charset="0"/>
                <a:cs typeface="Times New Roman" panose="02020603050405020304" pitchFamily="18" charset="0"/>
              </a:rPr>
              <a:t>3.5,</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 1,           </a:t>
            </a:r>
            <a:r>
              <a:rPr lang="en-US" altLang="zh-CN" i="1" dirty="0">
                <a:solidFill>
                  <a:srgbClr val="1F4B70"/>
                </a:solidFill>
                <a:latin typeface="Times New Roman" panose="02020603050405020304" pitchFamily="18" charset="0"/>
                <a:cs typeface="Times New Roman" panose="02020603050405020304" pitchFamily="18" charset="0"/>
              </a:rPr>
              <a:t>x </a:t>
            </a:r>
            <a:r>
              <a:rPr lang="en-US" altLang="zh-CN" dirty="0">
                <a:solidFill>
                  <a:srgbClr val="1F4B70"/>
                </a:solidFill>
                <a:latin typeface="Times New Roman" pitchFamily="18" charset="0"/>
                <a:cs typeface="Times New Roman" pitchFamily="18" charset="0"/>
                <a:sym typeface="Symbol" pitchFamily="18" charset="2"/>
              </a:rPr>
              <a:t> </a:t>
            </a:r>
            <a:r>
              <a:rPr lang="en-US" altLang="zh-CN" dirty="0">
                <a:solidFill>
                  <a:srgbClr val="1F4B70"/>
                </a:solidFill>
                <a:latin typeface="Times New Roman" panose="02020603050405020304" pitchFamily="18" charset="0"/>
                <a:cs typeface="Times New Roman" panose="02020603050405020304" pitchFamily="18" charset="0"/>
              </a:rPr>
              <a:t>3.5.</a:t>
            </a:r>
          </a:p>
        </p:txBody>
      </p:sp>
      <p:pic>
        <p:nvPicPr>
          <p:cNvPr id="9" name="图片 8">
            <a:extLst>
              <a:ext uri="{FF2B5EF4-FFF2-40B4-BE49-F238E27FC236}">
                <a16:creationId xmlns:a16="http://schemas.microsoft.com/office/drawing/2014/main" id="{0884A75D-46DF-4E61-B0FF-6FED8B47E65E}"/>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spTree>
    <p:extLst>
      <p:ext uri="{BB962C8B-B14F-4D97-AF65-F5344CB8AC3E}">
        <p14:creationId xmlns:p14="http://schemas.microsoft.com/office/powerpoint/2010/main" val="4082813051"/>
      </p:ext>
    </p:extLst>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iterate type="wd">
                                    <p:tmPct val="50000"/>
                                  </p:iterate>
                                  <p:childTnLst>
                                    <p:set>
                                      <p:cBhvr>
                                        <p:cTn id="11" dur="1" fill="hold">
                                          <p:stCondLst>
                                            <p:cond delay="0"/>
                                          </p:stCondLst>
                                        </p:cTn>
                                        <p:tgtEl>
                                          <p:spTgt spid="65"/>
                                        </p:tgtEl>
                                        <p:attrNameLst>
                                          <p:attrName>style.visibility</p:attrName>
                                        </p:attrNameLst>
                                      </p:cBhvr>
                                      <p:to>
                                        <p:strVal val="visible"/>
                                      </p:to>
                                    </p:set>
                                    <p:animEffect transition="in" filter="barn(outHorizontal)">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78"/>
                                        </p:tgtEl>
                                        <p:attrNameLst>
                                          <p:attrName>style.visibility</p:attrName>
                                        </p:attrNameLst>
                                      </p:cBhvr>
                                      <p:to>
                                        <p:strVal val="visible"/>
                                      </p:to>
                                    </p:set>
                                    <p:animEffect transition="in" filter="wipe(up)">
                                      <p:cBhvr>
                                        <p:cTn id="17" dur="200"/>
                                        <p:tgtEl>
                                          <p:spTgt spid="78"/>
                                        </p:tgtEl>
                                      </p:cBhvr>
                                    </p:animEffect>
                                  </p:childTnLst>
                                </p:cTn>
                              </p:par>
                            </p:childTnLst>
                          </p:cTn>
                        </p:par>
                        <p:par>
                          <p:cTn id="18" fill="hold">
                            <p:stCondLst>
                              <p:cond delay="1200"/>
                            </p:stCondLst>
                            <p:childTnLst>
                              <p:par>
                                <p:cTn id="19" presetID="16" presetClass="entr" presetSubtype="42"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animEffect transition="in" filter="barn(outHorizontal)">
                                      <p:cBhvr>
                                        <p:cTn id="21" dur="500"/>
                                        <p:tgtEl>
                                          <p:spTgt spid="7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fade">
                                      <p:cBhvr>
                                        <p:cTn id="26" dur="500"/>
                                        <p:tgtEl>
                                          <p:spTgt spid="7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left)">
                                      <p:cBhvr>
                                        <p:cTn id="31"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77" grpId="0" animBg="1"/>
      <p:bldP spid="78" grpId="0"/>
      <p:bldP spid="7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Box 4">
            <a:extLst>
              <a:ext uri="{FF2B5EF4-FFF2-40B4-BE49-F238E27FC236}">
                <a16:creationId xmlns:a16="http://schemas.microsoft.com/office/drawing/2014/main" id="{5E273FB7-97B1-4C4E-9F68-4FAE42CF5E6F}"/>
              </a:ext>
            </a:extLst>
          </p:cNvPr>
          <p:cNvSpPr txBox="1">
            <a:spLocks noChangeArrowheads="1"/>
          </p:cNvSpPr>
          <p:nvPr/>
        </p:nvSpPr>
        <p:spPr bwMode="auto">
          <a:xfrm>
            <a:off x="683568" y="846134"/>
            <a:ext cx="7632700" cy="777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a:lnSpc>
                <a:spcPct val="130000"/>
              </a:lnSpc>
            </a:pPr>
            <a:r>
              <a:rPr kumimoji="1" lang="zh-CN" altLang="en-US"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例</a:t>
            </a:r>
            <a:r>
              <a:rPr kumimoji="1" lang="en-US" altLang="zh-CN"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随机地观测总体</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得</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8</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个数据：</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2.5, 3, 2.5, 3.5, 3, 2.7, 2.5, 2,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试求</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a:t>
            </a:r>
            <a:endPar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一个经验分布函数</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4" name="Text Box 5">
            <a:extLst>
              <a:ext uri="{FF2B5EF4-FFF2-40B4-BE49-F238E27FC236}">
                <a16:creationId xmlns:a16="http://schemas.microsoft.com/office/drawing/2014/main" id="{EE8EF316-0D9E-4868-9710-7247CD45FEE8}"/>
              </a:ext>
            </a:extLst>
          </p:cNvPr>
          <p:cNvSpPr txBox="1">
            <a:spLocks noChangeArrowheads="1"/>
          </p:cNvSpPr>
          <p:nvPr/>
        </p:nvSpPr>
        <p:spPr bwMode="auto">
          <a:xfrm>
            <a:off x="762938" y="1770370"/>
            <a:ext cx="4844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b="1" dirty="0">
                <a:solidFill>
                  <a:srgbClr val="1F4B70"/>
                </a:solidFill>
                <a:latin typeface="微软雅黑" panose="020B0503020204020204" pitchFamily="34" charset="-122"/>
                <a:ea typeface="微软雅黑" panose="020B0503020204020204" pitchFamily="34" charset="-122"/>
              </a:rPr>
              <a:t>解 </a:t>
            </a:r>
            <a:endParaRPr kumimoji="1" lang="zh-CN" altLang="en-US" sz="1800" dirty="0">
              <a:solidFill>
                <a:srgbClr val="1F4B70"/>
              </a:solidFill>
              <a:latin typeface="微软雅黑" panose="020B0503020204020204" pitchFamily="34" charset="-122"/>
              <a:ea typeface="微软雅黑" panose="020B0503020204020204" pitchFamily="34" charset="-122"/>
            </a:endParaRPr>
          </a:p>
        </p:txBody>
      </p:sp>
      <p:sp>
        <p:nvSpPr>
          <p:cNvPr id="65" name="Text Box 6">
            <a:extLst>
              <a:ext uri="{FF2B5EF4-FFF2-40B4-BE49-F238E27FC236}">
                <a16:creationId xmlns:a16="http://schemas.microsoft.com/office/drawing/2014/main" id="{A0111713-EAE5-4C59-8CA1-3C0B721E33F3}"/>
              </a:ext>
            </a:extLst>
          </p:cNvPr>
          <p:cNvSpPr txBox="1">
            <a:spLocks noChangeArrowheads="1"/>
          </p:cNvSpPr>
          <p:nvPr/>
        </p:nvSpPr>
        <p:spPr bwMode="auto">
          <a:xfrm>
            <a:off x="1115616" y="1760256"/>
            <a:ext cx="41383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dirty="0">
                <a:solidFill>
                  <a:srgbClr val="1F4B70"/>
                </a:solidFill>
                <a:latin typeface="Times New Roman" panose="02020603050405020304" pitchFamily="18" charset="0"/>
              </a:rPr>
              <a:t>2 &lt; 2.5 = 2.5 = 2.5 &lt; 2.7 &lt; 3 = 3 &lt; 3.5</a:t>
            </a:r>
          </a:p>
        </p:txBody>
      </p:sp>
      <p:graphicFrame>
        <p:nvGraphicFramePr>
          <p:cNvPr id="66" name="Object 8">
            <a:extLst>
              <a:ext uri="{FF2B5EF4-FFF2-40B4-BE49-F238E27FC236}">
                <a16:creationId xmlns:a16="http://schemas.microsoft.com/office/drawing/2014/main" id="{687F65AB-FA95-4801-B4E9-D938C2C871BB}"/>
              </a:ext>
            </a:extLst>
          </p:cNvPr>
          <p:cNvGraphicFramePr>
            <a:graphicFrameLocks noChangeAspect="1"/>
          </p:cNvGraphicFramePr>
          <p:nvPr/>
        </p:nvGraphicFramePr>
        <p:xfrm>
          <a:off x="4283968" y="2211710"/>
          <a:ext cx="3710609" cy="1368152"/>
        </p:xfrm>
        <a:graphic>
          <a:graphicData uri="http://schemas.openxmlformats.org/presentationml/2006/ole">
            <mc:AlternateContent xmlns:mc="http://schemas.openxmlformats.org/markup-compatibility/2006">
              <mc:Choice xmlns:v="urn:schemas-microsoft-com:vml" Requires="v">
                <p:oleObj name="BMP 图像" r:id="rId3" imgW="3438360" imgH="1714680" progId="Paint.Picture">
                  <p:embed/>
                </p:oleObj>
              </mc:Choice>
              <mc:Fallback>
                <p:oleObj name="BMP 图像" r:id="rId3" imgW="3438360" imgH="1714680" progId="Paint.Picture">
                  <p:embed/>
                  <p:pic>
                    <p:nvPicPr>
                      <p:cNvPr id="66" name="Object 8">
                        <a:extLst>
                          <a:ext uri="{FF2B5EF4-FFF2-40B4-BE49-F238E27FC236}">
                            <a16:creationId xmlns:a16="http://schemas.microsoft.com/office/drawing/2014/main" id="{687F65AB-FA95-4801-B4E9-D938C2C871BB}"/>
                          </a:ext>
                        </a:extLst>
                      </p:cNvPr>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283968" y="2211710"/>
                        <a:ext cx="3710609" cy="1368152"/>
                      </a:xfrm>
                      <a:prstGeom prst="rect">
                        <a:avLst/>
                      </a:prstGeom>
                      <a:noFill/>
                      <a:ln>
                        <a:noFill/>
                      </a:ln>
                      <a:effectLst/>
                    </p:spPr>
                  </p:pic>
                </p:oleObj>
              </mc:Fallback>
            </mc:AlternateContent>
          </a:graphicData>
        </a:graphic>
      </p:graphicFrame>
      <p:sp>
        <p:nvSpPr>
          <p:cNvPr id="77" name="AutoShape 6">
            <a:extLst>
              <a:ext uri="{FF2B5EF4-FFF2-40B4-BE49-F238E27FC236}">
                <a16:creationId xmlns:a16="http://schemas.microsoft.com/office/drawing/2014/main" id="{3D40BCC5-60F6-4D12-B45D-0C5CE87AA133}"/>
              </a:ext>
            </a:extLst>
          </p:cNvPr>
          <p:cNvSpPr>
            <a:spLocks/>
          </p:cNvSpPr>
          <p:nvPr/>
        </p:nvSpPr>
        <p:spPr bwMode="auto">
          <a:xfrm>
            <a:off x="1697848" y="2528949"/>
            <a:ext cx="157659" cy="1883429"/>
          </a:xfrm>
          <a:prstGeom prst="leftBrace">
            <a:avLst>
              <a:gd name="adj1" fmla="val 44424"/>
              <a:gd name="adj2" fmla="val 50000"/>
            </a:avLst>
          </a:prstGeom>
          <a:noFill/>
          <a:ln w="12700">
            <a:solidFill>
              <a:srgbClr val="1F4B7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31"/>
          </a:p>
        </p:txBody>
      </p:sp>
      <p:sp>
        <p:nvSpPr>
          <p:cNvPr id="78" name="TextBox 23">
            <a:extLst>
              <a:ext uri="{FF2B5EF4-FFF2-40B4-BE49-F238E27FC236}">
                <a16:creationId xmlns:a16="http://schemas.microsoft.com/office/drawing/2014/main" id="{DFA9D309-D3D5-49EB-8E4D-85A45FA43E93}"/>
              </a:ext>
            </a:extLst>
          </p:cNvPr>
          <p:cNvSpPr txBox="1"/>
          <p:nvPr/>
        </p:nvSpPr>
        <p:spPr>
          <a:xfrm>
            <a:off x="798919" y="3279152"/>
            <a:ext cx="904415" cy="369332"/>
          </a:xfrm>
          <a:prstGeom prst="rect">
            <a:avLst/>
          </a:prstGeom>
          <a:noFill/>
        </p:spPr>
        <p:txBody>
          <a:bodyPr wrap="none" rtlCol="0">
            <a:spAutoFit/>
          </a:bodyPr>
          <a:lstStyle/>
          <a:p>
            <a:r>
              <a:rPr lang="en-US" altLang="zh-CN" i="1" dirty="0">
                <a:solidFill>
                  <a:srgbClr val="1F4B70"/>
                </a:solidFill>
                <a:latin typeface="Times New Roman" panose="02020603050405020304" pitchFamily="18" charset="0"/>
                <a:cs typeface="Times New Roman" panose="02020603050405020304" pitchFamily="18" charset="0"/>
              </a:rPr>
              <a:t>F</a:t>
            </a:r>
            <a:r>
              <a:rPr lang="en-US" altLang="zh-CN" baseline="-25000" dirty="0">
                <a:solidFill>
                  <a:srgbClr val="1F4B70"/>
                </a:solidFill>
                <a:latin typeface="Times New Roman" panose="02020603050405020304" pitchFamily="18" charset="0"/>
                <a:cs typeface="Times New Roman" panose="02020603050405020304" pitchFamily="18" charset="0"/>
              </a:rPr>
              <a:t>8</a:t>
            </a:r>
            <a:r>
              <a:rPr lang="en-US" altLang="zh-CN" dirty="0">
                <a:solidFill>
                  <a:srgbClr val="1F4B70"/>
                </a:solidFill>
                <a:latin typeface="Times New Roman" panose="02020603050405020304" pitchFamily="18" charset="0"/>
                <a:cs typeface="Times New Roman" panose="02020603050405020304" pitchFamily="18" charset="0"/>
              </a:rPr>
              <a:t>(</a:t>
            </a:r>
            <a:r>
              <a:rPr lang="en-US" altLang="zh-CN" i="1" dirty="0">
                <a:solidFill>
                  <a:srgbClr val="1F4B70"/>
                </a:solidFill>
                <a:latin typeface="Times New Roman" panose="02020603050405020304" pitchFamily="18" charset="0"/>
                <a:cs typeface="Times New Roman" panose="02020603050405020304" pitchFamily="18" charset="0"/>
              </a:rPr>
              <a:t>x</a:t>
            </a:r>
            <a:r>
              <a:rPr lang="en-US" altLang="zh-CN" dirty="0">
                <a:solidFill>
                  <a:srgbClr val="1F4B70"/>
                </a:solidFill>
                <a:latin typeface="Times New Roman" panose="02020603050405020304" pitchFamily="18" charset="0"/>
                <a:cs typeface="Times New Roman" panose="02020603050405020304" pitchFamily="18" charset="0"/>
              </a:rPr>
              <a:t>) = </a:t>
            </a:r>
            <a:endParaRPr lang="zh-CN" altLang="en-US" dirty="0">
              <a:solidFill>
                <a:srgbClr val="1F4B70"/>
              </a:solidFill>
              <a:latin typeface="Times New Roman" panose="02020603050405020304" pitchFamily="18" charset="0"/>
              <a:cs typeface="Times New Roman" panose="02020603050405020304" pitchFamily="18" charset="0"/>
            </a:endParaRPr>
          </a:p>
        </p:txBody>
      </p:sp>
      <p:sp>
        <p:nvSpPr>
          <p:cNvPr id="79" name="TextBox 24">
            <a:extLst>
              <a:ext uri="{FF2B5EF4-FFF2-40B4-BE49-F238E27FC236}">
                <a16:creationId xmlns:a16="http://schemas.microsoft.com/office/drawing/2014/main" id="{699B0AE3-E9FF-4C4D-9CB1-E99A547834A9}"/>
              </a:ext>
            </a:extLst>
          </p:cNvPr>
          <p:cNvSpPr txBox="1"/>
          <p:nvPr/>
        </p:nvSpPr>
        <p:spPr>
          <a:xfrm>
            <a:off x="2051720" y="2355726"/>
            <a:ext cx="1741182" cy="2216184"/>
          </a:xfrm>
          <a:prstGeom prst="rect">
            <a:avLst/>
          </a:prstGeom>
          <a:noFill/>
        </p:spPr>
        <p:txBody>
          <a:bodyPr wrap="none" rtlCol="0">
            <a:spAutoFit/>
          </a:bodyPr>
          <a:lstStyle/>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 0 ,         </a:t>
            </a:r>
            <a:r>
              <a:rPr lang="en-US" altLang="zh-CN" i="1" dirty="0">
                <a:solidFill>
                  <a:srgbClr val="1F4B70"/>
                </a:solidFill>
                <a:latin typeface="Times New Roman" panose="02020603050405020304" pitchFamily="18" charset="0"/>
                <a:cs typeface="Times New Roman" panose="02020603050405020304" pitchFamily="18" charset="0"/>
              </a:rPr>
              <a:t>x</a:t>
            </a:r>
            <a:r>
              <a:rPr lang="en-US" altLang="zh-CN" dirty="0">
                <a:solidFill>
                  <a:srgbClr val="1F4B70"/>
                </a:solidFill>
                <a:latin typeface="Times New Roman" panose="02020603050405020304" pitchFamily="18" charset="0"/>
                <a:cs typeface="Times New Roman" panose="02020603050405020304" pitchFamily="18" charset="0"/>
              </a:rPr>
              <a:t> &lt; 2,</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1/8,    2</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a:t>
            </a:r>
            <a:r>
              <a:rPr lang="en-US" altLang="zh-CN" dirty="0">
                <a:solidFill>
                  <a:srgbClr val="1F4B70"/>
                </a:solidFill>
                <a:latin typeface="Times New Roman" panose="02020603050405020304" pitchFamily="18" charset="0"/>
                <a:cs typeface="Times New Roman" panose="02020603050405020304" pitchFamily="18" charset="0"/>
              </a:rPr>
              <a:t>2.5</a:t>
            </a:r>
            <a:r>
              <a:rPr lang="en-US" altLang="zh-CN" baseline="30000" dirty="0">
                <a:solidFill>
                  <a:srgbClr val="1F4B70"/>
                </a:solidFill>
                <a:latin typeface="Times New Roman" panose="02020603050405020304" pitchFamily="18" charset="0"/>
                <a:cs typeface="Times New Roman" panose="02020603050405020304" pitchFamily="18" charset="0"/>
              </a:rPr>
              <a:t> </a:t>
            </a:r>
            <a:r>
              <a:rPr lang="en-US" altLang="zh-CN" dirty="0">
                <a:solidFill>
                  <a:srgbClr val="1F4B70"/>
                </a:solidFill>
                <a:latin typeface="Times New Roman" panose="02020603050405020304" pitchFamily="18" charset="0"/>
                <a:cs typeface="Times New Roman" panose="02020603050405020304" pitchFamily="18" charset="0"/>
              </a:rPr>
              <a:t>,</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4/8,  2.5</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a:t>
            </a:r>
            <a:r>
              <a:rPr lang="en-US" altLang="zh-CN" dirty="0">
                <a:solidFill>
                  <a:srgbClr val="1F4B70"/>
                </a:solidFill>
                <a:latin typeface="Times New Roman" panose="02020603050405020304" pitchFamily="18" charset="0"/>
                <a:cs typeface="Times New Roman" panose="02020603050405020304" pitchFamily="18" charset="0"/>
              </a:rPr>
              <a:t>2.7,</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5/8,  2.7</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 </a:t>
            </a:r>
            <a:r>
              <a:rPr lang="en-US" altLang="zh-CN" dirty="0">
                <a:solidFill>
                  <a:srgbClr val="1F4B70"/>
                </a:solidFill>
                <a:latin typeface="Times New Roman" panose="02020603050405020304" pitchFamily="18" charset="0"/>
                <a:cs typeface="Times New Roman" panose="02020603050405020304" pitchFamily="18" charset="0"/>
              </a:rPr>
              <a:t>3,</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7/8,    3</a:t>
            </a:r>
            <a:r>
              <a:rPr lang="en-US" altLang="zh-CN" dirty="0">
                <a:solidFill>
                  <a:srgbClr val="1F4B70"/>
                </a:solidFill>
                <a:latin typeface="Times New Roman" pitchFamily="18" charset="0"/>
                <a:cs typeface="Times New Roman" pitchFamily="18" charset="0"/>
                <a:sym typeface="Symbol" pitchFamily="18" charset="2"/>
              </a:rPr>
              <a:t> </a:t>
            </a:r>
            <a:r>
              <a:rPr lang="en-US" altLang="zh-CN" i="1" dirty="0">
                <a:solidFill>
                  <a:srgbClr val="1F4B70"/>
                </a:solidFill>
                <a:latin typeface="Times New Roman" pitchFamily="18" charset="0"/>
                <a:cs typeface="Times New Roman" pitchFamily="18" charset="0"/>
                <a:sym typeface="Symbol" pitchFamily="18" charset="2"/>
              </a:rPr>
              <a:t>x</a:t>
            </a:r>
            <a:r>
              <a:rPr lang="en-US" altLang="zh-CN" dirty="0">
                <a:solidFill>
                  <a:srgbClr val="1F4B70"/>
                </a:solidFill>
                <a:latin typeface="Times New Roman" pitchFamily="18" charset="0"/>
                <a:cs typeface="Times New Roman" pitchFamily="18" charset="0"/>
                <a:sym typeface="Symbol" pitchFamily="18" charset="2"/>
              </a:rPr>
              <a:t>&lt;</a:t>
            </a:r>
            <a:r>
              <a:rPr lang="en-US" altLang="zh-CN" dirty="0">
                <a:solidFill>
                  <a:srgbClr val="1F4B70"/>
                </a:solidFill>
                <a:latin typeface="Times New Roman" panose="02020603050405020304" pitchFamily="18" charset="0"/>
                <a:cs typeface="Times New Roman" panose="02020603050405020304" pitchFamily="18" charset="0"/>
              </a:rPr>
              <a:t>3.5,</a:t>
            </a:r>
          </a:p>
          <a:p>
            <a:pPr>
              <a:lnSpc>
                <a:spcPct val="130000"/>
              </a:lnSpc>
            </a:pPr>
            <a:r>
              <a:rPr lang="en-US" altLang="zh-CN" dirty="0">
                <a:solidFill>
                  <a:srgbClr val="1F4B70"/>
                </a:solidFill>
                <a:latin typeface="Times New Roman" panose="02020603050405020304" pitchFamily="18" charset="0"/>
                <a:cs typeface="Times New Roman" panose="02020603050405020304" pitchFamily="18" charset="0"/>
              </a:rPr>
              <a:t> 1,           </a:t>
            </a:r>
            <a:r>
              <a:rPr lang="en-US" altLang="zh-CN" i="1" dirty="0">
                <a:solidFill>
                  <a:srgbClr val="1F4B70"/>
                </a:solidFill>
                <a:latin typeface="Times New Roman" panose="02020603050405020304" pitchFamily="18" charset="0"/>
                <a:cs typeface="Times New Roman" panose="02020603050405020304" pitchFamily="18" charset="0"/>
              </a:rPr>
              <a:t>x </a:t>
            </a:r>
            <a:r>
              <a:rPr lang="en-US" altLang="zh-CN" dirty="0">
                <a:solidFill>
                  <a:srgbClr val="1F4B70"/>
                </a:solidFill>
                <a:latin typeface="Times New Roman" pitchFamily="18" charset="0"/>
                <a:cs typeface="Times New Roman" pitchFamily="18" charset="0"/>
                <a:sym typeface="Symbol" pitchFamily="18" charset="2"/>
              </a:rPr>
              <a:t> </a:t>
            </a:r>
            <a:r>
              <a:rPr lang="en-US" altLang="zh-CN" dirty="0">
                <a:solidFill>
                  <a:srgbClr val="1F4B70"/>
                </a:solidFill>
                <a:latin typeface="Times New Roman" panose="02020603050405020304" pitchFamily="18" charset="0"/>
                <a:cs typeface="Times New Roman" panose="02020603050405020304" pitchFamily="18" charset="0"/>
              </a:rPr>
              <a:t>3.5.</a:t>
            </a:r>
          </a:p>
        </p:txBody>
      </p:sp>
      <p:grpSp>
        <p:nvGrpSpPr>
          <p:cNvPr id="9" name="组合 8"/>
          <p:cNvGrpSpPr/>
          <p:nvPr/>
        </p:nvGrpSpPr>
        <p:grpSpPr>
          <a:xfrm>
            <a:off x="4644008" y="3775774"/>
            <a:ext cx="2862077" cy="757139"/>
            <a:chOff x="1557567" y="1472000"/>
            <a:chExt cx="2862077" cy="757139"/>
          </a:xfrm>
        </p:grpSpPr>
        <p:grpSp>
          <p:nvGrpSpPr>
            <p:cNvPr id="10" name="Group 9">
              <a:extLst>
                <a:ext uri="{FF2B5EF4-FFF2-40B4-BE49-F238E27FC236}">
                  <a16:creationId xmlns:a16="http://schemas.microsoft.com/office/drawing/2014/main" id="{CA68B5A0-4B56-475A-A451-9CAFB6F31FFF}"/>
                </a:ext>
              </a:extLst>
            </p:cNvPr>
            <p:cNvGrpSpPr>
              <a:grpSpLocks/>
            </p:cNvGrpSpPr>
            <p:nvPr/>
          </p:nvGrpSpPr>
          <p:grpSpPr bwMode="auto">
            <a:xfrm>
              <a:off x="1557567" y="1513143"/>
              <a:ext cx="2754074" cy="693019"/>
              <a:chOff x="720" y="2448"/>
              <a:chExt cx="2448" cy="616"/>
            </a:xfrm>
          </p:grpSpPr>
          <p:sp>
            <p:nvSpPr>
              <p:cNvPr id="13" name="Line 10">
                <a:extLst>
                  <a:ext uri="{FF2B5EF4-FFF2-40B4-BE49-F238E27FC236}">
                    <a16:creationId xmlns:a16="http://schemas.microsoft.com/office/drawing/2014/main" id="{E113FC3F-E44F-42AF-8AD0-9091E7F09340}"/>
                  </a:ext>
                </a:extLst>
              </p:cNvPr>
              <p:cNvSpPr>
                <a:spLocks noChangeShapeType="1"/>
              </p:cNvSpPr>
              <p:nvPr/>
            </p:nvSpPr>
            <p:spPr bwMode="auto">
              <a:xfrm>
                <a:off x="720" y="2736"/>
                <a:ext cx="2448" cy="0"/>
              </a:xfrm>
              <a:prstGeom prst="line">
                <a:avLst/>
              </a:prstGeom>
              <a:ln>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txBody>
              <a:bodyPr wrap="none" anchor="ctr"/>
              <a:lstStyle/>
              <a:p>
                <a:endParaRPr lang="zh-CN" altLang="en-US">
                  <a:solidFill>
                    <a:srgbClr val="1F4B70"/>
                  </a:solidFill>
                </a:endParaRPr>
              </a:p>
            </p:txBody>
          </p:sp>
          <p:sp>
            <p:nvSpPr>
              <p:cNvPr id="14" name="Line 11">
                <a:extLst>
                  <a:ext uri="{FF2B5EF4-FFF2-40B4-BE49-F238E27FC236}">
                    <a16:creationId xmlns:a16="http://schemas.microsoft.com/office/drawing/2014/main" id="{6049F7DC-3F9C-42C8-9C2A-1B0DF14F7076}"/>
                  </a:ext>
                </a:extLst>
              </p:cNvPr>
              <p:cNvSpPr>
                <a:spLocks noChangeShapeType="1"/>
              </p:cNvSpPr>
              <p:nvPr/>
            </p:nvSpPr>
            <p:spPr bwMode="auto">
              <a:xfrm>
                <a:off x="1056" y="2496"/>
                <a:ext cx="0" cy="528"/>
              </a:xfrm>
              <a:prstGeom prst="line">
                <a:avLst/>
              </a:prstGeom>
              <a:ln>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txBody>
              <a:bodyPr wrap="none" anchor="ctr"/>
              <a:lstStyle/>
              <a:p>
                <a:endParaRPr lang="zh-CN" altLang="en-US">
                  <a:solidFill>
                    <a:srgbClr val="1F4B70"/>
                  </a:solidFill>
                </a:endParaRPr>
              </a:p>
            </p:txBody>
          </p:sp>
          <p:sp>
            <p:nvSpPr>
              <p:cNvPr id="15" name="Text Box 12">
                <a:extLst>
                  <a:ext uri="{FF2B5EF4-FFF2-40B4-BE49-F238E27FC236}">
                    <a16:creationId xmlns:a16="http://schemas.microsoft.com/office/drawing/2014/main" id="{785F6E46-98FF-4244-AAA6-0D7A760DC5C2}"/>
                  </a:ext>
                </a:extLst>
              </p:cNvPr>
              <p:cNvSpPr txBox="1">
                <a:spLocks noChangeArrowheads="1"/>
              </p:cNvSpPr>
              <p:nvPr/>
            </p:nvSpPr>
            <p:spPr bwMode="auto">
              <a:xfrm>
                <a:off x="768" y="2448"/>
                <a:ext cx="24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i="1">
                    <a:solidFill>
                      <a:srgbClr val="1F4B70"/>
                    </a:solidFill>
                    <a:latin typeface="Times New Roman" panose="02020603050405020304" pitchFamily="18" charset="0"/>
                  </a:rPr>
                  <a:t>X</a:t>
                </a:r>
                <a:endParaRPr kumimoji="1" lang="en-US" altLang="zh-CN" sz="1800">
                  <a:solidFill>
                    <a:srgbClr val="1F4B70"/>
                  </a:solidFill>
                  <a:latin typeface="Times New Roman" panose="02020603050405020304" pitchFamily="18" charset="0"/>
                </a:endParaRPr>
              </a:p>
            </p:txBody>
          </p:sp>
          <p:sp>
            <p:nvSpPr>
              <p:cNvPr id="16" name="Text Box 13">
                <a:extLst>
                  <a:ext uri="{FF2B5EF4-FFF2-40B4-BE49-F238E27FC236}">
                    <a16:creationId xmlns:a16="http://schemas.microsoft.com/office/drawing/2014/main" id="{BC57D921-8D74-4DDC-BA1C-4875C6B6FDBC}"/>
                  </a:ext>
                </a:extLst>
              </p:cNvPr>
              <p:cNvSpPr txBox="1">
                <a:spLocks noChangeArrowheads="1"/>
              </p:cNvSpPr>
              <p:nvPr/>
            </p:nvSpPr>
            <p:spPr bwMode="auto">
              <a:xfrm>
                <a:off x="768" y="2736"/>
                <a:ext cx="24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i="1" dirty="0">
                    <a:solidFill>
                      <a:srgbClr val="1F4B70"/>
                    </a:solidFill>
                    <a:latin typeface="Times New Roman" panose="02020603050405020304" pitchFamily="18" charset="0"/>
                  </a:rPr>
                  <a:t>P</a:t>
                </a:r>
                <a:endParaRPr kumimoji="1" lang="en-US" altLang="zh-CN" sz="1800" dirty="0">
                  <a:solidFill>
                    <a:srgbClr val="1F4B70"/>
                  </a:solidFill>
                  <a:latin typeface="Times New Roman" panose="02020603050405020304" pitchFamily="18" charset="0"/>
                </a:endParaRPr>
              </a:p>
            </p:txBody>
          </p:sp>
        </p:grpSp>
        <p:sp>
          <p:nvSpPr>
            <p:cNvPr id="11" name="Text Box 14">
              <a:extLst>
                <a:ext uri="{FF2B5EF4-FFF2-40B4-BE49-F238E27FC236}">
                  <a16:creationId xmlns:a16="http://schemas.microsoft.com/office/drawing/2014/main" id="{74D96586-68D4-48E3-80A3-0080B2CA07BF}"/>
                </a:ext>
              </a:extLst>
            </p:cNvPr>
            <p:cNvSpPr txBox="1">
              <a:spLocks noChangeArrowheads="1"/>
            </p:cNvSpPr>
            <p:nvPr/>
          </p:nvSpPr>
          <p:spPr bwMode="auto">
            <a:xfrm>
              <a:off x="2026524" y="1472000"/>
              <a:ext cx="23931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dirty="0">
                  <a:solidFill>
                    <a:srgbClr val="1F4B70"/>
                  </a:solidFill>
                  <a:latin typeface="Times New Roman" panose="02020603050405020304" pitchFamily="18" charset="0"/>
                </a:rPr>
                <a:t>2    2.5     2.7    3     3.5</a:t>
              </a:r>
            </a:p>
          </p:txBody>
        </p:sp>
        <p:sp>
          <p:nvSpPr>
            <p:cNvPr id="12" name="Text Box 15">
              <a:extLst>
                <a:ext uri="{FF2B5EF4-FFF2-40B4-BE49-F238E27FC236}">
                  <a16:creationId xmlns:a16="http://schemas.microsoft.com/office/drawing/2014/main" id="{C9C3EA37-909B-4242-84C6-AA814390CC41}"/>
                </a:ext>
              </a:extLst>
            </p:cNvPr>
            <p:cNvSpPr txBox="1">
              <a:spLocks noChangeArrowheads="1"/>
            </p:cNvSpPr>
            <p:nvPr/>
          </p:nvSpPr>
          <p:spPr bwMode="auto">
            <a:xfrm>
              <a:off x="1981052" y="1859807"/>
              <a:ext cx="24385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dirty="0">
                  <a:solidFill>
                    <a:srgbClr val="1F4B70"/>
                  </a:solidFill>
                  <a:latin typeface="Times New Roman" panose="02020603050405020304" pitchFamily="18" charset="0"/>
                </a:rPr>
                <a:t>1/8   3/8    1/8   2/8   1/8</a:t>
              </a:r>
            </a:p>
          </p:txBody>
        </p:sp>
      </p:grpSp>
      <p:pic>
        <p:nvPicPr>
          <p:cNvPr id="17" name="图片 16">
            <a:extLst>
              <a:ext uri="{FF2B5EF4-FFF2-40B4-BE49-F238E27FC236}">
                <a16:creationId xmlns:a16="http://schemas.microsoft.com/office/drawing/2014/main" id="{B27F413C-77D4-47A4-8E30-E7759BA8D1EF}"/>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spTree>
    <p:extLst>
      <p:ext uri="{BB962C8B-B14F-4D97-AF65-F5344CB8AC3E}">
        <p14:creationId xmlns:p14="http://schemas.microsoft.com/office/powerpoint/2010/main" val="1451870796"/>
      </p:ext>
    </p:extLst>
  </p:cSld>
  <p:clrMapOvr>
    <a:masterClrMapping/>
  </p:clrMapOvr>
  <mc:AlternateContent xmlns:mc="http://schemas.openxmlformats.org/markup-compatibility/2006" xmlns:p14="http://schemas.microsoft.com/office/powerpoint/2010/main">
    <mc:Choice Requires="p14">
      <p:transition spd="slow" p14:dur="1250">
        <p:wipe dir="u"/>
      </p:transition>
    </mc:Choice>
    <mc:Fallback xmlns="">
      <p:transition spd="slow">
        <p:wipe dir="u"/>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Box 20">
            <a:extLst>
              <a:ext uri="{FF2B5EF4-FFF2-40B4-BE49-F238E27FC236}">
                <a16:creationId xmlns:a16="http://schemas.microsoft.com/office/drawing/2014/main" id="{4BBCD87B-C7AE-4599-937C-2F5068F7465F}"/>
              </a:ext>
            </a:extLst>
          </p:cNvPr>
          <p:cNvSpPr txBox="1">
            <a:spLocks noChangeArrowheads="1"/>
          </p:cNvSpPr>
          <p:nvPr/>
        </p:nvSpPr>
        <p:spPr bwMode="auto">
          <a:xfrm>
            <a:off x="3459387" y="938795"/>
            <a:ext cx="13805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latin typeface="Times New Roman" panose="02020603050405020304" pitchFamily="18" charset="0"/>
              </a:rPr>
              <a:t>|</a:t>
            </a:r>
            <a:r>
              <a:rPr kumimoji="1" lang="en-US" altLang="zh-CN" sz="1800" i="1" dirty="0" err="1">
                <a:solidFill>
                  <a:srgbClr val="FF0000"/>
                </a:solidFill>
                <a:latin typeface="Times New Roman" panose="02020603050405020304" pitchFamily="18" charset="0"/>
              </a:rPr>
              <a:t>F</a:t>
            </a:r>
            <a:r>
              <a:rPr kumimoji="1" lang="en-US" altLang="zh-CN" sz="1800" i="1" baseline="-25000" dirty="0" err="1">
                <a:solidFill>
                  <a:srgbClr val="FF0000"/>
                </a:solidFill>
                <a:latin typeface="Times New Roman" panose="02020603050405020304" pitchFamily="18" charset="0"/>
              </a:rPr>
              <a:t>n</a:t>
            </a:r>
            <a:r>
              <a:rPr kumimoji="1" lang="en-US" altLang="zh-CN" sz="1800" dirty="0">
                <a:solidFill>
                  <a:srgbClr val="FF0000"/>
                </a:solidFill>
                <a:latin typeface="Times New Roman" panose="02020603050405020304" pitchFamily="18" charset="0"/>
              </a:rPr>
              <a:t>(</a:t>
            </a:r>
            <a:r>
              <a:rPr kumimoji="1" lang="en-US" altLang="zh-CN" sz="1800" i="1" dirty="0">
                <a:solidFill>
                  <a:srgbClr val="FF0000"/>
                </a:solidFill>
                <a:latin typeface="Times New Roman" panose="02020603050405020304" pitchFamily="18" charset="0"/>
              </a:rPr>
              <a:t>x</a:t>
            </a:r>
            <a:r>
              <a:rPr kumimoji="1" lang="en-US" altLang="zh-CN" sz="1800" dirty="0">
                <a:solidFill>
                  <a:srgbClr val="FF0000"/>
                </a:solidFill>
                <a:latin typeface="Times New Roman" panose="02020603050405020304" pitchFamily="18" charset="0"/>
              </a:rPr>
              <a:t>)</a:t>
            </a:r>
            <a:r>
              <a:rPr kumimoji="1" lang="en-US" altLang="zh-CN" sz="1800" dirty="0">
                <a:latin typeface="Times New Roman" panose="02020603050405020304" pitchFamily="18" charset="0"/>
              </a:rPr>
              <a:t> – </a:t>
            </a:r>
            <a:r>
              <a:rPr kumimoji="1" lang="en-US" altLang="zh-CN" sz="1800" i="1" dirty="0">
                <a:solidFill>
                  <a:srgbClr val="0000FF"/>
                </a:solidFill>
                <a:latin typeface="Times New Roman" panose="02020603050405020304" pitchFamily="18" charset="0"/>
              </a:rPr>
              <a:t>F</a:t>
            </a:r>
            <a:r>
              <a:rPr kumimoji="1" lang="en-US" altLang="zh-CN" sz="1800" dirty="0">
                <a:solidFill>
                  <a:srgbClr val="0000FF"/>
                </a:solidFill>
                <a:latin typeface="Times New Roman" panose="02020603050405020304" pitchFamily="18" charset="0"/>
              </a:rPr>
              <a:t>(</a:t>
            </a:r>
            <a:r>
              <a:rPr kumimoji="1" lang="en-US" altLang="zh-CN" sz="1800" i="1" dirty="0">
                <a:solidFill>
                  <a:srgbClr val="0000FF"/>
                </a:solidFill>
                <a:latin typeface="Times New Roman" panose="02020603050405020304" pitchFamily="18" charset="0"/>
              </a:rPr>
              <a:t>x</a:t>
            </a:r>
            <a:r>
              <a:rPr kumimoji="1" lang="en-US" altLang="zh-CN" sz="1800" dirty="0">
                <a:solidFill>
                  <a:srgbClr val="0000FF"/>
                </a:solidFill>
                <a:latin typeface="Times New Roman" panose="02020603050405020304" pitchFamily="18" charset="0"/>
              </a:rPr>
              <a:t>)</a:t>
            </a:r>
            <a:r>
              <a:rPr kumimoji="1" lang="en-US" altLang="zh-CN" sz="1800" dirty="0">
                <a:latin typeface="Times New Roman" panose="02020603050405020304" pitchFamily="18" charset="0"/>
              </a:rPr>
              <a:t>|</a:t>
            </a:r>
          </a:p>
        </p:txBody>
      </p:sp>
      <p:grpSp>
        <p:nvGrpSpPr>
          <p:cNvPr id="31" name="Group 21">
            <a:extLst>
              <a:ext uri="{FF2B5EF4-FFF2-40B4-BE49-F238E27FC236}">
                <a16:creationId xmlns:a16="http://schemas.microsoft.com/office/drawing/2014/main" id="{31F2099C-FBB1-4446-9C4D-9A6ADB19B4F8}"/>
              </a:ext>
            </a:extLst>
          </p:cNvPr>
          <p:cNvGrpSpPr>
            <a:grpSpLocks/>
          </p:cNvGrpSpPr>
          <p:nvPr/>
        </p:nvGrpSpPr>
        <p:grpSpPr bwMode="auto">
          <a:xfrm>
            <a:off x="3091506" y="915566"/>
            <a:ext cx="505138" cy="409512"/>
            <a:chOff x="2096" y="3369"/>
            <a:chExt cx="449" cy="364"/>
          </a:xfrm>
        </p:grpSpPr>
        <p:sp>
          <p:nvSpPr>
            <p:cNvPr id="32" name="Text Box 22">
              <a:extLst>
                <a:ext uri="{FF2B5EF4-FFF2-40B4-BE49-F238E27FC236}">
                  <a16:creationId xmlns:a16="http://schemas.microsoft.com/office/drawing/2014/main" id="{E96ABCA5-DA69-4C03-A032-ECCA45E4BF20}"/>
                </a:ext>
              </a:extLst>
            </p:cNvPr>
            <p:cNvSpPr txBox="1">
              <a:spLocks noChangeArrowheads="1"/>
            </p:cNvSpPr>
            <p:nvPr/>
          </p:nvSpPr>
          <p:spPr bwMode="auto">
            <a:xfrm>
              <a:off x="2096" y="3369"/>
              <a:ext cx="449"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rgbClr val="1F4B70"/>
                  </a:solidFill>
                  <a:latin typeface="Times New Roman" panose="02020603050405020304" pitchFamily="18" charset="0"/>
                </a:rPr>
                <a:t>sup</a:t>
              </a:r>
            </a:p>
          </p:txBody>
        </p:sp>
        <p:sp>
          <p:nvSpPr>
            <p:cNvPr id="33" name="Text Box 23">
              <a:extLst>
                <a:ext uri="{FF2B5EF4-FFF2-40B4-BE49-F238E27FC236}">
                  <a16:creationId xmlns:a16="http://schemas.microsoft.com/office/drawing/2014/main" id="{C6A67234-67E1-427A-A12E-6C0E0AA3FF72}"/>
                </a:ext>
              </a:extLst>
            </p:cNvPr>
            <p:cNvSpPr txBox="1">
              <a:spLocks noChangeArrowheads="1"/>
            </p:cNvSpPr>
            <p:nvPr/>
          </p:nvSpPr>
          <p:spPr bwMode="auto">
            <a:xfrm>
              <a:off x="2183" y="3487"/>
              <a:ext cx="225"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a:solidFill>
                    <a:srgbClr val="1F4B70"/>
                  </a:solidFill>
                  <a:latin typeface="Times New Roman" panose="02020603050405020304" pitchFamily="18" charset="0"/>
                </a:rPr>
                <a:t>x</a:t>
              </a:r>
            </a:p>
          </p:txBody>
        </p:sp>
      </p:grpSp>
      <p:grpSp>
        <p:nvGrpSpPr>
          <p:cNvPr id="34" name="Group 24">
            <a:extLst>
              <a:ext uri="{FF2B5EF4-FFF2-40B4-BE49-F238E27FC236}">
                <a16:creationId xmlns:a16="http://schemas.microsoft.com/office/drawing/2014/main" id="{3C4F9E70-820A-4A80-B13F-21717E4E889B}"/>
              </a:ext>
            </a:extLst>
          </p:cNvPr>
          <p:cNvGrpSpPr>
            <a:grpSpLocks/>
          </p:cNvGrpSpPr>
          <p:nvPr/>
        </p:nvGrpSpPr>
        <p:grpSpPr bwMode="auto">
          <a:xfrm>
            <a:off x="2655628" y="938795"/>
            <a:ext cx="524264" cy="397137"/>
            <a:chOff x="1699" y="3385"/>
            <a:chExt cx="466" cy="353"/>
          </a:xfrm>
        </p:grpSpPr>
        <p:sp>
          <p:nvSpPr>
            <p:cNvPr id="35" name="Text Box 25">
              <a:extLst>
                <a:ext uri="{FF2B5EF4-FFF2-40B4-BE49-F238E27FC236}">
                  <a16:creationId xmlns:a16="http://schemas.microsoft.com/office/drawing/2014/main" id="{22990E37-798E-4B65-ADC2-57FFE5C75F55}"/>
                </a:ext>
              </a:extLst>
            </p:cNvPr>
            <p:cNvSpPr txBox="1">
              <a:spLocks noChangeArrowheads="1"/>
            </p:cNvSpPr>
            <p:nvPr/>
          </p:nvSpPr>
          <p:spPr bwMode="auto">
            <a:xfrm>
              <a:off x="1726" y="3385"/>
              <a:ext cx="438"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rgbClr val="1F4B70"/>
                  </a:solidFill>
                  <a:latin typeface="Times New Roman" panose="02020603050405020304" pitchFamily="18" charset="0"/>
                </a:rPr>
                <a:t>lim</a:t>
              </a:r>
            </a:p>
          </p:txBody>
        </p:sp>
        <p:sp>
          <p:nvSpPr>
            <p:cNvPr id="36" name="Text Box 26">
              <a:extLst>
                <a:ext uri="{FF2B5EF4-FFF2-40B4-BE49-F238E27FC236}">
                  <a16:creationId xmlns:a16="http://schemas.microsoft.com/office/drawing/2014/main" id="{2CD0AD84-E584-45C9-94C1-4487CC49E9DF}"/>
                </a:ext>
              </a:extLst>
            </p:cNvPr>
            <p:cNvSpPr txBox="1">
              <a:spLocks noChangeArrowheads="1"/>
            </p:cNvSpPr>
            <p:nvPr/>
          </p:nvSpPr>
          <p:spPr bwMode="auto">
            <a:xfrm>
              <a:off x="1699" y="3492"/>
              <a:ext cx="46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a:solidFill>
                    <a:srgbClr val="1F4B70"/>
                  </a:solidFill>
                  <a:latin typeface="Times New Roman" panose="02020603050405020304" pitchFamily="18" charset="0"/>
                </a:rPr>
                <a:t>n→∞</a:t>
              </a:r>
            </a:p>
          </p:txBody>
        </p:sp>
      </p:grpSp>
      <p:sp>
        <p:nvSpPr>
          <p:cNvPr id="37" name="Text Box 27">
            <a:extLst>
              <a:ext uri="{FF2B5EF4-FFF2-40B4-BE49-F238E27FC236}">
                <a16:creationId xmlns:a16="http://schemas.microsoft.com/office/drawing/2014/main" id="{5EDD51A1-7F8E-492C-9412-D5D30269BA84}"/>
              </a:ext>
            </a:extLst>
          </p:cNvPr>
          <p:cNvSpPr txBox="1">
            <a:spLocks noChangeArrowheads="1"/>
          </p:cNvSpPr>
          <p:nvPr/>
        </p:nvSpPr>
        <p:spPr bwMode="auto">
          <a:xfrm>
            <a:off x="4706418" y="968097"/>
            <a:ext cx="4876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 0</a:t>
            </a:r>
          </a:p>
        </p:txBody>
      </p:sp>
      <p:sp>
        <p:nvSpPr>
          <p:cNvPr id="38" name="Text Box 28">
            <a:extLst>
              <a:ext uri="{FF2B5EF4-FFF2-40B4-BE49-F238E27FC236}">
                <a16:creationId xmlns:a16="http://schemas.microsoft.com/office/drawing/2014/main" id="{863128C3-6F96-473A-89C3-D4621528C967}"/>
              </a:ext>
            </a:extLst>
          </p:cNvPr>
          <p:cNvSpPr txBox="1">
            <a:spLocks noChangeArrowheads="1"/>
          </p:cNvSpPr>
          <p:nvPr/>
        </p:nvSpPr>
        <p:spPr bwMode="auto">
          <a:xfrm>
            <a:off x="2389268" y="955746"/>
            <a:ext cx="3898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P(</a:t>
            </a:r>
          </a:p>
        </p:txBody>
      </p:sp>
      <p:sp>
        <p:nvSpPr>
          <p:cNvPr id="39" name="Text Box 29">
            <a:extLst>
              <a:ext uri="{FF2B5EF4-FFF2-40B4-BE49-F238E27FC236}">
                <a16:creationId xmlns:a16="http://schemas.microsoft.com/office/drawing/2014/main" id="{2B22E10E-B398-4956-8360-89B92E7E386B}"/>
              </a:ext>
            </a:extLst>
          </p:cNvPr>
          <p:cNvSpPr txBox="1">
            <a:spLocks noChangeArrowheads="1"/>
          </p:cNvSpPr>
          <p:nvPr/>
        </p:nvSpPr>
        <p:spPr bwMode="auto">
          <a:xfrm>
            <a:off x="5101842" y="954219"/>
            <a:ext cx="6222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 = 1</a:t>
            </a:r>
          </a:p>
        </p:txBody>
      </p:sp>
      <p:sp>
        <p:nvSpPr>
          <p:cNvPr id="52" name="Text Box 4">
            <a:extLst>
              <a:ext uri="{FF2B5EF4-FFF2-40B4-BE49-F238E27FC236}">
                <a16:creationId xmlns:a16="http://schemas.microsoft.com/office/drawing/2014/main" id="{520E9510-4739-4199-94E9-E752C3D64829}"/>
              </a:ext>
            </a:extLst>
          </p:cNvPr>
          <p:cNvSpPr txBox="1">
            <a:spLocks noChangeArrowheads="1"/>
          </p:cNvSpPr>
          <p:nvPr/>
        </p:nvSpPr>
        <p:spPr bwMode="auto">
          <a:xfrm>
            <a:off x="611560" y="920689"/>
            <a:ext cx="14107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rIns="12756">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格列汶科定理</a:t>
            </a:r>
          </a:p>
        </p:txBody>
      </p:sp>
      <p:pic>
        <p:nvPicPr>
          <p:cNvPr id="14339"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58738" y="1548265"/>
            <a:ext cx="6641727" cy="2246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 name="组合 12"/>
          <p:cNvGrpSpPr/>
          <p:nvPr/>
        </p:nvGrpSpPr>
        <p:grpSpPr>
          <a:xfrm>
            <a:off x="1058541" y="1553191"/>
            <a:ext cx="6657690" cy="2235522"/>
            <a:chOff x="680319" y="2439410"/>
            <a:chExt cx="7498278" cy="2517775"/>
          </a:xfrm>
        </p:grpSpPr>
        <p:cxnSp>
          <p:nvCxnSpPr>
            <p:cNvPr id="3" name="直接连接符 2"/>
            <p:cNvCxnSpPr/>
            <p:nvPr/>
          </p:nvCxnSpPr>
          <p:spPr>
            <a:xfrm>
              <a:off x="680319" y="2439410"/>
              <a:ext cx="748347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80319" y="2439410"/>
              <a:ext cx="3249" cy="2514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8157597" y="2439410"/>
              <a:ext cx="0" cy="251777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702201" y="4944485"/>
              <a:ext cx="7476396" cy="7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0" name="图片 39">
            <a:extLst>
              <a:ext uri="{FF2B5EF4-FFF2-40B4-BE49-F238E27FC236}">
                <a16:creationId xmlns:a16="http://schemas.microsoft.com/office/drawing/2014/main" id="{A46CDAE8-EE49-4640-BFF5-84768FA70B87}"/>
              </a:ext>
            </a:extLst>
          </p:cNvPr>
          <p:cNvPicPr>
            <a:picLocks noChangeAspect="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spTree>
    <p:extLst>
      <p:ext uri="{BB962C8B-B14F-4D97-AF65-F5344CB8AC3E}">
        <p14:creationId xmlns:p14="http://schemas.microsoft.com/office/powerpoint/2010/main" val="13698641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arn(inVertic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slide(fromBottom)">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slide(fromRight)">
                                      <p:cBhvr>
                                        <p:cTn id="22" dur="500"/>
                                        <p:tgtEl>
                                          <p:spTgt spid="34"/>
                                        </p:tgtEl>
                                      </p:cBhvr>
                                    </p:animEffect>
                                  </p:childTnLst>
                                </p:cTn>
                              </p:par>
                            </p:childTnLst>
                          </p:cTn>
                        </p:par>
                        <p:par>
                          <p:cTn id="23" fill="hold">
                            <p:stCondLst>
                              <p:cond delay="500"/>
                            </p:stCondLst>
                            <p:childTnLst>
                              <p:par>
                                <p:cTn id="24" presetID="12" presetClass="entr" presetSubtype="8" fill="hold" grpId="0" nodeType="after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slide(from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right)">
                                      <p:cBhvr>
                                        <p:cTn id="31" dur="500"/>
                                        <p:tgtEl>
                                          <p:spTgt spid="38"/>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left)">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par>
                                <p:cTn id="41" presetID="22" presetClass="entr" presetSubtype="1" fill="hold" nodeType="withEffect">
                                  <p:stCondLst>
                                    <p:cond delay="0"/>
                                  </p:stCondLst>
                                  <p:childTnLst>
                                    <p:set>
                                      <p:cBhvr>
                                        <p:cTn id="42" dur="1" fill="hold">
                                          <p:stCondLst>
                                            <p:cond delay="0"/>
                                          </p:stCondLst>
                                        </p:cTn>
                                        <p:tgtEl>
                                          <p:spTgt spid="14339"/>
                                        </p:tgtEl>
                                        <p:attrNameLst>
                                          <p:attrName>style.visibility</p:attrName>
                                        </p:attrNameLst>
                                      </p:cBhvr>
                                      <p:to>
                                        <p:strVal val="visible"/>
                                      </p:to>
                                    </p:set>
                                    <p:animEffect transition="in" filter="wipe(up)">
                                      <p:cBhvr>
                                        <p:cTn id="43" dur="500"/>
                                        <p:tgtEl>
                                          <p:spTgt spid="14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utoUpdateAnimBg="0"/>
      <p:bldP spid="37" grpId="0" autoUpdateAnimBg="0"/>
      <p:bldP spid="38" grpId="0" autoUpdateAnimBg="0"/>
      <p:bldP spid="39" grpId="0" autoUpdateAnimBg="0"/>
      <p:bldP spid="5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42">
            <a:extLst>
              <a:ext uri="{FF2B5EF4-FFF2-40B4-BE49-F238E27FC236}">
                <a16:creationId xmlns:a16="http://schemas.microsoft.com/office/drawing/2014/main" id="{1CB3FCCC-7D35-4434-AB1A-0FB53F8ADB28}"/>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sp>
        <p:nvSpPr>
          <p:cNvPr id="51" name="Text Box 3">
            <a:extLst>
              <a:ext uri="{FF2B5EF4-FFF2-40B4-BE49-F238E27FC236}">
                <a16:creationId xmlns:a16="http://schemas.microsoft.com/office/drawing/2014/main" id="{5A98CDE3-8917-4F98-9AAE-24F30551F98B}"/>
              </a:ext>
            </a:extLst>
          </p:cNvPr>
          <p:cNvSpPr txBox="1">
            <a:spLocks noChangeArrowheads="1"/>
          </p:cNvSpPr>
          <p:nvPr/>
        </p:nvSpPr>
        <p:spPr bwMode="auto">
          <a:xfrm>
            <a:off x="1115616" y="906738"/>
            <a:ext cx="5033542" cy="292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tIns="7654" rIns="12756" bIns="7654">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定义</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设</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为来自总体</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的一个样本，若</a:t>
            </a:r>
          </a:p>
        </p:txBody>
      </p:sp>
      <p:sp>
        <p:nvSpPr>
          <p:cNvPr id="52" name="Text Box 4">
            <a:extLst>
              <a:ext uri="{FF2B5EF4-FFF2-40B4-BE49-F238E27FC236}">
                <a16:creationId xmlns:a16="http://schemas.microsoft.com/office/drawing/2014/main" id="{BEBE6CB3-E845-4DAD-8AAE-F73C093E60EC}"/>
              </a:ext>
            </a:extLst>
          </p:cNvPr>
          <p:cNvSpPr txBox="1">
            <a:spLocks noChangeArrowheads="1"/>
          </p:cNvSpPr>
          <p:nvPr/>
        </p:nvSpPr>
        <p:spPr bwMode="auto">
          <a:xfrm>
            <a:off x="1303362" y="1367504"/>
            <a:ext cx="3024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100">
                <a:solidFill>
                  <a:schemeClr val="tx1"/>
                </a:solidFill>
                <a:latin typeface="Arial" panose="020B0604020202020204" pitchFamily="34" charset="0"/>
                <a:ea typeface="宋体" panose="02010600030101010101" pitchFamily="2" charset="-122"/>
              </a:defRPr>
            </a:lvl1pPr>
            <a:lvl2pPr marL="742950" indent="-285750" eaLnBrk="0" hangingPunct="0">
              <a:defRPr sz="3100">
                <a:solidFill>
                  <a:schemeClr val="tx1"/>
                </a:solidFill>
                <a:latin typeface="Arial" panose="020B0604020202020204" pitchFamily="34" charset="0"/>
                <a:ea typeface="宋体" panose="02010600030101010101" pitchFamily="2" charset="-122"/>
              </a:defRPr>
            </a:lvl2pPr>
            <a:lvl3pPr marL="1143000" indent="-228600" eaLnBrk="0" hangingPunct="0">
              <a:defRPr sz="3100">
                <a:solidFill>
                  <a:schemeClr val="tx1"/>
                </a:solidFill>
                <a:latin typeface="Arial" panose="020B0604020202020204" pitchFamily="34" charset="0"/>
                <a:ea typeface="宋体" panose="02010600030101010101" pitchFamily="2" charset="-122"/>
              </a:defRPr>
            </a:lvl3pPr>
            <a:lvl4pPr marL="1600200" indent="-228600" eaLnBrk="0" hangingPunct="0">
              <a:defRPr sz="3100">
                <a:solidFill>
                  <a:schemeClr val="tx1"/>
                </a:solidFill>
                <a:latin typeface="Arial" panose="020B0604020202020204" pitchFamily="34" charset="0"/>
                <a:ea typeface="宋体" panose="02010600030101010101" pitchFamily="2" charset="-122"/>
              </a:defRPr>
            </a:lvl4pPr>
            <a:lvl5pPr marL="2057400" indent="-228600" eaLnBrk="0" hangingPunct="0">
              <a:defRPr sz="3100">
                <a:solidFill>
                  <a:schemeClr val="tx1"/>
                </a:solidFill>
                <a:latin typeface="Arial" panose="020B0604020202020204" pitchFamily="34" charset="0"/>
                <a:ea typeface="宋体" panose="02010600030101010101" pitchFamily="2" charset="-122"/>
              </a:defRPr>
            </a:lvl5pPr>
            <a:lvl6pPr marL="25146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6pPr>
            <a:lvl7pPr marL="29718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7pPr>
            <a:lvl8pPr marL="34290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8pPr>
            <a:lvl9pPr marL="38862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连续</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3" name="Text Box 5">
            <a:extLst>
              <a:ext uri="{FF2B5EF4-FFF2-40B4-BE49-F238E27FC236}">
                <a16:creationId xmlns:a16="http://schemas.microsoft.com/office/drawing/2014/main" id="{69BFC160-DAFF-433F-93DE-422C45D0DF66}"/>
              </a:ext>
            </a:extLst>
          </p:cNvPr>
          <p:cNvSpPr txBox="1">
            <a:spLocks noChangeArrowheads="1"/>
          </p:cNvSpPr>
          <p:nvPr/>
        </p:nvSpPr>
        <p:spPr bwMode="auto">
          <a:xfrm>
            <a:off x="1375370" y="1955281"/>
            <a:ext cx="5124914" cy="292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tIns="7654" rIns="12756" bIns="7654">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中不含有关总体的未知参数</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Text Box 6">
            <a:extLst>
              <a:ext uri="{FF2B5EF4-FFF2-40B4-BE49-F238E27FC236}">
                <a16:creationId xmlns:a16="http://schemas.microsoft.com/office/drawing/2014/main" id="{39D573CE-CABE-409E-8EA9-E123CB1FBD8E}"/>
              </a:ext>
            </a:extLst>
          </p:cNvPr>
          <p:cNvSpPr txBox="1">
            <a:spLocks noChangeArrowheads="1"/>
          </p:cNvSpPr>
          <p:nvPr/>
        </p:nvSpPr>
        <p:spPr bwMode="auto">
          <a:xfrm>
            <a:off x="611560" y="2335342"/>
            <a:ext cx="7416824" cy="417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756" rIns="12756">
            <a:spAutoFit/>
          </a:bodyPr>
          <a:lstStyle/>
          <a:p>
            <a:pPr>
              <a:lnSpc>
                <a:spcPct val="130000"/>
              </a:lnSpc>
              <a:defRPr/>
            </a:pP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则称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a:t>
            </a:r>
            <a:r>
              <a:rPr kumimoji="1" lang="zh-CN" altLang="en-US"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统计量，</a:t>
            </a: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称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a:t>
            </a:r>
            <a:r>
              <a:rPr kumimoji="1" lang="zh-CN" altLang="en-US"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统计量观察值</a:t>
            </a:r>
            <a:r>
              <a:rPr kumimoji="1" lang="en-US" altLang="zh-CN"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1" name="Text Box 4">
            <a:extLst>
              <a:ext uri="{FF2B5EF4-FFF2-40B4-BE49-F238E27FC236}">
                <a16:creationId xmlns:a16="http://schemas.microsoft.com/office/drawing/2014/main" id="{1A4ACACA-D7C0-483D-8AEA-31D354052356}"/>
              </a:ext>
            </a:extLst>
          </p:cNvPr>
          <p:cNvSpPr txBox="1">
            <a:spLocks noChangeArrowheads="1"/>
          </p:cNvSpPr>
          <p:nvPr/>
        </p:nvSpPr>
        <p:spPr bwMode="auto">
          <a:xfrm>
            <a:off x="4230416" y="1368433"/>
            <a:ext cx="39604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100">
                <a:solidFill>
                  <a:schemeClr val="tx1"/>
                </a:solidFill>
                <a:latin typeface="Arial" panose="020B0604020202020204" pitchFamily="34" charset="0"/>
                <a:ea typeface="宋体" panose="02010600030101010101" pitchFamily="2" charset="-122"/>
              </a:defRPr>
            </a:lvl1pPr>
            <a:lvl2pPr marL="742950" indent="-285750" eaLnBrk="0" hangingPunct="0">
              <a:defRPr sz="3100">
                <a:solidFill>
                  <a:schemeClr val="tx1"/>
                </a:solidFill>
                <a:latin typeface="Arial" panose="020B0604020202020204" pitchFamily="34" charset="0"/>
                <a:ea typeface="宋体" panose="02010600030101010101" pitchFamily="2" charset="-122"/>
              </a:defRPr>
            </a:lvl2pPr>
            <a:lvl3pPr marL="1143000" indent="-228600" eaLnBrk="0" hangingPunct="0">
              <a:defRPr sz="3100">
                <a:solidFill>
                  <a:schemeClr val="tx1"/>
                </a:solidFill>
                <a:latin typeface="Arial" panose="020B0604020202020204" pitchFamily="34" charset="0"/>
                <a:ea typeface="宋体" panose="02010600030101010101" pitchFamily="2" charset="-122"/>
              </a:defRPr>
            </a:lvl3pPr>
            <a:lvl4pPr marL="1600200" indent="-228600" eaLnBrk="0" hangingPunct="0">
              <a:defRPr sz="3100">
                <a:solidFill>
                  <a:schemeClr val="tx1"/>
                </a:solidFill>
                <a:latin typeface="Arial" panose="020B0604020202020204" pitchFamily="34" charset="0"/>
                <a:ea typeface="宋体" panose="02010600030101010101" pitchFamily="2" charset="-122"/>
              </a:defRPr>
            </a:lvl4pPr>
            <a:lvl5pPr marL="2057400" indent="-228600" eaLnBrk="0" hangingPunct="0">
              <a:defRPr sz="3100">
                <a:solidFill>
                  <a:schemeClr val="tx1"/>
                </a:solidFill>
                <a:latin typeface="Arial" panose="020B0604020202020204" pitchFamily="34" charset="0"/>
                <a:ea typeface="宋体" panose="02010600030101010101" pitchFamily="2" charset="-122"/>
              </a:defRPr>
            </a:lvl5pPr>
            <a:lvl6pPr marL="25146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6pPr>
            <a:lvl7pPr marL="29718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7pPr>
            <a:lvl8pPr marL="34290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8pPr>
            <a:lvl9pPr marL="3886200" indent="-228600" eaLnBrk="0" fontAlgn="t"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为随机变量即可</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 name="Text Box 7">
            <a:extLst>
              <a:ext uri="{FF2B5EF4-FFF2-40B4-BE49-F238E27FC236}">
                <a16:creationId xmlns:a16="http://schemas.microsoft.com/office/drawing/2014/main" id="{F1602648-16C5-430F-8FEE-215850DA86F0}"/>
              </a:ext>
            </a:extLst>
          </p:cNvPr>
          <p:cNvSpPr txBox="1">
            <a:spLocks noChangeArrowheads="1"/>
          </p:cNvSpPr>
          <p:nvPr/>
        </p:nvSpPr>
        <p:spPr bwMode="auto">
          <a:xfrm>
            <a:off x="539552" y="3219822"/>
            <a:ext cx="77047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b="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例</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设</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为来自总体</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18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的样本，其中</a:t>
            </a:r>
            <a:r>
              <a:rPr kumimoji="1" lang="en-US" altLang="en-US"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已知，</a:t>
            </a:r>
            <a:r>
              <a:rPr kumimoji="1" lang="en-US" altLang="en-US"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en-US" sz="18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未知，则</a:t>
            </a:r>
          </a:p>
        </p:txBody>
      </p:sp>
      <p:sp>
        <p:nvSpPr>
          <p:cNvPr id="13" name="Text Box 32">
            <a:extLst>
              <a:ext uri="{FF2B5EF4-FFF2-40B4-BE49-F238E27FC236}">
                <a16:creationId xmlns:a16="http://schemas.microsoft.com/office/drawing/2014/main" id="{91DF3EE1-BF87-4ADD-904F-3DF87D46335C}"/>
              </a:ext>
            </a:extLst>
          </p:cNvPr>
          <p:cNvSpPr txBox="1">
            <a:spLocks noChangeArrowheads="1"/>
          </p:cNvSpPr>
          <p:nvPr/>
        </p:nvSpPr>
        <p:spPr bwMode="auto">
          <a:xfrm>
            <a:off x="4352247" y="3831604"/>
            <a:ext cx="453970"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(3)</a:t>
            </a:r>
          </a:p>
        </p:txBody>
      </p:sp>
      <p:grpSp>
        <p:nvGrpSpPr>
          <p:cNvPr id="15" name="Group 8">
            <a:extLst>
              <a:ext uri="{FF2B5EF4-FFF2-40B4-BE49-F238E27FC236}">
                <a16:creationId xmlns:a16="http://schemas.microsoft.com/office/drawing/2014/main" id="{45035324-7937-4299-80B8-0490CA479B5C}"/>
              </a:ext>
            </a:extLst>
          </p:cNvPr>
          <p:cNvGrpSpPr>
            <a:grpSpLocks/>
          </p:cNvGrpSpPr>
          <p:nvPr/>
        </p:nvGrpSpPr>
        <p:grpSpPr bwMode="auto">
          <a:xfrm>
            <a:off x="925893" y="3733170"/>
            <a:ext cx="378010" cy="324009"/>
            <a:chOff x="4896" y="3360"/>
            <a:chExt cx="336" cy="288"/>
          </a:xfrm>
        </p:grpSpPr>
        <p:sp>
          <p:nvSpPr>
            <p:cNvPr id="16" name="Line 9">
              <a:extLst>
                <a:ext uri="{FF2B5EF4-FFF2-40B4-BE49-F238E27FC236}">
                  <a16:creationId xmlns:a16="http://schemas.microsoft.com/office/drawing/2014/main" id="{01B1A3B3-A03D-443C-BAE6-92C420CD8CCB}"/>
                </a:ext>
              </a:extLst>
            </p:cNvPr>
            <p:cNvSpPr>
              <a:spLocks noChangeShapeType="1"/>
            </p:cNvSpPr>
            <p:nvPr/>
          </p:nvSpPr>
          <p:spPr bwMode="auto">
            <a:xfrm>
              <a:off x="4896" y="3504"/>
              <a:ext cx="96" cy="144"/>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sp>
          <p:nvSpPr>
            <p:cNvPr id="17" name="Line 10">
              <a:extLst>
                <a:ext uri="{FF2B5EF4-FFF2-40B4-BE49-F238E27FC236}">
                  <a16:creationId xmlns:a16="http://schemas.microsoft.com/office/drawing/2014/main" id="{1281ACED-29C4-4315-8AA6-2CA7CD3A84F0}"/>
                </a:ext>
              </a:extLst>
            </p:cNvPr>
            <p:cNvSpPr>
              <a:spLocks noChangeShapeType="1"/>
            </p:cNvSpPr>
            <p:nvPr/>
          </p:nvSpPr>
          <p:spPr bwMode="auto">
            <a:xfrm flipV="1">
              <a:off x="4992" y="3360"/>
              <a:ext cx="240" cy="288"/>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grpSp>
      <p:grpSp>
        <p:nvGrpSpPr>
          <p:cNvPr id="21" name="Group 17">
            <a:extLst>
              <a:ext uri="{FF2B5EF4-FFF2-40B4-BE49-F238E27FC236}">
                <a16:creationId xmlns:a16="http://schemas.microsoft.com/office/drawing/2014/main" id="{B294C261-E9AF-4A77-8EA9-6D12C5BAE279}"/>
              </a:ext>
            </a:extLst>
          </p:cNvPr>
          <p:cNvGrpSpPr>
            <a:grpSpLocks/>
          </p:cNvGrpSpPr>
          <p:nvPr/>
        </p:nvGrpSpPr>
        <p:grpSpPr bwMode="auto">
          <a:xfrm>
            <a:off x="4423124" y="3852013"/>
            <a:ext cx="216006" cy="324009"/>
            <a:chOff x="4464" y="3648"/>
            <a:chExt cx="192" cy="288"/>
          </a:xfrm>
        </p:grpSpPr>
        <p:sp>
          <p:nvSpPr>
            <p:cNvPr id="22" name="Line 18">
              <a:extLst>
                <a:ext uri="{FF2B5EF4-FFF2-40B4-BE49-F238E27FC236}">
                  <a16:creationId xmlns:a16="http://schemas.microsoft.com/office/drawing/2014/main" id="{CA3C1EC7-C71E-4B9E-A801-736BA45AEE49}"/>
                </a:ext>
              </a:extLst>
            </p:cNvPr>
            <p:cNvSpPr>
              <a:spLocks noChangeShapeType="1"/>
            </p:cNvSpPr>
            <p:nvPr/>
          </p:nvSpPr>
          <p:spPr bwMode="auto">
            <a:xfrm>
              <a:off x="4464" y="3648"/>
              <a:ext cx="192" cy="288"/>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sp>
          <p:nvSpPr>
            <p:cNvPr id="23" name="Line 19">
              <a:extLst>
                <a:ext uri="{FF2B5EF4-FFF2-40B4-BE49-F238E27FC236}">
                  <a16:creationId xmlns:a16="http://schemas.microsoft.com/office/drawing/2014/main" id="{CC6CD238-F5DA-474C-8E3D-823CB7DACB37}"/>
                </a:ext>
              </a:extLst>
            </p:cNvPr>
            <p:cNvSpPr>
              <a:spLocks noChangeShapeType="1"/>
            </p:cNvSpPr>
            <p:nvPr/>
          </p:nvSpPr>
          <p:spPr bwMode="auto">
            <a:xfrm flipH="1">
              <a:off x="4464" y="3648"/>
              <a:ext cx="192" cy="288"/>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grpSp>
      <p:sp>
        <p:nvSpPr>
          <p:cNvPr id="24" name="Text Box 20">
            <a:extLst>
              <a:ext uri="{FF2B5EF4-FFF2-40B4-BE49-F238E27FC236}">
                <a16:creationId xmlns:a16="http://schemas.microsoft.com/office/drawing/2014/main" id="{B411DA89-5776-404A-9D5D-1B23ECB0C655}"/>
              </a:ext>
            </a:extLst>
          </p:cNvPr>
          <p:cNvSpPr txBox="1">
            <a:spLocks noChangeArrowheads="1"/>
          </p:cNvSpPr>
          <p:nvPr/>
        </p:nvSpPr>
        <p:spPr bwMode="auto">
          <a:xfrm>
            <a:off x="919142" y="3792797"/>
            <a:ext cx="12314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GB" altLang="zh-CN" sz="1800" dirty="0">
                <a:solidFill>
                  <a:srgbClr val="1F4B70"/>
                </a:solidFill>
                <a:latin typeface="Times New Roman" panose="02020603050405020304" pitchFamily="18" charset="0"/>
              </a:rPr>
              <a:t>(1)  </a:t>
            </a:r>
            <a:r>
              <a:rPr kumimoji="1" lang="en-GB" altLang="zh-CN" sz="1800" i="1" dirty="0">
                <a:solidFill>
                  <a:srgbClr val="1F4B70"/>
                </a:solidFill>
                <a:latin typeface="Times New Roman" panose="02020603050405020304" pitchFamily="18" charset="0"/>
              </a:rPr>
              <a:t>X</a:t>
            </a:r>
            <a:r>
              <a:rPr kumimoji="1" lang="en-GB" altLang="zh-CN" sz="1800" baseline="-25000" dirty="0">
                <a:solidFill>
                  <a:srgbClr val="1F4B70"/>
                </a:solidFill>
                <a:latin typeface="Times New Roman" panose="02020603050405020304" pitchFamily="18" charset="0"/>
              </a:rPr>
              <a:t>1 </a:t>
            </a:r>
            <a:r>
              <a:rPr kumimoji="1" lang="en-GB" altLang="zh-CN" sz="1800" dirty="0">
                <a:solidFill>
                  <a:srgbClr val="1F4B70"/>
                </a:solidFill>
                <a:latin typeface="Times New Roman" panose="02020603050405020304" pitchFamily="18" charset="0"/>
              </a:rPr>
              <a:t>+ </a:t>
            </a:r>
            <a:r>
              <a:rPr kumimoji="1" lang="en-GB" altLang="zh-CN" sz="1800" i="1" dirty="0" err="1">
                <a:solidFill>
                  <a:srgbClr val="1F4B70"/>
                </a:solidFill>
                <a:latin typeface="Times New Roman" panose="02020603050405020304" pitchFamily="18" charset="0"/>
              </a:rPr>
              <a:t>X</a:t>
            </a:r>
            <a:r>
              <a:rPr kumimoji="1" lang="en-GB" altLang="zh-CN" sz="1800" i="1" baseline="-25000" dirty="0" err="1">
                <a:solidFill>
                  <a:srgbClr val="1F4B70"/>
                </a:solidFill>
                <a:latin typeface="Times New Roman" panose="02020603050405020304" pitchFamily="18" charset="0"/>
              </a:rPr>
              <a:t>n</a:t>
            </a:r>
            <a:endParaRPr kumimoji="1" lang="en-US" altLang="zh-CN" sz="1800" i="1" baseline="-25000" dirty="0">
              <a:solidFill>
                <a:srgbClr val="1F4B70"/>
              </a:solidFill>
              <a:latin typeface="Times New Roman" panose="02020603050405020304" pitchFamily="18" charset="0"/>
            </a:endParaRPr>
          </a:p>
        </p:txBody>
      </p:sp>
      <p:grpSp>
        <p:nvGrpSpPr>
          <p:cNvPr id="2" name="组合 1"/>
          <p:cNvGrpSpPr/>
          <p:nvPr/>
        </p:nvGrpSpPr>
        <p:grpSpPr>
          <a:xfrm>
            <a:off x="2363621" y="3784682"/>
            <a:ext cx="1848339" cy="499515"/>
            <a:chOff x="2363621" y="4063422"/>
            <a:chExt cx="1848339" cy="499515"/>
          </a:xfrm>
        </p:grpSpPr>
        <p:sp>
          <p:nvSpPr>
            <p:cNvPr id="14" name="Text Box 21">
              <a:extLst>
                <a:ext uri="{FF2B5EF4-FFF2-40B4-BE49-F238E27FC236}">
                  <a16:creationId xmlns:a16="http://schemas.microsoft.com/office/drawing/2014/main" id="{BCC0F674-CB78-4A03-A821-150CF8C083EA}"/>
                </a:ext>
              </a:extLst>
            </p:cNvPr>
            <p:cNvSpPr txBox="1">
              <a:spLocks noChangeArrowheads="1"/>
            </p:cNvSpPr>
            <p:nvPr/>
          </p:nvSpPr>
          <p:spPr bwMode="auto">
            <a:xfrm>
              <a:off x="2363621" y="4087967"/>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GB" altLang="zh-CN" sz="1800" dirty="0">
                  <a:solidFill>
                    <a:srgbClr val="1F4B70"/>
                  </a:solidFill>
                  <a:latin typeface="Times New Roman" panose="02020603050405020304" pitchFamily="18" charset="0"/>
                </a:rPr>
                <a:t>(2)</a:t>
              </a:r>
              <a:endParaRPr kumimoji="1" lang="en-US" altLang="zh-CN" sz="1800" baseline="38000" dirty="0">
                <a:solidFill>
                  <a:srgbClr val="1F4B70"/>
                </a:solidFill>
                <a:latin typeface="Times New Roman" panose="02020603050405020304" pitchFamily="18" charset="0"/>
              </a:endParaRPr>
            </a:p>
          </p:txBody>
        </p:sp>
        <p:grpSp>
          <p:nvGrpSpPr>
            <p:cNvPr id="25" name="Group 23">
              <a:extLst>
                <a:ext uri="{FF2B5EF4-FFF2-40B4-BE49-F238E27FC236}">
                  <a16:creationId xmlns:a16="http://schemas.microsoft.com/office/drawing/2014/main" id="{777F8FD9-637B-4636-B484-962CF5072517}"/>
                </a:ext>
              </a:extLst>
            </p:cNvPr>
            <p:cNvGrpSpPr>
              <a:grpSpLocks/>
            </p:cNvGrpSpPr>
            <p:nvPr/>
          </p:nvGrpSpPr>
          <p:grpSpPr bwMode="auto">
            <a:xfrm>
              <a:off x="2784296" y="4063422"/>
              <a:ext cx="1427664" cy="499515"/>
              <a:chOff x="3470" y="3110"/>
              <a:chExt cx="1269" cy="444"/>
            </a:xfrm>
          </p:grpSpPr>
          <p:sp>
            <p:nvSpPr>
              <p:cNvPr id="26" name="Text Box 24">
                <a:extLst>
                  <a:ext uri="{FF2B5EF4-FFF2-40B4-BE49-F238E27FC236}">
                    <a16:creationId xmlns:a16="http://schemas.microsoft.com/office/drawing/2014/main" id="{FB8D27D2-A4BE-4F2D-8AA6-BFE6A49281A6}"/>
                  </a:ext>
                </a:extLst>
              </p:cNvPr>
              <p:cNvSpPr txBox="1">
                <a:spLocks noChangeArrowheads="1"/>
              </p:cNvSpPr>
              <p:nvPr/>
            </p:nvSpPr>
            <p:spPr bwMode="auto">
              <a:xfrm>
                <a:off x="3566" y="3308"/>
                <a:ext cx="41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err="1">
                    <a:solidFill>
                      <a:srgbClr val="1F4B70"/>
                    </a:solidFill>
                    <a:latin typeface="Times New Roman" panose="02020603050405020304" pitchFamily="18" charset="0"/>
                  </a:rPr>
                  <a:t>i</a:t>
                </a:r>
                <a:r>
                  <a:rPr kumimoji="1" lang="en-US" altLang="zh-CN" sz="1800" i="1" baseline="-25000" dirty="0">
                    <a:solidFill>
                      <a:srgbClr val="1F4B70"/>
                    </a:solidFill>
                    <a:latin typeface="Times New Roman" panose="02020603050405020304" pitchFamily="18" charset="0"/>
                  </a:rPr>
                  <a:t> </a:t>
                </a:r>
                <a:r>
                  <a:rPr kumimoji="1" lang="en-US" altLang="zh-CN" sz="1800" baseline="-25000" dirty="0">
                    <a:solidFill>
                      <a:srgbClr val="1F4B70"/>
                    </a:solidFill>
                    <a:latin typeface="Times New Roman" panose="02020603050405020304" pitchFamily="18" charset="0"/>
                  </a:rPr>
                  <a:t>= 1</a:t>
                </a:r>
              </a:p>
            </p:txBody>
          </p:sp>
          <p:sp>
            <p:nvSpPr>
              <p:cNvPr id="27" name="Text Box 25">
                <a:extLst>
                  <a:ext uri="{FF2B5EF4-FFF2-40B4-BE49-F238E27FC236}">
                    <a16:creationId xmlns:a16="http://schemas.microsoft.com/office/drawing/2014/main" id="{FA821ACB-E953-4C3C-BC50-D84ADB208499}"/>
                  </a:ext>
                </a:extLst>
              </p:cNvPr>
              <p:cNvSpPr txBox="1">
                <a:spLocks noChangeArrowheads="1"/>
              </p:cNvSpPr>
              <p:nvPr/>
            </p:nvSpPr>
            <p:spPr bwMode="auto">
              <a:xfrm>
                <a:off x="3606" y="3152"/>
                <a:ext cx="113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GB" altLang="zh-CN" sz="1800" dirty="0">
                    <a:solidFill>
                      <a:srgbClr val="1F4B70"/>
                    </a:solidFill>
                    <a:latin typeface="Symbol" panose="05050102010706020507" pitchFamily="18" charset="2"/>
                  </a:rPr>
                  <a:t>S </a:t>
                </a:r>
                <a:r>
                  <a:rPr kumimoji="1" lang="en-GB" altLang="zh-CN" sz="1800" dirty="0">
                    <a:solidFill>
                      <a:srgbClr val="1F4B70"/>
                    </a:solidFill>
                    <a:latin typeface="Times New Roman" panose="02020603050405020304" pitchFamily="18" charset="0"/>
                  </a:rPr>
                  <a:t>(</a:t>
                </a:r>
                <a:r>
                  <a:rPr kumimoji="1" lang="en-GB" altLang="zh-CN" sz="1800" i="1" dirty="0">
                    <a:solidFill>
                      <a:srgbClr val="1F4B70"/>
                    </a:solidFill>
                    <a:latin typeface="Times New Roman" panose="02020603050405020304" pitchFamily="18" charset="0"/>
                  </a:rPr>
                  <a:t>X</a:t>
                </a:r>
                <a:r>
                  <a:rPr kumimoji="1" lang="en-GB" altLang="zh-CN" sz="1800" i="1" baseline="-25000" dirty="0">
                    <a:solidFill>
                      <a:srgbClr val="1F4B70"/>
                    </a:solidFill>
                    <a:latin typeface="Times New Roman" panose="02020603050405020304" pitchFamily="18" charset="0"/>
                  </a:rPr>
                  <a:t>i </a:t>
                </a:r>
                <a:r>
                  <a:rPr kumimoji="1" lang="en-GB" altLang="zh-CN" sz="1800" dirty="0">
                    <a:solidFill>
                      <a:srgbClr val="1F4B70"/>
                    </a:solidFill>
                    <a:latin typeface="Symbol" panose="05050102010706020507" pitchFamily="18" charset="2"/>
                  </a:rPr>
                  <a:t>-</a:t>
                </a:r>
                <a:r>
                  <a:rPr kumimoji="1" lang="en-GB" altLang="zh-CN" sz="1800" i="1" dirty="0">
                    <a:solidFill>
                      <a:srgbClr val="1F4B70"/>
                    </a:solidFill>
                    <a:latin typeface="Symbol" panose="05050102010706020507" pitchFamily="18" charset="2"/>
                  </a:rPr>
                  <a:t>m </a:t>
                </a:r>
                <a:r>
                  <a:rPr kumimoji="1" lang="en-GB" altLang="zh-CN" sz="1800" dirty="0">
                    <a:solidFill>
                      <a:srgbClr val="1F4B70"/>
                    </a:solidFill>
                    <a:latin typeface="Times New Roman" panose="02020603050405020304" pitchFamily="18" charset="0"/>
                  </a:rPr>
                  <a:t>)</a:t>
                </a:r>
                <a:r>
                  <a:rPr kumimoji="1" lang="en-GB" altLang="zh-CN" sz="1800" baseline="38000" dirty="0">
                    <a:solidFill>
                      <a:srgbClr val="1F4B70"/>
                    </a:solidFill>
                    <a:latin typeface="Times New Roman" panose="02020603050405020304" pitchFamily="18" charset="0"/>
                  </a:rPr>
                  <a:t>2</a:t>
                </a:r>
                <a:r>
                  <a:rPr kumimoji="1" lang="en-GB" altLang="zh-CN" sz="1800" dirty="0">
                    <a:solidFill>
                      <a:srgbClr val="1F4B70"/>
                    </a:solidFill>
                    <a:latin typeface="Symbol" panose="05050102010706020507" pitchFamily="18" charset="2"/>
                  </a:rPr>
                  <a:t>          </a:t>
                </a:r>
                <a:endParaRPr kumimoji="1" lang="en-US" altLang="zh-CN" sz="1800" dirty="0">
                  <a:solidFill>
                    <a:srgbClr val="1F4B70"/>
                  </a:solidFill>
                  <a:latin typeface="Symbol" panose="05050102010706020507" pitchFamily="18" charset="2"/>
                </a:endParaRPr>
              </a:p>
            </p:txBody>
          </p:sp>
          <p:sp>
            <p:nvSpPr>
              <p:cNvPr id="28" name="Text Box 26">
                <a:extLst>
                  <a:ext uri="{FF2B5EF4-FFF2-40B4-BE49-F238E27FC236}">
                    <a16:creationId xmlns:a16="http://schemas.microsoft.com/office/drawing/2014/main" id="{7D24CC5D-E83F-4C9F-A563-AF6B5B2B30E6}"/>
                  </a:ext>
                </a:extLst>
              </p:cNvPr>
              <p:cNvSpPr txBox="1">
                <a:spLocks noChangeArrowheads="1"/>
              </p:cNvSpPr>
              <p:nvPr/>
            </p:nvSpPr>
            <p:spPr bwMode="auto">
              <a:xfrm>
                <a:off x="3638" y="3110"/>
                <a:ext cx="233"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30000" dirty="0">
                    <a:solidFill>
                      <a:srgbClr val="1F4B70"/>
                    </a:solidFill>
                    <a:latin typeface="Times New Roman" panose="02020603050405020304" pitchFamily="18" charset="0"/>
                  </a:rPr>
                  <a:t>n</a:t>
                </a:r>
              </a:p>
            </p:txBody>
          </p:sp>
          <p:sp>
            <p:nvSpPr>
              <p:cNvPr id="29" name="Text Box 27">
                <a:extLst>
                  <a:ext uri="{FF2B5EF4-FFF2-40B4-BE49-F238E27FC236}">
                    <a16:creationId xmlns:a16="http://schemas.microsoft.com/office/drawing/2014/main" id="{9DCFFA55-7C98-44A2-95D1-9152D6FA0D9D}"/>
                  </a:ext>
                </a:extLst>
              </p:cNvPr>
              <p:cNvSpPr txBox="1">
                <a:spLocks noChangeArrowheads="1"/>
              </p:cNvSpPr>
              <p:nvPr/>
            </p:nvSpPr>
            <p:spPr bwMode="auto">
              <a:xfrm>
                <a:off x="3470" y="3141"/>
                <a:ext cx="267" cy="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lnSpc>
                    <a:spcPct val="60000"/>
                  </a:lnSpc>
                </a:pPr>
                <a:r>
                  <a:rPr kumimoji="1" lang="en-US" altLang="zh-CN" sz="1800" u="sng" dirty="0">
                    <a:solidFill>
                      <a:srgbClr val="1F4B70"/>
                    </a:solidFill>
                    <a:latin typeface="Times New Roman" panose="02020603050405020304" pitchFamily="18" charset="0"/>
                  </a:rPr>
                  <a:t>1</a:t>
                </a:r>
              </a:p>
              <a:p>
                <a:pPr eaLnBrk="1" hangingPunct="1">
                  <a:lnSpc>
                    <a:spcPct val="60000"/>
                  </a:lnSpc>
                </a:pPr>
                <a:r>
                  <a:rPr kumimoji="1" lang="en-US" altLang="zh-CN" sz="1800" i="1" dirty="0">
                    <a:solidFill>
                      <a:srgbClr val="1F4B70"/>
                    </a:solidFill>
                    <a:latin typeface="Times New Roman" panose="02020603050405020304" pitchFamily="18" charset="0"/>
                  </a:rPr>
                  <a:t>n</a:t>
                </a:r>
              </a:p>
            </p:txBody>
          </p:sp>
        </p:grpSp>
      </p:grpSp>
      <p:grpSp>
        <p:nvGrpSpPr>
          <p:cNvPr id="30" name="Group 28">
            <a:extLst>
              <a:ext uri="{FF2B5EF4-FFF2-40B4-BE49-F238E27FC236}">
                <a16:creationId xmlns:a16="http://schemas.microsoft.com/office/drawing/2014/main" id="{72A79BBB-E9A0-411F-8973-D24DED69C1C3}"/>
              </a:ext>
            </a:extLst>
          </p:cNvPr>
          <p:cNvGrpSpPr>
            <a:grpSpLocks/>
          </p:cNvGrpSpPr>
          <p:nvPr/>
        </p:nvGrpSpPr>
        <p:grpSpPr bwMode="auto">
          <a:xfrm>
            <a:off x="4680051" y="3787759"/>
            <a:ext cx="468013" cy="511889"/>
            <a:chOff x="1299" y="3962"/>
            <a:chExt cx="416" cy="455"/>
          </a:xfrm>
        </p:grpSpPr>
        <p:sp>
          <p:nvSpPr>
            <p:cNvPr id="31" name="Text Box 29">
              <a:extLst>
                <a:ext uri="{FF2B5EF4-FFF2-40B4-BE49-F238E27FC236}">
                  <a16:creationId xmlns:a16="http://schemas.microsoft.com/office/drawing/2014/main" id="{CC990314-595A-4571-8817-CA26EFDE6D89}"/>
                </a:ext>
              </a:extLst>
            </p:cNvPr>
            <p:cNvSpPr txBox="1">
              <a:spLocks noChangeArrowheads="1"/>
            </p:cNvSpPr>
            <p:nvPr/>
          </p:nvSpPr>
          <p:spPr bwMode="auto">
            <a:xfrm>
              <a:off x="1299" y="4171"/>
              <a:ext cx="41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err="1">
                  <a:solidFill>
                    <a:srgbClr val="1F4B70"/>
                  </a:solidFill>
                  <a:latin typeface="Times New Roman" panose="02020603050405020304" pitchFamily="18" charset="0"/>
                </a:rPr>
                <a:t>i</a:t>
              </a:r>
              <a:r>
                <a:rPr kumimoji="1" lang="en-US" altLang="zh-CN" sz="1800" i="1" baseline="-25000" dirty="0">
                  <a:solidFill>
                    <a:srgbClr val="1F4B70"/>
                  </a:solidFill>
                  <a:latin typeface="Times New Roman" panose="02020603050405020304" pitchFamily="18" charset="0"/>
                </a:rPr>
                <a:t> </a:t>
              </a:r>
              <a:r>
                <a:rPr kumimoji="1" lang="en-US" altLang="zh-CN" sz="1800" baseline="-25000" dirty="0">
                  <a:solidFill>
                    <a:srgbClr val="1F4B70"/>
                  </a:solidFill>
                  <a:latin typeface="Times New Roman" panose="02020603050405020304" pitchFamily="18" charset="0"/>
                </a:rPr>
                <a:t>= 1</a:t>
              </a:r>
            </a:p>
          </p:txBody>
        </p:sp>
        <p:sp>
          <p:nvSpPr>
            <p:cNvPr id="32" name="Text Box 30">
              <a:extLst>
                <a:ext uri="{FF2B5EF4-FFF2-40B4-BE49-F238E27FC236}">
                  <a16:creationId xmlns:a16="http://schemas.microsoft.com/office/drawing/2014/main" id="{21E7604B-0481-4098-8977-0156CD85599D}"/>
                </a:ext>
              </a:extLst>
            </p:cNvPr>
            <p:cNvSpPr txBox="1">
              <a:spLocks noChangeArrowheads="1"/>
            </p:cNvSpPr>
            <p:nvPr/>
          </p:nvSpPr>
          <p:spPr bwMode="auto">
            <a:xfrm>
              <a:off x="1362" y="4018"/>
              <a:ext cx="285"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GB" altLang="zh-CN" sz="1800" dirty="0">
                  <a:solidFill>
                    <a:srgbClr val="1F4B70"/>
                  </a:solidFill>
                  <a:latin typeface="Symbol" panose="05050102010706020507" pitchFamily="18" charset="2"/>
                </a:rPr>
                <a:t>S</a:t>
              </a:r>
              <a:endParaRPr kumimoji="1" lang="en-US" altLang="zh-CN" sz="1800" dirty="0">
                <a:solidFill>
                  <a:srgbClr val="1F4B70"/>
                </a:solidFill>
                <a:latin typeface="Symbol" panose="05050102010706020507" pitchFamily="18" charset="2"/>
              </a:endParaRPr>
            </a:p>
          </p:txBody>
        </p:sp>
        <p:sp>
          <p:nvSpPr>
            <p:cNvPr id="33" name="Text Box 31">
              <a:extLst>
                <a:ext uri="{FF2B5EF4-FFF2-40B4-BE49-F238E27FC236}">
                  <a16:creationId xmlns:a16="http://schemas.microsoft.com/office/drawing/2014/main" id="{CDDF657A-B7A2-4774-90E6-08B74C4E6CFB}"/>
                </a:ext>
              </a:extLst>
            </p:cNvPr>
            <p:cNvSpPr txBox="1">
              <a:spLocks noChangeArrowheads="1"/>
            </p:cNvSpPr>
            <p:nvPr/>
          </p:nvSpPr>
          <p:spPr bwMode="auto">
            <a:xfrm>
              <a:off x="1397" y="3962"/>
              <a:ext cx="233"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30000" dirty="0">
                  <a:solidFill>
                    <a:srgbClr val="1F4B70"/>
                  </a:solidFill>
                  <a:latin typeface="Times New Roman" panose="02020603050405020304" pitchFamily="18" charset="0"/>
                </a:rPr>
                <a:t>n</a:t>
              </a:r>
            </a:p>
          </p:txBody>
        </p:sp>
      </p:grpSp>
      <p:grpSp>
        <p:nvGrpSpPr>
          <p:cNvPr id="34" name="Group 33">
            <a:extLst>
              <a:ext uri="{FF2B5EF4-FFF2-40B4-BE49-F238E27FC236}">
                <a16:creationId xmlns:a16="http://schemas.microsoft.com/office/drawing/2014/main" id="{36EC29D9-E934-4A25-8461-171428225488}"/>
              </a:ext>
            </a:extLst>
          </p:cNvPr>
          <p:cNvGrpSpPr>
            <a:grpSpLocks/>
          </p:cNvGrpSpPr>
          <p:nvPr/>
        </p:nvGrpSpPr>
        <p:grpSpPr bwMode="auto">
          <a:xfrm>
            <a:off x="5022097" y="3736911"/>
            <a:ext cx="558015" cy="646892"/>
            <a:chOff x="1837" y="3583"/>
            <a:chExt cx="496" cy="575"/>
          </a:xfrm>
        </p:grpSpPr>
        <p:sp>
          <p:nvSpPr>
            <p:cNvPr id="35" name="Text Box 34">
              <a:extLst>
                <a:ext uri="{FF2B5EF4-FFF2-40B4-BE49-F238E27FC236}">
                  <a16:creationId xmlns:a16="http://schemas.microsoft.com/office/drawing/2014/main" id="{ED909212-F87C-41A7-99FE-36139263812D}"/>
                </a:ext>
              </a:extLst>
            </p:cNvPr>
            <p:cNvSpPr txBox="1">
              <a:spLocks noChangeArrowheads="1"/>
            </p:cNvSpPr>
            <p:nvPr/>
          </p:nvSpPr>
          <p:spPr bwMode="auto">
            <a:xfrm>
              <a:off x="1837" y="3583"/>
              <a:ext cx="496"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rPr>
                <a:t>i</a:t>
              </a:r>
              <a:r>
                <a:rPr kumimoji="1" lang="en-US" altLang="zh-CN" sz="1800" baseline="-25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a:t>
              </a:r>
            </a:p>
            <a:p>
              <a:pPr eaLnBrk="1" hangingPunct="1"/>
              <a:r>
                <a:rPr kumimoji="1" lang="en-US" altLang="zh-CN" sz="1800" i="1" dirty="0">
                  <a:solidFill>
                    <a:srgbClr val="1F4B70"/>
                  </a:solidFill>
                  <a:latin typeface="Times New Roman" panose="02020603050405020304" pitchFamily="18" charset="0"/>
                </a:rPr>
                <a:t>  </a:t>
              </a:r>
              <a:r>
                <a:rPr kumimoji="1" lang="en-US" altLang="zh-CN" sz="1800" i="1" dirty="0">
                  <a:solidFill>
                    <a:srgbClr val="1F4B70"/>
                  </a:solidFill>
                  <a:latin typeface="Symbol" panose="05050102010706020507" pitchFamily="18" charset="2"/>
                </a:rPr>
                <a:t>s</a:t>
              </a:r>
            </a:p>
          </p:txBody>
        </p:sp>
        <p:sp>
          <p:nvSpPr>
            <p:cNvPr id="36" name="Line 35">
              <a:extLst>
                <a:ext uri="{FF2B5EF4-FFF2-40B4-BE49-F238E27FC236}">
                  <a16:creationId xmlns:a16="http://schemas.microsoft.com/office/drawing/2014/main" id="{2B708D37-1BFB-463D-8656-C520C3435566}"/>
                </a:ext>
              </a:extLst>
            </p:cNvPr>
            <p:cNvSpPr>
              <a:spLocks noChangeShapeType="1"/>
            </p:cNvSpPr>
            <p:nvPr/>
          </p:nvSpPr>
          <p:spPr bwMode="auto">
            <a:xfrm>
              <a:off x="1883" y="3891"/>
              <a:ext cx="4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F4B70"/>
                </a:solidFill>
              </a:endParaRPr>
            </a:p>
          </p:txBody>
        </p:sp>
      </p:grpSp>
      <p:sp>
        <p:nvSpPr>
          <p:cNvPr id="37" name="Text Box 36">
            <a:extLst>
              <a:ext uri="{FF2B5EF4-FFF2-40B4-BE49-F238E27FC236}">
                <a16:creationId xmlns:a16="http://schemas.microsoft.com/office/drawing/2014/main" id="{1B179299-FC1A-4C1C-876C-001597EAD6E0}"/>
              </a:ext>
            </a:extLst>
          </p:cNvPr>
          <p:cNvSpPr txBox="1">
            <a:spLocks noChangeArrowheads="1"/>
          </p:cNvSpPr>
          <p:nvPr/>
        </p:nvSpPr>
        <p:spPr bwMode="auto">
          <a:xfrm>
            <a:off x="6012160" y="3812765"/>
            <a:ext cx="15456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dirty="0">
                <a:solidFill>
                  <a:srgbClr val="1F4B70"/>
                </a:solidFill>
                <a:latin typeface="Times New Roman" panose="02020603050405020304" pitchFamily="18" charset="0"/>
              </a:rPr>
              <a:t>(4)   min { </a:t>
            </a:r>
            <a:r>
              <a:rPr kumimoji="1" lang="en-US" altLang="zh-CN" sz="1800" i="1" dirty="0">
                <a:solidFill>
                  <a:srgbClr val="1F4B70"/>
                </a:solidFill>
                <a:latin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rPr>
              <a:t>i </a:t>
            </a:r>
            <a:r>
              <a:rPr kumimoji="1" lang="en-US" altLang="zh-CN" sz="1800" dirty="0">
                <a:solidFill>
                  <a:srgbClr val="1F4B70"/>
                </a:solidFill>
                <a:latin typeface="Times New Roman" panose="02020603050405020304" pitchFamily="18" charset="0"/>
              </a:rPr>
              <a:t>}</a:t>
            </a:r>
          </a:p>
        </p:txBody>
      </p:sp>
      <p:sp>
        <p:nvSpPr>
          <p:cNvPr id="38" name="Text Box 37">
            <a:extLst>
              <a:ext uri="{FF2B5EF4-FFF2-40B4-BE49-F238E27FC236}">
                <a16:creationId xmlns:a16="http://schemas.microsoft.com/office/drawing/2014/main" id="{A9A2C777-F080-4183-B99E-9A2C76D54FFB}"/>
              </a:ext>
            </a:extLst>
          </p:cNvPr>
          <p:cNvSpPr txBox="1">
            <a:spLocks noChangeArrowheads="1"/>
          </p:cNvSpPr>
          <p:nvPr/>
        </p:nvSpPr>
        <p:spPr bwMode="auto">
          <a:xfrm>
            <a:off x="6448003" y="3988920"/>
            <a:ext cx="471604" cy="237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17" baseline="-25000" dirty="0">
                <a:solidFill>
                  <a:srgbClr val="1F4B70"/>
                </a:solidFill>
                <a:latin typeface="Times New Roman" panose="02020603050405020304" pitchFamily="18" charset="0"/>
              </a:rPr>
              <a:t>1≤</a:t>
            </a:r>
            <a:r>
              <a:rPr kumimoji="1" lang="en-US" altLang="zh-CN" sz="1417" i="1" baseline="-25000" dirty="0">
                <a:solidFill>
                  <a:srgbClr val="1F4B70"/>
                </a:solidFill>
                <a:latin typeface="Times New Roman" panose="02020603050405020304" pitchFamily="18" charset="0"/>
              </a:rPr>
              <a:t>i</a:t>
            </a:r>
            <a:r>
              <a:rPr kumimoji="1" lang="en-US" altLang="zh-CN" sz="1417" baseline="-25000" dirty="0">
                <a:solidFill>
                  <a:srgbClr val="1F4B70"/>
                </a:solidFill>
                <a:latin typeface="Times New Roman" panose="02020603050405020304" pitchFamily="18" charset="0"/>
              </a:rPr>
              <a:t>≤</a:t>
            </a:r>
            <a:r>
              <a:rPr kumimoji="1" lang="en-US" altLang="zh-CN" sz="1417" i="1" baseline="-25000" dirty="0">
                <a:solidFill>
                  <a:srgbClr val="1F4B70"/>
                </a:solidFill>
                <a:latin typeface="Times New Roman" panose="02020603050405020304" pitchFamily="18" charset="0"/>
              </a:rPr>
              <a:t>n</a:t>
            </a:r>
          </a:p>
        </p:txBody>
      </p:sp>
      <p:sp>
        <p:nvSpPr>
          <p:cNvPr id="39" name="Text Box 7">
            <a:hlinkClick r:id="rId6"/>
            <a:extLst>
              <a:ext uri="{FF2B5EF4-FFF2-40B4-BE49-F238E27FC236}">
                <a16:creationId xmlns:a16="http://schemas.microsoft.com/office/drawing/2014/main" id="{C8C75284-EE40-4725-AF12-2783C4C37279}"/>
              </a:ext>
            </a:extLst>
          </p:cNvPr>
          <p:cNvSpPr txBox="1">
            <a:spLocks noChangeArrowheads="1"/>
          </p:cNvSpPr>
          <p:nvPr/>
        </p:nvSpPr>
        <p:spPr bwMode="auto">
          <a:xfrm>
            <a:off x="532992" y="4237226"/>
            <a:ext cx="14334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微软雅黑" panose="020B0503020204020204" pitchFamily="34" charset="-122"/>
                <a:ea typeface="微软雅黑" panose="020B0503020204020204" pitchFamily="34" charset="-122"/>
              </a:rPr>
              <a:t>是统计量</a:t>
            </a:r>
            <a:r>
              <a:rPr kumimoji="1" lang="en-US" altLang="zh-CN" sz="1800" dirty="0">
                <a:solidFill>
                  <a:srgbClr val="1F4B70"/>
                </a:solidFill>
                <a:latin typeface="微软雅黑" panose="020B0503020204020204" pitchFamily="34" charset="-122"/>
                <a:ea typeface="微软雅黑" panose="020B0503020204020204" pitchFamily="34" charset="-122"/>
              </a:rPr>
              <a:t>.</a:t>
            </a:r>
            <a:endParaRPr kumimoji="1" lang="zh-CN" altLang="en-US" sz="1800" dirty="0">
              <a:solidFill>
                <a:srgbClr val="1F4B70"/>
              </a:solidFill>
              <a:latin typeface="微软雅黑" panose="020B0503020204020204" pitchFamily="34" charset="-122"/>
              <a:ea typeface="微软雅黑" panose="020B0503020204020204" pitchFamily="34" charset="-122"/>
              <a:sym typeface="Symbol" panose="05050102010706020507" pitchFamily="18" charset="2"/>
            </a:endParaRPr>
          </a:p>
        </p:txBody>
      </p:sp>
      <p:grpSp>
        <p:nvGrpSpPr>
          <p:cNvPr id="40" name="Group 14">
            <a:extLst>
              <a:ext uri="{FF2B5EF4-FFF2-40B4-BE49-F238E27FC236}">
                <a16:creationId xmlns:a16="http://schemas.microsoft.com/office/drawing/2014/main" id="{F1B82614-D95D-45C6-BBF4-3519719EAB0A}"/>
              </a:ext>
            </a:extLst>
          </p:cNvPr>
          <p:cNvGrpSpPr>
            <a:grpSpLocks/>
          </p:cNvGrpSpPr>
          <p:nvPr/>
        </p:nvGrpSpPr>
        <p:grpSpPr bwMode="auto">
          <a:xfrm>
            <a:off x="6029036" y="3826916"/>
            <a:ext cx="378010" cy="324009"/>
            <a:chOff x="4896" y="3360"/>
            <a:chExt cx="336" cy="288"/>
          </a:xfrm>
        </p:grpSpPr>
        <p:sp>
          <p:nvSpPr>
            <p:cNvPr id="41" name="Line 15">
              <a:extLst>
                <a:ext uri="{FF2B5EF4-FFF2-40B4-BE49-F238E27FC236}">
                  <a16:creationId xmlns:a16="http://schemas.microsoft.com/office/drawing/2014/main" id="{1DE07C07-4E6A-4BC4-A7C7-2484E7567FD2}"/>
                </a:ext>
              </a:extLst>
            </p:cNvPr>
            <p:cNvSpPr>
              <a:spLocks noChangeShapeType="1"/>
            </p:cNvSpPr>
            <p:nvPr/>
          </p:nvSpPr>
          <p:spPr bwMode="auto">
            <a:xfrm>
              <a:off x="4896" y="3504"/>
              <a:ext cx="96" cy="144"/>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sp>
          <p:nvSpPr>
            <p:cNvPr id="42" name="Line 16">
              <a:extLst>
                <a:ext uri="{FF2B5EF4-FFF2-40B4-BE49-F238E27FC236}">
                  <a16:creationId xmlns:a16="http://schemas.microsoft.com/office/drawing/2014/main" id="{D6BF87B9-327F-4EB2-B07D-0165009CF727}"/>
                </a:ext>
              </a:extLst>
            </p:cNvPr>
            <p:cNvSpPr>
              <a:spLocks noChangeShapeType="1"/>
            </p:cNvSpPr>
            <p:nvPr/>
          </p:nvSpPr>
          <p:spPr bwMode="auto">
            <a:xfrm flipV="1">
              <a:off x="4992" y="3360"/>
              <a:ext cx="240" cy="288"/>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grpSp>
      <p:grpSp>
        <p:nvGrpSpPr>
          <p:cNvPr id="18" name="Group 11">
            <a:extLst>
              <a:ext uri="{FF2B5EF4-FFF2-40B4-BE49-F238E27FC236}">
                <a16:creationId xmlns:a16="http://schemas.microsoft.com/office/drawing/2014/main" id="{D4F8C164-862C-4BC3-9DBC-CC76515BE2CC}"/>
              </a:ext>
            </a:extLst>
          </p:cNvPr>
          <p:cNvGrpSpPr>
            <a:grpSpLocks/>
          </p:cNvGrpSpPr>
          <p:nvPr/>
        </p:nvGrpSpPr>
        <p:grpSpPr bwMode="auto">
          <a:xfrm>
            <a:off x="2375909" y="3793670"/>
            <a:ext cx="378010" cy="324009"/>
            <a:chOff x="4896" y="3360"/>
            <a:chExt cx="336" cy="288"/>
          </a:xfrm>
        </p:grpSpPr>
        <p:sp>
          <p:nvSpPr>
            <p:cNvPr id="19" name="Line 12">
              <a:extLst>
                <a:ext uri="{FF2B5EF4-FFF2-40B4-BE49-F238E27FC236}">
                  <a16:creationId xmlns:a16="http://schemas.microsoft.com/office/drawing/2014/main" id="{FE8672CB-BFFD-44EE-8A18-B36BC086F247}"/>
                </a:ext>
              </a:extLst>
            </p:cNvPr>
            <p:cNvSpPr>
              <a:spLocks noChangeShapeType="1"/>
            </p:cNvSpPr>
            <p:nvPr/>
          </p:nvSpPr>
          <p:spPr bwMode="auto">
            <a:xfrm>
              <a:off x="4896" y="3504"/>
              <a:ext cx="96" cy="144"/>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sp>
          <p:nvSpPr>
            <p:cNvPr id="20" name="Line 13">
              <a:extLst>
                <a:ext uri="{FF2B5EF4-FFF2-40B4-BE49-F238E27FC236}">
                  <a16:creationId xmlns:a16="http://schemas.microsoft.com/office/drawing/2014/main" id="{63B3A83D-1D93-4250-8AAA-5CC3F9F98B1E}"/>
                </a:ext>
              </a:extLst>
            </p:cNvPr>
            <p:cNvSpPr>
              <a:spLocks noChangeShapeType="1"/>
            </p:cNvSpPr>
            <p:nvPr/>
          </p:nvSpPr>
          <p:spPr bwMode="auto">
            <a:xfrm flipV="1">
              <a:off x="4992" y="3360"/>
              <a:ext cx="240" cy="288"/>
            </a:xfrm>
            <a:prstGeom prst="line">
              <a:avLst/>
            </a:prstGeom>
            <a:noFill/>
            <a:ln w="28575">
              <a:solidFill>
                <a:srgbClr val="E88D2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17"/>
            </a:p>
          </p:txBody>
        </p:sp>
      </p:grpSp>
    </p:spTree>
    <p:extLst>
      <p:ext uri="{BB962C8B-B14F-4D97-AF65-F5344CB8AC3E}">
        <p14:creationId xmlns:p14="http://schemas.microsoft.com/office/powerpoint/2010/main" val="15011581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2">
                                            <p:txEl>
                                              <p:pRg st="0" end="0"/>
                                            </p:txEl>
                                          </p:spTgt>
                                        </p:tgtEl>
                                        <p:attrNameLst>
                                          <p:attrName>style.visibility</p:attrName>
                                        </p:attrNameLst>
                                      </p:cBhvr>
                                      <p:to>
                                        <p:strVal val="visible"/>
                                      </p:to>
                                    </p:set>
                                    <p:anim calcmode="lin" valueType="num">
                                      <p:cBhvr additive="base">
                                        <p:cTn id="12"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3">
                                            <p:txEl>
                                              <p:pRg st="0" end="0"/>
                                            </p:txEl>
                                          </p:spTgt>
                                        </p:tgtEl>
                                        <p:attrNameLst>
                                          <p:attrName>style.visibility</p:attrName>
                                        </p:attrNameLst>
                                      </p:cBhvr>
                                      <p:to>
                                        <p:strVal val="visible"/>
                                      </p:to>
                                    </p:set>
                                    <p:anim calcmode="lin" valueType="num">
                                      <p:cBhvr additive="base">
                                        <p:cTn id="18" dur="500" fill="hold"/>
                                        <p:tgtEl>
                                          <p:spTgt spid="53">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wipe(left)">
                                      <p:cBhvr>
                                        <p:cTn id="24" dur="1000"/>
                                        <p:tgtEl>
                                          <p:spTgt spid="54"/>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81"/>
                                        </p:tgtEl>
                                        <p:attrNameLst>
                                          <p:attrName>style.visibility</p:attrName>
                                        </p:attrNameLst>
                                      </p:cBhvr>
                                      <p:to>
                                        <p:strVal val="visible"/>
                                      </p:to>
                                    </p:set>
                                    <p:anim calcmode="lin" valueType="num">
                                      <p:cBhvr additive="base">
                                        <p:cTn id="29" dur="1500"/>
                                        <p:tgtEl>
                                          <p:spTgt spid="81"/>
                                        </p:tgtEl>
                                        <p:attrNameLst>
                                          <p:attrName>ppt_x</p:attrName>
                                        </p:attrNameLst>
                                      </p:cBhvr>
                                      <p:tavLst>
                                        <p:tav tm="0">
                                          <p:val>
                                            <p:strVal val="#ppt_x-#ppt_w*1.125000"/>
                                          </p:val>
                                        </p:tav>
                                        <p:tav tm="100000">
                                          <p:val>
                                            <p:strVal val="#ppt_x"/>
                                          </p:val>
                                        </p:tav>
                                      </p:tavLst>
                                    </p:anim>
                                    <p:animEffect transition="in" filter="wipe(right)">
                                      <p:cBhvr>
                                        <p:cTn id="30" dur="1500"/>
                                        <p:tgtEl>
                                          <p:spTgt spid="8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10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slide(fromTop)">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p:tgtEl>
                                          <p:spTgt spid="2"/>
                                        </p:tgtEl>
                                        <p:attrNameLst>
                                          <p:attrName>ppt_y</p:attrName>
                                        </p:attrNameLst>
                                      </p:cBhvr>
                                      <p:tavLst>
                                        <p:tav tm="0">
                                          <p:val>
                                            <p:strVal val="#ppt_y-#ppt_h*1.125000"/>
                                          </p:val>
                                        </p:tav>
                                        <p:tav tm="100000">
                                          <p:val>
                                            <p:strVal val="#ppt_y"/>
                                          </p:val>
                                        </p:tav>
                                      </p:tavLst>
                                    </p:anim>
                                    <p:animEffect transition="in" filter="wipe(down)">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1"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slide(fromTop)">
                                      <p:cBhvr>
                                        <p:cTn id="51" dur="500"/>
                                        <p:tgtEl>
                                          <p:spTgt spid="13"/>
                                        </p:tgtEl>
                                      </p:cBhvr>
                                    </p:animEffect>
                                  </p:childTnLst>
                                </p:cTn>
                              </p:par>
                            </p:childTnLst>
                          </p:cTn>
                        </p:par>
                        <p:par>
                          <p:cTn id="52" fill="hold">
                            <p:stCondLst>
                              <p:cond delay="500"/>
                            </p:stCondLst>
                            <p:childTnLst>
                              <p:par>
                                <p:cTn id="53" presetID="16" presetClass="entr" presetSubtype="42" fill="hold" nodeType="after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barn(outHorizontal)">
                                      <p:cBhvr>
                                        <p:cTn id="55" dur="500"/>
                                        <p:tgtEl>
                                          <p:spTgt spid="34"/>
                                        </p:tgtEl>
                                      </p:cBhvr>
                                    </p:animEffect>
                                  </p:childTnLst>
                                </p:cTn>
                              </p:par>
                            </p:childTnLst>
                          </p:cTn>
                        </p:par>
                        <p:par>
                          <p:cTn id="56" fill="hold">
                            <p:stCondLst>
                              <p:cond delay="1000"/>
                            </p:stCondLst>
                            <p:childTnLst>
                              <p:par>
                                <p:cTn id="57" presetID="12" presetClass="entr" presetSubtype="2" fill="hold"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slide(fromRight)">
                                      <p:cBhvr>
                                        <p:cTn id="59" dur="5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1" fill="hold" grpId="0" nodeType="click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slide(fromTop)">
                                      <p:cBhvr>
                                        <p:cTn id="64" dur="500"/>
                                        <p:tgtEl>
                                          <p:spTgt spid="37"/>
                                        </p:tgtEl>
                                      </p:cBhvr>
                                    </p:animEffect>
                                  </p:childTnLst>
                                </p:cTn>
                              </p:par>
                            </p:childTnLst>
                          </p:cTn>
                        </p:par>
                        <p:par>
                          <p:cTn id="65" fill="hold">
                            <p:stCondLst>
                              <p:cond delay="500"/>
                            </p:stCondLst>
                            <p:childTnLst>
                              <p:par>
                                <p:cTn id="66" presetID="12" presetClass="entr" presetSubtype="1" fill="hold" grpId="0" nodeType="after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slide(fromTop)">
                                      <p:cBhvr>
                                        <p:cTn id="68" dur="500"/>
                                        <p:tgtEl>
                                          <p:spTgt spid="3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iterate type="lt">
                                    <p:tmPct val="100000"/>
                                  </p:iterate>
                                  <p:childTnLst>
                                    <p:set>
                                      <p:cBhvr>
                                        <p:cTn id="72" dur="1" fill="hold">
                                          <p:stCondLst>
                                            <p:cond delay="0"/>
                                          </p:stCondLst>
                                        </p:cTn>
                                        <p:tgtEl>
                                          <p:spTgt spid="39">
                                            <p:txEl>
                                              <p:pRg st="0" end="0"/>
                                            </p:txEl>
                                          </p:spTgt>
                                        </p:tgtEl>
                                        <p:attrNameLst>
                                          <p:attrName>style.visibility</p:attrName>
                                        </p:attrNameLst>
                                      </p:cBhvr>
                                      <p:to>
                                        <p:strVal val="visible"/>
                                      </p:to>
                                    </p:set>
                                    <p:animEffect transition="in" filter="wipe(up)">
                                      <p:cBhvr>
                                        <p:cTn id="73" dur="75"/>
                                        <p:tgtEl>
                                          <p:spTgt spid="39">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wipe(left)">
                                      <p:cBhvr>
                                        <p:cTn id="78" dur="500"/>
                                        <p:tgtEl>
                                          <p:spTgt spid="15"/>
                                        </p:tgtEl>
                                      </p:cBhvr>
                                    </p:animEffect>
                                  </p:childTnLst>
                                  <p:subTnLst>
                                    <p:audio>
                                      <p:cMediaNode>
                                        <p:cTn display="0" masterRel="sameClick">
                                          <p:stCondLst>
                                            <p:cond evt="begin" delay="0">
                                              <p:tn val="76"/>
                                            </p:cond>
                                          </p:stCondLst>
                                          <p:endCondLst>
                                            <p:cond evt="onStopAudio" delay="0">
                                              <p:tgtEl>
                                                <p:sldTgt/>
                                              </p:tgtEl>
                                            </p:cond>
                                          </p:endCondLst>
                                        </p:cTn>
                                        <p:tgtEl>
                                          <p:sndTgt r:embed="rId3" name="WHOOSH.WAV"/>
                                        </p:tgtEl>
                                      </p:cMediaNode>
                                    </p:audio>
                                  </p:sub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wipe(left)">
                                      <p:cBhvr>
                                        <p:cTn id="83" dur="500"/>
                                        <p:tgtEl>
                                          <p:spTgt spid="18"/>
                                        </p:tgtEl>
                                      </p:cBhvr>
                                    </p:animEffect>
                                  </p:childTnLst>
                                  <p:subTnLst>
                                    <p:audio>
                                      <p:cMediaNode>
                                        <p:cTn display="0" masterRel="sameClick">
                                          <p:stCondLst>
                                            <p:cond evt="begin" delay="0">
                                              <p:tn val="81"/>
                                            </p:cond>
                                          </p:stCondLst>
                                          <p:endCondLst>
                                            <p:cond evt="onStopAudio" delay="0">
                                              <p:tgtEl>
                                                <p:sldTgt/>
                                              </p:tgtEl>
                                            </p:cond>
                                          </p:endCondLst>
                                        </p:cTn>
                                        <p:tgtEl>
                                          <p:sndTgt r:embed="rId3" name="WHOOSH.WAV"/>
                                        </p:tgtEl>
                                      </p:cMediaNode>
                                    </p:audio>
                                  </p:sub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wipe(left)">
                                      <p:cBhvr>
                                        <p:cTn id="88" dur="500"/>
                                        <p:tgtEl>
                                          <p:spTgt spid="40"/>
                                        </p:tgtEl>
                                      </p:cBhvr>
                                    </p:animEffect>
                                  </p:childTnLst>
                                  <p:subTnLst>
                                    <p:audio>
                                      <p:cMediaNode>
                                        <p:cTn display="0" masterRel="sameClick">
                                          <p:stCondLst>
                                            <p:cond evt="begin" delay="0">
                                              <p:tn val="86"/>
                                            </p:cond>
                                          </p:stCondLst>
                                          <p:endCondLst>
                                            <p:cond evt="onStopAudio" delay="0">
                                              <p:tgtEl>
                                                <p:sldTgt/>
                                              </p:tgtEl>
                                            </p:cond>
                                          </p:endCondLst>
                                        </p:cTn>
                                        <p:tgtEl>
                                          <p:sndTgt r:embed="rId3" name="WHOOSH.WAV"/>
                                        </p:tgtEl>
                                      </p:cMediaNode>
                                    </p:audio>
                                  </p:sub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wipe(up)">
                                      <p:cBhvr>
                                        <p:cTn id="93" dur="500"/>
                                        <p:tgtEl>
                                          <p:spTgt spid="21"/>
                                        </p:tgtEl>
                                      </p:cBhvr>
                                    </p:animEffect>
                                  </p:childTnLst>
                                  <p:subTnLst>
                                    <p:audio>
                                      <p:cMediaNode>
                                        <p:cTn display="0" masterRel="sameClick">
                                          <p:stCondLst>
                                            <p:cond evt="begin" delay="0">
                                              <p:tn val="9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build="p" autoUpdateAnimBg="0"/>
      <p:bldP spid="53" grpId="0" build="p" autoUpdateAnimBg="0"/>
      <p:bldP spid="54" grpId="0"/>
      <p:bldP spid="81" grpId="0"/>
      <p:bldP spid="12" grpId="0"/>
      <p:bldP spid="13" grpId="0"/>
      <p:bldP spid="24" grpId="0"/>
      <p:bldP spid="37" grpId="0"/>
      <p:bldP spid="38" grpId="0"/>
      <p:bldP spid="39"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图片 70">
            <a:extLst>
              <a:ext uri="{FF2B5EF4-FFF2-40B4-BE49-F238E27FC236}">
                <a16:creationId xmlns:a16="http://schemas.microsoft.com/office/drawing/2014/main" id="{633E5CC7-64E1-4F3E-A10C-1C58E2F1E2FF}"/>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grpSp>
        <p:nvGrpSpPr>
          <p:cNvPr id="3" name="组合 2">
            <a:extLst>
              <a:ext uri="{FF2B5EF4-FFF2-40B4-BE49-F238E27FC236}">
                <a16:creationId xmlns:a16="http://schemas.microsoft.com/office/drawing/2014/main" id="{B3E2E709-0329-4F17-B00A-B1055008555B}"/>
              </a:ext>
            </a:extLst>
          </p:cNvPr>
          <p:cNvGrpSpPr/>
          <p:nvPr/>
        </p:nvGrpSpPr>
        <p:grpSpPr>
          <a:xfrm>
            <a:off x="755650" y="853690"/>
            <a:ext cx="1410824" cy="328305"/>
            <a:chOff x="2139503" y="696411"/>
            <a:chExt cx="1712417" cy="398487"/>
          </a:xfrm>
        </p:grpSpPr>
        <p:sp>
          <p:nvSpPr>
            <p:cNvPr id="116" name="矩形: 圆角 115">
              <a:extLst>
                <a:ext uri="{FF2B5EF4-FFF2-40B4-BE49-F238E27FC236}">
                  <a16:creationId xmlns:a16="http://schemas.microsoft.com/office/drawing/2014/main" id="{A66B3F6B-A4A2-41C5-8B32-BD546E3F912A}"/>
                </a:ext>
              </a:extLst>
            </p:cNvPr>
            <p:cNvSpPr/>
            <p:nvPr/>
          </p:nvSpPr>
          <p:spPr>
            <a:xfrm>
              <a:off x="2139503" y="696411"/>
              <a:ext cx="1712417" cy="39848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 Box 2">
              <a:extLst>
                <a:ext uri="{FF2B5EF4-FFF2-40B4-BE49-F238E27FC236}">
                  <a16:creationId xmlns:a16="http://schemas.microsoft.com/office/drawing/2014/main" id="{02657EC0-A49D-4B29-8641-FBDAF98BD7B2}"/>
                </a:ext>
              </a:extLst>
            </p:cNvPr>
            <p:cNvSpPr txBox="1">
              <a:spLocks noChangeArrowheads="1"/>
            </p:cNvSpPr>
            <p:nvPr/>
          </p:nvSpPr>
          <p:spPr bwMode="auto">
            <a:xfrm>
              <a:off x="2399984" y="738958"/>
              <a:ext cx="1217706" cy="3116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4802" tIns="32401" rIns="64802" bIns="32401" numCol="1" anchor="ctr" anchorCtr="0" compatLnSpc="1">
              <a:prstTxWarp prst="textNoShape">
                <a:avLst/>
              </a:prstTxWarp>
              <a:spAutoFit/>
            </a:bodyPr>
            <a:lstStyle>
              <a:lvl1pPr algn="ctr" defTabSz="914282" rtl="0" eaLnBrk="1" latinLnBrk="0" hangingPunct="1">
                <a:spcBef>
                  <a:spcPct val="0"/>
                </a:spcBef>
                <a:buNone/>
                <a:defRPr sz="4400" kern="1200">
                  <a:solidFill>
                    <a:schemeClr val="tx1"/>
                  </a:solidFill>
                  <a:latin typeface="+mj-lt"/>
                  <a:ea typeface="+mj-ea"/>
                  <a:cs typeface="+mj-cs"/>
                </a:defRPr>
              </a:lvl1pPr>
            </a:lstStyle>
            <a:p>
              <a:pPr>
                <a:spcBef>
                  <a:spcPct val="50000"/>
                </a:spcBef>
                <a:defRPr/>
              </a:pPr>
              <a:r>
                <a:rPr lang="zh-CN" altLang="en-US" sz="1600" b="1" dirty="0">
                  <a:solidFill>
                    <a:schemeClr val="bg1"/>
                  </a:solidFill>
                  <a:latin typeface="微软雅黑" panose="020B0503020204020204" pitchFamily="34" charset="-122"/>
                  <a:ea typeface="微软雅黑" panose="020B0503020204020204" pitchFamily="34" charset="-122"/>
                </a:rPr>
                <a:t>常用统计量 </a:t>
              </a:r>
            </a:p>
          </p:txBody>
        </p:sp>
      </p:grpSp>
      <p:sp>
        <p:nvSpPr>
          <p:cNvPr id="118" name="Freeform 11">
            <a:extLst>
              <a:ext uri="{FF2B5EF4-FFF2-40B4-BE49-F238E27FC236}">
                <a16:creationId xmlns:a16="http://schemas.microsoft.com/office/drawing/2014/main" id="{6D59D7B8-16C6-40C8-B831-D27DFA74DC07}"/>
              </a:ext>
            </a:extLst>
          </p:cNvPr>
          <p:cNvSpPr>
            <a:spLocks/>
          </p:cNvSpPr>
          <p:nvPr/>
        </p:nvSpPr>
        <p:spPr bwMode="auto">
          <a:xfrm>
            <a:off x="6300192" y="3973493"/>
            <a:ext cx="1743456" cy="0"/>
          </a:xfrm>
          <a:custGeom>
            <a:avLst/>
            <a:gdLst>
              <a:gd name="T0" fmla="*/ 1984 w 1984"/>
              <a:gd name="T1" fmla="*/ 0 w 1984"/>
              <a:gd name="T2" fmla="*/ 1984 w 1984"/>
            </a:gdLst>
            <a:ahLst/>
            <a:cxnLst>
              <a:cxn ang="0">
                <a:pos x="T0" y="0"/>
              </a:cxn>
              <a:cxn ang="0">
                <a:pos x="T1" y="0"/>
              </a:cxn>
              <a:cxn ang="0">
                <a:pos x="T2" y="0"/>
              </a:cxn>
            </a:cxnLst>
            <a:rect l="0" t="0" r="r" b="b"/>
            <a:pathLst>
              <a:path w="1984">
                <a:moveTo>
                  <a:pt x="1984" y="0"/>
                </a:moveTo>
                <a:lnTo>
                  <a:pt x="0" y="0"/>
                </a:lnTo>
                <a:lnTo>
                  <a:pt x="1984"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5" tIns="45717" rIns="91435" bIns="45717" numCol="1" anchor="t" anchorCtr="0" compatLnSpc="1">
            <a:prstTxWarp prst="textNoShape">
              <a:avLst/>
            </a:prstTxWarp>
          </a:bodyPr>
          <a:lstStyle/>
          <a:p>
            <a:endParaRPr lang="zh-CN" altLang="en-US">
              <a:solidFill>
                <a:prstClr val="black"/>
              </a:solidFill>
            </a:endParaRPr>
          </a:p>
        </p:txBody>
      </p:sp>
      <p:sp>
        <p:nvSpPr>
          <p:cNvPr id="119" name="Line 12">
            <a:extLst>
              <a:ext uri="{FF2B5EF4-FFF2-40B4-BE49-F238E27FC236}">
                <a16:creationId xmlns:a16="http://schemas.microsoft.com/office/drawing/2014/main" id="{84172D35-EF9A-4750-9FCA-0BE75ACA5B92}"/>
              </a:ext>
            </a:extLst>
          </p:cNvPr>
          <p:cNvSpPr>
            <a:spLocks noChangeShapeType="1"/>
          </p:cNvSpPr>
          <p:nvPr/>
        </p:nvSpPr>
        <p:spPr bwMode="auto">
          <a:xfrm flipH="1">
            <a:off x="6300192" y="3973493"/>
            <a:ext cx="1743456" cy="0"/>
          </a:xfrm>
          <a:prstGeom prst="lin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5" tIns="45717" rIns="91435" bIns="45717" numCol="1" anchor="t" anchorCtr="0" compatLnSpc="1">
            <a:prstTxWarp prst="textNoShape">
              <a:avLst/>
            </a:prstTxWarp>
          </a:bodyPr>
          <a:lstStyle/>
          <a:p>
            <a:endParaRPr lang="zh-CN" altLang="en-US">
              <a:solidFill>
                <a:prstClr val="black"/>
              </a:solidFill>
            </a:endParaRPr>
          </a:p>
        </p:txBody>
      </p:sp>
      <p:grpSp>
        <p:nvGrpSpPr>
          <p:cNvPr id="5" name="组合 4">
            <a:extLst>
              <a:ext uri="{FF2B5EF4-FFF2-40B4-BE49-F238E27FC236}">
                <a16:creationId xmlns:a16="http://schemas.microsoft.com/office/drawing/2014/main" id="{33762BC5-6FF6-4F2B-98BC-B578FD2ACCDF}"/>
              </a:ext>
            </a:extLst>
          </p:cNvPr>
          <p:cNvGrpSpPr/>
          <p:nvPr/>
        </p:nvGrpSpPr>
        <p:grpSpPr>
          <a:xfrm>
            <a:off x="755650" y="1813256"/>
            <a:ext cx="2026416" cy="2160239"/>
            <a:chOff x="755650" y="1813256"/>
            <a:chExt cx="2026416" cy="2160239"/>
          </a:xfrm>
        </p:grpSpPr>
        <p:cxnSp>
          <p:nvCxnSpPr>
            <p:cNvPr id="120" name="直接连接符 119">
              <a:extLst>
                <a:ext uri="{FF2B5EF4-FFF2-40B4-BE49-F238E27FC236}">
                  <a16:creationId xmlns:a16="http://schemas.microsoft.com/office/drawing/2014/main" id="{9943FDC1-568F-466D-B929-443EB4923525}"/>
                </a:ext>
              </a:extLst>
            </p:cNvPr>
            <p:cNvCxnSpPr>
              <a:stCxn id="155" idx="3"/>
            </p:cNvCxnSpPr>
            <p:nvPr/>
          </p:nvCxnSpPr>
          <p:spPr>
            <a:xfrm flipV="1">
              <a:off x="755650" y="1813256"/>
              <a:ext cx="0" cy="1516988"/>
            </a:xfrm>
            <a:prstGeom prst="line">
              <a:avLst/>
            </a:prstGeom>
            <a:ln>
              <a:solidFill>
                <a:schemeClr val="tx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55" name="Freeform 6">
              <a:extLst>
                <a:ext uri="{FF2B5EF4-FFF2-40B4-BE49-F238E27FC236}">
                  <a16:creationId xmlns:a16="http://schemas.microsoft.com/office/drawing/2014/main" id="{48435D7D-546B-42CD-9C8E-455CB5C91DDD}"/>
                </a:ext>
              </a:extLst>
            </p:cNvPr>
            <p:cNvSpPr>
              <a:spLocks/>
            </p:cNvSpPr>
            <p:nvPr/>
          </p:nvSpPr>
          <p:spPr bwMode="auto">
            <a:xfrm>
              <a:off x="755650" y="3330244"/>
              <a:ext cx="2026416" cy="643251"/>
            </a:xfrm>
            <a:custGeom>
              <a:avLst/>
              <a:gdLst>
                <a:gd name="T0" fmla="*/ 1984 w 2306"/>
                <a:gd name="T1" fmla="*/ 732 h 732"/>
                <a:gd name="T2" fmla="*/ 0 w 2306"/>
                <a:gd name="T3" fmla="*/ 732 h 732"/>
                <a:gd name="T4" fmla="*/ 321 w 2306"/>
                <a:gd name="T5" fmla="*/ 366 h 732"/>
                <a:gd name="T6" fmla="*/ 0 w 2306"/>
                <a:gd name="T7" fmla="*/ 0 h 732"/>
                <a:gd name="T8" fmla="*/ 1984 w 2306"/>
                <a:gd name="T9" fmla="*/ 0 h 732"/>
                <a:gd name="T10" fmla="*/ 2306 w 2306"/>
                <a:gd name="T11" fmla="*/ 366 h 732"/>
                <a:gd name="T12" fmla="*/ 1984 w 2306"/>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6" h="732">
                  <a:moveTo>
                    <a:pt x="1984" y="732"/>
                  </a:moveTo>
                  <a:lnTo>
                    <a:pt x="0" y="732"/>
                  </a:lnTo>
                  <a:lnTo>
                    <a:pt x="321" y="366"/>
                  </a:lnTo>
                  <a:lnTo>
                    <a:pt x="0" y="0"/>
                  </a:lnTo>
                  <a:lnTo>
                    <a:pt x="1984" y="0"/>
                  </a:lnTo>
                  <a:lnTo>
                    <a:pt x="2306" y="366"/>
                  </a:lnTo>
                  <a:lnTo>
                    <a:pt x="1984" y="73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58" name="TextBox 72">
              <a:extLst>
                <a:ext uri="{FF2B5EF4-FFF2-40B4-BE49-F238E27FC236}">
                  <a16:creationId xmlns:a16="http://schemas.microsoft.com/office/drawing/2014/main" id="{4E5C1705-06A9-4A44-B604-89801ED4DE8D}"/>
                </a:ext>
              </a:extLst>
            </p:cNvPr>
            <p:cNvSpPr txBox="1"/>
            <p:nvPr/>
          </p:nvSpPr>
          <p:spPr>
            <a:xfrm>
              <a:off x="1146542" y="3451852"/>
              <a:ext cx="1337226" cy="338554"/>
            </a:xfrm>
            <a:prstGeom prst="rect">
              <a:avLst/>
            </a:prstGeom>
            <a:noFill/>
          </p:spPr>
          <p:txBody>
            <a:bodyPr wrap="none" rtlCol="0">
              <a:spAutoFit/>
            </a:bodyPr>
            <a:lstStyle/>
            <a:p>
              <a:r>
                <a:rPr lang="en-US" altLang="zh-CN" sz="16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、样本均值</a:t>
              </a:r>
            </a:p>
          </p:txBody>
        </p:sp>
      </p:grpSp>
      <p:sp>
        <p:nvSpPr>
          <p:cNvPr id="166" name="Text Box 16">
            <a:extLst>
              <a:ext uri="{FF2B5EF4-FFF2-40B4-BE49-F238E27FC236}">
                <a16:creationId xmlns:a16="http://schemas.microsoft.com/office/drawing/2014/main" id="{ECB91AF4-AE37-472C-B920-64A92275F0DE}"/>
              </a:ext>
            </a:extLst>
          </p:cNvPr>
          <p:cNvSpPr txBox="1">
            <a:spLocks noChangeArrowheads="1"/>
          </p:cNvSpPr>
          <p:nvPr/>
        </p:nvSpPr>
        <p:spPr bwMode="auto">
          <a:xfrm>
            <a:off x="950158" y="2723927"/>
            <a:ext cx="15985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E(</a:t>
            </a:r>
            <a:r>
              <a:rPr kumimoji="1" lang="en-US" altLang="zh-CN" sz="1600"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的信息</a:t>
            </a:r>
          </a:p>
        </p:txBody>
      </p:sp>
      <p:sp>
        <p:nvSpPr>
          <p:cNvPr id="171" name="Text Box 17">
            <a:extLst>
              <a:ext uri="{FF2B5EF4-FFF2-40B4-BE49-F238E27FC236}">
                <a16:creationId xmlns:a16="http://schemas.microsoft.com/office/drawing/2014/main" id="{0319D555-BE52-4A86-9F72-9E4DB8C20D15}"/>
              </a:ext>
            </a:extLst>
          </p:cNvPr>
          <p:cNvSpPr txBox="1">
            <a:spLocks noChangeArrowheads="1"/>
          </p:cNvSpPr>
          <p:nvPr/>
        </p:nvSpPr>
        <p:spPr bwMode="auto">
          <a:xfrm>
            <a:off x="2739355" y="2283718"/>
            <a:ext cx="162095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D(</a:t>
            </a:r>
            <a:r>
              <a:rPr kumimoji="1" lang="en-US" altLang="zh-CN" sz="1600"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的信息</a:t>
            </a:r>
          </a:p>
        </p:txBody>
      </p:sp>
      <p:grpSp>
        <p:nvGrpSpPr>
          <p:cNvPr id="6" name="组合 5">
            <a:extLst>
              <a:ext uri="{FF2B5EF4-FFF2-40B4-BE49-F238E27FC236}">
                <a16:creationId xmlns:a16="http://schemas.microsoft.com/office/drawing/2014/main" id="{F0721742-553C-4C1E-9E31-3E5C65CEB424}"/>
              </a:ext>
            </a:extLst>
          </p:cNvPr>
          <p:cNvGrpSpPr/>
          <p:nvPr/>
        </p:nvGrpSpPr>
        <p:grpSpPr>
          <a:xfrm>
            <a:off x="2607643" y="1813255"/>
            <a:ext cx="2032686" cy="2160240"/>
            <a:chOff x="2607643" y="1813255"/>
            <a:chExt cx="2032686" cy="2160240"/>
          </a:xfrm>
        </p:grpSpPr>
        <p:cxnSp>
          <p:nvCxnSpPr>
            <p:cNvPr id="121" name="直接连接符 120">
              <a:extLst>
                <a:ext uri="{FF2B5EF4-FFF2-40B4-BE49-F238E27FC236}">
                  <a16:creationId xmlns:a16="http://schemas.microsoft.com/office/drawing/2014/main" id="{8ABFEA03-16C7-4570-82BD-2BB3556C3907}"/>
                </a:ext>
              </a:extLst>
            </p:cNvPr>
            <p:cNvCxnSpPr/>
            <p:nvPr/>
          </p:nvCxnSpPr>
          <p:spPr>
            <a:xfrm flipV="1">
              <a:off x="2607643" y="1813255"/>
              <a:ext cx="0" cy="1516989"/>
            </a:xfrm>
            <a:prstGeom prst="line">
              <a:avLst/>
            </a:prstGeom>
            <a:ln>
              <a:solidFill>
                <a:schemeClr val="tx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45" name="Freeform 7">
              <a:extLst>
                <a:ext uri="{FF2B5EF4-FFF2-40B4-BE49-F238E27FC236}">
                  <a16:creationId xmlns:a16="http://schemas.microsoft.com/office/drawing/2014/main" id="{382154A6-175F-40A5-9501-AC44FFDE7A97}"/>
                </a:ext>
              </a:extLst>
            </p:cNvPr>
            <p:cNvSpPr>
              <a:spLocks/>
            </p:cNvSpPr>
            <p:nvPr/>
          </p:nvSpPr>
          <p:spPr bwMode="auto">
            <a:xfrm>
              <a:off x="2614792" y="3330244"/>
              <a:ext cx="2025537" cy="643251"/>
            </a:xfrm>
            <a:custGeom>
              <a:avLst/>
              <a:gdLst>
                <a:gd name="T0" fmla="*/ 1984 w 2305"/>
                <a:gd name="T1" fmla="*/ 732 h 732"/>
                <a:gd name="T2" fmla="*/ 0 w 2305"/>
                <a:gd name="T3" fmla="*/ 732 h 732"/>
                <a:gd name="T4" fmla="*/ 321 w 2305"/>
                <a:gd name="T5" fmla="*/ 366 h 732"/>
                <a:gd name="T6" fmla="*/ 0 w 2305"/>
                <a:gd name="T7" fmla="*/ 0 h 732"/>
                <a:gd name="T8" fmla="*/ 1984 w 2305"/>
                <a:gd name="T9" fmla="*/ 0 h 732"/>
                <a:gd name="T10" fmla="*/ 2305 w 2305"/>
                <a:gd name="T11" fmla="*/ 366 h 732"/>
                <a:gd name="T12" fmla="*/ 1984 w 2305"/>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5" h="732">
                  <a:moveTo>
                    <a:pt x="1984" y="732"/>
                  </a:moveTo>
                  <a:lnTo>
                    <a:pt x="0" y="732"/>
                  </a:lnTo>
                  <a:lnTo>
                    <a:pt x="321" y="366"/>
                  </a:lnTo>
                  <a:lnTo>
                    <a:pt x="0" y="0"/>
                  </a:lnTo>
                  <a:lnTo>
                    <a:pt x="1984" y="0"/>
                  </a:lnTo>
                  <a:lnTo>
                    <a:pt x="2305" y="366"/>
                  </a:lnTo>
                  <a:lnTo>
                    <a:pt x="1984" y="73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72" name="Text Box 5">
              <a:extLst>
                <a:ext uri="{FF2B5EF4-FFF2-40B4-BE49-F238E27FC236}">
                  <a16:creationId xmlns:a16="http://schemas.microsoft.com/office/drawing/2014/main" id="{9B4A37F4-CB1C-42FD-93C2-4B8494A102B2}"/>
                </a:ext>
              </a:extLst>
            </p:cNvPr>
            <p:cNvSpPr txBox="1">
              <a:spLocks noChangeArrowheads="1"/>
            </p:cNvSpPr>
            <p:nvPr/>
          </p:nvSpPr>
          <p:spPr bwMode="auto">
            <a:xfrm>
              <a:off x="2915816" y="3451844"/>
              <a:ext cx="16257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kumimoji="1" lang="en-US" altLang="zh-CN"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、样本方差</a:t>
              </a:r>
            </a:p>
          </p:txBody>
        </p:sp>
      </p:grpSp>
      <p:grpSp>
        <p:nvGrpSpPr>
          <p:cNvPr id="7" name="组合 6">
            <a:extLst>
              <a:ext uri="{FF2B5EF4-FFF2-40B4-BE49-F238E27FC236}">
                <a16:creationId xmlns:a16="http://schemas.microsoft.com/office/drawing/2014/main" id="{0CA73A6B-CDAF-4220-B0E4-E6A50A9CB14C}"/>
              </a:ext>
            </a:extLst>
          </p:cNvPr>
          <p:cNvGrpSpPr/>
          <p:nvPr/>
        </p:nvGrpSpPr>
        <p:grpSpPr>
          <a:xfrm>
            <a:off x="4489758" y="1490237"/>
            <a:ext cx="2026458" cy="2483258"/>
            <a:chOff x="4489758" y="1490237"/>
            <a:chExt cx="2026458" cy="2483258"/>
          </a:xfrm>
        </p:grpSpPr>
        <p:cxnSp>
          <p:nvCxnSpPr>
            <p:cNvPr id="122" name="直接连接符 121">
              <a:extLst>
                <a:ext uri="{FF2B5EF4-FFF2-40B4-BE49-F238E27FC236}">
                  <a16:creationId xmlns:a16="http://schemas.microsoft.com/office/drawing/2014/main" id="{9030DAD3-45C5-41C1-9E3D-AABA0B9A6F7E}"/>
                </a:ext>
              </a:extLst>
            </p:cNvPr>
            <p:cNvCxnSpPr/>
            <p:nvPr/>
          </p:nvCxnSpPr>
          <p:spPr>
            <a:xfrm flipV="1">
              <a:off x="4489758" y="1813255"/>
              <a:ext cx="0" cy="1516989"/>
            </a:xfrm>
            <a:prstGeom prst="line">
              <a:avLst/>
            </a:prstGeom>
            <a:ln>
              <a:solidFill>
                <a:schemeClr val="tx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34" name="Freeform 8">
              <a:extLst>
                <a:ext uri="{FF2B5EF4-FFF2-40B4-BE49-F238E27FC236}">
                  <a16:creationId xmlns:a16="http://schemas.microsoft.com/office/drawing/2014/main" id="{47B8D356-E88E-46F2-868B-B5168DCB18DA}"/>
                </a:ext>
              </a:extLst>
            </p:cNvPr>
            <p:cNvSpPr>
              <a:spLocks/>
            </p:cNvSpPr>
            <p:nvPr/>
          </p:nvSpPr>
          <p:spPr bwMode="auto">
            <a:xfrm>
              <a:off x="4489800" y="3330244"/>
              <a:ext cx="2026416" cy="643251"/>
            </a:xfrm>
            <a:custGeom>
              <a:avLst/>
              <a:gdLst>
                <a:gd name="T0" fmla="*/ 1985 w 2306"/>
                <a:gd name="T1" fmla="*/ 732 h 732"/>
                <a:gd name="T2" fmla="*/ 0 w 2306"/>
                <a:gd name="T3" fmla="*/ 732 h 732"/>
                <a:gd name="T4" fmla="*/ 322 w 2306"/>
                <a:gd name="T5" fmla="*/ 366 h 732"/>
                <a:gd name="T6" fmla="*/ 0 w 2306"/>
                <a:gd name="T7" fmla="*/ 0 h 732"/>
                <a:gd name="T8" fmla="*/ 1985 w 2306"/>
                <a:gd name="T9" fmla="*/ 0 h 732"/>
                <a:gd name="T10" fmla="*/ 2306 w 2306"/>
                <a:gd name="T11" fmla="*/ 366 h 732"/>
                <a:gd name="T12" fmla="*/ 1985 w 2306"/>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6" h="732">
                  <a:moveTo>
                    <a:pt x="1985" y="732"/>
                  </a:moveTo>
                  <a:lnTo>
                    <a:pt x="0" y="732"/>
                  </a:lnTo>
                  <a:lnTo>
                    <a:pt x="322" y="366"/>
                  </a:lnTo>
                  <a:lnTo>
                    <a:pt x="0" y="0"/>
                  </a:lnTo>
                  <a:lnTo>
                    <a:pt x="1985" y="0"/>
                  </a:lnTo>
                  <a:lnTo>
                    <a:pt x="2306" y="366"/>
                  </a:lnTo>
                  <a:lnTo>
                    <a:pt x="1985" y="73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solidFill>
                  <a:prstClr val="black"/>
                </a:solidFill>
              </a:endParaRPr>
            </a:p>
          </p:txBody>
        </p:sp>
        <p:grpSp>
          <p:nvGrpSpPr>
            <p:cNvPr id="136" name="Group 29">
              <a:extLst>
                <a:ext uri="{FF2B5EF4-FFF2-40B4-BE49-F238E27FC236}">
                  <a16:creationId xmlns:a16="http://schemas.microsoft.com/office/drawing/2014/main" id="{E19EAAF7-041E-4C29-A90D-2FA86C62024F}"/>
                </a:ext>
              </a:extLst>
            </p:cNvPr>
            <p:cNvGrpSpPr>
              <a:grpSpLocks noChangeAspect="1"/>
            </p:cNvGrpSpPr>
            <p:nvPr/>
          </p:nvGrpSpPr>
          <p:grpSpPr bwMode="auto">
            <a:xfrm>
              <a:off x="4921477" y="1490237"/>
              <a:ext cx="9225" cy="0"/>
              <a:chOff x="4464" y="1952"/>
              <a:chExt cx="9" cy="0"/>
            </a:xfrm>
            <a:solidFill>
              <a:schemeClr val="bg1"/>
            </a:solidFill>
            <a:effectLst>
              <a:outerShdw blurRad="25400" dist="25400" dir="2700000" algn="tl" rotWithShape="0">
                <a:prstClr val="black">
                  <a:alpha val="40000"/>
                </a:prstClr>
              </a:outerShdw>
            </a:effectLst>
          </p:grpSpPr>
          <p:sp>
            <p:nvSpPr>
              <p:cNvPr id="139" name="Freeform 31">
                <a:extLst>
                  <a:ext uri="{FF2B5EF4-FFF2-40B4-BE49-F238E27FC236}">
                    <a16:creationId xmlns:a16="http://schemas.microsoft.com/office/drawing/2014/main" id="{7D7E2E16-174C-49FE-9ABC-9636451A3419}"/>
                  </a:ext>
                </a:extLst>
              </p:cNvPr>
              <p:cNvSpPr>
                <a:spLocks/>
              </p:cNvSpPr>
              <p:nvPr/>
            </p:nvSpPr>
            <p:spPr bwMode="auto">
              <a:xfrm>
                <a:off x="4464" y="1952"/>
                <a:ext cx="5" cy="0"/>
              </a:xfrm>
              <a:custGeom>
                <a:avLst/>
                <a:gdLst>
                  <a:gd name="T0" fmla="*/ 1 w 1"/>
                  <a:gd name="T1" fmla="*/ 0 w 1"/>
                  <a:gd name="T2" fmla="*/ 0 w 1"/>
                  <a:gd name="T3" fmla="*/ 1 w 1"/>
                </a:gdLst>
                <a:ahLst/>
                <a:cxnLst>
                  <a:cxn ang="0">
                    <a:pos x="T0" y="0"/>
                  </a:cxn>
                  <a:cxn ang="0">
                    <a:pos x="T1" y="0"/>
                  </a:cxn>
                  <a:cxn ang="0">
                    <a:pos x="T2" y="0"/>
                  </a:cxn>
                  <a:cxn ang="0">
                    <a:pos x="T3" y="0"/>
                  </a:cxn>
                </a:cxnLst>
                <a:rect l="0" t="0" r="r" b="b"/>
                <a:pathLst>
                  <a:path w="1">
                    <a:moveTo>
                      <a:pt x="1" y="0"/>
                    </a:moveTo>
                    <a:cubicBezTo>
                      <a:pt x="0" y="0"/>
                      <a:pt x="0" y="0"/>
                      <a:pt x="0" y="0"/>
                    </a:cubicBez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42" name="Freeform 34">
                <a:extLst>
                  <a:ext uri="{FF2B5EF4-FFF2-40B4-BE49-F238E27FC236}">
                    <a16:creationId xmlns:a16="http://schemas.microsoft.com/office/drawing/2014/main" id="{53C9BD1C-C76A-4EB2-850C-7B672F74F6A1}"/>
                  </a:ext>
                </a:extLst>
              </p:cNvPr>
              <p:cNvSpPr>
                <a:spLocks/>
              </p:cNvSpPr>
              <p:nvPr/>
            </p:nvSpPr>
            <p:spPr bwMode="auto">
              <a:xfrm>
                <a:off x="4469" y="1952"/>
                <a:ext cx="4"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sp>
          <p:nvSpPr>
            <p:cNvPr id="173" name="Text Box 10">
              <a:extLst>
                <a:ext uri="{FF2B5EF4-FFF2-40B4-BE49-F238E27FC236}">
                  <a16:creationId xmlns:a16="http://schemas.microsoft.com/office/drawing/2014/main" id="{7D499F2F-C616-4023-9D38-1114A28B0922}"/>
                </a:ext>
              </a:extLst>
            </p:cNvPr>
            <p:cNvSpPr txBox="1">
              <a:spLocks noChangeArrowheads="1"/>
            </p:cNvSpPr>
            <p:nvPr/>
          </p:nvSpPr>
          <p:spPr bwMode="auto">
            <a:xfrm>
              <a:off x="4932040" y="3410126"/>
              <a:ext cx="1051683" cy="50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tIns="7654" rIns="12756" bIns="7654">
              <a:spAutoFit/>
            </a:bodyPr>
            <a:lstStyle/>
            <a:p>
              <a:pPr>
                <a:defRPr/>
              </a:pPr>
              <a:r>
                <a:rPr kumimoji="1"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3</a:t>
              </a:r>
              <a:r>
                <a:rPr kumimoji="1"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、样本</a:t>
              </a:r>
              <a:r>
                <a:rPr kumimoji="1" lang="en-US" altLang="zh-CN" sz="1600" b="1"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阶</a:t>
              </a:r>
              <a:endParaRPr kumimoji="1"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a:defRPr/>
              </a:pPr>
              <a:r>
                <a:rPr kumimoji="1"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原点矩</a:t>
              </a:r>
            </a:p>
          </p:txBody>
        </p:sp>
      </p:grpSp>
      <p:sp>
        <p:nvSpPr>
          <p:cNvPr id="176" name="Text Box 18">
            <a:extLst>
              <a:ext uri="{FF2B5EF4-FFF2-40B4-BE49-F238E27FC236}">
                <a16:creationId xmlns:a16="http://schemas.microsoft.com/office/drawing/2014/main" id="{E88F2176-FFC6-4DB8-99F0-7726792C4EA6}"/>
              </a:ext>
            </a:extLst>
          </p:cNvPr>
          <p:cNvSpPr txBox="1">
            <a:spLocks noChangeArrowheads="1"/>
          </p:cNvSpPr>
          <p:nvPr/>
        </p:nvSpPr>
        <p:spPr bwMode="auto">
          <a:xfrm>
            <a:off x="4673293" y="2468347"/>
            <a:ext cx="17107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E(</a:t>
            </a:r>
            <a:r>
              <a:rPr kumimoji="1" lang="en-US" altLang="zh-CN" sz="1600" i="1"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600" i="1" baseline="38000" dirty="0" err="1">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的信息</a:t>
            </a:r>
          </a:p>
        </p:txBody>
      </p:sp>
      <p:sp>
        <p:nvSpPr>
          <p:cNvPr id="179" name="Text Box 19">
            <a:extLst>
              <a:ext uri="{FF2B5EF4-FFF2-40B4-BE49-F238E27FC236}">
                <a16:creationId xmlns:a16="http://schemas.microsoft.com/office/drawing/2014/main" id="{F8F98888-26F0-44FA-A0E9-9E1C613E1704}"/>
              </a:ext>
            </a:extLst>
          </p:cNvPr>
          <p:cNvSpPr txBox="1">
            <a:spLocks noChangeArrowheads="1"/>
          </p:cNvSpPr>
          <p:nvPr/>
        </p:nvSpPr>
        <p:spPr bwMode="auto">
          <a:xfrm>
            <a:off x="6391412" y="2383141"/>
            <a:ext cx="197842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提取</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E(</a:t>
            </a:r>
            <a:r>
              <a:rPr kumimoji="1" lang="en-US" altLang="zh-CN" sz="1600"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-E</a:t>
            </a:r>
            <a:r>
              <a:rPr kumimoji="1" lang="en-US" altLang="zh-CN" sz="1600" i="1"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6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i="1" baseline="38000" dirty="0">
                <a:solidFill>
                  <a:srgbClr val="E88D22"/>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zh-CN" altLang="en-US" sz="16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的信息</a:t>
            </a:r>
          </a:p>
        </p:txBody>
      </p:sp>
      <p:grpSp>
        <p:nvGrpSpPr>
          <p:cNvPr id="8" name="组合 7">
            <a:extLst>
              <a:ext uri="{FF2B5EF4-FFF2-40B4-BE49-F238E27FC236}">
                <a16:creationId xmlns:a16="http://schemas.microsoft.com/office/drawing/2014/main" id="{240C6CD5-17C1-4374-A519-CB1AE059585D}"/>
              </a:ext>
            </a:extLst>
          </p:cNvPr>
          <p:cNvGrpSpPr/>
          <p:nvPr/>
        </p:nvGrpSpPr>
        <p:grpSpPr>
          <a:xfrm>
            <a:off x="6362432" y="1813255"/>
            <a:ext cx="2030084" cy="2160240"/>
            <a:chOff x="6362432" y="1813255"/>
            <a:chExt cx="2030084" cy="2160240"/>
          </a:xfrm>
        </p:grpSpPr>
        <p:cxnSp>
          <p:nvCxnSpPr>
            <p:cNvPr id="123" name="直接连接符 122">
              <a:extLst>
                <a:ext uri="{FF2B5EF4-FFF2-40B4-BE49-F238E27FC236}">
                  <a16:creationId xmlns:a16="http://schemas.microsoft.com/office/drawing/2014/main" id="{620B70D5-3E2C-416F-AD33-F585C2E8D6B7}"/>
                </a:ext>
              </a:extLst>
            </p:cNvPr>
            <p:cNvCxnSpPr/>
            <p:nvPr/>
          </p:nvCxnSpPr>
          <p:spPr>
            <a:xfrm flipV="1">
              <a:off x="6362432" y="1813255"/>
              <a:ext cx="0" cy="1516989"/>
            </a:xfrm>
            <a:prstGeom prst="line">
              <a:avLst/>
            </a:prstGeom>
            <a:ln>
              <a:solidFill>
                <a:schemeClr val="tx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25" name="Freeform 13">
              <a:extLst>
                <a:ext uri="{FF2B5EF4-FFF2-40B4-BE49-F238E27FC236}">
                  <a16:creationId xmlns:a16="http://schemas.microsoft.com/office/drawing/2014/main" id="{0BA408A1-2B37-4060-A76B-32CB4A0484A4}"/>
                </a:ext>
              </a:extLst>
            </p:cNvPr>
            <p:cNvSpPr>
              <a:spLocks/>
            </p:cNvSpPr>
            <p:nvPr/>
          </p:nvSpPr>
          <p:spPr bwMode="auto">
            <a:xfrm>
              <a:off x="6368736" y="3330244"/>
              <a:ext cx="2023780" cy="643251"/>
            </a:xfrm>
            <a:custGeom>
              <a:avLst/>
              <a:gdLst>
                <a:gd name="T0" fmla="*/ 1984 w 2303"/>
                <a:gd name="T1" fmla="*/ 732 h 732"/>
                <a:gd name="T2" fmla="*/ 0 w 2303"/>
                <a:gd name="T3" fmla="*/ 732 h 732"/>
                <a:gd name="T4" fmla="*/ 321 w 2303"/>
                <a:gd name="T5" fmla="*/ 366 h 732"/>
                <a:gd name="T6" fmla="*/ 0 w 2303"/>
                <a:gd name="T7" fmla="*/ 0 h 732"/>
                <a:gd name="T8" fmla="*/ 1984 w 2303"/>
                <a:gd name="T9" fmla="*/ 0 h 732"/>
                <a:gd name="T10" fmla="*/ 2303 w 2303"/>
                <a:gd name="T11" fmla="*/ 366 h 732"/>
                <a:gd name="T12" fmla="*/ 1984 w 2303"/>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3" h="732">
                  <a:moveTo>
                    <a:pt x="1984" y="732"/>
                  </a:moveTo>
                  <a:lnTo>
                    <a:pt x="0" y="732"/>
                  </a:lnTo>
                  <a:lnTo>
                    <a:pt x="321" y="366"/>
                  </a:lnTo>
                  <a:lnTo>
                    <a:pt x="0" y="0"/>
                  </a:lnTo>
                  <a:lnTo>
                    <a:pt x="1984" y="0"/>
                  </a:lnTo>
                  <a:lnTo>
                    <a:pt x="2303" y="366"/>
                  </a:lnTo>
                  <a:lnTo>
                    <a:pt x="1984" y="73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80" name="Text Box 12">
              <a:extLst>
                <a:ext uri="{FF2B5EF4-FFF2-40B4-BE49-F238E27FC236}">
                  <a16:creationId xmlns:a16="http://schemas.microsoft.com/office/drawing/2014/main" id="{93DBE51F-ED5C-44B0-97B5-A3EFC9CEC2DA}"/>
                </a:ext>
              </a:extLst>
            </p:cNvPr>
            <p:cNvSpPr txBox="1">
              <a:spLocks noChangeArrowheads="1"/>
            </p:cNvSpPr>
            <p:nvPr/>
          </p:nvSpPr>
          <p:spPr bwMode="auto">
            <a:xfrm>
              <a:off x="6832685" y="3396175"/>
              <a:ext cx="1051683" cy="50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tIns="7654" rIns="12756" bIns="7654">
              <a:spAutoFit/>
            </a:bodyPr>
            <a:lstStyle/>
            <a:p>
              <a:pPr>
                <a:defRPr/>
              </a:pPr>
              <a:r>
                <a:rPr kumimoji="1"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4</a:t>
              </a:r>
              <a:r>
                <a:rPr kumimoji="1"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、样本</a:t>
              </a:r>
              <a:r>
                <a:rPr kumimoji="1" lang="en-US" altLang="zh-CN" sz="1600" b="1"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k</a:t>
              </a:r>
              <a:r>
                <a:rPr kumimoji="1"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阶</a:t>
              </a:r>
              <a:endParaRPr kumimoji="1"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a:defRPr/>
              </a:pPr>
              <a:r>
                <a:rPr kumimoji="1"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中心矩</a:t>
              </a:r>
            </a:p>
          </p:txBody>
        </p:sp>
      </p:grpSp>
      <p:grpSp>
        <p:nvGrpSpPr>
          <p:cNvPr id="12" name="组合 11">
            <a:extLst>
              <a:ext uri="{FF2B5EF4-FFF2-40B4-BE49-F238E27FC236}">
                <a16:creationId xmlns:a16="http://schemas.microsoft.com/office/drawing/2014/main" id="{D1F09933-347C-4E50-A6F4-688FC505A908}"/>
              </a:ext>
            </a:extLst>
          </p:cNvPr>
          <p:cNvGrpSpPr/>
          <p:nvPr/>
        </p:nvGrpSpPr>
        <p:grpSpPr>
          <a:xfrm>
            <a:off x="1259632" y="1721396"/>
            <a:ext cx="993912" cy="588174"/>
            <a:chOff x="2722207" y="615657"/>
            <a:chExt cx="993912" cy="588174"/>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E2F6CB-733C-4634-9187-108C245B0283}"/>
                    </a:ext>
                  </a:extLst>
                </p:cNvPr>
                <p:cNvSpPr txBox="1"/>
                <p:nvPr/>
              </p:nvSpPr>
              <p:spPr>
                <a:xfrm>
                  <a:off x="2915816" y="615657"/>
                  <a:ext cx="705321" cy="588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  </m:t>
                        </m:r>
                        <m:nary>
                          <m:naryPr>
                            <m:chr m:val="∑"/>
                            <m:ctrlPr>
                              <a:rPr lang="pt-BR" altLang="zh-CN" sz="1400" i="1" smtClean="0">
                                <a:solidFill>
                                  <a:srgbClr val="1F4B70"/>
                                </a:solidFill>
                                <a:latin typeface="Cambria Math" panose="02040503050406030204" pitchFamily="18" charset="0"/>
                                <a:ea typeface="微软雅黑" panose="020B0503020204020204" pitchFamily="34" charset="-122"/>
                              </a:rPr>
                            </m:ctrlPr>
                          </m:naryPr>
                          <m:sub>
                            <m:r>
                              <a:rPr lang="en-US" altLang="zh-CN" sz="1400" b="0" i="1" smtClean="0">
                                <a:solidFill>
                                  <a:srgbClr val="1F4B70"/>
                                </a:solidFill>
                                <a:latin typeface="Cambria Math" panose="02040503050406030204" pitchFamily="18" charset="0"/>
                                <a:ea typeface="微软雅黑" panose="020B0503020204020204" pitchFamily="34" charset="-122"/>
                              </a:rPr>
                              <m:t>𝑖</m:t>
                            </m:r>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1</m:t>
                            </m:r>
                          </m:sub>
                          <m:sup>
                            <m:r>
                              <a:rPr lang="pt-BR" altLang="zh-CN" sz="1400" i="1" smtClean="0">
                                <a:solidFill>
                                  <a:srgbClr val="1F4B70"/>
                                </a:solidFill>
                                <a:latin typeface="Cambria Math" panose="02040503050406030204" pitchFamily="18" charset="0"/>
                                <a:ea typeface="微软雅黑" panose="020B0503020204020204" pitchFamily="34" charset="-122"/>
                              </a:rPr>
                              <m:t>𝑛</m:t>
                            </m:r>
                          </m:sup>
                          <m:e>
                            <m:r>
                              <a:rPr lang="en-US" altLang="zh-CN" sz="1400" b="0" i="1" smtClean="0">
                                <a:solidFill>
                                  <a:srgbClr val="1F4B70"/>
                                </a:solidFill>
                                <a:latin typeface="Cambria Math" panose="02040503050406030204" pitchFamily="18" charset="0"/>
                                <a:ea typeface="微软雅黑" panose="020B0503020204020204" pitchFamily="34" charset="-122"/>
                              </a:rPr>
                              <m:t>𝑋</m:t>
                            </m:r>
                          </m:e>
                        </m:nary>
                      </m:oMath>
                    </m:oMathPara>
                  </a14:m>
                  <a:endParaRPr lang="zh-CN" altLang="en-US" sz="1400" dirty="0">
                    <a:solidFill>
                      <a:srgbClr val="034EA2"/>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49E2F6CB-733C-4634-9187-108C245B0283}"/>
                    </a:ext>
                  </a:extLst>
                </p:cNvPr>
                <p:cNvSpPr txBox="1">
                  <a:spLocks noRot="1" noChangeAspect="1" noMove="1" noResize="1" noEditPoints="1" noAdjustHandles="1" noChangeArrowheads="1" noChangeShapeType="1" noTextEdit="1"/>
                </p:cNvSpPr>
                <p:nvPr/>
              </p:nvSpPr>
              <p:spPr>
                <a:xfrm>
                  <a:off x="2915816" y="615657"/>
                  <a:ext cx="705321" cy="588174"/>
                </a:xfrm>
                <a:prstGeom prst="rect">
                  <a:avLst/>
                </a:prstGeom>
                <a:blipFill>
                  <a:blip r:embed="rId4"/>
                  <a:stretch>
                    <a:fillRect/>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0CDB7C8E-3966-4CE2-AD0F-E13C03E81905}"/>
                </a:ext>
              </a:extLst>
            </p:cNvPr>
            <p:cNvGrpSpPr/>
            <p:nvPr/>
          </p:nvGrpSpPr>
          <p:grpSpPr>
            <a:xfrm>
              <a:off x="2722207" y="738631"/>
              <a:ext cx="993912" cy="373843"/>
              <a:chOff x="2722207" y="738631"/>
              <a:chExt cx="993912" cy="373843"/>
            </a:xfrm>
          </p:grpSpPr>
          <p:sp>
            <p:nvSpPr>
              <p:cNvPr id="4" name="矩形 3">
                <a:extLst>
                  <a:ext uri="{FF2B5EF4-FFF2-40B4-BE49-F238E27FC236}">
                    <a16:creationId xmlns:a16="http://schemas.microsoft.com/office/drawing/2014/main" id="{717CE61F-8368-418C-B407-427EBE339120}"/>
                  </a:ext>
                </a:extLst>
              </p:cNvPr>
              <p:cNvSpPr/>
              <p:nvPr/>
            </p:nvSpPr>
            <p:spPr>
              <a:xfrm>
                <a:off x="3497789" y="744477"/>
                <a:ext cx="218330" cy="307777"/>
              </a:xfrm>
              <a:prstGeom prst="rect">
                <a:avLst/>
              </a:prstGeom>
            </p:spPr>
            <p:txBody>
              <a:bodyPr wrap="none">
                <a:spAutoFit/>
              </a:bodyPr>
              <a:lstStyle/>
              <a:p>
                <a:r>
                  <a:rPr kumimoji="1" lang="en-US" altLang="zh-CN" sz="1400"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sz="1400" dirty="0"/>
              </a:p>
            </p:txBody>
          </p:sp>
          <p:sp>
            <p:nvSpPr>
              <p:cNvPr id="48" name="Text Box 27">
                <a:extLst>
                  <a:ext uri="{FF2B5EF4-FFF2-40B4-BE49-F238E27FC236}">
                    <a16:creationId xmlns:a16="http://schemas.microsoft.com/office/drawing/2014/main" id="{4FD42B68-F7C8-4E23-BE64-BF88A18C5DD1}"/>
                  </a:ext>
                </a:extLst>
              </p:cNvPr>
              <p:cNvSpPr txBox="1">
                <a:spLocks noChangeArrowheads="1"/>
              </p:cNvSpPr>
              <p:nvPr/>
            </p:nvSpPr>
            <p:spPr bwMode="auto">
              <a:xfrm>
                <a:off x="3046882" y="751798"/>
                <a:ext cx="257761" cy="360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lnSpc>
                    <a:spcPct val="60000"/>
                  </a:lnSpc>
                </a:pPr>
                <a:r>
                  <a:rPr kumimoji="1" lang="en-US" altLang="zh-CN" sz="1400" u="sng" dirty="0">
                    <a:solidFill>
                      <a:srgbClr val="1F4B70"/>
                    </a:solidFill>
                    <a:latin typeface="Times New Roman" panose="02020603050405020304" pitchFamily="18" charset="0"/>
                  </a:rPr>
                  <a:t>1</a:t>
                </a:r>
              </a:p>
              <a:p>
                <a:pPr eaLnBrk="1" hangingPunct="1">
                  <a:lnSpc>
                    <a:spcPct val="60000"/>
                  </a:lnSpc>
                </a:pPr>
                <a:r>
                  <a:rPr kumimoji="1" lang="en-US" altLang="zh-CN" sz="1400" i="1" dirty="0">
                    <a:solidFill>
                      <a:srgbClr val="1F4B70"/>
                    </a:solidFill>
                    <a:latin typeface="Times New Roman" panose="02020603050405020304" pitchFamily="18" charset="0"/>
                  </a:rPr>
                  <a:t>n</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F2686B8-B5DA-4245-BC5D-F31618755F93}"/>
                      </a:ext>
                    </a:extLst>
                  </p:cNvPr>
                  <p:cNvSpPr txBox="1"/>
                  <p:nvPr/>
                </p:nvSpPr>
                <p:spPr>
                  <a:xfrm>
                    <a:off x="2722207" y="738631"/>
                    <a:ext cx="172676" cy="290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400" i="1" smtClean="0">
                                  <a:solidFill>
                                    <a:srgbClr val="1F4B70"/>
                                  </a:solidFill>
                                  <a:latin typeface="Cambria Math" panose="02040503050406030204" pitchFamily="18" charset="0"/>
                                  <a:ea typeface="微软雅黑" panose="020B0503020204020204" pitchFamily="34" charset="-122"/>
                                </a:rPr>
                              </m:ctrlPr>
                            </m:fPr>
                            <m:num>
                              <m:r>
                                <a:rPr lang="en-US" altLang="zh-CN" sz="1400" b="0" i="1" smtClean="0">
                                  <a:solidFill>
                                    <a:srgbClr val="1F4B70"/>
                                  </a:solidFill>
                                  <a:latin typeface="Cambria Math" panose="02040503050406030204" pitchFamily="18" charset="0"/>
                                  <a:ea typeface="微软雅黑" panose="020B0503020204020204" pitchFamily="34" charset="-122"/>
                                </a:rPr>
                                <m:t> </m:t>
                              </m:r>
                            </m:num>
                            <m:den>
                              <m:r>
                                <a:rPr lang="en-US" altLang="zh-CN" sz="1400" b="0" i="1" smtClean="0">
                                  <a:solidFill>
                                    <a:srgbClr val="1F4B70"/>
                                  </a:solidFill>
                                  <a:latin typeface="Cambria Math" panose="02040503050406030204" pitchFamily="18" charset="0"/>
                                  <a:ea typeface="微软雅黑" panose="020B0503020204020204" pitchFamily="34" charset="-122"/>
                                </a:rPr>
                                <m:t>𝑋</m:t>
                              </m:r>
                            </m:den>
                          </m:f>
                        </m:oMath>
                      </m:oMathPara>
                    </a14:m>
                    <a:endParaRPr lang="zh-CN" altLang="en-US" sz="14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0F2686B8-B5DA-4245-BC5D-F31618755F93}"/>
                      </a:ext>
                    </a:extLst>
                  </p:cNvPr>
                  <p:cNvSpPr txBox="1">
                    <a:spLocks noRot="1" noChangeAspect="1" noMove="1" noResize="1" noEditPoints="1" noAdjustHandles="1" noChangeArrowheads="1" noChangeShapeType="1" noTextEdit="1"/>
                  </p:cNvSpPr>
                  <p:nvPr/>
                </p:nvSpPr>
                <p:spPr>
                  <a:xfrm>
                    <a:off x="2722207" y="738631"/>
                    <a:ext cx="172676" cy="290721"/>
                  </a:xfrm>
                  <a:prstGeom prst="rect">
                    <a:avLst/>
                  </a:prstGeom>
                  <a:blipFill>
                    <a:blip r:embed="rId5"/>
                    <a:stretch>
                      <a:fillRect l="-21429" r="-17857" b="-21277"/>
                    </a:stretch>
                  </a:blipFill>
                </p:spPr>
                <p:txBody>
                  <a:bodyPr/>
                  <a:lstStyle/>
                  <a:p>
                    <a:r>
                      <a:rPr lang="zh-CN" altLang="en-US">
                        <a:noFill/>
                      </a:rPr>
                      <a:t> </a:t>
                    </a:r>
                  </a:p>
                </p:txBody>
              </p:sp>
            </mc:Fallback>
          </mc:AlternateContent>
        </p:grpSp>
      </p:grpSp>
      <p:grpSp>
        <p:nvGrpSpPr>
          <p:cNvPr id="15" name="组合 14">
            <a:extLst>
              <a:ext uri="{FF2B5EF4-FFF2-40B4-BE49-F238E27FC236}">
                <a16:creationId xmlns:a16="http://schemas.microsoft.com/office/drawing/2014/main" id="{CD56707D-CADF-4818-9399-62E960D16E30}"/>
              </a:ext>
            </a:extLst>
          </p:cNvPr>
          <p:cNvGrpSpPr/>
          <p:nvPr/>
        </p:nvGrpSpPr>
        <p:grpSpPr>
          <a:xfrm>
            <a:off x="2705157" y="1707654"/>
            <a:ext cx="1794835" cy="588174"/>
            <a:chOff x="3908424" y="613638"/>
            <a:chExt cx="2442336" cy="800362"/>
          </a:xfrm>
        </p:grpSpPr>
        <p:grpSp>
          <p:nvGrpSpPr>
            <p:cNvPr id="53" name="组合 52">
              <a:extLst>
                <a:ext uri="{FF2B5EF4-FFF2-40B4-BE49-F238E27FC236}">
                  <a16:creationId xmlns:a16="http://schemas.microsoft.com/office/drawing/2014/main" id="{81EE53EA-1B35-444E-BB22-0AE23FDF8F8A}"/>
                </a:ext>
              </a:extLst>
            </p:cNvPr>
            <p:cNvGrpSpPr/>
            <p:nvPr/>
          </p:nvGrpSpPr>
          <p:grpSpPr>
            <a:xfrm>
              <a:off x="3908424" y="613638"/>
              <a:ext cx="2300744" cy="800362"/>
              <a:chOff x="2722207" y="615657"/>
              <a:chExt cx="2300744" cy="800362"/>
            </a:xfrm>
          </p:grpSpPr>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4BBD49E6-7C9A-41F4-8CD3-D1690BFF71A9}"/>
                      </a:ext>
                    </a:extLst>
                  </p:cNvPr>
                  <p:cNvSpPr txBox="1"/>
                  <p:nvPr/>
                </p:nvSpPr>
                <p:spPr>
                  <a:xfrm>
                    <a:off x="2915816" y="615657"/>
                    <a:ext cx="2107135" cy="8003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            </m:t>
                          </m:r>
                          <m:nary>
                            <m:naryPr>
                              <m:chr m:val="∑"/>
                              <m:ctrlPr>
                                <a:rPr lang="pt-BR" altLang="zh-CN" sz="1400" i="1" smtClean="0">
                                  <a:solidFill>
                                    <a:srgbClr val="1F4B70"/>
                                  </a:solidFill>
                                  <a:latin typeface="Cambria Math" panose="02040503050406030204" pitchFamily="18" charset="0"/>
                                  <a:ea typeface="微软雅黑" panose="020B0503020204020204" pitchFamily="34" charset="-122"/>
                                </a:rPr>
                              </m:ctrlPr>
                            </m:naryPr>
                            <m:sub>
                              <m:r>
                                <a:rPr lang="en-US" altLang="zh-CN" sz="1400" b="0" i="1" smtClean="0">
                                  <a:solidFill>
                                    <a:srgbClr val="1F4B70"/>
                                  </a:solidFill>
                                  <a:latin typeface="Cambria Math" panose="02040503050406030204" pitchFamily="18" charset="0"/>
                                  <a:ea typeface="微软雅黑" panose="020B0503020204020204" pitchFamily="34" charset="-122"/>
                                </a:rPr>
                                <m:t>𝑖</m:t>
                              </m:r>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1</m:t>
                              </m:r>
                            </m:sub>
                            <m:sup>
                              <m:r>
                                <a:rPr lang="pt-BR" altLang="zh-CN" sz="1400" i="1" smtClean="0">
                                  <a:solidFill>
                                    <a:srgbClr val="1F4B70"/>
                                  </a:solidFill>
                                  <a:latin typeface="Cambria Math" panose="02040503050406030204" pitchFamily="18" charset="0"/>
                                  <a:ea typeface="微软雅黑" panose="020B0503020204020204" pitchFamily="34" charset="-122"/>
                                </a:rPr>
                                <m:t>𝑛</m:t>
                              </m:r>
                            </m:sup>
                            <m:e>
                              <m:r>
                                <a:rPr lang="en-US" altLang="zh-CN" sz="1400" b="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𝑋</m:t>
                              </m:r>
                            </m:e>
                          </m:nary>
                          <m:r>
                            <a:rPr lang="en-US" altLang="zh-CN" sz="1400" b="0" i="1" smtClean="0">
                              <a:solidFill>
                                <a:srgbClr val="1F4B70"/>
                              </a:solidFill>
                              <a:latin typeface="Cambria Math" panose="02040503050406030204" pitchFamily="18" charset="0"/>
                              <a:ea typeface="微软雅黑" panose="020B0503020204020204" pitchFamily="34" charset="-122"/>
                            </a:rPr>
                            <m:t>−    )</m:t>
                          </m:r>
                        </m:oMath>
                      </m:oMathPara>
                    </a14:m>
                    <a:endParaRPr lang="zh-CN" altLang="en-US" sz="1400" dirty="0">
                      <a:solidFill>
                        <a:srgbClr val="034EA2"/>
                      </a:solidFill>
                      <a:latin typeface="微软雅黑" panose="020B0503020204020204" pitchFamily="34" charset="-122"/>
                      <a:ea typeface="微软雅黑" panose="020B0503020204020204" pitchFamily="34" charset="-122"/>
                    </a:endParaRPr>
                  </a:p>
                </p:txBody>
              </p:sp>
            </mc:Choice>
            <mc:Fallback xmlns="">
              <p:sp>
                <p:nvSpPr>
                  <p:cNvPr id="54" name="文本框 53">
                    <a:extLst>
                      <a:ext uri="{FF2B5EF4-FFF2-40B4-BE49-F238E27FC236}">
                        <a16:creationId xmlns:a16="http://schemas.microsoft.com/office/drawing/2014/main" id="{4BBD49E6-7C9A-41F4-8CD3-D1690BFF71A9}"/>
                      </a:ext>
                    </a:extLst>
                  </p:cNvPr>
                  <p:cNvSpPr txBox="1">
                    <a:spLocks noRot="1" noChangeAspect="1" noMove="1" noResize="1" noEditPoints="1" noAdjustHandles="1" noChangeArrowheads="1" noChangeShapeType="1" noTextEdit="1"/>
                  </p:cNvSpPr>
                  <p:nvPr/>
                </p:nvSpPr>
                <p:spPr>
                  <a:xfrm>
                    <a:off x="2915816" y="615657"/>
                    <a:ext cx="2107135" cy="800362"/>
                  </a:xfrm>
                  <a:prstGeom prst="rect">
                    <a:avLst/>
                  </a:prstGeom>
                  <a:blipFill>
                    <a:blip r:embed="rId6"/>
                    <a:stretch>
                      <a:fillRect/>
                    </a:stretch>
                  </a:blipFill>
                </p:spPr>
                <p:txBody>
                  <a:bodyPr/>
                  <a:lstStyle/>
                  <a:p>
                    <a:r>
                      <a:rPr lang="zh-CN" altLang="en-US">
                        <a:noFill/>
                      </a:rPr>
                      <a:t> </a:t>
                    </a:r>
                  </a:p>
                </p:txBody>
              </p:sp>
            </mc:Fallback>
          </mc:AlternateContent>
          <p:grpSp>
            <p:nvGrpSpPr>
              <p:cNvPr id="55" name="组合 54">
                <a:extLst>
                  <a:ext uri="{FF2B5EF4-FFF2-40B4-BE49-F238E27FC236}">
                    <a16:creationId xmlns:a16="http://schemas.microsoft.com/office/drawing/2014/main" id="{64284734-7A7E-409B-8D4D-8EEF5E90AC4C}"/>
                  </a:ext>
                </a:extLst>
              </p:cNvPr>
              <p:cNvGrpSpPr/>
              <p:nvPr/>
            </p:nvGrpSpPr>
            <p:grpSpPr>
              <a:xfrm>
                <a:off x="2722207" y="776179"/>
                <a:ext cx="1872069" cy="418809"/>
                <a:chOff x="2722207" y="776179"/>
                <a:chExt cx="1872069" cy="418809"/>
              </a:xfrm>
            </p:grpSpPr>
            <p:sp>
              <p:nvSpPr>
                <p:cNvPr id="56" name="矩形 55">
                  <a:extLst>
                    <a:ext uri="{FF2B5EF4-FFF2-40B4-BE49-F238E27FC236}">
                      <a16:creationId xmlns:a16="http://schemas.microsoft.com/office/drawing/2014/main" id="{3DA4A50A-550C-4034-931A-20941318A15D}"/>
                    </a:ext>
                  </a:extLst>
                </p:cNvPr>
                <p:cNvSpPr/>
                <p:nvPr/>
              </p:nvSpPr>
              <p:spPr>
                <a:xfrm>
                  <a:off x="4297182" y="776179"/>
                  <a:ext cx="297094" cy="418809"/>
                </a:xfrm>
                <a:prstGeom prst="rect">
                  <a:avLst/>
                </a:prstGeom>
              </p:spPr>
              <p:txBody>
                <a:bodyPr wrap="none">
                  <a:spAutoFit/>
                </a:bodyPr>
                <a:lstStyle/>
                <a:p>
                  <a:r>
                    <a:rPr kumimoji="1" lang="en-US" altLang="zh-CN" sz="1400"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sz="1400" dirty="0"/>
                </a:p>
              </p:txBody>
            </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F6D65D1F-8A86-420D-84A7-758EBD3B9432}"/>
                        </a:ext>
                      </a:extLst>
                    </p:cNvPr>
                    <p:cNvSpPr txBox="1"/>
                    <p:nvPr/>
                  </p:nvSpPr>
                  <p:spPr>
                    <a:xfrm>
                      <a:off x="2722207" y="845576"/>
                      <a:ext cx="266118" cy="2864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i="1" smtClean="0">
                                <a:solidFill>
                                  <a:srgbClr val="1F4B70"/>
                                </a:solidFill>
                                <a:latin typeface="Cambria Math" panose="02040503050406030204" pitchFamily="18" charset="0"/>
                                <a:ea typeface="微软雅黑" panose="020B0503020204020204" pitchFamily="34" charset="-122"/>
                              </a:rPr>
                              <m:t>𝑆</m:t>
                            </m:r>
                            <m:r>
                              <a:rPr lang="en-US" altLang="zh-CN" sz="1400" b="0" i="1" baseline="30000" smtClean="0">
                                <a:solidFill>
                                  <a:srgbClr val="1F4B70"/>
                                </a:solidFill>
                                <a:latin typeface="Cambria Math" panose="02040503050406030204" pitchFamily="18" charset="0"/>
                                <a:ea typeface="微软雅黑" panose="020B0503020204020204" pitchFamily="34" charset="-122"/>
                              </a:rPr>
                              <m:t>2</m:t>
                            </m:r>
                          </m:oMath>
                        </m:oMathPara>
                      </a14:m>
                      <a:endParaRPr lang="zh-CN" altLang="en-US" sz="1400" baseline="300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58" name="文本框 57">
                      <a:extLst>
                        <a:ext uri="{FF2B5EF4-FFF2-40B4-BE49-F238E27FC236}">
                          <a16:creationId xmlns:a16="http://schemas.microsoft.com/office/drawing/2014/main" id="{F6D65D1F-8A86-420D-84A7-758EBD3B9432}"/>
                        </a:ext>
                      </a:extLst>
                    </p:cNvPr>
                    <p:cNvSpPr txBox="1">
                      <a:spLocks noRot="1" noChangeAspect="1" noMove="1" noResize="1" noEditPoints="1" noAdjustHandles="1" noChangeArrowheads="1" noChangeShapeType="1" noTextEdit="1"/>
                    </p:cNvSpPr>
                    <p:nvPr/>
                  </p:nvSpPr>
                  <p:spPr>
                    <a:xfrm>
                      <a:off x="2722207" y="845576"/>
                      <a:ext cx="266118" cy="286449"/>
                    </a:xfrm>
                    <a:prstGeom prst="rect">
                      <a:avLst/>
                    </a:prstGeom>
                    <a:blipFill>
                      <a:blip r:embed="rId7"/>
                      <a:stretch>
                        <a:fillRect l="-21875" r="-12500" b="-11765"/>
                      </a:stretch>
                    </a:blipFill>
                  </p:spPr>
                  <p:txBody>
                    <a:bodyPr/>
                    <a:lstStyle/>
                    <a:p>
                      <a:r>
                        <a:rPr lang="zh-CN" altLang="en-US">
                          <a:noFill/>
                        </a:rPr>
                        <a:t> </a:t>
                      </a:r>
                    </a:p>
                  </p:txBody>
                </p:sp>
              </mc:Fallback>
            </mc:AlternateContent>
          </p:grpSp>
        </p:grpSp>
        <p:grpSp>
          <p:nvGrpSpPr>
            <p:cNvPr id="14" name="组合 13">
              <a:extLst>
                <a:ext uri="{FF2B5EF4-FFF2-40B4-BE49-F238E27FC236}">
                  <a16:creationId xmlns:a16="http://schemas.microsoft.com/office/drawing/2014/main" id="{AA34842E-E839-442A-973C-143462035272}"/>
                </a:ext>
              </a:extLst>
            </p:cNvPr>
            <p:cNvGrpSpPr/>
            <p:nvPr/>
          </p:nvGrpSpPr>
          <p:grpSpPr>
            <a:xfrm>
              <a:off x="4322129" y="703528"/>
              <a:ext cx="2028631" cy="550733"/>
              <a:chOff x="4322129" y="703528"/>
              <a:chExt cx="2028631" cy="550733"/>
            </a:xfrm>
          </p:grpSpPr>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BB7BF7D9-2B79-4934-976D-045A4B7C5BF6}"/>
                      </a:ext>
                    </a:extLst>
                  </p:cNvPr>
                  <p:cNvSpPr txBox="1"/>
                  <p:nvPr/>
                </p:nvSpPr>
                <p:spPr>
                  <a:xfrm>
                    <a:off x="5845419" y="711623"/>
                    <a:ext cx="234969" cy="3956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400" i="1" smtClean="0">
                                  <a:solidFill>
                                    <a:srgbClr val="1F4B70"/>
                                  </a:solidFill>
                                  <a:latin typeface="Cambria Math" panose="02040503050406030204" pitchFamily="18" charset="0"/>
                                  <a:ea typeface="微软雅黑" panose="020B0503020204020204" pitchFamily="34" charset="-122"/>
                                </a:rPr>
                              </m:ctrlPr>
                            </m:fPr>
                            <m:num>
                              <m:r>
                                <a:rPr lang="en-US" altLang="zh-CN" sz="1400" b="0" i="1" smtClean="0">
                                  <a:solidFill>
                                    <a:srgbClr val="1F4B70"/>
                                  </a:solidFill>
                                  <a:latin typeface="Cambria Math" panose="02040503050406030204" pitchFamily="18" charset="0"/>
                                  <a:ea typeface="微软雅黑" panose="020B0503020204020204" pitchFamily="34" charset="-122"/>
                                </a:rPr>
                                <m:t> </m:t>
                              </m:r>
                            </m:num>
                            <m:den>
                              <m:r>
                                <a:rPr lang="en-US" altLang="zh-CN" sz="1400" b="0" i="1" smtClean="0">
                                  <a:solidFill>
                                    <a:srgbClr val="1F4B70"/>
                                  </a:solidFill>
                                  <a:latin typeface="Cambria Math" panose="02040503050406030204" pitchFamily="18" charset="0"/>
                                  <a:ea typeface="微软雅黑" panose="020B0503020204020204" pitchFamily="34" charset="-122"/>
                                </a:rPr>
                                <m:t>𝑋</m:t>
                              </m:r>
                            </m:den>
                          </m:f>
                        </m:oMath>
                      </m:oMathPara>
                    </a14:m>
                    <a:endParaRPr lang="zh-CN" altLang="en-US" sz="14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59" name="文本框 58">
                    <a:extLst>
                      <a:ext uri="{FF2B5EF4-FFF2-40B4-BE49-F238E27FC236}">
                        <a16:creationId xmlns:a16="http://schemas.microsoft.com/office/drawing/2014/main" id="{BB7BF7D9-2B79-4934-976D-045A4B7C5BF6}"/>
                      </a:ext>
                    </a:extLst>
                  </p:cNvPr>
                  <p:cNvSpPr txBox="1">
                    <a:spLocks noRot="1" noChangeAspect="1" noMove="1" noResize="1" noEditPoints="1" noAdjustHandles="1" noChangeArrowheads="1" noChangeShapeType="1" noTextEdit="1"/>
                  </p:cNvSpPr>
                  <p:nvPr/>
                </p:nvSpPr>
                <p:spPr>
                  <a:xfrm>
                    <a:off x="5845419" y="711623"/>
                    <a:ext cx="234969" cy="395600"/>
                  </a:xfrm>
                  <a:prstGeom prst="rect">
                    <a:avLst/>
                  </a:prstGeom>
                  <a:blipFill>
                    <a:blip r:embed="rId5"/>
                    <a:stretch>
                      <a:fillRect l="-20690" r="-13793" b="-18750"/>
                    </a:stretch>
                  </a:blipFill>
                </p:spPr>
                <p:txBody>
                  <a:bodyPr/>
                  <a:lstStyle/>
                  <a:p>
                    <a:r>
                      <a:rPr lang="zh-CN" altLang="en-US">
                        <a:noFill/>
                      </a:rPr>
                      <a:t> </a:t>
                    </a:r>
                  </a:p>
                </p:txBody>
              </p:sp>
            </mc:Fallback>
          </mc:AlternateContent>
          <p:sp>
            <p:nvSpPr>
              <p:cNvPr id="60" name="矩形 59">
                <a:extLst>
                  <a:ext uri="{FF2B5EF4-FFF2-40B4-BE49-F238E27FC236}">
                    <a16:creationId xmlns:a16="http://schemas.microsoft.com/office/drawing/2014/main" id="{E09EB09E-BF6A-4825-A3C3-24B2DF30401C}"/>
                  </a:ext>
                </a:extLst>
              </p:cNvPr>
              <p:cNvSpPr/>
              <p:nvPr/>
            </p:nvSpPr>
            <p:spPr>
              <a:xfrm>
                <a:off x="6018765" y="811810"/>
                <a:ext cx="331995" cy="321087"/>
              </a:xfrm>
              <a:prstGeom prst="rect">
                <a:avLst/>
              </a:prstGeom>
            </p:spPr>
            <p:txBody>
              <a:bodyPr wrap="none">
                <a:spAutoFit/>
              </a:bodyPr>
              <a:lstStyle/>
              <a:p>
                <a:r>
                  <a:rPr kumimoji="1" lang="en-US" altLang="zh-CN" sz="14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baseline="30000"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C44237F-0371-412B-84C3-46C994848802}"/>
                      </a:ext>
                    </a:extLst>
                  </p:cNvPr>
                  <p:cNvSpPr txBox="1"/>
                  <p:nvPr/>
                </p:nvSpPr>
                <p:spPr>
                  <a:xfrm>
                    <a:off x="4322129" y="703528"/>
                    <a:ext cx="642785" cy="5507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400" i="1" smtClean="0">
                                  <a:solidFill>
                                    <a:srgbClr val="1F4B70"/>
                                  </a:solidFill>
                                  <a:latin typeface="Cambria Math" panose="02040503050406030204" pitchFamily="18" charset="0"/>
                                  <a:ea typeface="微软雅黑" panose="020B0503020204020204" pitchFamily="34" charset="-122"/>
                                </a:rPr>
                              </m:ctrlPr>
                            </m:fPr>
                            <m:num>
                              <m:r>
                                <a:rPr lang="en-US" altLang="zh-CN" sz="1400" b="0" i="1" smtClean="0">
                                  <a:solidFill>
                                    <a:srgbClr val="1F4B70"/>
                                  </a:solidFill>
                                  <a:latin typeface="Cambria Math" panose="02040503050406030204" pitchFamily="18" charset="0"/>
                                  <a:ea typeface="微软雅黑" panose="020B0503020204020204" pitchFamily="34" charset="-122"/>
                                </a:rPr>
                                <m:t>1</m:t>
                              </m:r>
                            </m:num>
                            <m:den>
                              <m:r>
                                <a:rPr lang="en-US" altLang="zh-CN" sz="1400" b="0" i="1" smtClean="0">
                                  <a:solidFill>
                                    <a:srgbClr val="1F4B70"/>
                                  </a:solidFill>
                                  <a:latin typeface="Cambria Math" panose="02040503050406030204" pitchFamily="18" charset="0"/>
                                  <a:ea typeface="微软雅黑" panose="020B0503020204020204" pitchFamily="34" charset="-122"/>
                                </a:rPr>
                                <m:t>𝑛</m:t>
                              </m:r>
                              <m:r>
                                <a:rPr lang="en-US" altLang="zh-CN" sz="1400" b="0" i="1" smtClean="0">
                                  <a:solidFill>
                                    <a:srgbClr val="1F4B70"/>
                                  </a:solidFill>
                                  <a:latin typeface="Cambria Math" panose="02040503050406030204" pitchFamily="18" charset="0"/>
                                  <a:ea typeface="微软雅黑" panose="020B0503020204020204" pitchFamily="34" charset="-122"/>
                                </a:rPr>
                                <m:t>−1</m:t>
                              </m:r>
                            </m:den>
                          </m:f>
                        </m:oMath>
                      </m:oMathPara>
                    </a14:m>
                    <a:endParaRPr lang="zh-CN" altLang="en-US" sz="14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13" name="文本框 12">
                    <a:extLst>
                      <a:ext uri="{FF2B5EF4-FFF2-40B4-BE49-F238E27FC236}">
                        <a16:creationId xmlns:a16="http://schemas.microsoft.com/office/drawing/2014/main" id="{1C44237F-0371-412B-84C3-46C994848802}"/>
                      </a:ext>
                    </a:extLst>
                  </p:cNvPr>
                  <p:cNvSpPr txBox="1">
                    <a:spLocks noRot="1" noChangeAspect="1" noMove="1" noResize="1" noEditPoints="1" noAdjustHandles="1" noChangeArrowheads="1" noChangeShapeType="1" noTextEdit="1"/>
                  </p:cNvSpPr>
                  <p:nvPr/>
                </p:nvSpPr>
                <p:spPr>
                  <a:xfrm>
                    <a:off x="4322129" y="703528"/>
                    <a:ext cx="642785" cy="550733"/>
                  </a:xfrm>
                  <a:prstGeom prst="rect">
                    <a:avLst/>
                  </a:prstGeom>
                  <a:blipFill>
                    <a:blip r:embed="rId8"/>
                    <a:stretch>
                      <a:fillRect l="-3896" r="-7792" b="-13636"/>
                    </a:stretch>
                  </a:blipFill>
                </p:spPr>
                <p:txBody>
                  <a:bodyPr/>
                  <a:lstStyle/>
                  <a:p>
                    <a:r>
                      <a:rPr lang="zh-CN" altLang="en-US">
                        <a:noFill/>
                      </a:rPr>
                      <a:t> </a:t>
                    </a:r>
                  </a:p>
                </p:txBody>
              </p:sp>
            </mc:Fallback>
          </mc:AlternateContent>
        </p:grpSp>
      </p:grpSp>
      <p:grpSp>
        <p:nvGrpSpPr>
          <p:cNvPr id="16" name="组合 15">
            <a:extLst>
              <a:ext uri="{FF2B5EF4-FFF2-40B4-BE49-F238E27FC236}">
                <a16:creationId xmlns:a16="http://schemas.microsoft.com/office/drawing/2014/main" id="{FE77937A-A9A5-4C60-BF2A-6DFA3A9CC62A}"/>
              </a:ext>
            </a:extLst>
          </p:cNvPr>
          <p:cNvGrpSpPr/>
          <p:nvPr/>
        </p:nvGrpSpPr>
        <p:grpSpPr>
          <a:xfrm>
            <a:off x="4932040" y="1707352"/>
            <a:ext cx="1045382" cy="588174"/>
            <a:chOff x="6483406" y="639010"/>
            <a:chExt cx="1045382" cy="588174"/>
          </a:xfrm>
        </p:grpSpPr>
        <p:grpSp>
          <p:nvGrpSpPr>
            <p:cNvPr id="64" name="组合 63">
              <a:extLst>
                <a:ext uri="{FF2B5EF4-FFF2-40B4-BE49-F238E27FC236}">
                  <a16:creationId xmlns:a16="http://schemas.microsoft.com/office/drawing/2014/main" id="{28A00CAA-0931-4EBA-AB12-67CF3373C0A5}"/>
                </a:ext>
              </a:extLst>
            </p:cNvPr>
            <p:cNvGrpSpPr/>
            <p:nvPr/>
          </p:nvGrpSpPr>
          <p:grpSpPr>
            <a:xfrm>
              <a:off x="6483406" y="639010"/>
              <a:ext cx="1032558" cy="588174"/>
              <a:chOff x="2722207" y="615657"/>
              <a:chExt cx="1032558" cy="588174"/>
            </a:xfrm>
          </p:grpSpPr>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836507DB-6629-45A7-AAD7-EB223C2E385F}"/>
                      </a:ext>
                    </a:extLst>
                  </p:cNvPr>
                  <p:cNvSpPr txBox="1"/>
                  <p:nvPr/>
                </p:nvSpPr>
                <p:spPr>
                  <a:xfrm>
                    <a:off x="2915816" y="615657"/>
                    <a:ext cx="705321" cy="588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  </m:t>
                          </m:r>
                          <m:nary>
                            <m:naryPr>
                              <m:chr m:val="∑"/>
                              <m:ctrlPr>
                                <a:rPr lang="pt-BR" altLang="zh-CN" sz="1400" i="1" smtClean="0">
                                  <a:solidFill>
                                    <a:srgbClr val="1F4B70"/>
                                  </a:solidFill>
                                  <a:latin typeface="Cambria Math" panose="02040503050406030204" pitchFamily="18" charset="0"/>
                                  <a:ea typeface="微软雅黑" panose="020B0503020204020204" pitchFamily="34" charset="-122"/>
                                </a:rPr>
                              </m:ctrlPr>
                            </m:naryPr>
                            <m:sub>
                              <m:r>
                                <a:rPr lang="en-US" altLang="zh-CN" sz="1400" b="0" i="1" smtClean="0">
                                  <a:solidFill>
                                    <a:srgbClr val="1F4B70"/>
                                  </a:solidFill>
                                  <a:latin typeface="Cambria Math" panose="02040503050406030204" pitchFamily="18" charset="0"/>
                                  <a:ea typeface="微软雅黑" panose="020B0503020204020204" pitchFamily="34" charset="-122"/>
                                </a:rPr>
                                <m:t>𝑖</m:t>
                              </m:r>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1</m:t>
                              </m:r>
                            </m:sub>
                            <m:sup>
                              <m:r>
                                <a:rPr lang="pt-BR" altLang="zh-CN" sz="1400" i="1" smtClean="0">
                                  <a:solidFill>
                                    <a:srgbClr val="1F4B70"/>
                                  </a:solidFill>
                                  <a:latin typeface="Cambria Math" panose="02040503050406030204" pitchFamily="18" charset="0"/>
                                  <a:ea typeface="微软雅黑" panose="020B0503020204020204" pitchFamily="34" charset="-122"/>
                                </a:rPr>
                                <m:t>𝑛</m:t>
                              </m:r>
                            </m:sup>
                            <m:e>
                              <m:r>
                                <a:rPr lang="en-US" altLang="zh-CN" sz="1400" b="0" i="1" smtClean="0">
                                  <a:solidFill>
                                    <a:srgbClr val="1F4B70"/>
                                  </a:solidFill>
                                  <a:latin typeface="Cambria Math" panose="02040503050406030204" pitchFamily="18" charset="0"/>
                                  <a:ea typeface="微软雅黑" panose="020B0503020204020204" pitchFamily="34" charset="-122"/>
                                </a:rPr>
                                <m:t>𝑋</m:t>
                              </m:r>
                            </m:e>
                          </m:nary>
                        </m:oMath>
                      </m:oMathPara>
                    </a14:m>
                    <a:endParaRPr lang="zh-CN" altLang="en-US" sz="1400" dirty="0">
                      <a:solidFill>
                        <a:srgbClr val="034EA2"/>
                      </a:solidFill>
                      <a:latin typeface="微软雅黑" panose="020B0503020204020204" pitchFamily="34" charset="-122"/>
                      <a:ea typeface="微软雅黑" panose="020B0503020204020204" pitchFamily="34" charset="-122"/>
                    </a:endParaRPr>
                  </a:p>
                </p:txBody>
              </p:sp>
            </mc:Choice>
            <mc:Fallback xmlns="">
              <p:sp>
                <p:nvSpPr>
                  <p:cNvPr id="65" name="文本框 64">
                    <a:extLst>
                      <a:ext uri="{FF2B5EF4-FFF2-40B4-BE49-F238E27FC236}">
                        <a16:creationId xmlns:a16="http://schemas.microsoft.com/office/drawing/2014/main" id="{836507DB-6629-45A7-AAD7-EB223C2E385F}"/>
                      </a:ext>
                    </a:extLst>
                  </p:cNvPr>
                  <p:cNvSpPr txBox="1">
                    <a:spLocks noRot="1" noChangeAspect="1" noMove="1" noResize="1" noEditPoints="1" noAdjustHandles="1" noChangeArrowheads="1" noChangeShapeType="1" noTextEdit="1"/>
                  </p:cNvSpPr>
                  <p:nvPr/>
                </p:nvSpPr>
                <p:spPr>
                  <a:xfrm>
                    <a:off x="2915816" y="615657"/>
                    <a:ext cx="705321" cy="588174"/>
                  </a:xfrm>
                  <a:prstGeom prst="rect">
                    <a:avLst/>
                  </a:prstGeom>
                  <a:blipFill>
                    <a:blip r:embed="rId9"/>
                    <a:stretch>
                      <a:fillRect/>
                    </a:stretch>
                  </a:blipFill>
                </p:spPr>
                <p:txBody>
                  <a:bodyPr/>
                  <a:lstStyle/>
                  <a:p>
                    <a:r>
                      <a:rPr lang="zh-CN" altLang="en-US">
                        <a:noFill/>
                      </a:rPr>
                      <a:t> </a:t>
                    </a:r>
                  </a:p>
                </p:txBody>
              </p:sp>
            </mc:Fallback>
          </mc:AlternateContent>
          <p:grpSp>
            <p:nvGrpSpPr>
              <p:cNvPr id="66" name="组合 65">
                <a:extLst>
                  <a:ext uri="{FF2B5EF4-FFF2-40B4-BE49-F238E27FC236}">
                    <a16:creationId xmlns:a16="http://schemas.microsoft.com/office/drawing/2014/main" id="{591B0585-1FE9-4497-A0B4-2EED5D9F0183}"/>
                  </a:ext>
                </a:extLst>
              </p:cNvPr>
              <p:cNvGrpSpPr/>
              <p:nvPr/>
            </p:nvGrpSpPr>
            <p:grpSpPr>
              <a:xfrm>
                <a:off x="2722207" y="754674"/>
                <a:ext cx="1032558" cy="360676"/>
                <a:chOff x="2722207" y="754674"/>
                <a:chExt cx="1032558" cy="360676"/>
              </a:xfrm>
            </p:grpSpPr>
            <p:sp>
              <p:nvSpPr>
                <p:cNvPr id="67" name="矩形 66">
                  <a:extLst>
                    <a:ext uri="{FF2B5EF4-FFF2-40B4-BE49-F238E27FC236}">
                      <a16:creationId xmlns:a16="http://schemas.microsoft.com/office/drawing/2014/main" id="{B17621B9-24D2-4AF7-9EE3-3B749F37DBDD}"/>
                    </a:ext>
                  </a:extLst>
                </p:cNvPr>
                <p:cNvSpPr/>
                <p:nvPr/>
              </p:nvSpPr>
              <p:spPr>
                <a:xfrm>
                  <a:off x="3536435" y="769900"/>
                  <a:ext cx="218330" cy="307777"/>
                </a:xfrm>
                <a:prstGeom prst="rect">
                  <a:avLst/>
                </a:prstGeom>
              </p:spPr>
              <p:txBody>
                <a:bodyPr wrap="none">
                  <a:spAutoFit/>
                </a:bodyPr>
                <a:lstStyle/>
                <a:p>
                  <a:r>
                    <a:rPr kumimoji="1" lang="en-US" altLang="zh-CN" sz="14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sz="1400" i="1" dirty="0"/>
                </a:p>
              </p:txBody>
            </p:sp>
            <p:sp>
              <p:nvSpPr>
                <p:cNvPr id="68" name="Text Box 27">
                  <a:extLst>
                    <a:ext uri="{FF2B5EF4-FFF2-40B4-BE49-F238E27FC236}">
                      <a16:creationId xmlns:a16="http://schemas.microsoft.com/office/drawing/2014/main" id="{393B09DA-70E6-4135-90E2-FAC113F3076E}"/>
                    </a:ext>
                  </a:extLst>
                </p:cNvPr>
                <p:cNvSpPr txBox="1">
                  <a:spLocks noChangeArrowheads="1"/>
                </p:cNvSpPr>
                <p:nvPr/>
              </p:nvSpPr>
              <p:spPr bwMode="auto">
                <a:xfrm>
                  <a:off x="3021183" y="754674"/>
                  <a:ext cx="257761" cy="360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lnSpc>
                      <a:spcPct val="60000"/>
                    </a:lnSpc>
                  </a:pPr>
                  <a:r>
                    <a:rPr kumimoji="1" lang="en-US" altLang="zh-CN" sz="1400" u="sng" dirty="0">
                      <a:solidFill>
                        <a:srgbClr val="1F4B70"/>
                      </a:solidFill>
                      <a:latin typeface="Times New Roman" panose="02020603050405020304" pitchFamily="18" charset="0"/>
                    </a:rPr>
                    <a:t>1</a:t>
                  </a:r>
                </a:p>
                <a:p>
                  <a:pPr eaLnBrk="1" hangingPunct="1">
                    <a:lnSpc>
                      <a:spcPct val="60000"/>
                    </a:lnSpc>
                  </a:pPr>
                  <a:r>
                    <a:rPr kumimoji="1" lang="en-US" altLang="zh-CN" sz="1400" i="1" dirty="0">
                      <a:solidFill>
                        <a:srgbClr val="1F4B70"/>
                      </a:solidFill>
                      <a:latin typeface="Times New Roman" panose="02020603050405020304" pitchFamily="18" charset="0"/>
                    </a:rPr>
                    <a:t>n</a:t>
                  </a:r>
                </a:p>
              </p:txBody>
            </p:sp>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99C5C18E-02E2-474B-A4E6-D15CF64DAA1D}"/>
                        </a:ext>
                      </a:extLst>
                    </p:cNvPr>
                    <p:cNvSpPr txBox="1"/>
                    <p:nvPr/>
                  </p:nvSpPr>
                  <p:spPr>
                    <a:xfrm>
                      <a:off x="2722207" y="804490"/>
                      <a:ext cx="220060"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rgbClr val="1F4B70"/>
                                </a:solidFill>
                                <a:latin typeface="Cambria Math" panose="02040503050406030204" pitchFamily="18" charset="0"/>
                                <a:ea typeface="微软雅黑" panose="020B0503020204020204" pitchFamily="34" charset="-122"/>
                              </a:rPr>
                              <m:t>𝐴</m:t>
                            </m:r>
                            <m:r>
                              <a:rPr lang="en-US" altLang="zh-CN" sz="1400" i="1" baseline="-25000" smtClean="0">
                                <a:solidFill>
                                  <a:srgbClr val="1F4B70"/>
                                </a:solidFill>
                                <a:latin typeface="Cambria Math" panose="02040503050406030204" pitchFamily="18" charset="0"/>
                                <a:ea typeface="微软雅黑" panose="020B0503020204020204" pitchFamily="34" charset="-122"/>
                              </a:rPr>
                              <m:t>𝑘</m:t>
                            </m:r>
                          </m:oMath>
                        </m:oMathPara>
                      </a14:m>
                      <a:endParaRPr lang="zh-CN" altLang="en-US" sz="1400" baseline="-250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69" name="文本框 68">
                      <a:extLst>
                        <a:ext uri="{FF2B5EF4-FFF2-40B4-BE49-F238E27FC236}">
                          <a16:creationId xmlns:a16="http://schemas.microsoft.com/office/drawing/2014/main" id="{99C5C18E-02E2-474B-A4E6-D15CF64DAA1D}"/>
                        </a:ext>
                      </a:extLst>
                    </p:cNvPr>
                    <p:cNvSpPr txBox="1">
                      <a:spLocks noRot="1" noChangeAspect="1" noMove="1" noResize="1" noEditPoints="1" noAdjustHandles="1" noChangeArrowheads="1" noChangeShapeType="1" noTextEdit="1"/>
                    </p:cNvSpPr>
                    <p:nvPr/>
                  </p:nvSpPr>
                  <p:spPr>
                    <a:xfrm>
                      <a:off x="2722207" y="804490"/>
                      <a:ext cx="220060" cy="210507"/>
                    </a:xfrm>
                    <a:prstGeom prst="rect">
                      <a:avLst/>
                    </a:prstGeom>
                    <a:blipFill>
                      <a:blip r:embed="rId10"/>
                      <a:stretch>
                        <a:fillRect l="-19444" r="-5556" b="-17143"/>
                      </a:stretch>
                    </a:blipFill>
                  </p:spPr>
                  <p:txBody>
                    <a:bodyPr/>
                    <a:lstStyle/>
                    <a:p>
                      <a:r>
                        <a:rPr lang="zh-CN" altLang="en-US">
                          <a:noFill/>
                        </a:rPr>
                        <a:t> </a:t>
                      </a:r>
                    </a:p>
                  </p:txBody>
                </p:sp>
              </mc:Fallback>
            </mc:AlternateContent>
          </p:grpSp>
        </p:grpSp>
        <p:sp>
          <p:nvSpPr>
            <p:cNvPr id="70" name="矩形 69">
              <a:extLst>
                <a:ext uri="{FF2B5EF4-FFF2-40B4-BE49-F238E27FC236}">
                  <a16:creationId xmlns:a16="http://schemas.microsoft.com/office/drawing/2014/main" id="{227E38A7-555A-4FE6-A0D1-6F0267298DAB}"/>
                </a:ext>
              </a:extLst>
            </p:cNvPr>
            <p:cNvSpPr/>
            <p:nvPr/>
          </p:nvSpPr>
          <p:spPr>
            <a:xfrm>
              <a:off x="7284810" y="799532"/>
              <a:ext cx="243978" cy="235962"/>
            </a:xfrm>
            <a:prstGeom prst="rect">
              <a:avLst/>
            </a:prstGeom>
          </p:spPr>
          <p:txBody>
            <a:bodyPr wrap="none">
              <a:spAutoFit/>
            </a:bodyPr>
            <a:lstStyle/>
            <a:p>
              <a:r>
                <a:rPr kumimoji="1" lang="en-US" altLang="zh-CN" sz="1400" i="1"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k</a:t>
              </a:r>
              <a:endParaRPr lang="zh-CN" altLang="en-US" sz="1400" i="1" baseline="30000" dirty="0"/>
            </a:p>
          </p:txBody>
        </p:sp>
      </p:grpSp>
      <p:grpSp>
        <p:nvGrpSpPr>
          <p:cNvPr id="82" name="组合 81">
            <a:extLst>
              <a:ext uri="{FF2B5EF4-FFF2-40B4-BE49-F238E27FC236}">
                <a16:creationId xmlns:a16="http://schemas.microsoft.com/office/drawing/2014/main" id="{97B95CF0-9F3D-45FA-B877-F35537783295}"/>
              </a:ext>
            </a:extLst>
          </p:cNvPr>
          <p:cNvGrpSpPr/>
          <p:nvPr/>
        </p:nvGrpSpPr>
        <p:grpSpPr>
          <a:xfrm>
            <a:off x="6535453" y="1695643"/>
            <a:ext cx="1497472" cy="588174"/>
            <a:chOff x="3908424" y="613638"/>
            <a:chExt cx="1497472" cy="588174"/>
          </a:xfrm>
        </p:grpSpPr>
        <p:grpSp>
          <p:nvGrpSpPr>
            <p:cNvPr id="83" name="组合 82">
              <a:extLst>
                <a:ext uri="{FF2B5EF4-FFF2-40B4-BE49-F238E27FC236}">
                  <a16:creationId xmlns:a16="http://schemas.microsoft.com/office/drawing/2014/main" id="{F3663403-4F82-4444-B179-51A8D7B7F763}"/>
                </a:ext>
              </a:extLst>
            </p:cNvPr>
            <p:cNvGrpSpPr/>
            <p:nvPr/>
          </p:nvGrpSpPr>
          <p:grpSpPr>
            <a:xfrm>
              <a:off x="3908424" y="613638"/>
              <a:ext cx="1381434" cy="588174"/>
              <a:chOff x="2722207" y="615657"/>
              <a:chExt cx="1381434" cy="588174"/>
            </a:xfrm>
          </p:grpSpPr>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A2F153F6-08C2-437C-8043-DAD8A06BAABD}"/>
                      </a:ext>
                    </a:extLst>
                  </p:cNvPr>
                  <p:cNvSpPr txBox="1"/>
                  <p:nvPr/>
                </p:nvSpPr>
                <p:spPr>
                  <a:xfrm>
                    <a:off x="2915816" y="615657"/>
                    <a:ext cx="1187825" cy="588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   </m:t>
                          </m:r>
                          <m:nary>
                            <m:naryPr>
                              <m:chr m:val="∑"/>
                              <m:ctrlPr>
                                <a:rPr lang="pt-BR" altLang="zh-CN" sz="1400" i="1" smtClean="0">
                                  <a:solidFill>
                                    <a:srgbClr val="1F4B70"/>
                                  </a:solidFill>
                                  <a:latin typeface="Cambria Math" panose="02040503050406030204" pitchFamily="18" charset="0"/>
                                  <a:ea typeface="微软雅黑" panose="020B0503020204020204" pitchFamily="34" charset="-122"/>
                                </a:rPr>
                              </m:ctrlPr>
                            </m:naryPr>
                            <m:sub>
                              <m:r>
                                <a:rPr lang="en-US" altLang="zh-CN" sz="1400" b="0" i="1" smtClean="0">
                                  <a:solidFill>
                                    <a:srgbClr val="1F4B70"/>
                                  </a:solidFill>
                                  <a:latin typeface="Cambria Math" panose="02040503050406030204" pitchFamily="18" charset="0"/>
                                  <a:ea typeface="微软雅黑" panose="020B0503020204020204" pitchFamily="34" charset="-122"/>
                                </a:rPr>
                                <m:t>𝑖</m:t>
                              </m:r>
                              <m:r>
                                <a:rPr lang="pt-BR" altLang="zh-CN" sz="140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1</m:t>
                              </m:r>
                            </m:sub>
                            <m:sup>
                              <m:r>
                                <a:rPr lang="pt-BR" altLang="zh-CN" sz="1400" i="1" smtClean="0">
                                  <a:solidFill>
                                    <a:srgbClr val="1F4B70"/>
                                  </a:solidFill>
                                  <a:latin typeface="Cambria Math" panose="02040503050406030204" pitchFamily="18" charset="0"/>
                                  <a:ea typeface="微软雅黑" panose="020B0503020204020204" pitchFamily="34" charset="-122"/>
                                </a:rPr>
                                <m:t>𝑛</m:t>
                              </m:r>
                            </m:sup>
                            <m:e>
                              <m:r>
                                <a:rPr lang="en-US" altLang="zh-CN" sz="1400" b="0" i="1" smtClean="0">
                                  <a:solidFill>
                                    <a:srgbClr val="1F4B70"/>
                                  </a:solidFill>
                                  <a:latin typeface="Cambria Math" panose="02040503050406030204" pitchFamily="18" charset="0"/>
                                  <a:ea typeface="微软雅黑" panose="020B0503020204020204" pitchFamily="34" charset="-122"/>
                                </a:rPr>
                                <m:t>(</m:t>
                              </m:r>
                              <m:r>
                                <a:rPr lang="en-US" altLang="zh-CN" sz="1400" b="0" i="1" smtClean="0">
                                  <a:solidFill>
                                    <a:srgbClr val="1F4B70"/>
                                  </a:solidFill>
                                  <a:latin typeface="Cambria Math" panose="02040503050406030204" pitchFamily="18" charset="0"/>
                                  <a:ea typeface="微软雅黑" panose="020B0503020204020204" pitchFamily="34" charset="-122"/>
                                </a:rPr>
                                <m:t>𝑋</m:t>
                              </m:r>
                            </m:e>
                          </m:nary>
                          <m:r>
                            <a:rPr lang="en-US" altLang="zh-CN" sz="1400" b="0" i="1" smtClean="0">
                              <a:solidFill>
                                <a:srgbClr val="1F4B70"/>
                              </a:solidFill>
                              <a:latin typeface="Cambria Math" panose="02040503050406030204" pitchFamily="18" charset="0"/>
                              <a:ea typeface="微软雅黑" panose="020B0503020204020204" pitchFamily="34" charset="-122"/>
                            </a:rPr>
                            <m:t>−    )</m:t>
                          </m:r>
                        </m:oMath>
                      </m:oMathPara>
                    </a14:m>
                    <a:endParaRPr lang="zh-CN" altLang="en-US" sz="1400" dirty="0">
                      <a:solidFill>
                        <a:srgbClr val="034EA2"/>
                      </a:solidFill>
                      <a:latin typeface="微软雅黑" panose="020B0503020204020204" pitchFamily="34" charset="-122"/>
                      <a:ea typeface="微软雅黑" panose="020B0503020204020204" pitchFamily="34" charset="-122"/>
                    </a:endParaRPr>
                  </a:p>
                </p:txBody>
              </p:sp>
            </mc:Choice>
            <mc:Fallback xmlns="">
              <p:sp>
                <p:nvSpPr>
                  <p:cNvPr id="88" name="文本框 87">
                    <a:extLst>
                      <a:ext uri="{FF2B5EF4-FFF2-40B4-BE49-F238E27FC236}">
                        <a16:creationId xmlns:a16="http://schemas.microsoft.com/office/drawing/2014/main" id="{A2F153F6-08C2-437C-8043-DAD8A06BAABD}"/>
                      </a:ext>
                    </a:extLst>
                  </p:cNvPr>
                  <p:cNvSpPr txBox="1">
                    <a:spLocks noRot="1" noChangeAspect="1" noMove="1" noResize="1" noEditPoints="1" noAdjustHandles="1" noChangeArrowheads="1" noChangeShapeType="1" noTextEdit="1"/>
                  </p:cNvSpPr>
                  <p:nvPr/>
                </p:nvSpPr>
                <p:spPr>
                  <a:xfrm>
                    <a:off x="2915816" y="615657"/>
                    <a:ext cx="1187825" cy="588174"/>
                  </a:xfrm>
                  <a:prstGeom prst="rect">
                    <a:avLst/>
                  </a:prstGeom>
                  <a:blipFill>
                    <a:blip r:embed="rId11"/>
                    <a:stretch>
                      <a:fillRect/>
                    </a:stretch>
                  </a:blipFill>
                </p:spPr>
                <p:txBody>
                  <a:bodyPr/>
                  <a:lstStyle/>
                  <a:p>
                    <a:r>
                      <a:rPr lang="zh-CN" altLang="en-US">
                        <a:noFill/>
                      </a:rPr>
                      <a:t> </a:t>
                    </a:r>
                  </a:p>
                </p:txBody>
              </p:sp>
            </mc:Fallback>
          </mc:AlternateContent>
          <p:grpSp>
            <p:nvGrpSpPr>
              <p:cNvPr id="89" name="组合 88">
                <a:extLst>
                  <a:ext uri="{FF2B5EF4-FFF2-40B4-BE49-F238E27FC236}">
                    <a16:creationId xmlns:a16="http://schemas.microsoft.com/office/drawing/2014/main" id="{44BDAC5F-644C-4635-A152-6423671C7CF6}"/>
                  </a:ext>
                </a:extLst>
              </p:cNvPr>
              <p:cNvGrpSpPr/>
              <p:nvPr/>
            </p:nvGrpSpPr>
            <p:grpSpPr>
              <a:xfrm>
                <a:off x="2722207" y="737123"/>
                <a:ext cx="1070854" cy="307777"/>
                <a:chOff x="2722207" y="737123"/>
                <a:chExt cx="1070854" cy="307777"/>
              </a:xfrm>
            </p:grpSpPr>
            <p:sp>
              <p:nvSpPr>
                <p:cNvPr id="90" name="矩形 89">
                  <a:extLst>
                    <a:ext uri="{FF2B5EF4-FFF2-40B4-BE49-F238E27FC236}">
                      <a16:creationId xmlns:a16="http://schemas.microsoft.com/office/drawing/2014/main" id="{A97E1FBA-D12B-4B58-B57C-EC85C5A8E4C4}"/>
                    </a:ext>
                  </a:extLst>
                </p:cNvPr>
                <p:cNvSpPr/>
                <p:nvPr/>
              </p:nvSpPr>
              <p:spPr>
                <a:xfrm>
                  <a:off x="3574731" y="737123"/>
                  <a:ext cx="218330" cy="307777"/>
                </a:xfrm>
                <a:prstGeom prst="rect">
                  <a:avLst/>
                </a:prstGeom>
              </p:spPr>
              <p:txBody>
                <a:bodyPr wrap="none">
                  <a:spAutoFit/>
                </a:bodyPr>
                <a:lstStyle/>
                <a:p>
                  <a:r>
                    <a:rPr kumimoji="1" lang="en-US" altLang="zh-CN" sz="14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sz="1400" i="1" dirty="0"/>
                </a:p>
              </p:txBody>
            </p:sp>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F7ADA2A8-C960-4692-8692-D984B089B831}"/>
                        </a:ext>
                      </a:extLst>
                    </p:cNvPr>
                    <p:cNvSpPr txBox="1"/>
                    <p:nvPr/>
                  </p:nvSpPr>
                  <p:spPr>
                    <a:xfrm>
                      <a:off x="2722207" y="804490"/>
                      <a:ext cx="224870"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rgbClr val="1F4B70"/>
                                </a:solidFill>
                                <a:latin typeface="Cambria Math" panose="02040503050406030204" pitchFamily="18" charset="0"/>
                                <a:ea typeface="微软雅黑" panose="020B0503020204020204" pitchFamily="34" charset="-122"/>
                              </a:rPr>
                              <m:t>𝐵</m:t>
                            </m:r>
                            <m:r>
                              <a:rPr lang="en-US" altLang="zh-CN" sz="1400" i="1" baseline="-25000" smtClean="0">
                                <a:solidFill>
                                  <a:srgbClr val="1F4B70"/>
                                </a:solidFill>
                                <a:latin typeface="Cambria Math" panose="02040503050406030204" pitchFamily="18" charset="0"/>
                                <a:ea typeface="微软雅黑" panose="020B0503020204020204" pitchFamily="34" charset="-122"/>
                              </a:rPr>
                              <m:t>𝑘</m:t>
                            </m:r>
                          </m:oMath>
                        </m:oMathPara>
                      </a14:m>
                      <a:endParaRPr lang="zh-CN" altLang="en-US" sz="1400" baseline="-250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91" name="文本框 90">
                      <a:extLst>
                        <a:ext uri="{FF2B5EF4-FFF2-40B4-BE49-F238E27FC236}">
                          <a16:creationId xmlns:a16="http://schemas.microsoft.com/office/drawing/2014/main" id="{F7ADA2A8-C960-4692-8692-D984B089B831}"/>
                        </a:ext>
                      </a:extLst>
                    </p:cNvPr>
                    <p:cNvSpPr txBox="1">
                      <a:spLocks noRot="1" noChangeAspect="1" noMove="1" noResize="1" noEditPoints="1" noAdjustHandles="1" noChangeArrowheads="1" noChangeShapeType="1" noTextEdit="1"/>
                    </p:cNvSpPr>
                    <p:nvPr/>
                  </p:nvSpPr>
                  <p:spPr>
                    <a:xfrm>
                      <a:off x="2722207" y="804490"/>
                      <a:ext cx="224870" cy="210507"/>
                    </a:xfrm>
                    <a:prstGeom prst="rect">
                      <a:avLst/>
                    </a:prstGeom>
                    <a:blipFill>
                      <a:blip r:embed="rId12"/>
                      <a:stretch>
                        <a:fillRect l="-18919" r="-5405" b="-17143"/>
                      </a:stretch>
                    </a:blipFill>
                  </p:spPr>
                  <p:txBody>
                    <a:bodyPr/>
                    <a:lstStyle/>
                    <a:p>
                      <a:r>
                        <a:rPr lang="zh-CN" altLang="en-US">
                          <a:noFill/>
                        </a:rPr>
                        <a:t> </a:t>
                      </a:r>
                    </a:p>
                  </p:txBody>
                </p:sp>
              </mc:Fallback>
            </mc:AlternateContent>
          </p:grpSp>
        </p:grpSp>
        <p:grpSp>
          <p:nvGrpSpPr>
            <p:cNvPr id="84" name="组合 83">
              <a:extLst>
                <a:ext uri="{FF2B5EF4-FFF2-40B4-BE49-F238E27FC236}">
                  <a16:creationId xmlns:a16="http://schemas.microsoft.com/office/drawing/2014/main" id="{3CB1AABF-C49A-4F49-9625-5B3CC05FB69D}"/>
                </a:ext>
              </a:extLst>
            </p:cNvPr>
            <p:cNvGrpSpPr/>
            <p:nvPr/>
          </p:nvGrpSpPr>
          <p:grpSpPr>
            <a:xfrm>
              <a:off x="4275795" y="691794"/>
              <a:ext cx="1130101" cy="404726"/>
              <a:chOff x="4275795" y="691794"/>
              <a:chExt cx="1130101" cy="404726"/>
            </a:xfrm>
          </p:grpSpPr>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7BC010D6-FEE3-4963-95CF-3F2321711493}"/>
                      </a:ext>
                    </a:extLst>
                  </p:cNvPr>
                  <p:cNvSpPr txBox="1"/>
                  <p:nvPr/>
                </p:nvSpPr>
                <p:spPr>
                  <a:xfrm>
                    <a:off x="5022196" y="695142"/>
                    <a:ext cx="172676" cy="290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400" i="1" smtClean="0">
                                  <a:solidFill>
                                    <a:srgbClr val="1F4B70"/>
                                  </a:solidFill>
                                  <a:latin typeface="Cambria Math" panose="02040503050406030204" pitchFamily="18" charset="0"/>
                                  <a:ea typeface="微软雅黑" panose="020B0503020204020204" pitchFamily="34" charset="-122"/>
                                </a:rPr>
                              </m:ctrlPr>
                            </m:fPr>
                            <m:num>
                              <m:r>
                                <a:rPr lang="en-US" altLang="zh-CN" sz="1400" b="0" i="1" smtClean="0">
                                  <a:solidFill>
                                    <a:srgbClr val="1F4B70"/>
                                  </a:solidFill>
                                  <a:latin typeface="Cambria Math" panose="02040503050406030204" pitchFamily="18" charset="0"/>
                                  <a:ea typeface="微软雅黑" panose="020B0503020204020204" pitchFamily="34" charset="-122"/>
                                </a:rPr>
                                <m:t> </m:t>
                              </m:r>
                            </m:num>
                            <m:den>
                              <m:r>
                                <a:rPr lang="en-US" altLang="zh-CN" sz="1400" b="0" i="1" smtClean="0">
                                  <a:solidFill>
                                    <a:srgbClr val="1F4B70"/>
                                  </a:solidFill>
                                  <a:latin typeface="Cambria Math" panose="02040503050406030204" pitchFamily="18" charset="0"/>
                                  <a:ea typeface="微软雅黑" panose="020B0503020204020204" pitchFamily="34" charset="-122"/>
                                </a:rPr>
                                <m:t>𝑋</m:t>
                              </m:r>
                            </m:den>
                          </m:f>
                        </m:oMath>
                      </m:oMathPara>
                    </a14:m>
                    <a:endParaRPr lang="zh-CN" altLang="en-US" sz="14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85" name="文本框 84">
                    <a:extLst>
                      <a:ext uri="{FF2B5EF4-FFF2-40B4-BE49-F238E27FC236}">
                        <a16:creationId xmlns:a16="http://schemas.microsoft.com/office/drawing/2014/main" id="{7BC010D6-FEE3-4963-95CF-3F2321711493}"/>
                      </a:ext>
                    </a:extLst>
                  </p:cNvPr>
                  <p:cNvSpPr txBox="1">
                    <a:spLocks noRot="1" noChangeAspect="1" noMove="1" noResize="1" noEditPoints="1" noAdjustHandles="1" noChangeArrowheads="1" noChangeShapeType="1" noTextEdit="1"/>
                  </p:cNvSpPr>
                  <p:nvPr/>
                </p:nvSpPr>
                <p:spPr>
                  <a:xfrm>
                    <a:off x="5022196" y="695142"/>
                    <a:ext cx="172676" cy="290721"/>
                  </a:xfrm>
                  <a:prstGeom prst="rect">
                    <a:avLst/>
                  </a:prstGeom>
                  <a:blipFill>
                    <a:blip r:embed="rId5"/>
                    <a:stretch>
                      <a:fillRect l="-21429" r="-17857" b="-21277"/>
                    </a:stretch>
                  </a:blipFill>
                </p:spPr>
                <p:txBody>
                  <a:bodyPr/>
                  <a:lstStyle/>
                  <a:p>
                    <a:r>
                      <a:rPr lang="zh-CN" altLang="en-US">
                        <a:noFill/>
                      </a:rPr>
                      <a:t> </a:t>
                    </a:r>
                  </a:p>
                </p:txBody>
              </p:sp>
            </mc:Fallback>
          </mc:AlternateContent>
          <p:sp>
            <p:nvSpPr>
              <p:cNvPr id="86" name="矩形 85">
                <a:extLst>
                  <a:ext uri="{FF2B5EF4-FFF2-40B4-BE49-F238E27FC236}">
                    <a16:creationId xmlns:a16="http://schemas.microsoft.com/office/drawing/2014/main" id="{3A03C7F9-1EDB-49E8-8BB0-7CFA940D3C04}"/>
                  </a:ext>
                </a:extLst>
              </p:cNvPr>
              <p:cNvSpPr/>
              <p:nvPr/>
            </p:nvSpPr>
            <p:spPr>
              <a:xfrm>
                <a:off x="5161918" y="788264"/>
                <a:ext cx="243978" cy="235962"/>
              </a:xfrm>
              <a:prstGeom prst="rect">
                <a:avLst/>
              </a:prstGeom>
            </p:spPr>
            <p:txBody>
              <a:bodyPr wrap="none">
                <a:spAutoFit/>
              </a:bodyPr>
              <a:lstStyle/>
              <a:p>
                <a:r>
                  <a:rPr kumimoji="1" lang="en-US" altLang="zh-CN" sz="1400" i="1"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k</a:t>
                </a:r>
                <a:endParaRPr lang="zh-CN" altLang="en-US" sz="1400" i="1" baseline="30000" dirty="0"/>
              </a:p>
            </p:txBody>
          </p: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D0D45B86-4A5F-4807-8A2E-B320A7719F90}"/>
                      </a:ext>
                    </a:extLst>
                  </p:cNvPr>
                  <p:cNvSpPr txBox="1"/>
                  <p:nvPr/>
                </p:nvSpPr>
                <p:spPr>
                  <a:xfrm>
                    <a:off x="4275795" y="691794"/>
                    <a:ext cx="158570" cy="4047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400" i="1" smtClean="0">
                                  <a:solidFill>
                                    <a:srgbClr val="1F4B70"/>
                                  </a:solidFill>
                                  <a:latin typeface="Cambria Math" panose="02040503050406030204" pitchFamily="18" charset="0"/>
                                  <a:ea typeface="微软雅黑" panose="020B0503020204020204" pitchFamily="34" charset="-122"/>
                                </a:rPr>
                              </m:ctrlPr>
                            </m:fPr>
                            <m:num>
                              <m:r>
                                <a:rPr lang="en-US" altLang="zh-CN" sz="1400" b="0" i="1" smtClean="0">
                                  <a:solidFill>
                                    <a:srgbClr val="1F4B70"/>
                                  </a:solidFill>
                                  <a:latin typeface="Cambria Math" panose="02040503050406030204" pitchFamily="18" charset="0"/>
                                  <a:ea typeface="微软雅黑" panose="020B0503020204020204" pitchFamily="34" charset="-122"/>
                                </a:rPr>
                                <m:t>1</m:t>
                              </m:r>
                            </m:num>
                            <m:den>
                              <m:r>
                                <a:rPr lang="en-US" altLang="zh-CN" sz="1400" b="0" i="1" smtClean="0">
                                  <a:solidFill>
                                    <a:srgbClr val="1F4B70"/>
                                  </a:solidFill>
                                  <a:latin typeface="Cambria Math" panose="02040503050406030204" pitchFamily="18" charset="0"/>
                                  <a:ea typeface="微软雅黑" panose="020B0503020204020204" pitchFamily="34" charset="-122"/>
                                </a:rPr>
                                <m:t>𝑛</m:t>
                              </m:r>
                            </m:den>
                          </m:f>
                        </m:oMath>
                      </m:oMathPara>
                    </a14:m>
                    <a:endParaRPr lang="zh-CN" altLang="en-US" sz="14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87" name="文本框 86">
                    <a:extLst>
                      <a:ext uri="{FF2B5EF4-FFF2-40B4-BE49-F238E27FC236}">
                        <a16:creationId xmlns:a16="http://schemas.microsoft.com/office/drawing/2014/main" id="{D0D45B86-4A5F-4807-8A2E-B320A7719F90}"/>
                      </a:ext>
                    </a:extLst>
                  </p:cNvPr>
                  <p:cNvSpPr txBox="1">
                    <a:spLocks noRot="1" noChangeAspect="1" noMove="1" noResize="1" noEditPoints="1" noAdjustHandles="1" noChangeArrowheads="1" noChangeShapeType="1" noTextEdit="1"/>
                  </p:cNvSpPr>
                  <p:nvPr/>
                </p:nvSpPr>
                <p:spPr>
                  <a:xfrm>
                    <a:off x="4275795" y="691794"/>
                    <a:ext cx="158570" cy="404726"/>
                  </a:xfrm>
                  <a:prstGeom prst="rect">
                    <a:avLst/>
                  </a:prstGeom>
                  <a:blipFill>
                    <a:blip r:embed="rId13"/>
                    <a:stretch>
                      <a:fillRect l="-23077" r="-15385" b="-9091"/>
                    </a:stretch>
                  </a:blipFill>
                </p:spPr>
                <p:txBody>
                  <a:bodyPr/>
                  <a:lstStyle/>
                  <a:p>
                    <a:r>
                      <a:rPr lang="zh-CN" altLang="en-US">
                        <a:noFill/>
                      </a:rPr>
                      <a:t> </a:t>
                    </a:r>
                  </a:p>
                </p:txBody>
              </p:sp>
            </mc:Fallback>
          </mc:AlternateContent>
        </p:grpSp>
      </p:grpSp>
      <p:grpSp>
        <p:nvGrpSpPr>
          <p:cNvPr id="20" name="组合 19">
            <a:extLst>
              <a:ext uri="{FF2B5EF4-FFF2-40B4-BE49-F238E27FC236}">
                <a16:creationId xmlns:a16="http://schemas.microsoft.com/office/drawing/2014/main" id="{2569F0BE-BF62-4091-AA2C-C53EF30D53C0}"/>
              </a:ext>
            </a:extLst>
          </p:cNvPr>
          <p:cNvGrpSpPr/>
          <p:nvPr/>
        </p:nvGrpSpPr>
        <p:grpSpPr>
          <a:xfrm>
            <a:off x="3023883" y="2740566"/>
            <a:ext cx="1051904" cy="551315"/>
            <a:chOff x="3023883" y="2740566"/>
            <a:chExt cx="1051904" cy="551315"/>
          </a:xfrm>
        </p:grpSpPr>
        <p:sp>
          <p:nvSpPr>
            <p:cNvPr id="169" name="Text Box 8">
              <a:extLst>
                <a:ext uri="{FF2B5EF4-FFF2-40B4-BE49-F238E27FC236}">
                  <a16:creationId xmlns:a16="http://schemas.microsoft.com/office/drawing/2014/main" id="{21747432-5B08-4BA3-967E-C735C3B7B128}"/>
                </a:ext>
              </a:extLst>
            </p:cNvPr>
            <p:cNvSpPr txBox="1">
              <a:spLocks noChangeArrowheads="1"/>
            </p:cNvSpPr>
            <p:nvPr/>
          </p:nvSpPr>
          <p:spPr bwMode="auto">
            <a:xfrm>
              <a:off x="3023883" y="2740566"/>
              <a:ext cx="1051904" cy="262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756" tIns="7654" rIns="12756" bIns="7654">
              <a:spAutoFit/>
            </a:bodyPr>
            <a:lstStyle/>
            <a:p>
              <a:pPr>
                <a:spcBef>
                  <a:spcPct val="50000"/>
                </a:spcBef>
                <a:defRPr/>
              </a:pPr>
              <a:r>
                <a:rPr kumimoji="1" lang="zh-CN" altLang="en-US" sz="1600" dirty="0">
                  <a:solidFill>
                    <a:srgbClr val="1F4B70"/>
                  </a:solidFill>
                  <a:latin typeface="微软雅黑" panose="020B0503020204020204" pitchFamily="34" charset="-122"/>
                  <a:ea typeface="微软雅黑" panose="020B0503020204020204" pitchFamily="34" charset="-122"/>
                </a:rPr>
                <a:t>样本标准差</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A63287F-2808-4726-A639-1F17767D1B0C}"/>
                    </a:ext>
                  </a:extLst>
                </p:cNvPr>
                <p:cNvSpPr txBox="1"/>
                <p:nvPr/>
              </p:nvSpPr>
              <p:spPr>
                <a:xfrm>
                  <a:off x="3260042" y="2988785"/>
                  <a:ext cx="651397" cy="303096"/>
                </a:xfrm>
                <a:prstGeom prst="rect">
                  <a:avLst/>
                </a:prstGeom>
                <a:noFill/>
              </p:spPr>
              <p:txBody>
                <a:bodyPr wrap="none" lIns="0" tIns="0" rIns="0" bIns="0" rtlCol="0">
                  <a:spAutoFit/>
                </a:bodyPr>
                <a:lstStyle/>
                <a:p>
                  <a14:m>
                    <m:oMath xmlns:m="http://schemas.openxmlformats.org/officeDocument/2006/math">
                      <m:r>
                        <a:rPr lang="en-US" altLang="zh-CN" i="1">
                          <a:solidFill>
                            <a:srgbClr val="1F4B70"/>
                          </a:solidFill>
                          <a:latin typeface="Cambria Math" panose="02040503050406030204" pitchFamily="18" charset="0"/>
                          <a:ea typeface="微软雅黑" panose="020B0503020204020204" pitchFamily="34" charset="-122"/>
                        </a:rPr>
                        <m:t>𝑆</m:t>
                      </m:r>
                      <m:r>
                        <a:rPr lang="en-US" altLang="zh-CN" i="1">
                          <a:solidFill>
                            <a:srgbClr val="1F4B70"/>
                          </a:solidFill>
                          <a:latin typeface="Cambria Math" panose="02040503050406030204" pitchFamily="18" charset="0"/>
                          <a:ea typeface="微软雅黑" panose="020B0503020204020204" pitchFamily="34" charset="-122"/>
                        </a:rPr>
                        <m:t> </m:t>
                      </m:r>
                    </m:oMath>
                  </a14:m>
                  <a:r>
                    <a:rPr lang="en-US" altLang="zh-CN" dirty="0">
                      <a:solidFill>
                        <a:srgbClr val="1F4B70"/>
                      </a:solidFill>
                      <a:ea typeface="微软雅黑" panose="020B0503020204020204" pitchFamily="34" charset="-122"/>
                    </a:rPr>
                    <a:t>=</a:t>
                  </a:r>
                  <a14:m>
                    <m:oMath xmlns:m="http://schemas.openxmlformats.org/officeDocument/2006/math">
                      <m:rad>
                        <m:radPr>
                          <m:degHide m:val="on"/>
                          <m:ctrlPr>
                            <a:rPr lang="zh-CN" altLang="en-US" i="1" smtClean="0">
                              <a:solidFill>
                                <a:srgbClr val="1F4B70"/>
                              </a:solidFill>
                              <a:latin typeface="Cambria Math" panose="02040503050406030204" pitchFamily="18" charset="0"/>
                              <a:ea typeface="微软雅黑" panose="020B0503020204020204" pitchFamily="34" charset="-122"/>
                            </a:rPr>
                          </m:ctrlPr>
                        </m:radPr>
                        <m:deg/>
                        <m:e>
                          <m:r>
                            <a:rPr lang="en-US" altLang="zh-CN" b="0" i="1" smtClean="0">
                              <a:solidFill>
                                <a:srgbClr val="1F4B70"/>
                              </a:solidFill>
                              <a:latin typeface="Cambria Math" panose="02040503050406030204" pitchFamily="18" charset="0"/>
                              <a:ea typeface="微软雅黑" panose="020B0503020204020204" pitchFamily="34" charset="-122"/>
                            </a:rPr>
                            <m:t>𝑆</m:t>
                          </m:r>
                          <m:r>
                            <a:rPr lang="en-US" altLang="zh-CN" b="0" i="1" baseline="30000" smtClean="0">
                              <a:solidFill>
                                <a:srgbClr val="1F4B70"/>
                              </a:solidFill>
                              <a:latin typeface="Cambria Math" panose="02040503050406030204" pitchFamily="18" charset="0"/>
                              <a:ea typeface="微软雅黑" panose="020B0503020204020204" pitchFamily="34" charset="-122"/>
                            </a:rPr>
                            <m:t>2</m:t>
                          </m:r>
                        </m:e>
                      </m:rad>
                    </m:oMath>
                  </a14:m>
                  <a:endParaRPr lang="zh-CN" altLang="en-US"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17" name="文本框 16">
                  <a:extLst>
                    <a:ext uri="{FF2B5EF4-FFF2-40B4-BE49-F238E27FC236}">
                      <a16:creationId xmlns:a16="http://schemas.microsoft.com/office/drawing/2014/main" id="{8A63287F-2808-4726-A639-1F17767D1B0C}"/>
                    </a:ext>
                  </a:extLst>
                </p:cNvPr>
                <p:cNvSpPr txBox="1">
                  <a:spLocks noRot="1" noChangeAspect="1" noMove="1" noResize="1" noEditPoints="1" noAdjustHandles="1" noChangeArrowheads="1" noChangeShapeType="1" noTextEdit="1"/>
                </p:cNvSpPr>
                <p:nvPr/>
              </p:nvSpPr>
              <p:spPr>
                <a:xfrm>
                  <a:off x="3260042" y="2988785"/>
                  <a:ext cx="651397" cy="303096"/>
                </a:xfrm>
                <a:prstGeom prst="rect">
                  <a:avLst/>
                </a:prstGeom>
                <a:blipFill>
                  <a:blip r:embed="rId14"/>
                  <a:stretch>
                    <a:fillRect l="-13084" t="-16000" r="-8411" b="-48000"/>
                  </a:stretch>
                </a:blipFill>
              </p:spPr>
              <p:txBody>
                <a:bodyPr/>
                <a:lstStyle/>
                <a:p>
                  <a:r>
                    <a:rPr lang="zh-CN" altLang="en-US">
                      <a:noFill/>
                    </a:rPr>
                    <a:t> </a:t>
                  </a:r>
                </a:p>
              </p:txBody>
            </p:sp>
          </mc:Fallback>
        </mc:AlternateContent>
      </p:grpSp>
      <p:grpSp>
        <p:nvGrpSpPr>
          <p:cNvPr id="18" name="组合 17">
            <a:extLst>
              <a:ext uri="{FF2B5EF4-FFF2-40B4-BE49-F238E27FC236}">
                <a16:creationId xmlns:a16="http://schemas.microsoft.com/office/drawing/2014/main" id="{7F924786-FCE5-4D94-9F8A-A3A16503597A}"/>
              </a:ext>
            </a:extLst>
          </p:cNvPr>
          <p:cNvGrpSpPr/>
          <p:nvPr/>
        </p:nvGrpSpPr>
        <p:grpSpPr>
          <a:xfrm>
            <a:off x="5204521" y="2859997"/>
            <a:ext cx="560561" cy="366153"/>
            <a:chOff x="5231016" y="671292"/>
            <a:chExt cx="560561" cy="366153"/>
          </a:xfrm>
        </p:grpSpPr>
        <p:sp>
          <p:nvSpPr>
            <p:cNvPr id="94" name="文本框 93">
              <a:extLst>
                <a:ext uri="{FF2B5EF4-FFF2-40B4-BE49-F238E27FC236}">
                  <a16:creationId xmlns:a16="http://schemas.microsoft.com/office/drawing/2014/main" id="{A2F14666-9DB5-4187-A201-1343AEA57B50}"/>
                </a:ext>
              </a:extLst>
            </p:cNvPr>
            <p:cNvSpPr txBox="1"/>
            <p:nvPr/>
          </p:nvSpPr>
          <p:spPr>
            <a:xfrm>
              <a:off x="5231016" y="760446"/>
              <a:ext cx="327013" cy="276999"/>
            </a:xfrm>
            <a:prstGeom prst="rect">
              <a:avLst/>
            </a:prstGeom>
            <a:noFill/>
          </p:spPr>
          <p:txBody>
            <a:bodyPr wrap="none" lIns="0" tIns="0" rIns="0" bIns="0" rtlCol="0">
              <a:spAutoFit/>
            </a:bodyPr>
            <a:lstStyle/>
            <a:p>
              <a:r>
                <a:rPr lang="en-US" altLang="zh-CN" dirty="0">
                  <a:solidFill>
                    <a:srgbClr val="1F4B70"/>
                  </a:solidFill>
                  <a:ea typeface="微软雅黑" panose="020B0503020204020204" pitchFamily="34" charset="-122"/>
                </a:rPr>
                <a:t>A</a:t>
              </a:r>
              <a:r>
                <a:rPr lang="en-US" altLang="zh-CN" baseline="-25000" dirty="0">
                  <a:solidFill>
                    <a:srgbClr val="1F4B70"/>
                  </a:solidFill>
                  <a:ea typeface="微软雅黑" panose="020B0503020204020204" pitchFamily="34" charset="-122"/>
                </a:rPr>
                <a:t>1</a:t>
              </a:r>
              <a:r>
                <a:rPr lang="en-US" altLang="zh-CN" dirty="0">
                  <a:solidFill>
                    <a:srgbClr val="1F4B70"/>
                  </a:solidFill>
                  <a:ea typeface="微软雅黑" panose="020B0503020204020204" pitchFamily="34" charset="-122"/>
                </a:rPr>
                <a:t>=</a:t>
              </a:r>
              <a:endParaRPr lang="zh-CN" altLang="en-US" dirty="0">
                <a:solidFill>
                  <a:srgbClr val="1F4B7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63CF9BCF-E81E-412B-9585-845D8349E966}"/>
                    </a:ext>
                  </a:extLst>
                </p:cNvPr>
                <p:cNvSpPr txBox="1"/>
                <p:nvPr/>
              </p:nvSpPr>
              <p:spPr>
                <a:xfrm>
                  <a:off x="5618901" y="671292"/>
                  <a:ext cx="172676" cy="3322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solidFill>
                                  <a:srgbClr val="1F4B70"/>
                                </a:solidFill>
                                <a:latin typeface="Cambria Math" panose="02040503050406030204" pitchFamily="18" charset="0"/>
                                <a:ea typeface="微软雅黑" panose="020B0503020204020204" pitchFamily="34" charset="-122"/>
                              </a:rPr>
                            </m:ctrlPr>
                          </m:fPr>
                          <m:num>
                            <m:r>
                              <a:rPr lang="en-US" altLang="zh-CN" sz="1600" b="0" i="1" smtClean="0">
                                <a:solidFill>
                                  <a:srgbClr val="1F4B70"/>
                                </a:solidFill>
                                <a:latin typeface="Cambria Math" panose="02040503050406030204" pitchFamily="18" charset="0"/>
                                <a:ea typeface="微软雅黑" panose="020B0503020204020204" pitchFamily="34" charset="-122"/>
                              </a:rPr>
                              <m:t> </m:t>
                            </m:r>
                          </m:num>
                          <m:den>
                            <m:r>
                              <a:rPr lang="en-US" altLang="zh-CN" sz="1600" b="0" i="1" smtClean="0">
                                <a:solidFill>
                                  <a:srgbClr val="1F4B70"/>
                                </a:solidFill>
                                <a:latin typeface="Cambria Math" panose="02040503050406030204" pitchFamily="18" charset="0"/>
                                <a:ea typeface="微软雅黑" panose="020B0503020204020204" pitchFamily="34" charset="-122"/>
                              </a:rPr>
                              <m:t>𝑋</m:t>
                            </m:r>
                          </m:den>
                        </m:f>
                      </m:oMath>
                    </m:oMathPara>
                  </a14:m>
                  <a:endParaRPr lang="zh-CN" altLang="en-US" sz="16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95" name="文本框 94">
                  <a:extLst>
                    <a:ext uri="{FF2B5EF4-FFF2-40B4-BE49-F238E27FC236}">
                      <a16:creationId xmlns:a16="http://schemas.microsoft.com/office/drawing/2014/main" id="{63CF9BCF-E81E-412B-9585-845D8349E966}"/>
                    </a:ext>
                  </a:extLst>
                </p:cNvPr>
                <p:cNvSpPr txBox="1">
                  <a:spLocks noRot="1" noChangeAspect="1" noMove="1" noResize="1" noEditPoints="1" noAdjustHandles="1" noChangeArrowheads="1" noChangeShapeType="1" noTextEdit="1"/>
                </p:cNvSpPr>
                <p:nvPr/>
              </p:nvSpPr>
              <p:spPr>
                <a:xfrm>
                  <a:off x="5618901" y="671292"/>
                  <a:ext cx="172676" cy="332270"/>
                </a:xfrm>
                <a:prstGeom prst="rect">
                  <a:avLst/>
                </a:prstGeom>
                <a:blipFill>
                  <a:blip r:embed="rId15"/>
                  <a:stretch>
                    <a:fillRect l="-27586" r="-24138" b="-2000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AC544E98-72A0-47B7-B821-B761FD624620}"/>
                  </a:ext>
                </a:extLst>
              </p:cNvPr>
              <p:cNvSpPr txBox="1"/>
              <p:nvPr/>
            </p:nvSpPr>
            <p:spPr>
              <a:xfrm>
                <a:off x="6634181" y="2821019"/>
                <a:ext cx="1378134" cy="392608"/>
              </a:xfrm>
              <a:prstGeom prst="rect">
                <a:avLst/>
              </a:prstGeom>
              <a:noFill/>
            </p:spPr>
            <p:txBody>
              <a:bodyPr wrap="none" lIns="0" tIns="0" rIns="0" bIns="0" rtlCol="0">
                <a:spAutoFit/>
              </a:bodyPr>
              <a:lstStyle/>
              <a:p>
                <a:r>
                  <a:rPr lang="en-US" altLang="zh-CN" dirty="0">
                    <a:solidFill>
                      <a:srgbClr val="1F4B70"/>
                    </a:solidFill>
                    <a:ea typeface="微软雅黑" panose="020B0503020204020204" pitchFamily="34" charset="-122"/>
                  </a:rPr>
                  <a:t>B</a:t>
                </a:r>
                <a:r>
                  <a:rPr lang="en-US" altLang="zh-CN" baseline="-25000" dirty="0">
                    <a:solidFill>
                      <a:srgbClr val="1F4B70"/>
                    </a:solidFill>
                    <a:ea typeface="微软雅黑" panose="020B0503020204020204" pitchFamily="34" charset="-122"/>
                  </a:rPr>
                  <a:t>2</a:t>
                </a:r>
                <a:r>
                  <a:rPr lang="en-US" altLang="zh-CN" dirty="0">
                    <a:solidFill>
                      <a:srgbClr val="1F4B70"/>
                    </a:solidFill>
                    <a:ea typeface="微软雅黑" panose="020B0503020204020204" pitchFamily="34" charset="-122"/>
                  </a:rPr>
                  <a:t>=</a:t>
                </a:r>
                <a14:m>
                  <m:oMath xmlns:m="http://schemas.openxmlformats.org/officeDocument/2006/math">
                    <m:f>
                      <m:fPr>
                        <m:ctrlPr>
                          <a:rPr lang="en-US" altLang="zh-CN" i="1" smtClean="0">
                            <a:solidFill>
                              <a:srgbClr val="1F4B70"/>
                            </a:solidFill>
                            <a:latin typeface="Cambria Math" panose="02040503050406030204" pitchFamily="18" charset="0"/>
                            <a:ea typeface="微软雅黑" panose="020B0503020204020204" pitchFamily="34" charset="-122"/>
                          </a:rPr>
                        </m:ctrlPr>
                      </m:fPr>
                      <m:num>
                        <m:r>
                          <a:rPr lang="en-US" altLang="zh-CN" b="0" i="1" smtClean="0">
                            <a:solidFill>
                              <a:srgbClr val="1F4B70"/>
                            </a:solidFill>
                            <a:latin typeface="Cambria Math" panose="02040503050406030204" pitchFamily="18" charset="0"/>
                            <a:ea typeface="微软雅黑" panose="020B0503020204020204" pitchFamily="34" charset="-122"/>
                          </a:rPr>
                          <m:t>𝑛</m:t>
                        </m:r>
                        <m:r>
                          <a:rPr lang="en-US" altLang="zh-CN" b="0" i="1" smtClean="0">
                            <a:solidFill>
                              <a:srgbClr val="1F4B70"/>
                            </a:solidFill>
                            <a:latin typeface="Cambria Math" panose="02040503050406030204" pitchFamily="18" charset="0"/>
                            <a:ea typeface="微软雅黑" panose="020B0503020204020204" pitchFamily="34" charset="-122"/>
                          </a:rPr>
                          <m:t>−1</m:t>
                        </m:r>
                      </m:num>
                      <m:den>
                        <m:r>
                          <a:rPr lang="en-US" altLang="zh-CN" b="0" i="1" smtClean="0">
                            <a:solidFill>
                              <a:srgbClr val="1F4B70"/>
                            </a:solidFill>
                            <a:latin typeface="Cambria Math" panose="02040503050406030204" pitchFamily="18" charset="0"/>
                            <a:ea typeface="微软雅黑" panose="020B0503020204020204" pitchFamily="34" charset="-122"/>
                          </a:rPr>
                          <m:t>𝑛</m:t>
                        </m:r>
                      </m:den>
                    </m:f>
                  </m:oMath>
                </a14:m>
                <a:r>
                  <a:rPr lang="en-US" altLang="zh-CN" dirty="0">
                    <a:solidFill>
                      <a:srgbClr val="1F4B70"/>
                    </a:solidFill>
                    <a:ea typeface="微软雅黑" panose="020B0503020204020204" pitchFamily="34" charset="-122"/>
                  </a:rPr>
                  <a:t> </a:t>
                </a:r>
                <a14:m>
                  <m:oMath xmlns:m="http://schemas.openxmlformats.org/officeDocument/2006/math">
                    <m:r>
                      <a:rPr lang="en-US" altLang="zh-CN" i="1">
                        <a:solidFill>
                          <a:srgbClr val="1F4B70"/>
                        </a:solidFill>
                        <a:latin typeface="Cambria Math" panose="02040503050406030204" pitchFamily="18" charset="0"/>
                        <a:ea typeface="微软雅黑" panose="020B0503020204020204" pitchFamily="34" charset="-122"/>
                      </a:rPr>
                      <m:t>𝑆</m:t>
                    </m:r>
                    <m:r>
                      <a:rPr lang="en-US" altLang="zh-CN" i="1">
                        <a:solidFill>
                          <a:srgbClr val="1F4B70"/>
                        </a:solidFill>
                        <a:latin typeface="Cambria Math" panose="02040503050406030204" pitchFamily="18" charset="0"/>
                        <a:ea typeface="微软雅黑" panose="020B0503020204020204" pitchFamily="34" charset="-122"/>
                      </a:rPr>
                      <m:t> </m:t>
                    </m:r>
                  </m:oMath>
                </a14:m>
                <a:r>
                  <a:rPr lang="en-US" altLang="zh-CN" baseline="30000" dirty="0">
                    <a:solidFill>
                      <a:srgbClr val="1F4B70"/>
                    </a:solidFill>
                    <a:latin typeface="微软雅黑" panose="020B0503020204020204" pitchFamily="34" charset="-122"/>
                    <a:ea typeface="微软雅黑" panose="020B0503020204020204" pitchFamily="34" charset="-122"/>
                  </a:rPr>
                  <a:t>2</a:t>
                </a:r>
                <a:r>
                  <a:rPr lang="en-US" altLang="zh-CN" dirty="0">
                    <a:solidFill>
                      <a:srgbClr val="1F4B70"/>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000" i="1" smtClean="0">
                            <a:solidFill>
                              <a:srgbClr val="1F4B70"/>
                            </a:solidFill>
                            <a:latin typeface="Cambria Math" panose="02040503050406030204" pitchFamily="18" charset="0"/>
                          </a:rPr>
                        </m:ctrlPr>
                      </m:accPr>
                      <m:e>
                        <m:r>
                          <a:rPr lang="en-US" altLang="zh-CN" sz="2000" i="1" smtClean="0">
                            <a:solidFill>
                              <a:srgbClr val="1F4B70"/>
                            </a:solidFill>
                            <a:latin typeface="Cambria Math" panose="02040503050406030204" pitchFamily="18" charset="0"/>
                          </a:rPr>
                          <m:t>𝑆</m:t>
                        </m:r>
                      </m:e>
                    </m:acc>
                    <m:r>
                      <a:rPr lang="en-US" altLang="zh-CN" sz="2000" b="0" i="1" baseline="30000" smtClean="0">
                        <a:solidFill>
                          <a:srgbClr val="1F4B70"/>
                        </a:solidFill>
                        <a:latin typeface="Cambria Math" panose="02040503050406030204" pitchFamily="18" charset="0"/>
                      </a:rPr>
                      <m:t>2</m:t>
                    </m:r>
                  </m:oMath>
                </a14:m>
                <a:endParaRPr lang="zh-CN" altLang="en-US" baseline="30000"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98" name="文本框 97">
                <a:extLst>
                  <a:ext uri="{FF2B5EF4-FFF2-40B4-BE49-F238E27FC236}">
                    <a16:creationId xmlns:a16="http://schemas.microsoft.com/office/drawing/2014/main" id="{AC544E98-72A0-47B7-B821-B761FD624620}"/>
                  </a:ext>
                </a:extLst>
              </p:cNvPr>
              <p:cNvSpPr txBox="1">
                <a:spLocks noRot="1" noChangeAspect="1" noMove="1" noResize="1" noEditPoints="1" noAdjustHandles="1" noChangeArrowheads="1" noChangeShapeType="1" noTextEdit="1"/>
              </p:cNvSpPr>
              <p:nvPr/>
            </p:nvSpPr>
            <p:spPr>
              <a:xfrm>
                <a:off x="6634181" y="2821019"/>
                <a:ext cx="1378134" cy="392608"/>
              </a:xfrm>
              <a:prstGeom prst="rect">
                <a:avLst/>
              </a:prstGeom>
              <a:blipFill>
                <a:blip r:embed="rId16"/>
                <a:stretch>
                  <a:fillRect l="-10177" t="-12500" r="-16372" b="-218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41565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66"/>
                                        </p:tgtEl>
                                        <p:attrNameLst>
                                          <p:attrName>style.visibility</p:attrName>
                                        </p:attrNameLst>
                                      </p:cBhvr>
                                      <p:to>
                                        <p:strVal val="visible"/>
                                      </p:to>
                                    </p:set>
                                    <p:anim calcmode="lin" valueType="num">
                                      <p:cBhvr>
                                        <p:cTn id="22" dur="500" fill="hold"/>
                                        <p:tgtEl>
                                          <p:spTgt spid="166"/>
                                        </p:tgtEl>
                                        <p:attrNameLst>
                                          <p:attrName>ppt_w</p:attrName>
                                        </p:attrNameLst>
                                      </p:cBhvr>
                                      <p:tavLst>
                                        <p:tav tm="0">
                                          <p:val>
                                            <p:fltVal val="0"/>
                                          </p:val>
                                        </p:tav>
                                        <p:tav tm="100000">
                                          <p:val>
                                            <p:strVal val="#ppt_w"/>
                                          </p:val>
                                        </p:tav>
                                      </p:tavLst>
                                    </p:anim>
                                    <p:anim calcmode="lin" valueType="num">
                                      <p:cBhvr>
                                        <p:cTn id="23" dur="500" fill="hold"/>
                                        <p:tgtEl>
                                          <p:spTgt spid="166"/>
                                        </p:tgtEl>
                                        <p:attrNameLst>
                                          <p:attrName>ppt_h</p:attrName>
                                        </p:attrNameLst>
                                      </p:cBhvr>
                                      <p:tavLst>
                                        <p:tav tm="0">
                                          <p:val>
                                            <p:fltVal val="0"/>
                                          </p:val>
                                        </p:tav>
                                        <p:tav tm="100000">
                                          <p:val>
                                            <p:strVal val="#ppt_h"/>
                                          </p:val>
                                        </p:tav>
                                      </p:tavLst>
                                    </p:anim>
                                    <p:animEffect transition="in" filter="fade">
                                      <p:cBhvr>
                                        <p:cTn id="24" dur="500"/>
                                        <p:tgtEl>
                                          <p:spTgt spid="16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71"/>
                                        </p:tgtEl>
                                        <p:attrNameLst>
                                          <p:attrName>style.visibility</p:attrName>
                                        </p:attrNameLst>
                                      </p:cBhvr>
                                      <p:to>
                                        <p:strVal val="visible"/>
                                      </p:to>
                                    </p:set>
                                    <p:anim calcmode="lin" valueType="num">
                                      <p:cBhvr>
                                        <p:cTn id="39" dur="500" fill="hold"/>
                                        <p:tgtEl>
                                          <p:spTgt spid="171"/>
                                        </p:tgtEl>
                                        <p:attrNameLst>
                                          <p:attrName>ppt_w</p:attrName>
                                        </p:attrNameLst>
                                      </p:cBhvr>
                                      <p:tavLst>
                                        <p:tav tm="0">
                                          <p:val>
                                            <p:fltVal val="0"/>
                                          </p:val>
                                        </p:tav>
                                        <p:tav tm="100000">
                                          <p:val>
                                            <p:strVal val="#ppt_w"/>
                                          </p:val>
                                        </p:tav>
                                      </p:tavLst>
                                    </p:anim>
                                    <p:anim calcmode="lin" valueType="num">
                                      <p:cBhvr>
                                        <p:cTn id="40" dur="500" fill="hold"/>
                                        <p:tgtEl>
                                          <p:spTgt spid="171"/>
                                        </p:tgtEl>
                                        <p:attrNameLst>
                                          <p:attrName>ppt_h</p:attrName>
                                        </p:attrNameLst>
                                      </p:cBhvr>
                                      <p:tavLst>
                                        <p:tav tm="0">
                                          <p:val>
                                            <p:fltVal val="0"/>
                                          </p:val>
                                        </p:tav>
                                        <p:tav tm="100000">
                                          <p:val>
                                            <p:strVal val="#ppt_h"/>
                                          </p:val>
                                        </p:tav>
                                      </p:tavLst>
                                    </p:anim>
                                    <p:animEffect transition="in" filter="fade">
                                      <p:cBhvr>
                                        <p:cTn id="41" dur="500"/>
                                        <p:tgtEl>
                                          <p:spTgt spid="17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176"/>
                                        </p:tgtEl>
                                        <p:attrNameLst>
                                          <p:attrName>style.visibility</p:attrName>
                                        </p:attrNameLst>
                                      </p:cBhvr>
                                      <p:to>
                                        <p:strVal val="visible"/>
                                      </p:to>
                                    </p:set>
                                    <p:anim calcmode="lin" valueType="num">
                                      <p:cBhvr>
                                        <p:cTn id="61" dur="500" fill="hold"/>
                                        <p:tgtEl>
                                          <p:spTgt spid="176"/>
                                        </p:tgtEl>
                                        <p:attrNameLst>
                                          <p:attrName>ppt_w</p:attrName>
                                        </p:attrNameLst>
                                      </p:cBhvr>
                                      <p:tavLst>
                                        <p:tav tm="0">
                                          <p:val>
                                            <p:fltVal val="0"/>
                                          </p:val>
                                        </p:tav>
                                        <p:tav tm="100000">
                                          <p:val>
                                            <p:strVal val="#ppt_w"/>
                                          </p:val>
                                        </p:tav>
                                      </p:tavLst>
                                    </p:anim>
                                    <p:anim calcmode="lin" valueType="num">
                                      <p:cBhvr>
                                        <p:cTn id="62" dur="500" fill="hold"/>
                                        <p:tgtEl>
                                          <p:spTgt spid="176"/>
                                        </p:tgtEl>
                                        <p:attrNameLst>
                                          <p:attrName>ppt_h</p:attrName>
                                        </p:attrNameLst>
                                      </p:cBhvr>
                                      <p:tavLst>
                                        <p:tav tm="0">
                                          <p:val>
                                            <p:fltVal val="0"/>
                                          </p:val>
                                        </p:tav>
                                        <p:tav tm="100000">
                                          <p:val>
                                            <p:strVal val="#ppt_h"/>
                                          </p:val>
                                        </p:tav>
                                      </p:tavLst>
                                    </p:anim>
                                    <p:animEffect transition="in" filter="fade">
                                      <p:cBhvr>
                                        <p:cTn id="63" dur="500"/>
                                        <p:tgtEl>
                                          <p:spTgt spid="17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down)">
                                      <p:cBhvr>
                                        <p:cTn id="73" dur="500"/>
                                        <p:tgtEl>
                                          <p:spTgt spid="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82"/>
                                        </p:tgtEl>
                                        <p:attrNameLst>
                                          <p:attrName>style.visibility</p:attrName>
                                        </p:attrNameLst>
                                      </p:cBhvr>
                                      <p:to>
                                        <p:strVal val="visible"/>
                                      </p:to>
                                    </p:set>
                                    <p:animEffect transition="in" filter="fade">
                                      <p:cBhvr>
                                        <p:cTn id="78" dur="500"/>
                                        <p:tgtEl>
                                          <p:spTgt spid="82"/>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179"/>
                                        </p:tgtEl>
                                        <p:attrNameLst>
                                          <p:attrName>style.visibility</p:attrName>
                                        </p:attrNameLst>
                                      </p:cBhvr>
                                      <p:to>
                                        <p:strVal val="visible"/>
                                      </p:to>
                                    </p:set>
                                    <p:anim calcmode="lin" valueType="num">
                                      <p:cBhvr>
                                        <p:cTn id="83" dur="500" fill="hold"/>
                                        <p:tgtEl>
                                          <p:spTgt spid="179"/>
                                        </p:tgtEl>
                                        <p:attrNameLst>
                                          <p:attrName>ppt_w</p:attrName>
                                        </p:attrNameLst>
                                      </p:cBhvr>
                                      <p:tavLst>
                                        <p:tav tm="0">
                                          <p:val>
                                            <p:fltVal val="0"/>
                                          </p:val>
                                        </p:tav>
                                        <p:tav tm="100000">
                                          <p:val>
                                            <p:strVal val="#ppt_w"/>
                                          </p:val>
                                        </p:tav>
                                      </p:tavLst>
                                    </p:anim>
                                    <p:anim calcmode="lin" valueType="num">
                                      <p:cBhvr>
                                        <p:cTn id="84" dur="500" fill="hold"/>
                                        <p:tgtEl>
                                          <p:spTgt spid="179"/>
                                        </p:tgtEl>
                                        <p:attrNameLst>
                                          <p:attrName>ppt_h</p:attrName>
                                        </p:attrNameLst>
                                      </p:cBhvr>
                                      <p:tavLst>
                                        <p:tav tm="0">
                                          <p:val>
                                            <p:fltVal val="0"/>
                                          </p:val>
                                        </p:tav>
                                        <p:tav tm="100000">
                                          <p:val>
                                            <p:strVal val="#ppt_h"/>
                                          </p:val>
                                        </p:tav>
                                      </p:tavLst>
                                    </p:anim>
                                    <p:animEffect transition="in" filter="fade">
                                      <p:cBhvr>
                                        <p:cTn id="85" dur="500"/>
                                        <p:tgtEl>
                                          <p:spTgt spid="179"/>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98"/>
                                        </p:tgtEl>
                                        <p:attrNameLst>
                                          <p:attrName>style.visibility</p:attrName>
                                        </p:attrNameLst>
                                      </p:cBhvr>
                                      <p:to>
                                        <p:strVal val="visible"/>
                                      </p:to>
                                    </p:set>
                                    <p:animEffect transition="in" filter="fade">
                                      <p:cBhvr>
                                        <p:cTn id="90"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p:bldP spid="171" grpId="0"/>
      <p:bldP spid="176" grpId="0"/>
      <p:bldP spid="179" grpId="0"/>
      <p:bldP spid="9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213D1DA-E325-448E-84F7-AA26E9BDB4BB}"/>
                  </a:ext>
                </a:extLst>
              </p:cNvPr>
              <p:cNvSpPr txBox="1"/>
              <p:nvPr/>
            </p:nvSpPr>
            <p:spPr>
              <a:xfrm>
                <a:off x="1141905" y="941855"/>
                <a:ext cx="3142063" cy="461665"/>
              </a:xfrm>
              <a:prstGeom prst="rect">
                <a:avLst/>
              </a:prstGeom>
              <a:noFill/>
            </p:spPr>
            <p:txBody>
              <a:bodyPr wrap="square" rtlCol="0">
                <a:spAutoFit/>
              </a:bodyPr>
              <a:lstStyle/>
              <a:p>
                <a:r>
                  <a:rPr lang="zh-CN" altLang="en-US" sz="2400" dirty="0"/>
                  <a:t>样本均值</a:t>
                </a:r>
                <a14:m>
                  <m:oMath xmlns:m="http://schemas.openxmlformats.org/officeDocument/2006/math">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𝑋</m:t>
                        </m:r>
                      </m:e>
                    </m:acc>
                    <m:r>
                      <a:rPr lang="zh-CN" altLang="en-US" sz="2400" i="1">
                        <a:latin typeface="Cambria Math" panose="02040503050406030204" pitchFamily="18" charset="0"/>
                      </a:rPr>
                      <m:t>的</m:t>
                    </m:r>
                  </m:oMath>
                </a14:m>
                <a:r>
                  <a:rPr lang="zh-CN" altLang="en-US" sz="2400" dirty="0"/>
                  <a:t>数字特征</a:t>
                </a:r>
              </a:p>
            </p:txBody>
          </p:sp>
        </mc:Choice>
        <mc:Fallback xmlns="">
          <p:sp>
            <p:nvSpPr>
              <p:cNvPr id="2" name="文本框 1">
                <a:extLst>
                  <a:ext uri="{FF2B5EF4-FFF2-40B4-BE49-F238E27FC236}">
                    <a16:creationId xmlns:a16="http://schemas.microsoft.com/office/drawing/2014/main" id="{9213D1DA-E325-448E-84F7-AA26E9BDB4BB}"/>
                  </a:ext>
                </a:extLst>
              </p:cNvPr>
              <p:cNvSpPr txBox="1">
                <a:spLocks noRot="1" noChangeAspect="1" noMove="1" noResize="1" noEditPoints="1" noAdjustHandles="1" noChangeArrowheads="1" noChangeShapeType="1" noTextEdit="1"/>
              </p:cNvSpPr>
              <p:nvPr/>
            </p:nvSpPr>
            <p:spPr>
              <a:xfrm>
                <a:off x="1141905" y="941855"/>
                <a:ext cx="3142063" cy="461665"/>
              </a:xfrm>
              <a:prstGeom prst="rect">
                <a:avLst/>
              </a:prstGeom>
              <a:blipFill>
                <a:blip r:embed="rId2"/>
                <a:stretch>
                  <a:fillRect l="-2907" t="-16000" r="-2713" b="-25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06DCD98-3440-402F-98E0-629B418C3A37}"/>
                  </a:ext>
                </a:extLst>
              </p:cNvPr>
              <p:cNvSpPr txBox="1"/>
              <p:nvPr/>
            </p:nvSpPr>
            <p:spPr>
              <a:xfrm>
                <a:off x="1141905" y="1491630"/>
                <a:ext cx="6094391" cy="461665"/>
              </a:xfrm>
              <a:prstGeom prst="rect">
                <a:avLst/>
              </a:prstGeom>
              <a:noFill/>
            </p:spPr>
            <p:txBody>
              <a:bodyPr wrap="square" rtlCol="0">
                <a:spAutoFit/>
              </a:bodyPr>
              <a:lstStyle/>
              <a:p>
                <a:r>
                  <a:rPr lang="zh-CN" altLang="en-US" sz="2400" dirty="0"/>
                  <a:t>如果总体</a:t>
                </a:r>
                <a14:m>
                  <m:oMath xmlns:m="http://schemas.openxmlformats.org/officeDocument/2006/math">
                    <m:r>
                      <a:rPr lang="en-US" altLang="zh-CN" sz="2400" b="0" i="1" smtClean="0">
                        <a:latin typeface="Cambria Math" panose="02040503050406030204" pitchFamily="18" charset="0"/>
                      </a:rPr>
                      <m:t>𝑋</m:t>
                    </m:r>
                  </m:oMath>
                </a14:m>
                <a:r>
                  <a:rPr lang="zh-CN" altLang="en-US" sz="2400" dirty="0"/>
                  <a:t>的</a:t>
                </a:r>
                <a14:m>
                  <m:oMath xmlns:m="http://schemas.openxmlformats.org/officeDocument/2006/math">
                    <m:r>
                      <a:rPr lang="zh-CN" altLang="en-US" sz="2400" i="1" dirty="0">
                        <a:latin typeface="Cambria Math" panose="02040503050406030204" pitchFamily="18" charset="0"/>
                      </a:rPr>
                      <m:t>期望</m:t>
                    </m:r>
                    <m:r>
                      <a:rPr lang="en-US" altLang="zh-CN" sz="2400" b="0" i="1" dirty="0" smtClean="0">
                        <a:latin typeface="Cambria Math" panose="02040503050406030204" pitchFamily="18" charset="0"/>
                      </a:rPr>
                      <m:t>𝐸𝑋</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𝜇</m:t>
                    </m:r>
                    <m:r>
                      <a:rPr lang="en-US" altLang="zh-CN" sz="2400" b="0" i="1" dirty="0" smtClean="0">
                        <a:latin typeface="Cambria Math" panose="02040503050406030204" pitchFamily="18" charset="0"/>
                      </a:rPr>
                      <m:t>,</m:t>
                    </m:r>
                    <m:r>
                      <a:rPr lang="zh-CN" altLang="en-US" sz="2400" i="1" dirty="0">
                        <a:latin typeface="Cambria Math" panose="02040503050406030204" pitchFamily="18" charset="0"/>
                      </a:rPr>
                      <m:t>方差</m:t>
                    </m:r>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𝐷𝑋</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𝜎</m:t>
                        </m:r>
                      </m:e>
                      <m:sup>
                        <m:r>
                          <a:rPr lang="en-US" altLang="zh-CN" sz="2400" b="0" i="1" dirty="0" smtClean="0">
                            <a:latin typeface="Cambria Math" panose="02040503050406030204" pitchFamily="18" charset="0"/>
                          </a:rPr>
                          <m:t>2</m:t>
                        </m:r>
                      </m:sup>
                    </m:sSup>
                    <m:r>
                      <a:rPr lang="zh-CN" altLang="en-US" sz="2400" i="1" dirty="0">
                        <a:latin typeface="Cambria Math" panose="02040503050406030204" pitchFamily="18" charset="0"/>
                      </a:rPr>
                      <m:t>存在</m:t>
                    </m:r>
                  </m:oMath>
                </a14:m>
                <a:endParaRPr lang="zh-CN" altLang="en-US" sz="2400" dirty="0"/>
              </a:p>
            </p:txBody>
          </p:sp>
        </mc:Choice>
        <mc:Fallback xmlns="">
          <p:sp>
            <p:nvSpPr>
              <p:cNvPr id="3" name="文本框 2">
                <a:extLst>
                  <a:ext uri="{FF2B5EF4-FFF2-40B4-BE49-F238E27FC236}">
                    <a16:creationId xmlns:a16="http://schemas.microsoft.com/office/drawing/2014/main" id="{A06DCD98-3440-402F-98E0-629B418C3A37}"/>
                  </a:ext>
                </a:extLst>
              </p:cNvPr>
              <p:cNvSpPr txBox="1">
                <a:spLocks noRot="1" noChangeAspect="1" noMove="1" noResize="1" noEditPoints="1" noAdjustHandles="1" noChangeArrowheads="1" noChangeShapeType="1" noTextEdit="1"/>
              </p:cNvSpPr>
              <p:nvPr/>
            </p:nvSpPr>
            <p:spPr>
              <a:xfrm>
                <a:off x="1141905" y="1491630"/>
                <a:ext cx="6094391" cy="461665"/>
              </a:xfrm>
              <a:prstGeom prst="rect">
                <a:avLst/>
              </a:prstGeom>
              <a:blipFill>
                <a:blip r:embed="rId3"/>
                <a:stretch>
                  <a:fillRect l="-1500" t="-16000" b="-25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27BA961-643E-465B-AE70-B59D58A68BF6}"/>
                  </a:ext>
                </a:extLst>
              </p:cNvPr>
              <p:cNvSpPr txBox="1"/>
              <p:nvPr/>
            </p:nvSpPr>
            <p:spPr>
              <a:xfrm>
                <a:off x="1141905" y="2195039"/>
                <a:ext cx="5086279" cy="615874"/>
              </a:xfrm>
              <a:prstGeom prst="rect">
                <a:avLst/>
              </a:prstGeom>
              <a:noFill/>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𝐸</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𝑋</m:t>
                        </m:r>
                      </m:e>
                    </m:acc>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𝑛</m:t>
                        </m:r>
                      </m:den>
                    </m:f>
                    <m:nary>
                      <m:naryPr>
                        <m:chr m:val="∑"/>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r>
                          <a:rPr lang="en-US" altLang="zh-CN" sz="2400" b="0" i="1" smtClean="0">
                            <a:latin typeface="Cambria Math" panose="02040503050406030204" pitchFamily="18" charset="0"/>
                          </a:rPr>
                          <m:t>𝐸</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nary>
                  </m:oMath>
                </a14:m>
                <a:r>
                  <a:rPr lang="en-US" altLang="zh-CN" sz="2400" dirty="0">
                    <a:solidFill>
                      <a:prstClr val="black"/>
                    </a:solidFill>
                  </a:rPr>
                  <a:t> </a:t>
                </a:r>
                <a14:m>
                  <m:oMath xmlns:m="http://schemas.openxmlformats.org/officeDocument/2006/math">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𝑛</m:t>
                        </m:r>
                      </m:den>
                    </m:f>
                    <m:nary>
                      <m:naryPr>
                        <m:chr m:val="∑"/>
                        <m:ctrlPr>
                          <a:rPr lang="en-US" altLang="zh-CN" sz="2400" i="1">
                            <a:solidFill>
                              <a:prstClr val="black"/>
                            </a:solidFill>
                            <a:latin typeface="Cambria Math" panose="02040503050406030204" pitchFamily="18" charset="0"/>
                          </a:rPr>
                        </m:ctrlPr>
                      </m:naryPr>
                      <m:sub>
                        <m:r>
                          <a:rPr lang="en-US" altLang="zh-CN" sz="2400" i="1">
                            <a:solidFill>
                              <a:prstClr val="black"/>
                            </a:solidFill>
                            <a:latin typeface="Cambria Math" panose="02040503050406030204" pitchFamily="18" charset="0"/>
                          </a:rPr>
                          <m:t>𝑖</m:t>
                        </m:r>
                        <m:r>
                          <a:rPr lang="en-US" altLang="zh-CN" sz="2400" i="1">
                            <a:solidFill>
                              <a:prstClr val="black"/>
                            </a:solidFill>
                            <a:latin typeface="Cambria Math" panose="02040503050406030204" pitchFamily="18" charset="0"/>
                          </a:rPr>
                          <m:t>=1</m:t>
                        </m:r>
                      </m:sub>
                      <m:sup>
                        <m:r>
                          <a:rPr lang="en-US" altLang="zh-CN" sz="2400" i="1">
                            <a:solidFill>
                              <a:prstClr val="black"/>
                            </a:solidFill>
                            <a:latin typeface="Cambria Math" panose="02040503050406030204" pitchFamily="18" charset="0"/>
                          </a:rPr>
                          <m:t>𝑛</m:t>
                        </m:r>
                      </m:sup>
                      <m:e>
                        <m:r>
                          <a:rPr lang="en-US" altLang="zh-CN" sz="2400" i="1">
                            <a:solidFill>
                              <a:prstClr val="black"/>
                            </a:solidFill>
                            <a:latin typeface="Cambria Math" panose="02040503050406030204" pitchFamily="18" charset="0"/>
                          </a:rPr>
                          <m:t>𝐸</m:t>
                        </m:r>
                        <m:r>
                          <a:rPr lang="en-US" altLang="zh-CN" sz="2400" b="0" i="1" smtClean="0">
                            <a:solidFill>
                              <a:prstClr val="black"/>
                            </a:solidFill>
                            <a:latin typeface="Cambria Math" panose="02040503050406030204" pitchFamily="18" charset="0"/>
                          </a:rPr>
                          <m:t>𝑋</m:t>
                        </m:r>
                        <m:r>
                          <a:rPr lang="en-US" altLang="zh-CN" sz="2400" i="1">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𝜇</m:t>
                        </m:r>
                      </m:e>
                    </m:nary>
                  </m:oMath>
                </a14:m>
                <a:endParaRPr lang="en-US" altLang="zh-CN" sz="2400" b="0" dirty="0"/>
              </a:p>
            </p:txBody>
          </p:sp>
        </mc:Choice>
        <mc:Fallback xmlns="">
          <p:sp>
            <p:nvSpPr>
              <p:cNvPr id="5" name="文本框 4">
                <a:extLst>
                  <a:ext uri="{FF2B5EF4-FFF2-40B4-BE49-F238E27FC236}">
                    <a16:creationId xmlns:a16="http://schemas.microsoft.com/office/drawing/2014/main" id="{627BA961-643E-465B-AE70-B59D58A68BF6}"/>
                  </a:ext>
                </a:extLst>
              </p:cNvPr>
              <p:cNvSpPr txBox="1">
                <a:spLocks noRot="1" noChangeAspect="1" noMove="1" noResize="1" noEditPoints="1" noAdjustHandles="1" noChangeArrowheads="1" noChangeShapeType="1" noTextEdit="1"/>
              </p:cNvSpPr>
              <p:nvPr/>
            </p:nvSpPr>
            <p:spPr>
              <a:xfrm>
                <a:off x="1141905" y="2195039"/>
                <a:ext cx="5086279" cy="61587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8D74009-74B9-4A4A-B184-858433AD8A7C}"/>
                  </a:ext>
                </a:extLst>
              </p:cNvPr>
              <p:cNvSpPr txBox="1"/>
              <p:nvPr/>
            </p:nvSpPr>
            <p:spPr>
              <a:xfrm>
                <a:off x="1176090" y="3137687"/>
                <a:ext cx="5196110" cy="668388"/>
              </a:xfrm>
              <a:prstGeom prst="rect">
                <a:avLst/>
              </a:prstGeom>
              <a:noFill/>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𝐷</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𝑋</m:t>
                        </m:r>
                      </m:e>
                    </m:acc>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𝑛</m:t>
                            </m:r>
                          </m:e>
                          <m:sup>
                            <m:r>
                              <a:rPr lang="en-US" altLang="zh-CN" sz="2400" b="0" i="1" smtClean="0">
                                <a:latin typeface="Cambria Math" panose="02040503050406030204" pitchFamily="18" charset="0"/>
                              </a:rPr>
                              <m:t>2</m:t>
                            </m:r>
                          </m:sup>
                        </m:sSup>
                      </m:den>
                    </m:f>
                    <m:nary>
                      <m:naryPr>
                        <m:chr m:val="∑"/>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r>
                          <a:rPr lang="en-US" altLang="zh-CN" sz="2400" b="0" i="1" smtClean="0">
                            <a:latin typeface="Cambria Math" panose="02040503050406030204" pitchFamily="18" charset="0"/>
                          </a:rPr>
                          <m:t>𝐷</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nary>
                  </m:oMath>
                </a14:m>
                <a:r>
                  <a:rPr lang="en-US" altLang="zh-CN" sz="2400" dirty="0">
                    <a:solidFill>
                      <a:prstClr val="black"/>
                    </a:solidFill>
                  </a:rPr>
                  <a:t> </a:t>
                </a:r>
                <a14:m>
                  <m:oMath xmlns:m="http://schemas.openxmlformats.org/officeDocument/2006/math">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𝑛</m:t>
                        </m:r>
                      </m:den>
                    </m:f>
                    <m:nary>
                      <m:naryPr>
                        <m:chr m:val="∑"/>
                        <m:ctrlPr>
                          <a:rPr lang="en-US" altLang="zh-CN" sz="2400" i="1">
                            <a:solidFill>
                              <a:prstClr val="black"/>
                            </a:solidFill>
                            <a:latin typeface="Cambria Math" panose="02040503050406030204" pitchFamily="18" charset="0"/>
                          </a:rPr>
                        </m:ctrlPr>
                      </m:naryPr>
                      <m:sub>
                        <m:r>
                          <a:rPr lang="en-US" altLang="zh-CN" sz="2400" i="1">
                            <a:solidFill>
                              <a:prstClr val="black"/>
                            </a:solidFill>
                            <a:latin typeface="Cambria Math" panose="02040503050406030204" pitchFamily="18" charset="0"/>
                          </a:rPr>
                          <m:t>𝑖</m:t>
                        </m:r>
                        <m:r>
                          <a:rPr lang="en-US" altLang="zh-CN" sz="2400" i="1">
                            <a:solidFill>
                              <a:prstClr val="black"/>
                            </a:solidFill>
                            <a:latin typeface="Cambria Math" panose="02040503050406030204" pitchFamily="18" charset="0"/>
                          </a:rPr>
                          <m:t>=1</m:t>
                        </m:r>
                      </m:sub>
                      <m:sup>
                        <m:r>
                          <a:rPr lang="en-US" altLang="zh-CN" sz="2400" i="1">
                            <a:solidFill>
                              <a:prstClr val="black"/>
                            </a:solidFill>
                            <a:latin typeface="Cambria Math" panose="02040503050406030204" pitchFamily="18" charset="0"/>
                          </a:rPr>
                          <m:t>𝑛</m:t>
                        </m:r>
                      </m:sup>
                      <m:e>
                        <m:r>
                          <a:rPr lang="en-US" altLang="zh-CN" sz="2400" b="0" i="1" smtClean="0">
                            <a:solidFill>
                              <a:prstClr val="black"/>
                            </a:solidFill>
                            <a:latin typeface="Cambria Math" panose="02040503050406030204" pitchFamily="18" charset="0"/>
                          </a:rPr>
                          <m:t>𝐷𝑋</m:t>
                        </m:r>
                        <m:r>
                          <a:rPr lang="en-US" altLang="zh-CN" sz="2400" i="1">
                            <a:solidFill>
                              <a:prstClr val="black"/>
                            </a:solidFill>
                            <a:latin typeface="Cambria Math" panose="02040503050406030204" pitchFamily="18" charset="0"/>
                          </a:rPr>
                          <m:t>=</m:t>
                        </m:r>
                        <m:f>
                          <m:fPr>
                            <m:ctrlPr>
                              <a:rPr lang="en-US" altLang="zh-CN" sz="2400" b="0" i="1" smtClean="0">
                                <a:solidFill>
                                  <a:prstClr val="black"/>
                                </a:solidFill>
                                <a:latin typeface="Cambria Math" panose="02040503050406030204" pitchFamily="18" charset="0"/>
                              </a:rPr>
                            </m:ctrlPr>
                          </m:fPr>
                          <m:num>
                            <m:sSup>
                              <m:sSupPr>
                                <m:ctrlPr>
                                  <a:rPr lang="en-US" altLang="zh-CN" sz="2400" b="0" i="1" smtClean="0">
                                    <a:solidFill>
                                      <a:prstClr val="black"/>
                                    </a:solidFill>
                                    <a:latin typeface="Cambria Math" panose="02040503050406030204" pitchFamily="18" charset="0"/>
                                  </a:rPr>
                                </m:ctrlPr>
                              </m:sSupPr>
                              <m:e>
                                <m:r>
                                  <a:rPr lang="en-US" altLang="zh-CN" sz="2400" b="0" i="1" smtClean="0">
                                    <a:solidFill>
                                      <a:prstClr val="black"/>
                                    </a:solidFill>
                                    <a:latin typeface="Cambria Math" panose="02040503050406030204" pitchFamily="18" charset="0"/>
                                  </a:rPr>
                                  <m:t>𝜎</m:t>
                                </m:r>
                              </m:e>
                              <m:sup>
                                <m:r>
                                  <a:rPr lang="en-US" altLang="zh-CN" sz="2400" b="0" i="1" smtClean="0">
                                    <a:solidFill>
                                      <a:prstClr val="black"/>
                                    </a:solidFill>
                                    <a:latin typeface="Cambria Math" panose="02040503050406030204" pitchFamily="18" charset="0"/>
                                  </a:rPr>
                                  <m:t>2</m:t>
                                </m:r>
                              </m:sup>
                            </m:sSup>
                          </m:num>
                          <m:den>
                            <m:r>
                              <a:rPr lang="en-US" altLang="zh-CN" sz="2400" b="0" i="1" smtClean="0">
                                <a:solidFill>
                                  <a:prstClr val="black"/>
                                </a:solidFill>
                                <a:latin typeface="Cambria Math" panose="02040503050406030204" pitchFamily="18" charset="0"/>
                              </a:rPr>
                              <m:t>𝑛</m:t>
                            </m:r>
                          </m:den>
                        </m:f>
                      </m:e>
                    </m:nary>
                  </m:oMath>
                </a14:m>
                <a:endParaRPr lang="zh-CN" altLang="en-US" sz="2400" dirty="0"/>
              </a:p>
            </p:txBody>
          </p:sp>
        </mc:Choice>
        <mc:Fallback xmlns="">
          <p:sp>
            <p:nvSpPr>
              <p:cNvPr id="6" name="文本框 5">
                <a:extLst>
                  <a:ext uri="{FF2B5EF4-FFF2-40B4-BE49-F238E27FC236}">
                    <a16:creationId xmlns:a16="http://schemas.microsoft.com/office/drawing/2014/main" id="{A8D74009-74B9-4A4A-B184-858433AD8A7C}"/>
                  </a:ext>
                </a:extLst>
              </p:cNvPr>
              <p:cNvSpPr txBox="1">
                <a:spLocks noRot="1" noChangeAspect="1" noMove="1" noResize="1" noEditPoints="1" noAdjustHandles="1" noChangeArrowheads="1" noChangeShapeType="1" noTextEdit="1"/>
              </p:cNvSpPr>
              <p:nvPr/>
            </p:nvSpPr>
            <p:spPr>
              <a:xfrm>
                <a:off x="1176090" y="3137687"/>
                <a:ext cx="5196110" cy="668388"/>
              </a:xfrm>
              <a:prstGeom prst="rect">
                <a:avLst/>
              </a:prstGeom>
              <a:blipFill>
                <a:blip r:embed="rId5"/>
                <a:stretch>
                  <a:fillRect b="-91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554695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1A5FEA6-D5AC-44ED-ADEE-3E155C95D4C5}"/>
                  </a:ext>
                </a:extLst>
              </p:cNvPr>
              <p:cNvSpPr txBox="1"/>
              <p:nvPr/>
            </p:nvSpPr>
            <p:spPr>
              <a:xfrm>
                <a:off x="1187624" y="1131590"/>
                <a:ext cx="4006931" cy="461665"/>
              </a:xfrm>
              <a:prstGeom prst="rect">
                <a:avLst/>
              </a:prstGeom>
              <a:noFill/>
            </p:spPr>
            <p:txBody>
              <a:bodyPr wrap="none" rtlCol="0">
                <a:spAutoFit/>
              </a:bodyPr>
              <a:lstStyle/>
              <a:p>
                <a:r>
                  <a:rPr lang="zh-CN" altLang="en-US" sz="2400" dirty="0"/>
                  <a:t>样本方差</a:t>
                </a:r>
                <a14:m>
                  <m:oMath xmlns:m="http://schemas.openxmlformats.org/officeDocument/2006/math">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𝑆</m:t>
                        </m:r>
                      </m:e>
                      <m:sup>
                        <m:r>
                          <a:rPr lang="en-US" altLang="zh-CN" sz="2400" b="0" i="1" smtClean="0">
                            <a:latin typeface="Cambria Math" panose="02040503050406030204" pitchFamily="18" charset="0"/>
                          </a:rPr>
                          <m:t>2</m:t>
                        </m:r>
                      </m:sup>
                    </m:sSup>
                  </m:oMath>
                </a14:m>
                <a:r>
                  <a:rPr lang="zh-CN" altLang="en-US" sz="2400" dirty="0"/>
                  <a:t>的期望</a:t>
                </a:r>
                <a14:m>
                  <m:oMath xmlns:m="http://schemas.openxmlformats.org/officeDocument/2006/math">
                    <m:r>
                      <a:rPr lang="en-US" altLang="zh-CN" sz="2400" b="0" i="1" smtClean="0">
                        <a:latin typeface="Cambria Math" panose="02040503050406030204" pitchFamily="18" charset="0"/>
                      </a:rPr>
                      <m:t>𝐸</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𝑆</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𝐷𝑋</m:t>
                    </m:r>
                  </m:oMath>
                </a14:m>
                <a:endParaRPr lang="zh-CN" altLang="en-US" sz="2400" dirty="0"/>
              </a:p>
            </p:txBody>
          </p:sp>
        </mc:Choice>
        <mc:Fallback xmlns="">
          <p:sp>
            <p:nvSpPr>
              <p:cNvPr id="2" name="文本框 1">
                <a:extLst>
                  <a:ext uri="{FF2B5EF4-FFF2-40B4-BE49-F238E27FC236}">
                    <a16:creationId xmlns:a16="http://schemas.microsoft.com/office/drawing/2014/main" id="{01A5FEA6-D5AC-44ED-ADEE-3E155C95D4C5}"/>
                  </a:ext>
                </a:extLst>
              </p:cNvPr>
              <p:cNvSpPr txBox="1">
                <a:spLocks noRot="1" noChangeAspect="1" noMove="1" noResize="1" noEditPoints="1" noAdjustHandles="1" noChangeArrowheads="1" noChangeShapeType="1" noTextEdit="1"/>
              </p:cNvSpPr>
              <p:nvPr/>
            </p:nvSpPr>
            <p:spPr>
              <a:xfrm>
                <a:off x="1187624" y="1131590"/>
                <a:ext cx="4006931" cy="461665"/>
              </a:xfrm>
              <a:prstGeom prst="rect">
                <a:avLst/>
              </a:prstGeom>
              <a:blipFill>
                <a:blip r:embed="rId2"/>
                <a:stretch>
                  <a:fillRect l="-2435" t="-16000" b="-25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235D92A-2998-4191-A127-6BFC8EE895DA}"/>
                  </a:ext>
                </a:extLst>
              </p:cNvPr>
              <p:cNvSpPr txBox="1"/>
              <p:nvPr/>
            </p:nvSpPr>
            <p:spPr>
              <a:xfrm>
                <a:off x="1259632" y="1815517"/>
                <a:ext cx="3918252"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𝑋</m:t>
                                      </m:r>
                                    </m:e>
                                  </m:acc>
                                </m:e>
                              </m:d>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𝑛</m:t>
                              </m:r>
                            </m:sup>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2</m:t>
                                  </m:r>
                                </m:sup>
                              </m:sSub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sSup>
                                <m:sSupPr>
                                  <m:ctrlPr>
                                    <a:rPr lang="en-US" altLang="zh-CN" sz="2400" b="0" i="1" smtClean="0">
                                      <a:latin typeface="Cambria Math" panose="02040503050406030204" pitchFamily="18" charset="0"/>
                                    </a:rPr>
                                  </m:ctrlPr>
                                </m:sSup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𝑋</m:t>
                                      </m:r>
                                    </m:e>
                                  </m:acc>
                                </m:e>
                                <m:sup>
                                  <m:r>
                                    <a:rPr lang="en-US" altLang="zh-CN" sz="2400" b="0" i="1" smtClean="0">
                                      <a:latin typeface="Cambria Math" panose="02040503050406030204" pitchFamily="18" charset="0"/>
                                    </a:rPr>
                                    <m:t>2</m:t>
                                  </m:r>
                                </m:sup>
                              </m:sSup>
                            </m:e>
                          </m:nary>
                        </m:e>
                      </m:nary>
                      <m:r>
                        <a:rPr lang="en-US" altLang="zh-CN" sz="2400" b="0" i="1" smtClean="0">
                          <a:latin typeface="Cambria Math" panose="02040503050406030204" pitchFamily="18" charset="0"/>
                        </a:rPr>
                        <m:t> </m:t>
                      </m:r>
                    </m:oMath>
                  </m:oMathPara>
                </a14:m>
                <a:endParaRPr lang="zh-CN" altLang="en-US" sz="2400" dirty="0"/>
              </a:p>
            </p:txBody>
          </p:sp>
        </mc:Choice>
        <mc:Fallback xmlns="">
          <p:sp>
            <p:nvSpPr>
              <p:cNvPr id="3" name="文本框 2">
                <a:extLst>
                  <a:ext uri="{FF2B5EF4-FFF2-40B4-BE49-F238E27FC236}">
                    <a16:creationId xmlns:a16="http://schemas.microsoft.com/office/drawing/2014/main" id="{A235D92A-2998-4191-A127-6BFC8EE895DA}"/>
                  </a:ext>
                </a:extLst>
              </p:cNvPr>
              <p:cNvSpPr txBox="1">
                <a:spLocks noRot="1" noChangeAspect="1" noMove="1" noResize="1" noEditPoints="1" noAdjustHandles="1" noChangeArrowheads="1" noChangeShapeType="1" noTextEdit="1"/>
              </p:cNvSpPr>
              <p:nvPr/>
            </p:nvSpPr>
            <p:spPr>
              <a:xfrm>
                <a:off x="1259632" y="1815517"/>
                <a:ext cx="3918252" cy="100822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C06AE2A-CA28-4BEF-A2CB-93C4DF125D28}"/>
                  </a:ext>
                </a:extLst>
              </p:cNvPr>
              <p:cNvSpPr txBox="1"/>
              <p:nvPr/>
            </p:nvSpPr>
            <p:spPr>
              <a:xfrm>
                <a:off x="-756592" y="2739318"/>
                <a:ext cx="604867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oMath>
                  </m:oMathPara>
                </a14:m>
                <a:endParaRPr lang="zh-CN" altLang="en-US" dirty="0"/>
              </a:p>
            </p:txBody>
          </p:sp>
        </mc:Choice>
        <mc:Fallback xmlns="">
          <p:sp>
            <p:nvSpPr>
              <p:cNvPr id="5" name="文本框 4">
                <a:extLst>
                  <a:ext uri="{FF2B5EF4-FFF2-40B4-BE49-F238E27FC236}">
                    <a16:creationId xmlns:a16="http://schemas.microsoft.com/office/drawing/2014/main" id="{FC06AE2A-CA28-4BEF-A2CB-93C4DF125D28}"/>
                  </a:ext>
                </a:extLst>
              </p:cNvPr>
              <p:cNvSpPr txBox="1">
                <a:spLocks noRot="1" noChangeAspect="1" noMove="1" noResize="1" noEditPoints="1" noAdjustHandles="1" noChangeArrowheads="1" noChangeShapeType="1" noTextEdit="1"/>
              </p:cNvSpPr>
              <p:nvPr/>
            </p:nvSpPr>
            <p:spPr>
              <a:xfrm>
                <a:off x="-756592" y="2739318"/>
                <a:ext cx="6048672" cy="27699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85875C7-2241-4397-8F40-35C81F5344E8}"/>
                  </a:ext>
                </a:extLst>
              </p:cNvPr>
              <p:cNvSpPr txBox="1"/>
              <p:nvPr/>
            </p:nvSpPr>
            <p:spPr>
              <a:xfrm>
                <a:off x="1331640" y="2750939"/>
                <a:ext cx="7759112"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𝑋</m:t>
                                      </m:r>
                                    </m:e>
                                  </m:acc>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𝐸</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𝑛𝐸</m:t>
                              </m:r>
                              <m:sSup>
                                <m:sSupPr>
                                  <m:ctrlPr>
                                    <a:rPr lang="en-US" altLang="zh-CN" b="0" i="1" smtClean="0">
                                      <a:latin typeface="Cambria Math" panose="02040503050406030204" pitchFamily="18" charset="0"/>
                                    </a:rPr>
                                  </m:ctrlPr>
                                </m:s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𝑋</m:t>
                                      </m:r>
                                    </m:e>
                                  </m:acc>
                                </m:e>
                                <m:sup>
                                  <m:r>
                                    <a:rPr lang="en-US" altLang="zh-CN" b="0" i="1" smtClean="0">
                                      <a:latin typeface="Cambria Math" panose="02040503050406030204" pitchFamily="18" charset="0"/>
                                    </a:rPr>
                                    <m:t>2</m:t>
                                  </m:r>
                                </m:sup>
                              </m:sSup>
                            </m:e>
                          </m:nary>
                        </m:e>
                      </m:nary>
                      <m:r>
                        <a:rPr lang="en-US" altLang="zh-CN" b="0" i="1" smtClean="0">
                          <a:latin typeface="Cambria Math" panose="02040503050406030204" pitchFamily="18" charset="0"/>
                        </a:rPr>
                        <m:t>=</m:t>
                      </m:r>
                      <m:r>
                        <a:rPr lang="en-US" altLang="zh-CN" b="0" i="1" smtClean="0">
                          <a:latin typeface="Cambria Math" panose="02040503050406030204" pitchFamily="18" charset="0"/>
                        </a:rPr>
                        <m:t>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𝐷𝑋</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𝜇</m:t>
                              </m:r>
                            </m:e>
                            <m:sup>
                              <m:r>
                                <a:rPr lang="en-US" altLang="zh-CN" b="0" i="1" smtClean="0">
                                  <a:latin typeface="Cambria Math" panose="02040503050406030204" pitchFamily="18" charset="0"/>
                                </a:rPr>
                                <m:t>2</m:t>
                              </m:r>
                            </m:sup>
                          </m:sSup>
                        </m:e>
                      </m:d>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𝑋</m:t>
                          </m:r>
                        </m:e>
                      </m:acc>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𝜇</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en-US" altLang="zh-CN" i="1">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𝐷𝑋</m:t>
                      </m:r>
                      <m:r>
                        <a:rPr lang="en-US" altLang="zh-CN" b="0" i="1" smtClean="0">
                          <a:latin typeface="Cambria Math" panose="02040503050406030204" pitchFamily="18" charset="0"/>
                        </a:rPr>
                        <m:t> </m:t>
                      </m:r>
                    </m:oMath>
                  </m:oMathPara>
                </a14:m>
                <a:endParaRPr lang="zh-CN" altLang="en-US" dirty="0"/>
              </a:p>
            </p:txBody>
          </p:sp>
        </mc:Choice>
        <mc:Fallback xmlns="">
          <p:sp>
            <p:nvSpPr>
              <p:cNvPr id="6" name="文本框 5">
                <a:extLst>
                  <a:ext uri="{FF2B5EF4-FFF2-40B4-BE49-F238E27FC236}">
                    <a16:creationId xmlns:a16="http://schemas.microsoft.com/office/drawing/2014/main" id="{685875C7-2241-4397-8F40-35C81F5344E8}"/>
                  </a:ext>
                </a:extLst>
              </p:cNvPr>
              <p:cNvSpPr txBox="1">
                <a:spLocks noRot="1" noChangeAspect="1" noMove="1" noResize="1" noEditPoints="1" noAdjustHandles="1" noChangeArrowheads="1" noChangeShapeType="1" noTextEdit="1"/>
              </p:cNvSpPr>
              <p:nvPr/>
            </p:nvSpPr>
            <p:spPr>
              <a:xfrm>
                <a:off x="1331640" y="2750939"/>
                <a:ext cx="7759112" cy="75623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39A83C7-3D37-4502-A375-7163C1867B84}"/>
                  </a:ext>
                </a:extLst>
              </p:cNvPr>
              <p:cNvSpPr txBox="1"/>
              <p:nvPr/>
            </p:nvSpPr>
            <p:spPr>
              <a:xfrm>
                <a:off x="1211410" y="3633793"/>
                <a:ext cx="14822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𝐸</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𝑆</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𝐷𝑋</m:t>
                      </m:r>
                      <m:r>
                        <a:rPr lang="en-US" altLang="zh-CN" sz="2400" b="0" i="1" smtClean="0">
                          <a:latin typeface="Cambria Math" panose="02040503050406030204" pitchFamily="18" charset="0"/>
                        </a:rPr>
                        <m:t> </m:t>
                      </m:r>
                    </m:oMath>
                  </m:oMathPara>
                </a14:m>
                <a:endParaRPr lang="zh-CN" altLang="en-US" sz="2400" dirty="0"/>
              </a:p>
            </p:txBody>
          </p:sp>
        </mc:Choice>
        <mc:Fallback xmlns="">
          <p:sp>
            <p:nvSpPr>
              <p:cNvPr id="7" name="文本框 6">
                <a:extLst>
                  <a:ext uri="{FF2B5EF4-FFF2-40B4-BE49-F238E27FC236}">
                    <a16:creationId xmlns:a16="http://schemas.microsoft.com/office/drawing/2014/main" id="{339A83C7-3D37-4502-A375-7163C1867B84}"/>
                  </a:ext>
                </a:extLst>
              </p:cNvPr>
              <p:cNvSpPr txBox="1">
                <a:spLocks noRot="1" noChangeAspect="1" noMove="1" noResize="1" noEditPoints="1" noAdjustHandles="1" noChangeArrowheads="1" noChangeShapeType="1" noTextEdit="1"/>
              </p:cNvSpPr>
              <p:nvPr/>
            </p:nvSpPr>
            <p:spPr>
              <a:xfrm>
                <a:off x="1211410" y="3633793"/>
                <a:ext cx="1482201" cy="369332"/>
              </a:xfrm>
              <a:prstGeom prst="rect">
                <a:avLst/>
              </a:prstGeom>
              <a:blipFill>
                <a:blip r:embed="rId6"/>
                <a:stretch>
                  <a:fillRect l="-4527" b="-65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156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723E5CE-D66A-413E-B251-EDE1148B983C}"/>
                  </a:ext>
                </a:extLst>
              </p:cNvPr>
              <p:cNvSpPr txBox="1"/>
              <p:nvPr/>
            </p:nvSpPr>
            <p:spPr>
              <a:xfrm>
                <a:off x="539552" y="987574"/>
                <a:ext cx="7200800" cy="863634"/>
              </a:xfrm>
              <a:prstGeom prst="rect">
                <a:avLst/>
              </a:prstGeom>
              <a:noFill/>
            </p:spPr>
            <p:txBody>
              <a:bodyPr wrap="square" rtlCol="0">
                <a:spAutoFit/>
              </a:bodyPr>
              <a:lstStyle/>
              <a:p>
                <a:r>
                  <a:rPr lang="zh-CN" altLang="en-US" sz="2400" dirty="0"/>
                  <a:t>例：已知</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是总体</m:t>
                    </m:r>
                  </m:oMath>
                </a14:m>
                <a:r>
                  <a:rPr lang="en-US" altLang="zh-CN" sz="2400" dirty="0"/>
                  <a:t>X</a:t>
                </a:r>
                <a14:m>
                  <m:oMath xmlns:m="http://schemas.openxmlformats.org/officeDocument/2006/math">
                    <m:r>
                      <a:rPr lang="en-US" altLang="zh-CN" sz="2400" i="1" dirty="0">
                        <a:latin typeface="Cambria Math" panose="02040503050406030204" pitchFamily="18" charset="0"/>
                      </a:rPr>
                      <m:t>~</m:t>
                    </m:r>
                    <m:r>
                      <m:rPr>
                        <m:sty m:val="p"/>
                      </m:rPr>
                      <a:rPr lang="en-US" altLang="zh-CN" sz="2400" i="1" dirty="0" smtClean="0">
                        <a:latin typeface="Cambria Math" panose="02040503050406030204" pitchFamily="18" charset="0"/>
                      </a:rPr>
                      <m:t>P</m:t>
                    </m:r>
                    <m:r>
                      <a:rPr lang="en-US" altLang="zh-CN" sz="2400" i="1" dirty="0" smtClean="0">
                        <a:latin typeface="Cambria Math" panose="02040503050406030204" pitchFamily="18" charset="0"/>
                      </a:rPr>
                      <m:t>(</m:t>
                    </m:r>
                    <m:r>
                      <a:rPr lang="en-US" altLang="zh-CN" sz="2400" b="0" i="1" dirty="0" smtClean="0">
                        <a:latin typeface="Cambria Math" panose="02040503050406030204" pitchFamily="18" charset="0"/>
                      </a:rPr>
                      <m:t>𝜆</m:t>
                    </m:r>
                    <m:r>
                      <a:rPr lang="en-US" altLang="zh-CN" sz="2400" b="0" i="1" dirty="0" smtClean="0">
                        <a:latin typeface="Cambria Math" panose="02040503050406030204" pitchFamily="18" charset="0"/>
                      </a:rPr>
                      <m:t>)</m:t>
                    </m:r>
                  </m:oMath>
                </a14:m>
                <a:r>
                  <a:rPr lang="zh-CN" altLang="en-US" sz="2400" dirty="0"/>
                  <a:t>的简单随机样本</a:t>
                </a:r>
                <a:r>
                  <a:rPr lang="en-US" altLang="zh-CN" sz="2400" dirty="0"/>
                  <a:t>.</a:t>
                </a:r>
                <a:r>
                  <a:rPr lang="zh-CN" altLang="en-US" sz="2400" dirty="0"/>
                  <a:t>求</a:t>
                </a:r>
                <a14:m>
                  <m:oMath xmlns:m="http://schemas.openxmlformats.org/officeDocument/2006/math">
                    <m:r>
                      <a:rPr lang="en-US" altLang="zh-CN" sz="2400" b="0" i="1" smtClean="0">
                        <a:latin typeface="Cambria Math" panose="02040503050406030204" pitchFamily="18" charset="0"/>
                      </a:rPr>
                      <m:t>𝐸</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𝑋</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𝐷</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𝑋</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𝐸</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𝑆</m:t>
                        </m:r>
                      </m:e>
                      <m:sup>
                        <m:r>
                          <a:rPr lang="en-US" altLang="zh-CN" sz="2400" b="0" i="1" smtClean="0">
                            <a:latin typeface="Cambria Math" panose="02040503050406030204" pitchFamily="18" charset="0"/>
                          </a:rPr>
                          <m:t>2</m:t>
                        </m:r>
                      </m:sup>
                    </m:sSup>
                  </m:oMath>
                </a14:m>
                <a:endParaRPr lang="zh-CN" altLang="en-US" sz="2400" dirty="0"/>
              </a:p>
            </p:txBody>
          </p:sp>
        </mc:Choice>
        <mc:Fallback xmlns="">
          <p:sp>
            <p:nvSpPr>
              <p:cNvPr id="2" name="文本框 1">
                <a:extLst>
                  <a:ext uri="{FF2B5EF4-FFF2-40B4-BE49-F238E27FC236}">
                    <a16:creationId xmlns:a16="http://schemas.microsoft.com/office/drawing/2014/main" id="{5723E5CE-D66A-413E-B251-EDE1148B983C}"/>
                  </a:ext>
                </a:extLst>
              </p:cNvPr>
              <p:cNvSpPr txBox="1">
                <a:spLocks noRot="1" noChangeAspect="1" noMove="1" noResize="1" noEditPoints="1" noAdjustHandles="1" noChangeArrowheads="1" noChangeShapeType="1" noTextEdit="1"/>
              </p:cNvSpPr>
              <p:nvPr/>
            </p:nvSpPr>
            <p:spPr>
              <a:xfrm>
                <a:off x="539552" y="987574"/>
                <a:ext cx="7200800" cy="863634"/>
              </a:xfrm>
              <a:prstGeom prst="rect">
                <a:avLst/>
              </a:prstGeom>
              <a:blipFill>
                <a:blip r:embed="rId2"/>
                <a:stretch>
                  <a:fillRect l="-1355" t="-8451" b="-845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83DFC016-DFCA-494D-9F42-7EC3B4ABB055}"/>
              </a:ext>
            </a:extLst>
          </p:cNvPr>
          <p:cNvSpPr txBox="1"/>
          <p:nvPr/>
        </p:nvSpPr>
        <p:spPr>
          <a:xfrm>
            <a:off x="755650" y="2110085"/>
            <a:ext cx="914400" cy="461665"/>
          </a:xfrm>
          <a:prstGeom prst="rect">
            <a:avLst/>
          </a:prstGeom>
          <a:noFill/>
        </p:spPr>
        <p:txBody>
          <a:bodyPr wrap="square" rtlCol="0">
            <a:spAutoFit/>
          </a:bodyPr>
          <a:lstStyle/>
          <a:p>
            <a:r>
              <a:rPr lang="zh-CN" altLang="en-US" sz="2400" dirty="0"/>
              <a:t>解：</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98393A3-2C41-4544-BE1C-3F98F28BD38C}"/>
                  </a:ext>
                </a:extLst>
              </p:cNvPr>
              <p:cNvSpPr txBox="1"/>
              <p:nvPr/>
            </p:nvSpPr>
            <p:spPr>
              <a:xfrm>
                <a:off x="1475656" y="2156251"/>
                <a:ext cx="4572000" cy="461665"/>
              </a:xfrm>
              <a:prstGeom prst="rect">
                <a:avLst/>
              </a:prstGeom>
              <a:noFill/>
            </p:spPr>
            <p:txBody>
              <a:bodyPr wrap="square">
                <a:spAutoFit/>
              </a:bodyPr>
              <a:lstStyle/>
              <a:p>
                <a:r>
                  <a:rPr lang="zh-CN" altLang="en-US" sz="2400" dirty="0"/>
                  <a:t>由</a:t>
                </a:r>
                <a:r>
                  <a:rPr lang="en-US" altLang="zh-CN" sz="2400" dirty="0"/>
                  <a:t>X</a:t>
                </a:r>
                <a14:m>
                  <m:oMath xmlns:m="http://schemas.openxmlformats.org/officeDocument/2006/math">
                    <m:r>
                      <a:rPr lang="en-US" altLang="zh-CN" sz="2400" i="1" dirty="0">
                        <a:latin typeface="Cambria Math" panose="02040503050406030204" pitchFamily="18" charset="0"/>
                      </a:rPr>
                      <m:t>~</m:t>
                    </m:r>
                    <m:r>
                      <m:rPr>
                        <m:sty m:val="p"/>
                      </m:rPr>
                      <a:rPr lang="en-US" altLang="zh-CN" sz="2400" i="1" dirty="0" smtClean="0">
                        <a:latin typeface="Cambria Math" panose="02040503050406030204" pitchFamily="18" charset="0"/>
                      </a:rPr>
                      <m:t>P</m:t>
                    </m:r>
                    <m:d>
                      <m:dPr>
                        <m:ctrlPr>
                          <a:rPr lang="en-US" altLang="zh-CN" sz="2400" i="1" dirty="0" smtClean="0">
                            <a:latin typeface="Cambria Math" panose="02040503050406030204" pitchFamily="18" charset="0"/>
                          </a:rPr>
                        </m:ctrlPr>
                      </m:dPr>
                      <m:e>
                        <m:r>
                          <a:rPr lang="en-US" altLang="zh-CN" sz="2400" b="0" i="1" dirty="0" smtClean="0">
                            <a:latin typeface="Cambria Math" panose="02040503050406030204" pitchFamily="18" charset="0"/>
                          </a:rPr>
                          <m:t>𝜆</m:t>
                        </m:r>
                      </m:e>
                    </m:d>
                    <m:r>
                      <a:rPr lang="zh-CN" altLang="en-US" sz="2400" i="1" dirty="0">
                        <a:latin typeface="Cambria Math" panose="02040503050406030204" pitchFamily="18" charset="0"/>
                      </a:rPr>
                      <m:t>得</m:t>
                    </m:r>
                    <m:r>
                      <a:rPr lang="en-US" altLang="zh-CN" sz="2400" b="0" i="1" dirty="0" smtClean="0">
                        <a:latin typeface="Cambria Math" panose="02040503050406030204" pitchFamily="18" charset="0"/>
                      </a:rPr>
                      <m:t>𝐸𝑋</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𝜆</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𝐷𝑋</m:t>
                    </m:r>
                    <m:r>
                      <a:rPr lang="en-US" altLang="zh-CN" sz="2400" b="0" i="1" dirty="0" smtClean="0">
                        <a:latin typeface="Cambria Math" panose="02040503050406030204" pitchFamily="18" charset="0"/>
                      </a:rPr>
                      <m:t>,</m:t>
                    </m:r>
                  </m:oMath>
                </a14:m>
                <a:endParaRPr lang="zh-CN" altLang="en-US" sz="2400" dirty="0"/>
              </a:p>
            </p:txBody>
          </p:sp>
        </mc:Choice>
        <mc:Fallback xmlns="">
          <p:sp>
            <p:nvSpPr>
              <p:cNvPr id="5" name="文本框 4">
                <a:extLst>
                  <a:ext uri="{FF2B5EF4-FFF2-40B4-BE49-F238E27FC236}">
                    <a16:creationId xmlns:a16="http://schemas.microsoft.com/office/drawing/2014/main" id="{698393A3-2C41-4544-BE1C-3F98F28BD38C}"/>
                  </a:ext>
                </a:extLst>
              </p:cNvPr>
              <p:cNvSpPr txBox="1">
                <a:spLocks noRot="1" noChangeAspect="1" noMove="1" noResize="1" noEditPoints="1" noAdjustHandles="1" noChangeArrowheads="1" noChangeShapeType="1" noTextEdit="1"/>
              </p:cNvSpPr>
              <p:nvPr/>
            </p:nvSpPr>
            <p:spPr>
              <a:xfrm>
                <a:off x="1475656" y="2156251"/>
                <a:ext cx="4572000" cy="461665"/>
              </a:xfrm>
              <a:prstGeom prst="rect">
                <a:avLst/>
              </a:prstGeom>
              <a:blipFill>
                <a:blip r:embed="rId3"/>
                <a:stretch>
                  <a:fillRect l="-2000" t="-16000" b="-3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C48F4BC-405A-4F7B-B460-E7BF478F6369}"/>
                  </a:ext>
                </a:extLst>
              </p:cNvPr>
              <p:cNvSpPr txBox="1"/>
              <p:nvPr/>
            </p:nvSpPr>
            <p:spPr>
              <a:xfrm>
                <a:off x="1448624" y="2780985"/>
                <a:ext cx="6579760" cy="635046"/>
              </a:xfrm>
              <a:prstGeom prst="rect">
                <a:avLst/>
              </a:prstGeom>
              <a:noFill/>
            </p:spPr>
            <p:txBody>
              <a:bodyPr wrap="square">
                <a:spAutoFit/>
              </a:bodyPr>
              <a:lstStyle/>
              <a:p>
                <a:r>
                  <a:rPr lang="zh-CN" altLang="en-US" sz="2400" dirty="0"/>
                  <a:t>故</a:t>
                </a:r>
                <a14:m>
                  <m:oMath xmlns:m="http://schemas.openxmlformats.org/officeDocument/2006/math">
                    <m:r>
                      <a:rPr lang="en-US" altLang="zh-CN" sz="2400" b="0" i="1" dirty="0" smtClean="0">
                        <a:latin typeface="Cambria Math" panose="02040503050406030204" pitchFamily="18" charset="0"/>
                      </a:rPr>
                      <m:t>𝐸</m:t>
                    </m:r>
                    <m:acc>
                      <m:accPr>
                        <m:chr m:val="̅"/>
                        <m:ctrlPr>
                          <a:rPr lang="en-US" altLang="zh-CN" sz="2400" b="0" i="1" dirty="0" smtClean="0">
                            <a:latin typeface="Cambria Math" panose="02040503050406030204" pitchFamily="18" charset="0"/>
                          </a:rPr>
                        </m:ctrlPr>
                      </m:accPr>
                      <m:e>
                        <m:r>
                          <a:rPr lang="en-US" altLang="zh-CN" sz="2400" b="0" i="1" dirty="0" smtClean="0">
                            <a:latin typeface="Cambria Math" panose="02040503050406030204" pitchFamily="18" charset="0"/>
                          </a:rPr>
                          <m:t>𝑋</m:t>
                        </m:r>
                      </m:e>
                    </m:acc>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𝐸𝑋</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𝜆</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𝐷</m:t>
                    </m:r>
                    <m:acc>
                      <m:accPr>
                        <m:chr m:val="̅"/>
                        <m:ctrlPr>
                          <a:rPr lang="en-US" altLang="zh-CN" sz="2400" b="0" i="1" dirty="0" smtClean="0">
                            <a:latin typeface="Cambria Math" panose="02040503050406030204" pitchFamily="18" charset="0"/>
                          </a:rPr>
                        </m:ctrlPr>
                      </m:accPr>
                      <m:e>
                        <m:r>
                          <a:rPr lang="en-US" altLang="zh-CN" sz="2400" b="0" i="1" dirty="0" smtClean="0">
                            <a:latin typeface="Cambria Math" panose="02040503050406030204" pitchFamily="18" charset="0"/>
                          </a:rPr>
                          <m:t>𝑋</m:t>
                        </m:r>
                      </m:e>
                    </m:acc>
                    <m:r>
                      <a:rPr lang="en-US" altLang="zh-CN" sz="2400" b="0" i="1" dirty="0" smtClean="0">
                        <a:latin typeface="Cambria Math" panose="02040503050406030204" pitchFamily="18" charset="0"/>
                      </a:rPr>
                      <m:t>=</m:t>
                    </m:r>
                    <m:f>
                      <m:fPr>
                        <m:ctrlPr>
                          <a:rPr lang="en-US" altLang="zh-CN" sz="2400" b="0" i="1" dirty="0" smtClean="0">
                            <a:latin typeface="Cambria Math" panose="02040503050406030204" pitchFamily="18" charset="0"/>
                          </a:rPr>
                        </m:ctrlPr>
                      </m:fPr>
                      <m:num>
                        <m:r>
                          <a:rPr lang="en-US" altLang="zh-CN" sz="2400" b="0" i="1" dirty="0" smtClean="0">
                            <a:latin typeface="Cambria Math" panose="02040503050406030204" pitchFamily="18" charset="0"/>
                          </a:rPr>
                          <m:t>𝐷𝑋</m:t>
                        </m:r>
                      </m:num>
                      <m:den>
                        <m:r>
                          <a:rPr lang="en-US" altLang="zh-CN" sz="2400" b="0" i="1" dirty="0" smtClean="0">
                            <a:latin typeface="Cambria Math" panose="02040503050406030204" pitchFamily="18" charset="0"/>
                          </a:rPr>
                          <m:t>𝑛</m:t>
                        </m:r>
                      </m:den>
                    </m:f>
                    <m:r>
                      <a:rPr lang="en-US" altLang="zh-CN" sz="2400" b="0" i="1" dirty="0" smtClean="0">
                        <a:latin typeface="Cambria Math" panose="02040503050406030204" pitchFamily="18" charset="0"/>
                      </a:rPr>
                      <m:t>=</m:t>
                    </m:r>
                    <m:f>
                      <m:fPr>
                        <m:ctrlPr>
                          <a:rPr lang="en-US" altLang="zh-CN" sz="2400" b="0" i="1" dirty="0" smtClean="0">
                            <a:latin typeface="Cambria Math" panose="02040503050406030204" pitchFamily="18" charset="0"/>
                          </a:rPr>
                        </m:ctrlPr>
                      </m:fPr>
                      <m:num>
                        <m:r>
                          <a:rPr lang="en-US" altLang="zh-CN" sz="2400" b="0" i="1" dirty="0" smtClean="0">
                            <a:latin typeface="Cambria Math" panose="02040503050406030204" pitchFamily="18" charset="0"/>
                          </a:rPr>
                          <m:t>𝜆</m:t>
                        </m:r>
                      </m:num>
                      <m:den>
                        <m:r>
                          <a:rPr lang="en-US" altLang="zh-CN" sz="2400" b="0" i="1" dirty="0" smtClean="0">
                            <a:latin typeface="Cambria Math" panose="02040503050406030204" pitchFamily="18" charset="0"/>
                          </a:rPr>
                          <m:t>𝑛</m:t>
                        </m:r>
                      </m:den>
                    </m:f>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𝐸</m:t>
                    </m:r>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𝑆</m:t>
                        </m:r>
                      </m:e>
                      <m:sup>
                        <m:r>
                          <a:rPr lang="en-US" altLang="zh-CN" sz="2400" b="0" i="1" dirty="0" smtClean="0">
                            <a:latin typeface="Cambria Math" panose="02040503050406030204" pitchFamily="18" charset="0"/>
                          </a:rPr>
                          <m:t>2</m:t>
                        </m:r>
                      </m:sup>
                    </m:sSup>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𝐷𝑋</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𝜆</m:t>
                    </m:r>
                    <m:r>
                      <a:rPr lang="en-US" altLang="zh-CN" sz="2400" b="0" i="1" dirty="0" smtClean="0">
                        <a:latin typeface="Cambria Math" panose="02040503050406030204" pitchFamily="18" charset="0"/>
                      </a:rPr>
                      <m:t>,</m:t>
                    </m:r>
                  </m:oMath>
                </a14:m>
                <a:endParaRPr lang="zh-CN" altLang="en-US" sz="2400" dirty="0"/>
              </a:p>
            </p:txBody>
          </p:sp>
        </mc:Choice>
        <mc:Fallback xmlns="">
          <p:sp>
            <p:nvSpPr>
              <p:cNvPr id="6" name="文本框 5">
                <a:extLst>
                  <a:ext uri="{FF2B5EF4-FFF2-40B4-BE49-F238E27FC236}">
                    <a16:creationId xmlns:a16="http://schemas.microsoft.com/office/drawing/2014/main" id="{6C48F4BC-405A-4F7B-B460-E7BF478F6369}"/>
                  </a:ext>
                </a:extLst>
              </p:cNvPr>
              <p:cNvSpPr txBox="1">
                <a:spLocks noRot="1" noChangeAspect="1" noMove="1" noResize="1" noEditPoints="1" noAdjustHandles="1" noChangeArrowheads="1" noChangeShapeType="1" noTextEdit="1"/>
              </p:cNvSpPr>
              <p:nvPr/>
            </p:nvSpPr>
            <p:spPr>
              <a:xfrm>
                <a:off x="1448624" y="2780985"/>
                <a:ext cx="6579760" cy="635046"/>
              </a:xfrm>
              <a:prstGeom prst="rect">
                <a:avLst/>
              </a:prstGeom>
              <a:blipFill>
                <a:blip r:embed="rId4"/>
                <a:stretch>
                  <a:fillRect l="-1483" b="-48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3006844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Box 12">
            <a:extLst>
              <a:ext uri="{FF2B5EF4-FFF2-40B4-BE49-F238E27FC236}">
                <a16:creationId xmlns:a16="http://schemas.microsoft.com/office/drawing/2014/main" id="{70875620-173C-4173-A4DE-9C48E25B5D9F}"/>
              </a:ext>
            </a:extLst>
          </p:cNvPr>
          <p:cNvSpPr txBox="1">
            <a:spLocks noChangeArrowheads="1"/>
          </p:cNvSpPr>
          <p:nvPr/>
        </p:nvSpPr>
        <p:spPr bwMode="auto">
          <a:xfrm>
            <a:off x="2878969" y="1443215"/>
            <a:ext cx="13580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a:ea typeface="宋体"/>
              </a:rPr>
              <a:t>∙∙∙</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endParaRPr kumimoji="1" lang="en-US" altLang="zh-CN" sz="1800" i="1" baseline="-25000" dirty="0">
              <a:solidFill>
                <a:srgbClr val="1F4B70"/>
              </a:solidFill>
              <a:latin typeface="Times New Roman" panose="02020603050405020304" pitchFamily="18" charset="0"/>
            </a:endParaRPr>
          </a:p>
        </p:txBody>
      </p:sp>
      <p:sp>
        <p:nvSpPr>
          <p:cNvPr id="26" name="AutoShape 13">
            <a:extLst>
              <a:ext uri="{FF2B5EF4-FFF2-40B4-BE49-F238E27FC236}">
                <a16:creationId xmlns:a16="http://schemas.microsoft.com/office/drawing/2014/main" id="{4BACEFD4-369B-4AB0-B0C3-0A37E7EE19FD}"/>
              </a:ext>
            </a:extLst>
          </p:cNvPr>
          <p:cNvSpPr>
            <a:spLocks noChangeArrowheads="1"/>
          </p:cNvSpPr>
          <p:nvPr/>
        </p:nvSpPr>
        <p:spPr bwMode="auto">
          <a:xfrm>
            <a:off x="4208832" y="1561310"/>
            <a:ext cx="306008" cy="153004"/>
          </a:xfrm>
          <a:custGeom>
            <a:avLst/>
            <a:gdLst>
              <a:gd name="T0" fmla="*/ 129420076 w 21600"/>
              <a:gd name="T1" fmla="*/ 0 h 21600"/>
              <a:gd name="T2" fmla="*/ 0 w 21600"/>
              <a:gd name="T3" fmla="*/ 10785005 h 21600"/>
              <a:gd name="T4" fmla="*/ 129420076 w 21600"/>
              <a:gd name="T5" fmla="*/ 21570009 h 21600"/>
              <a:gd name="T6" fmla="*/ 172560114 w 21600"/>
              <a:gd name="T7" fmla="*/ 10785005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1F4B70"/>
          </a:solidFill>
          <a:ln>
            <a:noFill/>
          </a:ln>
          <a:effectLst/>
        </p:spPr>
        <p:txBody>
          <a:bodyPr wrap="none" anchor="ctr"/>
          <a:lstStyle/>
          <a:p>
            <a:endParaRPr lang="zh-CN" altLang="en-US" sz="1631"/>
          </a:p>
        </p:txBody>
      </p:sp>
      <p:sp>
        <p:nvSpPr>
          <p:cNvPr id="27" name="Text Box 14">
            <a:extLst>
              <a:ext uri="{FF2B5EF4-FFF2-40B4-BE49-F238E27FC236}">
                <a16:creationId xmlns:a16="http://schemas.microsoft.com/office/drawing/2014/main" id="{6D21C5BA-BE1E-4459-A780-D1735E345545}"/>
              </a:ext>
            </a:extLst>
          </p:cNvPr>
          <p:cNvSpPr txBox="1">
            <a:spLocks noChangeArrowheads="1"/>
          </p:cNvSpPr>
          <p:nvPr/>
        </p:nvSpPr>
        <p:spPr bwMode="auto">
          <a:xfrm>
            <a:off x="4532104" y="1443215"/>
            <a:ext cx="19447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a:ea typeface="宋体"/>
              </a:rPr>
              <a:t>∙∙∙</a:t>
            </a:r>
            <a:r>
              <a:rPr kumimoji="1" lang="en-US" altLang="zh-CN" sz="1800" dirty="0">
                <a:solidFill>
                  <a:srgbClr val="1F4B70"/>
                </a:solidFill>
                <a:latin typeface="MT Extra" panose="05050102010205020202" pitchFamily="18" charset="2"/>
              </a:rPr>
              <a:t> </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baseline="30000" dirty="0">
                <a:solidFill>
                  <a:srgbClr val="1F4B70"/>
                </a:solidFill>
                <a:latin typeface="Times New Roman" panose="02020603050405020304" pitchFamily="18" charset="0"/>
              </a:rPr>
              <a:t>*</a:t>
            </a:r>
          </a:p>
        </p:txBody>
      </p:sp>
      <p:grpSp>
        <p:nvGrpSpPr>
          <p:cNvPr id="2" name="组合 1">
            <a:extLst>
              <a:ext uri="{FF2B5EF4-FFF2-40B4-BE49-F238E27FC236}">
                <a16:creationId xmlns:a16="http://schemas.microsoft.com/office/drawing/2014/main" id="{EFFA9F48-646E-4C93-97C7-F695DAF1C8DB}"/>
              </a:ext>
            </a:extLst>
          </p:cNvPr>
          <p:cNvGrpSpPr/>
          <p:nvPr/>
        </p:nvGrpSpPr>
        <p:grpSpPr>
          <a:xfrm>
            <a:off x="683568" y="1385197"/>
            <a:ext cx="2026416" cy="454590"/>
            <a:chOff x="770153" y="961849"/>
            <a:chExt cx="2026416" cy="454590"/>
          </a:xfrm>
        </p:grpSpPr>
        <p:sp>
          <p:nvSpPr>
            <p:cNvPr id="52" name="Freeform 6">
              <a:extLst>
                <a:ext uri="{FF2B5EF4-FFF2-40B4-BE49-F238E27FC236}">
                  <a16:creationId xmlns:a16="http://schemas.microsoft.com/office/drawing/2014/main" id="{B586BE21-D196-4EA0-AEDD-CFC3B2C7139A}"/>
                </a:ext>
              </a:extLst>
            </p:cNvPr>
            <p:cNvSpPr>
              <a:spLocks/>
            </p:cNvSpPr>
            <p:nvPr/>
          </p:nvSpPr>
          <p:spPr bwMode="auto">
            <a:xfrm>
              <a:off x="770153" y="961849"/>
              <a:ext cx="2026416" cy="454590"/>
            </a:xfrm>
            <a:custGeom>
              <a:avLst/>
              <a:gdLst>
                <a:gd name="T0" fmla="*/ 1984 w 2306"/>
                <a:gd name="T1" fmla="*/ 732 h 732"/>
                <a:gd name="T2" fmla="*/ 0 w 2306"/>
                <a:gd name="T3" fmla="*/ 732 h 732"/>
                <a:gd name="T4" fmla="*/ 321 w 2306"/>
                <a:gd name="T5" fmla="*/ 366 h 732"/>
                <a:gd name="T6" fmla="*/ 0 w 2306"/>
                <a:gd name="T7" fmla="*/ 0 h 732"/>
                <a:gd name="T8" fmla="*/ 1984 w 2306"/>
                <a:gd name="T9" fmla="*/ 0 h 732"/>
                <a:gd name="T10" fmla="*/ 2306 w 2306"/>
                <a:gd name="T11" fmla="*/ 366 h 732"/>
                <a:gd name="T12" fmla="*/ 1984 w 2306"/>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6" h="732">
                  <a:moveTo>
                    <a:pt x="1984" y="732"/>
                  </a:moveTo>
                  <a:lnTo>
                    <a:pt x="0" y="732"/>
                  </a:lnTo>
                  <a:lnTo>
                    <a:pt x="321" y="366"/>
                  </a:lnTo>
                  <a:lnTo>
                    <a:pt x="0" y="0"/>
                  </a:lnTo>
                  <a:lnTo>
                    <a:pt x="1984" y="0"/>
                  </a:lnTo>
                  <a:lnTo>
                    <a:pt x="2306" y="366"/>
                  </a:lnTo>
                  <a:lnTo>
                    <a:pt x="1984" y="73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6" name="TextBox 72">
              <a:extLst>
                <a:ext uri="{FF2B5EF4-FFF2-40B4-BE49-F238E27FC236}">
                  <a16:creationId xmlns:a16="http://schemas.microsoft.com/office/drawing/2014/main" id="{8CF8BC4E-5AA1-4B6A-AC72-427D32E2906C}"/>
                </a:ext>
              </a:extLst>
            </p:cNvPr>
            <p:cNvSpPr txBox="1"/>
            <p:nvPr/>
          </p:nvSpPr>
          <p:spPr>
            <a:xfrm>
              <a:off x="1037412" y="1019867"/>
              <a:ext cx="1210588" cy="338554"/>
            </a:xfrm>
            <a:prstGeom prst="rect">
              <a:avLst/>
            </a:prstGeom>
            <a:noFill/>
          </p:spPr>
          <p:txBody>
            <a:bodyPr wrap="none" rtlCol="0">
              <a:spAutoFit/>
            </a:bodyPr>
            <a:lstStyle/>
            <a:p>
              <a:r>
                <a:rPr lang="zh-CN" altLang="en-US" sz="16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顺序统计量</a:t>
              </a:r>
            </a:p>
          </p:txBody>
        </p:sp>
      </p:grpSp>
      <p:grpSp>
        <p:nvGrpSpPr>
          <p:cNvPr id="30" name="组合 29">
            <a:extLst>
              <a:ext uri="{FF2B5EF4-FFF2-40B4-BE49-F238E27FC236}">
                <a16:creationId xmlns:a16="http://schemas.microsoft.com/office/drawing/2014/main" id="{B3E2E709-0329-4F17-B00A-B1055008555B}"/>
              </a:ext>
            </a:extLst>
          </p:cNvPr>
          <p:cNvGrpSpPr/>
          <p:nvPr/>
        </p:nvGrpSpPr>
        <p:grpSpPr>
          <a:xfrm>
            <a:off x="755650" y="853690"/>
            <a:ext cx="1410824" cy="328305"/>
            <a:chOff x="2139503" y="696411"/>
            <a:chExt cx="1712417" cy="398487"/>
          </a:xfrm>
        </p:grpSpPr>
        <p:sp>
          <p:nvSpPr>
            <p:cNvPr id="32" name="矩形: 圆角 115">
              <a:extLst>
                <a:ext uri="{FF2B5EF4-FFF2-40B4-BE49-F238E27FC236}">
                  <a16:creationId xmlns:a16="http://schemas.microsoft.com/office/drawing/2014/main" id="{A66B3F6B-A4A2-41C5-8B32-BD546E3F912A}"/>
                </a:ext>
              </a:extLst>
            </p:cNvPr>
            <p:cNvSpPr/>
            <p:nvPr/>
          </p:nvSpPr>
          <p:spPr>
            <a:xfrm>
              <a:off x="2139503" y="696411"/>
              <a:ext cx="1712417" cy="39848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 Box 2">
              <a:extLst>
                <a:ext uri="{FF2B5EF4-FFF2-40B4-BE49-F238E27FC236}">
                  <a16:creationId xmlns:a16="http://schemas.microsoft.com/office/drawing/2014/main" id="{02657EC0-A49D-4B29-8641-FBDAF98BD7B2}"/>
                </a:ext>
              </a:extLst>
            </p:cNvPr>
            <p:cNvSpPr txBox="1">
              <a:spLocks noChangeArrowheads="1"/>
            </p:cNvSpPr>
            <p:nvPr/>
          </p:nvSpPr>
          <p:spPr bwMode="auto">
            <a:xfrm>
              <a:off x="2399984" y="738958"/>
              <a:ext cx="1217706" cy="3116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4802" tIns="32401" rIns="64802" bIns="32401" numCol="1" anchor="ctr" anchorCtr="0" compatLnSpc="1">
              <a:prstTxWarp prst="textNoShape">
                <a:avLst/>
              </a:prstTxWarp>
              <a:spAutoFit/>
            </a:bodyPr>
            <a:lstStyle>
              <a:lvl1pPr algn="ctr" defTabSz="914282" rtl="0" eaLnBrk="1" latinLnBrk="0" hangingPunct="1">
                <a:spcBef>
                  <a:spcPct val="0"/>
                </a:spcBef>
                <a:buNone/>
                <a:defRPr sz="4400" kern="1200">
                  <a:solidFill>
                    <a:schemeClr val="tx1"/>
                  </a:solidFill>
                  <a:latin typeface="+mj-lt"/>
                  <a:ea typeface="+mj-ea"/>
                  <a:cs typeface="+mj-cs"/>
                </a:defRPr>
              </a:lvl1pPr>
            </a:lstStyle>
            <a:p>
              <a:pPr>
                <a:spcBef>
                  <a:spcPct val="50000"/>
                </a:spcBef>
                <a:defRPr/>
              </a:pPr>
              <a:r>
                <a:rPr lang="zh-CN" altLang="en-US" sz="1600" b="1" dirty="0">
                  <a:solidFill>
                    <a:schemeClr val="bg1"/>
                  </a:solidFill>
                  <a:latin typeface="微软雅黑" panose="020B0503020204020204" pitchFamily="34" charset="-122"/>
                  <a:ea typeface="微软雅黑" panose="020B0503020204020204" pitchFamily="34" charset="-122"/>
                </a:rPr>
                <a:t>常用统计量 </a:t>
              </a:r>
            </a:p>
          </p:txBody>
        </p:sp>
      </p:grpSp>
      <p:graphicFrame>
        <p:nvGraphicFramePr>
          <p:cNvPr id="48" name="对象 47">
            <a:extLst>
              <a:ext uri="{FF2B5EF4-FFF2-40B4-BE49-F238E27FC236}">
                <a16:creationId xmlns:a16="http://schemas.microsoft.com/office/drawing/2014/main" id="{BB014FF0-BC90-4B9B-A52D-A8EBF304B866}"/>
              </a:ext>
            </a:extLst>
          </p:cNvPr>
          <p:cNvGraphicFramePr>
            <a:graphicFrameLocks/>
          </p:cNvGraphicFramePr>
          <p:nvPr/>
        </p:nvGraphicFramePr>
        <p:xfrm>
          <a:off x="1328738" y="2141538"/>
          <a:ext cx="3073400" cy="1462087"/>
        </p:xfrm>
        <a:graphic>
          <a:graphicData uri="http://schemas.openxmlformats.org/presentationml/2006/ole">
            <mc:AlternateContent xmlns:mc="http://schemas.openxmlformats.org/markup-compatibility/2006">
              <mc:Choice xmlns:v="urn:schemas-microsoft-com:vml" Requires="v">
                <p:oleObj name="Equation" r:id="rId3" imgW="1574640" imgH="749160" progId="Equation.DSMT4">
                  <p:embed/>
                </p:oleObj>
              </mc:Choice>
              <mc:Fallback>
                <p:oleObj name="Equation" r:id="rId3" imgW="1574640" imgH="749160" progId="Equation.DSMT4">
                  <p:embed/>
                  <p:pic>
                    <p:nvPicPr>
                      <p:cNvPr id="48" name="对象 47">
                        <a:extLst>
                          <a:ext uri="{FF2B5EF4-FFF2-40B4-BE49-F238E27FC236}">
                            <a16:creationId xmlns:a16="http://schemas.microsoft.com/office/drawing/2014/main" id="{BB014FF0-BC90-4B9B-A52D-A8EBF304B866}"/>
                          </a:ext>
                        </a:extLst>
                      </p:cNvPr>
                      <p:cNvPicPr>
                        <a:picLocks noChangeArrowheads="1"/>
                      </p:cNvPicPr>
                      <p:nvPr/>
                    </p:nvPicPr>
                    <p:blipFill>
                      <a:blip r:embed="rId4"/>
                      <a:srcRect/>
                      <a:stretch>
                        <a:fillRect/>
                      </a:stretch>
                    </p:blipFill>
                    <p:spPr bwMode="auto">
                      <a:xfrm>
                        <a:off x="1328738" y="2141538"/>
                        <a:ext cx="3073400"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 name="对象 48">
            <a:extLst>
              <a:ext uri="{FF2B5EF4-FFF2-40B4-BE49-F238E27FC236}">
                <a16:creationId xmlns:a16="http://schemas.microsoft.com/office/drawing/2014/main" id="{B805E347-9785-45E0-BC9E-28D4B580962F}"/>
              </a:ext>
            </a:extLst>
          </p:cNvPr>
          <p:cNvGraphicFramePr>
            <a:graphicFrameLocks/>
          </p:cNvGraphicFramePr>
          <p:nvPr/>
        </p:nvGraphicFramePr>
        <p:xfrm>
          <a:off x="5168900" y="2103438"/>
          <a:ext cx="3556000" cy="1600200"/>
        </p:xfrm>
        <a:graphic>
          <a:graphicData uri="http://schemas.openxmlformats.org/presentationml/2006/ole">
            <mc:AlternateContent xmlns:mc="http://schemas.openxmlformats.org/markup-compatibility/2006">
              <mc:Choice xmlns:v="urn:schemas-microsoft-com:vml" Requires="v">
                <p:oleObj name="Equation" r:id="rId5" imgW="1777680" imgH="799920" progId="Equation.DSMT4">
                  <p:embed/>
                </p:oleObj>
              </mc:Choice>
              <mc:Fallback>
                <p:oleObj name="Equation" r:id="rId5" imgW="1777680" imgH="799920" progId="Equation.DSMT4">
                  <p:embed/>
                  <p:pic>
                    <p:nvPicPr>
                      <p:cNvPr id="49" name="对象 48">
                        <a:extLst>
                          <a:ext uri="{FF2B5EF4-FFF2-40B4-BE49-F238E27FC236}">
                            <a16:creationId xmlns:a16="http://schemas.microsoft.com/office/drawing/2014/main" id="{B805E347-9785-45E0-BC9E-28D4B580962F}"/>
                          </a:ext>
                        </a:extLst>
                      </p:cNvPr>
                      <p:cNvPicPr>
                        <a:picLocks noChangeArrowheads="1"/>
                      </p:cNvPicPr>
                      <p:nvPr/>
                    </p:nvPicPr>
                    <p:blipFill>
                      <a:blip r:embed="rId6"/>
                      <a:srcRect/>
                      <a:stretch>
                        <a:fillRect/>
                      </a:stretch>
                    </p:blipFill>
                    <p:spPr bwMode="auto">
                      <a:xfrm>
                        <a:off x="5168900" y="2103438"/>
                        <a:ext cx="3556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585213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iterate type="wd">
                                    <p:tmPct val="80000"/>
                                  </p:iterate>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childTnLst>
                          </p:cTn>
                        </p:par>
                        <p:par>
                          <p:cTn id="14" fill="hold">
                            <p:stCondLst>
                              <p:cond delay="2900"/>
                            </p:stCondLst>
                            <p:childTnLst>
                              <p:par>
                                <p:cTn id="15" presetID="12" presetClass="entr" presetSubtype="8"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slide(fromLeft)">
                                      <p:cBhvr>
                                        <p:cTn id="17" dur="500"/>
                                        <p:tgtEl>
                                          <p:spTgt spid="26"/>
                                        </p:tgtEl>
                                      </p:cBhvr>
                                    </p:animEffect>
                                  </p:childTnLst>
                                </p:cTn>
                              </p:par>
                            </p:childTnLst>
                          </p:cTn>
                        </p:par>
                        <p:par>
                          <p:cTn id="18" fill="hold">
                            <p:stCondLst>
                              <p:cond delay="34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27"/>
                                        </p:tgtEl>
                                        <p:attrNameLst>
                                          <p:attrName>style.visibility</p:attrName>
                                        </p:attrNameLst>
                                      </p:cBhvr>
                                      <p:to>
                                        <p:strVal val="visible"/>
                                      </p:to>
                                    </p:set>
                                    <p:anim calcmode="lin" valueType="num">
                                      <p:cBhvr>
                                        <p:cTn id="21"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27"/>
                                        </p:tgtEl>
                                        <p:attrNameLst>
                                          <p:attrName>ppt_y</p:attrName>
                                        </p:attrNameLst>
                                      </p:cBhvr>
                                      <p:tavLst>
                                        <p:tav tm="0">
                                          <p:val>
                                            <p:strVal val="#ppt_y"/>
                                          </p:val>
                                        </p:tav>
                                        <p:tav tm="100000">
                                          <p:val>
                                            <p:strVal val="#ppt_y"/>
                                          </p:val>
                                        </p:tav>
                                      </p:tavLst>
                                    </p:anim>
                                    <p:anim calcmode="lin" valueType="num">
                                      <p:cBhvr>
                                        <p:cTn id="23"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wipe(left)">
                                      <p:cBhvr>
                                        <p:cTn id="3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9">
            <a:extLst>
              <a:ext uri="{FF2B5EF4-FFF2-40B4-BE49-F238E27FC236}">
                <a16:creationId xmlns:a16="http://schemas.microsoft.com/office/drawing/2014/main" id="{0CABEF37-F931-4A67-AEFC-5D7F96F134AD}"/>
              </a:ext>
            </a:extLst>
          </p:cNvPr>
          <p:cNvSpPr txBox="1">
            <a:spLocks noChangeArrowheads="1"/>
          </p:cNvSpPr>
          <p:nvPr/>
        </p:nvSpPr>
        <p:spPr bwMode="auto">
          <a:xfrm>
            <a:off x="1449813" y="2274426"/>
            <a:ext cx="44821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注意：</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并不是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800" i="1"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8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中的一个，如</a:t>
            </a:r>
          </a:p>
        </p:txBody>
      </p:sp>
      <p:sp>
        <p:nvSpPr>
          <p:cNvPr id="25" name="Text Box 12">
            <a:extLst>
              <a:ext uri="{FF2B5EF4-FFF2-40B4-BE49-F238E27FC236}">
                <a16:creationId xmlns:a16="http://schemas.microsoft.com/office/drawing/2014/main" id="{70875620-173C-4173-A4DE-9C48E25B5D9F}"/>
              </a:ext>
            </a:extLst>
          </p:cNvPr>
          <p:cNvSpPr txBox="1">
            <a:spLocks noChangeArrowheads="1"/>
          </p:cNvSpPr>
          <p:nvPr/>
        </p:nvSpPr>
        <p:spPr bwMode="auto">
          <a:xfrm>
            <a:off x="2878969" y="1443215"/>
            <a:ext cx="13580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a:ea typeface="宋体"/>
              </a:rPr>
              <a:t>∙∙∙</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endParaRPr kumimoji="1" lang="en-US" altLang="zh-CN" sz="1800" i="1" baseline="-25000" dirty="0">
              <a:solidFill>
                <a:srgbClr val="1F4B70"/>
              </a:solidFill>
              <a:latin typeface="Times New Roman" panose="02020603050405020304" pitchFamily="18" charset="0"/>
            </a:endParaRPr>
          </a:p>
        </p:txBody>
      </p:sp>
      <p:sp>
        <p:nvSpPr>
          <p:cNvPr id="26" name="AutoShape 13">
            <a:extLst>
              <a:ext uri="{FF2B5EF4-FFF2-40B4-BE49-F238E27FC236}">
                <a16:creationId xmlns:a16="http://schemas.microsoft.com/office/drawing/2014/main" id="{4BACEFD4-369B-4AB0-B0C3-0A37E7EE19FD}"/>
              </a:ext>
            </a:extLst>
          </p:cNvPr>
          <p:cNvSpPr>
            <a:spLocks noChangeArrowheads="1"/>
          </p:cNvSpPr>
          <p:nvPr/>
        </p:nvSpPr>
        <p:spPr bwMode="auto">
          <a:xfrm>
            <a:off x="4208832" y="1561310"/>
            <a:ext cx="306008" cy="153004"/>
          </a:xfrm>
          <a:custGeom>
            <a:avLst/>
            <a:gdLst>
              <a:gd name="T0" fmla="*/ 129420076 w 21600"/>
              <a:gd name="T1" fmla="*/ 0 h 21600"/>
              <a:gd name="T2" fmla="*/ 0 w 21600"/>
              <a:gd name="T3" fmla="*/ 10785005 h 21600"/>
              <a:gd name="T4" fmla="*/ 129420076 w 21600"/>
              <a:gd name="T5" fmla="*/ 21570009 h 21600"/>
              <a:gd name="T6" fmla="*/ 172560114 w 21600"/>
              <a:gd name="T7" fmla="*/ 10785005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1F4B70"/>
          </a:solidFill>
          <a:ln>
            <a:noFill/>
          </a:ln>
          <a:effectLst/>
        </p:spPr>
        <p:txBody>
          <a:bodyPr wrap="none" anchor="ctr"/>
          <a:lstStyle/>
          <a:p>
            <a:endParaRPr lang="zh-CN" altLang="en-US" sz="1631"/>
          </a:p>
        </p:txBody>
      </p:sp>
      <p:sp>
        <p:nvSpPr>
          <p:cNvPr id="27" name="Text Box 14">
            <a:extLst>
              <a:ext uri="{FF2B5EF4-FFF2-40B4-BE49-F238E27FC236}">
                <a16:creationId xmlns:a16="http://schemas.microsoft.com/office/drawing/2014/main" id="{6D21C5BA-BE1E-4459-A780-D1735E345545}"/>
              </a:ext>
            </a:extLst>
          </p:cNvPr>
          <p:cNvSpPr txBox="1">
            <a:spLocks noChangeArrowheads="1"/>
          </p:cNvSpPr>
          <p:nvPr/>
        </p:nvSpPr>
        <p:spPr bwMode="auto">
          <a:xfrm>
            <a:off x="4532104" y="1443215"/>
            <a:ext cx="19447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a:ea typeface="宋体"/>
              </a:rPr>
              <a:t>∙∙∙</a:t>
            </a:r>
            <a:r>
              <a:rPr kumimoji="1" lang="en-US" altLang="zh-CN" sz="1800" dirty="0">
                <a:solidFill>
                  <a:srgbClr val="1F4B70"/>
                </a:solidFill>
                <a:latin typeface="MT Extra" panose="05050102010205020202" pitchFamily="18" charset="2"/>
              </a:rPr>
              <a:t> </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baseline="30000" dirty="0">
                <a:solidFill>
                  <a:srgbClr val="1F4B70"/>
                </a:solidFill>
                <a:latin typeface="Times New Roman" panose="02020603050405020304" pitchFamily="18" charset="0"/>
              </a:rPr>
              <a:t>*</a:t>
            </a:r>
          </a:p>
        </p:txBody>
      </p:sp>
      <p:sp>
        <p:nvSpPr>
          <p:cNvPr id="29" name="Rectangle 16">
            <a:extLst>
              <a:ext uri="{FF2B5EF4-FFF2-40B4-BE49-F238E27FC236}">
                <a16:creationId xmlns:a16="http://schemas.microsoft.com/office/drawing/2014/main" id="{5528803E-4B21-4A77-87B1-735F829551B4}"/>
              </a:ext>
            </a:extLst>
          </p:cNvPr>
          <p:cNvSpPr>
            <a:spLocks noChangeArrowheads="1"/>
          </p:cNvSpPr>
          <p:nvPr/>
        </p:nvSpPr>
        <p:spPr bwMode="auto">
          <a:xfrm>
            <a:off x="2709984" y="3395196"/>
            <a:ext cx="15087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lvl="0"/>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baseline="30000" dirty="0">
                <a:solidFill>
                  <a:srgbClr val="1F4B70"/>
                </a:solidFill>
                <a:latin typeface="Times New Roman" panose="02020603050405020304" pitchFamily="18" charset="0"/>
              </a:rPr>
              <a:t>*</a:t>
            </a:r>
            <a:r>
              <a:rPr kumimoji="1" lang="en-US" altLang="zh-CN" sz="1800" dirty="0">
                <a:solidFill>
                  <a:srgbClr val="1F4B70"/>
                </a:solidFill>
                <a:latin typeface="Times New Roman" panose="02020603050405020304" pitchFamily="18" charset="0"/>
              </a:rPr>
              <a:t>~B(1, </a:t>
            </a:r>
            <a:r>
              <a:rPr kumimoji="1" lang="en-US" altLang="zh-CN" sz="1800" b="1" i="1" dirty="0">
                <a:solidFill>
                  <a:srgbClr val="0000FF"/>
                </a:solidFill>
                <a:latin typeface="Times New Roman" panose="02020603050405020304" pitchFamily="18" charset="0"/>
                <a:ea typeface="宋体"/>
              </a:rPr>
              <a:t>p</a:t>
            </a:r>
            <a:r>
              <a:rPr kumimoji="1" lang="en-US" altLang="zh-CN" sz="1800" b="1" baseline="38000" dirty="0">
                <a:solidFill>
                  <a:srgbClr val="0000FF"/>
                </a:solidFill>
                <a:latin typeface="Times New Roman" panose="02020603050405020304" pitchFamily="18" charset="0"/>
                <a:ea typeface="宋体"/>
              </a:rPr>
              <a:t>2</a:t>
            </a:r>
            <a:r>
              <a:rPr kumimoji="1" lang="en-US" altLang="zh-CN" sz="1800" dirty="0">
                <a:latin typeface="Times New Roman" panose="02020603050405020304" pitchFamily="18" charset="0"/>
              </a:rPr>
              <a:t> </a:t>
            </a:r>
            <a:r>
              <a:rPr kumimoji="1" lang="en-US" altLang="zh-CN" sz="1800" dirty="0">
                <a:solidFill>
                  <a:srgbClr val="1F4B70"/>
                </a:solidFill>
                <a:latin typeface="Times New Roman" panose="02020603050405020304" pitchFamily="18" charset="0"/>
              </a:rPr>
              <a:t>),</a:t>
            </a:r>
            <a:endParaRPr kumimoji="1" lang="en-US" altLang="zh-CN" sz="1800" baseline="30000" dirty="0">
              <a:solidFill>
                <a:srgbClr val="1F4B70"/>
              </a:solidFill>
              <a:latin typeface="Times New Roman" panose="02020603050405020304" pitchFamily="18" charset="0"/>
            </a:endParaRPr>
          </a:p>
        </p:txBody>
      </p:sp>
      <p:sp>
        <p:nvSpPr>
          <p:cNvPr id="31" name="Rectangle 18">
            <a:hlinkClick r:id="rId3"/>
            <a:extLst>
              <a:ext uri="{FF2B5EF4-FFF2-40B4-BE49-F238E27FC236}">
                <a16:creationId xmlns:a16="http://schemas.microsoft.com/office/drawing/2014/main" id="{BBACBC5D-4B94-4D41-9E15-FEDD2FF225AC}"/>
              </a:ext>
            </a:extLst>
          </p:cNvPr>
          <p:cNvSpPr>
            <a:spLocks noChangeArrowheads="1"/>
          </p:cNvSpPr>
          <p:nvPr/>
        </p:nvSpPr>
        <p:spPr bwMode="auto">
          <a:xfrm>
            <a:off x="2709984" y="4001853"/>
            <a:ext cx="22621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baseline="30000" dirty="0">
                <a:solidFill>
                  <a:srgbClr val="1F4B70"/>
                </a:solidFill>
                <a:latin typeface="Times New Roman" panose="02020603050405020304" pitchFamily="18" charset="0"/>
              </a:rPr>
              <a:t>*</a:t>
            </a:r>
            <a:r>
              <a:rPr kumimoji="1" lang="en-US" altLang="zh-CN" sz="1800" dirty="0">
                <a:solidFill>
                  <a:srgbClr val="1F4B70"/>
                </a:solidFill>
                <a:latin typeface="Times New Roman" panose="02020603050405020304" pitchFamily="18" charset="0"/>
              </a:rPr>
              <a:t>~B(1, </a:t>
            </a:r>
            <a:r>
              <a:rPr kumimoji="1" lang="en-US" altLang="zh-CN" sz="1800" b="1" dirty="0">
                <a:solidFill>
                  <a:srgbClr val="E88D22"/>
                </a:solidFill>
                <a:latin typeface="Times New Roman" panose="02020603050405020304" pitchFamily="18" charset="0"/>
              </a:rPr>
              <a:t>1</a:t>
            </a:r>
            <a:r>
              <a:rPr kumimoji="1" lang="en-US" altLang="zh-CN" sz="1800" b="1" i="1" dirty="0">
                <a:solidFill>
                  <a:srgbClr val="E88D22"/>
                </a:solidFill>
                <a:latin typeface="Symbol" panose="05050102010706020507" pitchFamily="18" charset="2"/>
              </a:rPr>
              <a:t>- </a:t>
            </a:r>
            <a:r>
              <a:rPr kumimoji="1" lang="en-US" altLang="zh-CN" sz="1800" b="1" dirty="0">
                <a:solidFill>
                  <a:srgbClr val="E88D22"/>
                </a:solidFill>
                <a:latin typeface="Times New Roman" panose="02020603050405020304" pitchFamily="18" charset="0"/>
              </a:rPr>
              <a:t>(1</a:t>
            </a:r>
            <a:r>
              <a:rPr kumimoji="1" lang="en-US" altLang="zh-CN" sz="1800" b="1" i="1" dirty="0">
                <a:solidFill>
                  <a:srgbClr val="E88D22"/>
                </a:solidFill>
                <a:latin typeface="Symbol" panose="05050102010706020507" pitchFamily="18" charset="2"/>
              </a:rPr>
              <a:t>- </a:t>
            </a:r>
            <a:r>
              <a:rPr kumimoji="1" lang="en-US" altLang="zh-CN" sz="1800" b="1" i="1" dirty="0">
                <a:solidFill>
                  <a:srgbClr val="E88D22"/>
                </a:solidFill>
                <a:latin typeface="Times New Roman" panose="02020603050405020304" pitchFamily="18" charset="0"/>
              </a:rPr>
              <a:t>p</a:t>
            </a:r>
            <a:r>
              <a:rPr kumimoji="1" lang="en-US" altLang="zh-CN" sz="1800" b="1" dirty="0">
                <a:solidFill>
                  <a:srgbClr val="E88D22"/>
                </a:solidFill>
                <a:latin typeface="Times New Roman" panose="02020603050405020304" pitchFamily="18" charset="0"/>
              </a:rPr>
              <a:t>)</a:t>
            </a:r>
            <a:r>
              <a:rPr kumimoji="1" lang="en-US" altLang="zh-CN" sz="1800" b="1" baseline="38000" dirty="0">
                <a:solidFill>
                  <a:srgbClr val="E88D22"/>
                </a:solidFill>
                <a:latin typeface="Times New Roman" panose="02020603050405020304" pitchFamily="18" charset="0"/>
              </a:rPr>
              <a:t>2</a:t>
            </a:r>
            <a:r>
              <a:rPr kumimoji="1" lang="en-US" altLang="zh-CN" sz="1800" dirty="0">
                <a:latin typeface="Times New Roman" panose="02020603050405020304" pitchFamily="18" charset="0"/>
              </a:rPr>
              <a:t> </a:t>
            </a:r>
            <a:r>
              <a:rPr kumimoji="1" lang="en-US" altLang="zh-CN" sz="1800" dirty="0">
                <a:solidFill>
                  <a:srgbClr val="1F4B70"/>
                </a:solidFill>
                <a:latin typeface="Times New Roman" panose="02020603050405020304" pitchFamily="18" charset="0"/>
              </a:rPr>
              <a:t>).</a:t>
            </a:r>
            <a:endParaRPr kumimoji="1" lang="en-US" altLang="zh-CN" sz="1800" baseline="30000" dirty="0">
              <a:solidFill>
                <a:srgbClr val="1F4B70"/>
              </a:solidFill>
              <a:latin typeface="Times New Roman" panose="02020603050405020304" pitchFamily="18" charset="0"/>
            </a:endParaRPr>
          </a:p>
        </p:txBody>
      </p:sp>
      <p:sp>
        <p:nvSpPr>
          <p:cNvPr id="34" name="AutoShape 24">
            <a:extLst>
              <a:ext uri="{FF2B5EF4-FFF2-40B4-BE49-F238E27FC236}">
                <a16:creationId xmlns:a16="http://schemas.microsoft.com/office/drawing/2014/main" id="{ACBFC25F-FCCE-4D7C-8DF2-63C307AB9849}"/>
              </a:ext>
            </a:extLst>
          </p:cNvPr>
          <p:cNvSpPr>
            <a:spLocks noChangeArrowheads="1"/>
          </p:cNvSpPr>
          <p:nvPr/>
        </p:nvSpPr>
        <p:spPr bwMode="auto">
          <a:xfrm>
            <a:off x="2341500" y="3503360"/>
            <a:ext cx="255382" cy="153004"/>
          </a:xfrm>
          <a:prstGeom prst="rightArrow">
            <a:avLst>
              <a:gd name="adj1" fmla="val 50000"/>
              <a:gd name="adj2" fmla="val 41728"/>
            </a:avLst>
          </a:prstGeom>
          <a:solidFill>
            <a:srgbClr val="1F4B70"/>
          </a:solidFill>
          <a:ln>
            <a:noFill/>
          </a:ln>
          <a:effectLst/>
        </p:spPr>
        <p:txBody>
          <a:bodyPr wrap="none" anchor="ctr"/>
          <a:lstStyle/>
          <a:p>
            <a:pPr>
              <a:defRPr/>
            </a:pPr>
            <a:endParaRPr lang="zh-CN" altLang="en-US" sz="1417">
              <a:latin typeface="Arial" charset="0"/>
            </a:endParaRPr>
          </a:p>
        </p:txBody>
      </p:sp>
      <p:sp>
        <p:nvSpPr>
          <p:cNvPr id="37" name="Rectangle 27">
            <a:extLst>
              <a:ext uri="{FF2B5EF4-FFF2-40B4-BE49-F238E27FC236}">
                <a16:creationId xmlns:a16="http://schemas.microsoft.com/office/drawing/2014/main" id="{E9FE8572-BCDF-4C72-B5E1-96D54CFDBBF3}"/>
              </a:ext>
            </a:extLst>
          </p:cNvPr>
          <p:cNvSpPr>
            <a:spLocks noChangeArrowheads="1"/>
          </p:cNvSpPr>
          <p:nvPr/>
        </p:nvSpPr>
        <p:spPr bwMode="auto">
          <a:xfrm>
            <a:off x="2166474" y="2805282"/>
            <a:ext cx="17267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 </a:t>
            </a:r>
            <a:r>
              <a:rPr kumimoji="1" lang="en-US" altLang="zh-CN" sz="1800" dirty="0">
                <a:solidFill>
                  <a:srgbClr val="1F4B70"/>
                </a:solidFill>
                <a:latin typeface="Times New Roman" panose="02020603050405020304" pitchFamily="18" charset="0"/>
              </a:rPr>
              <a:t>~ B(1, </a:t>
            </a:r>
            <a:r>
              <a:rPr kumimoji="1" lang="en-US" altLang="zh-CN" sz="1800" i="1" dirty="0">
                <a:solidFill>
                  <a:srgbClr val="1F4B70"/>
                </a:solidFill>
                <a:latin typeface="Times New Roman" panose="02020603050405020304" pitchFamily="18" charset="0"/>
              </a:rPr>
              <a:t>p</a:t>
            </a:r>
            <a:r>
              <a:rPr kumimoji="1" lang="en-US" altLang="zh-CN" sz="1800" dirty="0">
                <a:solidFill>
                  <a:srgbClr val="1F4B70"/>
                </a:solidFill>
                <a:latin typeface="Times New Roman" panose="02020603050405020304" pitchFamily="18" charset="0"/>
              </a:rPr>
              <a:t>)  </a:t>
            </a:r>
          </a:p>
        </p:txBody>
      </p:sp>
      <p:sp>
        <p:nvSpPr>
          <p:cNvPr id="38" name="Text Box 28">
            <a:extLst>
              <a:ext uri="{FF2B5EF4-FFF2-40B4-BE49-F238E27FC236}">
                <a16:creationId xmlns:a16="http://schemas.microsoft.com/office/drawing/2014/main" id="{1922E801-3DD4-4D9C-AFAB-99F4CA17BC1D}"/>
              </a:ext>
            </a:extLst>
          </p:cNvPr>
          <p:cNvSpPr txBox="1">
            <a:spLocks noChangeArrowheads="1"/>
          </p:cNvSpPr>
          <p:nvPr/>
        </p:nvSpPr>
        <p:spPr bwMode="auto">
          <a:xfrm>
            <a:off x="2709984" y="2805282"/>
            <a:ext cx="404494" cy="237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417" baseline="30000" dirty="0" err="1">
                <a:solidFill>
                  <a:srgbClr val="1F4B70"/>
                </a:solidFill>
                <a:latin typeface="Times New Roman" panose="02020603050405020304" pitchFamily="18" charset="0"/>
              </a:rPr>
              <a:t>iid</a:t>
            </a:r>
            <a:endParaRPr lang="en-US" altLang="zh-CN" sz="1417" baseline="30000" dirty="0">
              <a:solidFill>
                <a:srgbClr val="1F4B70"/>
              </a:solidFill>
              <a:latin typeface="Times New Roman" panose="02020603050405020304" pitchFamily="18" charset="0"/>
            </a:endParaRPr>
          </a:p>
        </p:txBody>
      </p:sp>
      <p:grpSp>
        <p:nvGrpSpPr>
          <p:cNvPr id="2" name="组合 1">
            <a:extLst>
              <a:ext uri="{FF2B5EF4-FFF2-40B4-BE49-F238E27FC236}">
                <a16:creationId xmlns:a16="http://schemas.microsoft.com/office/drawing/2014/main" id="{EFFA9F48-646E-4C93-97C7-F695DAF1C8DB}"/>
              </a:ext>
            </a:extLst>
          </p:cNvPr>
          <p:cNvGrpSpPr/>
          <p:nvPr/>
        </p:nvGrpSpPr>
        <p:grpSpPr>
          <a:xfrm>
            <a:off x="683568" y="1385197"/>
            <a:ext cx="2026416" cy="454590"/>
            <a:chOff x="770153" y="961849"/>
            <a:chExt cx="2026416" cy="454590"/>
          </a:xfrm>
        </p:grpSpPr>
        <p:sp>
          <p:nvSpPr>
            <p:cNvPr id="52" name="Freeform 6">
              <a:extLst>
                <a:ext uri="{FF2B5EF4-FFF2-40B4-BE49-F238E27FC236}">
                  <a16:creationId xmlns:a16="http://schemas.microsoft.com/office/drawing/2014/main" id="{B586BE21-D196-4EA0-AEDD-CFC3B2C7139A}"/>
                </a:ext>
              </a:extLst>
            </p:cNvPr>
            <p:cNvSpPr>
              <a:spLocks/>
            </p:cNvSpPr>
            <p:nvPr/>
          </p:nvSpPr>
          <p:spPr bwMode="auto">
            <a:xfrm>
              <a:off x="770153" y="961849"/>
              <a:ext cx="2026416" cy="454590"/>
            </a:xfrm>
            <a:custGeom>
              <a:avLst/>
              <a:gdLst>
                <a:gd name="T0" fmla="*/ 1984 w 2306"/>
                <a:gd name="T1" fmla="*/ 732 h 732"/>
                <a:gd name="T2" fmla="*/ 0 w 2306"/>
                <a:gd name="T3" fmla="*/ 732 h 732"/>
                <a:gd name="T4" fmla="*/ 321 w 2306"/>
                <a:gd name="T5" fmla="*/ 366 h 732"/>
                <a:gd name="T6" fmla="*/ 0 w 2306"/>
                <a:gd name="T7" fmla="*/ 0 h 732"/>
                <a:gd name="T8" fmla="*/ 1984 w 2306"/>
                <a:gd name="T9" fmla="*/ 0 h 732"/>
                <a:gd name="T10" fmla="*/ 2306 w 2306"/>
                <a:gd name="T11" fmla="*/ 366 h 732"/>
                <a:gd name="T12" fmla="*/ 1984 w 2306"/>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6" h="732">
                  <a:moveTo>
                    <a:pt x="1984" y="732"/>
                  </a:moveTo>
                  <a:lnTo>
                    <a:pt x="0" y="732"/>
                  </a:lnTo>
                  <a:lnTo>
                    <a:pt x="321" y="366"/>
                  </a:lnTo>
                  <a:lnTo>
                    <a:pt x="0" y="0"/>
                  </a:lnTo>
                  <a:lnTo>
                    <a:pt x="1984" y="0"/>
                  </a:lnTo>
                  <a:lnTo>
                    <a:pt x="2306" y="366"/>
                  </a:lnTo>
                  <a:lnTo>
                    <a:pt x="1984" y="73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6" name="TextBox 72">
              <a:extLst>
                <a:ext uri="{FF2B5EF4-FFF2-40B4-BE49-F238E27FC236}">
                  <a16:creationId xmlns:a16="http://schemas.microsoft.com/office/drawing/2014/main" id="{8CF8BC4E-5AA1-4B6A-AC72-427D32E2906C}"/>
                </a:ext>
              </a:extLst>
            </p:cNvPr>
            <p:cNvSpPr txBox="1"/>
            <p:nvPr/>
          </p:nvSpPr>
          <p:spPr>
            <a:xfrm>
              <a:off x="1037412" y="1019867"/>
              <a:ext cx="1210588" cy="338554"/>
            </a:xfrm>
            <a:prstGeom prst="rect">
              <a:avLst/>
            </a:prstGeom>
            <a:noFill/>
          </p:spPr>
          <p:txBody>
            <a:bodyPr wrap="none" rtlCol="0">
              <a:spAutoFit/>
            </a:bodyPr>
            <a:lstStyle/>
            <a:p>
              <a:r>
                <a:rPr lang="zh-CN" altLang="en-US" sz="16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顺序统计量</a:t>
              </a:r>
            </a:p>
          </p:txBody>
        </p:sp>
      </p:grpSp>
      <p:grpSp>
        <p:nvGrpSpPr>
          <p:cNvPr id="30" name="组合 29">
            <a:extLst>
              <a:ext uri="{FF2B5EF4-FFF2-40B4-BE49-F238E27FC236}">
                <a16:creationId xmlns:a16="http://schemas.microsoft.com/office/drawing/2014/main" id="{B3E2E709-0329-4F17-B00A-B1055008555B}"/>
              </a:ext>
            </a:extLst>
          </p:cNvPr>
          <p:cNvGrpSpPr/>
          <p:nvPr/>
        </p:nvGrpSpPr>
        <p:grpSpPr>
          <a:xfrm>
            <a:off x="755650" y="853690"/>
            <a:ext cx="1410824" cy="328305"/>
            <a:chOff x="2139503" y="696411"/>
            <a:chExt cx="1712417" cy="398487"/>
          </a:xfrm>
        </p:grpSpPr>
        <p:sp>
          <p:nvSpPr>
            <p:cNvPr id="32" name="矩形: 圆角 115">
              <a:extLst>
                <a:ext uri="{FF2B5EF4-FFF2-40B4-BE49-F238E27FC236}">
                  <a16:creationId xmlns:a16="http://schemas.microsoft.com/office/drawing/2014/main" id="{A66B3F6B-A4A2-41C5-8B32-BD546E3F912A}"/>
                </a:ext>
              </a:extLst>
            </p:cNvPr>
            <p:cNvSpPr/>
            <p:nvPr/>
          </p:nvSpPr>
          <p:spPr>
            <a:xfrm>
              <a:off x="2139503" y="696411"/>
              <a:ext cx="1712417" cy="39848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 Box 2">
              <a:extLst>
                <a:ext uri="{FF2B5EF4-FFF2-40B4-BE49-F238E27FC236}">
                  <a16:creationId xmlns:a16="http://schemas.microsoft.com/office/drawing/2014/main" id="{02657EC0-A49D-4B29-8641-FBDAF98BD7B2}"/>
                </a:ext>
              </a:extLst>
            </p:cNvPr>
            <p:cNvSpPr txBox="1">
              <a:spLocks noChangeArrowheads="1"/>
            </p:cNvSpPr>
            <p:nvPr/>
          </p:nvSpPr>
          <p:spPr bwMode="auto">
            <a:xfrm>
              <a:off x="2399984" y="738958"/>
              <a:ext cx="1217706" cy="3116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4802" tIns="32401" rIns="64802" bIns="32401" numCol="1" anchor="ctr" anchorCtr="0" compatLnSpc="1">
              <a:prstTxWarp prst="textNoShape">
                <a:avLst/>
              </a:prstTxWarp>
              <a:spAutoFit/>
            </a:bodyPr>
            <a:lstStyle>
              <a:lvl1pPr algn="ctr" defTabSz="914282" rtl="0" eaLnBrk="1" latinLnBrk="0" hangingPunct="1">
                <a:spcBef>
                  <a:spcPct val="0"/>
                </a:spcBef>
                <a:buNone/>
                <a:defRPr sz="4400" kern="1200">
                  <a:solidFill>
                    <a:schemeClr val="tx1"/>
                  </a:solidFill>
                  <a:latin typeface="+mj-lt"/>
                  <a:ea typeface="+mj-ea"/>
                  <a:cs typeface="+mj-cs"/>
                </a:defRPr>
              </a:lvl1pPr>
            </a:lstStyle>
            <a:p>
              <a:pPr>
                <a:spcBef>
                  <a:spcPct val="50000"/>
                </a:spcBef>
                <a:defRPr/>
              </a:pPr>
              <a:r>
                <a:rPr lang="zh-CN" altLang="en-US" sz="1600" b="1" dirty="0">
                  <a:solidFill>
                    <a:schemeClr val="bg1"/>
                  </a:solidFill>
                  <a:latin typeface="微软雅黑" panose="020B0503020204020204" pitchFamily="34" charset="-122"/>
                  <a:ea typeface="微软雅黑" panose="020B0503020204020204" pitchFamily="34" charset="-122"/>
                </a:rPr>
                <a:t>常用统计量 </a:t>
              </a:r>
            </a:p>
          </p:txBody>
        </p:sp>
      </p:grpSp>
    </p:spTree>
    <p:extLst>
      <p:ext uri="{BB962C8B-B14F-4D97-AF65-F5344CB8AC3E}">
        <p14:creationId xmlns:p14="http://schemas.microsoft.com/office/powerpoint/2010/main" val="28795838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par>
                          <p:cTn id="13" fill="hold">
                            <p:stCondLst>
                              <p:cond delay="500"/>
                            </p:stCondLst>
                            <p:childTnLst>
                              <p:par>
                                <p:cTn id="14" presetID="12" presetClass="entr" presetSubtype="4" fill="hold" grpId="0" nodeType="after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slide(fromBottom)">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slide(fromLeft)">
                                      <p:cBhvr>
                                        <p:cTn id="21" dur="500"/>
                                        <p:tgtEl>
                                          <p:spTgt spid="3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left)">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p:bldP spid="31" grpId="0"/>
      <p:bldP spid="34" grpId="0" animBg="1"/>
      <p:bldP spid="37" grpId="0"/>
      <p:bldP spid="3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C382B61-E3D3-4F81-954A-ABE7AE83E8F7}"/>
                  </a:ext>
                </a:extLst>
              </p:cNvPr>
              <p:cNvSpPr txBox="1"/>
              <p:nvPr/>
            </p:nvSpPr>
            <p:spPr>
              <a:xfrm>
                <a:off x="683568" y="915566"/>
                <a:ext cx="7488832" cy="832279"/>
              </a:xfrm>
              <a:prstGeom prst="rect">
                <a:avLst/>
              </a:prstGeom>
              <a:noFill/>
            </p:spPr>
            <p:txBody>
              <a:bodyPr wrap="square" rtlCol="0">
                <a:spAutoFit/>
              </a:bodyPr>
              <a:lstStyle/>
              <a:p>
                <a:r>
                  <a:rPr lang="zh-CN" altLang="en-US" sz="2400" dirty="0"/>
                  <a:t>例已知总体</a:t>
                </a:r>
                <a14:m>
                  <m:oMath xmlns:m="http://schemas.openxmlformats.org/officeDocument/2006/math">
                    <m:r>
                      <a:rPr lang="en-US" altLang="zh-CN" sz="2400" b="0" i="1" smtClean="0">
                        <a:latin typeface="Cambria Math" panose="02040503050406030204" pitchFamily="18" charset="0"/>
                      </a:rPr>
                      <m:t>𝑋</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𝐸</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𝜆</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𝑛</m:t>
                        </m:r>
                      </m:sub>
                    </m:sSub>
                    <m:r>
                      <a:rPr lang="zh-CN" altLang="en-US" sz="2400" i="1">
                        <a:latin typeface="Cambria Math" panose="02040503050406030204" pitchFamily="18" charset="0"/>
                      </a:rPr>
                      <m:t>为</m:t>
                    </m:r>
                  </m:oMath>
                </a14:m>
                <a:r>
                  <a:rPr lang="zh-CN" altLang="en-US" sz="2400" dirty="0"/>
                  <a:t>总体的简单随机样本</a:t>
                </a:r>
                <a:endParaRPr lang="en-US" altLang="zh-CN" sz="2400" dirty="0"/>
              </a:p>
              <a:p>
                <a:r>
                  <a:rPr lang="zh-CN" altLang="en-US" sz="2400" dirty="0"/>
                  <a:t>求</a:t>
                </a:r>
                <a14:m>
                  <m:oMath xmlns:m="http://schemas.openxmlformats.org/officeDocument/2006/math">
                    <m:r>
                      <a:rPr lang="en-US" altLang="zh-CN" sz="2400" b="0" i="1" smtClean="0">
                        <a:latin typeface="Cambria Math" panose="02040503050406030204" pitchFamily="18" charset="0"/>
                      </a:rPr>
                      <m:t>𝐸</m:t>
                    </m:r>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e>
                    </m:nary>
                  </m:oMath>
                </a14:m>
                <a:r>
                  <a:rPr lang="en-US" altLang="zh-CN" sz="2400" dirty="0"/>
                  <a:t>,</a:t>
                </a:r>
                <a14:m>
                  <m:oMath xmlns:m="http://schemas.openxmlformats.org/officeDocument/2006/math">
                    <m:r>
                      <a:rPr lang="en-US" altLang="zh-CN" sz="2400" b="0" i="1" dirty="0" smtClean="0">
                        <a:latin typeface="Cambria Math" panose="02040503050406030204" pitchFamily="18" charset="0"/>
                      </a:rPr>
                      <m:t>𝐸</m:t>
                    </m:r>
                    <m:r>
                      <a:rPr lang="en-US" altLang="zh-CN" sz="2400" b="0" i="1" dirty="0" smtClean="0">
                        <a:latin typeface="Cambria Math" panose="02040503050406030204" pitchFamily="18" charset="0"/>
                      </a:rPr>
                      <m:t>(</m:t>
                    </m:r>
                    <m:nary>
                      <m:naryPr>
                        <m:chr m:val="∑"/>
                        <m:ctrlPr>
                          <a:rPr lang="en-US" altLang="zh-CN" sz="2400" b="0" i="1" dirty="0" smtClean="0">
                            <a:latin typeface="Cambria Math" panose="02040503050406030204" pitchFamily="18" charset="0"/>
                          </a:rPr>
                        </m:ctrlPr>
                      </m:naryPr>
                      <m:sub>
                        <m:r>
                          <m:rPr>
                            <m:brk m:alnAt="23"/>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𝑋</m:t>
                            </m:r>
                          </m:e>
                          <m:sub>
                            <m:r>
                              <a:rPr lang="en-US" altLang="zh-CN" sz="2400" b="0" i="1" dirty="0" smtClean="0">
                                <a:latin typeface="Cambria Math" panose="02040503050406030204" pitchFamily="18" charset="0"/>
                              </a:rPr>
                              <m:t>𝑖</m:t>
                            </m:r>
                          </m:sub>
                          <m:sup>
                            <m:r>
                              <a:rPr lang="en-US" altLang="zh-CN" sz="2400" b="0" i="1" dirty="0" smtClean="0">
                                <a:latin typeface="Cambria Math" panose="02040503050406030204" pitchFamily="18" charset="0"/>
                              </a:rPr>
                              <m:t>∗</m:t>
                            </m:r>
                          </m:sup>
                        </m:sSubSup>
                        <m:r>
                          <a:rPr lang="en-US" altLang="zh-CN" sz="2400" b="0" i="1" dirty="0" smtClean="0">
                            <a:latin typeface="Cambria Math" panose="02040503050406030204" pitchFamily="18" charset="0"/>
                          </a:rPr>
                          <m:t>)</m:t>
                        </m:r>
                      </m:e>
                    </m:nary>
                  </m:oMath>
                </a14:m>
                <a:endParaRPr lang="zh-CN" altLang="en-US" sz="2400" dirty="0"/>
              </a:p>
            </p:txBody>
          </p:sp>
        </mc:Choice>
        <mc:Fallback xmlns="">
          <p:sp>
            <p:nvSpPr>
              <p:cNvPr id="2" name="文本框 1">
                <a:extLst>
                  <a:ext uri="{FF2B5EF4-FFF2-40B4-BE49-F238E27FC236}">
                    <a16:creationId xmlns:a16="http://schemas.microsoft.com/office/drawing/2014/main" id="{BC382B61-E3D3-4F81-954A-ABE7AE83E8F7}"/>
                  </a:ext>
                </a:extLst>
              </p:cNvPr>
              <p:cNvSpPr txBox="1">
                <a:spLocks noRot="1" noChangeAspect="1" noMove="1" noResize="1" noEditPoints="1" noAdjustHandles="1" noChangeArrowheads="1" noChangeShapeType="1" noTextEdit="1"/>
              </p:cNvSpPr>
              <p:nvPr/>
            </p:nvSpPr>
            <p:spPr>
              <a:xfrm>
                <a:off x="683568" y="915566"/>
                <a:ext cx="7488832" cy="832279"/>
              </a:xfrm>
              <a:prstGeom prst="rect">
                <a:avLst/>
              </a:prstGeom>
              <a:blipFill>
                <a:blip r:embed="rId2"/>
                <a:stretch>
                  <a:fillRect l="-1221" t="-27737" b="-1080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EF0354D-7D2A-4EB3-AE80-C9C49077B263}"/>
                  </a:ext>
                </a:extLst>
              </p:cNvPr>
              <p:cNvSpPr txBox="1"/>
              <p:nvPr/>
            </p:nvSpPr>
            <p:spPr>
              <a:xfrm>
                <a:off x="670315" y="1851670"/>
                <a:ext cx="7488832" cy="462947"/>
              </a:xfrm>
              <a:prstGeom prst="rect">
                <a:avLst/>
              </a:prstGeom>
              <a:noFill/>
            </p:spPr>
            <p:txBody>
              <a:bodyPr wrap="square" rtlCol="0">
                <a:spAutoFit/>
              </a:bodyPr>
              <a:lstStyle/>
              <a:p>
                <a:r>
                  <a:rPr lang="zh-CN" altLang="en-US" sz="2400" dirty="0"/>
                  <a:t>解： </a:t>
                </a:r>
                <a14:m>
                  <m:oMath xmlns:m="http://schemas.openxmlformats.org/officeDocument/2006/math">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r>
                          <a:rPr lang="en-US" altLang="zh-CN" sz="2400" i="1">
                            <a:latin typeface="Cambria Math" panose="02040503050406030204" pitchFamily="18" charset="0"/>
                          </a:rPr>
                          <m:t>=</m:t>
                        </m:r>
                        <m:nary>
                          <m:naryPr>
                            <m:chr m:val="∏"/>
                            <m:limLoc m:val="subSup"/>
                            <m:ctrlPr>
                              <a:rPr lang="en-US" altLang="zh-CN" sz="240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Sub>
                          </m:e>
                        </m:nary>
                      </m:e>
                    </m:nary>
                  </m:oMath>
                </a14:m>
                <a:r>
                  <a:rPr lang="en-US" altLang="zh-CN" sz="2400" dirty="0"/>
                  <a:t>,</a:t>
                </a:r>
                <a14:m>
                  <m:oMath xmlns:m="http://schemas.openxmlformats.org/officeDocument/2006/math">
                    <m:r>
                      <a:rPr lang="en-US" altLang="zh-CN" sz="2400" b="0" i="1" dirty="0" smtClean="0">
                        <a:latin typeface="Cambria Math" panose="02040503050406030204" pitchFamily="18" charset="0"/>
                      </a:rPr>
                      <m:t>       </m:t>
                    </m:r>
                    <m:nary>
                      <m:naryPr>
                        <m:chr m:val="∑"/>
                        <m:ctrlPr>
                          <a:rPr lang="en-US" altLang="zh-CN" sz="2400" b="0" i="1" dirty="0" smtClean="0">
                            <a:latin typeface="Cambria Math" panose="02040503050406030204" pitchFamily="18" charset="0"/>
                          </a:rPr>
                        </m:ctrlPr>
                      </m:naryPr>
                      <m:sub>
                        <m:r>
                          <m:rPr>
                            <m:brk m:alnAt="23"/>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𝑋</m:t>
                            </m:r>
                          </m:e>
                          <m:sub>
                            <m:r>
                              <a:rPr lang="en-US" altLang="zh-CN" sz="2400" b="0" i="1" dirty="0" smtClean="0">
                                <a:latin typeface="Cambria Math" panose="02040503050406030204" pitchFamily="18" charset="0"/>
                              </a:rPr>
                              <m:t>𝑖</m:t>
                            </m:r>
                          </m:sub>
                          <m:sup>
                            <m:r>
                              <a:rPr lang="en-US" altLang="zh-CN" sz="2400" b="0" i="1" dirty="0" smtClean="0">
                                <a:latin typeface="Cambria Math" panose="02040503050406030204" pitchFamily="18" charset="0"/>
                              </a:rPr>
                              <m:t>∗</m:t>
                            </m:r>
                          </m:sup>
                        </m:sSubSup>
                        <m:r>
                          <a:rPr lang="en-US" altLang="zh-CN" sz="2400" b="0" i="1" dirty="0" smtClean="0">
                            <a:latin typeface="Cambria Math" panose="02040503050406030204" pitchFamily="18" charset="0"/>
                          </a:rPr>
                          <m:t>=</m:t>
                        </m:r>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𝑋</m:t>
                                </m:r>
                              </m:e>
                              <m:sub>
                                <m:r>
                                  <a:rPr lang="en-US" altLang="zh-CN" sz="2400" b="0" i="1" dirty="0" smtClean="0">
                                    <a:latin typeface="Cambria Math" panose="02040503050406030204" pitchFamily="18" charset="0"/>
                                  </a:rPr>
                                  <m:t>𝑖</m:t>
                                </m:r>
                              </m:sub>
                            </m:sSub>
                          </m:e>
                        </m:nary>
                      </m:e>
                    </m:nary>
                  </m:oMath>
                </a14:m>
                <a:endParaRPr lang="zh-CN" altLang="en-US" sz="2400" dirty="0"/>
              </a:p>
            </p:txBody>
          </p:sp>
        </mc:Choice>
        <mc:Fallback xmlns="">
          <p:sp>
            <p:nvSpPr>
              <p:cNvPr id="3" name="文本框 2">
                <a:extLst>
                  <a:ext uri="{FF2B5EF4-FFF2-40B4-BE49-F238E27FC236}">
                    <a16:creationId xmlns:a16="http://schemas.microsoft.com/office/drawing/2014/main" id="{5EF0354D-7D2A-4EB3-AE80-C9C49077B263}"/>
                  </a:ext>
                </a:extLst>
              </p:cNvPr>
              <p:cNvSpPr txBox="1">
                <a:spLocks noRot="1" noChangeAspect="1" noMove="1" noResize="1" noEditPoints="1" noAdjustHandles="1" noChangeArrowheads="1" noChangeShapeType="1" noTextEdit="1"/>
              </p:cNvSpPr>
              <p:nvPr/>
            </p:nvSpPr>
            <p:spPr>
              <a:xfrm>
                <a:off x="670315" y="1851670"/>
                <a:ext cx="7488832" cy="462947"/>
              </a:xfrm>
              <a:prstGeom prst="rect">
                <a:avLst/>
              </a:prstGeom>
              <a:blipFill>
                <a:blip r:embed="rId3"/>
                <a:stretch>
                  <a:fillRect l="-1303" t="-128947" b="-196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CD06522-6454-49ED-94D3-8DC1C60FFE0D}"/>
                  </a:ext>
                </a:extLst>
              </p:cNvPr>
              <p:cNvSpPr txBox="1"/>
              <p:nvPr/>
            </p:nvSpPr>
            <p:spPr>
              <a:xfrm>
                <a:off x="670315" y="2418442"/>
                <a:ext cx="7488832" cy="1110112"/>
              </a:xfrm>
              <a:prstGeom prst="rect">
                <a:avLst/>
              </a:prstGeom>
              <a:noFill/>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𝐸</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r>
                          <a:rPr lang="en-US" altLang="zh-CN" sz="2400" i="1">
                            <a:latin typeface="Cambria Math" panose="02040503050406030204" pitchFamily="18" charset="0"/>
                          </a:rPr>
                          <m:t>=</m:t>
                        </m:r>
                        <m:r>
                          <a:rPr lang="en-US" altLang="zh-CN" sz="2400" b="0" i="1" smtClean="0">
                            <a:latin typeface="Cambria Math" panose="02040503050406030204" pitchFamily="18" charset="0"/>
                          </a:rPr>
                          <m:t>𝐸</m:t>
                        </m:r>
                        <m:nary>
                          <m:naryPr>
                            <m:chr m:val="∏"/>
                            <m:limLoc m:val="subSup"/>
                            <m:ctrlPr>
                              <a:rPr lang="en-US" altLang="zh-CN" sz="240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𝑋</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nary>
                              <m:naryPr>
                                <m:chr m:val="∏"/>
                                <m:limLoc m:val="subSup"/>
                                <m:ctrlPr>
                                  <a:rPr lang="en-US" altLang="zh-CN" sz="2400" i="1">
                                    <a:latin typeface="Cambria Math" panose="02040503050406030204" pitchFamily="18" charset="0"/>
                                  </a:rPr>
                                </m:ctrlPr>
                              </m:naryPr>
                              <m:sub>
                                <m:r>
                                  <m:rPr>
                                    <m:brk m:alnAt="25"/>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𝐸</m:t>
                                    </m:r>
                                    <m:r>
                                      <a:rPr lang="en-US" altLang="zh-CN" sz="2400" i="1">
                                        <a:latin typeface="Cambria Math" panose="02040503050406030204" pitchFamily="18" charset="0"/>
                                      </a:rPr>
                                      <m:t>𝑋</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𝜆</m:t>
                                        </m:r>
                                      </m:e>
                                      <m:sup>
                                        <m:r>
                                          <a:rPr lang="en-US" altLang="zh-CN" sz="2400" b="0" i="1" smtClean="0">
                                            <a:latin typeface="Cambria Math" panose="02040503050406030204" pitchFamily="18" charset="0"/>
                                          </a:rPr>
                                          <m:t>𝑛</m:t>
                                        </m:r>
                                      </m:sup>
                                    </m:sSup>
                                  </m:den>
                                </m:f>
                              </m:e>
                            </m:nary>
                          </m:e>
                        </m:nary>
                      </m:e>
                    </m:nary>
                  </m:oMath>
                </a14:m>
                <a:r>
                  <a:rPr lang="en-US" altLang="zh-CN" sz="2400" dirty="0"/>
                  <a:t>,</a:t>
                </a:r>
                <a14:m>
                  <m:oMath xmlns:m="http://schemas.openxmlformats.org/officeDocument/2006/math">
                    <m:r>
                      <a:rPr lang="en-US" altLang="zh-CN" sz="2400" b="0" i="1" dirty="0" smtClean="0">
                        <a:latin typeface="Cambria Math" panose="02040503050406030204" pitchFamily="18" charset="0"/>
                      </a:rPr>
                      <m:t>       </m:t>
                    </m:r>
                    <m:r>
                      <a:rPr lang="en-US" altLang="zh-CN" sz="2400" b="0" i="1" dirty="0" smtClean="0">
                        <a:latin typeface="Cambria Math" panose="02040503050406030204" pitchFamily="18" charset="0"/>
                      </a:rPr>
                      <m:t>𝐸</m:t>
                    </m:r>
                    <m:nary>
                      <m:naryPr>
                        <m:chr m:val="∑"/>
                        <m:ctrlPr>
                          <a:rPr lang="en-US" altLang="zh-CN" sz="2400" b="0" i="1" dirty="0" smtClean="0">
                            <a:latin typeface="Cambria Math" panose="02040503050406030204" pitchFamily="18" charset="0"/>
                          </a:rPr>
                        </m:ctrlPr>
                      </m:naryPr>
                      <m:sub>
                        <m:r>
                          <m:rPr>
                            <m:brk m:alnAt="23"/>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𝑋</m:t>
                            </m:r>
                          </m:e>
                          <m:sub>
                            <m:r>
                              <a:rPr lang="en-US" altLang="zh-CN" sz="2400" b="0" i="1" dirty="0" smtClean="0">
                                <a:latin typeface="Cambria Math" panose="02040503050406030204" pitchFamily="18" charset="0"/>
                              </a:rPr>
                              <m:t>𝑖</m:t>
                            </m:r>
                          </m:sub>
                          <m:sup>
                            <m:r>
                              <a:rPr lang="en-US" altLang="zh-CN" sz="2400" b="0" i="1" dirty="0" smtClean="0">
                                <a:latin typeface="Cambria Math" panose="02040503050406030204" pitchFamily="18" charset="0"/>
                              </a:rPr>
                              <m:t>∗</m:t>
                            </m:r>
                          </m:sup>
                        </m:sSubSup>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𝐸</m:t>
                        </m:r>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𝑋</m:t>
                                </m:r>
                              </m:e>
                              <m:sub>
                                <m:r>
                                  <a:rPr lang="en-US" altLang="zh-CN" sz="2400" b="0" i="1" dirty="0" smtClean="0">
                                    <a:latin typeface="Cambria Math" panose="02040503050406030204" pitchFamily="18" charset="0"/>
                                  </a:rPr>
                                  <m:t>𝑖</m:t>
                                </m:r>
                              </m:sub>
                            </m:sSub>
                          </m:e>
                        </m:nary>
                      </m:e>
                    </m:nary>
                  </m:oMath>
                </a14:m>
                <a:r>
                  <a:rPr lang="en-US" altLang="zh-CN" sz="2400" dirty="0"/>
                  <a:t>= </a:t>
                </a:r>
                <a14:m>
                  <m:oMath xmlns:m="http://schemas.openxmlformats.org/officeDocument/2006/math">
                    <m:nary>
                      <m:naryPr>
                        <m:chr m:val="∑"/>
                        <m:limLoc m:val="subSup"/>
                        <m:ctrlPr>
                          <a:rPr lang="en-US" altLang="zh-CN" sz="2400" i="1" dirty="0">
                            <a:latin typeface="Cambria Math" panose="02040503050406030204" pitchFamily="18" charset="0"/>
                          </a:rPr>
                        </m:ctrlPr>
                      </m:naryPr>
                      <m:sub>
                        <m:r>
                          <m:rPr>
                            <m:brk m:alnAt="25"/>
                          </m:rPr>
                          <a:rPr lang="en-US" altLang="zh-CN" sz="2400" i="1" dirty="0">
                            <a:latin typeface="Cambria Math" panose="02040503050406030204" pitchFamily="18" charset="0"/>
                          </a:rPr>
                          <m:t>𝑖</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𝑛</m:t>
                        </m:r>
                      </m:sup>
                      <m:e>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𝐸</m:t>
                            </m:r>
                            <m:r>
                              <a:rPr lang="en-US" altLang="zh-CN" sz="2400" i="1" dirty="0">
                                <a:latin typeface="Cambria Math" panose="02040503050406030204" pitchFamily="18" charset="0"/>
                              </a:rPr>
                              <m:t>𝑋</m:t>
                            </m:r>
                          </m:e>
                          <m:sub>
                            <m:r>
                              <a:rPr lang="en-US" altLang="zh-CN" sz="2400" i="1" dirty="0">
                                <a:latin typeface="Cambria Math" panose="02040503050406030204" pitchFamily="18" charset="0"/>
                              </a:rPr>
                              <m:t>𝑖</m:t>
                            </m:r>
                          </m:sub>
                        </m:sSub>
                      </m:e>
                    </m:nary>
                    <m:r>
                      <a:rPr lang="en-US" altLang="zh-CN" sz="2400" b="0" i="1" dirty="0" smtClean="0">
                        <a:latin typeface="Cambria Math" panose="02040503050406030204" pitchFamily="18" charset="0"/>
                      </a:rPr>
                      <m:t>=</m:t>
                    </m:r>
                    <m:f>
                      <m:fPr>
                        <m:ctrlPr>
                          <a:rPr lang="en-US" altLang="zh-CN" sz="2400" b="0" i="1" dirty="0" smtClean="0">
                            <a:latin typeface="Cambria Math" panose="02040503050406030204" pitchFamily="18" charset="0"/>
                          </a:rPr>
                        </m:ctrlPr>
                      </m:fPr>
                      <m:num>
                        <m:r>
                          <a:rPr lang="en-US" altLang="zh-CN" sz="2400" b="0" i="1" dirty="0" smtClean="0">
                            <a:latin typeface="Cambria Math" panose="02040503050406030204" pitchFamily="18" charset="0"/>
                          </a:rPr>
                          <m:t>𝑛</m:t>
                        </m:r>
                      </m:num>
                      <m:den>
                        <m:r>
                          <a:rPr lang="en-US" altLang="zh-CN" sz="2400" b="0" i="1" dirty="0" smtClean="0">
                            <a:latin typeface="Cambria Math" panose="02040503050406030204" pitchFamily="18" charset="0"/>
                          </a:rPr>
                          <m:t>𝜆</m:t>
                        </m:r>
                      </m:den>
                    </m:f>
                  </m:oMath>
                </a14:m>
                <a:endParaRPr lang="zh-CN" altLang="en-US" sz="2400" dirty="0"/>
              </a:p>
            </p:txBody>
          </p:sp>
        </mc:Choice>
        <mc:Fallback xmlns="">
          <p:sp>
            <p:nvSpPr>
              <p:cNvPr id="4" name="文本框 3">
                <a:extLst>
                  <a:ext uri="{FF2B5EF4-FFF2-40B4-BE49-F238E27FC236}">
                    <a16:creationId xmlns:a16="http://schemas.microsoft.com/office/drawing/2014/main" id="{4CD06522-6454-49ED-94D3-8DC1C60FFE0D}"/>
                  </a:ext>
                </a:extLst>
              </p:cNvPr>
              <p:cNvSpPr txBox="1">
                <a:spLocks noRot="1" noChangeAspect="1" noMove="1" noResize="1" noEditPoints="1" noAdjustHandles="1" noChangeArrowheads="1" noChangeShapeType="1" noTextEdit="1"/>
              </p:cNvSpPr>
              <p:nvPr/>
            </p:nvSpPr>
            <p:spPr>
              <a:xfrm>
                <a:off x="670315" y="2418442"/>
                <a:ext cx="7488832" cy="1110112"/>
              </a:xfrm>
              <a:prstGeom prst="rect">
                <a:avLst/>
              </a:prstGeom>
              <a:blipFill>
                <a:blip r:embed="rId4"/>
                <a:stretch>
                  <a:fillRect b="-49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685714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20A647F6-806A-43C1-A4FE-05002DCE6BD7}"/>
              </a:ext>
            </a:extLst>
          </p:cNvPr>
          <p:cNvGrpSpPr/>
          <p:nvPr/>
        </p:nvGrpSpPr>
        <p:grpSpPr>
          <a:xfrm>
            <a:off x="2732724" y="2281517"/>
            <a:ext cx="2810414" cy="1104604"/>
            <a:chOff x="3923928" y="323942"/>
            <a:chExt cx="2810414" cy="1104604"/>
          </a:xfrm>
        </p:grpSpPr>
        <p:sp>
          <p:nvSpPr>
            <p:cNvPr id="42" name="Rectangle 27">
              <a:extLst>
                <a:ext uri="{FF2B5EF4-FFF2-40B4-BE49-F238E27FC236}">
                  <a16:creationId xmlns:a16="http://schemas.microsoft.com/office/drawing/2014/main" id="{243247E0-52E3-4DED-8312-603E65B02D1A}"/>
                </a:ext>
              </a:extLst>
            </p:cNvPr>
            <p:cNvSpPr>
              <a:spLocks noChangeArrowheads="1"/>
            </p:cNvSpPr>
            <p:nvPr/>
          </p:nvSpPr>
          <p:spPr bwMode="auto">
            <a:xfrm>
              <a:off x="5886834" y="1006313"/>
              <a:ext cx="7248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r>
                <a:rPr kumimoji="1" lang="en-US" altLang="zh-CN" sz="1800" i="1" dirty="0">
                  <a:solidFill>
                    <a:srgbClr val="1F4B70"/>
                  </a:solidFill>
                  <a:latin typeface="Times New Roman" panose="02020603050405020304" pitchFamily="18" charset="0"/>
                </a:rPr>
                <a:t>n</a:t>
              </a:r>
              <a:r>
                <a:rPr kumimoji="1" lang="en-US" altLang="zh-CN" sz="1800" dirty="0">
                  <a:solidFill>
                    <a:srgbClr val="1F4B70"/>
                  </a:solidFill>
                  <a:latin typeface="Times New Roman" panose="02020603050405020304" pitchFamily="18" charset="0"/>
                </a:rPr>
                <a:t>=2</a:t>
              </a:r>
              <a:r>
                <a:rPr kumimoji="1" lang="en-US" altLang="zh-CN" sz="1800" i="1" dirty="0">
                  <a:solidFill>
                    <a:srgbClr val="1F4B70"/>
                  </a:solidFill>
                  <a:latin typeface="Times New Roman" panose="02020603050405020304" pitchFamily="18" charset="0"/>
                </a:rPr>
                <a:t>m</a:t>
              </a:r>
              <a:endParaRPr kumimoji="1" lang="en-US" altLang="zh-CN" sz="1800" dirty="0">
                <a:solidFill>
                  <a:srgbClr val="1F4B70"/>
                </a:solidFill>
                <a:latin typeface="Times New Roman" panose="02020603050405020304" pitchFamily="18" charset="0"/>
              </a:endParaRPr>
            </a:p>
          </p:txBody>
        </p:sp>
        <p:grpSp>
          <p:nvGrpSpPr>
            <p:cNvPr id="7" name="组合 6">
              <a:extLst>
                <a:ext uri="{FF2B5EF4-FFF2-40B4-BE49-F238E27FC236}">
                  <a16:creationId xmlns:a16="http://schemas.microsoft.com/office/drawing/2014/main" id="{33C2EB90-1247-4AEE-B8DC-C727BFF27BEE}"/>
                </a:ext>
              </a:extLst>
            </p:cNvPr>
            <p:cNvGrpSpPr/>
            <p:nvPr/>
          </p:nvGrpSpPr>
          <p:grpSpPr>
            <a:xfrm>
              <a:off x="3923928" y="323942"/>
              <a:ext cx="2810414" cy="1104604"/>
              <a:chOff x="3923928" y="323942"/>
              <a:chExt cx="2810414" cy="1104604"/>
            </a:xfrm>
          </p:grpSpPr>
          <p:grpSp>
            <p:nvGrpSpPr>
              <p:cNvPr id="5" name="组合 4">
                <a:extLst>
                  <a:ext uri="{FF2B5EF4-FFF2-40B4-BE49-F238E27FC236}">
                    <a16:creationId xmlns:a16="http://schemas.microsoft.com/office/drawing/2014/main" id="{DCB21A17-A6D9-4181-B560-851EF9801277}"/>
                  </a:ext>
                </a:extLst>
              </p:cNvPr>
              <p:cNvGrpSpPr/>
              <p:nvPr/>
            </p:nvGrpSpPr>
            <p:grpSpPr>
              <a:xfrm>
                <a:off x="3923928" y="335503"/>
                <a:ext cx="1852237" cy="1093043"/>
                <a:chOff x="3923928" y="335503"/>
                <a:chExt cx="1852237" cy="1093043"/>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4F7875C-9864-43B8-8CFC-94D9E5B496C4}"/>
                        </a:ext>
                      </a:extLst>
                    </p:cNvPr>
                    <p:cNvSpPr txBox="1"/>
                    <p:nvPr/>
                  </p:nvSpPr>
                  <p:spPr>
                    <a:xfrm>
                      <a:off x="3923928" y="339915"/>
                      <a:ext cx="1852237" cy="10886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smtClean="0">
                                    <a:solidFill>
                                      <a:srgbClr val="1F4B70"/>
                                    </a:solidFill>
                                    <a:latin typeface="Cambria Math" panose="02040503050406030204" pitchFamily="18" charset="0"/>
                                    <a:ea typeface="微软雅黑" panose="020B0503020204020204" pitchFamily="34" charset="-122"/>
                                  </a:rPr>
                                </m:ctrlPr>
                              </m:accPr>
                              <m:e>
                                <m:r>
                                  <a:rPr lang="en-US" altLang="zh-CN" b="0" i="1" smtClean="0">
                                    <a:solidFill>
                                      <a:srgbClr val="1F4B70"/>
                                    </a:solidFill>
                                    <a:latin typeface="Cambria Math" panose="02040503050406030204" pitchFamily="18" charset="0"/>
                                    <a:ea typeface="微软雅黑" panose="020B0503020204020204" pitchFamily="34" charset="-122"/>
                                  </a:rPr>
                                  <m:t>𝑥</m:t>
                                </m:r>
                              </m:e>
                            </m:acc>
                            <m:r>
                              <a:rPr lang="en-US" altLang="zh-CN" i="1" smtClean="0">
                                <a:solidFill>
                                  <a:srgbClr val="1F4B70"/>
                                </a:solidFill>
                                <a:latin typeface="Cambria Math" panose="02040503050406030204" pitchFamily="18" charset="0"/>
                                <a:ea typeface="微软雅黑" panose="020B0503020204020204" pitchFamily="34" charset="-122"/>
                              </a:rPr>
                              <m:t>=</m:t>
                            </m:r>
                            <m:d>
                              <m:dPr>
                                <m:begChr m:val="{"/>
                                <m:endChr m:val=""/>
                                <m:ctrlPr>
                                  <a:rPr lang="en-US" altLang="zh-CN" i="1" smtClean="0">
                                    <a:solidFill>
                                      <a:srgbClr val="1F4B70"/>
                                    </a:solidFill>
                                    <a:latin typeface="Cambria Math" panose="02040503050406030204" pitchFamily="18" charset="0"/>
                                    <a:ea typeface="微软雅黑" panose="020B0503020204020204" pitchFamily="34" charset="-122"/>
                                  </a:rPr>
                                </m:ctrlPr>
                              </m:dPr>
                              <m:e>
                                <m:eqArr>
                                  <m:eqArrPr>
                                    <m:ctrlPr>
                                      <a:rPr lang="en-US" altLang="zh-CN" b="0" i="1" smtClean="0">
                                        <a:solidFill>
                                          <a:srgbClr val="1F4B70"/>
                                        </a:solidFill>
                                        <a:latin typeface="Cambria Math" panose="02040503050406030204" pitchFamily="18" charset="0"/>
                                        <a:ea typeface="微软雅黑" panose="020B0503020204020204" pitchFamily="34" charset="-122"/>
                                      </a:rPr>
                                    </m:ctrlPr>
                                  </m:eqArrPr>
                                  <m:e>
                                    <m:r>
                                      <a:rPr lang="en-US" altLang="zh-CN" b="0" i="1" smtClean="0">
                                        <a:solidFill>
                                          <a:srgbClr val="1F4B70"/>
                                        </a:solidFill>
                                        <a:latin typeface="Cambria Math" panose="02040503050406030204" pitchFamily="18" charset="0"/>
                                        <a:ea typeface="微软雅黑" panose="020B0503020204020204" pitchFamily="34" charset="-122"/>
                                      </a:rPr>
                                      <m:t>𝑋</m:t>
                                    </m:r>
                                    <m:r>
                                      <a:rPr lang="en-US" altLang="zh-CN" b="0" i="1" baseline="30000" smtClean="0">
                                        <a:solidFill>
                                          <a:srgbClr val="1F4B70"/>
                                        </a:solidFill>
                                        <a:latin typeface="Cambria Math" panose="02040503050406030204" pitchFamily="18" charset="0"/>
                                        <a:ea typeface="微软雅黑" panose="020B0503020204020204" pitchFamily="34" charset="-122"/>
                                      </a:rPr>
                                      <m:t>∗</m:t>
                                    </m:r>
                                  </m:e>
                                  <m:e>
                                    <m:r>
                                      <a:rPr lang="en-US" altLang="zh-CN" b="0" i="1" smtClean="0">
                                        <a:solidFill>
                                          <a:srgbClr val="1F4B70"/>
                                        </a:solidFill>
                                        <a:latin typeface="Cambria Math" panose="02040503050406030204" pitchFamily="18" charset="0"/>
                                        <a:ea typeface="微软雅黑" panose="020B0503020204020204" pitchFamily="34" charset="-122"/>
                                      </a:rPr>
                                      <m:t> </m:t>
                                    </m:r>
                                  </m:e>
                                  <m:e>
                                    <m:f>
                                      <m:fPr>
                                        <m:ctrlPr>
                                          <a:rPr lang="en-US" altLang="zh-CN" i="1">
                                            <a:solidFill>
                                              <a:srgbClr val="1F4B70"/>
                                            </a:solidFill>
                                            <a:latin typeface="Cambria Math" panose="02040503050406030204" pitchFamily="18" charset="0"/>
                                            <a:ea typeface="微软雅黑" panose="020B0503020204020204" pitchFamily="34" charset="-122"/>
                                          </a:rPr>
                                        </m:ctrlPr>
                                      </m:fPr>
                                      <m:num>
                                        <m:r>
                                          <a:rPr lang="en-US" altLang="zh-CN" i="1">
                                            <a:solidFill>
                                              <a:srgbClr val="1F4B70"/>
                                            </a:solidFill>
                                            <a:latin typeface="Cambria Math" panose="02040503050406030204" pitchFamily="18" charset="0"/>
                                            <a:ea typeface="微软雅黑" panose="020B0503020204020204" pitchFamily="34" charset="-122"/>
                                          </a:rPr>
                                          <m:t>1</m:t>
                                        </m:r>
                                      </m:num>
                                      <m:den>
                                        <m:r>
                                          <a:rPr lang="en-US" altLang="zh-CN" i="1">
                                            <a:solidFill>
                                              <a:srgbClr val="1F4B70"/>
                                            </a:solidFill>
                                            <a:latin typeface="Cambria Math" panose="02040503050406030204" pitchFamily="18" charset="0"/>
                                            <a:ea typeface="微软雅黑" panose="020B0503020204020204" pitchFamily="34" charset="-122"/>
                                          </a:rPr>
                                          <m:t>2</m:t>
                                        </m:r>
                                      </m:den>
                                    </m:f>
                                    <m:d>
                                      <m:dPr>
                                        <m:ctrlPr>
                                          <a:rPr lang="en-US" altLang="zh-CN" i="1">
                                            <a:solidFill>
                                              <a:srgbClr val="1F4B70"/>
                                            </a:solidFill>
                                            <a:latin typeface="Cambria Math" panose="02040503050406030204" pitchFamily="18" charset="0"/>
                                            <a:ea typeface="微软雅黑" panose="020B0503020204020204" pitchFamily="34" charset="-122"/>
                                          </a:rPr>
                                        </m:ctrlPr>
                                      </m:dPr>
                                      <m:e>
                                        <m:r>
                                          <a:rPr lang="en-US" altLang="zh-CN" i="1">
                                            <a:solidFill>
                                              <a:srgbClr val="1F4B70"/>
                                            </a:solidFill>
                                            <a:latin typeface="Cambria Math" panose="02040503050406030204" pitchFamily="18" charset="0"/>
                                            <a:ea typeface="微软雅黑" panose="020B0503020204020204" pitchFamily="34" charset="-122"/>
                                          </a:rPr>
                                          <m:t>𝑋</m:t>
                                        </m:r>
                                        <m:r>
                                          <a:rPr lang="en-US" altLang="zh-CN" i="1" baseline="30000">
                                            <a:solidFill>
                                              <a:srgbClr val="1F4B70"/>
                                            </a:solidFill>
                                            <a:latin typeface="Cambria Math" panose="02040503050406030204" pitchFamily="18" charset="0"/>
                                            <a:ea typeface="微软雅黑" panose="020B0503020204020204" pitchFamily="34" charset="-122"/>
                                          </a:rPr>
                                          <m:t>∗</m:t>
                                        </m:r>
                                        <m:r>
                                          <a:rPr lang="en-US" altLang="zh-CN" i="1">
                                            <a:solidFill>
                                              <a:srgbClr val="1F4B70"/>
                                            </a:solidFill>
                                            <a:latin typeface="Cambria Math" panose="02040503050406030204" pitchFamily="18" charset="0"/>
                                            <a:ea typeface="微软雅黑" panose="020B0503020204020204" pitchFamily="34" charset="-122"/>
                                          </a:rPr>
                                          <m:t>+</m:t>
                                        </m:r>
                                        <m:r>
                                          <a:rPr lang="en-US" altLang="zh-CN" i="1">
                                            <a:solidFill>
                                              <a:srgbClr val="1F4B70"/>
                                            </a:solidFill>
                                            <a:latin typeface="Cambria Math" panose="02040503050406030204" pitchFamily="18" charset="0"/>
                                            <a:ea typeface="微软雅黑" panose="020B0503020204020204" pitchFamily="34" charset="-122"/>
                                          </a:rPr>
                                          <m:t>𝑋</m:t>
                                        </m:r>
                                        <m:r>
                                          <a:rPr lang="en-US" altLang="zh-CN" i="1" baseline="30000">
                                            <a:solidFill>
                                              <a:srgbClr val="1F4B70"/>
                                            </a:solidFill>
                                            <a:latin typeface="Cambria Math" panose="02040503050406030204" pitchFamily="18" charset="0"/>
                                            <a:ea typeface="微软雅黑" panose="020B0503020204020204" pitchFamily="34" charset="-122"/>
                                          </a:rPr>
                                          <m:t>∗</m:t>
                                        </m:r>
                                      </m:e>
                                    </m:d>
                                    <m:r>
                                      <a:rPr lang="en-US" altLang="zh-CN" i="1">
                                        <a:solidFill>
                                          <a:srgbClr val="1F4B70"/>
                                        </a:solidFill>
                                        <a:latin typeface="Cambria Math" panose="02040503050406030204" pitchFamily="18" charset="0"/>
                                        <a:ea typeface="微软雅黑" panose="020B0503020204020204" pitchFamily="34" charset="-122"/>
                                      </a:rPr>
                                      <m:t> </m:t>
                                    </m:r>
                                  </m:e>
                                </m:eqArr>
                              </m:e>
                            </m:d>
                          </m:oMath>
                        </m:oMathPara>
                      </a14:m>
                      <a:endParaRPr lang="zh-CN" altLang="en-US"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44F7875C-9864-43B8-8CFC-94D9E5B496C4}"/>
                        </a:ext>
                      </a:extLst>
                    </p:cNvPr>
                    <p:cNvSpPr txBox="1">
                      <a:spLocks noRot="1" noChangeAspect="1" noMove="1" noResize="1" noEditPoints="1" noAdjustHandles="1" noChangeArrowheads="1" noChangeShapeType="1" noTextEdit="1"/>
                    </p:cNvSpPr>
                    <p:nvPr/>
                  </p:nvSpPr>
                  <p:spPr>
                    <a:xfrm>
                      <a:off x="3923928" y="339915"/>
                      <a:ext cx="1852237" cy="1088631"/>
                    </a:xfrm>
                    <a:prstGeom prst="rect">
                      <a:avLst/>
                    </a:prstGeom>
                    <a:blipFill>
                      <a:blip r:embed="rId4"/>
                      <a:stretch>
                        <a:fillRect/>
                      </a:stretch>
                    </a:blipFill>
                  </p:spPr>
                  <p:txBody>
                    <a:bodyPr/>
                    <a:lstStyle/>
                    <a:p>
                      <a:r>
                        <a:rPr lang="zh-CN" altLang="en-US">
                          <a:noFill/>
                        </a:rPr>
                        <a:t> </a:t>
                      </a:r>
                    </a:p>
                  </p:txBody>
                </p:sp>
              </mc:Fallback>
            </mc:AlternateContent>
            <p:sp>
              <p:nvSpPr>
                <p:cNvPr id="40" name="Rectangle 27">
                  <a:extLst>
                    <a:ext uri="{FF2B5EF4-FFF2-40B4-BE49-F238E27FC236}">
                      <a16:creationId xmlns:a16="http://schemas.microsoft.com/office/drawing/2014/main" id="{874505D9-C737-47C1-9FC2-2EF975BCBB93}"/>
                    </a:ext>
                  </a:extLst>
                </p:cNvPr>
                <p:cNvSpPr>
                  <a:spLocks noChangeArrowheads="1"/>
                </p:cNvSpPr>
                <p:nvPr/>
              </p:nvSpPr>
              <p:spPr bwMode="auto">
                <a:xfrm>
                  <a:off x="5111714" y="335503"/>
                  <a:ext cx="46839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baseline="-25000" dirty="0">
                      <a:solidFill>
                        <a:srgbClr val="1F4B70"/>
                      </a:solidFill>
                      <a:latin typeface="Times New Roman" panose="02020603050405020304" pitchFamily="18" charset="0"/>
                    </a:rPr>
                    <a:t>m</a:t>
                  </a:r>
                  <a:r>
                    <a:rPr kumimoji="1" lang="en-US" altLang="zh-CN" sz="1800" baseline="-25000" dirty="0">
                      <a:solidFill>
                        <a:srgbClr val="1F4B70"/>
                      </a:solidFill>
                      <a:latin typeface="Times New Roman" panose="02020603050405020304" pitchFamily="18" charset="0"/>
                    </a:rPr>
                    <a:t>+1</a:t>
                  </a:r>
                </a:p>
              </p:txBody>
            </p:sp>
          </p:grpSp>
          <p:grpSp>
            <p:nvGrpSpPr>
              <p:cNvPr id="6" name="组合 5">
                <a:extLst>
                  <a:ext uri="{FF2B5EF4-FFF2-40B4-BE49-F238E27FC236}">
                    <a16:creationId xmlns:a16="http://schemas.microsoft.com/office/drawing/2014/main" id="{1768DE2C-69CD-42B8-9A2B-FE774F2EFB9C}"/>
                  </a:ext>
                </a:extLst>
              </p:cNvPr>
              <p:cNvGrpSpPr/>
              <p:nvPr/>
            </p:nvGrpSpPr>
            <p:grpSpPr>
              <a:xfrm>
                <a:off x="4900472" y="323942"/>
                <a:ext cx="1833870" cy="951762"/>
                <a:chOff x="4900472" y="323942"/>
                <a:chExt cx="1833870" cy="951762"/>
              </a:xfrm>
            </p:grpSpPr>
            <p:sp>
              <p:nvSpPr>
                <p:cNvPr id="41" name="Rectangle 27">
                  <a:extLst>
                    <a:ext uri="{FF2B5EF4-FFF2-40B4-BE49-F238E27FC236}">
                      <a16:creationId xmlns:a16="http://schemas.microsoft.com/office/drawing/2014/main" id="{A9AE28F0-2A2D-4DB2-9D6F-CEA7DCFA6AE4}"/>
                    </a:ext>
                  </a:extLst>
                </p:cNvPr>
                <p:cNvSpPr>
                  <a:spLocks noChangeArrowheads="1"/>
                </p:cNvSpPr>
                <p:nvPr/>
              </p:nvSpPr>
              <p:spPr bwMode="auto">
                <a:xfrm>
                  <a:off x="5764205" y="323942"/>
                  <a:ext cx="9701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n</a:t>
                  </a:r>
                  <a:r>
                    <a:rPr kumimoji="1" lang="en-US" altLang="zh-CN" sz="1800" dirty="0">
                      <a:solidFill>
                        <a:srgbClr val="1F4B70"/>
                      </a:solidFill>
                      <a:latin typeface="Times New Roman" panose="02020603050405020304" pitchFamily="18" charset="0"/>
                    </a:rPr>
                    <a:t>=2</a:t>
                  </a:r>
                  <a:r>
                    <a:rPr kumimoji="1" lang="en-US" altLang="zh-CN" sz="1800" i="1" dirty="0">
                      <a:solidFill>
                        <a:srgbClr val="1F4B70"/>
                      </a:solidFill>
                      <a:latin typeface="Times New Roman" panose="02020603050405020304" pitchFamily="18" charset="0"/>
                    </a:rPr>
                    <a:t>m</a:t>
                  </a:r>
                  <a:r>
                    <a:rPr kumimoji="1" lang="en-US" altLang="zh-CN" sz="1800" dirty="0">
                      <a:solidFill>
                        <a:srgbClr val="1F4B70"/>
                      </a:solidFill>
                      <a:latin typeface="Times New Roman" panose="02020603050405020304" pitchFamily="18" charset="0"/>
                    </a:rPr>
                    <a:t>+1</a:t>
                  </a:r>
                </a:p>
              </p:txBody>
            </p:sp>
            <p:sp>
              <p:nvSpPr>
                <p:cNvPr id="43" name="Rectangle 27">
                  <a:extLst>
                    <a:ext uri="{FF2B5EF4-FFF2-40B4-BE49-F238E27FC236}">
                      <a16:creationId xmlns:a16="http://schemas.microsoft.com/office/drawing/2014/main" id="{776B72B3-ED7E-4572-989B-090B959FEED7}"/>
                    </a:ext>
                  </a:extLst>
                </p:cNvPr>
                <p:cNvSpPr>
                  <a:spLocks noChangeArrowheads="1"/>
                </p:cNvSpPr>
                <p:nvPr/>
              </p:nvSpPr>
              <p:spPr bwMode="auto">
                <a:xfrm>
                  <a:off x="5337831" y="1060260"/>
                  <a:ext cx="3674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200" i="1" baseline="-25000" dirty="0">
                      <a:solidFill>
                        <a:srgbClr val="1F4B70"/>
                      </a:solidFill>
                      <a:latin typeface="Times New Roman" panose="02020603050405020304" pitchFamily="18" charset="0"/>
                    </a:rPr>
                    <a:t>m</a:t>
                  </a:r>
                  <a:r>
                    <a:rPr kumimoji="1" lang="en-US" altLang="zh-CN" sz="1200" baseline="-25000" dirty="0">
                      <a:solidFill>
                        <a:srgbClr val="1F4B70"/>
                      </a:solidFill>
                      <a:latin typeface="Times New Roman" panose="02020603050405020304" pitchFamily="18" charset="0"/>
                    </a:rPr>
                    <a:t>+1</a:t>
                  </a:r>
                </a:p>
              </p:txBody>
            </p:sp>
            <p:sp>
              <p:nvSpPr>
                <p:cNvPr id="44" name="Rectangle 27">
                  <a:extLst>
                    <a:ext uri="{FF2B5EF4-FFF2-40B4-BE49-F238E27FC236}">
                      <a16:creationId xmlns:a16="http://schemas.microsoft.com/office/drawing/2014/main" id="{FDBAED49-54DF-415A-85D1-FDE2CDFA77BA}"/>
                    </a:ext>
                  </a:extLst>
                </p:cNvPr>
                <p:cNvSpPr>
                  <a:spLocks noChangeArrowheads="1"/>
                </p:cNvSpPr>
                <p:nvPr/>
              </p:nvSpPr>
              <p:spPr bwMode="auto">
                <a:xfrm>
                  <a:off x="4900472" y="1060260"/>
                  <a:ext cx="25840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200" i="1" baseline="-25000" dirty="0">
                      <a:solidFill>
                        <a:srgbClr val="1F4B70"/>
                      </a:solidFill>
                      <a:latin typeface="Times New Roman" panose="02020603050405020304" pitchFamily="18" charset="0"/>
                    </a:rPr>
                    <a:t>m</a:t>
                  </a:r>
                  <a:endParaRPr kumimoji="1" lang="en-US" altLang="zh-CN" sz="1200" baseline="-25000" dirty="0">
                    <a:solidFill>
                      <a:srgbClr val="1F4B70"/>
                    </a:solidFill>
                    <a:latin typeface="Times New Roman" panose="02020603050405020304" pitchFamily="18" charset="0"/>
                  </a:endParaRPr>
                </a:p>
              </p:txBody>
            </p:sp>
          </p:grpSp>
        </p:grpSp>
      </p:grpSp>
      <p:sp>
        <p:nvSpPr>
          <p:cNvPr id="21" name="Text Box 4">
            <a:extLst>
              <a:ext uri="{FF2B5EF4-FFF2-40B4-BE49-F238E27FC236}">
                <a16:creationId xmlns:a16="http://schemas.microsoft.com/office/drawing/2014/main" id="{62B5F2CC-D788-43B0-BE9F-76DE183978DD}"/>
              </a:ext>
            </a:extLst>
          </p:cNvPr>
          <p:cNvSpPr txBox="1">
            <a:spLocks noChangeArrowheads="1"/>
          </p:cNvSpPr>
          <p:nvPr/>
        </p:nvSpPr>
        <p:spPr bwMode="auto">
          <a:xfrm>
            <a:off x="1115616" y="2648786"/>
            <a:ext cx="1480837" cy="292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756" tIns="7654" rIns="25513" bIns="7654">
            <a:spAutoFit/>
          </a:bodyPr>
          <a:lstStyle/>
          <a:p>
            <a:pPr>
              <a:spcBef>
                <a:spcPct val="50000"/>
              </a:spcBef>
              <a:defRPr/>
            </a:pPr>
            <a:r>
              <a:rPr kumimoji="1" lang="zh-CN" altLang="en-US" dirty="0">
                <a:solidFill>
                  <a:srgbClr val="E88D22"/>
                </a:solidFill>
                <a:latin typeface="微软雅黑" panose="020B0503020204020204" pitchFamily="34" charset="-122"/>
                <a:ea typeface="微软雅黑" panose="020B0503020204020204" pitchFamily="34" charset="-122"/>
              </a:rPr>
              <a:t>    样本中位数</a:t>
            </a:r>
          </a:p>
        </p:txBody>
      </p:sp>
      <p:sp>
        <p:nvSpPr>
          <p:cNvPr id="23" name="Text Box 6">
            <a:extLst>
              <a:ext uri="{FF2B5EF4-FFF2-40B4-BE49-F238E27FC236}">
                <a16:creationId xmlns:a16="http://schemas.microsoft.com/office/drawing/2014/main" id="{F2A71A53-97A7-46C5-BA8C-BA909F1FEA76}"/>
              </a:ext>
            </a:extLst>
          </p:cNvPr>
          <p:cNvSpPr txBox="1">
            <a:spLocks noChangeArrowheads="1"/>
          </p:cNvSpPr>
          <p:nvPr/>
        </p:nvSpPr>
        <p:spPr bwMode="auto">
          <a:xfrm>
            <a:off x="1115617" y="3975894"/>
            <a:ext cx="13636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756" rIns="12756">
            <a:spAutoFit/>
          </a:bodyPr>
          <a:lstStyle/>
          <a:p>
            <a:pPr>
              <a:spcBef>
                <a:spcPct val="50000"/>
              </a:spcBef>
              <a:defRPr/>
            </a:pPr>
            <a:r>
              <a:rPr kumimoji="1" lang="zh-CN" altLang="en-US" dirty="0">
                <a:solidFill>
                  <a:srgbClr val="E88D22"/>
                </a:solidFill>
                <a:latin typeface="微软雅黑" panose="020B0503020204020204" pitchFamily="34" charset="-122"/>
                <a:ea typeface="微软雅黑" panose="020B0503020204020204" pitchFamily="34" charset="-122"/>
              </a:rPr>
              <a:t>    样本 极 差</a:t>
            </a:r>
          </a:p>
        </p:txBody>
      </p:sp>
      <p:sp>
        <p:nvSpPr>
          <p:cNvPr id="25" name="Text Box 12">
            <a:extLst>
              <a:ext uri="{FF2B5EF4-FFF2-40B4-BE49-F238E27FC236}">
                <a16:creationId xmlns:a16="http://schemas.microsoft.com/office/drawing/2014/main" id="{70875620-173C-4173-A4DE-9C48E25B5D9F}"/>
              </a:ext>
            </a:extLst>
          </p:cNvPr>
          <p:cNvSpPr txBox="1">
            <a:spLocks noChangeArrowheads="1"/>
          </p:cNvSpPr>
          <p:nvPr/>
        </p:nvSpPr>
        <p:spPr bwMode="auto">
          <a:xfrm>
            <a:off x="2878969" y="1443215"/>
            <a:ext cx="13580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a:ea typeface="宋体"/>
              </a:rPr>
              <a:t>∙∙∙</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endParaRPr kumimoji="1" lang="en-US" altLang="zh-CN" sz="1800" i="1" baseline="-25000" dirty="0">
              <a:solidFill>
                <a:srgbClr val="1F4B70"/>
              </a:solidFill>
              <a:latin typeface="Times New Roman" panose="02020603050405020304" pitchFamily="18" charset="0"/>
            </a:endParaRPr>
          </a:p>
        </p:txBody>
      </p:sp>
      <p:sp>
        <p:nvSpPr>
          <p:cNvPr id="26" name="AutoShape 13">
            <a:extLst>
              <a:ext uri="{FF2B5EF4-FFF2-40B4-BE49-F238E27FC236}">
                <a16:creationId xmlns:a16="http://schemas.microsoft.com/office/drawing/2014/main" id="{4BACEFD4-369B-4AB0-B0C3-0A37E7EE19FD}"/>
              </a:ext>
            </a:extLst>
          </p:cNvPr>
          <p:cNvSpPr>
            <a:spLocks noChangeArrowheads="1"/>
          </p:cNvSpPr>
          <p:nvPr/>
        </p:nvSpPr>
        <p:spPr bwMode="auto">
          <a:xfrm>
            <a:off x="4208832" y="1561310"/>
            <a:ext cx="306008" cy="153004"/>
          </a:xfrm>
          <a:custGeom>
            <a:avLst/>
            <a:gdLst>
              <a:gd name="T0" fmla="*/ 129420076 w 21600"/>
              <a:gd name="T1" fmla="*/ 0 h 21600"/>
              <a:gd name="T2" fmla="*/ 0 w 21600"/>
              <a:gd name="T3" fmla="*/ 10785005 h 21600"/>
              <a:gd name="T4" fmla="*/ 129420076 w 21600"/>
              <a:gd name="T5" fmla="*/ 21570009 h 21600"/>
              <a:gd name="T6" fmla="*/ 172560114 w 21600"/>
              <a:gd name="T7" fmla="*/ 10785005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1F4B70"/>
          </a:solidFill>
          <a:ln>
            <a:noFill/>
          </a:ln>
          <a:effectLst/>
        </p:spPr>
        <p:txBody>
          <a:bodyPr wrap="none" anchor="ctr"/>
          <a:lstStyle/>
          <a:p>
            <a:endParaRPr lang="zh-CN" altLang="en-US" sz="1631"/>
          </a:p>
        </p:txBody>
      </p:sp>
      <p:sp>
        <p:nvSpPr>
          <p:cNvPr id="27" name="Text Box 14">
            <a:extLst>
              <a:ext uri="{FF2B5EF4-FFF2-40B4-BE49-F238E27FC236}">
                <a16:creationId xmlns:a16="http://schemas.microsoft.com/office/drawing/2014/main" id="{6D21C5BA-BE1E-4459-A780-D1735E345545}"/>
              </a:ext>
            </a:extLst>
          </p:cNvPr>
          <p:cNvSpPr txBox="1">
            <a:spLocks noChangeArrowheads="1"/>
          </p:cNvSpPr>
          <p:nvPr/>
        </p:nvSpPr>
        <p:spPr bwMode="auto">
          <a:xfrm>
            <a:off x="4532104" y="1443215"/>
            <a:ext cx="19447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1</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kumimoji="1" lang="en-US" altLang="zh-CN" sz="1800" i="1" dirty="0">
                <a:solidFill>
                  <a:srgbClr val="1F4B70"/>
                </a:solidFill>
                <a:latin typeface="Times New Roman" panose="02020603050405020304" pitchFamily="18" charset="0"/>
              </a:rPr>
              <a:t>X</a:t>
            </a:r>
            <a:r>
              <a:rPr kumimoji="1" lang="en-US" altLang="zh-CN" sz="1800" baseline="-25000" dirty="0">
                <a:solidFill>
                  <a:srgbClr val="1F4B70"/>
                </a:solidFill>
                <a:latin typeface="Times New Roman" panose="02020603050405020304" pitchFamily="18" charset="0"/>
              </a:rPr>
              <a:t>2</a:t>
            </a:r>
            <a:r>
              <a:rPr kumimoji="1" lang="en-US" altLang="zh-CN" sz="1800" baseline="30000" dirty="0">
                <a:solidFill>
                  <a:srgbClr val="1F4B70"/>
                </a:solidFill>
                <a:latin typeface="Times New Roman" panose="02020603050405020304" pitchFamily="18" charset="0"/>
              </a:rPr>
              <a:t>* </a:t>
            </a:r>
            <a:r>
              <a:rPr kumimoji="1" lang="en-US" altLang="zh-CN" sz="1800" dirty="0">
                <a:solidFill>
                  <a:srgbClr val="1F4B70"/>
                </a:solidFill>
                <a:latin typeface="Times New Roman" panose="02020603050405020304" pitchFamily="18" charset="0"/>
              </a:rPr>
              <a:t>≤ </a:t>
            </a:r>
            <a:r>
              <a:rPr lang="en-US" altLang="zh-CN" sz="1800" kern="100" dirty="0">
                <a:solidFill>
                  <a:srgbClr val="1F4B70"/>
                </a:solidFill>
                <a:latin typeface="Times New Roman"/>
                <a:ea typeface="宋体"/>
              </a:rPr>
              <a:t>∙∙∙</a:t>
            </a:r>
            <a:r>
              <a:rPr kumimoji="1" lang="en-US" altLang="zh-CN" sz="1800" dirty="0">
                <a:solidFill>
                  <a:srgbClr val="1F4B70"/>
                </a:solidFill>
                <a:latin typeface="MT Extra" panose="05050102010205020202" pitchFamily="18" charset="2"/>
              </a:rPr>
              <a:t> </a:t>
            </a:r>
            <a:r>
              <a:rPr kumimoji="1" lang="en-US" altLang="zh-CN" sz="1800" dirty="0">
                <a:solidFill>
                  <a:srgbClr val="1F4B70"/>
                </a:solidFill>
                <a:latin typeface="Times New Roman" panose="02020603050405020304" pitchFamily="18" charset="0"/>
              </a:rPr>
              <a:t>≤ </a:t>
            </a:r>
            <a:r>
              <a:rPr kumimoji="1" lang="en-US" altLang="zh-CN" sz="1800" i="1" dirty="0" err="1">
                <a:solidFill>
                  <a:srgbClr val="1F4B70"/>
                </a:solidFill>
                <a:latin typeface="Times New Roman" panose="02020603050405020304" pitchFamily="18" charset="0"/>
              </a:rPr>
              <a:t>X</a:t>
            </a:r>
            <a:r>
              <a:rPr kumimoji="1" lang="en-US" altLang="zh-CN" sz="1800" i="1" baseline="-25000" dirty="0" err="1">
                <a:solidFill>
                  <a:srgbClr val="1F4B70"/>
                </a:solidFill>
                <a:latin typeface="Times New Roman" panose="02020603050405020304" pitchFamily="18" charset="0"/>
              </a:rPr>
              <a:t>n</a:t>
            </a:r>
            <a:r>
              <a:rPr kumimoji="1" lang="en-US" altLang="zh-CN" sz="1800" baseline="30000" dirty="0">
                <a:solidFill>
                  <a:srgbClr val="1F4B70"/>
                </a:solidFill>
                <a:latin typeface="Times New Roman" panose="02020603050405020304" pitchFamily="18" charset="0"/>
              </a:rPr>
              <a:t>*</a:t>
            </a:r>
          </a:p>
        </p:txBody>
      </p:sp>
      <p:sp>
        <p:nvSpPr>
          <p:cNvPr id="35" name="Text Box 25">
            <a:extLst>
              <a:ext uri="{FF2B5EF4-FFF2-40B4-BE49-F238E27FC236}">
                <a16:creationId xmlns:a16="http://schemas.microsoft.com/office/drawing/2014/main" id="{E920CF7C-865D-481A-8DAC-5581D0716193}"/>
              </a:ext>
            </a:extLst>
          </p:cNvPr>
          <p:cNvSpPr txBox="1">
            <a:spLocks noChangeArrowheads="1"/>
          </p:cNvSpPr>
          <p:nvPr/>
        </p:nvSpPr>
        <p:spPr bwMode="auto">
          <a:xfrm>
            <a:off x="5679410" y="2610348"/>
            <a:ext cx="24929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800" dirty="0">
                <a:solidFill>
                  <a:srgbClr val="1F4B70"/>
                </a:solidFill>
                <a:latin typeface="微软雅黑" panose="020B0503020204020204" pitchFamily="34" charset="-122"/>
                <a:ea typeface="微软雅黑" panose="020B0503020204020204" pitchFamily="34" charset="-122"/>
              </a:rPr>
              <a:t>提取分布中位数的信息</a:t>
            </a:r>
          </a:p>
        </p:txBody>
      </p:sp>
      <p:sp>
        <p:nvSpPr>
          <p:cNvPr id="36" name="Text Box 26">
            <a:extLst>
              <a:ext uri="{FF2B5EF4-FFF2-40B4-BE49-F238E27FC236}">
                <a16:creationId xmlns:a16="http://schemas.microsoft.com/office/drawing/2014/main" id="{2A06FC2B-8D17-469B-BB7C-B2B22A105B20}"/>
              </a:ext>
            </a:extLst>
          </p:cNvPr>
          <p:cNvSpPr txBox="1">
            <a:spLocks noChangeArrowheads="1"/>
          </p:cNvSpPr>
          <p:nvPr/>
        </p:nvSpPr>
        <p:spPr bwMode="auto">
          <a:xfrm>
            <a:off x="5694218" y="3975790"/>
            <a:ext cx="22621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1800" dirty="0">
                <a:solidFill>
                  <a:srgbClr val="1F4B70"/>
                </a:solidFill>
                <a:latin typeface="微软雅黑" panose="020B0503020204020204" pitchFamily="34" charset="-122"/>
                <a:ea typeface="微软雅黑" panose="020B0503020204020204" pitchFamily="34" charset="-122"/>
              </a:rPr>
              <a:t>提取分布范围的信息</a:t>
            </a:r>
          </a:p>
        </p:txBody>
      </p:sp>
      <p:grpSp>
        <p:nvGrpSpPr>
          <p:cNvPr id="2" name="组合 1">
            <a:extLst>
              <a:ext uri="{FF2B5EF4-FFF2-40B4-BE49-F238E27FC236}">
                <a16:creationId xmlns:a16="http://schemas.microsoft.com/office/drawing/2014/main" id="{EFFA9F48-646E-4C93-97C7-F695DAF1C8DB}"/>
              </a:ext>
            </a:extLst>
          </p:cNvPr>
          <p:cNvGrpSpPr/>
          <p:nvPr/>
        </p:nvGrpSpPr>
        <p:grpSpPr>
          <a:xfrm>
            <a:off x="683568" y="1385197"/>
            <a:ext cx="2026416" cy="454590"/>
            <a:chOff x="770153" y="961849"/>
            <a:chExt cx="2026416" cy="454590"/>
          </a:xfrm>
        </p:grpSpPr>
        <p:sp>
          <p:nvSpPr>
            <p:cNvPr id="52" name="Freeform 6">
              <a:extLst>
                <a:ext uri="{FF2B5EF4-FFF2-40B4-BE49-F238E27FC236}">
                  <a16:creationId xmlns:a16="http://schemas.microsoft.com/office/drawing/2014/main" id="{B586BE21-D196-4EA0-AEDD-CFC3B2C7139A}"/>
                </a:ext>
              </a:extLst>
            </p:cNvPr>
            <p:cNvSpPr>
              <a:spLocks/>
            </p:cNvSpPr>
            <p:nvPr/>
          </p:nvSpPr>
          <p:spPr bwMode="auto">
            <a:xfrm>
              <a:off x="770153" y="961849"/>
              <a:ext cx="2026416" cy="454590"/>
            </a:xfrm>
            <a:custGeom>
              <a:avLst/>
              <a:gdLst>
                <a:gd name="T0" fmla="*/ 1984 w 2306"/>
                <a:gd name="T1" fmla="*/ 732 h 732"/>
                <a:gd name="T2" fmla="*/ 0 w 2306"/>
                <a:gd name="T3" fmla="*/ 732 h 732"/>
                <a:gd name="T4" fmla="*/ 321 w 2306"/>
                <a:gd name="T5" fmla="*/ 366 h 732"/>
                <a:gd name="T6" fmla="*/ 0 w 2306"/>
                <a:gd name="T7" fmla="*/ 0 h 732"/>
                <a:gd name="T8" fmla="*/ 1984 w 2306"/>
                <a:gd name="T9" fmla="*/ 0 h 732"/>
                <a:gd name="T10" fmla="*/ 2306 w 2306"/>
                <a:gd name="T11" fmla="*/ 366 h 732"/>
                <a:gd name="T12" fmla="*/ 1984 w 2306"/>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6" h="732">
                  <a:moveTo>
                    <a:pt x="1984" y="732"/>
                  </a:moveTo>
                  <a:lnTo>
                    <a:pt x="0" y="732"/>
                  </a:lnTo>
                  <a:lnTo>
                    <a:pt x="321" y="366"/>
                  </a:lnTo>
                  <a:lnTo>
                    <a:pt x="0" y="0"/>
                  </a:lnTo>
                  <a:lnTo>
                    <a:pt x="1984" y="0"/>
                  </a:lnTo>
                  <a:lnTo>
                    <a:pt x="2306" y="366"/>
                  </a:lnTo>
                  <a:lnTo>
                    <a:pt x="1984" y="73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6" name="TextBox 72">
              <a:extLst>
                <a:ext uri="{FF2B5EF4-FFF2-40B4-BE49-F238E27FC236}">
                  <a16:creationId xmlns:a16="http://schemas.microsoft.com/office/drawing/2014/main" id="{8CF8BC4E-5AA1-4B6A-AC72-427D32E2906C}"/>
                </a:ext>
              </a:extLst>
            </p:cNvPr>
            <p:cNvSpPr txBox="1"/>
            <p:nvPr/>
          </p:nvSpPr>
          <p:spPr>
            <a:xfrm>
              <a:off x="1037412" y="1019867"/>
              <a:ext cx="1210588" cy="338554"/>
            </a:xfrm>
            <a:prstGeom prst="rect">
              <a:avLst/>
            </a:prstGeom>
            <a:noFill/>
          </p:spPr>
          <p:txBody>
            <a:bodyPr wrap="none" rtlCol="0">
              <a:spAutoFit/>
            </a:bodyPr>
            <a:lstStyle/>
            <a:p>
              <a:r>
                <a:rPr lang="zh-CN" altLang="en-US" sz="16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顺序统计量</a:t>
              </a:r>
            </a:p>
          </p:txBody>
        </p:sp>
      </p:grpSp>
      <p:grpSp>
        <p:nvGrpSpPr>
          <p:cNvPr id="30" name="组合 29">
            <a:extLst>
              <a:ext uri="{FF2B5EF4-FFF2-40B4-BE49-F238E27FC236}">
                <a16:creationId xmlns:a16="http://schemas.microsoft.com/office/drawing/2014/main" id="{B3E2E709-0329-4F17-B00A-B1055008555B}"/>
              </a:ext>
            </a:extLst>
          </p:cNvPr>
          <p:cNvGrpSpPr/>
          <p:nvPr/>
        </p:nvGrpSpPr>
        <p:grpSpPr>
          <a:xfrm>
            <a:off x="755650" y="853690"/>
            <a:ext cx="1410824" cy="328305"/>
            <a:chOff x="2139503" y="696411"/>
            <a:chExt cx="1712417" cy="398487"/>
          </a:xfrm>
        </p:grpSpPr>
        <p:sp>
          <p:nvSpPr>
            <p:cNvPr id="32" name="矩形: 圆角 115">
              <a:extLst>
                <a:ext uri="{FF2B5EF4-FFF2-40B4-BE49-F238E27FC236}">
                  <a16:creationId xmlns:a16="http://schemas.microsoft.com/office/drawing/2014/main" id="{A66B3F6B-A4A2-41C5-8B32-BD546E3F912A}"/>
                </a:ext>
              </a:extLst>
            </p:cNvPr>
            <p:cNvSpPr/>
            <p:nvPr/>
          </p:nvSpPr>
          <p:spPr>
            <a:xfrm>
              <a:off x="2139503" y="696411"/>
              <a:ext cx="1712417" cy="39848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 Box 2">
              <a:extLst>
                <a:ext uri="{FF2B5EF4-FFF2-40B4-BE49-F238E27FC236}">
                  <a16:creationId xmlns:a16="http://schemas.microsoft.com/office/drawing/2014/main" id="{02657EC0-A49D-4B29-8641-FBDAF98BD7B2}"/>
                </a:ext>
              </a:extLst>
            </p:cNvPr>
            <p:cNvSpPr txBox="1">
              <a:spLocks noChangeArrowheads="1"/>
            </p:cNvSpPr>
            <p:nvPr/>
          </p:nvSpPr>
          <p:spPr bwMode="auto">
            <a:xfrm>
              <a:off x="2399984" y="738958"/>
              <a:ext cx="1217706" cy="3116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4802" tIns="32401" rIns="64802" bIns="32401" numCol="1" anchor="ctr" anchorCtr="0" compatLnSpc="1">
              <a:prstTxWarp prst="textNoShape">
                <a:avLst/>
              </a:prstTxWarp>
              <a:spAutoFit/>
            </a:bodyPr>
            <a:lstStyle>
              <a:lvl1pPr algn="ctr" defTabSz="914282" rtl="0" eaLnBrk="1" latinLnBrk="0" hangingPunct="1">
                <a:spcBef>
                  <a:spcPct val="0"/>
                </a:spcBef>
                <a:buNone/>
                <a:defRPr sz="4400" kern="1200">
                  <a:solidFill>
                    <a:schemeClr val="tx1"/>
                  </a:solidFill>
                  <a:latin typeface="+mj-lt"/>
                  <a:ea typeface="+mj-ea"/>
                  <a:cs typeface="+mj-cs"/>
                </a:defRPr>
              </a:lvl1pPr>
            </a:lstStyle>
            <a:p>
              <a:pPr>
                <a:spcBef>
                  <a:spcPct val="50000"/>
                </a:spcBef>
                <a:defRPr/>
              </a:pPr>
              <a:r>
                <a:rPr lang="zh-CN" altLang="en-US" sz="1600" b="1" dirty="0">
                  <a:solidFill>
                    <a:schemeClr val="bg1"/>
                  </a:solidFill>
                  <a:latin typeface="微软雅黑" panose="020B0503020204020204" pitchFamily="34" charset="-122"/>
                  <a:ea typeface="微软雅黑" panose="020B0503020204020204" pitchFamily="34" charset="-122"/>
                </a:rPr>
                <a:t>常用统计量 </a:t>
              </a:r>
            </a:p>
          </p:txBody>
        </p:sp>
      </p:grpSp>
      <p:grpSp>
        <p:nvGrpSpPr>
          <p:cNvPr id="9" name="组合 8">
            <a:extLst>
              <a:ext uri="{FF2B5EF4-FFF2-40B4-BE49-F238E27FC236}">
                <a16:creationId xmlns:a16="http://schemas.microsoft.com/office/drawing/2014/main" id="{D2CF16CE-8A91-419A-B45C-A1198C6870AF}"/>
              </a:ext>
            </a:extLst>
          </p:cNvPr>
          <p:cNvGrpSpPr/>
          <p:nvPr/>
        </p:nvGrpSpPr>
        <p:grpSpPr>
          <a:xfrm>
            <a:off x="3521684" y="4002618"/>
            <a:ext cx="1045479" cy="369332"/>
            <a:chOff x="6663654" y="552473"/>
            <a:chExt cx="1045479" cy="369332"/>
          </a:xfrm>
        </p:grpSpPr>
        <p:sp>
          <p:nvSpPr>
            <p:cNvPr id="45" name="Rectangle 16">
              <a:extLst>
                <a:ext uri="{FF2B5EF4-FFF2-40B4-BE49-F238E27FC236}">
                  <a16:creationId xmlns:a16="http://schemas.microsoft.com/office/drawing/2014/main" id="{6A85635D-50FC-419A-8FC9-E5178F4059B0}"/>
                </a:ext>
              </a:extLst>
            </p:cNvPr>
            <p:cNvSpPr>
              <a:spLocks noChangeArrowheads="1"/>
            </p:cNvSpPr>
            <p:nvPr/>
          </p:nvSpPr>
          <p:spPr bwMode="auto">
            <a:xfrm>
              <a:off x="6663654" y="552473"/>
              <a:ext cx="10454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lvl="0"/>
              <a:r>
                <a:rPr kumimoji="1" lang="en-US" altLang="zh-CN" sz="1800" i="1" dirty="0">
                  <a:solidFill>
                    <a:srgbClr val="1F4B70"/>
                  </a:solidFill>
                  <a:latin typeface="Times New Roman" panose="02020603050405020304" pitchFamily="18" charset="0"/>
                </a:rPr>
                <a:t>R=X</a:t>
              </a:r>
              <a:r>
                <a:rPr kumimoji="1" lang="en-US" altLang="zh-CN" sz="1800" i="1" baseline="30000" dirty="0">
                  <a:solidFill>
                    <a:srgbClr val="1F4B70"/>
                  </a:solidFill>
                  <a:latin typeface="Times New Roman" panose="02020603050405020304" pitchFamily="18" charset="0"/>
                </a:rPr>
                <a:t>* - </a:t>
              </a:r>
              <a:r>
                <a:rPr kumimoji="1" lang="en-US" altLang="zh-CN" sz="1800" i="1" dirty="0">
                  <a:solidFill>
                    <a:srgbClr val="1F4B70"/>
                  </a:solidFill>
                  <a:latin typeface="Times New Roman" panose="02020603050405020304" pitchFamily="18" charset="0"/>
                </a:rPr>
                <a:t>X</a:t>
              </a:r>
              <a:r>
                <a:rPr kumimoji="1" lang="en-US" altLang="zh-CN" sz="1800" i="1" baseline="30000" dirty="0">
                  <a:solidFill>
                    <a:srgbClr val="1F4B70"/>
                  </a:solidFill>
                  <a:latin typeface="Times New Roman" panose="02020603050405020304" pitchFamily="18" charset="0"/>
                </a:rPr>
                <a:t>*</a:t>
              </a:r>
              <a:endParaRPr kumimoji="1" lang="en-US" altLang="zh-CN" sz="1800" baseline="30000" dirty="0">
                <a:solidFill>
                  <a:srgbClr val="1F4B70"/>
                </a:solidFill>
                <a:latin typeface="Times New Roman" panose="02020603050405020304" pitchFamily="18" charset="0"/>
              </a:endParaRPr>
            </a:p>
          </p:txBody>
        </p:sp>
        <p:sp>
          <p:nvSpPr>
            <p:cNvPr id="46" name="Rectangle 27">
              <a:extLst>
                <a:ext uri="{FF2B5EF4-FFF2-40B4-BE49-F238E27FC236}">
                  <a16:creationId xmlns:a16="http://schemas.microsoft.com/office/drawing/2014/main" id="{E6E21888-2754-4879-9D83-25D1BBB8E7C2}"/>
                </a:ext>
              </a:extLst>
            </p:cNvPr>
            <p:cNvSpPr>
              <a:spLocks noChangeArrowheads="1"/>
            </p:cNvSpPr>
            <p:nvPr/>
          </p:nvSpPr>
          <p:spPr bwMode="auto">
            <a:xfrm>
              <a:off x="7123028" y="656735"/>
              <a:ext cx="2359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200" i="1" baseline="-25000" dirty="0">
                  <a:solidFill>
                    <a:srgbClr val="1F4B70"/>
                  </a:solidFill>
                  <a:latin typeface="Times New Roman" panose="02020603050405020304" pitchFamily="18" charset="0"/>
                </a:rPr>
                <a:t>n</a:t>
              </a:r>
              <a:endParaRPr kumimoji="1" lang="en-US" altLang="zh-CN" sz="1200" baseline="-25000" dirty="0">
                <a:solidFill>
                  <a:srgbClr val="1F4B70"/>
                </a:solidFill>
                <a:latin typeface="Times New Roman" panose="02020603050405020304" pitchFamily="18" charset="0"/>
              </a:endParaRPr>
            </a:p>
          </p:txBody>
        </p:sp>
        <p:sp>
          <p:nvSpPr>
            <p:cNvPr id="47" name="Rectangle 27">
              <a:extLst>
                <a:ext uri="{FF2B5EF4-FFF2-40B4-BE49-F238E27FC236}">
                  <a16:creationId xmlns:a16="http://schemas.microsoft.com/office/drawing/2014/main" id="{35B62D9B-1832-4A4A-B772-2D8E76416360}"/>
                </a:ext>
              </a:extLst>
            </p:cNvPr>
            <p:cNvSpPr>
              <a:spLocks noChangeArrowheads="1"/>
            </p:cNvSpPr>
            <p:nvPr/>
          </p:nvSpPr>
          <p:spPr bwMode="auto">
            <a:xfrm>
              <a:off x="7452320" y="656735"/>
              <a:ext cx="189429"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100">
                  <a:solidFill>
                    <a:schemeClr val="tx1"/>
                  </a:solidFill>
                  <a:latin typeface="Arial" panose="020B0604020202020204" pitchFamily="34" charset="0"/>
                  <a:ea typeface="宋体" panose="02010600030101010101" pitchFamily="2" charset="-122"/>
                </a:defRPr>
              </a:lvl1pPr>
              <a:lvl2pPr marL="742950" indent="-285750">
                <a:defRPr sz="3100">
                  <a:solidFill>
                    <a:schemeClr val="tx1"/>
                  </a:solidFill>
                  <a:latin typeface="Arial" panose="020B0604020202020204" pitchFamily="34" charset="0"/>
                  <a:ea typeface="宋体" panose="02010600030101010101" pitchFamily="2" charset="-122"/>
                </a:defRPr>
              </a:lvl2pPr>
              <a:lvl3pPr marL="1143000" indent="-228600">
                <a:defRPr sz="3100">
                  <a:solidFill>
                    <a:schemeClr val="tx1"/>
                  </a:solidFill>
                  <a:latin typeface="Arial" panose="020B0604020202020204" pitchFamily="34" charset="0"/>
                  <a:ea typeface="宋体" panose="02010600030101010101" pitchFamily="2" charset="-122"/>
                </a:defRPr>
              </a:lvl3pPr>
              <a:lvl4pPr marL="1600200" indent="-228600">
                <a:defRPr sz="3100">
                  <a:solidFill>
                    <a:schemeClr val="tx1"/>
                  </a:solidFill>
                  <a:latin typeface="Arial" panose="020B0604020202020204" pitchFamily="34" charset="0"/>
                  <a:ea typeface="宋体" panose="02010600030101010101" pitchFamily="2" charset="-122"/>
                </a:defRPr>
              </a:lvl4pPr>
              <a:lvl5pPr marL="2057400" indent="-228600">
                <a:defRPr sz="31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1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200" baseline="-25000" dirty="0">
                  <a:solidFill>
                    <a:srgbClr val="1F4B70"/>
                  </a:solidFill>
                  <a:latin typeface="Times New Roman" panose="02020603050405020304" pitchFamily="18" charset="0"/>
                </a:rPr>
                <a:t>1</a:t>
              </a:r>
            </a:p>
          </p:txBody>
        </p:sp>
      </p:grpSp>
    </p:spTree>
    <p:extLst>
      <p:ext uri="{BB962C8B-B14F-4D97-AF65-F5344CB8AC3E}">
        <p14:creationId xmlns:p14="http://schemas.microsoft.com/office/powerpoint/2010/main" val="3998545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ppt_x</p:attrName>
                                        </p:attrNameLst>
                                      </p:cBhvr>
                                      <p:tavLst>
                                        <p:tav tm="0">
                                          <p:val>
                                            <p:strVal val="#ppt_x-#ppt_w*1.125000"/>
                                          </p:val>
                                        </p:tav>
                                        <p:tav tm="100000">
                                          <p:val>
                                            <p:strVal val="#ppt_x"/>
                                          </p:val>
                                        </p:tav>
                                      </p:tavLst>
                                    </p:anim>
                                    <p:animEffect transition="in" filter="wipe(right)">
                                      <p:cBhvr>
                                        <p:cTn id="8" dur="500"/>
                                        <p:tgtEl>
                                          <p:spTgt spid="2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fill="hold"/>
                                        <p:tgtEl>
                                          <p:spTgt spid="35"/>
                                        </p:tgtEl>
                                        <p:attrNameLst>
                                          <p:attrName>ppt_x</p:attrName>
                                        </p:attrNameLst>
                                      </p:cBhvr>
                                      <p:tavLst>
                                        <p:tav tm="0">
                                          <p:val>
                                            <p:strVal val="0-#ppt_w/2"/>
                                          </p:val>
                                        </p:tav>
                                        <p:tav tm="100000">
                                          <p:val>
                                            <p:strVal val="#ppt_x"/>
                                          </p:val>
                                        </p:tav>
                                      </p:tavLst>
                                    </p:anim>
                                    <p:anim calcmode="lin" valueType="num">
                                      <p:cBhvr additive="base">
                                        <p:cTn id="19" dur="500" fill="hold"/>
                                        <p:tgtEl>
                                          <p:spTgt spid="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arrow.wav"/>
                                        </p:tgtEl>
                                      </p:cMediaNode>
                                    </p:audio>
                                  </p:sub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additive="base">
                                        <p:cTn id="24" dur="500"/>
                                        <p:tgtEl>
                                          <p:spTgt spid="23"/>
                                        </p:tgtEl>
                                        <p:attrNameLst>
                                          <p:attrName>ppt_x</p:attrName>
                                        </p:attrNameLst>
                                      </p:cBhvr>
                                      <p:tavLst>
                                        <p:tav tm="0">
                                          <p:val>
                                            <p:strVal val="#ppt_x-#ppt_w*1.125000"/>
                                          </p:val>
                                        </p:tav>
                                        <p:tav tm="100000">
                                          <p:val>
                                            <p:strVal val="#ppt_x"/>
                                          </p:val>
                                        </p:tav>
                                      </p:tavLst>
                                    </p:anim>
                                    <p:animEffect transition="in" filter="wipe(right)">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arn(outVertic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0-#ppt_w/2"/>
                                          </p:val>
                                        </p:tav>
                                        <p:tav tm="100000">
                                          <p:val>
                                            <p:strVal val="#ppt_x"/>
                                          </p:val>
                                        </p:tav>
                                      </p:tavLst>
                                    </p:anim>
                                    <p:anim calcmode="lin" valueType="num">
                                      <p:cBhvr additive="base">
                                        <p:cTn id="36" dur="500" fill="hold"/>
                                        <p:tgtEl>
                                          <p:spTgt spid="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arrow.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3" grpId="0" autoUpdateAnimBg="0"/>
      <p:bldP spid="35" grpId="0"/>
      <p:bldP spid="3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99321" y="912927"/>
            <a:ext cx="1800493" cy="369332"/>
          </a:xfrm>
          <a:prstGeom prst="rect">
            <a:avLst/>
          </a:prstGeom>
          <a:noFill/>
        </p:spPr>
        <p:txBody>
          <a:bodyPr wrap="none" rtlCol="0">
            <a:spAutoFit/>
          </a:bodyPr>
          <a:lstStyle/>
          <a:p>
            <a:r>
              <a:rPr lang="zh-CN" altLang="en-US" dirty="0">
                <a:solidFill>
                  <a:srgbClr val="1F4B70"/>
                </a:solidFill>
                <a:latin typeface="微软雅黑" panose="020B0503020204020204" pitchFamily="34" charset="-122"/>
                <a:ea typeface="微软雅黑" panose="020B0503020204020204" pitchFamily="34" charset="-122"/>
              </a:rPr>
              <a:t>统计量的作用：</a:t>
            </a:r>
          </a:p>
        </p:txBody>
      </p:sp>
      <p:sp>
        <p:nvSpPr>
          <p:cNvPr id="6" name="TextBox 5"/>
          <p:cNvSpPr txBox="1"/>
          <p:nvPr/>
        </p:nvSpPr>
        <p:spPr>
          <a:xfrm>
            <a:off x="2310378" y="912927"/>
            <a:ext cx="3185487" cy="369332"/>
          </a:xfrm>
          <a:prstGeom prst="rect">
            <a:avLst/>
          </a:prstGeom>
          <a:noFill/>
        </p:spPr>
        <p:txBody>
          <a:bodyPr wrap="none" rtlCol="0">
            <a:spAutoFit/>
          </a:bodyPr>
          <a:lstStyle/>
          <a:p>
            <a:r>
              <a:rPr lang="zh-CN" altLang="en-US" dirty="0">
                <a:solidFill>
                  <a:srgbClr val="1F4B70"/>
                </a:solidFill>
                <a:latin typeface="微软雅黑" panose="020B0503020204020204" pitchFamily="34" charset="-122"/>
                <a:ea typeface="微软雅黑" panose="020B0503020204020204" pitchFamily="34" charset="-122"/>
              </a:rPr>
              <a:t>压缩样本信息、提取有用信息</a:t>
            </a:r>
          </a:p>
        </p:txBody>
      </p:sp>
      <p:pic>
        <p:nvPicPr>
          <p:cNvPr id="16388"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568" y="2326060"/>
            <a:ext cx="4248472"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9" name="Picture 5"/>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76056" y="530821"/>
            <a:ext cx="3384376" cy="2336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TextBox 16"/>
          <p:cNvSpPr txBox="1"/>
          <p:nvPr/>
        </p:nvSpPr>
        <p:spPr>
          <a:xfrm>
            <a:off x="2411760" y="2537753"/>
            <a:ext cx="369012" cy="369332"/>
          </a:xfrm>
          <a:prstGeom prst="rect">
            <a:avLst/>
          </a:prstGeom>
          <a:noFill/>
        </p:spPr>
        <p:txBody>
          <a:bodyPr wrap="none" rtlCol="0">
            <a:spAutoFit/>
          </a:bodyPr>
          <a:lstStyle/>
          <a:p>
            <a:r>
              <a:rPr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i="1"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TextBox 21"/>
          <p:cNvSpPr txBox="1"/>
          <p:nvPr/>
        </p:nvSpPr>
        <p:spPr>
          <a:xfrm>
            <a:off x="1907704" y="2547045"/>
            <a:ext cx="402674" cy="369332"/>
          </a:xfrm>
          <a:prstGeom prst="rect">
            <a:avLst/>
          </a:prstGeom>
          <a:noFill/>
        </p:spPr>
        <p:txBody>
          <a:bodyPr wrap="none" rtlCol="0">
            <a:spAutoFit/>
          </a:bodyPr>
          <a:lstStyle/>
          <a:p>
            <a:r>
              <a:rPr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TextBox 22"/>
          <p:cNvSpPr txBox="1"/>
          <p:nvPr/>
        </p:nvSpPr>
        <p:spPr>
          <a:xfrm>
            <a:off x="3228286" y="2547045"/>
            <a:ext cx="479618" cy="369332"/>
          </a:xfrm>
          <a:prstGeom prst="rect">
            <a:avLst/>
          </a:prstGeom>
          <a:noFill/>
        </p:spPr>
        <p:txBody>
          <a:bodyPr wrap="none" rtlCol="0">
            <a:spAutoFit/>
          </a:bodyPr>
          <a:lstStyle/>
          <a:p>
            <a:r>
              <a:rPr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10</a:t>
            </a:r>
            <a:endParaRPr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右箭头 17"/>
          <p:cNvSpPr/>
          <p:nvPr/>
        </p:nvSpPr>
        <p:spPr>
          <a:xfrm>
            <a:off x="4572000" y="2403029"/>
            <a:ext cx="1008112" cy="319390"/>
          </a:xfrm>
          <a:prstGeom prst="rightArrow">
            <a:avLst>
              <a:gd name="adj1" fmla="val 44046"/>
              <a:gd name="adj2" fmla="val 50000"/>
            </a:avLst>
          </a:prstGeom>
          <a:gradFill flip="none" rotWithShape="1">
            <a:gsLst>
              <a:gs pos="0">
                <a:schemeClr val="accent2">
                  <a:lumMod val="20000"/>
                  <a:lumOff val="80000"/>
                </a:schemeClr>
              </a:gs>
              <a:gs pos="100000">
                <a:srgbClr val="C68F0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4B70"/>
              </a:solidFill>
            </a:endParaRPr>
          </a:p>
        </p:txBody>
      </p:sp>
      <mc:AlternateContent xmlns:mc="http://schemas.openxmlformats.org/markup-compatibility/2006" xmlns:a14="http://schemas.microsoft.com/office/drawing/2010/main">
        <mc:Choice Requires="a14">
          <p:sp>
            <p:nvSpPr>
              <p:cNvPr id="20" name="TextBox 19"/>
              <p:cNvSpPr txBox="1"/>
              <p:nvPr/>
            </p:nvSpPr>
            <p:spPr>
              <a:xfrm>
                <a:off x="6597016" y="2475037"/>
                <a:ext cx="408317"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solidFill>
                                <a:srgbClr val="C00000"/>
                              </a:solidFill>
                              <a:latin typeface="Cambria Math" panose="02040503050406030204" pitchFamily="18" charset="0"/>
                              <a:ea typeface="微软雅黑" panose="020B0503020204020204" pitchFamily="34" charset="-122"/>
                            </a:rPr>
                          </m:ctrlPr>
                        </m:accPr>
                        <m:e>
                          <m:r>
                            <a:rPr lang="en-US" altLang="zh-CN" b="0" i="1" smtClean="0">
                              <a:solidFill>
                                <a:srgbClr val="C00000"/>
                              </a:solidFill>
                              <a:latin typeface="Cambria Math"/>
                              <a:ea typeface="微软雅黑" panose="020B0503020204020204" pitchFamily="34" charset="-122"/>
                            </a:rPr>
                            <m:t>𝑋</m:t>
                          </m:r>
                        </m:e>
                      </m:acc>
                    </m:oMath>
                  </m:oMathPara>
                </a14:m>
                <a:endParaRPr lang="zh-CN" altLang="en-US" dirty="0">
                  <a:solidFill>
                    <a:srgbClr val="C00000"/>
                  </a:solidFill>
                  <a:latin typeface="微软雅黑" panose="020B0503020204020204" pitchFamily="34" charset="-122"/>
                  <a:ea typeface="微软雅黑" panose="020B0503020204020204" pitchFamily="34" charset="-122"/>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6597016" y="2475037"/>
                <a:ext cx="408317" cy="369332"/>
              </a:xfrm>
              <a:prstGeom prst="rect">
                <a:avLst/>
              </a:prstGeom>
              <a:blipFill>
                <a:blip r:embed="rId5"/>
                <a:stretch>
                  <a:fillRect r="-5970"/>
                </a:stretch>
              </a:blipFill>
              <a:ln>
                <a:noFill/>
              </a:ln>
            </p:spPr>
            <p:txBody>
              <a:bodyPr/>
              <a:lstStyle/>
              <a:p>
                <a:r>
                  <a:rPr lang="zh-CN" altLang="en-US">
                    <a:noFill/>
                  </a:rPr>
                  <a:t> </a:t>
                </a:r>
              </a:p>
            </p:txBody>
          </p:sp>
        </mc:Fallback>
      </mc:AlternateContent>
      <p:sp>
        <p:nvSpPr>
          <p:cNvPr id="25" name="TextBox 24"/>
          <p:cNvSpPr txBox="1"/>
          <p:nvPr/>
        </p:nvSpPr>
        <p:spPr>
          <a:xfrm>
            <a:off x="6567777" y="2850490"/>
            <a:ext cx="466794" cy="369332"/>
          </a:xfrm>
          <a:prstGeom prst="rect">
            <a:avLst/>
          </a:prstGeom>
          <a:noFill/>
        </p:spPr>
        <p:txBody>
          <a:bodyPr wrap="none" rtlCol="0">
            <a:spAutoFit/>
          </a:bodyPr>
          <a:lstStyle/>
          <a:p>
            <a:r>
              <a:rPr lang="en-US" altLang="zh-CN"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EX</a:t>
            </a:r>
            <a:endParaRPr lang="zh-CN" altLang="en-US"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TextBox 25"/>
          <p:cNvSpPr txBox="1"/>
          <p:nvPr/>
        </p:nvSpPr>
        <p:spPr>
          <a:xfrm>
            <a:off x="1115616" y="3985034"/>
            <a:ext cx="545342" cy="369332"/>
          </a:xfrm>
          <a:prstGeom prst="rect">
            <a:avLst/>
          </a:prstGeom>
          <a:noFill/>
        </p:spPr>
        <p:txBody>
          <a:bodyPr wrap="none" rtlCol="0">
            <a:spAutoFit/>
          </a:bodyPr>
          <a:lstStyle/>
          <a:p>
            <a:r>
              <a:rPr lang="en-US" altLang="zh-CN" i="1"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baseline="30000"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7" name="TextBox 26"/>
              <p:cNvSpPr txBox="1"/>
              <p:nvPr/>
            </p:nvSpPr>
            <p:spPr>
              <a:xfrm>
                <a:off x="2420752" y="3976242"/>
                <a:ext cx="999120" cy="369332"/>
              </a:xfrm>
              <a:prstGeom prst="rect">
                <a:avLst/>
              </a:prstGeom>
              <a:noFill/>
            </p:spPr>
            <p:txBody>
              <a:bodyPr wrap="none" rtlCol="0">
                <a:spAutoFit/>
              </a:bodyPr>
              <a:lstStyle/>
              <a:p>
                <a:r>
                  <a:rPr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b="0" i="1" smtClean="0">
                        <a:solidFill>
                          <a:srgbClr val="1F4B70"/>
                        </a:solidFill>
                        <a:latin typeface="Cambria Math"/>
                        <a:ea typeface="微软雅黑" panose="020B0503020204020204" pitchFamily="34" charset="-122"/>
                        <a:cs typeface="Times New Roman" panose="02020603050405020304" pitchFamily="18" charset="0"/>
                      </a:rPr>
                      <m:t>𝑋</m:t>
                    </m:r>
                    <m:r>
                      <a:rPr lang="en-US" altLang="zh-CN" b="0" i="1" baseline="-25000" smtClean="0">
                        <a:solidFill>
                          <a:srgbClr val="1F4B70"/>
                        </a:solidFill>
                        <a:latin typeface="Cambria Math"/>
                        <a:ea typeface="微软雅黑" panose="020B0503020204020204" pitchFamily="34" charset="-122"/>
                        <a:cs typeface="Times New Roman" panose="02020603050405020304" pitchFamily="18" charset="0"/>
                      </a:rPr>
                      <m:t>𝑖</m:t>
                    </m:r>
                    <m:r>
                      <a:rPr lang="en-US" altLang="zh-CN" b="0" i="1" smtClean="0">
                        <a:solidFill>
                          <a:srgbClr val="1F4B70"/>
                        </a:solidFill>
                        <a:latin typeface="Cambria Math"/>
                        <a:ea typeface="微软雅黑" panose="020B0503020204020204" pitchFamily="34" charset="-122"/>
                        <a:cs typeface="Times New Roman" panose="02020603050405020304" pitchFamily="18" charset="0"/>
                      </a:rPr>
                      <m:t>−</m:t>
                    </m:r>
                    <m:acc>
                      <m:accPr>
                        <m:chr m:val="̅"/>
                        <m:ctrlPr>
                          <a:rPr lang="en-US" altLang="zh-CN" b="0" i="1" smtClean="0">
                            <a:solidFill>
                              <a:srgbClr val="1F4B70"/>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b="0" i="1" smtClean="0">
                            <a:solidFill>
                              <a:srgbClr val="1F4B70"/>
                            </a:solidFill>
                            <a:latin typeface="Cambria Math"/>
                            <a:ea typeface="微软雅黑" panose="020B0503020204020204" pitchFamily="34" charset="-122"/>
                            <a:cs typeface="Times New Roman" panose="02020603050405020304" pitchFamily="18" charset="0"/>
                          </a:rPr>
                          <m:t>𝑋</m:t>
                        </m:r>
                      </m:e>
                    </m:acc>
                  </m:oMath>
                </a14:m>
                <a:r>
                  <a:rPr lang="en-US" altLang="zh-CN"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srgbClr val="1F4B7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2420752" y="3976242"/>
                <a:ext cx="999120" cy="369332"/>
              </a:xfrm>
              <a:prstGeom prst="rect">
                <a:avLst/>
              </a:prstGeom>
              <a:blipFill>
                <a:blip r:embed="rId6"/>
                <a:stretch>
                  <a:fillRect l="-4878" t="-8197" r="-14024"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1499735" y="3739408"/>
                <a:ext cx="2208169" cy="8485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1F4B70"/>
                              </a:solidFill>
                              <a:latin typeface="Cambria Math" panose="02040503050406030204" pitchFamily="18" charset="0"/>
                              <a:ea typeface="微软雅黑" panose="020B0503020204020204" pitchFamily="34" charset="-122"/>
                            </a:rPr>
                          </m:ctrlPr>
                        </m:fPr>
                        <m:num>
                          <m:r>
                            <a:rPr lang="en-US" altLang="zh-CN" b="0" i="1" smtClean="0">
                              <a:solidFill>
                                <a:srgbClr val="1F4B70"/>
                              </a:solidFill>
                              <a:latin typeface="Cambria Math"/>
                              <a:ea typeface="微软雅黑" panose="020B0503020204020204" pitchFamily="34" charset="-122"/>
                            </a:rPr>
                            <m:t>1</m:t>
                          </m:r>
                        </m:num>
                        <m:den>
                          <m:r>
                            <a:rPr lang="en-US" altLang="zh-CN" b="0" i="1" smtClean="0">
                              <a:solidFill>
                                <a:srgbClr val="1F4B70"/>
                              </a:solidFill>
                              <a:latin typeface="Cambria Math"/>
                              <a:ea typeface="微软雅黑" panose="020B0503020204020204" pitchFamily="34" charset="-122"/>
                            </a:rPr>
                            <m:t>𝑛</m:t>
                          </m:r>
                          <m:r>
                            <a:rPr lang="en-US" altLang="zh-CN" b="0" i="1" smtClean="0">
                              <a:solidFill>
                                <a:srgbClr val="1F4B70"/>
                              </a:solidFill>
                              <a:latin typeface="Cambria Math"/>
                              <a:ea typeface="微软雅黑" panose="020B0503020204020204" pitchFamily="34" charset="-122"/>
                            </a:rPr>
                            <m:t>−1</m:t>
                          </m:r>
                        </m:den>
                      </m:f>
                      <m:nary>
                        <m:naryPr>
                          <m:chr m:val="∑"/>
                          <m:ctrlPr>
                            <a:rPr lang="zh-CN" altLang="en-US" i="1" smtClean="0">
                              <a:solidFill>
                                <a:srgbClr val="1F4B70"/>
                              </a:solidFill>
                              <a:latin typeface="Cambria Math" panose="02040503050406030204" pitchFamily="18" charset="0"/>
                              <a:ea typeface="微软雅黑" panose="020B0503020204020204" pitchFamily="34" charset="-122"/>
                            </a:rPr>
                          </m:ctrlPr>
                        </m:naryPr>
                        <m:sub>
                          <m:r>
                            <m:rPr>
                              <m:brk m:alnAt="23"/>
                            </m:rPr>
                            <a:rPr lang="en-US" altLang="zh-CN" b="0" i="1" smtClean="0">
                              <a:solidFill>
                                <a:srgbClr val="1F4B70"/>
                              </a:solidFill>
                              <a:latin typeface="Cambria Math"/>
                              <a:ea typeface="微软雅黑" panose="020B0503020204020204" pitchFamily="34" charset="-122"/>
                            </a:rPr>
                            <m:t>𝑖</m:t>
                          </m:r>
                          <m:r>
                            <a:rPr lang="en-US" altLang="zh-CN" b="0" i="1" smtClean="0">
                              <a:solidFill>
                                <a:srgbClr val="1F4B70"/>
                              </a:solidFill>
                              <a:latin typeface="Cambria Math"/>
                              <a:ea typeface="微软雅黑" panose="020B0503020204020204" pitchFamily="34" charset="-122"/>
                            </a:rPr>
                            <m:t>=1</m:t>
                          </m:r>
                        </m:sub>
                        <m:sup>
                          <m:r>
                            <a:rPr lang="en-US" altLang="zh-CN" b="0" i="1" smtClean="0">
                              <a:solidFill>
                                <a:srgbClr val="1F4B70"/>
                              </a:solidFill>
                              <a:latin typeface="Cambria Math"/>
                              <a:ea typeface="微软雅黑" panose="020B0503020204020204" pitchFamily="34" charset="-122"/>
                            </a:rPr>
                            <m:t>𝑛</m:t>
                          </m:r>
                        </m:sup>
                        <m:e>
                          <m:r>
                            <a:rPr lang="en-US" altLang="zh-CN" b="0" i="1" smtClean="0">
                              <a:solidFill>
                                <a:srgbClr val="1F4B70"/>
                              </a:solidFill>
                              <a:latin typeface="Cambria Math"/>
                              <a:ea typeface="微软雅黑" panose="020B0503020204020204" pitchFamily="34" charset="-122"/>
                            </a:rPr>
                            <m:t> </m:t>
                          </m:r>
                          <m:sSup>
                            <m:sSupPr>
                              <m:ctrlPr>
                                <a:rPr lang="en-US" altLang="zh-CN" b="0" i="1" smtClean="0">
                                  <a:solidFill>
                                    <a:srgbClr val="1F4B70"/>
                                  </a:solidFill>
                                  <a:latin typeface="Cambria Math" panose="02040503050406030204" pitchFamily="18" charset="0"/>
                                  <a:ea typeface="微软雅黑" panose="020B0503020204020204" pitchFamily="34" charset="-122"/>
                                </a:rPr>
                              </m:ctrlPr>
                            </m:sSupPr>
                            <m:e>
                              <m:r>
                                <a:rPr lang="en-US" altLang="zh-CN" b="0" i="1" smtClean="0">
                                  <a:solidFill>
                                    <a:srgbClr val="1F4B70"/>
                                  </a:solidFill>
                                  <a:latin typeface="Cambria Math"/>
                                  <a:ea typeface="微软雅黑" panose="020B0503020204020204" pitchFamily="34" charset="-122"/>
                                </a:rPr>
                                <m:t>              </m:t>
                              </m:r>
                            </m:e>
                            <m:sup>
                              <m:r>
                                <a:rPr lang="en-US" altLang="zh-CN" b="0" i="1" smtClean="0">
                                  <a:solidFill>
                                    <a:srgbClr val="1F4B70"/>
                                  </a:solidFill>
                                  <a:latin typeface="Cambria Math"/>
                                  <a:ea typeface="微软雅黑" panose="020B0503020204020204" pitchFamily="34" charset="-122"/>
                                </a:rPr>
                                <m:t>2</m:t>
                              </m:r>
                            </m:sup>
                          </m:sSup>
                          <m:r>
                            <a:rPr lang="en-US" altLang="zh-CN" b="0" i="1" smtClean="0">
                              <a:solidFill>
                                <a:srgbClr val="1F4B70"/>
                              </a:solidFill>
                              <a:latin typeface="Cambria Math"/>
                              <a:ea typeface="微软雅黑" panose="020B0503020204020204" pitchFamily="34" charset="-122"/>
                            </a:rPr>
                            <m:t>   </m:t>
                          </m:r>
                        </m:e>
                      </m:nary>
                    </m:oMath>
                  </m:oMathPara>
                </a14:m>
                <a:endParaRPr lang="zh-CN" altLang="en-US" dirty="0">
                  <a:solidFill>
                    <a:srgbClr val="1F4B70"/>
                  </a:solidFill>
                  <a:latin typeface="微软雅黑" panose="020B0503020204020204" pitchFamily="34" charset="-122"/>
                  <a:ea typeface="微软雅黑" panose="020B0503020204020204" pitchFamily="34" charset="-122"/>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1499735" y="3739408"/>
                <a:ext cx="2208169" cy="848566"/>
              </a:xfrm>
              <a:prstGeom prst="rect">
                <a:avLst/>
              </a:prstGeom>
              <a:blipFill>
                <a:blip r:embed="rId7"/>
                <a:stretch>
                  <a:fillRect/>
                </a:stretch>
              </a:blipFill>
            </p:spPr>
            <p:txBody>
              <a:bodyPr/>
              <a:lstStyle/>
              <a:p>
                <a:r>
                  <a:rPr lang="zh-CN" altLang="en-US">
                    <a:noFill/>
                  </a:rPr>
                  <a:t> </a:t>
                </a:r>
              </a:p>
            </p:txBody>
          </p:sp>
        </mc:Fallback>
      </mc:AlternateContent>
      <p:sp>
        <p:nvSpPr>
          <p:cNvPr id="29" name="TextBox 28"/>
          <p:cNvSpPr txBox="1"/>
          <p:nvPr/>
        </p:nvSpPr>
        <p:spPr>
          <a:xfrm>
            <a:off x="1726492" y="3846534"/>
            <a:ext cx="404278" cy="646331"/>
          </a:xfrm>
          <a:prstGeom prst="rect">
            <a:avLst/>
          </a:prstGeom>
          <a:noFill/>
        </p:spPr>
        <p:txBody>
          <a:bodyPr wrap="none" rtlCol="0">
            <a:spAutoFit/>
          </a:bodyPr>
          <a:lstStyle/>
          <a:p>
            <a:r>
              <a:rPr lang="en-US" altLang="zh-CN" sz="3600" b="1" dirty="0">
                <a:solidFill>
                  <a:srgbClr val="E88D22"/>
                </a:solidFill>
                <a:latin typeface="微软雅黑" panose="020B0503020204020204" pitchFamily="34" charset="-122"/>
                <a:ea typeface="微软雅黑" panose="020B0503020204020204" pitchFamily="34" charset="-122"/>
              </a:rPr>
              <a:t>?</a:t>
            </a:r>
            <a:endParaRPr lang="zh-CN" altLang="en-US" sz="3600" b="1" dirty="0">
              <a:solidFill>
                <a:srgbClr val="E88D22"/>
              </a:solidFill>
              <a:latin typeface="微软雅黑" panose="020B0503020204020204" pitchFamily="34" charset="-122"/>
              <a:ea typeface="微软雅黑" panose="020B0503020204020204" pitchFamily="34" charset="-122"/>
            </a:endParaRPr>
          </a:p>
        </p:txBody>
      </p:sp>
      <p:pic>
        <p:nvPicPr>
          <p:cNvPr id="31" name="图片 30">
            <a:extLst>
              <a:ext uri="{FF2B5EF4-FFF2-40B4-BE49-F238E27FC236}">
                <a16:creationId xmlns:a16="http://schemas.microsoft.com/office/drawing/2014/main" id="{0ACE4D59-091C-4C6D-BD7E-3F901F4C0BEF}"/>
              </a:ext>
            </a:extLst>
          </p:cNvPr>
          <p:cNvPicPr>
            <a:picLocks noChangeAspect="1"/>
          </p:cNvPicPr>
          <p:nvPr/>
        </p:nvPicPr>
        <p:blipFill>
          <a:blip r:embed="rId8">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588224" y="3054720"/>
            <a:ext cx="2571122" cy="2109318"/>
          </a:xfrm>
          <a:prstGeom prst="rect">
            <a:avLst/>
          </a:prstGeom>
        </p:spPr>
      </p:pic>
    </p:spTree>
    <p:extLst>
      <p:ext uri="{BB962C8B-B14F-4D97-AF65-F5344CB8AC3E}">
        <p14:creationId xmlns:p14="http://schemas.microsoft.com/office/powerpoint/2010/main" val="1046746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6"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80">
                                          <p:stCondLst>
                                            <p:cond delay="0"/>
                                          </p:stCondLst>
                                        </p:cTn>
                                        <p:tgtEl>
                                          <p:spTgt spid="22"/>
                                        </p:tgtEl>
                                      </p:cBhvr>
                                    </p:animEffect>
                                    <p:anim calcmode="lin" valueType="num">
                                      <p:cBhvr>
                                        <p:cTn id="17"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18"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19"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0"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1"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2" dur="26">
                                          <p:stCondLst>
                                            <p:cond delay="650"/>
                                          </p:stCondLst>
                                        </p:cTn>
                                        <p:tgtEl>
                                          <p:spTgt spid="22"/>
                                        </p:tgtEl>
                                      </p:cBhvr>
                                      <p:to x="100000" y="60000"/>
                                    </p:animScale>
                                    <p:animScale>
                                      <p:cBhvr>
                                        <p:cTn id="23" dur="166" decel="50000">
                                          <p:stCondLst>
                                            <p:cond delay="676"/>
                                          </p:stCondLst>
                                        </p:cTn>
                                        <p:tgtEl>
                                          <p:spTgt spid="22"/>
                                        </p:tgtEl>
                                      </p:cBhvr>
                                      <p:to x="100000" y="100000"/>
                                    </p:animScale>
                                    <p:animScale>
                                      <p:cBhvr>
                                        <p:cTn id="24" dur="26">
                                          <p:stCondLst>
                                            <p:cond delay="1312"/>
                                          </p:stCondLst>
                                        </p:cTn>
                                        <p:tgtEl>
                                          <p:spTgt spid="22"/>
                                        </p:tgtEl>
                                      </p:cBhvr>
                                      <p:to x="100000" y="80000"/>
                                    </p:animScale>
                                    <p:animScale>
                                      <p:cBhvr>
                                        <p:cTn id="25" dur="166" decel="50000">
                                          <p:stCondLst>
                                            <p:cond delay="1338"/>
                                          </p:stCondLst>
                                        </p:cTn>
                                        <p:tgtEl>
                                          <p:spTgt spid="22"/>
                                        </p:tgtEl>
                                      </p:cBhvr>
                                      <p:to x="100000" y="100000"/>
                                    </p:animScale>
                                    <p:animScale>
                                      <p:cBhvr>
                                        <p:cTn id="26" dur="26">
                                          <p:stCondLst>
                                            <p:cond delay="1642"/>
                                          </p:stCondLst>
                                        </p:cTn>
                                        <p:tgtEl>
                                          <p:spTgt spid="22"/>
                                        </p:tgtEl>
                                      </p:cBhvr>
                                      <p:to x="100000" y="90000"/>
                                    </p:animScale>
                                    <p:animScale>
                                      <p:cBhvr>
                                        <p:cTn id="27" dur="166" decel="50000">
                                          <p:stCondLst>
                                            <p:cond delay="1668"/>
                                          </p:stCondLst>
                                        </p:cTn>
                                        <p:tgtEl>
                                          <p:spTgt spid="22"/>
                                        </p:tgtEl>
                                      </p:cBhvr>
                                      <p:to x="100000" y="100000"/>
                                    </p:animScale>
                                    <p:animScale>
                                      <p:cBhvr>
                                        <p:cTn id="28" dur="26">
                                          <p:stCondLst>
                                            <p:cond delay="1808"/>
                                          </p:stCondLst>
                                        </p:cTn>
                                        <p:tgtEl>
                                          <p:spTgt spid="22"/>
                                        </p:tgtEl>
                                      </p:cBhvr>
                                      <p:to x="100000" y="95000"/>
                                    </p:animScale>
                                    <p:animScale>
                                      <p:cBhvr>
                                        <p:cTn id="29" dur="166" decel="50000">
                                          <p:stCondLst>
                                            <p:cond delay="1834"/>
                                          </p:stCondLst>
                                        </p:cTn>
                                        <p:tgtEl>
                                          <p:spTgt spid="22"/>
                                        </p:tgtEl>
                                      </p:cBhvr>
                                      <p:to x="100000" y="100000"/>
                                    </p:animScale>
                                  </p:childTnLst>
                                </p:cTn>
                              </p:par>
                              <p:par>
                                <p:cTn id="30" presetID="26" presetClass="entr" presetSubtype="0" fill="hold" grpId="0" nodeType="withEffect">
                                  <p:stCondLst>
                                    <p:cond delay="500"/>
                                  </p:stCondLst>
                                  <p:childTnLst>
                                    <p:set>
                                      <p:cBhvr>
                                        <p:cTn id="31" dur="1" fill="hold">
                                          <p:stCondLst>
                                            <p:cond delay="0"/>
                                          </p:stCondLst>
                                        </p:cTn>
                                        <p:tgtEl>
                                          <p:spTgt spid="17"/>
                                        </p:tgtEl>
                                        <p:attrNameLst>
                                          <p:attrName>style.visibility</p:attrName>
                                        </p:attrNameLst>
                                      </p:cBhvr>
                                      <p:to>
                                        <p:strVal val="visible"/>
                                      </p:to>
                                    </p:set>
                                    <p:animEffect transition="in" filter="wipe(down)">
                                      <p:cBhvr>
                                        <p:cTn id="32" dur="580">
                                          <p:stCondLst>
                                            <p:cond delay="0"/>
                                          </p:stCondLst>
                                        </p:cTn>
                                        <p:tgtEl>
                                          <p:spTgt spid="17"/>
                                        </p:tgtEl>
                                      </p:cBhvr>
                                    </p:animEffect>
                                    <p:anim calcmode="lin" valueType="num">
                                      <p:cBhvr>
                                        <p:cTn id="33"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38" dur="26">
                                          <p:stCondLst>
                                            <p:cond delay="650"/>
                                          </p:stCondLst>
                                        </p:cTn>
                                        <p:tgtEl>
                                          <p:spTgt spid="17"/>
                                        </p:tgtEl>
                                      </p:cBhvr>
                                      <p:to x="100000" y="60000"/>
                                    </p:animScale>
                                    <p:animScale>
                                      <p:cBhvr>
                                        <p:cTn id="39" dur="166" decel="50000">
                                          <p:stCondLst>
                                            <p:cond delay="676"/>
                                          </p:stCondLst>
                                        </p:cTn>
                                        <p:tgtEl>
                                          <p:spTgt spid="17"/>
                                        </p:tgtEl>
                                      </p:cBhvr>
                                      <p:to x="100000" y="100000"/>
                                    </p:animScale>
                                    <p:animScale>
                                      <p:cBhvr>
                                        <p:cTn id="40" dur="26">
                                          <p:stCondLst>
                                            <p:cond delay="1312"/>
                                          </p:stCondLst>
                                        </p:cTn>
                                        <p:tgtEl>
                                          <p:spTgt spid="17"/>
                                        </p:tgtEl>
                                      </p:cBhvr>
                                      <p:to x="100000" y="80000"/>
                                    </p:animScale>
                                    <p:animScale>
                                      <p:cBhvr>
                                        <p:cTn id="41" dur="166" decel="50000">
                                          <p:stCondLst>
                                            <p:cond delay="1338"/>
                                          </p:stCondLst>
                                        </p:cTn>
                                        <p:tgtEl>
                                          <p:spTgt spid="17"/>
                                        </p:tgtEl>
                                      </p:cBhvr>
                                      <p:to x="100000" y="100000"/>
                                    </p:animScale>
                                    <p:animScale>
                                      <p:cBhvr>
                                        <p:cTn id="42" dur="26">
                                          <p:stCondLst>
                                            <p:cond delay="1642"/>
                                          </p:stCondLst>
                                        </p:cTn>
                                        <p:tgtEl>
                                          <p:spTgt spid="17"/>
                                        </p:tgtEl>
                                      </p:cBhvr>
                                      <p:to x="100000" y="90000"/>
                                    </p:animScale>
                                    <p:animScale>
                                      <p:cBhvr>
                                        <p:cTn id="43" dur="166" decel="50000">
                                          <p:stCondLst>
                                            <p:cond delay="1668"/>
                                          </p:stCondLst>
                                        </p:cTn>
                                        <p:tgtEl>
                                          <p:spTgt spid="17"/>
                                        </p:tgtEl>
                                      </p:cBhvr>
                                      <p:to x="100000" y="100000"/>
                                    </p:animScale>
                                    <p:animScale>
                                      <p:cBhvr>
                                        <p:cTn id="44" dur="26">
                                          <p:stCondLst>
                                            <p:cond delay="1808"/>
                                          </p:stCondLst>
                                        </p:cTn>
                                        <p:tgtEl>
                                          <p:spTgt spid="17"/>
                                        </p:tgtEl>
                                      </p:cBhvr>
                                      <p:to x="100000" y="95000"/>
                                    </p:animScale>
                                    <p:animScale>
                                      <p:cBhvr>
                                        <p:cTn id="45" dur="166" decel="50000">
                                          <p:stCondLst>
                                            <p:cond delay="1834"/>
                                          </p:stCondLst>
                                        </p:cTn>
                                        <p:tgtEl>
                                          <p:spTgt spid="17"/>
                                        </p:tgtEl>
                                      </p:cBhvr>
                                      <p:to x="100000" y="100000"/>
                                    </p:animScale>
                                  </p:childTnLst>
                                </p:cTn>
                              </p:par>
                              <p:par>
                                <p:cTn id="46" presetID="26" presetClass="entr" presetSubtype="0" fill="hold" grpId="0" nodeType="withEffect">
                                  <p:stCondLst>
                                    <p:cond delay="750"/>
                                  </p:stCondLst>
                                  <p:childTnLst>
                                    <p:set>
                                      <p:cBhvr>
                                        <p:cTn id="47" dur="1" fill="hold">
                                          <p:stCondLst>
                                            <p:cond delay="0"/>
                                          </p:stCondLst>
                                        </p:cTn>
                                        <p:tgtEl>
                                          <p:spTgt spid="23"/>
                                        </p:tgtEl>
                                        <p:attrNameLst>
                                          <p:attrName>style.visibility</p:attrName>
                                        </p:attrNameLst>
                                      </p:cBhvr>
                                      <p:to>
                                        <p:strVal val="visible"/>
                                      </p:to>
                                    </p:set>
                                    <p:animEffect transition="in" filter="wipe(down)">
                                      <p:cBhvr>
                                        <p:cTn id="48" dur="580">
                                          <p:stCondLst>
                                            <p:cond delay="0"/>
                                          </p:stCondLst>
                                        </p:cTn>
                                        <p:tgtEl>
                                          <p:spTgt spid="23"/>
                                        </p:tgtEl>
                                      </p:cBhvr>
                                    </p:animEffect>
                                    <p:anim calcmode="lin" valueType="num">
                                      <p:cBhvr>
                                        <p:cTn id="49"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54" dur="26">
                                          <p:stCondLst>
                                            <p:cond delay="650"/>
                                          </p:stCondLst>
                                        </p:cTn>
                                        <p:tgtEl>
                                          <p:spTgt spid="23"/>
                                        </p:tgtEl>
                                      </p:cBhvr>
                                      <p:to x="100000" y="60000"/>
                                    </p:animScale>
                                    <p:animScale>
                                      <p:cBhvr>
                                        <p:cTn id="55" dur="166" decel="50000">
                                          <p:stCondLst>
                                            <p:cond delay="676"/>
                                          </p:stCondLst>
                                        </p:cTn>
                                        <p:tgtEl>
                                          <p:spTgt spid="23"/>
                                        </p:tgtEl>
                                      </p:cBhvr>
                                      <p:to x="100000" y="100000"/>
                                    </p:animScale>
                                    <p:animScale>
                                      <p:cBhvr>
                                        <p:cTn id="56" dur="26">
                                          <p:stCondLst>
                                            <p:cond delay="1312"/>
                                          </p:stCondLst>
                                        </p:cTn>
                                        <p:tgtEl>
                                          <p:spTgt spid="23"/>
                                        </p:tgtEl>
                                      </p:cBhvr>
                                      <p:to x="100000" y="80000"/>
                                    </p:animScale>
                                    <p:animScale>
                                      <p:cBhvr>
                                        <p:cTn id="57" dur="166" decel="50000">
                                          <p:stCondLst>
                                            <p:cond delay="1338"/>
                                          </p:stCondLst>
                                        </p:cTn>
                                        <p:tgtEl>
                                          <p:spTgt spid="23"/>
                                        </p:tgtEl>
                                      </p:cBhvr>
                                      <p:to x="100000" y="100000"/>
                                    </p:animScale>
                                    <p:animScale>
                                      <p:cBhvr>
                                        <p:cTn id="58" dur="26">
                                          <p:stCondLst>
                                            <p:cond delay="1642"/>
                                          </p:stCondLst>
                                        </p:cTn>
                                        <p:tgtEl>
                                          <p:spTgt spid="23"/>
                                        </p:tgtEl>
                                      </p:cBhvr>
                                      <p:to x="100000" y="90000"/>
                                    </p:animScale>
                                    <p:animScale>
                                      <p:cBhvr>
                                        <p:cTn id="59" dur="166" decel="50000">
                                          <p:stCondLst>
                                            <p:cond delay="1668"/>
                                          </p:stCondLst>
                                        </p:cTn>
                                        <p:tgtEl>
                                          <p:spTgt spid="23"/>
                                        </p:tgtEl>
                                      </p:cBhvr>
                                      <p:to x="100000" y="100000"/>
                                    </p:animScale>
                                    <p:animScale>
                                      <p:cBhvr>
                                        <p:cTn id="60" dur="26">
                                          <p:stCondLst>
                                            <p:cond delay="1808"/>
                                          </p:stCondLst>
                                        </p:cTn>
                                        <p:tgtEl>
                                          <p:spTgt spid="23"/>
                                        </p:tgtEl>
                                      </p:cBhvr>
                                      <p:to x="100000" y="95000"/>
                                    </p:animScale>
                                    <p:animScale>
                                      <p:cBhvr>
                                        <p:cTn id="61" dur="166" decel="50000">
                                          <p:stCondLst>
                                            <p:cond delay="1834"/>
                                          </p:stCondLst>
                                        </p:cTn>
                                        <p:tgtEl>
                                          <p:spTgt spid="23"/>
                                        </p:tgtEl>
                                      </p:cBhvr>
                                      <p:to x="100000" y="100000"/>
                                    </p:animScale>
                                  </p:childTnLst>
                                </p:cTn>
                              </p:par>
                            </p:childTnLst>
                          </p:cTn>
                        </p:par>
                        <p:par>
                          <p:cTn id="62" fill="hold">
                            <p:stCondLst>
                              <p:cond delay="2750"/>
                            </p:stCondLst>
                            <p:childTnLst>
                              <p:par>
                                <p:cTn id="63" presetID="16" presetClass="entr" presetSubtype="37" fill="hold" nodeType="afterEffect">
                                  <p:stCondLst>
                                    <p:cond delay="0"/>
                                  </p:stCondLst>
                                  <p:childTnLst>
                                    <p:set>
                                      <p:cBhvr>
                                        <p:cTn id="64" dur="1" fill="hold">
                                          <p:stCondLst>
                                            <p:cond delay="0"/>
                                          </p:stCondLst>
                                        </p:cTn>
                                        <p:tgtEl>
                                          <p:spTgt spid="16388"/>
                                        </p:tgtEl>
                                        <p:attrNameLst>
                                          <p:attrName>style.visibility</p:attrName>
                                        </p:attrNameLst>
                                      </p:cBhvr>
                                      <p:to>
                                        <p:strVal val="visible"/>
                                      </p:to>
                                    </p:set>
                                    <p:animEffect transition="in" filter="barn(outVertical)">
                                      <p:cBhvr>
                                        <p:cTn id="65" dur="1500"/>
                                        <p:tgtEl>
                                          <p:spTgt spid="16388"/>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750"/>
                                        <p:tgtEl>
                                          <p:spTgt spid="18"/>
                                        </p:tgtEl>
                                        <p:attrNameLst>
                                          <p:attrName>ppt_x</p:attrName>
                                        </p:attrNameLst>
                                      </p:cBhvr>
                                      <p:tavLst>
                                        <p:tav tm="0">
                                          <p:val>
                                            <p:strVal val="#ppt_x-#ppt_w*1.125000"/>
                                          </p:val>
                                        </p:tav>
                                        <p:tav tm="100000">
                                          <p:val>
                                            <p:strVal val="#ppt_x"/>
                                          </p:val>
                                        </p:tav>
                                      </p:tavLst>
                                    </p:anim>
                                    <p:animEffect transition="in" filter="wipe(right)">
                                      <p:cBhvr>
                                        <p:cTn id="71" dur="750"/>
                                        <p:tgtEl>
                                          <p:spTgt spid="18"/>
                                        </p:tgtEl>
                                      </p:cBhvr>
                                    </p:animEffect>
                                  </p:childTnLst>
                                </p:cTn>
                              </p:par>
                            </p:childTnLst>
                          </p:cTn>
                        </p:par>
                        <p:par>
                          <p:cTn id="72" fill="hold">
                            <p:stCondLst>
                              <p:cond delay="750"/>
                            </p:stCondLst>
                            <p:childTnLst>
                              <p:par>
                                <p:cTn id="73" presetID="12" presetClass="entr" presetSubtype="1" fill="hold" grpId="0" nodeType="after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p:tgtEl>
                                          <p:spTgt spid="20"/>
                                        </p:tgtEl>
                                        <p:attrNameLst>
                                          <p:attrName>ppt_y</p:attrName>
                                        </p:attrNameLst>
                                      </p:cBhvr>
                                      <p:tavLst>
                                        <p:tav tm="0">
                                          <p:val>
                                            <p:strVal val="#ppt_y-#ppt_h*1.125000"/>
                                          </p:val>
                                        </p:tav>
                                        <p:tav tm="100000">
                                          <p:val>
                                            <p:strVal val="#ppt_y"/>
                                          </p:val>
                                        </p:tav>
                                      </p:tavLst>
                                    </p:anim>
                                    <p:animEffect transition="in" filter="wipe(down)">
                                      <p:cBhvr>
                                        <p:cTn id="76" dur="500"/>
                                        <p:tgtEl>
                                          <p:spTgt spid="20"/>
                                        </p:tgtEl>
                                      </p:cBhvr>
                                    </p:animEffect>
                                  </p:childTnLst>
                                </p:cTn>
                              </p:par>
                              <p:par>
                                <p:cTn id="77" presetID="16" presetClass="entr" presetSubtype="21" fill="hold" nodeType="withEffect">
                                  <p:stCondLst>
                                    <p:cond delay="0"/>
                                  </p:stCondLst>
                                  <p:childTnLst>
                                    <p:set>
                                      <p:cBhvr>
                                        <p:cTn id="78" dur="1" fill="hold">
                                          <p:stCondLst>
                                            <p:cond delay="0"/>
                                          </p:stCondLst>
                                        </p:cTn>
                                        <p:tgtEl>
                                          <p:spTgt spid="16389"/>
                                        </p:tgtEl>
                                        <p:attrNameLst>
                                          <p:attrName>style.visibility</p:attrName>
                                        </p:attrNameLst>
                                      </p:cBhvr>
                                      <p:to>
                                        <p:strVal val="visible"/>
                                      </p:to>
                                    </p:set>
                                    <p:animEffect transition="in" filter="barn(inVertical)">
                                      <p:cBhvr>
                                        <p:cTn id="79" dur="1000"/>
                                        <p:tgtEl>
                                          <p:spTgt spid="16389"/>
                                        </p:tgtEl>
                                      </p:cBhvr>
                                    </p:animEffect>
                                  </p:childTnLst>
                                </p:cTn>
                              </p:par>
                            </p:childTnLst>
                          </p:cTn>
                        </p:par>
                      </p:childTnLst>
                    </p:cTn>
                  </p:par>
                  <p:par>
                    <p:cTn id="80" fill="hold">
                      <p:stCondLst>
                        <p:cond delay="indefinite"/>
                      </p:stCondLst>
                      <p:childTnLst>
                        <p:par>
                          <p:cTn id="81" fill="hold">
                            <p:stCondLst>
                              <p:cond delay="0"/>
                            </p:stCondLst>
                            <p:childTnLst>
                              <p:par>
                                <p:cTn id="82" presetID="47" presetClass="entr" presetSubtype="0" fill="hold" grpId="0"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1000"/>
                                        <p:tgtEl>
                                          <p:spTgt spid="25"/>
                                        </p:tgtEl>
                                      </p:cBhvr>
                                    </p:animEffect>
                                    <p:anim calcmode="lin" valueType="num">
                                      <p:cBhvr>
                                        <p:cTn id="85" dur="1000" fill="hold"/>
                                        <p:tgtEl>
                                          <p:spTgt spid="25"/>
                                        </p:tgtEl>
                                        <p:attrNameLst>
                                          <p:attrName>ppt_x</p:attrName>
                                        </p:attrNameLst>
                                      </p:cBhvr>
                                      <p:tavLst>
                                        <p:tav tm="0">
                                          <p:val>
                                            <p:strVal val="#ppt_x"/>
                                          </p:val>
                                        </p:tav>
                                        <p:tav tm="100000">
                                          <p:val>
                                            <p:strVal val="#ppt_x"/>
                                          </p:val>
                                        </p:tav>
                                      </p:tavLst>
                                    </p:anim>
                                    <p:anim calcmode="lin" valueType="num">
                                      <p:cBhvr>
                                        <p:cTn id="8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left)">
                                      <p:cBhvr>
                                        <p:cTn id="91" dur="500"/>
                                        <p:tgtEl>
                                          <p:spTgt spid="26"/>
                                        </p:tgtEl>
                                      </p:cBhvr>
                                    </p:animEffect>
                                  </p:childTnLst>
                                </p:cTn>
                              </p:par>
                            </p:childTnLst>
                          </p:cTn>
                        </p:par>
                        <p:par>
                          <p:cTn id="92" fill="hold">
                            <p:stCondLst>
                              <p:cond delay="500"/>
                            </p:stCondLst>
                            <p:childTnLst>
                              <p:par>
                                <p:cTn id="93" presetID="16" presetClass="entr" presetSubtype="21" fill="hold" grpId="0" nodeType="after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barn(inVertical)">
                                      <p:cBhvr>
                                        <p:cTn id="95"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2" fill="hold" grpId="0" nodeType="click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wipe(right)">
                                      <p:cBhvr>
                                        <p:cTn id="100" dur="750"/>
                                        <p:tgtEl>
                                          <p:spTgt spid="28"/>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9"/>
                                        </p:tgtEl>
                                        <p:attrNameLst>
                                          <p:attrName>style.visibility</p:attrName>
                                        </p:attrNameLst>
                                      </p:cBhvr>
                                      <p:to>
                                        <p:strVal val="visible"/>
                                      </p:to>
                                    </p:set>
                                  </p:childTnLst>
                                </p:cTn>
                              </p:par>
                            </p:childTnLst>
                          </p:cTn>
                        </p:par>
                        <p:par>
                          <p:cTn id="105" fill="hold">
                            <p:stCondLst>
                              <p:cond delay="0"/>
                            </p:stCondLst>
                            <p:childTnLst>
                              <p:par>
                                <p:cTn id="106" presetID="53" presetClass="entr" presetSubtype="16" repeatCount="3000" fill="hold" grpId="1" nodeType="afterEffect">
                                  <p:stCondLst>
                                    <p:cond delay="0"/>
                                  </p:stCondLst>
                                  <p:childTnLst>
                                    <p:set>
                                      <p:cBhvr>
                                        <p:cTn id="107" dur="1" fill="hold">
                                          <p:stCondLst>
                                            <p:cond delay="0"/>
                                          </p:stCondLst>
                                        </p:cTn>
                                        <p:tgtEl>
                                          <p:spTgt spid="29"/>
                                        </p:tgtEl>
                                        <p:attrNameLst>
                                          <p:attrName>style.visibility</p:attrName>
                                        </p:attrNameLst>
                                      </p:cBhvr>
                                      <p:to>
                                        <p:strVal val="visible"/>
                                      </p:to>
                                    </p:set>
                                    <p:anim calcmode="lin" valueType="num">
                                      <p:cBhvr>
                                        <p:cTn id="108" dur="500" fill="hold"/>
                                        <p:tgtEl>
                                          <p:spTgt spid="29"/>
                                        </p:tgtEl>
                                        <p:attrNameLst>
                                          <p:attrName>ppt_w</p:attrName>
                                        </p:attrNameLst>
                                      </p:cBhvr>
                                      <p:tavLst>
                                        <p:tav tm="0">
                                          <p:val>
                                            <p:fltVal val="0"/>
                                          </p:val>
                                        </p:tav>
                                        <p:tav tm="100000">
                                          <p:val>
                                            <p:strVal val="#ppt_w"/>
                                          </p:val>
                                        </p:tav>
                                      </p:tavLst>
                                    </p:anim>
                                    <p:anim calcmode="lin" valueType="num">
                                      <p:cBhvr>
                                        <p:cTn id="109" dur="500" fill="hold"/>
                                        <p:tgtEl>
                                          <p:spTgt spid="29"/>
                                        </p:tgtEl>
                                        <p:attrNameLst>
                                          <p:attrName>ppt_h</p:attrName>
                                        </p:attrNameLst>
                                      </p:cBhvr>
                                      <p:tavLst>
                                        <p:tav tm="0">
                                          <p:val>
                                            <p:fltVal val="0"/>
                                          </p:val>
                                        </p:tav>
                                        <p:tav tm="100000">
                                          <p:val>
                                            <p:strVal val="#ppt_h"/>
                                          </p:val>
                                        </p:tav>
                                      </p:tavLst>
                                    </p:anim>
                                    <p:animEffect transition="in" filter="fade">
                                      <p:cBhvr>
                                        <p:cTn id="110" dur="500"/>
                                        <p:tgtEl>
                                          <p:spTgt spid="29"/>
                                        </p:tgtEl>
                                      </p:cBhvr>
                                    </p:animEffect>
                                  </p:childTnLst>
                                  <p:subTnLst>
                                    <p:set>
                                      <p:cBhvr override="childStyle">
                                        <p:cTn dur="1" fill="hold" display="0" masterRel="sameClick" afterEffect="1">
                                          <p:stCondLst>
                                            <p:cond evt="end" delay="0">
                                              <p:tn val="106"/>
                                            </p:cond>
                                          </p:stCondLst>
                                        </p:cTn>
                                        <p:tgtEl>
                                          <p:spTgt spid="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7" grpId="0"/>
      <p:bldP spid="22" grpId="0"/>
      <p:bldP spid="23" grpId="0"/>
      <p:bldP spid="18" grpId="0" animBg="1"/>
      <p:bldP spid="20" grpId="0"/>
      <p:bldP spid="25" grpId="0"/>
      <p:bldP spid="26" grpId="0"/>
      <p:bldP spid="27" grpId="0"/>
      <p:bldP spid="28" grpId="0"/>
      <p:bldP spid="29" grpId="0"/>
      <p:bldP spid="29"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Text Box 2">
            <a:extLst>
              <a:ext uri="{FF2B5EF4-FFF2-40B4-BE49-F238E27FC236}">
                <a16:creationId xmlns:a16="http://schemas.microsoft.com/office/drawing/2014/main" id="{04FFE495-F131-4AD2-9318-55CFB1AC75EE}"/>
              </a:ext>
            </a:extLst>
          </p:cNvPr>
          <p:cNvSpPr txBox="1">
            <a:spLocks noChangeArrowheads="1"/>
          </p:cNvSpPr>
          <p:nvPr/>
        </p:nvSpPr>
        <p:spPr bwMode="auto">
          <a:xfrm>
            <a:off x="2600325" y="276225"/>
            <a:ext cx="3239691" cy="461665"/>
          </a:xfrm>
          <a:prstGeom prst="rect">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kumimoji="1" lang="zh-CN" altLang="en-US" sz="2400" b="1">
                <a:solidFill>
                  <a:schemeClr val="accent2"/>
                </a:solidFill>
                <a:latin typeface="楷体_GB2312" pitchFamily="49" charset="-122"/>
                <a:ea typeface="楷体_GB2312" pitchFamily="49" charset="-122"/>
              </a:rPr>
              <a:t> </a:t>
            </a:r>
            <a:r>
              <a:rPr kumimoji="1" lang="zh-CN" altLang="en-US" sz="2400" b="1" u="sng">
                <a:solidFill>
                  <a:schemeClr val="tx2"/>
                </a:solidFill>
                <a:latin typeface="楷体_GB2312" pitchFamily="49" charset="-122"/>
                <a:ea typeface="楷体_GB2312" pitchFamily="49" charset="-122"/>
              </a:rPr>
              <a:t> </a:t>
            </a:r>
            <a:r>
              <a:rPr kumimoji="1" lang="zh-CN" altLang="en-US" sz="2400" b="1" u="sng">
                <a:solidFill>
                  <a:schemeClr val="tx2"/>
                </a:solidFill>
                <a:latin typeface="楷体_GB2312" pitchFamily="49" charset="-122"/>
                <a:ea typeface="楷体_GB2312" pitchFamily="49" charset="-122"/>
                <a:sym typeface="Symbol" panose="05050102010706020507" pitchFamily="18" charset="2"/>
              </a:rPr>
              <a:t>顺序统计量的分布</a:t>
            </a:r>
            <a:endParaRPr kumimoji="1" lang="zh-CN" altLang="en-US" sz="2400" b="1" u="sng">
              <a:solidFill>
                <a:schemeClr val="tx2"/>
              </a:solidFill>
              <a:latin typeface="楷体_GB2312" pitchFamily="49" charset="-122"/>
              <a:ea typeface="楷体_GB2312" pitchFamily="49" charset="-122"/>
            </a:endParaRPr>
          </a:p>
        </p:txBody>
      </p:sp>
      <p:sp>
        <p:nvSpPr>
          <p:cNvPr id="528387" name="Text Box 3">
            <a:extLst>
              <a:ext uri="{FF2B5EF4-FFF2-40B4-BE49-F238E27FC236}">
                <a16:creationId xmlns:a16="http://schemas.microsoft.com/office/drawing/2014/main" id="{24DF867A-3BBA-4726-8EC9-8235486C5763}"/>
              </a:ext>
            </a:extLst>
          </p:cNvPr>
          <p:cNvSpPr txBox="1">
            <a:spLocks noChangeArrowheads="1"/>
          </p:cNvSpPr>
          <p:nvPr/>
        </p:nvSpPr>
        <p:spPr bwMode="auto">
          <a:xfrm>
            <a:off x="1601391" y="844153"/>
            <a:ext cx="6237684" cy="80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sz="2100" b="1">
                <a:latin typeface="Times New Roman" panose="02020603050405020304" pitchFamily="18" charset="0"/>
              </a:rPr>
              <a:t>      </a:t>
            </a:r>
            <a:r>
              <a:rPr kumimoji="1" lang="zh-CN" altLang="en-US" sz="1950" b="1">
                <a:latin typeface="Times New Roman" panose="02020603050405020304" pitchFamily="18" charset="0"/>
              </a:rPr>
              <a:t>设</a:t>
            </a:r>
            <a:r>
              <a:rPr kumimoji="1" lang="en-US" altLang="zh-CN" sz="1950" b="1" i="1">
                <a:latin typeface="Times New Roman" panose="02020603050405020304" pitchFamily="18" charset="0"/>
              </a:rPr>
              <a:t>X</a:t>
            </a:r>
            <a:r>
              <a:rPr kumimoji="1" lang="en-US" altLang="zh-CN" sz="1950" b="1" baseline="-25000">
                <a:latin typeface="Times New Roman" panose="02020603050405020304" pitchFamily="18" charset="0"/>
              </a:rPr>
              <a:t>1</a:t>
            </a:r>
            <a:r>
              <a:rPr kumimoji="1" lang="en-US" altLang="zh-CN" sz="1950" b="1">
                <a:latin typeface="Times New Roman" panose="02020603050405020304" pitchFamily="18" charset="0"/>
              </a:rPr>
              <a:t>,</a:t>
            </a:r>
            <a:r>
              <a:rPr kumimoji="1" lang="en-US" altLang="zh-CN" sz="1950" b="1" i="1">
                <a:latin typeface="Times New Roman" panose="02020603050405020304" pitchFamily="18" charset="0"/>
              </a:rPr>
              <a:t>X</a:t>
            </a:r>
            <a:r>
              <a:rPr kumimoji="1" lang="en-US" altLang="zh-CN" sz="1950" b="1" baseline="-25000">
                <a:latin typeface="Times New Roman" panose="02020603050405020304" pitchFamily="18" charset="0"/>
              </a:rPr>
              <a:t>2</a:t>
            </a:r>
            <a:r>
              <a:rPr kumimoji="1" lang="en-US" altLang="zh-CN" sz="1950" b="1">
                <a:latin typeface="Times New Roman" panose="02020603050405020304" pitchFamily="18" charset="0"/>
              </a:rPr>
              <a:t>,</a:t>
            </a:r>
            <a:r>
              <a:rPr kumimoji="1" lang="en-US" altLang="zh-CN" sz="1950" b="1" i="1">
                <a:latin typeface="Times New Roman" panose="02020603050405020304" pitchFamily="18" charset="0"/>
              </a:rPr>
              <a:t>…,X</a:t>
            </a:r>
            <a:r>
              <a:rPr kumimoji="1" lang="en-US" altLang="zh-CN" sz="1950" b="1" i="1" baseline="-25000">
                <a:latin typeface="Times New Roman" panose="02020603050405020304" pitchFamily="18" charset="0"/>
              </a:rPr>
              <a:t>n </a:t>
            </a:r>
            <a:r>
              <a:rPr kumimoji="1" lang="zh-CN" altLang="en-US" sz="1950" b="1">
                <a:latin typeface="Times New Roman" panose="02020603050405020304" pitchFamily="18" charset="0"/>
              </a:rPr>
              <a:t>独立同分布于</a:t>
            </a:r>
            <a:r>
              <a:rPr kumimoji="1" lang="en-US" altLang="zh-CN" sz="1950" b="1" i="1">
                <a:latin typeface="Times New Roman" panose="02020603050405020304" pitchFamily="18" charset="0"/>
              </a:rPr>
              <a:t>X</a:t>
            </a:r>
            <a:r>
              <a:rPr kumimoji="1" lang="zh-CN" altLang="en-US" sz="1950" b="1">
                <a:latin typeface="Times New Roman" panose="02020603050405020304" pitchFamily="18" charset="0"/>
              </a:rPr>
              <a:t>，记</a:t>
            </a:r>
            <a:r>
              <a:rPr kumimoji="1" lang="en-US" altLang="zh-CN" sz="1950" b="1" i="1">
                <a:latin typeface="Times New Roman" panose="02020603050405020304" pitchFamily="18" charset="0"/>
              </a:rPr>
              <a:t>F</a:t>
            </a:r>
            <a:r>
              <a:rPr kumimoji="1" lang="en-US" altLang="zh-CN" sz="1950" b="1">
                <a:latin typeface="Times New Roman" panose="02020603050405020304" pitchFamily="18" charset="0"/>
              </a:rPr>
              <a:t>(</a:t>
            </a:r>
            <a:r>
              <a:rPr kumimoji="1" lang="en-US" altLang="zh-CN" sz="1950" b="1" i="1">
                <a:latin typeface="Times New Roman" panose="02020603050405020304" pitchFamily="18" charset="0"/>
              </a:rPr>
              <a:t>x</a:t>
            </a:r>
            <a:r>
              <a:rPr kumimoji="1" lang="en-US" altLang="zh-CN" sz="1950" b="1">
                <a:latin typeface="Times New Roman" panose="02020603050405020304" pitchFamily="18" charset="0"/>
              </a:rPr>
              <a:t>), </a:t>
            </a:r>
            <a:r>
              <a:rPr kumimoji="1" lang="en-US" altLang="zh-CN" sz="1950" b="1" i="1">
                <a:latin typeface="Times New Roman" panose="02020603050405020304" pitchFamily="18" charset="0"/>
              </a:rPr>
              <a:t>f</a:t>
            </a:r>
            <a:r>
              <a:rPr kumimoji="1" lang="en-US" altLang="zh-CN" sz="1950" b="1">
                <a:latin typeface="Times New Roman" panose="02020603050405020304" pitchFamily="18" charset="0"/>
              </a:rPr>
              <a:t>(</a:t>
            </a:r>
            <a:r>
              <a:rPr kumimoji="1" lang="en-US" altLang="zh-CN" sz="1950" b="1" i="1">
                <a:latin typeface="Times New Roman" panose="02020603050405020304" pitchFamily="18" charset="0"/>
              </a:rPr>
              <a:t>x</a:t>
            </a:r>
            <a:r>
              <a:rPr kumimoji="1" lang="en-US" altLang="zh-CN" sz="1950" b="1">
                <a:latin typeface="Times New Roman" panose="02020603050405020304" pitchFamily="18" charset="0"/>
              </a:rPr>
              <a:t>)</a:t>
            </a:r>
            <a:r>
              <a:rPr kumimoji="1" lang="zh-CN" altLang="en-US" sz="1950" b="1">
                <a:latin typeface="Times New Roman" panose="02020603050405020304" pitchFamily="18" charset="0"/>
              </a:rPr>
              <a:t>分别为</a:t>
            </a:r>
            <a:r>
              <a:rPr kumimoji="1" lang="en-US" altLang="zh-CN" sz="1950" b="1" i="1">
                <a:latin typeface="Times New Roman" panose="02020603050405020304" pitchFamily="18" charset="0"/>
              </a:rPr>
              <a:t>X</a:t>
            </a:r>
            <a:r>
              <a:rPr kumimoji="1" lang="zh-CN" altLang="en-US" sz="1950" b="1">
                <a:latin typeface="Times New Roman" panose="02020603050405020304" pitchFamily="18" charset="0"/>
              </a:rPr>
              <a:t>的分布函数和概率密度。</a:t>
            </a:r>
          </a:p>
        </p:txBody>
      </p:sp>
      <p:graphicFrame>
        <p:nvGraphicFramePr>
          <p:cNvPr id="528388" name="Object 4">
            <a:extLst>
              <a:ext uri="{FF2B5EF4-FFF2-40B4-BE49-F238E27FC236}">
                <a16:creationId xmlns:a16="http://schemas.microsoft.com/office/drawing/2014/main" id="{46B4592F-DE96-4057-BD34-46EC6016C46E}"/>
              </a:ext>
            </a:extLst>
          </p:cNvPr>
          <p:cNvGraphicFramePr>
            <a:graphicFrameLocks noGrp="1" noChangeAspect="1"/>
          </p:cNvGraphicFramePr>
          <p:nvPr>
            <p:ph sz="quarter" idx="4294967295"/>
          </p:nvPr>
        </p:nvGraphicFramePr>
        <p:xfrm>
          <a:off x="1699023" y="1850231"/>
          <a:ext cx="2058590" cy="401241"/>
        </p:xfrm>
        <a:graphic>
          <a:graphicData uri="http://schemas.openxmlformats.org/presentationml/2006/ole">
            <mc:AlternateContent xmlns:mc="http://schemas.openxmlformats.org/markup-compatibility/2006">
              <mc:Choice xmlns:v="urn:schemas-microsoft-com:vml" Requires="v">
                <p:oleObj name="Equation" r:id="rId2" imgW="1295280" imgH="279360" progId="Equation.DSMT4">
                  <p:embed/>
                </p:oleObj>
              </mc:Choice>
              <mc:Fallback>
                <p:oleObj name="Equation" r:id="rId2" imgW="1295280" imgH="279360" progId="Equation.DSMT4">
                  <p:embed/>
                  <p:pic>
                    <p:nvPicPr>
                      <p:cNvPr id="528388" name="Object 4">
                        <a:extLst>
                          <a:ext uri="{FF2B5EF4-FFF2-40B4-BE49-F238E27FC236}">
                            <a16:creationId xmlns:a16="http://schemas.microsoft.com/office/drawing/2014/main" id="{46B4592F-DE96-4057-BD34-46EC6016C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023" y="1850231"/>
                        <a:ext cx="2058590" cy="401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8389" name="Object 5">
            <a:extLst>
              <a:ext uri="{FF2B5EF4-FFF2-40B4-BE49-F238E27FC236}">
                <a16:creationId xmlns:a16="http://schemas.microsoft.com/office/drawing/2014/main" id="{F9CFC6D2-0D8B-49C1-8FA8-CB0F1FB74752}"/>
              </a:ext>
            </a:extLst>
          </p:cNvPr>
          <p:cNvGraphicFramePr>
            <a:graphicFrameLocks noGrp="1" noChangeAspect="1"/>
          </p:cNvGraphicFramePr>
          <p:nvPr>
            <p:ph sz="quarter" idx="4294967295"/>
          </p:nvPr>
        </p:nvGraphicFramePr>
        <p:xfrm>
          <a:off x="3757613" y="1850232"/>
          <a:ext cx="3431381" cy="341710"/>
        </p:xfrm>
        <a:graphic>
          <a:graphicData uri="http://schemas.openxmlformats.org/presentationml/2006/ole">
            <mc:AlternateContent xmlns:mc="http://schemas.openxmlformats.org/markup-compatibility/2006">
              <mc:Choice xmlns:v="urn:schemas-microsoft-com:vml" Requires="v">
                <p:oleObj name="Equation" r:id="rId4" imgW="2070000" imgH="228600" progId="Equation.DSMT4">
                  <p:embed/>
                </p:oleObj>
              </mc:Choice>
              <mc:Fallback>
                <p:oleObj name="Equation" r:id="rId4" imgW="2070000" imgH="228600" progId="Equation.DSMT4">
                  <p:embed/>
                  <p:pic>
                    <p:nvPicPr>
                      <p:cNvPr id="528389" name="Object 5">
                        <a:extLst>
                          <a:ext uri="{FF2B5EF4-FFF2-40B4-BE49-F238E27FC236}">
                            <a16:creationId xmlns:a16="http://schemas.microsoft.com/office/drawing/2014/main" id="{F9CFC6D2-0D8B-49C1-8FA8-CB0F1FB747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7613" y="1850232"/>
                        <a:ext cx="3431381" cy="341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8390" name="Object 6">
            <a:extLst>
              <a:ext uri="{FF2B5EF4-FFF2-40B4-BE49-F238E27FC236}">
                <a16:creationId xmlns:a16="http://schemas.microsoft.com/office/drawing/2014/main" id="{FDEF2511-D0BA-4FC7-BA8A-565876124E0C}"/>
              </a:ext>
            </a:extLst>
          </p:cNvPr>
          <p:cNvGraphicFramePr>
            <a:graphicFrameLocks noGrp="1" noChangeAspect="1"/>
          </p:cNvGraphicFramePr>
          <p:nvPr>
            <p:ph sz="quarter" idx="4294967295"/>
          </p:nvPr>
        </p:nvGraphicFramePr>
        <p:xfrm>
          <a:off x="1871663" y="2213373"/>
          <a:ext cx="5913835" cy="330994"/>
        </p:xfrm>
        <a:graphic>
          <a:graphicData uri="http://schemas.openxmlformats.org/presentationml/2006/ole">
            <mc:AlternateContent xmlns:mc="http://schemas.openxmlformats.org/markup-compatibility/2006">
              <mc:Choice xmlns:v="urn:schemas-microsoft-com:vml" Requires="v">
                <p:oleObj name="Equation" r:id="rId6" imgW="4101840" imgH="228600" progId="Equation.DSMT4">
                  <p:embed/>
                </p:oleObj>
              </mc:Choice>
              <mc:Fallback>
                <p:oleObj name="Equation" r:id="rId6" imgW="4101840" imgH="228600" progId="Equation.DSMT4">
                  <p:embed/>
                  <p:pic>
                    <p:nvPicPr>
                      <p:cNvPr id="528390" name="Object 6">
                        <a:extLst>
                          <a:ext uri="{FF2B5EF4-FFF2-40B4-BE49-F238E27FC236}">
                            <a16:creationId xmlns:a16="http://schemas.microsoft.com/office/drawing/2014/main" id="{FDEF2511-D0BA-4FC7-BA8A-565876124E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1663" y="2213373"/>
                        <a:ext cx="5913835" cy="330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8391" name="Object 7">
            <a:extLst>
              <a:ext uri="{FF2B5EF4-FFF2-40B4-BE49-F238E27FC236}">
                <a16:creationId xmlns:a16="http://schemas.microsoft.com/office/drawing/2014/main" id="{D0902FD6-79AF-4C69-B9A4-CB39E896EBE4}"/>
              </a:ext>
            </a:extLst>
          </p:cNvPr>
          <p:cNvGraphicFramePr>
            <a:graphicFrameLocks noChangeAspect="1"/>
          </p:cNvGraphicFramePr>
          <p:nvPr/>
        </p:nvGraphicFramePr>
        <p:xfrm>
          <a:off x="1980010" y="3543301"/>
          <a:ext cx="5278040" cy="573881"/>
        </p:xfrm>
        <a:graphic>
          <a:graphicData uri="http://schemas.openxmlformats.org/presentationml/2006/ole">
            <mc:AlternateContent xmlns:mc="http://schemas.openxmlformats.org/markup-compatibility/2006">
              <mc:Choice xmlns:v="urn:schemas-microsoft-com:vml" Requires="v">
                <p:oleObj name="Equation" r:id="rId8" imgW="4419360" imgH="431640" progId="Equation.DSMT4">
                  <p:embed/>
                </p:oleObj>
              </mc:Choice>
              <mc:Fallback>
                <p:oleObj name="Equation" r:id="rId8" imgW="4419360" imgH="431640" progId="Equation.DSMT4">
                  <p:embed/>
                  <p:pic>
                    <p:nvPicPr>
                      <p:cNvPr id="528391" name="Object 7">
                        <a:extLst>
                          <a:ext uri="{FF2B5EF4-FFF2-40B4-BE49-F238E27FC236}">
                            <a16:creationId xmlns:a16="http://schemas.microsoft.com/office/drawing/2014/main" id="{D0902FD6-79AF-4C69-B9A4-CB39E896EB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0010" y="3543301"/>
                        <a:ext cx="5278040" cy="573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8392" name="Object 8">
            <a:extLst>
              <a:ext uri="{FF2B5EF4-FFF2-40B4-BE49-F238E27FC236}">
                <a16:creationId xmlns:a16="http://schemas.microsoft.com/office/drawing/2014/main" id="{582A6001-98E3-4ECD-8021-9E65148DB0C7}"/>
              </a:ext>
            </a:extLst>
          </p:cNvPr>
          <p:cNvGraphicFramePr>
            <a:graphicFrameLocks noChangeAspect="1"/>
          </p:cNvGraphicFramePr>
          <p:nvPr/>
        </p:nvGraphicFramePr>
        <p:xfrm>
          <a:off x="2033588" y="4083844"/>
          <a:ext cx="3725466" cy="640556"/>
        </p:xfrm>
        <a:graphic>
          <a:graphicData uri="http://schemas.openxmlformats.org/presentationml/2006/ole">
            <mc:AlternateContent xmlns:mc="http://schemas.openxmlformats.org/markup-compatibility/2006">
              <mc:Choice xmlns:v="urn:schemas-microsoft-com:vml" Requires="v">
                <p:oleObj name="Equation" r:id="rId10" imgW="2793960" imgH="431640" progId="Equation.DSMT4">
                  <p:embed/>
                </p:oleObj>
              </mc:Choice>
              <mc:Fallback>
                <p:oleObj name="Equation" r:id="rId10" imgW="2793960" imgH="431640" progId="Equation.DSMT4">
                  <p:embed/>
                  <p:pic>
                    <p:nvPicPr>
                      <p:cNvPr id="528392" name="Object 8">
                        <a:extLst>
                          <a:ext uri="{FF2B5EF4-FFF2-40B4-BE49-F238E27FC236}">
                            <a16:creationId xmlns:a16="http://schemas.microsoft.com/office/drawing/2014/main" id="{582A6001-98E3-4ECD-8021-9E65148DB0C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33588" y="4083844"/>
                        <a:ext cx="3725466" cy="640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8393" name="Object 9">
            <a:extLst>
              <a:ext uri="{FF2B5EF4-FFF2-40B4-BE49-F238E27FC236}">
                <a16:creationId xmlns:a16="http://schemas.microsoft.com/office/drawing/2014/main" id="{F0E838BE-DD68-4783-90DE-DC98CCB8C098}"/>
              </a:ext>
            </a:extLst>
          </p:cNvPr>
          <p:cNvGraphicFramePr>
            <a:graphicFrameLocks noChangeAspect="1"/>
          </p:cNvGraphicFramePr>
          <p:nvPr/>
        </p:nvGraphicFramePr>
        <p:xfrm>
          <a:off x="1925241" y="3165873"/>
          <a:ext cx="1727597" cy="377428"/>
        </p:xfrm>
        <a:graphic>
          <a:graphicData uri="http://schemas.openxmlformats.org/presentationml/2006/ole">
            <mc:AlternateContent xmlns:mc="http://schemas.openxmlformats.org/markup-compatibility/2006">
              <mc:Choice xmlns:v="urn:schemas-microsoft-com:vml" Requires="v">
                <p:oleObj name="Equation" r:id="rId12" imgW="1218960" imgH="266400" progId="Equation.DSMT4">
                  <p:embed/>
                </p:oleObj>
              </mc:Choice>
              <mc:Fallback>
                <p:oleObj name="Equation" r:id="rId12" imgW="1218960" imgH="266400" progId="Equation.DSMT4">
                  <p:embed/>
                  <p:pic>
                    <p:nvPicPr>
                      <p:cNvPr id="528393" name="Object 9">
                        <a:extLst>
                          <a:ext uri="{FF2B5EF4-FFF2-40B4-BE49-F238E27FC236}">
                            <a16:creationId xmlns:a16="http://schemas.microsoft.com/office/drawing/2014/main" id="{F0E838BE-DD68-4783-90DE-DC98CCB8C09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5241" y="3165873"/>
                        <a:ext cx="1727597" cy="377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8394" name="Object 10">
            <a:extLst>
              <a:ext uri="{FF2B5EF4-FFF2-40B4-BE49-F238E27FC236}">
                <a16:creationId xmlns:a16="http://schemas.microsoft.com/office/drawing/2014/main" id="{1C01E5EF-5B95-404A-82ED-5BD82F4E8F19}"/>
              </a:ext>
            </a:extLst>
          </p:cNvPr>
          <p:cNvGraphicFramePr>
            <a:graphicFrameLocks noGrp="1" noChangeAspect="1"/>
          </p:cNvGraphicFramePr>
          <p:nvPr>
            <p:ph sz="quarter" idx="4294967295"/>
          </p:nvPr>
        </p:nvGraphicFramePr>
        <p:xfrm>
          <a:off x="1750219" y="2574132"/>
          <a:ext cx="2526506" cy="536972"/>
        </p:xfrm>
        <a:graphic>
          <a:graphicData uri="http://schemas.openxmlformats.org/presentationml/2006/ole">
            <mc:AlternateContent xmlns:mc="http://schemas.openxmlformats.org/markup-compatibility/2006">
              <mc:Choice xmlns:v="urn:schemas-microsoft-com:vml" Requires="v">
                <p:oleObj name="Equation" r:id="rId14" imgW="1841400" imgH="431640" progId="Equation.DSMT4">
                  <p:embed/>
                </p:oleObj>
              </mc:Choice>
              <mc:Fallback>
                <p:oleObj name="Equation" r:id="rId14" imgW="1841400" imgH="431640" progId="Equation.DSMT4">
                  <p:embed/>
                  <p:pic>
                    <p:nvPicPr>
                      <p:cNvPr id="528394" name="Object 10">
                        <a:extLst>
                          <a:ext uri="{FF2B5EF4-FFF2-40B4-BE49-F238E27FC236}">
                            <a16:creationId xmlns:a16="http://schemas.microsoft.com/office/drawing/2014/main" id="{1C01E5EF-5B95-404A-82ED-5BD82F4E8F1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50219" y="2574132"/>
                        <a:ext cx="2526506" cy="5369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8395" name="Line 11">
            <a:extLst>
              <a:ext uri="{FF2B5EF4-FFF2-40B4-BE49-F238E27FC236}">
                <a16:creationId xmlns:a16="http://schemas.microsoft.com/office/drawing/2014/main" id="{7860EDEC-A3D9-443D-ABFC-833C803D24FF}"/>
              </a:ext>
            </a:extLst>
          </p:cNvPr>
          <p:cNvSpPr>
            <a:spLocks noChangeShapeType="1"/>
          </p:cNvSpPr>
          <p:nvPr/>
        </p:nvSpPr>
        <p:spPr bwMode="auto">
          <a:xfrm>
            <a:off x="1871663" y="2139554"/>
            <a:ext cx="809625" cy="0"/>
          </a:xfrm>
          <a:prstGeom prst="line">
            <a:avLst/>
          </a:prstGeom>
          <a:noFill/>
          <a:ln w="28575">
            <a:solidFill>
              <a:srgbClr val="FF3399"/>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500" tIns="35100" rIns="67500" bIns="35100">
            <a:spAutoFit/>
          </a:bodyPr>
          <a:lstStyle/>
          <a:p>
            <a:endParaRPr lang="zh-CN" altLang="en-US" sz="1350"/>
          </a:p>
        </p:txBody>
      </p:sp>
      <p:sp>
        <p:nvSpPr>
          <p:cNvPr id="528396" name="Line 12">
            <a:extLst>
              <a:ext uri="{FF2B5EF4-FFF2-40B4-BE49-F238E27FC236}">
                <a16:creationId xmlns:a16="http://schemas.microsoft.com/office/drawing/2014/main" id="{A9160B61-6CFB-467D-9785-62041943568C}"/>
              </a:ext>
            </a:extLst>
          </p:cNvPr>
          <p:cNvSpPr>
            <a:spLocks noChangeShapeType="1"/>
          </p:cNvSpPr>
          <p:nvPr/>
        </p:nvSpPr>
        <p:spPr bwMode="auto">
          <a:xfrm>
            <a:off x="1925242" y="3057525"/>
            <a:ext cx="2431256" cy="0"/>
          </a:xfrm>
          <a:prstGeom prst="line">
            <a:avLst/>
          </a:prstGeom>
          <a:noFill/>
          <a:ln w="28575">
            <a:solidFill>
              <a:srgbClr val="FF3399"/>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500" tIns="35100" rIns="67500" bIns="35100">
            <a:spAutoFit/>
          </a:bodyPr>
          <a:lstStyle/>
          <a:p>
            <a:endParaRPr lang="zh-CN" altLang="en-US" sz="1350"/>
          </a:p>
        </p:txBody>
      </p:sp>
      <p:sp>
        <p:nvSpPr>
          <p:cNvPr id="528397" name="Line 13">
            <a:extLst>
              <a:ext uri="{FF2B5EF4-FFF2-40B4-BE49-F238E27FC236}">
                <a16:creationId xmlns:a16="http://schemas.microsoft.com/office/drawing/2014/main" id="{F6878D28-75AF-4342-BABE-F24771DD1B5E}"/>
              </a:ext>
            </a:extLst>
          </p:cNvPr>
          <p:cNvSpPr>
            <a:spLocks noChangeShapeType="1"/>
          </p:cNvSpPr>
          <p:nvPr/>
        </p:nvSpPr>
        <p:spPr bwMode="auto">
          <a:xfrm>
            <a:off x="1871663" y="3543300"/>
            <a:ext cx="809625" cy="0"/>
          </a:xfrm>
          <a:prstGeom prst="line">
            <a:avLst/>
          </a:prstGeom>
          <a:noFill/>
          <a:ln w="28575">
            <a:solidFill>
              <a:srgbClr val="3366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500" tIns="35100" rIns="67500" bIns="35100">
            <a:spAutoFit/>
          </a:bodyPr>
          <a:lstStyle/>
          <a:p>
            <a:endParaRPr lang="zh-CN" altLang="en-US" sz="1350"/>
          </a:p>
        </p:txBody>
      </p:sp>
      <p:sp>
        <p:nvSpPr>
          <p:cNvPr id="528398" name="Line 14">
            <a:extLst>
              <a:ext uri="{FF2B5EF4-FFF2-40B4-BE49-F238E27FC236}">
                <a16:creationId xmlns:a16="http://schemas.microsoft.com/office/drawing/2014/main" id="{351609E1-0AF7-4E0E-8D7F-DA3FD53EE2A4}"/>
              </a:ext>
            </a:extLst>
          </p:cNvPr>
          <p:cNvSpPr>
            <a:spLocks noChangeShapeType="1"/>
          </p:cNvSpPr>
          <p:nvPr/>
        </p:nvSpPr>
        <p:spPr bwMode="auto">
          <a:xfrm flipV="1">
            <a:off x="2087166" y="4731544"/>
            <a:ext cx="3835003" cy="0"/>
          </a:xfrm>
          <a:prstGeom prst="line">
            <a:avLst/>
          </a:prstGeom>
          <a:noFill/>
          <a:ln w="28575">
            <a:solidFill>
              <a:srgbClr val="3366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500" tIns="35100" rIns="67500" bIns="35100">
            <a:spAutoFit/>
          </a:bodyPr>
          <a:lstStyle/>
          <a:p>
            <a:endParaRPr lang="zh-CN" altLang="en-US" sz="1350"/>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528387">
                                            <p:txEl>
                                              <p:pRg st="0" end="0"/>
                                            </p:txEl>
                                          </p:spTgt>
                                        </p:tgtEl>
                                        <p:attrNameLst>
                                          <p:attrName>style.visibility</p:attrName>
                                        </p:attrNameLst>
                                      </p:cBhvr>
                                      <p:to>
                                        <p:strVal val="visible"/>
                                      </p:to>
                                    </p:set>
                                    <p:animEffect transition="in" filter="wipe(up)">
                                      <p:cBhvr>
                                        <p:cTn id="7" dur="75"/>
                                        <p:tgtEl>
                                          <p:spTgt spid="528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528388"/>
                                        </p:tgtEl>
                                        <p:attrNameLst>
                                          <p:attrName>style.visibility</p:attrName>
                                        </p:attrNameLst>
                                      </p:cBhvr>
                                      <p:to>
                                        <p:strVal val="visible"/>
                                      </p:to>
                                    </p:set>
                                    <p:animEffect transition="in" filter="slide(fromLeft)">
                                      <p:cBhvr>
                                        <p:cTn id="12" dur="500"/>
                                        <p:tgtEl>
                                          <p:spTgt spid="5283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528389"/>
                                        </p:tgtEl>
                                        <p:attrNameLst>
                                          <p:attrName>style.visibility</p:attrName>
                                        </p:attrNameLst>
                                      </p:cBhvr>
                                      <p:to>
                                        <p:strVal val="visible"/>
                                      </p:to>
                                    </p:set>
                                    <p:animEffect transition="in" filter="slide(fromLeft)">
                                      <p:cBhvr>
                                        <p:cTn id="17" dur="1000"/>
                                        <p:tgtEl>
                                          <p:spTgt spid="5283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28390"/>
                                        </p:tgtEl>
                                        <p:attrNameLst>
                                          <p:attrName>style.visibility</p:attrName>
                                        </p:attrNameLst>
                                      </p:cBhvr>
                                      <p:to>
                                        <p:strVal val="visible"/>
                                      </p:to>
                                    </p:set>
                                    <p:animEffect transition="in" filter="wipe(left)">
                                      <p:cBhvr>
                                        <p:cTn id="22" dur="1000"/>
                                        <p:tgtEl>
                                          <p:spTgt spid="5283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528394"/>
                                        </p:tgtEl>
                                        <p:attrNameLst>
                                          <p:attrName>style.visibility</p:attrName>
                                        </p:attrNameLst>
                                      </p:cBhvr>
                                      <p:to>
                                        <p:strVal val="visible"/>
                                      </p:to>
                                    </p:set>
                                    <p:animEffect transition="in" filter="slide(fromLeft)">
                                      <p:cBhvr>
                                        <p:cTn id="27" dur="500"/>
                                        <p:tgtEl>
                                          <p:spTgt spid="5283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528393"/>
                                        </p:tgtEl>
                                        <p:attrNameLst>
                                          <p:attrName>style.visibility</p:attrName>
                                        </p:attrNameLst>
                                      </p:cBhvr>
                                      <p:to>
                                        <p:strVal val="visible"/>
                                      </p:to>
                                    </p:set>
                                    <p:animEffect transition="in" filter="slide(fromLeft)">
                                      <p:cBhvr>
                                        <p:cTn id="32" dur="500"/>
                                        <p:tgtEl>
                                          <p:spTgt spid="52839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28391"/>
                                        </p:tgtEl>
                                        <p:attrNameLst>
                                          <p:attrName>style.visibility</p:attrName>
                                        </p:attrNameLst>
                                      </p:cBhvr>
                                      <p:to>
                                        <p:strVal val="visible"/>
                                      </p:to>
                                    </p:set>
                                    <p:anim calcmode="lin" valueType="num">
                                      <p:cBhvr additive="base">
                                        <p:cTn id="37" dur="500" fill="hold"/>
                                        <p:tgtEl>
                                          <p:spTgt spid="528391"/>
                                        </p:tgtEl>
                                        <p:attrNameLst>
                                          <p:attrName>ppt_x</p:attrName>
                                        </p:attrNameLst>
                                      </p:cBhvr>
                                      <p:tavLst>
                                        <p:tav tm="0">
                                          <p:val>
                                            <p:strVal val="#ppt_x"/>
                                          </p:val>
                                        </p:tav>
                                        <p:tav tm="100000">
                                          <p:val>
                                            <p:strVal val="#ppt_x"/>
                                          </p:val>
                                        </p:tav>
                                      </p:tavLst>
                                    </p:anim>
                                    <p:anim calcmode="lin" valueType="num">
                                      <p:cBhvr additive="base">
                                        <p:cTn id="38" dur="500" fill="hold"/>
                                        <p:tgtEl>
                                          <p:spTgt spid="528391"/>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28392"/>
                                        </p:tgtEl>
                                        <p:attrNameLst>
                                          <p:attrName>style.visibility</p:attrName>
                                        </p:attrNameLst>
                                      </p:cBhvr>
                                      <p:to>
                                        <p:strVal val="visible"/>
                                      </p:to>
                                    </p:set>
                                    <p:anim calcmode="lin" valueType="num">
                                      <p:cBhvr additive="base">
                                        <p:cTn id="43" dur="500" fill="hold"/>
                                        <p:tgtEl>
                                          <p:spTgt spid="528392"/>
                                        </p:tgtEl>
                                        <p:attrNameLst>
                                          <p:attrName>ppt_x</p:attrName>
                                        </p:attrNameLst>
                                      </p:cBhvr>
                                      <p:tavLst>
                                        <p:tav tm="0">
                                          <p:val>
                                            <p:strVal val="#ppt_x"/>
                                          </p:val>
                                        </p:tav>
                                        <p:tav tm="100000">
                                          <p:val>
                                            <p:strVal val="#ppt_x"/>
                                          </p:val>
                                        </p:tav>
                                      </p:tavLst>
                                    </p:anim>
                                    <p:anim calcmode="lin" valueType="num">
                                      <p:cBhvr additive="base">
                                        <p:cTn id="44" dur="500" fill="hold"/>
                                        <p:tgtEl>
                                          <p:spTgt spid="528392"/>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528395"/>
                                        </p:tgtEl>
                                        <p:attrNameLst>
                                          <p:attrName>style.visibility</p:attrName>
                                        </p:attrNameLst>
                                      </p:cBhvr>
                                      <p:to>
                                        <p:strVal val="visible"/>
                                      </p:to>
                                    </p:set>
                                    <p:anim calcmode="lin" valueType="num">
                                      <p:cBhvr additive="base">
                                        <p:cTn id="49" dur="500" fill="hold"/>
                                        <p:tgtEl>
                                          <p:spTgt spid="528395"/>
                                        </p:tgtEl>
                                        <p:attrNameLst>
                                          <p:attrName>ppt_x</p:attrName>
                                        </p:attrNameLst>
                                      </p:cBhvr>
                                      <p:tavLst>
                                        <p:tav tm="0">
                                          <p:val>
                                            <p:strVal val="#ppt_x"/>
                                          </p:val>
                                        </p:tav>
                                        <p:tav tm="100000">
                                          <p:val>
                                            <p:strVal val="#ppt_x"/>
                                          </p:val>
                                        </p:tav>
                                      </p:tavLst>
                                    </p:anim>
                                    <p:anim calcmode="lin" valueType="num">
                                      <p:cBhvr additive="base">
                                        <p:cTn id="50" dur="500" fill="hold"/>
                                        <p:tgtEl>
                                          <p:spTgt spid="528395"/>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28396"/>
                                        </p:tgtEl>
                                        <p:attrNameLst>
                                          <p:attrName>style.visibility</p:attrName>
                                        </p:attrNameLst>
                                      </p:cBhvr>
                                      <p:to>
                                        <p:strVal val="visible"/>
                                      </p:to>
                                    </p:set>
                                    <p:anim calcmode="lin" valueType="num">
                                      <p:cBhvr additive="base">
                                        <p:cTn id="53" dur="500" fill="hold"/>
                                        <p:tgtEl>
                                          <p:spTgt spid="528396"/>
                                        </p:tgtEl>
                                        <p:attrNameLst>
                                          <p:attrName>ppt_x</p:attrName>
                                        </p:attrNameLst>
                                      </p:cBhvr>
                                      <p:tavLst>
                                        <p:tav tm="0">
                                          <p:val>
                                            <p:strVal val="#ppt_x"/>
                                          </p:val>
                                        </p:tav>
                                        <p:tav tm="100000">
                                          <p:val>
                                            <p:strVal val="#ppt_x"/>
                                          </p:val>
                                        </p:tav>
                                      </p:tavLst>
                                    </p:anim>
                                    <p:anim calcmode="lin" valueType="num">
                                      <p:cBhvr additive="base">
                                        <p:cTn id="54" dur="500" fill="hold"/>
                                        <p:tgtEl>
                                          <p:spTgt spid="528396"/>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28397"/>
                                        </p:tgtEl>
                                        <p:attrNameLst>
                                          <p:attrName>style.visibility</p:attrName>
                                        </p:attrNameLst>
                                      </p:cBhvr>
                                      <p:to>
                                        <p:strVal val="visible"/>
                                      </p:to>
                                    </p:set>
                                    <p:anim calcmode="lin" valueType="num">
                                      <p:cBhvr additive="base">
                                        <p:cTn id="57" dur="500" fill="hold"/>
                                        <p:tgtEl>
                                          <p:spTgt spid="528397"/>
                                        </p:tgtEl>
                                        <p:attrNameLst>
                                          <p:attrName>ppt_x</p:attrName>
                                        </p:attrNameLst>
                                      </p:cBhvr>
                                      <p:tavLst>
                                        <p:tav tm="0">
                                          <p:val>
                                            <p:strVal val="#ppt_x"/>
                                          </p:val>
                                        </p:tav>
                                        <p:tav tm="100000">
                                          <p:val>
                                            <p:strVal val="#ppt_x"/>
                                          </p:val>
                                        </p:tav>
                                      </p:tavLst>
                                    </p:anim>
                                    <p:anim calcmode="lin" valueType="num">
                                      <p:cBhvr additive="base">
                                        <p:cTn id="58" dur="500" fill="hold"/>
                                        <p:tgtEl>
                                          <p:spTgt spid="528397"/>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528398"/>
                                        </p:tgtEl>
                                        <p:attrNameLst>
                                          <p:attrName>style.visibility</p:attrName>
                                        </p:attrNameLst>
                                      </p:cBhvr>
                                      <p:to>
                                        <p:strVal val="visible"/>
                                      </p:to>
                                    </p:set>
                                    <p:anim calcmode="lin" valueType="num">
                                      <p:cBhvr additive="base">
                                        <p:cTn id="61" dur="500" fill="hold"/>
                                        <p:tgtEl>
                                          <p:spTgt spid="528398"/>
                                        </p:tgtEl>
                                        <p:attrNameLst>
                                          <p:attrName>ppt_x</p:attrName>
                                        </p:attrNameLst>
                                      </p:cBhvr>
                                      <p:tavLst>
                                        <p:tav tm="0">
                                          <p:val>
                                            <p:strVal val="#ppt_x"/>
                                          </p:val>
                                        </p:tav>
                                        <p:tav tm="100000">
                                          <p:val>
                                            <p:strVal val="#ppt_x"/>
                                          </p:val>
                                        </p:tav>
                                      </p:tavLst>
                                    </p:anim>
                                    <p:anim calcmode="lin" valueType="num">
                                      <p:cBhvr additive="base">
                                        <p:cTn id="62" dur="500" fill="hold"/>
                                        <p:tgtEl>
                                          <p:spTgt spid="5283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7" grpId="0" build="p"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6"/>
</p:tagLst>
</file>

<file path=ppt/theme/theme1.xml><?xml version="1.0" encoding="utf-8"?>
<a:theme xmlns:a="http://schemas.openxmlformats.org/drawingml/2006/main" name="Office 主题​​">
  <a:themeElements>
    <a:clrScheme name="自定义 1096">
      <a:dk1>
        <a:sysClr val="windowText" lastClr="000000"/>
      </a:dk1>
      <a:lt1>
        <a:sysClr val="window" lastClr="FFFFFF"/>
      </a:lt1>
      <a:dk2>
        <a:srgbClr val="4F271C"/>
      </a:dk2>
      <a:lt2>
        <a:srgbClr val="E7DEC9"/>
      </a:lt2>
      <a:accent1>
        <a:srgbClr val="1F4B70"/>
      </a:accent1>
      <a:accent2>
        <a:srgbClr val="E88D22"/>
      </a:accent2>
      <a:accent3>
        <a:srgbClr val="1F4B70"/>
      </a:accent3>
      <a:accent4>
        <a:srgbClr val="E88D22"/>
      </a:accent4>
      <a:accent5>
        <a:srgbClr val="1F4B70"/>
      </a:accent5>
      <a:accent6>
        <a:srgbClr val="E88D22"/>
      </a:accent6>
      <a:hlink>
        <a:srgbClr val="8DC765"/>
      </a:hlink>
      <a:folHlink>
        <a:srgbClr val="AA8A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5921</TotalTime>
  <Words>4037</Words>
  <Application>Microsoft Office PowerPoint</Application>
  <PresentationFormat>全屏显示(16:9)</PresentationFormat>
  <Paragraphs>415</Paragraphs>
  <Slides>44</Slides>
  <Notes>19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9</vt:i4>
      </vt:variant>
      <vt:variant>
        <vt:lpstr>幻灯片标题</vt:lpstr>
      </vt:variant>
      <vt:variant>
        <vt:i4>44</vt:i4>
      </vt:variant>
    </vt:vector>
  </HeadingPairs>
  <TitlesOfParts>
    <vt:vector size="66" baseType="lpstr">
      <vt:lpstr>Bebas</vt:lpstr>
      <vt:lpstr>华文楷体</vt:lpstr>
      <vt:lpstr>楷体_GB2312</vt:lpstr>
      <vt:lpstr>宋体</vt:lpstr>
      <vt:lpstr>微软雅黑</vt:lpstr>
      <vt:lpstr>Arial</vt:lpstr>
      <vt:lpstr>Calibri</vt:lpstr>
      <vt:lpstr>Cambria Math</vt:lpstr>
      <vt:lpstr>MT Extra</vt:lpstr>
      <vt:lpstr>Symbol</vt:lpstr>
      <vt:lpstr>Times New Roman</vt:lpstr>
      <vt:lpstr>Wingdings</vt:lpstr>
      <vt:lpstr>Office 主题​​</vt:lpstr>
      <vt:lpstr>Equation</vt:lpstr>
      <vt:lpstr>BMP 图象</vt:lpstr>
      <vt:lpstr>BMP 图像</vt:lpstr>
      <vt:lpstr>Microsoft Word 97 - 2003 Document</vt:lpstr>
      <vt:lpstr>MathType 6.0 Equation</vt:lpstr>
      <vt:lpstr>Equation.3</vt:lpstr>
      <vt:lpstr>Microsoft 公式 3.0</vt:lpstr>
      <vt:lpstr>Microsoft Equation 3.0</vt:lpstr>
      <vt:lpstr>MathType 5.0 Equation</vt:lpstr>
      <vt:lpstr>PowerPoint 演示文稿</vt:lpstr>
      <vt:lpstr>PowerPoint 演示文稿</vt:lpstr>
      <vt:lpstr>PowerPoint 演示文稿</vt:lpstr>
      <vt:lpstr>统计学的分科</vt:lpstr>
      <vt:lpstr>PowerPoint 演示文稿</vt:lpstr>
      <vt:lpstr>PowerPoint 演示文稿</vt:lpstr>
      <vt:lpstr>PowerPoint 演示文稿</vt:lpstr>
      <vt:lpstr>电子资源</vt:lpstr>
      <vt:lpstr>几种常用的软件</vt:lpstr>
      <vt:lpstr>预备知识 （常用分布）</vt:lpstr>
      <vt:lpstr>PowerPoint 演示文稿</vt:lpstr>
      <vt:lpstr>3）泊松（Poisson）分布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dc:title>
  <dc:creator>USER</dc:creator>
  <cp:lastModifiedBy>Hu Xiaoshan</cp:lastModifiedBy>
  <cp:revision>676</cp:revision>
  <dcterms:created xsi:type="dcterms:W3CDTF">2014-11-09T01:07:25Z</dcterms:created>
  <dcterms:modified xsi:type="dcterms:W3CDTF">2023-09-05T03:04:11Z</dcterms:modified>
</cp:coreProperties>
</file>