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1185" r:id="rId2"/>
    <p:sldId id="1186" r:id="rId3"/>
    <p:sldId id="282" r:id="rId4"/>
    <p:sldId id="473" r:id="rId5"/>
    <p:sldId id="283" r:id="rId6"/>
    <p:sldId id="284" r:id="rId7"/>
    <p:sldId id="285" r:id="rId8"/>
    <p:sldId id="286" r:id="rId9"/>
    <p:sldId id="287" r:id="rId10"/>
    <p:sldId id="288" r:id="rId11"/>
    <p:sldId id="1187" r:id="rId12"/>
    <p:sldId id="476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478" r:id="rId23"/>
    <p:sldId id="1230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1188" r:id="rId35"/>
    <p:sldId id="309" r:id="rId36"/>
    <p:sldId id="485" r:id="rId37"/>
    <p:sldId id="486" r:id="rId38"/>
    <p:sldId id="487" r:id="rId39"/>
    <p:sldId id="488" r:id="rId40"/>
    <p:sldId id="310" r:id="rId41"/>
    <p:sldId id="311" r:id="rId42"/>
    <p:sldId id="312" r:id="rId43"/>
    <p:sldId id="313" r:id="rId44"/>
    <p:sldId id="314" r:id="rId45"/>
    <p:sldId id="315" r:id="rId46"/>
  </p:sldIdLst>
  <p:sldSz cx="9144000" cy="5143500" type="screen16x9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76">
          <p15:clr>
            <a:srgbClr val="A4A3A4"/>
          </p15:clr>
        </p15:guide>
        <p15:guide id="4" pos="52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2C03"/>
    <a:srgbClr val="1F4B70"/>
    <a:srgbClr val="E88D22"/>
    <a:srgbClr val="94CDD4"/>
    <a:srgbClr val="F2F2F2"/>
    <a:srgbClr val="034EA2"/>
    <a:srgbClr val="0075BF"/>
    <a:srgbClr val="0087CD"/>
    <a:srgbClr val="C68F06"/>
    <a:srgbClr val="EBA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0143" autoAdjust="0"/>
  </p:normalViewPr>
  <p:slideViewPr>
    <p:cSldViewPr>
      <p:cViewPr varScale="1">
        <p:scale>
          <a:sx n="113" d="100"/>
          <a:sy n="113" d="100"/>
        </p:scale>
        <p:origin x="1182" y="102"/>
      </p:cViewPr>
      <p:guideLst>
        <p:guide orient="horz" pos="1620"/>
        <p:guide pos="2880"/>
        <p:guide pos="476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61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6650E-F7DA-4B38-AB1F-1052BE95A2C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5CDD3-FB77-4A6A-82C5-147FD4F1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同学们好！从本章开始，我们进入到数理统计部分的学习</a:t>
            </a:r>
            <a:r>
              <a:rPr lang="en-US" altLang="zh-CN" dirty="0"/>
              <a:t>.</a:t>
            </a:r>
            <a:r>
              <a:rPr lang="zh-CN" altLang="en-US" dirty="0"/>
              <a:t>数理统计与前五章的概率论都是研究随机现象的数学学科，那么它们的区别何在呢？我们用一个例子来回答这个问题</a:t>
            </a:r>
            <a:r>
              <a:rPr lang="en-US" altLang="zh-CN" dirty="0"/>
              <a:t>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zh-CN" altLang="en-US" i="1" smtClean="0">
                          <a:latin typeface="Cambria Math" panose="02040503050406030204" pitchFamily="18" charset="0"/>
                        </a:rPr>
                        <a:t>在此处键入公式。</a:t>
                      </a:fl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燕尾形 5"/>
          <p:cNvSpPr/>
          <p:nvPr userDrawn="1"/>
        </p:nvSpPr>
        <p:spPr>
          <a:xfrm>
            <a:off x="243136" y="267494"/>
            <a:ext cx="216024" cy="28803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 userDrawn="1"/>
        </p:nvSpPr>
        <p:spPr>
          <a:xfrm>
            <a:off x="395536" y="267494"/>
            <a:ext cx="216024" cy="28803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680039" y="212870"/>
            <a:ext cx="2444162" cy="37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000" b="1" dirty="0">
                <a:solidFill>
                  <a:srgbClr val="1F4B7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1.1 </a:t>
            </a:r>
            <a:r>
              <a:rPr lang="zh-CN" altLang="en-US" sz="2000" b="1" dirty="0">
                <a:solidFill>
                  <a:srgbClr val="1F4B7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总体与样本</a:t>
            </a:r>
          </a:p>
        </p:txBody>
      </p:sp>
      <p:sp>
        <p:nvSpPr>
          <p:cNvPr id="6" name="燕尾形 5"/>
          <p:cNvSpPr/>
          <p:nvPr userDrawn="1"/>
        </p:nvSpPr>
        <p:spPr>
          <a:xfrm>
            <a:off x="243136" y="267494"/>
            <a:ext cx="216024" cy="28803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 userDrawn="1"/>
        </p:nvSpPr>
        <p:spPr>
          <a:xfrm>
            <a:off x="395536" y="267494"/>
            <a:ext cx="216024" cy="28803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680039" y="212870"/>
            <a:ext cx="1515697" cy="37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sz="2000" b="1" dirty="0">
                <a:solidFill>
                  <a:srgbClr val="1F4B7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总体与样本</a:t>
            </a:r>
          </a:p>
        </p:txBody>
      </p:sp>
      <p:sp>
        <p:nvSpPr>
          <p:cNvPr id="6" name="燕尾形 5"/>
          <p:cNvSpPr/>
          <p:nvPr userDrawn="1"/>
        </p:nvSpPr>
        <p:spPr>
          <a:xfrm>
            <a:off x="243136" y="267494"/>
            <a:ext cx="216024" cy="28803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 userDrawn="1"/>
        </p:nvSpPr>
        <p:spPr>
          <a:xfrm>
            <a:off x="395536" y="267494"/>
            <a:ext cx="216024" cy="28803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899592" y="239588"/>
            <a:ext cx="912897" cy="312819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565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工作回顾</a:t>
            </a:r>
          </a:p>
        </p:txBody>
      </p:sp>
      <p:sp>
        <p:nvSpPr>
          <p:cNvPr id="15" name="文本框 38"/>
          <p:cNvSpPr txBox="1"/>
          <p:nvPr userDrawn="1"/>
        </p:nvSpPr>
        <p:spPr>
          <a:xfrm>
            <a:off x="899592" y="432889"/>
            <a:ext cx="892058" cy="258958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565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Work review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" name="Picture 3" descr="C:\Users\Administrator\Desktop\微立体创业计划\005.pn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:\Users\Administrator\Desktop\微立体创业计划\004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03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" y="0"/>
            <a:ext cx="9143499" cy="5143500"/>
          </a:xfrm>
          <a:prstGeom prst="rect">
            <a:avLst/>
          </a:prstGeom>
        </p:spPr>
      </p:pic>
      <p:grpSp>
        <p:nvGrpSpPr>
          <p:cNvPr id="2" name="组合 3"/>
          <p:cNvGrpSpPr/>
          <p:nvPr userDrawn="1"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3" name="矩形 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6" name="文本框 12"/>
          <p:cNvSpPr txBox="1">
            <a:spLocks noChangeArrowheads="1"/>
          </p:cNvSpPr>
          <p:nvPr userDrawn="1"/>
        </p:nvSpPr>
        <p:spPr bwMode="auto">
          <a:xfrm>
            <a:off x="-1" y="370296"/>
            <a:ext cx="1796090" cy="619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BD0C8-D35A-439E-96FB-C8D4A6430554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15A6-E82C-4E1E-834E-C415C51F7D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1"/>
            <a:ext cx="82296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6.png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image" Target="../media/image15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6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0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29.wmf"/><Relationship Id="rId5" Type="http://schemas.openxmlformats.org/officeDocument/2006/relationships/image" Target="../media/image18.wmf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1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3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53.bin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5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5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oleObject" Target="../embeddings/oleObject64.bin"/><Relationship Id="rId3" Type="http://schemas.openxmlformats.org/officeDocument/2006/relationships/image" Target="../media/image67.png"/><Relationship Id="rId7" Type="http://schemas.openxmlformats.org/officeDocument/2006/relationships/image" Target="../media/image69.wmf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80.png"/><Relationship Id="rId5" Type="http://schemas.openxmlformats.org/officeDocument/2006/relationships/image" Target="../media/image68.wmf"/><Relationship Id="rId15" Type="http://schemas.openxmlformats.org/officeDocument/2006/relationships/image" Target="../media/image83.png"/><Relationship Id="rId10" Type="http://schemas.openxmlformats.org/officeDocument/2006/relationships/image" Target="../media/image79.png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0.wmf"/><Relationship Id="rId14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73.bin"/><Relationship Id="rId26" Type="http://schemas.openxmlformats.org/officeDocument/2006/relationships/oleObject" Target="../embeddings/oleObject77.bin"/><Relationship Id="rId3" Type="http://schemas.openxmlformats.org/officeDocument/2006/relationships/image" Target="../media/image71.wmf"/><Relationship Id="rId21" Type="http://schemas.openxmlformats.org/officeDocument/2006/relationships/image" Target="../media/image80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29" Type="http://schemas.openxmlformats.org/officeDocument/2006/relationships/image" Target="../media/image84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5.wmf"/><Relationship Id="rId24" Type="http://schemas.openxmlformats.org/officeDocument/2006/relationships/oleObject" Target="../embeddings/oleObject76.bin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28" Type="http://schemas.openxmlformats.org/officeDocument/2006/relationships/oleObject" Target="../embeddings/oleObject78.bin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79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Relationship Id="rId27" Type="http://schemas.openxmlformats.org/officeDocument/2006/relationships/image" Target="../media/image8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8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9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101.wmf"/><Relationship Id="rId7" Type="http://schemas.openxmlformats.org/officeDocument/2006/relationships/image" Target="../media/image103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08.bin"/><Relationship Id="rId3" Type="http://schemas.openxmlformats.org/officeDocument/2006/relationships/image" Target="../media/image106.wmf"/><Relationship Id="rId21" Type="http://schemas.openxmlformats.org/officeDocument/2006/relationships/image" Target="../media/image115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13.wmf"/><Relationship Id="rId2" Type="http://schemas.openxmlformats.org/officeDocument/2006/relationships/oleObject" Target="../embeddings/oleObject100.bin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23" Type="http://schemas.openxmlformats.org/officeDocument/2006/relationships/image" Target="../media/image116.wmf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114.w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22.wmf"/><Relationship Id="rId3" Type="http://schemas.openxmlformats.org/officeDocument/2006/relationships/image" Target="../media/image117.wmf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16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21.wmf"/><Relationship Id="rId5" Type="http://schemas.openxmlformats.org/officeDocument/2006/relationships/image" Target="../media/image118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2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17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11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19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1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25.bin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9.wmf"/><Relationship Id="rId5" Type="http://schemas.openxmlformats.org/officeDocument/2006/relationships/image" Target="../media/image126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30.wmf"/><Relationship Id="rId3" Type="http://schemas.openxmlformats.org/officeDocument/2006/relationships/image" Target="../media/image140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48.png"/><Relationship Id="rId2" Type="http://schemas.openxmlformats.org/officeDocument/2006/relationships/oleObject" Target="../embeddings/oleObject126.bin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6.png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43.wmf"/><Relationship Id="rId14" Type="http://schemas.openxmlformats.org/officeDocument/2006/relationships/image" Target="../media/image1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149.wmf"/><Relationship Id="rId7" Type="http://schemas.openxmlformats.org/officeDocument/2006/relationships/image" Target="../media/image151.wmf"/><Relationship Id="rId12" Type="http://schemas.openxmlformats.org/officeDocument/2006/relationships/image" Target="../media/image156.png"/><Relationship Id="rId2" Type="http://schemas.openxmlformats.org/officeDocument/2006/relationships/oleObject" Target="../embeddings/oleObject132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55.png"/><Relationship Id="rId5" Type="http://schemas.openxmlformats.org/officeDocument/2006/relationships/image" Target="../media/image150.wmf"/><Relationship Id="rId10" Type="http://schemas.openxmlformats.org/officeDocument/2006/relationships/image" Target="../media/image154.png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37.bin"/><Relationship Id="rId5" Type="http://schemas.openxmlformats.org/officeDocument/2006/relationships/image" Target="../media/image159.wmf"/><Relationship Id="rId4" Type="http://schemas.openxmlformats.org/officeDocument/2006/relationships/oleObject" Target="../embeddings/oleObject13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40.bin"/><Relationship Id="rId5" Type="http://schemas.openxmlformats.org/officeDocument/2006/relationships/image" Target="../media/image162.wmf"/><Relationship Id="rId4" Type="http://schemas.openxmlformats.org/officeDocument/2006/relationships/oleObject" Target="../embeddings/oleObject13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43.bin"/><Relationship Id="rId5" Type="http://schemas.openxmlformats.org/officeDocument/2006/relationships/image" Target="../media/image165.wmf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6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73.wmf"/><Relationship Id="rId3" Type="http://schemas.openxmlformats.org/officeDocument/2006/relationships/image" Target="../media/image168.wmf"/><Relationship Id="rId7" Type="http://schemas.openxmlformats.org/officeDocument/2006/relationships/image" Target="../media/image170.wmf"/><Relationship Id="rId12" Type="http://schemas.openxmlformats.org/officeDocument/2006/relationships/oleObject" Target="../embeddings/oleObject150.bin"/><Relationship Id="rId2" Type="http://schemas.openxmlformats.org/officeDocument/2006/relationships/oleObject" Target="../embeddings/oleObject14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72.wmf"/><Relationship Id="rId5" Type="http://schemas.openxmlformats.org/officeDocument/2006/relationships/image" Target="../media/image169.wmf"/><Relationship Id="rId10" Type="http://schemas.openxmlformats.org/officeDocument/2006/relationships/oleObject" Target="../embeddings/oleObject149.bin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71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3" Type="http://schemas.openxmlformats.org/officeDocument/2006/relationships/image" Target="../media/image174.wmf"/><Relationship Id="rId7" Type="http://schemas.openxmlformats.org/officeDocument/2006/relationships/image" Target="../media/image176.w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53.bin"/><Relationship Id="rId5" Type="http://schemas.openxmlformats.org/officeDocument/2006/relationships/image" Target="../media/image175.w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7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0.wmf"/><Relationship Id="rId12" Type="http://schemas.openxmlformats.org/officeDocument/2006/relationships/oleObject" Target="../embeddings/oleObject160.bin"/><Relationship Id="rId2" Type="http://schemas.openxmlformats.org/officeDocument/2006/relationships/oleObject" Target="../embeddings/oleObject15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82.wmf"/><Relationship Id="rId5" Type="http://schemas.openxmlformats.org/officeDocument/2006/relationships/image" Target="../media/image179.wmf"/><Relationship Id="rId10" Type="http://schemas.openxmlformats.org/officeDocument/2006/relationships/oleObject" Target="../embeddings/oleObject159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8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3" Type="http://schemas.openxmlformats.org/officeDocument/2006/relationships/image" Target="../media/image184.wmf"/><Relationship Id="rId7" Type="http://schemas.openxmlformats.org/officeDocument/2006/relationships/image" Target="../media/image186.wmf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63.bin"/><Relationship Id="rId5" Type="http://schemas.openxmlformats.org/officeDocument/2006/relationships/image" Target="../media/image185.w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8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3" Type="http://schemas.openxmlformats.org/officeDocument/2006/relationships/image" Target="../media/image187.wmf"/><Relationship Id="rId7" Type="http://schemas.openxmlformats.org/officeDocument/2006/relationships/image" Target="../media/image189.wmf"/><Relationship Id="rId2" Type="http://schemas.openxmlformats.org/officeDocument/2006/relationships/oleObject" Target="../embeddings/oleObject16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83.wmf"/><Relationship Id="rId5" Type="http://schemas.openxmlformats.org/officeDocument/2006/relationships/image" Target="../media/image188.w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90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2.jpeg"/><Relationship Id="rId4" Type="http://schemas.openxmlformats.org/officeDocument/2006/relationships/hyperlink" Target="../&#27010;&#29575;&#32479;&#35745;&#30005;&#23376;&#25945;&#26696;.ppt#9. &#31532;&#20845;&#31456;  &#25968;&#29702;&#32479;&#35745;&#30340;&#22522;&#26412;&#27010;&#24565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1057523b422604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0601" y="627534"/>
            <a:ext cx="4403278" cy="3888433"/>
          </a:xfrm>
          <a:prstGeom prst="rect">
            <a:avLst/>
          </a:prstGeom>
          <a:noFill/>
        </p:spPr>
      </p:pic>
      <p:sp>
        <p:nvSpPr>
          <p:cNvPr id="9" name="矩形 259"/>
          <p:cNvSpPr>
            <a:spLocks noChangeArrowheads="1"/>
          </p:cNvSpPr>
          <p:nvPr/>
        </p:nvSpPr>
        <p:spPr bwMode="auto">
          <a:xfrm>
            <a:off x="755650" y="1956197"/>
            <a:ext cx="410445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4000" b="1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数理统计</a:t>
            </a:r>
          </a:p>
        </p:txBody>
      </p:sp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899592" y="2667672"/>
            <a:ext cx="31683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华中科技大学  概率统计系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49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49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组合 98"/>
          <p:cNvGrpSpPr/>
          <p:nvPr/>
        </p:nvGrpSpPr>
        <p:grpSpPr>
          <a:xfrm>
            <a:off x="3995936" y="1297102"/>
            <a:ext cx="823015" cy="761106"/>
            <a:chOff x="5308588" y="1203598"/>
            <a:chExt cx="1012247" cy="936104"/>
          </a:xfrm>
        </p:grpSpPr>
        <p:sp>
          <p:nvSpPr>
            <p:cNvPr id="100" name="椭圆 99"/>
            <p:cNvSpPr/>
            <p:nvPr/>
          </p:nvSpPr>
          <p:spPr>
            <a:xfrm>
              <a:off x="5364088" y="1203598"/>
              <a:ext cx="936104" cy="93610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5308588" y="1316131"/>
              <a:ext cx="1012247" cy="686420"/>
            </a:xfrm>
            <a:prstGeom prst="rect">
              <a:avLst/>
            </a:prstGeom>
            <a:noFill/>
          </p:spPr>
          <p:txBody>
            <a:bodyPr wrap="square" lIns="65023" tIns="32511" rIns="65023" bIns="32511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01</a:t>
              </a:r>
              <a:endPara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102" name="矩形 101"/>
          <p:cNvSpPr/>
          <p:nvPr/>
        </p:nvSpPr>
        <p:spPr>
          <a:xfrm>
            <a:off x="2360963" y="2211710"/>
            <a:ext cx="4182972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数理统计的基本概念</a:t>
            </a:r>
          </a:p>
        </p:txBody>
      </p:sp>
      <p:grpSp>
        <p:nvGrpSpPr>
          <p:cNvPr id="103" name="组合 102"/>
          <p:cNvGrpSpPr/>
          <p:nvPr/>
        </p:nvGrpSpPr>
        <p:grpSpPr>
          <a:xfrm>
            <a:off x="2940267" y="3059519"/>
            <a:ext cx="2934352" cy="1157731"/>
            <a:chOff x="1588" y="3059113"/>
            <a:chExt cx="10031413" cy="3654425"/>
          </a:xfrm>
        </p:grpSpPr>
        <p:sp>
          <p:nvSpPr>
            <p:cNvPr id="104" name="Rectangle 5"/>
            <p:cNvSpPr>
              <a:spLocks noChangeArrowheads="1"/>
            </p:cNvSpPr>
            <p:nvPr/>
          </p:nvSpPr>
          <p:spPr bwMode="auto">
            <a:xfrm>
              <a:off x="879475" y="5126038"/>
              <a:ext cx="261938" cy="30163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Rectangle 6"/>
            <p:cNvSpPr>
              <a:spLocks noChangeArrowheads="1"/>
            </p:cNvSpPr>
            <p:nvPr/>
          </p:nvSpPr>
          <p:spPr bwMode="auto">
            <a:xfrm>
              <a:off x="879475" y="5191125"/>
              <a:ext cx="261938" cy="11588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Rectangle 7"/>
            <p:cNvSpPr>
              <a:spLocks noChangeArrowheads="1"/>
            </p:cNvSpPr>
            <p:nvPr/>
          </p:nvSpPr>
          <p:spPr bwMode="auto">
            <a:xfrm>
              <a:off x="879475" y="3876675"/>
              <a:ext cx="261938" cy="121443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Rectangle 8"/>
            <p:cNvSpPr>
              <a:spLocks noChangeArrowheads="1"/>
            </p:cNvSpPr>
            <p:nvPr/>
          </p:nvSpPr>
          <p:spPr bwMode="auto">
            <a:xfrm>
              <a:off x="879475" y="3719513"/>
              <a:ext cx="261938" cy="95250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Rectangle 9"/>
            <p:cNvSpPr>
              <a:spLocks noChangeArrowheads="1"/>
            </p:cNvSpPr>
            <p:nvPr/>
          </p:nvSpPr>
          <p:spPr bwMode="auto">
            <a:xfrm>
              <a:off x="549275" y="5126038"/>
              <a:ext cx="261938" cy="301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Rectangle 10"/>
            <p:cNvSpPr>
              <a:spLocks noChangeArrowheads="1"/>
            </p:cNvSpPr>
            <p:nvPr/>
          </p:nvSpPr>
          <p:spPr bwMode="auto">
            <a:xfrm>
              <a:off x="549275" y="3719513"/>
              <a:ext cx="261938" cy="95250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Rectangle 11"/>
            <p:cNvSpPr>
              <a:spLocks noChangeArrowheads="1"/>
            </p:cNvSpPr>
            <p:nvPr/>
          </p:nvSpPr>
          <p:spPr bwMode="auto">
            <a:xfrm>
              <a:off x="549275" y="5191125"/>
              <a:ext cx="261938" cy="115888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Rectangle 12"/>
            <p:cNvSpPr>
              <a:spLocks noChangeArrowheads="1"/>
            </p:cNvSpPr>
            <p:nvPr/>
          </p:nvSpPr>
          <p:spPr bwMode="auto">
            <a:xfrm>
              <a:off x="549275" y="3876675"/>
              <a:ext cx="261938" cy="1214438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Rectangle 13"/>
            <p:cNvSpPr>
              <a:spLocks noChangeArrowheads="1"/>
            </p:cNvSpPr>
            <p:nvPr/>
          </p:nvSpPr>
          <p:spPr bwMode="auto">
            <a:xfrm>
              <a:off x="7137400" y="4057650"/>
              <a:ext cx="1454150" cy="307975"/>
            </a:xfrm>
            <a:prstGeom prst="rect">
              <a:avLst/>
            </a:pr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14"/>
            <p:cNvSpPr/>
            <p:nvPr/>
          </p:nvSpPr>
          <p:spPr bwMode="auto">
            <a:xfrm>
              <a:off x="7137400" y="4064000"/>
              <a:ext cx="1454150" cy="304800"/>
            </a:xfrm>
            <a:custGeom>
              <a:avLst/>
              <a:gdLst>
                <a:gd name="T0" fmla="*/ 0 w 916"/>
                <a:gd name="T1" fmla="*/ 192 h 192"/>
                <a:gd name="T2" fmla="*/ 0 w 916"/>
                <a:gd name="T3" fmla="*/ 0 h 192"/>
                <a:gd name="T4" fmla="*/ 916 w 916"/>
                <a:gd name="T5" fmla="*/ 0 h 192"/>
                <a:gd name="T6" fmla="*/ 0 w 91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6" h="192">
                  <a:moveTo>
                    <a:pt x="0" y="192"/>
                  </a:moveTo>
                  <a:lnTo>
                    <a:pt x="0" y="0"/>
                  </a:lnTo>
                  <a:lnTo>
                    <a:pt x="91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15"/>
            <p:cNvSpPr/>
            <p:nvPr/>
          </p:nvSpPr>
          <p:spPr bwMode="auto">
            <a:xfrm>
              <a:off x="7137400" y="4064000"/>
              <a:ext cx="1454150" cy="304800"/>
            </a:xfrm>
            <a:custGeom>
              <a:avLst/>
              <a:gdLst>
                <a:gd name="T0" fmla="*/ 0 w 916"/>
                <a:gd name="T1" fmla="*/ 192 h 192"/>
                <a:gd name="T2" fmla="*/ 0 w 916"/>
                <a:gd name="T3" fmla="*/ 0 h 192"/>
                <a:gd name="T4" fmla="*/ 916 w 916"/>
                <a:gd name="T5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6" h="192">
                  <a:moveTo>
                    <a:pt x="0" y="192"/>
                  </a:moveTo>
                  <a:lnTo>
                    <a:pt x="0" y="0"/>
                  </a:lnTo>
                  <a:lnTo>
                    <a:pt x="9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16"/>
            <p:cNvSpPr/>
            <p:nvPr/>
          </p:nvSpPr>
          <p:spPr bwMode="auto">
            <a:xfrm>
              <a:off x="6964363" y="4038600"/>
              <a:ext cx="1687513" cy="349250"/>
            </a:xfrm>
            <a:custGeom>
              <a:avLst/>
              <a:gdLst>
                <a:gd name="T0" fmla="*/ 916 w 925"/>
                <a:gd name="T1" fmla="*/ 178 h 192"/>
                <a:gd name="T2" fmla="*/ 412 w 925"/>
                <a:gd name="T3" fmla="*/ 178 h 192"/>
                <a:gd name="T4" fmla="*/ 144 w 925"/>
                <a:gd name="T5" fmla="*/ 178 h 192"/>
                <a:gd name="T6" fmla="*/ 70 w 925"/>
                <a:gd name="T7" fmla="*/ 166 h 192"/>
                <a:gd name="T8" fmla="*/ 42 w 925"/>
                <a:gd name="T9" fmla="*/ 57 h 192"/>
                <a:gd name="T10" fmla="*/ 112 w 925"/>
                <a:gd name="T11" fmla="*/ 16 h 192"/>
                <a:gd name="T12" fmla="*/ 646 w 925"/>
                <a:gd name="T13" fmla="*/ 16 h 192"/>
                <a:gd name="T14" fmla="*/ 916 w 925"/>
                <a:gd name="T15" fmla="*/ 16 h 192"/>
                <a:gd name="T16" fmla="*/ 916 w 925"/>
                <a:gd name="T17" fmla="*/ 2 h 192"/>
                <a:gd name="T18" fmla="*/ 412 w 925"/>
                <a:gd name="T19" fmla="*/ 2 h 192"/>
                <a:gd name="T20" fmla="*/ 144 w 925"/>
                <a:gd name="T21" fmla="*/ 2 h 192"/>
                <a:gd name="T22" fmla="*/ 77 w 925"/>
                <a:gd name="T23" fmla="*/ 8 h 192"/>
                <a:gd name="T24" fmla="*/ 54 w 925"/>
                <a:gd name="T25" fmla="*/ 172 h 192"/>
                <a:gd name="T26" fmla="*/ 134 w 925"/>
                <a:gd name="T27" fmla="*/ 192 h 192"/>
                <a:gd name="T28" fmla="*/ 235 w 925"/>
                <a:gd name="T29" fmla="*/ 192 h 192"/>
                <a:gd name="T30" fmla="*/ 563 w 925"/>
                <a:gd name="T31" fmla="*/ 192 h 192"/>
                <a:gd name="T32" fmla="*/ 916 w 925"/>
                <a:gd name="T33" fmla="*/ 192 h 192"/>
                <a:gd name="T34" fmla="*/ 916 w 925"/>
                <a:gd name="T35" fmla="*/ 17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5" h="192">
                  <a:moveTo>
                    <a:pt x="916" y="178"/>
                  </a:moveTo>
                  <a:cubicBezTo>
                    <a:pt x="748" y="178"/>
                    <a:pt x="580" y="178"/>
                    <a:pt x="412" y="178"/>
                  </a:cubicBezTo>
                  <a:cubicBezTo>
                    <a:pt x="323" y="178"/>
                    <a:pt x="234" y="178"/>
                    <a:pt x="144" y="178"/>
                  </a:cubicBezTo>
                  <a:cubicBezTo>
                    <a:pt x="118" y="178"/>
                    <a:pt x="94" y="180"/>
                    <a:pt x="70" y="166"/>
                  </a:cubicBezTo>
                  <a:cubicBezTo>
                    <a:pt x="33" y="145"/>
                    <a:pt x="24" y="94"/>
                    <a:pt x="42" y="57"/>
                  </a:cubicBezTo>
                  <a:cubicBezTo>
                    <a:pt x="55" y="31"/>
                    <a:pt x="84" y="16"/>
                    <a:pt x="112" y="16"/>
                  </a:cubicBezTo>
                  <a:cubicBezTo>
                    <a:pt x="290" y="16"/>
                    <a:pt x="468" y="16"/>
                    <a:pt x="646" y="16"/>
                  </a:cubicBezTo>
                  <a:cubicBezTo>
                    <a:pt x="736" y="16"/>
                    <a:pt x="826" y="16"/>
                    <a:pt x="916" y="16"/>
                  </a:cubicBezTo>
                  <a:cubicBezTo>
                    <a:pt x="925" y="16"/>
                    <a:pt x="925" y="2"/>
                    <a:pt x="916" y="2"/>
                  </a:cubicBezTo>
                  <a:cubicBezTo>
                    <a:pt x="748" y="2"/>
                    <a:pt x="580" y="2"/>
                    <a:pt x="412" y="2"/>
                  </a:cubicBezTo>
                  <a:cubicBezTo>
                    <a:pt x="323" y="2"/>
                    <a:pt x="234" y="2"/>
                    <a:pt x="144" y="2"/>
                  </a:cubicBezTo>
                  <a:cubicBezTo>
                    <a:pt x="121" y="2"/>
                    <a:pt x="99" y="0"/>
                    <a:pt x="77" y="8"/>
                  </a:cubicBezTo>
                  <a:cubicBezTo>
                    <a:pt x="9" y="34"/>
                    <a:pt x="0" y="129"/>
                    <a:pt x="54" y="172"/>
                  </a:cubicBezTo>
                  <a:cubicBezTo>
                    <a:pt x="78" y="192"/>
                    <a:pt x="106" y="192"/>
                    <a:pt x="134" y="192"/>
                  </a:cubicBezTo>
                  <a:cubicBezTo>
                    <a:pt x="168" y="192"/>
                    <a:pt x="202" y="192"/>
                    <a:pt x="235" y="192"/>
                  </a:cubicBezTo>
                  <a:cubicBezTo>
                    <a:pt x="345" y="192"/>
                    <a:pt x="454" y="192"/>
                    <a:pt x="563" y="192"/>
                  </a:cubicBezTo>
                  <a:cubicBezTo>
                    <a:pt x="681" y="192"/>
                    <a:pt x="798" y="192"/>
                    <a:pt x="916" y="192"/>
                  </a:cubicBezTo>
                  <a:cubicBezTo>
                    <a:pt x="925" y="192"/>
                    <a:pt x="925" y="178"/>
                    <a:pt x="916" y="178"/>
                  </a:cubicBez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Rectangle 17"/>
            <p:cNvSpPr>
              <a:spLocks noChangeArrowheads="1"/>
            </p:cNvSpPr>
            <p:nvPr/>
          </p:nvSpPr>
          <p:spPr bwMode="auto">
            <a:xfrm>
              <a:off x="8516938" y="4460875"/>
              <a:ext cx="114300" cy="21272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Rectangle 18"/>
            <p:cNvSpPr>
              <a:spLocks noChangeArrowheads="1"/>
            </p:cNvSpPr>
            <p:nvPr/>
          </p:nvSpPr>
          <p:spPr bwMode="auto">
            <a:xfrm>
              <a:off x="7038975" y="4460875"/>
              <a:ext cx="1362075" cy="21272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Rectangle 19"/>
            <p:cNvSpPr>
              <a:spLocks noChangeArrowheads="1"/>
            </p:cNvSpPr>
            <p:nvPr/>
          </p:nvSpPr>
          <p:spPr bwMode="auto">
            <a:xfrm>
              <a:off x="8435975" y="4460875"/>
              <a:ext cx="46038" cy="21272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Rectangle 20"/>
            <p:cNvSpPr>
              <a:spLocks noChangeArrowheads="1"/>
            </p:cNvSpPr>
            <p:nvPr/>
          </p:nvSpPr>
          <p:spPr bwMode="auto">
            <a:xfrm>
              <a:off x="4916488" y="4756150"/>
              <a:ext cx="298450" cy="333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Rectangle 21"/>
            <p:cNvSpPr>
              <a:spLocks noChangeArrowheads="1"/>
            </p:cNvSpPr>
            <p:nvPr/>
          </p:nvSpPr>
          <p:spPr bwMode="auto">
            <a:xfrm>
              <a:off x="4916488" y="4586288"/>
              <a:ext cx="298450" cy="13017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Rectangle 22"/>
            <p:cNvSpPr>
              <a:spLocks noChangeArrowheads="1"/>
            </p:cNvSpPr>
            <p:nvPr/>
          </p:nvSpPr>
          <p:spPr bwMode="auto">
            <a:xfrm>
              <a:off x="4916488" y="4829175"/>
              <a:ext cx="298450" cy="1370013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Rectangle 23"/>
            <p:cNvSpPr>
              <a:spLocks noChangeArrowheads="1"/>
            </p:cNvSpPr>
            <p:nvPr/>
          </p:nvSpPr>
          <p:spPr bwMode="auto">
            <a:xfrm>
              <a:off x="4916488" y="6269038"/>
              <a:ext cx="298450" cy="1095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Rectangle 24"/>
            <p:cNvSpPr>
              <a:spLocks noChangeArrowheads="1"/>
            </p:cNvSpPr>
            <p:nvPr/>
          </p:nvSpPr>
          <p:spPr bwMode="auto">
            <a:xfrm>
              <a:off x="4649788" y="4576763"/>
              <a:ext cx="184150" cy="180022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Rectangle 25"/>
            <p:cNvSpPr>
              <a:spLocks noChangeArrowheads="1"/>
            </p:cNvSpPr>
            <p:nvPr/>
          </p:nvSpPr>
          <p:spPr bwMode="auto">
            <a:xfrm>
              <a:off x="4383088" y="4576763"/>
              <a:ext cx="184150" cy="180022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Rectangle 26"/>
            <p:cNvSpPr>
              <a:spLocks noChangeArrowheads="1"/>
            </p:cNvSpPr>
            <p:nvPr/>
          </p:nvSpPr>
          <p:spPr bwMode="auto">
            <a:xfrm>
              <a:off x="4129088" y="4576763"/>
              <a:ext cx="182563" cy="180022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Rectangle 27"/>
            <p:cNvSpPr>
              <a:spLocks noChangeArrowheads="1"/>
            </p:cNvSpPr>
            <p:nvPr/>
          </p:nvSpPr>
          <p:spPr bwMode="auto">
            <a:xfrm>
              <a:off x="3913188" y="4908550"/>
              <a:ext cx="139700" cy="14684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28"/>
            <p:cNvSpPr/>
            <p:nvPr/>
          </p:nvSpPr>
          <p:spPr bwMode="auto">
            <a:xfrm>
              <a:off x="3525838" y="4906963"/>
              <a:ext cx="365125" cy="1471613"/>
            </a:xfrm>
            <a:custGeom>
              <a:avLst/>
              <a:gdLst>
                <a:gd name="T0" fmla="*/ 0 w 230"/>
                <a:gd name="T1" fmla="*/ 913 h 927"/>
                <a:gd name="T2" fmla="*/ 87 w 230"/>
                <a:gd name="T3" fmla="*/ 927 h 927"/>
                <a:gd name="T4" fmla="*/ 230 w 230"/>
                <a:gd name="T5" fmla="*/ 14 h 927"/>
                <a:gd name="T6" fmla="*/ 143 w 230"/>
                <a:gd name="T7" fmla="*/ 0 h 927"/>
                <a:gd name="T8" fmla="*/ 0 w 230"/>
                <a:gd name="T9" fmla="*/ 913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7">
                  <a:moveTo>
                    <a:pt x="0" y="913"/>
                  </a:moveTo>
                  <a:lnTo>
                    <a:pt x="87" y="927"/>
                  </a:lnTo>
                  <a:lnTo>
                    <a:pt x="230" y="14"/>
                  </a:lnTo>
                  <a:lnTo>
                    <a:pt x="143" y="0"/>
                  </a:lnTo>
                  <a:lnTo>
                    <a:pt x="0" y="913"/>
                  </a:ln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Rectangle 29"/>
            <p:cNvSpPr>
              <a:spLocks noChangeArrowheads="1"/>
            </p:cNvSpPr>
            <p:nvPr/>
          </p:nvSpPr>
          <p:spPr bwMode="auto">
            <a:xfrm>
              <a:off x="8863013" y="3833813"/>
              <a:ext cx="184150" cy="179863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Rectangle 30"/>
            <p:cNvSpPr>
              <a:spLocks noChangeArrowheads="1"/>
            </p:cNvSpPr>
            <p:nvPr/>
          </p:nvSpPr>
          <p:spPr bwMode="auto">
            <a:xfrm>
              <a:off x="9118600" y="3833813"/>
              <a:ext cx="184150" cy="179863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Rectangle 31"/>
            <p:cNvSpPr>
              <a:spLocks noChangeArrowheads="1"/>
            </p:cNvSpPr>
            <p:nvPr/>
          </p:nvSpPr>
          <p:spPr bwMode="auto">
            <a:xfrm>
              <a:off x="9378950" y="4165600"/>
              <a:ext cx="139700" cy="146685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32"/>
            <p:cNvSpPr/>
            <p:nvPr/>
          </p:nvSpPr>
          <p:spPr bwMode="auto">
            <a:xfrm>
              <a:off x="9540875" y="4164013"/>
              <a:ext cx="365125" cy="1470025"/>
            </a:xfrm>
            <a:custGeom>
              <a:avLst/>
              <a:gdLst>
                <a:gd name="T0" fmla="*/ 230 w 230"/>
                <a:gd name="T1" fmla="*/ 912 h 926"/>
                <a:gd name="T2" fmla="*/ 141 w 230"/>
                <a:gd name="T3" fmla="*/ 926 h 926"/>
                <a:gd name="T4" fmla="*/ 0 w 230"/>
                <a:gd name="T5" fmla="*/ 14 h 926"/>
                <a:gd name="T6" fmla="*/ 87 w 230"/>
                <a:gd name="T7" fmla="*/ 0 h 926"/>
                <a:gd name="T8" fmla="*/ 230 w 230"/>
                <a:gd name="T9" fmla="*/ 912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6">
                  <a:moveTo>
                    <a:pt x="230" y="912"/>
                  </a:moveTo>
                  <a:lnTo>
                    <a:pt x="141" y="926"/>
                  </a:lnTo>
                  <a:lnTo>
                    <a:pt x="0" y="14"/>
                  </a:lnTo>
                  <a:lnTo>
                    <a:pt x="87" y="0"/>
                  </a:lnTo>
                  <a:lnTo>
                    <a:pt x="230" y="912"/>
                  </a:ln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Rectangle 33"/>
            <p:cNvSpPr>
              <a:spLocks noChangeArrowheads="1"/>
            </p:cNvSpPr>
            <p:nvPr/>
          </p:nvSpPr>
          <p:spPr bwMode="auto">
            <a:xfrm>
              <a:off x="1428750" y="4200525"/>
              <a:ext cx="1466850" cy="311150"/>
            </a:xfrm>
            <a:prstGeom prst="rect">
              <a:avLst/>
            </a:pr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34"/>
            <p:cNvSpPr/>
            <p:nvPr/>
          </p:nvSpPr>
          <p:spPr bwMode="auto">
            <a:xfrm>
              <a:off x="1427163" y="4205288"/>
              <a:ext cx="1468438" cy="309563"/>
            </a:xfrm>
            <a:custGeom>
              <a:avLst/>
              <a:gdLst>
                <a:gd name="T0" fmla="*/ 0 w 925"/>
                <a:gd name="T1" fmla="*/ 195 h 195"/>
                <a:gd name="T2" fmla="*/ 0 w 925"/>
                <a:gd name="T3" fmla="*/ 0 h 195"/>
                <a:gd name="T4" fmla="*/ 925 w 925"/>
                <a:gd name="T5" fmla="*/ 0 h 195"/>
                <a:gd name="T6" fmla="*/ 0 w 925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5" h="195">
                  <a:moveTo>
                    <a:pt x="0" y="195"/>
                  </a:moveTo>
                  <a:lnTo>
                    <a:pt x="0" y="0"/>
                  </a:lnTo>
                  <a:lnTo>
                    <a:pt x="925" y="0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35"/>
            <p:cNvSpPr/>
            <p:nvPr/>
          </p:nvSpPr>
          <p:spPr bwMode="auto">
            <a:xfrm>
              <a:off x="1427163" y="4205288"/>
              <a:ext cx="1468438" cy="309563"/>
            </a:xfrm>
            <a:custGeom>
              <a:avLst/>
              <a:gdLst>
                <a:gd name="T0" fmla="*/ 0 w 925"/>
                <a:gd name="T1" fmla="*/ 195 h 195"/>
                <a:gd name="T2" fmla="*/ 0 w 925"/>
                <a:gd name="T3" fmla="*/ 0 h 195"/>
                <a:gd name="T4" fmla="*/ 925 w 925"/>
                <a:gd name="T5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5" h="195">
                  <a:moveTo>
                    <a:pt x="0" y="195"/>
                  </a:moveTo>
                  <a:lnTo>
                    <a:pt x="0" y="0"/>
                  </a:lnTo>
                  <a:lnTo>
                    <a:pt x="9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36"/>
            <p:cNvSpPr/>
            <p:nvPr/>
          </p:nvSpPr>
          <p:spPr bwMode="auto">
            <a:xfrm>
              <a:off x="1252538" y="4179888"/>
              <a:ext cx="1704975" cy="354013"/>
            </a:xfrm>
            <a:custGeom>
              <a:avLst/>
              <a:gdLst>
                <a:gd name="T0" fmla="*/ 926 w 935"/>
                <a:gd name="T1" fmla="*/ 179 h 194"/>
                <a:gd name="T2" fmla="*/ 416 w 935"/>
                <a:gd name="T3" fmla="*/ 179 h 194"/>
                <a:gd name="T4" fmla="*/ 146 w 935"/>
                <a:gd name="T5" fmla="*/ 179 h 194"/>
                <a:gd name="T6" fmla="*/ 71 w 935"/>
                <a:gd name="T7" fmla="*/ 168 h 194"/>
                <a:gd name="T8" fmla="*/ 42 w 935"/>
                <a:gd name="T9" fmla="*/ 58 h 194"/>
                <a:gd name="T10" fmla="*/ 114 w 935"/>
                <a:gd name="T11" fmla="*/ 16 h 194"/>
                <a:gd name="T12" fmla="*/ 652 w 935"/>
                <a:gd name="T13" fmla="*/ 16 h 194"/>
                <a:gd name="T14" fmla="*/ 926 w 935"/>
                <a:gd name="T15" fmla="*/ 16 h 194"/>
                <a:gd name="T16" fmla="*/ 926 w 935"/>
                <a:gd name="T17" fmla="*/ 2 h 194"/>
                <a:gd name="T18" fmla="*/ 416 w 935"/>
                <a:gd name="T19" fmla="*/ 2 h 194"/>
                <a:gd name="T20" fmla="*/ 146 w 935"/>
                <a:gd name="T21" fmla="*/ 2 h 194"/>
                <a:gd name="T22" fmla="*/ 78 w 935"/>
                <a:gd name="T23" fmla="*/ 8 h 194"/>
                <a:gd name="T24" fmla="*/ 55 w 935"/>
                <a:gd name="T25" fmla="*/ 174 h 194"/>
                <a:gd name="T26" fmla="*/ 136 w 935"/>
                <a:gd name="T27" fmla="*/ 194 h 194"/>
                <a:gd name="T28" fmla="*/ 238 w 935"/>
                <a:gd name="T29" fmla="*/ 194 h 194"/>
                <a:gd name="T30" fmla="*/ 569 w 935"/>
                <a:gd name="T31" fmla="*/ 194 h 194"/>
                <a:gd name="T32" fmla="*/ 926 w 935"/>
                <a:gd name="T33" fmla="*/ 194 h 194"/>
                <a:gd name="T34" fmla="*/ 926 w 935"/>
                <a:gd name="T35" fmla="*/ 179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5" h="194">
                  <a:moveTo>
                    <a:pt x="926" y="179"/>
                  </a:moveTo>
                  <a:cubicBezTo>
                    <a:pt x="756" y="179"/>
                    <a:pt x="586" y="179"/>
                    <a:pt x="416" y="179"/>
                  </a:cubicBezTo>
                  <a:cubicBezTo>
                    <a:pt x="326" y="179"/>
                    <a:pt x="236" y="179"/>
                    <a:pt x="146" y="179"/>
                  </a:cubicBezTo>
                  <a:cubicBezTo>
                    <a:pt x="120" y="179"/>
                    <a:pt x="95" y="182"/>
                    <a:pt x="71" y="168"/>
                  </a:cubicBezTo>
                  <a:cubicBezTo>
                    <a:pt x="33" y="146"/>
                    <a:pt x="24" y="95"/>
                    <a:pt x="42" y="58"/>
                  </a:cubicBezTo>
                  <a:cubicBezTo>
                    <a:pt x="56" y="31"/>
                    <a:pt x="85" y="16"/>
                    <a:pt x="114" y="16"/>
                  </a:cubicBezTo>
                  <a:cubicBezTo>
                    <a:pt x="293" y="16"/>
                    <a:pt x="473" y="16"/>
                    <a:pt x="652" y="16"/>
                  </a:cubicBezTo>
                  <a:cubicBezTo>
                    <a:pt x="743" y="16"/>
                    <a:pt x="834" y="16"/>
                    <a:pt x="926" y="16"/>
                  </a:cubicBezTo>
                  <a:cubicBezTo>
                    <a:pt x="935" y="16"/>
                    <a:pt x="935" y="2"/>
                    <a:pt x="926" y="2"/>
                  </a:cubicBezTo>
                  <a:cubicBezTo>
                    <a:pt x="756" y="2"/>
                    <a:pt x="586" y="2"/>
                    <a:pt x="416" y="2"/>
                  </a:cubicBezTo>
                  <a:cubicBezTo>
                    <a:pt x="326" y="2"/>
                    <a:pt x="236" y="2"/>
                    <a:pt x="146" y="2"/>
                  </a:cubicBezTo>
                  <a:cubicBezTo>
                    <a:pt x="123" y="2"/>
                    <a:pt x="100" y="0"/>
                    <a:pt x="78" y="8"/>
                  </a:cubicBezTo>
                  <a:cubicBezTo>
                    <a:pt x="9" y="34"/>
                    <a:pt x="0" y="130"/>
                    <a:pt x="55" y="174"/>
                  </a:cubicBezTo>
                  <a:cubicBezTo>
                    <a:pt x="79" y="193"/>
                    <a:pt x="107" y="194"/>
                    <a:pt x="136" y="194"/>
                  </a:cubicBezTo>
                  <a:cubicBezTo>
                    <a:pt x="170" y="194"/>
                    <a:pt x="204" y="194"/>
                    <a:pt x="238" y="194"/>
                  </a:cubicBezTo>
                  <a:cubicBezTo>
                    <a:pt x="348" y="194"/>
                    <a:pt x="458" y="194"/>
                    <a:pt x="569" y="194"/>
                  </a:cubicBezTo>
                  <a:cubicBezTo>
                    <a:pt x="688" y="194"/>
                    <a:pt x="807" y="194"/>
                    <a:pt x="926" y="194"/>
                  </a:cubicBezTo>
                  <a:cubicBezTo>
                    <a:pt x="935" y="194"/>
                    <a:pt x="935" y="179"/>
                    <a:pt x="926" y="179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37"/>
            <p:cNvSpPr/>
            <p:nvPr/>
          </p:nvSpPr>
          <p:spPr bwMode="auto">
            <a:xfrm>
              <a:off x="1482725" y="4325938"/>
              <a:ext cx="122238" cy="247650"/>
            </a:xfrm>
            <a:custGeom>
              <a:avLst/>
              <a:gdLst>
                <a:gd name="T0" fmla="*/ 77 w 77"/>
                <a:gd name="T1" fmla="*/ 156 h 156"/>
                <a:gd name="T2" fmla="*/ 39 w 77"/>
                <a:gd name="T3" fmla="*/ 127 h 156"/>
                <a:gd name="T4" fmla="*/ 0 w 77"/>
                <a:gd name="T5" fmla="*/ 156 h 156"/>
                <a:gd name="T6" fmla="*/ 0 w 77"/>
                <a:gd name="T7" fmla="*/ 0 h 156"/>
                <a:gd name="T8" fmla="*/ 77 w 77"/>
                <a:gd name="T9" fmla="*/ 0 h 156"/>
                <a:gd name="T10" fmla="*/ 77 w 77"/>
                <a:gd name="T11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156">
                  <a:moveTo>
                    <a:pt x="77" y="156"/>
                  </a:moveTo>
                  <a:lnTo>
                    <a:pt x="39" y="127"/>
                  </a:lnTo>
                  <a:lnTo>
                    <a:pt x="0" y="156"/>
                  </a:lnTo>
                  <a:lnTo>
                    <a:pt x="0" y="0"/>
                  </a:lnTo>
                  <a:lnTo>
                    <a:pt x="77" y="0"/>
                  </a:lnTo>
                  <a:lnTo>
                    <a:pt x="77" y="156"/>
                  </a:ln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Rectangle 38"/>
            <p:cNvSpPr>
              <a:spLocks noChangeArrowheads="1"/>
            </p:cNvSpPr>
            <p:nvPr/>
          </p:nvSpPr>
          <p:spPr bwMode="auto">
            <a:xfrm>
              <a:off x="2932113" y="4992688"/>
              <a:ext cx="36513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Rectangle 39"/>
            <p:cNvSpPr>
              <a:spLocks noChangeArrowheads="1"/>
            </p:cNvSpPr>
            <p:nvPr/>
          </p:nvSpPr>
          <p:spPr bwMode="auto">
            <a:xfrm>
              <a:off x="3009900" y="4992688"/>
              <a:ext cx="133350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Rectangle 40"/>
            <p:cNvSpPr>
              <a:spLocks noChangeArrowheads="1"/>
            </p:cNvSpPr>
            <p:nvPr/>
          </p:nvSpPr>
          <p:spPr bwMode="auto">
            <a:xfrm>
              <a:off x="1468438" y="4992688"/>
              <a:ext cx="1423988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Rectangle 41"/>
            <p:cNvSpPr>
              <a:spLocks noChangeArrowheads="1"/>
            </p:cNvSpPr>
            <p:nvPr/>
          </p:nvSpPr>
          <p:spPr bwMode="auto">
            <a:xfrm>
              <a:off x="1284288" y="4992688"/>
              <a:ext cx="112713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Rectangle 42"/>
            <p:cNvSpPr>
              <a:spLocks noChangeArrowheads="1"/>
            </p:cNvSpPr>
            <p:nvPr/>
          </p:nvSpPr>
          <p:spPr bwMode="auto">
            <a:xfrm>
              <a:off x="2932113" y="4606925"/>
              <a:ext cx="36513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Rectangle 43"/>
            <p:cNvSpPr>
              <a:spLocks noChangeArrowheads="1"/>
            </p:cNvSpPr>
            <p:nvPr/>
          </p:nvSpPr>
          <p:spPr bwMode="auto">
            <a:xfrm>
              <a:off x="1284288" y="4606925"/>
              <a:ext cx="112713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Rectangle 44"/>
            <p:cNvSpPr>
              <a:spLocks noChangeArrowheads="1"/>
            </p:cNvSpPr>
            <p:nvPr/>
          </p:nvSpPr>
          <p:spPr bwMode="auto">
            <a:xfrm>
              <a:off x="3009900" y="4606925"/>
              <a:ext cx="133350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Rectangle 45"/>
            <p:cNvSpPr>
              <a:spLocks noChangeArrowheads="1"/>
            </p:cNvSpPr>
            <p:nvPr/>
          </p:nvSpPr>
          <p:spPr bwMode="auto">
            <a:xfrm>
              <a:off x="1468438" y="4606925"/>
              <a:ext cx="1423988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Rectangle 46"/>
            <p:cNvSpPr>
              <a:spLocks noChangeArrowheads="1"/>
            </p:cNvSpPr>
            <p:nvPr/>
          </p:nvSpPr>
          <p:spPr bwMode="auto">
            <a:xfrm>
              <a:off x="5594350" y="3432175"/>
              <a:ext cx="236538" cy="285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Rectangle 47"/>
            <p:cNvSpPr>
              <a:spLocks noChangeArrowheads="1"/>
            </p:cNvSpPr>
            <p:nvPr/>
          </p:nvSpPr>
          <p:spPr bwMode="auto">
            <a:xfrm>
              <a:off x="5594350" y="4641850"/>
              <a:ext cx="236538" cy="8572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Rectangle 48"/>
            <p:cNvSpPr>
              <a:spLocks noChangeArrowheads="1"/>
            </p:cNvSpPr>
            <p:nvPr/>
          </p:nvSpPr>
          <p:spPr bwMode="auto">
            <a:xfrm>
              <a:off x="5594350" y="3297238"/>
              <a:ext cx="236538" cy="103188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Rectangle 49"/>
            <p:cNvSpPr>
              <a:spLocks noChangeArrowheads="1"/>
            </p:cNvSpPr>
            <p:nvPr/>
          </p:nvSpPr>
          <p:spPr bwMode="auto">
            <a:xfrm>
              <a:off x="5594350" y="3490913"/>
              <a:ext cx="236538" cy="1093788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Rectangle 50"/>
            <p:cNvSpPr>
              <a:spLocks noChangeArrowheads="1"/>
            </p:cNvSpPr>
            <p:nvPr/>
          </p:nvSpPr>
          <p:spPr bwMode="auto">
            <a:xfrm>
              <a:off x="5907088" y="4545013"/>
              <a:ext cx="271463" cy="301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Rectangle 51"/>
            <p:cNvSpPr>
              <a:spLocks noChangeArrowheads="1"/>
            </p:cNvSpPr>
            <p:nvPr/>
          </p:nvSpPr>
          <p:spPr bwMode="auto">
            <a:xfrm>
              <a:off x="5907088" y="4611688"/>
              <a:ext cx="271463" cy="1190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Rectangle 52"/>
            <p:cNvSpPr>
              <a:spLocks noChangeArrowheads="1"/>
            </p:cNvSpPr>
            <p:nvPr/>
          </p:nvSpPr>
          <p:spPr bwMode="auto">
            <a:xfrm>
              <a:off x="5907088" y="3246438"/>
              <a:ext cx="271463" cy="12620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Rectangle 53"/>
            <p:cNvSpPr>
              <a:spLocks noChangeArrowheads="1"/>
            </p:cNvSpPr>
            <p:nvPr/>
          </p:nvSpPr>
          <p:spPr bwMode="auto">
            <a:xfrm>
              <a:off x="5907088" y="3084513"/>
              <a:ext cx="271463" cy="10001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Rectangle 54"/>
            <p:cNvSpPr>
              <a:spLocks noChangeArrowheads="1"/>
            </p:cNvSpPr>
            <p:nvPr/>
          </p:nvSpPr>
          <p:spPr bwMode="auto">
            <a:xfrm>
              <a:off x="6529388" y="3216275"/>
              <a:ext cx="276225" cy="3175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Rectangle 55"/>
            <p:cNvSpPr>
              <a:spLocks noChangeArrowheads="1"/>
            </p:cNvSpPr>
            <p:nvPr/>
          </p:nvSpPr>
          <p:spPr bwMode="auto">
            <a:xfrm>
              <a:off x="6529388" y="4629150"/>
              <a:ext cx="276225" cy="100013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Rectangle 56"/>
            <p:cNvSpPr>
              <a:spLocks noChangeArrowheads="1"/>
            </p:cNvSpPr>
            <p:nvPr/>
          </p:nvSpPr>
          <p:spPr bwMode="auto">
            <a:xfrm>
              <a:off x="6529388" y="3059113"/>
              <a:ext cx="276225" cy="12065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Rectangle 57"/>
            <p:cNvSpPr>
              <a:spLocks noChangeArrowheads="1"/>
            </p:cNvSpPr>
            <p:nvPr/>
          </p:nvSpPr>
          <p:spPr bwMode="auto">
            <a:xfrm>
              <a:off x="6529388" y="3284538"/>
              <a:ext cx="276225" cy="12779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Rectangle 58"/>
            <p:cNvSpPr>
              <a:spLocks noChangeArrowheads="1"/>
            </p:cNvSpPr>
            <p:nvPr/>
          </p:nvSpPr>
          <p:spPr bwMode="auto">
            <a:xfrm>
              <a:off x="6280150" y="4630738"/>
              <a:ext cx="193675" cy="10318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Rectangle 59"/>
            <p:cNvSpPr>
              <a:spLocks noChangeArrowheads="1"/>
            </p:cNvSpPr>
            <p:nvPr/>
          </p:nvSpPr>
          <p:spPr bwMode="auto">
            <a:xfrm>
              <a:off x="6280150" y="3290888"/>
              <a:ext cx="193675" cy="123507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Rectangle 60"/>
            <p:cNvSpPr>
              <a:spLocks noChangeArrowheads="1"/>
            </p:cNvSpPr>
            <p:nvPr/>
          </p:nvSpPr>
          <p:spPr bwMode="auto">
            <a:xfrm>
              <a:off x="6280150" y="4557713"/>
              <a:ext cx="193675" cy="4127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Freeform 61"/>
            <p:cNvSpPr/>
            <p:nvPr/>
          </p:nvSpPr>
          <p:spPr bwMode="auto">
            <a:xfrm>
              <a:off x="1588" y="4860925"/>
              <a:ext cx="10031413" cy="1852613"/>
            </a:xfrm>
            <a:custGeom>
              <a:avLst/>
              <a:gdLst>
                <a:gd name="T0" fmla="*/ 1843 w 6319"/>
                <a:gd name="T1" fmla="*/ 1167 h 1167"/>
                <a:gd name="T2" fmla="*/ 1843 w 6319"/>
                <a:gd name="T3" fmla="*/ 502 h 1167"/>
                <a:gd name="T4" fmla="*/ 0 w 6319"/>
                <a:gd name="T5" fmla="*/ 502 h 1167"/>
                <a:gd name="T6" fmla="*/ 0 w 6319"/>
                <a:gd name="T7" fmla="*/ 375 h 1167"/>
                <a:gd name="T8" fmla="*/ 1971 w 6319"/>
                <a:gd name="T9" fmla="*/ 375 h 1167"/>
                <a:gd name="T10" fmla="*/ 1971 w 6319"/>
                <a:gd name="T11" fmla="*/ 1039 h 1167"/>
                <a:gd name="T12" fmla="*/ 3428 w 6319"/>
                <a:gd name="T13" fmla="*/ 1039 h 1167"/>
                <a:gd name="T14" fmla="*/ 3428 w 6319"/>
                <a:gd name="T15" fmla="*/ 0 h 1167"/>
                <a:gd name="T16" fmla="*/ 5481 w 6319"/>
                <a:gd name="T17" fmla="*/ 0 h 1167"/>
                <a:gd name="T18" fmla="*/ 5481 w 6319"/>
                <a:gd name="T19" fmla="*/ 562 h 1167"/>
                <a:gd name="T20" fmla="*/ 6319 w 6319"/>
                <a:gd name="T21" fmla="*/ 562 h 1167"/>
                <a:gd name="T22" fmla="*/ 6319 w 6319"/>
                <a:gd name="T23" fmla="*/ 689 h 1167"/>
                <a:gd name="T24" fmla="*/ 5353 w 6319"/>
                <a:gd name="T25" fmla="*/ 689 h 1167"/>
                <a:gd name="T26" fmla="*/ 5353 w 6319"/>
                <a:gd name="T27" fmla="*/ 128 h 1167"/>
                <a:gd name="T28" fmla="*/ 3556 w 6319"/>
                <a:gd name="T29" fmla="*/ 128 h 1167"/>
                <a:gd name="T30" fmla="*/ 3556 w 6319"/>
                <a:gd name="T31" fmla="*/ 1167 h 1167"/>
                <a:gd name="T32" fmla="*/ 1843 w 6319"/>
                <a:gd name="T33" fmla="*/ 1167 h 1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19" h="1167">
                  <a:moveTo>
                    <a:pt x="1843" y="1167"/>
                  </a:moveTo>
                  <a:lnTo>
                    <a:pt x="1843" y="502"/>
                  </a:lnTo>
                  <a:lnTo>
                    <a:pt x="0" y="502"/>
                  </a:lnTo>
                  <a:lnTo>
                    <a:pt x="0" y="375"/>
                  </a:lnTo>
                  <a:lnTo>
                    <a:pt x="1971" y="375"/>
                  </a:lnTo>
                  <a:lnTo>
                    <a:pt x="1971" y="1039"/>
                  </a:lnTo>
                  <a:lnTo>
                    <a:pt x="3428" y="1039"/>
                  </a:lnTo>
                  <a:lnTo>
                    <a:pt x="3428" y="0"/>
                  </a:lnTo>
                  <a:lnTo>
                    <a:pt x="5481" y="0"/>
                  </a:lnTo>
                  <a:lnTo>
                    <a:pt x="5481" y="562"/>
                  </a:lnTo>
                  <a:lnTo>
                    <a:pt x="6319" y="562"/>
                  </a:lnTo>
                  <a:lnTo>
                    <a:pt x="6319" y="689"/>
                  </a:lnTo>
                  <a:lnTo>
                    <a:pt x="5353" y="689"/>
                  </a:lnTo>
                  <a:lnTo>
                    <a:pt x="5353" y="128"/>
                  </a:lnTo>
                  <a:lnTo>
                    <a:pt x="3556" y="128"/>
                  </a:lnTo>
                  <a:lnTo>
                    <a:pt x="3556" y="1167"/>
                  </a:lnTo>
                  <a:lnTo>
                    <a:pt x="1843" y="1167"/>
                  </a:lnTo>
                  <a:close/>
                </a:path>
              </a:pathLst>
            </a:cu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1601392" y="1383506"/>
            <a:ext cx="2915840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1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抽样分布</a:t>
            </a: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1871663" y="1815704"/>
            <a:ext cx="5086350" cy="1489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统计量是样本的函数，而样本是随机变量，故统计量也是随机变量，因而就有一定的分布，它的分布称为</a:t>
            </a:r>
            <a:r>
              <a:rPr kumimoji="0" lang="zh-CN" altLang="en-US" sz="2100" b="1">
                <a:solidFill>
                  <a:srgbClr val="0000FF"/>
                </a:solidFill>
                <a:ea typeface="楷体_GB2312" pitchFamily="49" charset="-122"/>
              </a:rPr>
              <a:t>“</a:t>
            </a:r>
            <a:r>
              <a:rPr kumimoji="0" lang="zh-CN" altLang="en-US" sz="21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抽样分布</a:t>
            </a:r>
            <a:r>
              <a:rPr kumimoji="0" lang="zh-CN" altLang="en-US" sz="2100" b="1">
                <a:solidFill>
                  <a:srgbClr val="0000FF"/>
                </a:solidFill>
                <a:ea typeface="楷体_GB2312" pitchFamily="49" charset="-122"/>
              </a:rPr>
              <a:t>”</a:t>
            </a:r>
            <a:r>
              <a:rPr kumimoji="0" lang="zh-CN" altLang="en-US" sz="21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0" lang="en-US" altLang="zh-CN" sz="2100">
                <a:latin typeface="楷体_GB2312" pitchFamily="49" charset="-122"/>
                <a:ea typeface="楷体_GB2312" pitchFamily="49" charset="-122"/>
              </a:rPr>
              <a:t>        </a:t>
            </a:r>
          </a:p>
        </p:txBody>
      </p:sp>
      <p:sp>
        <p:nvSpPr>
          <p:cNvPr id="205828" name="Text Box 4"/>
          <p:cNvSpPr txBox="1">
            <a:spLocks noChangeArrowheads="1"/>
          </p:cNvSpPr>
          <p:nvPr/>
        </p:nvSpPr>
        <p:spPr bwMode="auto">
          <a:xfrm>
            <a:off x="1277541" y="614051"/>
            <a:ext cx="685800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sz="27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二、统计学中三个常用分布和上</a:t>
            </a:r>
            <a:r>
              <a:rPr lang="el-GR" altLang="en-US" sz="27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α</a:t>
            </a:r>
            <a:r>
              <a:rPr lang="zh-CN" altLang="en-US" sz="27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分位点</a:t>
            </a:r>
          </a:p>
        </p:txBody>
      </p:sp>
      <p:sp>
        <p:nvSpPr>
          <p:cNvPr id="205829" name="Rectangle 5"/>
          <p:cNvSpPr>
            <a:spLocks noChangeArrowheads="1"/>
          </p:cNvSpPr>
          <p:nvPr/>
        </p:nvSpPr>
        <p:spPr bwMode="auto">
          <a:xfrm>
            <a:off x="1980010" y="3543300"/>
            <a:ext cx="55626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下面介绍三个来自正态总体的抽样分布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 autoUpdateAnimBg="0"/>
      <p:bldP spid="205827" grpId="0" autoUpdateAnimBg="0"/>
      <p:bldP spid="205828" grpId="0" autoUpdateAnimBg="0"/>
      <p:bldP spid="20582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8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951560" y="411956"/>
            <a:ext cx="3240881" cy="5667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charset="-122"/>
              </a:rPr>
              <a:t>1.2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charset="-122"/>
              </a:rPr>
              <a:t>抽样分布</a:t>
            </a:r>
            <a:endParaRPr lang="zh-CN" altLang="en-US" sz="3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18150" name="Text Box 6"/>
          <p:cNvSpPr txBox="1">
            <a:spLocks noChangeArrowheads="1"/>
          </p:cNvSpPr>
          <p:nvPr/>
        </p:nvSpPr>
        <p:spPr bwMode="auto">
          <a:xfrm>
            <a:off x="1439466" y="1248966"/>
            <a:ext cx="6588919" cy="2580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>
                <a:schemeClr val="tx1"/>
              </a:buClr>
              <a:buSzPct val="80000"/>
            </a:pPr>
            <a:r>
              <a:rPr kumimoji="1" lang="zh-CN" altLang="en-US" sz="21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一 </a:t>
            </a:r>
            <a:r>
              <a:rPr kumimoji="1" lang="zh-CN" altLang="en-US" sz="2400" b="1" i="1" u="sng" dirty="0">
                <a:solidFill>
                  <a:srgbClr val="0000FF"/>
                </a:solidFill>
                <a:sym typeface="Symbol" panose="05050102010706020507" pitchFamily="18" charset="2"/>
              </a:rPr>
              <a:t> </a:t>
            </a:r>
            <a:r>
              <a:rPr kumimoji="1" lang="en-US" altLang="zh-CN" sz="2400" b="1" u="sng" baseline="300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en-US" sz="2400" b="1" u="sng" dirty="0">
                <a:solidFill>
                  <a:srgbClr val="0000FF"/>
                </a:solidFill>
                <a:ea typeface="楷体_GB2312" pitchFamily="49" charset="-122"/>
              </a:rPr>
              <a:t>分布</a:t>
            </a:r>
            <a:endParaRPr kumimoji="1" lang="zh-CN" altLang="en-US" sz="2100" b="1" u="sng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SzPct val="80000"/>
            </a:pPr>
            <a:r>
              <a:rPr kumimoji="1"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二 </a:t>
            </a:r>
            <a:r>
              <a:rPr kumimoji="1" lang="en-US" altLang="zh-CN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kumimoji="1"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SzPct val="80000"/>
            </a:pPr>
            <a:r>
              <a:rPr kumimoji="1"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kumimoji="1" lang="en-US" altLang="zh-CN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SzPct val="80000"/>
            </a:pPr>
            <a:r>
              <a:rPr kumimoji="1" lang="zh-CN" altLang="en-US" sz="225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四 正态总体的样本均值和样本方差的分布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SzPct val="80000"/>
            </a:pPr>
            <a:r>
              <a:rPr kumimoji="1" lang="zh-CN" altLang="en-US" sz="225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五 顺序统计量的分布</a:t>
            </a:r>
            <a:r>
              <a:rPr kumimoji="1" lang="zh-CN" altLang="en-US" sz="2400" b="1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4261247" y="2494360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4061222" y="2491979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aphicFrame>
        <p:nvGraphicFramePr>
          <p:cNvPr id="206852" name="Object 4"/>
          <p:cNvGraphicFramePr>
            <a:graphicFrameLocks noChangeAspect="1"/>
          </p:cNvGraphicFramePr>
          <p:nvPr/>
        </p:nvGraphicFramePr>
        <p:xfrm>
          <a:off x="3168253" y="3975497"/>
          <a:ext cx="1804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00100" imgH="228600" progId="Equation.3">
                  <p:embed/>
                </p:oleObj>
              </mc:Choice>
              <mc:Fallback>
                <p:oleObj r:id="rId2" imgW="800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253" y="3975497"/>
                        <a:ext cx="1804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853" name="Group 5"/>
          <p:cNvGrpSpPr/>
          <p:nvPr/>
        </p:nvGrpSpPr>
        <p:grpSpPr bwMode="auto">
          <a:xfrm>
            <a:off x="1439467" y="681038"/>
            <a:ext cx="2250281" cy="576263"/>
            <a:chOff x="0" y="0"/>
            <a:chExt cx="1398" cy="484"/>
          </a:xfrm>
        </p:grpSpPr>
        <p:grpSp>
          <p:nvGrpSpPr>
            <p:cNvPr id="35854" name="Group 6"/>
            <p:cNvGrpSpPr/>
            <p:nvPr/>
          </p:nvGrpSpPr>
          <p:grpSpPr bwMode="auto">
            <a:xfrm>
              <a:off x="390" y="0"/>
              <a:ext cx="1008" cy="436"/>
              <a:chOff x="0" y="0"/>
              <a:chExt cx="1008" cy="436"/>
            </a:xfrm>
          </p:grpSpPr>
          <p:graphicFrame>
            <p:nvGraphicFramePr>
              <p:cNvPr id="35856" name="Object 7"/>
              <p:cNvGraphicFramePr>
                <a:graphicFrameLocks noChangeAspect="1"/>
              </p:cNvGraphicFramePr>
              <p:nvPr/>
            </p:nvGraphicFramePr>
            <p:xfrm>
              <a:off x="0" y="0"/>
              <a:ext cx="381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203200" imgH="228600" progId="Equation.3">
                      <p:embed/>
                    </p:oleObj>
                  </mc:Choice>
                  <mc:Fallback>
                    <p:oleObj r:id="rId4" imgW="203200" imgH="2286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81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57" name="Rectangle 8"/>
              <p:cNvSpPr>
                <a:spLocks noChangeArrowheads="1"/>
              </p:cNvSpPr>
              <p:nvPr/>
            </p:nvSpPr>
            <p:spPr bwMode="auto">
              <a:xfrm>
                <a:off x="378" y="48"/>
                <a:ext cx="630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3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zh-CN" altLang="en-US" b="1">
                    <a:latin typeface="宋体" panose="02010600030101010101" pitchFamily="2" charset="-122"/>
                  </a:rPr>
                  <a:t>分布</a:t>
                </a:r>
              </a:p>
            </p:txBody>
          </p:sp>
        </p:grpSp>
        <p:sp>
          <p:nvSpPr>
            <p:cNvPr id="35855" name="Rectangle 9"/>
            <p:cNvSpPr>
              <a:spLocks noChangeArrowheads="1"/>
            </p:cNvSpPr>
            <p:nvPr/>
          </p:nvSpPr>
          <p:spPr bwMode="auto">
            <a:xfrm>
              <a:off x="0" y="96"/>
              <a:ext cx="40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b="1"/>
                <a:t>1</a:t>
              </a:r>
              <a:r>
                <a:rPr kumimoji="0" lang="zh-CN" altLang="en-US" b="1"/>
                <a:t>、</a:t>
              </a:r>
            </a:p>
          </p:txBody>
        </p:sp>
      </p:grpSp>
      <p:grpSp>
        <p:nvGrpSpPr>
          <p:cNvPr id="206858" name="Group 10"/>
          <p:cNvGrpSpPr/>
          <p:nvPr/>
        </p:nvGrpSpPr>
        <p:grpSpPr bwMode="auto">
          <a:xfrm>
            <a:off x="1143000" y="1420845"/>
            <a:ext cx="6858000" cy="461963"/>
            <a:chOff x="0" y="1"/>
            <a:chExt cx="5444" cy="388"/>
          </a:xfrm>
        </p:grpSpPr>
        <p:sp>
          <p:nvSpPr>
            <p:cNvPr id="206859" name="Text Box 11"/>
            <p:cNvSpPr txBox="1">
              <a:spLocks noChangeArrowheads="1"/>
            </p:cNvSpPr>
            <p:nvPr/>
          </p:nvSpPr>
          <p:spPr bwMode="auto">
            <a:xfrm>
              <a:off x="0" y="1"/>
              <a:ext cx="5444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  <a:defRPr/>
              </a:pPr>
              <a:r>
                <a:rPr lang="zh-CN" altLang="en-US" sz="24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定义</a:t>
              </a:r>
              <a:r>
                <a:rPr lang="en-US" altLang="zh-CN" sz="24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:</a:t>
              </a:r>
              <a:r>
                <a:rPr lang="en-US" altLang="zh-CN" sz="2400" b="1" dirty="0"/>
                <a:t> </a:t>
              </a:r>
              <a:r>
                <a:rPr lang="zh-CN" altLang="en-US" sz="2100" b="1" dirty="0">
                  <a:latin typeface="楷体_GB2312" pitchFamily="49" charset="-122"/>
                  <a:ea typeface="楷体_GB2312" pitchFamily="49" charset="-122"/>
                </a:rPr>
                <a:t>设             相互独立</a:t>
              </a:r>
              <a:r>
                <a:rPr lang="en-US" altLang="zh-CN" sz="2100" b="1" dirty="0"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100" b="1" dirty="0">
                  <a:latin typeface="楷体_GB2312" pitchFamily="49" charset="-122"/>
                  <a:ea typeface="楷体_GB2312" pitchFamily="49" charset="-122"/>
                </a:rPr>
                <a:t>都服从标准正态分布</a:t>
              </a:r>
            </a:p>
          </p:txBody>
        </p:sp>
        <p:graphicFrame>
          <p:nvGraphicFramePr>
            <p:cNvPr id="35853" name="Object 12"/>
            <p:cNvGraphicFramePr>
              <a:graphicFrameLocks noChangeAspect="1"/>
            </p:cNvGraphicFramePr>
            <p:nvPr/>
          </p:nvGraphicFramePr>
          <p:xfrm>
            <a:off x="836" y="43"/>
            <a:ext cx="136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952500" imgH="228600" progId="Equation.3">
                    <p:embed/>
                  </p:oleObj>
                </mc:Choice>
                <mc:Fallback>
                  <p:oleObj r:id="rId6" imgW="9525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43"/>
                          <a:ext cx="136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6861" name="Object 13"/>
          <p:cNvGraphicFramePr>
            <a:graphicFrameLocks noChangeAspect="1"/>
          </p:cNvGraphicFramePr>
          <p:nvPr/>
        </p:nvGraphicFramePr>
        <p:xfrm>
          <a:off x="2412207" y="2680098"/>
          <a:ext cx="3456385" cy="526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26565" imgH="254000" progId="Equation.3">
                  <p:embed/>
                </p:oleObj>
              </mc:Choice>
              <mc:Fallback>
                <p:oleObj r:id="rId8" imgW="1726565" imgH="254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207" y="2680098"/>
                        <a:ext cx="3456385" cy="526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2" name="Rectangle 14"/>
          <p:cNvSpPr>
            <a:spLocks noChangeArrowheads="1"/>
          </p:cNvSpPr>
          <p:nvPr/>
        </p:nvSpPr>
        <p:spPr bwMode="auto">
          <a:xfrm>
            <a:off x="1331119" y="2085975"/>
            <a:ext cx="40815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>
                <a:ea typeface="楷体_GB2312" pitchFamily="49" charset="-122"/>
              </a:rPr>
              <a:t>(0,1),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则称随机变量：</a:t>
            </a:r>
            <a:r>
              <a:rPr kumimoji="0" lang="zh-CN" altLang="en-US" b="1"/>
              <a:t>               </a:t>
            </a:r>
          </a:p>
        </p:txBody>
      </p:sp>
      <p:grpSp>
        <p:nvGrpSpPr>
          <p:cNvPr id="206863" name="Group 15"/>
          <p:cNvGrpSpPr/>
          <p:nvPr/>
        </p:nvGrpSpPr>
        <p:grpSpPr bwMode="auto">
          <a:xfrm>
            <a:off x="1385888" y="3381375"/>
            <a:ext cx="5299472" cy="470297"/>
            <a:chOff x="0" y="0"/>
            <a:chExt cx="4451" cy="395"/>
          </a:xfrm>
        </p:grpSpPr>
        <p:sp>
          <p:nvSpPr>
            <p:cNvPr id="35850" name="Rectangle 16"/>
            <p:cNvSpPr>
              <a:spLocks noChangeArrowheads="1"/>
            </p:cNvSpPr>
            <p:nvPr/>
          </p:nvSpPr>
          <p:spPr bwMode="auto">
            <a:xfrm>
              <a:off x="0" y="46"/>
              <a:ext cx="4451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所服从的分布为自由度为</a:t>
              </a:r>
              <a:r>
                <a:rPr kumimoji="0" lang="zh-CN" altLang="en-US" sz="2100" b="1" i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en-US" altLang="zh-CN" sz="2100" b="1" i="1">
                  <a:ea typeface="楷体_GB2312" pitchFamily="49" charset="-122"/>
                </a:rPr>
                <a:t>n</a:t>
              </a:r>
              <a:r>
                <a:rPr kumimoji="0" lang="en-US" altLang="zh-CN" sz="2100" b="1">
                  <a:ea typeface="楷体_GB2312" pitchFamily="49" charset="-122"/>
                </a:rPr>
                <a:t> </a:t>
              </a: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的   分布，记为</a:t>
              </a:r>
            </a:p>
          </p:txBody>
        </p:sp>
        <p:graphicFrame>
          <p:nvGraphicFramePr>
            <p:cNvPr id="35851" name="Object 17"/>
            <p:cNvGraphicFramePr>
              <a:graphicFrameLocks noChangeAspect="1"/>
            </p:cNvGraphicFramePr>
            <p:nvPr/>
          </p:nvGraphicFramePr>
          <p:xfrm>
            <a:off x="3084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03200" imgH="228600" progId="Equation.3">
                    <p:embed/>
                  </p:oleObj>
                </mc:Choice>
                <mc:Fallback>
                  <p:oleObj r:id="rId10" imgW="2032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4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6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874" name="Group 2"/>
          <p:cNvGrpSpPr/>
          <p:nvPr/>
        </p:nvGrpSpPr>
        <p:grpSpPr bwMode="auto">
          <a:xfrm>
            <a:off x="1656160" y="250031"/>
            <a:ext cx="2862263" cy="457200"/>
            <a:chOff x="0" y="0"/>
            <a:chExt cx="2156" cy="384"/>
          </a:xfrm>
        </p:grpSpPr>
        <p:graphicFrame>
          <p:nvGraphicFramePr>
            <p:cNvPr id="36879" name="Object 3"/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03200" imgH="228600" progId="Equation.3">
                    <p:embed/>
                  </p:oleObj>
                </mc:Choice>
                <mc:Fallback>
                  <p:oleObj r:id="rId2" imgW="203200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0" name="Rectangle 4"/>
            <p:cNvSpPr>
              <a:spLocks noChangeArrowheads="1"/>
            </p:cNvSpPr>
            <p:nvPr/>
          </p:nvSpPr>
          <p:spPr bwMode="auto">
            <a:xfrm>
              <a:off x="240" y="33"/>
              <a:ext cx="1916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分布的概率密度为</a:t>
              </a:r>
            </a:p>
          </p:txBody>
        </p:sp>
      </p:grpSp>
      <p:sp>
        <p:nvSpPr>
          <p:cNvPr id="36867" name="Rectangle 5"/>
          <p:cNvSpPr>
            <a:spLocks noChangeArrowheads="1"/>
          </p:cNvSpPr>
          <p:nvPr/>
        </p:nvSpPr>
        <p:spPr bwMode="auto">
          <a:xfrm>
            <a:off x="3961210" y="2343150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aphicFrame>
        <p:nvGraphicFramePr>
          <p:cNvPr id="207878" name="Object 6"/>
          <p:cNvGraphicFramePr>
            <a:graphicFrameLocks noChangeAspect="1"/>
          </p:cNvGraphicFramePr>
          <p:nvPr/>
        </p:nvGraphicFramePr>
        <p:xfrm>
          <a:off x="1966913" y="789385"/>
          <a:ext cx="4648200" cy="134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10130" imgH="660400" progId="Equation.3">
                  <p:embed/>
                </p:oleObj>
              </mc:Choice>
              <mc:Fallback>
                <p:oleObj r:id="rId4" imgW="2310130" imgH="660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789385"/>
                        <a:ext cx="4648200" cy="1345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4143375" y="2451497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pSp>
        <p:nvGrpSpPr>
          <p:cNvPr id="207880" name="Group 8"/>
          <p:cNvGrpSpPr/>
          <p:nvPr/>
        </p:nvGrpSpPr>
        <p:grpSpPr bwMode="auto">
          <a:xfrm>
            <a:off x="1385888" y="2247900"/>
            <a:ext cx="6192755" cy="900114"/>
            <a:chOff x="0" y="0"/>
            <a:chExt cx="5042" cy="756"/>
          </a:xfrm>
        </p:grpSpPr>
        <p:sp>
          <p:nvSpPr>
            <p:cNvPr id="36874" name="Rectangle 9"/>
            <p:cNvSpPr>
              <a:spLocks noChangeArrowheads="1"/>
            </p:cNvSpPr>
            <p:nvPr/>
          </p:nvSpPr>
          <p:spPr bwMode="auto">
            <a:xfrm>
              <a:off x="4672" y="136"/>
              <a:ext cx="37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在</a:t>
              </a:r>
            </a:p>
          </p:txBody>
        </p:sp>
        <p:sp>
          <p:nvSpPr>
            <p:cNvPr id="36875" name="Text Box 10"/>
            <p:cNvSpPr txBox="1">
              <a:spLocks noChangeArrowheads="1"/>
            </p:cNvSpPr>
            <p:nvPr/>
          </p:nvSpPr>
          <p:spPr bwMode="auto">
            <a:xfrm>
              <a:off x="0" y="136"/>
              <a:ext cx="59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其中</a:t>
              </a:r>
            </a:p>
          </p:txBody>
        </p:sp>
        <p:graphicFrame>
          <p:nvGraphicFramePr>
            <p:cNvPr id="36876" name="Object 11"/>
            <p:cNvGraphicFramePr>
              <a:graphicFrameLocks noChangeAspect="1"/>
            </p:cNvGraphicFramePr>
            <p:nvPr/>
          </p:nvGraphicFramePr>
          <p:xfrm>
            <a:off x="1891" y="45"/>
            <a:ext cx="2751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752600" imgH="330200" progId="Equation.3">
                    <p:embed/>
                  </p:oleObj>
                </mc:Choice>
                <mc:Fallback>
                  <p:oleObj r:id="rId6" imgW="1752600" imgH="330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45"/>
                          <a:ext cx="2751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12"/>
            <p:cNvGraphicFramePr>
              <a:graphicFrameLocks noChangeAspect="1"/>
            </p:cNvGraphicFramePr>
            <p:nvPr/>
          </p:nvGraphicFramePr>
          <p:xfrm>
            <a:off x="544" y="0"/>
            <a:ext cx="518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68300" imgH="406400" progId="Equation.3">
                    <p:embed/>
                  </p:oleObj>
                </mc:Choice>
                <mc:Fallback>
                  <p:oleObj r:id="rId8" imgW="368300" imgH="4064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518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8" name="Rectangle 13"/>
            <p:cNvSpPr>
              <a:spLocks noChangeArrowheads="1"/>
            </p:cNvSpPr>
            <p:nvPr/>
          </p:nvSpPr>
          <p:spPr bwMode="auto">
            <a:xfrm>
              <a:off x="1134" y="136"/>
              <a:ext cx="791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是函数</a:t>
              </a:r>
            </a:p>
          </p:txBody>
        </p:sp>
      </p:grpSp>
      <p:grpSp>
        <p:nvGrpSpPr>
          <p:cNvPr id="207886" name="Group 14"/>
          <p:cNvGrpSpPr/>
          <p:nvPr/>
        </p:nvGrpSpPr>
        <p:grpSpPr bwMode="auto">
          <a:xfrm>
            <a:off x="1439466" y="3112294"/>
            <a:ext cx="2159794" cy="736997"/>
            <a:chOff x="0" y="0"/>
            <a:chExt cx="1222" cy="619"/>
          </a:xfrm>
        </p:grpSpPr>
        <p:graphicFrame>
          <p:nvGraphicFramePr>
            <p:cNvPr id="36872" name="Object 15"/>
            <p:cNvGraphicFramePr>
              <a:graphicFrameLocks noChangeAspect="1"/>
            </p:cNvGraphicFramePr>
            <p:nvPr/>
          </p:nvGraphicFramePr>
          <p:xfrm>
            <a:off x="0" y="0"/>
            <a:ext cx="599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93700" imgH="406400" progId="Equation.3">
                    <p:embed/>
                  </p:oleObj>
                </mc:Choice>
                <mc:Fallback>
                  <p:oleObj r:id="rId10" imgW="393700" imgH="4064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99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3" name="Rectangle 16"/>
            <p:cNvSpPr>
              <a:spLocks noChangeArrowheads="1"/>
            </p:cNvSpPr>
            <p:nvPr/>
          </p:nvSpPr>
          <p:spPr bwMode="auto">
            <a:xfrm>
              <a:off x="589" y="182"/>
              <a:ext cx="63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处的值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909239" y="3788986"/>
                <a:ext cx="619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239" y="3788986"/>
                <a:ext cx="619529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69" t="-208" r="-3248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293522" y="37345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思考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275480" y="4325698"/>
                <a:ext cx="2193357" cy="483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答案：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480" y="4325698"/>
                <a:ext cx="2193357" cy="483466"/>
              </a:xfrm>
              <a:prstGeom prst="rect">
                <a:avLst/>
              </a:prstGeom>
              <a:blipFill rotWithShape="1">
                <a:blip r:embed="rId13"/>
                <a:stretch>
                  <a:fillRect l="-18" t="-16" r="21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10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898" name="Group 2"/>
          <p:cNvGrpSpPr/>
          <p:nvPr/>
        </p:nvGrpSpPr>
        <p:grpSpPr bwMode="auto">
          <a:xfrm>
            <a:off x="2531269" y="1254919"/>
            <a:ext cx="1198960" cy="1509713"/>
            <a:chOff x="0" y="0"/>
            <a:chExt cx="1007" cy="1268"/>
          </a:xfrm>
        </p:grpSpPr>
        <p:sp>
          <p:nvSpPr>
            <p:cNvPr id="37931" name="未知"/>
            <p:cNvSpPr/>
            <p:nvPr/>
          </p:nvSpPr>
          <p:spPr bwMode="auto">
            <a:xfrm>
              <a:off x="46" y="0"/>
              <a:ext cx="961" cy="1268"/>
            </a:xfrm>
            <a:custGeom>
              <a:avLst/>
              <a:gdLst>
                <a:gd name="T0" fmla="*/ 0 w 961"/>
                <a:gd name="T1" fmla="*/ 0 h 1268"/>
                <a:gd name="T2" fmla="*/ 54 w 961"/>
                <a:gd name="T3" fmla="*/ 844 h 1268"/>
                <a:gd name="T4" fmla="*/ 322 w 961"/>
                <a:gd name="T5" fmla="*/ 1139 h 1268"/>
                <a:gd name="T6" fmla="*/ 961 w 961"/>
                <a:gd name="T7" fmla="*/ 1268 h 12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1" h="1268">
                  <a:moveTo>
                    <a:pt x="0" y="0"/>
                  </a:moveTo>
                  <a:cubicBezTo>
                    <a:pt x="0" y="326"/>
                    <a:pt x="0" y="654"/>
                    <a:pt x="54" y="844"/>
                  </a:cubicBezTo>
                  <a:cubicBezTo>
                    <a:pt x="107" y="1033"/>
                    <a:pt x="171" y="1068"/>
                    <a:pt x="322" y="1139"/>
                  </a:cubicBezTo>
                  <a:cubicBezTo>
                    <a:pt x="473" y="1210"/>
                    <a:pt x="828" y="1241"/>
                    <a:pt x="961" y="1268"/>
                  </a:cubicBezTo>
                </a:path>
              </a:pathLst>
            </a:custGeom>
            <a:noFill/>
            <a:ln w="38100" cmpd="sng">
              <a:solidFill>
                <a:srgbClr val="99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932" name="Text Box 4"/>
            <p:cNvSpPr txBox="1">
              <a:spLocks noChangeArrowheads="1"/>
            </p:cNvSpPr>
            <p:nvPr/>
          </p:nvSpPr>
          <p:spPr bwMode="auto">
            <a:xfrm>
              <a:off x="0" y="45"/>
              <a:ext cx="72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1"/>
                <a:t>n</a:t>
              </a:r>
              <a:r>
                <a:rPr kumimoji="0" lang="en-US" altLang="zh-CN" sz="2100" b="1"/>
                <a:t>=1</a:t>
              </a:r>
            </a:p>
          </p:txBody>
        </p:sp>
      </p:grpSp>
      <p:grpSp>
        <p:nvGrpSpPr>
          <p:cNvPr id="208901" name="Group 5"/>
          <p:cNvGrpSpPr/>
          <p:nvPr/>
        </p:nvGrpSpPr>
        <p:grpSpPr bwMode="auto">
          <a:xfrm>
            <a:off x="2465785" y="1924051"/>
            <a:ext cx="1577578" cy="917972"/>
            <a:chOff x="0" y="0"/>
            <a:chExt cx="1325" cy="771"/>
          </a:xfrm>
        </p:grpSpPr>
        <p:sp>
          <p:nvSpPr>
            <p:cNvPr id="37929" name="未知"/>
            <p:cNvSpPr/>
            <p:nvPr/>
          </p:nvSpPr>
          <p:spPr bwMode="auto">
            <a:xfrm>
              <a:off x="0" y="302"/>
              <a:ext cx="1325" cy="469"/>
            </a:xfrm>
            <a:custGeom>
              <a:avLst/>
              <a:gdLst>
                <a:gd name="T0" fmla="*/ 0 w 1406"/>
                <a:gd name="T1" fmla="*/ 469 h 469"/>
                <a:gd name="T2" fmla="*/ 76 w 1406"/>
                <a:gd name="T3" fmla="*/ 106 h 469"/>
                <a:gd name="T4" fmla="*/ 266 w 1406"/>
                <a:gd name="T5" fmla="*/ 15 h 469"/>
                <a:gd name="T6" fmla="*/ 608 w 1406"/>
                <a:gd name="T7" fmla="*/ 197 h 469"/>
                <a:gd name="T8" fmla="*/ 873 w 1406"/>
                <a:gd name="T9" fmla="*/ 333 h 469"/>
                <a:gd name="T10" fmla="*/ 1177 w 1406"/>
                <a:gd name="T11" fmla="*/ 378 h 4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06" h="469">
                  <a:moveTo>
                    <a:pt x="0" y="469"/>
                  </a:moveTo>
                  <a:cubicBezTo>
                    <a:pt x="19" y="325"/>
                    <a:pt x="38" y="182"/>
                    <a:pt x="91" y="106"/>
                  </a:cubicBezTo>
                  <a:cubicBezTo>
                    <a:pt x="144" y="30"/>
                    <a:pt x="211" y="0"/>
                    <a:pt x="317" y="15"/>
                  </a:cubicBezTo>
                  <a:cubicBezTo>
                    <a:pt x="423" y="30"/>
                    <a:pt x="605" y="144"/>
                    <a:pt x="726" y="197"/>
                  </a:cubicBezTo>
                  <a:cubicBezTo>
                    <a:pt x="847" y="250"/>
                    <a:pt x="930" y="303"/>
                    <a:pt x="1043" y="333"/>
                  </a:cubicBezTo>
                  <a:cubicBezTo>
                    <a:pt x="1156" y="363"/>
                    <a:pt x="1345" y="371"/>
                    <a:pt x="1406" y="378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930" name="Text Box 7"/>
            <p:cNvSpPr txBox="1">
              <a:spLocks noChangeArrowheads="1"/>
            </p:cNvSpPr>
            <p:nvPr/>
          </p:nvSpPr>
          <p:spPr bwMode="auto">
            <a:xfrm>
              <a:off x="146" y="0"/>
              <a:ext cx="72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1"/>
                <a:t>n</a:t>
              </a:r>
              <a:r>
                <a:rPr kumimoji="0" lang="en-US" altLang="zh-CN" sz="2100" b="1"/>
                <a:t>=4</a:t>
              </a:r>
            </a:p>
          </p:txBody>
        </p:sp>
      </p:grpSp>
      <p:grpSp>
        <p:nvGrpSpPr>
          <p:cNvPr id="208904" name="Group 8"/>
          <p:cNvGrpSpPr/>
          <p:nvPr/>
        </p:nvGrpSpPr>
        <p:grpSpPr bwMode="auto">
          <a:xfrm>
            <a:off x="2477692" y="2032398"/>
            <a:ext cx="2591990" cy="788194"/>
            <a:chOff x="0" y="0"/>
            <a:chExt cx="2177" cy="662"/>
          </a:xfrm>
        </p:grpSpPr>
        <p:sp>
          <p:nvSpPr>
            <p:cNvPr id="37927" name="未知"/>
            <p:cNvSpPr/>
            <p:nvPr/>
          </p:nvSpPr>
          <p:spPr bwMode="auto">
            <a:xfrm>
              <a:off x="0" y="254"/>
              <a:ext cx="2177" cy="408"/>
            </a:xfrm>
            <a:custGeom>
              <a:avLst/>
              <a:gdLst>
                <a:gd name="T0" fmla="*/ 0 w 2086"/>
                <a:gd name="T1" fmla="*/ 408 h 408"/>
                <a:gd name="T2" fmla="*/ 413 w 2086"/>
                <a:gd name="T3" fmla="*/ 272 h 408"/>
                <a:gd name="T4" fmla="*/ 773 w 2086"/>
                <a:gd name="T5" fmla="*/ 90 h 408"/>
                <a:gd name="T6" fmla="*/ 1187 w 2086"/>
                <a:gd name="T7" fmla="*/ 0 h 408"/>
                <a:gd name="T8" fmla="*/ 1494 w 2086"/>
                <a:gd name="T9" fmla="*/ 90 h 408"/>
                <a:gd name="T10" fmla="*/ 1856 w 2086"/>
                <a:gd name="T11" fmla="*/ 227 h 408"/>
                <a:gd name="T12" fmla="*/ 2371 w 2086"/>
                <a:gd name="T13" fmla="*/ 363 h 4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6" h="408">
                  <a:moveTo>
                    <a:pt x="0" y="408"/>
                  </a:moveTo>
                  <a:cubicBezTo>
                    <a:pt x="125" y="366"/>
                    <a:pt x="250" y="325"/>
                    <a:pt x="363" y="272"/>
                  </a:cubicBezTo>
                  <a:cubicBezTo>
                    <a:pt x="476" y="219"/>
                    <a:pt x="567" y="135"/>
                    <a:pt x="680" y="90"/>
                  </a:cubicBezTo>
                  <a:cubicBezTo>
                    <a:pt x="793" y="45"/>
                    <a:pt x="937" y="0"/>
                    <a:pt x="1043" y="0"/>
                  </a:cubicBezTo>
                  <a:cubicBezTo>
                    <a:pt x="1149" y="0"/>
                    <a:pt x="1217" y="52"/>
                    <a:pt x="1315" y="90"/>
                  </a:cubicBezTo>
                  <a:cubicBezTo>
                    <a:pt x="1413" y="128"/>
                    <a:pt x="1505" y="182"/>
                    <a:pt x="1633" y="227"/>
                  </a:cubicBezTo>
                  <a:cubicBezTo>
                    <a:pt x="1761" y="272"/>
                    <a:pt x="2011" y="340"/>
                    <a:pt x="2086" y="363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928" name="Text Box 10"/>
            <p:cNvSpPr txBox="1">
              <a:spLocks noChangeArrowheads="1"/>
            </p:cNvSpPr>
            <p:nvPr/>
          </p:nvSpPr>
          <p:spPr bwMode="auto">
            <a:xfrm>
              <a:off x="1179" y="0"/>
              <a:ext cx="72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1"/>
                <a:t>n</a:t>
              </a:r>
              <a:r>
                <a:rPr kumimoji="0" lang="en-US" altLang="zh-CN" sz="2100" b="1"/>
                <a:t>=10</a:t>
              </a:r>
            </a:p>
          </p:txBody>
        </p:sp>
      </p:grpSp>
      <p:grpSp>
        <p:nvGrpSpPr>
          <p:cNvPr id="208907" name="Group 11"/>
          <p:cNvGrpSpPr/>
          <p:nvPr/>
        </p:nvGrpSpPr>
        <p:grpSpPr bwMode="auto">
          <a:xfrm>
            <a:off x="1980010" y="951310"/>
            <a:ext cx="3468290" cy="2180035"/>
            <a:chOff x="0" y="0"/>
            <a:chExt cx="2913" cy="1831"/>
          </a:xfrm>
        </p:grpSpPr>
        <p:sp>
          <p:nvSpPr>
            <p:cNvPr id="37902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545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100" b="1" i="1"/>
                <a:t>f</a:t>
              </a:r>
              <a:r>
                <a:rPr kumimoji="0" lang="en-US" altLang="zh-CN" sz="2100" b="1"/>
                <a:t>(</a:t>
              </a:r>
              <a:r>
                <a:rPr kumimoji="0" lang="en-US" altLang="zh-CN" sz="2100" b="1" i="1"/>
                <a:t>y</a:t>
              </a:r>
              <a:r>
                <a:rPr kumimoji="0" lang="en-US" altLang="zh-CN" sz="2100" b="1"/>
                <a:t>)</a:t>
              </a:r>
            </a:p>
          </p:txBody>
        </p:sp>
        <p:grpSp>
          <p:nvGrpSpPr>
            <p:cNvPr id="37903" name="Group 13"/>
            <p:cNvGrpSpPr/>
            <p:nvPr/>
          </p:nvGrpSpPr>
          <p:grpSpPr bwMode="auto">
            <a:xfrm>
              <a:off x="45" y="119"/>
              <a:ext cx="2868" cy="1712"/>
              <a:chOff x="0" y="0"/>
              <a:chExt cx="2868" cy="1712"/>
            </a:xfrm>
          </p:grpSpPr>
          <p:sp>
            <p:nvSpPr>
              <p:cNvPr id="37904" name="Text Box 14"/>
              <p:cNvSpPr txBox="1">
                <a:spLocks noChangeArrowheads="1"/>
              </p:cNvSpPr>
              <p:nvPr/>
            </p:nvSpPr>
            <p:spPr bwMode="auto">
              <a:xfrm>
                <a:off x="237" y="1324"/>
                <a:ext cx="2631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800" b="1"/>
                  <a:t>0  1   3  5   7   9  </a:t>
                </a:r>
                <a:r>
                  <a:rPr kumimoji="0" lang="en-US" altLang="zh-CN" sz="1500" b="1"/>
                  <a:t>11  13  15  17  </a:t>
                </a:r>
                <a:r>
                  <a:rPr kumimoji="0" lang="en-US" altLang="zh-CN" b="1" i="1"/>
                  <a:t>x</a:t>
                </a:r>
              </a:p>
            </p:txBody>
          </p:sp>
          <p:sp>
            <p:nvSpPr>
              <p:cNvPr id="37905" name="Text Box 15"/>
              <p:cNvSpPr txBox="1">
                <a:spLocks noChangeArrowheads="1"/>
              </p:cNvSpPr>
              <p:nvPr/>
            </p:nvSpPr>
            <p:spPr bwMode="auto">
              <a:xfrm>
                <a:off x="0" y="90"/>
                <a:ext cx="408" cy="1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5000"/>
                  </a:lnSpc>
                  <a:spcBef>
                    <a:spcPct val="50000"/>
                  </a:spcBef>
                </a:pPr>
                <a:r>
                  <a:rPr kumimoji="0" lang="en-US" altLang="zh-CN" sz="1800" b="1"/>
                  <a:t>0.50.40.30.20.1</a:t>
                </a:r>
              </a:p>
            </p:txBody>
          </p:sp>
          <p:grpSp>
            <p:nvGrpSpPr>
              <p:cNvPr id="37906" name="Group 16"/>
              <p:cNvGrpSpPr/>
              <p:nvPr/>
            </p:nvGrpSpPr>
            <p:grpSpPr bwMode="auto">
              <a:xfrm>
                <a:off x="327" y="0"/>
                <a:ext cx="2350" cy="1451"/>
                <a:chOff x="0" y="0"/>
                <a:chExt cx="2350" cy="1451"/>
              </a:xfrm>
            </p:grpSpPr>
            <p:grpSp>
              <p:nvGrpSpPr>
                <p:cNvPr id="37907" name="Group 17"/>
                <p:cNvGrpSpPr/>
                <p:nvPr/>
              </p:nvGrpSpPr>
              <p:grpSpPr bwMode="auto">
                <a:xfrm>
                  <a:off x="37" y="1405"/>
                  <a:ext cx="2313" cy="46"/>
                  <a:chOff x="0" y="0"/>
                  <a:chExt cx="2313" cy="46"/>
                </a:xfrm>
              </p:grpSpPr>
              <p:grpSp>
                <p:nvGrpSpPr>
                  <p:cNvPr id="37917" name="Group 18"/>
                  <p:cNvGrpSpPr/>
                  <p:nvPr/>
                </p:nvGrpSpPr>
                <p:grpSpPr bwMode="auto">
                  <a:xfrm>
                    <a:off x="0" y="0"/>
                    <a:ext cx="2313" cy="46"/>
                    <a:chOff x="0" y="0"/>
                    <a:chExt cx="2313" cy="46"/>
                  </a:xfrm>
                </p:grpSpPr>
                <p:grpSp>
                  <p:nvGrpSpPr>
                    <p:cNvPr id="37920" name="Group 19"/>
                    <p:cNvGrpSpPr/>
                    <p:nvPr/>
                  </p:nvGrpSpPr>
                  <p:grpSpPr bwMode="auto">
                    <a:xfrm>
                      <a:off x="0" y="0"/>
                      <a:ext cx="2313" cy="46"/>
                      <a:chOff x="0" y="0"/>
                      <a:chExt cx="2313" cy="46"/>
                    </a:xfrm>
                  </p:grpSpPr>
                  <p:sp>
                    <p:nvSpPr>
                      <p:cNvPr id="37923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0" y="46"/>
                        <a:ext cx="2313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350"/>
                      </a:p>
                    </p:txBody>
                  </p:sp>
                  <p:sp>
                    <p:nvSpPr>
                      <p:cNvPr id="37924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63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350"/>
                      </a:p>
                    </p:txBody>
                  </p:sp>
                  <p:sp>
                    <p:nvSpPr>
                      <p:cNvPr id="37925" name="Line 22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72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350"/>
                      </a:p>
                    </p:txBody>
                  </p:sp>
                  <p:sp>
                    <p:nvSpPr>
                      <p:cNvPr id="37926" name="Line 23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99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350"/>
                      </a:p>
                    </p:txBody>
                  </p:sp>
                </p:grpSp>
                <p:sp>
                  <p:nvSpPr>
                    <p:cNvPr id="37921" name="Line 2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25" y="0"/>
                      <a:ext cx="0" cy="4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350"/>
                    </a:p>
                  </p:txBody>
                </p:sp>
                <p:sp>
                  <p:nvSpPr>
                    <p:cNvPr id="37922" name="Line 2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52" y="0"/>
                      <a:ext cx="0" cy="4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350"/>
                    </a:p>
                  </p:txBody>
                </p:sp>
              </p:grpSp>
              <p:sp>
                <p:nvSpPr>
                  <p:cNvPr id="37918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79" y="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7919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06" y="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7908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1770" y="1405"/>
                  <a:ext cx="0" cy="4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7909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997" y="1405"/>
                  <a:ext cx="0" cy="4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pSp>
              <p:nvGrpSpPr>
                <p:cNvPr id="37910" name="Group 30"/>
                <p:cNvGrpSpPr/>
                <p:nvPr/>
              </p:nvGrpSpPr>
              <p:grpSpPr bwMode="auto">
                <a:xfrm>
                  <a:off x="0" y="0"/>
                  <a:ext cx="47" cy="1451"/>
                  <a:chOff x="0" y="0"/>
                  <a:chExt cx="47" cy="1451"/>
                </a:xfrm>
              </p:grpSpPr>
              <p:sp>
                <p:nvSpPr>
                  <p:cNvPr id="37911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" y="0"/>
                    <a:ext cx="0" cy="145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7912" name="Line 32"/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702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7913" name="Line 33"/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3" y="1201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7914" name="Line 34"/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974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7915" name="Line 35"/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43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7916" name="Line 36"/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203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</p:grpSp>
        </p:grpSp>
      </p:grpSp>
      <p:sp>
        <p:nvSpPr>
          <p:cNvPr id="208933" name="Rectangle 37"/>
          <p:cNvSpPr>
            <a:spLocks noChangeArrowheads="1"/>
          </p:cNvSpPr>
          <p:nvPr/>
        </p:nvSpPr>
        <p:spPr bwMode="auto">
          <a:xfrm>
            <a:off x="1818085" y="4030266"/>
            <a:ext cx="1835944" cy="471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有所改变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208934" name="Group 38"/>
          <p:cNvGrpSpPr/>
          <p:nvPr/>
        </p:nvGrpSpPr>
        <p:grpSpPr bwMode="auto">
          <a:xfrm>
            <a:off x="1682949" y="305860"/>
            <a:ext cx="3942160" cy="457200"/>
            <a:chOff x="0" y="0"/>
            <a:chExt cx="3056" cy="384"/>
          </a:xfrm>
        </p:grpSpPr>
        <p:graphicFrame>
          <p:nvGraphicFramePr>
            <p:cNvPr id="37900" name="Object 39"/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03200" imgH="228600" progId="Equation.3">
                    <p:embed/>
                  </p:oleObj>
                </mc:Choice>
                <mc:Fallback>
                  <p:oleObj r:id="rId2" imgW="203200" imgH="2286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1" name="Rectangle 40"/>
            <p:cNvSpPr>
              <a:spLocks noChangeArrowheads="1"/>
            </p:cNvSpPr>
            <p:nvPr/>
          </p:nvSpPr>
          <p:spPr bwMode="auto">
            <a:xfrm>
              <a:off x="240" y="33"/>
              <a:ext cx="2816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分布的概率密度图形如下：</a:t>
              </a:r>
            </a:p>
          </p:txBody>
        </p:sp>
      </p:grpSp>
      <p:grpSp>
        <p:nvGrpSpPr>
          <p:cNvPr id="208937" name="Group 41"/>
          <p:cNvGrpSpPr/>
          <p:nvPr/>
        </p:nvGrpSpPr>
        <p:grpSpPr bwMode="auto">
          <a:xfrm>
            <a:off x="1818085" y="3489722"/>
            <a:ext cx="5883035" cy="791766"/>
            <a:chOff x="0" y="0"/>
            <a:chExt cx="4763" cy="665"/>
          </a:xfrm>
        </p:grpSpPr>
        <p:graphicFrame>
          <p:nvGraphicFramePr>
            <p:cNvPr id="37897" name="Object 42"/>
            <p:cNvGraphicFramePr>
              <a:graphicFrameLocks noChangeAspect="1"/>
            </p:cNvGraphicFramePr>
            <p:nvPr/>
          </p:nvGraphicFramePr>
          <p:xfrm>
            <a:off x="59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03200" imgH="228600" progId="Equation.3">
                    <p:embed/>
                  </p:oleObj>
                </mc:Choice>
                <mc:Fallback>
                  <p:oleObj r:id="rId4" imgW="203200" imgH="2286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8" name="Rectangle 43"/>
            <p:cNvSpPr>
              <a:spLocks noChangeArrowheads="1"/>
            </p:cNvSpPr>
            <p:nvPr/>
          </p:nvSpPr>
          <p:spPr bwMode="auto">
            <a:xfrm>
              <a:off x="0" y="45"/>
              <a:ext cx="566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显然</a:t>
              </a:r>
            </a:p>
          </p:txBody>
        </p:sp>
        <p:sp>
          <p:nvSpPr>
            <p:cNvPr id="37899" name="Rectangle 44"/>
            <p:cNvSpPr>
              <a:spLocks noChangeArrowheads="1"/>
            </p:cNvSpPr>
            <p:nvPr/>
          </p:nvSpPr>
          <p:spPr bwMode="auto">
            <a:xfrm>
              <a:off x="907" y="45"/>
              <a:ext cx="3856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分布的概率密度图形随自由度的不同而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625109" y="73927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思考为何有这种趋势？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069682" y="1632347"/>
                <a:ext cx="3524683" cy="1562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答案：根据中心极限定理</a:t>
                </a:r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nary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682" y="1632347"/>
                <a:ext cx="3524683" cy="1562479"/>
              </a:xfrm>
              <a:prstGeom prst="rect">
                <a:avLst/>
              </a:prstGeom>
              <a:blipFill rotWithShape="1">
                <a:blip r:embed="rId6"/>
                <a:stretch>
                  <a:fillRect l="-14" t="-25" r="8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0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0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33" grpId="0" autoUpdateAnimBg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972741" y="4229101"/>
            <a:ext cx="37135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endParaRPr kumimoji="0" lang="en-US" altLang="zh-CN" b="1"/>
          </a:p>
          <a:p>
            <a:pPr>
              <a:spcBef>
                <a:spcPct val="50000"/>
              </a:spcBef>
            </a:pPr>
            <a:endParaRPr kumimoji="0" lang="en-US" altLang="zh-CN" b="1"/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1277541" y="933450"/>
            <a:ext cx="11882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kumimoji="0" lang="en-US" altLang="zh-CN" sz="21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kumimoji="0" lang="en-US" altLang="zh-CN" sz="2100" b="1">
                <a:solidFill>
                  <a:srgbClr val="0000FF"/>
                </a:solidFill>
                <a:ea typeface="楷体_GB2312" pitchFamily="49" charset="-122"/>
              </a:rPr>
              <a:t> </a:t>
            </a:r>
            <a:endParaRPr kumimoji="0" lang="en-US" altLang="zh-CN" sz="21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9924" name="Group 4"/>
          <p:cNvGrpSpPr/>
          <p:nvPr/>
        </p:nvGrpSpPr>
        <p:grpSpPr bwMode="auto">
          <a:xfrm>
            <a:off x="2250282" y="897731"/>
            <a:ext cx="5461397" cy="457200"/>
            <a:chOff x="0" y="0"/>
            <a:chExt cx="4587" cy="384"/>
          </a:xfrm>
        </p:grpSpPr>
        <p:graphicFrame>
          <p:nvGraphicFramePr>
            <p:cNvPr id="38933" name="Object 5"/>
            <p:cNvGraphicFramePr>
              <a:graphicFrameLocks noChangeAspect="1"/>
            </p:cNvGraphicFramePr>
            <p:nvPr/>
          </p:nvGraphicFramePr>
          <p:xfrm>
            <a:off x="362" y="0"/>
            <a:ext cx="134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00100" imgH="228600" progId="Equation.3">
                    <p:embed/>
                  </p:oleObj>
                </mc:Choice>
                <mc:Fallback>
                  <p:oleObj r:id="rId2" imgW="8001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" y="0"/>
                          <a:ext cx="1347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4" name="Rectangle 6"/>
            <p:cNvSpPr>
              <a:spLocks noChangeArrowheads="1"/>
            </p:cNvSpPr>
            <p:nvPr/>
          </p:nvSpPr>
          <p:spPr bwMode="auto">
            <a:xfrm>
              <a:off x="0" y="33"/>
              <a:ext cx="381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38935" name="Object 7"/>
            <p:cNvGraphicFramePr>
              <a:graphicFrameLocks noChangeAspect="1"/>
            </p:cNvGraphicFramePr>
            <p:nvPr/>
          </p:nvGraphicFramePr>
          <p:xfrm>
            <a:off x="2086" y="0"/>
            <a:ext cx="250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486535" imgH="228600" progId="Equation.3">
                    <p:embed/>
                  </p:oleObj>
                </mc:Choice>
                <mc:Fallback>
                  <p:oleObj r:id="rId4" imgW="1486535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6" y="0"/>
                          <a:ext cx="2501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6" name="Rectangle 8"/>
            <p:cNvSpPr>
              <a:spLocks noChangeArrowheads="1"/>
            </p:cNvSpPr>
            <p:nvPr/>
          </p:nvSpPr>
          <p:spPr bwMode="auto">
            <a:xfrm>
              <a:off x="1723" y="33"/>
              <a:ext cx="381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ea typeface="楷体_GB2312" pitchFamily="49" charset="-122"/>
                </a:rPr>
                <a:t>则</a:t>
              </a:r>
            </a:p>
          </p:txBody>
        </p:sp>
      </p:grpSp>
      <p:sp>
        <p:nvSpPr>
          <p:cNvPr id="209929" name="Text Box 9" descr="深色竖线"/>
          <p:cNvSpPr txBox="1">
            <a:spLocks noChangeArrowheads="1"/>
          </p:cNvSpPr>
          <p:nvPr/>
        </p:nvSpPr>
        <p:spPr bwMode="auto">
          <a:xfrm>
            <a:off x="1331119" y="1694274"/>
            <a:ext cx="1172766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1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证 明：</a:t>
            </a:r>
          </a:p>
        </p:txBody>
      </p:sp>
      <p:grpSp>
        <p:nvGrpSpPr>
          <p:cNvPr id="209930" name="Group 10"/>
          <p:cNvGrpSpPr/>
          <p:nvPr/>
        </p:nvGrpSpPr>
        <p:grpSpPr bwMode="auto">
          <a:xfrm>
            <a:off x="2062163" y="1600200"/>
            <a:ext cx="5524500" cy="834629"/>
            <a:chOff x="-21" y="0"/>
            <a:chExt cx="4640" cy="701"/>
          </a:xfrm>
        </p:grpSpPr>
        <p:sp>
          <p:nvSpPr>
            <p:cNvPr id="38931" name="Text Box 11" descr="深色竖线"/>
            <p:cNvSpPr txBox="1">
              <a:spLocks noChangeArrowheads="1"/>
            </p:cNvSpPr>
            <p:nvPr/>
          </p:nvSpPr>
          <p:spPr bwMode="auto">
            <a:xfrm>
              <a:off x="-21" y="164"/>
              <a:ext cx="381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6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38932" name="Object 12"/>
            <p:cNvGraphicFramePr>
              <a:graphicFrameLocks noChangeAspect="1"/>
            </p:cNvGraphicFramePr>
            <p:nvPr/>
          </p:nvGraphicFramePr>
          <p:xfrm>
            <a:off x="528" y="0"/>
            <a:ext cx="4091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614930" imgH="431800" progId="Equation.3">
                    <p:embed/>
                  </p:oleObj>
                </mc:Choice>
                <mc:Fallback>
                  <p:oleObj r:id="rId7" imgW="2614930" imgH="431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0"/>
                          <a:ext cx="4091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933" name="Group 13"/>
          <p:cNvGrpSpPr/>
          <p:nvPr/>
        </p:nvGrpSpPr>
        <p:grpSpPr bwMode="auto">
          <a:xfrm>
            <a:off x="1656160" y="2506266"/>
            <a:ext cx="4301728" cy="421481"/>
            <a:chOff x="0" y="-10"/>
            <a:chExt cx="3613" cy="354"/>
          </a:xfrm>
        </p:grpSpPr>
        <p:graphicFrame>
          <p:nvGraphicFramePr>
            <p:cNvPr id="38929" name="Object 14"/>
            <p:cNvGraphicFramePr>
              <a:graphicFrameLocks noChangeAspect="1"/>
            </p:cNvGraphicFramePr>
            <p:nvPr/>
          </p:nvGraphicFramePr>
          <p:xfrm>
            <a:off x="0" y="0"/>
            <a:ext cx="195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952500" imgH="228600" progId="Equation.3">
                    <p:embed/>
                  </p:oleObj>
                </mc:Choice>
                <mc:Fallback>
                  <p:oleObj r:id="rId9" imgW="95250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951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0" name="Text Box 15" descr="深色竖线"/>
            <p:cNvSpPr txBox="1">
              <a:spLocks noChangeArrowheads="1"/>
            </p:cNvSpPr>
            <p:nvPr/>
          </p:nvSpPr>
          <p:spPr bwMode="auto">
            <a:xfrm>
              <a:off x="1950" y="-10"/>
              <a:ext cx="166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6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相互独立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209936" name="Object 16"/>
          <p:cNvGraphicFramePr>
            <a:graphicFrameLocks noChangeAspect="1"/>
          </p:cNvGraphicFramePr>
          <p:nvPr/>
        </p:nvGraphicFramePr>
        <p:xfrm>
          <a:off x="1385888" y="3112294"/>
          <a:ext cx="262294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689735" imgH="228600" progId="Equation.3">
                  <p:embed/>
                </p:oleObj>
              </mc:Choice>
              <mc:Fallback>
                <p:oleObj r:id="rId11" imgW="1689735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3112294"/>
                        <a:ext cx="262294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7" name="Object 17"/>
          <p:cNvGraphicFramePr>
            <a:graphicFrameLocks noChangeAspect="1"/>
          </p:cNvGraphicFramePr>
          <p:nvPr/>
        </p:nvGraphicFramePr>
        <p:xfrm>
          <a:off x="1871663" y="3651648"/>
          <a:ext cx="2106216" cy="897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270000" imgH="457200" progId="Equation.3">
                  <p:embed/>
                </p:oleObj>
              </mc:Choice>
              <mc:Fallback>
                <p:oleObj r:id="rId13" imgW="12700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651648"/>
                        <a:ext cx="2106216" cy="897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9938" name="Group 18"/>
          <p:cNvGrpSpPr/>
          <p:nvPr/>
        </p:nvGrpSpPr>
        <p:grpSpPr bwMode="auto">
          <a:xfrm>
            <a:off x="2325292" y="250031"/>
            <a:ext cx="2441971" cy="515541"/>
            <a:chOff x="0" y="0"/>
            <a:chExt cx="2051" cy="433"/>
          </a:xfrm>
        </p:grpSpPr>
        <p:sp>
          <p:nvSpPr>
            <p:cNvPr id="209939" name="Rectangle 19"/>
            <p:cNvSpPr>
              <a:spLocks noChangeArrowheads="1"/>
            </p:cNvSpPr>
            <p:nvPr/>
          </p:nvSpPr>
          <p:spPr bwMode="auto">
            <a:xfrm>
              <a:off x="345" y="45"/>
              <a:ext cx="1706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分布的性质：</a:t>
              </a:r>
            </a:p>
          </p:txBody>
        </p:sp>
        <p:graphicFrame>
          <p:nvGraphicFramePr>
            <p:cNvPr id="38928" name="Object 20"/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203200" imgH="228600" progId="Equation.3">
                    <p:embed/>
                  </p:oleObj>
                </mc:Choice>
                <mc:Fallback>
                  <p:oleObj r:id="rId15" imgW="203200" imgH="228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9941" name="Object 21"/>
          <p:cNvGraphicFramePr>
            <a:graphicFrameLocks noChangeAspect="1"/>
          </p:cNvGraphicFramePr>
          <p:nvPr/>
        </p:nvGraphicFramePr>
        <p:xfrm>
          <a:off x="5598319" y="3921919"/>
          <a:ext cx="477441" cy="296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66700" imgH="139700" progId="Equation.3">
                  <p:embed/>
                </p:oleObj>
              </mc:Choice>
              <mc:Fallback>
                <p:oleObj r:id="rId17" imgW="266700" imgH="1397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8319" y="3921919"/>
                        <a:ext cx="477441" cy="296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2" name="Object 22"/>
          <p:cNvGraphicFramePr>
            <a:graphicFrameLocks noChangeAspect="1"/>
          </p:cNvGraphicFramePr>
          <p:nvPr/>
        </p:nvGraphicFramePr>
        <p:xfrm>
          <a:off x="4031457" y="3651647"/>
          <a:ext cx="143232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863600" imgH="431800" progId="Equation.3">
                  <p:embed/>
                </p:oleObj>
              </mc:Choice>
              <mc:Fallback>
                <p:oleObj r:id="rId19" imgW="863600" imgH="431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457" y="3651647"/>
                        <a:ext cx="143232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3" name="Object 23"/>
          <p:cNvGraphicFramePr>
            <a:graphicFrameLocks noChangeAspect="1"/>
          </p:cNvGraphicFramePr>
          <p:nvPr/>
        </p:nvGraphicFramePr>
        <p:xfrm>
          <a:off x="4031456" y="3057526"/>
          <a:ext cx="2938463" cy="508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891665" imgH="254000" progId="Equation.3">
                  <p:embed/>
                </p:oleObj>
              </mc:Choice>
              <mc:Fallback>
                <p:oleObj r:id="rId21" imgW="1891665" imgH="254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456" y="3057526"/>
                        <a:ext cx="2938463" cy="508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4" name="Object 24"/>
          <p:cNvGraphicFramePr>
            <a:graphicFrameLocks noChangeAspect="1"/>
          </p:cNvGraphicFramePr>
          <p:nvPr/>
        </p:nvGraphicFramePr>
        <p:xfrm>
          <a:off x="7002066" y="3112294"/>
          <a:ext cx="571500" cy="407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368300" imgH="203200" progId="Equation.3">
                  <p:embed/>
                </p:oleObj>
              </mc:Choice>
              <mc:Fallback>
                <p:oleObj r:id="rId23" imgW="368300" imgH="203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066" y="3112294"/>
                        <a:ext cx="571500" cy="407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20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1000"/>
                                        <p:tgtEl>
                                          <p:spTgt spid="20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20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1000"/>
                                        <p:tgtEl>
                                          <p:spTgt spid="20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1000"/>
                                        <p:tgtEl>
                                          <p:spTgt spid="20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autoUpdateAnimBg="0"/>
      <p:bldP spid="20992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946" name="Object 2"/>
          <p:cNvGraphicFramePr>
            <a:graphicFrameLocks noChangeAspect="1"/>
          </p:cNvGraphicFramePr>
          <p:nvPr/>
        </p:nvGraphicFramePr>
        <p:xfrm>
          <a:off x="1788319" y="751285"/>
          <a:ext cx="3269456" cy="826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68500" imgH="431800" progId="Equation.3">
                  <p:embed/>
                </p:oleObj>
              </mc:Choice>
              <mc:Fallback>
                <p:oleObj r:id="rId2" imgW="19685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319" y="751285"/>
                        <a:ext cx="3269456" cy="8262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7" name="Object 3"/>
          <p:cNvGraphicFramePr>
            <a:graphicFrameLocks noChangeAspect="1"/>
          </p:cNvGraphicFramePr>
          <p:nvPr/>
        </p:nvGraphicFramePr>
        <p:xfrm>
          <a:off x="1806179" y="2231232"/>
          <a:ext cx="3468290" cy="479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06600" imgH="241300" progId="Equation.3">
                  <p:embed/>
                </p:oleObj>
              </mc:Choice>
              <mc:Fallback>
                <p:oleObj r:id="rId4" imgW="20066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179" y="2231232"/>
                        <a:ext cx="3468290" cy="479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8" name="Object 4"/>
          <p:cNvGraphicFramePr>
            <a:graphicFrameLocks noChangeAspect="1"/>
          </p:cNvGraphicFramePr>
          <p:nvPr/>
        </p:nvGraphicFramePr>
        <p:xfrm>
          <a:off x="1818085" y="3164681"/>
          <a:ext cx="2538413" cy="882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60500" imgH="457200" progId="Equation.3">
                  <p:embed/>
                </p:oleObj>
              </mc:Choice>
              <mc:Fallback>
                <p:oleObj r:id="rId6" imgW="14605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3164681"/>
                        <a:ext cx="2538413" cy="882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9" name="Object 5"/>
          <p:cNvGraphicFramePr>
            <a:graphicFrameLocks noChangeAspect="1"/>
          </p:cNvGraphicFramePr>
          <p:nvPr/>
        </p:nvGraphicFramePr>
        <p:xfrm>
          <a:off x="4463654" y="3405187"/>
          <a:ext cx="540544" cy="310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42900" imgH="177800" progId="Equation.3">
                  <p:embed/>
                </p:oleObj>
              </mc:Choice>
              <mc:Fallback>
                <p:oleObj r:id="rId8" imgW="342900" imgH="177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3654" y="3405187"/>
                        <a:ext cx="540544" cy="310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972741" y="4229101"/>
            <a:ext cx="37135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endParaRPr kumimoji="0" lang="en-US" altLang="zh-CN" b="1"/>
          </a:p>
          <a:p>
            <a:pPr>
              <a:spcBef>
                <a:spcPct val="50000"/>
              </a:spcBef>
            </a:pPr>
            <a:endParaRPr kumimoji="0" lang="en-US" altLang="zh-CN" b="1"/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4286250" y="2800350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pSp>
        <p:nvGrpSpPr>
          <p:cNvPr id="211972" name="Group 4"/>
          <p:cNvGrpSpPr/>
          <p:nvPr/>
        </p:nvGrpSpPr>
        <p:grpSpPr bwMode="auto">
          <a:xfrm>
            <a:off x="1818085" y="3370660"/>
            <a:ext cx="3813572" cy="415527"/>
            <a:chOff x="0" y="0"/>
            <a:chExt cx="3203" cy="349"/>
          </a:xfrm>
        </p:grpSpPr>
        <p:sp>
          <p:nvSpPr>
            <p:cNvPr id="4097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0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这个性质称为    分布的可加性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40976" name="Object 6"/>
            <p:cNvGraphicFramePr>
              <a:graphicFrameLocks noChangeAspect="1"/>
            </p:cNvGraphicFramePr>
            <p:nvPr/>
          </p:nvGraphicFramePr>
          <p:xfrm>
            <a:off x="1542" y="9"/>
            <a:ext cx="31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03200" imgH="228600" progId="Equation.3">
                    <p:embed/>
                  </p:oleObj>
                </mc:Choice>
                <mc:Fallback>
                  <p:oleObj r:id="rId2" imgW="2032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"/>
                          <a:ext cx="31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1975" name="Rectangle 7"/>
          <p:cNvSpPr>
            <a:spLocks noChangeArrowheads="1"/>
          </p:cNvSpPr>
          <p:nvPr/>
        </p:nvSpPr>
        <p:spPr bwMode="auto">
          <a:xfrm>
            <a:off x="1277541" y="933450"/>
            <a:ext cx="103425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kumimoji="0" lang="en-US" altLang="zh-CN" sz="21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kumimoji="0" lang="en-US" altLang="zh-CN" sz="2100" b="1">
                <a:solidFill>
                  <a:srgbClr val="0000FF"/>
                </a:solidFill>
                <a:ea typeface="楷体_GB2312" pitchFamily="49" charset="-122"/>
              </a:rPr>
              <a:t> </a:t>
            </a:r>
            <a:endParaRPr kumimoji="0" lang="en-US" altLang="zh-CN" sz="21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1976" name="Object 8"/>
          <p:cNvGraphicFramePr>
            <a:graphicFrameLocks noChangeAspect="1"/>
          </p:cNvGraphicFramePr>
          <p:nvPr/>
        </p:nvGraphicFramePr>
        <p:xfrm>
          <a:off x="2681287" y="2301479"/>
          <a:ext cx="2901554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48435" imgH="228600" progId="Equation.3">
                  <p:embed/>
                </p:oleObj>
              </mc:Choice>
              <mc:Fallback>
                <p:oleObj r:id="rId4" imgW="1448435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7" y="2301479"/>
                        <a:ext cx="2901554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7" name="Object 9"/>
          <p:cNvGraphicFramePr>
            <a:graphicFrameLocks noChangeAspect="1"/>
          </p:cNvGraphicFramePr>
          <p:nvPr/>
        </p:nvGraphicFramePr>
        <p:xfrm>
          <a:off x="2630092" y="897731"/>
          <a:ext cx="170616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50900" imgH="228600" progId="Equation.3">
                  <p:embed/>
                </p:oleObj>
              </mc:Choice>
              <mc:Fallback>
                <p:oleObj r:id="rId6" imgW="8509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092" y="897731"/>
                        <a:ext cx="170616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8" name="Rectangle 10"/>
          <p:cNvSpPr>
            <a:spLocks noChangeArrowheads="1"/>
          </p:cNvSpPr>
          <p:nvPr/>
        </p:nvSpPr>
        <p:spPr bwMode="auto">
          <a:xfrm>
            <a:off x="2250281" y="937022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211979" name="Object 11"/>
          <p:cNvGraphicFramePr>
            <a:graphicFrameLocks noChangeAspect="1"/>
          </p:cNvGraphicFramePr>
          <p:nvPr/>
        </p:nvGraphicFramePr>
        <p:xfrm>
          <a:off x="4410075" y="897731"/>
          <a:ext cx="173116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63600" imgH="228600" progId="Equation.3">
                  <p:embed/>
                </p:oleObj>
              </mc:Choice>
              <mc:Fallback>
                <p:oleObj r:id="rId8" imgW="8636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897731"/>
                        <a:ext cx="1731169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0" name="Rectangle 12"/>
          <p:cNvSpPr>
            <a:spLocks noChangeArrowheads="1"/>
          </p:cNvSpPr>
          <p:nvPr/>
        </p:nvSpPr>
        <p:spPr bwMode="auto">
          <a:xfrm>
            <a:off x="6300787" y="990600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211981" name="Object 13"/>
          <p:cNvGraphicFramePr>
            <a:graphicFrameLocks noChangeAspect="1"/>
          </p:cNvGraphicFramePr>
          <p:nvPr/>
        </p:nvGraphicFramePr>
        <p:xfrm>
          <a:off x="6678216" y="897731"/>
          <a:ext cx="407194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03200" imgH="228600" progId="Equation.3">
                  <p:embed/>
                </p:oleObj>
              </mc:Choice>
              <mc:Fallback>
                <p:oleObj r:id="rId10" imgW="2032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216" y="897731"/>
                        <a:ext cx="407194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2" name="Rectangle 14"/>
          <p:cNvSpPr>
            <a:spLocks noChangeArrowheads="1"/>
          </p:cNvSpPr>
          <p:nvPr/>
        </p:nvSpPr>
        <p:spPr bwMode="auto">
          <a:xfrm>
            <a:off x="7056835" y="990600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与</a:t>
            </a:r>
          </a:p>
        </p:txBody>
      </p:sp>
      <p:graphicFrame>
        <p:nvGraphicFramePr>
          <p:cNvPr id="211983" name="Object 15"/>
          <p:cNvGraphicFramePr>
            <a:graphicFrameLocks noChangeAspect="1"/>
          </p:cNvGraphicFramePr>
          <p:nvPr/>
        </p:nvGraphicFramePr>
        <p:xfrm>
          <a:off x="1494235" y="1545431"/>
          <a:ext cx="407194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03200" imgH="228600" progId="Equation.3">
                  <p:embed/>
                </p:oleObj>
              </mc:Choice>
              <mc:Fallback>
                <p:oleObj r:id="rId12" imgW="2032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235" y="1545431"/>
                        <a:ext cx="407194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4" name="Rectangle 16"/>
          <p:cNvSpPr>
            <a:spLocks noChangeArrowheads="1"/>
          </p:cNvSpPr>
          <p:nvPr/>
        </p:nvSpPr>
        <p:spPr bwMode="auto">
          <a:xfrm>
            <a:off x="1925242" y="1600200"/>
            <a:ext cx="356473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100" b="1">
                <a:ea typeface="楷体_GB2312" pitchFamily="49" charset="-122"/>
              </a:rPr>
              <a:t>相互独立，则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1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10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5" grpId="0" autoUpdateAnimBg="0"/>
      <p:bldP spid="211978" grpId="0" autoUpdateAnimBg="0"/>
      <p:bldP spid="211980" grpId="0" autoUpdateAnimBg="0"/>
      <p:bldP spid="211982" grpId="0" autoUpdateAnimBg="0"/>
      <p:bldP spid="21198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028043" y="606424"/>
                <a:ext cx="7620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043" y="606424"/>
                <a:ext cx="762068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65" t="-229" r="-1676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072372" y="549358"/>
                <a:ext cx="6336705" cy="391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来自总体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样本，则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~?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72" y="549358"/>
                <a:ext cx="6336705" cy="391133"/>
              </a:xfrm>
              <a:prstGeom prst="rect">
                <a:avLst/>
              </a:prstGeom>
              <a:blipFill rotWithShape="1">
                <a:blip r:embed="rId3"/>
                <a:stretch>
                  <a:fillRect l="-8" t="-21" r="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-396552" y="1591141"/>
                <a:ext cx="6336705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则</m:t>
                      </m:r>
                      <m:limLow>
                        <m:limLow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6552" y="1591141"/>
                <a:ext cx="6336705" cy="622350"/>
              </a:xfrm>
              <a:prstGeom prst="rect">
                <a:avLst/>
              </a:prstGeom>
              <a:blipFill rotWithShape="1">
                <a:blip r:embed="rId4"/>
                <a:stretch>
                  <a:fillRect l="5" t="-75" r="6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932040" y="1763816"/>
                <a:ext cx="556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1763816"/>
                <a:ext cx="556819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113" t="-152" r="-3322" b="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Text Box 2"/>
          <p:cNvSpPr txBox="1">
            <a:spLocks noChangeArrowheads="1"/>
          </p:cNvSpPr>
          <p:nvPr/>
        </p:nvSpPr>
        <p:spPr bwMode="auto">
          <a:xfrm>
            <a:off x="1790700" y="697706"/>
            <a:ext cx="24836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zh-CN" altLang="en-US" b="1">
                <a:solidFill>
                  <a:srgbClr val="FF66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1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kumimoji="1" lang="zh-CN" altLang="en-US" sz="2100" b="1">
                <a:solidFill>
                  <a:srgbClr val="3366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1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100" b="1">
                <a:solidFill>
                  <a:schemeClr val="tx2"/>
                </a:solidFill>
                <a:latin typeface="Times New Roman" panose="02020603050405020304" pitchFamily="18" charset="0"/>
              </a:rPr>
              <a:t>填空</a:t>
            </a:r>
            <a:r>
              <a:rPr kumimoji="1" lang="en-US" altLang="zh-CN" sz="21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1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1219" name="Text Box 3"/>
          <p:cNvSpPr txBox="1">
            <a:spLocks noChangeArrowheads="1"/>
          </p:cNvSpPr>
          <p:nvPr/>
        </p:nvSpPr>
        <p:spPr bwMode="auto">
          <a:xfrm>
            <a:off x="1656160" y="2533650"/>
            <a:ext cx="97155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     </a:t>
            </a:r>
            <a:r>
              <a:rPr kumimoji="1" lang="zh-CN" altLang="en-US" sz="2100" b="1"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521220" name="Object 4"/>
          <p:cNvGraphicFramePr>
            <a:graphicFrameLocks noChangeAspect="1"/>
          </p:cNvGraphicFramePr>
          <p:nvPr/>
        </p:nvGraphicFramePr>
        <p:xfrm>
          <a:off x="2574132" y="3240881"/>
          <a:ext cx="378023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800" imgH="444500" progId="Equation.DSMT4">
                  <p:embed/>
                </p:oleObj>
              </mc:Choice>
              <mc:Fallback>
                <p:oleObj name="Equation" r:id="rId2" imgW="24638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132" y="3240881"/>
                        <a:ext cx="3780235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1" name="Object 5"/>
          <p:cNvGraphicFramePr>
            <a:graphicFrameLocks noChangeAspect="1"/>
          </p:cNvGraphicFramePr>
          <p:nvPr/>
        </p:nvGraphicFramePr>
        <p:xfrm>
          <a:off x="3203972" y="559594"/>
          <a:ext cx="2303859" cy="689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12900" imgH="482600" progId="Equation.3">
                  <p:embed/>
                </p:oleObj>
              </mc:Choice>
              <mc:Fallback>
                <p:oleObj name="公式" r:id="rId4" imgW="16129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972" y="559594"/>
                        <a:ext cx="2303859" cy="689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222" name="Line 6"/>
          <p:cNvSpPr>
            <a:spLocks noChangeShapeType="1"/>
          </p:cNvSpPr>
          <p:nvPr/>
        </p:nvSpPr>
        <p:spPr bwMode="auto">
          <a:xfrm>
            <a:off x="5543550" y="1140619"/>
            <a:ext cx="97274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/>
          <a:p>
            <a:endParaRPr lang="zh-CN" altLang="en-US" sz="1350"/>
          </a:p>
        </p:txBody>
      </p:sp>
      <p:sp>
        <p:nvSpPr>
          <p:cNvPr id="521223" name="Text Box 7"/>
          <p:cNvSpPr txBox="1">
            <a:spLocks noChangeArrowheads="1"/>
          </p:cNvSpPr>
          <p:nvPr/>
        </p:nvSpPr>
        <p:spPr bwMode="auto">
          <a:xfrm>
            <a:off x="1818085" y="1318022"/>
            <a:ext cx="24836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zh-CN" altLang="en-US" b="1">
                <a:solidFill>
                  <a:srgbClr val="3366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1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10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21224" name="Object 8"/>
          <p:cNvGraphicFramePr>
            <a:graphicFrameLocks noChangeAspect="1"/>
          </p:cNvGraphicFramePr>
          <p:nvPr/>
        </p:nvGraphicFramePr>
        <p:xfrm>
          <a:off x="2387204" y="1360885"/>
          <a:ext cx="501967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08400" imgH="736600" progId="Equation.3">
                  <p:embed/>
                </p:oleObj>
              </mc:Choice>
              <mc:Fallback>
                <p:oleObj name="公式" r:id="rId6" imgW="3708400" imgH="736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204" y="1360885"/>
                        <a:ext cx="5019675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5" name="Object 9"/>
          <p:cNvGraphicFramePr>
            <a:graphicFrameLocks noChangeAspect="1"/>
          </p:cNvGraphicFramePr>
          <p:nvPr/>
        </p:nvGraphicFramePr>
        <p:xfrm>
          <a:off x="2588419" y="2436019"/>
          <a:ext cx="213241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265" imgH="431800" progId="Equation.DSMT4">
                  <p:embed/>
                </p:oleObj>
              </mc:Choice>
              <mc:Fallback>
                <p:oleObj name="Equation" r:id="rId8" imgW="1358265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8419" y="2436019"/>
                        <a:ext cx="213241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6" name="Object 10"/>
          <p:cNvGraphicFramePr>
            <a:graphicFrameLocks noChangeAspect="1"/>
          </p:cNvGraphicFramePr>
          <p:nvPr/>
        </p:nvGraphicFramePr>
        <p:xfrm>
          <a:off x="2574131" y="4065985"/>
          <a:ext cx="1757363" cy="341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71600" imgH="266700" progId="Equation.3">
                  <p:embed/>
                </p:oleObj>
              </mc:Choice>
              <mc:Fallback>
                <p:oleObj name="公式" r:id="rId10" imgW="1371600" imgH="266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131" y="4065985"/>
                        <a:ext cx="1757363" cy="341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227" name="Text Box 11"/>
          <p:cNvSpPr txBox="1">
            <a:spLocks noChangeArrowheads="1"/>
          </p:cNvSpPr>
          <p:nvPr/>
        </p:nvSpPr>
        <p:spPr bwMode="auto">
          <a:xfrm>
            <a:off x="5587603" y="4018360"/>
            <a:ext cx="1139798" cy="39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>
                <a:solidFill>
                  <a:srgbClr val="000066"/>
                </a:solidFill>
              </a:rPr>
              <a:t>查表</a:t>
            </a:r>
          </a:p>
        </p:txBody>
      </p:sp>
      <p:sp>
        <p:nvSpPr>
          <p:cNvPr id="521228" name="Text Box 12"/>
          <p:cNvSpPr txBox="1">
            <a:spLocks noChangeArrowheads="1"/>
          </p:cNvSpPr>
          <p:nvPr/>
        </p:nvSpPr>
        <p:spPr bwMode="auto">
          <a:xfrm>
            <a:off x="3977878" y="4045744"/>
            <a:ext cx="1223154" cy="39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100" b="1">
                <a:solidFill>
                  <a:schemeClr val="tx2"/>
                </a:solidFill>
                <a:latin typeface="Times New Roman" panose="02020603050405020304" pitchFamily="18" charset="0"/>
              </a:rPr>
              <a:t>=0.10</a:t>
            </a:r>
          </a:p>
        </p:txBody>
      </p:sp>
      <p:sp>
        <p:nvSpPr>
          <p:cNvPr id="521229" name="Text Box 13"/>
          <p:cNvSpPr txBox="1">
            <a:spLocks noChangeArrowheads="1"/>
          </p:cNvSpPr>
          <p:nvPr/>
        </p:nvSpPr>
        <p:spPr bwMode="auto">
          <a:xfrm>
            <a:off x="5274469" y="654844"/>
            <a:ext cx="1227964" cy="44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kumimoji="1" lang="zh-CN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2400" b="1" baseline="30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(1)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1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52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9" grpId="0" build="p" autoUpdateAnimBg="0"/>
      <p:bldP spid="521227" grpId="0"/>
      <p:bldP spid="521228" grpId="0"/>
      <p:bldP spid="5212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ChangeArrowheads="1"/>
          </p:cNvSpPr>
          <p:nvPr/>
        </p:nvSpPr>
        <p:spPr bwMode="auto">
          <a:xfrm>
            <a:off x="1331119" y="3057525"/>
            <a:ext cx="3132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 i="1"/>
              <a:t>t </a:t>
            </a:r>
            <a:r>
              <a:rPr kumimoji="0" lang="zh-CN" altLang="en-US" sz="2100" b="1">
                <a:ea typeface="楷体_GB2312" pitchFamily="49" charset="-122"/>
              </a:rPr>
              <a:t>的概率密度为</a:t>
            </a:r>
            <a:r>
              <a:rPr kumimoji="0" lang="zh-CN" altLang="en-US" b="1"/>
              <a:t>：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4332685" y="2408635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3865960" y="2408635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aphicFrame>
        <p:nvGraphicFramePr>
          <p:cNvPr id="212997" name="Object 5"/>
          <p:cNvGraphicFramePr>
            <a:graphicFrameLocks noChangeAspect="1"/>
          </p:cNvGraphicFramePr>
          <p:nvPr/>
        </p:nvGraphicFramePr>
        <p:xfrm>
          <a:off x="1480438" y="3698076"/>
          <a:ext cx="3840956" cy="870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33600" imgH="482600" progId="Equation.3">
                  <p:embed/>
                </p:oleObj>
              </mc:Choice>
              <mc:Fallback>
                <p:oleObj r:id="rId2" imgW="21336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438" y="3698076"/>
                        <a:ext cx="3840956" cy="870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8" name="Text Box 6"/>
          <p:cNvSpPr txBox="1">
            <a:spLocks noChangeArrowheads="1"/>
          </p:cNvSpPr>
          <p:nvPr/>
        </p:nvSpPr>
        <p:spPr bwMode="auto">
          <a:xfrm>
            <a:off x="1385888" y="627460"/>
            <a:ext cx="3942160" cy="59253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350" dirty="0">
                <a:solidFill>
                  <a:schemeClr val="accent1"/>
                </a:solidFill>
              </a:rPr>
              <a:t> </a:t>
            </a:r>
            <a:r>
              <a:rPr lang="zh-CN" altLang="en-US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定义</a:t>
            </a:r>
            <a:r>
              <a:rPr lang="en-US" altLang="zh-CN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:</a:t>
            </a:r>
            <a:r>
              <a:rPr lang="en-US" altLang="zh-CN" sz="2400" b="1" dirty="0"/>
              <a:t>  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100" b="1" i="1" dirty="0">
                <a:ea typeface="华文楷体" panose="02010600040101010101" pitchFamily="2" charset="-122"/>
              </a:rPr>
              <a:t>X</a:t>
            </a:r>
            <a:r>
              <a:rPr lang="zh-CN" altLang="en-US" sz="2100" b="1" dirty="0">
                <a:ea typeface="华文楷体" panose="02010600040101010101" pitchFamily="2" charset="-122"/>
              </a:rPr>
              <a:t>～</a:t>
            </a:r>
            <a:r>
              <a:rPr lang="en-US" altLang="zh-CN" sz="2100" b="1" i="1" dirty="0">
                <a:ea typeface="华文楷体" panose="02010600040101010101" pitchFamily="2" charset="-122"/>
              </a:rPr>
              <a:t>N</a:t>
            </a:r>
            <a:r>
              <a:rPr lang="en-US" altLang="zh-CN" sz="2100" b="1" dirty="0">
                <a:ea typeface="华文楷体" panose="02010600040101010101" pitchFamily="2" charset="-122"/>
              </a:rPr>
              <a:t>( 0 , 1 )</a:t>
            </a:r>
            <a:r>
              <a:rPr lang="en-US" altLang="zh-CN" sz="2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,</a:t>
            </a:r>
            <a:r>
              <a:rPr lang="en-US" altLang="zh-CN" sz="21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Y</a:t>
            </a:r>
            <a:r>
              <a:rPr lang="zh-CN" altLang="en-US" sz="2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～</a:t>
            </a:r>
            <a:endParaRPr lang="zh-CN" altLang="en-US" sz="21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2999" name="Object 7"/>
          <p:cNvGraphicFramePr>
            <a:graphicFrameLocks noChangeAspect="1"/>
          </p:cNvGraphicFramePr>
          <p:nvPr/>
        </p:nvGraphicFramePr>
        <p:xfrm>
          <a:off x="3600451" y="1221581"/>
          <a:ext cx="1308497" cy="939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60400" imgH="469900" progId="Equation.3">
                  <p:embed/>
                </p:oleObj>
              </mc:Choice>
              <mc:Fallback>
                <p:oleObj r:id="rId4" imgW="6604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1" y="1221581"/>
                        <a:ext cx="1308497" cy="939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0" name="Rectangle 8"/>
          <p:cNvSpPr>
            <a:spLocks noChangeArrowheads="1"/>
          </p:cNvSpPr>
          <p:nvPr/>
        </p:nvSpPr>
        <p:spPr bwMode="auto">
          <a:xfrm>
            <a:off x="1143001" y="2301479"/>
            <a:ext cx="66698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所服从的分布为自由度为 </a:t>
            </a:r>
            <a:r>
              <a:rPr kumimoji="0" lang="en-US" altLang="zh-CN" sz="2100" b="1" i="1">
                <a:ea typeface="楷体_GB2312" pitchFamily="49" charset="-122"/>
              </a:rPr>
              <a:t>n 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的 </a:t>
            </a:r>
            <a:r>
              <a:rPr kumimoji="0" lang="en-US" altLang="zh-CN" sz="2100" b="1" i="1">
                <a:ea typeface="楷体_GB2312" pitchFamily="49" charset="-122"/>
              </a:rPr>
              <a:t>t</a:t>
            </a:r>
            <a:r>
              <a:rPr kumimoji="0" lang="en-US" altLang="zh-CN" sz="2100" b="1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分布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记为</a:t>
            </a:r>
            <a:r>
              <a:rPr kumimoji="0" lang="en-US" altLang="zh-CN" b="1" i="1">
                <a:solidFill>
                  <a:srgbClr val="0000FF"/>
                </a:solidFill>
              </a:rPr>
              <a:t>t</a:t>
            </a:r>
            <a:r>
              <a:rPr kumimoji="0" lang="zh-CN" altLang="en-US" b="1">
                <a:solidFill>
                  <a:srgbClr val="0000FF"/>
                </a:solidFill>
                <a:latin typeface="宋体" panose="02010600030101010101" pitchFamily="2" charset="-122"/>
              </a:rPr>
              <a:t>～</a:t>
            </a:r>
            <a:r>
              <a:rPr kumimoji="0" lang="en-US" altLang="zh-CN" b="1" i="1">
                <a:solidFill>
                  <a:srgbClr val="0000FF"/>
                </a:solidFill>
              </a:rPr>
              <a:t>t </a:t>
            </a:r>
            <a:r>
              <a:rPr kumimoji="0" lang="en-US" altLang="zh-CN" b="1">
                <a:solidFill>
                  <a:srgbClr val="0000FF"/>
                </a:solidFill>
              </a:rPr>
              <a:t>(</a:t>
            </a:r>
            <a:r>
              <a:rPr kumimoji="0" lang="en-US" altLang="zh-CN" b="1" i="1">
                <a:solidFill>
                  <a:srgbClr val="0000FF"/>
                </a:solidFill>
              </a:rPr>
              <a:t>n</a:t>
            </a:r>
            <a:r>
              <a:rPr kumimoji="0" lang="en-US" altLang="zh-CN" b="1">
                <a:solidFill>
                  <a:srgbClr val="0000FF"/>
                </a:solidFill>
              </a:rPr>
              <a:t>).</a:t>
            </a:r>
            <a:endParaRPr kumimoji="0" lang="en-US" altLang="zh-CN" sz="21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3001" name="Object 9"/>
          <p:cNvGraphicFramePr>
            <a:graphicFrameLocks noChangeAspect="1"/>
          </p:cNvGraphicFramePr>
          <p:nvPr/>
        </p:nvGraphicFramePr>
        <p:xfrm>
          <a:off x="4733925" y="735806"/>
          <a:ext cx="73937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19735" imgH="228600" progId="Equation.3">
                  <p:embed/>
                </p:oleObj>
              </mc:Choice>
              <mc:Fallback>
                <p:oleObj r:id="rId6" imgW="419735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735806"/>
                        <a:ext cx="739379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2" name="Rectangle 10"/>
          <p:cNvSpPr>
            <a:spLocks noChangeArrowheads="1"/>
          </p:cNvSpPr>
          <p:nvPr/>
        </p:nvSpPr>
        <p:spPr bwMode="auto">
          <a:xfrm>
            <a:off x="1771650" y="171450"/>
            <a:ext cx="20443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/>
              <a:t>2</a:t>
            </a:r>
            <a:r>
              <a:rPr kumimoji="0" lang="zh-CN" altLang="en-US" b="1" i="1"/>
              <a:t>、</a:t>
            </a:r>
            <a:r>
              <a:rPr kumimoji="0" lang="en-US" altLang="zh-CN" b="1" i="1"/>
              <a:t>t </a:t>
            </a:r>
            <a:r>
              <a:rPr kumimoji="0" lang="zh-CN" altLang="en-US" b="1"/>
              <a:t>分布</a:t>
            </a:r>
          </a:p>
        </p:txBody>
      </p:sp>
      <p:sp>
        <p:nvSpPr>
          <p:cNvPr id="213003" name="Rectangle 11"/>
          <p:cNvSpPr>
            <a:spLocks noChangeArrowheads="1"/>
          </p:cNvSpPr>
          <p:nvPr/>
        </p:nvSpPr>
        <p:spPr bwMode="auto">
          <a:xfrm>
            <a:off x="5651898" y="789385"/>
            <a:ext cx="234910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，且 </a:t>
            </a:r>
            <a:r>
              <a:rPr kumimoji="0" lang="en-US" altLang="zh-CN" sz="2100" b="1" i="1">
                <a:ea typeface="楷体_GB2312" pitchFamily="49" charset="-122"/>
              </a:rPr>
              <a:t>X 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与 </a:t>
            </a:r>
            <a:r>
              <a:rPr kumimoji="0" lang="en-US" altLang="zh-CN" sz="2100" b="1" i="1">
                <a:ea typeface="华文楷体" panose="02010600040101010101" pitchFamily="2" charset="-122"/>
              </a:rPr>
              <a:t>Y 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相互</a:t>
            </a:r>
          </a:p>
        </p:txBody>
      </p:sp>
      <p:sp>
        <p:nvSpPr>
          <p:cNvPr id="213004" name="Rectangle 12"/>
          <p:cNvSpPr>
            <a:spLocks noChangeArrowheads="1"/>
          </p:cNvSpPr>
          <p:nvPr/>
        </p:nvSpPr>
        <p:spPr bwMode="auto">
          <a:xfrm>
            <a:off x="1331119" y="1329929"/>
            <a:ext cx="2069797" cy="519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独立，则称变量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300192" y="3147814"/>
                <a:ext cx="240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思考：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=?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3147814"/>
                <a:ext cx="2408480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5" t="-32" r="12" b="-13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977249" y="3691593"/>
                <a:ext cx="3244543" cy="604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答案：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249" y="3691593"/>
                <a:ext cx="3244543" cy="604204"/>
              </a:xfrm>
              <a:prstGeom prst="rect">
                <a:avLst/>
              </a:prstGeom>
              <a:blipFill rotWithShape="1">
                <a:blip r:embed="rId9"/>
                <a:stretch>
                  <a:fillRect l="-19" t="-56" r="10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10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2998" grpId="0" autoUpdateAnimBg="0"/>
      <p:bldP spid="213000" grpId="0" autoUpdateAnimBg="0"/>
      <p:bldP spid="213002" grpId="0" autoUpdateAnimBg="0"/>
      <p:bldP spid="213003" grpId="0" autoUpdateAnimBg="0"/>
      <p:bldP spid="21300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未知"/>
          <p:cNvSpPr/>
          <p:nvPr/>
        </p:nvSpPr>
        <p:spPr bwMode="auto">
          <a:xfrm>
            <a:off x="2757488" y="1579960"/>
            <a:ext cx="2857500" cy="1552575"/>
          </a:xfrm>
          <a:custGeom>
            <a:avLst/>
            <a:gdLst>
              <a:gd name="T0" fmla="*/ 0 w 2400"/>
              <a:gd name="T1" fmla="*/ 2147483646 h 1304"/>
              <a:gd name="T2" fmla="*/ 2147483646 w 2400"/>
              <a:gd name="T3" fmla="*/ 2147483646 h 1304"/>
              <a:gd name="T4" fmla="*/ 2147483646 w 2400"/>
              <a:gd name="T5" fmla="*/ 2147483646 h 1304"/>
              <a:gd name="T6" fmla="*/ 2147483646 w 2400"/>
              <a:gd name="T7" fmla="*/ 2147483646 h 1304"/>
              <a:gd name="T8" fmla="*/ 2147483646 w 2400"/>
              <a:gd name="T9" fmla="*/ 2147483646 h 1304"/>
              <a:gd name="T10" fmla="*/ 2147483646 w 2400"/>
              <a:gd name="T11" fmla="*/ 2147483646 h 1304"/>
              <a:gd name="T12" fmla="*/ 2147483646 w 2400"/>
              <a:gd name="T13" fmla="*/ 2147483646 h 1304"/>
              <a:gd name="T14" fmla="*/ 2147483646 w 2400"/>
              <a:gd name="T15" fmla="*/ 2147483646 h 1304"/>
              <a:gd name="T16" fmla="*/ 2147483646 w 2400"/>
              <a:gd name="T17" fmla="*/ 2147483646 h 1304"/>
              <a:gd name="T18" fmla="*/ 2147483646 w 2400"/>
              <a:gd name="T19" fmla="*/ 2147483646 h 1304"/>
              <a:gd name="T20" fmla="*/ 2147483646 w 2400"/>
              <a:gd name="T21" fmla="*/ 2147483646 h 1304"/>
              <a:gd name="T22" fmla="*/ 2147483646 w 2400"/>
              <a:gd name="T23" fmla="*/ 2147483646 h 1304"/>
              <a:gd name="T24" fmla="*/ 2147483646 w 2400"/>
              <a:gd name="T25" fmla="*/ 2147483646 h 130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4019" name="未知"/>
          <p:cNvSpPr/>
          <p:nvPr/>
        </p:nvSpPr>
        <p:spPr bwMode="auto">
          <a:xfrm>
            <a:off x="2757488" y="2160985"/>
            <a:ext cx="2857500" cy="866775"/>
          </a:xfrm>
          <a:custGeom>
            <a:avLst/>
            <a:gdLst>
              <a:gd name="T0" fmla="*/ 0 w 2400"/>
              <a:gd name="T1" fmla="*/ 2147483646 h 1304"/>
              <a:gd name="T2" fmla="*/ 2147483646 w 2400"/>
              <a:gd name="T3" fmla="*/ 2147483646 h 1304"/>
              <a:gd name="T4" fmla="*/ 2147483646 w 2400"/>
              <a:gd name="T5" fmla="*/ 2147483646 h 1304"/>
              <a:gd name="T6" fmla="*/ 2147483646 w 2400"/>
              <a:gd name="T7" fmla="*/ 2147483646 h 1304"/>
              <a:gd name="T8" fmla="*/ 2147483646 w 2400"/>
              <a:gd name="T9" fmla="*/ 2147483646 h 1304"/>
              <a:gd name="T10" fmla="*/ 2147483646 w 2400"/>
              <a:gd name="T11" fmla="*/ 2147483646 h 1304"/>
              <a:gd name="T12" fmla="*/ 2147483646 w 2400"/>
              <a:gd name="T13" fmla="*/ 2147483646 h 1304"/>
              <a:gd name="T14" fmla="*/ 2147483646 w 2400"/>
              <a:gd name="T15" fmla="*/ 2147483646 h 1304"/>
              <a:gd name="T16" fmla="*/ 2147483646 w 2400"/>
              <a:gd name="T17" fmla="*/ 2147483646 h 1304"/>
              <a:gd name="T18" fmla="*/ 2147483646 w 2400"/>
              <a:gd name="T19" fmla="*/ 2147483646 h 1304"/>
              <a:gd name="T20" fmla="*/ 2147483646 w 2400"/>
              <a:gd name="T21" fmla="*/ 2147483646 h 1304"/>
              <a:gd name="T22" fmla="*/ 2147483646 w 2400"/>
              <a:gd name="T23" fmla="*/ 2147483646 h 1304"/>
              <a:gd name="T24" fmla="*/ 2147483646 w 2400"/>
              <a:gd name="T25" fmla="*/ 2147483646 h 130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3366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4020" name="未知"/>
          <p:cNvSpPr/>
          <p:nvPr/>
        </p:nvSpPr>
        <p:spPr bwMode="auto">
          <a:xfrm>
            <a:off x="2757488" y="1818085"/>
            <a:ext cx="2857500" cy="1266825"/>
          </a:xfrm>
          <a:custGeom>
            <a:avLst/>
            <a:gdLst>
              <a:gd name="T0" fmla="*/ 0 w 2400"/>
              <a:gd name="T1" fmla="*/ 2147483646 h 1304"/>
              <a:gd name="T2" fmla="*/ 2147483646 w 2400"/>
              <a:gd name="T3" fmla="*/ 2147483646 h 1304"/>
              <a:gd name="T4" fmla="*/ 2147483646 w 2400"/>
              <a:gd name="T5" fmla="*/ 2147483646 h 1304"/>
              <a:gd name="T6" fmla="*/ 2147483646 w 2400"/>
              <a:gd name="T7" fmla="*/ 2147483646 h 1304"/>
              <a:gd name="T8" fmla="*/ 2147483646 w 2400"/>
              <a:gd name="T9" fmla="*/ 2147483646 h 1304"/>
              <a:gd name="T10" fmla="*/ 2147483646 w 2400"/>
              <a:gd name="T11" fmla="*/ 2147483646 h 1304"/>
              <a:gd name="T12" fmla="*/ 2147483646 w 2400"/>
              <a:gd name="T13" fmla="*/ 2147483646 h 1304"/>
              <a:gd name="T14" fmla="*/ 2147483646 w 2400"/>
              <a:gd name="T15" fmla="*/ 2147483646 h 1304"/>
              <a:gd name="T16" fmla="*/ 2147483646 w 2400"/>
              <a:gd name="T17" fmla="*/ 2147483646 h 1304"/>
              <a:gd name="T18" fmla="*/ 2147483646 w 2400"/>
              <a:gd name="T19" fmla="*/ 2147483646 h 1304"/>
              <a:gd name="T20" fmla="*/ 2147483646 w 2400"/>
              <a:gd name="T21" fmla="*/ 2147483646 h 1304"/>
              <a:gd name="T22" fmla="*/ 2147483646 w 2400"/>
              <a:gd name="T23" fmla="*/ 2147483646 h 1304"/>
              <a:gd name="T24" fmla="*/ 2147483646 w 2400"/>
              <a:gd name="T25" fmla="*/ 2147483646 h 130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4586288" y="1589485"/>
            <a:ext cx="5597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b="1" i="1">
                <a:solidFill>
                  <a:srgbClr val="FF33CC"/>
                </a:solidFill>
                <a:ea typeface="楷体_GB2312" pitchFamily="49" charset="-122"/>
              </a:rPr>
              <a:t>n</a:t>
            </a:r>
            <a:r>
              <a:rPr kumimoji="0" lang="en-US" altLang="zh-CN" sz="1800" b="1">
                <a:solidFill>
                  <a:srgbClr val="FF33CC"/>
                </a:solidFill>
                <a:ea typeface="楷体_GB2312" pitchFamily="49" charset="-122"/>
              </a:rPr>
              <a:t>=4</a:t>
            </a:r>
          </a:p>
        </p:txBody>
      </p:sp>
      <p:sp>
        <p:nvSpPr>
          <p:cNvPr id="214022" name="Text Box 6"/>
          <p:cNvSpPr txBox="1">
            <a:spLocks noChangeArrowheads="1"/>
          </p:cNvSpPr>
          <p:nvPr/>
        </p:nvSpPr>
        <p:spPr bwMode="auto">
          <a:xfrm>
            <a:off x="4491038" y="1246585"/>
            <a:ext cx="6751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b="1" i="1">
                <a:solidFill>
                  <a:srgbClr val="FF5050"/>
                </a:solidFill>
                <a:ea typeface="楷体_GB2312" pitchFamily="49" charset="-122"/>
              </a:rPr>
              <a:t>n</a:t>
            </a:r>
            <a:r>
              <a:rPr kumimoji="0" lang="en-US" altLang="zh-CN" sz="1800" b="1">
                <a:solidFill>
                  <a:srgbClr val="FF5050"/>
                </a:solidFill>
                <a:ea typeface="楷体_GB2312" pitchFamily="49" charset="-122"/>
              </a:rPr>
              <a:t>=10</a:t>
            </a:r>
          </a:p>
        </p:txBody>
      </p:sp>
      <p:sp>
        <p:nvSpPr>
          <p:cNvPr id="214023" name="Text Box 7"/>
          <p:cNvSpPr txBox="1">
            <a:spLocks noChangeArrowheads="1"/>
          </p:cNvSpPr>
          <p:nvPr/>
        </p:nvSpPr>
        <p:spPr bwMode="auto">
          <a:xfrm>
            <a:off x="4700588" y="1932385"/>
            <a:ext cx="5597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b="1" i="1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kumimoji="0" lang="en-US" altLang="zh-CN" sz="1800" b="1">
                <a:solidFill>
                  <a:srgbClr val="0000FF"/>
                </a:solidFill>
                <a:ea typeface="楷体_GB2312" pitchFamily="49" charset="-122"/>
              </a:rPr>
              <a:t>=1</a:t>
            </a:r>
          </a:p>
        </p:txBody>
      </p:sp>
      <p:sp>
        <p:nvSpPr>
          <p:cNvPr id="214024" name="Line 8"/>
          <p:cNvSpPr>
            <a:spLocks noChangeShapeType="1"/>
          </p:cNvSpPr>
          <p:nvPr/>
        </p:nvSpPr>
        <p:spPr bwMode="auto">
          <a:xfrm flipH="1">
            <a:off x="4300538" y="1475185"/>
            <a:ext cx="228600" cy="171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4025" name="Line 9"/>
          <p:cNvSpPr>
            <a:spLocks noChangeShapeType="1"/>
          </p:cNvSpPr>
          <p:nvPr/>
        </p:nvSpPr>
        <p:spPr bwMode="auto">
          <a:xfrm flipH="1">
            <a:off x="4357688" y="1818085"/>
            <a:ext cx="228600" cy="17145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4026" name="Line 10"/>
          <p:cNvSpPr>
            <a:spLocks noChangeShapeType="1"/>
          </p:cNvSpPr>
          <p:nvPr/>
        </p:nvSpPr>
        <p:spPr bwMode="auto">
          <a:xfrm flipH="1">
            <a:off x="4414838" y="2218135"/>
            <a:ext cx="285750" cy="1143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3019" name="Group 11"/>
          <p:cNvGrpSpPr/>
          <p:nvPr/>
        </p:nvGrpSpPr>
        <p:grpSpPr bwMode="auto">
          <a:xfrm>
            <a:off x="2357437" y="789385"/>
            <a:ext cx="4206479" cy="2686050"/>
            <a:chOff x="0" y="0"/>
            <a:chExt cx="3533" cy="2256"/>
          </a:xfrm>
        </p:grpSpPr>
        <p:sp>
          <p:nvSpPr>
            <p:cNvPr id="43023" name="Line 12"/>
            <p:cNvSpPr>
              <a:spLocks noChangeShapeType="1"/>
            </p:cNvSpPr>
            <p:nvPr/>
          </p:nvSpPr>
          <p:spPr bwMode="auto">
            <a:xfrm>
              <a:off x="0" y="2042"/>
              <a:ext cx="33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3024" name="Line 13"/>
            <p:cNvSpPr>
              <a:spLocks noChangeShapeType="1"/>
            </p:cNvSpPr>
            <p:nvPr/>
          </p:nvSpPr>
          <p:spPr bwMode="auto">
            <a:xfrm rot="10800000" flipH="1">
              <a:off x="1536" y="192"/>
              <a:ext cx="8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43025" name="Object 14"/>
            <p:cNvGraphicFramePr>
              <a:graphicFrameLocks noChangeAspect="1"/>
            </p:cNvGraphicFramePr>
            <p:nvPr/>
          </p:nvGraphicFramePr>
          <p:xfrm>
            <a:off x="3312" y="1937"/>
            <a:ext cx="22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7000" imgH="139700" progId="Equation.3">
                    <p:embed/>
                  </p:oleObj>
                </mc:Choice>
                <mc:Fallback>
                  <p:oleObj r:id="rId2" imgW="127000" imgH="1397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937"/>
                          <a:ext cx="22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Text Box 15"/>
            <p:cNvSpPr txBox="1">
              <a:spLocks noChangeArrowheads="1"/>
            </p:cNvSpPr>
            <p:nvPr/>
          </p:nvSpPr>
          <p:spPr bwMode="auto">
            <a:xfrm>
              <a:off x="1533" y="0"/>
              <a:ext cx="61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1">
                  <a:ea typeface="楷体_GB2312" pitchFamily="49" charset="-122"/>
                </a:rPr>
                <a:t>t(</a:t>
              </a:r>
              <a:r>
                <a:rPr kumimoji="0" lang="en-US" altLang="zh-CN" sz="1800" b="1" i="1">
                  <a:ea typeface="楷体_GB2312" pitchFamily="49" charset="-122"/>
                </a:rPr>
                <a:t>x</a:t>
              </a:r>
              <a:r>
                <a:rPr kumimoji="0" lang="en-US" altLang="zh-CN" sz="1800" b="1">
                  <a:ea typeface="楷体_GB2312" pitchFamily="49" charset="-122"/>
                </a:rPr>
                <a:t>;</a:t>
              </a:r>
              <a:r>
                <a:rPr kumimoji="0" lang="en-US" altLang="zh-CN" sz="1800" b="1" i="1">
                  <a:ea typeface="楷体_GB2312" pitchFamily="49" charset="-122"/>
                </a:rPr>
                <a:t>n</a:t>
              </a:r>
              <a:r>
                <a:rPr kumimoji="0" lang="en-US" altLang="zh-CN" sz="1800" b="1">
                  <a:ea typeface="楷体_GB2312" pitchFamily="49" charset="-122"/>
                </a:rPr>
                <a:t>)</a:t>
              </a:r>
            </a:p>
          </p:txBody>
        </p:sp>
        <p:graphicFrame>
          <p:nvGraphicFramePr>
            <p:cNvPr id="43027" name="Object 16"/>
            <p:cNvGraphicFramePr>
              <a:graphicFrameLocks noChangeAspect="1"/>
            </p:cNvGraphicFramePr>
            <p:nvPr/>
          </p:nvGraphicFramePr>
          <p:xfrm>
            <a:off x="1365" y="2064"/>
            <a:ext cx="171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7000" imgH="139700" progId="Equation.3">
                    <p:embed/>
                  </p:oleObj>
                </mc:Choice>
                <mc:Fallback>
                  <p:oleObj r:id="rId4" imgW="127000" imgH="1397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5" y="2064"/>
                          <a:ext cx="171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20" name="AutoShape 1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5029201" y="4673085"/>
            <a:ext cx="184731" cy="369332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3021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5943601" y="4673085"/>
            <a:ext cx="184731" cy="369332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3022" name="AutoShape 19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6915151" y="4673085"/>
            <a:ext cx="184731" cy="369332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1" grpId="0" autoUpdateAnimBg="0"/>
      <p:bldP spid="214022" grpId="0" autoUpdateAnimBg="0"/>
      <p:bldP spid="21402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4251722" y="2469356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215043" name="Rectangle 3"/>
          <p:cNvSpPr>
            <a:spLocks noChangeArrowheads="1"/>
          </p:cNvSpPr>
          <p:nvPr/>
        </p:nvSpPr>
        <p:spPr bwMode="auto">
          <a:xfrm>
            <a:off x="1871663" y="1329929"/>
            <a:ext cx="5724525" cy="199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100" b="1" i="1">
                <a:ea typeface="楷体_GB2312" pitchFamily="49" charset="-122"/>
              </a:rPr>
              <a:t>       t</a:t>
            </a:r>
            <a:r>
              <a:rPr kumimoji="0" lang="zh-CN" altLang="en-US" sz="2100" b="1">
                <a:ea typeface="楷体_GB2312" pitchFamily="49" charset="-122"/>
              </a:rPr>
              <a:t>分布的概率密度函数关于</a:t>
            </a:r>
            <a:r>
              <a:rPr kumimoji="0" lang="en-US" altLang="zh-CN" sz="2100" b="1" i="1">
                <a:ea typeface="楷体_GB2312" pitchFamily="49" charset="-122"/>
              </a:rPr>
              <a:t>t</a:t>
            </a:r>
            <a:r>
              <a:rPr kumimoji="0" lang="en-US" altLang="zh-CN" sz="2100" b="1">
                <a:ea typeface="楷体_GB2312" pitchFamily="49" charset="-122"/>
              </a:rPr>
              <a:t>=0</a:t>
            </a:r>
            <a:r>
              <a:rPr kumimoji="0" lang="zh-CN" altLang="en-US" sz="2100" b="1">
                <a:ea typeface="楷体_GB2312" pitchFamily="49" charset="-122"/>
              </a:rPr>
              <a:t>对称，且</a:t>
            </a:r>
          </a:p>
          <a:p>
            <a:pPr>
              <a:lnSpc>
                <a:spcPct val="170000"/>
              </a:lnSpc>
            </a:pPr>
            <a:r>
              <a:rPr kumimoji="0" lang="zh-CN" altLang="en-US" sz="2100" b="1">
                <a:ea typeface="楷体_GB2312" pitchFamily="49" charset="-122"/>
              </a:rPr>
              <a:t>当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zh-CN" altLang="en-US" sz="2100" b="1">
                <a:ea typeface="楷体_GB2312" pitchFamily="49" charset="-122"/>
              </a:rPr>
              <a:t>充分大时</a:t>
            </a:r>
            <a:r>
              <a:rPr kumimoji="0" lang="en-US" altLang="zh-CN" sz="2100" b="1">
                <a:ea typeface="楷体_GB2312" pitchFamily="49" charset="-122"/>
              </a:rPr>
              <a:t>(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>
                <a:ea typeface="楷体_GB2312" pitchFamily="49" charset="-122"/>
              </a:rPr>
              <a:t>≥30)</a:t>
            </a:r>
            <a:r>
              <a:rPr kumimoji="0" lang="zh-CN" altLang="en-US" sz="2100" b="1">
                <a:ea typeface="楷体_GB2312" pitchFamily="49" charset="-122"/>
              </a:rPr>
              <a:t>，其图形与标准正态分布的概率密度函数的图形非常接近</a:t>
            </a:r>
            <a:r>
              <a:rPr kumimoji="0" lang="en-US" altLang="zh-CN" sz="2100" b="1">
                <a:ea typeface="楷体_GB2312" pitchFamily="49" charset="-122"/>
              </a:rPr>
              <a:t>.</a:t>
            </a:r>
            <a:r>
              <a:rPr kumimoji="0" lang="zh-CN" altLang="en-US" sz="2100" b="1">
                <a:ea typeface="楷体_GB2312" pitchFamily="49" charset="-122"/>
              </a:rPr>
              <a:t>但对于较小的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zh-CN" altLang="en-US" sz="2100" b="1">
                <a:ea typeface="楷体_GB2312" pitchFamily="49" charset="-122"/>
              </a:rPr>
              <a:t>，</a:t>
            </a:r>
            <a:r>
              <a:rPr kumimoji="0" lang="en-US" altLang="zh-CN" sz="2100" b="1" i="1">
                <a:ea typeface="楷体_GB2312" pitchFamily="49" charset="-122"/>
              </a:rPr>
              <a:t>t </a:t>
            </a:r>
            <a:r>
              <a:rPr kumimoji="0" lang="zh-CN" altLang="en-US" sz="2100" b="1">
                <a:ea typeface="楷体_GB2312" pitchFamily="49" charset="-122"/>
              </a:rPr>
              <a:t>分布与</a:t>
            </a:r>
            <a:r>
              <a:rPr kumimoji="0" lang="en-US" altLang="zh-CN" sz="2100" b="1" i="1">
                <a:ea typeface="楷体_GB2312" pitchFamily="49" charset="-122"/>
              </a:rPr>
              <a:t>N </a:t>
            </a:r>
            <a:r>
              <a:rPr kumimoji="0" lang="en-US" altLang="zh-CN" sz="2100" b="1">
                <a:ea typeface="楷体_GB2312" pitchFamily="49" charset="-122"/>
              </a:rPr>
              <a:t>(0,1)</a:t>
            </a:r>
            <a:r>
              <a:rPr kumimoji="0" lang="zh-CN" altLang="en-US" sz="2100" b="1">
                <a:ea typeface="楷体_GB2312" pitchFamily="49" charset="-122"/>
              </a:rPr>
              <a:t>分布相差很大</a:t>
            </a:r>
            <a:r>
              <a:rPr kumimoji="0" lang="en-US" altLang="zh-CN" sz="2100" b="1"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3961210" y="2343150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4143375" y="2451497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216068" name="Rectangle 4"/>
          <p:cNvSpPr>
            <a:spLocks noChangeArrowheads="1"/>
          </p:cNvSpPr>
          <p:nvPr/>
        </p:nvSpPr>
        <p:spPr bwMode="auto">
          <a:xfrm>
            <a:off x="1709738" y="3759994"/>
            <a:ext cx="245745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由定义可见，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4089797" y="2461022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216070" name="Rectangle 6"/>
          <p:cNvSpPr>
            <a:spLocks noChangeArrowheads="1"/>
          </p:cNvSpPr>
          <p:nvPr/>
        </p:nvSpPr>
        <p:spPr bwMode="auto">
          <a:xfrm>
            <a:off x="1828801" y="285750"/>
            <a:ext cx="17168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/>
              <a:t>3</a:t>
            </a:r>
            <a:r>
              <a:rPr kumimoji="0" lang="zh-CN" altLang="en-US" b="1"/>
              <a:t>、</a:t>
            </a:r>
            <a:r>
              <a:rPr kumimoji="0" lang="en-US" altLang="zh-CN" b="1" i="1"/>
              <a:t>F</a:t>
            </a:r>
            <a:r>
              <a:rPr kumimoji="0" lang="zh-CN" altLang="en-US" b="1"/>
              <a:t>分布</a:t>
            </a:r>
          </a:p>
        </p:txBody>
      </p:sp>
      <p:sp>
        <p:nvSpPr>
          <p:cNvPr id="216071" name="Rectangle 7"/>
          <p:cNvSpPr>
            <a:spLocks noChangeArrowheads="1"/>
          </p:cNvSpPr>
          <p:nvPr/>
        </p:nvSpPr>
        <p:spPr bwMode="auto">
          <a:xfrm>
            <a:off x="1494235" y="1437085"/>
            <a:ext cx="2268140" cy="434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kumimoji="0" lang="zh-CN" altLang="en-US" sz="2100" b="1">
                <a:ea typeface="楷体_GB2312" pitchFamily="49" charset="-122"/>
              </a:rPr>
              <a:t>则称统计量</a:t>
            </a:r>
          </a:p>
        </p:txBody>
      </p:sp>
      <p:sp>
        <p:nvSpPr>
          <p:cNvPr id="216072" name="Rectangle 8"/>
          <p:cNvSpPr>
            <a:spLocks noChangeArrowheads="1"/>
          </p:cNvSpPr>
          <p:nvPr/>
        </p:nvSpPr>
        <p:spPr bwMode="auto">
          <a:xfrm>
            <a:off x="1385888" y="2193131"/>
            <a:ext cx="6344841" cy="51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zh-CN" altLang="en-US" sz="2100" b="1">
                <a:ea typeface="楷体_GB2312" pitchFamily="49" charset="-122"/>
              </a:rPr>
              <a:t>服从自由度为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ea typeface="楷体_GB2312" pitchFamily="49" charset="-122"/>
              </a:rPr>
              <a:t>1</a:t>
            </a:r>
            <a:r>
              <a:rPr kumimoji="0" lang="zh-CN" altLang="en-US" sz="2100" b="1">
                <a:ea typeface="楷体_GB2312" pitchFamily="49" charset="-122"/>
              </a:rPr>
              <a:t>及 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ea typeface="楷体_GB2312" pitchFamily="49" charset="-122"/>
              </a:rPr>
              <a:t>2  </a:t>
            </a:r>
            <a:r>
              <a:rPr kumimoji="0" lang="zh-CN" altLang="en-US" sz="2100" b="1">
                <a:ea typeface="楷体_GB2312" pitchFamily="49" charset="-122"/>
              </a:rPr>
              <a:t>的</a:t>
            </a:r>
            <a:r>
              <a:rPr kumimoji="0" lang="en-US" altLang="zh-CN" sz="2100" b="1" i="1">
                <a:ea typeface="楷体_GB2312" pitchFamily="49" charset="-122"/>
              </a:rPr>
              <a:t>F</a:t>
            </a:r>
            <a:r>
              <a:rPr kumimoji="0" lang="zh-CN" altLang="en-US" sz="2100" b="1">
                <a:ea typeface="楷体_GB2312" pitchFamily="49" charset="-122"/>
              </a:rPr>
              <a:t>分布，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ea typeface="楷体_GB2312" pitchFamily="49" charset="-122"/>
              </a:rPr>
              <a:t>1</a:t>
            </a:r>
            <a:r>
              <a:rPr kumimoji="0" lang="zh-CN" altLang="en-US" sz="2100" b="1">
                <a:ea typeface="楷体_GB2312" pitchFamily="49" charset="-122"/>
              </a:rPr>
              <a:t>称为第一自由度，</a:t>
            </a:r>
          </a:p>
        </p:txBody>
      </p:sp>
      <p:graphicFrame>
        <p:nvGraphicFramePr>
          <p:cNvPr id="216073" name="Object 9"/>
          <p:cNvGraphicFramePr>
            <a:graphicFrameLocks noChangeAspect="1"/>
          </p:cNvGraphicFramePr>
          <p:nvPr/>
        </p:nvGraphicFramePr>
        <p:xfrm>
          <a:off x="3221832" y="1329928"/>
          <a:ext cx="1221581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8500" imgH="444500" progId="Equation.3">
                  <p:embed/>
                </p:oleObj>
              </mc:Choice>
              <mc:Fallback>
                <p:oleObj r:id="rId2" imgW="6985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32" y="1329928"/>
                        <a:ext cx="1221581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4337447" y="2412206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pSp>
        <p:nvGrpSpPr>
          <p:cNvPr id="216075" name="Group 11"/>
          <p:cNvGrpSpPr/>
          <p:nvPr/>
        </p:nvGrpSpPr>
        <p:grpSpPr bwMode="auto">
          <a:xfrm>
            <a:off x="3492103" y="3598069"/>
            <a:ext cx="2957513" cy="781050"/>
            <a:chOff x="0" y="0"/>
            <a:chExt cx="2484" cy="656"/>
          </a:xfrm>
        </p:grpSpPr>
        <p:graphicFrame>
          <p:nvGraphicFramePr>
            <p:cNvPr id="45072" name="Object 12"/>
            <p:cNvGraphicFramePr>
              <a:graphicFrameLocks noChangeAspect="1"/>
            </p:cNvGraphicFramePr>
            <p:nvPr/>
          </p:nvGraphicFramePr>
          <p:xfrm>
            <a:off x="0" y="0"/>
            <a:ext cx="1033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23900" imgH="444500" progId="Equation.3">
                    <p:embed/>
                  </p:oleObj>
                </mc:Choice>
                <mc:Fallback>
                  <p:oleObj r:id="rId4" imgW="723900" imgH="4445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033" cy="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3" name="Rectangle 13"/>
            <p:cNvSpPr>
              <a:spLocks noChangeArrowheads="1"/>
            </p:cNvSpPr>
            <p:nvPr/>
          </p:nvSpPr>
          <p:spPr bwMode="auto">
            <a:xfrm>
              <a:off x="1044" y="105"/>
              <a:ext cx="144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100" b="1"/>
                <a:t>~</a:t>
              </a:r>
              <a:r>
                <a:rPr kumimoji="0" lang="en-US" altLang="zh-CN" sz="2100" b="1" i="1"/>
                <a:t>F</a:t>
              </a:r>
              <a:r>
                <a:rPr kumimoji="0" lang="en-US" altLang="zh-CN" sz="2100" b="1"/>
                <a:t>(</a:t>
              </a:r>
              <a:r>
                <a:rPr kumimoji="0" lang="en-US" altLang="zh-CN" sz="2100" b="1" i="1"/>
                <a:t>n</a:t>
              </a:r>
              <a:r>
                <a:rPr kumimoji="0" lang="en-US" altLang="zh-CN" sz="2100" b="1" baseline="-30000"/>
                <a:t>2</a:t>
              </a:r>
              <a:r>
                <a:rPr kumimoji="0" lang="en-US" altLang="zh-CN" sz="2100" b="1"/>
                <a:t>,</a:t>
              </a:r>
              <a:r>
                <a:rPr kumimoji="0" lang="en-US" altLang="zh-CN" sz="2100" b="1" i="1"/>
                <a:t>n</a:t>
              </a:r>
              <a:r>
                <a:rPr kumimoji="0" lang="en-US" altLang="zh-CN" sz="2100" b="1" baseline="-30000"/>
                <a:t>1</a:t>
              </a:r>
              <a:r>
                <a:rPr kumimoji="0" lang="en-US" altLang="zh-CN" sz="2100" b="1"/>
                <a:t>)</a:t>
              </a:r>
            </a:p>
          </p:txBody>
        </p:sp>
      </p:grpSp>
      <p:graphicFrame>
        <p:nvGraphicFramePr>
          <p:cNvPr id="216078" name="Object 14"/>
          <p:cNvGraphicFramePr>
            <a:graphicFrameLocks noChangeAspect="1"/>
          </p:cNvGraphicFramePr>
          <p:nvPr/>
        </p:nvGraphicFramePr>
        <p:xfrm>
          <a:off x="2574131" y="789385"/>
          <a:ext cx="28622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51635" imgH="228600" progId="Equation.3">
                  <p:embed/>
                </p:oleObj>
              </mc:Choice>
              <mc:Fallback>
                <p:oleObj r:id="rId6" imgW="1651635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131" y="789385"/>
                        <a:ext cx="28622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9" name="Rectangle 15"/>
          <p:cNvSpPr>
            <a:spLocks noChangeArrowheads="1"/>
          </p:cNvSpPr>
          <p:nvPr/>
        </p:nvSpPr>
        <p:spPr bwMode="auto">
          <a:xfrm>
            <a:off x="1277541" y="789385"/>
            <a:ext cx="133722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定义</a:t>
            </a:r>
            <a:r>
              <a:rPr lang="en-US" altLang="zh-CN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:</a:t>
            </a:r>
            <a:r>
              <a:rPr lang="en-US" altLang="zh-CN" sz="2100" b="1">
                <a:ea typeface="楷体_GB2312" pitchFamily="49" charset="-122"/>
              </a:rPr>
              <a:t>   </a:t>
            </a:r>
            <a:r>
              <a:rPr lang="zh-CN" altLang="en-US" sz="2100" b="1">
                <a:ea typeface="楷体_GB2312" pitchFamily="49" charset="-122"/>
              </a:rPr>
              <a:t>设</a:t>
            </a:r>
          </a:p>
        </p:txBody>
      </p:sp>
      <p:sp>
        <p:nvSpPr>
          <p:cNvPr id="216080" name="Rectangle 16"/>
          <p:cNvSpPr>
            <a:spLocks noChangeArrowheads="1"/>
          </p:cNvSpPr>
          <p:nvPr/>
        </p:nvSpPr>
        <p:spPr bwMode="auto">
          <a:xfrm>
            <a:off x="5543551" y="789385"/>
            <a:ext cx="233711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100" b="1" i="1">
                <a:ea typeface="楷体_GB2312" pitchFamily="49" charset="-122"/>
              </a:rPr>
              <a:t>X </a:t>
            </a:r>
            <a:r>
              <a:rPr kumimoji="0" lang="zh-CN" altLang="en-US" sz="2100" b="1">
                <a:ea typeface="楷体_GB2312" pitchFamily="49" charset="-122"/>
              </a:rPr>
              <a:t>与 </a:t>
            </a:r>
            <a:r>
              <a:rPr kumimoji="0" lang="en-US" altLang="zh-CN" sz="2100" b="1" i="1">
                <a:ea typeface="楷体_GB2312" pitchFamily="49" charset="-122"/>
              </a:rPr>
              <a:t>Y </a:t>
            </a:r>
            <a:r>
              <a:rPr kumimoji="0" lang="zh-CN" altLang="en-US" sz="2100" b="1">
                <a:ea typeface="楷体_GB2312" pitchFamily="49" charset="-122"/>
              </a:rPr>
              <a:t>相互独立，</a:t>
            </a:r>
          </a:p>
        </p:txBody>
      </p:sp>
      <p:sp>
        <p:nvSpPr>
          <p:cNvPr id="216081" name="Rectangle 17"/>
          <p:cNvSpPr>
            <a:spLocks noChangeArrowheads="1"/>
          </p:cNvSpPr>
          <p:nvPr/>
        </p:nvSpPr>
        <p:spPr bwMode="auto">
          <a:xfrm>
            <a:off x="1331119" y="2842022"/>
            <a:ext cx="4608954" cy="51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ea typeface="楷体_GB2312" pitchFamily="49" charset="-122"/>
              </a:rPr>
              <a:t>2</a:t>
            </a:r>
            <a:r>
              <a:rPr kumimoji="0" lang="zh-CN" altLang="en-US" sz="2100" b="1">
                <a:ea typeface="楷体_GB2312" pitchFamily="49" charset="-122"/>
              </a:rPr>
              <a:t>称为第二自由度，记作  </a:t>
            </a:r>
            <a:r>
              <a:rPr kumimoji="0" lang="en-US" altLang="zh-CN" sz="2100" b="1" i="1">
                <a:solidFill>
                  <a:srgbClr val="0000FF"/>
                </a:solidFill>
                <a:ea typeface="楷体_GB2312" pitchFamily="49" charset="-122"/>
              </a:rPr>
              <a:t>F</a:t>
            </a:r>
            <a:r>
              <a:rPr kumimoji="0" lang="en-US" altLang="zh-CN" sz="2100" b="1">
                <a:solidFill>
                  <a:srgbClr val="0000FF"/>
                </a:solidFill>
                <a:ea typeface="楷体_GB2312" pitchFamily="49" charset="-122"/>
              </a:rPr>
              <a:t>~</a:t>
            </a:r>
            <a:r>
              <a:rPr kumimoji="0" lang="en-US" altLang="zh-CN" sz="2100" b="1" i="1">
                <a:solidFill>
                  <a:srgbClr val="0000FF"/>
                </a:solidFill>
                <a:ea typeface="楷体_GB2312" pitchFamily="49" charset="-122"/>
              </a:rPr>
              <a:t>F</a:t>
            </a:r>
            <a:r>
              <a:rPr kumimoji="0" lang="en-US" altLang="zh-CN" sz="2100" b="1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kumimoji="0" lang="en-US" altLang="zh-CN" sz="2100" b="1" i="1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solidFill>
                  <a:srgbClr val="0000FF"/>
                </a:solidFill>
                <a:ea typeface="楷体_GB2312" pitchFamily="49" charset="-122"/>
              </a:rPr>
              <a:t>1</a:t>
            </a:r>
            <a:r>
              <a:rPr kumimoji="0" lang="en-US" altLang="zh-CN" sz="2100" b="1">
                <a:solidFill>
                  <a:srgbClr val="0000FF"/>
                </a:solidFill>
                <a:ea typeface="楷体_GB2312" pitchFamily="49" charset="-122"/>
              </a:rPr>
              <a:t>,</a:t>
            </a:r>
            <a:r>
              <a:rPr kumimoji="0" lang="en-US" altLang="zh-CN" sz="2100" b="1" i="1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kumimoji="0" lang="en-US" altLang="zh-CN" sz="2100" b="1">
                <a:solidFill>
                  <a:srgbClr val="0000FF"/>
                </a:solidFill>
                <a:ea typeface="楷体_GB2312" pitchFamily="49" charset="-122"/>
              </a:rPr>
              <a:t>)</a:t>
            </a:r>
            <a:r>
              <a:rPr kumimoji="0" lang="en-US" altLang="zh-CN" sz="2100" b="1">
                <a:ea typeface="楷体_GB2312" pitchFamily="49" charset="-122"/>
              </a:rPr>
              <a:t> 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6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 autoUpdateAnimBg="0"/>
      <p:bldP spid="216070" grpId="0" autoUpdateAnimBg="0"/>
      <p:bldP spid="216071" grpId="0" autoUpdateAnimBg="0"/>
      <p:bldP spid="216072" grpId="0" autoUpdateAnimBg="0"/>
      <p:bldP spid="216079" grpId="0" autoUpdateAnimBg="0"/>
      <p:bldP spid="21608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3961210" y="2343150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4143375" y="2451497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4089797" y="2461022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4337447" y="2412206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aphicFrame>
        <p:nvGraphicFramePr>
          <p:cNvPr id="217094" name="Object 6"/>
          <p:cNvGraphicFramePr>
            <a:graphicFrameLocks noChangeAspect="1"/>
          </p:cNvGraphicFramePr>
          <p:nvPr/>
        </p:nvGraphicFramePr>
        <p:xfrm>
          <a:off x="1385888" y="1924051"/>
          <a:ext cx="6210300" cy="1518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32200" imgH="685800" progId="Equation.3">
                  <p:embed/>
                </p:oleObj>
              </mc:Choice>
              <mc:Fallback>
                <p:oleObj r:id="rId2" imgW="363220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1924051"/>
                        <a:ext cx="6210300" cy="1518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4412456" y="2418160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217096" name="Rectangle 8"/>
          <p:cNvSpPr>
            <a:spLocks noChangeArrowheads="1"/>
          </p:cNvSpPr>
          <p:nvPr/>
        </p:nvSpPr>
        <p:spPr bwMode="auto">
          <a:xfrm>
            <a:off x="1547812" y="573881"/>
            <a:ext cx="401103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若</a:t>
            </a:r>
            <a:r>
              <a:rPr kumimoji="0" lang="en-US" altLang="zh-CN" sz="2100" b="1" i="1">
                <a:ea typeface="楷体_GB2312" pitchFamily="49" charset="-122"/>
              </a:rPr>
              <a:t>X</a:t>
            </a:r>
            <a:r>
              <a:rPr kumimoji="0" lang="en-US" altLang="zh-CN" sz="2100" b="1">
                <a:ea typeface="楷体_GB2312" pitchFamily="49" charset="-122"/>
              </a:rPr>
              <a:t>~</a:t>
            </a:r>
            <a:r>
              <a:rPr kumimoji="0" lang="en-US" altLang="zh-CN" sz="2100" b="1" i="1">
                <a:ea typeface="楷体_GB2312" pitchFamily="49" charset="-122"/>
              </a:rPr>
              <a:t>F</a:t>
            </a:r>
            <a:r>
              <a:rPr kumimoji="0" lang="en-US" altLang="zh-CN" sz="2100" b="1">
                <a:ea typeface="楷体_GB2312" pitchFamily="49" charset="-122"/>
              </a:rPr>
              <a:t>(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ea typeface="楷体_GB2312" pitchFamily="49" charset="-122"/>
              </a:rPr>
              <a:t>1</a:t>
            </a:r>
            <a:r>
              <a:rPr kumimoji="0" lang="en-US" altLang="zh-CN" sz="2100" b="1">
                <a:ea typeface="楷体_GB2312" pitchFamily="49" charset="-122"/>
              </a:rPr>
              <a:t>,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 baseline="-30000">
                <a:ea typeface="楷体_GB2312" pitchFamily="49" charset="-122"/>
              </a:rPr>
              <a:t>2</a:t>
            </a:r>
            <a:r>
              <a:rPr kumimoji="0" lang="en-US" altLang="zh-CN" sz="2100" b="1">
                <a:ea typeface="楷体_GB2312" pitchFamily="49" charset="-122"/>
              </a:rPr>
              <a:t>)</a:t>
            </a:r>
            <a:r>
              <a:rPr kumimoji="0" lang="zh-CN" altLang="en-US" sz="2100" b="1">
                <a:ea typeface="楷体_GB2312" pitchFamily="49" charset="-122"/>
              </a:rPr>
              <a:t>，则</a:t>
            </a:r>
            <a:r>
              <a:rPr kumimoji="0" lang="en-US" altLang="zh-CN" sz="2100" b="1" i="1">
                <a:ea typeface="楷体_GB2312" pitchFamily="49" charset="-122"/>
              </a:rPr>
              <a:t>X</a:t>
            </a:r>
            <a:r>
              <a:rPr kumimoji="0" lang="zh-CN" altLang="en-US" sz="2100" b="1">
                <a:ea typeface="楷体_GB2312" pitchFamily="49" charset="-122"/>
              </a:rPr>
              <a:t>的概率密度为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未知"/>
          <p:cNvSpPr/>
          <p:nvPr/>
        </p:nvSpPr>
        <p:spPr bwMode="auto">
          <a:xfrm>
            <a:off x="3698082" y="1464469"/>
            <a:ext cx="2099072" cy="1581150"/>
          </a:xfrm>
          <a:custGeom>
            <a:avLst/>
            <a:gdLst>
              <a:gd name="T0" fmla="*/ 0 w 1763"/>
              <a:gd name="T1" fmla="*/ 2147483646 h 1328"/>
              <a:gd name="T2" fmla="*/ 2147483646 w 1763"/>
              <a:gd name="T3" fmla="*/ 2147483646 h 1328"/>
              <a:gd name="T4" fmla="*/ 2147483646 w 1763"/>
              <a:gd name="T5" fmla="*/ 2147483646 h 1328"/>
              <a:gd name="T6" fmla="*/ 2147483646 w 1763"/>
              <a:gd name="T7" fmla="*/ 2147483646 h 1328"/>
              <a:gd name="T8" fmla="*/ 2147483646 w 1763"/>
              <a:gd name="T9" fmla="*/ 2147483646 h 1328"/>
              <a:gd name="T10" fmla="*/ 2147483646 w 1763"/>
              <a:gd name="T11" fmla="*/ 2147483646 h 1328"/>
              <a:gd name="T12" fmla="*/ 2147483646 w 1763"/>
              <a:gd name="T13" fmla="*/ 2147483646 h 1328"/>
              <a:gd name="T14" fmla="*/ 2147483646 w 1763"/>
              <a:gd name="T15" fmla="*/ 2147483646 h 1328"/>
              <a:gd name="T16" fmla="*/ 2147483646 w 1763"/>
              <a:gd name="T17" fmla="*/ 2147483646 h 1328"/>
              <a:gd name="T18" fmla="*/ 2147483646 w 1763"/>
              <a:gd name="T19" fmla="*/ 2147483646 h 1328"/>
              <a:gd name="T20" fmla="*/ 2147483646 w 1763"/>
              <a:gd name="T21" fmla="*/ 2147483646 h 1328"/>
              <a:gd name="T22" fmla="*/ 2147483646 w 1763"/>
              <a:gd name="T23" fmla="*/ 2147483646 h 1328"/>
              <a:gd name="T24" fmla="*/ 2147483646 w 1763"/>
              <a:gd name="T25" fmla="*/ 2147483646 h 132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63" h="1328">
                <a:moveTo>
                  <a:pt x="0" y="1328"/>
                </a:moveTo>
                <a:cubicBezTo>
                  <a:pt x="45" y="1318"/>
                  <a:pt x="89" y="1309"/>
                  <a:pt x="148" y="1275"/>
                </a:cubicBezTo>
                <a:cubicBezTo>
                  <a:pt x="206" y="1241"/>
                  <a:pt x="300" y="1198"/>
                  <a:pt x="351" y="1124"/>
                </a:cubicBezTo>
                <a:cubicBezTo>
                  <a:pt x="404" y="1051"/>
                  <a:pt x="429" y="930"/>
                  <a:pt x="461" y="833"/>
                </a:cubicBezTo>
                <a:cubicBezTo>
                  <a:pt x="493" y="736"/>
                  <a:pt x="515" y="655"/>
                  <a:pt x="541" y="542"/>
                </a:cubicBezTo>
                <a:cubicBezTo>
                  <a:pt x="567" y="429"/>
                  <a:pt x="592" y="244"/>
                  <a:pt x="619" y="156"/>
                </a:cubicBezTo>
                <a:cubicBezTo>
                  <a:pt x="645" y="67"/>
                  <a:pt x="673" y="18"/>
                  <a:pt x="703" y="9"/>
                </a:cubicBezTo>
                <a:cubicBezTo>
                  <a:pt x="733" y="0"/>
                  <a:pt x="763" y="15"/>
                  <a:pt x="795" y="102"/>
                </a:cubicBezTo>
                <a:cubicBezTo>
                  <a:pt x="828" y="189"/>
                  <a:pt x="865" y="412"/>
                  <a:pt x="899" y="531"/>
                </a:cubicBezTo>
                <a:cubicBezTo>
                  <a:pt x="932" y="650"/>
                  <a:pt x="959" y="721"/>
                  <a:pt x="997" y="816"/>
                </a:cubicBezTo>
                <a:cubicBezTo>
                  <a:pt x="1035" y="911"/>
                  <a:pt x="1068" y="1030"/>
                  <a:pt x="1125" y="1100"/>
                </a:cubicBezTo>
                <a:cubicBezTo>
                  <a:pt x="1181" y="1170"/>
                  <a:pt x="1231" y="1202"/>
                  <a:pt x="1337" y="1237"/>
                </a:cubicBezTo>
                <a:cubicBezTo>
                  <a:pt x="1443" y="1272"/>
                  <a:pt x="1674" y="1295"/>
                  <a:pt x="1763" y="1310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7107" name="Group 3"/>
          <p:cNvGrpSpPr/>
          <p:nvPr/>
        </p:nvGrpSpPr>
        <p:grpSpPr bwMode="auto">
          <a:xfrm>
            <a:off x="2789635" y="573881"/>
            <a:ext cx="3570684" cy="2892029"/>
            <a:chOff x="0" y="0"/>
            <a:chExt cx="2999" cy="2429"/>
          </a:xfrm>
        </p:grpSpPr>
        <p:sp>
          <p:nvSpPr>
            <p:cNvPr id="47117" name="Line 4"/>
            <p:cNvSpPr>
              <a:spLocks noChangeShapeType="1"/>
            </p:cNvSpPr>
            <p:nvPr/>
          </p:nvSpPr>
          <p:spPr bwMode="auto">
            <a:xfrm rot="10800000">
              <a:off x="726" y="317"/>
              <a:ext cx="17" cy="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47118" name="Object 5"/>
            <p:cNvGraphicFramePr>
              <a:graphicFrameLocks noChangeAspect="1"/>
            </p:cNvGraphicFramePr>
            <p:nvPr/>
          </p:nvGraphicFramePr>
          <p:xfrm>
            <a:off x="2756" y="2086"/>
            <a:ext cx="24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9700" imgH="139700" progId="Equation.3">
                    <p:embed/>
                  </p:oleObj>
                </mc:Choice>
                <mc:Fallback>
                  <p:oleObj r:id="rId2" imgW="139700" imgH="1397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6" y="2086"/>
                          <a:ext cx="24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9" name="Object 6"/>
            <p:cNvGraphicFramePr>
              <a:graphicFrameLocks noChangeAspect="1"/>
            </p:cNvGraphicFramePr>
            <p:nvPr/>
          </p:nvGraphicFramePr>
          <p:xfrm>
            <a:off x="503" y="2141"/>
            <a:ext cx="171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7000" imgH="139700" progId="Equation.3">
                    <p:embed/>
                  </p:oleObj>
                </mc:Choice>
                <mc:Fallback>
                  <p:oleObj r:id="rId4" imgW="127000" imgH="139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" y="2141"/>
                          <a:ext cx="171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0" name="Line 7"/>
            <p:cNvSpPr>
              <a:spLocks noChangeShapeType="1"/>
            </p:cNvSpPr>
            <p:nvPr/>
          </p:nvSpPr>
          <p:spPr bwMode="auto">
            <a:xfrm>
              <a:off x="455" y="2093"/>
              <a:ext cx="2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47121" name="Object 8"/>
            <p:cNvGraphicFramePr>
              <a:graphicFrameLocks noChangeAspect="1"/>
            </p:cNvGraphicFramePr>
            <p:nvPr/>
          </p:nvGraphicFramePr>
          <p:xfrm>
            <a:off x="0" y="0"/>
            <a:ext cx="100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37565" imgH="215900" progId="Equation.3">
                    <p:embed/>
                  </p:oleObj>
                </mc:Choice>
                <mc:Fallback>
                  <p:oleObj r:id="rId6" imgW="837565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00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4730354" y="1262063"/>
          <a:ext cx="745331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82600" imgH="215900" progId="Equation.3">
                  <p:embed/>
                </p:oleObj>
              </mc:Choice>
              <mc:Fallback>
                <p:oleObj r:id="rId8" imgW="482600" imgH="215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354" y="1262063"/>
                        <a:ext cx="745331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2" name="Object 10"/>
          <p:cNvGraphicFramePr>
            <a:graphicFrameLocks noChangeAspect="1"/>
          </p:cNvGraphicFramePr>
          <p:nvPr/>
        </p:nvGraphicFramePr>
        <p:xfrm>
          <a:off x="4301729" y="519112"/>
          <a:ext cx="844153" cy="35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08000" imgH="215900" progId="Equation.3">
                  <p:embed/>
                </p:oleObj>
              </mc:Choice>
              <mc:Fallback>
                <p:oleObj r:id="rId10" imgW="508000" imgH="215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1729" y="519112"/>
                        <a:ext cx="844153" cy="358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/>
          <p:cNvGraphicFramePr>
            <a:graphicFrameLocks noChangeAspect="1"/>
          </p:cNvGraphicFramePr>
          <p:nvPr/>
        </p:nvGraphicFramePr>
        <p:xfrm>
          <a:off x="5017294" y="1808560"/>
          <a:ext cx="801291" cy="332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20700" imgH="215900" progId="Equation.3">
                  <p:embed/>
                </p:oleObj>
              </mc:Choice>
              <mc:Fallback>
                <p:oleObj r:id="rId12" imgW="520700" imgH="215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7294" y="1808560"/>
                        <a:ext cx="801291" cy="332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4" name="Object 12"/>
          <p:cNvGraphicFramePr>
            <a:graphicFrameLocks noChangeAspect="1"/>
          </p:cNvGraphicFramePr>
          <p:nvPr/>
        </p:nvGraphicFramePr>
        <p:xfrm>
          <a:off x="5328047" y="2139554"/>
          <a:ext cx="741759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08000" imgH="215900" progId="Equation.3">
                  <p:embed/>
                </p:oleObj>
              </mc:Choice>
              <mc:Fallback>
                <p:oleObj r:id="rId14" imgW="508000" imgH="215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8047" y="2139554"/>
                        <a:ext cx="741759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5" name="Line 13"/>
          <p:cNvSpPr>
            <a:spLocks noChangeShapeType="1"/>
          </p:cNvSpPr>
          <p:nvPr/>
        </p:nvSpPr>
        <p:spPr bwMode="auto">
          <a:xfrm flipH="1">
            <a:off x="4633913" y="1465660"/>
            <a:ext cx="114300" cy="114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8126" name="Line 14"/>
          <p:cNvSpPr>
            <a:spLocks noChangeShapeType="1"/>
          </p:cNvSpPr>
          <p:nvPr/>
        </p:nvSpPr>
        <p:spPr bwMode="auto">
          <a:xfrm flipH="1">
            <a:off x="4862513" y="2037160"/>
            <a:ext cx="171450" cy="228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8127" name="Line 15"/>
          <p:cNvSpPr>
            <a:spLocks noChangeShapeType="1"/>
          </p:cNvSpPr>
          <p:nvPr/>
        </p:nvSpPr>
        <p:spPr bwMode="auto">
          <a:xfrm flipH="1">
            <a:off x="5183981" y="2368154"/>
            <a:ext cx="171450" cy="2286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8128" name="未知"/>
          <p:cNvSpPr/>
          <p:nvPr/>
        </p:nvSpPr>
        <p:spPr bwMode="auto">
          <a:xfrm>
            <a:off x="3674269" y="2232422"/>
            <a:ext cx="2752725" cy="833438"/>
          </a:xfrm>
          <a:custGeom>
            <a:avLst/>
            <a:gdLst>
              <a:gd name="T0" fmla="*/ 0 w 2312"/>
              <a:gd name="T1" fmla="*/ 2147483646 h 700"/>
              <a:gd name="T2" fmla="*/ 2147483646 w 2312"/>
              <a:gd name="T3" fmla="*/ 2147483646 h 700"/>
              <a:gd name="T4" fmla="*/ 2147483646 w 2312"/>
              <a:gd name="T5" fmla="*/ 2147483646 h 700"/>
              <a:gd name="T6" fmla="*/ 2147483646 w 2312"/>
              <a:gd name="T7" fmla="*/ 2147483646 h 700"/>
              <a:gd name="T8" fmla="*/ 2147483646 w 2312"/>
              <a:gd name="T9" fmla="*/ 2147483646 h 700"/>
              <a:gd name="T10" fmla="*/ 2147483646 w 2312"/>
              <a:gd name="T11" fmla="*/ 2147483646 h 700"/>
              <a:gd name="T12" fmla="*/ 2147483646 w 2312"/>
              <a:gd name="T13" fmla="*/ 2147483646 h 700"/>
              <a:gd name="T14" fmla="*/ 2147483646 w 2312"/>
              <a:gd name="T15" fmla="*/ 2147483646 h 700"/>
              <a:gd name="T16" fmla="*/ 2147483646 w 2312"/>
              <a:gd name="T17" fmla="*/ 2147483646 h 700"/>
              <a:gd name="T18" fmla="*/ 2147483646 w 2312"/>
              <a:gd name="T19" fmla="*/ 2147483646 h 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312" h="700">
                <a:moveTo>
                  <a:pt x="0" y="700"/>
                </a:moveTo>
                <a:cubicBezTo>
                  <a:pt x="36" y="663"/>
                  <a:pt x="147" y="556"/>
                  <a:pt x="216" y="476"/>
                </a:cubicBezTo>
                <a:cubicBezTo>
                  <a:pt x="285" y="396"/>
                  <a:pt x="351" y="293"/>
                  <a:pt x="414" y="221"/>
                </a:cubicBezTo>
                <a:cubicBezTo>
                  <a:pt x="477" y="149"/>
                  <a:pt x="524" y="77"/>
                  <a:pt x="593" y="42"/>
                </a:cubicBezTo>
                <a:cubicBezTo>
                  <a:pt x="662" y="7"/>
                  <a:pt x="756" y="0"/>
                  <a:pt x="830" y="14"/>
                </a:cubicBezTo>
                <a:cubicBezTo>
                  <a:pt x="904" y="28"/>
                  <a:pt x="969" y="80"/>
                  <a:pt x="1037" y="127"/>
                </a:cubicBezTo>
                <a:cubicBezTo>
                  <a:pt x="1105" y="174"/>
                  <a:pt x="1157" y="240"/>
                  <a:pt x="1236" y="297"/>
                </a:cubicBezTo>
                <a:cubicBezTo>
                  <a:pt x="1315" y="354"/>
                  <a:pt x="1400" y="424"/>
                  <a:pt x="1509" y="467"/>
                </a:cubicBezTo>
                <a:cubicBezTo>
                  <a:pt x="1618" y="510"/>
                  <a:pt x="1756" y="534"/>
                  <a:pt x="1890" y="556"/>
                </a:cubicBezTo>
                <a:cubicBezTo>
                  <a:pt x="2024" y="578"/>
                  <a:pt x="2224" y="590"/>
                  <a:pt x="2312" y="599"/>
                </a:cubicBezTo>
              </a:path>
            </a:pathLst>
          </a:custGeom>
          <a:noFill/>
          <a:ln w="25400" cmpd="sng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8129" name="未知"/>
          <p:cNvSpPr/>
          <p:nvPr/>
        </p:nvSpPr>
        <p:spPr bwMode="auto">
          <a:xfrm>
            <a:off x="3654029" y="1815704"/>
            <a:ext cx="1943100" cy="1238250"/>
          </a:xfrm>
          <a:custGeom>
            <a:avLst/>
            <a:gdLst>
              <a:gd name="T0" fmla="*/ 0 w 1632"/>
              <a:gd name="T1" fmla="*/ 2147483646 h 1040"/>
              <a:gd name="T2" fmla="*/ 2147483646 w 1632"/>
              <a:gd name="T3" fmla="*/ 2147483646 h 1040"/>
              <a:gd name="T4" fmla="*/ 2147483646 w 1632"/>
              <a:gd name="T5" fmla="*/ 2147483646 h 1040"/>
              <a:gd name="T6" fmla="*/ 2147483646 w 1632"/>
              <a:gd name="T7" fmla="*/ 2147483646 h 1040"/>
              <a:gd name="T8" fmla="*/ 2147483646 w 1632"/>
              <a:gd name="T9" fmla="*/ 2147483646 h 1040"/>
              <a:gd name="T10" fmla="*/ 2147483646 w 1632"/>
              <a:gd name="T11" fmla="*/ 2147483646 h 1040"/>
              <a:gd name="T12" fmla="*/ 2147483646 w 1632"/>
              <a:gd name="T13" fmla="*/ 2147483646 h 1040"/>
              <a:gd name="T14" fmla="*/ 2147483646 w 1632"/>
              <a:gd name="T15" fmla="*/ 2147483646 h 1040"/>
              <a:gd name="T16" fmla="*/ 2147483646 w 1632"/>
              <a:gd name="T17" fmla="*/ 2147483646 h 1040"/>
              <a:gd name="T18" fmla="*/ 2147483646 w 1632"/>
              <a:gd name="T19" fmla="*/ 2147483646 h 10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632" h="1040">
                <a:moveTo>
                  <a:pt x="0" y="1040"/>
                </a:moveTo>
                <a:cubicBezTo>
                  <a:pt x="112" y="980"/>
                  <a:pt x="224" y="920"/>
                  <a:pt x="288" y="848"/>
                </a:cubicBezTo>
                <a:cubicBezTo>
                  <a:pt x="352" y="776"/>
                  <a:pt x="352" y="696"/>
                  <a:pt x="384" y="608"/>
                </a:cubicBezTo>
                <a:cubicBezTo>
                  <a:pt x="416" y="520"/>
                  <a:pt x="440" y="408"/>
                  <a:pt x="480" y="320"/>
                </a:cubicBezTo>
                <a:cubicBezTo>
                  <a:pt x="520" y="232"/>
                  <a:pt x="576" y="128"/>
                  <a:pt x="624" y="80"/>
                </a:cubicBezTo>
                <a:cubicBezTo>
                  <a:pt x="672" y="32"/>
                  <a:pt x="712" y="0"/>
                  <a:pt x="768" y="32"/>
                </a:cubicBezTo>
                <a:cubicBezTo>
                  <a:pt x="824" y="64"/>
                  <a:pt x="904" y="184"/>
                  <a:pt x="960" y="272"/>
                </a:cubicBezTo>
                <a:cubicBezTo>
                  <a:pt x="1016" y="360"/>
                  <a:pt x="1040" y="464"/>
                  <a:pt x="1104" y="560"/>
                </a:cubicBezTo>
                <a:cubicBezTo>
                  <a:pt x="1168" y="656"/>
                  <a:pt x="1256" y="784"/>
                  <a:pt x="1344" y="848"/>
                </a:cubicBezTo>
                <a:cubicBezTo>
                  <a:pt x="1432" y="912"/>
                  <a:pt x="1532" y="928"/>
                  <a:pt x="1632" y="944"/>
                </a:cubicBezTo>
              </a:path>
            </a:pathLst>
          </a:custGeom>
          <a:noFill/>
          <a:ln w="25400" cmpd="sng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21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1494235" y="250032"/>
            <a:ext cx="6263878" cy="107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注意：</a:t>
            </a:r>
            <a:r>
              <a:rPr kumimoji="0" lang="zh-CN" altLang="en-US" sz="2100" b="1">
                <a:ea typeface="楷体_GB2312" pitchFamily="49" charset="-122"/>
              </a:rPr>
              <a:t>统计的三大分布的定义、基本性质在后面的学习中经常用到，要牢记！！</a:t>
            </a:r>
          </a:p>
        </p:txBody>
      </p:sp>
      <p:sp>
        <p:nvSpPr>
          <p:cNvPr id="219139" name="Rectangle 3"/>
          <p:cNvSpPr>
            <a:spLocks noChangeArrowheads="1"/>
          </p:cNvSpPr>
          <p:nvPr/>
        </p:nvSpPr>
        <p:spPr bwMode="auto">
          <a:xfrm>
            <a:off x="1656160" y="1437085"/>
            <a:ext cx="20569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/>
              <a:t>4、上</a:t>
            </a:r>
            <a:r>
              <a:rPr kumimoji="0" lang="el-GR" altLang="en-US" b="1">
                <a:cs typeface="Times New Roman" panose="02020603050405020304" pitchFamily="18" charset="0"/>
              </a:rPr>
              <a:t>α</a:t>
            </a:r>
            <a:r>
              <a:rPr kumimoji="0" lang="zh-CN" altLang="en-US" b="1"/>
              <a:t>分位点</a:t>
            </a:r>
          </a:p>
        </p:txBody>
      </p:sp>
      <p:graphicFrame>
        <p:nvGraphicFramePr>
          <p:cNvPr id="219140" name="Object 4"/>
          <p:cNvGraphicFramePr>
            <a:graphicFrameLocks noChangeAspect="1"/>
          </p:cNvGraphicFramePr>
          <p:nvPr/>
        </p:nvGraphicFramePr>
        <p:xfrm>
          <a:off x="2303860" y="3143250"/>
          <a:ext cx="3564731" cy="683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40865" imgH="355600" progId="Equation.3">
                  <p:embed/>
                </p:oleObj>
              </mc:Choice>
              <mc:Fallback>
                <p:oleObj r:id="rId2" imgW="1840865" imgH="35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860" y="3143250"/>
                        <a:ext cx="3564731" cy="683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1" name="Rectangle 5"/>
          <p:cNvSpPr>
            <a:spLocks noChangeArrowheads="1"/>
          </p:cNvSpPr>
          <p:nvPr/>
        </p:nvSpPr>
        <p:spPr bwMode="auto">
          <a:xfrm>
            <a:off x="1547813" y="2017663"/>
            <a:ext cx="526297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定义：</a:t>
            </a:r>
            <a:r>
              <a:rPr lang="zh-CN" altLang="en-US" sz="2100" b="1">
                <a:ea typeface="楷体_GB2312" pitchFamily="49" charset="-122"/>
              </a:rPr>
              <a:t>设随机变量</a:t>
            </a:r>
            <a:r>
              <a:rPr lang="en-US" altLang="zh-CN" sz="2100" b="1">
                <a:ea typeface="楷体_GB2312" pitchFamily="49" charset="-122"/>
              </a:rPr>
              <a:t>X</a:t>
            </a:r>
            <a:r>
              <a:rPr lang="zh-CN" altLang="en-US" sz="2100" b="1">
                <a:ea typeface="楷体_GB2312" pitchFamily="49" charset="-122"/>
              </a:rPr>
              <a:t>的概率密度为 </a:t>
            </a:r>
            <a:r>
              <a:rPr lang="en-US" altLang="zh-CN" sz="2100" b="1" i="1">
                <a:ea typeface="楷体_GB2312" pitchFamily="49" charset="-122"/>
              </a:rPr>
              <a:t>f</a:t>
            </a:r>
            <a:r>
              <a:rPr lang="en-US" altLang="zh-CN" sz="2100" b="1">
                <a:ea typeface="楷体_GB2312" pitchFamily="49" charset="-122"/>
              </a:rPr>
              <a:t>(</a:t>
            </a:r>
            <a:r>
              <a:rPr lang="en-US" altLang="zh-CN" sz="2100" b="1" i="1">
                <a:ea typeface="楷体_GB2312" pitchFamily="49" charset="-122"/>
              </a:rPr>
              <a:t>x</a:t>
            </a:r>
            <a:r>
              <a:rPr lang="en-US" altLang="zh-CN" sz="2100" b="1">
                <a:ea typeface="楷体_GB2312" pitchFamily="49" charset="-122"/>
              </a:rPr>
              <a:t>),</a:t>
            </a:r>
            <a:r>
              <a:rPr lang="zh-CN" altLang="en-US" sz="2100" b="1">
                <a:ea typeface="楷体_GB2312" pitchFamily="49" charset="-122"/>
              </a:rPr>
              <a:t>对于</a:t>
            </a:r>
          </a:p>
        </p:txBody>
      </p:sp>
      <p:sp>
        <p:nvSpPr>
          <p:cNvPr id="219142" name="Rectangle 6"/>
          <p:cNvSpPr>
            <a:spLocks noChangeArrowheads="1"/>
          </p:cNvSpPr>
          <p:nvPr/>
        </p:nvSpPr>
        <p:spPr bwMode="auto">
          <a:xfrm>
            <a:off x="1601392" y="2527712"/>
            <a:ext cx="510909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任意给定的</a:t>
            </a:r>
            <a:r>
              <a:rPr kumimoji="0" lang="en-US" altLang="zh-CN" sz="2100" b="1" i="1">
                <a:ea typeface="楷体_GB2312" pitchFamily="49" charset="-122"/>
              </a:rPr>
              <a:t>α</a:t>
            </a:r>
            <a:r>
              <a:rPr kumimoji="0" lang="en-US" altLang="zh-CN" sz="2100" b="1">
                <a:ea typeface="楷体_GB2312" pitchFamily="49" charset="-122"/>
              </a:rPr>
              <a:t>(0</a:t>
            </a:r>
            <a:r>
              <a:rPr kumimoji="0" lang="en-US" altLang="zh-CN" sz="2100" b="1" i="1">
                <a:ea typeface="楷体_GB2312" pitchFamily="49" charset="-122"/>
              </a:rPr>
              <a:t>&lt;α&lt;</a:t>
            </a:r>
            <a:r>
              <a:rPr kumimoji="0" lang="en-US" altLang="zh-CN" sz="2100" b="1">
                <a:ea typeface="楷体_GB2312" pitchFamily="49" charset="-122"/>
              </a:rPr>
              <a:t>1),</a:t>
            </a:r>
            <a:r>
              <a:rPr kumimoji="0" lang="zh-CN" altLang="en-US" sz="2100" b="1">
                <a:ea typeface="楷体_GB2312" pitchFamily="49" charset="-122"/>
              </a:rPr>
              <a:t>若存在实数</a:t>
            </a:r>
            <a:r>
              <a:rPr kumimoji="0" lang="en-US" altLang="zh-CN" sz="2100" b="1" i="1">
                <a:ea typeface="楷体_GB2312" pitchFamily="49" charset="-122"/>
              </a:rPr>
              <a:t>x</a:t>
            </a:r>
            <a:r>
              <a:rPr kumimoji="0" lang="en-US" altLang="zh-CN" sz="2100" b="1" i="1" baseline="-25000">
                <a:ea typeface="楷体_GB2312" pitchFamily="49" charset="-122"/>
              </a:rPr>
              <a:t>α</a:t>
            </a:r>
            <a:r>
              <a:rPr kumimoji="0" lang="en-US" altLang="zh-CN" sz="2100" b="1">
                <a:ea typeface="楷体_GB2312" pitchFamily="49" charset="-122"/>
              </a:rPr>
              <a:t>,</a:t>
            </a:r>
            <a:r>
              <a:rPr kumimoji="0" lang="zh-CN" altLang="en-US" sz="2100" b="1">
                <a:ea typeface="楷体_GB2312" pitchFamily="49" charset="-122"/>
              </a:rPr>
              <a:t>使得</a:t>
            </a:r>
            <a:r>
              <a:rPr kumimoji="0" lang="zh-CN" altLang="en-US" sz="2100">
                <a:ea typeface="楷体_GB2312" pitchFamily="49" charset="-122"/>
              </a:rPr>
              <a:t>：</a:t>
            </a:r>
          </a:p>
        </p:txBody>
      </p:sp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1871662" y="3962415"/>
            <a:ext cx="433965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则称点</a:t>
            </a:r>
            <a:r>
              <a:rPr kumimoji="0" lang="en-US" altLang="zh-CN" sz="2100" b="1" i="1">
                <a:ea typeface="楷体_GB2312" pitchFamily="49" charset="-122"/>
              </a:rPr>
              <a:t>x</a:t>
            </a:r>
            <a:r>
              <a:rPr kumimoji="0" lang="en-US" altLang="zh-CN" sz="2100" b="1" i="1" baseline="-25000">
                <a:ea typeface="楷体_GB2312" pitchFamily="49" charset="-122"/>
              </a:rPr>
              <a:t>α</a:t>
            </a:r>
            <a:r>
              <a:rPr kumimoji="0" lang="zh-CN" altLang="en-US" sz="2100" b="1">
                <a:ea typeface="楷体_GB2312" pitchFamily="49" charset="-122"/>
              </a:rPr>
              <a:t>为该概率分布的上</a:t>
            </a:r>
            <a:r>
              <a:rPr kumimoji="0" lang="en-US" altLang="zh-CN" sz="2100" b="1">
                <a:ea typeface="楷体_GB2312" pitchFamily="49" charset="-122"/>
              </a:rPr>
              <a:t>α</a:t>
            </a:r>
            <a:r>
              <a:rPr kumimoji="0" lang="zh-CN" altLang="en-US" sz="2100" b="1">
                <a:ea typeface="楷体_GB2312" pitchFamily="49" charset="-122"/>
              </a:rPr>
              <a:t>分位点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utoUpdateAnimBg="0"/>
      <p:bldP spid="219139" grpId="0" autoUpdateAnimBg="0"/>
      <p:bldP spid="219141" grpId="0" autoUpdateAnimBg="0"/>
      <p:bldP spid="219142" grpId="0" autoUpdateAnimBg="0"/>
      <p:bldP spid="21914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ext Box 2"/>
          <p:cNvSpPr txBox="1">
            <a:spLocks noChangeArrowheads="1"/>
          </p:cNvSpPr>
          <p:nvPr/>
        </p:nvSpPr>
        <p:spPr bwMode="auto">
          <a:xfrm>
            <a:off x="1277542" y="1"/>
            <a:ext cx="3411511" cy="53713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正态分布的上</a:t>
            </a:r>
            <a:r>
              <a:rPr lang="el-GR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α</a:t>
            </a: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分位点    </a:t>
            </a:r>
          </a:p>
        </p:txBody>
      </p:sp>
      <p:sp>
        <p:nvSpPr>
          <p:cNvPr id="220163" name="Text Box 3"/>
          <p:cNvSpPr txBox="1">
            <a:spLocks noChangeArrowheads="1"/>
          </p:cNvSpPr>
          <p:nvPr/>
        </p:nvSpPr>
        <p:spPr bwMode="auto">
          <a:xfrm>
            <a:off x="1385888" y="573881"/>
            <a:ext cx="6346031" cy="1001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0" lang="en-US" altLang="zh-CN" sz="2100" b="1"/>
              <a:t>    </a:t>
            </a:r>
            <a:r>
              <a:rPr kumimoji="0" lang="zh-CN" altLang="en-US" sz="2100" b="1">
                <a:ea typeface="楷体_GB2312" pitchFamily="49" charset="-122"/>
              </a:rPr>
              <a:t>对标准正态分布变量</a:t>
            </a:r>
            <a:r>
              <a:rPr kumimoji="0" lang="en-US" altLang="zh-CN" sz="2100" b="1" i="1">
                <a:ea typeface="楷体_GB2312" pitchFamily="49" charset="-122"/>
              </a:rPr>
              <a:t>Z</a:t>
            </a:r>
            <a:r>
              <a:rPr kumimoji="0" lang="zh-CN" altLang="en-US" sz="2100" b="1">
                <a:ea typeface="楷体_GB2312" pitchFamily="49" charset="-122"/>
              </a:rPr>
              <a:t>～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>
                <a:ea typeface="楷体_GB2312" pitchFamily="49" charset="-122"/>
              </a:rPr>
              <a:t>(0, 1)</a:t>
            </a:r>
            <a:r>
              <a:rPr kumimoji="0" lang="zh-CN" altLang="en-US" sz="2100" b="1">
                <a:ea typeface="楷体_GB2312" pitchFamily="49" charset="-122"/>
              </a:rPr>
              <a:t>和给定的</a:t>
            </a:r>
            <a:r>
              <a:rPr kumimoji="0" lang="zh-CN" altLang="en-US" sz="2100" b="1" i="1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0" lang="zh-CN" altLang="en-US" sz="2100" b="1">
                <a:ea typeface="楷体_GB2312" pitchFamily="49" charset="-122"/>
              </a:rPr>
              <a:t>，上</a:t>
            </a:r>
            <a:r>
              <a:rPr kumimoji="0" lang="zh-CN" altLang="en-US" sz="2100" b="1" i="1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0" lang="zh-CN" altLang="en-US" sz="2100" b="1">
                <a:ea typeface="楷体_GB2312" pitchFamily="49" charset="-122"/>
              </a:rPr>
              <a:t>分位数是由</a:t>
            </a:r>
            <a:r>
              <a:rPr kumimoji="0" lang="zh-CN" altLang="en-US" sz="2100" b="1"/>
              <a:t>： </a:t>
            </a:r>
          </a:p>
        </p:txBody>
      </p:sp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3006328" y="1309687"/>
            <a:ext cx="22145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100" b="1" i="1">
                <a:ea typeface="楷体_GB2312" pitchFamily="49" charset="-122"/>
              </a:rPr>
              <a:t>P</a:t>
            </a:r>
            <a:r>
              <a:rPr kumimoji="0" lang="en-US" altLang="zh-CN" sz="2100" b="1">
                <a:ea typeface="楷体_GB2312" pitchFamily="49" charset="-122"/>
              </a:rPr>
              <a:t>{</a:t>
            </a:r>
            <a:r>
              <a:rPr kumimoji="0" lang="en-US" altLang="zh-CN" sz="2100" b="1" i="1">
                <a:ea typeface="楷体_GB2312" pitchFamily="49" charset="-122"/>
              </a:rPr>
              <a:t>Z</a:t>
            </a:r>
            <a:r>
              <a:rPr kumimoji="0" lang="en-US" altLang="zh-CN" sz="2100" b="1">
                <a:ea typeface="楷体_GB2312" pitchFamily="49" charset="-122"/>
              </a:rPr>
              <a:t>≥</a:t>
            </a:r>
            <a:r>
              <a:rPr kumimoji="0" lang="en-US" altLang="zh-CN" sz="2100" b="1" i="1">
                <a:ea typeface="楷体_GB2312" pitchFamily="49" charset="-122"/>
              </a:rPr>
              <a:t>z</a:t>
            </a:r>
            <a:r>
              <a:rPr kumimoji="0" lang="en-US" altLang="zh-CN" sz="2100" b="1" baseline="-25000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0" lang="en-US" altLang="zh-CN" sz="2100" b="1">
                <a:ea typeface="楷体_GB2312" pitchFamily="49" charset="-122"/>
              </a:rPr>
              <a:t>} =</a:t>
            </a:r>
          </a:p>
        </p:txBody>
      </p:sp>
      <p:graphicFrame>
        <p:nvGraphicFramePr>
          <p:cNvPr id="220165" name="Object 5"/>
          <p:cNvGraphicFramePr>
            <a:graphicFrameLocks noChangeAspect="1"/>
          </p:cNvGraphicFramePr>
          <p:nvPr/>
        </p:nvGraphicFramePr>
        <p:xfrm>
          <a:off x="4356498" y="1113235"/>
          <a:ext cx="2321719" cy="77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83335" imgH="419100" progId="Equation.DSMT4">
                  <p:embed/>
                </p:oleObj>
              </mc:Choice>
              <mc:Fallback>
                <p:oleObj r:id="rId2" imgW="1283335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498" y="1113235"/>
                        <a:ext cx="2321719" cy="772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6" name="Rectangle 6"/>
          <p:cNvSpPr>
            <a:spLocks noChangeArrowheads="1"/>
          </p:cNvSpPr>
          <p:nvPr/>
        </p:nvSpPr>
        <p:spPr bwMode="auto">
          <a:xfrm>
            <a:off x="1601392" y="1924050"/>
            <a:ext cx="275510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ea typeface="楷体_GB2312" pitchFamily="49" charset="-122"/>
              </a:rPr>
              <a:t>即  </a:t>
            </a:r>
            <a:r>
              <a:rPr kumimoji="0" lang="en-US" altLang="zh-CN" sz="2100" b="1" i="1"/>
              <a:t>P</a:t>
            </a:r>
            <a:r>
              <a:rPr kumimoji="0" lang="en-US" altLang="zh-CN" sz="2100" b="1"/>
              <a:t>{</a:t>
            </a:r>
            <a:r>
              <a:rPr kumimoji="0" lang="en-US" altLang="zh-CN" sz="2100" b="1" i="1"/>
              <a:t>Z</a:t>
            </a:r>
            <a:r>
              <a:rPr kumimoji="0" lang="en-US" altLang="zh-CN" sz="2100" b="1"/>
              <a:t>&lt;</a:t>
            </a:r>
            <a:r>
              <a:rPr kumimoji="0" lang="en-US" altLang="zh-CN" sz="2100" b="1" i="1"/>
              <a:t>z</a:t>
            </a:r>
            <a:r>
              <a:rPr kumimoji="0" lang="en-US" altLang="zh-CN" sz="2100" b="1" baseline="-25000">
                <a:sym typeface="Symbol" panose="05050102010706020507" pitchFamily="18" charset="2"/>
              </a:rPr>
              <a:t></a:t>
            </a:r>
            <a:r>
              <a:rPr kumimoji="0" lang="en-US" altLang="zh-CN" sz="2100" b="1"/>
              <a:t>} =1-</a:t>
            </a:r>
            <a:r>
              <a:rPr kumimoji="0" lang="en-US" altLang="zh-CN" sz="2100" b="1" i="1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220167" name="Rectangle 7"/>
          <p:cNvSpPr>
            <a:spLocks noChangeArrowheads="1"/>
          </p:cNvSpPr>
          <p:nvPr/>
        </p:nvSpPr>
        <p:spPr bwMode="auto">
          <a:xfrm>
            <a:off x="4193382" y="1977628"/>
            <a:ext cx="221337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100" b="1"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kumimoji="0" lang="en-US" altLang="zh-CN" sz="2100" b="1">
                <a:ea typeface="楷体_GB2312" pitchFamily="49" charset="-122"/>
              </a:rPr>
              <a:t>(</a:t>
            </a:r>
            <a:r>
              <a:rPr kumimoji="0" lang="en-US" altLang="zh-CN" sz="2100" b="1" i="1">
                <a:ea typeface="楷体_GB2312" pitchFamily="49" charset="-122"/>
              </a:rPr>
              <a:t>z</a:t>
            </a:r>
            <a:r>
              <a:rPr kumimoji="0" lang="en-US" altLang="zh-CN" sz="2100" b="1" baseline="-25000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0" lang="en-US" altLang="zh-CN" sz="2100" b="1">
                <a:ea typeface="楷体_GB2312" pitchFamily="49" charset="-122"/>
              </a:rPr>
              <a:t>) =1-</a:t>
            </a:r>
            <a:r>
              <a:rPr kumimoji="0" lang="en-US" altLang="zh-CN" sz="2100" b="1" i="1">
                <a:ea typeface="楷体_GB2312" pitchFamily="49" charset="-122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220168" name="Text Box 8"/>
          <p:cNvSpPr txBox="1">
            <a:spLocks noChangeArrowheads="1"/>
          </p:cNvSpPr>
          <p:nvPr/>
        </p:nvSpPr>
        <p:spPr bwMode="auto">
          <a:xfrm>
            <a:off x="5813823" y="1977628"/>
            <a:ext cx="18359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100" b="1">
                <a:ea typeface="楷体_GB2312" pitchFamily="49" charset="-122"/>
              </a:rPr>
              <a:t>确定点</a:t>
            </a:r>
            <a:r>
              <a:rPr kumimoji="0" lang="en-US" altLang="zh-CN" sz="2100" b="1" i="1">
                <a:ea typeface="楷体_GB2312" pitchFamily="49" charset="-122"/>
              </a:rPr>
              <a:t>z</a:t>
            </a:r>
            <a:r>
              <a:rPr kumimoji="0" lang="en-US" altLang="zh-CN" sz="2100" b="1" baseline="-25000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0" lang="en-US" altLang="zh-CN" sz="2100" b="1">
                <a:ea typeface="楷体_GB2312" pitchFamily="49" charset="-122"/>
              </a:rPr>
              <a:t>.</a:t>
            </a:r>
          </a:p>
        </p:txBody>
      </p:sp>
      <p:sp>
        <p:nvSpPr>
          <p:cNvPr id="220169" name="Text Box 9"/>
          <p:cNvSpPr txBox="1">
            <a:spLocks noChangeArrowheads="1"/>
          </p:cNvSpPr>
          <p:nvPr/>
        </p:nvSpPr>
        <p:spPr bwMode="auto">
          <a:xfrm>
            <a:off x="1331119" y="2356247"/>
            <a:ext cx="124182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如图：</a:t>
            </a:r>
          </a:p>
        </p:txBody>
      </p:sp>
      <p:sp>
        <p:nvSpPr>
          <p:cNvPr id="220170" name="Text Box 10"/>
          <p:cNvSpPr txBox="1">
            <a:spLocks noChangeArrowheads="1"/>
          </p:cNvSpPr>
          <p:nvPr/>
        </p:nvSpPr>
        <p:spPr bwMode="auto">
          <a:xfrm>
            <a:off x="4572000" y="2733675"/>
            <a:ext cx="291584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100" b="1">
                <a:ea typeface="楷体_GB2312" pitchFamily="49" charset="-122"/>
              </a:rPr>
              <a:t>例如， </a:t>
            </a:r>
            <a:r>
              <a:rPr kumimoji="0" lang="zh-CN" altLang="en-US" sz="2100" b="1" i="1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0" lang="en-US" altLang="zh-CN" sz="2100" b="1" i="1"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2100" b="1">
                <a:ea typeface="楷体_GB2312" pitchFamily="49" charset="-122"/>
                <a:sym typeface="Symbol" panose="05050102010706020507" pitchFamily="18" charset="2"/>
              </a:rPr>
              <a:t>0.05</a:t>
            </a:r>
            <a:r>
              <a:rPr kumimoji="0" lang="zh-CN" altLang="en-US" sz="2100" b="1"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kumimoji="0" lang="zh-CN" altLang="en-US" sz="2100" b="1">
                <a:ea typeface="楷体_GB2312" pitchFamily="49" charset="-122"/>
              </a:rPr>
              <a:t>而</a:t>
            </a:r>
          </a:p>
        </p:txBody>
      </p:sp>
      <p:sp>
        <p:nvSpPr>
          <p:cNvPr id="220171" name="Rectangle 11"/>
          <p:cNvSpPr>
            <a:spLocks noChangeArrowheads="1"/>
          </p:cNvSpPr>
          <p:nvPr/>
        </p:nvSpPr>
        <p:spPr bwMode="auto">
          <a:xfrm>
            <a:off x="4572000" y="3381375"/>
            <a:ext cx="313253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100" b="1" i="1"/>
              <a:t>P</a:t>
            </a:r>
            <a:r>
              <a:rPr kumimoji="0" lang="en-US" altLang="zh-CN" sz="2100" b="1"/>
              <a:t>{</a:t>
            </a:r>
            <a:r>
              <a:rPr kumimoji="0" lang="en-US" altLang="zh-CN" sz="2100" b="1" i="1"/>
              <a:t>Z</a:t>
            </a:r>
            <a:r>
              <a:rPr kumimoji="0" lang="en-US" altLang="zh-CN" sz="2100" b="1"/>
              <a:t>≥1.645} =0.05</a:t>
            </a:r>
          </a:p>
        </p:txBody>
      </p:sp>
      <p:sp>
        <p:nvSpPr>
          <p:cNvPr id="220172" name="Text Box 12"/>
          <p:cNvSpPr txBox="1">
            <a:spLocks noChangeArrowheads="1"/>
          </p:cNvSpPr>
          <p:nvPr/>
        </p:nvSpPr>
        <p:spPr bwMode="auto">
          <a:xfrm>
            <a:off x="4625578" y="3975497"/>
            <a:ext cx="302418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100" b="1">
                <a:ea typeface="楷体_GB2312" pitchFamily="49" charset="-122"/>
              </a:rPr>
              <a:t>所以，</a:t>
            </a:r>
            <a:r>
              <a:rPr kumimoji="0" lang="zh-CN" altLang="en-US" sz="2100" b="1"/>
              <a:t> </a:t>
            </a:r>
            <a:r>
              <a:rPr kumimoji="0" lang="en-US" altLang="zh-CN" sz="3000" b="1" i="1"/>
              <a:t>z</a:t>
            </a:r>
            <a:r>
              <a:rPr kumimoji="0" lang="en-US" altLang="zh-CN" sz="3000" b="1" baseline="-25000">
                <a:sym typeface="Symbol" panose="05050102010706020507" pitchFamily="18" charset="2"/>
              </a:rPr>
              <a:t>0.05 </a:t>
            </a:r>
            <a:r>
              <a:rPr kumimoji="0" lang="en-US" altLang="zh-CN" sz="2700" b="1"/>
              <a:t>=</a:t>
            </a:r>
            <a:r>
              <a:rPr kumimoji="0" lang="en-US" altLang="zh-CN" b="1"/>
              <a:t>1.645.</a:t>
            </a:r>
          </a:p>
        </p:txBody>
      </p:sp>
      <p:grpSp>
        <p:nvGrpSpPr>
          <p:cNvPr id="220173" name="Group 13"/>
          <p:cNvGrpSpPr/>
          <p:nvPr/>
        </p:nvGrpSpPr>
        <p:grpSpPr bwMode="auto">
          <a:xfrm>
            <a:off x="1143001" y="2733675"/>
            <a:ext cx="2917031" cy="1927622"/>
            <a:chOff x="0" y="0"/>
            <a:chExt cx="2450" cy="1619"/>
          </a:xfrm>
        </p:grpSpPr>
        <p:grpSp>
          <p:nvGrpSpPr>
            <p:cNvPr id="49166" name="Group 14"/>
            <p:cNvGrpSpPr/>
            <p:nvPr/>
          </p:nvGrpSpPr>
          <p:grpSpPr bwMode="auto">
            <a:xfrm>
              <a:off x="0" y="0"/>
              <a:ext cx="2450" cy="1619"/>
              <a:chOff x="0" y="0"/>
              <a:chExt cx="2450" cy="1619"/>
            </a:xfrm>
          </p:grpSpPr>
          <p:grpSp>
            <p:nvGrpSpPr>
              <p:cNvPr id="49168" name="Group 15"/>
              <p:cNvGrpSpPr/>
              <p:nvPr/>
            </p:nvGrpSpPr>
            <p:grpSpPr bwMode="auto">
              <a:xfrm>
                <a:off x="0" y="0"/>
                <a:ext cx="2450" cy="1619"/>
                <a:chOff x="0" y="0"/>
                <a:chExt cx="2450" cy="1619"/>
              </a:xfrm>
            </p:grpSpPr>
            <p:sp>
              <p:nvSpPr>
                <p:cNvPr id="4917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91" y="0"/>
                  <a:ext cx="2359" cy="15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 sz="1800"/>
                </a:p>
              </p:txBody>
            </p:sp>
            <p:sp>
              <p:nvSpPr>
                <p:cNvPr id="49171" name="Rectangle 17"/>
                <p:cNvSpPr>
                  <a:spLocks noChangeArrowheads="1"/>
                </p:cNvSpPr>
                <p:nvPr/>
              </p:nvSpPr>
              <p:spPr bwMode="auto">
                <a:xfrm>
                  <a:off x="590" y="45"/>
                  <a:ext cx="560" cy="3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l-GR" altLang="en-US" sz="2100" b="1">
                      <a:solidFill>
                        <a:srgbClr val="003300"/>
                      </a:solidFill>
                      <a:ea typeface="Arial Unicode MS" pitchFamily="34" charset="-122"/>
                      <a:sym typeface="Symbol" panose="05050102010706020507" pitchFamily="18" charset="2"/>
                    </a:rPr>
                    <a:t>φ</a:t>
                  </a:r>
                  <a:r>
                    <a:rPr kumimoji="0" lang="zh-CN" altLang="en-US" sz="2100" b="1" i="1">
                      <a:solidFill>
                        <a:srgbClr val="003300"/>
                      </a:solidFill>
                      <a:ea typeface="楷体_GB2312" pitchFamily="49" charset="-122"/>
                      <a:sym typeface="Symbol" panose="05050102010706020507" pitchFamily="18" charset="2"/>
                    </a:rPr>
                    <a:t>(x)</a:t>
                  </a:r>
                </a:p>
              </p:txBody>
            </p:sp>
            <p:sp>
              <p:nvSpPr>
                <p:cNvPr id="49172" name="Rectangle 18"/>
                <p:cNvSpPr>
                  <a:spLocks noChangeArrowheads="1"/>
                </p:cNvSpPr>
                <p:nvPr/>
              </p:nvSpPr>
              <p:spPr bwMode="auto">
                <a:xfrm>
                  <a:off x="2178" y="1224"/>
                  <a:ext cx="268" cy="3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2100" b="1" i="1">
                      <a:solidFill>
                        <a:srgbClr val="003300"/>
                      </a:solidFill>
                      <a:ea typeface="楷体_GB2312" pitchFamily="49" charset="-122"/>
                      <a:sym typeface="Symbol" panose="05050102010706020507" pitchFamily="18" charset="2"/>
                    </a:rPr>
                    <a:t>x</a:t>
                  </a:r>
                </a:p>
              </p:txBody>
            </p:sp>
            <p:sp>
              <p:nvSpPr>
                <p:cNvPr id="49173" name="Line 19"/>
                <p:cNvSpPr>
                  <a:spLocks noChangeShapeType="1"/>
                </p:cNvSpPr>
                <p:nvPr/>
              </p:nvSpPr>
              <p:spPr bwMode="auto">
                <a:xfrm>
                  <a:off x="0" y="1315"/>
                  <a:ext cx="23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9174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089" y="181"/>
                  <a:ext cx="0" cy="13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917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361" y="1270"/>
                  <a:ext cx="635" cy="3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zh-CN" altLang="en-US" sz="2100" b="1" i="1">
                      <a:solidFill>
                        <a:srgbClr val="003300"/>
                      </a:solidFill>
                    </a:rPr>
                    <a:t>z</a:t>
                  </a:r>
                  <a:r>
                    <a:rPr kumimoji="0" lang="el-GR" altLang="en-US" sz="2100" b="1" i="1" baseline="-25000">
                      <a:solidFill>
                        <a:srgbClr val="003300"/>
                      </a:solidFill>
                      <a:cs typeface="Times New Roman" panose="02020603050405020304" pitchFamily="18" charset="0"/>
                    </a:rPr>
                    <a:t>α</a:t>
                  </a:r>
                </a:p>
              </p:txBody>
            </p:sp>
            <p:sp>
              <p:nvSpPr>
                <p:cNvPr id="49176" name="未知"/>
                <p:cNvSpPr/>
                <p:nvPr/>
              </p:nvSpPr>
              <p:spPr bwMode="auto">
                <a:xfrm>
                  <a:off x="182" y="453"/>
                  <a:ext cx="1880" cy="778"/>
                </a:xfrm>
                <a:custGeom>
                  <a:avLst/>
                  <a:gdLst>
                    <a:gd name="T0" fmla="*/ 0 w 1880"/>
                    <a:gd name="T1" fmla="*/ 765 h 778"/>
                    <a:gd name="T2" fmla="*/ 206 w 1880"/>
                    <a:gd name="T3" fmla="*/ 728 h 778"/>
                    <a:gd name="T4" fmla="*/ 458 w 1880"/>
                    <a:gd name="T5" fmla="*/ 584 h 778"/>
                    <a:gd name="T6" fmla="*/ 626 w 1880"/>
                    <a:gd name="T7" fmla="*/ 388 h 778"/>
                    <a:gd name="T8" fmla="*/ 714 w 1880"/>
                    <a:gd name="T9" fmla="*/ 225 h 778"/>
                    <a:gd name="T10" fmla="*/ 785 w 1880"/>
                    <a:gd name="T11" fmla="*/ 97 h 778"/>
                    <a:gd name="T12" fmla="*/ 863 w 1880"/>
                    <a:gd name="T13" fmla="*/ 18 h 778"/>
                    <a:gd name="T14" fmla="*/ 975 w 1880"/>
                    <a:gd name="T15" fmla="*/ 12 h 778"/>
                    <a:gd name="T16" fmla="*/ 1061 w 1880"/>
                    <a:gd name="T17" fmla="*/ 90 h 778"/>
                    <a:gd name="T18" fmla="*/ 1134 w 1880"/>
                    <a:gd name="T19" fmla="*/ 234 h 778"/>
                    <a:gd name="T20" fmla="*/ 1194 w 1880"/>
                    <a:gd name="T21" fmla="*/ 342 h 778"/>
                    <a:gd name="T22" fmla="*/ 1259 w 1880"/>
                    <a:gd name="T23" fmla="*/ 446 h 778"/>
                    <a:gd name="T24" fmla="*/ 1340 w 1880"/>
                    <a:gd name="T25" fmla="*/ 540 h 778"/>
                    <a:gd name="T26" fmla="*/ 1481 w 1880"/>
                    <a:gd name="T27" fmla="*/ 655 h 778"/>
                    <a:gd name="T28" fmla="*/ 1584 w 1880"/>
                    <a:gd name="T29" fmla="*/ 711 h 778"/>
                    <a:gd name="T30" fmla="*/ 1707 w 1880"/>
                    <a:gd name="T31" fmla="*/ 755 h 778"/>
                    <a:gd name="T32" fmla="*/ 1880 w 1880"/>
                    <a:gd name="T33" fmla="*/ 778 h 77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880" h="778">
                      <a:moveTo>
                        <a:pt x="0" y="765"/>
                      </a:moveTo>
                      <a:cubicBezTo>
                        <a:pt x="34" y="759"/>
                        <a:pt x="130" y="758"/>
                        <a:pt x="206" y="728"/>
                      </a:cubicBezTo>
                      <a:cubicBezTo>
                        <a:pt x="282" y="698"/>
                        <a:pt x="388" y="641"/>
                        <a:pt x="458" y="584"/>
                      </a:cubicBezTo>
                      <a:cubicBezTo>
                        <a:pt x="528" y="527"/>
                        <a:pt x="583" y="448"/>
                        <a:pt x="626" y="388"/>
                      </a:cubicBezTo>
                      <a:cubicBezTo>
                        <a:pt x="669" y="328"/>
                        <a:pt x="687" y="273"/>
                        <a:pt x="714" y="225"/>
                      </a:cubicBezTo>
                      <a:cubicBezTo>
                        <a:pt x="741" y="177"/>
                        <a:pt x="760" y="131"/>
                        <a:pt x="785" y="97"/>
                      </a:cubicBezTo>
                      <a:cubicBezTo>
                        <a:pt x="810" y="63"/>
                        <a:pt x="831" y="32"/>
                        <a:pt x="863" y="18"/>
                      </a:cubicBezTo>
                      <a:cubicBezTo>
                        <a:pt x="895" y="4"/>
                        <a:pt x="942" y="0"/>
                        <a:pt x="975" y="12"/>
                      </a:cubicBezTo>
                      <a:cubicBezTo>
                        <a:pt x="1008" y="24"/>
                        <a:pt x="1035" y="53"/>
                        <a:pt x="1061" y="90"/>
                      </a:cubicBezTo>
                      <a:cubicBezTo>
                        <a:pt x="1087" y="127"/>
                        <a:pt x="1112" y="192"/>
                        <a:pt x="1134" y="234"/>
                      </a:cubicBezTo>
                      <a:cubicBezTo>
                        <a:pt x="1156" y="276"/>
                        <a:pt x="1173" y="307"/>
                        <a:pt x="1194" y="342"/>
                      </a:cubicBezTo>
                      <a:cubicBezTo>
                        <a:pt x="1215" y="377"/>
                        <a:pt x="1235" y="413"/>
                        <a:pt x="1259" y="446"/>
                      </a:cubicBezTo>
                      <a:cubicBezTo>
                        <a:pt x="1283" y="479"/>
                        <a:pt x="1303" y="505"/>
                        <a:pt x="1340" y="540"/>
                      </a:cubicBezTo>
                      <a:cubicBezTo>
                        <a:pt x="1377" y="575"/>
                        <a:pt x="1440" y="626"/>
                        <a:pt x="1481" y="655"/>
                      </a:cubicBezTo>
                      <a:cubicBezTo>
                        <a:pt x="1522" y="684"/>
                        <a:pt x="1546" y="694"/>
                        <a:pt x="1584" y="711"/>
                      </a:cubicBezTo>
                      <a:cubicBezTo>
                        <a:pt x="1622" y="728"/>
                        <a:pt x="1658" y="744"/>
                        <a:pt x="1707" y="755"/>
                      </a:cubicBezTo>
                      <a:cubicBezTo>
                        <a:pt x="1756" y="766"/>
                        <a:pt x="1844" y="773"/>
                        <a:pt x="1880" y="778"/>
                      </a:cubicBezTo>
                    </a:path>
                  </a:pathLst>
                </a:custGeom>
                <a:noFill/>
                <a:ln w="3810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9177" name="未知"/>
                <p:cNvSpPr/>
                <p:nvPr/>
              </p:nvSpPr>
              <p:spPr bwMode="auto">
                <a:xfrm>
                  <a:off x="1452" y="997"/>
                  <a:ext cx="635" cy="317"/>
                </a:xfrm>
                <a:custGeom>
                  <a:avLst/>
                  <a:gdLst>
                    <a:gd name="T0" fmla="*/ 41 w 635"/>
                    <a:gd name="T1" fmla="*/ 317 h 317"/>
                    <a:gd name="T2" fmla="*/ 98 w 635"/>
                    <a:gd name="T3" fmla="*/ 317 h 317"/>
                    <a:gd name="T4" fmla="*/ 635 w 635"/>
                    <a:gd name="T5" fmla="*/ 317 h 317"/>
                    <a:gd name="T6" fmla="*/ 634 w 635"/>
                    <a:gd name="T7" fmla="*/ 244 h 317"/>
                    <a:gd name="T8" fmla="*/ 591 w 635"/>
                    <a:gd name="T9" fmla="*/ 245 h 317"/>
                    <a:gd name="T10" fmla="*/ 544 w 635"/>
                    <a:gd name="T11" fmla="*/ 243 h 317"/>
                    <a:gd name="T12" fmla="*/ 495 w 635"/>
                    <a:gd name="T13" fmla="*/ 239 h 317"/>
                    <a:gd name="T14" fmla="*/ 435 w 635"/>
                    <a:gd name="T15" fmla="*/ 230 h 317"/>
                    <a:gd name="T16" fmla="*/ 378 w 635"/>
                    <a:gd name="T17" fmla="*/ 210 h 317"/>
                    <a:gd name="T18" fmla="*/ 312 w 635"/>
                    <a:gd name="T19" fmla="*/ 186 h 317"/>
                    <a:gd name="T20" fmla="*/ 262 w 635"/>
                    <a:gd name="T21" fmla="*/ 161 h 317"/>
                    <a:gd name="T22" fmla="*/ 213 w 635"/>
                    <a:gd name="T23" fmla="*/ 134 h 317"/>
                    <a:gd name="T24" fmla="*/ 178 w 635"/>
                    <a:gd name="T25" fmla="*/ 108 h 317"/>
                    <a:gd name="T26" fmla="*/ 132 w 635"/>
                    <a:gd name="T27" fmla="*/ 72 h 317"/>
                    <a:gd name="T28" fmla="*/ 82 w 635"/>
                    <a:gd name="T29" fmla="*/ 31 h 317"/>
                    <a:gd name="T30" fmla="*/ 42 w 635"/>
                    <a:gd name="T31" fmla="*/ 0 h 31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635" h="317">
                      <a:moveTo>
                        <a:pt x="41" y="317"/>
                      </a:moveTo>
                      <a:cubicBezTo>
                        <a:pt x="51" y="317"/>
                        <a:pt x="0" y="317"/>
                        <a:pt x="98" y="317"/>
                      </a:cubicBezTo>
                      <a:lnTo>
                        <a:pt x="635" y="317"/>
                      </a:lnTo>
                      <a:lnTo>
                        <a:pt x="634" y="244"/>
                      </a:lnTo>
                      <a:lnTo>
                        <a:pt x="591" y="245"/>
                      </a:lnTo>
                      <a:lnTo>
                        <a:pt x="544" y="243"/>
                      </a:lnTo>
                      <a:lnTo>
                        <a:pt x="495" y="239"/>
                      </a:lnTo>
                      <a:lnTo>
                        <a:pt x="435" y="230"/>
                      </a:lnTo>
                      <a:lnTo>
                        <a:pt x="378" y="210"/>
                      </a:lnTo>
                      <a:lnTo>
                        <a:pt x="312" y="186"/>
                      </a:lnTo>
                      <a:lnTo>
                        <a:pt x="262" y="161"/>
                      </a:lnTo>
                      <a:lnTo>
                        <a:pt x="213" y="134"/>
                      </a:lnTo>
                      <a:lnTo>
                        <a:pt x="178" y="108"/>
                      </a:lnTo>
                      <a:lnTo>
                        <a:pt x="132" y="72"/>
                      </a:lnTo>
                      <a:lnTo>
                        <a:pt x="82" y="31"/>
                      </a:lnTo>
                      <a:lnTo>
                        <a:pt x="42" y="0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9178" name="Rectangle 24"/>
                <p:cNvSpPr>
                  <a:spLocks noChangeArrowheads="1"/>
                </p:cNvSpPr>
                <p:nvPr/>
              </p:nvSpPr>
              <p:spPr bwMode="auto">
                <a:xfrm>
                  <a:off x="862" y="1270"/>
                  <a:ext cx="268" cy="3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2100" b="1" i="1">
                      <a:solidFill>
                        <a:srgbClr val="003300"/>
                      </a:solidFill>
                      <a:ea typeface="楷体_GB2312" pitchFamily="49" charset="-122"/>
                      <a:sym typeface="Symbol" panose="05050102010706020507" pitchFamily="18" charset="2"/>
                    </a:rPr>
                    <a:t>o</a:t>
                  </a:r>
                </a:p>
              </p:txBody>
            </p:sp>
          </p:grpSp>
          <p:graphicFrame>
            <p:nvGraphicFramePr>
              <p:cNvPr id="49169" name="Object 25"/>
              <p:cNvGraphicFramePr>
                <a:graphicFrameLocks noChangeAspect="1"/>
              </p:cNvGraphicFramePr>
              <p:nvPr/>
            </p:nvGraphicFramePr>
            <p:xfrm>
              <a:off x="1723" y="817"/>
              <a:ext cx="225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139700" imgH="139700" progId="Equation.DSMT4">
                      <p:embed/>
                    </p:oleObj>
                  </mc:Choice>
                  <mc:Fallback>
                    <p:oleObj r:id="rId4" imgW="139700" imgH="139700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3" y="817"/>
                            <a:ext cx="225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67" name="Line 26"/>
            <p:cNvSpPr>
              <a:spLocks noChangeShapeType="1"/>
            </p:cNvSpPr>
            <p:nvPr/>
          </p:nvSpPr>
          <p:spPr bwMode="auto">
            <a:xfrm flipV="1">
              <a:off x="1633" y="998"/>
              <a:ext cx="136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2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2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1000"/>
                                        <p:tgtEl>
                                          <p:spTgt spid="22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2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1000"/>
                                        <p:tgtEl>
                                          <p:spTgt spid="220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autoUpdateAnimBg="0"/>
      <p:bldP spid="220163" grpId="0" autoUpdateAnimBg="0"/>
      <p:bldP spid="220164" grpId="0" autoUpdateAnimBg="0"/>
      <p:bldP spid="220166" grpId="0" autoUpdateAnimBg="0"/>
      <p:bldP spid="220167" grpId="0" autoUpdateAnimBg="0"/>
      <p:bldP spid="220168" grpId="0" autoUpdateAnimBg="0"/>
      <p:bldP spid="220169" grpId="0" autoUpdateAnimBg="0"/>
      <p:bldP spid="220170" grpId="0" autoUpdateAnimBg="0"/>
      <p:bldP spid="220171" grpId="0" autoUpdateAnimBg="0"/>
      <p:bldP spid="22017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 Box 2"/>
          <p:cNvSpPr txBox="1">
            <a:spLocks noChangeArrowheads="1"/>
          </p:cNvSpPr>
          <p:nvPr/>
        </p:nvSpPr>
        <p:spPr bwMode="auto">
          <a:xfrm>
            <a:off x="1385888" y="195263"/>
            <a:ext cx="1454244" cy="59388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说明：</a:t>
            </a:r>
            <a:r>
              <a:rPr lang="zh-CN" altLang="en-US" sz="27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</a:p>
        </p:txBody>
      </p:sp>
      <p:grpSp>
        <p:nvGrpSpPr>
          <p:cNvPr id="221187" name="Group 3"/>
          <p:cNvGrpSpPr/>
          <p:nvPr/>
        </p:nvGrpSpPr>
        <p:grpSpPr bwMode="auto">
          <a:xfrm>
            <a:off x="1331119" y="844153"/>
            <a:ext cx="6346031" cy="1072754"/>
            <a:chOff x="0" y="0"/>
            <a:chExt cx="5330" cy="901"/>
          </a:xfrm>
        </p:grpSpPr>
        <p:sp>
          <p:nvSpPr>
            <p:cNvPr id="5018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330" cy="9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0" lang="en-US" altLang="zh-CN" b="1"/>
                <a:t>   </a:t>
              </a:r>
              <a:r>
                <a:rPr kumimoji="0" lang="en-US" altLang="zh-CN" sz="2100" b="1">
                  <a:ea typeface="楷体_GB2312" pitchFamily="49" charset="-122"/>
                </a:rPr>
                <a:t>1</a:t>
              </a:r>
              <a:r>
                <a:rPr kumimoji="0" lang="zh-CN" altLang="en-US" sz="2100" b="1">
                  <a:ea typeface="楷体_GB2312" pitchFamily="49" charset="-122"/>
                </a:rPr>
                <a:t>） 除标准正态分布外，      分布、</a:t>
              </a:r>
              <a:r>
                <a:rPr kumimoji="0" lang="en-US" altLang="zh-CN" sz="2100" b="1" i="1">
                  <a:ea typeface="楷体_GB2312" pitchFamily="49" charset="-122"/>
                </a:rPr>
                <a:t>t</a:t>
              </a:r>
              <a:r>
                <a:rPr kumimoji="0" lang="zh-CN" altLang="en-US" sz="2100" b="1">
                  <a:ea typeface="楷体_GB2312" pitchFamily="49" charset="-122"/>
                </a:rPr>
                <a:t>分布、</a:t>
              </a:r>
              <a:r>
                <a:rPr kumimoji="0" lang="en-US" altLang="zh-CN" sz="2100" b="1" i="1">
                  <a:ea typeface="楷体_GB2312" pitchFamily="49" charset="-122"/>
                </a:rPr>
                <a:t>F</a:t>
              </a:r>
              <a:r>
                <a:rPr kumimoji="0" lang="zh-CN" altLang="en-US" sz="2100" b="1">
                  <a:ea typeface="楷体_GB2312" pitchFamily="49" charset="-122"/>
                </a:rPr>
                <a:t>分布的上</a:t>
              </a:r>
              <a:r>
                <a:rPr kumimoji="0" lang="zh-CN" altLang="en-US" sz="2100" b="1" i="1">
                  <a:ea typeface="楷体_GB2312" pitchFamily="49" charset="-122"/>
                  <a:sym typeface="Symbol" panose="05050102010706020507" pitchFamily="18" charset="2"/>
                </a:rPr>
                <a:t> </a:t>
              </a:r>
              <a:r>
                <a:rPr kumimoji="0" lang="zh-CN" altLang="en-US" sz="2100" b="1">
                  <a:ea typeface="楷体_GB2312" pitchFamily="49" charset="-122"/>
                </a:rPr>
                <a:t>分位点都有表可查</a:t>
              </a:r>
              <a:r>
                <a:rPr kumimoji="0" lang="en-US" altLang="zh-CN" sz="2100" b="1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50187" name="Object 5"/>
            <p:cNvGraphicFramePr>
              <a:graphicFrameLocks noChangeAspect="1"/>
            </p:cNvGraphicFramePr>
            <p:nvPr/>
          </p:nvGraphicFramePr>
          <p:xfrm>
            <a:off x="2541" y="45"/>
            <a:ext cx="583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03200" imgH="228600" progId="Equation.3">
                    <p:embed/>
                  </p:oleObj>
                </mc:Choice>
                <mc:Fallback>
                  <p:oleObj r:id="rId2" imgW="2032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" y="45"/>
                          <a:ext cx="583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0" name="Rectangle 6"/>
          <p:cNvSpPr>
            <a:spLocks noChangeArrowheads="1"/>
          </p:cNvSpPr>
          <p:nvPr/>
        </p:nvSpPr>
        <p:spPr bwMode="auto">
          <a:xfrm>
            <a:off x="1143001" y="22406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pSp>
        <p:nvGrpSpPr>
          <p:cNvPr id="221191" name="Group 7"/>
          <p:cNvGrpSpPr/>
          <p:nvPr/>
        </p:nvGrpSpPr>
        <p:grpSpPr bwMode="auto">
          <a:xfrm>
            <a:off x="1385888" y="2031206"/>
            <a:ext cx="6346031" cy="579835"/>
            <a:chOff x="0" y="0"/>
            <a:chExt cx="5330" cy="487"/>
          </a:xfrm>
        </p:grpSpPr>
        <p:sp>
          <p:nvSpPr>
            <p:cNvPr id="50184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5330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0" lang="en-US" altLang="zh-CN" b="1"/>
                <a:t>   </a:t>
              </a:r>
              <a:r>
                <a:rPr kumimoji="0" lang="en-US" altLang="zh-CN" sz="2100" b="1">
                  <a:ea typeface="楷体_GB2312" pitchFamily="49" charset="-122"/>
                </a:rPr>
                <a:t>2</a:t>
              </a:r>
              <a:r>
                <a:rPr kumimoji="0" lang="zh-CN" altLang="en-US" sz="2100" b="1">
                  <a:ea typeface="楷体_GB2312" pitchFamily="49" charset="-122"/>
                </a:rPr>
                <a:t>）对于     分布，当</a:t>
              </a:r>
              <a:r>
                <a:rPr kumimoji="0" lang="en-US" altLang="zh-CN" sz="2100" b="1" i="1">
                  <a:ea typeface="楷体_GB2312" pitchFamily="49" charset="-122"/>
                </a:rPr>
                <a:t>n</a:t>
              </a:r>
              <a:r>
                <a:rPr kumimoji="0" lang="zh-CN" altLang="en-US" sz="2100" b="1">
                  <a:ea typeface="楷体_GB2312" pitchFamily="49" charset="-122"/>
                </a:rPr>
                <a:t>充分大时（</a:t>
              </a:r>
              <a:r>
                <a:rPr kumimoji="0" lang="en-US" altLang="zh-CN" sz="2100" b="1" i="1">
                  <a:ea typeface="楷体_GB2312" pitchFamily="49" charset="-122"/>
                </a:rPr>
                <a:t>n</a:t>
              </a:r>
              <a:r>
                <a:rPr kumimoji="0" lang="en-US" altLang="zh-CN" sz="2100" b="1">
                  <a:ea typeface="楷体_GB2312" pitchFamily="49" charset="-122"/>
                </a:rPr>
                <a:t>&gt;45</a:t>
              </a:r>
              <a:r>
                <a:rPr kumimoji="0" lang="zh-CN" altLang="en-US" sz="2100" b="1">
                  <a:ea typeface="楷体_GB2312" pitchFamily="49" charset="-122"/>
                </a:rPr>
                <a:t>），</a:t>
              </a:r>
            </a:p>
          </p:txBody>
        </p:sp>
        <p:graphicFrame>
          <p:nvGraphicFramePr>
            <p:cNvPr id="50185" name="Object 9"/>
            <p:cNvGraphicFramePr>
              <a:graphicFrameLocks noChangeAspect="1"/>
            </p:cNvGraphicFramePr>
            <p:nvPr/>
          </p:nvGraphicFramePr>
          <p:xfrm>
            <a:off x="998" y="91"/>
            <a:ext cx="49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03200" imgH="228600" progId="Equation.3">
                    <p:embed/>
                  </p:oleObj>
                </mc:Choice>
                <mc:Fallback>
                  <p:oleObj r:id="rId4" imgW="2032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91"/>
                          <a:ext cx="499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1194" name="Rectangle 10"/>
          <p:cNvSpPr>
            <a:spLocks noChangeArrowheads="1"/>
          </p:cNvSpPr>
          <p:nvPr/>
        </p:nvSpPr>
        <p:spPr bwMode="auto">
          <a:xfrm>
            <a:off x="1709738" y="3759994"/>
            <a:ext cx="4368504" cy="51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0" lang="zh-CN" altLang="en-US" sz="2100" b="1">
                <a:ea typeface="楷体_GB2312" pitchFamily="49" charset="-122"/>
              </a:rPr>
              <a:t>其中</a:t>
            </a:r>
            <a:r>
              <a:rPr kumimoji="0" lang="en-US" altLang="zh-CN" sz="2100" b="1" i="1">
                <a:ea typeface="楷体_GB2312" pitchFamily="49" charset="-122"/>
              </a:rPr>
              <a:t>Z</a:t>
            </a:r>
            <a:r>
              <a:rPr kumimoji="0" lang="en-US" altLang="zh-CN" sz="2100" b="1" i="1" baseline="-25000">
                <a:ea typeface="楷体_GB2312" pitchFamily="49" charset="-122"/>
              </a:rPr>
              <a:t>α</a:t>
            </a:r>
            <a:r>
              <a:rPr kumimoji="0" lang="zh-CN" altLang="en-US" sz="2100" b="1">
                <a:ea typeface="楷体_GB2312" pitchFamily="49" charset="-122"/>
              </a:rPr>
              <a:t>是标准正态分布的上</a:t>
            </a:r>
            <a:r>
              <a:rPr kumimoji="0" lang="en-US" altLang="zh-CN" sz="2100" b="1" i="1">
                <a:ea typeface="楷体_GB2312" pitchFamily="49" charset="-122"/>
              </a:rPr>
              <a:t>α</a:t>
            </a:r>
            <a:r>
              <a:rPr kumimoji="0" lang="zh-CN" altLang="en-US" sz="2100" b="1">
                <a:ea typeface="楷体_GB2312" pitchFamily="49" charset="-122"/>
              </a:rPr>
              <a:t>分位点</a:t>
            </a:r>
          </a:p>
        </p:txBody>
      </p:sp>
      <p:graphicFrame>
        <p:nvGraphicFramePr>
          <p:cNvPr id="221195" name="Object 11"/>
          <p:cNvGraphicFramePr>
            <a:graphicFrameLocks noChangeAspect="1"/>
          </p:cNvGraphicFramePr>
          <p:nvPr/>
        </p:nvGraphicFramePr>
        <p:xfrm>
          <a:off x="2303860" y="2787254"/>
          <a:ext cx="2862263" cy="744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48765" imgH="406400" progId="Equation.3">
                  <p:embed/>
                </p:oleObj>
              </mc:Choice>
              <mc:Fallback>
                <p:oleObj r:id="rId6" imgW="1548765" imgH="406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860" y="2787254"/>
                        <a:ext cx="2862263" cy="744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244" y="172773"/>
            <a:ext cx="2528888" cy="122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23267" name="Object 3"/>
          <p:cNvGraphicFramePr>
            <a:graphicFrameLocks noChangeAspect="1"/>
          </p:cNvGraphicFramePr>
          <p:nvPr/>
        </p:nvGraphicFramePr>
        <p:xfrm>
          <a:off x="1042988" y="1419225"/>
          <a:ext cx="24622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400" imgH="228600" progId="Equation.DSMT4">
                  <p:embed/>
                </p:oleObj>
              </mc:Choice>
              <mc:Fallback>
                <p:oleObj name="Equation" r:id="rId4" imgW="14224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19225"/>
                        <a:ext cx="246221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273" name="Rectangle 9"/>
          <p:cNvSpPr>
            <a:spLocks noChangeArrowheads="1"/>
          </p:cNvSpPr>
          <p:nvPr/>
        </p:nvSpPr>
        <p:spPr bwMode="auto">
          <a:xfrm>
            <a:off x="1835425" y="1474986"/>
            <a:ext cx="1079897" cy="285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523275" name="Group 11"/>
          <p:cNvGrpSpPr/>
          <p:nvPr/>
        </p:nvGrpSpPr>
        <p:grpSpPr bwMode="auto">
          <a:xfrm>
            <a:off x="5648454" y="746521"/>
            <a:ext cx="809625" cy="540544"/>
            <a:chOff x="4649" y="1797"/>
            <a:chExt cx="680" cy="454"/>
          </a:xfrm>
        </p:grpSpPr>
        <p:sp>
          <p:nvSpPr>
            <p:cNvPr id="523276" name="Line 12"/>
            <p:cNvSpPr>
              <a:spLocks noChangeShapeType="1"/>
            </p:cNvSpPr>
            <p:nvPr/>
          </p:nvSpPr>
          <p:spPr bwMode="auto">
            <a:xfrm>
              <a:off x="4649" y="1797"/>
              <a:ext cx="0" cy="4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500" tIns="35100" rIns="67500" bIns="35100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523277" name="Line 13"/>
            <p:cNvSpPr>
              <a:spLocks noChangeShapeType="1"/>
            </p:cNvSpPr>
            <p:nvPr/>
          </p:nvSpPr>
          <p:spPr bwMode="auto">
            <a:xfrm flipH="1">
              <a:off x="4649" y="1933"/>
              <a:ext cx="136" cy="1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500" tIns="35100" rIns="67500" bIns="35100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523278" name="Line 14"/>
            <p:cNvSpPr>
              <a:spLocks noChangeShapeType="1"/>
            </p:cNvSpPr>
            <p:nvPr/>
          </p:nvSpPr>
          <p:spPr bwMode="auto">
            <a:xfrm flipH="1">
              <a:off x="4649" y="2024"/>
              <a:ext cx="272" cy="227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500" tIns="35100" rIns="67500" bIns="35100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523279" name="Line 15"/>
            <p:cNvSpPr>
              <a:spLocks noChangeShapeType="1"/>
            </p:cNvSpPr>
            <p:nvPr/>
          </p:nvSpPr>
          <p:spPr bwMode="auto">
            <a:xfrm flipH="1">
              <a:off x="4876" y="2115"/>
              <a:ext cx="136" cy="1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500" tIns="35100" rIns="67500" bIns="35100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523280" name="Line 16"/>
            <p:cNvSpPr>
              <a:spLocks noChangeShapeType="1"/>
            </p:cNvSpPr>
            <p:nvPr/>
          </p:nvSpPr>
          <p:spPr bwMode="auto">
            <a:xfrm flipH="1">
              <a:off x="5103" y="2160"/>
              <a:ext cx="90" cy="91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500" tIns="35100" rIns="67500" bIns="35100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523281" name="Line 17"/>
            <p:cNvSpPr>
              <a:spLocks noChangeShapeType="1"/>
            </p:cNvSpPr>
            <p:nvPr/>
          </p:nvSpPr>
          <p:spPr bwMode="auto">
            <a:xfrm flipH="1">
              <a:off x="5284" y="2205"/>
              <a:ext cx="45" cy="4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500" tIns="35100" rIns="67500" bIns="35100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523282" name="Text Box 18"/>
            <p:cNvSpPr txBox="1">
              <a:spLocks noChangeArrowheads="1"/>
            </p:cNvSpPr>
            <p:nvPr/>
          </p:nvSpPr>
          <p:spPr bwMode="auto">
            <a:xfrm>
              <a:off x="4670" y="1797"/>
              <a:ext cx="62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500" tIns="35100" rIns="67500" bIns="35100">
              <a:spAutoFit/>
            </a:bodyPr>
            <a:lstStyle>
              <a:lvl1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b="1" i="1" dirty="0">
                  <a:solidFill>
                    <a:srgbClr val="3366FF"/>
                  </a:solidFill>
                  <a:latin typeface="Symbol" panose="05050102010706020507" pitchFamily="18" charset="2"/>
                </a:rPr>
                <a:t>a</a:t>
              </a:r>
            </a:p>
          </p:txBody>
        </p:sp>
      </p:grpSp>
      <p:graphicFrame>
        <p:nvGraphicFramePr>
          <p:cNvPr id="523283" name="Object 1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594876" y="1359826"/>
          <a:ext cx="594122" cy="20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400" imgH="228600" progId="Equation.DSMT4">
                  <p:embed/>
                </p:oleObj>
              </mc:Choice>
              <mc:Fallback>
                <p:oleObj name="Equation" r:id="rId6" imgW="6604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876" y="1359826"/>
                        <a:ext cx="594122" cy="207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3284" name="Group 20"/>
          <p:cNvGrpSpPr/>
          <p:nvPr/>
        </p:nvGrpSpPr>
        <p:grpSpPr bwMode="auto">
          <a:xfrm>
            <a:off x="899592" y="540543"/>
            <a:ext cx="3888584" cy="553640"/>
            <a:chOff x="567" y="2381"/>
            <a:chExt cx="3266" cy="465"/>
          </a:xfrm>
        </p:grpSpPr>
        <p:sp>
          <p:nvSpPr>
            <p:cNvPr id="523285" name="Text Box 21"/>
            <p:cNvSpPr txBox="1">
              <a:spLocks noChangeArrowheads="1"/>
            </p:cNvSpPr>
            <p:nvPr/>
          </p:nvSpPr>
          <p:spPr bwMode="auto">
            <a:xfrm>
              <a:off x="567" y="2432"/>
              <a:ext cx="3266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950" b="1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1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1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~ </a:t>
              </a:r>
              <a:r>
                <a:rPr kumimoji="1" lang="en-US" altLang="zh-CN" sz="21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F </a:t>
              </a:r>
              <a:r>
                <a:rPr kumimoji="1" lang="en-US" altLang="zh-CN" sz="2100" b="1" dirty="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100" b="1" i="1" dirty="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100" b="1" baseline="-25000" dirty="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100" b="1" i="1" dirty="0">
                  <a:latin typeface="Times New Roman" panose="02020603050405020304" pitchFamily="18" charset="0"/>
                </a:rPr>
                <a:t>,n</a:t>
              </a:r>
              <a:r>
                <a:rPr kumimoji="1" lang="en-US" altLang="zh-CN" sz="2100" b="1" baseline="-25000" dirty="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100" b="1" dirty="0">
                  <a:latin typeface="Times New Roman" panose="02020603050405020304" pitchFamily="18" charset="0"/>
                </a:rPr>
                <a:t>)       1/</a:t>
              </a:r>
              <a:r>
                <a:rPr kumimoji="1" lang="en-US" altLang="zh-CN" sz="21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1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~ </a:t>
              </a:r>
              <a:r>
                <a:rPr kumimoji="1" lang="en-US" altLang="zh-CN" sz="21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F </a:t>
              </a:r>
              <a:r>
                <a:rPr kumimoji="1" lang="en-US" altLang="zh-CN" sz="2100" b="1" dirty="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100" b="1" i="1" dirty="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100" b="1" baseline="-25000" dirty="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100" b="1" i="1" dirty="0">
                  <a:latin typeface="Times New Roman" panose="02020603050405020304" pitchFamily="18" charset="0"/>
                </a:rPr>
                <a:t>,n</a:t>
              </a:r>
              <a:r>
                <a:rPr kumimoji="1" lang="en-US" altLang="zh-CN" sz="2100" b="1" baseline="-25000" dirty="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100" b="1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23286" name="AutoShape 22"/>
            <p:cNvSpPr>
              <a:spLocks noChangeArrowheads="1"/>
            </p:cNvSpPr>
            <p:nvPr/>
          </p:nvSpPr>
          <p:spPr bwMode="auto">
            <a:xfrm>
              <a:off x="1837" y="2381"/>
              <a:ext cx="423" cy="465"/>
            </a:xfrm>
            <a:prstGeom prst="rightArrow">
              <a:avLst>
                <a:gd name="adj1" fmla="val 50000"/>
                <a:gd name="adj2" fmla="val 88333"/>
              </a:avLst>
            </a:prstGeom>
            <a:solidFill>
              <a:srgbClr val="00FFFF"/>
            </a:solidFill>
            <a:ln w="19050" algn="ctr">
              <a:solidFill>
                <a:schemeClr val="tx1"/>
              </a:solidFill>
              <a:miter lim="800000"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500" tIns="35100" rIns="67500" bIns="35100" anchor="ctr">
              <a:spAutoFit/>
            </a:bodyPr>
            <a:lstStyle/>
            <a:p>
              <a:endParaRPr lang="zh-CN" altLang="en-US" sz="1350"/>
            </a:p>
          </p:txBody>
        </p:sp>
      </p:grpSp>
      <p:graphicFrame>
        <p:nvGraphicFramePr>
          <p:cNvPr id="523287" name="Object 23"/>
          <p:cNvGraphicFramePr>
            <a:graphicFrameLocks noChangeAspect="1"/>
          </p:cNvGraphicFramePr>
          <p:nvPr/>
        </p:nvGraphicFramePr>
        <p:xfrm>
          <a:off x="1042988" y="2125513"/>
          <a:ext cx="237648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8765" imgH="444500" progId="Equation.DSMT4">
                  <p:embed/>
                </p:oleObj>
              </mc:Choice>
              <mc:Fallback>
                <p:oleObj name="Equation" r:id="rId8" imgW="1548765" imgH="4445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25513"/>
                        <a:ext cx="2376488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13612" y="2881671"/>
                <a:ext cx="23035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12" y="2881671"/>
                <a:ext cx="2303516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21" t="-15" r="9" b="-3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983800" y="3329814"/>
                <a:ext cx="2001317" cy="441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00" y="3329814"/>
                <a:ext cx="2001317" cy="441083"/>
              </a:xfrm>
              <a:prstGeom prst="rect">
                <a:avLst/>
              </a:prstGeom>
              <a:blipFill rotWithShape="1">
                <a:blip r:embed="rId11"/>
                <a:stretch>
                  <a:fillRect l="-9" t="-115" r="-1111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735244" y="1816100"/>
                <a:ext cx="26443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证明：设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44" y="1816100"/>
                <a:ext cx="2644314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2" r="8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4826000" y="2290763"/>
          <a:ext cx="24622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22400" imgH="228600" progId="Equation.DSMT4">
                  <p:embed/>
                </p:oleObj>
              </mc:Choice>
              <mc:Fallback>
                <p:oleObj name="Equation" r:id="rId13" imgW="14224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2290763"/>
                        <a:ext cx="24622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804627" y="2822577"/>
                <a:ext cx="271523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627" y="2822577"/>
                <a:ext cx="2715230" cy="622350"/>
              </a:xfrm>
              <a:prstGeom prst="rect">
                <a:avLst/>
              </a:prstGeom>
              <a:blipFill rotWithShape="1">
                <a:blip r:embed="rId14"/>
                <a:stretch>
                  <a:fillRect l="-8" r="-8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788176" y="3770897"/>
                <a:ext cx="311918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176" y="3770897"/>
                <a:ext cx="3119187" cy="622350"/>
              </a:xfrm>
              <a:prstGeom prst="rect">
                <a:avLst/>
              </a:prstGeom>
              <a:blipFill rotWithShape="1">
                <a:blip r:embed="rId15"/>
                <a:stretch>
                  <a:fillRect l="-9" t="-43" r="-30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499992" y="4483960"/>
                <a:ext cx="4572000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483960"/>
                <a:ext cx="4572000" cy="659540"/>
              </a:xfrm>
              <a:prstGeom prst="rect">
                <a:avLst/>
              </a:prstGeom>
              <a:blipFill rotWithShape="1">
                <a:blip r:embed="rId16"/>
                <a:stretch>
                  <a:fillRect l="-8" t="-34" r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2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523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52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1" grpId="0"/>
      <p:bldP spid="4" grpId="0"/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ChangeArrowheads="1"/>
          </p:cNvSpPr>
          <p:nvPr/>
        </p:nvSpPr>
        <p:spPr bwMode="auto">
          <a:xfrm>
            <a:off x="1331119" y="451992"/>
            <a:ext cx="28216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00FF"/>
                </a:solidFill>
                <a:ea typeface="楷体_GB2312" pitchFamily="49" charset="-122"/>
              </a:rPr>
              <a:t>2.</a:t>
            </a:r>
            <a:r>
              <a:rPr kumimoji="0"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 </a:t>
            </a:r>
            <a:r>
              <a:rPr kumimoji="0" lang="zh-CN" altLang="en-US" sz="2100" b="1">
                <a:ea typeface="楷体_GB2312" pitchFamily="49" charset="-122"/>
              </a:rPr>
              <a:t>查表求下列值</a:t>
            </a:r>
            <a:r>
              <a:rPr kumimoji="0" lang="zh-CN" altLang="en-US" sz="2100">
                <a:ea typeface="楷体_GB2312" pitchFamily="49" charset="-122"/>
              </a:rPr>
              <a:t>：</a:t>
            </a:r>
            <a:r>
              <a:rPr kumimoji="0" lang="zh-CN" altLang="en-US" sz="1800"/>
              <a:t> </a:t>
            </a:r>
          </a:p>
        </p:txBody>
      </p:sp>
      <p:graphicFrame>
        <p:nvGraphicFramePr>
          <p:cNvPr id="223235" name="Object 3"/>
          <p:cNvGraphicFramePr>
            <a:graphicFrameLocks noChangeAspect="1"/>
          </p:cNvGraphicFramePr>
          <p:nvPr/>
        </p:nvGraphicFramePr>
        <p:xfrm>
          <a:off x="4086225" y="411957"/>
          <a:ext cx="1188244" cy="531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8635" imgH="228600" progId="Equation.3">
                  <p:embed/>
                </p:oleObj>
              </mc:Choice>
              <mc:Fallback>
                <p:oleObj r:id="rId2" imgW="508635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411957"/>
                        <a:ext cx="1188244" cy="531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6" name="Object 4"/>
          <p:cNvGraphicFramePr>
            <a:graphicFrameLocks noChangeAspect="1"/>
          </p:cNvGraphicFramePr>
          <p:nvPr/>
        </p:nvGraphicFramePr>
        <p:xfrm>
          <a:off x="5274469" y="411956"/>
          <a:ext cx="11334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08635" imgH="228600" progId="Equation.3">
                  <p:embed/>
                </p:oleObj>
              </mc:Choice>
              <mc:Fallback>
                <p:oleObj r:id="rId4" imgW="508635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4469" y="411956"/>
                        <a:ext cx="11334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7" name="Object 5"/>
          <p:cNvGraphicFramePr>
            <a:graphicFrameLocks noChangeAspect="1"/>
          </p:cNvGraphicFramePr>
          <p:nvPr/>
        </p:nvGraphicFramePr>
        <p:xfrm>
          <a:off x="6354367" y="448866"/>
          <a:ext cx="145851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9935" imgH="228600" progId="Equation.3">
                  <p:embed/>
                </p:oleObj>
              </mc:Choice>
              <mc:Fallback>
                <p:oleObj r:id="rId6" imgW="749935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367" y="448866"/>
                        <a:ext cx="145851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/>
          <p:cNvGraphicFramePr>
            <a:graphicFrameLocks noChangeAspect="1"/>
          </p:cNvGraphicFramePr>
          <p:nvPr/>
        </p:nvGraphicFramePr>
        <p:xfrm>
          <a:off x="1494235" y="1113235"/>
          <a:ext cx="1472803" cy="44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62000" imgH="228600" progId="Equation.3">
                  <p:embed/>
                </p:oleObj>
              </mc:Choice>
              <mc:Fallback>
                <p:oleObj r:id="rId8" imgW="762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235" y="1113235"/>
                        <a:ext cx="1472803" cy="444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/>
          <p:cNvGraphicFramePr>
            <a:graphicFrameLocks noChangeAspect="1"/>
          </p:cNvGraphicFramePr>
          <p:nvPr/>
        </p:nvGraphicFramePr>
        <p:xfrm>
          <a:off x="2965848" y="1006078"/>
          <a:ext cx="1431131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73100" imgH="241300" progId="Equation.3">
                  <p:embed/>
                </p:oleObj>
              </mc:Choice>
              <mc:Fallback>
                <p:oleObj r:id="rId10" imgW="6731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848" y="1006078"/>
                        <a:ext cx="1431131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1143001" y="144530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1143000" y="3306259"/>
            <a:ext cx="211917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825"/>
              <a:t> </a:t>
            </a:r>
            <a:endParaRPr kumimoji="0" lang="en-US" altLang="zh-CN" sz="1800"/>
          </a:p>
        </p:txBody>
      </p:sp>
      <p:graphicFrame>
        <p:nvGraphicFramePr>
          <p:cNvPr id="223242" name="Object 10"/>
          <p:cNvGraphicFramePr>
            <a:graphicFrameLocks noChangeAspect="1"/>
          </p:cNvGraphicFramePr>
          <p:nvPr/>
        </p:nvGraphicFramePr>
        <p:xfrm>
          <a:off x="2195512" y="1653779"/>
          <a:ext cx="2214563" cy="48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41400" imgH="228600" progId="Equation.3">
                  <p:embed/>
                </p:oleObj>
              </mc:Choice>
              <mc:Fallback>
                <p:oleObj r:id="rId12" imgW="10414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2" y="1653779"/>
                        <a:ext cx="2214563" cy="483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3" name="Object 11"/>
          <p:cNvGraphicFramePr>
            <a:graphicFrameLocks noChangeAspect="1"/>
          </p:cNvGraphicFramePr>
          <p:nvPr/>
        </p:nvGraphicFramePr>
        <p:xfrm>
          <a:off x="2087166" y="2247900"/>
          <a:ext cx="2321719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30300" imgH="228600" progId="Equation.3">
                  <p:embed/>
                </p:oleObj>
              </mc:Choice>
              <mc:Fallback>
                <p:oleObj r:id="rId14" imgW="11303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2247900"/>
                        <a:ext cx="2321719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4" name="Object 12"/>
          <p:cNvGraphicFramePr>
            <a:graphicFrameLocks noChangeAspect="1"/>
          </p:cNvGraphicFramePr>
          <p:nvPr/>
        </p:nvGraphicFramePr>
        <p:xfrm>
          <a:off x="2087166" y="2950369"/>
          <a:ext cx="221337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30300" imgH="228600" progId="Equation.3">
                  <p:embed/>
                </p:oleObj>
              </mc:Choice>
              <mc:Fallback>
                <p:oleObj r:id="rId16" imgW="11303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2950369"/>
                        <a:ext cx="221337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5" name="Rectangle 13"/>
          <p:cNvSpPr>
            <a:spLocks noChangeArrowheads="1"/>
          </p:cNvSpPr>
          <p:nvPr/>
        </p:nvSpPr>
        <p:spPr bwMode="auto">
          <a:xfrm>
            <a:off x="1439466" y="1640235"/>
            <a:ext cx="864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3246" name="Object 14"/>
          <p:cNvGraphicFramePr>
            <a:graphicFrameLocks noChangeAspect="1"/>
          </p:cNvGraphicFramePr>
          <p:nvPr/>
        </p:nvGraphicFramePr>
        <p:xfrm>
          <a:off x="4518422" y="2301479"/>
          <a:ext cx="1295400" cy="335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685165" imgH="177800" progId="Equation.3">
                  <p:embed/>
                </p:oleObj>
              </mc:Choice>
              <mc:Fallback>
                <p:oleObj r:id="rId18" imgW="685165" imgH="177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422" y="2301479"/>
                        <a:ext cx="1295400" cy="335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7" name="Object 15"/>
          <p:cNvGraphicFramePr>
            <a:graphicFrameLocks noChangeAspect="1"/>
          </p:cNvGraphicFramePr>
          <p:nvPr/>
        </p:nvGraphicFramePr>
        <p:xfrm>
          <a:off x="2087166" y="3436144"/>
          <a:ext cx="2807494" cy="801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549400" imgH="444500" progId="Equation.3">
                  <p:embed/>
                </p:oleObj>
              </mc:Choice>
              <mc:Fallback>
                <p:oleObj r:id="rId20" imgW="1549400" imgH="4445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3436144"/>
                        <a:ext cx="2807494" cy="801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8" name="Object 16"/>
          <p:cNvGraphicFramePr>
            <a:graphicFrameLocks noChangeAspect="1"/>
          </p:cNvGraphicFramePr>
          <p:nvPr/>
        </p:nvGraphicFramePr>
        <p:xfrm>
          <a:off x="2087167" y="4354116"/>
          <a:ext cx="2430065" cy="494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168400" imgH="241300" progId="Equation.3">
                  <p:embed/>
                </p:oleObj>
              </mc:Choice>
              <mc:Fallback>
                <p:oleObj r:id="rId22" imgW="1168400" imgH="241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7" y="4354116"/>
                        <a:ext cx="2430065" cy="494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1" name="Rectangle 17"/>
          <p:cNvSpPr>
            <a:spLocks noChangeArrowheads="1"/>
          </p:cNvSpPr>
          <p:nvPr/>
        </p:nvSpPr>
        <p:spPr bwMode="auto">
          <a:xfrm>
            <a:off x="1143001" y="203466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52242" name="Rectangle 18"/>
          <p:cNvSpPr>
            <a:spLocks noChangeArrowheads="1"/>
          </p:cNvSpPr>
          <p:nvPr/>
        </p:nvSpPr>
        <p:spPr bwMode="auto">
          <a:xfrm>
            <a:off x="1143000" y="2528367"/>
            <a:ext cx="32893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900">
                <a:ea typeface="幼圆" panose="02010509060101010101" pitchFamily="49" charset="-122"/>
              </a:rPr>
              <a:t>， </a:t>
            </a:r>
            <a:endParaRPr kumimoji="0" lang="zh-CN" altLang="en-US" sz="1800"/>
          </a:p>
        </p:txBody>
      </p:sp>
      <p:graphicFrame>
        <p:nvGraphicFramePr>
          <p:cNvPr id="223251" name="Object 19"/>
          <p:cNvGraphicFramePr>
            <a:graphicFrameLocks noChangeAspect="1"/>
          </p:cNvGraphicFramePr>
          <p:nvPr/>
        </p:nvGraphicFramePr>
        <p:xfrm>
          <a:off x="5057775" y="3436144"/>
          <a:ext cx="1522810" cy="74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824865" imgH="406400" progId="Equation.3">
                  <p:embed/>
                </p:oleObj>
              </mc:Choice>
              <mc:Fallback>
                <p:oleObj r:id="rId24" imgW="824865" imgH="406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3436144"/>
                        <a:ext cx="1522810" cy="744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2" name="Object 20"/>
          <p:cNvGraphicFramePr>
            <a:graphicFrameLocks noChangeAspect="1"/>
          </p:cNvGraphicFramePr>
          <p:nvPr/>
        </p:nvGraphicFramePr>
        <p:xfrm>
          <a:off x="4410076" y="922735"/>
          <a:ext cx="91797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330200" imgH="241300" progId="Equation.3">
                  <p:embed/>
                </p:oleObj>
              </mc:Choice>
              <mc:Fallback>
                <p:oleObj r:id="rId26" imgW="330200" imgH="2413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6" y="922735"/>
                        <a:ext cx="917972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3" name="Object 21"/>
          <p:cNvGraphicFramePr>
            <a:graphicFrameLocks noChangeAspect="1"/>
          </p:cNvGraphicFramePr>
          <p:nvPr/>
        </p:nvGraphicFramePr>
        <p:xfrm>
          <a:off x="4842273" y="4300537"/>
          <a:ext cx="1512094" cy="501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723900" imgH="241300" progId="Equation.3">
                  <p:embed/>
                </p:oleObj>
              </mc:Choice>
              <mc:Fallback>
                <p:oleObj r:id="rId28" imgW="723900" imgH="2413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2273" y="4300537"/>
                        <a:ext cx="1512094" cy="501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autoUpdateAnimBg="0"/>
      <p:bldP spid="22324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258" name="Group 2"/>
          <p:cNvGrpSpPr/>
          <p:nvPr/>
        </p:nvGrpSpPr>
        <p:grpSpPr bwMode="auto">
          <a:xfrm>
            <a:off x="1143000" y="236935"/>
            <a:ext cx="5103019" cy="461963"/>
            <a:chOff x="0" y="-11"/>
            <a:chExt cx="4286" cy="388"/>
          </a:xfrm>
        </p:grpSpPr>
        <p:graphicFrame>
          <p:nvGraphicFramePr>
            <p:cNvPr id="53261" name="Object 3"/>
            <p:cNvGraphicFramePr>
              <a:graphicFrameLocks noChangeAspect="1"/>
            </p:cNvGraphicFramePr>
            <p:nvPr/>
          </p:nvGraphicFramePr>
          <p:xfrm>
            <a:off x="3515" y="45"/>
            <a:ext cx="77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59435" imgH="228600" progId="Equation.3">
                    <p:embed/>
                  </p:oleObj>
                </mc:Choice>
                <mc:Fallback>
                  <p:oleObj r:id="rId2" imgW="559435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45"/>
                          <a:ext cx="771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2" name="Rectangle 4"/>
            <p:cNvSpPr>
              <a:spLocks noChangeArrowheads="1"/>
            </p:cNvSpPr>
            <p:nvPr/>
          </p:nvSpPr>
          <p:spPr bwMode="auto">
            <a:xfrm>
              <a:off x="0" y="-11"/>
              <a:ext cx="383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例</a:t>
              </a:r>
              <a:r>
                <a:rPr kumimoji="0" lang="en-US" altLang="zh-CN" b="1">
                  <a:solidFill>
                    <a:srgbClr val="0000FF"/>
                  </a:solidFill>
                  <a:ea typeface="楷体_GB2312" pitchFamily="49" charset="-122"/>
                </a:rPr>
                <a:t>3.</a:t>
              </a:r>
              <a:r>
                <a:rPr kumimoji="0" lang="zh-CN" altLang="en-US" sz="2100" b="1">
                  <a:ea typeface="楷体_GB2312" pitchFamily="49" charset="-122"/>
                </a:rPr>
                <a:t>设总体</a:t>
              </a:r>
              <a:r>
                <a:rPr kumimoji="0" lang="en-US" altLang="zh-CN" sz="2100" b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和</a:t>
              </a:r>
              <a:r>
                <a:rPr kumimoji="0" lang="en-US" altLang="zh-CN" sz="2100" b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相互独立，同服从</a:t>
              </a:r>
            </a:p>
          </p:txBody>
        </p:sp>
      </p:grpSp>
      <p:sp>
        <p:nvSpPr>
          <p:cNvPr id="224261" name="Rectangle 5"/>
          <p:cNvSpPr>
            <a:spLocks noChangeArrowheads="1"/>
          </p:cNvSpPr>
          <p:nvPr/>
        </p:nvSpPr>
        <p:spPr bwMode="auto">
          <a:xfrm>
            <a:off x="1143000" y="831072"/>
            <a:ext cx="62103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分布，而 </a:t>
            </a:r>
            <a:r>
              <a:rPr kumimoji="0" lang="en-US" altLang="zh-CN" sz="2100" b="1">
                <a:ea typeface="楷体_GB2312" pitchFamily="49" charset="-122"/>
              </a:rPr>
              <a:t>X</a:t>
            </a:r>
            <a:r>
              <a:rPr kumimoji="0" lang="en-US" altLang="zh-CN" sz="2100" b="1" baseline="-30000">
                <a:ea typeface="楷体_GB2312" pitchFamily="49" charset="-122"/>
              </a:rPr>
              <a:t>1</a:t>
            </a:r>
            <a:r>
              <a:rPr kumimoji="0" lang="zh-CN" altLang="en-US" sz="2100" b="1">
                <a:ea typeface="楷体_GB2312" pitchFamily="49" charset="-122"/>
              </a:rPr>
              <a:t>，</a:t>
            </a:r>
            <a:r>
              <a:rPr kumimoji="0" lang="en-US" altLang="zh-CN" sz="2100" b="1">
                <a:ea typeface="楷体_GB2312" pitchFamily="49" charset="-122"/>
              </a:rPr>
              <a:t>X</a:t>
            </a:r>
            <a:r>
              <a:rPr kumimoji="0" lang="en-US" altLang="zh-CN" sz="2100" b="1" baseline="-30000">
                <a:ea typeface="楷体_GB2312" pitchFamily="49" charset="-122"/>
              </a:rPr>
              <a:t>2</a:t>
            </a:r>
            <a:r>
              <a:rPr kumimoji="0" lang="zh-CN" altLang="en-US" sz="2100" b="1">
                <a:ea typeface="楷体_GB2312" pitchFamily="49" charset="-122"/>
              </a:rPr>
              <a:t>，</a:t>
            </a:r>
            <a:r>
              <a:rPr kumimoji="0" lang="en-US" altLang="zh-CN" sz="2100" b="1">
                <a:ea typeface="楷体_GB2312" pitchFamily="49" charset="-122"/>
              </a:rPr>
              <a:t>…, X</a:t>
            </a:r>
            <a:r>
              <a:rPr kumimoji="0" lang="en-US" altLang="zh-CN" sz="2100" b="1" baseline="-30000">
                <a:ea typeface="楷体_GB2312" pitchFamily="49" charset="-122"/>
              </a:rPr>
              <a:t>9 </a:t>
            </a:r>
            <a:r>
              <a:rPr kumimoji="0" lang="zh-CN" altLang="en-US" sz="2100" b="1">
                <a:ea typeface="楷体_GB2312" pitchFamily="49" charset="-122"/>
              </a:rPr>
              <a:t>和 </a:t>
            </a:r>
            <a:r>
              <a:rPr kumimoji="0" lang="en-US" altLang="zh-CN" sz="2100" b="1">
                <a:ea typeface="楷体_GB2312" pitchFamily="49" charset="-122"/>
              </a:rPr>
              <a:t>Y</a:t>
            </a:r>
            <a:r>
              <a:rPr kumimoji="0" lang="en-US" altLang="zh-CN" sz="2100" b="1" baseline="-30000">
                <a:ea typeface="楷体_GB2312" pitchFamily="49" charset="-122"/>
              </a:rPr>
              <a:t>1</a:t>
            </a:r>
            <a:r>
              <a:rPr kumimoji="0" lang="zh-CN" altLang="en-US" sz="2100" b="1">
                <a:ea typeface="楷体_GB2312" pitchFamily="49" charset="-122"/>
              </a:rPr>
              <a:t>，</a:t>
            </a:r>
            <a:r>
              <a:rPr kumimoji="0" lang="en-US" altLang="zh-CN" sz="2100" b="1">
                <a:ea typeface="楷体_GB2312" pitchFamily="49" charset="-122"/>
              </a:rPr>
              <a:t>Y</a:t>
            </a:r>
            <a:r>
              <a:rPr kumimoji="0" lang="en-US" altLang="zh-CN" sz="2100" b="1" baseline="-30000">
                <a:ea typeface="楷体_GB2312" pitchFamily="49" charset="-122"/>
              </a:rPr>
              <a:t>2</a:t>
            </a:r>
            <a:r>
              <a:rPr kumimoji="0" lang="zh-CN" altLang="en-US" sz="2100" b="1">
                <a:ea typeface="楷体_GB2312" pitchFamily="49" charset="-122"/>
              </a:rPr>
              <a:t>，</a:t>
            </a:r>
            <a:r>
              <a:rPr kumimoji="0" lang="en-US" altLang="zh-CN" sz="2100" b="1">
                <a:ea typeface="楷体_GB2312" pitchFamily="49" charset="-122"/>
              </a:rPr>
              <a:t>…, Y</a:t>
            </a:r>
            <a:r>
              <a:rPr kumimoji="0" lang="en-US" altLang="zh-CN" sz="2100" b="1" baseline="-30000">
                <a:ea typeface="楷体_GB2312" pitchFamily="49" charset="-122"/>
              </a:rPr>
              <a:t>9</a:t>
            </a:r>
            <a:endParaRPr kumimoji="0" lang="en-US" altLang="zh-CN" sz="2100" b="1">
              <a:ea typeface="楷体_GB2312" pitchFamily="49" charset="-122"/>
            </a:endParaRPr>
          </a:p>
        </p:txBody>
      </p:sp>
      <p:grpSp>
        <p:nvGrpSpPr>
          <p:cNvPr id="224262" name="Group 6"/>
          <p:cNvGrpSpPr/>
          <p:nvPr/>
        </p:nvGrpSpPr>
        <p:grpSpPr bwMode="auto">
          <a:xfrm>
            <a:off x="1277542" y="1977629"/>
            <a:ext cx="4030266" cy="867965"/>
            <a:chOff x="0" y="0"/>
            <a:chExt cx="3385" cy="729"/>
          </a:xfrm>
        </p:grpSpPr>
        <p:graphicFrame>
          <p:nvGraphicFramePr>
            <p:cNvPr id="53259" name="Object 7"/>
            <p:cNvGraphicFramePr>
              <a:graphicFrameLocks noChangeAspect="1"/>
            </p:cNvGraphicFramePr>
            <p:nvPr/>
          </p:nvGraphicFramePr>
          <p:xfrm>
            <a:off x="0" y="0"/>
            <a:ext cx="2404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64335" imgH="508000" progId="Equation.3">
                    <p:embed/>
                  </p:oleObj>
                </mc:Choice>
                <mc:Fallback>
                  <p:oleObj r:id="rId4" imgW="1664335" imgH="508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404" cy="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0" name="Rectangle 8"/>
            <p:cNvSpPr>
              <a:spLocks noChangeArrowheads="1"/>
            </p:cNvSpPr>
            <p:nvPr/>
          </p:nvSpPr>
          <p:spPr bwMode="auto">
            <a:xfrm>
              <a:off x="2495" y="145"/>
              <a:ext cx="89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ea typeface="楷体_GB2312" pitchFamily="49" charset="-122"/>
                </a:rPr>
                <a:t>的分布</a:t>
              </a:r>
              <a:r>
                <a:rPr kumimoji="0" lang="en-US" altLang="zh-CN" sz="2100" b="1"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224265" name="Rectangle 9"/>
          <p:cNvSpPr>
            <a:spLocks noChangeArrowheads="1"/>
          </p:cNvSpPr>
          <p:nvPr/>
        </p:nvSpPr>
        <p:spPr bwMode="auto">
          <a:xfrm>
            <a:off x="1143000" y="1383506"/>
            <a:ext cx="542007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100" b="1">
                <a:ea typeface="楷体_GB2312" pitchFamily="49" charset="-122"/>
              </a:rPr>
              <a:t>分别是来自</a:t>
            </a:r>
            <a:r>
              <a:rPr kumimoji="0" lang="en-US" altLang="zh-CN" sz="2100" b="1">
                <a:ea typeface="楷体_GB2312" pitchFamily="49" charset="-122"/>
              </a:rPr>
              <a:t>X</a:t>
            </a:r>
            <a:r>
              <a:rPr kumimoji="0" lang="zh-CN" altLang="en-US" sz="2100" b="1">
                <a:ea typeface="楷体_GB2312" pitchFamily="49" charset="-122"/>
              </a:rPr>
              <a:t>和</a:t>
            </a:r>
            <a:r>
              <a:rPr kumimoji="0" lang="en-US" altLang="zh-CN" sz="2100" b="1">
                <a:ea typeface="楷体_GB2312" pitchFamily="49" charset="-122"/>
              </a:rPr>
              <a:t>Y</a:t>
            </a:r>
            <a:r>
              <a:rPr kumimoji="0" lang="zh-CN" altLang="en-US" sz="2100" b="1">
                <a:ea typeface="楷体_GB2312" pitchFamily="49" charset="-122"/>
              </a:rPr>
              <a:t>的简单随机样本，求统计量</a:t>
            </a:r>
          </a:p>
        </p:txBody>
      </p:sp>
      <p:sp>
        <p:nvSpPr>
          <p:cNvPr id="224266" name="Rectangle 10"/>
          <p:cNvSpPr>
            <a:spLocks noChangeArrowheads="1"/>
          </p:cNvSpPr>
          <p:nvPr/>
        </p:nvSpPr>
        <p:spPr bwMode="auto">
          <a:xfrm>
            <a:off x="1385888" y="3057525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4267" name="Object 11"/>
          <p:cNvGraphicFramePr>
            <a:graphicFrameLocks noChangeAspect="1"/>
          </p:cNvGraphicFramePr>
          <p:nvPr/>
        </p:nvGraphicFramePr>
        <p:xfrm>
          <a:off x="2033587" y="3112294"/>
          <a:ext cx="1728788" cy="41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65835" imgH="228600" progId="Equation.3">
                  <p:embed/>
                </p:oleObj>
              </mc:Choice>
              <mc:Fallback>
                <p:oleObj r:id="rId6" imgW="965835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7" y="3112294"/>
                        <a:ext cx="1728788" cy="410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8" name="Object 12"/>
          <p:cNvGraphicFramePr>
            <a:graphicFrameLocks noChangeAspect="1"/>
          </p:cNvGraphicFramePr>
          <p:nvPr/>
        </p:nvGraphicFramePr>
        <p:xfrm>
          <a:off x="4193381" y="3006329"/>
          <a:ext cx="1890713" cy="66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19200" imgH="431800" progId="Equation.3">
                  <p:embed/>
                </p:oleObj>
              </mc:Choice>
              <mc:Fallback>
                <p:oleObj r:id="rId8" imgW="12192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381" y="3006329"/>
                        <a:ext cx="1890713" cy="664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9" name="Object 13"/>
          <p:cNvGraphicFramePr>
            <a:graphicFrameLocks noChangeAspect="1"/>
          </p:cNvGraphicFramePr>
          <p:nvPr/>
        </p:nvGraphicFramePr>
        <p:xfrm>
          <a:off x="2250282" y="3651648"/>
          <a:ext cx="1837135" cy="96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81100" imgH="622300" progId="Equation.3">
                  <p:embed/>
                </p:oleObj>
              </mc:Choice>
              <mc:Fallback>
                <p:oleObj r:id="rId10" imgW="1181100" imgH="622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2" y="3651648"/>
                        <a:ext cx="1837135" cy="96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Rectangle 14"/>
          <p:cNvSpPr>
            <a:spLocks noChangeArrowheads="1"/>
          </p:cNvSpPr>
          <p:nvPr/>
        </p:nvSpPr>
        <p:spPr bwMode="auto">
          <a:xfrm>
            <a:off x="1143001" y="17060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22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22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 autoUpdateAnimBg="0"/>
      <p:bldP spid="224265" grpId="0" autoUpdateAnimBg="0"/>
      <p:bldP spid="22426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282" name="Object 2"/>
          <p:cNvGraphicFramePr>
            <a:graphicFrameLocks noChangeAspect="1"/>
          </p:cNvGraphicFramePr>
          <p:nvPr/>
        </p:nvGraphicFramePr>
        <p:xfrm>
          <a:off x="1656160" y="627460"/>
          <a:ext cx="1806178" cy="451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5035" imgH="228600" progId="Equation.3">
                  <p:embed/>
                </p:oleObj>
              </mc:Choice>
              <mc:Fallback>
                <p:oleObj r:id="rId2" imgW="915035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160" y="627460"/>
                        <a:ext cx="1806178" cy="451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3" name="Object 3"/>
          <p:cNvGraphicFramePr>
            <a:graphicFrameLocks noChangeAspect="1"/>
          </p:cNvGraphicFramePr>
          <p:nvPr/>
        </p:nvGraphicFramePr>
        <p:xfrm>
          <a:off x="3869532" y="411956"/>
          <a:ext cx="1997869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8065" imgH="406400" progId="Equation.3">
                  <p:embed/>
                </p:oleObj>
              </mc:Choice>
              <mc:Fallback>
                <p:oleObj r:id="rId4" imgW="1028065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532" y="411956"/>
                        <a:ext cx="1997869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1547813" y="1168003"/>
          <a:ext cx="2808685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77035" imgH="647700" progId="Equation.3">
                  <p:embed/>
                </p:oleObj>
              </mc:Choice>
              <mc:Fallback>
                <p:oleObj r:id="rId6" imgW="1677035" imgH="647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168003"/>
                        <a:ext cx="2808685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1494235" y="2518172"/>
          <a:ext cx="2159794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19200" imgH="901700" progId="Equation.3">
                  <p:embed/>
                </p:oleObj>
              </mc:Choice>
              <mc:Fallback>
                <p:oleObj r:id="rId8" imgW="1219200" imgH="901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235" y="2518172"/>
                        <a:ext cx="2159794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6" name="Object 6"/>
          <p:cNvGraphicFramePr>
            <a:graphicFrameLocks noChangeAspect="1"/>
          </p:cNvGraphicFramePr>
          <p:nvPr/>
        </p:nvGraphicFramePr>
        <p:xfrm>
          <a:off x="6624638" y="3057526"/>
          <a:ext cx="1058466" cy="526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06400" imgH="203200" progId="Equation.3">
                  <p:embed/>
                </p:oleObj>
              </mc:Choice>
              <mc:Fallback>
                <p:oleObj r:id="rId10" imgW="4064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638" y="3057526"/>
                        <a:ext cx="1058466" cy="526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7" name="Object 7"/>
          <p:cNvGraphicFramePr>
            <a:graphicFrameLocks noChangeAspect="1"/>
          </p:cNvGraphicFramePr>
          <p:nvPr/>
        </p:nvGraphicFramePr>
        <p:xfrm>
          <a:off x="3762375" y="2895600"/>
          <a:ext cx="2753916" cy="922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11935" imgH="508000" progId="Equation.3">
                  <p:embed/>
                </p:oleObj>
              </mc:Choice>
              <mc:Fallback>
                <p:oleObj r:id="rId12" imgW="1511935" imgH="508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2895600"/>
                        <a:ext cx="2753916" cy="922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ChangeArrowheads="1"/>
          </p:cNvSpPr>
          <p:nvPr/>
        </p:nvSpPr>
        <p:spPr bwMode="auto">
          <a:xfrm>
            <a:off x="1439466" y="938228"/>
            <a:ext cx="5941219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100" b="1">
                <a:ea typeface="楷体_GB2312" pitchFamily="49" charset="-122"/>
              </a:rPr>
              <a:t>X</a:t>
            </a:r>
            <a:r>
              <a:rPr kumimoji="0" lang="en-US" altLang="zh-CN" sz="2100" b="1" baseline="-30000">
                <a:ea typeface="楷体_GB2312" pitchFamily="49" charset="-122"/>
              </a:rPr>
              <a:t>1</a:t>
            </a:r>
            <a:r>
              <a:rPr kumimoji="0" lang="zh-CN" altLang="en-US" sz="2100" b="1">
                <a:ea typeface="楷体_GB2312" pitchFamily="49" charset="-122"/>
              </a:rPr>
              <a:t>，</a:t>
            </a:r>
            <a:r>
              <a:rPr kumimoji="0" lang="en-US" altLang="zh-CN" sz="2100" b="1">
                <a:ea typeface="楷体_GB2312" pitchFamily="49" charset="-122"/>
              </a:rPr>
              <a:t>X</a:t>
            </a:r>
            <a:r>
              <a:rPr kumimoji="0" lang="en-US" altLang="zh-CN" sz="2100" b="1" baseline="-30000">
                <a:ea typeface="楷体_GB2312" pitchFamily="49" charset="-122"/>
              </a:rPr>
              <a:t>2</a:t>
            </a:r>
            <a:r>
              <a:rPr kumimoji="0" lang="zh-CN" altLang="en-US" sz="2100" b="1">
                <a:ea typeface="楷体_GB2312" pitchFamily="49" charset="-122"/>
              </a:rPr>
              <a:t>，</a:t>
            </a:r>
            <a:r>
              <a:rPr kumimoji="0" lang="en-US" altLang="zh-CN" sz="2100" b="1">
                <a:ea typeface="楷体_GB2312" pitchFamily="49" charset="-122"/>
              </a:rPr>
              <a:t>…,X</a:t>
            </a:r>
            <a:r>
              <a:rPr kumimoji="0" lang="en-US" altLang="zh-CN" sz="2100" b="1" baseline="-30000">
                <a:ea typeface="楷体_GB2312" pitchFamily="49" charset="-122"/>
              </a:rPr>
              <a:t>15</a:t>
            </a:r>
            <a:r>
              <a:rPr kumimoji="0" lang="zh-CN" altLang="en-US" sz="2100" b="1">
                <a:ea typeface="楷体_GB2312" pitchFamily="49" charset="-122"/>
              </a:rPr>
              <a:t>是来自</a:t>
            </a:r>
            <a:r>
              <a:rPr kumimoji="0" lang="en-US" altLang="zh-CN" sz="2100" b="1">
                <a:ea typeface="楷体_GB2312" pitchFamily="49" charset="-122"/>
              </a:rPr>
              <a:t>X</a:t>
            </a:r>
            <a:r>
              <a:rPr kumimoji="0" lang="zh-CN" altLang="en-US" sz="2100" b="1">
                <a:ea typeface="楷体_GB2312" pitchFamily="49" charset="-122"/>
              </a:rPr>
              <a:t>的简单随机样本，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grpSp>
        <p:nvGrpSpPr>
          <p:cNvPr id="226307" name="Group 3"/>
          <p:cNvGrpSpPr/>
          <p:nvPr/>
        </p:nvGrpSpPr>
        <p:grpSpPr bwMode="auto">
          <a:xfrm>
            <a:off x="1331119" y="290513"/>
            <a:ext cx="4449366" cy="461962"/>
            <a:chOff x="0" y="-11"/>
            <a:chExt cx="3737" cy="388"/>
          </a:xfrm>
        </p:grpSpPr>
        <p:graphicFrame>
          <p:nvGraphicFramePr>
            <p:cNvPr id="55308" name="Object 4"/>
            <p:cNvGraphicFramePr>
              <a:graphicFrameLocks noChangeAspect="1"/>
            </p:cNvGraphicFramePr>
            <p:nvPr/>
          </p:nvGraphicFramePr>
          <p:xfrm>
            <a:off x="1860" y="0"/>
            <a:ext cx="82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59435" imgH="228600" progId="Equation.3">
                    <p:embed/>
                  </p:oleObj>
                </mc:Choice>
                <mc:Fallback>
                  <p:oleObj r:id="rId2" imgW="559435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0"/>
                          <a:ext cx="820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9" name="Rectangle 5"/>
            <p:cNvSpPr>
              <a:spLocks noChangeArrowheads="1"/>
            </p:cNvSpPr>
            <p:nvPr/>
          </p:nvSpPr>
          <p:spPr bwMode="auto">
            <a:xfrm>
              <a:off x="0" y="-11"/>
              <a:ext cx="1901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例</a:t>
              </a:r>
              <a:r>
                <a:rPr kumimoji="0" lang="en-US" altLang="zh-CN" b="1">
                  <a:solidFill>
                    <a:srgbClr val="0000FF"/>
                  </a:solidFill>
                  <a:ea typeface="楷体_GB2312" pitchFamily="49" charset="-122"/>
                </a:rPr>
                <a:t>4.</a:t>
              </a:r>
              <a:r>
                <a:rPr kumimoji="0" lang="zh-CN" altLang="en-US" sz="2100" b="1">
                  <a:ea typeface="楷体_GB2312" pitchFamily="49" charset="-122"/>
                </a:rPr>
                <a:t>设总体</a:t>
              </a:r>
              <a:r>
                <a:rPr kumimoji="0" lang="en-US" altLang="zh-CN" sz="2100" b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服从</a:t>
              </a:r>
            </a:p>
          </p:txBody>
        </p:sp>
        <p:sp>
          <p:nvSpPr>
            <p:cNvPr id="55310" name="Rectangle 6"/>
            <p:cNvSpPr>
              <a:spLocks noChangeArrowheads="1"/>
            </p:cNvSpPr>
            <p:nvPr/>
          </p:nvSpPr>
          <p:spPr bwMode="auto">
            <a:xfrm>
              <a:off x="2677" y="0"/>
              <a:ext cx="106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分布，而</a:t>
              </a:r>
              <a:endParaRPr kumimoji="0" lang="zh-CN" altLang="en-US" sz="2100" b="1" baseline="-300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226311" name="Group 7"/>
          <p:cNvGrpSpPr/>
          <p:nvPr/>
        </p:nvGrpSpPr>
        <p:grpSpPr bwMode="auto">
          <a:xfrm>
            <a:off x="1331119" y="1545432"/>
            <a:ext cx="5975747" cy="779860"/>
            <a:chOff x="0" y="0"/>
            <a:chExt cx="5019" cy="655"/>
          </a:xfrm>
        </p:grpSpPr>
        <p:graphicFrame>
          <p:nvGraphicFramePr>
            <p:cNvPr id="55305" name="Object 8"/>
            <p:cNvGraphicFramePr>
              <a:graphicFrameLocks noChangeAspect="1"/>
            </p:cNvGraphicFramePr>
            <p:nvPr/>
          </p:nvGraphicFramePr>
          <p:xfrm>
            <a:off x="772" y="0"/>
            <a:ext cx="3110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032000" imgH="482600" progId="Equation.3">
                    <p:embed/>
                  </p:oleObj>
                </mc:Choice>
                <mc:Fallback>
                  <p:oleObj r:id="rId4" imgW="2032000" imgH="482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" y="0"/>
                          <a:ext cx="3110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6" name="Rectangle 9"/>
            <p:cNvSpPr>
              <a:spLocks noChangeArrowheads="1"/>
            </p:cNvSpPr>
            <p:nvPr/>
          </p:nvSpPr>
          <p:spPr bwMode="auto">
            <a:xfrm>
              <a:off x="3856" y="81"/>
              <a:ext cx="116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的分布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55307" name="Rectangle 10"/>
            <p:cNvSpPr>
              <a:spLocks noChangeArrowheads="1"/>
            </p:cNvSpPr>
            <p:nvPr/>
          </p:nvSpPr>
          <p:spPr bwMode="auto">
            <a:xfrm>
              <a:off x="0" y="136"/>
              <a:ext cx="1307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统计量</a:t>
              </a:r>
            </a:p>
          </p:txBody>
        </p:sp>
      </p:grpSp>
      <p:sp>
        <p:nvSpPr>
          <p:cNvPr id="226315" name="Rectangle 11"/>
          <p:cNvSpPr>
            <a:spLocks noChangeArrowheads="1"/>
          </p:cNvSpPr>
          <p:nvPr/>
        </p:nvSpPr>
        <p:spPr bwMode="auto">
          <a:xfrm>
            <a:off x="1277542" y="2571750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6316" name="Object 12"/>
          <p:cNvGraphicFramePr>
            <a:graphicFrameLocks noChangeAspect="1"/>
          </p:cNvGraphicFramePr>
          <p:nvPr/>
        </p:nvGraphicFramePr>
        <p:xfrm>
          <a:off x="1925241" y="2625329"/>
          <a:ext cx="18049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41400" imgH="241300" progId="Equation.3">
                  <p:embed/>
                </p:oleObj>
              </mc:Choice>
              <mc:Fallback>
                <p:oleObj r:id="rId6" imgW="10414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241" y="2625329"/>
                        <a:ext cx="18049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7" name="Object 13"/>
          <p:cNvGraphicFramePr>
            <a:graphicFrameLocks noChangeAspect="1"/>
          </p:cNvGraphicFramePr>
          <p:nvPr/>
        </p:nvGraphicFramePr>
        <p:xfrm>
          <a:off x="4193381" y="2518172"/>
          <a:ext cx="1724025" cy="646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78865" imgH="406400" progId="Equation.3">
                  <p:embed/>
                </p:oleObj>
              </mc:Choice>
              <mc:Fallback>
                <p:oleObj r:id="rId8" imgW="1078865" imgH="406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381" y="2518172"/>
                        <a:ext cx="1724025" cy="646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8" name="Object 14"/>
          <p:cNvGraphicFramePr>
            <a:graphicFrameLocks noChangeAspect="1"/>
          </p:cNvGraphicFramePr>
          <p:nvPr/>
        </p:nvGraphicFramePr>
        <p:xfrm>
          <a:off x="1980010" y="3219450"/>
          <a:ext cx="310634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54835" imgH="647700" progId="Equation.3">
                  <p:embed/>
                </p:oleObj>
              </mc:Choice>
              <mc:Fallback>
                <p:oleObj r:id="rId10" imgW="1854835" imgH="647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3219450"/>
                        <a:ext cx="3106340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1000"/>
                                        <p:tgtEl>
                                          <p:spTgt spid="22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1000"/>
                                        <p:tgtEl>
                                          <p:spTgt spid="22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 autoUpdateAnimBg="0"/>
      <p:bldP spid="22631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0" name="Object 2"/>
          <p:cNvGraphicFramePr>
            <a:graphicFrameLocks noChangeAspect="1"/>
          </p:cNvGraphicFramePr>
          <p:nvPr/>
        </p:nvGraphicFramePr>
        <p:xfrm>
          <a:off x="1601391" y="141685"/>
          <a:ext cx="3350419" cy="1218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91335" imgH="647700" progId="Equation.3">
                  <p:embed/>
                </p:oleObj>
              </mc:Choice>
              <mc:Fallback>
                <p:oleObj r:id="rId2" imgW="1791335" imgH="647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391" y="141685"/>
                        <a:ext cx="3350419" cy="1218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1" name="Object 3"/>
          <p:cNvGraphicFramePr>
            <a:graphicFrameLocks noChangeAspect="1"/>
          </p:cNvGraphicFramePr>
          <p:nvPr/>
        </p:nvGraphicFramePr>
        <p:xfrm>
          <a:off x="1419225" y="1545432"/>
          <a:ext cx="4306491" cy="859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55800" imgH="482600" progId="Equation.3">
                  <p:embed/>
                </p:oleObj>
              </mc:Choice>
              <mc:Fallback>
                <p:oleObj r:id="rId4" imgW="19558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1545432"/>
                        <a:ext cx="4306491" cy="859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2" name="Object 4"/>
          <p:cNvGraphicFramePr>
            <a:graphicFrameLocks noChangeAspect="1"/>
          </p:cNvGraphicFramePr>
          <p:nvPr/>
        </p:nvGraphicFramePr>
        <p:xfrm>
          <a:off x="1319213" y="2733675"/>
          <a:ext cx="4021931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92300" imgH="482600" progId="Equation.3">
                  <p:embed/>
                </p:oleObj>
              </mc:Choice>
              <mc:Fallback>
                <p:oleObj r:id="rId6" imgW="18923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2733675"/>
                        <a:ext cx="4021931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3" name="Object 5"/>
          <p:cNvGraphicFramePr>
            <a:graphicFrameLocks noChangeAspect="1"/>
          </p:cNvGraphicFramePr>
          <p:nvPr/>
        </p:nvGraphicFramePr>
        <p:xfrm>
          <a:off x="5274469" y="3003948"/>
          <a:ext cx="502444" cy="292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79400" imgH="165100" progId="Equation.3">
                  <p:embed/>
                </p:oleObj>
              </mc:Choice>
              <mc:Fallback>
                <p:oleObj r:id="rId8" imgW="279400" imgH="165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4469" y="3003948"/>
                        <a:ext cx="502444" cy="292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/>
          <p:cNvGraphicFramePr>
            <a:graphicFrameLocks noChangeAspect="1"/>
          </p:cNvGraphicFramePr>
          <p:nvPr/>
        </p:nvGraphicFramePr>
        <p:xfrm>
          <a:off x="5922169" y="3003947"/>
          <a:ext cx="1188244" cy="360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60400" imgH="203200" progId="Equation.3">
                  <p:embed/>
                </p:oleObj>
              </mc:Choice>
              <mc:Fallback>
                <p:oleObj r:id="rId10" imgW="6604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169" y="3003947"/>
                        <a:ext cx="1188244" cy="360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10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10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354" name="Group 2"/>
          <p:cNvGrpSpPr/>
          <p:nvPr/>
        </p:nvGrpSpPr>
        <p:grpSpPr bwMode="auto">
          <a:xfrm>
            <a:off x="1143000" y="411956"/>
            <a:ext cx="6858000" cy="522685"/>
            <a:chOff x="0" y="0"/>
            <a:chExt cx="5760" cy="439"/>
          </a:xfrm>
        </p:grpSpPr>
        <p:sp>
          <p:nvSpPr>
            <p:cNvPr id="57364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129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例</a:t>
              </a:r>
              <a:r>
                <a:rPr kumimoji="0" lang="en-US" altLang="zh-CN" b="1">
                  <a:solidFill>
                    <a:srgbClr val="0000FF"/>
                  </a:solidFill>
                  <a:ea typeface="楷体_GB2312" pitchFamily="49" charset="-122"/>
                </a:rPr>
                <a:t>5</a:t>
              </a:r>
              <a:r>
                <a:rPr kumimoji="0" lang="en-US" altLang="zh-CN" b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设总体</a:t>
              </a:r>
            </a:p>
          </p:txBody>
        </p:sp>
        <p:graphicFrame>
          <p:nvGraphicFramePr>
            <p:cNvPr id="57365" name="Object 4"/>
            <p:cNvGraphicFramePr>
              <a:graphicFrameLocks noChangeAspect="1"/>
            </p:cNvGraphicFramePr>
            <p:nvPr/>
          </p:nvGraphicFramePr>
          <p:xfrm>
            <a:off x="1247" y="90"/>
            <a:ext cx="13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74065" imgH="203200" progId="Equation.3">
                    <p:embed/>
                  </p:oleObj>
                </mc:Choice>
                <mc:Fallback>
                  <p:oleObj r:id="rId2" imgW="774065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90"/>
                          <a:ext cx="13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6" name="Object 5"/>
            <p:cNvGraphicFramePr>
              <a:graphicFrameLocks noChangeAspect="1"/>
            </p:cNvGraphicFramePr>
            <p:nvPr/>
          </p:nvGraphicFramePr>
          <p:xfrm>
            <a:off x="2562" y="90"/>
            <a:ext cx="108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11200" imgH="228600" progId="Equation.DSMT4">
                    <p:embed/>
                  </p:oleObj>
                </mc:Choice>
                <mc:Fallback>
                  <p:oleObj r:id="rId4" imgW="71120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90"/>
                          <a:ext cx="1089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7" name="Text Box 6"/>
            <p:cNvSpPr txBox="1">
              <a:spLocks noChangeArrowheads="1"/>
            </p:cNvSpPr>
            <p:nvPr/>
          </p:nvSpPr>
          <p:spPr bwMode="auto">
            <a:xfrm>
              <a:off x="3696" y="90"/>
              <a:ext cx="2064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为总体</a:t>
              </a:r>
              <a:r>
                <a:rPr kumimoji="0" lang="zh-CN" altLang="en-US" sz="2100" b="1" i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en-US" altLang="zh-CN" sz="2100" b="1" i="1">
                  <a:ea typeface="楷体_GB2312" pitchFamily="49" charset="-122"/>
                </a:rPr>
                <a:t>X</a:t>
              </a:r>
              <a:r>
                <a:rPr kumimoji="0" lang="en-US" altLang="zh-CN" sz="2100" b="1">
                  <a:ea typeface="楷体_GB2312" pitchFamily="49" charset="-122"/>
                </a:rPr>
                <a:t> 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  <a:r>
                <a:rPr kumimoji="0" lang="en-US" altLang="zh-CN" sz="2100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28359" name="Group 7"/>
          <p:cNvGrpSpPr/>
          <p:nvPr/>
        </p:nvGrpSpPr>
        <p:grpSpPr bwMode="auto">
          <a:xfrm>
            <a:off x="1277541" y="951310"/>
            <a:ext cx="6401991" cy="470296"/>
            <a:chOff x="0" y="0"/>
            <a:chExt cx="5377" cy="395"/>
          </a:xfrm>
        </p:grpSpPr>
        <p:graphicFrame>
          <p:nvGraphicFramePr>
            <p:cNvPr id="57362" name="Object 8"/>
            <p:cNvGraphicFramePr>
              <a:graphicFrameLocks noChangeAspect="1"/>
            </p:cNvGraphicFramePr>
            <p:nvPr/>
          </p:nvGraphicFramePr>
          <p:xfrm>
            <a:off x="0" y="0"/>
            <a:ext cx="3500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603500" imgH="241300" progId="Equation.3">
                    <p:embed/>
                  </p:oleObj>
                </mc:Choice>
                <mc:Fallback>
                  <p:oleObj r:id="rId6" imgW="26035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500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3" name="Text Box 9"/>
            <p:cNvSpPr txBox="1">
              <a:spLocks noChangeArrowheads="1"/>
            </p:cNvSpPr>
            <p:nvPr/>
          </p:nvSpPr>
          <p:spPr bwMode="auto">
            <a:xfrm>
              <a:off x="3538" y="46"/>
              <a:ext cx="1839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100">
                  <a:ea typeface="楷体_GB2312" pitchFamily="49" charset="-122"/>
                </a:rPr>
                <a:t> </a:t>
              </a:r>
              <a:r>
                <a:rPr kumimoji="0" lang="zh-CN" altLang="en-US" sz="2100" b="1">
                  <a:ea typeface="楷体_GB2312" pitchFamily="49" charset="-122"/>
                </a:rPr>
                <a:t>试确定常数 </a:t>
              </a:r>
              <a:r>
                <a:rPr kumimoji="0" lang="en-US" altLang="zh-CN" sz="2100" b="1" i="1">
                  <a:ea typeface="楷体_GB2312" pitchFamily="49" charset="-122"/>
                </a:rPr>
                <a:t>c 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  <a:r>
                <a:rPr kumimoji="0" lang="zh-CN" altLang="en-US" sz="2100" b="1">
                  <a:ea typeface="楷体_GB2312" pitchFamily="49" charset="-122"/>
                </a:rPr>
                <a:t>使</a:t>
              </a:r>
            </a:p>
          </p:txBody>
        </p:sp>
      </p:grpSp>
      <p:sp>
        <p:nvSpPr>
          <p:cNvPr id="228362" name="Text Box 10"/>
          <p:cNvSpPr txBox="1">
            <a:spLocks noChangeArrowheads="1"/>
          </p:cNvSpPr>
          <p:nvPr/>
        </p:nvSpPr>
        <p:spPr bwMode="auto">
          <a:xfrm>
            <a:off x="1331119" y="2031207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8363" name="Object 11"/>
          <p:cNvGraphicFramePr>
            <a:graphicFrameLocks noChangeAspect="1"/>
          </p:cNvGraphicFramePr>
          <p:nvPr/>
        </p:nvGraphicFramePr>
        <p:xfrm>
          <a:off x="2087166" y="2031207"/>
          <a:ext cx="2509838" cy="413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65935" imgH="228600" progId="Equation.3">
                  <p:embed/>
                </p:oleObj>
              </mc:Choice>
              <mc:Fallback>
                <p:oleObj r:id="rId8" imgW="1765935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2031207"/>
                        <a:ext cx="2509838" cy="413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4" name="Object 12"/>
          <p:cNvGraphicFramePr>
            <a:graphicFrameLocks noChangeAspect="1"/>
          </p:cNvGraphicFramePr>
          <p:nvPr/>
        </p:nvGraphicFramePr>
        <p:xfrm>
          <a:off x="4410075" y="2463404"/>
          <a:ext cx="2571750" cy="734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66900" imgH="431800" progId="Equation.3">
                  <p:embed/>
                </p:oleObj>
              </mc:Choice>
              <mc:Fallback>
                <p:oleObj r:id="rId10" imgW="18669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2463404"/>
                        <a:ext cx="2571750" cy="734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5" name="Object 13"/>
          <p:cNvGraphicFramePr>
            <a:graphicFrameLocks noChangeAspect="1"/>
          </p:cNvGraphicFramePr>
          <p:nvPr/>
        </p:nvGraphicFramePr>
        <p:xfrm>
          <a:off x="1818085" y="3165872"/>
          <a:ext cx="3996928" cy="803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148330" imgH="495300" progId="Equation.3">
                  <p:embed/>
                </p:oleObj>
              </mc:Choice>
              <mc:Fallback>
                <p:oleObj r:id="rId12" imgW="3148330" imgH="495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3165872"/>
                        <a:ext cx="3996928" cy="803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6" name="Text Box 14"/>
          <p:cNvSpPr txBox="1">
            <a:spLocks noChangeArrowheads="1"/>
          </p:cNvSpPr>
          <p:nvPr/>
        </p:nvSpPr>
        <p:spPr bwMode="auto">
          <a:xfrm>
            <a:off x="1314450" y="3369469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sp>
        <p:nvSpPr>
          <p:cNvPr id="228367" name="Text Box 15"/>
          <p:cNvSpPr txBox="1">
            <a:spLocks noChangeArrowheads="1"/>
          </p:cNvSpPr>
          <p:nvPr/>
        </p:nvSpPr>
        <p:spPr bwMode="auto">
          <a:xfrm>
            <a:off x="2141935" y="4137422"/>
            <a:ext cx="72327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ea typeface="楷体_GB2312" pitchFamily="49" charset="-122"/>
              </a:rPr>
              <a:t>因此</a:t>
            </a:r>
          </a:p>
        </p:txBody>
      </p:sp>
      <p:graphicFrame>
        <p:nvGraphicFramePr>
          <p:cNvPr id="228368" name="Object 16"/>
          <p:cNvGraphicFramePr>
            <a:graphicFrameLocks noChangeAspect="1"/>
          </p:cNvGraphicFramePr>
          <p:nvPr/>
        </p:nvGraphicFramePr>
        <p:xfrm>
          <a:off x="3059906" y="4192192"/>
          <a:ext cx="1152525" cy="35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58800" imgH="203200" progId="Equation.DSMT4">
                  <p:embed/>
                </p:oleObj>
              </mc:Choice>
              <mc:Fallback>
                <p:oleObj r:id="rId14" imgW="558800" imgH="203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906" y="4192192"/>
                        <a:ext cx="1152525" cy="354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9" name="Object 17"/>
          <p:cNvGraphicFramePr>
            <a:graphicFrameLocks noChangeAspect="1"/>
          </p:cNvGraphicFramePr>
          <p:nvPr/>
        </p:nvGraphicFramePr>
        <p:xfrm>
          <a:off x="5868591" y="3274219"/>
          <a:ext cx="1350169" cy="62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15365" imgH="406400" progId="Equation.3">
                  <p:embed/>
                </p:oleObj>
              </mc:Choice>
              <mc:Fallback>
                <p:oleObj r:id="rId16" imgW="1015365" imgH="406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591" y="3274219"/>
                        <a:ext cx="1350169" cy="622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8370" name="Group 18"/>
          <p:cNvGrpSpPr/>
          <p:nvPr/>
        </p:nvGrpSpPr>
        <p:grpSpPr bwMode="auto">
          <a:xfrm>
            <a:off x="1277542" y="1545431"/>
            <a:ext cx="2203847" cy="415528"/>
            <a:chOff x="0" y="0"/>
            <a:chExt cx="1851" cy="349"/>
          </a:xfrm>
        </p:grpSpPr>
        <p:graphicFrame>
          <p:nvGraphicFramePr>
            <p:cNvPr id="57359" name="Object 19"/>
            <p:cNvGraphicFramePr>
              <a:graphicFrameLocks noChangeAspect="1"/>
            </p:cNvGraphicFramePr>
            <p:nvPr/>
          </p:nvGraphicFramePr>
          <p:xfrm>
            <a:off x="907" y="0"/>
            <a:ext cx="22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03200" imgH="228600" progId="Equation.3">
                    <p:embed/>
                  </p:oleObj>
                </mc:Choice>
                <mc:Fallback>
                  <p:oleObj r:id="rId18" imgW="203200" imgH="228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7" y="0"/>
                          <a:ext cx="22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0" name="Text Box 20"/>
            <p:cNvSpPr txBox="1">
              <a:spLocks noChangeArrowheads="1"/>
            </p:cNvSpPr>
            <p:nvPr/>
          </p:nvSpPr>
          <p:spPr bwMode="auto">
            <a:xfrm>
              <a:off x="1179" y="0"/>
              <a:ext cx="67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分布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57361" name="Rectangle 21"/>
            <p:cNvSpPr>
              <a:spLocks noChangeArrowheads="1"/>
            </p:cNvSpPr>
            <p:nvPr/>
          </p:nvSpPr>
          <p:spPr bwMode="auto">
            <a:xfrm>
              <a:off x="0" y="0"/>
              <a:ext cx="92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100" b="1" i="1">
                  <a:ea typeface="楷体_GB2312" pitchFamily="49" charset="-122"/>
                </a:rPr>
                <a:t>c</a:t>
              </a:r>
              <a:r>
                <a:rPr kumimoji="0" lang="en-US" altLang="zh-CN" sz="2100" b="1">
                  <a:ea typeface="楷体_GB2312" pitchFamily="49" charset="-122"/>
                </a:rPr>
                <a:t>Y </a:t>
              </a:r>
              <a:r>
                <a:rPr kumimoji="0" lang="zh-CN" altLang="en-US" sz="2100" b="1">
                  <a:ea typeface="楷体_GB2312" pitchFamily="49" charset="-122"/>
                </a:rPr>
                <a:t>服从</a:t>
              </a:r>
            </a:p>
          </p:txBody>
        </p:sp>
      </p:grpSp>
      <p:graphicFrame>
        <p:nvGraphicFramePr>
          <p:cNvPr id="228374" name="Object 22"/>
          <p:cNvGraphicFramePr>
            <a:graphicFrameLocks noChangeAspect="1"/>
          </p:cNvGraphicFramePr>
          <p:nvPr/>
        </p:nvGraphicFramePr>
        <p:xfrm>
          <a:off x="4680347" y="1977628"/>
          <a:ext cx="2203847" cy="413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550035" imgH="228600" progId="Equation.3">
                  <p:embed/>
                </p:oleObj>
              </mc:Choice>
              <mc:Fallback>
                <p:oleObj r:id="rId20" imgW="1550035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347" y="1977628"/>
                        <a:ext cx="2203847" cy="413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5" name="Object 23"/>
          <p:cNvGraphicFramePr>
            <a:graphicFrameLocks noChangeAspect="1"/>
          </p:cNvGraphicFramePr>
          <p:nvPr/>
        </p:nvGraphicFramePr>
        <p:xfrm>
          <a:off x="1566863" y="2463404"/>
          <a:ext cx="2641997" cy="734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917700" imgH="431800" progId="Equation.3">
                  <p:embed/>
                </p:oleObj>
              </mc:Choice>
              <mc:Fallback>
                <p:oleObj r:id="rId22" imgW="1917700" imgH="4318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2463404"/>
                        <a:ext cx="2641997" cy="734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2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2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22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1000"/>
                                        <p:tgtEl>
                                          <p:spTgt spid="22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2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1000"/>
                                        <p:tgtEl>
                                          <p:spTgt spid="22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1000"/>
                                        <p:tgtEl>
                                          <p:spTgt spid="22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2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2" grpId="0" autoUpdateAnimBg="0"/>
      <p:bldP spid="228366" grpId="0" autoUpdateAnimBg="0"/>
      <p:bldP spid="22836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ChangeArrowheads="1"/>
          </p:cNvSpPr>
          <p:nvPr/>
        </p:nvSpPr>
        <p:spPr bwMode="auto">
          <a:xfrm>
            <a:off x="1657350" y="1437180"/>
            <a:ext cx="5757863" cy="100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当总体为</a:t>
            </a:r>
            <a:r>
              <a:rPr kumimoji="0" lang="zh-CN" altLang="en-US" sz="21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正态分布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时，教材上给出了几个重要的抽样分布定理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这里我们不加证明地叙述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.   </a:t>
            </a:r>
          </a:p>
        </p:txBody>
      </p:sp>
      <p:sp>
        <p:nvSpPr>
          <p:cNvPr id="229379" name="Rectangle 3"/>
          <p:cNvSpPr>
            <a:spLocks noChangeArrowheads="1"/>
          </p:cNvSpPr>
          <p:nvPr/>
        </p:nvSpPr>
        <p:spPr bwMode="auto">
          <a:xfrm>
            <a:off x="1714500" y="285751"/>
            <a:ext cx="3073004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7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三、抽样分布定理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utoUpdateAnimBg="0"/>
      <p:bldP spid="22937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402" name="Group 2"/>
          <p:cNvGrpSpPr/>
          <p:nvPr/>
        </p:nvGrpSpPr>
        <p:grpSpPr bwMode="auto">
          <a:xfrm>
            <a:off x="1331119" y="452438"/>
            <a:ext cx="5832872" cy="925117"/>
            <a:chOff x="0" y="-11"/>
            <a:chExt cx="4899" cy="777"/>
          </a:xfrm>
        </p:grpSpPr>
        <p:sp>
          <p:nvSpPr>
            <p:cNvPr id="230403" name="Rectangle 3"/>
            <p:cNvSpPr>
              <a:spLocks noChangeArrowheads="1"/>
            </p:cNvSpPr>
            <p:nvPr/>
          </p:nvSpPr>
          <p:spPr bwMode="auto">
            <a:xfrm>
              <a:off x="0" y="-11"/>
              <a:ext cx="4309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24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定理 1</a:t>
              </a:r>
              <a:r>
                <a:rPr lang="zh-CN" altLang="en-US" sz="2400" b="1">
                  <a:solidFill>
                    <a:srgbClr val="CCFFFF"/>
                  </a:solidFill>
                </a:rPr>
                <a:t>  </a:t>
              </a:r>
              <a:r>
                <a:rPr lang="zh-CN" altLang="en-US" sz="2100" b="1">
                  <a:ea typeface="楷体_GB2312" pitchFamily="49" charset="-122"/>
                </a:rPr>
                <a:t>设</a:t>
              </a:r>
              <a:r>
                <a:rPr lang="zh-CN" altLang="en-US" sz="2100" b="1" i="1">
                  <a:ea typeface="楷体_GB2312" pitchFamily="49" charset="-122"/>
                </a:rPr>
                <a:t>X</a:t>
              </a:r>
              <a:r>
                <a:rPr lang="zh-CN" altLang="en-US" sz="2100" b="1" baseline="-25000">
                  <a:ea typeface="楷体_GB2312" pitchFamily="49" charset="-122"/>
                </a:rPr>
                <a:t>1</a:t>
              </a:r>
              <a:r>
                <a:rPr lang="zh-CN" altLang="en-US" sz="2100" b="1">
                  <a:ea typeface="楷体_GB2312" pitchFamily="49" charset="-122"/>
                </a:rPr>
                <a:t>,</a:t>
              </a:r>
              <a:r>
                <a:rPr lang="zh-CN" altLang="en-US" sz="2100" b="1" i="1">
                  <a:ea typeface="楷体_GB2312" pitchFamily="49" charset="-122"/>
                </a:rPr>
                <a:t>X</a:t>
              </a:r>
              <a:r>
                <a:rPr lang="zh-CN" altLang="en-US" sz="2100" b="1" baseline="-25000">
                  <a:ea typeface="楷体_GB2312" pitchFamily="49" charset="-122"/>
                </a:rPr>
                <a:t>2</a:t>
              </a:r>
              <a:r>
                <a:rPr lang="zh-CN" altLang="en-US" sz="2100" b="1">
                  <a:ea typeface="楷体_GB2312" pitchFamily="49" charset="-122"/>
                </a:rPr>
                <a:t>,…,</a:t>
              </a:r>
              <a:r>
                <a:rPr lang="zh-CN" altLang="en-US" sz="2100" b="1" i="1">
                  <a:ea typeface="楷体_GB2312" pitchFamily="49" charset="-122"/>
                </a:rPr>
                <a:t>X</a:t>
              </a:r>
              <a:r>
                <a:rPr lang="zh-CN" altLang="en-US" sz="2100" b="1" i="1" baseline="-25000">
                  <a:ea typeface="楷体_GB2312" pitchFamily="49" charset="-122"/>
                </a:rPr>
                <a:t>n</a:t>
              </a:r>
              <a:r>
                <a:rPr lang="zh-CN" altLang="en-US" sz="2100" b="1">
                  <a:ea typeface="楷体_GB2312" pitchFamily="49" charset="-122"/>
                </a:rPr>
                <a:t>是取自正态总体</a:t>
              </a:r>
            </a:p>
          </p:txBody>
        </p:sp>
        <p:graphicFrame>
          <p:nvGraphicFramePr>
            <p:cNvPr id="59405" name="Object 4"/>
            <p:cNvGraphicFramePr>
              <a:graphicFrameLocks noChangeAspect="1"/>
            </p:cNvGraphicFramePr>
            <p:nvPr/>
          </p:nvGraphicFramePr>
          <p:xfrm>
            <a:off x="4083" y="45"/>
            <a:ext cx="81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22300" imgH="228600" progId="Equation.3">
                    <p:embed/>
                  </p:oleObj>
                </mc:Choice>
                <mc:Fallback>
                  <p:oleObj r:id="rId2" imgW="6223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45"/>
                          <a:ext cx="816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6" name="Rectangle 5"/>
            <p:cNvSpPr>
              <a:spLocks noChangeArrowheads="1"/>
            </p:cNvSpPr>
            <p:nvPr/>
          </p:nvSpPr>
          <p:spPr bwMode="auto">
            <a:xfrm>
              <a:off x="136" y="417"/>
              <a:ext cx="2688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的样本，则有</a:t>
              </a:r>
            </a:p>
          </p:txBody>
        </p:sp>
      </p:grpSp>
      <p:graphicFrame>
        <p:nvGraphicFramePr>
          <p:cNvPr id="230406" name="Object 6"/>
          <p:cNvGraphicFramePr>
            <a:graphicFrameLocks noChangeAspect="1"/>
          </p:cNvGraphicFramePr>
          <p:nvPr/>
        </p:nvGraphicFramePr>
        <p:xfrm>
          <a:off x="3492104" y="1383507"/>
          <a:ext cx="1620440" cy="721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40435" imgH="419100" progId="Equation.3">
                  <p:embed/>
                </p:oleObj>
              </mc:Choice>
              <mc:Fallback>
                <p:oleObj r:id="rId4" imgW="940435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104" y="1383507"/>
                        <a:ext cx="1620440" cy="721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7" name="Rectangle 7"/>
          <p:cNvSpPr>
            <a:spLocks noChangeArrowheads="1"/>
          </p:cNvSpPr>
          <p:nvPr/>
        </p:nvSpPr>
        <p:spPr bwMode="auto">
          <a:xfrm>
            <a:off x="1493044" y="1510903"/>
            <a:ext cx="196720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）样本均值</a:t>
            </a:r>
          </a:p>
        </p:txBody>
      </p:sp>
      <p:grpSp>
        <p:nvGrpSpPr>
          <p:cNvPr id="230408" name="Group 8"/>
          <p:cNvGrpSpPr/>
          <p:nvPr/>
        </p:nvGrpSpPr>
        <p:grpSpPr bwMode="auto">
          <a:xfrm>
            <a:off x="1439467" y="2193132"/>
            <a:ext cx="5141118" cy="415528"/>
            <a:chOff x="0" y="0"/>
            <a:chExt cx="4318" cy="349"/>
          </a:xfrm>
        </p:grpSpPr>
        <p:sp>
          <p:nvSpPr>
            <p:cNvPr id="59401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4318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）样本均值   与样本方差   相互独立。</a:t>
              </a:r>
            </a:p>
          </p:txBody>
        </p:sp>
        <p:graphicFrame>
          <p:nvGraphicFramePr>
            <p:cNvPr id="59402" name="Object 10"/>
            <p:cNvGraphicFramePr>
              <a:graphicFrameLocks noChangeAspect="1"/>
            </p:cNvGraphicFramePr>
            <p:nvPr/>
          </p:nvGraphicFramePr>
          <p:xfrm>
            <a:off x="1588" y="46"/>
            <a:ext cx="23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77800" imgH="190500" progId="Equation.3">
                    <p:embed/>
                  </p:oleObj>
                </mc:Choice>
                <mc:Fallback>
                  <p:oleObj r:id="rId6" imgW="177800" imgH="190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46"/>
                          <a:ext cx="23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3" name="Object 11"/>
            <p:cNvGraphicFramePr>
              <a:graphicFrameLocks noChangeAspect="1"/>
            </p:cNvGraphicFramePr>
            <p:nvPr/>
          </p:nvGraphicFramePr>
          <p:xfrm>
            <a:off x="2994" y="46"/>
            <a:ext cx="27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15900" imgH="203200" progId="Equation.3">
                    <p:embed/>
                  </p:oleObj>
                </mc:Choice>
                <mc:Fallback>
                  <p:oleObj r:id="rId8" imgW="215900" imgH="203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46"/>
                          <a:ext cx="27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12" name="Rectangle 12"/>
          <p:cNvSpPr>
            <a:spLocks noChangeArrowheads="1"/>
          </p:cNvSpPr>
          <p:nvPr/>
        </p:nvSpPr>
        <p:spPr bwMode="auto">
          <a:xfrm>
            <a:off x="1494235" y="2842022"/>
            <a:ext cx="212645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）随机变量</a:t>
            </a:r>
          </a:p>
        </p:txBody>
      </p:sp>
      <p:graphicFrame>
        <p:nvGraphicFramePr>
          <p:cNvPr id="230413" name="Object 13"/>
          <p:cNvGraphicFramePr>
            <a:graphicFrameLocks noChangeAspect="1"/>
          </p:cNvGraphicFramePr>
          <p:nvPr/>
        </p:nvGraphicFramePr>
        <p:xfrm>
          <a:off x="2033588" y="3706417"/>
          <a:ext cx="1134666" cy="70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73100" imgH="419100" progId="Equation.3">
                  <p:embed/>
                </p:oleObj>
              </mc:Choice>
              <mc:Fallback>
                <p:oleObj r:id="rId10" imgW="6731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3706417"/>
                        <a:ext cx="1134666" cy="70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4" name="Object 14"/>
          <p:cNvGraphicFramePr>
            <a:graphicFrameLocks noChangeAspect="1"/>
          </p:cNvGraphicFramePr>
          <p:nvPr/>
        </p:nvGraphicFramePr>
        <p:xfrm>
          <a:off x="3113485" y="3450432"/>
          <a:ext cx="2538413" cy="931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65935" imgH="647700" progId="Equation.3">
                  <p:embed/>
                </p:oleObj>
              </mc:Choice>
              <mc:Fallback>
                <p:oleObj r:id="rId12" imgW="1765935" imgH="647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485" y="3450432"/>
                        <a:ext cx="2538413" cy="931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10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7" grpId="0" autoUpdateAnimBg="0"/>
      <p:bldP spid="23041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426" name="Group 2"/>
          <p:cNvGrpSpPr/>
          <p:nvPr/>
        </p:nvGrpSpPr>
        <p:grpSpPr bwMode="auto">
          <a:xfrm>
            <a:off x="1385888" y="581026"/>
            <a:ext cx="5724525" cy="461963"/>
            <a:chOff x="0" y="-11"/>
            <a:chExt cx="4808" cy="388"/>
          </a:xfrm>
        </p:grpSpPr>
        <p:sp>
          <p:nvSpPr>
            <p:cNvPr id="231427" name="Rectangle 3"/>
            <p:cNvSpPr>
              <a:spLocks noChangeArrowheads="1"/>
            </p:cNvSpPr>
            <p:nvPr/>
          </p:nvSpPr>
          <p:spPr bwMode="auto">
            <a:xfrm>
              <a:off x="0" y="-11"/>
              <a:ext cx="4264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24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定理 2</a:t>
              </a:r>
              <a:r>
                <a:rPr lang="zh-CN" altLang="en-US" sz="2400" b="1"/>
                <a:t> </a:t>
              </a:r>
              <a:r>
                <a:rPr lang="zh-CN" altLang="en-US" sz="2100" b="1">
                  <a:latin typeface="楷体_GB2312" pitchFamily="49" charset="-122"/>
                  <a:ea typeface="楷体_GB2312" pitchFamily="49" charset="-122"/>
                </a:rPr>
                <a:t>设</a:t>
              </a:r>
              <a:r>
                <a:rPr lang="zh-CN" altLang="en-US" sz="2100" b="1" i="1">
                  <a:ea typeface="楷体_GB2312" pitchFamily="49" charset="-122"/>
                </a:rPr>
                <a:t>X</a:t>
              </a:r>
              <a:r>
                <a:rPr lang="zh-CN" altLang="en-US" sz="2100" b="1" baseline="-25000">
                  <a:ea typeface="楷体_GB2312" pitchFamily="49" charset="-122"/>
                </a:rPr>
                <a:t>1</a:t>
              </a:r>
              <a:r>
                <a:rPr lang="zh-CN" altLang="en-US" sz="2100" b="1">
                  <a:ea typeface="楷体_GB2312" pitchFamily="49" charset="-122"/>
                </a:rPr>
                <a:t>,</a:t>
              </a:r>
              <a:r>
                <a:rPr lang="zh-CN" altLang="en-US" sz="2100" b="1" i="1">
                  <a:ea typeface="楷体_GB2312" pitchFamily="49" charset="-122"/>
                </a:rPr>
                <a:t>X</a:t>
              </a:r>
              <a:r>
                <a:rPr lang="zh-CN" altLang="en-US" sz="2100" b="1" baseline="-25000">
                  <a:ea typeface="楷体_GB2312" pitchFamily="49" charset="-122"/>
                </a:rPr>
                <a:t>2</a:t>
              </a:r>
              <a:r>
                <a:rPr lang="zh-CN" altLang="en-US" sz="2100" b="1">
                  <a:ea typeface="楷体_GB2312" pitchFamily="49" charset="-122"/>
                </a:rPr>
                <a:t>,…,</a:t>
              </a:r>
              <a:r>
                <a:rPr lang="zh-CN" altLang="en-US" sz="2100" b="1" i="1">
                  <a:ea typeface="楷体_GB2312" pitchFamily="49" charset="-122"/>
                </a:rPr>
                <a:t>X</a:t>
              </a:r>
              <a:r>
                <a:rPr lang="zh-CN" altLang="en-US" sz="2100" b="1" i="1" baseline="-25000">
                  <a:ea typeface="楷体_GB2312" pitchFamily="49" charset="-122"/>
                </a:rPr>
                <a:t>n</a:t>
              </a:r>
              <a:r>
                <a:rPr lang="zh-CN" altLang="en-US" sz="2100" b="1">
                  <a:latin typeface="楷体_GB2312" pitchFamily="49" charset="-122"/>
                  <a:ea typeface="楷体_GB2312" pitchFamily="49" charset="-122"/>
                </a:rPr>
                <a:t>是取自正态总体</a:t>
              </a:r>
            </a:p>
          </p:txBody>
        </p:sp>
        <p:graphicFrame>
          <p:nvGraphicFramePr>
            <p:cNvPr id="60426" name="Object 4"/>
            <p:cNvGraphicFramePr>
              <a:graphicFrameLocks noChangeAspect="1"/>
            </p:cNvGraphicFramePr>
            <p:nvPr/>
          </p:nvGraphicFramePr>
          <p:xfrm>
            <a:off x="3991" y="28"/>
            <a:ext cx="81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22300" imgH="228600" progId="Equation.3">
                    <p:embed/>
                  </p:oleObj>
                </mc:Choice>
                <mc:Fallback>
                  <p:oleObj r:id="rId2" imgW="6223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1" y="28"/>
                          <a:ext cx="81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429" name="Group 5"/>
          <p:cNvGrpSpPr/>
          <p:nvPr/>
        </p:nvGrpSpPr>
        <p:grpSpPr bwMode="auto">
          <a:xfrm>
            <a:off x="1439466" y="1209676"/>
            <a:ext cx="5434012" cy="445294"/>
            <a:chOff x="0" y="-10"/>
            <a:chExt cx="4564" cy="374"/>
          </a:xfrm>
        </p:grpSpPr>
        <p:sp>
          <p:nvSpPr>
            <p:cNvPr id="60422" name="Rectangle 6"/>
            <p:cNvSpPr>
              <a:spLocks noChangeArrowheads="1"/>
            </p:cNvSpPr>
            <p:nvPr/>
          </p:nvSpPr>
          <p:spPr bwMode="auto">
            <a:xfrm>
              <a:off x="0" y="9"/>
              <a:ext cx="1784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的样本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  <p:graphicFrame>
          <p:nvGraphicFramePr>
            <p:cNvPr id="60423" name="Object 7"/>
            <p:cNvGraphicFramePr>
              <a:graphicFrameLocks noChangeAspect="1"/>
            </p:cNvGraphicFramePr>
            <p:nvPr/>
          </p:nvGraphicFramePr>
          <p:xfrm>
            <a:off x="870" y="36"/>
            <a:ext cx="75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20700" imgH="228600" progId="Equation.3">
                    <p:embed/>
                  </p:oleObj>
                </mc:Choice>
                <mc:Fallback>
                  <p:oleObj r:id="rId4" imgW="5207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36"/>
                          <a:ext cx="755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4" name="Rectangle 8"/>
            <p:cNvSpPr>
              <a:spLocks noChangeArrowheads="1"/>
            </p:cNvSpPr>
            <p:nvPr/>
          </p:nvSpPr>
          <p:spPr bwMode="auto">
            <a:xfrm>
              <a:off x="1630" y="-10"/>
              <a:ext cx="2934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分别为样本均值和样本方差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</p:grpSp>
      <p:sp>
        <p:nvSpPr>
          <p:cNvPr id="231433" name="Rectangle 9"/>
          <p:cNvSpPr>
            <a:spLocks noChangeArrowheads="1"/>
          </p:cNvSpPr>
          <p:nvPr/>
        </p:nvSpPr>
        <p:spPr bwMode="auto">
          <a:xfrm>
            <a:off x="1439466" y="1856199"/>
            <a:ext cx="9144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231434" name="Object 10"/>
          <p:cNvGraphicFramePr>
            <a:graphicFrameLocks noChangeAspect="1"/>
          </p:cNvGraphicFramePr>
          <p:nvPr/>
        </p:nvGraphicFramePr>
        <p:xfrm>
          <a:off x="3059906" y="2031207"/>
          <a:ext cx="2244329" cy="94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4100" imgH="444500" progId="Equation.3">
                  <p:embed/>
                </p:oleObj>
              </mc:Choice>
              <mc:Fallback>
                <p:oleObj r:id="rId6" imgW="10541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906" y="2031207"/>
                        <a:ext cx="2244329" cy="941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115616" y="3363838"/>
                <a:ext cx="6216510" cy="1211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证明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ba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num>
                              <m:den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363838"/>
                <a:ext cx="6216510" cy="1211294"/>
              </a:xfrm>
              <a:prstGeom prst="rect">
                <a:avLst/>
              </a:prstGeom>
              <a:blipFill rotWithShape="1">
                <a:blip r:embed="rId8"/>
                <a:stretch>
                  <a:fillRect l="-9" t="-20" r="7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23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3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ext Box 2"/>
          <p:cNvSpPr txBox="1">
            <a:spLocks noChangeArrowheads="1"/>
          </p:cNvSpPr>
          <p:nvPr/>
        </p:nvSpPr>
        <p:spPr bwMode="auto">
          <a:xfrm>
            <a:off x="1143000" y="195263"/>
            <a:ext cx="508635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</a:t>
            </a: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定理 </a:t>
            </a:r>
            <a:r>
              <a:rPr lang="en-US" altLang="zh-CN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3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(</a:t>
            </a: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两个总体样本均值差的分布</a:t>
            </a:r>
            <a:r>
              <a:rPr lang="en-US" altLang="zh-CN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)  </a:t>
            </a:r>
          </a:p>
        </p:txBody>
      </p:sp>
      <p:graphicFrame>
        <p:nvGraphicFramePr>
          <p:cNvPr id="232451" name="Object 3"/>
          <p:cNvGraphicFramePr>
            <a:graphicFrameLocks noChangeAspect="1"/>
          </p:cNvGraphicFramePr>
          <p:nvPr/>
        </p:nvGraphicFramePr>
        <p:xfrm>
          <a:off x="1943100" y="2971800"/>
          <a:ext cx="5338763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48000" imgH="685800" progId="Equation.3">
                  <p:embed/>
                </p:oleObj>
              </mc:Choice>
              <mc:Fallback>
                <p:oleObj r:id="rId2" imgW="3048000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971800"/>
                        <a:ext cx="5338763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2452" name="Group 4"/>
          <p:cNvGrpSpPr/>
          <p:nvPr/>
        </p:nvGrpSpPr>
        <p:grpSpPr bwMode="auto">
          <a:xfrm>
            <a:off x="1980010" y="723901"/>
            <a:ext cx="5623322" cy="415528"/>
            <a:chOff x="0" y="-10"/>
            <a:chExt cx="4723" cy="349"/>
          </a:xfrm>
        </p:grpSpPr>
        <p:graphicFrame>
          <p:nvGraphicFramePr>
            <p:cNvPr id="61460" name="Object 5"/>
            <p:cNvGraphicFramePr>
              <a:graphicFrameLocks noChangeAspect="1"/>
            </p:cNvGraphicFramePr>
            <p:nvPr/>
          </p:nvGraphicFramePr>
          <p:xfrm>
            <a:off x="0" y="0"/>
            <a:ext cx="305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11070" imgH="228600" progId="Equation.3">
                    <p:embed/>
                  </p:oleObj>
                </mc:Choice>
                <mc:Fallback>
                  <p:oleObj r:id="rId4" imgW="221107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05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61" name="Rectangle 6"/>
            <p:cNvSpPr>
              <a:spLocks noChangeArrowheads="1"/>
            </p:cNvSpPr>
            <p:nvPr/>
          </p:nvSpPr>
          <p:spPr bwMode="auto">
            <a:xfrm>
              <a:off x="3130" y="-10"/>
              <a:ext cx="159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100" b="1">
                  <a:ea typeface="楷体_GB2312" pitchFamily="49" charset="-122"/>
                </a:rPr>
                <a:t>且</a:t>
              </a:r>
              <a:r>
                <a:rPr kumimoji="0" lang="en-US" altLang="zh-CN" sz="2100" b="1" i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与</a:t>
              </a:r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独立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5" name="Group 7"/>
          <p:cNvGrpSpPr/>
          <p:nvPr/>
        </p:nvGrpSpPr>
        <p:grpSpPr bwMode="auto">
          <a:xfrm>
            <a:off x="1331119" y="1750219"/>
            <a:ext cx="6211491" cy="415528"/>
            <a:chOff x="0" y="-2"/>
            <a:chExt cx="5217" cy="349"/>
          </a:xfrm>
        </p:grpSpPr>
        <p:graphicFrame>
          <p:nvGraphicFramePr>
            <p:cNvPr id="61457" name="Object 8"/>
            <p:cNvGraphicFramePr>
              <a:graphicFrameLocks noChangeAspect="1"/>
            </p:cNvGraphicFramePr>
            <p:nvPr/>
          </p:nvGraphicFramePr>
          <p:xfrm>
            <a:off x="1163" y="0"/>
            <a:ext cx="643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70535" imgH="228600" progId="Equation.3">
                    <p:embed/>
                  </p:oleObj>
                </mc:Choice>
                <mc:Fallback>
                  <p:oleObj r:id="rId6" imgW="470535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" y="0"/>
                          <a:ext cx="643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8" name="Rectangle 9"/>
            <p:cNvSpPr>
              <a:spLocks noChangeArrowheads="1"/>
            </p:cNvSpPr>
            <p:nvPr/>
          </p:nvSpPr>
          <p:spPr bwMode="auto">
            <a:xfrm>
              <a:off x="1724" y="-2"/>
              <a:ext cx="349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分别是这两个样本的样本均值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  <p:sp>
          <p:nvSpPr>
            <p:cNvPr id="61459" name="Rectangle 10"/>
            <p:cNvSpPr>
              <a:spLocks noChangeArrowheads="1"/>
            </p:cNvSpPr>
            <p:nvPr/>
          </p:nvSpPr>
          <p:spPr bwMode="auto">
            <a:xfrm>
              <a:off x="0" y="-2"/>
              <a:ext cx="1255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自</a:t>
              </a:r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9" name="Group 11"/>
          <p:cNvGrpSpPr/>
          <p:nvPr/>
        </p:nvGrpSpPr>
        <p:grpSpPr bwMode="auto">
          <a:xfrm>
            <a:off x="1385888" y="2289573"/>
            <a:ext cx="5379244" cy="415528"/>
            <a:chOff x="0" y="-10"/>
            <a:chExt cx="4518" cy="349"/>
          </a:xfrm>
        </p:grpSpPr>
        <p:sp>
          <p:nvSpPr>
            <p:cNvPr id="61455" name="Rectangle 12"/>
            <p:cNvSpPr>
              <a:spLocks noChangeArrowheads="1"/>
            </p:cNvSpPr>
            <p:nvPr/>
          </p:nvSpPr>
          <p:spPr bwMode="auto">
            <a:xfrm>
              <a:off x="726" y="-10"/>
              <a:ext cx="379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分别是这两个样本的样本方差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  <a:r>
                <a:rPr kumimoji="0" lang="zh-CN" altLang="en-US" sz="2100" b="1">
                  <a:ea typeface="楷体_GB2312" pitchFamily="49" charset="-122"/>
                </a:rPr>
                <a:t>则有</a:t>
              </a:r>
            </a:p>
          </p:txBody>
        </p:sp>
        <p:graphicFrame>
          <p:nvGraphicFramePr>
            <p:cNvPr id="61456" name="Object 13"/>
            <p:cNvGraphicFramePr>
              <a:graphicFrameLocks noChangeAspect="1"/>
            </p:cNvGraphicFramePr>
            <p:nvPr/>
          </p:nvGraphicFramePr>
          <p:xfrm>
            <a:off x="0" y="0"/>
            <a:ext cx="75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20700" imgH="228600" progId="Equation.3">
                    <p:embed/>
                  </p:oleObj>
                </mc:Choice>
                <mc:Fallback>
                  <p:oleObj r:id="rId8" imgW="52070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51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2462" name="Group 14"/>
          <p:cNvGrpSpPr/>
          <p:nvPr/>
        </p:nvGrpSpPr>
        <p:grpSpPr bwMode="auto">
          <a:xfrm>
            <a:off x="1439466" y="1209675"/>
            <a:ext cx="6048375" cy="451247"/>
            <a:chOff x="0" y="-10"/>
            <a:chExt cx="5080" cy="379"/>
          </a:xfrm>
        </p:grpSpPr>
        <p:sp>
          <p:nvSpPr>
            <p:cNvPr id="61448" name="Rectangle 15"/>
            <p:cNvSpPr>
              <a:spLocks noChangeArrowheads="1"/>
            </p:cNvSpPr>
            <p:nvPr/>
          </p:nvSpPr>
          <p:spPr bwMode="auto">
            <a:xfrm>
              <a:off x="1470" y="-10"/>
              <a:ext cx="172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100" b="1">
                  <a:ea typeface="楷体_GB2312" pitchFamily="49" charset="-122"/>
                </a:rPr>
                <a:t>是取自</a:t>
              </a:r>
              <a:r>
                <a:rPr kumimoji="0" lang="en-US" altLang="zh-CN" sz="2100" b="1" i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  <p:grpSp>
          <p:nvGrpSpPr>
            <p:cNvPr id="61449" name="Group 16"/>
            <p:cNvGrpSpPr/>
            <p:nvPr/>
          </p:nvGrpSpPr>
          <p:grpSpPr bwMode="auto">
            <a:xfrm>
              <a:off x="0" y="-10"/>
              <a:ext cx="5080" cy="379"/>
              <a:chOff x="0" y="-10"/>
              <a:chExt cx="5080" cy="379"/>
            </a:xfrm>
          </p:grpSpPr>
          <p:sp>
            <p:nvSpPr>
              <p:cNvPr id="61450" name="Rectangle 17"/>
              <p:cNvSpPr>
                <a:spLocks noChangeArrowheads="1"/>
              </p:cNvSpPr>
              <p:nvPr/>
            </p:nvSpPr>
            <p:spPr bwMode="auto">
              <a:xfrm>
                <a:off x="0" y="-10"/>
                <a:ext cx="294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 </a:t>
                </a:r>
                <a:r>
                  <a:rPr kumimoji="0" lang="en-US" altLang="zh-CN" sz="2100" b="1">
                    <a:ea typeface="楷体_GB2312" pitchFamily="49" charset="-122"/>
                  </a:rPr>
                  <a:t>, </a:t>
                </a:r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 </a:t>
                </a:r>
                <a:r>
                  <a:rPr kumimoji="0" lang="en-US" altLang="zh-CN" sz="2100" b="1">
                    <a:ea typeface="楷体_GB2312" pitchFamily="49" charset="-122"/>
                  </a:rPr>
                  <a:t>, … ,</a:t>
                </a:r>
                <a:endParaRPr kumimoji="0" lang="en-US" altLang="zh-CN" sz="2100" b="1" baseline="-25000">
                  <a:ea typeface="楷体_GB2312" pitchFamily="49" charset="-122"/>
                </a:endParaRPr>
              </a:p>
            </p:txBody>
          </p:sp>
          <p:graphicFrame>
            <p:nvGraphicFramePr>
              <p:cNvPr id="61451" name="Object 18"/>
              <p:cNvGraphicFramePr>
                <a:graphicFrameLocks noChangeAspect="1"/>
              </p:cNvGraphicFramePr>
              <p:nvPr/>
            </p:nvGraphicFramePr>
            <p:xfrm>
              <a:off x="1134" y="0"/>
              <a:ext cx="366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266700" imgH="241300" progId="Equation.3">
                      <p:embed/>
                    </p:oleObj>
                  </mc:Choice>
                  <mc:Fallback>
                    <p:oleObj r:id="rId10" imgW="266700" imgH="2413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4" y="0"/>
                            <a:ext cx="366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452" name="Rectangle 19"/>
              <p:cNvSpPr>
                <a:spLocks noChangeArrowheads="1"/>
              </p:cNvSpPr>
              <p:nvPr/>
            </p:nvSpPr>
            <p:spPr bwMode="auto">
              <a:xfrm>
                <a:off x="3156" y="-10"/>
                <a:ext cx="106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en-US" altLang="zh-CN" sz="2100" b="1" i="1">
                    <a:ea typeface="楷体_GB2312" pitchFamily="49" charset="-122"/>
                  </a:rPr>
                  <a:t>Y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 </a:t>
                </a:r>
                <a:r>
                  <a:rPr kumimoji="0" lang="en-US" altLang="zh-CN" sz="2100" b="1">
                    <a:ea typeface="楷体_GB2312" pitchFamily="49" charset="-122"/>
                  </a:rPr>
                  <a:t>,</a:t>
                </a:r>
                <a:r>
                  <a:rPr kumimoji="0" lang="en-US" altLang="zh-CN" sz="2100" b="1" i="1">
                    <a:ea typeface="楷体_GB2312" pitchFamily="49" charset="-122"/>
                  </a:rPr>
                  <a:t>Y 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</a:t>
                </a:r>
                <a:r>
                  <a:rPr kumimoji="0" lang="en-US" altLang="zh-CN" sz="2100" b="1"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61453" name="Object 20"/>
              <p:cNvGraphicFramePr>
                <a:graphicFrameLocks noChangeAspect="1"/>
              </p:cNvGraphicFramePr>
              <p:nvPr/>
            </p:nvGraphicFramePr>
            <p:xfrm>
              <a:off x="4173" y="0"/>
              <a:ext cx="331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15900" imgH="241300" progId="Equation.3">
                      <p:embed/>
                    </p:oleObj>
                  </mc:Choice>
                  <mc:Fallback>
                    <p:oleObj r:id="rId12" imgW="215900" imgH="2413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3" y="0"/>
                            <a:ext cx="331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454" name="Rectangle 21"/>
              <p:cNvSpPr>
                <a:spLocks noChangeArrowheads="1"/>
              </p:cNvSpPr>
              <p:nvPr/>
            </p:nvSpPr>
            <p:spPr bwMode="auto">
              <a:xfrm>
                <a:off x="4445" y="-10"/>
                <a:ext cx="63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zh-CN" altLang="en-US" sz="2100" b="1">
                    <a:ea typeface="楷体_GB2312" pitchFamily="49" charset="-122"/>
                  </a:rPr>
                  <a:t>是取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26A601-0563-0898-4CCA-36D24B1905C3}"/>
              </a:ext>
            </a:extLst>
          </p:cNvPr>
          <p:cNvSpPr txBox="1"/>
          <p:nvPr/>
        </p:nvSpPr>
        <p:spPr>
          <a:xfrm>
            <a:off x="828469" y="7728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证明：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B65AAD8-7783-8587-38FF-718DF9ED34D1}"/>
                  </a:ext>
                </a:extLst>
              </p:cNvPr>
              <p:cNvSpPr txBox="1"/>
              <p:nvPr/>
            </p:nvSpPr>
            <p:spPr>
              <a:xfrm>
                <a:off x="1700117" y="772889"/>
                <a:ext cx="1309781" cy="601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B65AAD8-7783-8587-38FF-718DF9ED3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117" y="772889"/>
                <a:ext cx="1309781" cy="6011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7866072-FBEB-917E-6FD6-C8FEF4196596}"/>
                  </a:ext>
                </a:extLst>
              </p:cNvPr>
              <p:cNvSpPr txBox="1"/>
              <p:nvPr/>
            </p:nvSpPr>
            <p:spPr>
              <a:xfrm>
                <a:off x="3207515" y="788688"/>
                <a:ext cx="1348061" cy="601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7866072-FBEB-917E-6FD6-C8FEF4196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515" y="788688"/>
                <a:ext cx="1348061" cy="6011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B5C7294-A02E-5013-9FDE-8CC7D48F6DD6}"/>
                  </a:ext>
                </a:extLst>
              </p:cNvPr>
              <p:cNvSpPr txBox="1"/>
              <p:nvPr/>
            </p:nvSpPr>
            <p:spPr>
              <a:xfrm>
                <a:off x="1533734" y="1584495"/>
                <a:ext cx="2952328" cy="6011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bar>
                        <m:barPr>
                          <m:pos m:val="to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B5C7294-A02E-5013-9FDE-8CC7D48F6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734" y="1584495"/>
                <a:ext cx="2952328" cy="6011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FFE06D6-F740-DD55-5F08-B6AE683ED74E}"/>
                  </a:ext>
                </a:extLst>
              </p:cNvPr>
              <p:cNvSpPr txBox="1"/>
              <p:nvPr/>
            </p:nvSpPr>
            <p:spPr>
              <a:xfrm>
                <a:off x="4860032" y="321926"/>
                <a:ext cx="2916696" cy="93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FFE06D6-F740-DD55-5F08-B6AE683ED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321926"/>
                <a:ext cx="2916696" cy="933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90C8A0-82EC-7B90-BD26-E021E1E038BC}"/>
                  </a:ext>
                </a:extLst>
              </p:cNvPr>
              <p:cNvSpPr txBox="1"/>
              <p:nvPr/>
            </p:nvSpPr>
            <p:spPr>
              <a:xfrm>
                <a:off x="1267050" y="2957879"/>
                <a:ext cx="2269852" cy="438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dirty="0"/>
                  <a:t>，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90C8A0-82EC-7B90-BD26-E021E1E0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050" y="2957879"/>
                <a:ext cx="2269852" cy="438133"/>
              </a:xfrm>
              <a:prstGeom prst="rect">
                <a:avLst/>
              </a:prstGeom>
              <a:blipFill>
                <a:blip r:embed="rId6"/>
                <a:stretch>
                  <a:fillRect l="-269" r="-5376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3DDA8CB-52A1-1B15-3BD7-4DAB56E3F406}"/>
                  </a:ext>
                </a:extLst>
              </p:cNvPr>
              <p:cNvSpPr txBox="1"/>
              <p:nvPr/>
            </p:nvSpPr>
            <p:spPr>
              <a:xfrm>
                <a:off x="1267050" y="2488235"/>
                <a:ext cx="2264531" cy="437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dirty="0"/>
                  <a:t>，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3DDA8CB-52A1-1B15-3BD7-4DAB56E3F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050" y="2488235"/>
                <a:ext cx="2264531" cy="437812"/>
              </a:xfrm>
              <a:prstGeom prst="rect">
                <a:avLst/>
              </a:prstGeom>
              <a:blipFill>
                <a:blip r:embed="rId7"/>
                <a:stretch>
                  <a:fillRect l="-270" r="-5391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60F0510-82D8-CB13-E61A-A9EAC5B45CEC}"/>
                  </a:ext>
                </a:extLst>
              </p:cNvPr>
              <p:cNvSpPr txBox="1"/>
              <p:nvPr/>
            </p:nvSpPr>
            <p:spPr>
              <a:xfrm>
                <a:off x="4657940" y="1657435"/>
                <a:ext cx="3742259" cy="438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zh-CN" altLang="en-US" dirty="0"/>
                  <a:t>，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60F0510-82D8-CB13-E61A-A9EAC5B45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940" y="1657435"/>
                <a:ext cx="3742259" cy="438133"/>
              </a:xfrm>
              <a:prstGeom prst="rect">
                <a:avLst/>
              </a:prstGeom>
              <a:blipFill>
                <a:blip r:embed="rId8"/>
                <a:stretch>
                  <a:fillRect r="-993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8B52D1D-2B20-2F55-FC86-64C706D96B61}"/>
                  </a:ext>
                </a:extLst>
              </p:cNvPr>
              <p:cNvSpPr txBox="1"/>
              <p:nvPr/>
            </p:nvSpPr>
            <p:spPr>
              <a:xfrm>
                <a:off x="4355976" y="3313165"/>
                <a:ext cx="4507516" cy="176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bar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</m:e>
                              </m:d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8B52D1D-2B20-2F55-FC86-64C706D96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3313165"/>
                <a:ext cx="4507516" cy="17631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364E4DE-4823-3B56-D687-D671D9A0C9C0}"/>
                  </a:ext>
                </a:extLst>
              </p:cNvPr>
              <p:cNvSpPr txBox="1"/>
              <p:nvPr/>
            </p:nvSpPr>
            <p:spPr>
              <a:xfrm>
                <a:off x="1013975" y="3266999"/>
                <a:ext cx="3599516" cy="185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bar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</m:e>
                              </m:d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364E4DE-4823-3B56-D687-D671D9A0C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975" y="3266999"/>
                <a:ext cx="3599516" cy="185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0" grpId="0"/>
      <p:bldP spid="11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ext Box 2"/>
          <p:cNvSpPr txBox="1">
            <a:spLocks noChangeArrowheads="1"/>
          </p:cNvSpPr>
          <p:nvPr/>
        </p:nvSpPr>
        <p:spPr bwMode="auto">
          <a:xfrm>
            <a:off x="1277541" y="195263"/>
            <a:ext cx="508635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700" b="1"/>
              <a:t> </a:t>
            </a: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定理 </a:t>
            </a:r>
            <a:r>
              <a:rPr lang="en-US" altLang="zh-CN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4 (</a:t>
            </a:r>
            <a:r>
              <a:rPr lang="zh-CN" altLang="en-US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两个总体样本方差比的分布</a:t>
            </a:r>
            <a:r>
              <a:rPr lang="en-US" altLang="zh-CN" sz="24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)  </a:t>
            </a:r>
          </a:p>
        </p:txBody>
      </p:sp>
      <p:graphicFrame>
        <p:nvGraphicFramePr>
          <p:cNvPr id="2334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990201"/>
              </p:ext>
            </p:extLst>
          </p:nvPr>
        </p:nvGraphicFramePr>
        <p:xfrm>
          <a:off x="1694259" y="2604880"/>
          <a:ext cx="3217069" cy="939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62735" imgH="457200" progId="Equation.3">
                  <p:embed/>
                </p:oleObj>
              </mc:Choice>
              <mc:Fallback>
                <p:oleObj r:id="rId2" imgW="1562735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259" y="2604880"/>
                        <a:ext cx="3217069" cy="939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3476" name="Group 4"/>
          <p:cNvGrpSpPr/>
          <p:nvPr/>
        </p:nvGrpSpPr>
        <p:grpSpPr bwMode="auto">
          <a:xfrm>
            <a:off x="1980010" y="795338"/>
            <a:ext cx="5568553" cy="452438"/>
            <a:chOff x="0" y="0"/>
            <a:chExt cx="4677" cy="380"/>
          </a:xfrm>
        </p:grpSpPr>
        <p:graphicFrame>
          <p:nvGraphicFramePr>
            <p:cNvPr id="62485" name="Object 5"/>
            <p:cNvGraphicFramePr>
              <a:graphicFrameLocks noChangeAspect="1"/>
            </p:cNvGraphicFramePr>
            <p:nvPr/>
          </p:nvGraphicFramePr>
          <p:xfrm>
            <a:off x="0" y="0"/>
            <a:ext cx="313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121535" imgH="228600" progId="Equation.3">
                    <p:embed/>
                  </p:oleObj>
                </mc:Choice>
                <mc:Fallback>
                  <p:oleObj r:id="rId4" imgW="2121535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13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6" name="Rectangle 6"/>
            <p:cNvSpPr>
              <a:spLocks noChangeArrowheads="1"/>
            </p:cNvSpPr>
            <p:nvPr/>
          </p:nvSpPr>
          <p:spPr bwMode="auto">
            <a:xfrm>
              <a:off x="3084" y="31"/>
              <a:ext cx="159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100" b="1">
                  <a:ea typeface="楷体_GB2312" pitchFamily="49" charset="-122"/>
                </a:rPr>
                <a:t>且</a:t>
              </a:r>
              <a:r>
                <a:rPr kumimoji="0" lang="en-US" altLang="zh-CN" sz="2100" b="1" i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与</a:t>
              </a:r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独立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79" name="Group 7"/>
          <p:cNvGrpSpPr/>
          <p:nvPr/>
        </p:nvGrpSpPr>
        <p:grpSpPr bwMode="auto">
          <a:xfrm>
            <a:off x="1358503" y="1803798"/>
            <a:ext cx="6129338" cy="469107"/>
            <a:chOff x="-23" y="-10"/>
            <a:chExt cx="5148" cy="394"/>
          </a:xfrm>
        </p:grpSpPr>
        <p:graphicFrame>
          <p:nvGraphicFramePr>
            <p:cNvPr id="62482" name="Object 8"/>
            <p:cNvGraphicFramePr>
              <a:graphicFrameLocks noChangeAspect="1"/>
            </p:cNvGraphicFramePr>
            <p:nvPr/>
          </p:nvGraphicFramePr>
          <p:xfrm>
            <a:off x="998" y="45"/>
            <a:ext cx="635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44500" imgH="215900" progId="Equation.3">
                    <p:embed/>
                  </p:oleObj>
                </mc:Choice>
                <mc:Fallback>
                  <p:oleObj r:id="rId6" imgW="4445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635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3" name="Rectangle 9"/>
            <p:cNvSpPr>
              <a:spLocks noChangeArrowheads="1"/>
            </p:cNvSpPr>
            <p:nvPr/>
          </p:nvSpPr>
          <p:spPr bwMode="auto">
            <a:xfrm>
              <a:off x="1633" y="-10"/>
              <a:ext cx="349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分别是这两个样本的样本均值，</a:t>
              </a:r>
            </a:p>
          </p:txBody>
        </p:sp>
        <p:sp>
          <p:nvSpPr>
            <p:cNvPr id="62484" name="Rectangle 10"/>
            <p:cNvSpPr>
              <a:spLocks noChangeArrowheads="1"/>
            </p:cNvSpPr>
            <p:nvPr/>
          </p:nvSpPr>
          <p:spPr bwMode="auto">
            <a:xfrm>
              <a:off x="-23" y="35"/>
              <a:ext cx="1029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83" name="Group 11"/>
          <p:cNvGrpSpPr/>
          <p:nvPr/>
        </p:nvGrpSpPr>
        <p:grpSpPr bwMode="auto">
          <a:xfrm>
            <a:off x="1199450" y="2187385"/>
            <a:ext cx="5363765" cy="415529"/>
            <a:chOff x="0" y="-10"/>
            <a:chExt cx="4505" cy="349"/>
          </a:xfrm>
        </p:grpSpPr>
        <p:sp>
          <p:nvSpPr>
            <p:cNvPr id="62480" name="Rectangle 12"/>
            <p:cNvSpPr>
              <a:spLocks noChangeArrowheads="1"/>
            </p:cNvSpPr>
            <p:nvPr/>
          </p:nvSpPr>
          <p:spPr bwMode="auto">
            <a:xfrm>
              <a:off x="713" y="-10"/>
              <a:ext cx="379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分别是这两个样本的样本方差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  <a:r>
                <a:rPr kumimoji="0" lang="zh-CN" altLang="en-US" sz="2100" b="1">
                  <a:ea typeface="楷体_GB2312" pitchFamily="49" charset="-122"/>
                </a:rPr>
                <a:t>则有</a:t>
              </a:r>
            </a:p>
          </p:txBody>
        </p:sp>
        <p:graphicFrame>
          <p:nvGraphicFramePr>
            <p:cNvPr id="62481" name="Object 13"/>
            <p:cNvGraphicFramePr>
              <a:graphicFrameLocks noChangeAspect="1"/>
            </p:cNvGraphicFramePr>
            <p:nvPr/>
          </p:nvGraphicFramePr>
          <p:xfrm>
            <a:off x="0" y="0"/>
            <a:ext cx="72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71500" imgH="228600" progId="Equation.3">
                    <p:embed/>
                  </p:oleObj>
                </mc:Choice>
                <mc:Fallback>
                  <p:oleObj r:id="rId8" imgW="57150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2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3486" name="Group 14"/>
          <p:cNvGrpSpPr/>
          <p:nvPr/>
        </p:nvGrpSpPr>
        <p:grpSpPr bwMode="auto">
          <a:xfrm>
            <a:off x="1331119" y="1263254"/>
            <a:ext cx="6315075" cy="476250"/>
            <a:chOff x="0" y="-10"/>
            <a:chExt cx="5304" cy="400"/>
          </a:xfrm>
        </p:grpSpPr>
        <p:graphicFrame>
          <p:nvGraphicFramePr>
            <p:cNvPr id="62473" name="Object 15"/>
            <p:cNvGraphicFramePr>
              <a:graphicFrameLocks noChangeAspect="1"/>
            </p:cNvGraphicFramePr>
            <p:nvPr/>
          </p:nvGraphicFramePr>
          <p:xfrm>
            <a:off x="998" y="46"/>
            <a:ext cx="3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54000" imgH="241300" progId="Equation.3">
                    <p:embed/>
                  </p:oleObj>
                </mc:Choice>
                <mc:Fallback>
                  <p:oleObj r:id="rId10" imgW="254000" imgH="2413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6"/>
                          <a:ext cx="3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2474" name="Group 16"/>
            <p:cNvGrpSpPr/>
            <p:nvPr/>
          </p:nvGrpSpPr>
          <p:grpSpPr bwMode="auto">
            <a:xfrm>
              <a:off x="0" y="-10"/>
              <a:ext cx="5304" cy="395"/>
              <a:chOff x="0" y="-10"/>
              <a:chExt cx="5304" cy="395"/>
            </a:xfrm>
          </p:grpSpPr>
          <p:sp>
            <p:nvSpPr>
              <p:cNvPr id="62475" name="Rectangle 17"/>
              <p:cNvSpPr>
                <a:spLocks noChangeArrowheads="1"/>
              </p:cNvSpPr>
              <p:nvPr/>
            </p:nvSpPr>
            <p:spPr bwMode="auto">
              <a:xfrm>
                <a:off x="0" y="-10"/>
                <a:ext cx="3312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</a:t>
                </a:r>
                <a:r>
                  <a:rPr kumimoji="0" lang="en-US" altLang="zh-CN" sz="2100" b="1">
                    <a:ea typeface="楷体_GB2312" pitchFamily="49" charset="-122"/>
                  </a:rPr>
                  <a:t>, </a:t>
                </a:r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</a:t>
                </a:r>
                <a:r>
                  <a:rPr kumimoji="0" lang="en-US" altLang="zh-CN" sz="2100" b="1">
                    <a:ea typeface="楷体_GB2312" pitchFamily="49" charset="-122"/>
                  </a:rPr>
                  <a:t>,…,</a:t>
                </a:r>
                <a:endParaRPr kumimoji="0" lang="en-US" altLang="zh-CN" sz="2100" b="1" baseline="-25000">
                  <a:ea typeface="楷体_GB2312" pitchFamily="49" charset="-122"/>
                </a:endParaRPr>
              </a:p>
            </p:txBody>
          </p:sp>
          <p:sp>
            <p:nvSpPr>
              <p:cNvPr id="62476" name="Rectangle 18"/>
              <p:cNvSpPr>
                <a:spLocks noChangeArrowheads="1"/>
              </p:cNvSpPr>
              <p:nvPr/>
            </p:nvSpPr>
            <p:spPr bwMode="auto">
              <a:xfrm>
                <a:off x="1337" y="36"/>
                <a:ext cx="1720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zh-CN" altLang="en-US" sz="2100" b="1">
                    <a:ea typeface="楷体_GB2312" pitchFamily="49" charset="-122"/>
                  </a:rPr>
                  <a:t>是取自</a:t>
                </a:r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zh-CN" altLang="en-US" sz="2100" b="1">
                    <a:ea typeface="楷体_GB2312" pitchFamily="49" charset="-122"/>
                  </a:rPr>
                  <a:t>的样本</a:t>
                </a:r>
                <a:r>
                  <a:rPr kumimoji="0" lang="en-US" altLang="zh-CN" sz="2100" b="1">
                    <a:ea typeface="楷体_GB2312" pitchFamily="49" charset="-122"/>
                  </a:rPr>
                  <a:t>,</a:t>
                </a:r>
              </a:p>
            </p:txBody>
          </p:sp>
          <p:sp>
            <p:nvSpPr>
              <p:cNvPr id="62477" name="Rectangle 19"/>
              <p:cNvSpPr>
                <a:spLocks noChangeArrowheads="1"/>
              </p:cNvSpPr>
              <p:nvPr/>
            </p:nvSpPr>
            <p:spPr bwMode="auto">
              <a:xfrm>
                <a:off x="3062" y="-10"/>
                <a:ext cx="979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en-US" altLang="zh-CN" sz="2100" b="1" i="1">
                    <a:ea typeface="楷体_GB2312" pitchFamily="49" charset="-122"/>
                  </a:rPr>
                  <a:t>Y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</a:t>
                </a:r>
                <a:r>
                  <a:rPr kumimoji="0" lang="en-US" altLang="zh-CN" sz="2100" b="1">
                    <a:ea typeface="楷体_GB2312" pitchFamily="49" charset="-122"/>
                  </a:rPr>
                  <a:t>,</a:t>
                </a:r>
                <a:r>
                  <a:rPr kumimoji="0" lang="en-US" altLang="zh-CN" sz="2100" b="1" i="1">
                    <a:ea typeface="楷体_GB2312" pitchFamily="49" charset="-122"/>
                  </a:rPr>
                  <a:t>Y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</a:t>
                </a:r>
                <a:r>
                  <a:rPr kumimoji="0" lang="en-US" altLang="zh-CN" sz="2100" b="1"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62478" name="Object 20"/>
              <p:cNvGraphicFramePr>
                <a:graphicFrameLocks noChangeAspect="1"/>
              </p:cNvGraphicFramePr>
              <p:nvPr/>
            </p:nvGraphicFramePr>
            <p:xfrm>
              <a:off x="3992" y="0"/>
              <a:ext cx="324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15900" imgH="241300" progId="Equation.3">
                      <p:embed/>
                    </p:oleObj>
                  </mc:Choice>
                  <mc:Fallback>
                    <p:oleObj r:id="rId12" imgW="215900" imgH="2413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2" y="0"/>
                            <a:ext cx="324" cy="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479" name="Rectangle 21"/>
              <p:cNvSpPr>
                <a:spLocks noChangeArrowheads="1"/>
              </p:cNvSpPr>
              <p:nvPr/>
            </p:nvSpPr>
            <p:spPr bwMode="auto">
              <a:xfrm>
                <a:off x="4219" y="-10"/>
                <a:ext cx="108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zh-CN" altLang="en-US" sz="2100" b="1">
                    <a:ea typeface="楷体_GB2312" pitchFamily="49" charset="-122"/>
                  </a:rPr>
                  <a:t>是取自</a:t>
                </a:r>
              </a:p>
            </p:txBody>
          </p:sp>
        </p:grpSp>
      </p:grpSp>
      <p:sp>
        <p:nvSpPr>
          <p:cNvPr id="233494" name="Text Box 22"/>
          <p:cNvSpPr txBox="1">
            <a:spLocks noChangeArrowheads="1"/>
          </p:cNvSpPr>
          <p:nvPr/>
        </p:nvSpPr>
        <p:spPr bwMode="auto">
          <a:xfrm>
            <a:off x="-448455" y="4805804"/>
            <a:ext cx="583287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100" b="1" dirty="0">
                <a:latin typeface="楷体_GB2312" pitchFamily="49" charset="-122"/>
                <a:ea typeface="楷体_GB2312" pitchFamily="49" charset="-122"/>
              </a:rPr>
              <a:t>上述</a:t>
            </a:r>
            <a:r>
              <a:rPr kumimoji="0" lang="en-US" altLang="zh-CN" sz="21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kumimoji="0" lang="zh-CN" altLang="en-US" sz="2100" b="1" dirty="0">
                <a:latin typeface="楷体_GB2312" pitchFamily="49" charset="-122"/>
                <a:ea typeface="楷体_GB2312" pitchFamily="49" charset="-122"/>
              </a:rPr>
              <a:t>个抽样分布定理很重要，要牢固掌握</a:t>
            </a:r>
            <a:r>
              <a:rPr kumimoji="0" lang="en-US" altLang="zh-CN" sz="2100" b="1" dirty="0">
                <a:latin typeface="楷体_GB2312" pitchFamily="49" charset="-122"/>
                <a:ea typeface="楷体_GB2312" pitchFamily="49" charset="-122"/>
              </a:rPr>
              <a:t>.</a:t>
            </a:r>
            <a:endParaRPr kumimoji="0" lang="en-US" altLang="zh-CN" sz="2100" dirty="0"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348525-883A-0F67-A3E5-405DE0A6C1F1}"/>
                  </a:ext>
                </a:extLst>
              </p:cNvPr>
              <p:cNvSpPr txBox="1"/>
              <p:nvPr/>
            </p:nvSpPr>
            <p:spPr>
              <a:xfrm>
                <a:off x="6877816" y="2219327"/>
                <a:ext cx="2264531" cy="482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dirty="0"/>
                  <a:t>，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348525-883A-0F67-A3E5-405DE0A6C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816" y="2219327"/>
                <a:ext cx="2264531" cy="482120"/>
              </a:xfrm>
              <a:prstGeom prst="rect">
                <a:avLst/>
              </a:prstGeom>
              <a:blipFill>
                <a:blip r:embed="rId14"/>
                <a:stretch>
                  <a:fillRect r="-5376"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705DE3-B94C-F2F7-F474-F84A501C5318}"/>
                  </a:ext>
                </a:extLst>
              </p:cNvPr>
              <p:cNvSpPr txBox="1"/>
              <p:nvPr/>
            </p:nvSpPr>
            <p:spPr>
              <a:xfrm>
                <a:off x="6872495" y="2905730"/>
                <a:ext cx="2269852" cy="482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dirty="0"/>
                  <a:t>，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705DE3-B94C-F2F7-F474-F84A501C5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495" y="2905730"/>
                <a:ext cx="2269852" cy="482761"/>
              </a:xfrm>
              <a:prstGeom prst="rect">
                <a:avLst/>
              </a:prstGeom>
              <a:blipFill>
                <a:blip r:embed="rId15"/>
                <a:stretch>
                  <a:fillRect r="-5362" b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3A99D64-0FB5-1C6F-C862-99449E475874}"/>
                  </a:ext>
                </a:extLst>
              </p:cNvPr>
              <p:cNvSpPr txBox="1"/>
              <p:nvPr/>
            </p:nvSpPr>
            <p:spPr>
              <a:xfrm>
                <a:off x="5961077" y="3566857"/>
                <a:ext cx="3053528" cy="1286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num>
                      <m:den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dirty="0"/>
                  <a:t>，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3A99D64-0FB5-1C6F-C862-99449E475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077" y="3566857"/>
                <a:ext cx="3053528" cy="1286763"/>
              </a:xfrm>
              <a:prstGeom prst="rect">
                <a:avLst/>
              </a:prstGeom>
              <a:blipFill>
                <a:blip r:embed="rId16"/>
                <a:stretch>
                  <a:fillRect l="-200" r="-3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F9D555-0BA7-CFF6-0F3F-A70DEC936F3D}"/>
                  </a:ext>
                </a:extLst>
              </p:cNvPr>
              <p:cNvSpPr txBox="1"/>
              <p:nvPr/>
            </p:nvSpPr>
            <p:spPr>
              <a:xfrm>
                <a:off x="4544913" y="3573764"/>
                <a:ext cx="1728192" cy="1291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F9D555-0BA7-CFF6-0F3F-A70DEC936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913" y="3573764"/>
                <a:ext cx="1728192" cy="129157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utoUpdateAnimBg="0"/>
      <p:bldP spid="233494" grpId="0" autoUpdateAnimBg="0"/>
      <p:bldP spid="2" grpId="0"/>
      <p:bldP spid="3" grpId="0"/>
      <p:bldP spid="4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762250" y="250031"/>
            <a:ext cx="3348038" cy="6000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</p:spPr>
        <p:txBody>
          <a:bodyPr>
            <a:normAutofit fontScale="90000"/>
          </a:bodyPr>
          <a:lstStyle/>
          <a:p>
            <a:r>
              <a:rPr lang="zh-CN" altLang="en-US" b="1">
                <a:solidFill>
                  <a:schemeClr val="tx2"/>
                </a:solidFill>
                <a:ea typeface="宋体" panose="02010600030101010101" pitchFamily="2" charset="-122"/>
              </a:rPr>
              <a:t>一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. </a:t>
            </a:r>
            <a:r>
              <a:rPr lang="zh-CN" altLang="en-US" b="1">
                <a:solidFill>
                  <a:schemeClr val="tx2"/>
                </a:solidFill>
                <a:ea typeface="宋体" panose="02010600030101010101" pitchFamily="2" charset="-122"/>
              </a:rPr>
              <a:t>填空题</a:t>
            </a:r>
          </a:p>
        </p:txBody>
      </p:sp>
      <p:graphicFrame>
        <p:nvGraphicFramePr>
          <p:cNvPr id="530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976967"/>
              </p:ext>
            </p:extLst>
          </p:nvPr>
        </p:nvGraphicFramePr>
        <p:xfrm>
          <a:off x="1725215" y="980481"/>
          <a:ext cx="5617369" cy="194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5500" imgH="1168400" progId="Equation.DSMT4">
                  <p:embed/>
                </p:oleObj>
              </mc:Choice>
              <mc:Fallback>
                <p:oleObj name="Equation" r:id="rId2" imgW="3365500" imgH="1168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215" y="980481"/>
                        <a:ext cx="5617369" cy="1946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36" name="Text Box 4"/>
          <p:cNvSpPr txBox="1">
            <a:spLocks noChangeArrowheads="1"/>
          </p:cNvSpPr>
          <p:nvPr/>
        </p:nvSpPr>
        <p:spPr bwMode="auto">
          <a:xfrm>
            <a:off x="1261774" y="897731"/>
            <a:ext cx="597983" cy="305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3000" b="1">
                <a:solidFill>
                  <a:srgbClr val="FF00FF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练          习</a:t>
            </a:r>
          </a:p>
        </p:txBody>
      </p:sp>
      <p:sp>
        <p:nvSpPr>
          <p:cNvPr id="530437" name="Line 5"/>
          <p:cNvSpPr>
            <a:spLocks noChangeShapeType="1"/>
          </p:cNvSpPr>
          <p:nvPr/>
        </p:nvSpPr>
        <p:spPr bwMode="auto">
          <a:xfrm flipV="1">
            <a:off x="4733926" y="2680097"/>
            <a:ext cx="161329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/>
          <a:p>
            <a:endParaRPr lang="zh-CN" altLang="en-US" sz="1350"/>
          </a:p>
        </p:txBody>
      </p:sp>
      <p:sp>
        <p:nvSpPr>
          <p:cNvPr id="530438" name="Text Box 6"/>
          <p:cNvSpPr txBox="1">
            <a:spLocks noChangeArrowheads="1"/>
          </p:cNvSpPr>
          <p:nvPr/>
        </p:nvSpPr>
        <p:spPr bwMode="auto">
          <a:xfrm>
            <a:off x="947174" y="3195795"/>
            <a:ext cx="3494610" cy="39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1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1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~</a:t>
            </a:r>
            <a:r>
              <a:rPr lang="en-US" altLang="zh-CN" sz="21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1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),</a:t>
            </a:r>
            <a:r>
              <a:rPr lang="zh-CN" altLang="en-US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1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1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1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1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~</a:t>
            </a:r>
            <a:endParaRPr lang="en-US" altLang="zh-CN" sz="2100" b="1" dirty="0">
              <a:solidFill>
                <a:schemeClr val="tx2"/>
              </a:solidFill>
            </a:endParaRPr>
          </a:p>
        </p:txBody>
      </p:sp>
      <p:sp>
        <p:nvSpPr>
          <p:cNvPr id="530439" name="Line 7"/>
          <p:cNvSpPr>
            <a:spLocks noChangeShapeType="1"/>
          </p:cNvSpPr>
          <p:nvPr/>
        </p:nvSpPr>
        <p:spPr bwMode="auto">
          <a:xfrm flipV="1">
            <a:off x="4386925" y="3644090"/>
            <a:ext cx="164544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/>
          <a:p>
            <a:endParaRPr lang="zh-CN" altLang="en-US" sz="1350"/>
          </a:p>
        </p:txBody>
      </p:sp>
      <p:graphicFrame>
        <p:nvGraphicFramePr>
          <p:cNvPr id="530440" name="Object 8"/>
          <p:cNvGraphicFramePr>
            <a:graphicFrameLocks noChangeAspect="1"/>
          </p:cNvGraphicFramePr>
          <p:nvPr/>
        </p:nvGraphicFramePr>
        <p:xfrm>
          <a:off x="4895850" y="2251075"/>
          <a:ext cx="9175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4665" imgH="203200" progId="Equation.DSMT4">
                  <p:embed/>
                </p:oleObj>
              </mc:Choice>
              <mc:Fallback>
                <p:oleObj name="Equation" r:id="rId4" imgW="494665" imgH="203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2251075"/>
                        <a:ext cx="91757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963685"/>
              </p:ext>
            </p:extLst>
          </p:nvPr>
        </p:nvGraphicFramePr>
        <p:xfrm>
          <a:off x="4386925" y="3228555"/>
          <a:ext cx="1026319" cy="401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700" imgH="203200" progId="Equation.DSMT4">
                  <p:embed/>
                </p:oleObj>
              </mc:Choice>
              <mc:Fallback>
                <p:oleObj name="Equation" r:id="rId6" imgW="5207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925" y="3228555"/>
                        <a:ext cx="1026319" cy="401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7A44D9-6A5C-E843-1509-AC188488218A}"/>
                  </a:ext>
                </a:extLst>
              </p:cNvPr>
              <p:cNvSpPr txBox="1"/>
              <p:nvPr/>
            </p:nvSpPr>
            <p:spPr>
              <a:xfrm>
                <a:off x="6623077" y="2726949"/>
                <a:ext cx="125914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7A44D9-6A5C-E843-1509-AC1884882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077" y="2726949"/>
                <a:ext cx="1259149" cy="276999"/>
              </a:xfrm>
              <a:prstGeom prst="rect">
                <a:avLst/>
              </a:prstGeom>
              <a:blipFill>
                <a:blip r:embed="rId8"/>
                <a:stretch>
                  <a:fillRect l="-6280" t="-4348" r="-24638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1257FB-F9BE-FAD7-0AE7-2E30353CB545}"/>
                  </a:ext>
                </a:extLst>
              </p:cNvPr>
              <p:cNvSpPr txBox="1"/>
              <p:nvPr/>
            </p:nvSpPr>
            <p:spPr>
              <a:xfrm>
                <a:off x="6521995" y="1980056"/>
                <a:ext cx="1302793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1257FB-F9BE-FAD7-0AE7-2E30353CB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995" y="1980056"/>
                <a:ext cx="1302793" cy="5557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8D00CBF-F599-2C00-81A5-8CBC95037E03}"/>
                  </a:ext>
                </a:extLst>
              </p:cNvPr>
              <p:cNvSpPr txBox="1"/>
              <p:nvPr/>
            </p:nvSpPr>
            <p:spPr>
              <a:xfrm>
                <a:off x="6248403" y="3123691"/>
                <a:ext cx="2736304" cy="520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bar>
                        <m:barPr>
                          <m:pos m:val="top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ba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8D00CBF-F599-2C00-81A5-8CBC95037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3" y="3123691"/>
                <a:ext cx="2736304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1D7F44-1092-2918-C336-573F5A13F591}"/>
                  </a:ext>
                </a:extLst>
              </p:cNvPr>
              <p:cNvSpPr txBox="1"/>
              <p:nvPr/>
            </p:nvSpPr>
            <p:spPr>
              <a:xfrm>
                <a:off x="5813425" y="3886666"/>
                <a:ext cx="3689795" cy="474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1D7F44-1092-2918-C336-573F5A13F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425" y="3886666"/>
                <a:ext cx="3689795" cy="4743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BA817A8-3B90-B049-D0F2-9711E6B3CDD5}"/>
                  </a:ext>
                </a:extLst>
              </p:cNvPr>
              <p:cNvSpPr txBox="1"/>
              <p:nvPr/>
            </p:nvSpPr>
            <p:spPr>
              <a:xfrm>
                <a:off x="3524980" y="3823272"/>
                <a:ext cx="3238386" cy="1483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ba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BA817A8-3B90-B049-D0F2-9711E6B3C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980" y="3823272"/>
                <a:ext cx="3238386" cy="14834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B6F34EA-1363-F78A-B6F7-C3CF8D700303}"/>
                  </a:ext>
                </a:extLst>
              </p:cNvPr>
              <p:cNvSpPr txBox="1"/>
              <p:nvPr/>
            </p:nvSpPr>
            <p:spPr>
              <a:xfrm>
                <a:off x="1475656" y="4260121"/>
                <a:ext cx="2062231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rgbClr val="DB2C0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DB2C0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zh-CN" i="1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rgbClr val="DB2C0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rgbClr val="DB2C03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DB2C0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bar>
                        </m:num>
                        <m:den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i="1" smtClean="0">
                                      <a:solidFill>
                                        <a:srgbClr val="DB2C0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DB2C03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ad>
                        <m:radPr>
                          <m:degHide m:val="on"/>
                          <m:ctrlPr>
                            <a:rPr lang="en-US" altLang="zh-CN" b="0" i="1" smtClean="0">
                              <a:solidFill>
                                <a:srgbClr val="DB2C0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solidFill>
                                    <a:srgbClr val="DB2C0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B6F34EA-1363-F78A-B6F7-C3CF8D700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4260121"/>
                <a:ext cx="2062231" cy="818366"/>
              </a:xfrm>
              <a:prstGeom prst="rect">
                <a:avLst/>
              </a:prstGeom>
              <a:blipFill>
                <a:blip r:embed="rId13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1458" name="Object 2"/>
          <p:cNvGraphicFramePr>
            <a:graphicFrameLocks noChangeAspect="1"/>
          </p:cNvGraphicFramePr>
          <p:nvPr/>
        </p:nvGraphicFramePr>
        <p:xfrm>
          <a:off x="2087166" y="1013222"/>
          <a:ext cx="5185172" cy="1327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600" imgH="774700" progId="Equation.DSMT4">
                  <p:embed/>
                </p:oleObj>
              </mc:Choice>
              <mc:Fallback>
                <p:oleObj name="Equation" r:id="rId2" imgW="3022600" imgH="774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1013222"/>
                        <a:ext cx="5185172" cy="1327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59" name="Object 3"/>
          <p:cNvGraphicFramePr>
            <a:graphicFrameLocks noChangeAspect="1"/>
          </p:cNvGraphicFramePr>
          <p:nvPr/>
        </p:nvGraphicFramePr>
        <p:xfrm>
          <a:off x="2033588" y="2571750"/>
          <a:ext cx="5562600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27400" imgH="927100" progId="Equation.DSMT4">
                  <p:embed/>
                </p:oleObj>
              </mc:Choice>
              <mc:Fallback>
                <p:oleObj name="Equation" r:id="rId4" imgW="3327400" imgH="927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2571750"/>
                        <a:ext cx="5562600" cy="154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1461" name="Text Box 5"/>
          <p:cNvSpPr txBox="1">
            <a:spLocks noChangeArrowheads="1"/>
          </p:cNvSpPr>
          <p:nvPr/>
        </p:nvSpPr>
        <p:spPr bwMode="auto">
          <a:xfrm>
            <a:off x="3059906" y="1924051"/>
            <a:ext cx="1194300" cy="39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100" b="1">
                <a:solidFill>
                  <a:srgbClr val="3366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31462" name="Text Box 6"/>
          <p:cNvSpPr txBox="1">
            <a:spLocks noChangeArrowheads="1"/>
          </p:cNvSpPr>
          <p:nvPr/>
        </p:nvSpPr>
        <p:spPr bwMode="auto">
          <a:xfrm>
            <a:off x="4289822" y="1924051"/>
            <a:ext cx="673325" cy="39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100" b="1" i="1">
                <a:solidFill>
                  <a:srgbClr val="3366FF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531463" name="Text Box 7"/>
          <p:cNvSpPr txBox="1">
            <a:spLocks noChangeArrowheads="1"/>
          </p:cNvSpPr>
          <p:nvPr/>
        </p:nvSpPr>
        <p:spPr bwMode="auto">
          <a:xfrm>
            <a:off x="2466975" y="3737373"/>
            <a:ext cx="3131344" cy="39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100" b="1" i="1">
                <a:solidFill>
                  <a:srgbClr val="33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100" b="1">
                <a:solidFill>
                  <a:srgbClr val="3366FF"/>
                </a:solidFill>
                <a:latin typeface="Times New Roman" panose="02020603050405020304" pitchFamily="18" charset="0"/>
              </a:rPr>
              <a:t>(1,</a:t>
            </a:r>
            <a:r>
              <a:rPr lang="en-US" altLang="zh-CN" sz="2100" b="1" i="1">
                <a:solidFill>
                  <a:srgbClr val="33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solidFill>
                  <a:srgbClr val="3366FF"/>
                </a:solidFill>
                <a:latin typeface="Times New Roman" panose="02020603050405020304" pitchFamily="18" charset="0"/>
              </a:rPr>
              <a:t>-1)</a:t>
            </a:r>
          </a:p>
        </p:txBody>
      </p:sp>
      <p:graphicFrame>
        <p:nvGraphicFramePr>
          <p:cNvPr id="531464" name="Object 8"/>
          <p:cNvGraphicFramePr>
            <a:graphicFrameLocks noChangeAspect="1"/>
          </p:cNvGraphicFramePr>
          <p:nvPr/>
        </p:nvGraphicFramePr>
        <p:xfrm>
          <a:off x="3221832" y="1447801"/>
          <a:ext cx="446485" cy="421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300" imgH="228600" progId="Equation.DSMT4">
                  <p:embed/>
                </p:oleObj>
              </mc:Choice>
              <mc:Fallback>
                <p:oleObj name="Equation" r:id="rId6" imgW="2413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32" y="1447801"/>
                        <a:ext cx="446485" cy="421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1465" name="Text Box 9"/>
          <p:cNvSpPr txBox="1">
            <a:spLocks noChangeArrowheads="1"/>
          </p:cNvSpPr>
          <p:nvPr/>
        </p:nvSpPr>
        <p:spPr bwMode="auto">
          <a:xfrm>
            <a:off x="1261774" y="897731"/>
            <a:ext cx="597983" cy="305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3000" b="1">
                <a:solidFill>
                  <a:srgbClr val="FF00FF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练          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1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1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61" grpId="0"/>
      <p:bldP spid="531462" grpId="0"/>
      <p:bldP spid="53146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482" name="Object 2"/>
          <p:cNvGraphicFramePr>
            <a:graphicFrameLocks noChangeAspect="1"/>
          </p:cNvGraphicFramePr>
          <p:nvPr/>
        </p:nvGraphicFramePr>
        <p:xfrm>
          <a:off x="2033588" y="897731"/>
          <a:ext cx="550902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06800" imgH="558800" progId="Equation.3">
                  <p:embed/>
                </p:oleObj>
              </mc:Choice>
              <mc:Fallback>
                <p:oleObj name="公式" r:id="rId2" imgW="3606800" imgH="55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897731"/>
                        <a:ext cx="550902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3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033588" y="1707356"/>
          <a:ext cx="49149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6600" imgH="889000" progId="Equation.DSMT4">
                  <p:embed/>
                </p:oleObj>
              </mc:Choice>
              <mc:Fallback>
                <p:oleObj name="Equation" r:id="rId4" imgW="3276600" imgH="889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1707356"/>
                        <a:ext cx="49149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484" name="Rectangle 4"/>
          <p:cNvSpPr>
            <a:spLocks noChangeArrowheads="1"/>
          </p:cNvSpPr>
          <p:nvPr/>
        </p:nvSpPr>
        <p:spPr bwMode="auto">
          <a:xfrm>
            <a:off x="3087291" y="86916"/>
            <a:ext cx="2996803" cy="6274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algn="ctr" eaLnBrk="0" hangingPunct="0"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2pPr>
            <a:lvl3pPr algn="ctr" eaLnBrk="0" hangingPunct="0"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3pPr>
            <a:lvl4pPr algn="ctr" eaLnBrk="0" hangingPunct="0"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4pPr>
            <a:lvl5pPr algn="ctr" eaLnBrk="0" hangingPunct="0"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ahoma" panose="020B0604030504040204" pitchFamily="34" charset="0"/>
              </a:defRPr>
            </a:lvl9pPr>
          </a:lstStyle>
          <a:p>
            <a:r>
              <a: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二</a:t>
            </a:r>
            <a:r>
              <a:rPr lang="en-US" altLang="zh-CN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. </a:t>
            </a:r>
            <a:r>
              <a: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选择题</a:t>
            </a:r>
          </a:p>
        </p:txBody>
      </p:sp>
      <p:sp>
        <p:nvSpPr>
          <p:cNvPr id="532485" name="Text Box 5"/>
          <p:cNvSpPr txBox="1">
            <a:spLocks noChangeArrowheads="1"/>
          </p:cNvSpPr>
          <p:nvPr/>
        </p:nvSpPr>
        <p:spPr bwMode="auto">
          <a:xfrm>
            <a:off x="1604963" y="3327798"/>
            <a:ext cx="6444135" cy="417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250" b="1">
                <a:latin typeface="Times New Roman" panose="02020603050405020304" pitchFamily="18" charset="0"/>
              </a:rPr>
              <a:t>2. </a:t>
            </a:r>
            <a:r>
              <a:rPr lang="en-US" altLang="zh-CN" sz="2250" b="1" i="1">
                <a:latin typeface="Times New Roman" panose="02020603050405020304" pitchFamily="18" charset="0"/>
              </a:rPr>
              <a:t>X</a:t>
            </a:r>
            <a:r>
              <a:rPr lang="en-US" altLang="zh-CN" sz="2250" b="1">
                <a:latin typeface="Times New Roman" panose="02020603050405020304" pitchFamily="18" charset="0"/>
              </a:rPr>
              <a:t>~</a:t>
            </a:r>
            <a:r>
              <a:rPr lang="en-US" altLang="zh-CN" sz="2250" b="1" i="1">
                <a:latin typeface="Times New Roman" panose="02020603050405020304" pitchFamily="18" charset="0"/>
              </a:rPr>
              <a:t>F</a:t>
            </a:r>
            <a:r>
              <a:rPr lang="en-US" altLang="zh-CN" sz="2250" b="1">
                <a:latin typeface="Times New Roman" panose="02020603050405020304" pitchFamily="18" charset="0"/>
              </a:rPr>
              <a:t>(</a:t>
            </a:r>
            <a:r>
              <a:rPr lang="en-US" altLang="zh-CN" sz="2250" b="1" i="1">
                <a:latin typeface="Times New Roman" panose="02020603050405020304" pitchFamily="18" charset="0"/>
              </a:rPr>
              <a:t>n,m</a:t>
            </a:r>
            <a:r>
              <a:rPr lang="en-US" altLang="zh-CN" sz="2250" b="1">
                <a:latin typeface="Times New Roman" panose="02020603050405020304" pitchFamily="18" charset="0"/>
              </a:rPr>
              <a:t>),</a:t>
            </a:r>
            <a:r>
              <a:rPr lang="en-US" altLang="zh-CN" sz="2250" b="1" i="1">
                <a:latin typeface="Times New Roman" panose="02020603050405020304" pitchFamily="18" charset="0"/>
              </a:rPr>
              <a:t>P</a:t>
            </a:r>
            <a:r>
              <a:rPr lang="en-US" altLang="zh-CN" sz="2250" b="1">
                <a:latin typeface="Times New Roman" panose="02020603050405020304" pitchFamily="18" charset="0"/>
              </a:rPr>
              <a:t>(</a:t>
            </a:r>
            <a:r>
              <a:rPr lang="en-US" altLang="zh-CN" sz="2250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66"/>
                </a:solidFill>
              </a:rPr>
              <a:t>≥</a:t>
            </a:r>
            <a:r>
              <a:rPr lang="en-US" altLang="zh-CN" sz="2250" b="1" i="1">
                <a:solidFill>
                  <a:srgbClr val="000066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2250" b="1">
                <a:latin typeface="Times New Roman" panose="02020603050405020304" pitchFamily="18" charset="0"/>
              </a:rPr>
              <a:t>)=1-</a:t>
            </a:r>
            <a:r>
              <a:rPr lang="en-US" altLang="zh-CN" sz="2250" b="1" i="1">
                <a:latin typeface="Symbol" panose="05050102010706020507" pitchFamily="18" charset="2"/>
              </a:rPr>
              <a:t>a</a:t>
            </a:r>
            <a:r>
              <a:rPr lang="en-US" altLang="zh-CN" sz="2250" b="1">
                <a:latin typeface="Times New Roman" panose="02020603050405020304" pitchFamily="18" charset="0"/>
              </a:rPr>
              <a:t>(0&lt;</a:t>
            </a:r>
            <a:r>
              <a:rPr lang="en-US" altLang="zh-CN" sz="2250" b="1" i="1">
                <a:latin typeface="Symbol" panose="05050102010706020507" pitchFamily="18" charset="2"/>
              </a:rPr>
              <a:t>a</a:t>
            </a:r>
            <a:r>
              <a:rPr lang="en-US" altLang="zh-CN" sz="2250" b="1">
                <a:latin typeface="Times New Roman" panose="02020603050405020304" pitchFamily="18" charset="0"/>
              </a:rPr>
              <a:t>&lt;1),</a:t>
            </a:r>
            <a:r>
              <a:rPr lang="zh-CN" altLang="en-US" sz="2250" b="1">
                <a:latin typeface="Times New Roman" panose="02020603050405020304" pitchFamily="18" charset="0"/>
              </a:rPr>
              <a:t>则</a:t>
            </a:r>
            <a:r>
              <a:rPr lang="en-US" altLang="zh-CN" sz="2250" b="1" i="1">
                <a:latin typeface="Symbol" panose="05050102010706020507" pitchFamily="18" charset="2"/>
              </a:rPr>
              <a:t>l</a:t>
            </a:r>
            <a:r>
              <a:rPr lang="zh-CN" altLang="en-US" sz="2250" b="1">
                <a:latin typeface="Times New Roman" panose="02020603050405020304" pitchFamily="18" charset="0"/>
              </a:rPr>
              <a:t>的值为</a:t>
            </a:r>
            <a:r>
              <a:rPr lang="en-US" altLang="zh-CN" sz="2250" b="1">
                <a:latin typeface="Times New Roman" panose="02020603050405020304" pitchFamily="18" charset="0"/>
              </a:rPr>
              <a:t>(    )</a:t>
            </a:r>
            <a:endParaRPr lang="en-US" altLang="zh-CN" sz="2400">
              <a:solidFill>
                <a:srgbClr val="000066"/>
              </a:solidFill>
            </a:endParaRPr>
          </a:p>
        </p:txBody>
      </p:sp>
      <p:sp>
        <p:nvSpPr>
          <p:cNvPr id="532486" name="Text Box 6"/>
          <p:cNvSpPr txBox="1">
            <a:spLocks noChangeArrowheads="1"/>
          </p:cNvSpPr>
          <p:nvPr/>
        </p:nvSpPr>
        <p:spPr bwMode="auto">
          <a:xfrm>
            <a:off x="1261774" y="922735"/>
            <a:ext cx="597983" cy="305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3000" b="1">
                <a:solidFill>
                  <a:srgbClr val="FF00FF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练          习</a:t>
            </a:r>
          </a:p>
        </p:txBody>
      </p:sp>
      <p:sp>
        <p:nvSpPr>
          <p:cNvPr id="532487" name="Text Box 7"/>
          <p:cNvSpPr txBox="1">
            <a:spLocks noChangeArrowheads="1"/>
          </p:cNvSpPr>
          <p:nvPr/>
        </p:nvSpPr>
        <p:spPr bwMode="auto">
          <a:xfrm>
            <a:off x="4518422" y="1329928"/>
            <a:ext cx="698897" cy="44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400" b="1">
                <a:solidFill>
                  <a:srgbClr val="3366FF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32488" name="Text Box 8"/>
          <p:cNvSpPr txBox="1">
            <a:spLocks noChangeArrowheads="1"/>
          </p:cNvSpPr>
          <p:nvPr/>
        </p:nvSpPr>
        <p:spPr bwMode="auto">
          <a:xfrm>
            <a:off x="7144941" y="3339703"/>
            <a:ext cx="897745" cy="44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400" b="1">
                <a:solidFill>
                  <a:srgbClr val="3366FF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32489" name="Object 9"/>
          <p:cNvGraphicFramePr>
            <a:graphicFrameLocks noChangeAspect="1"/>
          </p:cNvGraphicFramePr>
          <p:nvPr/>
        </p:nvGraphicFramePr>
        <p:xfrm>
          <a:off x="1980010" y="3759994"/>
          <a:ext cx="5859065" cy="401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17900" imgH="241300" progId="Equation.DSMT4">
                  <p:embed/>
                </p:oleObj>
              </mc:Choice>
              <mc:Fallback>
                <p:oleObj name="Equation" r:id="rId6" imgW="3517900" imgH="241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3759994"/>
                        <a:ext cx="5859065" cy="401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7" grpId="0"/>
      <p:bldP spid="53248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3506" name="Object 2"/>
          <p:cNvGraphicFramePr>
            <a:graphicFrameLocks noChangeAspect="1"/>
          </p:cNvGraphicFramePr>
          <p:nvPr/>
        </p:nvGraphicFramePr>
        <p:xfrm>
          <a:off x="1980010" y="931069"/>
          <a:ext cx="55626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37000" imgH="787400" progId="Equation.3">
                  <p:embed/>
                </p:oleObj>
              </mc:Choice>
              <mc:Fallback>
                <p:oleObj name="公式" r:id="rId2" imgW="3937000" imgH="787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931069"/>
                        <a:ext cx="55626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508" name="Text Box 4"/>
          <p:cNvSpPr txBox="1">
            <a:spLocks noChangeArrowheads="1"/>
          </p:cNvSpPr>
          <p:nvPr/>
        </p:nvSpPr>
        <p:spPr bwMode="auto">
          <a:xfrm>
            <a:off x="1261774" y="1084660"/>
            <a:ext cx="597983" cy="305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3000" b="1">
                <a:solidFill>
                  <a:srgbClr val="FF00FF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练          习</a:t>
            </a:r>
          </a:p>
        </p:txBody>
      </p:sp>
      <p:sp>
        <p:nvSpPr>
          <p:cNvPr id="533509" name="Text Box 5"/>
          <p:cNvSpPr txBox="1">
            <a:spLocks noChangeArrowheads="1"/>
          </p:cNvSpPr>
          <p:nvPr/>
        </p:nvSpPr>
        <p:spPr bwMode="auto">
          <a:xfrm>
            <a:off x="5219701" y="1478756"/>
            <a:ext cx="1241822" cy="44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400" b="1">
                <a:solidFill>
                  <a:srgbClr val="33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533510" name="Object 6"/>
          <p:cNvGraphicFramePr>
            <a:graphicFrameLocks noChangeAspect="1"/>
          </p:cNvGraphicFramePr>
          <p:nvPr/>
        </p:nvGraphicFramePr>
        <p:xfrm>
          <a:off x="2007394" y="1977628"/>
          <a:ext cx="5616179" cy="384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98900" imgH="266700" progId="Equation.3">
                  <p:embed/>
                </p:oleObj>
              </mc:Choice>
              <mc:Fallback>
                <p:oleObj name="公式" r:id="rId4" imgW="3898900" imgH="266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394" y="1977628"/>
                        <a:ext cx="5616179" cy="384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511" name="Text Box 7"/>
          <p:cNvSpPr txBox="1">
            <a:spLocks noChangeArrowheads="1"/>
          </p:cNvSpPr>
          <p:nvPr/>
        </p:nvSpPr>
        <p:spPr bwMode="auto">
          <a:xfrm>
            <a:off x="6732985" y="3327797"/>
            <a:ext cx="1241822" cy="44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400" b="1">
                <a:solidFill>
                  <a:srgbClr val="33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533512" name="Object 8"/>
          <p:cNvGraphicFramePr>
            <a:graphicFrameLocks noChangeAspect="1"/>
          </p:cNvGraphicFramePr>
          <p:nvPr/>
        </p:nvGraphicFramePr>
        <p:xfrm>
          <a:off x="1902619" y="2745581"/>
          <a:ext cx="5963841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78200" imgH="685800" progId="Equation.DSMT4">
                  <p:embed/>
                </p:oleObj>
              </mc:Choice>
              <mc:Fallback>
                <p:oleObj name="Equation" r:id="rId6" imgW="3378200" imgH="685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619" y="2745581"/>
                        <a:ext cx="5963841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3" name="Object 9"/>
          <p:cNvGraphicFramePr>
            <a:graphicFrameLocks noChangeAspect="1"/>
          </p:cNvGraphicFramePr>
          <p:nvPr/>
        </p:nvGraphicFramePr>
        <p:xfrm>
          <a:off x="2141935" y="4030266"/>
          <a:ext cx="48958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68600" imgH="203200" progId="Equation.DSMT4">
                  <p:embed/>
                </p:oleObj>
              </mc:Choice>
              <mc:Fallback>
                <p:oleObj name="Equation" r:id="rId8" imgW="27686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935" y="4030266"/>
                        <a:ext cx="48958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9" grpId="0"/>
      <p:bldP spid="5335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7200900" y="4514850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7200900" y="4514850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63492" name="Rectangle 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686550" y="4514850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234501" name="Text Box 5"/>
          <p:cNvSpPr txBox="1">
            <a:spLocks noChangeArrowheads="1"/>
          </p:cNvSpPr>
          <p:nvPr/>
        </p:nvSpPr>
        <p:spPr bwMode="auto">
          <a:xfrm>
            <a:off x="1331119" y="1275160"/>
            <a:ext cx="528221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的概率不小于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90%,</a:t>
            </a:r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则样本容量至少取多少</a:t>
            </a:r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?</a:t>
            </a:r>
          </a:p>
        </p:txBody>
      </p:sp>
      <p:grpSp>
        <p:nvGrpSpPr>
          <p:cNvPr id="234502" name="Group 6"/>
          <p:cNvGrpSpPr/>
          <p:nvPr/>
        </p:nvGrpSpPr>
        <p:grpSpPr bwMode="auto">
          <a:xfrm>
            <a:off x="1331119" y="681038"/>
            <a:ext cx="6155531" cy="461963"/>
            <a:chOff x="0" y="0"/>
            <a:chExt cx="5170" cy="388"/>
          </a:xfrm>
        </p:grpSpPr>
        <p:sp>
          <p:nvSpPr>
            <p:cNvPr id="63501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83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例</a:t>
              </a:r>
              <a:r>
                <a:rPr kumimoji="0" lang="en-US" altLang="zh-CN" b="1">
                  <a:solidFill>
                    <a:srgbClr val="0000FF"/>
                  </a:solidFill>
                  <a:ea typeface="楷体_GB2312" pitchFamily="49" charset="-122"/>
                </a:rPr>
                <a:t>6.</a:t>
              </a: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63502" name="Object 8"/>
            <p:cNvGraphicFramePr>
              <a:graphicFrameLocks noChangeAspect="1"/>
            </p:cNvGraphicFramePr>
            <p:nvPr/>
          </p:nvGraphicFramePr>
          <p:xfrm>
            <a:off x="817" y="46"/>
            <a:ext cx="136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53465" imgH="203200" progId="Equation.DSMT4">
                    <p:embed/>
                  </p:oleObj>
                </mc:Choice>
                <mc:Fallback>
                  <p:oleObj r:id="rId2" imgW="1053465" imgH="203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" y="46"/>
                          <a:ext cx="1361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3" name="Text Box 9"/>
            <p:cNvSpPr txBox="1">
              <a:spLocks noChangeArrowheads="1"/>
            </p:cNvSpPr>
            <p:nvPr/>
          </p:nvSpPr>
          <p:spPr bwMode="auto">
            <a:xfrm>
              <a:off x="2132" y="0"/>
              <a:ext cx="3038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100" b="1">
                  <a:latin typeface="宋体" panose="02010600030101010101" pitchFamily="2" charset="-122"/>
                </a:rPr>
                <a:t>,</a:t>
              </a: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为使样本均值大于</a:t>
              </a:r>
              <a:r>
                <a:rPr kumimoji="0" lang="en-US" altLang="zh-CN" sz="2100" b="1">
                  <a:latin typeface="楷体_GB2312" pitchFamily="49" charset="-122"/>
                  <a:ea typeface="楷体_GB2312" pitchFamily="49" charset="-122"/>
                </a:rPr>
                <a:t>70</a:t>
              </a:r>
              <a:r>
                <a:rPr kumimoji="0" lang="zh-CN" altLang="en-US" sz="2100" b="1">
                  <a:latin typeface="楷体_GB2312" pitchFamily="49" charset="-122"/>
                  <a:ea typeface="楷体_GB2312" pitchFamily="49" charset="-122"/>
                </a:rPr>
                <a:t>的概率</a:t>
              </a:r>
            </a:p>
          </p:txBody>
        </p:sp>
      </p:grpSp>
      <p:sp>
        <p:nvSpPr>
          <p:cNvPr id="234506" name="Text Box 10"/>
          <p:cNvSpPr txBox="1">
            <a:spLocks noChangeArrowheads="1"/>
          </p:cNvSpPr>
          <p:nvPr/>
        </p:nvSpPr>
        <p:spPr bwMode="auto">
          <a:xfrm>
            <a:off x="1439467" y="1924050"/>
            <a:ext cx="3103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解：</a:t>
            </a:r>
            <a:r>
              <a:rPr kumimoji="0" lang="zh-CN" altLang="en-US" sz="2100" b="1">
                <a:ea typeface="楷体_GB2312" pitchFamily="49" charset="-122"/>
              </a:rPr>
              <a:t>设样本容量为 </a:t>
            </a:r>
            <a:r>
              <a:rPr kumimoji="0" lang="en-US" altLang="zh-CN" sz="2100" b="1" i="1">
                <a:ea typeface="楷体_GB2312" pitchFamily="49" charset="-122"/>
              </a:rPr>
              <a:t>n</a:t>
            </a:r>
            <a:r>
              <a:rPr kumimoji="0" lang="en-US" altLang="zh-CN" sz="2100" b="1">
                <a:ea typeface="楷体_GB2312" pitchFamily="49" charset="-122"/>
              </a:rPr>
              <a:t> , </a:t>
            </a:r>
            <a:r>
              <a:rPr kumimoji="0" lang="zh-CN" altLang="en-US" sz="2100" b="1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34507" name="Object 11"/>
          <p:cNvGraphicFramePr>
            <a:graphicFrameLocks noChangeAspect="1"/>
          </p:cNvGraphicFramePr>
          <p:nvPr/>
        </p:nvGraphicFramePr>
        <p:xfrm>
          <a:off x="4572000" y="1869282"/>
          <a:ext cx="1728788" cy="608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40000" imgH="939800" progId="Equation.DSMT4">
                  <p:embed/>
                </p:oleObj>
              </mc:Choice>
              <mc:Fallback>
                <p:oleObj r:id="rId4" imgW="2540000" imgH="939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869282"/>
                        <a:ext cx="1728788" cy="608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8" name="Object 12"/>
          <p:cNvGraphicFramePr>
            <a:graphicFrameLocks noChangeAspect="1"/>
          </p:cNvGraphicFramePr>
          <p:nvPr/>
        </p:nvGraphicFramePr>
        <p:xfrm>
          <a:off x="1818085" y="2625329"/>
          <a:ext cx="1164431" cy="42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23900" imgH="241300" progId="Equation.3">
                  <p:embed/>
                </p:oleObj>
              </mc:Choice>
              <mc:Fallback>
                <p:oleObj r:id="rId6" imgW="7239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2625329"/>
                        <a:ext cx="1164431" cy="420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9" name="Object 13"/>
          <p:cNvGraphicFramePr>
            <a:graphicFrameLocks noChangeAspect="1"/>
          </p:cNvGraphicFramePr>
          <p:nvPr/>
        </p:nvGraphicFramePr>
        <p:xfrm>
          <a:off x="1818085" y="3165873"/>
          <a:ext cx="1674019" cy="127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30300" imgH="863600" progId="Equation.3">
                  <p:embed/>
                </p:oleObj>
              </mc:Choice>
              <mc:Fallback>
                <p:oleObj r:id="rId8" imgW="1130300" imgH="863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3165873"/>
                        <a:ext cx="1674019" cy="1277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0" name="Object 14"/>
          <p:cNvGraphicFramePr>
            <a:graphicFrameLocks noChangeAspect="1"/>
          </p:cNvGraphicFramePr>
          <p:nvPr/>
        </p:nvGraphicFramePr>
        <p:xfrm>
          <a:off x="3006328" y="2625328"/>
          <a:ext cx="17287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54100" imgH="241300" progId="Equation.3">
                  <p:embed/>
                </p:oleObj>
              </mc:Choice>
              <mc:Fallback>
                <p:oleObj r:id="rId10" imgW="10541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328" y="2625328"/>
                        <a:ext cx="17287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1" name="Object 15"/>
          <p:cNvGraphicFramePr>
            <a:graphicFrameLocks noChangeAspect="1"/>
          </p:cNvGraphicFramePr>
          <p:nvPr/>
        </p:nvGraphicFramePr>
        <p:xfrm>
          <a:off x="3545682" y="3598069"/>
          <a:ext cx="1350169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74700" imgH="241300" progId="Equation.3">
                  <p:embed/>
                </p:oleObj>
              </mc:Choice>
              <mc:Fallback>
                <p:oleObj r:id="rId12" imgW="774700" imgH="241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682" y="3598069"/>
                        <a:ext cx="1350169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10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10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1" grpId="0" autoUpdateAnimBg="0"/>
      <p:bldP spid="23450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22" name="Group 2"/>
          <p:cNvGrpSpPr/>
          <p:nvPr/>
        </p:nvGrpSpPr>
        <p:grpSpPr bwMode="auto">
          <a:xfrm>
            <a:off x="1763316" y="844154"/>
            <a:ext cx="2483644" cy="454819"/>
            <a:chOff x="0" y="0"/>
            <a:chExt cx="2086" cy="382"/>
          </a:xfrm>
        </p:grpSpPr>
        <p:sp>
          <p:nvSpPr>
            <p:cNvPr id="64521" name="Text Box 3"/>
            <p:cNvSpPr txBox="1">
              <a:spLocks noChangeArrowheads="1"/>
            </p:cNvSpPr>
            <p:nvPr/>
          </p:nvSpPr>
          <p:spPr bwMode="auto">
            <a:xfrm>
              <a:off x="0" y="20"/>
              <a:ext cx="381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令</a:t>
              </a:r>
            </a:p>
          </p:txBody>
        </p:sp>
        <p:graphicFrame>
          <p:nvGraphicFramePr>
            <p:cNvPr id="64522" name="Object 4"/>
            <p:cNvGraphicFramePr>
              <a:graphicFrameLocks noChangeAspect="1"/>
            </p:cNvGraphicFramePr>
            <p:nvPr/>
          </p:nvGraphicFramePr>
          <p:xfrm>
            <a:off x="499" y="0"/>
            <a:ext cx="158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03300" imgH="241300" progId="Equation.3">
                    <p:embed/>
                  </p:oleObj>
                </mc:Choice>
                <mc:Fallback>
                  <p:oleObj r:id="rId2" imgW="1003300" imgH="241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0"/>
                          <a:ext cx="1587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25" name="Text Box 5"/>
          <p:cNvSpPr txBox="1">
            <a:spLocks noChangeArrowheads="1"/>
          </p:cNvSpPr>
          <p:nvPr/>
        </p:nvSpPr>
        <p:spPr bwMode="auto">
          <a:xfrm>
            <a:off x="1818085" y="1732360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235526" name="Object 6"/>
          <p:cNvGraphicFramePr>
            <a:graphicFrameLocks noChangeAspect="1"/>
          </p:cNvGraphicFramePr>
          <p:nvPr/>
        </p:nvGraphicFramePr>
        <p:xfrm>
          <a:off x="2465785" y="1704976"/>
          <a:ext cx="1674019" cy="441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63600" imgH="228600" progId="Equation.3">
                  <p:embed/>
                </p:oleObj>
              </mc:Choice>
              <mc:Fallback>
                <p:oleObj r:id="rId4" imgW="863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785" y="1704976"/>
                        <a:ext cx="1674019" cy="441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7" name="Text Box 7"/>
          <p:cNvSpPr txBox="1">
            <a:spLocks noChangeArrowheads="1"/>
          </p:cNvSpPr>
          <p:nvPr/>
        </p:nvSpPr>
        <p:spPr bwMode="auto">
          <a:xfrm>
            <a:off x="1871662" y="2650331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35528" name="Object 8"/>
          <p:cNvGraphicFramePr>
            <a:graphicFrameLocks noChangeAspect="1"/>
          </p:cNvGraphicFramePr>
          <p:nvPr/>
        </p:nvGraphicFramePr>
        <p:xfrm>
          <a:off x="2519363" y="2625328"/>
          <a:ext cx="1674019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86765" imgH="177800" progId="Equation.3">
                  <p:embed/>
                </p:oleObj>
              </mc:Choice>
              <mc:Fallback>
                <p:oleObj r:id="rId6" imgW="786765" imgH="177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625328"/>
                        <a:ext cx="1674019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9" name="Text Box 9"/>
          <p:cNvSpPr txBox="1">
            <a:spLocks noChangeArrowheads="1"/>
          </p:cNvSpPr>
          <p:nvPr/>
        </p:nvSpPr>
        <p:spPr bwMode="auto">
          <a:xfrm>
            <a:off x="1925241" y="3489722"/>
            <a:ext cx="153118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ea typeface="楷体_GB2312" pitchFamily="49" charset="-122"/>
              </a:rPr>
              <a:t>所以至少取</a:t>
            </a:r>
          </a:p>
        </p:txBody>
      </p:sp>
      <p:graphicFrame>
        <p:nvGraphicFramePr>
          <p:cNvPr id="235530" name="Object 10"/>
          <p:cNvGraphicFramePr>
            <a:graphicFrameLocks noChangeAspect="1"/>
          </p:cNvGraphicFramePr>
          <p:nvPr/>
        </p:nvGraphicFramePr>
        <p:xfrm>
          <a:off x="3545681" y="3479007"/>
          <a:ext cx="972741" cy="388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43865" imgH="177800" progId="Equation.3">
                  <p:embed/>
                </p:oleObj>
              </mc:Choice>
              <mc:Fallback>
                <p:oleObj r:id="rId8" imgW="443865" imgH="177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681" y="3479007"/>
                        <a:ext cx="972741" cy="388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5" grpId="0" autoUpdateAnimBg="0"/>
      <p:bldP spid="235527" grpId="0" autoUpdateAnimBg="0"/>
      <p:bldP spid="235529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546" name="Group 2"/>
          <p:cNvGrpSpPr/>
          <p:nvPr/>
        </p:nvGrpSpPr>
        <p:grpSpPr bwMode="auto">
          <a:xfrm>
            <a:off x="1143000" y="141685"/>
            <a:ext cx="5663804" cy="469107"/>
            <a:chOff x="0" y="0"/>
            <a:chExt cx="4757" cy="394"/>
          </a:xfrm>
        </p:grpSpPr>
        <p:sp>
          <p:nvSpPr>
            <p:cNvPr id="65548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179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例</a:t>
              </a:r>
              <a:r>
                <a:rPr kumimoji="0" lang="en-US" altLang="zh-CN" b="1">
                  <a:solidFill>
                    <a:srgbClr val="0000FF"/>
                  </a:solidFill>
                  <a:ea typeface="楷体_GB2312" pitchFamily="49" charset="-122"/>
                </a:rPr>
                <a:t>7.</a:t>
              </a:r>
              <a:r>
                <a:rPr kumimoji="0" lang="en-US" altLang="zh-CN" sz="2100" b="1">
                  <a:ea typeface="楷体_GB2312" pitchFamily="49" charset="-122"/>
                </a:rPr>
                <a:t> </a:t>
              </a:r>
              <a:r>
                <a:rPr kumimoji="0" lang="zh-CN" altLang="en-US" sz="2100" b="1">
                  <a:ea typeface="楷体_GB2312" pitchFamily="49" charset="-122"/>
                </a:rPr>
                <a:t>从正态总体</a:t>
              </a:r>
            </a:p>
          </p:txBody>
        </p:sp>
        <p:graphicFrame>
          <p:nvGraphicFramePr>
            <p:cNvPr id="65549" name="Object 4"/>
            <p:cNvGraphicFramePr>
              <a:graphicFrameLocks noChangeAspect="1"/>
            </p:cNvGraphicFramePr>
            <p:nvPr/>
          </p:nvGraphicFramePr>
          <p:xfrm>
            <a:off x="1746" y="45"/>
            <a:ext cx="131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927735" imgH="228600" progId="Equation.3">
                    <p:embed/>
                  </p:oleObj>
                </mc:Choice>
                <mc:Fallback>
                  <p:oleObj r:id="rId2" imgW="927735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45"/>
                          <a:ext cx="131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50" name="Text Box 5"/>
            <p:cNvSpPr txBox="1">
              <a:spLocks noChangeArrowheads="1"/>
            </p:cNvSpPr>
            <p:nvPr/>
          </p:nvSpPr>
          <p:spPr bwMode="auto">
            <a:xfrm>
              <a:off x="3016" y="45"/>
              <a:ext cx="1741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中，抽取了 </a:t>
              </a:r>
            </a:p>
          </p:txBody>
        </p:sp>
      </p:grpSp>
      <p:grpSp>
        <p:nvGrpSpPr>
          <p:cNvPr id="236550" name="Group 6"/>
          <p:cNvGrpSpPr/>
          <p:nvPr/>
        </p:nvGrpSpPr>
        <p:grpSpPr bwMode="auto">
          <a:xfrm>
            <a:off x="1331119" y="735807"/>
            <a:ext cx="3078956" cy="415528"/>
            <a:chOff x="0" y="0"/>
            <a:chExt cx="2586" cy="349"/>
          </a:xfrm>
        </p:grpSpPr>
        <p:sp>
          <p:nvSpPr>
            <p:cNvPr id="65546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172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100" b="1" i="1">
                  <a:ea typeface="楷体_GB2312" pitchFamily="49" charset="-122"/>
                </a:rPr>
                <a:t>n = </a:t>
              </a:r>
              <a:r>
                <a:rPr kumimoji="0" lang="en-US" altLang="zh-CN" sz="2100" b="1">
                  <a:ea typeface="楷体_GB2312" pitchFamily="49" charset="-122"/>
                </a:rPr>
                <a:t>20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</a:p>
          </p:txBody>
        </p:sp>
        <p:graphicFrame>
          <p:nvGraphicFramePr>
            <p:cNvPr id="65547" name="Object 8"/>
            <p:cNvGraphicFramePr>
              <a:graphicFrameLocks noChangeAspect="1"/>
            </p:cNvGraphicFramePr>
            <p:nvPr/>
          </p:nvGraphicFramePr>
          <p:xfrm>
            <a:off x="1361" y="45"/>
            <a:ext cx="1225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990600" imgH="228600" progId="Equation.DSMT4">
                    <p:embed/>
                  </p:oleObj>
                </mc:Choice>
                <mc:Fallback>
                  <p:oleObj r:id="rId4" imgW="9906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45"/>
                          <a:ext cx="1225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553" name="Text Box 9"/>
          <p:cNvSpPr txBox="1">
            <a:spLocks noChangeArrowheads="1"/>
          </p:cNvSpPr>
          <p:nvPr/>
        </p:nvSpPr>
        <p:spPr bwMode="auto">
          <a:xfrm>
            <a:off x="1385888" y="2680098"/>
            <a:ext cx="12763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解：</a:t>
            </a:r>
            <a:r>
              <a:rPr kumimoji="0" lang="zh-CN" altLang="en-US" sz="2100" b="1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0" lang="en-US" altLang="zh-CN" sz="2100" b="1">
                <a:latin typeface="宋体" panose="02010600030101010101" pitchFamily="2" charset="-122"/>
              </a:rPr>
              <a:t>(1)</a:t>
            </a:r>
          </a:p>
        </p:txBody>
      </p:sp>
      <p:graphicFrame>
        <p:nvGraphicFramePr>
          <p:cNvPr id="236554" name="Object 10"/>
          <p:cNvGraphicFramePr>
            <a:graphicFrameLocks noChangeAspect="1"/>
          </p:cNvGraphicFramePr>
          <p:nvPr/>
        </p:nvGraphicFramePr>
        <p:xfrm>
          <a:off x="2250282" y="3489722"/>
          <a:ext cx="4212431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59000" imgH="444500" progId="Equation.3">
                  <p:embed/>
                </p:oleObj>
              </mc:Choice>
              <mc:Fallback>
                <p:oleObj r:id="rId6" imgW="21590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2" y="3489722"/>
                        <a:ext cx="4212431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5" name="Text Box 11"/>
          <p:cNvSpPr txBox="1">
            <a:spLocks noChangeArrowheads="1"/>
          </p:cNvSpPr>
          <p:nvPr/>
        </p:nvSpPr>
        <p:spPr bwMode="auto">
          <a:xfrm>
            <a:off x="5381625" y="2680097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36556" name="Object 12"/>
          <p:cNvGraphicFramePr>
            <a:graphicFrameLocks noChangeAspect="1"/>
          </p:cNvGraphicFramePr>
          <p:nvPr/>
        </p:nvGraphicFramePr>
        <p:xfrm>
          <a:off x="2519363" y="2571750"/>
          <a:ext cx="2350294" cy="740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97635" imgH="419100" progId="Equation.3">
                  <p:embed/>
                </p:oleObj>
              </mc:Choice>
              <mc:Fallback>
                <p:oleObj r:id="rId8" imgW="1397635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571750"/>
                        <a:ext cx="2350294" cy="740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7" name="Object 13"/>
          <p:cNvGraphicFramePr>
            <a:graphicFrameLocks noChangeAspect="1"/>
          </p:cNvGraphicFramePr>
          <p:nvPr/>
        </p:nvGraphicFramePr>
        <p:xfrm>
          <a:off x="1494235" y="1221581"/>
          <a:ext cx="5170884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225800" imgH="457200" progId="Equation.DSMT4">
                  <p:embed/>
                </p:oleObj>
              </mc:Choice>
              <mc:Fallback>
                <p:oleObj r:id="rId10" imgW="3225800" imgH="457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235" y="1221581"/>
                        <a:ext cx="5170884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8" name="Object 14"/>
          <p:cNvGraphicFramePr>
            <a:graphicFrameLocks noChangeAspect="1"/>
          </p:cNvGraphicFramePr>
          <p:nvPr/>
        </p:nvGraphicFramePr>
        <p:xfrm>
          <a:off x="1494235" y="1924051"/>
          <a:ext cx="4441031" cy="698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457200" progId="Equation.DSMT4">
                  <p:embed/>
                </p:oleObj>
              </mc:Choice>
              <mc:Fallback>
                <p:oleObj r:id="rId12" imgW="3086100" imgH="45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235" y="1924051"/>
                        <a:ext cx="4441031" cy="698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1000"/>
                                        <p:tgtEl>
                                          <p:spTgt spid="23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3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23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3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3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3" grpId="0" autoUpdateAnimBg="0"/>
      <p:bldP spid="23655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Text Box 2"/>
          <p:cNvSpPr txBox="1">
            <a:spLocks noChangeArrowheads="1"/>
          </p:cNvSpPr>
          <p:nvPr/>
        </p:nvSpPr>
        <p:spPr bwMode="auto">
          <a:xfrm>
            <a:off x="1485900" y="289322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37571" name="Object 3"/>
          <p:cNvGraphicFramePr>
            <a:graphicFrameLocks noChangeAspect="1"/>
          </p:cNvGraphicFramePr>
          <p:nvPr/>
        </p:nvGraphicFramePr>
        <p:xfrm>
          <a:off x="1601391" y="1707357"/>
          <a:ext cx="4670822" cy="778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52700" imgH="457200" progId="Equation.3">
                  <p:embed/>
                </p:oleObj>
              </mc:Choice>
              <mc:Fallback>
                <p:oleObj r:id="rId2" imgW="25527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391" y="1707357"/>
                        <a:ext cx="4670822" cy="778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2" name="Object 4"/>
          <p:cNvGraphicFramePr>
            <a:graphicFrameLocks noChangeAspect="1"/>
          </p:cNvGraphicFramePr>
          <p:nvPr/>
        </p:nvGraphicFramePr>
        <p:xfrm>
          <a:off x="1439466" y="2787254"/>
          <a:ext cx="5919788" cy="75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987800" imgH="457200" progId="Equation.3">
                  <p:embed/>
                </p:oleObj>
              </mc:Choice>
              <mc:Fallback>
                <p:oleObj r:id="rId4" imgW="39878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466" y="2787254"/>
                        <a:ext cx="5919788" cy="753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3" name="Object 5"/>
          <p:cNvGraphicFramePr>
            <a:graphicFrameLocks noChangeAspect="1"/>
          </p:cNvGraphicFramePr>
          <p:nvPr/>
        </p:nvGraphicFramePr>
        <p:xfrm>
          <a:off x="1601392" y="3813572"/>
          <a:ext cx="259199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46835" imgH="279400" progId="Equation.3">
                  <p:embed/>
                </p:oleObj>
              </mc:Choice>
              <mc:Fallback>
                <p:oleObj r:id="rId6" imgW="1346835" imgH="279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392" y="3813572"/>
                        <a:ext cx="259199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4" name="Object 6"/>
          <p:cNvGraphicFramePr>
            <a:graphicFrameLocks noChangeAspect="1"/>
          </p:cNvGraphicFramePr>
          <p:nvPr/>
        </p:nvGraphicFramePr>
        <p:xfrm>
          <a:off x="1601391" y="735806"/>
          <a:ext cx="5170884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225800" imgH="457200" progId="Equation.DSMT4">
                  <p:embed/>
                </p:oleObj>
              </mc:Choice>
              <mc:Fallback>
                <p:oleObj r:id="rId8" imgW="32258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391" y="735806"/>
                        <a:ext cx="5170884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Text Box 2"/>
          <p:cNvSpPr txBox="1">
            <a:spLocks noChangeArrowheads="1"/>
          </p:cNvSpPr>
          <p:nvPr/>
        </p:nvSpPr>
        <p:spPr bwMode="auto">
          <a:xfrm>
            <a:off x="1371600" y="445294"/>
            <a:ext cx="6735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100" b="1">
                <a:latin typeface="楷体_GB2312" pitchFamily="49" charset="-122"/>
                <a:ea typeface="楷体_GB2312" pitchFamily="49" charset="-122"/>
              </a:rPr>
              <a:t>(2)</a:t>
            </a:r>
            <a:r>
              <a:rPr kumimoji="0" lang="en-US" altLang="zh-CN" sz="30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38595" name="Object 3"/>
          <p:cNvGraphicFramePr>
            <a:graphicFrameLocks noChangeAspect="1"/>
          </p:cNvGraphicFramePr>
          <p:nvPr/>
        </p:nvGraphicFramePr>
        <p:xfrm>
          <a:off x="2357438" y="250031"/>
          <a:ext cx="2651522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98600" imgH="482600" progId="Equation.3">
                  <p:embed/>
                </p:oleObj>
              </mc:Choice>
              <mc:Fallback>
                <p:oleObj r:id="rId2" imgW="14986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250031"/>
                        <a:ext cx="2651522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1494235" y="1260872"/>
            <a:ext cx="4539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38597" name="Object 5"/>
          <p:cNvGraphicFramePr>
            <a:graphicFrameLocks noChangeAspect="1"/>
          </p:cNvGraphicFramePr>
          <p:nvPr/>
        </p:nvGraphicFramePr>
        <p:xfrm>
          <a:off x="1925241" y="2139553"/>
          <a:ext cx="3776663" cy="908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24100" imgH="533400" progId="Equation.3">
                  <p:embed/>
                </p:oleObj>
              </mc:Choice>
              <mc:Fallback>
                <p:oleObj r:id="rId4" imgW="2324100" imgH="533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241" y="2139553"/>
                        <a:ext cx="3776663" cy="908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8" name="Object 6"/>
          <p:cNvGraphicFramePr>
            <a:graphicFrameLocks noChangeAspect="1"/>
          </p:cNvGraphicFramePr>
          <p:nvPr/>
        </p:nvGraphicFramePr>
        <p:xfrm>
          <a:off x="1818085" y="3219450"/>
          <a:ext cx="5476875" cy="902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05530" imgH="533400" progId="Equation.3">
                  <p:embed/>
                </p:oleObj>
              </mc:Choice>
              <mc:Fallback>
                <p:oleObj r:id="rId6" imgW="3605530" imgH="533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3219450"/>
                        <a:ext cx="5476875" cy="902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9" name="Object 7"/>
          <p:cNvGraphicFramePr>
            <a:graphicFrameLocks noChangeAspect="1"/>
          </p:cNvGraphicFramePr>
          <p:nvPr/>
        </p:nvGraphicFramePr>
        <p:xfrm>
          <a:off x="1980010" y="4354116"/>
          <a:ext cx="2862263" cy="336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33195" imgH="177800" progId="Equation.3">
                  <p:embed/>
                </p:oleObj>
              </mc:Choice>
              <mc:Fallback>
                <p:oleObj r:id="rId8" imgW="1433195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4354116"/>
                        <a:ext cx="2862263" cy="336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00" name="Object 8"/>
          <p:cNvGraphicFramePr>
            <a:graphicFrameLocks noChangeAspect="1"/>
          </p:cNvGraphicFramePr>
          <p:nvPr/>
        </p:nvGraphicFramePr>
        <p:xfrm>
          <a:off x="2141935" y="1221582"/>
          <a:ext cx="4441031" cy="698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086100" imgH="457200" progId="Equation.DSMT4">
                  <p:embed/>
                </p:oleObj>
              </mc:Choice>
              <mc:Fallback>
                <p:oleObj r:id="rId10" imgW="3086100" imgH="457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935" y="1221582"/>
                        <a:ext cx="4441031" cy="698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utoUpdateAnimBg="0"/>
      <p:bldP spid="23859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Text Box 2"/>
          <p:cNvSpPr txBox="1">
            <a:spLocks noChangeArrowheads="1"/>
          </p:cNvSpPr>
          <p:nvPr/>
        </p:nvSpPr>
        <p:spPr bwMode="auto">
          <a:xfrm>
            <a:off x="1277541" y="3003947"/>
            <a:ext cx="610195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 </a:t>
            </a:r>
            <a:r>
              <a:rPr kumimoji="0" lang="zh-CN" altLang="en-US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掌握给出的四个抽样分布定理。</a:t>
            </a:r>
          </a:p>
        </p:txBody>
      </p:sp>
      <p:sp>
        <p:nvSpPr>
          <p:cNvPr id="239619" name="Rectangle 3"/>
          <p:cNvSpPr>
            <a:spLocks noChangeArrowheads="1"/>
          </p:cNvSpPr>
          <p:nvPr/>
        </p:nvSpPr>
        <p:spPr bwMode="auto">
          <a:xfrm>
            <a:off x="2574132" y="195263"/>
            <a:ext cx="32408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 dirty="0">
                <a:solidFill>
                  <a:srgbClr val="FF0066"/>
                </a:solidFill>
                <a:latin typeface="宋体" panose="02010600030101010101" pitchFamily="2" charset="-122"/>
              </a:rPr>
              <a:t>第一章  小    结</a:t>
            </a:r>
          </a:p>
        </p:txBody>
      </p:sp>
      <p:sp>
        <p:nvSpPr>
          <p:cNvPr id="239620" name="Rectangle 4"/>
          <p:cNvSpPr>
            <a:spLocks noChangeArrowheads="1"/>
          </p:cNvSpPr>
          <p:nvPr/>
        </p:nvSpPr>
        <p:spPr bwMode="auto">
          <a:xfrm>
            <a:off x="1331119" y="735806"/>
            <a:ext cx="62103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kumimoji="0" lang="zh-CN" altLang="en-US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给出了总体、个体、样本和统计量的概念，要掌</a:t>
            </a:r>
          </a:p>
        </p:txBody>
      </p:sp>
      <p:grpSp>
        <p:nvGrpSpPr>
          <p:cNvPr id="239621" name="Group 5"/>
          <p:cNvGrpSpPr/>
          <p:nvPr/>
        </p:nvGrpSpPr>
        <p:grpSpPr bwMode="auto">
          <a:xfrm>
            <a:off x="1331119" y="1869281"/>
            <a:ext cx="6426994" cy="415528"/>
            <a:chOff x="0" y="0"/>
            <a:chExt cx="5398" cy="349"/>
          </a:xfrm>
        </p:grpSpPr>
        <p:sp>
          <p:nvSpPr>
            <p:cNvPr id="68617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5398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100" b="1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2.</a:t>
              </a:r>
              <a:r>
                <a:rPr kumimoji="0" lang="zh-CN" altLang="en-US" sz="2100" b="1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给出了  分布、</a:t>
              </a:r>
              <a:r>
                <a:rPr kumimoji="0" lang="en-US" altLang="zh-CN" sz="2100" b="1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t</a:t>
              </a:r>
              <a:r>
                <a:rPr kumimoji="0" lang="zh-CN" altLang="en-US" sz="2100" b="1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分布、</a:t>
              </a:r>
              <a:r>
                <a:rPr kumimoji="0" lang="en-US" altLang="zh-CN" sz="2100" b="1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F</a:t>
              </a:r>
              <a:r>
                <a:rPr kumimoji="0" lang="zh-CN" altLang="en-US" sz="2100" b="1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分布的定义和性质，要会</a:t>
              </a:r>
            </a:p>
          </p:txBody>
        </p:sp>
        <p:graphicFrame>
          <p:nvGraphicFramePr>
            <p:cNvPr id="68618" name="Object 7"/>
            <p:cNvGraphicFramePr>
              <a:graphicFrameLocks noChangeAspect="1"/>
            </p:cNvGraphicFramePr>
            <p:nvPr/>
          </p:nvGraphicFramePr>
          <p:xfrm>
            <a:off x="953" y="0"/>
            <a:ext cx="27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03200" imgH="228600" progId="Equation.3">
                    <p:embed/>
                  </p:oleObj>
                </mc:Choice>
                <mc:Fallback>
                  <p:oleObj r:id="rId2" imgW="2032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3" y="0"/>
                          <a:ext cx="27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9624" name="Rectangle 8"/>
          <p:cNvSpPr>
            <a:spLocks noChangeArrowheads="1"/>
          </p:cNvSpPr>
          <p:nvPr/>
        </p:nvSpPr>
        <p:spPr bwMode="auto">
          <a:xfrm>
            <a:off x="1331119" y="2409825"/>
            <a:ext cx="279275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查表求其上</a:t>
            </a:r>
            <a:r>
              <a:rPr kumimoji="0" lang="el-GR" altLang="en-US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α</a:t>
            </a:r>
            <a:r>
              <a:rPr kumimoji="0" lang="zh-CN" altLang="en-US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分位点。</a:t>
            </a:r>
          </a:p>
        </p:txBody>
      </p:sp>
      <p:sp>
        <p:nvSpPr>
          <p:cNvPr id="239625" name="Rectangle 9"/>
          <p:cNvSpPr>
            <a:spLocks noChangeArrowheads="1"/>
          </p:cNvSpPr>
          <p:nvPr/>
        </p:nvSpPr>
        <p:spPr bwMode="auto">
          <a:xfrm>
            <a:off x="1331119" y="1306116"/>
            <a:ext cx="530145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1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握样本均值和样本方差的计算及基本性质。</a:t>
            </a:r>
          </a:p>
        </p:txBody>
      </p:sp>
      <p:pic>
        <p:nvPicPr>
          <p:cNvPr id="68616" name="Picture 10" descr="Sunset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835" y="3868341"/>
            <a:ext cx="69770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3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3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8" grpId="0" autoUpdateAnimBg="0"/>
      <p:bldP spid="239619" grpId="0" autoUpdateAnimBg="0"/>
      <p:bldP spid="239620" grpId="0" autoUpdateAnimBg="0"/>
      <p:bldP spid="239624" grpId="0" autoUpdateAnimBg="0"/>
      <p:bldP spid="239625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6"/>
  <p:tag name="KSO_WPP_MARK_KEY" val="09db52dc-6c56-474d-a715-52bf731115b6"/>
  <p:tag name="COMMONDATA" val="eyJoZGlkIjoiM2ZlM2MxMWIwNmNlMTkxM2E5MzU0MWJhYTU2OWQyYzUifQ=="/>
</p:tagLst>
</file>

<file path=ppt/theme/theme1.xml><?xml version="1.0" encoding="utf-8"?>
<a:theme xmlns:a="http://schemas.openxmlformats.org/drawingml/2006/main" name="Office 主题​​">
  <a:themeElements>
    <a:clrScheme name="自定义 1096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1F4B70"/>
      </a:accent1>
      <a:accent2>
        <a:srgbClr val="E88D22"/>
      </a:accent2>
      <a:accent3>
        <a:srgbClr val="1F4B70"/>
      </a:accent3>
      <a:accent4>
        <a:srgbClr val="E88D22"/>
      </a:accent4>
      <a:accent5>
        <a:srgbClr val="1F4B70"/>
      </a:accent5>
      <a:accent6>
        <a:srgbClr val="E88D22"/>
      </a:accent6>
      <a:hlink>
        <a:srgbClr val="8DC765"/>
      </a:hlink>
      <a:folHlink>
        <a:srgbClr val="AA8A1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1568</Words>
  <Application>Microsoft Office PowerPoint</Application>
  <PresentationFormat>全屏显示(16:9)</PresentationFormat>
  <Paragraphs>234</Paragraphs>
  <Slides>45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45</vt:i4>
      </vt:variant>
    </vt:vector>
  </HeadingPairs>
  <TitlesOfParts>
    <vt:vector size="62" baseType="lpstr">
      <vt:lpstr>等线</vt:lpstr>
      <vt:lpstr>黑体</vt:lpstr>
      <vt:lpstr>华文彩云</vt:lpstr>
      <vt:lpstr>华文楷体</vt:lpstr>
      <vt:lpstr>楷体_GB2312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Office 主题​​</vt:lpstr>
      <vt:lpstr>Equation.3</vt:lpstr>
      <vt:lpstr>Equation</vt:lpstr>
      <vt:lpstr>公式</vt:lpstr>
      <vt:lpstr>Equation.DSMT4</vt:lpstr>
      <vt:lpstr>PowerPoint 演示文稿</vt:lpstr>
      <vt:lpstr>PowerPoint 演示文稿</vt:lpstr>
      <vt:lpstr>PowerPoint 演示文稿</vt:lpstr>
      <vt:lpstr>1.2 抽样分布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一. 填空题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</dc:title>
  <dc:creator>USER</dc:creator>
  <cp:lastModifiedBy>Hu Xiaoshan</cp:lastModifiedBy>
  <cp:revision>680</cp:revision>
  <dcterms:created xsi:type="dcterms:W3CDTF">2014-11-09T01:07:00Z</dcterms:created>
  <dcterms:modified xsi:type="dcterms:W3CDTF">2022-12-14T09:07:56Z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3C50B294B0E640A9BD94D7CC26A4BEE0</vt:lpwstr>
  </property>
  <property fmtid="{D5CDD505-2E9C-101B-9397-08002B2CF9AE}" pid="3" name="KSOProductBuildVer">
    <vt:lpwstr>2052-11.1.0.12763</vt:lpwstr>
  </property>
</Properties>
</file>