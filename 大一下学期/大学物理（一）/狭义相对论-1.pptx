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30"/>
  </p:handoutMasterIdLst>
  <p:sldIdLst>
    <p:sldId id="363" r:id="rId3"/>
    <p:sldId id="396" r:id="rId4"/>
    <p:sldId id="454" r:id="rId5"/>
    <p:sldId id="397" r:id="rId6"/>
    <p:sldId id="398" r:id="rId7"/>
    <p:sldId id="400" r:id="rId8"/>
    <p:sldId id="401" r:id="rId9"/>
    <p:sldId id="403" r:id="rId10"/>
    <p:sldId id="458" r:id="rId11"/>
    <p:sldId id="459" r:id="rId12"/>
    <p:sldId id="460" r:id="rId13"/>
    <p:sldId id="461" r:id="rId14"/>
    <p:sldId id="407" r:id="rId15"/>
    <p:sldId id="419" r:id="rId16"/>
    <p:sldId id="420" r:id="rId17"/>
    <p:sldId id="422" r:id="rId18"/>
    <p:sldId id="424" r:id="rId20"/>
    <p:sldId id="425" r:id="rId21"/>
    <p:sldId id="426" r:id="rId22"/>
    <p:sldId id="428" r:id="rId23"/>
    <p:sldId id="409" r:id="rId24"/>
    <p:sldId id="455" r:id="rId25"/>
    <p:sldId id="437" r:id="rId26"/>
    <p:sldId id="435" r:id="rId27"/>
    <p:sldId id="436" r:id="rId28"/>
    <p:sldId id="440" r:id="rId29"/>
  </p:sldIdLst>
  <p:sldSz cx="9144000" cy="6858000" type="screen4x3"/>
  <p:notesSz cx="6834505" cy="9979025"/>
  <p:custDataLst>
    <p:tags r:id="rId3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66FF33"/>
    <a:srgbClr val="990099"/>
    <a:srgbClr val="000066"/>
    <a:srgbClr val="FF3300"/>
    <a:srgbClr val="99FFCC"/>
    <a:srgbClr val="990033"/>
    <a:srgbClr val="264D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270"/>
    <p:restoredTop sz="97598"/>
  </p:normalViewPr>
  <p:slideViewPr>
    <p:cSldViewPr showGuides="1">
      <p:cViewPr varScale="1">
        <p:scale>
          <a:sx n="76" d="100"/>
          <a:sy n="76" d="100"/>
        </p:scale>
        <p:origin x="-85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.wmf"/><Relationship Id="rId8" Type="http://schemas.openxmlformats.org/officeDocument/2006/relationships/image" Target="../media/image15.wmf"/><Relationship Id="rId7" Type="http://schemas.openxmlformats.org/officeDocument/2006/relationships/image" Target="../media/image14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4" Type="http://schemas.openxmlformats.org/officeDocument/2006/relationships/image" Target="../media/image21.wmf"/><Relationship Id="rId13" Type="http://schemas.openxmlformats.org/officeDocument/2006/relationships/image" Target="../media/image20.wmf"/><Relationship Id="rId12" Type="http://schemas.openxmlformats.org/officeDocument/2006/relationships/image" Target="../media/image19.wmf"/><Relationship Id="rId11" Type="http://schemas.openxmlformats.org/officeDocument/2006/relationships/image" Target="../media/image18.wmf"/><Relationship Id="rId10" Type="http://schemas.openxmlformats.org/officeDocument/2006/relationships/image" Target="../media/image17.wmf"/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3.wmf"/><Relationship Id="rId8" Type="http://schemas.openxmlformats.org/officeDocument/2006/relationships/image" Target="../media/image32.wmf"/><Relationship Id="rId7" Type="http://schemas.openxmlformats.org/officeDocument/2006/relationships/image" Target="../media/image31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2" Type="http://schemas.openxmlformats.org/officeDocument/2006/relationships/image" Target="../media/image36.wmf"/><Relationship Id="rId11" Type="http://schemas.openxmlformats.org/officeDocument/2006/relationships/image" Target="../media/image35.wmf"/><Relationship Id="rId10" Type="http://schemas.openxmlformats.org/officeDocument/2006/relationships/image" Target="../media/image34.wmf"/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7" Type="http://schemas.openxmlformats.org/officeDocument/2006/relationships/image" Target="../media/image43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7" Type="http://schemas.openxmlformats.org/officeDocument/2006/relationships/image" Target="../media/image51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7" Type="http://schemas.openxmlformats.org/officeDocument/2006/relationships/image" Target="../media/image59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69.wmf"/><Relationship Id="rId8" Type="http://schemas.openxmlformats.org/officeDocument/2006/relationships/image" Target="../media/image68.wmf"/><Relationship Id="rId7" Type="http://schemas.openxmlformats.org/officeDocument/2006/relationships/image" Target="../media/image67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1" Type="http://schemas.openxmlformats.org/officeDocument/2006/relationships/image" Target="../media/image71.wmf"/><Relationship Id="rId10" Type="http://schemas.openxmlformats.org/officeDocument/2006/relationships/image" Target="../media/image70.wmf"/><Relationship Id="rId1" Type="http://schemas.openxmlformats.org/officeDocument/2006/relationships/image" Target="../media/image61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80.wmf"/><Relationship Id="rId8" Type="http://schemas.openxmlformats.org/officeDocument/2006/relationships/image" Target="../media/image79.wmf"/><Relationship Id="rId7" Type="http://schemas.openxmlformats.org/officeDocument/2006/relationships/image" Target="../media/image78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4" Type="http://schemas.openxmlformats.org/officeDocument/2006/relationships/image" Target="../media/image85.wmf"/><Relationship Id="rId13" Type="http://schemas.openxmlformats.org/officeDocument/2006/relationships/image" Target="../media/image84.wmf"/><Relationship Id="rId12" Type="http://schemas.openxmlformats.org/officeDocument/2006/relationships/image" Target="../media/image83.wmf"/><Relationship Id="rId11" Type="http://schemas.openxmlformats.org/officeDocument/2006/relationships/image" Target="../media/image82.wmf"/><Relationship Id="rId10" Type="http://schemas.openxmlformats.org/officeDocument/2006/relationships/image" Target="../media/image81.wmf"/><Relationship Id="rId1" Type="http://schemas.openxmlformats.org/officeDocument/2006/relationships/image" Target="../media/image72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94.wmf"/><Relationship Id="rId8" Type="http://schemas.openxmlformats.org/officeDocument/2006/relationships/image" Target="../media/image93.wmf"/><Relationship Id="rId7" Type="http://schemas.openxmlformats.org/officeDocument/2006/relationships/image" Target="../media/image92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4" Type="http://schemas.openxmlformats.org/officeDocument/2006/relationships/image" Target="../media/image99.wmf"/><Relationship Id="rId13" Type="http://schemas.openxmlformats.org/officeDocument/2006/relationships/image" Target="../media/image98.wmf"/><Relationship Id="rId12" Type="http://schemas.openxmlformats.org/officeDocument/2006/relationships/image" Target="../media/image97.wmf"/><Relationship Id="rId11" Type="http://schemas.openxmlformats.org/officeDocument/2006/relationships/image" Target="../media/image96.wmf"/><Relationship Id="rId10" Type="http://schemas.openxmlformats.org/officeDocument/2006/relationships/image" Target="../media/image95.wmf"/><Relationship Id="rId1" Type="http://schemas.openxmlformats.org/officeDocument/2006/relationships/image" Target="../media/image86.wmf"/></Relationships>
</file>

<file path=ppt/drawings/_rels/vmlDrawing1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drawings/_rels/vmlDrawing14.vml.rels><?xml version="1.0" encoding="UTF-8" standalone="yes"?>
<Relationships xmlns="http://schemas.openxmlformats.org/package/2006/relationships"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99.wmf"/><Relationship Id="rId8" Type="http://schemas.openxmlformats.org/officeDocument/2006/relationships/image" Target="../media/image119.wmf"/><Relationship Id="rId7" Type="http://schemas.openxmlformats.org/officeDocument/2006/relationships/image" Target="../media/image118.wmf"/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8.wmf"/><Relationship Id="rId8" Type="http://schemas.openxmlformats.org/officeDocument/2006/relationships/image" Target="../media/image127.wmf"/><Relationship Id="rId7" Type="http://schemas.openxmlformats.org/officeDocument/2006/relationships/image" Target="../media/image126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Relationship Id="rId3" Type="http://schemas.openxmlformats.org/officeDocument/2006/relationships/image" Target="../media/image122.wmf"/><Relationship Id="rId2" Type="http://schemas.openxmlformats.org/officeDocument/2006/relationships/image" Target="../media/image121.wmf"/><Relationship Id="rId14" Type="http://schemas.openxmlformats.org/officeDocument/2006/relationships/image" Target="../media/image133.wmf"/><Relationship Id="rId13" Type="http://schemas.openxmlformats.org/officeDocument/2006/relationships/image" Target="../media/image132.wmf"/><Relationship Id="rId12" Type="http://schemas.openxmlformats.org/officeDocument/2006/relationships/image" Target="../media/image131.wmf"/><Relationship Id="rId11" Type="http://schemas.openxmlformats.org/officeDocument/2006/relationships/image" Target="../media/image130.wmf"/><Relationship Id="rId10" Type="http://schemas.openxmlformats.org/officeDocument/2006/relationships/image" Target="../media/image129.wmf"/><Relationship Id="rId1" Type="http://schemas.openxmlformats.org/officeDocument/2006/relationships/image" Target="../media/image12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0.wmf"/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1.wmf"/><Relationship Id="rId8" Type="http://schemas.openxmlformats.org/officeDocument/2006/relationships/image" Target="../media/image150.wmf"/><Relationship Id="rId7" Type="http://schemas.openxmlformats.org/officeDocument/2006/relationships/image" Target="../media/image149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Relationship Id="rId3" Type="http://schemas.openxmlformats.org/officeDocument/2006/relationships/image" Target="../media/image145.wmf"/><Relationship Id="rId2" Type="http://schemas.openxmlformats.org/officeDocument/2006/relationships/image" Target="../media/image139.wmf"/><Relationship Id="rId10" Type="http://schemas.openxmlformats.org/officeDocument/2006/relationships/image" Target="../media/image152.wmf"/><Relationship Id="rId1" Type="http://schemas.openxmlformats.org/officeDocument/2006/relationships/image" Target="../media/image144.wmf"/></Relationships>
</file>

<file path=ppt/drawings/_rels/vmlDrawing2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57.wmf"/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Relationship Id="rId3" Type="http://schemas.openxmlformats.org/officeDocument/2006/relationships/image" Target="../media/image148.wmf"/><Relationship Id="rId2" Type="http://schemas.openxmlformats.org/officeDocument/2006/relationships/image" Target="../media/image145.wmf"/><Relationship Id="rId1" Type="http://schemas.openxmlformats.org/officeDocument/2006/relationships/image" Target="../media/image153.wmf"/></Relationships>
</file>

<file path=ppt/drawings/_rels/vmlDrawing2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9.wmf"/><Relationship Id="rId5" Type="http://schemas.openxmlformats.org/officeDocument/2006/relationships/image" Target="../media/image138.wmf"/><Relationship Id="rId4" Type="http://schemas.openxmlformats.org/officeDocument/2006/relationships/image" Target="../media/image161.wmf"/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5634" name="页眉占位符 32563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1200" b="0" dirty="0"/>
          </a:p>
        </p:txBody>
      </p:sp>
      <p:sp>
        <p:nvSpPr>
          <p:cNvPr id="325635" name="日期占位符 325634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/>
            <a:endParaRPr lang="zh-CN" altLang="en-US" sz="1200" b="0" dirty="0"/>
          </a:p>
        </p:txBody>
      </p:sp>
      <p:sp>
        <p:nvSpPr>
          <p:cNvPr id="325636" name="页脚占位符 325635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endParaRPr lang="zh-CN" altLang="en-US" sz="1200" b="0" dirty="0"/>
          </a:p>
        </p:txBody>
      </p:sp>
      <p:sp>
        <p:nvSpPr>
          <p:cNvPr id="325637" name="灯片编号占位符 325636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2994" name="页眉占位符 21299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1200" b="0" dirty="0"/>
          </a:p>
        </p:txBody>
      </p:sp>
      <p:sp>
        <p:nvSpPr>
          <p:cNvPr id="212995" name="日期占位符 212994"/>
          <p:cNvSpPr>
            <a:spLocks noGrp="1"/>
          </p:cNvSpPr>
          <p:nvPr>
            <p:ph type="dt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/>
            <a:endParaRPr lang="zh-CN" altLang="en-US" sz="1200" b="0" dirty="0"/>
          </a:p>
        </p:txBody>
      </p:sp>
      <p:sp>
        <p:nvSpPr>
          <p:cNvPr id="212996" name="幻灯片图像占位符 212995"/>
          <p:cNvSpPr>
            <a:spLocks noRot="1" noTextEdit="1"/>
          </p:cNvSpPr>
          <p:nvPr>
            <p:ph type="sldImg" idx="2"/>
          </p:nvPr>
        </p:nvSpPr>
        <p:spPr>
          <a:xfrm>
            <a:off x="922338" y="747713"/>
            <a:ext cx="4991100" cy="3743325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12997" name="文本占位符 212996"/>
          <p:cNvSpPr>
            <a:spLocks noGrp="1"/>
          </p:cNvSpPr>
          <p:nvPr>
            <p:ph type="body" sz="quarter" idx="3"/>
          </p:nvPr>
        </p:nvSpPr>
        <p:spPr>
          <a:xfrm>
            <a:off x="684213" y="4740275"/>
            <a:ext cx="5467350" cy="44910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2998" name="页脚占位符 212997"/>
          <p:cNvSpPr>
            <a:spLocks noGrp="1"/>
          </p:cNvSpPr>
          <p:nvPr>
            <p:ph type="ftr" sz="quarter" idx="4"/>
          </p:nvPr>
        </p:nvSpPr>
        <p:spPr>
          <a:xfrm>
            <a:off x="0" y="9478963"/>
            <a:ext cx="2962275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endParaRPr lang="zh-CN" altLang="en-US" sz="1200" b="0" dirty="0"/>
          </a:p>
        </p:txBody>
      </p:sp>
      <p:sp>
        <p:nvSpPr>
          <p:cNvPr id="212999" name="灯片编号占位符 212998"/>
          <p:cNvSpPr>
            <a:spLocks noGrp="1"/>
          </p:cNvSpPr>
          <p:nvPr>
            <p:ph type="sldNum" sz="quarter" idx="5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/>
          <p:nvPr>
            <p:ph type="sldNum" sz="quarter" idx="2"/>
          </p:nvPr>
        </p:nvSpPr>
        <p:spPr/>
        <p:txBody>
          <a:bodyPr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287746" name="幻灯片图像占位符 287745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87747" name="文本占位符 287746"/>
          <p:cNvSpPr>
            <a:spLocks noGrp="1"/>
          </p:cNvSpPr>
          <p:nvPr>
            <p:ph type="body" idx="1"/>
          </p:nvPr>
        </p:nvSpPr>
        <p:spPr>
          <a:xfrm>
            <a:off x="911225" y="4740275"/>
            <a:ext cx="5011738" cy="4491038"/>
          </a:xfrm>
          <a:ln/>
        </p:spPr>
        <p:txBody>
          <a:bodyPr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9FFCC"/>
            </a:gs>
            <a:gs pos="50000">
              <a:srgbClr val="FFFFFF"/>
            </a:gs>
            <a:gs pos="100000">
              <a:srgbClr val="99FFCC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b="0"/>
            </a:lvl1pPr>
          </a:lstStyle>
          <a:p>
            <a:pPr lvl="0"/>
            <a:fld id="{BB962C8B-B14F-4D97-AF65-F5344CB8AC3E}" type="datetime1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b="0"/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b="0"/>
            </a:lvl1pPr>
          </a:lstStyle>
          <a:p>
            <a:pPr lvl="0"/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1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9" Type="http://schemas.openxmlformats.org/officeDocument/2006/relationships/vmlDrawing" Target="../drawings/vmlDrawing1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9.png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wmf"/><Relationship Id="rId8" Type="http://schemas.openxmlformats.org/officeDocument/2006/relationships/image" Target="../media/image4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.wmf"/><Relationship Id="rId31" Type="http://schemas.openxmlformats.org/officeDocument/2006/relationships/vmlDrawing" Target="../drawings/vmlDrawing3.vml"/><Relationship Id="rId30" Type="http://schemas.openxmlformats.org/officeDocument/2006/relationships/slideLayout" Target="../slideLayouts/slideLayout7.xml"/><Relationship Id="rId3" Type="http://schemas.openxmlformats.org/officeDocument/2006/relationships/oleObject" Target="../embeddings/oleObject12.bin"/><Relationship Id="rId29" Type="http://schemas.openxmlformats.org/officeDocument/2006/relationships/image" Target="../media/image21.wmf"/><Relationship Id="rId28" Type="http://schemas.openxmlformats.org/officeDocument/2006/relationships/oleObject" Target="../embeddings/oleObject24.bin"/><Relationship Id="rId27" Type="http://schemas.openxmlformats.org/officeDocument/2006/relationships/image" Target="../media/image20.wmf"/><Relationship Id="rId26" Type="http://schemas.openxmlformats.org/officeDocument/2006/relationships/oleObject" Target="../embeddings/oleObject23.bin"/><Relationship Id="rId25" Type="http://schemas.openxmlformats.org/officeDocument/2006/relationships/image" Target="../media/image19.wmf"/><Relationship Id="rId24" Type="http://schemas.openxmlformats.org/officeDocument/2006/relationships/oleObject" Target="../embeddings/oleObject22.bin"/><Relationship Id="rId23" Type="http://schemas.openxmlformats.org/officeDocument/2006/relationships/image" Target="../media/image18.wmf"/><Relationship Id="rId22" Type="http://schemas.openxmlformats.org/officeDocument/2006/relationships/oleObject" Target="../embeddings/oleObject21.bin"/><Relationship Id="rId21" Type="http://schemas.openxmlformats.org/officeDocument/2006/relationships/image" Target="../media/image17.wmf"/><Relationship Id="rId20" Type="http://schemas.openxmlformats.org/officeDocument/2006/relationships/oleObject" Target="../embeddings/oleObject20.bin"/><Relationship Id="rId2" Type="http://schemas.openxmlformats.org/officeDocument/2006/relationships/image" Target="../media/image1.wmf"/><Relationship Id="rId19" Type="http://schemas.openxmlformats.org/officeDocument/2006/relationships/image" Target="../media/image16.wmf"/><Relationship Id="rId18" Type="http://schemas.openxmlformats.org/officeDocument/2006/relationships/oleObject" Target="../embeddings/oleObject19.bin"/><Relationship Id="rId17" Type="http://schemas.openxmlformats.org/officeDocument/2006/relationships/image" Target="../media/image15.wmf"/><Relationship Id="rId16" Type="http://schemas.openxmlformats.org/officeDocument/2006/relationships/oleObject" Target="../embeddings/oleObject18.bin"/><Relationship Id="rId15" Type="http://schemas.openxmlformats.org/officeDocument/2006/relationships/image" Target="../media/image14.wmf"/><Relationship Id="rId14" Type="http://schemas.openxmlformats.org/officeDocument/2006/relationships/oleObject" Target="../embeddings/oleObject17.bin"/><Relationship Id="rId13" Type="http://schemas.openxmlformats.org/officeDocument/2006/relationships/image" Target="../media/image13.wmf"/><Relationship Id="rId12" Type="http://schemas.openxmlformats.org/officeDocument/2006/relationships/oleObject" Target="../embeddings/oleObject16.bin"/><Relationship Id="rId11" Type="http://schemas.openxmlformats.org/officeDocument/2006/relationships/image" Target="../media/image12.wmf"/><Relationship Id="rId10" Type="http://schemas.openxmlformats.org/officeDocument/2006/relationships/oleObject" Target="../embeddings/oleObject15.bin"/><Relationship Id="rId1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22.wmf"/><Relationship Id="rId1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wmf"/><Relationship Id="rId1" Type="http://schemas.openxmlformats.org/officeDocument/2006/relationships/oleObject" Target="../embeddings/oleObject27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9.bin"/><Relationship Id="rId27" Type="http://schemas.openxmlformats.org/officeDocument/2006/relationships/vmlDrawing" Target="../drawings/vmlDrawing6.v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36.wmf"/><Relationship Id="rId24" Type="http://schemas.openxmlformats.org/officeDocument/2006/relationships/oleObject" Target="../embeddings/oleObject40.bin"/><Relationship Id="rId23" Type="http://schemas.openxmlformats.org/officeDocument/2006/relationships/image" Target="../media/image35.wmf"/><Relationship Id="rId22" Type="http://schemas.openxmlformats.org/officeDocument/2006/relationships/oleObject" Target="../embeddings/oleObject39.bin"/><Relationship Id="rId21" Type="http://schemas.openxmlformats.org/officeDocument/2006/relationships/oleObject" Target="../embeddings/oleObject38.bin"/><Relationship Id="rId20" Type="http://schemas.openxmlformats.org/officeDocument/2006/relationships/image" Target="../media/image34.wmf"/><Relationship Id="rId2" Type="http://schemas.openxmlformats.org/officeDocument/2006/relationships/image" Target="../media/image25.wmf"/><Relationship Id="rId19" Type="http://schemas.openxmlformats.org/officeDocument/2006/relationships/oleObject" Target="../embeddings/oleObject37.bin"/><Relationship Id="rId18" Type="http://schemas.openxmlformats.org/officeDocument/2006/relationships/image" Target="../media/image33.wmf"/><Relationship Id="rId17" Type="http://schemas.openxmlformats.org/officeDocument/2006/relationships/oleObject" Target="../embeddings/oleObject36.bin"/><Relationship Id="rId16" Type="http://schemas.openxmlformats.org/officeDocument/2006/relationships/image" Target="../media/image32.wmf"/><Relationship Id="rId15" Type="http://schemas.openxmlformats.org/officeDocument/2006/relationships/oleObject" Target="../embeddings/oleObject35.bin"/><Relationship Id="rId14" Type="http://schemas.openxmlformats.org/officeDocument/2006/relationships/image" Target="../media/image31.wmf"/><Relationship Id="rId13" Type="http://schemas.openxmlformats.org/officeDocument/2006/relationships/oleObject" Target="../embeddings/oleObject34.bin"/><Relationship Id="rId12" Type="http://schemas.openxmlformats.org/officeDocument/2006/relationships/image" Target="../media/image30.wmf"/><Relationship Id="rId11" Type="http://schemas.openxmlformats.org/officeDocument/2006/relationships/oleObject" Target="../embeddings/oleObject33.bin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28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.bin"/><Relationship Id="rId8" Type="http://schemas.openxmlformats.org/officeDocument/2006/relationships/image" Target="../media/image40.wmf"/><Relationship Id="rId7" Type="http://schemas.openxmlformats.org/officeDocument/2006/relationships/oleObject" Target="../embeddings/oleObject44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37.wmf"/><Relationship Id="rId18" Type="http://schemas.openxmlformats.org/officeDocument/2006/relationships/vmlDrawing" Target="../drawings/vmlDrawing7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44.wmf"/><Relationship Id="rId15" Type="http://schemas.openxmlformats.org/officeDocument/2006/relationships/oleObject" Target="../embeddings/oleObject48.bin"/><Relationship Id="rId14" Type="http://schemas.openxmlformats.org/officeDocument/2006/relationships/image" Target="../media/image43.wmf"/><Relationship Id="rId13" Type="http://schemas.openxmlformats.org/officeDocument/2006/relationships/oleObject" Target="../embeddings/oleObject47.bin"/><Relationship Id="rId12" Type="http://schemas.openxmlformats.org/officeDocument/2006/relationships/image" Target="../media/image42.wmf"/><Relationship Id="rId11" Type="http://schemas.openxmlformats.org/officeDocument/2006/relationships/oleObject" Target="../embeddings/oleObject46.bin"/><Relationship Id="rId10" Type="http://schemas.openxmlformats.org/officeDocument/2006/relationships/image" Target="../media/image41.wmf"/><Relationship Id="rId1" Type="http://schemas.openxmlformats.org/officeDocument/2006/relationships/oleObject" Target="../embeddings/oleObject4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48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47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45.wmf"/><Relationship Id="rId18" Type="http://schemas.openxmlformats.org/officeDocument/2006/relationships/vmlDrawing" Target="../drawings/vmlDrawing8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52.wmf"/><Relationship Id="rId15" Type="http://schemas.openxmlformats.org/officeDocument/2006/relationships/oleObject" Target="../embeddings/oleObject56.bin"/><Relationship Id="rId14" Type="http://schemas.openxmlformats.org/officeDocument/2006/relationships/image" Target="../media/image51.wmf"/><Relationship Id="rId13" Type="http://schemas.openxmlformats.org/officeDocument/2006/relationships/oleObject" Target="../embeddings/oleObject55.bin"/><Relationship Id="rId12" Type="http://schemas.openxmlformats.org/officeDocument/2006/relationships/image" Target="../media/image50.wmf"/><Relationship Id="rId11" Type="http://schemas.openxmlformats.org/officeDocument/2006/relationships/oleObject" Target="../embeddings/oleObject54.bin"/><Relationship Id="rId10" Type="http://schemas.openxmlformats.org/officeDocument/2006/relationships/image" Target="../media/image49.wmf"/><Relationship Id="rId1" Type="http://schemas.openxmlformats.org/officeDocument/2006/relationships/oleObject" Target="../embeddings/oleObject49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1.bin"/><Relationship Id="rId8" Type="http://schemas.openxmlformats.org/officeDocument/2006/relationships/image" Target="../media/image56.wmf"/><Relationship Id="rId7" Type="http://schemas.openxmlformats.org/officeDocument/2006/relationships/oleObject" Target="../embeddings/oleObject60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4.wmf"/><Relationship Id="rId3" Type="http://schemas.openxmlformats.org/officeDocument/2006/relationships/oleObject" Target="../embeddings/oleObject58.bin"/><Relationship Id="rId2" Type="http://schemas.openxmlformats.org/officeDocument/2006/relationships/image" Target="../media/image53.wmf"/><Relationship Id="rId19" Type="http://schemas.openxmlformats.org/officeDocument/2006/relationships/vmlDrawing" Target="../drawings/vmlDrawing9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1.wmf"/><Relationship Id="rId16" Type="http://schemas.openxmlformats.org/officeDocument/2006/relationships/image" Target="../media/image60.wmf"/><Relationship Id="rId15" Type="http://schemas.openxmlformats.org/officeDocument/2006/relationships/oleObject" Target="../embeddings/oleObject64.bin"/><Relationship Id="rId14" Type="http://schemas.openxmlformats.org/officeDocument/2006/relationships/image" Target="../media/image59.wmf"/><Relationship Id="rId13" Type="http://schemas.openxmlformats.org/officeDocument/2006/relationships/oleObject" Target="../embeddings/oleObject63.bin"/><Relationship Id="rId12" Type="http://schemas.openxmlformats.org/officeDocument/2006/relationships/image" Target="../media/image58.wmf"/><Relationship Id="rId11" Type="http://schemas.openxmlformats.org/officeDocument/2006/relationships/oleObject" Target="../embeddings/oleObject62.bin"/><Relationship Id="rId10" Type="http://schemas.openxmlformats.org/officeDocument/2006/relationships/image" Target="../media/image57.wmf"/><Relationship Id="rId1" Type="http://schemas.openxmlformats.org/officeDocument/2006/relationships/oleObject" Target="../embeddings/oleObject57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9.bin"/><Relationship Id="rId8" Type="http://schemas.openxmlformats.org/officeDocument/2006/relationships/image" Target="../media/image64.wmf"/><Relationship Id="rId7" Type="http://schemas.openxmlformats.org/officeDocument/2006/relationships/oleObject" Target="../embeddings/oleObject68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66.bin"/><Relationship Id="rId24" Type="http://schemas.openxmlformats.org/officeDocument/2006/relationships/vmlDrawing" Target="../drawings/vmlDrawing10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71.wmf"/><Relationship Id="rId21" Type="http://schemas.openxmlformats.org/officeDocument/2006/relationships/oleObject" Target="../embeddings/oleObject75.bin"/><Relationship Id="rId20" Type="http://schemas.openxmlformats.org/officeDocument/2006/relationships/image" Target="../media/image70.wmf"/><Relationship Id="rId2" Type="http://schemas.openxmlformats.org/officeDocument/2006/relationships/image" Target="../media/image61.wmf"/><Relationship Id="rId19" Type="http://schemas.openxmlformats.org/officeDocument/2006/relationships/oleObject" Target="../embeddings/oleObject74.bin"/><Relationship Id="rId18" Type="http://schemas.openxmlformats.org/officeDocument/2006/relationships/image" Target="../media/image69.wmf"/><Relationship Id="rId17" Type="http://schemas.openxmlformats.org/officeDocument/2006/relationships/oleObject" Target="../embeddings/oleObject73.bin"/><Relationship Id="rId16" Type="http://schemas.openxmlformats.org/officeDocument/2006/relationships/image" Target="../media/image68.wmf"/><Relationship Id="rId15" Type="http://schemas.openxmlformats.org/officeDocument/2006/relationships/oleObject" Target="../embeddings/oleObject72.bin"/><Relationship Id="rId14" Type="http://schemas.openxmlformats.org/officeDocument/2006/relationships/image" Target="../media/image67.wmf"/><Relationship Id="rId13" Type="http://schemas.openxmlformats.org/officeDocument/2006/relationships/oleObject" Target="../embeddings/oleObject71.bin"/><Relationship Id="rId12" Type="http://schemas.openxmlformats.org/officeDocument/2006/relationships/image" Target="../media/image66.wmf"/><Relationship Id="rId11" Type="http://schemas.openxmlformats.org/officeDocument/2006/relationships/oleObject" Target="../embeddings/oleObject70.bin"/><Relationship Id="rId10" Type="http://schemas.openxmlformats.org/officeDocument/2006/relationships/image" Target="../media/image65.wmf"/><Relationship Id="rId1" Type="http://schemas.openxmlformats.org/officeDocument/2006/relationships/oleObject" Target="../embeddings/oleObject65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wmf"/><Relationship Id="rId8" Type="http://schemas.openxmlformats.org/officeDocument/2006/relationships/oleObject" Target="../embeddings/oleObject79.bin"/><Relationship Id="rId7" Type="http://schemas.openxmlformats.org/officeDocument/2006/relationships/image" Target="../media/image74.wmf"/><Relationship Id="rId6" Type="http://schemas.openxmlformats.org/officeDocument/2006/relationships/oleObject" Target="../embeddings/oleObject78.bin"/><Relationship Id="rId5" Type="http://schemas.openxmlformats.org/officeDocument/2006/relationships/image" Target="../media/image11.wmf"/><Relationship Id="rId4" Type="http://schemas.openxmlformats.org/officeDocument/2006/relationships/image" Target="../media/image73.wmf"/><Relationship Id="rId31" Type="http://schemas.openxmlformats.org/officeDocument/2006/relationships/vmlDrawing" Target="../drawings/vmlDrawing11.vml"/><Relationship Id="rId30" Type="http://schemas.openxmlformats.org/officeDocument/2006/relationships/slideLayout" Target="../slideLayouts/slideLayout7.xml"/><Relationship Id="rId3" Type="http://schemas.openxmlformats.org/officeDocument/2006/relationships/oleObject" Target="../embeddings/oleObject77.bin"/><Relationship Id="rId29" Type="http://schemas.openxmlformats.org/officeDocument/2006/relationships/image" Target="../media/image85.wmf"/><Relationship Id="rId28" Type="http://schemas.openxmlformats.org/officeDocument/2006/relationships/oleObject" Target="../embeddings/oleObject89.bin"/><Relationship Id="rId27" Type="http://schemas.openxmlformats.org/officeDocument/2006/relationships/image" Target="../media/image84.wmf"/><Relationship Id="rId26" Type="http://schemas.openxmlformats.org/officeDocument/2006/relationships/oleObject" Target="../embeddings/oleObject88.bin"/><Relationship Id="rId25" Type="http://schemas.openxmlformats.org/officeDocument/2006/relationships/image" Target="../media/image83.wmf"/><Relationship Id="rId24" Type="http://schemas.openxmlformats.org/officeDocument/2006/relationships/oleObject" Target="../embeddings/oleObject87.bin"/><Relationship Id="rId23" Type="http://schemas.openxmlformats.org/officeDocument/2006/relationships/image" Target="../media/image82.wmf"/><Relationship Id="rId22" Type="http://schemas.openxmlformats.org/officeDocument/2006/relationships/oleObject" Target="../embeddings/oleObject86.bin"/><Relationship Id="rId21" Type="http://schemas.openxmlformats.org/officeDocument/2006/relationships/image" Target="../media/image81.wmf"/><Relationship Id="rId20" Type="http://schemas.openxmlformats.org/officeDocument/2006/relationships/oleObject" Target="../embeddings/oleObject85.bin"/><Relationship Id="rId2" Type="http://schemas.openxmlformats.org/officeDocument/2006/relationships/image" Target="../media/image72.wmf"/><Relationship Id="rId19" Type="http://schemas.openxmlformats.org/officeDocument/2006/relationships/image" Target="../media/image80.wmf"/><Relationship Id="rId18" Type="http://schemas.openxmlformats.org/officeDocument/2006/relationships/oleObject" Target="../embeddings/oleObject84.bin"/><Relationship Id="rId17" Type="http://schemas.openxmlformats.org/officeDocument/2006/relationships/image" Target="../media/image79.wmf"/><Relationship Id="rId16" Type="http://schemas.openxmlformats.org/officeDocument/2006/relationships/oleObject" Target="../embeddings/oleObject83.bin"/><Relationship Id="rId15" Type="http://schemas.openxmlformats.org/officeDocument/2006/relationships/image" Target="../media/image78.wmf"/><Relationship Id="rId14" Type="http://schemas.openxmlformats.org/officeDocument/2006/relationships/oleObject" Target="../embeddings/oleObject82.bin"/><Relationship Id="rId13" Type="http://schemas.openxmlformats.org/officeDocument/2006/relationships/image" Target="../media/image77.wmf"/><Relationship Id="rId12" Type="http://schemas.openxmlformats.org/officeDocument/2006/relationships/oleObject" Target="../embeddings/oleObject81.bin"/><Relationship Id="rId11" Type="http://schemas.openxmlformats.org/officeDocument/2006/relationships/image" Target="../media/image76.wmf"/><Relationship Id="rId10" Type="http://schemas.openxmlformats.org/officeDocument/2006/relationships/oleObject" Target="../embeddings/oleObject80.bin"/><Relationship Id="rId1" Type="http://schemas.openxmlformats.org/officeDocument/2006/relationships/oleObject" Target="../embeddings/oleObject76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4.bin"/><Relationship Id="rId8" Type="http://schemas.openxmlformats.org/officeDocument/2006/relationships/image" Target="../media/image89.w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88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87.wmf"/><Relationship Id="rId31" Type="http://schemas.openxmlformats.org/officeDocument/2006/relationships/notesSlide" Target="../notesSlides/notesSlide1.xml"/><Relationship Id="rId30" Type="http://schemas.openxmlformats.org/officeDocument/2006/relationships/vmlDrawing" Target="../drawings/vmlDrawing12.vml"/><Relationship Id="rId3" Type="http://schemas.openxmlformats.org/officeDocument/2006/relationships/oleObject" Target="../embeddings/oleObject91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99.wmf"/><Relationship Id="rId27" Type="http://schemas.openxmlformats.org/officeDocument/2006/relationships/oleObject" Target="../embeddings/oleObject103.bin"/><Relationship Id="rId26" Type="http://schemas.openxmlformats.org/officeDocument/2006/relationships/image" Target="../media/image98.wmf"/><Relationship Id="rId25" Type="http://schemas.openxmlformats.org/officeDocument/2006/relationships/oleObject" Target="../embeddings/oleObject102.bin"/><Relationship Id="rId24" Type="http://schemas.openxmlformats.org/officeDocument/2006/relationships/image" Target="../media/image97.wmf"/><Relationship Id="rId23" Type="http://schemas.openxmlformats.org/officeDocument/2006/relationships/oleObject" Target="../embeddings/oleObject101.bin"/><Relationship Id="rId22" Type="http://schemas.openxmlformats.org/officeDocument/2006/relationships/image" Target="../media/image96.wmf"/><Relationship Id="rId21" Type="http://schemas.openxmlformats.org/officeDocument/2006/relationships/oleObject" Target="../embeddings/oleObject100.bin"/><Relationship Id="rId20" Type="http://schemas.openxmlformats.org/officeDocument/2006/relationships/image" Target="../media/image95.wmf"/><Relationship Id="rId2" Type="http://schemas.openxmlformats.org/officeDocument/2006/relationships/image" Target="../media/image86.wmf"/><Relationship Id="rId19" Type="http://schemas.openxmlformats.org/officeDocument/2006/relationships/oleObject" Target="../embeddings/oleObject99.bin"/><Relationship Id="rId18" Type="http://schemas.openxmlformats.org/officeDocument/2006/relationships/image" Target="../media/image94.wmf"/><Relationship Id="rId17" Type="http://schemas.openxmlformats.org/officeDocument/2006/relationships/oleObject" Target="../embeddings/oleObject98.bin"/><Relationship Id="rId16" Type="http://schemas.openxmlformats.org/officeDocument/2006/relationships/image" Target="../media/image93.wmf"/><Relationship Id="rId15" Type="http://schemas.openxmlformats.org/officeDocument/2006/relationships/oleObject" Target="../embeddings/oleObject97.bin"/><Relationship Id="rId14" Type="http://schemas.openxmlformats.org/officeDocument/2006/relationships/image" Target="../media/image92.wmf"/><Relationship Id="rId13" Type="http://schemas.openxmlformats.org/officeDocument/2006/relationships/oleObject" Target="../embeddings/oleObject96.bin"/><Relationship Id="rId12" Type="http://schemas.openxmlformats.org/officeDocument/2006/relationships/image" Target="../media/image91.wmf"/><Relationship Id="rId11" Type="http://schemas.openxmlformats.org/officeDocument/2006/relationships/oleObject" Target="../embeddings/oleObject95.bin"/><Relationship Id="rId10" Type="http://schemas.openxmlformats.org/officeDocument/2006/relationships/image" Target="../media/image90.wmf"/><Relationship Id="rId1" Type="http://schemas.openxmlformats.org/officeDocument/2006/relationships/oleObject" Target="../embeddings/oleObject90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8.bin"/><Relationship Id="rId8" Type="http://schemas.openxmlformats.org/officeDocument/2006/relationships/image" Target="../media/image103.wmf"/><Relationship Id="rId7" Type="http://schemas.openxmlformats.org/officeDocument/2006/relationships/oleObject" Target="../embeddings/oleObject107.bin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106.bin"/><Relationship Id="rId4" Type="http://schemas.openxmlformats.org/officeDocument/2006/relationships/image" Target="../media/image101.wmf"/><Relationship Id="rId3" Type="http://schemas.openxmlformats.org/officeDocument/2006/relationships/oleObject" Target="../embeddings/oleObject105.bin"/><Relationship Id="rId2" Type="http://schemas.openxmlformats.org/officeDocument/2006/relationships/image" Target="../media/image100.wmf"/><Relationship Id="rId15" Type="http://schemas.openxmlformats.org/officeDocument/2006/relationships/vmlDrawing" Target="../drawings/vmlDrawing13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1.wmf"/><Relationship Id="rId12" Type="http://schemas.openxmlformats.org/officeDocument/2006/relationships/image" Target="../media/image105.wmf"/><Relationship Id="rId11" Type="http://schemas.openxmlformats.org/officeDocument/2006/relationships/oleObject" Target="../embeddings/oleObject109.bin"/><Relationship Id="rId10" Type="http://schemas.openxmlformats.org/officeDocument/2006/relationships/image" Target="../media/image104.wmf"/><Relationship Id="rId1" Type="http://schemas.openxmlformats.org/officeDocument/2006/relationships/oleObject" Target="../embeddings/oleObject104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4.bin"/><Relationship Id="rId8" Type="http://schemas.openxmlformats.org/officeDocument/2006/relationships/image" Target="../media/image109.wmf"/><Relationship Id="rId7" Type="http://schemas.openxmlformats.org/officeDocument/2006/relationships/oleObject" Target="../embeddings/oleObject113.bin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07.wmf"/><Relationship Id="rId3" Type="http://schemas.openxmlformats.org/officeDocument/2006/relationships/oleObject" Target="../embeddings/oleObject111.bin"/><Relationship Id="rId2" Type="http://schemas.openxmlformats.org/officeDocument/2006/relationships/image" Target="../media/image106.wmf"/><Relationship Id="rId14" Type="http://schemas.openxmlformats.org/officeDocument/2006/relationships/vmlDrawing" Target="../drawings/vmlDrawing14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11.wmf"/><Relationship Id="rId11" Type="http://schemas.openxmlformats.org/officeDocument/2006/relationships/oleObject" Target="../embeddings/oleObject115.bin"/><Relationship Id="rId10" Type="http://schemas.openxmlformats.org/officeDocument/2006/relationships/image" Target="../media/image110.wmf"/><Relationship Id="rId1" Type="http://schemas.openxmlformats.org/officeDocument/2006/relationships/oleObject" Target="../embeddings/oleObject110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0.bin"/><Relationship Id="rId8" Type="http://schemas.openxmlformats.org/officeDocument/2006/relationships/image" Target="../media/image115.wmf"/><Relationship Id="rId7" Type="http://schemas.openxmlformats.org/officeDocument/2006/relationships/oleObject" Target="../embeddings/oleObject119.bin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13.wmf"/><Relationship Id="rId3" Type="http://schemas.openxmlformats.org/officeDocument/2006/relationships/oleObject" Target="../embeddings/oleObject117.bin"/><Relationship Id="rId20" Type="http://schemas.openxmlformats.org/officeDocument/2006/relationships/vmlDrawing" Target="../drawings/vmlDrawing15.vml"/><Relationship Id="rId2" Type="http://schemas.openxmlformats.org/officeDocument/2006/relationships/image" Target="../media/image112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99.wmf"/><Relationship Id="rId17" Type="http://schemas.openxmlformats.org/officeDocument/2006/relationships/oleObject" Target="../embeddings/oleObject124.bin"/><Relationship Id="rId16" Type="http://schemas.openxmlformats.org/officeDocument/2006/relationships/image" Target="../media/image119.wmf"/><Relationship Id="rId15" Type="http://schemas.openxmlformats.org/officeDocument/2006/relationships/oleObject" Target="../embeddings/oleObject123.bin"/><Relationship Id="rId14" Type="http://schemas.openxmlformats.org/officeDocument/2006/relationships/image" Target="../media/image118.wmf"/><Relationship Id="rId13" Type="http://schemas.openxmlformats.org/officeDocument/2006/relationships/oleObject" Target="../embeddings/oleObject122.bin"/><Relationship Id="rId12" Type="http://schemas.openxmlformats.org/officeDocument/2006/relationships/image" Target="../media/image117.wmf"/><Relationship Id="rId11" Type="http://schemas.openxmlformats.org/officeDocument/2006/relationships/oleObject" Target="../embeddings/oleObject121.bin"/><Relationship Id="rId10" Type="http://schemas.openxmlformats.org/officeDocument/2006/relationships/image" Target="../media/image116.wmf"/><Relationship Id="rId1" Type="http://schemas.openxmlformats.org/officeDocument/2006/relationships/oleObject" Target="../embeddings/oleObject116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9.bin"/><Relationship Id="rId8" Type="http://schemas.openxmlformats.org/officeDocument/2006/relationships/image" Target="../media/image123.wmf"/><Relationship Id="rId7" Type="http://schemas.openxmlformats.org/officeDocument/2006/relationships/oleObject" Target="../embeddings/oleObject128.bin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21.wmf"/><Relationship Id="rId30" Type="http://schemas.openxmlformats.org/officeDocument/2006/relationships/vmlDrawing" Target="../drawings/vmlDrawing16.vml"/><Relationship Id="rId3" Type="http://schemas.openxmlformats.org/officeDocument/2006/relationships/oleObject" Target="../embeddings/oleObject126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133.wmf"/><Relationship Id="rId27" Type="http://schemas.openxmlformats.org/officeDocument/2006/relationships/oleObject" Target="../embeddings/oleObject138.bin"/><Relationship Id="rId26" Type="http://schemas.openxmlformats.org/officeDocument/2006/relationships/image" Target="../media/image132.wmf"/><Relationship Id="rId25" Type="http://schemas.openxmlformats.org/officeDocument/2006/relationships/oleObject" Target="../embeddings/oleObject137.bin"/><Relationship Id="rId24" Type="http://schemas.openxmlformats.org/officeDocument/2006/relationships/image" Target="../media/image131.wmf"/><Relationship Id="rId23" Type="http://schemas.openxmlformats.org/officeDocument/2006/relationships/oleObject" Target="../embeddings/oleObject136.bin"/><Relationship Id="rId22" Type="http://schemas.openxmlformats.org/officeDocument/2006/relationships/image" Target="../media/image130.wmf"/><Relationship Id="rId21" Type="http://schemas.openxmlformats.org/officeDocument/2006/relationships/oleObject" Target="../embeddings/oleObject135.bin"/><Relationship Id="rId20" Type="http://schemas.openxmlformats.org/officeDocument/2006/relationships/image" Target="../media/image129.wmf"/><Relationship Id="rId2" Type="http://schemas.openxmlformats.org/officeDocument/2006/relationships/image" Target="../media/image120.wmf"/><Relationship Id="rId19" Type="http://schemas.openxmlformats.org/officeDocument/2006/relationships/oleObject" Target="../embeddings/oleObject134.bin"/><Relationship Id="rId18" Type="http://schemas.openxmlformats.org/officeDocument/2006/relationships/image" Target="../media/image128.wmf"/><Relationship Id="rId17" Type="http://schemas.openxmlformats.org/officeDocument/2006/relationships/oleObject" Target="../embeddings/oleObject133.bin"/><Relationship Id="rId16" Type="http://schemas.openxmlformats.org/officeDocument/2006/relationships/image" Target="../media/image127.wmf"/><Relationship Id="rId15" Type="http://schemas.openxmlformats.org/officeDocument/2006/relationships/oleObject" Target="../embeddings/oleObject132.bin"/><Relationship Id="rId14" Type="http://schemas.openxmlformats.org/officeDocument/2006/relationships/image" Target="../media/image126.wmf"/><Relationship Id="rId13" Type="http://schemas.openxmlformats.org/officeDocument/2006/relationships/oleObject" Target="../embeddings/oleObject131.bin"/><Relationship Id="rId12" Type="http://schemas.openxmlformats.org/officeDocument/2006/relationships/image" Target="../media/image125.wmf"/><Relationship Id="rId11" Type="http://schemas.openxmlformats.org/officeDocument/2006/relationships/oleObject" Target="../embeddings/oleObject130.bin"/><Relationship Id="rId10" Type="http://schemas.openxmlformats.org/officeDocument/2006/relationships/image" Target="../media/image124.wmf"/><Relationship Id="rId1" Type="http://schemas.openxmlformats.org/officeDocument/2006/relationships/oleObject" Target="../embeddings/oleObject12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35.wmf"/><Relationship Id="rId3" Type="http://schemas.openxmlformats.org/officeDocument/2006/relationships/oleObject" Target="../embeddings/oleObject140.bin"/><Relationship Id="rId2" Type="http://schemas.openxmlformats.org/officeDocument/2006/relationships/image" Target="../media/image134.wmf"/><Relationship Id="rId1" Type="http://schemas.openxmlformats.org/officeDocument/2006/relationships/oleObject" Target="../embeddings/oleObject139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40.wmf"/><Relationship Id="rId7" Type="http://schemas.openxmlformats.org/officeDocument/2006/relationships/oleObject" Target="../embeddings/oleObject145.bin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44.bin"/><Relationship Id="rId4" Type="http://schemas.openxmlformats.org/officeDocument/2006/relationships/image" Target="../media/image138.wmf"/><Relationship Id="rId3" Type="http://schemas.openxmlformats.org/officeDocument/2006/relationships/oleObject" Target="../embeddings/oleObject143.bin"/><Relationship Id="rId2" Type="http://schemas.openxmlformats.org/officeDocument/2006/relationships/image" Target="../media/image137.wmf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14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42.wmf"/><Relationship Id="rId3" Type="http://schemas.openxmlformats.org/officeDocument/2006/relationships/oleObject" Target="../embeddings/oleObject147.bin"/><Relationship Id="rId2" Type="http://schemas.openxmlformats.org/officeDocument/2006/relationships/image" Target="../media/image141.wmf"/><Relationship Id="rId1" Type="http://schemas.openxmlformats.org/officeDocument/2006/relationships/oleObject" Target="../embeddings/oleObject146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3.bin"/><Relationship Id="rId8" Type="http://schemas.openxmlformats.org/officeDocument/2006/relationships/image" Target="../media/image146.wmf"/><Relationship Id="rId7" Type="http://schemas.openxmlformats.org/officeDocument/2006/relationships/oleObject" Target="../embeddings/oleObject152.bin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51.bin"/><Relationship Id="rId4" Type="http://schemas.openxmlformats.org/officeDocument/2006/relationships/image" Target="../media/image139.wmf"/><Relationship Id="rId3" Type="http://schemas.openxmlformats.org/officeDocument/2006/relationships/oleObject" Target="../embeddings/oleObject150.bin"/><Relationship Id="rId22" Type="http://schemas.openxmlformats.org/officeDocument/2006/relationships/vmlDrawing" Target="../drawings/vmlDrawing20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52.wmf"/><Relationship Id="rId2" Type="http://schemas.openxmlformats.org/officeDocument/2006/relationships/image" Target="../media/image144.wmf"/><Relationship Id="rId19" Type="http://schemas.openxmlformats.org/officeDocument/2006/relationships/oleObject" Target="../embeddings/oleObject158.bin"/><Relationship Id="rId18" Type="http://schemas.openxmlformats.org/officeDocument/2006/relationships/image" Target="../media/image151.wmf"/><Relationship Id="rId17" Type="http://schemas.openxmlformats.org/officeDocument/2006/relationships/oleObject" Target="../embeddings/oleObject157.bin"/><Relationship Id="rId16" Type="http://schemas.openxmlformats.org/officeDocument/2006/relationships/image" Target="../media/image150.wmf"/><Relationship Id="rId15" Type="http://schemas.openxmlformats.org/officeDocument/2006/relationships/oleObject" Target="../embeddings/oleObject156.bin"/><Relationship Id="rId14" Type="http://schemas.openxmlformats.org/officeDocument/2006/relationships/image" Target="../media/image149.wmf"/><Relationship Id="rId13" Type="http://schemas.openxmlformats.org/officeDocument/2006/relationships/oleObject" Target="../embeddings/oleObject155.bin"/><Relationship Id="rId12" Type="http://schemas.openxmlformats.org/officeDocument/2006/relationships/image" Target="../media/image148.wmf"/><Relationship Id="rId11" Type="http://schemas.openxmlformats.org/officeDocument/2006/relationships/oleObject" Target="../embeddings/oleObject154.bin"/><Relationship Id="rId10" Type="http://schemas.openxmlformats.org/officeDocument/2006/relationships/image" Target="../media/image147.wmf"/><Relationship Id="rId1" Type="http://schemas.openxmlformats.org/officeDocument/2006/relationships/oleObject" Target="../embeddings/oleObject149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3.bin"/><Relationship Id="rId8" Type="http://schemas.openxmlformats.org/officeDocument/2006/relationships/image" Target="../media/image154.wmf"/><Relationship Id="rId7" Type="http://schemas.openxmlformats.org/officeDocument/2006/relationships/oleObject" Target="../embeddings/oleObject162.bin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45.wmf"/><Relationship Id="rId3" Type="http://schemas.openxmlformats.org/officeDocument/2006/relationships/oleObject" Target="../embeddings/oleObject160.bin"/><Relationship Id="rId2" Type="http://schemas.openxmlformats.org/officeDocument/2006/relationships/image" Target="../media/image153.wmf"/><Relationship Id="rId16" Type="http://schemas.openxmlformats.org/officeDocument/2006/relationships/vmlDrawing" Target="../drawings/vmlDrawing21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57.wmf"/><Relationship Id="rId13" Type="http://schemas.openxmlformats.org/officeDocument/2006/relationships/oleObject" Target="../embeddings/oleObject165.bin"/><Relationship Id="rId12" Type="http://schemas.openxmlformats.org/officeDocument/2006/relationships/image" Target="../media/image156.wmf"/><Relationship Id="rId11" Type="http://schemas.openxmlformats.org/officeDocument/2006/relationships/oleObject" Target="../embeddings/oleObject164.bin"/><Relationship Id="rId10" Type="http://schemas.openxmlformats.org/officeDocument/2006/relationships/image" Target="../media/image155.wmf"/><Relationship Id="rId1" Type="http://schemas.openxmlformats.org/officeDocument/2006/relationships/oleObject" Target="../embeddings/oleObject159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0.bin"/><Relationship Id="rId8" Type="http://schemas.openxmlformats.org/officeDocument/2006/relationships/image" Target="../media/image161.wmf"/><Relationship Id="rId7" Type="http://schemas.openxmlformats.org/officeDocument/2006/relationships/oleObject" Target="../embeddings/oleObject169.bin"/><Relationship Id="rId6" Type="http://schemas.openxmlformats.org/officeDocument/2006/relationships/image" Target="../media/image160.wmf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159.wmf"/><Relationship Id="rId3" Type="http://schemas.openxmlformats.org/officeDocument/2006/relationships/oleObject" Target="../embeddings/oleObject167.bin"/><Relationship Id="rId2" Type="http://schemas.openxmlformats.org/officeDocument/2006/relationships/image" Target="../media/image158.wmf"/><Relationship Id="rId14" Type="http://schemas.openxmlformats.org/officeDocument/2006/relationships/vmlDrawing" Target="../drawings/vmlDrawing2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39.wmf"/><Relationship Id="rId11" Type="http://schemas.openxmlformats.org/officeDocument/2006/relationships/oleObject" Target="../embeddings/oleObject171.bin"/><Relationship Id="rId10" Type="http://schemas.openxmlformats.org/officeDocument/2006/relationships/image" Target="../media/image138.wmf"/><Relationship Id="rId1" Type="http://schemas.openxmlformats.org/officeDocument/2006/relationships/oleObject" Target="../embeddings/oleObject16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6" name="矩形 141315"/>
          <p:cNvSpPr/>
          <p:nvPr/>
        </p:nvSpPr>
        <p:spPr>
          <a:xfrm>
            <a:off x="0" y="512763"/>
            <a:ext cx="84963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sz="3200" dirty="0">
                <a:solidFill>
                  <a:srgbClr val="990033"/>
                </a:solidFill>
                <a:latin typeface="Times New Roman" panose="02020603050405020304" pitchFamily="18" charset="0"/>
              </a:rPr>
              <a:t>第</a:t>
            </a:r>
            <a:r>
              <a:rPr lang="en-US" altLang="zh-CN" sz="3200">
                <a:solidFill>
                  <a:srgbClr val="990033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3200" dirty="0">
                <a:solidFill>
                  <a:srgbClr val="990033"/>
                </a:solidFill>
                <a:latin typeface="Times New Roman" panose="02020603050405020304" pitchFamily="18" charset="0"/>
              </a:rPr>
              <a:t>章    狭义相对论</a:t>
            </a:r>
            <a:endParaRPr lang="zh-CN" altLang="en-US" sz="3200" dirty="0">
              <a:solidFill>
                <a:srgbClr val="9900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1317" name="矩形 141316"/>
          <p:cNvSpPr/>
          <p:nvPr/>
        </p:nvSpPr>
        <p:spPr>
          <a:xfrm>
            <a:off x="3003550" y="1038225"/>
            <a:ext cx="46640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Special Relativity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141323" name="矩形 141322"/>
          <p:cNvSpPr/>
          <p:nvPr/>
        </p:nvSpPr>
        <p:spPr>
          <a:xfrm>
            <a:off x="1836738" y="1844675"/>
            <a:ext cx="66976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第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节    伽利略变换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1324" name="矩形 141323"/>
          <p:cNvSpPr/>
          <p:nvPr/>
        </p:nvSpPr>
        <p:spPr>
          <a:xfrm>
            <a:off x="1836738" y="2420938"/>
            <a:ext cx="6121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第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节    狭义相对论基本原理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1325" name="矩形 141324"/>
          <p:cNvSpPr/>
          <p:nvPr/>
        </p:nvSpPr>
        <p:spPr>
          <a:xfrm>
            <a:off x="1835150" y="3017838"/>
            <a:ext cx="62801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第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节    洛仑兹变换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1326" name="矩形 141325"/>
          <p:cNvSpPr/>
          <p:nvPr/>
        </p:nvSpPr>
        <p:spPr>
          <a:xfrm>
            <a:off x="1831975" y="3608388"/>
            <a:ext cx="60531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第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节    洛仑兹速度变换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1327" name="矩形 141326"/>
          <p:cNvSpPr/>
          <p:nvPr/>
        </p:nvSpPr>
        <p:spPr>
          <a:xfrm>
            <a:off x="1836738" y="4205288"/>
            <a:ext cx="7848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第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节    时间的相对性和长度的相对性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1328" name="矩形 141327"/>
          <p:cNvSpPr/>
          <p:nvPr/>
        </p:nvSpPr>
        <p:spPr>
          <a:xfrm>
            <a:off x="1836738" y="4781550"/>
            <a:ext cx="64801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第</a:t>
            </a:r>
            <a:r>
              <a:rPr lang="en-US" altLang="zh-CN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</a:rPr>
              <a:t>节    狭义相对论动力学简介  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6" grpId="0"/>
      <p:bldP spid="141317" grpId="0"/>
      <p:bldP spid="141323" grpId="0"/>
      <p:bldP spid="141324" grpId="0"/>
      <p:bldP spid="141325" grpId="0"/>
      <p:bldP spid="141326" grpId="0"/>
      <p:bldP spid="141327" grpId="0"/>
      <p:bldP spid="1413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9076" name="文本框 259075"/>
          <p:cNvSpPr txBox="1"/>
          <p:nvPr/>
        </p:nvSpPr>
        <p:spPr>
          <a:xfrm>
            <a:off x="0" y="358775"/>
            <a:ext cx="8604250" cy="5794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/>
            <a:r>
              <a:rPr lang="zh-CN" altLang="en-US" sz="3200" dirty="0">
                <a:latin typeface="Times New Roman" panose="02020603050405020304" pitchFamily="18" charset="0"/>
              </a:rPr>
              <a:t>第</a:t>
            </a:r>
            <a:r>
              <a:rPr lang="en-US" altLang="zh-CN" sz="3200">
                <a:latin typeface="Times New Roman" panose="02020603050405020304" pitchFamily="18" charset="0"/>
              </a:rPr>
              <a:t>1</a:t>
            </a:r>
            <a:r>
              <a:rPr lang="zh-CN" altLang="en-US" sz="3200" dirty="0">
                <a:latin typeface="Times New Roman" panose="02020603050405020304" pitchFamily="18" charset="0"/>
              </a:rPr>
              <a:t>节    伽利略变换</a:t>
            </a:r>
            <a:endParaRPr lang="zh-CN" altLang="en-US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9078" name="文本框 259077"/>
          <p:cNvSpPr txBox="1"/>
          <p:nvPr/>
        </p:nvSpPr>
        <p:spPr>
          <a:xfrm>
            <a:off x="684213" y="1912938"/>
            <a:ext cx="3124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任意 </a:t>
            </a:r>
            <a:r>
              <a:rPr lang="en-US" altLang="zh-CN" sz="3200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时刻：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9079" name="左大括号 259078"/>
          <p:cNvSpPr/>
          <p:nvPr/>
        </p:nvSpPr>
        <p:spPr>
          <a:xfrm>
            <a:off x="1835150" y="2781300"/>
            <a:ext cx="190500" cy="1536700"/>
          </a:xfrm>
          <a:prstGeom prst="leftBrace">
            <a:avLst>
              <a:gd name="adj1" fmla="val 67222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59080" name="对象 259079"/>
          <p:cNvGraphicFramePr/>
          <p:nvPr/>
        </p:nvGraphicFramePr>
        <p:xfrm>
          <a:off x="2060575" y="2479675"/>
          <a:ext cx="1838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409065" imgH="342900" progId="Equation.3">
                  <p:embed/>
                </p:oleObj>
              </mc:Choice>
              <mc:Fallback>
                <p:oleObj name="" r:id="rId1" imgW="1409065" imgH="3429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60575" y="2479675"/>
                        <a:ext cx="1838325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1" name="对象 259080"/>
          <p:cNvGraphicFramePr/>
          <p:nvPr/>
        </p:nvGraphicFramePr>
        <p:xfrm>
          <a:off x="2060575" y="2967038"/>
          <a:ext cx="11176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838200" imgH="419100" progId="Equation.3">
                  <p:embed/>
                </p:oleObj>
              </mc:Choice>
              <mc:Fallback>
                <p:oleObj name="" r:id="rId3" imgW="838200" imgH="4191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60575" y="2967038"/>
                        <a:ext cx="1117600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2" name="对象 259081"/>
          <p:cNvGraphicFramePr/>
          <p:nvPr/>
        </p:nvGraphicFramePr>
        <p:xfrm>
          <a:off x="2124075" y="3514725"/>
          <a:ext cx="10541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723900" imgH="368300" progId="Equation.3">
                  <p:embed/>
                </p:oleObj>
              </mc:Choice>
              <mc:Fallback>
                <p:oleObj name="" r:id="rId5" imgW="723900" imgH="3683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24075" y="3514725"/>
                        <a:ext cx="1054100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3" name="对象 259082"/>
          <p:cNvGraphicFramePr/>
          <p:nvPr/>
        </p:nvGraphicFramePr>
        <p:xfrm>
          <a:off x="2205038" y="4046538"/>
          <a:ext cx="99853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7" imgW="647700" imgH="342900" progId="Equation.3">
                  <p:embed/>
                </p:oleObj>
              </mc:Choice>
              <mc:Fallback>
                <p:oleObj name="" r:id="rId7" imgW="647700" imgH="3429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05038" y="4046538"/>
                        <a:ext cx="998537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9084" name="组合 259083"/>
          <p:cNvGrpSpPr/>
          <p:nvPr/>
        </p:nvGrpSpPr>
        <p:grpSpPr>
          <a:xfrm>
            <a:off x="4643438" y="2012950"/>
            <a:ext cx="4267200" cy="2713038"/>
            <a:chOff x="2880" y="403"/>
            <a:chExt cx="2688" cy="1709"/>
          </a:xfrm>
        </p:grpSpPr>
        <p:sp>
          <p:nvSpPr>
            <p:cNvPr id="259085" name="直接连接符 259084"/>
            <p:cNvSpPr/>
            <p:nvPr/>
          </p:nvSpPr>
          <p:spPr>
            <a:xfrm>
              <a:off x="3120" y="1843"/>
              <a:ext cx="244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9086" name="直接连接符 259085"/>
            <p:cNvSpPr/>
            <p:nvPr/>
          </p:nvSpPr>
          <p:spPr>
            <a:xfrm flipV="1">
              <a:off x="3120" y="547"/>
              <a:ext cx="0" cy="12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9087" name="直接连接符 259086"/>
            <p:cNvSpPr/>
            <p:nvPr/>
          </p:nvSpPr>
          <p:spPr>
            <a:xfrm flipV="1">
              <a:off x="3888" y="547"/>
              <a:ext cx="0" cy="12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259088" name="组合 259087"/>
            <p:cNvGrpSpPr/>
            <p:nvPr/>
          </p:nvGrpSpPr>
          <p:grpSpPr>
            <a:xfrm>
              <a:off x="3888" y="931"/>
              <a:ext cx="1344" cy="912"/>
              <a:chOff x="4224" y="816"/>
              <a:chExt cx="1344" cy="912"/>
            </a:xfrm>
          </p:grpSpPr>
          <p:sp>
            <p:nvSpPr>
              <p:cNvPr id="259089" name="矩形 259088"/>
              <p:cNvSpPr/>
              <p:nvPr/>
            </p:nvSpPr>
            <p:spPr>
              <a:xfrm>
                <a:off x="4224" y="816"/>
                <a:ext cx="1344" cy="720"/>
              </a:xfrm>
              <a:prstGeom prst="rect">
                <a:avLst/>
              </a:prstGeom>
              <a:solidFill>
                <a:srgbClr val="808000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9090" name="椭圆 259089"/>
              <p:cNvSpPr/>
              <p:nvPr/>
            </p:nvSpPr>
            <p:spPr>
              <a:xfrm>
                <a:off x="4464" y="1536"/>
                <a:ext cx="192" cy="192"/>
              </a:xfrm>
              <a:prstGeom prst="ellipse">
                <a:avLst/>
              </a:prstGeom>
              <a:solidFill>
                <a:srgbClr val="FF660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9091" name="椭圆 259090"/>
              <p:cNvSpPr/>
              <p:nvPr/>
            </p:nvSpPr>
            <p:spPr>
              <a:xfrm>
                <a:off x="5088" y="1536"/>
                <a:ext cx="192" cy="192"/>
              </a:xfrm>
              <a:prstGeom prst="ellipse">
                <a:avLst/>
              </a:prstGeom>
              <a:solidFill>
                <a:srgbClr val="FF660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59092" name="直接连接符 259091"/>
            <p:cNvSpPr/>
            <p:nvPr/>
          </p:nvSpPr>
          <p:spPr>
            <a:xfrm>
              <a:off x="3888" y="739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59093" name="文本框 259092"/>
            <p:cNvSpPr txBox="1"/>
            <p:nvPr/>
          </p:nvSpPr>
          <p:spPr>
            <a:xfrm>
              <a:off x="2880" y="1776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i="1">
                  <a:latin typeface="Times New Roman" panose="02020603050405020304" pitchFamily="18" charset="0"/>
                </a:rPr>
                <a:t>o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59094" name="文本框 259093"/>
            <p:cNvSpPr txBox="1"/>
            <p:nvPr/>
          </p:nvSpPr>
          <p:spPr>
            <a:xfrm>
              <a:off x="5324" y="1747"/>
              <a:ext cx="24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>
                  <a:latin typeface="Times New Roman" panose="02020603050405020304" pitchFamily="18" charset="0"/>
                </a:rPr>
                <a:t>x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59095" name="文本框 259094"/>
            <p:cNvSpPr txBox="1"/>
            <p:nvPr/>
          </p:nvSpPr>
          <p:spPr>
            <a:xfrm>
              <a:off x="2880" y="451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y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59096" name="文本框 259095"/>
            <p:cNvSpPr txBox="1"/>
            <p:nvPr/>
          </p:nvSpPr>
          <p:spPr>
            <a:xfrm>
              <a:off x="3600" y="451"/>
              <a:ext cx="2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y'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59097" name="文本框 259096"/>
            <p:cNvSpPr txBox="1"/>
            <p:nvPr/>
          </p:nvSpPr>
          <p:spPr>
            <a:xfrm>
              <a:off x="3944" y="403"/>
              <a:ext cx="24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600" i="1">
                  <a:latin typeface="Times New Roman" panose="02020603050405020304" pitchFamily="18" charset="0"/>
                </a:rPr>
                <a:t>v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59098" name="椭圆 259097"/>
            <p:cNvSpPr/>
            <p:nvPr/>
          </p:nvSpPr>
          <p:spPr>
            <a:xfrm>
              <a:off x="4512" y="1219"/>
              <a:ext cx="96" cy="96"/>
            </a:xfrm>
            <a:prstGeom prst="ellipse">
              <a:avLst/>
            </a:prstGeom>
            <a:solidFill>
              <a:srgbClr val="66CC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9099" name="文本框 259098"/>
            <p:cNvSpPr txBox="1"/>
            <p:nvPr/>
          </p:nvSpPr>
          <p:spPr>
            <a:xfrm>
              <a:off x="3552" y="1776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i="1">
                  <a:latin typeface="Times New Roman" panose="02020603050405020304" pitchFamily="18" charset="0"/>
                </a:rPr>
                <a:t>o'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59100" name="文本框 259099"/>
            <p:cNvSpPr txBox="1"/>
            <p:nvPr/>
          </p:nvSpPr>
          <p:spPr>
            <a:xfrm>
              <a:off x="3984" y="960"/>
              <a:ext cx="37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´</a:t>
              </a:r>
              <a:endParaRPr lang="en-US" altLang="zh-CN" sz="320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59101" name="直接连接符 259100"/>
          <p:cNvSpPr/>
          <p:nvPr/>
        </p:nvSpPr>
        <p:spPr>
          <a:xfrm>
            <a:off x="7310438" y="3506788"/>
            <a:ext cx="0" cy="838200"/>
          </a:xfrm>
          <a:prstGeom prst="line">
            <a:avLst/>
          </a:prstGeom>
          <a:ln w="3810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grpSp>
        <p:nvGrpSpPr>
          <p:cNvPr id="259102" name="组合 259101"/>
          <p:cNvGrpSpPr/>
          <p:nvPr/>
        </p:nvGrpSpPr>
        <p:grpSpPr>
          <a:xfrm>
            <a:off x="5024438" y="4344988"/>
            <a:ext cx="2286000" cy="762000"/>
            <a:chOff x="3120" y="1872"/>
            <a:chExt cx="1440" cy="480"/>
          </a:xfrm>
        </p:grpSpPr>
        <p:sp>
          <p:nvSpPr>
            <p:cNvPr id="259103" name="直接连接符 259102"/>
            <p:cNvSpPr/>
            <p:nvPr/>
          </p:nvSpPr>
          <p:spPr>
            <a:xfrm>
              <a:off x="3120" y="1872"/>
              <a:ext cx="0" cy="48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9104" name="直接连接符 259103"/>
            <p:cNvSpPr/>
            <p:nvPr/>
          </p:nvSpPr>
          <p:spPr>
            <a:xfrm>
              <a:off x="4560" y="1872"/>
              <a:ext cx="0" cy="48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9105" name="组合 259104"/>
          <p:cNvGrpSpPr/>
          <p:nvPr/>
        </p:nvGrpSpPr>
        <p:grpSpPr>
          <a:xfrm>
            <a:off x="5024438" y="4649788"/>
            <a:ext cx="2286000" cy="579437"/>
            <a:chOff x="3120" y="2016"/>
            <a:chExt cx="1440" cy="365"/>
          </a:xfrm>
        </p:grpSpPr>
        <p:grpSp>
          <p:nvGrpSpPr>
            <p:cNvPr id="259106" name="组合 259105"/>
            <p:cNvGrpSpPr/>
            <p:nvPr/>
          </p:nvGrpSpPr>
          <p:grpSpPr>
            <a:xfrm>
              <a:off x="3120" y="2256"/>
              <a:ext cx="1440" cy="0"/>
              <a:chOff x="3120" y="2256"/>
              <a:chExt cx="1440" cy="0"/>
            </a:xfrm>
          </p:grpSpPr>
          <p:sp>
            <p:nvSpPr>
              <p:cNvPr id="259107" name="直接连接符 259106"/>
              <p:cNvSpPr/>
              <p:nvPr/>
            </p:nvSpPr>
            <p:spPr>
              <a:xfrm>
                <a:off x="3120" y="2256"/>
                <a:ext cx="57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259108" name="直接连接符 259107"/>
              <p:cNvSpPr/>
              <p:nvPr/>
            </p:nvSpPr>
            <p:spPr>
              <a:xfrm flipH="1">
                <a:off x="3984" y="2256"/>
                <a:ext cx="57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</p:grpSp>
        <p:sp>
          <p:nvSpPr>
            <p:cNvPr id="259109" name="文本框 259108"/>
            <p:cNvSpPr txBox="1"/>
            <p:nvPr/>
          </p:nvSpPr>
          <p:spPr>
            <a:xfrm>
              <a:off x="3744" y="2016"/>
              <a:ext cx="24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en-US" altLang="zh-CN" sz="3200" i="1">
                  <a:latin typeface="Times New Roman" panose="02020603050405020304" pitchFamily="18" charset="0"/>
                </a:rPr>
                <a:t>x</a:t>
              </a:r>
              <a:endParaRPr lang="en-US" altLang="zh-CN" sz="32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259110" name="文本框 259109"/>
          <p:cNvSpPr txBox="1"/>
          <p:nvPr/>
        </p:nvSpPr>
        <p:spPr>
          <a:xfrm>
            <a:off x="6608763" y="4192588"/>
            <a:ext cx="7778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en-US" altLang="zh-CN" sz="3200" i="1">
                <a:latin typeface="Times New Roman" panose="02020603050405020304" pitchFamily="18" charset="0"/>
              </a:rPr>
              <a:t>x</a:t>
            </a:r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´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grpSp>
        <p:nvGrpSpPr>
          <p:cNvPr id="259111" name="组合 259110"/>
          <p:cNvGrpSpPr/>
          <p:nvPr/>
        </p:nvGrpSpPr>
        <p:grpSpPr>
          <a:xfrm>
            <a:off x="6243638" y="4268788"/>
            <a:ext cx="1066800" cy="457200"/>
            <a:chOff x="3888" y="1824"/>
            <a:chExt cx="672" cy="288"/>
          </a:xfrm>
        </p:grpSpPr>
        <p:sp>
          <p:nvSpPr>
            <p:cNvPr id="259112" name="直接连接符 259111"/>
            <p:cNvSpPr/>
            <p:nvPr/>
          </p:nvSpPr>
          <p:spPr>
            <a:xfrm>
              <a:off x="3888" y="1824"/>
              <a:ext cx="0" cy="2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9113" name="直接连接符 259112"/>
            <p:cNvSpPr/>
            <p:nvPr/>
          </p:nvSpPr>
          <p:spPr>
            <a:xfrm>
              <a:off x="3888" y="196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59114" name="直接连接符 259113"/>
            <p:cNvSpPr/>
            <p:nvPr/>
          </p:nvSpPr>
          <p:spPr>
            <a:xfrm flipH="1">
              <a:off x="4272" y="1968"/>
              <a:ext cx="2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</p:grpSp>
      <p:sp>
        <p:nvSpPr>
          <p:cNvPr id="259115" name="直接连接符 259114"/>
          <p:cNvSpPr/>
          <p:nvPr/>
        </p:nvSpPr>
        <p:spPr>
          <a:xfrm>
            <a:off x="5024438" y="4040188"/>
            <a:ext cx="1219200" cy="0"/>
          </a:xfrm>
          <a:prstGeom prst="line">
            <a:avLst/>
          </a:prstGeom>
          <a:ln w="19050" cap="flat" cmpd="sng">
            <a:solidFill>
              <a:srgbClr val="000066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259116" name="文本框 259115"/>
          <p:cNvSpPr txBox="1"/>
          <p:nvPr/>
        </p:nvSpPr>
        <p:spPr>
          <a:xfrm>
            <a:off x="5389563" y="3506788"/>
            <a:ext cx="8540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en-US" altLang="zh-CN" sz="3200" i="1" err="1">
                <a:latin typeface="Times New Roman" panose="02020603050405020304" pitchFamily="18" charset="0"/>
              </a:rPr>
              <a:t>vt</a:t>
            </a:r>
            <a:endParaRPr lang="en-US" altLang="zh-CN" sz="3200" i="1">
              <a:latin typeface="Times New Roman" panose="02020603050405020304" pitchFamily="18" charset="0"/>
            </a:endParaRPr>
          </a:p>
        </p:txBody>
      </p:sp>
      <p:sp>
        <p:nvSpPr>
          <p:cNvPr id="259117" name="直接连接符 259116"/>
          <p:cNvSpPr/>
          <p:nvPr/>
        </p:nvSpPr>
        <p:spPr>
          <a:xfrm>
            <a:off x="5024438" y="3430588"/>
            <a:ext cx="22098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graphicFrame>
        <p:nvGraphicFramePr>
          <p:cNvPr id="259118" name="对象 259117"/>
          <p:cNvGraphicFramePr/>
          <p:nvPr/>
        </p:nvGraphicFramePr>
        <p:xfrm>
          <a:off x="5784850" y="3033713"/>
          <a:ext cx="3714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9" imgW="317500" imgH="418465" progId="Equation.3">
                  <p:embed/>
                </p:oleObj>
              </mc:Choice>
              <mc:Fallback>
                <p:oleObj name="" r:id="rId9" imgW="317500" imgH="41846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84850" y="3033713"/>
                        <a:ext cx="37147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119" name="文本框 259118"/>
          <p:cNvSpPr txBox="1"/>
          <p:nvPr/>
        </p:nvSpPr>
        <p:spPr>
          <a:xfrm>
            <a:off x="5024438" y="2439988"/>
            <a:ext cx="609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en-US" altLang="zh-CN" i="1">
                <a:latin typeface="Times New Roman" panose="02020603050405020304" pitchFamily="18" charset="0"/>
              </a:rPr>
              <a:t>S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59120" name="左大括号 259119"/>
          <p:cNvSpPr/>
          <p:nvPr/>
        </p:nvSpPr>
        <p:spPr>
          <a:xfrm>
            <a:off x="2632075" y="4948238"/>
            <a:ext cx="152400" cy="1636712"/>
          </a:xfrm>
          <a:prstGeom prst="leftBrace">
            <a:avLst>
              <a:gd name="adj1" fmla="val 89496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graphicFrame>
        <p:nvGraphicFramePr>
          <p:cNvPr id="259121" name="对象 259120"/>
          <p:cNvGraphicFramePr/>
          <p:nvPr/>
        </p:nvGraphicFramePr>
        <p:xfrm>
          <a:off x="2874963" y="4821238"/>
          <a:ext cx="1697037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1" imgW="723900" imgH="228600" progId="Equation.3">
                  <p:embed/>
                </p:oleObj>
              </mc:Choice>
              <mc:Fallback>
                <p:oleObj name="" r:id="rId11" imgW="723900" imgH="2286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74963" y="4821238"/>
                        <a:ext cx="1697037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122" name="对象 259121"/>
          <p:cNvGraphicFramePr/>
          <p:nvPr/>
        </p:nvGraphicFramePr>
        <p:xfrm>
          <a:off x="2843213" y="5446713"/>
          <a:ext cx="122713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3" imgW="495300" imgH="482600" progId="Equation.3">
                  <p:embed/>
                </p:oleObj>
              </mc:Choice>
              <mc:Fallback>
                <p:oleObj name="" r:id="rId13" imgW="495300" imgH="4826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43213" y="5446713"/>
                        <a:ext cx="1227137" cy="1295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126" name="对象 259125"/>
          <p:cNvGraphicFramePr/>
          <p:nvPr/>
        </p:nvGraphicFramePr>
        <p:xfrm>
          <a:off x="6156325" y="5645150"/>
          <a:ext cx="1223963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5" imgW="405765" imgH="177800" progId="Equation.3">
                  <p:embed/>
                </p:oleObj>
              </mc:Choice>
              <mc:Fallback>
                <p:oleObj name="" r:id="rId15" imgW="405765" imgH="1778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56325" y="5645150"/>
                        <a:ext cx="1223963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129" name="文本框 259128"/>
          <p:cNvSpPr txBox="1"/>
          <p:nvPr/>
        </p:nvSpPr>
        <p:spPr>
          <a:xfrm>
            <a:off x="1187450" y="2779713"/>
            <a:ext cx="611188" cy="187325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坐标变换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59130" name="文本框 259129"/>
          <p:cNvSpPr txBox="1"/>
          <p:nvPr/>
        </p:nvSpPr>
        <p:spPr>
          <a:xfrm>
            <a:off x="2098675" y="5014913"/>
            <a:ext cx="611188" cy="1684337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速度变换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59132" name="矩形标注 259131"/>
          <p:cNvSpPr/>
          <p:nvPr/>
        </p:nvSpPr>
        <p:spPr>
          <a:xfrm>
            <a:off x="611188" y="4437063"/>
            <a:ext cx="3600450" cy="411162"/>
          </a:xfrm>
          <a:prstGeom prst="wedgeRectCallout">
            <a:avLst>
              <a:gd name="adj1" fmla="val -6616"/>
              <a:gd name="adj2" fmla="val 244208"/>
            </a:avLst>
          </a:prstGeom>
          <a:solidFill>
            <a:srgbClr val="99FFCC"/>
          </a:solidFill>
          <a:ln w="952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( </a:t>
            </a:r>
            <a:r>
              <a:rPr lang="zh-CN" altLang="en-US" sz="2400" dirty="0">
                <a:latin typeface="Times New Roman" panose="02020603050405020304" pitchFamily="18" charset="0"/>
              </a:rPr>
              <a:t>经典的速度叠加原理 </a:t>
            </a:r>
            <a:r>
              <a:rPr lang="en-US" altLang="zh-CN" sz="2400">
                <a:latin typeface="Times New Roman" panose="02020603050405020304" pitchFamily="18" charset="0"/>
              </a:rPr>
              <a:t>) 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59134" name="矩形 259133"/>
          <p:cNvSpPr/>
          <p:nvPr/>
        </p:nvSpPr>
        <p:spPr>
          <a:xfrm>
            <a:off x="7178675" y="4437063"/>
            <a:ext cx="17859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en-US" altLang="zh-CN" sz="3600">
                <a:latin typeface="Times New Roman" panose="02020603050405020304" pitchFamily="18" charset="0"/>
              </a:rPr>
              <a:t>(</a:t>
            </a:r>
            <a:r>
              <a:rPr lang="en-US" altLang="zh-CN" sz="3600" i="1">
                <a:latin typeface="Times New Roman" panose="02020603050405020304" pitchFamily="18" charset="0"/>
              </a:rPr>
              <a:t>v </a:t>
            </a:r>
            <a:r>
              <a:rPr lang="zh-CN" altLang="en-US" dirty="0">
                <a:latin typeface="Times New Roman" panose="02020603050405020304" pitchFamily="18" charset="0"/>
              </a:rPr>
              <a:t>恒定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pic>
        <p:nvPicPr>
          <p:cNvPr id="259135" name="图片 259134" descr="JLL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08850" y="765175"/>
            <a:ext cx="1300163" cy="1747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9136" name="文本框 259135"/>
          <p:cNvSpPr txBox="1"/>
          <p:nvPr/>
        </p:nvSpPr>
        <p:spPr>
          <a:xfrm>
            <a:off x="2309813" y="822325"/>
            <a:ext cx="5862637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Galilean Transformations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  <p:grpSp>
        <p:nvGrpSpPr>
          <p:cNvPr id="259142" name="组合 259141"/>
          <p:cNvGrpSpPr/>
          <p:nvPr/>
        </p:nvGrpSpPr>
        <p:grpSpPr>
          <a:xfrm>
            <a:off x="684213" y="1341438"/>
            <a:ext cx="5353050" cy="579437"/>
            <a:chOff x="431" y="845"/>
            <a:chExt cx="3372" cy="365"/>
          </a:xfrm>
        </p:grpSpPr>
        <p:sp>
          <p:nvSpPr>
            <p:cNvPr id="259077" name="文本框 259076"/>
            <p:cNvSpPr txBox="1"/>
            <p:nvPr/>
          </p:nvSpPr>
          <p:spPr>
            <a:xfrm>
              <a:off x="431" y="845"/>
              <a:ext cx="33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/>
              <a:r>
                <a:rPr lang="zh-CN" altLang="en-US" dirty="0">
                  <a:latin typeface="Times New Roman" panose="02020603050405020304" pitchFamily="18" charset="0"/>
                </a:rPr>
                <a:t>设 </a:t>
              </a:r>
              <a:r>
                <a:rPr lang="en-US" altLang="zh-CN" sz="3200" i="1"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0</a:t>
              </a:r>
              <a:r>
                <a:rPr lang="en-US" altLang="zh-CN">
                  <a:latin typeface="Times New Roman" panose="02020603050405020304" pitchFamily="18" charset="0"/>
                </a:rPr>
                <a:t>= </a:t>
              </a:r>
              <a:r>
                <a:rPr lang="en-US" altLang="zh-CN" sz="3200" i="1" err="1">
                  <a:latin typeface="Times New Roman" panose="02020603050405020304" pitchFamily="18" charset="0"/>
                </a:rPr>
                <a:t>t</a:t>
              </a:r>
              <a:r>
                <a:rPr lang="en-US" altLang="zh-CN" baseline="-250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=0 </a:t>
              </a:r>
              <a:r>
                <a:rPr lang="zh-CN" altLang="en-US" dirty="0">
                  <a:latin typeface="Times New Roman" panose="02020603050405020304" pitchFamily="18" charset="0"/>
                </a:rPr>
                <a:t>时</a:t>
              </a:r>
              <a:r>
                <a:rPr lang="en-US" altLang="zh-CN">
                  <a:latin typeface="Times New Roman" panose="02020603050405020304" pitchFamily="18" charset="0"/>
                </a:rPr>
                <a:t>, </a:t>
              </a:r>
              <a:r>
                <a:rPr lang="en-US" altLang="zh-CN" i="1">
                  <a:latin typeface="Times New Roman" panose="02020603050405020304" pitchFamily="18" charset="0"/>
                </a:rPr>
                <a:t>S </a:t>
              </a:r>
              <a:r>
                <a:rPr lang="zh-CN" altLang="en-US" dirty="0">
                  <a:latin typeface="Times New Roman" panose="02020603050405020304" pitchFamily="18" charset="0"/>
                </a:rPr>
                <a:t>与</a:t>
              </a:r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zh-CN" altLang="en-US" dirty="0">
                  <a:latin typeface="Times New Roman" panose="02020603050405020304" pitchFamily="18" charset="0"/>
                </a:rPr>
                <a:t>重合</a:t>
              </a:r>
              <a:r>
                <a:rPr lang="en-US" altLang="zh-CN">
                  <a:latin typeface="Times New Roman" panose="02020603050405020304" pitchFamily="18" charset="0"/>
                </a:rPr>
                <a:t>,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59137" name="文本框 259136"/>
            <p:cNvSpPr txBox="1"/>
            <p:nvPr/>
          </p:nvSpPr>
          <p:spPr>
            <a:xfrm>
              <a:off x="1156" y="845"/>
              <a:ext cx="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endParaRPr lang="en-US" altLang="zh-CN" dirty="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259140" name="组合 259139"/>
          <p:cNvGrpSpPr/>
          <p:nvPr/>
        </p:nvGrpSpPr>
        <p:grpSpPr>
          <a:xfrm>
            <a:off x="4211638" y="5516563"/>
            <a:ext cx="2593975" cy="650875"/>
            <a:chOff x="2653" y="3475"/>
            <a:chExt cx="1634" cy="410"/>
          </a:xfrm>
        </p:grpSpPr>
        <p:sp>
          <p:nvSpPr>
            <p:cNvPr id="259125" name="矩形 259124"/>
            <p:cNvSpPr/>
            <p:nvPr/>
          </p:nvSpPr>
          <p:spPr>
            <a:xfrm>
              <a:off x="2699" y="3475"/>
              <a:ext cx="15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再求导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59139" name="右箭头 259138"/>
            <p:cNvSpPr/>
            <p:nvPr/>
          </p:nvSpPr>
          <p:spPr>
            <a:xfrm>
              <a:off x="2653" y="3748"/>
              <a:ext cx="1134" cy="137"/>
            </a:xfrm>
            <a:prstGeom prst="rightArrow">
              <a:avLst>
                <a:gd name="adj1" fmla="val 50000"/>
                <a:gd name="adj2" fmla="val 206934"/>
              </a:avLst>
            </a:prstGeom>
            <a:solidFill>
              <a:srgbClr val="990033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59141" name="文本框 259140"/>
          <p:cNvSpPr txBox="1"/>
          <p:nvPr/>
        </p:nvSpPr>
        <p:spPr>
          <a:xfrm>
            <a:off x="8655050" y="6400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75"/>
                                        <p:tgtEl>
                                          <p:spTgt spid="25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75"/>
                                        <p:tgtEl>
                                          <p:spTgt spid="259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59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9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5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5" fill="hold"/>
                                        <p:tgtEl>
                                          <p:spTgt spid="259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" fill="hold"/>
                                        <p:tgtEl>
                                          <p:spTgt spid="259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" fill="hold"/>
                                        <p:tgtEl>
                                          <p:spTgt spid="259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" fill="hold"/>
                                        <p:tgtEl>
                                          <p:spTgt spid="259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9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259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5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5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9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259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259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9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259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6" dur="500"/>
                                        <p:tgtEl>
                                          <p:spTgt spid="25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59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9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259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1" dur="500"/>
                                        <p:tgtEl>
                                          <p:spTgt spid="259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259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0" dur="500"/>
                                        <p:tgtEl>
                                          <p:spTgt spid="25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259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25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5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8" dur="500"/>
                                        <p:tgtEl>
                                          <p:spTgt spid="25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6" grpId="0"/>
      <p:bldP spid="259078" grpId="0"/>
      <p:bldP spid="259110" grpId="0"/>
      <p:bldP spid="259116" grpId="0"/>
      <p:bldP spid="259119" grpId="0"/>
      <p:bldP spid="259120" grpId="0" animBg="1"/>
      <p:bldP spid="259129" grpId="0"/>
      <p:bldP spid="259130" grpId="0"/>
      <p:bldP spid="259132" grpId="0" animBg="1"/>
      <p:bldP spid="259134" grpId="0"/>
      <p:bldP spid="2591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21540" name="对象 321539"/>
          <p:cNvGraphicFramePr/>
          <p:nvPr/>
        </p:nvGraphicFramePr>
        <p:xfrm>
          <a:off x="1079500" y="1644650"/>
          <a:ext cx="309562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2857500" imgH="1054100" progId="Equation.DSMT4">
                  <p:embed/>
                </p:oleObj>
              </mc:Choice>
              <mc:Fallback>
                <p:oleObj name="" r:id="rId1" imgW="2857500" imgH="10541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79500" y="1644650"/>
                        <a:ext cx="3095625" cy="1257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1" name="文本框 321540"/>
          <p:cNvSpPr txBox="1"/>
          <p:nvPr/>
        </p:nvSpPr>
        <p:spPr>
          <a:xfrm>
            <a:off x="611188" y="4005263"/>
            <a:ext cx="7775575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</a:rPr>
              <a:t>故经典力学认为：一切惯性系中的力学规律都是相同的</a:t>
            </a:r>
            <a:r>
              <a:rPr lang="en-US" altLang="zh-CN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力学相对性原理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>
                <a:latin typeface="Times New Roman" panose="02020603050405020304" pitchFamily="18" charset="0"/>
              </a:rPr>
              <a:t>                         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伽利略相对性原理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321580" name="组合 321579"/>
          <p:cNvGrpSpPr/>
          <p:nvPr/>
        </p:nvGrpSpPr>
        <p:grpSpPr>
          <a:xfrm>
            <a:off x="4211638" y="549275"/>
            <a:ext cx="4321175" cy="3216275"/>
            <a:chOff x="2880" y="346"/>
            <a:chExt cx="2722" cy="2026"/>
          </a:xfrm>
        </p:grpSpPr>
        <p:grpSp>
          <p:nvGrpSpPr>
            <p:cNvPr id="321543" name="组合 321542"/>
            <p:cNvGrpSpPr/>
            <p:nvPr/>
          </p:nvGrpSpPr>
          <p:grpSpPr>
            <a:xfrm>
              <a:off x="2880" y="346"/>
              <a:ext cx="2688" cy="1709"/>
              <a:chOff x="2880" y="403"/>
              <a:chExt cx="2688" cy="1709"/>
            </a:xfrm>
          </p:grpSpPr>
          <p:sp>
            <p:nvSpPr>
              <p:cNvPr id="321544" name="直接连接符 321543"/>
              <p:cNvSpPr/>
              <p:nvPr/>
            </p:nvSpPr>
            <p:spPr>
              <a:xfrm>
                <a:off x="3120" y="1843"/>
                <a:ext cx="244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1545" name="直接连接符 321544"/>
              <p:cNvSpPr/>
              <p:nvPr/>
            </p:nvSpPr>
            <p:spPr>
              <a:xfrm flipV="1">
                <a:off x="3120" y="547"/>
                <a:ext cx="0" cy="12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1546" name="直接连接符 321545"/>
              <p:cNvSpPr/>
              <p:nvPr/>
            </p:nvSpPr>
            <p:spPr>
              <a:xfrm flipV="1">
                <a:off x="3888" y="547"/>
                <a:ext cx="0" cy="129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grpSp>
            <p:nvGrpSpPr>
              <p:cNvPr id="321547" name="组合 321546"/>
              <p:cNvGrpSpPr/>
              <p:nvPr/>
            </p:nvGrpSpPr>
            <p:grpSpPr>
              <a:xfrm>
                <a:off x="3888" y="931"/>
                <a:ext cx="1344" cy="912"/>
                <a:chOff x="4224" y="816"/>
                <a:chExt cx="1344" cy="912"/>
              </a:xfrm>
            </p:grpSpPr>
            <p:sp>
              <p:nvSpPr>
                <p:cNvPr id="321548" name="矩形 321547"/>
                <p:cNvSpPr/>
                <p:nvPr/>
              </p:nvSpPr>
              <p:spPr>
                <a:xfrm>
                  <a:off x="4224" y="816"/>
                  <a:ext cx="1344" cy="720"/>
                </a:xfrm>
                <a:prstGeom prst="rect">
                  <a:avLst/>
                </a:prstGeom>
                <a:solidFill>
                  <a:srgbClr val="808000"/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21549" name="椭圆 321548"/>
                <p:cNvSpPr/>
                <p:nvPr/>
              </p:nvSpPr>
              <p:spPr>
                <a:xfrm>
                  <a:off x="4464" y="1536"/>
                  <a:ext cx="192" cy="192"/>
                </a:xfrm>
                <a:prstGeom prst="ellipse">
                  <a:avLst/>
                </a:prstGeom>
                <a:solidFill>
                  <a:srgbClr val="FF6600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21550" name="椭圆 321549"/>
                <p:cNvSpPr/>
                <p:nvPr/>
              </p:nvSpPr>
              <p:spPr>
                <a:xfrm>
                  <a:off x="5088" y="1536"/>
                  <a:ext cx="192" cy="192"/>
                </a:xfrm>
                <a:prstGeom prst="ellipse">
                  <a:avLst/>
                </a:prstGeom>
                <a:solidFill>
                  <a:srgbClr val="FF6600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321551" name="直接连接符 321550"/>
              <p:cNvSpPr/>
              <p:nvPr/>
            </p:nvSpPr>
            <p:spPr>
              <a:xfrm>
                <a:off x="3888" y="739"/>
                <a:ext cx="4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1552" name="文本框 321551"/>
              <p:cNvSpPr txBox="1"/>
              <p:nvPr/>
            </p:nvSpPr>
            <p:spPr>
              <a:xfrm>
                <a:off x="2880" y="1776"/>
                <a:ext cx="33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p>
                <a:pPr algn="ctr"/>
                <a:r>
                  <a:rPr lang="en-US" altLang="zh-CN" i="1">
                    <a:latin typeface="Times New Roman" panose="02020603050405020304" pitchFamily="18" charset="0"/>
                  </a:rPr>
                  <a:t>o</a:t>
                </a:r>
                <a:endParaRPr lang="en-US" altLang="zh-CN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1553" name="文本框 321552"/>
              <p:cNvSpPr txBox="1"/>
              <p:nvPr/>
            </p:nvSpPr>
            <p:spPr>
              <a:xfrm>
                <a:off x="5324" y="1747"/>
                <a:ext cx="24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3200">
                    <a:latin typeface="Times New Roman" panose="02020603050405020304" pitchFamily="18" charset="0"/>
                  </a:rPr>
                  <a:t>x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1554" name="文本框 321553"/>
              <p:cNvSpPr txBox="1"/>
              <p:nvPr/>
            </p:nvSpPr>
            <p:spPr>
              <a:xfrm>
                <a:off x="2880" y="451"/>
                <a:ext cx="22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>
                    <a:latin typeface="Times New Roman" panose="02020603050405020304" pitchFamily="18" charset="0"/>
                  </a:rPr>
                  <a:t>y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1555" name="文本框 321554"/>
              <p:cNvSpPr txBox="1"/>
              <p:nvPr/>
            </p:nvSpPr>
            <p:spPr>
              <a:xfrm>
                <a:off x="3600" y="451"/>
                <a:ext cx="29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>
                    <a:latin typeface="Times New Roman" panose="02020603050405020304" pitchFamily="18" charset="0"/>
                  </a:rPr>
                  <a:t>y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'</a:t>
                </a:r>
                <a:endParaRPr lang="en-US" altLang="zh-CN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1556" name="文本框 321555"/>
              <p:cNvSpPr txBox="1"/>
              <p:nvPr/>
            </p:nvSpPr>
            <p:spPr>
              <a:xfrm>
                <a:off x="3944" y="403"/>
                <a:ext cx="244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/>
                <a:r>
                  <a:rPr lang="en-US" altLang="zh-CN" sz="3600" i="1">
                    <a:latin typeface="Times New Roman" panose="02020603050405020304" pitchFamily="18" charset="0"/>
                  </a:rPr>
                  <a:t>v</a:t>
                </a:r>
                <a:endParaRPr lang="en-US" altLang="zh-CN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1557" name="椭圆 321556"/>
              <p:cNvSpPr/>
              <p:nvPr/>
            </p:nvSpPr>
            <p:spPr>
              <a:xfrm>
                <a:off x="4512" y="1219"/>
                <a:ext cx="96" cy="96"/>
              </a:xfrm>
              <a:prstGeom prst="ellipse">
                <a:avLst/>
              </a:prstGeom>
              <a:solidFill>
                <a:srgbClr val="66CC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21558" name="文本框 321557"/>
              <p:cNvSpPr txBox="1"/>
              <p:nvPr/>
            </p:nvSpPr>
            <p:spPr>
              <a:xfrm>
                <a:off x="3552" y="1776"/>
                <a:ext cx="432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p>
                <a:pPr algn="ctr"/>
                <a:r>
                  <a:rPr lang="en-US" altLang="zh-CN" i="1">
                    <a:latin typeface="Times New Roman" panose="02020603050405020304" pitchFamily="18" charset="0"/>
                  </a:rPr>
                  <a:t>o'</a:t>
                </a:r>
                <a:endParaRPr lang="en-US" altLang="zh-CN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1559" name="文本框 321558"/>
              <p:cNvSpPr txBox="1"/>
              <p:nvPr/>
            </p:nvSpPr>
            <p:spPr>
              <a:xfrm>
                <a:off x="3984" y="960"/>
                <a:ext cx="37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eaLnBrk="0" hangingPunct="0"/>
                <a:r>
                  <a:rPr lang="en-US" altLang="zh-CN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3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´</a:t>
                </a:r>
                <a:endParaRPr lang="en-US" altLang="zh-CN" sz="3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321560" name="直接连接符 321559"/>
            <p:cNvSpPr/>
            <p:nvPr/>
          </p:nvSpPr>
          <p:spPr>
            <a:xfrm>
              <a:off x="4560" y="1287"/>
              <a:ext cx="0" cy="52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grpSp>
          <p:nvGrpSpPr>
            <p:cNvPr id="321561" name="组合 321560"/>
            <p:cNvGrpSpPr/>
            <p:nvPr/>
          </p:nvGrpSpPr>
          <p:grpSpPr>
            <a:xfrm>
              <a:off x="3120" y="1815"/>
              <a:ext cx="1440" cy="480"/>
              <a:chOff x="3120" y="1872"/>
              <a:chExt cx="1440" cy="480"/>
            </a:xfrm>
          </p:grpSpPr>
          <p:sp>
            <p:nvSpPr>
              <p:cNvPr id="321562" name="直接连接符 321561"/>
              <p:cNvSpPr/>
              <p:nvPr/>
            </p:nvSpPr>
            <p:spPr>
              <a:xfrm>
                <a:off x="3120" y="1872"/>
                <a:ext cx="0" cy="48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1563" name="直接连接符 321562"/>
              <p:cNvSpPr/>
              <p:nvPr/>
            </p:nvSpPr>
            <p:spPr>
              <a:xfrm>
                <a:off x="4560" y="1872"/>
                <a:ext cx="0" cy="48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21564" name="组合 321563"/>
            <p:cNvGrpSpPr/>
            <p:nvPr/>
          </p:nvGrpSpPr>
          <p:grpSpPr>
            <a:xfrm>
              <a:off x="3120" y="2007"/>
              <a:ext cx="1440" cy="365"/>
              <a:chOff x="3120" y="2016"/>
              <a:chExt cx="1440" cy="365"/>
            </a:xfrm>
          </p:grpSpPr>
          <p:grpSp>
            <p:nvGrpSpPr>
              <p:cNvPr id="321565" name="组合 321564"/>
              <p:cNvGrpSpPr/>
              <p:nvPr/>
            </p:nvGrpSpPr>
            <p:grpSpPr>
              <a:xfrm>
                <a:off x="3120" y="2256"/>
                <a:ext cx="1440" cy="0"/>
                <a:chOff x="3120" y="2256"/>
                <a:chExt cx="1440" cy="0"/>
              </a:xfrm>
            </p:grpSpPr>
            <p:sp>
              <p:nvSpPr>
                <p:cNvPr id="321566" name="直接连接符 321565"/>
                <p:cNvSpPr/>
                <p:nvPr/>
              </p:nvSpPr>
              <p:spPr>
                <a:xfrm>
                  <a:off x="3120" y="2256"/>
                  <a:ext cx="57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triangle" w="med" len="med"/>
                  <a:tailEnd type="none" w="med" len="med"/>
                </a:ln>
              </p:spPr>
            </p:sp>
            <p:sp>
              <p:nvSpPr>
                <p:cNvPr id="321567" name="直接连接符 321566"/>
                <p:cNvSpPr/>
                <p:nvPr/>
              </p:nvSpPr>
              <p:spPr>
                <a:xfrm flipH="1">
                  <a:off x="3984" y="2256"/>
                  <a:ext cx="576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triangle" w="med" len="med"/>
                  <a:tailEnd type="none" w="med" len="med"/>
                </a:ln>
              </p:spPr>
            </p:sp>
          </p:grpSp>
          <p:sp>
            <p:nvSpPr>
              <p:cNvPr id="321568" name="文本框 321567"/>
              <p:cNvSpPr txBox="1"/>
              <p:nvPr/>
            </p:nvSpPr>
            <p:spPr>
              <a:xfrm>
                <a:off x="3744" y="2016"/>
                <a:ext cx="24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 eaLnBrk="0" hangingPunct="0"/>
                <a:r>
                  <a:rPr lang="en-US" altLang="zh-CN" sz="3200" i="1">
                    <a:latin typeface="Times New Roman" panose="02020603050405020304" pitchFamily="18" charset="0"/>
                  </a:rPr>
                  <a:t>x</a:t>
                </a:r>
                <a:endParaRPr lang="en-US" altLang="zh-CN" sz="3200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21569" name="文本框 321568"/>
            <p:cNvSpPr txBox="1"/>
            <p:nvPr/>
          </p:nvSpPr>
          <p:spPr>
            <a:xfrm>
              <a:off x="4118" y="1719"/>
              <a:ext cx="49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/>
              <a:r>
                <a:rPr lang="en-US" altLang="zh-CN" sz="3200" i="1">
                  <a:latin typeface="Times New Roman" panose="02020603050405020304" pitchFamily="18" charset="0"/>
                </a:rPr>
                <a:t>x</a:t>
              </a:r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´</a:t>
              </a:r>
              <a:endParaRPr lang="en-US" altLang="zh-CN" sz="3200">
                <a:latin typeface="Times New Roman" panose="02020603050405020304" pitchFamily="18" charset="0"/>
              </a:endParaRPr>
            </a:p>
          </p:txBody>
        </p:sp>
        <p:grpSp>
          <p:nvGrpSpPr>
            <p:cNvPr id="321570" name="组合 321569"/>
            <p:cNvGrpSpPr/>
            <p:nvPr/>
          </p:nvGrpSpPr>
          <p:grpSpPr>
            <a:xfrm>
              <a:off x="3888" y="1767"/>
              <a:ext cx="672" cy="288"/>
              <a:chOff x="3888" y="1824"/>
              <a:chExt cx="672" cy="288"/>
            </a:xfrm>
          </p:grpSpPr>
          <p:sp>
            <p:nvSpPr>
              <p:cNvPr id="321571" name="直接连接符 321570"/>
              <p:cNvSpPr/>
              <p:nvPr/>
            </p:nvSpPr>
            <p:spPr>
              <a:xfrm>
                <a:off x="3888" y="1824"/>
                <a:ext cx="0" cy="28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1572" name="直接连接符 321571"/>
              <p:cNvSpPr/>
              <p:nvPr/>
            </p:nvSpPr>
            <p:spPr>
              <a:xfrm>
                <a:off x="3888" y="1968"/>
                <a:ext cx="28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321573" name="直接连接符 321572"/>
              <p:cNvSpPr/>
              <p:nvPr/>
            </p:nvSpPr>
            <p:spPr>
              <a:xfrm flipH="1">
                <a:off x="4272" y="1968"/>
                <a:ext cx="28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</p:grpSp>
        <p:sp>
          <p:nvSpPr>
            <p:cNvPr id="321574" name="直接连接符 321573"/>
            <p:cNvSpPr/>
            <p:nvPr/>
          </p:nvSpPr>
          <p:spPr>
            <a:xfrm>
              <a:off x="3120" y="1623"/>
              <a:ext cx="768" cy="0"/>
            </a:xfrm>
            <a:prstGeom prst="line">
              <a:avLst/>
            </a:prstGeom>
            <a:ln w="19050" cap="flat" cmpd="sng">
              <a:solidFill>
                <a:srgbClr val="000066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321575" name="文本框 321574"/>
            <p:cNvSpPr txBox="1"/>
            <p:nvPr/>
          </p:nvSpPr>
          <p:spPr>
            <a:xfrm>
              <a:off x="3350" y="1287"/>
              <a:ext cx="53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/>
              <a:r>
                <a:rPr lang="en-US" altLang="zh-CN" sz="3200" i="1" err="1">
                  <a:latin typeface="Times New Roman" panose="02020603050405020304" pitchFamily="18" charset="0"/>
                </a:rPr>
                <a:t>vt</a:t>
              </a:r>
              <a:endParaRPr lang="en-US" altLang="zh-CN" sz="3200" i="1">
                <a:latin typeface="Times New Roman" panose="02020603050405020304" pitchFamily="18" charset="0"/>
              </a:endParaRPr>
            </a:p>
          </p:txBody>
        </p:sp>
        <p:sp>
          <p:nvSpPr>
            <p:cNvPr id="321576" name="直接连接符 321575"/>
            <p:cNvSpPr/>
            <p:nvPr/>
          </p:nvSpPr>
          <p:spPr>
            <a:xfrm>
              <a:off x="3120" y="1239"/>
              <a:ext cx="13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graphicFrame>
          <p:nvGraphicFramePr>
            <p:cNvPr id="321577" name="对象 321576"/>
            <p:cNvGraphicFramePr/>
            <p:nvPr/>
          </p:nvGraphicFramePr>
          <p:xfrm>
            <a:off x="3564" y="989"/>
            <a:ext cx="185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3" imgW="317500" imgH="418465" progId="Equation.3">
                    <p:embed/>
                  </p:oleObj>
                </mc:Choice>
                <mc:Fallback>
                  <p:oleObj name="" r:id="rId3" imgW="317500" imgH="418465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64" y="989"/>
                          <a:ext cx="185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1578" name="文本框 321577"/>
            <p:cNvSpPr txBox="1"/>
            <p:nvPr/>
          </p:nvSpPr>
          <p:spPr>
            <a:xfrm>
              <a:off x="3120" y="615"/>
              <a:ext cx="3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/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21579" name="矩形 321578"/>
            <p:cNvSpPr/>
            <p:nvPr/>
          </p:nvSpPr>
          <p:spPr>
            <a:xfrm>
              <a:off x="4477" y="1873"/>
              <a:ext cx="1125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/>
              <a:r>
                <a:rPr lang="en-US" altLang="zh-CN" sz="3600">
                  <a:latin typeface="Times New Roman" panose="02020603050405020304" pitchFamily="18" charset="0"/>
                </a:rPr>
                <a:t>(</a:t>
              </a:r>
              <a:r>
                <a:rPr lang="en-US" altLang="zh-CN" sz="3600" i="1">
                  <a:latin typeface="Times New Roman" panose="02020603050405020304" pitchFamily="18" charset="0"/>
                </a:rPr>
                <a:t>v </a:t>
              </a:r>
              <a:r>
                <a:rPr lang="zh-CN" altLang="en-US" dirty="0">
                  <a:latin typeface="Times New Roman" panose="02020603050405020304" pitchFamily="18" charset="0"/>
                </a:rPr>
                <a:t>恒定</a:t>
              </a:r>
              <a:r>
                <a:rPr lang="en-US" altLang="zh-CN">
                  <a:latin typeface="Times New Roman" panose="02020603050405020304" pitchFamily="18" charset="0"/>
                </a:rPr>
                <a:t>)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321581" name="文本框 321580"/>
          <p:cNvSpPr txBox="1"/>
          <p:nvPr/>
        </p:nvSpPr>
        <p:spPr>
          <a:xfrm>
            <a:off x="8655050" y="6400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60107" name="组合 260106"/>
          <p:cNvGrpSpPr/>
          <p:nvPr/>
        </p:nvGrpSpPr>
        <p:grpSpPr>
          <a:xfrm>
            <a:off x="6011863" y="836613"/>
            <a:ext cx="2374900" cy="1873250"/>
            <a:chOff x="3885" y="103"/>
            <a:chExt cx="1778" cy="1299"/>
          </a:xfrm>
        </p:grpSpPr>
        <p:grpSp>
          <p:nvGrpSpPr>
            <p:cNvPr id="260105" name="组合 260104"/>
            <p:cNvGrpSpPr/>
            <p:nvPr/>
          </p:nvGrpSpPr>
          <p:grpSpPr>
            <a:xfrm>
              <a:off x="4226" y="103"/>
              <a:ext cx="1437" cy="1299"/>
              <a:chOff x="338" y="1066"/>
              <a:chExt cx="1437" cy="1299"/>
            </a:xfrm>
          </p:grpSpPr>
          <p:sp>
            <p:nvSpPr>
              <p:cNvPr id="260100" name="左大括号 260099"/>
              <p:cNvSpPr/>
              <p:nvPr/>
            </p:nvSpPr>
            <p:spPr>
              <a:xfrm>
                <a:off x="338" y="1162"/>
                <a:ext cx="141" cy="1104"/>
              </a:xfrm>
              <a:prstGeom prst="leftBrace">
                <a:avLst>
                  <a:gd name="adj1" fmla="val 65248"/>
                  <a:gd name="adj2" fmla="val 50000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aphicFrame>
            <p:nvGraphicFramePr>
              <p:cNvPr id="260101" name="对象 260100"/>
              <p:cNvGraphicFramePr/>
              <p:nvPr/>
            </p:nvGraphicFramePr>
            <p:xfrm>
              <a:off x="527" y="1066"/>
              <a:ext cx="1248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6" name="" r:id="rId1" imgW="1409065" imgH="342900" progId="Equation.3">
                      <p:embed/>
                    </p:oleObj>
                  </mc:Choice>
                  <mc:Fallback>
                    <p:oleObj name="" r:id="rId1" imgW="1409065" imgH="342900" progId="Equation.3">
                      <p:embed/>
                      <p:pic>
                        <p:nvPicPr>
                          <p:cNvPr id="0" name="图片 3085"/>
                          <p:cNvPicPr/>
                          <p:nvPr/>
                        </p:nvPicPr>
                        <p:blipFill>
                          <a:blip r:embed="rId2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27" y="1066"/>
                            <a:ext cx="1248" cy="2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0102" name="对象 260101"/>
              <p:cNvGraphicFramePr/>
              <p:nvPr/>
            </p:nvGraphicFramePr>
            <p:xfrm>
              <a:off x="527" y="1365"/>
              <a:ext cx="768" cy="3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7" name="" r:id="rId3" imgW="838200" imgH="419100" progId="Equation.3">
                      <p:embed/>
                    </p:oleObj>
                  </mc:Choice>
                  <mc:Fallback>
                    <p:oleObj name="" r:id="rId3" imgW="838200" imgH="419100" progId="Equation.3">
                      <p:embed/>
                      <p:pic>
                        <p:nvPicPr>
                          <p:cNvPr id="0" name="图片 3086"/>
                          <p:cNvPicPr/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27" y="1365"/>
                            <a:ext cx="768" cy="35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0103" name="对象 260102"/>
              <p:cNvGraphicFramePr/>
              <p:nvPr/>
            </p:nvGraphicFramePr>
            <p:xfrm>
              <a:off x="522" y="1713"/>
              <a:ext cx="725" cy="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8" name="" r:id="rId5" imgW="723900" imgH="368300" progId="Equation.3">
                      <p:embed/>
                    </p:oleObj>
                  </mc:Choice>
                  <mc:Fallback>
                    <p:oleObj name="" r:id="rId5" imgW="723900" imgH="368300" progId="Equation.3">
                      <p:embed/>
                      <p:pic>
                        <p:nvPicPr>
                          <p:cNvPr id="0" name="图片 3087"/>
                          <p:cNvPicPr/>
                          <p:nvPr/>
                        </p:nvPicPr>
                        <p:blipFill>
                          <a:blip r:embed="rId6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22" y="1713"/>
                            <a:ext cx="725" cy="31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0104" name="对象 260103"/>
              <p:cNvGraphicFramePr/>
              <p:nvPr/>
            </p:nvGraphicFramePr>
            <p:xfrm>
              <a:off x="527" y="2074"/>
              <a:ext cx="720" cy="2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9" name="" r:id="rId7" imgW="647700" imgH="342900" progId="Equation.3">
                      <p:embed/>
                    </p:oleObj>
                  </mc:Choice>
                  <mc:Fallback>
                    <p:oleObj name="" r:id="rId7" imgW="647700" imgH="342900" progId="Equation.3">
                      <p:embed/>
                      <p:pic>
                        <p:nvPicPr>
                          <p:cNvPr id="0" name="图片 3088"/>
                          <p:cNvPicPr/>
                          <p:nvPr/>
                        </p:nvPicPr>
                        <p:blipFill>
                          <a:blip r:embed="rId8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27" y="2074"/>
                            <a:ext cx="720" cy="29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260106" name="图片 260105" descr="dove"/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66FF33"/>
                </a:clrTo>
              </a:clrChange>
            </a:blip>
            <a:stretch>
              <a:fillRect/>
            </a:stretch>
          </p:blipFill>
          <p:spPr>
            <a:xfrm rot="-564440">
              <a:off x="3885" y="635"/>
              <a:ext cx="400" cy="34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60108" name="文本框 260107"/>
          <p:cNvSpPr txBox="1"/>
          <p:nvPr/>
        </p:nvSpPr>
        <p:spPr>
          <a:xfrm>
            <a:off x="725488" y="388938"/>
            <a:ext cx="802322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伽利略变换反映了牛顿力学的时空观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: </a:t>
            </a:r>
            <a:endParaRPr lang="en-US" altLang="zh-CN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0110" name="矩形 260109"/>
          <p:cNvSpPr/>
          <p:nvPr/>
        </p:nvSpPr>
        <p:spPr>
          <a:xfrm>
            <a:off x="755650" y="908050"/>
            <a:ext cx="72009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伽利略变换的另一形式为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60119" name="组合 260118"/>
          <p:cNvGrpSpPr/>
          <p:nvPr/>
        </p:nvGrpSpPr>
        <p:grpSpPr>
          <a:xfrm>
            <a:off x="1106488" y="1308100"/>
            <a:ext cx="2462212" cy="1939925"/>
            <a:chOff x="1013" y="770"/>
            <a:chExt cx="1930" cy="1406"/>
          </a:xfrm>
        </p:grpSpPr>
        <p:sp>
          <p:nvSpPr>
            <p:cNvPr id="260113" name="左大括号 260112"/>
            <p:cNvSpPr/>
            <p:nvPr/>
          </p:nvSpPr>
          <p:spPr>
            <a:xfrm>
              <a:off x="1013" y="919"/>
              <a:ext cx="141" cy="1104"/>
            </a:xfrm>
            <a:prstGeom prst="leftBrace">
              <a:avLst>
                <a:gd name="adj1" fmla="val 65248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260114" name="对象 260113"/>
            <p:cNvGraphicFramePr/>
            <p:nvPr/>
          </p:nvGraphicFramePr>
          <p:xfrm>
            <a:off x="1094" y="770"/>
            <a:ext cx="1849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10" imgW="951865" imgH="203200" progId="Equation.DSMT4">
                    <p:embed/>
                  </p:oleObj>
                </mc:Choice>
                <mc:Fallback>
                  <p:oleObj name="" r:id="rId10" imgW="951865" imgH="203200" progId="Equation.DSMT4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94" y="770"/>
                          <a:ext cx="1849" cy="3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0115" name="对象 260114"/>
            <p:cNvGraphicFramePr/>
            <p:nvPr/>
          </p:nvGraphicFramePr>
          <p:xfrm>
            <a:off x="1118" y="1086"/>
            <a:ext cx="1258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12" imgW="583565" imgH="203200" progId="Equation.DSMT4">
                    <p:embed/>
                  </p:oleObj>
                </mc:Choice>
                <mc:Fallback>
                  <p:oleObj name="" r:id="rId12" imgW="583565" imgH="203200" progId="Equation.DSMT4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18" y="1086"/>
                          <a:ext cx="1258" cy="3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0116" name="对象 260115"/>
            <p:cNvGraphicFramePr/>
            <p:nvPr/>
          </p:nvGraphicFramePr>
          <p:xfrm>
            <a:off x="1118" y="1416"/>
            <a:ext cx="1269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14" imgW="545465" imgH="203200" progId="Equation.DSMT4">
                    <p:embed/>
                  </p:oleObj>
                </mc:Choice>
                <mc:Fallback>
                  <p:oleObj name="" r:id="rId14" imgW="545465" imgH="203200" progId="Equation.DSMT4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18" y="1416"/>
                          <a:ext cx="1269" cy="4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0117" name="对象 260116"/>
            <p:cNvGraphicFramePr/>
            <p:nvPr/>
          </p:nvGraphicFramePr>
          <p:xfrm>
            <a:off x="1108" y="1778"/>
            <a:ext cx="1307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6" imgW="507365" imgH="203200" progId="Equation.DSMT4">
                    <p:embed/>
                  </p:oleObj>
                </mc:Choice>
                <mc:Fallback>
                  <p:oleObj name="" r:id="rId16" imgW="507365" imgH="203200" progId="Equation.DSMT4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08" y="1778"/>
                          <a:ext cx="1307" cy="3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0120" name="矩形 260119"/>
          <p:cNvSpPr/>
          <p:nvPr/>
        </p:nvSpPr>
        <p:spPr>
          <a:xfrm>
            <a:off x="3355975" y="2708275"/>
            <a:ext cx="61849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时间间隔的测量与参照系无关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0121" name="右箭头 260120"/>
          <p:cNvSpPr/>
          <p:nvPr/>
        </p:nvSpPr>
        <p:spPr>
          <a:xfrm>
            <a:off x="2924175" y="2924175"/>
            <a:ext cx="471488" cy="157163"/>
          </a:xfrm>
          <a:prstGeom prst="rightArrow">
            <a:avLst>
              <a:gd name="adj1" fmla="val 50000"/>
              <a:gd name="adj2" fmla="val 74999"/>
            </a:avLst>
          </a:prstGeom>
          <a:solidFill>
            <a:srgbClr val="000066"/>
          </a:solidFill>
          <a:ln w="9525" cap="flat" cmpd="sng">
            <a:solidFill>
              <a:srgbClr val="9900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0122" name="矩形 260121"/>
          <p:cNvSpPr/>
          <p:nvPr/>
        </p:nvSpPr>
        <p:spPr>
          <a:xfrm>
            <a:off x="684213" y="3213100"/>
            <a:ext cx="8280400" cy="946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zh-CN" altLang="en-US" dirty="0">
                <a:latin typeface="Times New Roman" panose="02020603050405020304" pitchFamily="18" charset="0"/>
              </a:rPr>
              <a:t>对于空间中任意两点间的距离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在两个参考系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中的测量值分别是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0135" name="对象 260134"/>
          <p:cNvGraphicFramePr/>
          <p:nvPr/>
        </p:nvGraphicFramePr>
        <p:xfrm>
          <a:off x="1331913" y="4195763"/>
          <a:ext cx="41052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8" imgW="4203700" imgH="508000" progId="Equation.DSMT4">
                  <p:embed/>
                </p:oleObj>
              </mc:Choice>
              <mc:Fallback>
                <p:oleObj name="" r:id="rId18" imgW="4203700" imgH="5080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4195763"/>
                        <a:ext cx="4105275" cy="528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44" name="对象 260143"/>
          <p:cNvGraphicFramePr/>
          <p:nvPr/>
        </p:nvGraphicFramePr>
        <p:xfrm>
          <a:off x="1403350" y="4797425"/>
          <a:ext cx="40322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20" imgW="4318000" imgH="508000" progId="Equation.DSMT4">
                  <p:embed/>
                </p:oleObj>
              </mc:Choice>
              <mc:Fallback>
                <p:oleObj name="" r:id="rId20" imgW="4318000" imgH="5080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4797425"/>
                        <a:ext cx="4032250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45" name="对象 260144"/>
          <p:cNvGraphicFramePr/>
          <p:nvPr/>
        </p:nvGraphicFramePr>
        <p:xfrm>
          <a:off x="5435600" y="4797425"/>
          <a:ext cx="331311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22" imgW="3517900" imgH="508000" progId="Equation.DSMT4">
                  <p:embed/>
                </p:oleObj>
              </mc:Choice>
              <mc:Fallback>
                <p:oleObj name="" r:id="rId22" imgW="3517900" imgH="5080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35600" y="4797425"/>
                        <a:ext cx="3313113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0146" name="对象 260145"/>
          <p:cNvGraphicFramePr/>
          <p:nvPr/>
        </p:nvGraphicFramePr>
        <p:xfrm>
          <a:off x="1908175" y="5300663"/>
          <a:ext cx="34512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24" imgW="3429000" imgH="508000" progId="Equation.DSMT4">
                  <p:embed/>
                </p:oleObj>
              </mc:Choice>
              <mc:Fallback>
                <p:oleObj name="" r:id="rId24" imgW="3429000" imgH="5080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08175" y="5300663"/>
                        <a:ext cx="3451225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0154" name="组合 260153"/>
          <p:cNvGrpSpPr/>
          <p:nvPr/>
        </p:nvGrpSpPr>
        <p:grpSpPr>
          <a:xfrm>
            <a:off x="6156325" y="4076700"/>
            <a:ext cx="2087563" cy="865188"/>
            <a:chOff x="3878" y="2568"/>
            <a:chExt cx="1315" cy="545"/>
          </a:xfrm>
        </p:grpSpPr>
        <p:graphicFrame>
          <p:nvGraphicFramePr>
            <p:cNvPr id="260147" name="对象 260146"/>
            <p:cNvGraphicFramePr/>
            <p:nvPr/>
          </p:nvGraphicFramePr>
          <p:xfrm>
            <a:off x="3923" y="2568"/>
            <a:ext cx="1270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26" imgW="1560830" imgH="405765" progId="Equation.DSMT4">
                    <p:embed/>
                  </p:oleObj>
                </mc:Choice>
                <mc:Fallback>
                  <p:oleObj name="" r:id="rId26" imgW="1560830" imgH="405765" progId="Equation.DSMT4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23" y="2568"/>
                          <a:ext cx="1270" cy="316"/>
                        </a:xfrm>
                        <a:prstGeom prst="rect">
                          <a:avLst/>
                        </a:prstGeom>
                        <a:noFill/>
                        <a:ln w="12700" cap="flat" cmpd="sng">
                          <a:solidFill>
                            <a:srgbClr val="990099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0148" name="直接连接符 260147"/>
            <p:cNvSpPr/>
            <p:nvPr/>
          </p:nvSpPr>
          <p:spPr>
            <a:xfrm flipH="1">
              <a:off x="3878" y="2886"/>
              <a:ext cx="318" cy="227"/>
            </a:xfrm>
            <a:prstGeom prst="line">
              <a:avLst/>
            </a:prstGeom>
            <a:ln w="12700" cap="flat" cmpd="sng">
              <a:solidFill>
                <a:srgbClr val="990099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260150" name="对象 260149"/>
          <p:cNvGraphicFramePr/>
          <p:nvPr/>
        </p:nvGraphicFramePr>
        <p:xfrm>
          <a:off x="971550" y="6096000"/>
          <a:ext cx="18002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28" imgW="1637030" imgH="405765" progId="Equation.DSMT4">
                  <p:embed/>
                </p:oleObj>
              </mc:Choice>
              <mc:Fallback>
                <p:oleObj name="" r:id="rId28" imgW="1637030" imgH="405765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6096000"/>
                        <a:ext cx="1800225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0151" name="矩形 260150"/>
          <p:cNvSpPr/>
          <p:nvPr/>
        </p:nvSpPr>
        <p:spPr>
          <a:xfrm>
            <a:off x="3414713" y="6005513"/>
            <a:ext cx="5837237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空间间隔的测量与参照系无关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0152" name="右箭头 260151"/>
          <p:cNvSpPr/>
          <p:nvPr/>
        </p:nvSpPr>
        <p:spPr>
          <a:xfrm>
            <a:off x="2916238" y="6202363"/>
            <a:ext cx="576262" cy="179387"/>
          </a:xfrm>
          <a:prstGeom prst="rightArrow">
            <a:avLst>
              <a:gd name="adj1" fmla="val 50000"/>
              <a:gd name="adj2" fmla="val 80309"/>
            </a:avLst>
          </a:prstGeom>
          <a:solidFill>
            <a:srgbClr val="990099"/>
          </a:solidFill>
          <a:ln w="9525" cap="flat" cmpd="sng">
            <a:solidFill>
              <a:srgbClr val="00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60155" name="文本框 260154"/>
          <p:cNvSpPr txBox="1"/>
          <p:nvPr/>
        </p:nvSpPr>
        <p:spPr>
          <a:xfrm>
            <a:off x="8655050" y="6400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3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0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0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75"/>
                                        <p:tgtEl>
                                          <p:spTgt spid="260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60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6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6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6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6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60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60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0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0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60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260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260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08" grpId="0"/>
      <p:bldP spid="260110" grpId="0"/>
      <p:bldP spid="260120" grpId="0"/>
      <p:bldP spid="260121" grpId="0" animBg="1"/>
      <p:bldP spid="260122" grpId="0"/>
      <p:bldP spid="2601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1124" name="矩形 261123"/>
          <p:cNvSpPr/>
          <p:nvPr/>
        </p:nvSpPr>
        <p:spPr>
          <a:xfrm>
            <a:off x="692150" y="404813"/>
            <a:ext cx="8128000" cy="13731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牛顿的时空观</a:t>
            </a:r>
            <a:r>
              <a:rPr lang="zh-CN" altLang="en-US" dirty="0">
                <a:latin typeface="Times New Roman" panose="02020603050405020304" pitchFamily="18" charset="0"/>
              </a:rPr>
              <a:t>：时间的量度和空间的量度都与参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         考系无关，时间和空间无关，时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              间、空间与物质的运动无关。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1126" name="矩形 261125"/>
          <p:cNvSpPr/>
          <p:nvPr/>
        </p:nvSpPr>
        <p:spPr>
          <a:xfrm>
            <a:off x="836613" y="2565400"/>
            <a:ext cx="83439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dirty="0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</a:rPr>
              <a:t>绝对空间，就其本性而言，与外界任何事物无</a:t>
            </a:r>
            <a:endParaRPr lang="zh-CN" altLang="en-US" dirty="0">
              <a:solidFill>
                <a:srgbClr val="990033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dirty="0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</a:rPr>
              <a:t>关，而永远是相同的和不动的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。”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1127" name="矩形 261126"/>
          <p:cNvSpPr/>
          <p:nvPr/>
        </p:nvSpPr>
        <p:spPr>
          <a:xfrm>
            <a:off x="827088" y="3860800"/>
            <a:ext cx="7654925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/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dirty="0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</a:rPr>
              <a:t>绝对的、真正的和数学的时间自己流逝着，并由于它的本性而均匀地、与任一外界对象无关地流逝着。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1128" name="矩形 261127"/>
          <p:cNvSpPr/>
          <p:nvPr/>
        </p:nvSpPr>
        <p:spPr>
          <a:xfrm>
            <a:off x="684213" y="1916113"/>
            <a:ext cx="59039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牛顿认为：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1129" name="文本框 261128"/>
          <p:cNvSpPr txBox="1"/>
          <p:nvPr/>
        </p:nvSpPr>
        <p:spPr>
          <a:xfrm>
            <a:off x="8655050" y="6400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4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2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80"/>
                                        <p:tgtEl>
                                          <p:spTgt spid="26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4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80"/>
                                        <p:tgtEl>
                                          <p:spTgt spid="26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4" grpId="0"/>
      <p:bldP spid="261126" grpId="0"/>
      <p:bldP spid="261127" grpId="0"/>
      <p:bldP spid="2611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3170" name="矩形 263169"/>
          <p:cNvSpPr/>
          <p:nvPr/>
        </p:nvSpPr>
        <p:spPr>
          <a:xfrm>
            <a:off x="757238" y="5229225"/>
            <a:ext cx="91440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  <a:sym typeface="Marlett" pitchFamily="2" charset="2"/>
              </a:rPr>
              <a:t>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不必修改电磁理论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将伽利略相对性原理限制于低速领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    域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另找一个新的能使电磁规律符合的变换。从而推广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    伽利略相对性原理。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3172" name="矩形 263171"/>
          <p:cNvSpPr/>
          <p:nvPr/>
        </p:nvSpPr>
        <p:spPr>
          <a:xfrm>
            <a:off x="5513388" y="396875"/>
            <a:ext cx="0" cy="427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endParaRPr b="0" dirty="0">
              <a:latin typeface="Times New Roman" panose="02020603050405020304" pitchFamily="18" charset="0"/>
            </a:endParaRPr>
          </a:p>
        </p:txBody>
      </p:sp>
      <p:sp>
        <p:nvSpPr>
          <p:cNvPr id="263173" name="矩形 263172"/>
          <p:cNvSpPr/>
          <p:nvPr/>
        </p:nvSpPr>
        <p:spPr>
          <a:xfrm>
            <a:off x="4095750" y="2360613"/>
            <a:ext cx="45085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如：迈克耳逊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莫雷实验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4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3176" name="文本框 263175"/>
          <p:cNvSpPr txBox="1"/>
          <p:nvPr/>
        </p:nvSpPr>
        <p:spPr>
          <a:xfrm>
            <a:off x="611188" y="1866900"/>
            <a:ext cx="929005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</a:rPr>
              <a:t>        19</a:t>
            </a:r>
            <a:r>
              <a:rPr lang="zh-CN" altLang="en-US" dirty="0">
                <a:latin typeface="Times New Roman" panose="02020603050405020304" pitchFamily="18" charset="0"/>
              </a:rPr>
              <a:t>世纪末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大量观察和实验表明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光速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电磁规律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endParaRPr lang="en-US" altLang="zh-CN">
              <a:latin typeface="宋体" panose="02010600030101010101" pitchFamily="2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不服从伽利略变换！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63182" name="文本框 263181"/>
          <p:cNvSpPr txBox="1"/>
          <p:nvPr/>
        </p:nvSpPr>
        <p:spPr>
          <a:xfrm>
            <a:off x="1185863" y="2924175"/>
            <a:ext cx="64817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矛盾如何解决？</a:t>
            </a:r>
            <a:endParaRPr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63184" name="矩形 263183"/>
          <p:cNvSpPr/>
          <p:nvPr/>
        </p:nvSpPr>
        <p:spPr>
          <a:xfrm>
            <a:off x="755650" y="3500438"/>
            <a:ext cx="8281988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  <a:sym typeface="Marlett" pitchFamily="2" charset="2"/>
              </a:rPr>
              <a:t>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伽利略相对性原理不是普遍原理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不必推广到高速领域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endParaRPr lang="en-US" altLang="zh-CN" sz="240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因而电磁规律可以不符合伽利略相对性原理及变换；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3185" name="矩形 263184"/>
          <p:cNvSpPr/>
          <p:nvPr/>
        </p:nvSpPr>
        <p:spPr>
          <a:xfrm>
            <a:off x="754063" y="4411663"/>
            <a:ext cx="8389937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  <a:sym typeface="Marlett" pitchFamily="2" charset="2"/>
              </a:rPr>
              <a:t>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伽利略相对性原理是普遍原理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应修改电磁理论使之符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    合伽利略相对性原理及变换；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3186" name="矩形 263185"/>
          <p:cNvSpPr/>
          <p:nvPr/>
        </p:nvSpPr>
        <p:spPr>
          <a:xfrm>
            <a:off x="3635375" y="2946400"/>
            <a:ext cx="33845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选择有三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63191" name="右箭头 263190"/>
          <p:cNvSpPr/>
          <p:nvPr/>
        </p:nvSpPr>
        <p:spPr>
          <a:xfrm>
            <a:off x="3111500" y="6375400"/>
            <a:ext cx="609600" cy="233363"/>
          </a:xfrm>
          <a:prstGeom prst="rightArrow">
            <a:avLst>
              <a:gd name="adj1" fmla="val 50000"/>
              <a:gd name="adj2" fmla="val 65305"/>
            </a:avLst>
          </a:prstGeom>
          <a:solidFill>
            <a:srgbClr val="990033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63192" name="矩形 263191"/>
          <p:cNvSpPr/>
          <p:nvPr/>
        </p:nvSpPr>
        <p:spPr>
          <a:xfrm>
            <a:off x="3657600" y="6237288"/>
            <a:ext cx="2066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狭义相对论</a:t>
            </a:r>
            <a:endParaRPr lang="zh-CN" altLang="en-US" sz="2400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3193" name="右箭头 263192"/>
          <p:cNvSpPr/>
          <p:nvPr/>
        </p:nvSpPr>
        <p:spPr>
          <a:xfrm>
            <a:off x="5843588" y="6359525"/>
            <a:ext cx="609600" cy="233363"/>
          </a:xfrm>
          <a:prstGeom prst="rightArrow">
            <a:avLst>
              <a:gd name="adj1" fmla="val 50000"/>
              <a:gd name="adj2" fmla="val 65305"/>
            </a:avLst>
          </a:prstGeom>
          <a:solidFill>
            <a:srgbClr val="990033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63194" name="矩形 263193"/>
          <p:cNvSpPr/>
          <p:nvPr/>
        </p:nvSpPr>
        <p:spPr>
          <a:xfrm>
            <a:off x="6408738" y="6237288"/>
            <a:ext cx="1928812" cy="457200"/>
          </a:xfrm>
          <a:prstGeom prst="rect">
            <a:avLst/>
          </a:prstGeom>
          <a:solidFill>
            <a:srgbClr val="99FFCC"/>
          </a:solidFill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新的时空观</a:t>
            </a:r>
            <a:endParaRPr lang="zh-CN" altLang="en-US" sz="2400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3196" name="矩形 263195"/>
          <p:cNvSpPr/>
          <p:nvPr/>
        </p:nvSpPr>
        <p:spPr>
          <a:xfrm>
            <a:off x="0" y="333375"/>
            <a:ext cx="874871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sz="3200" dirty="0">
                <a:latin typeface="Times New Roman" panose="02020603050405020304" pitchFamily="18" charset="0"/>
              </a:rPr>
              <a:t>第</a:t>
            </a:r>
            <a:r>
              <a:rPr lang="en-US" altLang="zh-CN" sz="3200">
                <a:latin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</a:rPr>
              <a:t>节    狭义相对论基本原理 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63197" name="矩形 263196"/>
          <p:cNvSpPr/>
          <p:nvPr/>
        </p:nvSpPr>
        <p:spPr>
          <a:xfrm>
            <a:off x="1547813" y="822325"/>
            <a:ext cx="741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Basic Postulates of Special Relativity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263198" name="文本框 263197"/>
          <p:cNvSpPr txBox="1"/>
          <p:nvPr/>
        </p:nvSpPr>
        <p:spPr>
          <a:xfrm>
            <a:off x="684213" y="1325563"/>
            <a:ext cx="7345362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1.  </a:t>
            </a:r>
            <a:r>
              <a:rPr lang="zh-CN" altLang="en-US" dirty="0">
                <a:latin typeface="Times New Roman" panose="02020603050405020304" pitchFamily="18" charset="0"/>
              </a:rPr>
              <a:t>伽利略变换在高速领域不成立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63199" name="文本框 263198"/>
          <p:cNvSpPr txBox="1"/>
          <p:nvPr/>
        </p:nvSpPr>
        <p:spPr>
          <a:xfrm>
            <a:off x="8807450" y="6427788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3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3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75"/>
                                        <p:tgtEl>
                                          <p:spTgt spid="26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75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6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75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5"/>
                                        <p:tgtEl>
                                          <p:spTgt spid="26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3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3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263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263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263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6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3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3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63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3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3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63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63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3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0" grpId="0"/>
      <p:bldP spid="263173" grpId="0"/>
      <p:bldP spid="263176" grpId="0"/>
      <p:bldP spid="263182" grpId="0"/>
      <p:bldP spid="263184" grpId="0"/>
      <p:bldP spid="263185" grpId="0"/>
      <p:bldP spid="263186" grpId="0"/>
      <p:bldP spid="263192" grpId="0"/>
      <p:bldP spid="263194" grpId="0" animBg="1"/>
      <p:bldP spid="263196" grpId="0"/>
      <p:bldP spid="263197" grpId="0"/>
      <p:bldP spid="2631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4196" name="文本框 264195"/>
          <p:cNvSpPr txBox="1"/>
          <p:nvPr/>
        </p:nvSpPr>
        <p:spPr>
          <a:xfrm>
            <a:off x="684213" y="404813"/>
            <a:ext cx="5472112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2.    </a:t>
            </a:r>
            <a:r>
              <a:rPr lang="zh-CN" altLang="en-US" dirty="0">
                <a:latin typeface="Times New Roman" panose="02020603050405020304" pitchFamily="18" charset="0"/>
              </a:rPr>
              <a:t>两个基本原理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64197" name="文本框 264196"/>
          <p:cNvSpPr txBox="1"/>
          <p:nvPr/>
        </p:nvSpPr>
        <p:spPr>
          <a:xfrm>
            <a:off x="608013" y="965200"/>
            <a:ext cx="58356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爱因斯坦相对性原理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64198" name="文本框 264197"/>
          <p:cNvSpPr txBox="1"/>
          <p:nvPr/>
        </p:nvSpPr>
        <p:spPr>
          <a:xfrm>
            <a:off x="1122363" y="1474788"/>
            <a:ext cx="7842250" cy="946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</a:rPr>
              <a:t>物理规律对所有惯性系都是一样的</a:t>
            </a:r>
            <a:r>
              <a:rPr lang="en-US" altLang="zh-CN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</a:rPr>
              <a:t>不存在任</a:t>
            </a:r>
            <a:endParaRPr lang="zh-CN" altLang="en-US" dirty="0">
              <a:solidFill>
                <a:srgbClr val="0033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</a:rPr>
              <a:t>何一个特殊的惯性系。</a:t>
            </a:r>
            <a:endParaRPr lang="zh-CN" altLang="en-US">
              <a:solidFill>
                <a:srgbClr val="0033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4199" name="文本框 264198"/>
          <p:cNvSpPr txBox="1"/>
          <p:nvPr/>
        </p:nvSpPr>
        <p:spPr>
          <a:xfrm>
            <a:off x="611188" y="2478088"/>
            <a:ext cx="5688012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光速不变原理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64200" name="文本框 264199"/>
          <p:cNvSpPr txBox="1"/>
          <p:nvPr/>
        </p:nvSpPr>
        <p:spPr>
          <a:xfrm>
            <a:off x="1122363" y="2987675"/>
            <a:ext cx="7537450" cy="946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</a:rPr>
              <a:t>在任何惯性系中测量，光在真空中传播的速率都相等。</a:t>
            </a:r>
            <a:endParaRPr lang="zh-CN" altLang="en-US">
              <a:solidFill>
                <a:srgbClr val="0033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64204" name="对象 264203"/>
          <p:cNvGraphicFramePr/>
          <p:nvPr/>
        </p:nvGraphicFramePr>
        <p:xfrm>
          <a:off x="2076450" y="3860800"/>
          <a:ext cx="51244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1765300" imgH="228600" progId="Equation.3">
                  <p:embed/>
                </p:oleObj>
              </mc:Choice>
              <mc:Fallback>
                <p:oleObj name="" r:id="rId1" imgW="1765300" imgH="2286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76450" y="3860800"/>
                        <a:ext cx="5124450" cy="638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05" name="文本框 264204"/>
          <p:cNvSpPr txBox="1"/>
          <p:nvPr/>
        </p:nvSpPr>
        <p:spPr>
          <a:xfrm>
            <a:off x="933450" y="4427538"/>
            <a:ext cx="8247063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>
                <a:latin typeface="Arial" panose="020B0604020202020204" pitchFamily="34" charset="0"/>
              </a:rPr>
              <a:t>       1964-1966</a:t>
            </a:r>
            <a:r>
              <a:rPr lang="zh-CN" altLang="en-US" dirty="0">
                <a:latin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</a:rPr>
              <a:t>,</a:t>
            </a:r>
            <a:r>
              <a:rPr lang="zh-CN" altLang="en-US" dirty="0">
                <a:latin typeface="Arial" panose="020B0604020202020204" pitchFamily="34" charset="0"/>
              </a:rPr>
              <a:t>欧洲核子中心的实验直接验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证了光速不变的原理：</a:t>
            </a:r>
            <a:endParaRPr lang="zh-CN" altLang="en-US">
              <a:latin typeface="Arial" panose="020B0604020202020204" pitchFamily="34" charset="0"/>
            </a:endParaRPr>
          </a:p>
        </p:txBody>
      </p:sp>
      <p:grpSp>
        <p:nvGrpSpPr>
          <p:cNvPr id="264209" name="组合 264208"/>
          <p:cNvGrpSpPr/>
          <p:nvPr/>
        </p:nvGrpSpPr>
        <p:grpSpPr>
          <a:xfrm>
            <a:off x="898525" y="5334000"/>
            <a:ext cx="8426450" cy="1055688"/>
            <a:chOff x="312" y="3198"/>
            <a:chExt cx="5308" cy="665"/>
          </a:xfrm>
        </p:grpSpPr>
        <p:sp>
          <p:nvSpPr>
            <p:cNvPr id="264207" name="文本框 264206"/>
            <p:cNvSpPr txBox="1"/>
            <p:nvPr/>
          </p:nvSpPr>
          <p:spPr>
            <a:xfrm>
              <a:off x="312" y="3267"/>
              <a:ext cx="5308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dirty="0">
                  <a:latin typeface="Arial" panose="020B0604020202020204" pitchFamily="34" charset="0"/>
                </a:rPr>
                <a:t>       </a:t>
              </a:r>
              <a:r>
                <a:rPr lang="zh-CN" altLang="en-US" dirty="0">
                  <a:latin typeface="Arial" panose="020B0604020202020204" pitchFamily="34" charset="0"/>
                </a:rPr>
                <a:t>以</a:t>
              </a:r>
              <a:r>
                <a:rPr lang="en-US" altLang="zh-CN">
                  <a:latin typeface="Times New Roman" panose="02020603050405020304" pitchFamily="18" charset="0"/>
                </a:rPr>
                <a:t>0.99975</a:t>
              </a:r>
              <a:r>
                <a:rPr lang="en-US" altLang="zh-CN" i="1">
                  <a:latin typeface="Times New Roman" panose="02020603050405020304" pitchFamily="18" charset="0"/>
                </a:rPr>
                <a:t>c</a:t>
              </a:r>
              <a:r>
                <a:rPr lang="zh-CN" altLang="en-US" dirty="0">
                  <a:latin typeface="Arial" panose="020B0604020202020204" pitchFamily="34" charset="0"/>
                </a:rPr>
                <a:t>的高速飞行的     介子</a:t>
              </a:r>
              <a:r>
                <a:rPr lang="en-US" altLang="zh-CN">
                  <a:latin typeface="Arial" panose="020B0604020202020204" pitchFamily="34" charset="0"/>
                </a:rPr>
                <a:t>,</a:t>
              </a:r>
              <a:r>
                <a:rPr lang="zh-CN" altLang="en-US" dirty="0">
                  <a:latin typeface="Arial" panose="020B0604020202020204" pitchFamily="34" charset="0"/>
                </a:rPr>
                <a:t>在飞行中</a:t>
              </a:r>
              <a:endParaRPr lang="zh-CN" altLang="en-US" dirty="0">
                <a:latin typeface="Arial" panose="020B0604020202020204" pitchFamily="34" charset="0"/>
              </a:endParaRPr>
            </a:p>
            <a:p>
              <a:r>
                <a:rPr lang="zh-CN" altLang="en-US" dirty="0">
                  <a:latin typeface="Arial" panose="020B0604020202020204" pitchFamily="34" charset="0"/>
                </a:rPr>
                <a:t>辐射光子</a:t>
              </a:r>
              <a:r>
                <a:rPr lang="en-US" altLang="zh-CN">
                  <a:latin typeface="Arial" panose="020B0604020202020204" pitchFamily="34" charset="0"/>
                </a:rPr>
                <a:t>,</a:t>
              </a:r>
              <a:r>
                <a:rPr lang="zh-CN" altLang="en-US" dirty="0">
                  <a:latin typeface="Arial" panose="020B0604020202020204" pitchFamily="34" charset="0"/>
                </a:rPr>
                <a:t>得到光子的实验室速度数值仍然是</a:t>
              </a:r>
              <a:r>
                <a:rPr lang="en-US" altLang="zh-CN" i="1">
                  <a:latin typeface="Times New Roman" panose="02020603050405020304" pitchFamily="18" charset="0"/>
                </a:rPr>
                <a:t>c</a:t>
              </a:r>
              <a:r>
                <a:rPr lang="en-US" altLang="zh-CN">
                  <a:latin typeface="Arial" panose="020B0604020202020204" pitchFamily="34" charset="0"/>
                </a:rPr>
                <a:t> .</a:t>
              </a:r>
              <a:endParaRPr lang="en-US" altLang="zh-CN">
                <a:latin typeface="Arial" panose="020B0604020202020204" pitchFamily="34" charset="0"/>
              </a:endParaRPr>
            </a:p>
          </p:txBody>
        </p:sp>
        <p:graphicFrame>
          <p:nvGraphicFramePr>
            <p:cNvPr id="264208" name="对象 264207"/>
            <p:cNvGraphicFramePr/>
            <p:nvPr/>
          </p:nvGraphicFramePr>
          <p:xfrm>
            <a:off x="3170" y="3198"/>
            <a:ext cx="403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3" imgW="190500" imgH="203200" progId="Equation.3">
                    <p:embed/>
                  </p:oleObj>
                </mc:Choice>
                <mc:Fallback>
                  <p:oleObj name="" r:id="rId3" imgW="190500" imgH="2032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70" y="3198"/>
                          <a:ext cx="403" cy="3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4210" name="文本框 264209"/>
          <p:cNvSpPr txBox="1"/>
          <p:nvPr/>
        </p:nvSpPr>
        <p:spPr>
          <a:xfrm>
            <a:off x="8655050" y="6400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75"/>
                                        <p:tgtEl>
                                          <p:spTgt spid="26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75"/>
                                        <p:tgtEl>
                                          <p:spTgt spid="26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75"/>
                                        <p:tgtEl>
                                          <p:spTgt spid="26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75"/>
                                        <p:tgtEl>
                                          <p:spTgt spid="26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75"/>
                                        <p:tgtEl>
                                          <p:spTgt spid="26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6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64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64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6" grpId="0"/>
      <p:bldP spid="264197" grpId="0"/>
      <p:bldP spid="264198" grpId="0"/>
      <p:bldP spid="264199" grpId="0"/>
      <p:bldP spid="264200" grpId="0"/>
      <p:bldP spid="26420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44" name="文本框 266243"/>
          <p:cNvSpPr txBox="1"/>
          <p:nvPr/>
        </p:nvSpPr>
        <p:spPr>
          <a:xfrm>
            <a:off x="5219700" y="1341438"/>
            <a:ext cx="35290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设有如下思想实验：</a:t>
            </a:r>
            <a:endParaRPr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66245" name="直接连接符 266244"/>
          <p:cNvSpPr/>
          <p:nvPr/>
        </p:nvSpPr>
        <p:spPr>
          <a:xfrm flipV="1">
            <a:off x="4062413" y="1619250"/>
            <a:ext cx="0" cy="2209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246" name="直接连接符 266245"/>
          <p:cNvSpPr/>
          <p:nvPr/>
        </p:nvSpPr>
        <p:spPr>
          <a:xfrm>
            <a:off x="4062413" y="3829050"/>
            <a:ext cx="4876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247" name="直接连接符 266246"/>
          <p:cNvSpPr/>
          <p:nvPr/>
        </p:nvSpPr>
        <p:spPr>
          <a:xfrm flipV="1">
            <a:off x="5053013" y="1543050"/>
            <a:ext cx="0" cy="2209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248" name="文本框 266247"/>
          <p:cNvSpPr txBox="1"/>
          <p:nvPr/>
        </p:nvSpPr>
        <p:spPr>
          <a:xfrm>
            <a:off x="4672013" y="1314450"/>
            <a:ext cx="4603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y</a:t>
            </a:r>
            <a:r>
              <a:rPr lang="en-US" altLang="zh-CN" i="1">
                <a:latin typeface="Times New Roman" panose="02020603050405020304" pitchFamily="18" charset="0"/>
              </a:rPr>
              <a:t>'</a:t>
            </a:r>
            <a:endParaRPr lang="en-US" altLang="zh-CN" i="1" baseline="30000">
              <a:latin typeface="Times New Roman" panose="02020603050405020304" pitchFamily="18" charset="0"/>
            </a:endParaRPr>
          </a:p>
        </p:txBody>
      </p:sp>
      <p:sp>
        <p:nvSpPr>
          <p:cNvPr id="266249" name="文本框 266248"/>
          <p:cNvSpPr txBox="1"/>
          <p:nvPr/>
        </p:nvSpPr>
        <p:spPr>
          <a:xfrm>
            <a:off x="3757613" y="131445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y</a:t>
            </a:r>
            <a:endParaRPr lang="en-US" altLang="zh-CN" baseline="30000">
              <a:latin typeface="Times New Roman" panose="02020603050405020304" pitchFamily="18" charset="0"/>
            </a:endParaRPr>
          </a:p>
        </p:txBody>
      </p:sp>
      <p:sp>
        <p:nvSpPr>
          <p:cNvPr id="266250" name="文本框 266249"/>
          <p:cNvSpPr txBox="1"/>
          <p:nvPr/>
        </p:nvSpPr>
        <p:spPr>
          <a:xfrm>
            <a:off x="8504238" y="3702050"/>
            <a:ext cx="361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x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66251" name="文本框 266250"/>
          <p:cNvSpPr txBox="1"/>
          <p:nvPr/>
        </p:nvSpPr>
        <p:spPr>
          <a:xfrm>
            <a:off x="8482013" y="3244850"/>
            <a:ext cx="91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x</a:t>
            </a:r>
            <a:r>
              <a:rPr lang="en-US" altLang="zh-CN" i="1" baseline="30000">
                <a:latin typeface="Times New Roman" panose="02020603050405020304" pitchFamily="18" charset="0"/>
              </a:rPr>
              <a:t>'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66252" name="直接连接符 266251"/>
          <p:cNvSpPr/>
          <p:nvPr/>
        </p:nvSpPr>
        <p:spPr>
          <a:xfrm>
            <a:off x="5053013" y="3752850"/>
            <a:ext cx="3733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253" name="直接连接符 266252"/>
          <p:cNvSpPr/>
          <p:nvPr/>
        </p:nvSpPr>
        <p:spPr>
          <a:xfrm flipV="1">
            <a:off x="5357813" y="3143250"/>
            <a:ext cx="0" cy="60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54" name="直接连接符 266253"/>
          <p:cNvSpPr/>
          <p:nvPr/>
        </p:nvSpPr>
        <p:spPr>
          <a:xfrm flipV="1">
            <a:off x="8329613" y="3143250"/>
            <a:ext cx="0" cy="60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55" name="流程图: 联系 266254"/>
          <p:cNvSpPr/>
          <p:nvPr/>
        </p:nvSpPr>
        <p:spPr>
          <a:xfrm>
            <a:off x="5281613" y="3067050"/>
            <a:ext cx="152400" cy="152400"/>
          </a:xfrm>
          <a:prstGeom prst="flowChartConnector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66256" name="流程图: 联系 266255"/>
          <p:cNvSpPr/>
          <p:nvPr/>
        </p:nvSpPr>
        <p:spPr>
          <a:xfrm>
            <a:off x="8253413" y="3067050"/>
            <a:ext cx="152400" cy="152400"/>
          </a:xfrm>
          <a:prstGeom prst="flowChartConnector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66257" name="文本框 266256"/>
          <p:cNvSpPr txBox="1"/>
          <p:nvPr/>
        </p:nvSpPr>
        <p:spPr>
          <a:xfrm>
            <a:off x="5129213" y="268605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A</a:t>
            </a:r>
            <a:r>
              <a:rPr lang="en-US" altLang="zh-CN" sz="2400" i="1">
                <a:latin typeface="Times New Roman" panose="02020603050405020304" pitchFamily="18" charset="0"/>
              </a:rPr>
              <a:t>'</a:t>
            </a:r>
            <a:endParaRPr lang="en-US" altLang="zh-CN" sz="2400" b="0" i="1">
              <a:latin typeface="Times New Roman" panose="02020603050405020304" pitchFamily="18" charset="0"/>
            </a:endParaRPr>
          </a:p>
        </p:txBody>
      </p:sp>
      <p:sp>
        <p:nvSpPr>
          <p:cNvPr id="266258" name="文本框 266257"/>
          <p:cNvSpPr txBox="1"/>
          <p:nvPr/>
        </p:nvSpPr>
        <p:spPr>
          <a:xfrm>
            <a:off x="8101013" y="268605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B</a:t>
            </a:r>
            <a:r>
              <a:rPr lang="en-US" altLang="zh-CN" sz="2400" i="1">
                <a:latin typeface="Times New Roman" panose="02020603050405020304" pitchFamily="18" charset="0"/>
              </a:rPr>
              <a:t>'</a:t>
            </a:r>
            <a:endParaRPr lang="en-US" altLang="zh-CN" sz="2400" b="0" i="1">
              <a:latin typeface="Times New Roman" panose="02020603050405020304" pitchFamily="18" charset="0"/>
            </a:endParaRPr>
          </a:p>
        </p:txBody>
      </p:sp>
      <p:sp>
        <p:nvSpPr>
          <p:cNvPr id="266259" name="文本框 266258"/>
          <p:cNvSpPr txBox="1"/>
          <p:nvPr/>
        </p:nvSpPr>
        <p:spPr>
          <a:xfrm>
            <a:off x="6729413" y="2609850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M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266260" name="直接连接符 266259"/>
          <p:cNvSpPr/>
          <p:nvPr/>
        </p:nvSpPr>
        <p:spPr>
          <a:xfrm>
            <a:off x="5053013" y="2305050"/>
            <a:ext cx="685800" cy="0"/>
          </a:xfrm>
          <a:prstGeom prst="line">
            <a:avLst/>
          </a:prstGeom>
          <a:ln w="2857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261" name="文本框 266260"/>
          <p:cNvSpPr txBox="1"/>
          <p:nvPr/>
        </p:nvSpPr>
        <p:spPr>
          <a:xfrm>
            <a:off x="5129213" y="1801813"/>
            <a:ext cx="36512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3200" i="1">
                <a:latin typeface="Times New Roman" panose="02020603050405020304" pitchFamily="18" charset="0"/>
              </a:rPr>
              <a:t>v</a:t>
            </a:r>
            <a:endParaRPr lang="en-US" altLang="zh-CN" sz="3200" b="0" i="1">
              <a:latin typeface="Times New Roman" panose="02020603050405020304" pitchFamily="18" charset="0"/>
            </a:endParaRPr>
          </a:p>
        </p:txBody>
      </p:sp>
      <p:sp>
        <p:nvSpPr>
          <p:cNvPr id="266262" name="文本框 266261"/>
          <p:cNvSpPr txBox="1"/>
          <p:nvPr/>
        </p:nvSpPr>
        <p:spPr>
          <a:xfrm>
            <a:off x="3910013" y="3752850"/>
            <a:ext cx="4048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 b="0" i="1">
                <a:latin typeface="Times New Roman" panose="02020603050405020304" pitchFamily="18" charset="0"/>
              </a:rPr>
              <a:t>O</a:t>
            </a:r>
            <a:endParaRPr lang="en-US" altLang="zh-CN" sz="2400" b="0" i="1">
              <a:latin typeface="Times New Roman" panose="02020603050405020304" pitchFamily="18" charset="0"/>
            </a:endParaRPr>
          </a:p>
        </p:txBody>
      </p:sp>
      <p:sp>
        <p:nvSpPr>
          <p:cNvPr id="266263" name="文本框 266262"/>
          <p:cNvSpPr txBox="1"/>
          <p:nvPr/>
        </p:nvSpPr>
        <p:spPr>
          <a:xfrm>
            <a:off x="684213" y="981075"/>
            <a:ext cx="41036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>
                <a:solidFill>
                  <a:srgbClr val="003366"/>
                </a:solidFill>
                <a:latin typeface="Times New Roman" panose="02020603050405020304" pitchFamily="18" charset="0"/>
              </a:rPr>
              <a:t>在</a:t>
            </a:r>
            <a:r>
              <a:rPr lang="en-US" altLang="en-US">
                <a:solidFill>
                  <a:srgbClr val="003366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003366"/>
                </a:solidFill>
                <a:latin typeface="Times New Roman" panose="02020603050405020304" pitchFamily="18" charset="0"/>
              </a:rPr>
              <a:t>S' </a:t>
            </a:r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</a:rPr>
              <a:t>系中观察：</a:t>
            </a:r>
            <a:endParaRPr lang="zh-CN" altLang="en-US" dirty="0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64" name="文本框 266263"/>
          <p:cNvSpPr txBox="1"/>
          <p:nvPr/>
        </p:nvSpPr>
        <p:spPr>
          <a:xfrm>
            <a:off x="847725" y="2909888"/>
            <a:ext cx="3652838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光到达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i="1">
                <a:latin typeface="Times New Roman" panose="02020603050405020304" pitchFamily="18" charset="0"/>
                <a:ea typeface="楷体_GB2312" pitchFamily="49" charset="-122"/>
              </a:rPr>
              <a:t>'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和光到达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i="1">
                <a:latin typeface="Times New Roman" panose="02020603050405020304" pitchFamily="18" charset="0"/>
                <a:ea typeface="楷体_GB2312" pitchFamily="49" charset="-122"/>
              </a:rPr>
              <a:t>'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这两事件</a:t>
            </a:r>
            <a:r>
              <a:rPr lang="zh-CN" altLang="en-US" sz="2400" dirty="0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</a:rPr>
              <a:t>不会同时</a:t>
            </a:r>
            <a:endParaRPr lang="zh-CN" altLang="en-US" sz="2400" dirty="0">
              <a:solidFill>
                <a:srgbClr val="990033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sz="2400" dirty="0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</a:rPr>
              <a:t>发生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！！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6265" name="文本框 266264"/>
          <p:cNvSpPr txBox="1"/>
          <p:nvPr/>
        </p:nvSpPr>
        <p:spPr>
          <a:xfrm>
            <a:off x="754063" y="1484313"/>
            <a:ext cx="39624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光到达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i="1">
                <a:latin typeface="Times New Roman" panose="02020603050405020304" pitchFamily="18" charset="0"/>
                <a:ea typeface="楷体_GB2312" pitchFamily="49" charset="-122"/>
              </a:rPr>
              <a:t>'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和光到达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i="1">
                <a:latin typeface="Times New Roman" panose="02020603050405020304" pitchFamily="18" charset="0"/>
                <a:ea typeface="楷体_GB2312" pitchFamily="49" charset="-122"/>
              </a:rPr>
              <a:t>'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这两事件</a:t>
            </a:r>
            <a:r>
              <a:rPr lang="zh-CN" altLang="en-US" sz="2400" dirty="0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</a:rPr>
              <a:t>同时发生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4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6266" name="文本框 266265"/>
          <p:cNvSpPr txBox="1"/>
          <p:nvPr/>
        </p:nvSpPr>
        <p:spPr>
          <a:xfrm>
            <a:off x="682625" y="2492375"/>
            <a:ext cx="4105275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>
                <a:solidFill>
                  <a:srgbClr val="003366"/>
                </a:solidFill>
                <a:latin typeface="Times New Roman" panose="02020603050405020304" pitchFamily="18" charset="0"/>
              </a:rPr>
              <a:t>在</a:t>
            </a:r>
            <a:r>
              <a:rPr lang="en-US" altLang="en-US">
                <a:solidFill>
                  <a:srgbClr val="003366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003366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</a:rPr>
              <a:t>系中观察：</a:t>
            </a:r>
            <a:endParaRPr lang="zh-CN" altLang="en-US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67" name="直接连接符 266266"/>
          <p:cNvSpPr/>
          <p:nvPr/>
        </p:nvSpPr>
        <p:spPr>
          <a:xfrm flipH="1">
            <a:off x="5434013" y="3143250"/>
            <a:ext cx="281940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68" name="直接连接符 266267"/>
          <p:cNvSpPr/>
          <p:nvPr/>
        </p:nvSpPr>
        <p:spPr>
          <a:xfrm flipH="1">
            <a:off x="5434013" y="3143250"/>
            <a:ext cx="281940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69" name="直接连接符 266268"/>
          <p:cNvSpPr/>
          <p:nvPr/>
        </p:nvSpPr>
        <p:spPr>
          <a:xfrm flipH="1">
            <a:off x="5434013" y="3143250"/>
            <a:ext cx="28194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66270" name="组合 266269"/>
          <p:cNvGrpSpPr/>
          <p:nvPr/>
        </p:nvGrpSpPr>
        <p:grpSpPr>
          <a:xfrm>
            <a:off x="5281613" y="3067050"/>
            <a:ext cx="3124200" cy="152400"/>
            <a:chOff x="3168" y="3264"/>
            <a:chExt cx="1968" cy="96"/>
          </a:xfrm>
        </p:grpSpPr>
        <p:sp>
          <p:nvSpPr>
            <p:cNvPr id="266271" name="流程图: 联系 266270"/>
            <p:cNvSpPr/>
            <p:nvPr/>
          </p:nvSpPr>
          <p:spPr>
            <a:xfrm>
              <a:off x="3168" y="3264"/>
              <a:ext cx="96" cy="96"/>
            </a:xfrm>
            <a:prstGeom prst="flowChartConnector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272" name="流程图: 联系 266271"/>
            <p:cNvSpPr/>
            <p:nvPr/>
          </p:nvSpPr>
          <p:spPr>
            <a:xfrm>
              <a:off x="5040" y="3264"/>
              <a:ext cx="96" cy="96"/>
            </a:xfrm>
            <a:prstGeom prst="flowChartConnector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66273" name="组合 266272"/>
          <p:cNvGrpSpPr/>
          <p:nvPr/>
        </p:nvGrpSpPr>
        <p:grpSpPr>
          <a:xfrm>
            <a:off x="5281613" y="3067050"/>
            <a:ext cx="3124200" cy="152400"/>
            <a:chOff x="3168" y="3264"/>
            <a:chExt cx="1968" cy="96"/>
          </a:xfrm>
        </p:grpSpPr>
        <p:sp>
          <p:nvSpPr>
            <p:cNvPr id="266274" name="流程图: 联系 266273"/>
            <p:cNvSpPr/>
            <p:nvPr/>
          </p:nvSpPr>
          <p:spPr>
            <a:xfrm>
              <a:off x="3168" y="3264"/>
              <a:ext cx="96" cy="96"/>
            </a:xfrm>
            <a:prstGeom prst="flowChartConnector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275" name="流程图: 联系 266274"/>
            <p:cNvSpPr/>
            <p:nvPr/>
          </p:nvSpPr>
          <p:spPr>
            <a:xfrm>
              <a:off x="5040" y="3264"/>
              <a:ext cx="96" cy="96"/>
            </a:xfrm>
            <a:prstGeom prst="flowChartConnector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66276" name="组合 266275"/>
          <p:cNvGrpSpPr/>
          <p:nvPr/>
        </p:nvGrpSpPr>
        <p:grpSpPr>
          <a:xfrm>
            <a:off x="5281613" y="3067050"/>
            <a:ext cx="3124200" cy="152400"/>
            <a:chOff x="3168" y="3264"/>
            <a:chExt cx="1968" cy="96"/>
          </a:xfrm>
        </p:grpSpPr>
        <p:sp>
          <p:nvSpPr>
            <p:cNvPr id="266277" name="流程图: 联系 266276"/>
            <p:cNvSpPr/>
            <p:nvPr/>
          </p:nvSpPr>
          <p:spPr>
            <a:xfrm>
              <a:off x="3168" y="3264"/>
              <a:ext cx="96" cy="96"/>
            </a:xfrm>
            <a:prstGeom prst="flowChartConnector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278" name="流程图: 联系 266277"/>
            <p:cNvSpPr/>
            <p:nvPr/>
          </p:nvSpPr>
          <p:spPr>
            <a:xfrm>
              <a:off x="5040" y="3264"/>
              <a:ext cx="96" cy="96"/>
            </a:xfrm>
            <a:prstGeom prst="flowChartConnector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66279" name="组合 266278"/>
          <p:cNvGrpSpPr/>
          <p:nvPr/>
        </p:nvGrpSpPr>
        <p:grpSpPr>
          <a:xfrm>
            <a:off x="6729413" y="2990850"/>
            <a:ext cx="228600" cy="762000"/>
            <a:chOff x="4080" y="3216"/>
            <a:chExt cx="144" cy="480"/>
          </a:xfrm>
        </p:grpSpPr>
        <p:sp>
          <p:nvSpPr>
            <p:cNvPr id="266280" name="太阳形 266279"/>
            <p:cNvSpPr/>
            <p:nvPr/>
          </p:nvSpPr>
          <p:spPr>
            <a:xfrm>
              <a:off x="4080" y="3216"/>
              <a:ext cx="144" cy="144"/>
            </a:xfrm>
            <a:prstGeom prst="sun">
              <a:avLst>
                <a:gd name="adj" fmla="val 25000"/>
              </a:avLst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281" name="矩形 266280"/>
            <p:cNvSpPr/>
            <p:nvPr/>
          </p:nvSpPr>
          <p:spPr>
            <a:xfrm>
              <a:off x="4128" y="3360"/>
              <a:ext cx="48" cy="336"/>
            </a:xfrm>
            <a:prstGeom prst="rect">
              <a:avLst/>
            </a:prstGeom>
            <a:solidFill>
              <a:srgbClr val="CC99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66282" name="矩形 266281"/>
          <p:cNvSpPr/>
          <p:nvPr/>
        </p:nvSpPr>
        <p:spPr>
          <a:xfrm>
            <a:off x="647700" y="4216400"/>
            <a:ext cx="84963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可见，两物理事件是否同时发生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不是绝对的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而是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依赖于参考系的选择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即必须相对于某参考系而言，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因而是相对的。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283" name="文本框 266282"/>
          <p:cNvSpPr txBox="1"/>
          <p:nvPr/>
        </p:nvSpPr>
        <p:spPr>
          <a:xfrm>
            <a:off x="684213" y="5589588"/>
            <a:ext cx="8712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对不同参考系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同样两事件之间的时间间隔不同。    </a:t>
            </a:r>
            <a:endParaRPr lang="zh-CN" altLang="en-US" b="0">
              <a:latin typeface="Times New Roman" panose="02020603050405020304" pitchFamily="18" charset="0"/>
            </a:endParaRPr>
          </a:p>
        </p:txBody>
      </p:sp>
      <p:sp>
        <p:nvSpPr>
          <p:cNvPr id="266284" name="文本框 266283"/>
          <p:cNvSpPr txBox="1"/>
          <p:nvPr/>
        </p:nvSpPr>
        <p:spPr>
          <a:xfrm>
            <a:off x="700088" y="6165850"/>
            <a:ext cx="86248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即：</a:t>
            </a:r>
            <a:r>
              <a:rPr lang="zh-CN" altLang="en-US" dirty="0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</a:rPr>
              <a:t>时间度量是相对的</a:t>
            </a:r>
            <a:r>
              <a:rPr lang="en-US" altLang="zh-CN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dirty="0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</a:rPr>
              <a:t>这就是同时性的相对性。</a:t>
            </a:r>
            <a:endParaRPr lang="zh-CN" altLang="en-US">
              <a:solidFill>
                <a:srgbClr val="990033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6285" name="文本框 266284"/>
          <p:cNvSpPr txBox="1"/>
          <p:nvPr/>
        </p:nvSpPr>
        <p:spPr>
          <a:xfrm>
            <a:off x="684213" y="388938"/>
            <a:ext cx="72009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由光速不变原理得出的结论之一：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66286" name="文本框 266285"/>
          <p:cNvSpPr txBox="1"/>
          <p:nvPr/>
        </p:nvSpPr>
        <p:spPr>
          <a:xfrm>
            <a:off x="5940425" y="404813"/>
            <a:ext cx="33845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同时性的相对性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6288" name="文本框 266287"/>
          <p:cNvSpPr txBox="1"/>
          <p:nvPr/>
        </p:nvSpPr>
        <p:spPr>
          <a:xfrm>
            <a:off x="8655050" y="6400800"/>
            <a:ext cx="33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"/>
                                        <p:tgtEl>
                                          <p:spTgt spid="26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6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6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66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6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6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66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8" dur="500"/>
                                        <p:tgtEl>
                                          <p:spTgt spid="2662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6"/>
                                            </p:cond>
                                          </p:stCondLst>
                                        </p:cTn>
                                        <p:tgtEl>
                                          <p:spTgt spid="26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2662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4"/>
                                            </p:cond>
                                          </p:stCondLst>
                                        </p:cTn>
                                        <p:tgtEl>
                                          <p:spTgt spid="26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4" dur="500"/>
                                        <p:tgtEl>
                                          <p:spTgt spid="266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2"/>
                                            </p:cond>
                                          </p:stCondLst>
                                        </p:cTn>
                                        <p:tgtEl>
                                          <p:spTgt spid="26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66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66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66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66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6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66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66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5" dur="500"/>
                                        <p:tgtEl>
                                          <p:spTgt spid="26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75"/>
                                        <p:tgtEl>
                                          <p:spTgt spid="26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75" fill="hold"/>
                                        <p:tgtEl>
                                          <p:spTgt spid="266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75" fill="hold"/>
                                        <p:tgtEl>
                                          <p:spTgt spid="266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4" grpId="0"/>
      <p:bldP spid="266248" grpId="0"/>
      <p:bldP spid="266249" grpId="0"/>
      <p:bldP spid="266250" grpId="0"/>
      <p:bldP spid="266251" grpId="0"/>
      <p:bldP spid="266257" grpId="0"/>
      <p:bldP spid="266258" grpId="0"/>
      <p:bldP spid="266259" grpId="0"/>
      <p:bldP spid="266261" grpId="0"/>
      <p:bldP spid="266262" grpId="0"/>
      <p:bldP spid="266263" grpId="0"/>
      <p:bldP spid="266264" grpId="0"/>
      <p:bldP spid="266265" grpId="0"/>
      <p:bldP spid="266266" grpId="0"/>
      <p:bldP spid="266282" grpId="0"/>
      <p:bldP spid="266283" grpId="0"/>
      <p:bldP spid="266284" grpId="0"/>
      <p:bldP spid="266285" grpId="0"/>
      <p:bldP spid="26628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8706" name="文本框 328705"/>
          <p:cNvSpPr txBox="1"/>
          <p:nvPr/>
        </p:nvSpPr>
        <p:spPr>
          <a:xfrm>
            <a:off x="215900" y="836613"/>
            <a:ext cx="5105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0">
                <a:latin typeface="宋体" panose="02010600030101010101" pitchFamily="2" charset="-122"/>
              </a:rPr>
              <a:t>1</a:t>
            </a:r>
            <a:r>
              <a:rPr lang="zh-CN" altLang="en-US" b="0" dirty="0">
                <a:latin typeface="宋体" panose="02010600030101010101" pitchFamily="2" charset="-122"/>
              </a:rPr>
              <a:t>、</a:t>
            </a:r>
            <a:r>
              <a:rPr lang="zh-CN" altLang="en-US" dirty="0">
                <a:latin typeface="宋体" panose="02010600030101010101" pitchFamily="2" charset="-122"/>
              </a:rPr>
              <a:t>洛仑兹坐标变换的推导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328707" name="文本框 328706"/>
          <p:cNvSpPr txBox="1"/>
          <p:nvPr/>
        </p:nvSpPr>
        <p:spPr>
          <a:xfrm>
            <a:off x="609600" y="1600200"/>
            <a:ext cx="79248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0">
                <a:latin typeface="宋体" panose="02010600030101010101" pitchFamily="2" charset="-122"/>
              </a:rPr>
              <a:t>1</a:t>
            </a:r>
            <a:r>
              <a:rPr lang="zh-CN" altLang="en-US" b="0" dirty="0">
                <a:latin typeface="宋体" panose="02010600030101010101" pitchFamily="2" charset="-122"/>
              </a:rPr>
              <a:t>）因为两参照系以匀速</a:t>
            </a:r>
            <a:r>
              <a:rPr lang="en-US" altLang="zh-CN" b="0">
                <a:latin typeface="宋体" panose="02010600030101010101" pitchFamily="2" charset="-122"/>
              </a:rPr>
              <a:t>V</a:t>
            </a:r>
            <a:r>
              <a:rPr lang="zh-CN" altLang="en-US" b="0" dirty="0">
                <a:latin typeface="宋体" panose="02010600030101010101" pitchFamily="2" charset="-122"/>
              </a:rPr>
              <a:t>相对运动，所以时空坐标在两系之间的变换是线形的。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328708" name="文本框 328707"/>
          <p:cNvSpPr txBox="1"/>
          <p:nvPr/>
        </p:nvSpPr>
        <p:spPr>
          <a:xfrm>
            <a:off x="685800" y="4267200"/>
            <a:ext cx="1143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0" dirty="0">
                <a:latin typeface="宋体" panose="02010600030101010101" pitchFamily="2" charset="-122"/>
              </a:rPr>
              <a:t>可令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grpSp>
        <p:nvGrpSpPr>
          <p:cNvPr id="328709" name="组合 328708"/>
          <p:cNvGrpSpPr/>
          <p:nvPr/>
        </p:nvGrpSpPr>
        <p:grpSpPr>
          <a:xfrm>
            <a:off x="1800225" y="3644900"/>
            <a:ext cx="3611563" cy="1738313"/>
            <a:chOff x="1104" y="1281"/>
            <a:chExt cx="2275" cy="1095"/>
          </a:xfrm>
        </p:grpSpPr>
        <p:graphicFrame>
          <p:nvGraphicFramePr>
            <p:cNvPr id="328710" name="对象 328709"/>
            <p:cNvGraphicFramePr/>
            <p:nvPr/>
          </p:nvGraphicFramePr>
          <p:xfrm>
            <a:off x="1133" y="1281"/>
            <a:ext cx="2246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1" imgW="1116965" imgH="546100" progId="Equation.DSMT4">
                    <p:embed/>
                  </p:oleObj>
                </mc:Choice>
                <mc:Fallback>
                  <p:oleObj name="" r:id="rId1" imgW="1116965" imgH="546100" progId="Equation.DSMT4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33" y="1281"/>
                          <a:ext cx="2246" cy="10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711" name="左大括号 328710"/>
            <p:cNvSpPr/>
            <p:nvPr/>
          </p:nvSpPr>
          <p:spPr>
            <a:xfrm>
              <a:off x="1104" y="1536"/>
              <a:ext cx="48" cy="672"/>
            </a:xfrm>
            <a:prstGeom prst="leftBrace">
              <a:avLst>
                <a:gd name="adj1" fmla="val 116666"/>
                <a:gd name="adj2" fmla="val 50000"/>
              </a:avLst>
            </a:prstGeom>
            <a:noFill/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28712" name="文本框 328711"/>
          <p:cNvSpPr txBox="1"/>
          <p:nvPr/>
        </p:nvSpPr>
        <p:spPr>
          <a:xfrm>
            <a:off x="609600" y="5486400"/>
            <a:ext cx="8305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0">
                <a:latin typeface="宋体" panose="02010600030101010101" pitchFamily="2" charset="-122"/>
              </a:rPr>
              <a:t>3</a:t>
            </a:r>
            <a:r>
              <a:rPr lang="zh-CN" altLang="en-US" b="0" dirty="0">
                <a:latin typeface="宋体" panose="02010600030101010101" pitchFamily="2" charset="-122"/>
              </a:rPr>
              <a:t>）当两坐标原点重合时，两参照系上时钟调为零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328713" name="文本框 328712"/>
          <p:cNvSpPr txBox="1"/>
          <p:nvPr/>
        </p:nvSpPr>
        <p:spPr>
          <a:xfrm>
            <a:off x="609600" y="6262688"/>
            <a:ext cx="6172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0">
                <a:latin typeface="宋体" panose="02010600030101010101" pitchFamily="2" charset="-122"/>
              </a:rPr>
              <a:t>4</a:t>
            </a:r>
            <a:r>
              <a:rPr lang="zh-CN" altLang="en-US" b="0" dirty="0">
                <a:latin typeface="宋体" panose="02010600030101010101" pitchFamily="2" charset="-122"/>
              </a:rPr>
              <a:t>）低速情况应可以过度为伽利略变换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328714" name="文本框 328713"/>
          <p:cNvSpPr txBox="1"/>
          <p:nvPr/>
        </p:nvSpPr>
        <p:spPr>
          <a:xfrm>
            <a:off x="611188" y="3033713"/>
            <a:ext cx="6096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0">
                <a:latin typeface="宋体" panose="02010600030101010101" pitchFamily="2" charset="-122"/>
              </a:rPr>
              <a:t>2</a:t>
            </a:r>
            <a:r>
              <a:rPr lang="zh-CN" altLang="en-US" b="0" dirty="0">
                <a:latin typeface="宋体" panose="02010600030101010101" pitchFamily="2" charset="-122"/>
              </a:rPr>
              <a:t>）在没相对运动的方向不存在变换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328715" name="矩形 328714"/>
          <p:cNvSpPr/>
          <p:nvPr/>
        </p:nvSpPr>
        <p:spPr>
          <a:xfrm>
            <a:off x="0" y="0"/>
            <a:ext cx="8077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/>
            <a:r>
              <a:rPr lang="zh-CN" altLang="en-US" sz="3200" dirty="0">
                <a:latin typeface="宋体" panose="02010600030101010101" pitchFamily="2" charset="-122"/>
              </a:rPr>
              <a:t>第三节</a:t>
            </a:r>
            <a:r>
              <a:rPr lang="en-US" altLang="zh-CN" sz="3200">
                <a:latin typeface="宋体" panose="02010600030101010101" pitchFamily="2" charset="-122"/>
              </a:rPr>
              <a:t>.</a:t>
            </a:r>
            <a:r>
              <a:rPr lang="zh-CN" altLang="en-US" sz="3200" dirty="0">
                <a:latin typeface="宋体" panose="02010600030101010101" pitchFamily="2" charset="-122"/>
              </a:rPr>
              <a:t>洛仑兹变换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3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6" grpId="0"/>
      <p:bldP spid="328707" grpId="0"/>
      <p:bldP spid="328708" grpId="0"/>
      <p:bldP spid="328712" grpId="0"/>
      <p:bldP spid="328713" grpId="0"/>
      <p:bldP spid="328714" grpId="0"/>
      <p:bldP spid="3287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29730" name="组合 329729"/>
          <p:cNvGrpSpPr/>
          <p:nvPr/>
        </p:nvGrpSpPr>
        <p:grpSpPr>
          <a:xfrm>
            <a:off x="5181600" y="0"/>
            <a:ext cx="3962400" cy="2408238"/>
            <a:chOff x="3260" y="0"/>
            <a:chExt cx="2496" cy="1517"/>
          </a:xfrm>
        </p:grpSpPr>
        <p:grpSp>
          <p:nvGrpSpPr>
            <p:cNvPr id="329731" name="组合 329730"/>
            <p:cNvGrpSpPr/>
            <p:nvPr/>
          </p:nvGrpSpPr>
          <p:grpSpPr>
            <a:xfrm>
              <a:off x="3740" y="0"/>
              <a:ext cx="2016" cy="1056"/>
              <a:chOff x="3552" y="0"/>
              <a:chExt cx="2016" cy="1056"/>
            </a:xfrm>
          </p:grpSpPr>
          <p:sp>
            <p:nvSpPr>
              <p:cNvPr id="329732" name="直接连接符 329731"/>
              <p:cNvSpPr/>
              <p:nvPr/>
            </p:nvSpPr>
            <p:spPr>
              <a:xfrm>
                <a:off x="3552" y="1056"/>
                <a:ext cx="201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9733" name="直接连接符 329732"/>
              <p:cNvSpPr/>
              <p:nvPr/>
            </p:nvSpPr>
            <p:spPr>
              <a:xfrm flipV="1">
                <a:off x="3552" y="0"/>
                <a:ext cx="0" cy="105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329734" name="直接连接符 329733"/>
            <p:cNvSpPr/>
            <p:nvPr/>
          </p:nvSpPr>
          <p:spPr>
            <a:xfrm flipV="1">
              <a:off x="4220" y="0"/>
              <a:ext cx="0" cy="10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9735" name="椭圆 329734"/>
            <p:cNvSpPr/>
            <p:nvPr/>
          </p:nvSpPr>
          <p:spPr>
            <a:xfrm>
              <a:off x="4988" y="240"/>
              <a:ext cx="96" cy="96"/>
            </a:xfrm>
            <a:prstGeom prst="ellipse">
              <a:avLst/>
            </a:prstGeom>
            <a:solidFill>
              <a:schemeClr val="folHlink">
                <a:alpha val="55000"/>
              </a:scheme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9736" name="直接连接符 329735"/>
            <p:cNvSpPr/>
            <p:nvPr/>
          </p:nvSpPr>
          <p:spPr>
            <a:xfrm flipV="1">
              <a:off x="3740" y="336"/>
              <a:ext cx="1248" cy="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9737" name="椭圆 329736"/>
            <p:cNvSpPr/>
            <p:nvPr/>
          </p:nvSpPr>
          <p:spPr>
            <a:xfrm>
              <a:off x="3596" y="144"/>
              <a:ext cx="288" cy="288"/>
            </a:xfrm>
            <a:prstGeom prst="ellipse">
              <a:avLst/>
            </a:prstGeom>
            <a:solidFill>
              <a:schemeClr val="folHlink">
                <a:alpha val="55000"/>
              </a:scheme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9738" name="直接连接符 329737"/>
            <p:cNvSpPr/>
            <p:nvPr/>
          </p:nvSpPr>
          <p:spPr>
            <a:xfrm flipV="1">
              <a:off x="3740" y="240"/>
              <a:ext cx="144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9739" name="矩形 329738"/>
            <p:cNvSpPr/>
            <p:nvPr/>
          </p:nvSpPr>
          <p:spPr>
            <a:xfrm>
              <a:off x="3548" y="480"/>
              <a:ext cx="384" cy="96"/>
            </a:xfrm>
            <a:prstGeom prst="rect">
              <a:avLst/>
            </a:prstGeom>
            <a:solidFill>
              <a:schemeClr val="folHlink">
                <a:alpha val="55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9740" name="直接连接符 329739"/>
            <p:cNvSpPr/>
            <p:nvPr/>
          </p:nvSpPr>
          <p:spPr>
            <a:xfrm>
              <a:off x="3692" y="480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9741" name="直接连接符 329740"/>
            <p:cNvSpPr/>
            <p:nvPr/>
          </p:nvSpPr>
          <p:spPr>
            <a:xfrm>
              <a:off x="3788" y="480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9742" name="直接连接符 329741"/>
            <p:cNvSpPr/>
            <p:nvPr/>
          </p:nvSpPr>
          <p:spPr>
            <a:xfrm>
              <a:off x="4028" y="480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9743" name="直接连接符 329742"/>
            <p:cNvSpPr/>
            <p:nvPr/>
          </p:nvSpPr>
          <p:spPr>
            <a:xfrm>
              <a:off x="3596" y="480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9744" name="椭圆 329743"/>
            <p:cNvSpPr/>
            <p:nvPr/>
          </p:nvSpPr>
          <p:spPr>
            <a:xfrm>
              <a:off x="4076" y="144"/>
              <a:ext cx="288" cy="288"/>
            </a:xfrm>
            <a:prstGeom prst="ellipse">
              <a:avLst/>
            </a:prstGeom>
            <a:solidFill>
              <a:schemeClr val="folHlink">
                <a:alpha val="55000"/>
              </a:scheme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9745" name="直接连接符 329744"/>
            <p:cNvSpPr/>
            <p:nvPr/>
          </p:nvSpPr>
          <p:spPr>
            <a:xfrm flipV="1">
              <a:off x="4220" y="240"/>
              <a:ext cx="144" cy="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9746" name="矩形 329745"/>
            <p:cNvSpPr/>
            <p:nvPr/>
          </p:nvSpPr>
          <p:spPr>
            <a:xfrm>
              <a:off x="4028" y="480"/>
              <a:ext cx="384" cy="96"/>
            </a:xfrm>
            <a:prstGeom prst="rect">
              <a:avLst/>
            </a:prstGeom>
            <a:solidFill>
              <a:schemeClr val="folHlink">
                <a:alpha val="55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9747" name="直接连接符 329746"/>
            <p:cNvSpPr/>
            <p:nvPr/>
          </p:nvSpPr>
          <p:spPr>
            <a:xfrm>
              <a:off x="4172" y="480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9748" name="直接连接符 329747"/>
            <p:cNvSpPr/>
            <p:nvPr/>
          </p:nvSpPr>
          <p:spPr>
            <a:xfrm>
              <a:off x="4268" y="480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9749" name="直接连接符 329748"/>
            <p:cNvSpPr/>
            <p:nvPr/>
          </p:nvSpPr>
          <p:spPr>
            <a:xfrm>
              <a:off x="4364" y="480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9750" name="直接连接符 329749"/>
            <p:cNvSpPr/>
            <p:nvPr/>
          </p:nvSpPr>
          <p:spPr>
            <a:xfrm>
              <a:off x="4076" y="480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9751" name="直接连接符 329750"/>
            <p:cNvSpPr/>
            <p:nvPr/>
          </p:nvSpPr>
          <p:spPr>
            <a:xfrm flipV="1">
              <a:off x="4220" y="336"/>
              <a:ext cx="768" cy="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329752" name="文本框 329751"/>
            <p:cNvSpPr txBox="1"/>
            <p:nvPr/>
          </p:nvSpPr>
          <p:spPr>
            <a:xfrm>
              <a:off x="3260" y="0"/>
              <a:ext cx="336" cy="333"/>
            </a:xfrm>
            <a:prstGeom prst="rect">
              <a:avLst/>
            </a:prstGeom>
            <a:solidFill>
              <a:schemeClr val="folHlink">
                <a:alpha val="55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宋体" panose="02010600030101010101" pitchFamily="2" charset="-122"/>
                </a:rPr>
                <a:t>K</a:t>
              </a:r>
              <a:endParaRPr lang="en-US" altLang="zh-CN" b="0">
                <a:latin typeface="宋体" panose="02010600030101010101" pitchFamily="2" charset="-122"/>
              </a:endParaRPr>
            </a:p>
          </p:txBody>
        </p:sp>
        <p:sp>
          <p:nvSpPr>
            <p:cNvPr id="329753" name="文本框 329752"/>
            <p:cNvSpPr txBox="1"/>
            <p:nvPr/>
          </p:nvSpPr>
          <p:spPr>
            <a:xfrm>
              <a:off x="4412" y="0"/>
              <a:ext cx="384" cy="333"/>
            </a:xfrm>
            <a:prstGeom prst="rect">
              <a:avLst/>
            </a:prstGeom>
            <a:solidFill>
              <a:schemeClr val="folHlink">
                <a:alpha val="55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宋体" panose="02010600030101010101" pitchFamily="2" charset="-122"/>
                </a:rPr>
                <a:t>K’</a:t>
              </a:r>
              <a:endParaRPr lang="en-US" altLang="zh-CN" b="0">
                <a:latin typeface="宋体" panose="02010600030101010101" pitchFamily="2" charset="-122"/>
              </a:endParaRPr>
            </a:p>
          </p:txBody>
        </p:sp>
        <p:sp>
          <p:nvSpPr>
            <p:cNvPr id="329754" name="文本框 329753"/>
            <p:cNvSpPr txBox="1"/>
            <p:nvPr/>
          </p:nvSpPr>
          <p:spPr>
            <a:xfrm>
              <a:off x="5180" y="0"/>
              <a:ext cx="288" cy="333"/>
            </a:xfrm>
            <a:prstGeom prst="rect">
              <a:avLst/>
            </a:prstGeom>
            <a:solidFill>
              <a:schemeClr val="folHlink">
                <a:alpha val="55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宋体" panose="02010600030101010101" pitchFamily="2" charset="-122"/>
                </a:rPr>
                <a:t>P</a:t>
              </a:r>
              <a:endParaRPr lang="en-US" altLang="zh-CN" b="0">
                <a:latin typeface="宋体" panose="02010600030101010101" pitchFamily="2" charset="-122"/>
              </a:endParaRPr>
            </a:p>
          </p:txBody>
        </p:sp>
        <p:sp>
          <p:nvSpPr>
            <p:cNvPr id="329755" name="文本框 329754"/>
            <p:cNvSpPr txBox="1"/>
            <p:nvPr/>
          </p:nvSpPr>
          <p:spPr>
            <a:xfrm>
              <a:off x="3452" y="1008"/>
              <a:ext cx="288" cy="333"/>
            </a:xfrm>
            <a:prstGeom prst="rect">
              <a:avLst/>
            </a:prstGeom>
            <a:solidFill>
              <a:schemeClr val="folHlink">
                <a:alpha val="55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宋体" panose="02010600030101010101" pitchFamily="2" charset="-122"/>
                </a:rPr>
                <a:t>O</a:t>
              </a:r>
              <a:endParaRPr lang="en-US" altLang="zh-CN" b="0">
                <a:latin typeface="宋体" panose="02010600030101010101" pitchFamily="2" charset="-122"/>
              </a:endParaRPr>
            </a:p>
          </p:txBody>
        </p:sp>
        <p:sp>
          <p:nvSpPr>
            <p:cNvPr id="329756" name="文本框 329755"/>
            <p:cNvSpPr txBox="1"/>
            <p:nvPr/>
          </p:nvSpPr>
          <p:spPr>
            <a:xfrm>
              <a:off x="4220" y="1008"/>
              <a:ext cx="384" cy="333"/>
            </a:xfrm>
            <a:prstGeom prst="rect">
              <a:avLst/>
            </a:prstGeom>
            <a:solidFill>
              <a:schemeClr val="folHlink">
                <a:alpha val="55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宋体" panose="02010600030101010101" pitchFamily="2" charset="-122"/>
                </a:rPr>
                <a:t>O’</a:t>
              </a:r>
              <a:endParaRPr lang="en-US" altLang="zh-CN">
                <a:solidFill>
                  <a:schemeClr val="bg1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329757" name="对象 329756"/>
            <p:cNvGraphicFramePr/>
            <p:nvPr/>
          </p:nvGraphicFramePr>
          <p:xfrm>
            <a:off x="4460" y="240"/>
            <a:ext cx="32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1" imgW="127000" imgH="151765" progId="Equation.3">
                    <p:embed/>
                  </p:oleObj>
                </mc:Choice>
                <mc:Fallback>
                  <p:oleObj name="" r:id="rId1" imgW="127000" imgH="151765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66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0" y="240"/>
                          <a:ext cx="328" cy="335"/>
                        </a:xfrm>
                        <a:prstGeom prst="rect">
                          <a:avLst/>
                        </a:prstGeom>
                        <a:solidFill>
                          <a:schemeClr val="folHlink">
                            <a:alpha val="55000"/>
                          </a:schemeClr>
                        </a:solidFill>
                        <a:ln w="952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9758" name="对象 329757"/>
            <p:cNvGraphicFramePr/>
            <p:nvPr/>
          </p:nvGraphicFramePr>
          <p:xfrm>
            <a:off x="4700" y="576"/>
            <a:ext cx="240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3" imgW="152400" imgH="190500" progId="Equation.DSMT4">
                    <p:embed/>
                  </p:oleObj>
                </mc:Choice>
                <mc:Fallback>
                  <p:oleObj name="" r:id="rId3" imgW="152400" imgH="190500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00" y="576"/>
                          <a:ext cx="240" cy="396"/>
                        </a:xfrm>
                        <a:prstGeom prst="rect">
                          <a:avLst/>
                        </a:prstGeom>
                        <a:solidFill>
                          <a:schemeClr val="folHlink">
                            <a:alpha val="55000"/>
                          </a:schemeClr>
                        </a:solidFill>
                        <a:ln w="952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9759" name="直接连接符 329758"/>
            <p:cNvSpPr/>
            <p:nvPr/>
          </p:nvSpPr>
          <p:spPr>
            <a:xfrm>
              <a:off x="3740" y="1056"/>
              <a:ext cx="4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29760" name="对象 329759"/>
            <p:cNvGraphicFramePr/>
            <p:nvPr/>
          </p:nvGraphicFramePr>
          <p:xfrm>
            <a:off x="3788" y="1054"/>
            <a:ext cx="336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5" imgW="152400" imgH="241300" progId="Equation.DSMT4">
                    <p:embed/>
                  </p:oleObj>
                </mc:Choice>
                <mc:Fallback>
                  <p:oleObj name="" r:id="rId5" imgW="152400" imgH="241300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88" y="1054"/>
                          <a:ext cx="336" cy="463"/>
                        </a:xfrm>
                        <a:prstGeom prst="rect">
                          <a:avLst/>
                        </a:prstGeom>
                        <a:solidFill>
                          <a:schemeClr val="folHlink">
                            <a:alpha val="55000"/>
                          </a:schemeClr>
                        </a:solidFill>
                        <a:ln w="952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9761" name="直接连接符 329760"/>
            <p:cNvSpPr/>
            <p:nvPr/>
          </p:nvSpPr>
          <p:spPr>
            <a:xfrm>
              <a:off x="3884" y="480"/>
              <a:ext cx="0" cy="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9762" name="直接连接符 329761"/>
            <p:cNvSpPr/>
            <p:nvPr/>
          </p:nvSpPr>
          <p:spPr>
            <a:xfrm>
              <a:off x="5180" y="576"/>
              <a:ext cx="4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  <p:graphicFrame>
          <p:nvGraphicFramePr>
            <p:cNvPr id="329763" name="对象 329762"/>
            <p:cNvGraphicFramePr/>
            <p:nvPr/>
          </p:nvGraphicFramePr>
          <p:xfrm>
            <a:off x="5228" y="288"/>
            <a:ext cx="27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7" imgW="114300" imgH="139700" progId="Equation.3">
                    <p:embed/>
                  </p:oleObj>
                </mc:Choice>
                <mc:Fallback>
                  <p:oleObj name="" r:id="rId7" imgW="114300" imgH="1397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28" y="288"/>
                          <a:ext cx="276" cy="284"/>
                        </a:xfrm>
                        <a:prstGeom prst="rect">
                          <a:avLst/>
                        </a:prstGeom>
                        <a:solidFill>
                          <a:schemeClr val="folHlink">
                            <a:alpha val="55000"/>
                          </a:schemeClr>
                        </a:solidFill>
                        <a:ln w="952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9764" name="文本框 329763"/>
            <p:cNvSpPr txBox="1"/>
            <p:nvPr/>
          </p:nvSpPr>
          <p:spPr>
            <a:xfrm>
              <a:off x="5324" y="1104"/>
              <a:ext cx="432" cy="333"/>
            </a:xfrm>
            <a:prstGeom prst="rect">
              <a:avLst/>
            </a:prstGeom>
            <a:solidFill>
              <a:schemeClr val="folHlink">
                <a:alpha val="55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宋体" panose="02010600030101010101" pitchFamily="2" charset="-122"/>
                </a:rPr>
                <a:t>X’</a:t>
              </a:r>
              <a:endParaRPr lang="en-US" altLang="zh-CN" b="0">
                <a:latin typeface="宋体" panose="02010600030101010101" pitchFamily="2" charset="-122"/>
              </a:endParaRPr>
            </a:p>
          </p:txBody>
        </p:sp>
        <p:sp>
          <p:nvSpPr>
            <p:cNvPr id="329765" name="文本框 329764"/>
            <p:cNvSpPr txBox="1"/>
            <p:nvPr/>
          </p:nvSpPr>
          <p:spPr>
            <a:xfrm>
              <a:off x="5420" y="720"/>
              <a:ext cx="336" cy="333"/>
            </a:xfrm>
            <a:prstGeom prst="rect">
              <a:avLst/>
            </a:prstGeom>
            <a:solidFill>
              <a:schemeClr val="folHlink">
                <a:alpha val="55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>
                  <a:solidFill>
                    <a:schemeClr val="bg1"/>
                  </a:solidFill>
                  <a:latin typeface="宋体" panose="02010600030101010101" pitchFamily="2" charset="-122"/>
                </a:rPr>
                <a:t>X</a:t>
              </a:r>
              <a:endParaRPr lang="en-US" altLang="zh-CN" b="0">
                <a:latin typeface="宋体" panose="02010600030101010101" pitchFamily="2" charset="-122"/>
              </a:endParaRPr>
            </a:p>
          </p:txBody>
        </p:sp>
      </p:grpSp>
      <p:sp>
        <p:nvSpPr>
          <p:cNvPr id="329766" name="文本框 329765"/>
          <p:cNvSpPr txBox="1"/>
          <p:nvPr/>
        </p:nvSpPr>
        <p:spPr>
          <a:xfrm>
            <a:off x="0" y="0"/>
            <a:ext cx="4800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0" dirty="0">
                <a:latin typeface="宋体" panose="02010600030101010101" pitchFamily="2" charset="-122"/>
              </a:rPr>
              <a:t>（</a:t>
            </a:r>
            <a:r>
              <a:rPr lang="en-US" altLang="zh-CN" b="0">
                <a:latin typeface="宋体" panose="02010600030101010101" pitchFamily="2" charset="-122"/>
              </a:rPr>
              <a:t>1</a:t>
            </a:r>
            <a:r>
              <a:rPr lang="zh-CN" altLang="en-US" b="0" dirty="0">
                <a:latin typeface="宋体" panose="02010600030101010101" pitchFamily="2" charset="-122"/>
              </a:rPr>
              <a:t>）两观察者分别观测原点重合第一事件：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sp>
        <p:nvSpPr>
          <p:cNvPr id="329767" name="文本框 329766"/>
          <p:cNvSpPr txBox="1"/>
          <p:nvPr/>
        </p:nvSpPr>
        <p:spPr>
          <a:xfrm>
            <a:off x="457200" y="990600"/>
            <a:ext cx="2209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0">
                <a:latin typeface="宋体" panose="02010600030101010101" pitchFamily="2" charset="-122"/>
              </a:rPr>
              <a:t>K</a:t>
            </a:r>
            <a:r>
              <a:rPr lang="zh-CN" altLang="en-US" b="0" dirty="0">
                <a:latin typeface="宋体" panose="02010600030101010101" pitchFamily="2" charset="-122"/>
              </a:rPr>
              <a:t>系中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graphicFrame>
        <p:nvGraphicFramePr>
          <p:cNvPr id="329768" name="对象 329767"/>
          <p:cNvGraphicFramePr/>
          <p:nvPr/>
        </p:nvGraphicFramePr>
        <p:xfrm>
          <a:off x="2166938" y="963613"/>
          <a:ext cx="225583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9" imgW="939165" imgH="190500" progId="Equation.DSMT4">
                  <p:embed/>
                </p:oleObj>
              </mc:Choice>
              <mc:Fallback>
                <p:oleObj name="" r:id="rId9" imgW="939165" imgH="1905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66938" y="963613"/>
                        <a:ext cx="2255837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69" name="文本框 329768"/>
          <p:cNvSpPr txBox="1"/>
          <p:nvPr/>
        </p:nvSpPr>
        <p:spPr>
          <a:xfrm>
            <a:off x="487363" y="1482725"/>
            <a:ext cx="2209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b="0">
                <a:latin typeface="宋体" panose="02010600030101010101" pitchFamily="2" charset="-122"/>
              </a:rPr>
              <a:t>K’</a:t>
            </a:r>
            <a:r>
              <a:rPr lang="zh-CN" altLang="en-US" b="0" dirty="0">
                <a:latin typeface="宋体" panose="02010600030101010101" pitchFamily="2" charset="-122"/>
              </a:rPr>
              <a:t>系中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graphicFrame>
        <p:nvGraphicFramePr>
          <p:cNvPr id="329770" name="对象 329769"/>
          <p:cNvGraphicFramePr/>
          <p:nvPr/>
        </p:nvGraphicFramePr>
        <p:xfrm>
          <a:off x="2055813" y="1414463"/>
          <a:ext cx="252888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1" imgW="1054100" imgH="228600" progId="Equation.DSMT4">
                  <p:embed/>
                </p:oleObj>
              </mc:Choice>
              <mc:Fallback>
                <p:oleObj name="" r:id="rId11" imgW="1054100" imgH="2286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55813" y="1414463"/>
                        <a:ext cx="2528887" cy="638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71" name="右箭头 329770"/>
          <p:cNvSpPr/>
          <p:nvPr/>
        </p:nvSpPr>
        <p:spPr>
          <a:xfrm>
            <a:off x="533400" y="22098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graphicFrame>
        <p:nvGraphicFramePr>
          <p:cNvPr id="329772" name="对象 329771"/>
          <p:cNvGraphicFramePr/>
          <p:nvPr/>
        </p:nvGraphicFramePr>
        <p:xfrm>
          <a:off x="1287463" y="2101850"/>
          <a:ext cx="1839912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3" imgW="711200" imgH="228600" progId="Equation.DSMT4">
                  <p:embed/>
                </p:oleObj>
              </mc:Choice>
              <mc:Fallback>
                <p:oleObj name="" r:id="rId13" imgW="711200" imgH="2286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87463" y="2101850"/>
                        <a:ext cx="1839912" cy="58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9773" name="组合 329772"/>
          <p:cNvGrpSpPr/>
          <p:nvPr/>
        </p:nvGrpSpPr>
        <p:grpSpPr>
          <a:xfrm>
            <a:off x="1150938" y="2492375"/>
            <a:ext cx="2744787" cy="1662113"/>
            <a:chOff x="720" y="1569"/>
            <a:chExt cx="1729" cy="1047"/>
          </a:xfrm>
        </p:grpSpPr>
        <p:graphicFrame>
          <p:nvGraphicFramePr>
            <p:cNvPr id="329774" name="对象 329773"/>
            <p:cNvGraphicFramePr/>
            <p:nvPr/>
          </p:nvGraphicFramePr>
          <p:xfrm>
            <a:off x="787" y="1569"/>
            <a:ext cx="1662" cy="10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15" imgW="824865" imgH="520700" progId="Equation.DSMT4">
                    <p:embed/>
                  </p:oleObj>
                </mc:Choice>
                <mc:Fallback>
                  <p:oleObj name="" r:id="rId15" imgW="824865" imgH="520700" progId="Equation.DSMT4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87" y="1569"/>
                          <a:ext cx="1662" cy="10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9775" name="左大括号 329774"/>
            <p:cNvSpPr/>
            <p:nvPr/>
          </p:nvSpPr>
          <p:spPr>
            <a:xfrm>
              <a:off x="720" y="1824"/>
              <a:ext cx="48" cy="672"/>
            </a:xfrm>
            <a:prstGeom prst="leftBrace">
              <a:avLst>
                <a:gd name="adj1" fmla="val 116666"/>
                <a:gd name="adj2" fmla="val 50000"/>
              </a:avLst>
            </a:prstGeom>
            <a:noFill/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29776" name="文本框 329775"/>
          <p:cNvSpPr txBox="1"/>
          <p:nvPr/>
        </p:nvSpPr>
        <p:spPr>
          <a:xfrm>
            <a:off x="0" y="4113213"/>
            <a:ext cx="87630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0" dirty="0">
                <a:latin typeface="宋体" panose="02010600030101010101" pitchFamily="2" charset="-122"/>
              </a:rPr>
              <a:t>（</a:t>
            </a:r>
            <a:r>
              <a:rPr lang="en-US" altLang="zh-CN" b="0">
                <a:latin typeface="宋体" panose="02010600030101010101" pitchFamily="2" charset="-122"/>
              </a:rPr>
              <a:t>2</a:t>
            </a:r>
            <a:r>
              <a:rPr lang="zh-CN" altLang="en-US" b="0" dirty="0">
                <a:latin typeface="宋体" panose="02010600030101010101" pitchFamily="2" charset="-122"/>
              </a:rPr>
              <a:t>）两观察者分别观测</a:t>
            </a:r>
            <a:r>
              <a:rPr lang="en-US" altLang="zh-CN" b="0">
                <a:latin typeface="宋体" panose="02010600030101010101" pitchFamily="2" charset="-122"/>
              </a:rPr>
              <a:t>O’</a:t>
            </a:r>
            <a:r>
              <a:rPr lang="zh-CN" altLang="en-US" b="0" dirty="0">
                <a:latin typeface="宋体" panose="02010600030101010101" pitchFamily="2" charset="-122"/>
              </a:rPr>
              <a:t>的运动作为第二事件：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graphicFrame>
        <p:nvGraphicFramePr>
          <p:cNvPr id="329777" name="对象 329776"/>
          <p:cNvGraphicFramePr/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7" imgW="114300" imgH="215265" progId="Equation.3">
                  <p:embed/>
                </p:oleObj>
              </mc:Choice>
              <mc:Fallback>
                <p:oleObj name="" r:id="rId17" imgW="114300" imgH="215265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78" name="对象 329777"/>
          <p:cNvGraphicFramePr/>
          <p:nvPr/>
        </p:nvGraphicFramePr>
        <p:xfrm>
          <a:off x="947738" y="4346575"/>
          <a:ext cx="3227387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9" imgW="1104900" imgH="457200" progId="Equation.DSMT4">
                  <p:embed/>
                </p:oleObj>
              </mc:Choice>
              <mc:Fallback>
                <p:oleObj name="" r:id="rId19" imgW="1104900" imgH="4572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47738" y="4346575"/>
                        <a:ext cx="3227387" cy="1308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79" name="对象 329778"/>
          <p:cNvGraphicFramePr/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21" imgW="114300" imgH="215265" progId="Equation.3">
                  <p:embed/>
                </p:oleObj>
              </mc:Choice>
              <mc:Fallback>
                <p:oleObj name="" r:id="rId21" imgW="114300" imgH="215265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80" name="右箭头 329779"/>
          <p:cNvSpPr/>
          <p:nvPr/>
        </p:nvSpPr>
        <p:spPr>
          <a:xfrm>
            <a:off x="4419600" y="48006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graphicFrame>
        <p:nvGraphicFramePr>
          <p:cNvPr id="329781" name="对象 329780"/>
          <p:cNvGraphicFramePr/>
          <p:nvPr/>
        </p:nvGraphicFramePr>
        <p:xfrm>
          <a:off x="5243513" y="4708525"/>
          <a:ext cx="15398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22" imgW="584200" imgH="190500" progId="Equation.DSMT4">
                  <p:embed/>
                </p:oleObj>
              </mc:Choice>
              <mc:Fallback>
                <p:oleObj name="" r:id="rId22" imgW="584200" imgH="1905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3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43513" y="4708525"/>
                        <a:ext cx="1539875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9782" name="对象 329781"/>
          <p:cNvGraphicFramePr/>
          <p:nvPr/>
        </p:nvGraphicFramePr>
        <p:xfrm>
          <a:off x="1822450" y="5378450"/>
          <a:ext cx="2752725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24" imgW="1002665" imgH="571500" progId="Equation.DSMT4">
                  <p:embed/>
                </p:oleObj>
              </mc:Choice>
              <mc:Fallback>
                <p:oleObj name="" r:id="rId24" imgW="1002665" imgH="5715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5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22450" y="5378450"/>
                        <a:ext cx="2752725" cy="1566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83" name="右箭头 329782"/>
          <p:cNvSpPr/>
          <p:nvPr/>
        </p:nvSpPr>
        <p:spPr>
          <a:xfrm>
            <a:off x="1219200" y="59436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66" grpId="0"/>
      <p:bldP spid="329767" grpId="0"/>
      <p:bldP spid="329769" grpId="0"/>
      <p:bldP spid="329771" grpId="0" animBg="1"/>
      <p:bldP spid="329776" grpId="0"/>
      <p:bldP spid="329780" grpId="0" animBg="1"/>
      <p:bldP spid="32978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0754" name="文本框 330753"/>
          <p:cNvSpPr txBox="1"/>
          <p:nvPr/>
        </p:nvSpPr>
        <p:spPr>
          <a:xfrm>
            <a:off x="0" y="0"/>
            <a:ext cx="8763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0" dirty="0">
                <a:latin typeface="宋体" panose="02010600030101010101" pitchFamily="2" charset="-122"/>
              </a:rPr>
              <a:t>（</a:t>
            </a:r>
            <a:r>
              <a:rPr lang="en-US" altLang="zh-CN" b="0">
                <a:latin typeface="宋体" panose="02010600030101010101" pitchFamily="2" charset="-122"/>
              </a:rPr>
              <a:t>3</a:t>
            </a:r>
            <a:r>
              <a:rPr lang="zh-CN" altLang="en-US" b="0" dirty="0">
                <a:latin typeface="宋体" panose="02010600030101010101" pitchFamily="2" charset="-122"/>
              </a:rPr>
              <a:t>）两观察者分别观测</a:t>
            </a:r>
            <a:r>
              <a:rPr lang="en-US" altLang="zh-CN" b="0">
                <a:latin typeface="宋体" panose="02010600030101010101" pitchFamily="2" charset="-122"/>
              </a:rPr>
              <a:t>O</a:t>
            </a:r>
            <a:r>
              <a:rPr lang="zh-CN" altLang="en-US" b="0" dirty="0">
                <a:latin typeface="宋体" panose="02010600030101010101" pitchFamily="2" charset="-122"/>
              </a:rPr>
              <a:t>的运动作为第三事件：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graphicFrame>
        <p:nvGraphicFramePr>
          <p:cNvPr id="330755" name="对象 330754"/>
          <p:cNvGraphicFramePr/>
          <p:nvPr/>
        </p:nvGraphicFramePr>
        <p:xfrm>
          <a:off x="863600" y="549275"/>
          <a:ext cx="307975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" imgW="1054100" imgH="419100" progId="Equation.3">
                  <p:embed/>
                </p:oleObj>
              </mc:Choice>
              <mc:Fallback>
                <p:oleObj name="" r:id="rId1" imgW="1054100" imgH="4191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63600" y="549275"/>
                        <a:ext cx="3079750" cy="973138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56" name="右箭头 330755"/>
          <p:cNvSpPr/>
          <p:nvPr/>
        </p:nvSpPr>
        <p:spPr>
          <a:xfrm>
            <a:off x="4152900" y="8763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graphicFrame>
        <p:nvGraphicFramePr>
          <p:cNvPr id="330757" name="对象 330756"/>
          <p:cNvGraphicFramePr/>
          <p:nvPr/>
        </p:nvGraphicFramePr>
        <p:xfrm>
          <a:off x="5076825" y="800100"/>
          <a:ext cx="133826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3" imgW="507365" imgH="177800" progId="Equation.3">
                  <p:embed/>
                </p:oleObj>
              </mc:Choice>
              <mc:Fallback>
                <p:oleObj name="" r:id="rId3" imgW="507365" imgH="1778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76825" y="800100"/>
                        <a:ext cx="1338263" cy="46355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58" name="右箭头 330757"/>
          <p:cNvSpPr/>
          <p:nvPr/>
        </p:nvSpPr>
        <p:spPr>
          <a:xfrm>
            <a:off x="6454775" y="8763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graphicFrame>
        <p:nvGraphicFramePr>
          <p:cNvPr id="330759" name="对象 330758"/>
          <p:cNvGraphicFramePr/>
          <p:nvPr/>
        </p:nvGraphicFramePr>
        <p:xfrm>
          <a:off x="7200900" y="873125"/>
          <a:ext cx="10160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5" imgW="355600" imgH="139700" progId="Equation.3">
                  <p:embed/>
                </p:oleObj>
              </mc:Choice>
              <mc:Fallback>
                <p:oleObj name="" r:id="rId5" imgW="355600" imgH="1397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200900" y="873125"/>
                        <a:ext cx="1016000" cy="401638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60" name="对象 330759"/>
          <p:cNvGraphicFramePr/>
          <p:nvPr/>
        </p:nvGraphicFramePr>
        <p:xfrm>
          <a:off x="1692275" y="1592263"/>
          <a:ext cx="2438400" cy="131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7" imgW="889000" imgH="508000" progId="Equation.DSMT4">
                  <p:embed/>
                </p:oleObj>
              </mc:Choice>
              <mc:Fallback>
                <p:oleObj name="" r:id="rId7" imgW="889000" imgH="5080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1592263"/>
                        <a:ext cx="2438400" cy="1319212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61" name="右箭头 330760"/>
          <p:cNvSpPr/>
          <p:nvPr/>
        </p:nvSpPr>
        <p:spPr>
          <a:xfrm>
            <a:off x="1066800" y="2001838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30762" name="文本框 330761"/>
          <p:cNvSpPr txBox="1"/>
          <p:nvPr/>
        </p:nvSpPr>
        <p:spPr>
          <a:xfrm>
            <a:off x="0" y="2819400"/>
            <a:ext cx="91440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0" dirty="0">
                <a:latin typeface="宋体" panose="02010600030101010101" pitchFamily="2" charset="-122"/>
              </a:rPr>
              <a:t>（</a:t>
            </a:r>
            <a:r>
              <a:rPr lang="en-US" altLang="zh-CN" b="0">
                <a:latin typeface="宋体" panose="02010600030101010101" pitchFamily="2" charset="-122"/>
              </a:rPr>
              <a:t>4</a:t>
            </a:r>
            <a:r>
              <a:rPr lang="zh-CN" altLang="en-US" b="0" dirty="0">
                <a:latin typeface="宋体" panose="02010600030101010101" pitchFamily="2" charset="-122"/>
              </a:rPr>
              <a:t>）原点重合时，从原点向</a:t>
            </a:r>
            <a:r>
              <a:rPr lang="en-US" altLang="zh-CN" b="0">
                <a:latin typeface="宋体" panose="02010600030101010101" pitchFamily="2" charset="-122"/>
              </a:rPr>
              <a:t>X</a:t>
            </a:r>
            <a:r>
              <a:rPr lang="zh-CN" altLang="en-US" b="0" dirty="0">
                <a:latin typeface="宋体" panose="02010600030101010101" pitchFamily="2" charset="-122"/>
              </a:rPr>
              <a:t>轴正方向发射一光信号，然后两观察者分别观测这一光信号的运动</a:t>
            </a:r>
            <a:r>
              <a:rPr lang="en-US" altLang="zh-CN" b="0">
                <a:latin typeface="宋体" panose="02010600030101010101" pitchFamily="2" charset="-122"/>
              </a:rPr>
              <a:t>O</a:t>
            </a:r>
            <a:r>
              <a:rPr lang="zh-CN" altLang="en-US" b="0" dirty="0">
                <a:latin typeface="宋体" panose="02010600030101010101" pitchFamily="2" charset="-122"/>
              </a:rPr>
              <a:t>的运动作为第四事件：</a:t>
            </a:r>
            <a:endParaRPr lang="zh-CN" altLang="en-US" b="0">
              <a:latin typeface="宋体" panose="02010600030101010101" pitchFamily="2" charset="-122"/>
            </a:endParaRPr>
          </a:p>
        </p:txBody>
      </p:sp>
      <p:graphicFrame>
        <p:nvGraphicFramePr>
          <p:cNvPr id="330763" name="对象 330762"/>
          <p:cNvGraphicFramePr/>
          <p:nvPr/>
        </p:nvGraphicFramePr>
        <p:xfrm>
          <a:off x="1979613" y="3897313"/>
          <a:ext cx="37338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9" imgW="1053465" imgH="203200" progId="Equation.3">
                  <p:embed/>
                </p:oleObj>
              </mc:Choice>
              <mc:Fallback>
                <p:oleObj name="" r:id="rId9" imgW="1053465" imgH="2032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79613" y="3897313"/>
                        <a:ext cx="3733800" cy="555625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64" name="右箭头 330763"/>
          <p:cNvSpPr/>
          <p:nvPr/>
        </p:nvSpPr>
        <p:spPr>
          <a:xfrm>
            <a:off x="76200" y="5105400"/>
            <a:ext cx="457200" cy="381000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graphicFrame>
        <p:nvGraphicFramePr>
          <p:cNvPr id="330765" name="对象 330764"/>
          <p:cNvGraphicFramePr/>
          <p:nvPr/>
        </p:nvGraphicFramePr>
        <p:xfrm>
          <a:off x="539750" y="4652963"/>
          <a:ext cx="2590800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1" imgW="977900" imgH="508000" progId="Equation.3">
                  <p:embed/>
                </p:oleObj>
              </mc:Choice>
              <mc:Fallback>
                <p:oleObj name="" r:id="rId11" imgW="977900" imgH="5080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4652963"/>
                        <a:ext cx="2590800" cy="1392237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66" name="右箭头 330765"/>
          <p:cNvSpPr/>
          <p:nvPr/>
        </p:nvSpPr>
        <p:spPr>
          <a:xfrm>
            <a:off x="3132138" y="5121275"/>
            <a:ext cx="533400" cy="3810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graphicFrame>
        <p:nvGraphicFramePr>
          <p:cNvPr id="330767" name="对象 330766"/>
          <p:cNvGraphicFramePr/>
          <p:nvPr/>
        </p:nvGraphicFramePr>
        <p:xfrm>
          <a:off x="3671888" y="4797425"/>
          <a:ext cx="220980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13" imgW="913765" imgH="393700" progId="Equation.3">
                  <p:embed/>
                </p:oleObj>
              </mc:Choice>
              <mc:Fallback>
                <p:oleObj name="" r:id="rId13" imgW="913765" imgH="3937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71888" y="4797425"/>
                        <a:ext cx="2209800" cy="1044575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68" name="右箭头 330767"/>
          <p:cNvSpPr/>
          <p:nvPr/>
        </p:nvSpPr>
        <p:spPr>
          <a:xfrm>
            <a:off x="5867400" y="5105400"/>
            <a:ext cx="533400" cy="3810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graphicFrame>
        <p:nvGraphicFramePr>
          <p:cNvPr id="330769" name="对象 330768"/>
          <p:cNvGraphicFramePr/>
          <p:nvPr/>
        </p:nvGraphicFramePr>
        <p:xfrm>
          <a:off x="6408738" y="4329113"/>
          <a:ext cx="2598737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5" imgW="1028700" imgH="685800" progId="Equation.3">
                  <p:embed/>
                </p:oleObj>
              </mc:Choice>
              <mc:Fallback>
                <p:oleObj name="" r:id="rId15" imgW="1028700" imgH="6858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08738" y="4329113"/>
                        <a:ext cx="2598737" cy="18796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4" grpId="0"/>
      <p:bldP spid="330756" grpId="0" animBg="1"/>
      <p:bldP spid="330758" grpId="0" animBg="1"/>
      <p:bldP spid="330761" grpId="0" animBg="1"/>
      <p:bldP spid="330762" grpId="0"/>
      <p:bldP spid="330764" grpId="0" animBg="1"/>
      <p:bldP spid="330766" grpId="0" animBg="1"/>
      <p:bldP spid="33076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31778" name="对象 331777"/>
          <p:cNvGraphicFramePr/>
          <p:nvPr/>
        </p:nvGraphicFramePr>
        <p:xfrm>
          <a:off x="719138" y="0"/>
          <a:ext cx="2786062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" imgW="1015365" imgH="660400" progId="Equation.DSMT4">
                  <p:embed/>
                </p:oleObj>
              </mc:Choice>
              <mc:Fallback>
                <p:oleObj name="" r:id="rId1" imgW="1015365" imgH="6604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9138" y="0"/>
                        <a:ext cx="2786062" cy="180975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79" name="右箭头 331778"/>
          <p:cNvSpPr/>
          <p:nvPr/>
        </p:nvSpPr>
        <p:spPr>
          <a:xfrm>
            <a:off x="3505200" y="685800"/>
            <a:ext cx="533400" cy="3810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graphicFrame>
        <p:nvGraphicFramePr>
          <p:cNvPr id="331780" name="对象 331779"/>
          <p:cNvGraphicFramePr/>
          <p:nvPr/>
        </p:nvGraphicFramePr>
        <p:xfrm>
          <a:off x="4176713" y="0"/>
          <a:ext cx="2889250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3" imgW="1053465" imgH="660400" progId="Equation.DSMT4">
                  <p:embed/>
                </p:oleObj>
              </mc:Choice>
              <mc:Fallback>
                <p:oleObj name="" r:id="rId3" imgW="1053465" imgH="6604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76713" y="0"/>
                        <a:ext cx="2889250" cy="180975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1" name="下弧形箭头 331780"/>
          <p:cNvSpPr/>
          <p:nvPr/>
        </p:nvSpPr>
        <p:spPr>
          <a:xfrm>
            <a:off x="2590800" y="1905000"/>
            <a:ext cx="2819400" cy="304800"/>
          </a:xfrm>
          <a:prstGeom prst="curvedUpArrow">
            <a:avLst>
              <a:gd name="adj1" fmla="val 185000"/>
              <a:gd name="adj2" fmla="val 370000"/>
              <a:gd name="adj3" fmla="val 33333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31782" name="右箭头 331781"/>
          <p:cNvSpPr/>
          <p:nvPr/>
        </p:nvSpPr>
        <p:spPr>
          <a:xfrm>
            <a:off x="242888" y="2743200"/>
            <a:ext cx="533400" cy="3810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graphicFrame>
        <p:nvGraphicFramePr>
          <p:cNvPr id="331783" name="对象 331782"/>
          <p:cNvGraphicFramePr/>
          <p:nvPr/>
        </p:nvGraphicFramePr>
        <p:xfrm>
          <a:off x="792163" y="2276475"/>
          <a:ext cx="4805362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5" imgW="1752600" imgH="419100" progId="Equation.3">
                  <p:embed/>
                </p:oleObj>
              </mc:Choice>
              <mc:Fallback>
                <p:oleObj name="" r:id="rId5" imgW="1752600" imgH="4191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92163" y="2276475"/>
                        <a:ext cx="4805362" cy="114935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4" name="右箭头 331783"/>
          <p:cNvSpPr/>
          <p:nvPr/>
        </p:nvSpPr>
        <p:spPr>
          <a:xfrm>
            <a:off x="5653088" y="2667000"/>
            <a:ext cx="533400" cy="3810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graphicFrame>
        <p:nvGraphicFramePr>
          <p:cNvPr id="331785" name="对象 331784"/>
          <p:cNvGraphicFramePr/>
          <p:nvPr/>
        </p:nvGraphicFramePr>
        <p:xfrm>
          <a:off x="6156325" y="2205038"/>
          <a:ext cx="268128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7" imgW="977900" imgH="419100" progId="Equation.3">
                  <p:embed/>
                </p:oleObj>
              </mc:Choice>
              <mc:Fallback>
                <p:oleObj name="" r:id="rId7" imgW="977900" imgH="4191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56325" y="2205038"/>
                        <a:ext cx="2681288" cy="114935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6" name="对象 331785"/>
          <p:cNvGraphicFramePr/>
          <p:nvPr/>
        </p:nvGraphicFramePr>
        <p:xfrm>
          <a:off x="827088" y="3536950"/>
          <a:ext cx="2438400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9" imgW="914400" imgH="469900" progId="Equation.3">
                  <p:embed/>
                </p:oleObj>
              </mc:Choice>
              <mc:Fallback>
                <p:oleObj name="" r:id="rId9" imgW="914400" imgH="4699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3536950"/>
                        <a:ext cx="2438400" cy="1184275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7" name="右箭头 331786"/>
          <p:cNvSpPr/>
          <p:nvPr/>
        </p:nvSpPr>
        <p:spPr>
          <a:xfrm>
            <a:off x="228600" y="3657600"/>
            <a:ext cx="533400" cy="3810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graphicFrame>
        <p:nvGraphicFramePr>
          <p:cNvPr id="331788" name="对象 331787"/>
          <p:cNvGraphicFramePr/>
          <p:nvPr/>
        </p:nvGraphicFramePr>
        <p:xfrm>
          <a:off x="4284663" y="3608388"/>
          <a:ext cx="16764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1" imgW="419100" imgH="393700" progId="Equation.3">
                  <p:embed/>
                </p:oleObj>
              </mc:Choice>
              <mc:Fallback>
                <p:oleObj name="" r:id="rId11" imgW="419100" imgH="3937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3608388"/>
                        <a:ext cx="1676400" cy="99695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9" name="文本框 331788"/>
          <p:cNvSpPr txBox="1"/>
          <p:nvPr/>
        </p:nvSpPr>
        <p:spPr>
          <a:xfrm>
            <a:off x="228600" y="502920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b="0" dirty="0">
                <a:latin typeface="Times New Roman" panose="02020603050405020304" pitchFamily="18" charset="0"/>
              </a:rPr>
              <a:t>取正号</a:t>
            </a:r>
            <a:endParaRPr lang="zh-CN" altLang="en-US" b="0">
              <a:latin typeface="Times New Roman" panose="02020603050405020304" pitchFamily="18" charset="0"/>
            </a:endParaRPr>
          </a:p>
        </p:txBody>
      </p:sp>
      <p:sp>
        <p:nvSpPr>
          <p:cNvPr id="331790" name="右箭头 331789"/>
          <p:cNvSpPr/>
          <p:nvPr/>
        </p:nvSpPr>
        <p:spPr>
          <a:xfrm>
            <a:off x="1447800" y="5105400"/>
            <a:ext cx="533400" cy="3810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FF3300"/>
          </a:solidFill>
          <a:ln w="9525">
            <a:noFill/>
          </a:ln>
        </p:spPr>
        <p:txBody>
          <a:bodyPr wrap="none" anchor="ctr" anchorCtr="0"/>
          <a:p>
            <a:pPr algn="ctr"/>
            <a:endParaRPr dirty="0">
              <a:latin typeface="Times New Roman" panose="02020603050405020304" pitchFamily="18" charset="0"/>
            </a:endParaRPr>
          </a:p>
        </p:txBody>
      </p:sp>
      <p:graphicFrame>
        <p:nvGraphicFramePr>
          <p:cNvPr id="331791" name="对象 331790"/>
          <p:cNvGraphicFramePr/>
          <p:nvPr/>
        </p:nvGraphicFramePr>
        <p:xfrm>
          <a:off x="2051050" y="4868863"/>
          <a:ext cx="327660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3" imgW="838200" imgH="228600" progId="Equation.3">
                  <p:embed/>
                </p:oleObj>
              </mc:Choice>
              <mc:Fallback>
                <p:oleObj name="" r:id="rId13" imgW="838200" imgH="2286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51050" y="4868863"/>
                        <a:ext cx="3276600" cy="760412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92" name="对象 331791"/>
          <p:cNvGraphicFramePr/>
          <p:nvPr/>
        </p:nvGraphicFramePr>
        <p:xfrm>
          <a:off x="5435600" y="4652963"/>
          <a:ext cx="3429000" cy="119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5" imgW="824865" imgH="393700" progId="Equation.3">
                  <p:embed/>
                </p:oleObj>
              </mc:Choice>
              <mc:Fallback>
                <p:oleObj name="" r:id="rId15" imgW="824865" imgH="3937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FF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35600" y="4652963"/>
                        <a:ext cx="3429000" cy="1192212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79" grpId="0" animBg="1"/>
      <p:bldP spid="331781" grpId="0" animBg="1"/>
      <p:bldP spid="331782" grpId="0" animBg="1"/>
      <p:bldP spid="331784" grpId="0" animBg="1"/>
      <p:bldP spid="331787" grpId="0" animBg="1"/>
      <p:bldP spid="331789" grpId="0"/>
      <p:bldP spid="33179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0338" name="文本框 270337"/>
          <p:cNvSpPr txBox="1"/>
          <p:nvPr/>
        </p:nvSpPr>
        <p:spPr>
          <a:xfrm>
            <a:off x="765175" y="969963"/>
            <a:ext cx="5391150" cy="946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457200" indent="-457200"/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宋体" panose="02010600030101010101" pitchFamily="2" charset="-122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</a:rPr>
              <a:t>伽利略变换只是洛仑兹变换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     在低速情况下的一个近似。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0339" name="文本框 270338"/>
          <p:cNvSpPr txBox="1"/>
          <p:nvPr/>
        </p:nvSpPr>
        <p:spPr>
          <a:xfrm>
            <a:off x="757238" y="3630613"/>
            <a:ext cx="6478587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r>
              <a:rPr lang="en-US" altLang="zh-CN" baseline="30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是一切实物运动速度的极限。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70345" name="对象 270344"/>
          <p:cNvGraphicFramePr/>
          <p:nvPr/>
        </p:nvGraphicFramePr>
        <p:xfrm>
          <a:off x="5416550" y="4237038"/>
          <a:ext cx="1963738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1" imgW="1980565" imgH="444500" progId="Equation.3">
                  <p:embed/>
                </p:oleObj>
              </mc:Choice>
              <mc:Fallback>
                <p:oleObj name="" r:id="rId1" imgW="1980565" imgH="4445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16550" y="4237038"/>
                        <a:ext cx="1963738" cy="46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46" name="左大括号 270345"/>
          <p:cNvSpPr/>
          <p:nvPr/>
        </p:nvSpPr>
        <p:spPr>
          <a:xfrm>
            <a:off x="5189538" y="4371975"/>
            <a:ext cx="188912" cy="1676400"/>
          </a:xfrm>
          <a:prstGeom prst="leftBrace">
            <a:avLst>
              <a:gd name="adj1" fmla="val 73949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70354" name="对象 270353"/>
          <p:cNvGraphicFramePr/>
          <p:nvPr/>
        </p:nvGraphicFramePr>
        <p:xfrm>
          <a:off x="5416550" y="4762500"/>
          <a:ext cx="9556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3" imgW="862965" imgH="419100" progId="Equation.3">
                  <p:embed/>
                </p:oleObj>
              </mc:Choice>
              <mc:Fallback>
                <p:oleObj name="" r:id="rId3" imgW="862965" imgH="4191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16550" y="4762500"/>
                        <a:ext cx="95567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55" name="对象 270354"/>
          <p:cNvGraphicFramePr/>
          <p:nvPr/>
        </p:nvGraphicFramePr>
        <p:xfrm>
          <a:off x="5446713" y="5240338"/>
          <a:ext cx="884237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5" imgW="761365" imgH="368300" progId="Equation.3">
                  <p:embed/>
                </p:oleObj>
              </mc:Choice>
              <mc:Fallback>
                <p:oleObj name="" r:id="rId5" imgW="761365" imgH="3683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46713" y="5240338"/>
                        <a:ext cx="884237" cy="373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56" name="对象 270355"/>
          <p:cNvGraphicFramePr/>
          <p:nvPr/>
        </p:nvGraphicFramePr>
        <p:xfrm>
          <a:off x="5467350" y="5573713"/>
          <a:ext cx="220662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7" imgW="2348230" imgH="761365" progId="Equation.DSMT4">
                  <p:embed/>
                </p:oleObj>
              </mc:Choice>
              <mc:Fallback>
                <p:oleObj name="" r:id="rId7" imgW="2348230" imgH="761365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67350" y="5573713"/>
                        <a:ext cx="2206625" cy="808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57" name="文本框 270356"/>
          <p:cNvSpPr txBox="1"/>
          <p:nvPr/>
        </p:nvSpPr>
        <p:spPr>
          <a:xfrm>
            <a:off x="779463" y="4841875"/>
            <a:ext cx="59531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从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lang="zh-CN" altLang="en-US" dirty="0">
                <a:latin typeface="Times New Roman" panose="02020603050405020304" pitchFamily="18" charset="0"/>
              </a:rPr>
              <a:t>系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i="1">
                <a:latin typeface="Times New Roman" panose="02020603050405020304" pitchFamily="18" charset="0"/>
              </a:rPr>
              <a:t>S </a:t>
            </a:r>
            <a:r>
              <a:rPr lang="zh-CN" altLang="en-US" dirty="0">
                <a:latin typeface="Times New Roman" panose="02020603050405020304" pitchFamily="18" charset="0"/>
              </a:rPr>
              <a:t>系的变换：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0358" name="文本框 270357"/>
          <p:cNvSpPr txBox="1"/>
          <p:nvPr/>
        </p:nvSpPr>
        <p:spPr>
          <a:xfrm>
            <a:off x="782638" y="2055813"/>
            <a:ext cx="5518150" cy="13731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r>
              <a:rPr lang="en-US" altLang="zh-CN" baseline="3000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相对论中时空测量不可分离。  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时间、空间和物质的运动三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者密不可分。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0360" name="矩形 270359"/>
          <p:cNvSpPr/>
          <p:nvPr/>
        </p:nvSpPr>
        <p:spPr>
          <a:xfrm>
            <a:off x="684213" y="260350"/>
            <a:ext cx="2746375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4000" b="0" dirty="0">
                <a:solidFill>
                  <a:srgbClr val="99003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结论</a:t>
            </a:r>
            <a:r>
              <a:rPr lang="en-US" altLang="zh-CN" sz="4000" b="0">
                <a:solidFill>
                  <a:srgbClr val="99003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  <a:endParaRPr lang="en-US" altLang="zh-CN" sz="4000" b="0">
              <a:solidFill>
                <a:srgbClr val="990033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70361" name="组合 270360"/>
          <p:cNvGrpSpPr/>
          <p:nvPr/>
        </p:nvGrpSpPr>
        <p:grpSpPr>
          <a:xfrm>
            <a:off x="5724525" y="404813"/>
            <a:ext cx="2851150" cy="3317875"/>
            <a:chOff x="278" y="247"/>
            <a:chExt cx="1796" cy="2090"/>
          </a:xfrm>
        </p:grpSpPr>
        <p:graphicFrame>
          <p:nvGraphicFramePr>
            <p:cNvPr id="270362" name="对象 270361"/>
            <p:cNvGraphicFramePr/>
            <p:nvPr/>
          </p:nvGraphicFramePr>
          <p:xfrm>
            <a:off x="780" y="247"/>
            <a:ext cx="1294" cy="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2" name="" r:id="rId9" imgW="2031365" imgH="1129665" progId="Equation.DSMT4">
                    <p:embed/>
                  </p:oleObj>
                </mc:Choice>
                <mc:Fallback>
                  <p:oleObj name="" r:id="rId9" imgW="2031365" imgH="1129665" progId="Equation.DSMT4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80" y="247"/>
                          <a:ext cx="1294" cy="72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0363" name="左大括号 270362"/>
            <p:cNvSpPr/>
            <p:nvPr/>
          </p:nvSpPr>
          <p:spPr>
            <a:xfrm>
              <a:off x="664" y="520"/>
              <a:ext cx="118" cy="1400"/>
            </a:xfrm>
            <a:prstGeom prst="leftBrace">
              <a:avLst>
                <a:gd name="adj1" fmla="val 98870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270364" name="对象 270363"/>
            <p:cNvGraphicFramePr/>
            <p:nvPr/>
          </p:nvGraphicFramePr>
          <p:xfrm>
            <a:off x="782" y="912"/>
            <a:ext cx="550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" name="" r:id="rId11" imgW="862965" imgH="419100" progId="Equation.3">
                    <p:embed/>
                  </p:oleObj>
                </mc:Choice>
                <mc:Fallback>
                  <p:oleObj name="" r:id="rId11" imgW="862965" imgH="419100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82" y="912"/>
                          <a:ext cx="550" cy="2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0365" name="对象 270364"/>
            <p:cNvGraphicFramePr/>
            <p:nvPr/>
          </p:nvGraphicFramePr>
          <p:xfrm>
            <a:off x="825" y="1248"/>
            <a:ext cx="485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13" imgW="761365" imgH="368300" progId="Equation.3">
                    <p:embed/>
                  </p:oleObj>
                </mc:Choice>
                <mc:Fallback>
                  <p:oleObj name="" r:id="rId13" imgW="761365" imgH="368300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25" y="1248"/>
                          <a:ext cx="485" cy="2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0366" name="对象 270365"/>
            <p:cNvGraphicFramePr/>
            <p:nvPr/>
          </p:nvGraphicFramePr>
          <p:xfrm>
            <a:off x="845" y="1368"/>
            <a:ext cx="1229" cy="9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3" name="" r:id="rId15" imgW="1930400" imgH="1524000" progId="Equation.DSMT4">
                    <p:embed/>
                  </p:oleObj>
                </mc:Choice>
                <mc:Fallback>
                  <p:oleObj name="" r:id="rId15" imgW="1930400" imgH="1524000" progId="Equation.DSMT4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45" y="1368"/>
                          <a:ext cx="1229" cy="9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70367" name="图片 270366" descr="dove"/>
            <p:cNvPicPr>
              <a:picLocks noChangeAspect="1"/>
            </p:cNvPicPr>
            <p:nvPr/>
          </p:nvPicPr>
          <p:blipFill>
            <a:blip r:embed="rId17">
              <a:clrChange>
                <a:clrFrom>
                  <a:srgbClr val="FFFFFF"/>
                </a:clrFrom>
                <a:clrTo>
                  <a:srgbClr val="00FF00"/>
                </a:clrTo>
              </a:clrChange>
            </a:blip>
            <a:stretch>
              <a:fillRect/>
            </a:stretch>
          </p:blipFill>
          <p:spPr>
            <a:xfrm>
              <a:off x="278" y="1075"/>
              <a:ext cx="402" cy="40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70368" name="文本框 270367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11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75"/>
                                        <p:tgtEl>
                                          <p:spTgt spid="27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75"/>
                                        <p:tgtEl>
                                          <p:spTgt spid="27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0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0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" fill="hold"/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75"/>
                                        <p:tgtEl>
                                          <p:spTgt spid="27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500"/>
                                        <p:tgtEl>
                                          <p:spTgt spid="27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0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0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0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0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0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0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70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0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0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70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8" grpId="0"/>
      <p:bldP spid="270339" grpId="0"/>
      <p:bldP spid="270357" grpId="0"/>
      <p:bldP spid="270358" grpId="0"/>
      <p:bldP spid="27036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3652" name="文本框 283651"/>
          <p:cNvSpPr txBox="1"/>
          <p:nvPr/>
        </p:nvSpPr>
        <p:spPr>
          <a:xfrm>
            <a:off x="684213" y="404813"/>
            <a:ext cx="8689975" cy="18002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1.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</a:rPr>
              <a:t>系相对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系沿轴做匀速运动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系中观察到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  两个事件同时发生在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轴上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距离是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</a:rPr>
              <a:t>系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  中观察到这两个事件之间的距离是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求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>
                <a:latin typeface="Times New Roman" panose="02020603050405020304" pitchFamily="18" charset="0"/>
              </a:rPr>
              <a:t>S'</a:t>
            </a:r>
            <a:r>
              <a:rPr lang="zh-CN" altLang="en-US" dirty="0">
                <a:latin typeface="Times New Roman" panose="02020603050405020304" pitchFamily="18" charset="0"/>
              </a:rPr>
              <a:t>系中这两个事件的时间间隔。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3653" name="矩形 283652"/>
          <p:cNvSpPr/>
          <p:nvPr/>
        </p:nvSpPr>
        <p:spPr>
          <a:xfrm>
            <a:off x="684213" y="2133600"/>
            <a:ext cx="1958975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</a:rPr>
              <a:t>解</a:t>
            </a: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: </a:t>
            </a:r>
            <a:endParaRPr lang="en-US" altLang="zh-CN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283654" name="矩形 283653"/>
          <p:cNvSpPr/>
          <p:nvPr/>
        </p:nvSpPr>
        <p:spPr>
          <a:xfrm>
            <a:off x="1403350" y="2189163"/>
            <a:ext cx="425132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依洛仑兹变换有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283655" name="对象 283654"/>
          <p:cNvGraphicFramePr/>
          <p:nvPr/>
        </p:nvGraphicFramePr>
        <p:xfrm>
          <a:off x="1619250" y="2708275"/>
          <a:ext cx="18557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663700" imgH="419100" progId="Equation.DSMT4">
                  <p:embed/>
                </p:oleObj>
              </mc:Choice>
              <mc:Fallback>
                <p:oleObj name="" r:id="rId1" imgW="1663700" imgH="4191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2708275"/>
                        <a:ext cx="1855788" cy="46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57" name="矩形 283656"/>
          <p:cNvSpPr/>
          <p:nvPr/>
        </p:nvSpPr>
        <p:spPr>
          <a:xfrm>
            <a:off x="0" y="37719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83659" name="对象 283658"/>
          <p:cNvGraphicFramePr/>
          <p:nvPr/>
        </p:nvGraphicFramePr>
        <p:xfrm>
          <a:off x="3492500" y="2565400"/>
          <a:ext cx="4672013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4620895" imgH="862965" progId="Equation.DSMT4">
                  <p:embed/>
                </p:oleObj>
              </mc:Choice>
              <mc:Fallback>
                <p:oleObj name="" r:id="rId3" imgW="4620895" imgH="862965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92500" y="2565400"/>
                        <a:ext cx="4672013" cy="896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60" name="对象 283659"/>
          <p:cNvGraphicFramePr/>
          <p:nvPr/>
        </p:nvGraphicFramePr>
        <p:xfrm>
          <a:off x="1692275" y="3594100"/>
          <a:ext cx="18002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5" imgW="1562100" imgH="419100" progId="Equation.DSMT4">
                  <p:embed/>
                </p:oleObj>
              </mc:Choice>
              <mc:Fallback>
                <p:oleObj name="" r:id="rId5" imgW="1562100" imgH="4191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3594100"/>
                        <a:ext cx="180022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63" name="对象 283662"/>
          <p:cNvGraphicFramePr/>
          <p:nvPr/>
        </p:nvGraphicFramePr>
        <p:xfrm>
          <a:off x="3563938" y="3395663"/>
          <a:ext cx="464343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7" imgW="4864100" imgH="876300" progId="Equation.DSMT4">
                  <p:embed/>
                </p:oleObj>
              </mc:Choice>
              <mc:Fallback>
                <p:oleObj name="" r:id="rId7" imgW="4864100" imgH="8763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63938" y="3395663"/>
                        <a:ext cx="4643437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73" name="矩形 283672"/>
          <p:cNvSpPr/>
          <p:nvPr/>
        </p:nvSpPr>
        <p:spPr>
          <a:xfrm>
            <a:off x="827088" y="4278313"/>
            <a:ext cx="314007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宋体" panose="02010600030101010101" pitchFamily="2" charset="-122"/>
              </a:rPr>
              <a:t>由题意知： 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graphicFrame>
        <p:nvGraphicFramePr>
          <p:cNvPr id="283674" name="对象 283673"/>
          <p:cNvGraphicFramePr/>
          <p:nvPr/>
        </p:nvGraphicFramePr>
        <p:xfrm>
          <a:off x="2700338" y="4325938"/>
          <a:ext cx="13684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9" imgW="1219200" imgH="419100" progId="Equation.DSMT4">
                  <p:embed/>
                </p:oleObj>
              </mc:Choice>
              <mc:Fallback>
                <p:oleObj name="" r:id="rId9" imgW="1219200" imgH="4191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00338" y="4325938"/>
                        <a:ext cx="1368425" cy="471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75" name="对象 283674"/>
          <p:cNvGraphicFramePr/>
          <p:nvPr/>
        </p:nvGraphicFramePr>
        <p:xfrm>
          <a:off x="4279900" y="4318000"/>
          <a:ext cx="16605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1" imgW="1714500" imgH="419100" progId="Equation.DSMT4">
                  <p:embed/>
                </p:oleObj>
              </mc:Choice>
              <mc:Fallback>
                <p:oleObj name="" r:id="rId11" imgW="1714500" imgH="4191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79900" y="4318000"/>
                        <a:ext cx="1660525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76" name="对象 283675"/>
          <p:cNvGraphicFramePr/>
          <p:nvPr/>
        </p:nvGraphicFramePr>
        <p:xfrm>
          <a:off x="6156325" y="4343400"/>
          <a:ext cx="18796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3" imgW="1739900" imgH="419100" progId="Equation.DSMT4">
                  <p:embed/>
                </p:oleObj>
              </mc:Choice>
              <mc:Fallback>
                <p:oleObj name="" r:id="rId13" imgW="1739900" imgH="4191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56325" y="4343400"/>
                        <a:ext cx="1879600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77" name="矩形 283676"/>
          <p:cNvSpPr/>
          <p:nvPr/>
        </p:nvSpPr>
        <p:spPr>
          <a:xfrm>
            <a:off x="971550" y="5013325"/>
            <a:ext cx="24003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代入得 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3678" name="对象 283677"/>
          <p:cNvGraphicFramePr/>
          <p:nvPr/>
        </p:nvGraphicFramePr>
        <p:xfrm>
          <a:off x="2627313" y="4948238"/>
          <a:ext cx="2881312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5" imgW="2678430" imgH="862965" progId="Equation.DSMT4">
                  <p:embed/>
                </p:oleObj>
              </mc:Choice>
              <mc:Fallback>
                <p:oleObj name="" r:id="rId15" imgW="2678430" imgH="862965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27313" y="4948238"/>
                        <a:ext cx="2881312" cy="928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79" name="对象 283678"/>
          <p:cNvGraphicFramePr/>
          <p:nvPr/>
        </p:nvGraphicFramePr>
        <p:xfrm>
          <a:off x="5076825" y="4802188"/>
          <a:ext cx="3024188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7" imgW="2882900" imgH="977900" progId="Equation.DSMT4">
                  <p:embed/>
                </p:oleObj>
              </mc:Choice>
              <mc:Fallback>
                <p:oleObj name="" r:id="rId17" imgW="2882900" imgH="9779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76825" y="4802188"/>
                        <a:ext cx="3024188" cy="1027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80" name="对象 283679"/>
          <p:cNvGraphicFramePr/>
          <p:nvPr/>
        </p:nvGraphicFramePr>
        <p:xfrm>
          <a:off x="1692275" y="5921375"/>
          <a:ext cx="2808288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9" imgW="2500630" imgH="761365" progId="Equation.DSMT4">
                  <p:embed/>
                </p:oleObj>
              </mc:Choice>
              <mc:Fallback>
                <p:oleObj name="" r:id="rId19" imgW="2500630" imgH="761365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5921375"/>
                        <a:ext cx="2808288" cy="85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682" name="对象 283681"/>
          <p:cNvGraphicFramePr/>
          <p:nvPr/>
        </p:nvGraphicFramePr>
        <p:xfrm>
          <a:off x="3779838" y="6021388"/>
          <a:ext cx="28797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21" imgW="2233930" imgH="393700" progId="Equation.DSMT4">
                  <p:embed/>
                </p:oleObj>
              </mc:Choice>
              <mc:Fallback>
                <p:oleObj name="" r:id="rId21" imgW="2233930" imgH="3937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79838" y="6021388"/>
                        <a:ext cx="2879725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83" name="文本框 283682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12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83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8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83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83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83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83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8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8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8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3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28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283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283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28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2" grpId="0"/>
      <p:bldP spid="283653" grpId="0"/>
      <p:bldP spid="283654" grpId="0"/>
      <p:bldP spid="283673" grpId="0"/>
      <p:bldP spid="28367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4676" name="矩形 284675"/>
          <p:cNvSpPr/>
          <p:nvPr/>
        </p:nvSpPr>
        <p:spPr>
          <a:xfrm>
            <a:off x="34925" y="388938"/>
            <a:ext cx="882173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sz="3200" dirty="0">
                <a:latin typeface="Times New Roman" panose="02020603050405020304" pitchFamily="18" charset="0"/>
              </a:rPr>
              <a:t>第</a:t>
            </a:r>
            <a:r>
              <a:rPr lang="en-US" altLang="zh-CN" sz="3200">
                <a:latin typeface="Times New Roman" panose="02020603050405020304" pitchFamily="18" charset="0"/>
              </a:rPr>
              <a:t>4</a:t>
            </a:r>
            <a:r>
              <a:rPr lang="zh-CN" altLang="en-US" sz="3200" dirty="0">
                <a:latin typeface="Times New Roman" panose="02020603050405020304" pitchFamily="18" charset="0"/>
              </a:rPr>
              <a:t>节    洛仑兹速度变换 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84677" name="矩形 284676"/>
          <p:cNvSpPr/>
          <p:nvPr/>
        </p:nvSpPr>
        <p:spPr>
          <a:xfrm>
            <a:off x="1835150" y="822325"/>
            <a:ext cx="66246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Lorentz Velocity Transformations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284678" name="矩形 284677"/>
          <p:cNvSpPr/>
          <p:nvPr/>
        </p:nvSpPr>
        <p:spPr>
          <a:xfrm>
            <a:off x="684213" y="1397000"/>
            <a:ext cx="65801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</a:rPr>
              <a:t>洛仑兹速度变换式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84701" name="组合 284700"/>
          <p:cNvGrpSpPr/>
          <p:nvPr/>
        </p:nvGrpSpPr>
        <p:grpSpPr>
          <a:xfrm>
            <a:off x="6011863" y="1617663"/>
            <a:ext cx="2809875" cy="1379537"/>
            <a:chOff x="3832" y="1019"/>
            <a:chExt cx="1770" cy="869"/>
          </a:xfrm>
        </p:grpSpPr>
        <p:graphicFrame>
          <p:nvGraphicFramePr>
            <p:cNvPr id="284680" name="对象 284679"/>
            <p:cNvGraphicFramePr/>
            <p:nvPr/>
          </p:nvGraphicFramePr>
          <p:xfrm>
            <a:off x="4251" y="1083"/>
            <a:ext cx="1334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1" imgW="1877695" imgH="405765" progId="Equation.DSMT4">
                    <p:embed/>
                  </p:oleObj>
                </mc:Choice>
                <mc:Fallback>
                  <p:oleObj name="" r:id="rId1" imgW="1877695" imgH="405765" progId="Equation.DSMT4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51" y="1083"/>
                          <a:ext cx="1334" cy="2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4681" name="对象 284680"/>
            <p:cNvGraphicFramePr/>
            <p:nvPr/>
          </p:nvGraphicFramePr>
          <p:xfrm>
            <a:off x="4294" y="1361"/>
            <a:ext cx="1288" cy="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3" imgW="2069465" imgH="761365" progId="Equation.DSMT4">
                    <p:embed/>
                  </p:oleObj>
                </mc:Choice>
                <mc:Fallback>
                  <p:oleObj name="" r:id="rId3" imgW="2069465" imgH="761365" progId="Equation.DSMT4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94" y="1361"/>
                          <a:ext cx="1288" cy="5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4682" name="矩形 284681"/>
            <p:cNvSpPr/>
            <p:nvPr/>
          </p:nvSpPr>
          <p:spPr>
            <a:xfrm>
              <a:off x="4195" y="1019"/>
              <a:ext cx="1407" cy="869"/>
            </a:xfrm>
            <a:prstGeom prst="rect">
              <a:avLst/>
            </a:prstGeom>
            <a:noFill/>
            <a:ln w="19050" cap="flat" cmpd="sng">
              <a:solidFill>
                <a:srgbClr val="99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pic>
          <p:nvPicPr>
            <p:cNvPr id="284683" name="图片 284682" descr="dove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66FF33"/>
                </a:clrTo>
              </a:clrChange>
            </a:blip>
            <a:stretch>
              <a:fillRect/>
            </a:stretch>
          </p:blipFill>
          <p:spPr>
            <a:xfrm>
              <a:off x="3832" y="1253"/>
              <a:ext cx="409" cy="37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84684" name="文本框 284683"/>
          <p:cNvSpPr txBox="1"/>
          <p:nvPr/>
        </p:nvSpPr>
        <p:spPr>
          <a:xfrm>
            <a:off x="1108075" y="2600325"/>
            <a:ext cx="10668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系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4685" name="左大括号 284684"/>
          <p:cNvSpPr/>
          <p:nvPr/>
        </p:nvSpPr>
        <p:spPr>
          <a:xfrm>
            <a:off x="1870075" y="2066925"/>
            <a:ext cx="152400" cy="1676400"/>
          </a:xfrm>
          <a:prstGeom prst="leftBrace">
            <a:avLst>
              <a:gd name="adj1" fmla="val 91666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84686" name="对象 284685"/>
          <p:cNvGraphicFramePr/>
          <p:nvPr/>
        </p:nvGraphicFramePr>
        <p:xfrm>
          <a:off x="2132013" y="1785938"/>
          <a:ext cx="1071562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6" imgW="1104265" imgH="723900" progId="Equation.DSMT4">
                  <p:embed/>
                </p:oleObj>
              </mc:Choice>
              <mc:Fallback>
                <p:oleObj name="" r:id="rId6" imgW="1104265" imgH="7239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32013" y="1785938"/>
                        <a:ext cx="1071562" cy="750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7" name="对象 284686"/>
          <p:cNvGraphicFramePr/>
          <p:nvPr/>
        </p:nvGraphicFramePr>
        <p:xfrm>
          <a:off x="4645025" y="1765300"/>
          <a:ext cx="115093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8" imgW="1180465" imgH="723900" progId="Equation.DSMT4">
                  <p:embed/>
                </p:oleObj>
              </mc:Choice>
              <mc:Fallback>
                <p:oleObj name="" r:id="rId8" imgW="1180465" imgH="7239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45025" y="1765300"/>
                        <a:ext cx="1150938" cy="752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8" name="文本框 284687"/>
          <p:cNvSpPr txBox="1"/>
          <p:nvPr/>
        </p:nvSpPr>
        <p:spPr>
          <a:xfrm>
            <a:off x="3600450" y="2619375"/>
            <a:ext cx="2052638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S'</a:t>
            </a:r>
            <a:r>
              <a:rPr lang="zh-CN" altLang="en-US" dirty="0">
                <a:latin typeface="Times New Roman" panose="02020603050405020304" pitchFamily="18" charset="0"/>
              </a:rPr>
              <a:t>系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4689" name="左大括号 284688"/>
          <p:cNvSpPr/>
          <p:nvPr/>
        </p:nvSpPr>
        <p:spPr>
          <a:xfrm>
            <a:off x="4443413" y="2085975"/>
            <a:ext cx="139700" cy="1676400"/>
          </a:xfrm>
          <a:prstGeom prst="leftBrace">
            <a:avLst>
              <a:gd name="adj1" fmla="val 10000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84690" name="对象 284689"/>
          <p:cNvGraphicFramePr/>
          <p:nvPr/>
        </p:nvGraphicFramePr>
        <p:xfrm>
          <a:off x="2136775" y="2509838"/>
          <a:ext cx="106680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0" imgW="1066800" imgH="787400" progId="Equation.DSMT4">
                  <p:embed/>
                </p:oleObj>
              </mc:Choice>
              <mc:Fallback>
                <p:oleObj name="" r:id="rId10" imgW="1066800" imgH="7874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36775" y="2509838"/>
                        <a:ext cx="1066800" cy="839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91" name="对象 284690"/>
          <p:cNvGraphicFramePr/>
          <p:nvPr/>
        </p:nvGraphicFramePr>
        <p:xfrm>
          <a:off x="2143125" y="3321050"/>
          <a:ext cx="9890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2" imgW="1028700" imgH="736600" progId="Equation.DSMT4">
                  <p:embed/>
                </p:oleObj>
              </mc:Choice>
              <mc:Fallback>
                <p:oleObj name="" r:id="rId12" imgW="1028700" imgH="7366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43125" y="3321050"/>
                        <a:ext cx="989013" cy="755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92" name="对象 284691"/>
          <p:cNvGraphicFramePr/>
          <p:nvPr/>
        </p:nvGraphicFramePr>
        <p:xfrm>
          <a:off x="4676775" y="2508250"/>
          <a:ext cx="110013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4" imgW="1143000" imgH="787400" progId="Equation.DSMT4">
                  <p:embed/>
                </p:oleObj>
              </mc:Choice>
              <mc:Fallback>
                <p:oleObj name="" r:id="rId14" imgW="1143000" imgH="7874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76775" y="2508250"/>
                        <a:ext cx="1100138" cy="808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93" name="对象 284692"/>
          <p:cNvGraphicFramePr/>
          <p:nvPr/>
        </p:nvGraphicFramePr>
        <p:xfrm>
          <a:off x="4676775" y="3333750"/>
          <a:ext cx="1096963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6" imgW="1091565" imgH="735965" progId="Equation.DSMT4">
                  <p:embed/>
                </p:oleObj>
              </mc:Choice>
              <mc:Fallback>
                <p:oleObj name="" r:id="rId16" imgW="1091565" imgH="735965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76775" y="3333750"/>
                        <a:ext cx="1096963" cy="742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94" name="对象 284693"/>
          <p:cNvGraphicFramePr/>
          <p:nvPr/>
        </p:nvGraphicFramePr>
        <p:xfrm>
          <a:off x="974725" y="4213225"/>
          <a:ext cx="143668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8" imgW="1193165" imgH="723900" progId="Equation.DSMT4">
                  <p:embed/>
                </p:oleObj>
              </mc:Choice>
              <mc:Fallback>
                <p:oleObj name="" r:id="rId18" imgW="1193165" imgH="7239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4725" y="4213225"/>
                        <a:ext cx="1436688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95" name="对象 284694"/>
          <p:cNvGraphicFramePr/>
          <p:nvPr/>
        </p:nvGraphicFramePr>
        <p:xfrm>
          <a:off x="1373188" y="5013325"/>
          <a:ext cx="1655762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20" imgW="1689100" imgH="1473200" progId="Equation.DSMT4">
                  <p:embed/>
                </p:oleObj>
              </mc:Choice>
              <mc:Fallback>
                <p:oleObj name="" r:id="rId20" imgW="1689100" imgH="14732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1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73188" y="5013325"/>
                        <a:ext cx="1655762" cy="1546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96" name="对象 284695"/>
          <p:cNvGraphicFramePr/>
          <p:nvPr/>
        </p:nvGraphicFramePr>
        <p:xfrm>
          <a:off x="3046413" y="5349875"/>
          <a:ext cx="1670050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22" imgW="1638300" imgH="1168400" progId="Equation.DSMT4">
                  <p:embed/>
                </p:oleObj>
              </mc:Choice>
              <mc:Fallback>
                <p:oleObj name="" r:id="rId22" imgW="1638300" imgH="11684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3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46413" y="5349875"/>
                        <a:ext cx="1670050" cy="1189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97" name="对象 284696"/>
          <p:cNvGraphicFramePr/>
          <p:nvPr/>
        </p:nvGraphicFramePr>
        <p:xfrm>
          <a:off x="2401888" y="4176713"/>
          <a:ext cx="1522412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24" imgW="1307465" imgH="723900" progId="Equation.DSMT4">
                  <p:embed/>
                </p:oleObj>
              </mc:Choice>
              <mc:Fallback>
                <p:oleObj name="" r:id="rId24" imgW="1307465" imgH="7239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5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01888" y="4176713"/>
                        <a:ext cx="1522412" cy="836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98" name="对象 284697"/>
          <p:cNvGraphicFramePr/>
          <p:nvPr/>
        </p:nvGraphicFramePr>
        <p:xfrm>
          <a:off x="3995738" y="4240213"/>
          <a:ext cx="158432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26" imgW="1536700" imgH="698500" progId="Equation.DSMT4">
                  <p:embed/>
                </p:oleObj>
              </mc:Choice>
              <mc:Fallback>
                <p:oleObj name="" r:id="rId26" imgW="1536700" imgH="6985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7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95738" y="4240213"/>
                        <a:ext cx="1584325" cy="771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99" name="对象 284698"/>
          <p:cNvGraphicFramePr/>
          <p:nvPr/>
        </p:nvGraphicFramePr>
        <p:xfrm>
          <a:off x="5795963" y="5294313"/>
          <a:ext cx="2305050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28" imgW="1980565" imgH="1180465" progId="Equation.DSMT4">
                  <p:embed/>
                </p:oleObj>
              </mc:Choice>
              <mc:Fallback>
                <p:oleObj name="" r:id="rId28" imgW="1980565" imgH="1180465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95963" y="5294313"/>
                        <a:ext cx="2305050" cy="1374775"/>
                      </a:xfrm>
                      <a:prstGeom prst="rect">
                        <a:avLst/>
                      </a:prstGeom>
                      <a:noFill/>
                      <a:ln w="19050" cap="flat" cmpd="sng">
                        <a:solidFill>
                          <a:srgbClr val="990099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700" name="直接连接符 284699"/>
          <p:cNvSpPr/>
          <p:nvPr/>
        </p:nvSpPr>
        <p:spPr>
          <a:xfrm>
            <a:off x="4872038" y="5816600"/>
            <a:ext cx="800100" cy="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4702" name="文本框 284701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13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4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4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4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4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4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4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4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4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284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4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4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4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4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4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4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4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4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84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84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846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46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84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84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846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846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4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84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28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500"/>
                                        <p:tgtEl>
                                          <p:spTgt spid="28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8" dur="500"/>
                                        <p:tgtEl>
                                          <p:spTgt spid="28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3" dur="500"/>
                                        <p:tgtEl>
                                          <p:spTgt spid="28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84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4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04" dur="500"/>
                                        <p:tgtEl>
                                          <p:spTgt spid="28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9" dur="500"/>
                                        <p:tgtEl>
                                          <p:spTgt spid="28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8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8" dur="500"/>
                                        <p:tgtEl>
                                          <p:spTgt spid="28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6" grpId="0"/>
      <p:bldP spid="284677" grpId="0"/>
      <p:bldP spid="284678" grpId="0"/>
      <p:bldP spid="284684" grpId="0"/>
      <p:bldP spid="28468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86722" name="对象 286721"/>
          <p:cNvGraphicFramePr/>
          <p:nvPr/>
        </p:nvGraphicFramePr>
        <p:xfrm>
          <a:off x="1766888" y="319088"/>
          <a:ext cx="1814512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1" imgW="1980565" imgH="1180465" progId="Equation.DSMT4">
                  <p:embed/>
                </p:oleObj>
              </mc:Choice>
              <mc:Fallback>
                <p:oleObj name="" r:id="rId1" imgW="1980565" imgH="1180465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6888" y="319088"/>
                        <a:ext cx="1814512" cy="1238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3" name="对象 286722"/>
          <p:cNvGraphicFramePr/>
          <p:nvPr/>
        </p:nvGraphicFramePr>
        <p:xfrm>
          <a:off x="4716463" y="836613"/>
          <a:ext cx="36004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3" imgW="3619500" imgH="787400" progId="Equation.DSMT4">
                  <p:embed/>
                </p:oleObj>
              </mc:Choice>
              <mc:Fallback>
                <p:oleObj name="" r:id="rId3" imgW="3619500" imgH="7874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16463" y="836613"/>
                        <a:ext cx="360045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4" name="对象 286723"/>
          <p:cNvGraphicFramePr/>
          <p:nvPr/>
        </p:nvGraphicFramePr>
        <p:xfrm>
          <a:off x="1781175" y="1431925"/>
          <a:ext cx="2830513" cy="1277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5" imgW="3289300" imgH="1219200" progId="Equation.DSMT4">
                  <p:embed/>
                </p:oleObj>
              </mc:Choice>
              <mc:Fallback>
                <p:oleObj name="" r:id="rId5" imgW="3289300" imgH="1219200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81175" y="1431925"/>
                        <a:ext cx="2830513" cy="1277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5" name="对象 286724"/>
          <p:cNvGraphicFramePr/>
          <p:nvPr/>
        </p:nvGraphicFramePr>
        <p:xfrm>
          <a:off x="1708150" y="2636838"/>
          <a:ext cx="2895600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7" imgW="3249930" imgH="1180465" progId="Equation.DSMT4">
                  <p:embed/>
                </p:oleObj>
              </mc:Choice>
              <mc:Fallback>
                <p:oleObj name="" r:id="rId7" imgW="3249930" imgH="1180465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08150" y="2636838"/>
                        <a:ext cx="2895600" cy="1223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6" name="左大括号 286725"/>
          <p:cNvSpPr/>
          <p:nvPr/>
        </p:nvSpPr>
        <p:spPr>
          <a:xfrm>
            <a:off x="1422400" y="627063"/>
            <a:ext cx="254000" cy="2514600"/>
          </a:xfrm>
          <a:prstGeom prst="leftBrace">
            <a:avLst>
              <a:gd name="adj1" fmla="val 8250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86727" name="对象 286726"/>
          <p:cNvGraphicFramePr/>
          <p:nvPr/>
        </p:nvGraphicFramePr>
        <p:xfrm>
          <a:off x="5768975" y="1851025"/>
          <a:ext cx="26416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9" imgW="2501900" imgH="736600" progId="Equation.DSMT4">
                  <p:embed/>
                </p:oleObj>
              </mc:Choice>
              <mc:Fallback>
                <p:oleObj name="" r:id="rId9" imgW="2501900" imgH="7366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68975" y="1851025"/>
                        <a:ext cx="2641600" cy="752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8" name="文本框 286727"/>
          <p:cNvSpPr txBox="1"/>
          <p:nvPr/>
        </p:nvSpPr>
        <p:spPr>
          <a:xfrm>
            <a:off x="720725" y="260350"/>
            <a:ext cx="611188" cy="2984500"/>
          </a:xfrm>
          <a:prstGeom prst="rect">
            <a:avLst/>
          </a:prstGeom>
          <a:noFill/>
          <a:ln w="38100">
            <a:noFill/>
          </a:ln>
        </p:spPr>
        <p:txBody>
          <a:bodyPr vert="eaVert" anchor="ctr" anchorCtr="0">
            <a:spAutoFit/>
          </a:bodyPr>
          <a:p>
            <a:pPr algn="ctr"/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洛仑兹速度变换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733" name="文本框 286732"/>
          <p:cNvSpPr txBox="1"/>
          <p:nvPr/>
        </p:nvSpPr>
        <p:spPr>
          <a:xfrm>
            <a:off x="457200" y="4156075"/>
            <a:ext cx="44958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sz="3600" i="1">
                <a:latin typeface="Times New Roman" panose="02020603050405020304" pitchFamily="18" charset="0"/>
              </a:rPr>
              <a:t>v </a:t>
            </a:r>
            <a:r>
              <a:rPr lang="en-US" altLang="zh-CN" sz="3600">
                <a:latin typeface="Times New Roman" panose="02020603050405020304" pitchFamily="18" charset="0"/>
              </a:rPr>
              <a:t>&lt;&lt;</a:t>
            </a:r>
            <a:r>
              <a:rPr lang="en-US" altLang="zh-CN" sz="3600" i="1">
                <a:latin typeface="Times New Roman" panose="02020603050405020304" pitchFamily="18" charset="0"/>
              </a:rPr>
              <a:t>c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86734" name="对象 286733"/>
          <p:cNvGraphicFramePr/>
          <p:nvPr/>
        </p:nvGraphicFramePr>
        <p:xfrm>
          <a:off x="3668713" y="3644900"/>
          <a:ext cx="155098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11" imgW="1485900" imgH="419100" progId="Equation.DSMT4">
                  <p:embed/>
                </p:oleObj>
              </mc:Choice>
              <mc:Fallback>
                <p:oleObj name="" r:id="rId11" imgW="1485900" imgH="4191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68713" y="3644900"/>
                        <a:ext cx="1550987" cy="436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35" name="对象 286734"/>
          <p:cNvGraphicFramePr/>
          <p:nvPr/>
        </p:nvGraphicFramePr>
        <p:xfrm>
          <a:off x="3665538" y="4076700"/>
          <a:ext cx="11080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13" imgW="1016000" imgH="457200" progId="Equation.DSMT4">
                  <p:embed/>
                </p:oleObj>
              </mc:Choice>
              <mc:Fallback>
                <p:oleObj name="" r:id="rId13" imgW="1016000" imgH="4572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65538" y="4076700"/>
                        <a:ext cx="1108075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36" name="对象 286735"/>
          <p:cNvGraphicFramePr/>
          <p:nvPr/>
        </p:nvGraphicFramePr>
        <p:xfrm>
          <a:off x="3665538" y="4603750"/>
          <a:ext cx="10318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15" imgW="939800" imgH="419100" progId="Equation.DSMT4">
                  <p:embed/>
                </p:oleObj>
              </mc:Choice>
              <mc:Fallback>
                <p:oleObj name="" r:id="rId15" imgW="939800" imgH="4191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65538" y="4603750"/>
                        <a:ext cx="1031875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37" name="右大括号 286736"/>
          <p:cNvSpPr/>
          <p:nvPr/>
        </p:nvSpPr>
        <p:spPr>
          <a:xfrm flipH="1">
            <a:off x="3348038" y="3951288"/>
            <a:ext cx="261937" cy="990600"/>
          </a:xfrm>
          <a:prstGeom prst="rightBrace">
            <a:avLst>
              <a:gd name="adj1" fmla="val 31515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aphicFrame>
        <p:nvGraphicFramePr>
          <p:cNvPr id="286738" name="对象 286737"/>
          <p:cNvGraphicFramePr/>
          <p:nvPr/>
        </p:nvGraphicFramePr>
        <p:xfrm>
          <a:off x="5681663" y="3954463"/>
          <a:ext cx="198120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7" imgW="1294765" imgH="342900" progId="Equation.3">
                  <p:embed/>
                </p:oleObj>
              </mc:Choice>
              <mc:Fallback>
                <p:oleObj name="" r:id="rId17" imgW="1294765" imgH="3429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81663" y="3954463"/>
                        <a:ext cx="1981200" cy="42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39" name="文本框 286738"/>
          <p:cNvSpPr txBox="1"/>
          <p:nvPr/>
        </p:nvSpPr>
        <p:spPr>
          <a:xfrm>
            <a:off x="5400675" y="4349750"/>
            <a:ext cx="3995738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加利略速度变换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740" name="文本框 286739"/>
          <p:cNvSpPr txBox="1"/>
          <p:nvPr/>
        </p:nvSpPr>
        <p:spPr>
          <a:xfrm>
            <a:off x="457200" y="4875213"/>
            <a:ext cx="83820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若一束光沿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系的</a:t>
            </a:r>
            <a:r>
              <a:rPr lang="en-US" altLang="zh-CN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轴传播 </a:t>
            </a:r>
            <a:r>
              <a:rPr lang="en-US" altLang="zh-CN" sz="3600" i="1" err="1">
                <a:latin typeface="Times New Roman" panose="02020603050405020304" pitchFamily="18" charset="0"/>
              </a:rPr>
              <a:t>u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sz="3600">
                <a:latin typeface="Times New Roman" panose="02020603050405020304" pitchFamily="18" charset="0"/>
              </a:rPr>
              <a:t>c 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sz="3200" i="1" err="1">
                <a:latin typeface="Times New Roman" panose="02020603050405020304" pitchFamily="18" charset="0"/>
              </a:rPr>
              <a:t>u</a:t>
            </a:r>
            <a:r>
              <a:rPr lang="en-US" altLang="zh-CN" sz="2400" i="1" baseline="-25000" err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=0   </a:t>
            </a:r>
            <a:r>
              <a:rPr lang="en-US" altLang="zh-CN" sz="3600" i="1" err="1">
                <a:latin typeface="Times New Roman" panose="02020603050405020304" pitchFamily="18" charset="0"/>
              </a:rPr>
              <a:t>u</a:t>
            </a:r>
            <a:r>
              <a:rPr lang="en-US" altLang="zh-CN" i="1" baseline="-25000" err="1">
                <a:latin typeface="Times New Roman" panose="02020603050405020304" pitchFamily="18" charset="0"/>
              </a:rPr>
              <a:t>z</a:t>
            </a:r>
            <a:r>
              <a:rPr lang="en-US" altLang="zh-CN">
                <a:latin typeface="Times New Roman" panose="02020603050405020304" pitchFamily="18" charset="0"/>
              </a:rPr>
              <a:t>=0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6741" name="文本框 286740"/>
          <p:cNvSpPr txBox="1"/>
          <p:nvPr/>
        </p:nvSpPr>
        <p:spPr>
          <a:xfrm>
            <a:off x="754063" y="5597525"/>
            <a:ext cx="3025775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>
                <a:latin typeface="Times New Roman" panose="02020603050405020304" pitchFamily="18" charset="0"/>
              </a:rPr>
              <a:t>在</a:t>
            </a:r>
            <a:r>
              <a:rPr lang="en-US" altLang="zh-CN" i="1">
                <a:latin typeface="Times New Roman" panose="02020603050405020304" pitchFamily="18" charset="0"/>
              </a:rPr>
              <a:t>S' </a:t>
            </a:r>
            <a:r>
              <a:rPr lang="zh-CN" altLang="en-US" dirty="0">
                <a:latin typeface="Times New Roman" panose="02020603050405020304" pitchFamily="18" charset="0"/>
              </a:rPr>
              <a:t>系看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86742" name="对象 286741"/>
          <p:cNvGraphicFramePr/>
          <p:nvPr/>
        </p:nvGraphicFramePr>
        <p:xfrm>
          <a:off x="2592388" y="5445125"/>
          <a:ext cx="185420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19" imgW="1993265" imgH="1180465" progId="Equation.DSMT4">
                  <p:embed/>
                </p:oleObj>
              </mc:Choice>
              <mc:Fallback>
                <p:oleObj name="" r:id="rId19" imgW="1993265" imgH="1180465" progId="Equation.DSMT4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92388" y="5445125"/>
                        <a:ext cx="1854200" cy="1203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43" name="对象 286742"/>
          <p:cNvGraphicFramePr/>
          <p:nvPr/>
        </p:nvGraphicFramePr>
        <p:xfrm>
          <a:off x="6292850" y="5530850"/>
          <a:ext cx="137477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21" imgW="1624965" imgH="495300" progId="Equation.3">
                  <p:embed/>
                </p:oleObj>
              </mc:Choice>
              <mc:Fallback>
                <p:oleObj name="" r:id="rId21" imgW="1624965" imgH="4953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92850" y="5530850"/>
                        <a:ext cx="1374775" cy="490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44" name="对象 286743"/>
          <p:cNvGraphicFramePr/>
          <p:nvPr/>
        </p:nvGraphicFramePr>
        <p:xfrm>
          <a:off x="6292850" y="6019800"/>
          <a:ext cx="14478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23" imgW="1549400" imgH="457200" progId="Equation.3">
                  <p:embed/>
                </p:oleObj>
              </mc:Choice>
              <mc:Fallback>
                <p:oleObj name="" r:id="rId23" imgW="1549400" imgH="4572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92850" y="6019800"/>
                        <a:ext cx="1447800" cy="452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45" name="文本框 286744"/>
          <p:cNvSpPr txBox="1"/>
          <p:nvPr/>
        </p:nvSpPr>
        <p:spPr>
          <a:xfrm>
            <a:off x="7620000" y="5607050"/>
            <a:ext cx="15240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/>
            <a:r>
              <a:rPr lang="en-US" altLang="zh-CN" sz="3600" i="1">
                <a:latin typeface="Times New Roman" panose="02020603050405020304" pitchFamily="18" charset="0"/>
              </a:rPr>
              <a:t>u</a:t>
            </a:r>
            <a:r>
              <a:rPr lang="en-US" altLang="zh-CN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altLang="zh-CN" sz="2400">
                <a:latin typeface="Times New Roman" panose="02020603050405020304" pitchFamily="18" charset="0"/>
              </a:rPr>
              <a:t>= </a:t>
            </a:r>
            <a:r>
              <a:rPr lang="en-US" altLang="zh-CN" sz="3600" i="1">
                <a:latin typeface="Times New Roman" panose="02020603050405020304" pitchFamily="18" charset="0"/>
              </a:rPr>
              <a:t>c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graphicFrame>
        <p:nvGraphicFramePr>
          <p:cNvPr id="286746" name="对象 286745"/>
          <p:cNvGraphicFramePr/>
          <p:nvPr/>
        </p:nvGraphicFramePr>
        <p:xfrm>
          <a:off x="4452938" y="5445125"/>
          <a:ext cx="1076325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25" imgW="1079500" imgH="1143000" progId="Equation.DSMT4">
                  <p:embed/>
                </p:oleObj>
              </mc:Choice>
              <mc:Fallback>
                <p:oleObj name="" r:id="rId25" imgW="1079500" imgH="1143000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52938" y="5445125"/>
                        <a:ext cx="1076325" cy="1254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47" name="对象 286746"/>
          <p:cNvGraphicFramePr/>
          <p:nvPr/>
        </p:nvGraphicFramePr>
        <p:xfrm>
          <a:off x="5554663" y="5749925"/>
          <a:ext cx="457200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27" imgW="456565" imgH="254000" progId="Equation.3">
                  <p:embed/>
                </p:oleObj>
              </mc:Choice>
              <mc:Fallback>
                <p:oleObj name="" r:id="rId27" imgW="456565" imgH="2540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54663" y="5749925"/>
                        <a:ext cx="457200" cy="271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48" name="圆角矩形标注 286747"/>
          <p:cNvSpPr/>
          <p:nvPr/>
        </p:nvSpPr>
        <p:spPr>
          <a:xfrm>
            <a:off x="8305800" y="3276600"/>
            <a:ext cx="609600" cy="1981200"/>
          </a:xfrm>
          <a:prstGeom prst="wedgeRoundRectCallout">
            <a:avLst>
              <a:gd name="adj1" fmla="val -27083"/>
              <a:gd name="adj2" fmla="val 74361"/>
              <a:gd name="adj3" fmla="val 16667"/>
            </a:avLst>
          </a:prstGeom>
          <a:solidFill>
            <a:srgbClr val="FFFF00"/>
          </a:solidFill>
          <a:ln w="38100" cap="flat" cmpd="sng">
            <a:solidFill>
              <a:srgbClr val="FF3300"/>
            </a:solidFill>
            <a:prstDash val="sysDot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/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光速不变</a:t>
            </a:r>
            <a:endParaRPr lang="zh-CN" altLang="en-US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6749" name="爆炸形 1 286748"/>
          <p:cNvSpPr/>
          <p:nvPr/>
        </p:nvSpPr>
        <p:spPr>
          <a:xfrm>
            <a:off x="412750" y="3073400"/>
            <a:ext cx="1828800" cy="1219200"/>
          </a:xfrm>
          <a:prstGeom prst="irregularSeal1">
            <a:avLst/>
          </a:prstGeom>
          <a:solidFill>
            <a:srgbClr val="FFCCCC"/>
          </a:solidFill>
          <a:ln w="9525" cap="flat" cmpd="sng">
            <a:solidFill>
              <a:srgbClr val="FF505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0" hangingPunct="0">
              <a:lnSpc>
                <a:spcPct val="70000"/>
              </a:lnSpc>
            </a:pPr>
            <a:endParaRPr lang="en-US" altLang="zh-CN" sz="36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algn="ctr" eaLnBrk="0" hangingPunct="0">
              <a:lnSpc>
                <a:spcPct val="70000"/>
              </a:lnSpc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algn="ctr" eaLnBrk="0" hangingPunct="0">
              <a:lnSpc>
                <a:spcPct val="70000"/>
              </a:lnSpc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86754" name="文本框 286753"/>
          <p:cNvSpPr txBox="1"/>
          <p:nvPr/>
        </p:nvSpPr>
        <p:spPr>
          <a:xfrm>
            <a:off x="663575" y="3309938"/>
            <a:ext cx="2108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讨论</a:t>
            </a:r>
            <a:endParaRPr lang="zh-CN" altLang="en-US" sz="3600" dirty="0">
              <a:solidFill>
                <a:srgbClr val="FF33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286755" name="文本框 286754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14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" dur="500"/>
                                        <p:tgtEl>
                                          <p:spTgt spid="28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8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28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286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75" fill="hold"/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" fill="hold"/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6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6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86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86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0" dur="1000"/>
                                        <p:tgtEl>
                                          <p:spTgt spid="28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" fill="hold"/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" fill="hold"/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" fill="hold"/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" fill="hold"/>
                                        <p:tgtEl>
                                          <p:spTgt spid="286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86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86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86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86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86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6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86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67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867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86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86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86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86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8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00"/>
                            </p:stCondLst>
                            <p:childTnLst>
                              <p:par>
                                <p:cTn id="9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2" dur="75"/>
                                        <p:tgtEl>
                                          <p:spTgt spid="28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75"/>
                                        <p:tgtEl>
                                          <p:spTgt spid="28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75" fill="hold"/>
                                        <p:tgtEl>
                                          <p:spTgt spid="286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75" fill="hold"/>
                                        <p:tgtEl>
                                          <p:spTgt spid="286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8" dur="500"/>
                                        <p:tgtEl>
                                          <p:spTgt spid="28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3" dur="500"/>
                                        <p:tgtEl>
                                          <p:spTgt spid="28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86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86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4" dur="500"/>
                                        <p:tgtEl>
                                          <p:spTgt spid="28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8" dur="500"/>
                                        <p:tgtEl>
                                          <p:spTgt spid="28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6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86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75"/>
                                        <p:tgtEl>
                                          <p:spTgt spid="28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8" grpId="0"/>
      <p:bldP spid="286733" grpId="0"/>
      <p:bldP spid="286739" grpId="0"/>
      <p:bldP spid="286740" grpId="0"/>
      <p:bldP spid="286741" grpId="0"/>
      <p:bldP spid="286745" grpId="0"/>
      <p:bldP spid="286748" grpId="0" animBg="1"/>
      <p:bldP spid="286749" grpId="0" animBg="1"/>
      <p:bldP spid="28675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9795" name="文本框 289794"/>
          <p:cNvSpPr txBox="1"/>
          <p:nvPr/>
        </p:nvSpPr>
        <p:spPr>
          <a:xfrm>
            <a:off x="4767263" y="822325"/>
            <a:ext cx="4376737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>
                <a:latin typeface="Times New Roman" panose="02020603050405020304" pitchFamily="18" charset="0"/>
              </a:rPr>
              <a:t>从</a:t>
            </a:r>
            <a:r>
              <a:rPr lang="en-US" altLang="zh-CN" i="1">
                <a:latin typeface="Times New Roman" panose="02020603050405020304" pitchFamily="18" charset="0"/>
              </a:rPr>
              <a:t>S'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系变换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系的速度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289796" name="对象 289795"/>
          <p:cNvGraphicFramePr/>
          <p:nvPr/>
        </p:nvGraphicFramePr>
        <p:xfrm>
          <a:off x="5521325" y="4437063"/>
          <a:ext cx="2957513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1" imgW="3249930" imgH="1180465" progId="Equation.DSMT4">
                  <p:embed/>
                </p:oleObj>
              </mc:Choice>
              <mc:Fallback>
                <p:oleObj name="" r:id="rId1" imgW="3249930" imgH="1180465" progId="Equation.DSMT4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21325" y="4437063"/>
                        <a:ext cx="2957513" cy="1255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797" name="对象 289796"/>
          <p:cNvGraphicFramePr/>
          <p:nvPr/>
        </p:nvGraphicFramePr>
        <p:xfrm>
          <a:off x="5453063" y="3205163"/>
          <a:ext cx="273685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3" imgW="3289300" imgH="1219200" progId="Equation.DSMT4">
                  <p:embed/>
                </p:oleObj>
              </mc:Choice>
              <mc:Fallback>
                <p:oleObj name="" r:id="rId3" imgW="3289300" imgH="1219200" progId="Equation.DSMT4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53063" y="3205163"/>
                        <a:ext cx="2736850" cy="1282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798" name="对象 289797"/>
          <p:cNvGraphicFramePr/>
          <p:nvPr/>
        </p:nvGraphicFramePr>
        <p:xfrm>
          <a:off x="5492750" y="1955800"/>
          <a:ext cx="2047875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5" imgW="1993265" imgH="1180465" progId="Equation.DSMT4">
                  <p:embed/>
                </p:oleObj>
              </mc:Choice>
              <mc:Fallback>
                <p:oleObj name="" r:id="rId5" imgW="1993265" imgH="1180465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92750" y="1955800"/>
                        <a:ext cx="2047875" cy="1204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805" name="左大括号 289804"/>
          <p:cNvSpPr/>
          <p:nvPr/>
        </p:nvSpPr>
        <p:spPr>
          <a:xfrm>
            <a:off x="5130800" y="2338388"/>
            <a:ext cx="304800" cy="2819400"/>
          </a:xfrm>
          <a:prstGeom prst="leftBrace">
            <a:avLst>
              <a:gd name="adj1" fmla="val 77083"/>
              <a:gd name="adj2" fmla="val 50000"/>
            </a:avLst>
          </a:prstGeom>
          <a:noFill/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89806" name="直接连接符 289805"/>
          <p:cNvSpPr/>
          <p:nvPr/>
        </p:nvSpPr>
        <p:spPr>
          <a:xfrm>
            <a:off x="4643438" y="852488"/>
            <a:ext cx="0" cy="5173662"/>
          </a:xfrm>
          <a:prstGeom prst="line">
            <a:avLst/>
          </a:prstGeom>
          <a:ln w="19050" cap="flat" cmpd="sng">
            <a:solidFill>
              <a:schemeClr val="tx1"/>
            </a:solidFill>
            <a:prstDash val="lgDashDot"/>
            <a:headEnd type="none" w="med" len="med"/>
            <a:tailEnd type="none" w="med" len="med"/>
          </a:ln>
        </p:spPr>
      </p:sp>
      <p:sp>
        <p:nvSpPr>
          <p:cNvPr id="289807" name="文本框 289806"/>
          <p:cNvSpPr txBox="1"/>
          <p:nvPr/>
        </p:nvSpPr>
        <p:spPr>
          <a:xfrm>
            <a:off x="660400" y="822325"/>
            <a:ext cx="5064125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>
                <a:latin typeface="Times New Roman" panose="02020603050405020304" pitchFamily="18" charset="0"/>
              </a:rPr>
              <a:t>从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系变换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S'</a:t>
            </a:r>
            <a:r>
              <a:rPr lang="zh-CN" altLang="en-US" dirty="0">
                <a:latin typeface="Times New Roman" panose="02020603050405020304" pitchFamily="18" charset="0"/>
              </a:rPr>
              <a:t>系的速度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289811" name="组合 289810"/>
          <p:cNvGrpSpPr/>
          <p:nvPr/>
        </p:nvGrpSpPr>
        <p:grpSpPr>
          <a:xfrm>
            <a:off x="215900" y="1916113"/>
            <a:ext cx="4170363" cy="3814762"/>
            <a:chOff x="130" y="1208"/>
            <a:chExt cx="2627" cy="2403"/>
          </a:xfrm>
        </p:grpSpPr>
        <p:sp>
          <p:nvSpPr>
            <p:cNvPr id="289800" name="左大括号 289799"/>
            <p:cNvSpPr/>
            <p:nvPr/>
          </p:nvSpPr>
          <p:spPr>
            <a:xfrm>
              <a:off x="528" y="1391"/>
              <a:ext cx="192" cy="1824"/>
            </a:xfrm>
            <a:prstGeom prst="leftBrace">
              <a:avLst>
                <a:gd name="adj1" fmla="val 79166"/>
                <a:gd name="adj2" fmla="val 50000"/>
              </a:avLst>
            </a:prstGeom>
            <a:noFill/>
            <a:ln w="38100" cap="flat" cmpd="sng">
              <a:solidFill>
                <a:srgbClr val="990033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289801" name="对象 289800"/>
            <p:cNvGraphicFramePr/>
            <p:nvPr/>
          </p:nvGraphicFramePr>
          <p:xfrm>
            <a:off x="774" y="1208"/>
            <a:ext cx="1356" cy="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7" imgW="1993265" imgH="1180465" progId="Equation.DSMT4">
                    <p:embed/>
                  </p:oleObj>
                </mc:Choice>
                <mc:Fallback>
                  <p:oleObj name="" r:id="rId7" imgW="1993265" imgH="1180465" progId="Equation.DSMT4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74" y="1208"/>
                          <a:ext cx="1356" cy="7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9802" name="对象 289801"/>
            <p:cNvGraphicFramePr/>
            <p:nvPr/>
          </p:nvGraphicFramePr>
          <p:xfrm>
            <a:off x="812" y="2007"/>
            <a:ext cx="1874" cy="7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9" imgW="3289300" imgH="1219200" progId="Equation.DSMT4">
                    <p:embed/>
                  </p:oleObj>
                </mc:Choice>
                <mc:Fallback>
                  <p:oleObj name="" r:id="rId9" imgW="3289300" imgH="1219200" progId="Equation.DSMT4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12" y="2007"/>
                          <a:ext cx="1874" cy="7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9803" name="对象 289802"/>
            <p:cNvGraphicFramePr/>
            <p:nvPr/>
          </p:nvGraphicFramePr>
          <p:xfrm>
            <a:off x="802" y="2870"/>
            <a:ext cx="1955" cy="7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11" imgW="3338830" imgH="1180465" progId="Equation.DSMT4">
                    <p:embed/>
                  </p:oleObj>
                </mc:Choice>
                <mc:Fallback>
                  <p:oleObj name="" r:id="rId11" imgW="3338830" imgH="1180465" progId="Equation.DSMT4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02" y="2870"/>
                          <a:ext cx="1955" cy="7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89810" name="图片 289809" descr="dove"/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66FF33"/>
                </a:clrTo>
              </a:clrChange>
            </a:blip>
            <a:stretch>
              <a:fillRect/>
            </a:stretch>
          </p:blipFill>
          <p:spPr>
            <a:xfrm>
              <a:off x="130" y="2181"/>
              <a:ext cx="409" cy="349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89812" name="文本框 289811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15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9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9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89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289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289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89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" dur="500"/>
                                        <p:tgtEl>
                                          <p:spTgt spid="28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89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9" dur="500"/>
                                        <p:tgtEl>
                                          <p:spTgt spid="289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5" grpId="0"/>
      <p:bldP spid="28980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0819" name="文本框 290818"/>
          <p:cNvSpPr txBox="1"/>
          <p:nvPr/>
        </p:nvSpPr>
        <p:spPr>
          <a:xfrm>
            <a:off x="684213" y="400050"/>
            <a:ext cx="8280400" cy="13731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2.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在地面测到两个飞船分别以</a:t>
            </a:r>
            <a:r>
              <a:rPr lang="en-US" altLang="zh-CN">
                <a:latin typeface="Times New Roman" panose="02020603050405020304" pitchFamily="18" charset="0"/>
              </a:rPr>
              <a:t>0.9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>
                <a:latin typeface="Times New Roman" panose="02020603050405020304" pitchFamily="18" charset="0"/>
              </a:rPr>
              <a:t>–0.9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   速度向相反方向飞行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求其中一飞船看另一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   飞船的速度是多少？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90820" name="直接连接符 290819"/>
          <p:cNvSpPr/>
          <p:nvPr/>
        </p:nvSpPr>
        <p:spPr>
          <a:xfrm>
            <a:off x="5334000" y="3717925"/>
            <a:ext cx="3429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0821" name="直接连接符 290820"/>
          <p:cNvSpPr/>
          <p:nvPr/>
        </p:nvSpPr>
        <p:spPr>
          <a:xfrm flipV="1">
            <a:off x="5334000" y="1965325"/>
            <a:ext cx="0" cy="1752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90822" name="组合 290821"/>
          <p:cNvGrpSpPr/>
          <p:nvPr/>
        </p:nvGrpSpPr>
        <p:grpSpPr>
          <a:xfrm>
            <a:off x="7510463" y="2422525"/>
            <a:ext cx="1143000" cy="457200"/>
            <a:chOff x="4896" y="1219"/>
            <a:chExt cx="720" cy="288"/>
          </a:xfrm>
        </p:grpSpPr>
        <p:sp>
          <p:nvSpPr>
            <p:cNvPr id="290823" name="五边形 290822"/>
            <p:cNvSpPr/>
            <p:nvPr/>
          </p:nvSpPr>
          <p:spPr>
            <a:xfrm>
              <a:off x="4896" y="1219"/>
              <a:ext cx="384" cy="288"/>
            </a:xfrm>
            <a:prstGeom prst="homePlate">
              <a:avLst>
                <a:gd name="adj" fmla="val 33333"/>
              </a:avLst>
            </a:prstGeom>
            <a:solidFill>
              <a:srgbClr val="FF6600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0824" name="五边形 290823"/>
            <p:cNvSpPr/>
            <p:nvPr/>
          </p:nvSpPr>
          <p:spPr>
            <a:xfrm>
              <a:off x="4896" y="1315"/>
              <a:ext cx="720" cy="96"/>
            </a:xfrm>
            <a:prstGeom prst="homePlate">
              <a:avLst>
                <a:gd name="adj" fmla="val 187500"/>
              </a:avLst>
            </a:prstGeom>
            <a:solidFill>
              <a:srgbClr val="FF6600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90825" name="组合 290824"/>
          <p:cNvGrpSpPr/>
          <p:nvPr/>
        </p:nvGrpSpPr>
        <p:grpSpPr>
          <a:xfrm>
            <a:off x="5172075" y="2422525"/>
            <a:ext cx="1295400" cy="457200"/>
            <a:chOff x="3072" y="1219"/>
            <a:chExt cx="816" cy="288"/>
          </a:xfrm>
        </p:grpSpPr>
        <p:sp>
          <p:nvSpPr>
            <p:cNvPr id="290826" name="五边形 290825"/>
            <p:cNvSpPr/>
            <p:nvPr/>
          </p:nvSpPr>
          <p:spPr>
            <a:xfrm rot="-10800000">
              <a:off x="3504" y="1219"/>
              <a:ext cx="384" cy="288"/>
            </a:xfrm>
            <a:prstGeom prst="homePlate">
              <a:avLst>
                <a:gd name="adj" fmla="val 33333"/>
              </a:avLst>
            </a:prstGeom>
            <a:solidFill>
              <a:srgbClr val="66CC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0827" name="五边形 290826"/>
            <p:cNvSpPr/>
            <p:nvPr/>
          </p:nvSpPr>
          <p:spPr>
            <a:xfrm rot="-10800000">
              <a:off x="3072" y="1315"/>
              <a:ext cx="816" cy="96"/>
            </a:xfrm>
            <a:prstGeom prst="homePlate">
              <a:avLst>
                <a:gd name="adj" fmla="val 212500"/>
              </a:avLst>
            </a:prstGeom>
            <a:solidFill>
              <a:srgbClr val="66CCFF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90828" name="文本框 290827"/>
          <p:cNvSpPr txBox="1"/>
          <p:nvPr/>
        </p:nvSpPr>
        <p:spPr>
          <a:xfrm>
            <a:off x="7510463" y="2879725"/>
            <a:ext cx="5429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甲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90829" name="文本框 290828"/>
          <p:cNvSpPr txBox="1"/>
          <p:nvPr/>
        </p:nvSpPr>
        <p:spPr>
          <a:xfrm>
            <a:off x="5934075" y="2879725"/>
            <a:ext cx="5429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>
                <a:latin typeface="Times New Roman" panose="02020603050405020304" pitchFamily="18" charset="0"/>
              </a:rPr>
              <a:t>乙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90830" name="直接连接符 290829"/>
          <p:cNvSpPr/>
          <p:nvPr/>
        </p:nvSpPr>
        <p:spPr>
          <a:xfrm>
            <a:off x="6467475" y="2651125"/>
            <a:ext cx="762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0831" name="直接连接符 290830"/>
          <p:cNvSpPr/>
          <p:nvPr/>
        </p:nvSpPr>
        <p:spPr>
          <a:xfrm flipV="1">
            <a:off x="6467475" y="1889125"/>
            <a:ext cx="0" cy="533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0832" name="文本框 290831"/>
          <p:cNvSpPr txBox="1"/>
          <p:nvPr/>
        </p:nvSpPr>
        <p:spPr>
          <a:xfrm>
            <a:off x="6975475" y="2427288"/>
            <a:ext cx="4127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600">
                <a:latin typeface="Times New Roman" panose="02020603050405020304" pitchFamily="18" charset="0"/>
              </a:rPr>
              <a:t>x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0833" name="文本框 290832"/>
          <p:cNvSpPr txBox="1"/>
          <p:nvPr/>
        </p:nvSpPr>
        <p:spPr>
          <a:xfrm>
            <a:off x="6453188" y="1412875"/>
            <a:ext cx="36512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>
                <a:latin typeface="Times New Roman" panose="02020603050405020304" pitchFamily="18" charset="0"/>
              </a:rPr>
              <a:t>y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0834" name="文本框 290833"/>
          <p:cNvSpPr txBox="1"/>
          <p:nvPr/>
        </p:nvSpPr>
        <p:spPr>
          <a:xfrm>
            <a:off x="8243888" y="3573463"/>
            <a:ext cx="838200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/>
            <a:r>
              <a:rPr lang="en-US" altLang="zh-CN" sz="3200">
                <a:latin typeface="Times New Roman" panose="02020603050405020304" pitchFamily="18" charset="0"/>
              </a:rPr>
              <a:t>x</a:t>
            </a:r>
            <a:r>
              <a:rPr lang="en-US" altLang="zh-CN" sz="3200" i="1">
                <a:latin typeface="Times New Roman" panose="02020603050405020304" pitchFamily="18" charset="0"/>
              </a:rPr>
              <a:t>'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0835" name="文本框 290834"/>
          <p:cNvSpPr txBox="1"/>
          <p:nvPr/>
        </p:nvSpPr>
        <p:spPr>
          <a:xfrm>
            <a:off x="5372100" y="1341438"/>
            <a:ext cx="477838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200" i="1">
                <a:latin typeface="Times New Roman" panose="02020603050405020304" pitchFamily="18" charset="0"/>
              </a:rPr>
              <a:t>y'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0836" name="文本框 290835"/>
          <p:cNvSpPr txBox="1"/>
          <p:nvPr/>
        </p:nvSpPr>
        <p:spPr>
          <a:xfrm>
            <a:off x="4987925" y="3641725"/>
            <a:ext cx="727075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/>
            <a:r>
              <a:rPr lang="en-US" altLang="zh-CN" i="1">
                <a:latin typeface="Times New Roman" panose="02020603050405020304" pitchFamily="18" charset="0"/>
              </a:rPr>
              <a:t>o'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0837" name="文本框 290836"/>
          <p:cNvSpPr txBox="1"/>
          <p:nvPr/>
        </p:nvSpPr>
        <p:spPr>
          <a:xfrm>
            <a:off x="7434263" y="1949450"/>
            <a:ext cx="1385887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0.9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0838" name="文本框 290837"/>
          <p:cNvSpPr txBox="1"/>
          <p:nvPr/>
        </p:nvSpPr>
        <p:spPr>
          <a:xfrm>
            <a:off x="5373688" y="1917700"/>
            <a:ext cx="2087562" cy="5794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sz="32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>
                <a:latin typeface="Times New Roman" panose="02020603050405020304" pitchFamily="18" charset="0"/>
              </a:rPr>
              <a:t>0.9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0839" name="文本框 290838"/>
          <p:cNvSpPr txBox="1"/>
          <p:nvPr/>
        </p:nvSpPr>
        <p:spPr>
          <a:xfrm>
            <a:off x="669925" y="1762125"/>
            <a:ext cx="5126038" cy="946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解：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系静止在乙飞船上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     </a:t>
            </a:r>
            <a:r>
              <a:rPr lang="en-US" altLang="zh-CN" i="1">
                <a:latin typeface="Times New Roman" panose="02020603050405020304" pitchFamily="18" charset="0"/>
              </a:rPr>
              <a:t>S' </a:t>
            </a:r>
            <a:r>
              <a:rPr lang="zh-CN" altLang="en-US" dirty="0">
                <a:latin typeface="Times New Roman" panose="02020603050405020304" pitchFamily="18" charset="0"/>
              </a:rPr>
              <a:t>系静止在地面上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90840" name="文本框 290839"/>
          <p:cNvSpPr txBox="1"/>
          <p:nvPr/>
        </p:nvSpPr>
        <p:spPr>
          <a:xfrm>
            <a:off x="828675" y="2633663"/>
            <a:ext cx="5183188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S'</a:t>
            </a:r>
            <a:r>
              <a:rPr lang="zh-CN" altLang="en-US" dirty="0">
                <a:latin typeface="Times New Roman" panose="02020603050405020304" pitchFamily="18" charset="0"/>
              </a:rPr>
              <a:t>系相对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系的速度</a:t>
            </a:r>
            <a:r>
              <a:rPr lang="en-US" altLang="zh-CN" sz="3200" i="1">
                <a:latin typeface="Times New Roman" panose="02020603050405020304" pitchFamily="18" charset="0"/>
              </a:rPr>
              <a:t>v</a:t>
            </a:r>
            <a:r>
              <a:rPr lang="en-US" altLang="zh-CN">
                <a:latin typeface="Times New Roman" panose="02020603050405020304" pitchFamily="18" charset="0"/>
              </a:rPr>
              <a:t>=0.9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0841" name="文本框 290840"/>
          <p:cNvSpPr txBox="1"/>
          <p:nvPr/>
        </p:nvSpPr>
        <p:spPr>
          <a:xfrm>
            <a:off x="1204913" y="3162300"/>
            <a:ext cx="4014787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甲船相对</a:t>
            </a:r>
            <a:r>
              <a:rPr lang="en-US" altLang="zh-CN" i="1">
                <a:latin typeface="Times New Roman" panose="02020603050405020304" pitchFamily="18" charset="0"/>
              </a:rPr>
              <a:t>S' </a:t>
            </a:r>
            <a:r>
              <a:rPr lang="zh-CN" altLang="en-US" dirty="0">
                <a:latin typeface="Times New Roman" panose="02020603050405020304" pitchFamily="18" charset="0"/>
              </a:rPr>
              <a:t>系的速度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0842" name="文本框 290841"/>
          <p:cNvSpPr txBox="1"/>
          <p:nvPr/>
        </p:nvSpPr>
        <p:spPr>
          <a:xfrm>
            <a:off x="1176338" y="4005263"/>
            <a:ext cx="620395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甲船相对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系（乙船）的速度：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290843" name="对象 290842"/>
          <p:cNvGraphicFramePr/>
          <p:nvPr/>
        </p:nvGraphicFramePr>
        <p:xfrm>
          <a:off x="1690688" y="4445000"/>
          <a:ext cx="2011362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1" imgW="1993265" imgH="1180465" progId="Equation.DSMT4">
                  <p:embed/>
                </p:oleObj>
              </mc:Choice>
              <mc:Fallback>
                <p:oleObj name="" r:id="rId1" imgW="1993265" imgH="1180465" progId="Equation.DSMT4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0688" y="4445000"/>
                        <a:ext cx="2011362" cy="1216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844" name="文本框 290843"/>
          <p:cNvSpPr txBox="1"/>
          <p:nvPr/>
        </p:nvSpPr>
        <p:spPr>
          <a:xfrm>
            <a:off x="7667625" y="5657850"/>
            <a:ext cx="1420813" cy="5794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sz="3200">
                <a:latin typeface="Times New Roman" panose="02020603050405020304" pitchFamily="18" charset="0"/>
              </a:rPr>
              <a:t>&lt; </a:t>
            </a:r>
            <a:r>
              <a:rPr lang="en-US" altLang="zh-CN" sz="3200" i="1">
                <a:latin typeface="Times New Roman" panose="02020603050405020304" pitchFamily="18" charset="0"/>
              </a:rPr>
              <a:t>c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graphicFrame>
        <p:nvGraphicFramePr>
          <p:cNvPr id="290845" name="对象 290844"/>
          <p:cNvGraphicFramePr/>
          <p:nvPr/>
        </p:nvGraphicFramePr>
        <p:xfrm>
          <a:off x="1530350" y="5757863"/>
          <a:ext cx="137477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3" imgW="1624965" imgH="495300" progId="Equation.3">
                  <p:embed/>
                </p:oleObj>
              </mc:Choice>
              <mc:Fallback>
                <p:oleObj name="" r:id="rId3" imgW="1624965" imgH="4953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30350" y="5757863"/>
                        <a:ext cx="1374775" cy="474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46" name="对象 290845"/>
          <p:cNvGraphicFramePr/>
          <p:nvPr/>
        </p:nvGraphicFramePr>
        <p:xfrm>
          <a:off x="3295650" y="5703888"/>
          <a:ext cx="12763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5" imgW="1549400" imgH="457200" progId="Equation.3">
                  <p:embed/>
                </p:oleObj>
              </mc:Choice>
              <mc:Fallback>
                <p:oleObj name="" r:id="rId5" imgW="1549400" imgH="4572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95650" y="5703888"/>
                        <a:ext cx="127635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847" name="右箭头 290846"/>
          <p:cNvSpPr/>
          <p:nvPr/>
        </p:nvSpPr>
        <p:spPr>
          <a:xfrm>
            <a:off x="4811713" y="5919788"/>
            <a:ext cx="685800" cy="76200"/>
          </a:xfrm>
          <a:prstGeom prst="rightArrow">
            <a:avLst>
              <a:gd name="adj1" fmla="val 50000"/>
              <a:gd name="adj2" fmla="val 225000"/>
            </a:avLst>
          </a:prstGeom>
          <a:solidFill>
            <a:srgbClr val="0000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0848" name="文本框 290847"/>
          <p:cNvSpPr txBox="1"/>
          <p:nvPr/>
        </p:nvSpPr>
        <p:spPr>
          <a:xfrm>
            <a:off x="5599113" y="5595938"/>
            <a:ext cx="27432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sz="3600" i="1">
                <a:latin typeface="Times New Roman" panose="02020603050405020304" pitchFamily="18" charset="0"/>
              </a:rPr>
              <a:t>u</a:t>
            </a:r>
            <a:r>
              <a:rPr lang="en-US" altLang="zh-CN">
                <a:latin typeface="Times New Roman" panose="02020603050405020304" pitchFamily="18" charset="0"/>
              </a:rPr>
              <a:t>=0.994475</a:t>
            </a:r>
            <a:r>
              <a:rPr lang="en-US" altLang="zh-CN" sz="3200" i="1">
                <a:latin typeface="Times New Roman" panose="02020603050405020304" pitchFamily="18" charset="0"/>
              </a:rPr>
              <a:t>c</a:t>
            </a:r>
            <a:endParaRPr lang="en-US" altLang="zh-CN" sz="3200" i="1">
              <a:latin typeface="Times New Roman" panose="02020603050405020304" pitchFamily="18" charset="0"/>
            </a:endParaRPr>
          </a:p>
        </p:txBody>
      </p:sp>
      <p:sp>
        <p:nvSpPr>
          <p:cNvPr id="290849" name="文本框 290848"/>
          <p:cNvSpPr txBox="1"/>
          <p:nvPr/>
        </p:nvSpPr>
        <p:spPr>
          <a:xfrm>
            <a:off x="1120775" y="6100763"/>
            <a:ext cx="6410325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若按伽利略变换：</a:t>
            </a:r>
            <a:r>
              <a:rPr lang="en-US" altLang="zh-CN" sz="3600" i="1">
                <a:latin typeface="Times New Roman" panose="02020603050405020304" pitchFamily="18" charset="0"/>
              </a:rPr>
              <a:t>u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sz="3600" i="1" err="1">
                <a:latin typeface="Times New Roman" panose="02020603050405020304" pitchFamily="18" charset="0"/>
              </a:rPr>
              <a:t>u'</a:t>
            </a:r>
            <a:r>
              <a:rPr lang="en-US" altLang="zh-CN" err="1">
                <a:latin typeface="Times New Roman" panose="02020603050405020304" pitchFamily="18" charset="0"/>
              </a:rPr>
              <a:t>+</a:t>
            </a:r>
            <a:r>
              <a:rPr lang="en-US" altLang="zh-CN" sz="3600" i="1" err="1">
                <a:latin typeface="Times New Roman" panose="02020603050405020304" pitchFamily="18" charset="0"/>
              </a:rPr>
              <a:t>v</a:t>
            </a:r>
            <a:r>
              <a:rPr lang="en-US" altLang="zh-CN">
                <a:latin typeface="Times New Roman" panose="02020603050405020304" pitchFamily="18" charset="0"/>
              </a:rPr>
              <a:t>=1.8</a:t>
            </a:r>
            <a:r>
              <a:rPr lang="en-US" altLang="zh-CN" sz="3200" i="1">
                <a:latin typeface="Times New Roman" panose="02020603050405020304" pitchFamily="18" charset="0"/>
              </a:rPr>
              <a:t>c</a:t>
            </a:r>
            <a:endParaRPr lang="en-US" altLang="zh-CN" sz="3200" i="1">
              <a:latin typeface="Times New Roman" panose="02020603050405020304" pitchFamily="18" charset="0"/>
            </a:endParaRPr>
          </a:p>
        </p:txBody>
      </p:sp>
      <p:graphicFrame>
        <p:nvGraphicFramePr>
          <p:cNvPr id="290850" name="对象 290849"/>
          <p:cNvGraphicFramePr/>
          <p:nvPr/>
        </p:nvGraphicFramePr>
        <p:xfrm>
          <a:off x="3749675" y="4532313"/>
          <a:ext cx="2046288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7" imgW="2031365" imgH="723900" progId="Equation.DSMT4">
                  <p:embed/>
                </p:oleObj>
              </mc:Choice>
              <mc:Fallback>
                <p:oleObj name="" r:id="rId7" imgW="2031365" imgH="723900" progId="Equation.DSMT4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49675" y="4532313"/>
                        <a:ext cx="2046288" cy="696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51" name="对象 290850"/>
          <p:cNvGraphicFramePr/>
          <p:nvPr/>
        </p:nvGraphicFramePr>
        <p:xfrm>
          <a:off x="5849938" y="4673600"/>
          <a:ext cx="20351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9" imgW="1827530" imgH="317500" progId="Equation.DSMT4">
                  <p:embed/>
                </p:oleObj>
              </mc:Choice>
              <mc:Fallback>
                <p:oleObj name="" r:id="rId9" imgW="1827530" imgH="317500" progId="Equation.DSMT4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49938" y="4673600"/>
                        <a:ext cx="2035175" cy="339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852" name="对象 290851"/>
          <p:cNvGraphicFramePr/>
          <p:nvPr/>
        </p:nvGraphicFramePr>
        <p:xfrm>
          <a:off x="2586038" y="3651250"/>
          <a:ext cx="12779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1" imgW="1383030" imgH="405765" progId="Equation.DSMT4">
                  <p:embed/>
                </p:oleObj>
              </mc:Choice>
              <mc:Fallback>
                <p:oleObj name="" r:id="rId11" imgW="1383030" imgH="405765" progId="Equation.DSMT4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86038" y="3651250"/>
                        <a:ext cx="1277937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0853" name="文本框 290852"/>
          <p:cNvSpPr txBox="1"/>
          <p:nvPr/>
        </p:nvSpPr>
        <p:spPr>
          <a:xfrm>
            <a:off x="6454775" y="6161088"/>
            <a:ext cx="24384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显然错误</a:t>
            </a:r>
            <a:endParaRPr lang="zh-CN" altLang="en-US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0854" name="文本框 290853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16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081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081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9081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charRg st="28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0819">
                                            <p:txEl>
                                              <p:charRg st="28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0819">
                                            <p:txEl>
                                              <p:charRg st="28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0"/>
                                        <p:tgtEl>
                                          <p:spTgt spid="290819">
                                            <p:txEl>
                                              <p:charRg st="28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charRg st="56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0819">
                                            <p:txEl>
                                              <p:charRg st="56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0819">
                                            <p:txEl>
                                              <p:charRg st="56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290819">
                                            <p:txEl>
                                              <p:charRg st="56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0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29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29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9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29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9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29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0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90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29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75"/>
                                        <p:tgtEl>
                                          <p:spTgt spid="29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475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0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975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475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90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975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75"/>
                                        <p:tgtEl>
                                          <p:spTgt spid="290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75" fill="hold"/>
                                        <p:tgtEl>
                                          <p:spTgt spid="290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75" fill="hold"/>
                                        <p:tgtEl>
                                          <p:spTgt spid="290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75" fill="hold"/>
                                        <p:tgtEl>
                                          <p:spTgt spid="2908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5" fill="hold"/>
                                        <p:tgtEl>
                                          <p:spTgt spid="2908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4" dur="500"/>
                                        <p:tgtEl>
                                          <p:spTgt spid="29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75" fill="hold"/>
                                        <p:tgtEl>
                                          <p:spTgt spid="290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" fill="hold"/>
                                        <p:tgtEl>
                                          <p:spTgt spid="290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90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90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90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90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90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8" dur="500"/>
                                        <p:tgtEl>
                                          <p:spTgt spid="290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3" dur="500"/>
                                        <p:tgtEl>
                                          <p:spTgt spid="29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7" dur="500"/>
                                        <p:tgtEl>
                                          <p:spTgt spid="290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9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90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90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90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90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90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90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1" dur="75"/>
                                        <p:tgtEl>
                                          <p:spTgt spid="290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6" dur="75"/>
                                        <p:tgtEl>
                                          <p:spTgt spid="290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9" grpId="1" build="p"/>
      <p:bldP spid="290828" grpId="0"/>
      <p:bldP spid="290829" grpId="0"/>
      <p:bldP spid="290832" grpId="0"/>
      <p:bldP spid="290833" grpId="0"/>
      <p:bldP spid="290834" grpId="0"/>
      <p:bldP spid="290835" grpId="0"/>
      <p:bldP spid="290836" grpId="0"/>
      <p:bldP spid="290837" grpId="0"/>
      <p:bldP spid="290838" grpId="0"/>
      <p:bldP spid="290839" grpId="0"/>
      <p:bldP spid="290840" grpId="0"/>
      <p:bldP spid="290841" grpId="0"/>
      <p:bldP spid="290842" grpId="0"/>
      <p:bldP spid="290844" grpId="0"/>
      <p:bldP spid="290848" grpId="0"/>
      <p:bldP spid="290849" grpId="0"/>
      <p:bldP spid="29085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1843" name="文本框 291842"/>
          <p:cNvSpPr txBox="1"/>
          <p:nvPr/>
        </p:nvSpPr>
        <p:spPr>
          <a:xfrm>
            <a:off x="655638" y="400050"/>
            <a:ext cx="8093075" cy="13731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3.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在太阳系中观察一束星光垂直射向地面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速率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>
                <a:latin typeface="Times New Roman" panose="02020603050405020304" pitchFamily="18" charset="0"/>
              </a:rPr>
              <a:t>        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而地球以速率</a:t>
            </a:r>
            <a:r>
              <a:rPr lang="en-US" altLang="zh-CN" i="1">
                <a:latin typeface="Times New Roman" panose="02020603050405020304" pitchFamily="18" charset="0"/>
              </a:rPr>
              <a:t>v </a:t>
            </a:r>
            <a:r>
              <a:rPr lang="zh-CN" altLang="en-US" dirty="0">
                <a:latin typeface="Times New Roman" panose="02020603050405020304" pitchFamily="18" charset="0"/>
              </a:rPr>
              <a:t>垂直光线运动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求地面上测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  量这束星光的速度大小方向？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91844" name="直接连接符 291843"/>
          <p:cNvSpPr/>
          <p:nvPr/>
        </p:nvSpPr>
        <p:spPr>
          <a:xfrm>
            <a:off x="5564188" y="3332163"/>
            <a:ext cx="3124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1845" name="直接连接符 291844"/>
          <p:cNvSpPr/>
          <p:nvPr/>
        </p:nvSpPr>
        <p:spPr>
          <a:xfrm flipV="1">
            <a:off x="5588000" y="1808163"/>
            <a:ext cx="0" cy="1676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1846" name="直接连接符 291845"/>
          <p:cNvSpPr/>
          <p:nvPr/>
        </p:nvSpPr>
        <p:spPr>
          <a:xfrm flipH="1" flipV="1">
            <a:off x="6731000" y="1808163"/>
            <a:ext cx="0" cy="1447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1847" name="直接连接符 291846"/>
          <p:cNvSpPr/>
          <p:nvPr/>
        </p:nvSpPr>
        <p:spPr>
          <a:xfrm>
            <a:off x="7697788" y="1824038"/>
            <a:ext cx="0" cy="106680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1848" name="直接连接符 291847"/>
          <p:cNvSpPr/>
          <p:nvPr/>
        </p:nvSpPr>
        <p:spPr>
          <a:xfrm flipV="1">
            <a:off x="7164388" y="1808163"/>
            <a:ext cx="533400" cy="1066800"/>
          </a:xfrm>
          <a:prstGeom prst="line">
            <a:avLst/>
          </a:prstGeom>
          <a:ln w="38100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1849" name="文本框 291848"/>
          <p:cNvSpPr txBox="1"/>
          <p:nvPr/>
        </p:nvSpPr>
        <p:spPr>
          <a:xfrm>
            <a:off x="5148263" y="3255963"/>
            <a:ext cx="592137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o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1850" name="文本框 291849"/>
          <p:cNvSpPr txBox="1"/>
          <p:nvPr/>
        </p:nvSpPr>
        <p:spPr>
          <a:xfrm>
            <a:off x="8401050" y="3332163"/>
            <a:ext cx="38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1851" name="文本框 291850"/>
          <p:cNvSpPr txBox="1"/>
          <p:nvPr/>
        </p:nvSpPr>
        <p:spPr>
          <a:xfrm>
            <a:off x="5580063" y="1484313"/>
            <a:ext cx="34131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i="1">
                <a:latin typeface="Times New Roman" panose="02020603050405020304" pitchFamily="18" charset="0"/>
              </a:rPr>
              <a:t>y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1852" name="文本框 291851"/>
          <p:cNvSpPr txBox="1"/>
          <p:nvPr/>
        </p:nvSpPr>
        <p:spPr>
          <a:xfrm>
            <a:off x="6759575" y="1484313"/>
            <a:ext cx="98107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y' 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1853" name="太阳形 291852"/>
          <p:cNvSpPr/>
          <p:nvPr/>
        </p:nvSpPr>
        <p:spPr>
          <a:xfrm>
            <a:off x="5335588" y="3027363"/>
            <a:ext cx="533400" cy="533400"/>
          </a:xfrm>
          <a:prstGeom prst="sun">
            <a:avLst>
              <a:gd name="adj" fmla="val 2500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1854" name="椭圆 291853"/>
          <p:cNvSpPr/>
          <p:nvPr/>
        </p:nvSpPr>
        <p:spPr>
          <a:xfrm>
            <a:off x="6554788" y="3179763"/>
            <a:ext cx="304800" cy="304800"/>
          </a:xfrm>
          <a:prstGeom prst="ellipse">
            <a:avLst/>
          </a:prstGeom>
          <a:solidFill>
            <a:srgbClr val="66CC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91855" name="文本框 291854"/>
          <p:cNvSpPr txBox="1"/>
          <p:nvPr/>
        </p:nvSpPr>
        <p:spPr>
          <a:xfrm>
            <a:off x="6062663" y="3255963"/>
            <a:ext cx="668337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/>
            <a:r>
              <a:rPr lang="en-US" altLang="zh-CN" i="1">
                <a:latin typeface="Times New Roman" panose="02020603050405020304" pitchFamily="18" charset="0"/>
              </a:rPr>
              <a:t>o'</a:t>
            </a:r>
            <a:endParaRPr lang="en-US" altLang="zh-CN" sz="3200" i="1">
              <a:latin typeface="Times New Roman" panose="02020603050405020304" pitchFamily="18" charset="0"/>
            </a:endParaRPr>
          </a:p>
        </p:txBody>
      </p:sp>
      <p:sp>
        <p:nvSpPr>
          <p:cNvPr id="291856" name="文本框 291855"/>
          <p:cNvSpPr txBox="1"/>
          <p:nvPr/>
        </p:nvSpPr>
        <p:spPr>
          <a:xfrm>
            <a:off x="708025" y="1830388"/>
            <a:ext cx="60960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</a:rPr>
              <a:t>设太阳系为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系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地球</a:t>
            </a:r>
            <a:r>
              <a:rPr lang="en-US" altLang="zh-CN" i="1">
                <a:latin typeface="Times New Roman" panose="02020603050405020304" pitchFamily="18" charset="0"/>
              </a:rPr>
              <a:t>S'</a:t>
            </a:r>
            <a:r>
              <a:rPr lang="zh-CN" altLang="en-US">
                <a:latin typeface="Times New Roman" panose="02020603050405020304" pitchFamily="18" charset="0"/>
              </a:rPr>
              <a:t>系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91857" name="直接连接符 291856"/>
          <p:cNvSpPr/>
          <p:nvPr/>
        </p:nvSpPr>
        <p:spPr>
          <a:xfrm>
            <a:off x="6859588" y="3332163"/>
            <a:ext cx="609600" cy="0"/>
          </a:xfrm>
          <a:prstGeom prst="line">
            <a:avLst/>
          </a:prstGeom>
          <a:ln w="38100" cap="flat" cmpd="sng">
            <a:solidFill>
              <a:srgbClr val="990099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1858" name="文本框 291857"/>
          <p:cNvSpPr txBox="1"/>
          <p:nvPr/>
        </p:nvSpPr>
        <p:spPr>
          <a:xfrm>
            <a:off x="6908800" y="2874963"/>
            <a:ext cx="5842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v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1859" name="文本框 291858"/>
          <p:cNvSpPr txBox="1"/>
          <p:nvPr/>
        </p:nvSpPr>
        <p:spPr>
          <a:xfrm>
            <a:off x="1519238" y="2778125"/>
            <a:ext cx="3916362" cy="5794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sz="3200" i="1" err="1">
                <a:latin typeface="Times New Roman" panose="02020603050405020304" pitchFamily="18" charset="0"/>
              </a:rPr>
              <a:t>u</a:t>
            </a:r>
            <a:r>
              <a:rPr lang="en-US" altLang="zh-CN" sz="3600" i="1" baseline="-25000" err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=0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sz="3200" i="1" err="1">
                <a:latin typeface="Times New Roman" panose="02020603050405020304" pitchFamily="18" charset="0"/>
              </a:rPr>
              <a:t>u</a:t>
            </a:r>
            <a:r>
              <a:rPr lang="en-US" altLang="zh-CN" sz="3200" i="1" baseline="-25000" err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sz="3200" i="1" err="1">
                <a:latin typeface="Times New Roman" panose="02020603050405020304" pitchFamily="18" charset="0"/>
              </a:rPr>
              <a:t>u</a:t>
            </a:r>
            <a:r>
              <a:rPr lang="en-US" altLang="zh-CN" sz="3200" i="1" baseline="-25000" err="1">
                <a:latin typeface="Times New Roman" panose="02020603050405020304" pitchFamily="18" charset="0"/>
              </a:rPr>
              <a:t>z</a:t>
            </a:r>
            <a:r>
              <a:rPr lang="en-US" altLang="zh-CN">
                <a:latin typeface="Times New Roman" panose="02020603050405020304" pitchFamily="18" charset="0"/>
              </a:rPr>
              <a:t>=0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1860" name="文本框 291859"/>
          <p:cNvSpPr txBox="1"/>
          <p:nvPr/>
        </p:nvSpPr>
        <p:spPr>
          <a:xfrm>
            <a:off x="1192213" y="3414713"/>
            <a:ext cx="5180012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>
                <a:latin typeface="Times New Roman" panose="02020603050405020304" pitchFamily="18" charset="0"/>
              </a:rPr>
              <a:t>在</a:t>
            </a:r>
            <a:r>
              <a:rPr lang="en-US" altLang="zh-CN" i="1">
                <a:latin typeface="Times New Roman" panose="02020603050405020304" pitchFamily="18" charset="0"/>
              </a:rPr>
              <a:t>S'</a:t>
            </a:r>
            <a:r>
              <a:rPr lang="zh-CN" altLang="en-US" dirty="0">
                <a:latin typeface="Times New Roman" panose="02020603050405020304" pitchFamily="18" charset="0"/>
              </a:rPr>
              <a:t>系看星光的速度：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291861" name="对象 291860"/>
          <p:cNvGraphicFramePr/>
          <p:nvPr/>
        </p:nvGraphicFramePr>
        <p:xfrm>
          <a:off x="1187450" y="3789363"/>
          <a:ext cx="1944688" cy="12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" imgW="1980565" imgH="1180465" progId="Equation.DSMT4">
                  <p:embed/>
                </p:oleObj>
              </mc:Choice>
              <mc:Fallback>
                <p:oleObj name="" r:id="rId1" imgW="1980565" imgH="1180465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3789363"/>
                        <a:ext cx="1944688" cy="1296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2" name="对象 291861"/>
          <p:cNvGraphicFramePr/>
          <p:nvPr/>
        </p:nvGraphicFramePr>
        <p:xfrm>
          <a:off x="4211638" y="3797300"/>
          <a:ext cx="2881312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3" imgW="3276600" imgH="1219200" progId="Equation.DSMT4">
                  <p:embed/>
                </p:oleObj>
              </mc:Choice>
              <mc:Fallback>
                <p:oleObj name="" r:id="rId3" imgW="3276600" imgH="12192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11638" y="3797300"/>
                        <a:ext cx="2881312" cy="1287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3" name="对象 291862"/>
          <p:cNvGraphicFramePr/>
          <p:nvPr/>
        </p:nvGraphicFramePr>
        <p:xfrm>
          <a:off x="1271588" y="5157788"/>
          <a:ext cx="3013075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5" imgW="3288030" imgH="1180465" progId="Equation.DSMT4">
                  <p:embed/>
                </p:oleObj>
              </mc:Choice>
              <mc:Fallback>
                <p:oleObj name="" r:id="rId5" imgW="3288030" imgH="1180465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71588" y="5157788"/>
                        <a:ext cx="3013075" cy="1228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4" name="对象 291863"/>
          <p:cNvGraphicFramePr/>
          <p:nvPr/>
        </p:nvGraphicFramePr>
        <p:xfrm>
          <a:off x="5651500" y="5075238"/>
          <a:ext cx="2217738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7" imgW="1993265" imgH="546100" progId="Equation.DSMT4">
                  <p:embed/>
                </p:oleObj>
              </mc:Choice>
              <mc:Fallback>
                <p:oleObj name="" r:id="rId7" imgW="1993265" imgH="5461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51500" y="5075238"/>
                        <a:ext cx="2217738" cy="658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5" name="对象 291864"/>
          <p:cNvGraphicFramePr/>
          <p:nvPr/>
        </p:nvGraphicFramePr>
        <p:xfrm>
          <a:off x="5624513" y="5734050"/>
          <a:ext cx="279082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9" imgW="2806700" imgH="876300" progId="Equation.DSMT4">
                  <p:embed/>
                </p:oleObj>
              </mc:Choice>
              <mc:Fallback>
                <p:oleObj name="" r:id="rId9" imgW="2806700" imgH="8763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24513" y="5734050"/>
                        <a:ext cx="2790825" cy="944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66" name="文本框 291865"/>
          <p:cNvSpPr txBox="1"/>
          <p:nvPr/>
        </p:nvSpPr>
        <p:spPr>
          <a:xfrm>
            <a:off x="7316788" y="2189163"/>
            <a:ext cx="409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1867" name="文本框 291866"/>
          <p:cNvSpPr txBox="1"/>
          <p:nvPr/>
        </p:nvSpPr>
        <p:spPr>
          <a:xfrm>
            <a:off x="1228725" y="2333625"/>
            <a:ext cx="5287963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>
                <a:latin typeface="Times New Roman" panose="02020603050405020304" pitchFamily="18" charset="0"/>
              </a:rPr>
              <a:t>在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系看星光的速度：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91868" name="文本框 291867"/>
          <p:cNvSpPr txBox="1"/>
          <p:nvPr/>
        </p:nvSpPr>
        <p:spPr>
          <a:xfrm>
            <a:off x="6935788" y="1960563"/>
            <a:ext cx="5651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600" i="1">
                <a:latin typeface="Times New Roman" panose="02020603050405020304" pitchFamily="18" charset="0"/>
              </a:rPr>
              <a:t>u'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291869" name="文本框 291868"/>
          <p:cNvSpPr txBox="1"/>
          <p:nvPr/>
        </p:nvSpPr>
        <p:spPr>
          <a:xfrm>
            <a:off x="7697788" y="2265363"/>
            <a:ext cx="4381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3600" i="1">
                <a:latin typeface="Times New Roman" panose="02020603050405020304" pitchFamily="18" charset="0"/>
              </a:rPr>
              <a:t>u</a:t>
            </a:r>
            <a:endParaRPr lang="en-US" altLang="zh-CN" sz="3600" i="1">
              <a:latin typeface="Times New Roman" panose="02020603050405020304" pitchFamily="18" charset="0"/>
            </a:endParaRPr>
          </a:p>
        </p:txBody>
      </p:sp>
      <p:graphicFrame>
        <p:nvGraphicFramePr>
          <p:cNvPr id="291870" name="对象 291869"/>
          <p:cNvGraphicFramePr/>
          <p:nvPr/>
        </p:nvGraphicFramePr>
        <p:xfrm>
          <a:off x="3157538" y="4137025"/>
          <a:ext cx="693737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1" imgW="685165" imgH="254000" progId="Equation.3">
                  <p:embed/>
                </p:oleObj>
              </mc:Choice>
              <mc:Fallback>
                <p:oleObj name="" r:id="rId11" imgW="685165" imgH="2540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57538" y="4137025"/>
                        <a:ext cx="693737" cy="300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71" name="文本框 291870"/>
          <p:cNvSpPr txBox="1"/>
          <p:nvPr/>
        </p:nvSpPr>
        <p:spPr>
          <a:xfrm>
            <a:off x="8331200" y="2874963"/>
            <a:ext cx="65087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/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graphicFrame>
        <p:nvGraphicFramePr>
          <p:cNvPr id="291872" name="对象 291871"/>
          <p:cNvGraphicFramePr/>
          <p:nvPr/>
        </p:nvGraphicFramePr>
        <p:xfrm>
          <a:off x="7019925" y="3932238"/>
          <a:ext cx="158432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13" imgW="1764665" imgH="761365" progId="Equation.DSMT4">
                  <p:embed/>
                </p:oleObj>
              </mc:Choice>
              <mc:Fallback>
                <p:oleObj name="" r:id="rId13" imgW="1764665" imgH="761365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19925" y="3932238"/>
                        <a:ext cx="1584325" cy="771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73" name="对象 291872"/>
          <p:cNvGraphicFramePr/>
          <p:nvPr/>
        </p:nvGraphicFramePr>
        <p:xfrm>
          <a:off x="4283075" y="5427663"/>
          <a:ext cx="43338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5" imgW="469900" imgH="330200" progId="Equation.3">
                  <p:embed/>
                </p:oleObj>
              </mc:Choice>
              <mc:Fallback>
                <p:oleObj name="" r:id="rId15" imgW="469900" imgH="3302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3075" y="5427663"/>
                        <a:ext cx="433388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74" name="对象 291873"/>
          <p:cNvGraphicFramePr/>
          <p:nvPr/>
        </p:nvGraphicFramePr>
        <p:xfrm>
          <a:off x="7956550" y="5300663"/>
          <a:ext cx="43180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7" imgW="456565" imgH="254000" progId="Equation.3">
                  <p:embed/>
                </p:oleObj>
              </mc:Choice>
              <mc:Fallback>
                <p:oleObj name="" r:id="rId17" imgW="456565" imgH="2540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956550" y="5300663"/>
                        <a:ext cx="431800" cy="260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75" name="文本框 291874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17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1843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charRg st="25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1843">
                                            <p:txEl>
                                              <p:charRg st="25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charRg st="58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1843">
                                            <p:txEl>
                                              <p:charRg st="58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9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1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1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9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9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4" dur="500"/>
                                        <p:tgtEl>
                                          <p:spTgt spid="29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9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500"/>
                                        <p:tgtEl>
                                          <p:spTgt spid="29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8" dur="500"/>
                                        <p:tgtEl>
                                          <p:spTgt spid="29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9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7" dur="500"/>
                                        <p:tgtEl>
                                          <p:spTgt spid="29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29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29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91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91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918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918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91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91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91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91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1" dur="500"/>
                                        <p:tgtEl>
                                          <p:spTgt spid="29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6" dur="500"/>
                                        <p:tgtEl>
                                          <p:spTgt spid="291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91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91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91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91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291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91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3" grpId="0" uiExpand="1" build="p"/>
      <p:bldP spid="291849" grpId="0"/>
      <p:bldP spid="291850" grpId="0"/>
      <p:bldP spid="291851" grpId="0"/>
      <p:bldP spid="291852" grpId="0"/>
      <p:bldP spid="291855" grpId="0"/>
      <p:bldP spid="291856" grpId="0"/>
      <p:bldP spid="291858" grpId="0"/>
      <p:bldP spid="291859" grpId="0"/>
      <p:bldP spid="291860" grpId="0"/>
      <p:bldP spid="291866" grpId="0"/>
      <p:bldP spid="291867" grpId="0"/>
      <p:bldP spid="291868" grpId="0"/>
      <p:bldP spid="291869" grpId="0"/>
      <p:bldP spid="29187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3892" name="矩形 293891"/>
          <p:cNvSpPr/>
          <p:nvPr/>
        </p:nvSpPr>
        <p:spPr>
          <a:xfrm>
            <a:off x="684213" y="388938"/>
            <a:ext cx="65801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</a:rPr>
              <a:t>速度方向的变换关系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3893" name="矩形 293892"/>
          <p:cNvSpPr/>
          <p:nvPr/>
        </p:nvSpPr>
        <p:spPr>
          <a:xfrm>
            <a:off x="992188" y="831850"/>
            <a:ext cx="8116887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如果质点运动速度的方向不在坐标轴上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则经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过洛仑兹变换后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不仅速度的大小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而且速度的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方向也会改变。 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93939" name="组合 293938"/>
          <p:cNvGrpSpPr/>
          <p:nvPr/>
        </p:nvGrpSpPr>
        <p:grpSpPr>
          <a:xfrm>
            <a:off x="4356100" y="2114550"/>
            <a:ext cx="4697413" cy="2827338"/>
            <a:chOff x="2744" y="1192"/>
            <a:chExt cx="2959" cy="1781"/>
          </a:xfrm>
        </p:grpSpPr>
        <p:sp>
          <p:nvSpPr>
            <p:cNvPr id="293895" name="直接连接符 293894"/>
            <p:cNvSpPr/>
            <p:nvPr/>
          </p:nvSpPr>
          <p:spPr>
            <a:xfrm>
              <a:off x="3008" y="2632"/>
              <a:ext cx="12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3896" name="直接连接符 293895"/>
            <p:cNvSpPr/>
            <p:nvPr/>
          </p:nvSpPr>
          <p:spPr>
            <a:xfrm flipV="1">
              <a:off x="3008" y="1336"/>
              <a:ext cx="0" cy="12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3897" name="直接连接符 293896"/>
            <p:cNvSpPr/>
            <p:nvPr/>
          </p:nvSpPr>
          <p:spPr>
            <a:xfrm flipV="1">
              <a:off x="4488" y="1336"/>
              <a:ext cx="0" cy="129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3902" name="直接连接符 293901"/>
            <p:cNvSpPr/>
            <p:nvPr/>
          </p:nvSpPr>
          <p:spPr>
            <a:xfrm>
              <a:off x="4696" y="1528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3903" name="文本框 293902"/>
            <p:cNvSpPr txBox="1"/>
            <p:nvPr/>
          </p:nvSpPr>
          <p:spPr>
            <a:xfrm>
              <a:off x="2768" y="2565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i="1">
                  <a:latin typeface="Times New Roman" panose="02020603050405020304" pitchFamily="18" charset="0"/>
                </a:rPr>
                <a:t>o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93904" name="文本框 293903"/>
            <p:cNvSpPr txBox="1"/>
            <p:nvPr/>
          </p:nvSpPr>
          <p:spPr>
            <a:xfrm>
              <a:off x="5397" y="2608"/>
              <a:ext cx="30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'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3905" name="文本框 293904"/>
            <p:cNvSpPr txBox="1"/>
            <p:nvPr/>
          </p:nvSpPr>
          <p:spPr>
            <a:xfrm>
              <a:off x="2768" y="1240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y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3906" name="文本框 293905"/>
            <p:cNvSpPr txBox="1"/>
            <p:nvPr/>
          </p:nvSpPr>
          <p:spPr>
            <a:xfrm>
              <a:off x="4232" y="1240"/>
              <a:ext cx="29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y'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3907" name="文本框 293906"/>
            <p:cNvSpPr txBox="1"/>
            <p:nvPr/>
          </p:nvSpPr>
          <p:spPr>
            <a:xfrm>
              <a:off x="4752" y="1192"/>
              <a:ext cx="244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600" i="1">
                  <a:latin typeface="Times New Roman" panose="02020603050405020304" pitchFamily="18" charset="0"/>
                </a:rPr>
                <a:t>v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93909" name="文本框 293908"/>
            <p:cNvSpPr txBox="1"/>
            <p:nvPr/>
          </p:nvSpPr>
          <p:spPr>
            <a:xfrm>
              <a:off x="4320" y="2581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i="1">
                  <a:latin typeface="Times New Roman" panose="02020603050405020304" pitchFamily="18" charset="0"/>
                </a:rPr>
                <a:t>o'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293910" name="文本框 293909"/>
            <p:cNvSpPr txBox="1"/>
            <p:nvPr/>
          </p:nvSpPr>
          <p:spPr>
            <a:xfrm>
              <a:off x="4192" y="1576"/>
              <a:ext cx="30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>
                  <a:latin typeface="Times New Roman" panose="02020603050405020304" pitchFamily="18" charset="0"/>
                </a:rPr>
                <a:t>'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3911" name="文本框 293910"/>
            <p:cNvSpPr txBox="1"/>
            <p:nvPr/>
          </p:nvSpPr>
          <p:spPr>
            <a:xfrm>
              <a:off x="2744" y="1568"/>
              <a:ext cx="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/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endParaRPr lang="en-US" altLang="zh-CN" sz="3200" i="1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93912" name="直接连接符 293911"/>
            <p:cNvSpPr/>
            <p:nvPr/>
          </p:nvSpPr>
          <p:spPr>
            <a:xfrm>
              <a:off x="3360" y="2040"/>
              <a:ext cx="5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3913" name="直接连接符 293912"/>
            <p:cNvSpPr/>
            <p:nvPr/>
          </p:nvSpPr>
          <p:spPr>
            <a:xfrm flipV="1">
              <a:off x="3368" y="1680"/>
              <a:ext cx="520" cy="36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3915" name="直接连接符 293914"/>
            <p:cNvSpPr/>
            <p:nvPr/>
          </p:nvSpPr>
          <p:spPr>
            <a:xfrm flipV="1">
              <a:off x="3888" y="1664"/>
              <a:ext cx="0" cy="36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3916" name="任意多边形 293915"/>
            <p:cNvSpPr/>
            <p:nvPr/>
          </p:nvSpPr>
          <p:spPr>
            <a:xfrm>
              <a:off x="3536" y="1936"/>
              <a:ext cx="56" cy="104"/>
            </a:xfrm>
            <a:custGeom>
              <a:avLst/>
              <a:gdLst/>
              <a:ahLst/>
              <a:cxnLst/>
              <a:pathLst>
                <a:path w="56" h="104">
                  <a:moveTo>
                    <a:pt x="0" y="0"/>
                  </a:moveTo>
                  <a:cubicBezTo>
                    <a:pt x="20" y="7"/>
                    <a:pt x="40" y="15"/>
                    <a:pt x="48" y="32"/>
                  </a:cubicBezTo>
                  <a:cubicBezTo>
                    <a:pt x="56" y="49"/>
                    <a:pt x="52" y="76"/>
                    <a:pt x="48" y="10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293917" name="对象 293916"/>
            <p:cNvGraphicFramePr/>
            <p:nvPr/>
          </p:nvGraphicFramePr>
          <p:xfrm>
            <a:off x="3588" y="1856"/>
            <a:ext cx="152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5" name="" r:id="rId1" imgW="139700" imgH="177800" progId="Equation.3">
                    <p:embed/>
                  </p:oleObj>
                </mc:Choice>
                <mc:Fallback>
                  <p:oleObj name="" r:id="rId1" imgW="139700" imgH="177800" progId="Equation.3">
                    <p:embed/>
                    <p:pic>
                      <p:nvPicPr>
                        <p:cNvPr id="0" name="图片 3184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88" y="1856"/>
                          <a:ext cx="152" cy="1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3918" name="直接连接符 293917"/>
            <p:cNvSpPr/>
            <p:nvPr/>
          </p:nvSpPr>
          <p:spPr>
            <a:xfrm>
              <a:off x="4488" y="2632"/>
              <a:ext cx="12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3919" name="文本框 293918"/>
            <p:cNvSpPr txBox="1"/>
            <p:nvPr/>
          </p:nvSpPr>
          <p:spPr>
            <a:xfrm>
              <a:off x="4036" y="2592"/>
              <a:ext cx="24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3200">
                  <a:latin typeface="Times New Roman" panose="02020603050405020304" pitchFamily="18" charset="0"/>
                </a:rPr>
                <a:t>x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93920" name="对象 293919"/>
            <p:cNvGraphicFramePr/>
            <p:nvPr/>
          </p:nvGraphicFramePr>
          <p:xfrm>
            <a:off x="3537" y="2069"/>
            <a:ext cx="263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" name="" r:id="rId3" imgW="190500" imgH="228600" progId="Equation.3">
                    <p:embed/>
                  </p:oleObj>
                </mc:Choice>
                <mc:Fallback>
                  <p:oleObj name="" r:id="rId3" imgW="190500" imgH="228600" progId="Equation.3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37" y="2069"/>
                          <a:ext cx="263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3921" name="对象 293920"/>
            <p:cNvGraphicFramePr/>
            <p:nvPr/>
          </p:nvGraphicFramePr>
          <p:xfrm>
            <a:off x="3897" y="1733"/>
            <a:ext cx="263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" name="" r:id="rId5" imgW="190500" imgH="241300" progId="Equation.3">
                    <p:embed/>
                  </p:oleObj>
                </mc:Choice>
                <mc:Fallback>
                  <p:oleObj name="" r:id="rId5" imgW="190500" imgH="241300" progId="Equation.3">
                    <p:embed/>
                    <p:pic>
                      <p:nvPicPr>
                        <p:cNvPr id="0" name="图片 3185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97" y="1733"/>
                          <a:ext cx="263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3922" name="对象 293921"/>
            <p:cNvGraphicFramePr/>
            <p:nvPr/>
          </p:nvGraphicFramePr>
          <p:xfrm>
            <a:off x="3452" y="1691"/>
            <a:ext cx="17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" name="" r:id="rId7" imgW="127000" imgH="139700" progId="Equation.3">
                    <p:embed/>
                  </p:oleObj>
                </mc:Choice>
                <mc:Fallback>
                  <p:oleObj name="" r:id="rId7" imgW="127000" imgH="139700" progId="Equation.3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52" y="1691"/>
                          <a:ext cx="176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3923" name="直接连接符 293922"/>
            <p:cNvSpPr/>
            <p:nvPr/>
          </p:nvSpPr>
          <p:spPr>
            <a:xfrm>
              <a:off x="4696" y="2080"/>
              <a:ext cx="5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3924" name="直接连接符 293923"/>
            <p:cNvSpPr/>
            <p:nvPr/>
          </p:nvSpPr>
          <p:spPr>
            <a:xfrm flipV="1">
              <a:off x="4704" y="1720"/>
              <a:ext cx="520" cy="36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3925" name="直接连接符 293924"/>
            <p:cNvSpPr/>
            <p:nvPr/>
          </p:nvSpPr>
          <p:spPr>
            <a:xfrm flipV="1">
              <a:off x="5224" y="1704"/>
              <a:ext cx="0" cy="36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3926" name="任意多边形 293925"/>
            <p:cNvSpPr/>
            <p:nvPr/>
          </p:nvSpPr>
          <p:spPr>
            <a:xfrm>
              <a:off x="4872" y="1976"/>
              <a:ext cx="56" cy="104"/>
            </a:xfrm>
            <a:custGeom>
              <a:avLst/>
              <a:gdLst/>
              <a:ahLst/>
              <a:cxnLst/>
              <a:pathLst>
                <a:path w="56" h="104">
                  <a:moveTo>
                    <a:pt x="0" y="0"/>
                  </a:moveTo>
                  <a:cubicBezTo>
                    <a:pt x="20" y="7"/>
                    <a:pt x="40" y="15"/>
                    <a:pt x="48" y="32"/>
                  </a:cubicBezTo>
                  <a:cubicBezTo>
                    <a:pt x="56" y="49"/>
                    <a:pt x="52" y="76"/>
                    <a:pt x="48" y="104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293927" name="对象 293926"/>
            <p:cNvGraphicFramePr/>
            <p:nvPr/>
          </p:nvGraphicFramePr>
          <p:xfrm>
            <a:off x="4928" y="1896"/>
            <a:ext cx="193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" r:id="rId9" imgW="177800" imgH="177800" progId="Equation.3">
                    <p:embed/>
                  </p:oleObj>
                </mc:Choice>
                <mc:Fallback>
                  <p:oleObj name="" r:id="rId9" imgW="177800" imgH="177800" progId="Equation.3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28" y="1896"/>
                          <a:ext cx="193" cy="1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3928" name="对象 293927"/>
            <p:cNvGraphicFramePr/>
            <p:nvPr/>
          </p:nvGraphicFramePr>
          <p:xfrm>
            <a:off x="4873" y="2109"/>
            <a:ext cx="263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" name="" r:id="rId11" imgW="190500" imgH="228600" progId="Equation.3">
                    <p:embed/>
                  </p:oleObj>
                </mc:Choice>
                <mc:Fallback>
                  <p:oleObj name="" r:id="rId11" imgW="190500" imgH="228600" progId="Equation.3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73" y="2109"/>
                          <a:ext cx="263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3929" name="对象 293928"/>
            <p:cNvGraphicFramePr/>
            <p:nvPr/>
          </p:nvGraphicFramePr>
          <p:xfrm>
            <a:off x="5233" y="1773"/>
            <a:ext cx="263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" name="" r:id="rId13" imgW="190500" imgH="241300" progId="Equation.3">
                    <p:embed/>
                  </p:oleObj>
                </mc:Choice>
                <mc:Fallback>
                  <p:oleObj name="" r:id="rId13" imgW="190500" imgH="241300" progId="Equation.3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33" y="1773"/>
                          <a:ext cx="263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3930" name="对象 293929"/>
            <p:cNvGraphicFramePr/>
            <p:nvPr/>
          </p:nvGraphicFramePr>
          <p:xfrm>
            <a:off x="4762" y="1705"/>
            <a:ext cx="229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" name="" r:id="rId15" imgW="165100" imgH="177800" progId="Equation.3">
                    <p:embed/>
                  </p:oleObj>
                </mc:Choice>
                <mc:Fallback>
                  <p:oleObj name="" r:id="rId15" imgW="165100" imgH="177800" progId="Equation.3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62" y="1705"/>
                          <a:ext cx="229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3938" name="矩形 293937"/>
          <p:cNvSpPr/>
          <p:nvPr/>
        </p:nvSpPr>
        <p:spPr>
          <a:xfrm>
            <a:off x="3348038" y="1685925"/>
            <a:ext cx="81168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设质点在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系中的</a:t>
            </a:r>
            <a:r>
              <a:rPr lang="en-US" altLang="zh-CN" err="1">
                <a:latin typeface="Times New Roman" panose="02020603050405020304" pitchFamily="18" charset="0"/>
              </a:rPr>
              <a:t>xy</a:t>
            </a:r>
            <a:r>
              <a:rPr lang="zh-CN" altLang="en-US" dirty="0">
                <a:latin typeface="Times New Roman" panose="02020603050405020304" pitchFamily="18" charset="0"/>
              </a:rPr>
              <a:t>平面内运动 。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93944" name="对象 293943"/>
          <p:cNvGraphicFramePr/>
          <p:nvPr/>
        </p:nvGraphicFramePr>
        <p:xfrm>
          <a:off x="1258888" y="2133600"/>
          <a:ext cx="2117725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17" imgW="1905000" imgH="1143000" progId="Equation.DSMT4">
                  <p:embed/>
                </p:oleObj>
              </mc:Choice>
              <mc:Fallback>
                <p:oleObj name="" r:id="rId17" imgW="1905000" imgH="1143000" progId="Equation.DSMT4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2133600"/>
                        <a:ext cx="2117725" cy="1208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45" name="对象 293944"/>
          <p:cNvGraphicFramePr/>
          <p:nvPr/>
        </p:nvGraphicFramePr>
        <p:xfrm>
          <a:off x="1331913" y="3302000"/>
          <a:ext cx="2922587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19" imgW="3162300" imgH="1155700" progId="Equation.DSMT4">
                  <p:embed/>
                </p:oleObj>
              </mc:Choice>
              <mc:Fallback>
                <p:oleObj name="" r:id="rId19" imgW="3162300" imgH="1155700" progId="Equation.DSMT4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3302000"/>
                        <a:ext cx="2922587" cy="1206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46" name="对象 293945"/>
          <p:cNvGraphicFramePr/>
          <p:nvPr/>
        </p:nvGraphicFramePr>
        <p:xfrm>
          <a:off x="1335088" y="4500563"/>
          <a:ext cx="3524250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21" imgW="3668395" imgH="1129665" progId="Equation.DSMT4">
                  <p:embed/>
                </p:oleObj>
              </mc:Choice>
              <mc:Fallback>
                <p:oleObj name="" r:id="rId21" imgW="3668395" imgH="1129665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5088" y="4500563"/>
                        <a:ext cx="3524250" cy="1160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48" name="对象 293947"/>
          <p:cNvGraphicFramePr/>
          <p:nvPr/>
        </p:nvGraphicFramePr>
        <p:xfrm>
          <a:off x="4922838" y="2138363"/>
          <a:ext cx="950912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23" imgW="368300" imgH="228600" progId="Equation.3">
                  <p:embed/>
                </p:oleObj>
              </mc:Choice>
              <mc:Fallback>
                <p:oleObj name="" r:id="rId23" imgW="368300" imgH="2286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22838" y="2138363"/>
                        <a:ext cx="950912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49" name="对象 293948"/>
          <p:cNvGraphicFramePr/>
          <p:nvPr/>
        </p:nvGraphicFramePr>
        <p:xfrm>
          <a:off x="1258888" y="5661025"/>
          <a:ext cx="417671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25" imgW="3987800" imgH="876300" progId="Equation.DSMT4">
                  <p:embed/>
                </p:oleObj>
              </mc:Choice>
              <mc:Fallback>
                <p:oleObj name="" r:id="rId25" imgW="3987800" imgH="876300" progId="Equation.DSMT4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5661025"/>
                        <a:ext cx="4176712" cy="968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50" name="对象 293949"/>
          <p:cNvGraphicFramePr/>
          <p:nvPr/>
        </p:nvGraphicFramePr>
        <p:xfrm>
          <a:off x="5435600" y="5734050"/>
          <a:ext cx="302418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27" imgW="3097530" imgH="761365" progId="Equation.DSMT4">
                  <p:embed/>
                </p:oleObj>
              </mc:Choice>
              <mc:Fallback>
                <p:oleObj name="" r:id="rId27" imgW="3097530" imgH="761365" progId="Equation.DSMT4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35600" y="5734050"/>
                        <a:ext cx="3024188" cy="819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51" name="文本框 293950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19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3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3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9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93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93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93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93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9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293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2" grpId="0"/>
      <p:bldP spid="293893" grpId="0"/>
      <p:bldP spid="2939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2387" name="文本框 272386"/>
          <p:cNvSpPr txBox="1"/>
          <p:nvPr/>
        </p:nvSpPr>
        <p:spPr>
          <a:xfrm>
            <a:off x="1692275" y="3054350"/>
            <a:ext cx="6157913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系测得对应两事件的坐标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272388" name="对象 272387"/>
          <p:cNvGraphicFramePr/>
          <p:nvPr/>
        </p:nvGraphicFramePr>
        <p:xfrm>
          <a:off x="1087438" y="4941888"/>
          <a:ext cx="24765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1" imgW="1054100" imgH="228600" progId="Equation.DSMT4">
                  <p:embed/>
                </p:oleObj>
              </mc:Choice>
              <mc:Fallback>
                <p:oleObj name="" r:id="rId1" imgW="1054100" imgH="228600" progId="Equation.DSMT4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87438" y="4941888"/>
                        <a:ext cx="2476500" cy="582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9" name="对象 272388"/>
          <p:cNvGraphicFramePr/>
          <p:nvPr/>
        </p:nvGraphicFramePr>
        <p:xfrm>
          <a:off x="1116013" y="5661025"/>
          <a:ext cx="23764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3" imgW="2246630" imgH="431800" progId="Equation.DSMT4">
                  <p:embed/>
                </p:oleObj>
              </mc:Choice>
              <mc:Fallback>
                <p:oleObj name="" r:id="rId3" imgW="2246630" imgH="431800" progId="Equation.DSMT4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5661025"/>
                        <a:ext cx="2376487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0" name="对象 272389"/>
          <p:cNvGraphicFramePr/>
          <p:nvPr/>
        </p:nvGraphicFramePr>
        <p:xfrm>
          <a:off x="4764088" y="4724400"/>
          <a:ext cx="3649662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5" imgW="3721100" imgH="1485900" progId="Equation.DSMT4">
                  <p:embed/>
                </p:oleObj>
              </mc:Choice>
              <mc:Fallback>
                <p:oleObj name="" r:id="rId5" imgW="3721100" imgH="1485900" progId="Equation.DSMT4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64088" y="4724400"/>
                        <a:ext cx="3649662" cy="1657350"/>
                      </a:xfrm>
                      <a:prstGeom prst="rect">
                        <a:avLst/>
                      </a:prstGeom>
                      <a:noFill/>
                      <a:ln w="19050" cap="flat" cmpd="sng">
                        <a:solidFill>
                          <a:srgbClr val="990099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91" name="右大括号 272390"/>
          <p:cNvSpPr/>
          <p:nvPr/>
        </p:nvSpPr>
        <p:spPr>
          <a:xfrm>
            <a:off x="3563938" y="5084763"/>
            <a:ext cx="215900" cy="936625"/>
          </a:xfrm>
          <a:prstGeom prst="rightBrace">
            <a:avLst>
              <a:gd name="adj1" fmla="val 36151"/>
              <a:gd name="adj2" fmla="val 50000"/>
            </a:avLst>
          </a:prstGeom>
          <a:noFill/>
          <a:ln w="38100" cap="flat" cmpd="sng">
            <a:solidFill>
              <a:srgbClr val="990099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2392" name="右箭头 272391"/>
          <p:cNvSpPr/>
          <p:nvPr/>
        </p:nvSpPr>
        <p:spPr>
          <a:xfrm>
            <a:off x="3779838" y="5459413"/>
            <a:ext cx="976312" cy="152400"/>
          </a:xfrm>
          <a:prstGeom prst="rightArrow">
            <a:avLst>
              <a:gd name="adj1" fmla="val 50000"/>
              <a:gd name="adj2" fmla="val 160156"/>
            </a:avLst>
          </a:prstGeom>
          <a:solidFill>
            <a:srgbClr val="9900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72394" name="文本框 272393"/>
          <p:cNvSpPr txBox="1"/>
          <p:nvPr/>
        </p:nvSpPr>
        <p:spPr>
          <a:xfrm>
            <a:off x="1692275" y="1973263"/>
            <a:ext cx="5256213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S'</a:t>
            </a:r>
            <a:r>
              <a:rPr lang="zh-CN" altLang="en-US" dirty="0">
                <a:latin typeface="Times New Roman" panose="02020603050405020304" pitchFamily="18" charset="0"/>
              </a:rPr>
              <a:t>系发生两事件的坐标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72408" name="矩形 272407"/>
          <p:cNvSpPr/>
          <p:nvPr/>
        </p:nvSpPr>
        <p:spPr>
          <a:xfrm>
            <a:off x="0" y="401638"/>
            <a:ext cx="88931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sz="3200" dirty="0">
                <a:latin typeface="Times New Roman" panose="02020603050405020304" pitchFamily="18" charset="0"/>
              </a:rPr>
              <a:t>第</a:t>
            </a:r>
            <a:r>
              <a:rPr lang="en-US" altLang="zh-CN" sz="3200">
                <a:latin typeface="Times New Roman" panose="02020603050405020304" pitchFamily="18" charset="0"/>
              </a:rPr>
              <a:t>5</a:t>
            </a:r>
            <a:r>
              <a:rPr lang="zh-CN" altLang="en-US" sz="3200" dirty="0">
                <a:latin typeface="Times New Roman" panose="02020603050405020304" pitchFamily="18" charset="0"/>
              </a:rPr>
              <a:t>节   时间的相对性和长度的相对性  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72409" name="矩形 272408"/>
          <p:cNvSpPr/>
          <p:nvPr/>
        </p:nvSpPr>
        <p:spPr>
          <a:xfrm>
            <a:off x="2439988" y="893763"/>
            <a:ext cx="65960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Relativity of Time and Length</a:t>
            </a:r>
            <a:endParaRPr lang="en-US" altLang="zh-CN">
              <a:solidFill>
                <a:schemeClr val="folHlink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272410" name="矩形 272409"/>
          <p:cNvSpPr/>
          <p:nvPr/>
        </p:nvSpPr>
        <p:spPr>
          <a:xfrm>
            <a:off x="684213" y="1470025"/>
            <a:ext cx="54276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</a:rPr>
              <a:t>同时性的相对性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2413" name="文本框 272412"/>
          <p:cNvSpPr txBox="1"/>
          <p:nvPr/>
        </p:nvSpPr>
        <p:spPr>
          <a:xfrm>
            <a:off x="2447925" y="3557588"/>
            <a:ext cx="5437188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A 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,0,0,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)    B 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,0,0,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72414" name="文本框 272413"/>
          <p:cNvSpPr txBox="1"/>
          <p:nvPr/>
        </p:nvSpPr>
        <p:spPr>
          <a:xfrm>
            <a:off x="2411413" y="2478088"/>
            <a:ext cx="5329237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i="1">
                <a:latin typeface="Times New Roman" panose="02020603050405020304" pitchFamily="18" charset="0"/>
              </a:rPr>
              <a:t>'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x'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,0,0,</a:t>
            </a:r>
            <a:r>
              <a:rPr lang="en-US" altLang="zh-CN" i="1">
                <a:latin typeface="Times New Roman" panose="02020603050405020304" pitchFamily="18" charset="0"/>
              </a:rPr>
              <a:t>t'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)   B</a:t>
            </a:r>
            <a:r>
              <a:rPr lang="en-US" altLang="zh-CN" i="1">
                <a:latin typeface="Times New Roman" panose="02020603050405020304" pitchFamily="18" charset="0"/>
              </a:rPr>
              <a:t>'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x'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,0,0,</a:t>
            </a:r>
            <a:r>
              <a:rPr lang="en-US" altLang="zh-CN" i="1">
                <a:latin typeface="Times New Roman" panose="02020603050405020304" pitchFamily="18" charset="0"/>
              </a:rPr>
              <a:t>t'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72415" name="文本框 272414"/>
          <p:cNvSpPr txBox="1"/>
          <p:nvPr/>
        </p:nvSpPr>
        <p:spPr>
          <a:xfrm>
            <a:off x="971550" y="4205288"/>
            <a:ext cx="6157913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该两事件的时间间隔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72416" name="文本框 272415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20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75"/>
                                        <p:tgtEl>
                                          <p:spTgt spid="27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75"/>
                                        <p:tgtEl>
                                          <p:spTgt spid="27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7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27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27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7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27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6" dur="500"/>
                                        <p:tgtEl>
                                          <p:spTgt spid="27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7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27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7" grpId="0"/>
      <p:bldP spid="272394" grpId="0"/>
      <p:bldP spid="272408" grpId="0"/>
      <p:bldP spid="272409" grpId="0"/>
      <p:bldP spid="272410" grpId="0"/>
      <p:bldP spid="272413" grpId="0"/>
      <p:bldP spid="272414" grpId="0"/>
      <p:bldP spid="2724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2564" name="文本框 322563"/>
          <p:cNvSpPr txBox="1"/>
          <p:nvPr/>
        </p:nvSpPr>
        <p:spPr>
          <a:xfrm>
            <a:off x="684213" y="1052513"/>
            <a:ext cx="5205412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'</a:t>
            </a:r>
            <a:r>
              <a:rPr lang="zh-CN" altLang="en-US" dirty="0">
                <a:latin typeface="Times New Roman" panose="02020603050405020304" pitchFamily="18" charset="0"/>
              </a:rPr>
              <a:t>系中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'</a:t>
            </a:r>
            <a:r>
              <a:rPr lang="en-US" altLang="zh-CN">
                <a:latin typeface="Times New Roman" panose="02020603050405020304" pitchFamily="18" charset="0"/>
              </a:rPr>
              <a:t>, B</a:t>
            </a:r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'</a:t>
            </a:r>
            <a:r>
              <a:rPr lang="zh-CN" altLang="en-US" dirty="0">
                <a:latin typeface="Times New Roman" panose="02020603050405020304" pitchFamily="18" charset="0"/>
              </a:rPr>
              <a:t>同时不同地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2566" name="文本框 322565"/>
          <p:cNvSpPr txBox="1"/>
          <p:nvPr/>
        </p:nvSpPr>
        <p:spPr>
          <a:xfrm>
            <a:off x="3962400" y="2014538"/>
            <a:ext cx="1427163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/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t</a:t>
            </a:r>
            <a:r>
              <a:rPr lang="en-US" altLang="zh-CN" baseline="-25000">
                <a:latin typeface="Times New Roman" panose="02020603050405020304" pitchFamily="18" charset="0"/>
                <a:sym typeface="Math1" pitchFamily="2" charset="2"/>
              </a:rPr>
              <a:t>1 </a:t>
            </a:r>
            <a:r>
              <a:rPr lang="en-US" altLang="zh-CN">
                <a:latin typeface="Times New Roman" panose="02020603050405020304" pitchFamily="18" charset="0"/>
                <a:sym typeface="Math1" pitchFamily="2" charset="2"/>
              </a:rPr>
              <a:t>≠</a:t>
            </a:r>
            <a:r>
              <a:rPr lang="en-US" altLang="zh-CN" baseline="-25000">
                <a:latin typeface="Times New Roman" panose="02020603050405020304" pitchFamily="18" charset="0"/>
                <a:sym typeface="Math1" pitchFamily="2" charset="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t</a:t>
            </a:r>
            <a:r>
              <a:rPr lang="en-US" altLang="zh-CN" baseline="-25000">
                <a:latin typeface="Times New Roman" panose="02020603050405020304" pitchFamily="18" charset="0"/>
                <a:sym typeface="Math1" pitchFamily="2" charset="2"/>
              </a:rPr>
              <a:t>2</a:t>
            </a:r>
            <a:endParaRPr lang="en-US" altLang="zh-CN" baseline="-25000">
              <a:latin typeface="Times New Roman" panose="02020603050405020304" pitchFamily="18" charset="0"/>
              <a:sym typeface="Math1" pitchFamily="2" charset="2"/>
            </a:endParaRPr>
          </a:p>
        </p:txBody>
      </p:sp>
      <p:sp>
        <p:nvSpPr>
          <p:cNvPr id="322567" name="文本框 322566"/>
          <p:cNvSpPr txBox="1"/>
          <p:nvPr/>
        </p:nvSpPr>
        <p:spPr>
          <a:xfrm>
            <a:off x="5580063" y="1989138"/>
            <a:ext cx="31242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同时性的相对性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2568" name="文本框 322567"/>
          <p:cNvSpPr txBox="1"/>
          <p:nvPr/>
        </p:nvSpPr>
        <p:spPr>
          <a:xfrm>
            <a:off x="2266950" y="388938"/>
            <a:ext cx="29845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sym typeface="Math1" pitchFamily="2" charset="2"/>
              </a:rPr>
              <a:t>但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'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Math1" pitchFamily="2" charset="2"/>
              </a:rPr>
              <a:t>≠</a:t>
            </a:r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x'</a:t>
            </a:r>
            <a:r>
              <a:rPr lang="en-US" altLang="zh-CN" baseline="-25000">
                <a:latin typeface="Times New Roman" panose="02020603050405020304" pitchFamily="18" charset="0"/>
                <a:sym typeface="Math1" pitchFamily="2" charset="2"/>
              </a:rPr>
              <a:t>2</a:t>
            </a:r>
            <a:endParaRPr lang="en-US" altLang="zh-CN" baseline="-25000">
              <a:latin typeface="Times New Roman" panose="02020603050405020304" pitchFamily="18" charset="0"/>
              <a:sym typeface="Math1" pitchFamily="2" charset="2"/>
            </a:endParaRPr>
          </a:p>
        </p:txBody>
      </p:sp>
      <p:sp>
        <p:nvSpPr>
          <p:cNvPr id="322569" name="直接连接符 322568"/>
          <p:cNvSpPr/>
          <p:nvPr/>
        </p:nvSpPr>
        <p:spPr>
          <a:xfrm>
            <a:off x="5211763" y="2266950"/>
            <a:ext cx="4572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322570" name="对象 322569"/>
          <p:cNvGraphicFramePr/>
          <p:nvPr/>
        </p:nvGraphicFramePr>
        <p:xfrm>
          <a:off x="3348038" y="2171700"/>
          <a:ext cx="5492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1" imgW="469900" imgH="330200" progId="Equation.3">
                  <p:embed/>
                </p:oleObj>
              </mc:Choice>
              <mc:Fallback>
                <p:oleObj name="" r:id="rId1" imgW="469900" imgH="3302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48038" y="2171700"/>
                        <a:ext cx="549275" cy="320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71" name="文本框 322570"/>
          <p:cNvSpPr txBox="1"/>
          <p:nvPr/>
        </p:nvSpPr>
        <p:spPr>
          <a:xfrm>
            <a:off x="684213" y="404813"/>
            <a:ext cx="295275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sym typeface="Math1" pitchFamily="2" charset="2"/>
              </a:rPr>
              <a:t>当</a:t>
            </a:r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t'</a:t>
            </a:r>
            <a:r>
              <a:rPr lang="en-US" altLang="zh-CN" baseline="-25000">
                <a:latin typeface="Times New Roman" panose="02020603050405020304" pitchFamily="18" charset="0"/>
                <a:sym typeface="Math1" pitchFamily="2" charset="2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Math1" pitchFamily="2" charset="2"/>
              </a:rPr>
              <a:t>= </a:t>
            </a:r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t'</a:t>
            </a:r>
            <a:r>
              <a:rPr lang="en-US" altLang="zh-CN" baseline="-25000">
                <a:latin typeface="Times New Roman" panose="02020603050405020304" pitchFamily="18" charset="0"/>
                <a:sym typeface="Math1" pitchFamily="2" charset="2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22572" name="矩形 322571"/>
          <p:cNvSpPr/>
          <p:nvPr/>
        </p:nvSpPr>
        <p:spPr>
          <a:xfrm>
            <a:off x="4138613" y="2708275"/>
            <a:ext cx="50419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en-US" altLang="zh-CN" i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系中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A, B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两事件不同时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!</a:t>
            </a:r>
            <a:endParaRPr lang="en-US" altLang="zh-CN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2573" name="直接连接符 322572"/>
          <p:cNvSpPr/>
          <p:nvPr/>
        </p:nvSpPr>
        <p:spPr>
          <a:xfrm flipH="1">
            <a:off x="4652963" y="2457450"/>
            <a:ext cx="12700" cy="368300"/>
          </a:xfrm>
          <a:prstGeom prst="line">
            <a:avLst/>
          </a:prstGeom>
          <a:ln w="57150" cap="flat" cmpd="sng">
            <a:solidFill>
              <a:srgbClr val="FF33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22578" name="组合 322577"/>
          <p:cNvGrpSpPr/>
          <p:nvPr/>
        </p:nvGrpSpPr>
        <p:grpSpPr>
          <a:xfrm>
            <a:off x="4356100" y="188913"/>
            <a:ext cx="4608513" cy="1728787"/>
            <a:chOff x="1338" y="482"/>
            <a:chExt cx="2903" cy="1089"/>
          </a:xfrm>
        </p:grpSpPr>
        <p:graphicFrame>
          <p:nvGraphicFramePr>
            <p:cNvPr id="322575" name="对象 322574"/>
            <p:cNvGraphicFramePr/>
            <p:nvPr/>
          </p:nvGraphicFramePr>
          <p:xfrm>
            <a:off x="1746" y="482"/>
            <a:ext cx="2359" cy="10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0" name="" r:id="rId3" imgW="3594100" imgH="1485900" progId="Equation.DSMT4">
                    <p:embed/>
                  </p:oleObj>
                </mc:Choice>
                <mc:Fallback>
                  <p:oleObj name="" r:id="rId3" imgW="3594100" imgH="1485900" progId="Equation.DSMT4">
                    <p:embed/>
                    <p:pic>
                      <p:nvPicPr>
                        <p:cNvPr id="0" name="图片 3199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46" y="482"/>
                          <a:ext cx="2359" cy="10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2576" name="对象 322575"/>
            <p:cNvGraphicFramePr/>
            <p:nvPr/>
          </p:nvGraphicFramePr>
          <p:xfrm>
            <a:off x="1338" y="754"/>
            <a:ext cx="400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9" name="" r:id="rId5" imgW="3286125" imgH="3038475" progId="MS_ClipArt_Gallery.2">
                    <p:embed/>
                  </p:oleObj>
                </mc:Choice>
                <mc:Fallback>
                  <p:oleObj name="" r:id="rId5" imgW="3286125" imgH="3038475" progId="MS_ClipArt_Gallery.2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FFFFFF"/>
                            </a:clrFrom>
                            <a:clrTo>
                              <a:srgbClr val="00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38" y="754"/>
                          <a:ext cx="400" cy="4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2577" name="矩形 322576"/>
            <p:cNvSpPr/>
            <p:nvPr/>
          </p:nvSpPr>
          <p:spPr>
            <a:xfrm>
              <a:off x="1746" y="527"/>
              <a:ext cx="2495" cy="1044"/>
            </a:xfrm>
            <a:prstGeom prst="rect">
              <a:avLst/>
            </a:prstGeom>
            <a:noFill/>
            <a:ln w="28575" cap="flat" cmpd="sng">
              <a:solidFill>
                <a:srgbClr val="99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322579" name="内容占位符 322578"/>
          <p:cNvGraphicFramePr/>
          <p:nvPr>
            <p:ph idx="4294967295"/>
          </p:nvPr>
        </p:nvGraphicFramePr>
        <p:xfrm>
          <a:off x="1042988" y="1557338"/>
          <a:ext cx="2232025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7" imgW="2057400" imgH="1485900" progId="Equation.DSMT4">
                  <p:embed/>
                </p:oleObj>
              </mc:Choice>
              <mc:Fallback>
                <p:oleObj name="" r:id="rId7" imgW="2057400" imgH="1485900" progId="Equation.DSMT4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1557338"/>
                        <a:ext cx="2232025" cy="161131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81" name="文本框 322580"/>
          <p:cNvSpPr txBox="1"/>
          <p:nvPr/>
        </p:nvSpPr>
        <p:spPr>
          <a:xfrm>
            <a:off x="358775" y="3789363"/>
            <a:ext cx="8750300" cy="13731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>
                <a:latin typeface="Times New Roman" panose="02020603050405020304" pitchFamily="18" charset="0"/>
              </a:rPr>
              <a:t>S'</a:t>
            </a:r>
            <a:r>
              <a:rPr lang="zh-CN" altLang="en-US" dirty="0">
                <a:latin typeface="Times New Roman" panose="02020603050405020304" pitchFamily="18" charset="0"/>
              </a:rPr>
              <a:t>系中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 i="1">
                <a:latin typeface="Times New Roman" panose="02020603050405020304" pitchFamily="18" charset="0"/>
              </a:rPr>
              <a:t>'</a:t>
            </a:r>
            <a:r>
              <a:rPr lang="zh-CN" altLang="en-US" dirty="0">
                <a:latin typeface="Times New Roman" panose="02020603050405020304" pitchFamily="18" charset="0"/>
              </a:rPr>
              <a:t>＞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 i="1">
                <a:latin typeface="Times New Roman" panose="02020603050405020304" pitchFamily="18" charset="0"/>
              </a:rPr>
              <a:t>'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i="1">
                <a:latin typeface="Times New Roman" panose="02020603050405020304" pitchFamily="18" charset="0"/>
              </a:rPr>
              <a:t>'</a:t>
            </a:r>
            <a:r>
              <a:rPr lang="zh-CN" altLang="en-US" dirty="0">
                <a:latin typeface="Times New Roman" panose="02020603050405020304" pitchFamily="18" charset="0"/>
              </a:rPr>
              <a:t>事件先于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en-US" altLang="zh-CN" i="1">
                <a:latin typeface="Times New Roman" panose="02020603050405020304" pitchFamily="18" charset="0"/>
              </a:rPr>
              <a:t>' </a:t>
            </a:r>
            <a:r>
              <a:rPr lang="zh-CN" altLang="en-US" dirty="0">
                <a:latin typeface="Times New Roman" panose="02020603050405020304" pitchFamily="18" charset="0"/>
              </a:rPr>
              <a:t>事件发生 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endParaRPr lang="en-US" altLang="zh-CN">
              <a:latin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对不同的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>
                <a:latin typeface="Times New Roman" panose="02020603050405020304" pitchFamily="18" charset="0"/>
              </a:rPr>
              <a:t>), </a:t>
            </a:r>
            <a:r>
              <a:rPr lang="zh-CN" altLang="en-US" dirty="0">
                <a:latin typeface="Times New Roman" panose="02020603050405020304" pitchFamily="18" charset="0"/>
              </a:rPr>
              <a:t>经过坐标变换后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>
                <a:latin typeface="Times New Roman" panose="02020603050405020304" pitchFamily="18" charset="0"/>
              </a:rPr>
              <a:t>S </a:t>
            </a:r>
            <a:r>
              <a:rPr lang="zh-CN" altLang="en-US" dirty="0">
                <a:latin typeface="Times New Roman" panose="02020603050405020304" pitchFamily="18" charset="0"/>
              </a:rPr>
              <a:t>系有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 三种可能：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2582" name="文本框 322581"/>
          <p:cNvSpPr txBox="1"/>
          <p:nvPr/>
        </p:nvSpPr>
        <p:spPr>
          <a:xfrm>
            <a:off x="2476500" y="5332413"/>
            <a:ext cx="1152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 baseline="-25000">
                <a:latin typeface="Times New Roman" panose="02020603050405020304" pitchFamily="18" charset="0"/>
              </a:rPr>
              <a:t>2 </a:t>
            </a:r>
            <a:r>
              <a:rPr lang="en-US" altLang="zh-CN">
                <a:latin typeface="Times New Roman" panose="02020603050405020304" pitchFamily="18" charset="0"/>
              </a:rPr>
              <a:t>– 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22583" name="左大括号 322582"/>
          <p:cNvSpPr/>
          <p:nvPr/>
        </p:nvSpPr>
        <p:spPr>
          <a:xfrm>
            <a:off x="3670300" y="4989513"/>
            <a:ext cx="190500" cy="1219200"/>
          </a:xfrm>
          <a:prstGeom prst="leftBrace">
            <a:avLst>
              <a:gd name="adj1" fmla="val 53333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22584" name="文本框 322583"/>
          <p:cNvSpPr txBox="1"/>
          <p:nvPr/>
        </p:nvSpPr>
        <p:spPr>
          <a:xfrm>
            <a:off x="3924300" y="4875213"/>
            <a:ext cx="26670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&gt;0  A</a:t>
            </a:r>
            <a:r>
              <a:rPr lang="zh-CN" altLang="zh-CN" dirty="0">
                <a:latin typeface="Times New Roman" panose="02020603050405020304" pitchFamily="18" charset="0"/>
              </a:rPr>
              <a:t>先于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22585" name="文本框 322584"/>
          <p:cNvSpPr txBox="1"/>
          <p:nvPr/>
        </p:nvSpPr>
        <p:spPr>
          <a:xfrm>
            <a:off x="3924300" y="5332413"/>
            <a:ext cx="34290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=0  A</a:t>
            </a:r>
            <a:r>
              <a:rPr lang="zh-CN" altLang="en-US">
                <a:latin typeface="Times New Roman" panose="02020603050405020304" pitchFamily="18" charset="0"/>
              </a:rPr>
              <a:t>与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同时发生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322586" name="文本框 322585"/>
          <p:cNvSpPr txBox="1"/>
          <p:nvPr/>
        </p:nvSpPr>
        <p:spPr>
          <a:xfrm>
            <a:off x="3924300" y="5789613"/>
            <a:ext cx="320040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</a:rPr>
              <a:t>&lt;0  A</a:t>
            </a:r>
            <a:r>
              <a:rPr lang="zh-CN" altLang="en-US">
                <a:latin typeface="Times New Roman" panose="02020603050405020304" pitchFamily="18" charset="0"/>
              </a:rPr>
              <a:t>比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后发生  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322587" name="文本框 322586"/>
          <p:cNvSpPr txBox="1"/>
          <p:nvPr/>
        </p:nvSpPr>
        <p:spPr>
          <a:xfrm>
            <a:off x="1116013" y="6237288"/>
            <a:ext cx="8274050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rPr>
              <a:t>那么</a:t>
            </a:r>
            <a:r>
              <a:rPr lang="en-US" altLang="zh-CN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dirty="0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rPr>
              <a:t>因果事件会发生颠倒吗</a:t>
            </a:r>
            <a:r>
              <a:rPr lang="en-US" altLang="zh-CN">
                <a:solidFill>
                  <a:srgbClr val="990033"/>
                </a:solidFill>
                <a:latin typeface="楷体_GB2312" pitchFamily="49" charset="-122"/>
                <a:ea typeface="楷体_GB2312" pitchFamily="49" charset="-122"/>
              </a:rPr>
              <a:t>?</a:t>
            </a:r>
            <a:endParaRPr lang="en-US" altLang="zh-CN" sz="2400" b="0">
              <a:solidFill>
                <a:srgbClr val="990033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2588" name="文本框 322587"/>
          <p:cNvSpPr txBox="1"/>
          <p:nvPr/>
        </p:nvSpPr>
        <p:spPr>
          <a:xfrm>
            <a:off x="684213" y="3284538"/>
            <a:ext cx="604837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2. </a:t>
            </a:r>
            <a:r>
              <a:rPr lang="zh-CN" altLang="en-US" dirty="0">
                <a:latin typeface="Times New Roman" panose="02020603050405020304" pitchFamily="18" charset="0"/>
              </a:rPr>
              <a:t>相对论不违背因果律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2589" name="文本框 322588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21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" dur="75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75"/>
                                        <p:tgtEl>
                                          <p:spTgt spid="3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75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2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2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22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0" dur="75"/>
                                        <p:tgtEl>
                                          <p:spTgt spid="3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75" fill="hold"/>
                                        <p:tgtEl>
                                          <p:spTgt spid="322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" fill="hold"/>
                                        <p:tgtEl>
                                          <p:spTgt spid="322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1" dur="500"/>
                                        <p:tgtEl>
                                          <p:spTgt spid="3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3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0" dur="500"/>
                                        <p:tgtEl>
                                          <p:spTgt spid="32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22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22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22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2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3" dur="500"/>
                                        <p:tgtEl>
                                          <p:spTgt spid="3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32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75" fill="hold"/>
                                        <p:tgtEl>
                                          <p:spTgt spid="322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5" fill="hold"/>
                                        <p:tgtEl>
                                          <p:spTgt spid="322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4" grpId="0"/>
      <p:bldP spid="322566" grpId="0"/>
      <p:bldP spid="322567" grpId="0"/>
      <p:bldP spid="322568" grpId="0"/>
      <p:bldP spid="322571" grpId="0"/>
      <p:bldP spid="322572" grpId="0"/>
      <p:bldP spid="322581" grpId="0"/>
      <p:bldP spid="322582" grpId="0"/>
      <p:bldP spid="322584" grpId="0"/>
      <p:bldP spid="322585" grpId="0"/>
      <p:bldP spid="322586" grpId="0"/>
      <p:bldP spid="322587" grpId="0"/>
      <p:bldP spid="32258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03107" name="对象 303106"/>
          <p:cNvGraphicFramePr/>
          <p:nvPr/>
        </p:nvGraphicFramePr>
        <p:xfrm>
          <a:off x="1409700" y="2420938"/>
          <a:ext cx="2722563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1" imgW="2438400" imgH="1485900" progId="Equation.DSMT4">
                  <p:embed/>
                </p:oleObj>
              </mc:Choice>
              <mc:Fallback>
                <p:oleObj name="" r:id="rId1" imgW="2438400" imgH="1485900" progId="Equation.DSMT4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9700" y="2420938"/>
                        <a:ext cx="2722563" cy="169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08" name="文本框 303107"/>
          <p:cNvSpPr txBox="1"/>
          <p:nvPr/>
        </p:nvSpPr>
        <p:spPr>
          <a:xfrm>
            <a:off x="739775" y="5357813"/>
            <a:ext cx="253682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由于：</a:t>
            </a:r>
            <a:r>
              <a:rPr lang="en-US" altLang="zh-CN" i="1">
                <a:latin typeface="Times New Roman" panose="02020603050405020304" pitchFamily="18" charset="0"/>
              </a:rPr>
              <a:t>u</a:t>
            </a:r>
            <a:r>
              <a:rPr lang="en-US" altLang="zh-CN">
                <a:latin typeface="Times New Roman" panose="02020603050405020304" pitchFamily="18" charset="0"/>
                <a:sym typeface="Math1" pitchFamily="2" charset="2"/>
              </a:rPr>
              <a:t>≤</a:t>
            </a:r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c</a:t>
            </a:r>
            <a:r>
              <a:rPr lang="zh-CN" altLang="en-US">
                <a:latin typeface="Times New Roman" panose="02020603050405020304" pitchFamily="18" charset="0"/>
                <a:sym typeface="Math1" pitchFamily="2" charset="2"/>
              </a:rPr>
              <a:t>，</a:t>
            </a:r>
            <a:endParaRPr lang="zh-CN" altLang="en-US">
              <a:latin typeface="Times New Roman" panose="02020603050405020304" pitchFamily="18" charset="0"/>
              <a:sym typeface="Math1" pitchFamily="2" charset="2"/>
            </a:endParaRPr>
          </a:p>
        </p:txBody>
      </p:sp>
      <p:sp>
        <p:nvSpPr>
          <p:cNvPr id="303109" name="文本框 303108"/>
          <p:cNvSpPr txBox="1"/>
          <p:nvPr/>
        </p:nvSpPr>
        <p:spPr>
          <a:xfrm>
            <a:off x="5435600" y="5965825"/>
            <a:ext cx="3636963" cy="557213"/>
          </a:xfrm>
          <a:prstGeom prst="rect">
            <a:avLst/>
          </a:prstGeom>
          <a:solidFill>
            <a:srgbClr val="FFCCFF"/>
          </a:solidFill>
          <a:ln w="3810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/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</a:rPr>
              <a:t>因果律是绝对的</a:t>
            </a:r>
            <a:r>
              <a:rPr lang="en-US" altLang="zh-CN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</a:rPr>
              <a:t>!</a:t>
            </a:r>
            <a:endParaRPr lang="en-US" altLang="zh-CN">
              <a:solidFill>
                <a:srgbClr val="0033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03110" name="对象 303109"/>
          <p:cNvGraphicFramePr/>
          <p:nvPr/>
        </p:nvGraphicFramePr>
        <p:xfrm>
          <a:off x="1990725" y="4149725"/>
          <a:ext cx="4529138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3" imgW="3453130" imgH="1129665" progId="Equation.DSMT4">
                  <p:embed/>
                </p:oleObj>
              </mc:Choice>
              <mc:Fallback>
                <p:oleObj name="" r:id="rId3" imgW="3453130" imgH="1129665" progId="Equation.DSMT4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90725" y="4149725"/>
                        <a:ext cx="4529138" cy="1289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1" name="文本框 303110"/>
          <p:cNvSpPr txBox="1"/>
          <p:nvPr/>
        </p:nvSpPr>
        <p:spPr>
          <a:xfrm>
            <a:off x="1187450" y="4292600"/>
            <a:ext cx="2160588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即：</a:t>
            </a:r>
            <a:endParaRPr lang="zh-CN" altLang="en-US" b="0">
              <a:latin typeface="Times New Roman" panose="02020603050405020304" pitchFamily="18" charset="0"/>
            </a:endParaRPr>
          </a:p>
        </p:txBody>
      </p:sp>
      <p:graphicFrame>
        <p:nvGraphicFramePr>
          <p:cNvPr id="303112" name="对象 303111"/>
          <p:cNvGraphicFramePr/>
          <p:nvPr/>
        </p:nvGraphicFramePr>
        <p:xfrm>
          <a:off x="4211638" y="2803525"/>
          <a:ext cx="3744912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5" imgW="3429000" imgH="1155700" progId="Equation.DSMT4">
                  <p:embed/>
                </p:oleObj>
              </mc:Choice>
              <mc:Fallback>
                <p:oleObj name="" r:id="rId5" imgW="3429000" imgH="1155700" progId="Equation.DSMT4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11638" y="2803525"/>
                        <a:ext cx="3744912" cy="1309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4" name="文本框 303113"/>
          <p:cNvSpPr txBox="1"/>
          <p:nvPr/>
        </p:nvSpPr>
        <p:spPr>
          <a:xfrm>
            <a:off x="4276725" y="5300663"/>
            <a:ext cx="4903788" cy="579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sym typeface="Math5" pitchFamily="2" charset="2"/>
              </a:rPr>
              <a:t>所以</a:t>
            </a:r>
            <a:r>
              <a:rPr lang="en-US" altLang="zh-CN" sz="3200">
                <a:latin typeface="Times New Roman" panose="02020603050405020304" pitchFamily="18" charset="0"/>
                <a:sym typeface="Math5" pitchFamily="2" charset="2"/>
              </a:rPr>
              <a:t>⊿</a:t>
            </a:r>
            <a:r>
              <a:rPr lang="en-US" altLang="zh-CN" sz="3200" i="1">
                <a:latin typeface="Times New Roman" panose="02020603050405020304" pitchFamily="18" charset="0"/>
                <a:sym typeface="Math5" pitchFamily="2" charset="2"/>
              </a:rPr>
              <a:t>t</a:t>
            </a:r>
            <a:r>
              <a:rPr lang="en-US" altLang="zh-CN" i="1">
                <a:latin typeface="Times New Roman" panose="02020603050405020304" pitchFamily="18" charset="0"/>
                <a:sym typeface="Math5" pitchFamily="2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Math5" pitchFamily="2" charset="2"/>
              </a:rPr>
              <a:t>与</a:t>
            </a:r>
            <a:r>
              <a:rPr lang="en-US" altLang="zh-CN" sz="3200">
                <a:latin typeface="Times New Roman" panose="02020603050405020304" pitchFamily="18" charset="0"/>
                <a:sym typeface="Math5" pitchFamily="2" charset="2"/>
              </a:rPr>
              <a:t>⊿</a:t>
            </a:r>
            <a:r>
              <a:rPr lang="en-US" altLang="zh-CN" sz="3200" i="1">
                <a:latin typeface="Times New Roman" panose="02020603050405020304" pitchFamily="18" charset="0"/>
                <a:sym typeface="Math5" pitchFamily="2" charset="2"/>
              </a:rPr>
              <a:t>t</a:t>
            </a:r>
            <a:r>
              <a:rPr lang="en-US" altLang="zh-CN" sz="3200" i="1">
                <a:latin typeface="Times New Roman" panose="02020603050405020304" pitchFamily="18" charset="0"/>
              </a:rPr>
              <a:t>'</a:t>
            </a:r>
            <a:r>
              <a:rPr lang="en-US" altLang="zh-CN" i="1">
                <a:latin typeface="Times New Roman" panose="02020603050405020304" pitchFamily="18" charset="0"/>
                <a:sym typeface="Math5" pitchFamily="2" charset="2"/>
              </a:rPr>
              <a:t> </a:t>
            </a:r>
            <a:r>
              <a:rPr lang="zh-CN" altLang="zh-CN" dirty="0">
                <a:latin typeface="Times New Roman" panose="02020603050405020304" pitchFamily="18" charset="0"/>
                <a:sym typeface="Math5" pitchFamily="2" charset="2"/>
              </a:rPr>
              <a:t>同号</a:t>
            </a:r>
            <a:r>
              <a:rPr lang="en-US" altLang="zh-CN">
                <a:latin typeface="Times New Roman" panose="02020603050405020304" pitchFamily="18" charset="0"/>
                <a:sym typeface="Math5" pitchFamily="2" charset="2"/>
              </a:rPr>
              <a:t>!</a:t>
            </a:r>
            <a:endParaRPr lang="en-US" altLang="zh-CN">
              <a:latin typeface="Times New Roman" panose="02020603050405020304" pitchFamily="18" charset="0"/>
              <a:sym typeface="Math5" pitchFamily="2" charset="2"/>
            </a:endParaRPr>
          </a:p>
        </p:txBody>
      </p:sp>
      <p:sp>
        <p:nvSpPr>
          <p:cNvPr id="303115" name="文本框 303114"/>
          <p:cNvSpPr txBox="1"/>
          <p:nvPr/>
        </p:nvSpPr>
        <p:spPr>
          <a:xfrm>
            <a:off x="2849563" y="5357813"/>
            <a:ext cx="200342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sym typeface="Math1" pitchFamily="2" charset="2"/>
              </a:rPr>
              <a:t>且 </a:t>
            </a:r>
            <a:r>
              <a:rPr lang="en-US" altLang="zh-CN" i="1" err="1">
                <a:latin typeface="Times New Roman" panose="02020603050405020304" pitchFamily="18" charset="0"/>
              </a:rPr>
              <a:t>v</a:t>
            </a:r>
            <a:r>
              <a:rPr lang="en-US" altLang="zh-CN" err="1">
                <a:latin typeface="Times New Roman" panose="02020603050405020304" pitchFamily="18" charset="0"/>
                <a:sym typeface="Math1" pitchFamily="2" charset="2"/>
              </a:rPr>
              <a:t>≤</a:t>
            </a:r>
            <a:r>
              <a:rPr lang="en-US" altLang="zh-CN" i="1" err="1">
                <a:latin typeface="Times New Roman" panose="02020603050405020304" pitchFamily="18" charset="0"/>
                <a:sym typeface="Math1" pitchFamily="2" charset="2"/>
              </a:rPr>
              <a:t>c</a:t>
            </a:r>
            <a:endParaRPr lang="en-US" altLang="zh-CN" i="1">
              <a:latin typeface="Times New Roman" panose="02020603050405020304" pitchFamily="18" charset="0"/>
              <a:sym typeface="Math1" pitchFamily="2" charset="2"/>
            </a:endParaRPr>
          </a:p>
        </p:txBody>
      </p:sp>
      <p:sp>
        <p:nvSpPr>
          <p:cNvPr id="303118" name="文本框 303117"/>
          <p:cNvSpPr txBox="1"/>
          <p:nvPr/>
        </p:nvSpPr>
        <p:spPr>
          <a:xfrm>
            <a:off x="661988" y="452438"/>
            <a:ext cx="7870825" cy="1031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由因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事件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到果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事件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 : 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zh-CN">
                <a:latin typeface="Times New Roman" panose="02020603050405020304" pitchFamily="18" charset="0"/>
              </a:rPr>
              <a:t>         </a:t>
            </a:r>
            <a:r>
              <a:rPr lang="zh-CN" altLang="en-US" dirty="0">
                <a:latin typeface="Times New Roman" panose="02020603050405020304" pitchFamily="18" charset="0"/>
              </a:rPr>
              <a:t>须传递一种“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作用</a:t>
            </a:r>
            <a:r>
              <a:rPr lang="zh-CN" altLang="en-US" dirty="0">
                <a:latin typeface="Times New Roman" panose="02020603050405020304" pitchFamily="18" charset="0"/>
              </a:rPr>
              <a:t>”或“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信号</a:t>
            </a:r>
            <a:r>
              <a:rPr lang="zh-CN" altLang="en-US" dirty="0">
                <a:latin typeface="Times New Roman" panose="02020603050405020304" pitchFamily="18" charset="0"/>
              </a:rPr>
              <a:t>”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03120" name="文本框 303119"/>
          <p:cNvSpPr txBox="1"/>
          <p:nvPr/>
        </p:nvSpPr>
        <p:spPr>
          <a:xfrm>
            <a:off x="692150" y="1341438"/>
            <a:ext cx="3808413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传递的时间</a:t>
            </a:r>
            <a:r>
              <a:rPr lang="en-US" altLang="zh-CN">
                <a:latin typeface="Times New Roman" panose="02020603050405020304" pitchFamily="18" charset="0"/>
              </a:rPr>
              <a:t>:</a:t>
            </a:r>
            <a:r>
              <a:rPr lang="en-US" altLang="zh-CN" sz="3200">
                <a:latin typeface="Times New Roman" panose="02020603050405020304" pitchFamily="18" charset="0"/>
                <a:sym typeface="Math5" pitchFamily="2" charset="2"/>
              </a:rPr>
              <a:t>⊿</a:t>
            </a:r>
            <a:r>
              <a:rPr lang="en-US" altLang="zh-CN" sz="3600" i="1">
                <a:latin typeface="Times New Roman" panose="02020603050405020304" pitchFamily="18" charset="0"/>
                <a:sym typeface="Math5" pitchFamily="2" charset="2"/>
              </a:rPr>
              <a:t>t</a:t>
            </a:r>
            <a:endParaRPr lang="en-US" altLang="zh-CN" baseline="-25000">
              <a:latin typeface="Times New Roman" panose="02020603050405020304" pitchFamily="18" charset="0"/>
              <a:sym typeface="Math5" pitchFamily="2" charset="2"/>
            </a:endParaRPr>
          </a:p>
        </p:txBody>
      </p:sp>
      <p:sp>
        <p:nvSpPr>
          <p:cNvPr id="303121" name="文本框 303120"/>
          <p:cNvSpPr txBox="1"/>
          <p:nvPr/>
        </p:nvSpPr>
        <p:spPr>
          <a:xfrm>
            <a:off x="3708400" y="1628775"/>
            <a:ext cx="47244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传递的速度</a:t>
            </a:r>
            <a:r>
              <a:rPr lang="en-US" altLang="zh-CN">
                <a:latin typeface="Times New Roman" panose="02020603050405020304" pitchFamily="18" charset="0"/>
              </a:rPr>
              <a:t>: </a:t>
            </a:r>
            <a:r>
              <a:rPr lang="en-US" altLang="zh-CN" sz="3600" i="1">
                <a:latin typeface="Times New Roman" panose="02020603050405020304" pitchFamily="18" charset="0"/>
              </a:rPr>
              <a:t>u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sz="3200">
                <a:latin typeface="Times New Roman" panose="02020603050405020304" pitchFamily="18" charset="0"/>
                <a:sym typeface="Math5" pitchFamily="2" charset="2"/>
              </a:rPr>
              <a:t>⊿</a:t>
            </a:r>
            <a:r>
              <a:rPr lang="en-US" altLang="zh-CN" sz="3600" i="1">
                <a:latin typeface="Times New Roman" panose="02020603050405020304" pitchFamily="18" charset="0"/>
                <a:sym typeface="Math5" pitchFamily="2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Math5" pitchFamily="2" charset="2"/>
              </a:rPr>
              <a:t>/</a:t>
            </a:r>
            <a:r>
              <a:rPr lang="en-US" altLang="zh-CN" sz="3200">
                <a:latin typeface="Times New Roman" panose="02020603050405020304" pitchFamily="18" charset="0"/>
                <a:sym typeface="Math5" pitchFamily="2" charset="2"/>
              </a:rPr>
              <a:t>⊿</a:t>
            </a:r>
            <a:r>
              <a:rPr lang="en-US" altLang="zh-CN" sz="3600" i="1">
                <a:latin typeface="Times New Roman" panose="02020603050405020304" pitchFamily="18" charset="0"/>
                <a:sym typeface="Math5" pitchFamily="2" charset="2"/>
              </a:rPr>
              <a:t>t</a:t>
            </a:r>
            <a:endParaRPr lang="en-US" altLang="zh-CN" sz="3600" i="1">
              <a:latin typeface="Times New Roman" panose="02020603050405020304" pitchFamily="18" charset="0"/>
              <a:sym typeface="Math5" pitchFamily="2" charset="2"/>
            </a:endParaRPr>
          </a:p>
        </p:txBody>
      </p:sp>
      <p:sp>
        <p:nvSpPr>
          <p:cNvPr id="303122" name="文本框 303121"/>
          <p:cNvSpPr txBox="1"/>
          <p:nvPr/>
        </p:nvSpPr>
        <p:spPr>
          <a:xfrm>
            <a:off x="684213" y="1916113"/>
            <a:ext cx="42672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传递的</a:t>
            </a:r>
            <a:r>
              <a:rPr lang="zh-CN" altLang="en-US" dirty="0">
                <a:latin typeface="Times New Roman" panose="02020603050405020304" pitchFamily="18" charset="0"/>
                <a:sym typeface="Math5" pitchFamily="2" charset="2"/>
              </a:rPr>
              <a:t>距离</a:t>
            </a:r>
            <a:r>
              <a:rPr lang="en-US" altLang="zh-CN">
                <a:latin typeface="Times New Roman" panose="02020603050405020304" pitchFamily="18" charset="0"/>
                <a:sym typeface="Math5" pitchFamily="2" charset="2"/>
              </a:rPr>
              <a:t>:</a:t>
            </a:r>
            <a:r>
              <a:rPr lang="en-US" altLang="zh-CN" sz="3200">
                <a:latin typeface="Times New Roman" panose="02020603050405020304" pitchFamily="18" charset="0"/>
                <a:sym typeface="Math5" pitchFamily="2" charset="2"/>
              </a:rPr>
              <a:t>⊿</a:t>
            </a:r>
            <a:r>
              <a:rPr lang="en-US" altLang="zh-CN" sz="3600" i="1">
                <a:latin typeface="Times New Roman" panose="02020603050405020304" pitchFamily="18" charset="0"/>
                <a:sym typeface="Math5" pitchFamily="2" charset="2"/>
              </a:rPr>
              <a:t>x</a:t>
            </a:r>
            <a:endParaRPr lang="en-US" altLang="zh-CN" baseline="-25000">
              <a:latin typeface="Times New Roman" panose="02020603050405020304" pitchFamily="18" charset="0"/>
              <a:sym typeface="Math5" pitchFamily="2" charset="2"/>
            </a:endParaRPr>
          </a:p>
        </p:txBody>
      </p:sp>
      <p:sp>
        <p:nvSpPr>
          <p:cNvPr id="303123" name="文本框 303122"/>
          <p:cNvSpPr txBox="1"/>
          <p:nvPr/>
        </p:nvSpPr>
        <p:spPr>
          <a:xfrm>
            <a:off x="7529513" y="1628775"/>
            <a:ext cx="12192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Times New Roman" panose="02020603050405020304" pitchFamily="18" charset="0"/>
                <a:sym typeface="Math1" pitchFamily="2" charset="2"/>
              </a:rPr>
              <a:t>≤ </a:t>
            </a:r>
            <a:r>
              <a:rPr lang="en-US" altLang="zh-CN" sz="3600" i="1">
                <a:latin typeface="Times New Roman" panose="02020603050405020304" pitchFamily="18" charset="0"/>
                <a:sym typeface="Math1" pitchFamily="2" charset="2"/>
              </a:rPr>
              <a:t>c</a:t>
            </a:r>
            <a:endParaRPr lang="en-US" altLang="zh-CN" sz="3600" i="1">
              <a:latin typeface="Times New Roman" panose="02020603050405020304" pitchFamily="18" charset="0"/>
              <a:sym typeface="Math1" pitchFamily="2" charset="2"/>
            </a:endParaRPr>
          </a:p>
        </p:txBody>
      </p:sp>
      <p:sp>
        <p:nvSpPr>
          <p:cNvPr id="303132" name="文本框 303131"/>
          <p:cNvSpPr txBox="1"/>
          <p:nvPr/>
        </p:nvSpPr>
        <p:spPr>
          <a:xfrm>
            <a:off x="647700" y="5970588"/>
            <a:ext cx="583882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  <a:sym typeface="Math5" pitchFamily="2" charset="2"/>
              </a:rPr>
              <a:t>即两因果事件的次序不会颠倒</a:t>
            </a:r>
            <a:endParaRPr lang="zh-CN" altLang="en-US">
              <a:latin typeface="Times New Roman" panose="02020603050405020304" pitchFamily="18" charset="0"/>
              <a:ea typeface="楷体_GB2312" pitchFamily="49" charset="-122"/>
              <a:sym typeface="Math5" pitchFamily="2" charset="2"/>
            </a:endParaRPr>
          </a:p>
        </p:txBody>
      </p:sp>
      <p:sp>
        <p:nvSpPr>
          <p:cNvPr id="303133" name="右大括号 303132"/>
          <p:cNvSpPr/>
          <p:nvPr/>
        </p:nvSpPr>
        <p:spPr>
          <a:xfrm>
            <a:off x="3419475" y="1628775"/>
            <a:ext cx="288925" cy="720725"/>
          </a:xfrm>
          <a:prstGeom prst="rightBrace">
            <a:avLst>
              <a:gd name="adj1" fmla="val 20787"/>
              <a:gd name="adj2" fmla="val 50000"/>
            </a:avLst>
          </a:prstGeom>
          <a:noFill/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03134" name="文本框 303133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22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8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3118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8">
                                            <p:txEl>
                                              <p:charRg st="18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3118">
                                            <p:txEl>
                                              <p:charRg st="18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75"/>
                                        <p:tgtEl>
                                          <p:spTgt spid="30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" fill="hold"/>
                                        <p:tgtEl>
                                          <p:spTgt spid="303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303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303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303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0" dur="500"/>
                                        <p:tgtEl>
                                          <p:spTgt spid="30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75"/>
                                        <p:tgtEl>
                                          <p:spTgt spid="30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3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03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30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8" dur="75"/>
                                        <p:tgtEl>
                                          <p:spTgt spid="30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0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300" fill="hold"/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00" fill="hold"/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300" fill="hold"/>
                                        <p:tgtEl>
                                          <p:spTgt spid="303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00" fill="hold"/>
                                        <p:tgtEl>
                                          <p:spTgt spid="303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8" grpId="0"/>
      <p:bldP spid="303109" grpId="0" animBg="1"/>
      <p:bldP spid="303111" grpId="0"/>
      <p:bldP spid="303114" grpId="0"/>
      <p:bldP spid="303115" grpId="0"/>
      <p:bldP spid="303118" grpId="0" build="p"/>
      <p:bldP spid="303120" grpId="0"/>
      <p:bldP spid="303121" grpId="0"/>
      <p:bldP spid="303122" grpId="0"/>
      <p:bldP spid="303123" grpId="0"/>
      <p:bldP spid="30313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1058" name="矩形 301057"/>
          <p:cNvSpPr/>
          <p:nvPr/>
        </p:nvSpPr>
        <p:spPr>
          <a:xfrm>
            <a:off x="5513388" y="396875"/>
            <a:ext cx="0" cy="427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endParaRPr b="0" dirty="0">
              <a:latin typeface="Times New Roman" panose="02020603050405020304" pitchFamily="18" charset="0"/>
            </a:endParaRPr>
          </a:p>
        </p:txBody>
      </p:sp>
      <p:sp>
        <p:nvSpPr>
          <p:cNvPr id="301060" name="文本框 301059"/>
          <p:cNvSpPr txBox="1"/>
          <p:nvPr/>
        </p:nvSpPr>
        <p:spPr>
          <a:xfrm flipH="1">
            <a:off x="644525" y="409575"/>
            <a:ext cx="8250238" cy="22272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just"/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4.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一高速列车</a:t>
            </a:r>
            <a:r>
              <a:rPr lang="en-US" altLang="zh-CN" i="1">
                <a:latin typeface="Times New Roman" panose="02020603050405020304" pitchFamily="18" charset="0"/>
              </a:rPr>
              <a:t>v</a:t>
            </a:r>
            <a:r>
              <a:rPr lang="en-US" altLang="zh-CN">
                <a:latin typeface="Times New Roman" panose="02020603050405020304" pitchFamily="18" charset="0"/>
              </a:rPr>
              <a:t>=0.6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沿平直轨道运动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车上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endParaRPr lang="en-US" altLang="zh-CN">
              <a:latin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</a:rPr>
              <a:t>两人相距</a:t>
            </a:r>
            <a:r>
              <a:rPr lang="en-US" altLang="zh-CN">
                <a:latin typeface="Times New Roman" panose="02020603050405020304" pitchFamily="18" charset="0"/>
              </a:rPr>
              <a:t>10m, B</a:t>
            </a:r>
            <a:r>
              <a:rPr lang="zh-CN" altLang="en-US" dirty="0">
                <a:latin typeface="Times New Roman" panose="02020603050405020304" pitchFamily="18" charset="0"/>
              </a:rPr>
              <a:t>在车前</a:t>
            </a:r>
            <a:r>
              <a:rPr lang="en-US" altLang="zh-CN">
                <a:latin typeface="Times New Roman" panose="02020603050405020304" pitchFamily="18" charset="0"/>
              </a:rPr>
              <a:t>, A</a:t>
            </a:r>
            <a:r>
              <a:rPr lang="zh-CN" altLang="en-US" dirty="0">
                <a:latin typeface="Times New Roman" panose="02020603050405020304" pitchFamily="18" charset="0"/>
              </a:rPr>
              <a:t>在车后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当列车通过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/>
            <a:r>
              <a:rPr lang="zh-CN" altLang="en-US" dirty="0">
                <a:latin typeface="Times New Roman" panose="02020603050405020304" pitchFamily="18" charset="0"/>
              </a:rPr>
              <a:t>       一站台时突然发生枪战事件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站台上的人看到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endParaRPr lang="en-US" altLang="zh-CN">
              <a:latin typeface="Times New Roman" panose="02020603050405020304" pitchFamily="18" charset="0"/>
            </a:endParaRPr>
          </a:p>
          <a:p>
            <a:pPr algn="just"/>
            <a:r>
              <a:rPr lang="en-US" altLang="zh-CN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先向</a:t>
            </a:r>
            <a:r>
              <a:rPr lang="en-US" altLang="zh-CN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开枪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过</a:t>
            </a:r>
            <a:r>
              <a:rPr lang="en-US" altLang="zh-CN">
                <a:latin typeface="Times New Roman" panose="02020603050405020304" pitchFamily="18" charset="0"/>
              </a:rPr>
              <a:t>12.5ns, B</a:t>
            </a:r>
            <a:r>
              <a:rPr lang="zh-CN" altLang="en-US" dirty="0">
                <a:latin typeface="Times New Roman" panose="02020603050405020304" pitchFamily="18" charset="0"/>
              </a:rPr>
              <a:t>才向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开枪。站台上的人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/>
            <a:r>
              <a:rPr lang="zh-CN" altLang="en-US" dirty="0">
                <a:latin typeface="Times New Roman" panose="02020603050405020304" pitchFamily="18" charset="0"/>
              </a:rPr>
              <a:t>      作证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枪战是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挑起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车中乘客看到谁先开枪？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301093" name="组合 301092"/>
          <p:cNvGrpSpPr/>
          <p:nvPr/>
        </p:nvGrpSpPr>
        <p:grpSpPr>
          <a:xfrm>
            <a:off x="5148263" y="4598988"/>
            <a:ext cx="3600450" cy="1243012"/>
            <a:chOff x="3288" y="3107"/>
            <a:chExt cx="2268" cy="783"/>
          </a:xfrm>
        </p:grpSpPr>
        <p:graphicFrame>
          <p:nvGraphicFramePr>
            <p:cNvPr id="301062" name="对象 301061"/>
            <p:cNvGraphicFramePr/>
            <p:nvPr/>
          </p:nvGraphicFramePr>
          <p:xfrm>
            <a:off x="3626" y="3107"/>
            <a:ext cx="1930" cy="7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3" name="" r:id="rId1" imgW="3860800" imgH="1308100" progId="Equation.DSMT4">
                    <p:embed/>
                  </p:oleObj>
                </mc:Choice>
                <mc:Fallback>
                  <p:oleObj name="" r:id="rId1" imgW="3860800" imgH="1308100" progId="Equation.DSMT4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26" y="3107"/>
                          <a:ext cx="1930" cy="783"/>
                        </a:xfrm>
                        <a:prstGeom prst="rect">
                          <a:avLst/>
                        </a:prstGeom>
                        <a:noFill/>
                        <a:ln w="19050" cap="flat" cmpd="sng">
                          <a:solidFill>
                            <a:srgbClr val="FF33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1063" name="对象 301062"/>
            <p:cNvGraphicFramePr/>
            <p:nvPr/>
          </p:nvGraphicFramePr>
          <p:xfrm>
            <a:off x="3288" y="3317"/>
            <a:ext cx="330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" name="" r:id="rId3" imgW="3286125" imgH="3038475" progId="MS_ClipArt_Gallery.2">
                    <p:embed/>
                  </p:oleObj>
                </mc:Choice>
                <mc:Fallback>
                  <p:oleObj name="" r:id="rId3" imgW="3286125" imgH="3038475" progId="MS_ClipArt_Gallery.2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FFFFFF"/>
                            </a:clrFrom>
                            <a:clrTo>
                              <a:srgbClr val="00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88" y="3317"/>
                          <a:ext cx="330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1064" name="直接连接符 301063"/>
          <p:cNvSpPr/>
          <p:nvPr/>
        </p:nvSpPr>
        <p:spPr>
          <a:xfrm>
            <a:off x="4954588" y="4498975"/>
            <a:ext cx="38862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01065" name="组合 301064"/>
          <p:cNvGrpSpPr/>
          <p:nvPr/>
        </p:nvGrpSpPr>
        <p:grpSpPr>
          <a:xfrm>
            <a:off x="5564188" y="2974975"/>
            <a:ext cx="3124200" cy="1524000"/>
            <a:chOff x="3552" y="1248"/>
            <a:chExt cx="1968" cy="960"/>
          </a:xfrm>
        </p:grpSpPr>
        <p:sp>
          <p:nvSpPr>
            <p:cNvPr id="301066" name="直接连接符 301065"/>
            <p:cNvSpPr/>
            <p:nvPr/>
          </p:nvSpPr>
          <p:spPr>
            <a:xfrm>
              <a:off x="3552" y="2064"/>
              <a:ext cx="1968" cy="0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1067" name="直接连接符 301066"/>
            <p:cNvSpPr/>
            <p:nvPr/>
          </p:nvSpPr>
          <p:spPr>
            <a:xfrm flipV="1">
              <a:off x="3552" y="1248"/>
              <a:ext cx="0" cy="816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1068" name="直接连接符 301067"/>
            <p:cNvSpPr/>
            <p:nvPr/>
          </p:nvSpPr>
          <p:spPr>
            <a:xfrm flipV="1">
              <a:off x="5520" y="1248"/>
              <a:ext cx="0" cy="816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1069" name="直接连接符 301068"/>
            <p:cNvSpPr/>
            <p:nvPr/>
          </p:nvSpPr>
          <p:spPr>
            <a:xfrm flipH="1">
              <a:off x="3552" y="1248"/>
              <a:ext cx="1968" cy="0"/>
            </a:xfrm>
            <a:prstGeom prst="line">
              <a:avLst/>
            </a:prstGeom>
            <a:ln w="2857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1070" name="椭圆 301069"/>
            <p:cNvSpPr/>
            <p:nvPr/>
          </p:nvSpPr>
          <p:spPr>
            <a:xfrm>
              <a:off x="3840" y="2016"/>
              <a:ext cx="192" cy="192"/>
            </a:xfrm>
            <a:prstGeom prst="ellipse">
              <a:avLst/>
            </a:prstGeom>
            <a:solidFill>
              <a:srgbClr val="FF6600"/>
            </a:solidFill>
            <a:ln w="952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1071" name="椭圆 301070"/>
            <p:cNvSpPr/>
            <p:nvPr/>
          </p:nvSpPr>
          <p:spPr>
            <a:xfrm>
              <a:off x="4944" y="2016"/>
              <a:ext cx="192" cy="192"/>
            </a:xfrm>
            <a:prstGeom prst="ellipse">
              <a:avLst/>
            </a:prstGeom>
            <a:solidFill>
              <a:srgbClr val="FF6600"/>
            </a:solidFill>
            <a:ln w="9525" cap="flat" cmpd="sng">
              <a:solidFill>
                <a:srgbClr val="990099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301072" name="对象 301071"/>
          <p:cNvGraphicFramePr/>
          <p:nvPr/>
        </p:nvGraphicFramePr>
        <p:xfrm>
          <a:off x="8318500" y="3508375"/>
          <a:ext cx="3222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5" imgW="2765425" imgH="6043930" progId="MS_ClipArt_Gallery.2">
                  <p:embed/>
                </p:oleObj>
              </mc:Choice>
              <mc:Fallback>
                <p:oleObj name="" r:id="rId5" imgW="2765425" imgH="6043930" progId="MS_ClipArt_Gallery.2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18500" y="3508375"/>
                        <a:ext cx="322263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73" name="对象 301072"/>
          <p:cNvGraphicFramePr/>
          <p:nvPr/>
        </p:nvGraphicFramePr>
        <p:xfrm>
          <a:off x="1625600" y="3968750"/>
          <a:ext cx="2874963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7" imgW="2540000" imgH="1206500" progId="Equation.DSMT4">
                  <p:embed/>
                </p:oleObj>
              </mc:Choice>
              <mc:Fallback>
                <p:oleObj name="" r:id="rId7" imgW="2540000" imgH="1206500" progId="Equation.DSMT4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25600" y="3968750"/>
                        <a:ext cx="2874963" cy="1333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74" name="对象 301073"/>
          <p:cNvGraphicFramePr/>
          <p:nvPr/>
        </p:nvGraphicFramePr>
        <p:xfrm>
          <a:off x="1116013" y="5300663"/>
          <a:ext cx="41036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9" imgW="3719195" imgH="723900" progId="Equation.DSMT4">
                  <p:embed/>
                </p:oleObj>
              </mc:Choice>
              <mc:Fallback>
                <p:oleObj name="" r:id="rId9" imgW="3719195" imgH="723900" progId="Equation.DSMT4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5300663"/>
                        <a:ext cx="4103687" cy="806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75" name="矩形 301074"/>
          <p:cNvSpPr/>
          <p:nvPr/>
        </p:nvSpPr>
        <p:spPr>
          <a:xfrm>
            <a:off x="5564188" y="3051175"/>
            <a:ext cx="4413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>
                <a:latin typeface="Times New Roman" panose="02020603050405020304" pitchFamily="18" charset="0"/>
              </a:rPr>
              <a:t>A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01076" name="文本框 301075"/>
          <p:cNvSpPr txBox="1"/>
          <p:nvPr/>
        </p:nvSpPr>
        <p:spPr>
          <a:xfrm>
            <a:off x="8231188" y="3051175"/>
            <a:ext cx="42068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>
                <a:latin typeface="Times New Roman" panose="02020603050405020304" pitchFamily="18" charset="0"/>
              </a:rPr>
              <a:t>B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01077" name="文本框 301076"/>
          <p:cNvSpPr txBox="1"/>
          <p:nvPr/>
        </p:nvSpPr>
        <p:spPr>
          <a:xfrm>
            <a:off x="755650" y="2636838"/>
            <a:ext cx="2879725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解：</a:t>
            </a:r>
            <a:r>
              <a:rPr lang="zh-CN" altLang="en-US" dirty="0">
                <a:latin typeface="Times New Roman" panose="02020603050405020304" pitchFamily="18" charset="0"/>
              </a:rPr>
              <a:t>已知</a:t>
            </a:r>
            <a:endParaRPr lang="zh-CN" altLang="en-US">
              <a:latin typeface="Times New Roman" panose="02020603050405020304" pitchFamily="18" charset="0"/>
              <a:sym typeface="Math5" pitchFamily="2" charset="2"/>
            </a:endParaRPr>
          </a:p>
        </p:txBody>
      </p:sp>
      <p:sp>
        <p:nvSpPr>
          <p:cNvPr id="301078" name="文本框 301077"/>
          <p:cNvSpPr txBox="1"/>
          <p:nvPr/>
        </p:nvSpPr>
        <p:spPr>
          <a:xfrm>
            <a:off x="3106738" y="6092825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/>
            <a:r>
              <a:rPr lang="en-US" altLang="zh-CN">
                <a:latin typeface="Times New Roman" panose="02020603050405020304" pitchFamily="18" charset="0"/>
              </a:rPr>
              <a:t>&lt; 0</a:t>
            </a:r>
            <a:endParaRPr lang="en-US" altLang="zh-CN" b="0">
              <a:latin typeface="Times New Roman" panose="02020603050405020304" pitchFamily="18" charset="0"/>
            </a:endParaRPr>
          </a:p>
        </p:txBody>
      </p:sp>
      <p:graphicFrame>
        <p:nvGraphicFramePr>
          <p:cNvPr id="301079" name="对象 301078"/>
          <p:cNvGraphicFramePr/>
          <p:nvPr/>
        </p:nvGraphicFramePr>
        <p:xfrm>
          <a:off x="5584825" y="3508375"/>
          <a:ext cx="49212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1" imgW="3848100" imgH="5478780" progId="MS_ClipArt_Gallery.2">
                  <p:embed/>
                </p:oleObj>
              </mc:Choice>
              <mc:Fallback>
                <p:oleObj name="" r:id="rId11" imgW="3848100" imgH="5478780" progId="MS_ClipArt_Gallery.2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84825" y="3508375"/>
                        <a:ext cx="492125" cy="758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80" name="文本框 301079"/>
          <p:cNvSpPr txBox="1"/>
          <p:nvPr/>
        </p:nvSpPr>
        <p:spPr>
          <a:xfrm>
            <a:off x="6796088" y="2924175"/>
            <a:ext cx="742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10m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aphicFrame>
        <p:nvGraphicFramePr>
          <p:cNvPr id="301082" name="对象 301081"/>
          <p:cNvGraphicFramePr/>
          <p:nvPr/>
        </p:nvGraphicFramePr>
        <p:xfrm>
          <a:off x="1619250" y="6108700"/>
          <a:ext cx="1544638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13" imgW="1397000" imgH="419100" progId="Equation.3">
                  <p:embed/>
                </p:oleObj>
              </mc:Choice>
              <mc:Fallback>
                <p:oleObj name="" r:id="rId13" imgW="1397000" imgH="41910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19250" y="6108700"/>
                        <a:ext cx="1544638" cy="423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83" name="矩形 301082"/>
          <p:cNvSpPr/>
          <p:nvPr/>
        </p:nvSpPr>
        <p:spPr>
          <a:xfrm>
            <a:off x="6826250" y="3454400"/>
            <a:ext cx="6413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sym typeface="Math5" pitchFamily="2" charset="2"/>
              </a:rPr>
              <a:t>S'</a:t>
            </a:r>
            <a:endParaRPr lang="en-US" altLang="zh-CN" i="1">
              <a:latin typeface="Times New Roman" panose="02020603050405020304" pitchFamily="18" charset="0"/>
              <a:sym typeface="Math5" pitchFamily="2" charset="2"/>
            </a:endParaRPr>
          </a:p>
        </p:txBody>
      </p:sp>
      <p:sp>
        <p:nvSpPr>
          <p:cNvPr id="301084" name="矩形 301083"/>
          <p:cNvSpPr/>
          <p:nvPr/>
        </p:nvSpPr>
        <p:spPr>
          <a:xfrm>
            <a:off x="5003800" y="4076700"/>
            <a:ext cx="6413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sym typeface="Math5" pitchFamily="2" charset="2"/>
              </a:rPr>
              <a:t>S</a:t>
            </a:r>
            <a:endParaRPr lang="en-US" altLang="zh-CN" i="1">
              <a:latin typeface="Times New Roman" panose="02020603050405020304" pitchFamily="18" charset="0"/>
              <a:sym typeface="Math5" pitchFamily="2" charset="2"/>
            </a:endParaRPr>
          </a:p>
        </p:txBody>
      </p:sp>
      <p:sp>
        <p:nvSpPr>
          <p:cNvPr id="301086" name="矩形 301085"/>
          <p:cNvSpPr/>
          <p:nvPr/>
        </p:nvSpPr>
        <p:spPr>
          <a:xfrm>
            <a:off x="3795713" y="6092825"/>
            <a:ext cx="35448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>
                <a:latin typeface="Times New Roman" panose="02020603050405020304" pitchFamily="18" charset="0"/>
              </a:rPr>
              <a:t>, B</a:t>
            </a:r>
            <a:r>
              <a:rPr lang="zh-CN" altLang="en-US" dirty="0">
                <a:latin typeface="Times New Roman" panose="02020603050405020304" pitchFamily="18" charset="0"/>
              </a:rPr>
              <a:t>先开枪。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1088" name="对象 301087"/>
          <p:cNvGraphicFramePr/>
          <p:nvPr/>
        </p:nvGraphicFramePr>
        <p:xfrm>
          <a:off x="2373313" y="2708275"/>
          <a:ext cx="27035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15" imgW="2755900" imgH="419100" progId="Equation.DSMT4">
                  <p:embed/>
                </p:oleObj>
              </mc:Choice>
              <mc:Fallback>
                <p:oleObj name="" r:id="rId15" imgW="2755900" imgH="419100" progId="Equation.DSMT4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73313" y="2708275"/>
                        <a:ext cx="2703512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89" name="对象 301088"/>
          <p:cNvGraphicFramePr/>
          <p:nvPr/>
        </p:nvGraphicFramePr>
        <p:xfrm>
          <a:off x="2232025" y="3143250"/>
          <a:ext cx="27368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17" imgW="2806700" imgH="419100" progId="Equation.DSMT4">
                  <p:embed/>
                </p:oleObj>
              </mc:Choice>
              <mc:Fallback>
                <p:oleObj name="" r:id="rId17" imgW="2806700" imgH="419100" progId="Equation.DSMT4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32025" y="3143250"/>
                        <a:ext cx="2736850" cy="442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90" name="对象 301089"/>
          <p:cNvGraphicFramePr/>
          <p:nvPr/>
        </p:nvGraphicFramePr>
        <p:xfrm>
          <a:off x="2192338" y="3608388"/>
          <a:ext cx="165893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19" imgW="1689100" imgH="419100" progId="Equation.DSMT4">
                  <p:embed/>
                </p:oleObj>
              </mc:Choice>
              <mc:Fallback>
                <p:oleObj name="" r:id="rId19" imgW="1689100" imgH="419100" progId="Equation.DSMT4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92338" y="3608388"/>
                        <a:ext cx="1658937" cy="446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1092" name="文本框 301091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23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30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1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1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1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1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1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1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10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10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30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1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1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0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30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30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30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01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01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30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0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01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01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01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1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0" grpId="0"/>
      <p:bldP spid="301075" grpId="0"/>
      <p:bldP spid="301076" grpId="0"/>
      <p:bldP spid="301077" grpId="0"/>
      <p:bldP spid="301078" grpId="0"/>
      <p:bldP spid="301080" grpId="0"/>
      <p:bldP spid="301083" grpId="0"/>
      <p:bldP spid="301084" grpId="0"/>
      <p:bldP spid="30108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02083" name="组合 302082"/>
          <p:cNvGrpSpPr/>
          <p:nvPr/>
        </p:nvGrpSpPr>
        <p:grpSpPr>
          <a:xfrm>
            <a:off x="685800" y="379413"/>
            <a:ext cx="5181600" cy="1536700"/>
            <a:chOff x="0" y="51"/>
            <a:chExt cx="3174" cy="922"/>
          </a:xfrm>
        </p:grpSpPr>
        <p:graphicFrame>
          <p:nvGraphicFramePr>
            <p:cNvPr id="302084" name="对象 302083"/>
            <p:cNvGraphicFramePr/>
            <p:nvPr/>
          </p:nvGraphicFramePr>
          <p:xfrm>
            <a:off x="745" y="51"/>
            <a:ext cx="1512" cy="9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9" name="" r:id="rId1" imgW="2438400" imgH="1485900" progId="Equation.DSMT4">
                    <p:embed/>
                  </p:oleObj>
                </mc:Choice>
                <mc:Fallback>
                  <p:oleObj name="" r:id="rId1" imgW="2438400" imgH="1485900" progId="Equation.DSMT4">
                    <p:embed/>
                    <p:pic>
                      <p:nvPicPr>
                        <p:cNvPr id="0" name="图片 3218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45" y="51"/>
                          <a:ext cx="1512" cy="9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2085" name="文本框 302084"/>
            <p:cNvSpPr txBox="1"/>
            <p:nvPr/>
          </p:nvSpPr>
          <p:spPr>
            <a:xfrm>
              <a:off x="0" y="358"/>
              <a:ext cx="3174" cy="31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r>
                <a:rPr lang="zh-CN" altLang="en-US" dirty="0">
                  <a:latin typeface="Times New Roman" panose="02020603050405020304" pitchFamily="18" charset="0"/>
                </a:rPr>
                <a:t>能否用                              ？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2086" name="组合 302085"/>
          <p:cNvGrpSpPr/>
          <p:nvPr/>
        </p:nvGrpSpPr>
        <p:grpSpPr>
          <a:xfrm>
            <a:off x="4427538" y="206375"/>
            <a:ext cx="3981450" cy="1998663"/>
            <a:chOff x="3252" y="0"/>
            <a:chExt cx="2508" cy="1259"/>
          </a:xfrm>
        </p:grpSpPr>
        <p:sp>
          <p:nvSpPr>
            <p:cNvPr id="302087" name="直接连接符 302086"/>
            <p:cNvSpPr/>
            <p:nvPr/>
          </p:nvSpPr>
          <p:spPr>
            <a:xfrm>
              <a:off x="3312" y="1258"/>
              <a:ext cx="244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02088" name="组合 302087"/>
            <p:cNvGrpSpPr/>
            <p:nvPr/>
          </p:nvGrpSpPr>
          <p:grpSpPr>
            <a:xfrm>
              <a:off x="3696" y="298"/>
              <a:ext cx="1968" cy="960"/>
              <a:chOff x="3552" y="1248"/>
              <a:chExt cx="1968" cy="960"/>
            </a:xfrm>
          </p:grpSpPr>
          <p:sp>
            <p:nvSpPr>
              <p:cNvPr id="302089" name="直接连接符 302088"/>
              <p:cNvSpPr/>
              <p:nvPr/>
            </p:nvSpPr>
            <p:spPr>
              <a:xfrm>
                <a:off x="3552" y="2064"/>
                <a:ext cx="1968" cy="0"/>
              </a:xfrm>
              <a:prstGeom prst="line">
                <a:avLst/>
              </a:prstGeom>
              <a:ln w="28575" cap="flat" cmpd="sng">
                <a:solidFill>
                  <a:srgbClr val="9900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2090" name="直接连接符 302089"/>
              <p:cNvSpPr/>
              <p:nvPr/>
            </p:nvSpPr>
            <p:spPr>
              <a:xfrm flipV="1">
                <a:off x="3552" y="1248"/>
                <a:ext cx="0" cy="816"/>
              </a:xfrm>
              <a:prstGeom prst="line">
                <a:avLst/>
              </a:prstGeom>
              <a:ln w="28575" cap="flat" cmpd="sng">
                <a:solidFill>
                  <a:srgbClr val="9900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2091" name="直接连接符 302090"/>
              <p:cNvSpPr/>
              <p:nvPr/>
            </p:nvSpPr>
            <p:spPr>
              <a:xfrm flipV="1">
                <a:off x="5520" y="1248"/>
                <a:ext cx="0" cy="816"/>
              </a:xfrm>
              <a:prstGeom prst="line">
                <a:avLst/>
              </a:prstGeom>
              <a:ln w="28575" cap="flat" cmpd="sng">
                <a:solidFill>
                  <a:srgbClr val="9900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2092" name="直接连接符 302091"/>
              <p:cNvSpPr/>
              <p:nvPr/>
            </p:nvSpPr>
            <p:spPr>
              <a:xfrm flipH="1">
                <a:off x="3552" y="1248"/>
                <a:ext cx="1968" cy="0"/>
              </a:xfrm>
              <a:prstGeom prst="line">
                <a:avLst/>
              </a:prstGeom>
              <a:ln w="28575" cap="flat" cmpd="sng">
                <a:solidFill>
                  <a:srgbClr val="990099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2093" name="椭圆 302092"/>
              <p:cNvSpPr/>
              <p:nvPr/>
            </p:nvSpPr>
            <p:spPr>
              <a:xfrm>
                <a:off x="3840" y="2016"/>
                <a:ext cx="192" cy="192"/>
              </a:xfrm>
              <a:prstGeom prst="ellipse">
                <a:avLst/>
              </a:prstGeom>
              <a:solidFill>
                <a:srgbClr val="FF66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2094" name="椭圆 302093"/>
              <p:cNvSpPr/>
              <p:nvPr/>
            </p:nvSpPr>
            <p:spPr>
              <a:xfrm>
                <a:off x="4944" y="2016"/>
                <a:ext cx="192" cy="192"/>
              </a:xfrm>
              <a:prstGeom prst="ellipse">
                <a:avLst/>
              </a:prstGeom>
              <a:solidFill>
                <a:srgbClr val="FF6600"/>
              </a:solidFill>
              <a:ln w="9525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aphicFrame>
          <p:nvGraphicFramePr>
            <p:cNvPr id="302095" name="对象 302094"/>
            <p:cNvGraphicFramePr/>
            <p:nvPr/>
          </p:nvGraphicFramePr>
          <p:xfrm>
            <a:off x="5424" y="634"/>
            <a:ext cx="219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" name="" r:id="rId3" imgW="2765425" imgH="6043930" progId="MS_ClipArt_Gallery.2">
                    <p:embed/>
                  </p:oleObj>
                </mc:Choice>
                <mc:Fallback>
                  <p:oleObj name="" r:id="rId3" imgW="2765425" imgH="6043930" progId="MS_ClipArt_Gallery.2">
                    <p:embed/>
                    <p:pic>
                      <p:nvPicPr>
                        <p:cNvPr id="0" name="图片 321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424" y="634"/>
                          <a:ext cx="219" cy="4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2096" name="矩形 302095"/>
            <p:cNvSpPr/>
            <p:nvPr/>
          </p:nvSpPr>
          <p:spPr>
            <a:xfrm>
              <a:off x="3696" y="346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A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02097" name="文本框 302096"/>
            <p:cNvSpPr txBox="1"/>
            <p:nvPr/>
          </p:nvSpPr>
          <p:spPr>
            <a:xfrm>
              <a:off x="5376" y="346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>
                  <a:latin typeface="Times New Roman" panose="02020603050405020304" pitchFamily="18" charset="0"/>
                </a:rPr>
                <a:t>B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2098" name="对象 302097"/>
            <p:cNvGraphicFramePr/>
            <p:nvPr/>
          </p:nvGraphicFramePr>
          <p:xfrm>
            <a:off x="3696" y="634"/>
            <a:ext cx="336" cy="4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0" name="" r:id="rId5" imgW="3848100" imgH="5478780" progId="MS_ClipArt_Gallery.2">
                    <p:embed/>
                  </p:oleObj>
                </mc:Choice>
                <mc:Fallback>
                  <p:oleObj name="" r:id="rId5" imgW="3848100" imgH="5478780" progId="MS_ClipArt_Gallery.2">
                    <p:embed/>
                    <p:pic>
                      <p:nvPicPr>
                        <p:cNvPr id="0" name="图片 321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96" y="634"/>
                          <a:ext cx="336" cy="4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2099" name="文本框 302098"/>
            <p:cNvSpPr txBox="1"/>
            <p:nvPr/>
          </p:nvSpPr>
          <p:spPr>
            <a:xfrm>
              <a:off x="4416" y="346"/>
              <a:ext cx="4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10m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cxnSp>
          <p:nvCxnSpPr>
            <p:cNvPr id="302100" name="直接箭头连接符 302099"/>
            <p:cNvCxnSpPr/>
            <p:nvPr/>
          </p:nvCxnSpPr>
          <p:spPr>
            <a:xfrm>
              <a:off x="3696" y="394"/>
              <a:ext cx="1945" cy="0"/>
            </a:xfrm>
            <a:prstGeom prst="straightConnector1">
              <a:avLst/>
            </a:prstGeom>
            <a:ln w="19050" cap="flat" cmpd="sng">
              <a:solidFill>
                <a:srgbClr val="000066"/>
              </a:solidFill>
              <a:prstDash val="solid"/>
              <a:headEnd type="triangle" w="med" len="med"/>
              <a:tailEnd type="triangle" w="med" len="med"/>
            </a:ln>
          </p:spPr>
        </p:cxnSp>
        <p:sp>
          <p:nvSpPr>
            <p:cNvPr id="302101" name="矩形 302100"/>
            <p:cNvSpPr/>
            <p:nvPr/>
          </p:nvSpPr>
          <p:spPr>
            <a:xfrm>
              <a:off x="4523" y="0"/>
              <a:ext cx="4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i="1">
                  <a:latin typeface="Times New Roman" panose="02020603050405020304" pitchFamily="18" charset="0"/>
                  <a:sym typeface="Math5" pitchFamily="2" charset="2"/>
                </a:rPr>
                <a:t>S'</a:t>
              </a:r>
              <a:endParaRPr lang="en-US" altLang="zh-CN" i="1">
                <a:latin typeface="Times New Roman" panose="02020603050405020304" pitchFamily="18" charset="0"/>
                <a:sym typeface="Math5" pitchFamily="2" charset="2"/>
              </a:endParaRPr>
            </a:p>
          </p:txBody>
        </p:sp>
        <p:sp>
          <p:nvSpPr>
            <p:cNvPr id="302102" name="矩形 302101"/>
            <p:cNvSpPr/>
            <p:nvPr/>
          </p:nvSpPr>
          <p:spPr>
            <a:xfrm>
              <a:off x="3252" y="932"/>
              <a:ext cx="4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i="1">
                  <a:latin typeface="Times New Roman" panose="02020603050405020304" pitchFamily="18" charset="0"/>
                  <a:sym typeface="Math5" pitchFamily="2" charset="2"/>
                </a:rPr>
                <a:t>S</a:t>
              </a:r>
              <a:endParaRPr lang="en-US" altLang="zh-CN" i="1">
                <a:latin typeface="Times New Roman" panose="02020603050405020304" pitchFamily="18" charset="0"/>
                <a:sym typeface="Math5" pitchFamily="2" charset="2"/>
              </a:endParaRPr>
            </a:p>
          </p:txBody>
        </p:sp>
      </p:grpSp>
      <p:graphicFrame>
        <p:nvGraphicFramePr>
          <p:cNvPr id="302103" name="对象 302102"/>
          <p:cNvGraphicFramePr/>
          <p:nvPr/>
        </p:nvGraphicFramePr>
        <p:xfrm>
          <a:off x="1223963" y="2133600"/>
          <a:ext cx="1727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7" imgW="1435100" imgH="787400" progId="Equation.DSMT4">
                  <p:embed/>
                </p:oleObj>
              </mc:Choice>
              <mc:Fallback>
                <p:oleObj name="" r:id="rId7" imgW="1435100" imgH="787400" progId="Equation.DSMT4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23963" y="2133600"/>
                        <a:ext cx="1727200" cy="927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2104" name="组合 302103"/>
          <p:cNvGrpSpPr/>
          <p:nvPr/>
        </p:nvGrpSpPr>
        <p:grpSpPr>
          <a:xfrm>
            <a:off x="5148263" y="2565400"/>
            <a:ext cx="2393950" cy="742950"/>
            <a:chOff x="-51" y="1926"/>
            <a:chExt cx="1508" cy="468"/>
          </a:xfrm>
        </p:grpSpPr>
        <p:sp>
          <p:nvSpPr>
            <p:cNvPr id="302105" name="矩形 302104"/>
            <p:cNvSpPr/>
            <p:nvPr/>
          </p:nvSpPr>
          <p:spPr>
            <a:xfrm>
              <a:off x="-51" y="1926"/>
              <a:ext cx="148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600">
                  <a:latin typeface="Times New Roman" panose="02020603050405020304" pitchFamily="18" charset="0"/>
                  <a:sym typeface="Math5" pitchFamily="2" charset="2"/>
                </a:rPr>
                <a:t>⊿</a:t>
              </a:r>
              <a:r>
                <a:rPr lang="en-US" altLang="zh-CN" sz="3200" i="1">
                  <a:latin typeface="Times New Roman" panose="02020603050405020304" pitchFamily="18" charset="0"/>
                  <a:sym typeface="Math5" pitchFamily="2" charset="2"/>
                </a:rPr>
                <a:t>x </a:t>
              </a:r>
              <a:r>
                <a:rPr lang="en-US" altLang="zh-CN" sz="3200">
                  <a:latin typeface="Times New Roman" panose="02020603050405020304" pitchFamily="18" charset="0"/>
                  <a:sym typeface="Math5" pitchFamily="2" charset="2"/>
                </a:rPr>
                <a:t>=</a:t>
              </a:r>
              <a:r>
                <a:rPr lang="en-US" altLang="zh-CN" sz="3200" i="1" err="1">
                  <a:latin typeface="Times New Roman" panose="02020603050405020304" pitchFamily="18" charset="0"/>
                  <a:sym typeface="Math5" pitchFamily="2" charset="2"/>
                </a:rPr>
                <a:t>x</a:t>
              </a:r>
              <a:r>
                <a:rPr lang="en-US" altLang="zh-CN" sz="3200" baseline="-25000" err="1">
                  <a:latin typeface="Times New Roman" panose="02020603050405020304" pitchFamily="18" charset="0"/>
                  <a:sym typeface="Math5" pitchFamily="2" charset="2"/>
                </a:rPr>
                <a:t>B</a:t>
              </a:r>
              <a:r>
                <a:rPr lang="zh-CN" altLang="en-US" sz="3200" dirty="0">
                  <a:latin typeface="Times New Roman" panose="02020603050405020304" pitchFamily="18" charset="0"/>
                  <a:sym typeface="Math5" pitchFamily="2" charset="2"/>
                </a:rPr>
                <a:t>－</a:t>
              </a:r>
              <a:r>
                <a:rPr lang="en-US" altLang="zh-CN" sz="3200" i="1" err="1">
                  <a:latin typeface="Times New Roman" panose="02020603050405020304" pitchFamily="18" charset="0"/>
                  <a:sym typeface="Math5" pitchFamily="2" charset="2"/>
                </a:rPr>
                <a:t>x</a:t>
              </a:r>
              <a:r>
                <a:rPr lang="en-US" altLang="zh-CN" sz="3200" baseline="-25000" err="1">
                  <a:latin typeface="Times New Roman" panose="02020603050405020304" pitchFamily="18" charset="0"/>
                  <a:sym typeface="Math5" pitchFamily="2" charset="2"/>
                </a:rPr>
                <a:t>A</a:t>
              </a:r>
              <a:endParaRPr lang="en-US" altLang="zh-CN" sz="3200" baseline="-25000">
                <a:latin typeface="Times New Roman" panose="02020603050405020304" pitchFamily="18" charset="0"/>
                <a:sym typeface="Math5" pitchFamily="2" charset="2"/>
              </a:endParaRPr>
            </a:p>
          </p:txBody>
        </p:sp>
        <p:sp>
          <p:nvSpPr>
            <p:cNvPr id="302106" name="矩形 302105"/>
            <p:cNvSpPr/>
            <p:nvPr/>
          </p:nvSpPr>
          <p:spPr>
            <a:xfrm>
              <a:off x="0" y="1931"/>
              <a:ext cx="1457" cy="463"/>
            </a:xfrm>
            <a:prstGeom prst="rect">
              <a:avLst/>
            </a:prstGeom>
            <a:noFill/>
            <a:ln w="952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aphicFrame>
        <p:nvGraphicFramePr>
          <p:cNvPr id="302107" name="对象 302106"/>
          <p:cNvGraphicFramePr/>
          <p:nvPr/>
        </p:nvGraphicFramePr>
        <p:xfrm>
          <a:off x="2987675" y="2349500"/>
          <a:ext cx="10795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9" imgW="774065" imgH="304800" progId="Equation.DSMT4">
                  <p:embed/>
                </p:oleObj>
              </mc:Choice>
              <mc:Fallback>
                <p:oleObj name="" r:id="rId9" imgW="774065" imgH="304800" progId="Equation.DSMT4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87675" y="2349500"/>
                        <a:ext cx="1079500" cy="387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8" name="对象 302107"/>
          <p:cNvGraphicFramePr/>
          <p:nvPr/>
        </p:nvGraphicFramePr>
        <p:xfrm>
          <a:off x="1008063" y="3355975"/>
          <a:ext cx="55086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11" imgW="4749800" imgH="787400" progId="Equation.DSMT4">
                  <p:embed/>
                </p:oleObj>
              </mc:Choice>
              <mc:Fallback>
                <p:oleObj name="" r:id="rId11" imgW="4749800" imgH="787400" progId="Equation.DSMT4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08063" y="3355975"/>
                        <a:ext cx="5508625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12" name="对象 302111"/>
          <p:cNvGraphicFramePr/>
          <p:nvPr/>
        </p:nvGraphicFramePr>
        <p:xfrm>
          <a:off x="1944688" y="4437063"/>
          <a:ext cx="1655762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13" imgW="571500" imgH="228600" progId="Equation.3">
                  <p:embed/>
                </p:oleObj>
              </mc:Choice>
              <mc:Fallback>
                <p:oleObj name="" r:id="rId13" imgW="571500" imgH="2286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44688" y="4437063"/>
                        <a:ext cx="1655762" cy="606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113" name="矩形 302112"/>
          <p:cNvSpPr/>
          <p:nvPr/>
        </p:nvSpPr>
        <p:spPr>
          <a:xfrm>
            <a:off x="1871663" y="5337175"/>
            <a:ext cx="374491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</a:rPr>
              <a:t>结论相同</a:t>
            </a:r>
            <a:r>
              <a:rPr lang="en-US" altLang="zh-CN" sz="3200">
                <a:solidFill>
                  <a:srgbClr val="990033"/>
                </a:solidFill>
                <a:latin typeface="Times New Roman" panose="02020603050405020304" pitchFamily="18" charset="0"/>
                <a:ea typeface="楷体_GB2312" pitchFamily="49" charset="-122"/>
              </a:rPr>
              <a:t>!</a:t>
            </a:r>
            <a:endParaRPr lang="en-US" altLang="zh-CN" sz="3200">
              <a:solidFill>
                <a:srgbClr val="990033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2114" name="文本框 302113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24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0" fill="hold"/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2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2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2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2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2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2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2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2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1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04" name="文本框 307203"/>
          <p:cNvSpPr txBox="1"/>
          <p:nvPr/>
        </p:nvSpPr>
        <p:spPr>
          <a:xfrm>
            <a:off x="952500" y="981075"/>
            <a:ext cx="4699000" cy="14398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设在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</a:rPr>
              <a:t>系中</a:t>
            </a:r>
            <a:r>
              <a:rPr lang="en-US" altLang="zh-CN">
                <a:latin typeface="Times New Roman" panose="02020603050405020304" pitchFamily="18" charset="0"/>
              </a:rPr>
              <a:t>A</a:t>
            </a:r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'</a:t>
            </a:r>
            <a:r>
              <a:rPr lang="en-US" altLang="zh-CN">
                <a:latin typeface="Times New Roman" panose="02020603050405020304" pitchFamily="18" charset="0"/>
              </a:rPr>
              <a:t>,B</a:t>
            </a:r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' </a:t>
            </a:r>
            <a:r>
              <a:rPr lang="zh-CN" altLang="en-US" dirty="0">
                <a:latin typeface="Times New Roman" panose="02020603050405020304" pitchFamily="18" charset="0"/>
              </a:rPr>
              <a:t>同地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发生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但不同时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  <a:endParaRPr lang="en-US" altLang="zh-CN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即：</a:t>
            </a:r>
            <a:r>
              <a:rPr lang="en-US" altLang="zh-CN" sz="3200" i="1">
                <a:latin typeface="Times New Roman" panose="02020603050405020304" pitchFamily="18" charset="0"/>
              </a:rPr>
              <a:t>x</a:t>
            </a:r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'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 sz="3600" i="1">
                <a:latin typeface="Times New Roman" panose="02020603050405020304" pitchFamily="18" charset="0"/>
              </a:rPr>
              <a:t>x</a:t>
            </a:r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'</a:t>
            </a:r>
            <a:r>
              <a:rPr lang="en-US" altLang="zh-CN" baseline="-25000">
                <a:latin typeface="Times New Roman" panose="02020603050405020304" pitchFamily="18" charset="0"/>
              </a:rPr>
              <a:t>1 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'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≠</a:t>
            </a:r>
            <a:r>
              <a:rPr lang="en-US" altLang="zh-CN" sz="2400">
                <a:latin typeface="Times New Roman" panose="02020603050405020304" pitchFamily="18" charset="0"/>
                <a:sym typeface="Math1" pitchFamily="2" charset="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sym typeface="Math1" pitchFamily="2" charset="2"/>
              </a:rPr>
              <a:t>t'</a:t>
            </a:r>
            <a:r>
              <a:rPr lang="en-US" altLang="zh-CN" baseline="-25000">
                <a:latin typeface="Times New Roman" panose="02020603050405020304" pitchFamily="18" charset="0"/>
                <a:sym typeface="Math1" pitchFamily="2" charset="2"/>
              </a:rPr>
              <a:t>1</a:t>
            </a:r>
            <a:endParaRPr lang="en-US" altLang="zh-CN" baseline="-25000">
              <a:latin typeface="Times New Roman" panose="02020603050405020304" pitchFamily="18" charset="0"/>
              <a:sym typeface="Math1" pitchFamily="2" charset="2"/>
            </a:endParaRPr>
          </a:p>
        </p:txBody>
      </p:sp>
      <p:sp>
        <p:nvSpPr>
          <p:cNvPr id="307205" name="文本框 307204"/>
          <p:cNvSpPr txBox="1"/>
          <p:nvPr/>
        </p:nvSpPr>
        <p:spPr>
          <a:xfrm>
            <a:off x="1042988" y="2492375"/>
            <a:ext cx="3267075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则在</a:t>
            </a:r>
            <a:r>
              <a:rPr lang="en-US" altLang="zh-CN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系看：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07206" name="对象 307205"/>
          <p:cNvGraphicFramePr/>
          <p:nvPr/>
        </p:nvGraphicFramePr>
        <p:xfrm>
          <a:off x="1403350" y="3062288"/>
          <a:ext cx="2663825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" r:id="rId1" imgW="2374900" imgH="914400" progId="Equation.DSMT4">
                  <p:embed/>
                </p:oleObj>
              </mc:Choice>
              <mc:Fallback>
                <p:oleObj name="" r:id="rId1" imgW="2374900" imgH="914400" progId="Equation.DSMT4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3062288"/>
                        <a:ext cx="2663825" cy="1020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07" name="文本框 307206"/>
          <p:cNvSpPr txBox="1"/>
          <p:nvPr/>
        </p:nvSpPr>
        <p:spPr>
          <a:xfrm>
            <a:off x="7019925" y="2492375"/>
            <a:ext cx="1657350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原时</a:t>
            </a:r>
            <a:endParaRPr lang="zh-CN" altLang="en-US" b="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228" name="椭圆形标注 307227"/>
          <p:cNvSpPr/>
          <p:nvPr/>
        </p:nvSpPr>
        <p:spPr>
          <a:xfrm>
            <a:off x="5795963" y="2851150"/>
            <a:ext cx="800100" cy="673100"/>
          </a:xfrm>
          <a:prstGeom prst="wedgeEllipseCallout">
            <a:avLst>
              <a:gd name="adj1" fmla="val 109523"/>
              <a:gd name="adj2" fmla="val -47407"/>
            </a:avLst>
          </a:prstGeom>
          <a:noFill/>
          <a:ln w="19050" cap="flat" cmpd="sng">
            <a:solidFill>
              <a:srgbClr val="990099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/>
            <a:endParaRPr dirty="0">
              <a:latin typeface="Times New Roman" panose="02020603050405020304" pitchFamily="18" charset="0"/>
            </a:endParaRPr>
          </a:p>
        </p:txBody>
      </p:sp>
      <p:sp>
        <p:nvSpPr>
          <p:cNvPr id="307231" name="文本框 307230"/>
          <p:cNvSpPr txBox="1"/>
          <p:nvPr/>
        </p:nvSpPr>
        <p:spPr>
          <a:xfrm>
            <a:off x="690563" y="388938"/>
            <a:ext cx="6113462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en-US" altLang="zh-CN">
                <a:latin typeface="Times New Roman" panose="02020603050405020304" pitchFamily="18" charset="0"/>
              </a:rPr>
              <a:t>3. </a:t>
            </a:r>
            <a:r>
              <a:rPr lang="zh-CN" altLang="en-US" dirty="0">
                <a:latin typeface="Times New Roman" panose="02020603050405020304" pitchFamily="18" charset="0"/>
              </a:rPr>
              <a:t>时间膨胀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钟慢效应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endParaRPr lang="en-US" altLang="zh-CN">
              <a:latin typeface="宋体" panose="02010600030101010101" pitchFamily="2" charset="-122"/>
            </a:endParaRPr>
          </a:p>
        </p:txBody>
      </p:sp>
      <p:graphicFrame>
        <p:nvGraphicFramePr>
          <p:cNvPr id="307236" name="对象 307235"/>
          <p:cNvGraphicFramePr/>
          <p:nvPr/>
        </p:nvGraphicFramePr>
        <p:xfrm>
          <a:off x="4356100" y="3038475"/>
          <a:ext cx="29527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3" imgW="2768600" imgH="914400" progId="Equation.DSMT4">
                  <p:embed/>
                </p:oleObj>
              </mc:Choice>
              <mc:Fallback>
                <p:oleObj name="" r:id="rId3" imgW="2768600" imgH="914400" progId="Equation.DSMT4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56100" y="3038475"/>
                        <a:ext cx="2952750" cy="1038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7" name="对象 307236"/>
          <p:cNvGraphicFramePr/>
          <p:nvPr/>
        </p:nvGraphicFramePr>
        <p:xfrm>
          <a:off x="7235825" y="3254375"/>
          <a:ext cx="1004888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" r:id="rId5" imgW="342900" imgH="203200" progId="Equation.3">
                  <p:embed/>
                </p:oleObj>
              </mc:Choice>
              <mc:Fallback>
                <p:oleObj name="" r:id="rId5" imgW="342900" imgH="203200" progId="Equation.3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235825" y="3254375"/>
                        <a:ext cx="1004888" cy="534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8" name="文本框 307237"/>
          <p:cNvSpPr txBox="1"/>
          <p:nvPr/>
        </p:nvSpPr>
        <p:spPr>
          <a:xfrm>
            <a:off x="674688" y="4205288"/>
            <a:ext cx="8145462" cy="946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定义：</a:t>
            </a:r>
            <a:r>
              <a:rPr lang="zh-CN" altLang="en-US" dirty="0">
                <a:latin typeface="Times New Roman" panose="02020603050405020304" pitchFamily="18" charset="0"/>
              </a:rPr>
              <a:t>在某一参考系同一地点先后发生的两个</a:t>
            </a:r>
            <a:endParaRPr lang="zh-CN" altLang="en-US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事件之间的时间间隔叫作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原时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07240" name="文本框 307239"/>
          <p:cNvSpPr txBox="1"/>
          <p:nvPr/>
        </p:nvSpPr>
        <p:spPr>
          <a:xfrm>
            <a:off x="5651500" y="5156200"/>
            <a:ext cx="2200275" cy="547688"/>
          </a:xfrm>
          <a:prstGeom prst="rect">
            <a:avLst/>
          </a:prstGeom>
          <a:solidFill>
            <a:srgbClr val="FFCCFF"/>
          </a:solidFill>
          <a:ln w="28575" cap="flat" cmpd="sng">
            <a:solidFill>
              <a:srgbClr val="990099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/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原时最短</a:t>
            </a:r>
            <a:endParaRPr lang="zh-CN" altLang="en-US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241" name="文本框 307240"/>
          <p:cNvSpPr txBox="1"/>
          <p:nvPr/>
        </p:nvSpPr>
        <p:spPr>
          <a:xfrm>
            <a:off x="1619250" y="5765800"/>
            <a:ext cx="7056438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时间膨胀</a:t>
            </a:r>
            <a:r>
              <a:rPr lang="en-US" altLang="zh-CN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相对于原时而言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307247" name="组合 307246"/>
          <p:cNvGrpSpPr/>
          <p:nvPr/>
        </p:nvGrpSpPr>
        <p:grpSpPr>
          <a:xfrm>
            <a:off x="1565275" y="5157788"/>
            <a:ext cx="3727450" cy="617537"/>
            <a:chOff x="714" y="3931"/>
            <a:chExt cx="2348" cy="389"/>
          </a:xfrm>
        </p:grpSpPr>
        <p:sp>
          <p:nvSpPr>
            <p:cNvPr id="307239" name="文本框 307238"/>
            <p:cNvSpPr txBox="1"/>
            <p:nvPr/>
          </p:nvSpPr>
          <p:spPr>
            <a:xfrm>
              <a:off x="714" y="3941"/>
              <a:ext cx="234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zh-CN" altLang="en-US" dirty="0">
                  <a:latin typeface="Times New Roman" panose="02020603050405020304" pitchFamily="18" charset="0"/>
                </a:rPr>
                <a:t>显然：      为原时。</a:t>
              </a:r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7244" name="对象 307243"/>
            <p:cNvGraphicFramePr/>
            <p:nvPr/>
          </p:nvGraphicFramePr>
          <p:xfrm>
            <a:off x="1440" y="3931"/>
            <a:ext cx="540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7" name="" r:id="rId7" imgW="254000" imgH="203200" progId="Equation.3">
                    <p:embed/>
                  </p:oleObj>
                </mc:Choice>
                <mc:Fallback>
                  <p:oleObj name="" r:id="rId7" imgW="254000" imgH="203200" progId="Equation.3">
                    <p:embed/>
                    <p:pic>
                      <p:nvPicPr>
                        <p:cNvPr id="0" name="图片 3226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40" y="3931"/>
                          <a:ext cx="540" cy="3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245" name="矩形 307244"/>
          <p:cNvSpPr/>
          <p:nvPr/>
        </p:nvSpPr>
        <p:spPr>
          <a:xfrm>
            <a:off x="1619250" y="6223000"/>
            <a:ext cx="79216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钟慢效应</a:t>
            </a:r>
            <a:r>
              <a:rPr lang="en-US" altLang="zh-CN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相对于观察者运动的钟变慢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246" name="左大括号 307245"/>
          <p:cNvSpPr/>
          <p:nvPr/>
        </p:nvSpPr>
        <p:spPr>
          <a:xfrm>
            <a:off x="1547813" y="5943600"/>
            <a:ext cx="131762" cy="614363"/>
          </a:xfrm>
          <a:prstGeom prst="leftBrace">
            <a:avLst>
              <a:gd name="adj1" fmla="val 38855"/>
              <a:gd name="adj2" fmla="val 50000"/>
            </a:avLst>
          </a:prstGeom>
          <a:noFill/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307248" name="组合 307247"/>
          <p:cNvGrpSpPr/>
          <p:nvPr/>
        </p:nvGrpSpPr>
        <p:grpSpPr>
          <a:xfrm>
            <a:off x="4427538" y="188913"/>
            <a:ext cx="4608512" cy="1728787"/>
            <a:chOff x="1338" y="482"/>
            <a:chExt cx="2903" cy="1089"/>
          </a:xfrm>
        </p:grpSpPr>
        <p:graphicFrame>
          <p:nvGraphicFramePr>
            <p:cNvPr id="307249" name="对象 307248"/>
            <p:cNvGraphicFramePr/>
            <p:nvPr/>
          </p:nvGraphicFramePr>
          <p:xfrm>
            <a:off x="1746" y="482"/>
            <a:ext cx="2359" cy="10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" name="" r:id="rId9" imgW="3594100" imgH="1485900" progId="Equation.DSMT4">
                    <p:embed/>
                  </p:oleObj>
                </mc:Choice>
                <mc:Fallback>
                  <p:oleObj name="" r:id="rId9" imgW="3594100" imgH="1485900" progId="Equation.DSMT4">
                    <p:embed/>
                    <p:pic>
                      <p:nvPicPr>
                        <p:cNvPr id="0" name="图片 3225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46" y="482"/>
                          <a:ext cx="2359" cy="10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50" name="对象 307249"/>
            <p:cNvGraphicFramePr/>
            <p:nvPr/>
          </p:nvGraphicFramePr>
          <p:xfrm>
            <a:off x="1338" y="754"/>
            <a:ext cx="400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5" name="" r:id="rId11" imgW="3286125" imgH="3038475" progId="MS_ClipArt_Gallery.2">
                    <p:embed/>
                  </p:oleObj>
                </mc:Choice>
                <mc:Fallback>
                  <p:oleObj name="" r:id="rId11" imgW="3286125" imgH="3038475" progId="MS_ClipArt_Gallery.2">
                    <p:embed/>
                    <p:pic>
                      <p:nvPicPr>
                        <p:cNvPr id="0" name="图片 3224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FFFFFF"/>
                            </a:clrFrom>
                            <a:clrTo>
                              <a:srgbClr val="00FF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38" y="754"/>
                          <a:ext cx="400" cy="4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251" name="矩形 307250"/>
            <p:cNvSpPr/>
            <p:nvPr/>
          </p:nvSpPr>
          <p:spPr>
            <a:xfrm>
              <a:off x="1746" y="527"/>
              <a:ext cx="2495" cy="1044"/>
            </a:xfrm>
            <a:prstGeom prst="rect">
              <a:avLst/>
            </a:prstGeom>
            <a:noFill/>
            <a:ln w="28575" cap="flat" cmpd="sng">
              <a:solidFill>
                <a:srgbClr val="9900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07252" name="文本框 307251"/>
          <p:cNvSpPr txBox="1"/>
          <p:nvPr/>
        </p:nvSpPr>
        <p:spPr>
          <a:xfrm>
            <a:off x="8655050" y="6400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latin typeface="Times New Roman" panose="02020603050405020304" pitchFamily="18" charset="0"/>
              </a:rPr>
              <a:t>25</a:t>
            </a:r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307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307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75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0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"/>
                            </p:stCondLst>
                            <p:childTnLst>
                              <p:par>
                                <p:cTn id="2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7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7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7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7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7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7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7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7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7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7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7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07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7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7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75" fill="hold"/>
                                        <p:tgtEl>
                                          <p:spTgt spid="307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" fill="hold"/>
                                        <p:tgtEl>
                                          <p:spTgt spid="307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307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07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07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07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07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307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4" grpId="0"/>
      <p:bldP spid="307205" grpId="0"/>
      <p:bldP spid="307207" grpId="0"/>
      <p:bldP spid="307228" grpId="0" animBg="1"/>
      <p:bldP spid="307231" grpId="0"/>
      <p:bldP spid="307238" grpId="0"/>
      <p:bldP spid="307240" grpId="0" animBg="1"/>
      <p:bldP spid="307241" grpId="0"/>
      <p:bldP spid="307245" grpId="0"/>
    </p:bldLst>
  </p:timing>
</p:sld>
</file>

<file path=ppt/tags/tag1.xml><?xml version="1.0" encoding="utf-8"?>
<p:tagLst xmlns:p="http://schemas.openxmlformats.org/presentationml/2006/main">
  <p:tag name="commondata" val="eyJoZGlkIjoiNTRmMGEyNDZlNzIxMzE3MDI5ZTUxZWVjOTU5NmZhZTY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3371</Words>
  <Application>WPS 演示</Application>
  <PresentationFormat>在屏幕上显示</PresentationFormat>
  <Paragraphs>563</Paragraphs>
  <Slides>26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171</vt:i4>
      </vt:variant>
      <vt:variant>
        <vt:lpstr>幻灯片标题</vt:lpstr>
      </vt:variant>
      <vt:variant>
        <vt:i4>26</vt:i4>
      </vt:variant>
    </vt:vector>
  </HeadingPairs>
  <TitlesOfParts>
    <vt:vector size="218" baseType="lpstr">
      <vt:lpstr>Arial</vt:lpstr>
      <vt:lpstr>宋体</vt:lpstr>
      <vt:lpstr>Wingdings</vt:lpstr>
      <vt:lpstr>Times New Roman</vt:lpstr>
      <vt:lpstr>隶书</vt:lpstr>
      <vt:lpstr>Symbol</vt:lpstr>
      <vt:lpstr>楷体_GB2312</vt:lpstr>
      <vt:lpstr>新宋体</vt:lpstr>
      <vt:lpstr>Marlett</vt:lpstr>
      <vt:lpstr>Math1</vt:lpstr>
      <vt:lpstr>Segoe Print</vt:lpstr>
      <vt:lpstr>Math5</vt:lpstr>
      <vt:lpstr>Arial Rounded MT Bold</vt:lpstr>
      <vt:lpstr>Math1Mono</vt:lpstr>
      <vt:lpstr>黑体</vt:lpstr>
      <vt:lpstr>仿宋_GB2312</vt:lpstr>
      <vt:lpstr>仿宋</vt:lpstr>
      <vt:lpstr>华文新魏</vt:lpstr>
      <vt:lpstr>微软雅黑</vt:lpstr>
      <vt:lpstr>Arial Unicode MS</vt:lpstr>
      <vt:lpstr>默认设计模板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MS_ClipArt_Gallery.2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MS_ClipArt_Gallery.2</vt:lpstr>
      <vt:lpstr>MS_ClipArt_Gallery.2</vt:lpstr>
      <vt:lpstr>Equation.DSMT4</vt:lpstr>
      <vt:lpstr>Equation.DSMT4</vt:lpstr>
      <vt:lpstr>MS_ClipArt_Gallery.2</vt:lpstr>
      <vt:lpstr>Equation.3</vt:lpstr>
      <vt:lpstr>Equation.DSMT4</vt:lpstr>
      <vt:lpstr>Equation.DSMT4</vt:lpstr>
      <vt:lpstr>Equation.DSMT4</vt:lpstr>
      <vt:lpstr>Equation.DSMT4</vt:lpstr>
      <vt:lpstr>Equation.DSMT4</vt:lpstr>
      <vt:lpstr>MS_ClipArt_Gallery.2</vt:lpstr>
      <vt:lpstr>MS_ClipArt_Gallery.2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Equation.DSMT4</vt:lpstr>
      <vt:lpstr>Equation.DSMT4</vt:lpstr>
      <vt:lpstr>MS_ClipArt_Gallery.2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华中科技大学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项林川 Xiang Linchuan</dc:creator>
  <cp:lastModifiedBy>WPS_1631981099</cp:lastModifiedBy>
  <cp:revision>607</cp:revision>
  <dcterms:created xsi:type="dcterms:W3CDTF">2000-02-14T01:19:08Z</dcterms:created>
  <dcterms:modified xsi:type="dcterms:W3CDTF">2024-04-03T06:16:09Z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A4D53DE2BFA64D1BBFD46E4F064E3F7E_13</vt:lpwstr>
  </property>
  <property fmtid="{D5CDD505-2E9C-101B-9397-08002B2CF9AE}" pid="3" name="KSOProductBuildVer">
    <vt:lpwstr>2052-12.1.0.16388</vt:lpwstr>
  </property>
</Properties>
</file>