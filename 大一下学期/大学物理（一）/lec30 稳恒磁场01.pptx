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996" r:id="rId2"/>
    <p:sldId id="947" r:id="rId3"/>
    <p:sldId id="948" r:id="rId4"/>
    <p:sldId id="966" r:id="rId5"/>
    <p:sldId id="967" r:id="rId6"/>
    <p:sldId id="968" r:id="rId7"/>
    <p:sldId id="969" r:id="rId8"/>
    <p:sldId id="970" r:id="rId9"/>
    <p:sldId id="971" r:id="rId10"/>
    <p:sldId id="972" r:id="rId11"/>
    <p:sldId id="973" r:id="rId12"/>
    <p:sldId id="974" r:id="rId13"/>
    <p:sldId id="975" r:id="rId14"/>
    <p:sldId id="976" r:id="rId15"/>
  </p:sldIdLst>
  <p:sldSz cx="9144000" cy="6858000" type="screen4x3"/>
  <p:notesSz cx="6834188" cy="9979025"/>
  <p:custDataLst>
    <p:tags r:id="rId1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  <a:srgbClr val="0000FF"/>
    <a:srgbClr val="33CCFF"/>
    <a:srgbClr val="3399FF"/>
    <a:srgbClr val="FFFF00"/>
    <a:srgbClr val="CC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/>
    <p:restoredTop sz="98945"/>
  </p:normalViewPr>
  <p:slideViewPr>
    <p:cSldViewPr showGuides="1">
      <p:cViewPr varScale="1">
        <p:scale>
          <a:sx n="95" d="100"/>
          <a:sy n="95" d="100"/>
        </p:scale>
        <p:origin x="152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5" Type="http://schemas.openxmlformats.org/officeDocument/2006/relationships/image" Target="../media/image24.emf"/><Relationship Id="rId10" Type="http://schemas.openxmlformats.org/officeDocument/2006/relationships/image" Target="../media/image20.emf"/><Relationship Id="rId4" Type="http://schemas.openxmlformats.org/officeDocument/2006/relationships/image" Target="../media/image14.wmf"/><Relationship Id="rId9" Type="http://schemas.openxmlformats.org/officeDocument/2006/relationships/image" Target="../media/image19.wmf"/><Relationship Id="rId1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wmf"/><Relationship Id="rId7" Type="http://schemas.openxmlformats.org/officeDocument/2006/relationships/image" Target="../media/image31.emf"/><Relationship Id="rId2" Type="http://schemas.openxmlformats.org/officeDocument/2006/relationships/image" Target="../media/image26.wmf"/><Relationship Id="rId1" Type="http://schemas.openxmlformats.org/officeDocument/2006/relationships/image" Target="../media/image25.e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27.wmf"/><Relationship Id="rId7" Type="http://schemas.openxmlformats.org/officeDocument/2006/relationships/image" Target="../media/image36.emf"/><Relationship Id="rId2" Type="http://schemas.openxmlformats.org/officeDocument/2006/relationships/image" Target="../media/image34.wmf"/><Relationship Id="rId1" Type="http://schemas.openxmlformats.org/officeDocument/2006/relationships/image" Target="../media/image33.e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35.emf"/><Relationship Id="rId9" Type="http://schemas.openxmlformats.org/officeDocument/2006/relationships/image" Target="../media/image38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51.wmf"/><Relationship Id="rId18" Type="http://schemas.openxmlformats.org/officeDocument/2006/relationships/image" Target="../media/image56.wmf"/><Relationship Id="rId26" Type="http://schemas.openxmlformats.org/officeDocument/2006/relationships/image" Target="../media/image64.emf"/><Relationship Id="rId3" Type="http://schemas.openxmlformats.org/officeDocument/2006/relationships/image" Target="../media/image41.emf"/><Relationship Id="rId21" Type="http://schemas.openxmlformats.org/officeDocument/2006/relationships/image" Target="../media/image59.wmf"/><Relationship Id="rId7" Type="http://schemas.openxmlformats.org/officeDocument/2006/relationships/image" Target="../media/image45.wmf"/><Relationship Id="rId12" Type="http://schemas.openxmlformats.org/officeDocument/2006/relationships/image" Target="../media/image50.emf"/><Relationship Id="rId17" Type="http://schemas.openxmlformats.org/officeDocument/2006/relationships/image" Target="../media/image55.wmf"/><Relationship Id="rId25" Type="http://schemas.openxmlformats.org/officeDocument/2006/relationships/image" Target="../media/image63.emf"/><Relationship Id="rId2" Type="http://schemas.openxmlformats.org/officeDocument/2006/relationships/image" Target="../media/image40.emf"/><Relationship Id="rId16" Type="http://schemas.openxmlformats.org/officeDocument/2006/relationships/image" Target="../media/image54.wmf"/><Relationship Id="rId20" Type="http://schemas.openxmlformats.org/officeDocument/2006/relationships/image" Target="../media/image58.wmf"/><Relationship Id="rId1" Type="http://schemas.openxmlformats.org/officeDocument/2006/relationships/image" Target="../media/image39.wmf"/><Relationship Id="rId6" Type="http://schemas.openxmlformats.org/officeDocument/2006/relationships/image" Target="../media/image44.emf"/><Relationship Id="rId11" Type="http://schemas.openxmlformats.org/officeDocument/2006/relationships/image" Target="../media/image49.wmf"/><Relationship Id="rId24" Type="http://schemas.openxmlformats.org/officeDocument/2006/relationships/image" Target="../media/image62.emf"/><Relationship Id="rId5" Type="http://schemas.openxmlformats.org/officeDocument/2006/relationships/image" Target="../media/image43.emf"/><Relationship Id="rId15" Type="http://schemas.openxmlformats.org/officeDocument/2006/relationships/image" Target="../media/image53.emf"/><Relationship Id="rId23" Type="http://schemas.openxmlformats.org/officeDocument/2006/relationships/image" Target="../media/image61.emf"/><Relationship Id="rId10" Type="http://schemas.openxmlformats.org/officeDocument/2006/relationships/image" Target="../media/image48.emf"/><Relationship Id="rId19" Type="http://schemas.openxmlformats.org/officeDocument/2006/relationships/image" Target="../media/image57.wmf"/><Relationship Id="rId4" Type="http://schemas.openxmlformats.org/officeDocument/2006/relationships/image" Target="../media/image42.wmf"/><Relationship Id="rId9" Type="http://schemas.openxmlformats.org/officeDocument/2006/relationships/image" Target="../media/image47.emf"/><Relationship Id="rId14" Type="http://schemas.openxmlformats.org/officeDocument/2006/relationships/image" Target="../media/image52.wmf"/><Relationship Id="rId22" Type="http://schemas.openxmlformats.org/officeDocument/2006/relationships/image" Target="../media/image60.wmf"/><Relationship Id="rId27" Type="http://schemas.openxmlformats.org/officeDocument/2006/relationships/image" Target="../media/image6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46.wmf"/><Relationship Id="rId18" Type="http://schemas.openxmlformats.org/officeDocument/2006/relationships/image" Target="../media/image80.emf"/><Relationship Id="rId3" Type="http://schemas.openxmlformats.org/officeDocument/2006/relationships/image" Target="../media/image68.emf"/><Relationship Id="rId21" Type="http://schemas.openxmlformats.org/officeDocument/2006/relationships/image" Target="../media/image82.emf"/><Relationship Id="rId7" Type="http://schemas.openxmlformats.org/officeDocument/2006/relationships/image" Target="../media/image72.wmf"/><Relationship Id="rId12" Type="http://schemas.openxmlformats.org/officeDocument/2006/relationships/image" Target="../media/image45.wmf"/><Relationship Id="rId17" Type="http://schemas.openxmlformats.org/officeDocument/2006/relationships/image" Target="../media/image79.emf"/><Relationship Id="rId2" Type="http://schemas.openxmlformats.org/officeDocument/2006/relationships/image" Target="../media/image67.wmf"/><Relationship Id="rId16" Type="http://schemas.openxmlformats.org/officeDocument/2006/relationships/image" Target="../media/image49.wmf"/><Relationship Id="rId20" Type="http://schemas.openxmlformats.org/officeDocument/2006/relationships/image" Target="../media/image81.e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5" Type="http://schemas.openxmlformats.org/officeDocument/2006/relationships/image" Target="../media/image78.emf"/><Relationship Id="rId23" Type="http://schemas.openxmlformats.org/officeDocument/2006/relationships/image" Target="../media/image84.emf"/><Relationship Id="rId10" Type="http://schemas.openxmlformats.org/officeDocument/2006/relationships/image" Target="../media/image75.wmf"/><Relationship Id="rId19" Type="http://schemas.openxmlformats.org/officeDocument/2006/relationships/image" Target="../media/image52.wmf"/><Relationship Id="rId4" Type="http://schemas.openxmlformats.org/officeDocument/2006/relationships/image" Target="../media/image69.emf"/><Relationship Id="rId9" Type="http://schemas.openxmlformats.org/officeDocument/2006/relationships/image" Target="../media/image74.emf"/><Relationship Id="rId14" Type="http://schemas.openxmlformats.org/officeDocument/2006/relationships/image" Target="../media/image77.emf"/><Relationship Id="rId22" Type="http://schemas.openxmlformats.org/officeDocument/2006/relationships/image" Target="../media/image83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12" Type="http://schemas.openxmlformats.org/officeDocument/2006/relationships/image" Target="../media/image96.emf"/><Relationship Id="rId17" Type="http://schemas.openxmlformats.org/officeDocument/2006/relationships/image" Target="../media/image101.wmf"/><Relationship Id="rId2" Type="http://schemas.openxmlformats.org/officeDocument/2006/relationships/image" Target="../media/image86.wmf"/><Relationship Id="rId16" Type="http://schemas.openxmlformats.org/officeDocument/2006/relationships/image" Target="../media/image100.e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5" Type="http://schemas.openxmlformats.org/officeDocument/2006/relationships/image" Target="../media/image99.e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Relationship Id="rId14" Type="http://schemas.openxmlformats.org/officeDocument/2006/relationships/image" Target="../media/image9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4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3.e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emf"/><Relationship Id="rId5" Type="http://schemas.openxmlformats.org/officeDocument/2006/relationships/image" Target="../media/image106.wmf"/><Relationship Id="rId10" Type="http://schemas.openxmlformats.org/officeDocument/2006/relationships/image" Target="../media/image111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8.wmf"/><Relationship Id="rId7" Type="http://schemas.openxmlformats.org/officeDocument/2006/relationships/image" Target="../media/image122.e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9" Type="http://schemas.openxmlformats.org/officeDocument/2006/relationships/image" Target="../media/image11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e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46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12" Type="http://schemas.openxmlformats.org/officeDocument/2006/relationships/image" Target="../media/image145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4.wmf"/><Relationship Id="rId5" Type="http://schemas.openxmlformats.org/officeDocument/2006/relationships/image" Target="../media/image140.wmf"/><Relationship Id="rId10" Type="http://schemas.openxmlformats.org/officeDocument/2006/relationships/image" Target="../media/image143.wmf"/><Relationship Id="rId4" Type="http://schemas.openxmlformats.org/officeDocument/2006/relationships/image" Target="../media/image139.emf"/><Relationship Id="rId9" Type="http://schemas.openxmlformats.org/officeDocument/2006/relationships/image" Target="../media/image13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15.wmf"/><Relationship Id="rId5" Type="http://schemas.openxmlformats.org/officeDocument/2006/relationships/image" Target="../media/image151.wmf"/><Relationship Id="rId10" Type="http://schemas.openxmlformats.org/officeDocument/2006/relationships/image" Target="../media/image156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166.emf"/><Relationship Id="rId18" Type="http://schemas.openxmlformats.org/officeDocument/2006/relationships/image" Target="../media/image170.emf"/><Relationship Id="rId3" Type="http://schemas.openxmlformats.org/officeDocument/2006/relationships/image" Target="../media/image159.emf"/><Relationship Id="rId7" Type="http://schemas.openxmlformats.org/officeDocument/2006/relationships/image" Target="../media/image161.emf"/><Relationship Id="rId12" Type="http://schemas.openxmlformats.org/officeDocument/2006/relationships/image" Target="../media/image165.emf"/><Relationship Id="rId17" Type="http://schemas.openxmlformats.org/officeDocument/2006/relationships/image" Target="../media/image169.wmf"/><Relationship Id="rId2" Type="http://schemas.openxmlformats.org/officeDocument/2006/relationships/image" Target="../media/image158.emf"/><Relationship Id="rId16" Type="http://schemas.openxmlformats.org/officeDocument/2006/relationships/image" Target="../media/image168.emf"/><Relationship Id="rId1" Type="http://schemas.openxmlformats.org/officeDocument/2006/relationships/image" Target="../media/image157.emf"/><Relationship Id="rId6" Type="http://schemas.openxmlformats.org/officeDocument/2006/relationships/image" Target="../media/image153.wmf"/><Relationship Id="rId11" Type="http://schemas.openxmlformats.org/officeDocument/2006/relationships/image" Target="../media/image164.wmf"/><Relationship Id="rId5" Type="http://schemas.openxmlformats.org/officeDocument/2006/relationships/image" Target="../media/image152.wmf"/><Relationship Id="rId15" Type="http://schemas.openxmlformats.org/officeDocument/2006/relationships/image" Target="../media/image52.wmf"/><Relationship Id="rId10" Type="http://schemas.openxmlformats.org/officeDocument/2006/relationships/image" Target="../media/image163.emf"/><Relationship Id="rId4" Type="http://schemas.openxmlformats.org/officeDocument/2006/relationships/image" Target="../media/image160.emf"/><Relationship Id="rId9" Type="http://schemas.openxmlformats.org/officeDocument/2006/relationships/image" Target="../media/image162.emf"/><Relationship Id="rId14" Type="http://schemas.openxmlformats.org/officeDocument/2006/relationships/image" Target="../media/image16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7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7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7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F0DACE-B41F-41AC-ACB3-83EEE8D655C5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5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95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8BCCE-2B78-4EA3-BFDF-9E8A086EE656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506F-3D88-4536-AA50-8B3EF8F649D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.e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8.wmf"/><Relationship Id="rId26" Type="http://schemas.openxmlformats.org/officeDocument/2006/relationships/image" Target="../media/image22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2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1.wmf"/><Relationship Id="rId32" Type="http://schemas.openxmlformats.org/officeDocument/2006/relationships/image" Target="../media/image24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3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24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6.wmf"/><Relationship Id="rId22" Type="http://schemas.openxmlformats.org/officeDocument/2006/relationships/image" Target="../media/image20.e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7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emf"/><Relationship Id="rId20" Type="http://schemas.openxmlformats.org/officeDocument/2006/relationships/image" Target="../media/image38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5.e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6.wmf"/><Relationship Id="rId26" Type="http://schemas.openxmlformats.org/officeDocument/2006/relationships/image" Target="../media/image50.emf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4.wmf"/><Relationship Id="rId42" Type="http://schemas.openxmlformats.org/officeDocument/2006/relationships/image" Target="../media/image58.wmf"/><Relationship Id="rId47" Type="http://schemas.openxmlformats.org/officeDocument/2006/relationships/oleObject" Target="../embeddings/oleObject64.bin"/><Relationship Id="rId50" Type="http://schemas.openxmlformats.org/officeDocument/2006/relationships/image" Target="../media/image62.emf"/><Relationship Id="rId55" Type="http://schemas.openxmlformats.org/officeDocument/2006/relationships/oleObject" Target="../embeddings/oleObject68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9" Type="http://schemas.openxmlformats.org/officeDocument/2006/relationships/oleObject" Target="../embeddings/oleObject55.bin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49.wmf"/><Relationship Id="rId32" Type="http://schemas.openxmlformats.org/officeDocument/2006/relationships/image" Target="../media/image53.e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57.wmf"/><Relationship Id="rId45" Type="http://schemas.openxmlformats.org/officeDocument/2006/relationships/oleObject" Target="../embeddings/oleObject63.bin"/><Relationship Id="rId53" Type="http://schemas.openxmlformats.org/officeDocument/2006/relationships/oleObject" Target="../embeddings/oleObject67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4" Type="http://schemas.openxmlformats.org/officeDocument/2006/relationships/image" Target="../media/image59.wmf"/><Relationship Id="rId52" Type="http://schemas.openxmlformats.org/officeDocument/2006/relationships/image" Target="../media/image63.e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4.emf"/><Relationship Id="rId22" Type="http://schemas.openxmlformats.org/officeDocument/2006/relationships/image" Target="../media/image48.e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52.wmf"/><Relationship Id="rId35" Type="http://schemas.openxmlformats.org/officeDocument/2006/relationships/oleObject" Target="../embeddings/oleObject58.bin"/><Relationship Id="rId43" Type="http://schemas.openxmlformats.org/officeDocument/2006/relationships/oleObject" Target="../embeddings/oleObject62.bin"/><Relationship Id="rId48" Type="http://schemas.openxmlformats.org/officeDocument/2006/relationships/image" Target="../media/image61.emf"/><Relationship Id="rId56" Type="http://schemas.openxmlformats.org/officeDocument/2006/relationships/image" Target="../media/image65.wmf"/><Relationship Id="rId8" Type="http://schemas.openxmlformats.org/officeDocument/2006/relationships/image" Target="../media/image41.emf"/><Relationship Id="rId51" Type="http://schemas.openxmlformats.org/officeDocument/2006/relationships/oleObject" Target="../embeddings/oleObject66.bin"/><Relationship Id="rId3" Type="http://schemas.openxmlformats.org/officeDocument/2006/relationships/oleObject" Target="../embeddings/oleObject42.bin"/><Relationship Id="rId12" Type="http://schemas.openxmlformats.org/officeDocument/2006/relationships/image" Target="../media/image43.e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56.wmf"/><Relationship Id="rId46" Type="http://schemas.openxmlformats.org/officeDocument/2006/relationships/image" Target="../media/image60.wmf"/><Relationship Id="rId20" Type="http://schemas.openxmlformats.org/officeDocument/2006/relationships/image" Target="../media/image47.emf"/><Relationship Id="rId41" Type="http://schemas.openxmlformats.org/officeDocument/2006/relationships/oleObject" Target="../embeddings/oleObject61.bin"/><Relationship Id="rId54" Type="http://schemas.openxmlformats.org/officeDocument/2006/relationships/image" Target="../media/image64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emf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1.wmf"/><Relationship Id="rId36" Type="http://schemas.openxmlformats.org/officeDocument/2006/relationships/image" Target="../media/image55.wmf"/><Relationship Id="rId49" Type="http://schemas.openxmlformats.org/officeDocument/2006/relationships/oleObject" Target="../embeddings/oleObject65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3.wmf"/><Relationship Id="rId26" Type="http://schemas.openxmlformats.org/officeDocument/2006/relationships/image" Target="../media/image45.wmf"/><Relationship Id="rId39" Type="http://schemas.openxmlformats.org/officeDocument/2006/relationships/oleObject" Target="../embeddings/oleObject87.bin"/><Relationship Id="rId21" Type="http://schemas.openxmlformats.org/officeDocument/2006/relationships/oleObject" Target="../embeddings/oleObject78.bin"/><Relationship Id="rId34" Type="http://schemas.openxmlformats.org/officeDocument/2006/relationships/image" Target="../media/image49.wmf"/><Relationship Id="rId42" Type="http://schemas.openxmlformats.org/officeDocument/2006/relationships/image" Target="../media/image81.emf"/><Relationship Id="rId47" Type="http://schemas.openxmlformats.org/officeDocument/2006/relationships/oleObject" Target="../embeddings/oleObject91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9" Type="http://schemas.openxmlformats.org/officeDocument/2006/relationships/oleObject" Target="../embeddings/oleObject82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76.wmf"/><Relationship Id="rId32" Type="http://schemas.openxmlformats.org/officeDocument/2006/relationships/image" Target="../media/image78.emf"/><Relationship Id="rId37" Type="http://schemas.openxmlformats.org/officeDocument/2006/relationships/oleObject" Target="../embeddings/oleObject86.bin"/><Relationship Id="rId40" Type="http://schemas.openxmlformats.org/officeDocument/2006/relationships/image" Target="../media/image52.wmf"/><Relationship Id="rId45" Type="http://schemas.openxmlformats.org/officeDocument/2006/relationships/oleObject" Target="../embeddings/oleObject90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46.wmf"/><Relationship Id="rId36" Type="http://schemas.openxmlformats.org/officeDocument/2006/relationships/image" Target="../media/image79.emf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3.bin"/><Relationship Id="rId44" Type="http://schemas.openxmlformats.org/officeDocument/2006/relationships/image" Target="../media/image82.e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81.bin"/><Relationship Id="rId30" Type="http://schemas.openxmlformats.org/officeDocument/2006/relationships/image" Target="../media/image77.emf"/><Relationship Id="rId35" Type="http://schemas.openxmlformats.org/officeDocument/2006/relationships/oleObject" Target="../embeddings/oleObject85.bin"/><Relationship Id="rId43" Type="http://schemas.openxmlformats.org/officeDocument/2006/relationships/oleObject" Target="../embeddings/oleObject89.bin"/><Relationship Id="rId48" Type="http://schemas.openxmlformats.org/officeDocument/2006/relationships/image" Target="../media/image84.emf"/><Relationship Id="rId8" Type="http://schemas.openxmlformats.org/officeDocument/2006/relationships/image" Target="../media/image68.emf"/><Relationship Id="rId3" Type="http://schemas.openxmlformats.org/officeDocument/2006/relationships/oleObject" Target="../embeddings/oleObject69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33" Type="http://schemas.openxmlformats.org/officeDocument/2006/relationships/oleObject" Target="../embeddings/oleObject84.bin"/><Relationship Id="rId38" Type="http://schemas.openxmlformats.org/officeDocument/2006/relationships/image" Target="../media/image80.emf"/><Relationship Id="rId46" Type="http://schemas.openxmlformats.org/officeDocument/2006/relationships/image" Target="../media/image83.emf"/><Relationship Id="rId20" Type="http://schemas.openxmlformats.org/officeDocument/2006/relationships/image" Target="../media/image74.emf"/><Relationship Id="rId41" Type="http://schemas.openxmlformats.org/officeDocument/2006/relationships/oleObject" Target="../embeddings/oleObject88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2.wmf"/><Relationship Id="rId26" Type="http://schemas.openxmlformats.org/officeDocument/2006/relationships/image" Target="../media/image96.emf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1.bin"/><Relationship Id="rId34" Type="http://schemas.openxmlformats.org/officeDocument/2006/relationships/image" Target="../media/image100.emf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9.bin"/><Relationship Id="rId25" Type="http://schemas.openxmlformats.org/officeDocument/2006/relationships/oleObject" Target="../embeddings/oleObject103.bin"/><Relationship Id="rId33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105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95.wmf"/><Relationship Id="rId32" Type="http://schemas.openxmlformats.org/officeDocument/2006/relationships/image" Target="../media/image99.e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28" Type="http://schemas.openxmlformats.org/officeDocument/2006/relationships/image" Target="../media/image97.wmf"/><Relationship Id="rId36" Type="http://schemas.openxmlformats.org/officeDocument/2006/relationships/image" Target="../media/image101.wmf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100.bin"/><Relationship Id="rId31" Type="http://schemas.openxmlformats.org/officeDocument/2006/relationships/oleObject" Target="../embeddings/oleObject106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104.bin"/><Relationship Id="rId30" Type="http://schemas.openxmlformats.org/officeDocument/2006/relationships/image" Target="../media/image98.wmf"/><Relationship Id="rId35" Type="http://schemas.openxmlformats.org/officeDocument/2006/relationships/oleObject" Target="../embeddings/oleObject108.bin"/><Relationship Id="rId8" Type="http://schemas.openxmlformats.org/officeDocument/2006/relationships/image" Target="../media/image8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09.wmf"/><Relationship Id="rId26" Type="http://schemas.openxmlformats.org/officeDocument/2006/relationships/image" Target="../media/image113.e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29" Type="http://schemas.openxmlformats.org/officeDocument/2006/relationships/oleObject" Target="../embeddings/oleObject122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12.emf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28" Type="http://schemas.openxmlformats.org/officeDocument/2006/relationships/image" Target="../media/image114.wmf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17.bin"/><Relationship Id="rId31" Type="http://schemas.openxmlformats.org/officeDocument/2006/relationships/oleObject" Target="../embeddings/oleObject123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7.wmf"/><Relationship Id="rId22" Type="http://schemas.openxmlformats.org/officeDocument/2006/relationships/image" Target="../media/image111.wmf"/><Relationship Id="rId27" Type="http://schemas.openxmlformats.org/officeDocument/2006/relationships/oleObject" Target="../embeddings/oleObject121.bin"/><Relationship Id="rId30" Type="http://schemas.openxmlformats.org/officeDocument/2006/relationships/image" Target="../media/image11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23.e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e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32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2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33.bin"/><Relationship Id="rId21" Type="http://schemas.openxmlformats.org/officeDocument/2006/relationships/oleObject" Target="../embeddings/oleObject142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28.emf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7.bin"/><Relationship Id="rId24" Type="http://schemas.openxmlformats.org/officeDocument/2006/relationships/image" Target="../media/image134.wmf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33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45.bin"/><Relationship Id="rId21" Type="http://schemas.openxmlformats.org/officeDocument/2006/relationships/oleObject" Target="../embeddings/oleObject154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20" Type="http://schemas.openxmlformats.org/officeDocument/2006/relationships/image" Target="../media/image13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46.wmf"/><Relationship Id="rId10" Type="http://schemas.openxmlformats.org/officeDocument/2006/relationships/image" Target="../media/image139.emf"/><Relationship Id="rId19" Type="http://schemas.openxmlformats.org/officeDocument/2006/relationships/oleObject" Target="../embeddings/oleObject153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1.wmf"/><Relationship Id="rId22" Type="http://schemas.openxmlformats.org/officeDocument/2006/relationships/image" Target="../media/image143.wmf"/><Relationship Id="rId27" Type="http://schemas.openxmlformats.org/officeDocument/2006/relationships/oleObject" Target="../embeddings/oleObject15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63.bin"/><Relationship Id="rId18" Type="http://schemas.openxmlformats.org/officeDocument/2006/relationships/oleObject" Target="../embeddings/oleObject166.bin"/><Relationship Id="rId26" Type="http://schemas.openxmlformats.org/officeDocument/2006/relationships/oleObject" Target="../embeddings/oleObject171.bin"/><Relationship Id="rId3" Type="http://schemas.openxmlformats.org/officeDocument/2006/relationships/oleObject" Target="../embeddings/oleObject158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1.wmf"/><Relationship Id="rId17" Type="http://schemas.openxmlformats.org/officeDocument/2006/relationships/image" Target="../media/image153.wmf"/><Relationship Id="rId25" Type="http://schemas.openxmlformats.org/officeDocument/2006/relationships/image" Target="../media/image15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5.bin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62.bin"/><Relationship Id="rId24" Type="http://schemas.openxmlformats.org/officeDocument/2006/relationships/oleObject" Target="../embeddings/oleObject170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23" Type="http://schemas.openxmlformats.org/officeDocument/2006/relationships/image" Target="../media/image155.wmf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52.wmf"/><Relationship Id="rId22" Type="http://schemas.openxmlformats.org/officeDocument/2006/relationships/oleObject" Target="../embeddings/oleObject169.bin"/><Relationship Id="rId27" Type="http://schemas.openxmlformats.org/officeDocument/2006/relationships/image" Target="../media/image115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55.wmf"/><Relationship Id="rId26" Type="http://schemas.openxmlformats.org/officeDocument/2006/relationships/image" Target="../media/image165.emf"/><Relationship Id="rId39" Type="http://schemas.openxmlformats.org/officeDocument/2006/relationships/image" Target="../media/image170.emf"/><Relationship Id="rId21" Type="http://schemas.openxmlformats.org/officeDocument/2006/relationships/oleObject" Target="../embeddings/oleObject181.bin"/><Relationship Id="rId34" Type="http://schemas.openxmlformats.org/officeDocument/2006/relationships/image" Target="../media/image168.emf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33" Type="http://schemas.openxmlformats.org/officeDocument/2006/relationships/oleObject" Target="../embeddings/oleObject187.bin"/><Relationship Id="rId38" Type="http://schemas.openxmlformats.org/officeDocument/2006/relationships/oleObject" Target="../embeddings/oleObject1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emf"/><Relationship Id="rId20" Type="http://schemas.openxmlformats.org/officeDocument/2006/relationships/image" Target="../media/image162.emf"/><Relationship Id="rId29" Type="http://schemas.openxmlformats.org/officeDocument/2006/relationships/oleObject" Target="../embeddings/oleObject185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64.wmf"/><Relationship Id="rId32" Type="http://schemas.openxmlformats.org/officeDocument/2006/relationships/image" Target="../media/image52.wmf"/><Relationship Id="rId37" Type="http://schemas.openxmlformats.org/officeDocument/2006/relationships/image" Target="../media/image169.w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66.emf"/><Relationship Id="rId36" Type="http://schemas.openxmlformats.org/officeDocument/2006/relationships/oleObject" Target="../embeddings/oleObject189.bin"/><Relationship Id="rId10" Type="http://schemas.openxmlformats.org/officeDocument/2006/relationships/image" Target="../media/image160.emf"/><Relationship Id="rId19" Type="http://schemas.openxmlformats.org/officeDocument/2006/relationships/oleObject" Target="../embeddings/oleObject180.bin"/><Relationship Id="rId31" Type="http://schemas.openxmlformats.org/officeDocument/2006/relationships/oleObject" Target="../embeddings/oleObject186.bin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53.wmf"/><Relationship Id="rId22" Type="http://schemas.openxmlformats.org/officeDocument/2006/relationships/image" Target="../media/image163.e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67.emf"/><Relationship Id="rId35" Type="http://schemas.openxmlformats.org/officeDocument/2006/relationships/oleObject" Target="../embeddings/oleObject188.bin"/><Relationship Id="rId8" Type="http://schemas.openxmlformats.org/officeDocument/2006/relationships/image" Target="../media/image159.emf"/><Relationship Id="rId3" Type="http://schemas.openxmlformats.org/officeDocument/2006/relationships/oleObject" Target="../embeddings/oleObject17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3" name="Text Box 5"/>
          <p:cNvSpPr txBox="1"/>
          <p:nvPr/>
        </p:nvSpPr>
        <p:spPr>
          <a:xfrm>
            <a:off x="800100" y="714375"/>
            <a:ext cx="4608513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吸</a:t>
            </a:r>
            <a:r>
              <a:rPr lang="zh-CN" altLang="en-US" sz="2800" b="1" dirty="0">
                <a:solidFill>
                  <a:srgbClr val="FF0000"/>
                </a:solidFill>
              </a:rPr>
              <a:t>铁</a:t>
            </a:r>
            <a:r>
              <a:rPr lang="zh-CN" altLang="en-US" sz="2800" b="1" dirty="0"/>
              <a:t>石：</a:t>
            </a:r>
          </a:p>
        </p:txBody>
      </p:sp>
      <p:grpSp>
        <p:nvGrpSpPr>
          <p:cNvPr id="985099" name="Group 11"/>
          <p:cNvGrpSpPr/>
          <p:nvPr/>
        </p:nvGrpSpPr>
        <p:grpSpPr>
          <a:xfrm>
            <a:off x="4967288" y="908050"/>
            <a:ext cx="3268662" cy="3276600"/>
            <a:chOff x="2381" y="278"/>
            <a:chExt cx="2059" cy="2064"/>
          </a:xfrm>
        </p:grpSpPr>
        <p:pic>
          <p:nvPicPr>
            <p:cNvPr id="5145" name="Picture 7" descr="500px-Geomagnetism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9" y="595"/>
              <a:ext cx="1704" cy="17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6" name="Text Box 8"/>
            <p:cNvSpPr txBox="1"/>
            <p:nvPr/>
          </p:nvSpPr>
          <p:spPr>
            <a:xfrm>
              <a:off x="3424" y="278"/>
              <a:ext cx="10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地理北极</a:t>
              </a:r>
            </a:p>
          </p:txBody>
        </p:sp>
        <p:sp>
          <p:nvSpPr>
            <p:cNvPr id="5147" name="Text Box 9"/>
            <p:cNvSpPr txBox="1"/>
            <p:nvPr/>
          </p:nvSpPr>
          <p:spPr>
            <a:xfrm>
              <a:off x="2381" y="391"/>
              <a:ext cx="10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地磁北极</a:t>
              </a:r>
            </a:p>
          </p:txBody>
        </p:sp>
        <p:sp>
          <p:nvSpPr>
            <p:cNvPr id="5148" name="AutoShape 10"/>
            <p:cNvSpPr/>
            <p:nvPr/>
          </p:nvSpPr>
          <p:spPr>
            <a:xfrm>
              <a:off x="3356" y="2160"/>
              <a:ext cx="340" cy="182"/>
            </a:xfrm>
            <a:prstGeom prst="curvedRightArrow">
              <a:avLst>
                <a:gd name="adj1" fmla="val 20000"/>
                <a:gd name="adj2" fmla="val 40000"/>
                <a:gd name="adj3" fmla="val 62271"/>
              </a:avLst>
            </a:prstGeom>
            <a:solidFill>
              <a:srgbClr val="0000FF"/>
            </a:soli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985100" name="Rectangle 12"/>
          <p:cNvSpPr/>
          <p:nvPr/>
        </p:nvSpPr>
        <p:spPr>
          <a:xfrm>
            <a:off x="763588" y="1449388"/>
            <a:ext cx="4572000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指</a:t>
            </a:r>
            <a:r>
              <a:rPr lang="zh-CN" altLang="en-US" sz="2800" b="1" dirty="0">
                <a:solidFill>
                  <a:srgbClr val="FF0000"/>
                </a:solidFill>
              </a:rPr>
              <a:t>南</a:t>
            </a:r>
            <a:r>
              <a:rPr lang="zh-CN" altLang="en-US" sz="2800" b="1" dirty="0"/>
              <a:t>针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地磁场</a:t>
            </a:r>
          </a:p>
        </p:txBody>
      </p:sp>
      <p:sp>
        <p:nvSpPr>
          <p:cNvPr id="985101" name="Rectangle 13"/>
          <p:cNvSpPr/>
          <p:nvPr/>
        </p:nvSpPr>
        <p:spPr>
          <a:xfrm>
            <a:off x="763588" y="2205038"/>
            <a:ext cx="4572000" cy="1373187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1820</a:t>
            </a:r>
            <a:r>
              <a:rPr lang="zh-CN" altLang="en-US" sz="2800" b="1" dirty="0"/>
              <a:t>年，奥斯特：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载流</a:t>
            </a:r>
            <a:r>
              <a:rPr lang="zh-CN" altLang="en-US" sz="2800" b="1" dirty="0"/>
              <a:t>导线周围的</a:t>
            </a:r>
            <a:r>
              <a:rPr lang="zh-CN" altLang="en-US" sz="2800" b="1" dirty="0">
                <a:solidFill>
                  <a:srgbClr val="FF0000"/>
                </a:solidFill>
              </a:rPr>
              <a:t>磁针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会受到</a:t>
            </a:r>
            <a:r>
              <a:rPr lang="zh-CN" altLang="en-US" sz="2800" b="1" dirty="0">
                <a:solidFill>
                  <a:srgbClr val="FF0000"/>
                </a:solidFill>
              </a:rPr>
              <a:t>磁力</a:t>
            </a:r>
            <a:r>
              <a:rPr lang="zh-CN" altLang="en-US" sz="2800" b="1" dirty="0"/>
              <a:t>的作用</a:t>
            </a:r>
          </a:p>
        </p:txBody>
      </p:sp>
      <p:sp>
        <p:nvSpPr>
          <p:cNvPr id="985102" name="Line 14"/>
          <p:cNvSpPr/>
          <p:nvPr/>
        </p:nvSpPr>
        <p:spPr>
          <a:xfrm>
            <a:off x="3203575" y="4041775"/>
            <a:ext cx="11525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5103" name="Rectangle 15"/>
          <p:cNvSpPr/>
          <p:nvPr/>
        </p:nvSpPr>
        <p:spPr>
          <a:xfrm>
            <a:off x="1447800" y="3773488"/>
            <a:ext cx="1944688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载流导线</a:t>
            </a:r>
          </a:p>
        </p:txBody>
      </p:sp>
      <p:sp>
        <p:nvSpPr>
          <p:cNvPr id="985104" name="Rectangle 16"/>
          <p:cNvSpPr/>
          <p:nvPr/>
        </p:nvSpPr>
        <p:spPr>
          <a:xfrm>
            <a:off x="4437063" y="3716338"/>
            <a:ext cx="115252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磁铁</a:t>
            </a:r>
          </a:p>
        </p:txBody>
      </p:sp>
      <p:sp>
        <p:nvSpPr>
          <p:cNvPr id="985105" name="Line 17"/>
          <p:cNvSpPr/>
          <p:nvPr/>
        </p:nvSpPr>
        <p:spPr>
          <a:xfrm>
            <a:off x="3240088" y="4724400"/>
            <a:ext cx="11525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5106" name="Rectangle 18"/>
          <p:cNvSpPr/>
          <p:nvPr/>
        </p:nvSpPr>
        <p:spPr>
          <a:xfrm>
            <a:off x="1454150" y="4437063"/>
            <a:ext cx="1944688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载流导线</a:t>
            </a:r>
          </a:p>
        </p:txBody>
      </p:sp>
      <p:sp>
        <p:nvSpPr>
          <p:cNvPr id="985107" name="Rectangle 19"/>
          <p:cNvSpPr/>
          <p:nvPr/>
        </p:nvSpPr>
        <p:spPr>
          <a:xfrm>
            <a:off x="4443413" y="4437063"/>
            <a:ext cx="1944687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载流导线</a:t>
            </a:r>
          </a:p>
        </p:txBody>
      </p:sp>
      <p:sp>
        <p:nvSpPr>
          <p:cNvPr id="985108" name="Text Box 20"/>
          <p:cNvSpPr txBox="1"/>
          <p:nvPr/>
        </p:nvSpPr>
        <p:spPr>
          <a:xfrm>
            <a:off x="6127750" y="4437063"/>
            <a:ext cx="1612900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（安培）</a:t>
            </a:r>
          </a:p>
        </p:txBody>
      </p:sp>
      <p:sp>
        <p:nvSpPr>
          <p:cNvPr id="985109" name="Oval 21"/>
          <p:cNvSpPr/>
          <p:nvPr/>
        </p:nvSpPr>
        <p:spPr>
          <a:xfrm>
            <a:off x="3455988" y="3752850"/>
            <a:ext cx="720725" cy="118745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85119" name="Text Box 31"/>
          <p:cNvSpPr txBox="1"/>
          <p:nvPr/>
        </p:nvSpPr>
        <p:spPr>
          <a:xfrm>
            <a:off x="1008063" y="5445125"/>
            <a:ext cx="1235075" cy="9842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运动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电荷</a:t>
            </a:r>
          </a:p>
        </p:txBody>
      </p:sp>
      <p:sp>
        <p:nvSpPr>
          <p:cNvPr id="985120" name="Text Box 32"/>
          <p:cNvSpPr txBox="1"/>
          <p:nvPr/>
        </p:nvSpPr>
        <p:spPr>
          <a:xfrm>
            <a:off x="3294063" y="5680075"/>
            <a:ext cx="1295400" cy="557213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磁场</a:t>
            </a:r>
          </a:p>
        </p:txBody>
      </p:sp>
      <p:sp>
        <p:nvSpPr>
          <p:cNvPr id="985121" name="Text Box 33"/>
          <p:cNvSpPr txBox="1"/>
          <p:nvPr/>
        </p:nvSpPr>
        <p:spPr>
          <a:xfrm>
            <a:off x="5595938" y="5461000"/>
            <a:ext cx="1203325" cy="9842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运动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电荷</a:t>
            </a:r>
          </a:p>
        </p:txBody>
      </p:sp>
      <p:sp>
        <p:nvSpPr>
          <p:cNvPr id="985122" name="Line 34"/>
          <p:cNvSpPr/>
          <p:nvPr/>
        </p:nvSpPr>
        <p:spPr>
          <a:xfrm flipH="1">
            <a:off x="4535488" y="6092825"/>
            <a:ext cx="10668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985123" name="Line 35"/>
          <p:cNvSpPr/>
          <p:nvPr/>
        </p:nvSpPr>
        <p:spPr>
          <a:xfrm flipH="1">
            <a:off x="2232025" y="6092825"/>
            <a:ext cx="10668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985124" name="Line 36"/>
          <p:cNvSpPr/>
          <p:nvPr/>
        </p:nvSpPr>
        <p:spPr>
          <a:xfrm>
            <a:off x="2268538" y="5805488"/>
            <a:ext cx="1008062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985125" name="Line 37"/>
          <p:cNvSpPr/>
          <p:nvPr/>
        </p:nvSpPr>
        <p:spPr>
          <a:xfrm>
            <a:off x="4572000" y="5805488"/>
            <a:ext cx="1008063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985126" name="AutoShape 38"/>
          <p:cNvSpPr/>
          <p:nvPr/>
        </p:nvSpPr>
        <p:spPr>
          <a:xfrm>
            <a:off x="3635375" y="5084763"/>
            <a:ext cx="396875" cy="466725"/>
          </a:xfrm>
          <a:prstGeom prst="downArrow">
            <a:avLst>
              <a:gd name="adj1" fmla="val 50000"/>
              <a:gd name="adj2" fmla="val 29400"/>
            </a:avLst>
          </a:prstGeom>
          <a:solidFill>
            <a:srgbClr val="0000FF"/>
          </a:solidFill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85127" name="AutoShape 39"/>
          <p:cNvSpPr/>
          <p:nvPr/>
        </p:nvSpPr>
        <p:spPr>
          <a:xfrm rot="2517490">
            <a:off x="2016125" y="4905375"/>
            <a:ext cx="396875" cy="466725"/>
          </a:xfrm>
          <a:prstGeom prst="downArrow">
            <a:avLst>
              <a:gd name="adj1" fmla="val 50000"/>
              <a:gd name="adj2" fmla="val 29400"/>
            </a:avLst>
          </a:prstGeom>
          <a:solidFill>
            <a:srgbClr val="0000FF"/>
          </a:solidFill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85128" name="AutoShape 40"/>
          <p:cNvSpPr/>
          <p:nvPr/>
        </p:nvSpPr>
        <p:spPr>
          <a:xfrm rot="-2556090">
            <a:off x="5256213" y="4905375"/>
            <a:ext cx="396875" cy="466725"/>
          </a:xfrm>
          <a:prstGeom prst="downArrow">
            <a:avLst>
              <a:gd name="adj1" fmla="val 50000"/>
              <a:gd name="adj2" fmla="val 29400"/>
            </a:avLst>
          </a:prstGeom>
          <a:solidFill>
            <a:srgbClr val="0000FF"/>
          </a:solidFill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85129" name="Text Box 41"/>
          <p:cNvSpPr txBox="1"/>
          <p:nvPr/>
        </p:nvSpPr>
        <p:spPr>
          <a:xfrm>
            <a:off x="0" y="0"/>
            <a:ext cx="88931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节  磁性与磁场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8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8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8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8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8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85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85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8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8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8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85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8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8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5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85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8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985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985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8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98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8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8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98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8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8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8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8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93" grpId="0"/>
      <p:bldP spid="985100" grpId="0"/>
      <p:bldP spid="985101" grpId="0"/>
      <p:bldP spid="985103" grpId="0"/>
      <p:bldP spid="985104" grpId="0"/>
      <p:bldP spid="985106" grpId="0"/>
      <p:bldP spid="985107" grpId="0"/>
      <p:bldP spid="985108" grpId="0"/>
      <p:bldP spid="985109" grpId="0" animBg="1"/>
      <p:bldP spid="985119" grpId="0" animBg="1"/>
      <p:bldP spid="985120" grpId="0" animBg="1"/>
      <p:bldP spid="985121" grpId="0" animBg="1"/>
      <p:bldP spid="985126" grpId="0" animBg="1"/>
      <p:bldP spid="985127" grpId="0" animBg="1"/>
      <p:bldP spid="985128" grpId="0" animBg="1"/>
      <p:bldP spid="9851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Text Box 2"/>
          <p:cNvSpPr txBox="1"/>
          <p:nvPr/>
        </p:nvSpPr>
        <p:spPr>
          <a:xfrm>
            <a:off x="611188" y="425450"/>
            <a:ext cx="52562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二、磁感应强度</a:t>
            </a:r>
            <a:endParaRPr lang="zh-CN" altLang="en-US" sz="2800" b="1" i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930819" name="Text Box 3"/>
          <p:cNvSpPr txBox="1"/>
          <p:nvPr/>
        </p:nvSpPr>
        <p:spPr>
          <a:xfrm>
            <a:off x="647700" y="944563"/>
            <a:ext cx="78343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实验表明：</a:t>
            </a:r>
          </a:p>
        </p:txBody>
      </p:sp>
      <p:sp>
        <p:nvSpPr>
          <p:cNvPr id="930821" name="Text Box 5"/>
          <p:cNvSpPr txBox="1"/>
          <p:nvPr/>
        </p:nvSpPr>
        <p:spPr>
          <a:xfrm>
            <a:off x="2305050" y="981075"/>
            <a:ext cx="67675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运动电荷在磁场中受到的力：</a:t>
            </a:r>
          </a:p>
        </p:txBody>
      </p:sp>
      <p:graphicFrame>
        <p:nvGraphicFramePr>
          <p:cNvPr id="930822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3529013" y="1531938"/>
          <a:ext cx="1790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r:id="rId3" imgW="1790700" imgH="495300" progId="Equation.DSMT4">
                  <p:embed/>
                </p:oleObj>
              </mc:Choice>
              <mc:Fallback>
                <p:oleObj r:id="rId3" imgW="1790700" imgH="495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529013" y="1531938"/>
                        <a:ext cx="1790700" cy="495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0823" name="Group 7"/>
          <p:cNvGrpSpPr/>
          <p:nvPr/>
        </p:nvGrpSpPr>
        <p:grpSpPr>
          <a:xfrm>
            <a:off x="1041400" y="2708275"/>
            <a:ext cx="7562850" cy="519113"/>
            <a:chOff x="838" y="1842"/>
            <a:chExt cx="4764" cy="327"/>
          </a:xfrm>
        </p:grpSpPr>
        <p:graphicFrame>
          <p:nvGraphicFramePr>
            <p:cNvPr id="6219" name="Object 8"/>
            <p:cNvGraphicFramePr>
              <a:graphicFrameLocks noChangeAspect="1"/>
            </p:cNvGraphicFramePr>
            <p:nvPr/>
          </p:nvGraphicFramePr>
          <p:xfrm>
            <a:off x="4489" y="1871"/>
            <a:ext cx="19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r:id="rId5" imgW="355600" imgH="482600" progId="Equation.DSMT4">
                    <p:embed/>
                  </p:oleObj>
                </mc:Choice>
                <mc:Fallback>
                  <p:oleObj r:id="rId5" imgW="355600" imgH="4826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89" y="1871"/>
                          <a:ext cx="197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0" name="Text Box 9"/>
            <p:cNvSpPr txBox="1"/>
            <p:nvPr/>
          </p:nvSpPr>
          <p:spPr>
            <a:xfrm>
              <a:off x="838" y="1842"/>
              <a:ext cx="4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ea typeface="楷体_GB2312" pitchFamily="49" charset="-122"/>
                </a:rPr>
                <a:t>描述磁场的基本物理量是磁感应强度</a:t>
              </a:r>
            </a:p>
          </p:txBody>
        </p:sp>
      </p:grpSp>
      <p:grpSp>
        <p:nvGrpSpPr>
          <p:cNvPr id="930826" name="Group 10"/>
          <p:cNvGrpSpPr/>
          <p:nvPr/>
        </p:nvGrpSpPr>
        <p:grpSpPr>
          <a:xfrm>
            <a:off x="719138" y="3392488"/>
            <a:ext cx="2676525" cy="519112"/>
            <a:chOff x="476" y="2183"/>
            <a:chExt cx="1686" cy="327"/>
          </a:xfrm>
        </p:grpSpPr>
        <p:graphicFrame>
          <p:nvGraphicFramePr>
            <p:cNvPr id="6217" name="Object 11"/>
            <p:cNvGraphicFramePr>
              <a:graphicFrameLocks noChangeAspect="1"/>
            </p:cNvGraphicFramePr>
            <p:nvPr/>
          </p:nvGraphicFramePr>
          <p:xfrm>
            <a:off x="476" y="2228"/>
            <a:ext cx="18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r:id="rId7" imgW="355600" imgH="482600" progId="Equation.DSMT4">
                    <p:embed/>
                  </p:oleObj>
                </mc:Choice>
                <mc:Fallback>
                  <p:oleObj r:id="rId7" imgW="355600" imgH="482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6" y="2228"/>
                          <a:ext cx="18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18" name="Text Box 12"/>
            <p:cNvSpPr txBox="1"/>
            <p:nvPr/>
          </p:nvSpPr>
          <p:spPr>
            <a:xfrm>
              <a:off x="612" y="2183"/>
              <a:ext cx="15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的定义</a:t>
              </a:r>
              <a:r>
                <a:rPr lang="en-US" altLang="zh-CN" sz="2800" b="1" dirty="0"/>
                <a:t>:</a:t>
              </a:r>
            </a:p>
          </p:txBody>
        </p:sp>
      </p:grpSp>
      <p:grpSp>
        <p:nvGrpSpPr>
          <p:cNvPr id="930829" name="Group 13"/>
          <p:cNvGrpSpPr/>
          <p:nvPr/>
        </p:nvGrpSpPr>
        <p:grpSpPr>
          <a:xfrm>
            <a:off x="647700" y="3933825"/>
            <a:ext cx="7415213" cy="519113"/>
            <a:chOff x="408" y="2536"/>
            <a:chExt cx="4671" cy="327"/>
          </a:xfrm>
        </p:grpSpPr>
        <p:sp>
          <p:nvSpPr>
            <p:cNvPr id="6214" name="Text Box 14"/>
            <p:cNvSpPr txBox="1"/>
            <p:nvPr/>
          </p:nvSpPr>
          <p:spPr>
            <a:xfrm>
              <a:off x="408" y="2536"/>
              <a:ext cx="46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设电荷</a:t>
              </a:r>
              <a:r>
                <a:rPr lang="en-US" altLang="zh-CN" sz="2800" b="1" i="1" dirty="0"/>
                <a:t>q</a:t>
              </a:r>
              <a:r>
                <a:rPr lang="zh-CN" altLang="en-US" sz="2800" b="1" dirty="0"/>
                <a:t>以速度 </a:t>
              </a:r>
              <a:r>
                <a:rPr lang="en-US" altLang="zh-CN" sz="2800" b="1" i="1" dirty="0"/>
                <a:t>v</a:t>
              </a:r>
              <a:r>
                <a:rPr lang="en-US" altLang="zh-CN" sz="2800" b="1" dirty="0"/>
                <a:t> </a:t>
              </a:r>
              <a:r>
                <a:rPr lang="zh-CN" altLang="en-US" sz="2800" b="1" dirty="0"/>
                <a:t>进入磁场</a:t>
              </a:r>
              <a:r>
                <a:rPr lang="en-US" altLang="zh-CN" sz="2800" b="1" i="1" dirty="0"/>
                <a:t>B </a:t>
              </a:r>
              <a:r>
                <a:rPr lang="zh-CN" altLang="en-US" sz="2800" b="1" dirty="0"/>
                <a:t>中的</a:t>
              </a:r>
              <a:r>
                <a:rPr lang="en-US" altLang="zh-CN" sz="2800" b="1" i="1" dirty="0"/>
                <a:t>P</a:t>
              </a:r>
              <a:r>
                <a:rPr lang="zh-CN" altLang="en-US" sz="2800" b="1" dirty="0"/>
                <a:t>点</a:t>
              </a:r>
            </a:p>
          </p:txBody>
        </p:sp>
        <p:sp>
          <p:nvSpPr>
            <p:cNvPr id="6215" name="Line 15"/>
            <p:cNvSpPr/>
            <p:nvPr/>
          </p:nvSpPr>
          <p:spPr>
            <a:xfrm>
              <a:off x="1995" y="2638"/>
              <a:ext cx="101" cy="0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6216" name="Line 16"/>
            <p:cNvSpPr/>
            <p:nvPr/>
          </p:nvSpPr>
          <p:spPr>
            <a:xfrm>
              <a:off x="3073" y="2591"/>
              <a:ext cx="102" cy="0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</p:grpSp>
      <p:grpSp>
        <p:nvGrpSpPr>
          <p:cNvPr id="930833" name="Group 17"/>
          <p:cNvGrpSpPr/>
          <p:nvPr/>
        </p:nvGrpSpPr>
        <p:grpSpPr>
          <a:xfrm>
            <a:off x="6859588" y="5086350"/>
            <a:ext cx="935037" cy="457200"/>
            <a:chOff x="4672" y="3022"/>
            <a:chExt cx="589" cy="288"/>
          </a:xfrm>
        </p:grpSpPr>
        <p:sp>
          <p:nvSpPr>
            <p:cNvPr id="6212" name="Oval 18"/>
            <p:cNvSpPr/>
            <p:nvPr/>
          </p:nvSpPr>
          <p:spPr>
            <a:xfrm>
              <a:off x="4725" y="31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6213" name="Text Box 19"/>
            <p:cNvSpPr txBox="1"/>
            <p:nvPr/>
          </p:nvSpPr>
          <p:spPr>
            <a:xfrm>
              <a:off x="4672" y="3022"/>
              <a:ext cx="5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/>
                <a:t>+ </a:t>
              </a:r>
              <a:r>
                <a:rPr lang="en-US" altLang="zh-CN" sz="2400" b="1" i="1" dirty="0"/>
                <a:t>q</a:t>
              </a:r>
              <a:endParaRPr lang="en-US" altLang="zh-CN" sz="2800" b="1" dirty="0"/>
            </a:p>
          </p:txBody>
        </p:sp>
      </p:grpSp>
      <p:sp>
        <p:nvSpPr>
          <p:cNvPr id="930836" name="Line 20"/>
          <p:cNvSpPr/>
          <p:nvPr/>
        </p:nvSpPr>
        <p:spPr>
          <a:xfrm flipV="1">
            <a:off x="7075488" y="4922838"/>
            <a:ext cx="533400" cy="381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30837" name="Object 21"/>
          <p:cNvGraphicFramePr>
            <a:graphicFrameLocks noChangeAspect="1"/>
          </p:cNvGraphicFramePr>
          <p:nvPr/>
        </p:nvGraphicFramePr>
        <p:xfrm>
          <a:off x="7196138" y="4751388"/>
          <a:ext cx="2381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r:id="rId9" imgW="228600" imgH="330200" progId="Equation.DSMT4">
                  <p:embed/>
                </p:oleObj>
              </mc:Choice>
              <mc:Fallback>
                <p:oleObj r:id="rId9" imgW="228600" imgH="330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96138" y="4751388"/>
                        <a:ext cx="238125" cy="341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38" name="Line 22"/>
          <p:cNvSpPr/>
          <p:nvPr/>
        </p:nvSpPr>
        <p:spPr>
          <a:xfrm flipV="1">
            <a:off x="7380288" y="5075238"/>
            <a:ext cx="45720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30839" name="Group 23"/>
          <p:cNvGrpSpPr/>
          <p:nvPr/>
        </p:nvGrpSpPr>
        <p:grpSpPr>
          <a:xfrm>
            <a:off x="7532688" y="5227638"/>
            <a:ext cx="387350" cy="457200"/>
            <a:chOff x="4848" y="3360"/>
            <a:chExt cx="244" cy="288"/>
          </a:xfrm>
        </p:grpSpPr>
        <p:sp>
          <p:nvSpPr>
            <p:cNvPr id="6210" name="Text Box 24"/>
            <p:cNvSpPr txBox="1"/>
            <p:nvPr/>
          </p:nvSpPr>
          <p:spPr>
            <a:xfrm>
              <a:off x="4848" y="336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6211" name="Line 25"/>
            <p:cNvSpPr/>
            <p:nvPr/>
          </p:nvSpPr>
          <p:spPr>
            <a:xfrm>
              <a:off x="4896" y="3408"/>
              <a:ext cx="14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30842" name="Text Box 26"/>
          <p:cNvSpPr txBox="1"/>
          <p:nvPr/>
        </p:nvSpPr>
        <p:spPr>
          <a:xfrm>
            <a:off x="7539038" y="4214813"/>
            <a:ext cx="11207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5400" b="1" dirty="0">
                <a:solidFill>
                  <a:srgbClr val="800080"/>
                </a:solidFill>
              </a:rPr>
              <a:t>.</a:t>
            </a:r>
            <a:r>
              <a:rPr lang="en-US" altLang="zh-CN" sz="3600" b="1" dirty="0">
                <a:solidFill>
                  <a:srgbClr val="FF3300"/>
                </a:solidFill>
              </a:rPr>
              <a:t> </a:t>
            </a:r>
            <a:r>
              <a:rPr lang="en-US" altLang="zh-CN" sz="2800" b="1" i="1" dirty="0"/>
              <a:t>P</a:t>
            </a:r>
          </a:p>
        </p:txBody>
      </p:sp>
      <p:grpSp>
        <p:nvGrpSpPr>
          <p:cNvPr id="930843" name="Group 27"/>
          <p:cNvGrpSpPr/>
          <p:nvPr/>
        </p:nvGrpSpPr>
        <p:grpSpPr>
          <a:xfrm rot="1859374">
            <a:off x="6624638" y="4618038"/>
            <a:ext cx="769937" cy="633412"/>
            <a:chOff x="4647" y="3766"/>
            <a:chExt cx="485" cy="399"/>
          </a:xfrm>
        </p:grpSpPr>
        <p:grpSp>
          <p:nvGrpSpPr>
            <p:cNvPr id="6206" name="Group 28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208" name="Oval 29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209" name="Text Box 30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207" name="Line 31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48" name="Group 32"/>
          <p:cNvGrpSpPr/>
          <p:nvPr/>
        </p:nvGrpSpPr>
        <p:grpSpPr>
          <a:xfrm rot="3911565">
            <a:off x="6708775" y="4229100"/>
            <a:ext cx="769938" cy="633413"/>
            <a:chOff x="4647" y="3766"/>
            <a:chExt cx="485" cy="399"/>
          </a:xfrm>
        </p:grpSpPr>
        <p:grpSp>
          <p:nvGrpSpPr>
            <p:cNvPr id="6202" name="Group 33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204" name="Oval 34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205" name="Text Box 35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203" name="Line 36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53" name="Group 37"/>
          <p:cNvGrpSpPr/>
          <p:nvPr/>
        </p:nvGrpSpPr>
        <p:grpSpPr>
          <a:xfrm rot="7568401">
            <a:off x="7242175" y="3924300"/>
            <a:ext cx="769938" cy="633413"/>
            <a:chOff x="4647" y="3766"/>
            <a:chExt cx="485" cy="399"/>
          </a:xfrm>
        </p:grpSpPr>
        <p:grpSp>
          <p:nvGrpSpPr>
            <p:cNvPr id="6198" name="Group 38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200" name="Oval 39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201" name="Text Box 40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199" name="Line 41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58" name="Group 42"/>
          <p:cNvGrpSpPr/>
          <p:nvPr/>
        </p:nvGrpSpPr>
        <p:grpSpPr>
          <a:xfrm rot="9726428">
            <a:off x="7683500" y="4008438"/>
            <a:ext cx="769938" cy="633412"/>
            <a:chOff x="4647" y="3766"/>
            <a:chExt cx="485" cy="399"/>
          </a:xfrm>
        </p:grpSpPr>
        <p:grpSp>
          <p:nvGrpSpPr>
            <p:cNvPr id="6194" name="Group 43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196" name="Oval 44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197" name="Text Box 45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195" name="Line 46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63" name="Group 47"/>
          <p:cNvGrpSpPr/>
          <p:nvPr/>
        </p:nvGrpSpPr>
        <p:grpSpPr>
          <a:xfrm rot="-9234875">
            <a:off x="7996238" y="4389438"/>
            <a:ext cx="769937" cy="633412"/>
            <a:chOff x="4647" y="3766"/>
            <a:chExt cx="485" cy="399"/>
          </a:xfrm>
        </p:grpSpPr>
        <p:grpSp>
          <p:nvGrpSpPr>
            <p:cNvPr id="6190" name="Group 48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192" name="Oval 49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193" name="Text Box 50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191" name="Line 51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68" name="Group 52"/>
          <p:cNvGrpSpPr/>
          <p:nvPr/>
        </p:nvGrpSpPr>
        <p:grpSpPr>
          <a:xfrm rot="-7125695">
            <a:off x="7927975" y="4830763"/>
            <a:ext cx="769938" cy="633412"/>
            <a:chOff x="4647" y="3766"/>
            <a:chExt cx="485" cy="399"/>
          </a:xfrm>
        </p:grpSpPr>
        <p:grpSp>
          <p:nvGrpSpPr>
            <p:cNvPr id="6186" name="Group 53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188" name="Oval 54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189" name="Text Box 55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187" name="Line 56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73" name="Group 57"/>
          <p:cNvGrpSpPr/>
          <p:nvPr/>
        </p:nvGrpSpPr>
        <p:grpSpPr>
          <a:xfrm rot="-3305788">
            <a:off x="7370763" y="5211763"/>
            <a:ext cx="769937" cy="633412"/>
            <a:chOff x="4647" y="3766"/>
            <a:chExt cx="485" cy="399"/>
          </a:xfrm>
        </p:grpSpPr>
        <p:grpSp>
          <p:nvGrpSpPr>
            <p:cNvPr id="6182" name="Group 58"/>
            <p:cNvGrpSpPr/>
            <p:nvPr/>
          </p:nvGrpSpPr>
          <p:grpSpPr>
            <a:xfrm>
              <a:off x="4647" y="3934"/>
              <a:ext cx="233" cy="231"/>
              <a:chOff x="4411" y="3384"/>
              <a:chExt cx="233" cy="231"/>
            </a:xfrm>
          </p:grpSpPr>
          <p:sp>
            <p:nvSpPr>
              <p:cNvPr id="6184" name="Oval 59"/>
              <p:cNvSpPr/>
              <p:nvPr/>
            </p:nvSpPr>
            <p:spPr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6185" name="Text Box 60"/>
              <p:cNvSpPr txBox="1"/>
              <p:nvPr/>
            </p:nvSpPr>
            <p:spPr>
              <a:xfrm>
                <a:off x="4411" y="3384"/>
                <a:ext cx="23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/>
                  <a:t>+ </a:t>
                </a:r>
                <a:endParaRPr lang="en-US" altLang="zh-CN" sz="2800" b="1" dirty="0"/>
              </a:p>
            </p:txBody>
          </p:sp>
        </p:grpSp>
        <p:sp>
          <p:nvSpPr>
            <p:cNvPr id="6183" name="Line 61"/>
            <p:cNvSpPr/>
            <p:nvPr/>
          </p:nvSpPr>
          <p:spPr>
            <a:xfrm flipV="1">
              <a:off x="4796" y="3766"/>
              <a:ext cx="33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30892" name="Group 76"/>
          <p:cNvGrpSpPr/>
          <p:nvPr/>
        </p:nvGrpSpPr>
        <p:grpSpPr>
          <a:xfrm>
            <a:off x="1187450" y="4581525"/>
            <a:ext cx="6459538" cy="519113"/>
            <a:chOff x="748" y="2886"/>
            <a:chExt cx="4069" cy="327"/>
          </a:xfrm>
        </p:grpSpPr>
        <p:sp>
          <p:nvSpPr>
            <p:cNvPr id="6180" name="Text Box 63"/>
            <p:cNvSpPr txBox="1"/>
            <p:nvPr/>
          </p:nvSpPr>
          <p:spPr>
            <a:xfrm>
              <a:off x="748" y="2886"/>
              <a:ext cx="40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：受力为零的方向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定义    的</a:t>
              </a:r>
              <a:r>
                <a:rPr lang="zh-CN" altLang="en-US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方向</a:t>
              </a:r>
              <a:r>
                <a:rPr lang="en-US" altLang="zh-CN" sz="2800" b="1" dirty="0"/>
                <a:t>;</a:t>
              </a:r>
            </a:p>
          </p:txBody>
        </p:sp>
        <p:graphicFrame>
          <p:nvGraphicFramePr>
            <p:cNvPr id="6181" name="Object 64"/>
            <p:cNvGraphicFramePr>
              <a:graphicFrameLocks noChangeAspect="1"/>
            </p:cNvGraphicFramePr>
            <p:nvPr/>
          </p:nvGraphicFramePr>
          <p:xfrm>
            <a:off x="3195" y="2892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r:id="rId11" imgW="355600" imgH="482600" progId="Equation.DSMT4">
                    <p:embed/>
                  </p:oleObj>
                </mc:Choice>
                <mc:Fallback>
                  <p:oleObj r:id="rId11" imgW="355600" imgH="4826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5" y="2892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0881" name="Group 65"/>
          <p:cNvGrpSpPr/>
          <p:nvPr/>
        </p:nvGrpSpPr>
        <p:grpSpPr>
          <a:xfrm>
            <a:off x="684213" y="5157788"/>
            <a:ext cx="8210550" cy="519112"/>
            <a:chOff x="431" y="3249"/>
            <a:chExt cx="5172" cy="327"/>
          </a:xfrm>
        </p:grpSpPr>
        <p:sp>
          <p:nvSpPr>
            <p:cNvPr id="6177" name="Text Box 66"/>
            <p:cNvSpPr txBox="1"/>
            <p:nvPr/>
          </p:nvSpPr>
          <p:spPr>
            <a:xfrm>
              <a:off x="431" y="3249"/>
              <a:ext cx="51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当 </a:t>
              </a:r>
              <a:r>
                <a:rPr lang="en-US" altLang="zh-CN" sz="2800" b="1" i="1" dirty="0"/>
                <a:t>q</a:t>
              </a:r>
              <a:r>
                <a:rPr lang="en-US" altLang="zh-CN" sz="2800" b="1" baseline="-25000" dirty="0"/>
                <a:t>0</a:t>
              </a:r>
              <a:r>
                <a:rPr lang="en-US" altLang="zh-CN" sz="2800" b="1" i="1" baseline="-25000" dirty="0"/>
                <a:t> </a:t>
              </a:r>
              <a:r>
                <a:rPr lang="zh-CN" altLang="en-US" sz="2800" b="1" dirty="0"/>
                <a:t>沿 </a:t>
              </a:r>
              <a:r>
                <a:rPr lang="en-US" altLang="zh-CN" sz="2800" b="1" i="1" dirty="0"/>
                <a:t>v </a:t>
              </a:r>
              <a:r>
                <a:rPr lang="en-US" altLang="zh-CN" sz="2800" b="1" dirty="0">
                  <a:sym typeface="Symbol" panose="05050102010706020507" pitchFamily="18" charset="2"/>
                </a:rPr>
                <a:t> 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B</a:t>
              </a:r>
              <a:r>
                <a:rPr lang="en-US" altLang="zh-CN" sz="2800" b="1" dirty="0"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sym typeface="Symbol" panose="05050102010706020507" pitchFamily="18" charset="2"/>
                </a:rPr>
                <a:t>的方向运动时</a:t>
              </a:r>
              <a:r>
                <a:rPr lang="en-US" altLang="zh-CN" sz="2800" b="1" dirty="0">
                  <a:sym typeface="Symbol" panose="05050102010706020507" pitchFamily="18" charset="2"/>
                </a:rPr>
                <a:t>,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F </a:t>
              </a:r>
              <a:r>
                <a:rPr lang="en-US" altLang="zh-CN" sz="2800" b="1" dirty="0">
                  <a:sym typeface="Symbol" panose="05050102010706020507" pitchFamily="18" charset="2"/>
                </a:rPr>
                <a:t>=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800" b="1" i="1" baseline="-25000" dirty="0">
                  <a:sym typeface="Symbol" panose="05050102010706020507" pitchFamily="18" charset="2"/>
                </a:rPr>
                <a:t>Max</a:t>
              </a:r>
              <a:endParaRPr lang="en-US" altLang="zh-CN" sz="2800" b="1" i="1" dirty="0"/>
            </a:p>
          </p:txBody>
        </p:sp>
        <p:sp>
          <p:nvSpPr>
            <p:cNvPr id="6178" name="Line 67"/>
            <p:cNvSpPr/>
            <p:nvPr/>
          </p:nvSpPr>
          <p:spPr>
            <a:xfrm>
              <a:off x="1287" y="3345"/>
              <a:ext cx="96" cy="0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6179" name="Line 68"/>
            <p:cNvSpPr/>
            <p:nvPr/>
          </p:nvSpPr>
          <p:spPr>
            <a:xfrm>
              <a:off x="1678" y="3317"/>
              <a:ext cx="97" cy="0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</p:grpSp>
      <p:sp>
        <p:nvSpPr>
          <p:cNvPr id="930885" name="Text Box 69"/>
          <p:cNvSpPr txBox="1"/>
          <p:nvPr/>
        </p:nvSpPr>
        <p:spPr>
          <a:xfrm>
            <a:off x="2536825" y="5794375"/>
            <a:ext cx="2501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则</a:t>
            </a:r>
          </a:p>
        </p:txBody>
      </p:sp>
      <p:graphicFrame>
        <p:nvGraphicFramePr>
          <p:cNvPr id="930886" name="Object 70"/>
          <p:cNvGraphicFramePr>
            <a:graphicFrameLocks noChangeAspect="1"/>
          </p:cNvGraphicFramePr>
          <p:nvPr/>
        </p:nvGraphicFramePr>
        <p:xfrm>
          <a:off x="3276600" y="5695950"/>
          <a:ext cx="15049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r:id="rId13" imgW="1460500" imgH="838200" progId="Equation.DSMT4">
                  <p:embed/>
                </p:oleObj>
              </mc:Choice>
              <mc:Fallback>
                <p:oleObj r:id="rId13" imgW="1460500" imgH="838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76600" y="5695950"/>
                        <a:ext cx="1504950" cy="86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88" name="Object 7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38500" y="473075"/>
          <a:ext cx="2921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r:id="rId15" imgW="355600" imgH="482600" progId="Equation.DSMT4">
                  <p:embed/>
                </p:oleObj>
              </mc:Choice>
              <mc:Fallback>
                <p:oleObj r:id="rId15" imgW="355600" imgH="482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238500" y="473075"/>
                        <a:ext cx="292100" cy="387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89" name="Object 73"/>
          <p:cNvGraphicFramePr>
            <a:graphicFrameLocks noChangeAspect="1"/>
          </p:cNvGraphicFramePr>
          <p:nvPr/>
        </p:nvGraphicFramePr>
        <p:xfrm>
          <a:off x="3167063" y="2133600"/>
          <a:ext cx="26527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r:id="rId17" imgW="1040765" imgH="241300" progId="Equation.3">
                  <p:embed/>
                </p:oleObj>
              </mc:Choice>
              <mc:Fallback>
                <p:oleObj r:id="rId17" imgW="1040765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67063" y="2133600"/>
                        <a:ext cx="2652712" cy="614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90" name="Text Box 74"/>
          <p:cNvSpPr txBox="1"/>
          <p:nvPr/>
        </p:nvSpPr>
        <p:spPr>
          <a:xfrm>
            <a:off x="1058863" y="2133600"/>
            <a:ext cx="25050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在电磁场中：</a:t>
            </a:r>
          </a:p>
        </p:txBody>
      </p:sp>
      <p:graphicFrame>
        <p:nvGraphicFramePr>
          <p:cNvPr id="930891" name="Object 75"/>
          <p:cNvGraphicFramePr>
            <a:graphicFrameLocks noChangeAspect="1"/>
          </p:cNvGraphicFramePr>
          <p:nvPr/>
        </p:nvGraphicFramePr>
        <p:xfrm>
          <a:off x="468313" y="4616450"/>
          <a:ext cx="7794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r:id="rId19" imgW="786765" imgH="406400" progId="Equation.DSMT4">
                  <p:embed/>
                </p:oleObj>
              </mc:Choice>
              <mc:Fallback>
                <p:oleObj r:id="rId19" imgW="786765" imgH="4064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8313" y="4616450"/>
                        <a:ext cx="77946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93" name="Text Box 77"/>
          <p:cNvSpPr txBox="1"/>
          <p:nvPr/>
        </p:nvSpPr>
        <p:spPr>
          <a:xfrm>
            <a:off x="2627313" y="3392488"/>
            <a:ext cx="4716462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检验电荷</a:t>
            </a:r>
            <a:r>
              <a:rPr lang="en-US" altLang="zh-CN" sz="2800" b="1" dirty="0"/>
              <a:t>q</a:t>
            </a:r>
          </a:p>
        </p:txBody>
      </p:sp>
      <p:sp>
        <p:nvSpPr>
          <p:cNvPr id="930894" name="Text Box 78"/>
          <p:cNvSpPr txBox="1"/>
          <p:nvPr/>
        </p:nvSpPr>
        <p:spPr>
          <a:xfrm>
            <a:off x="4932363" y="5876925"/>
            <a:ext cx="11715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大小</a:t>
            </a:r>
          </a:p>
        </p:txBody>
      </p:sp>
      <p:sp>
        <p:nvSpPr>
          <p:cNvPr id="930895" name="Text Box 79"/>
          <p:cNvSpPr txBox="1"/>
          <p:nvPr/>
        </p:nvSpPr>
        <p:spPr>
          <a:xfrm>
            <a:off x="5543550" y="1484313"/>
            <a:ext cx="2143125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洛仑兹力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0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0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3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0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0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93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3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93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3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3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93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0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30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93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3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3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30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30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93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93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30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930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00"/>
                            </p:stCondLst>
                            <p:childTnLst>
                              <p:par>
                                <p:cTn id="10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930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1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8" dur="500"/>
                                        <p:tgtEl>
                                          <p:spTgt spid="930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0"/>
                            </p:stCondLst>
                            <p:childTnLst>
                              <p:par>
                                <p:cTn id="12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3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30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30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30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30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93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93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930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30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30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30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30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18" grpId="0"/>
      <p:bldP spid="930819" grpId="0"/>
      <p:bldP spid="930821" grpId="0"/>
      <p:bldP spid="930842" grpId="0"/>
      <p:bldP spid="930885" grpId="0"/>
      <p:bldP spid="930893" grpId="0"/>
      <p:bldP spid="9308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Text Box 2"/>
          <p:cNvSpPr txBox="1"/>
          <p:nvPr/>
        </p:nvSpPr>
        <p:spPr>
          <a:xfrm>
            <a:off x="744538" y="496888"/>
            <a:ext cx="69230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         </a:t>
            </a:r>
            <a:r>
              <a:rPr lang="zh-CN" altLang="zh-CN" sz="2800" b="1" dirty="0"/>
              <a:t>三者之间的关系如下：</a:t>
            </a:r>
            <a:endParaRPr lang="zh-CN" altLang="en-US" sz="2800" b="1" dirty="0"/>
          </a:p>
        </p:txBody>
      </p:sp>
      <p:sp>
        <p:nvSpPr>
          <p:cNvPr id="931843" name="AutoShape 3"/>
          <p:cNvSpPr/>
          <p:nvPr/>
        </p:nvSpPr>
        <p:spPr>
          <a:xfrm>
            <a:off x="755650" y="2349500"/>
            <a:ext cx="2667000" cy="990600"/>
          </a:xfrm>
          <a:prstGeom prst="parallelogram">
            <a:avLst>
              <a:gd name="adj" fmla="val 145198"/>
            </a:avLst>
          </a:prstGeom>
          <a:solidFill>
            <a:srgbClr val="DDDDDD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31844" name="AutoShape 4"/>
          <p:cNvSpPr/>
          <p:nvPr/>
        </p:nvSpPr>
        <p:spPr>
          <a:xfrm rot="-5400000" flipH="1">
            <a:off x="450850" y="1587500"/>
            <a:ext cx="2057400" cy="1447800"/>
          </a:xfrm>
          <a:prstGeom prst="parallelogram">
            <a:avLst>
              <a:gd name="adj" fmla="val 69618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31845" name="Line 5"/>
          <p:cNvSpPr/>
          <p:nvPr/>
        </p:nvSpPr>
        <p:spPr>
          <a:xfrm flipV="1">
            <a:off x="1746250" y="2044700"/>
            <a:ext cx="1588" cy="609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31846" name="Line 6"/>
          <p:cNvSpPr/>
          <p:nvPr/>
        </p:nvSpPr>
        <p:spPr>
          <a:xfrm flipV="1">
            <a:off x="1746250" y="2425700"/>
            <a:ext cx="914400" cy="2286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31847" name="Object 7"/>
          <p:cNvGraphicFramePr>
            <a:graphicFrameLocks noChangeAspect="1"/>
          </p:cNvGraphicFramePr>
          <p:nvPr/>
        </p:nvGraphicFramePr>
        <p:xfrm>
          <a:off x="1335088" y="1955800"/>
          <a:ext cx="314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r:id="rId3" imgW="317500" imgH="393065" progId="Equation.DSMT4">
                  <p:embed/>
                </p:oleObj>
              </mc:Choice>
              <mc:Fallback>
                <p:oleObj r:id="rId3" imgW="317500" imgH="393065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5088" y="1955800"/>
                        <a:ext cx="3143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48" name="Object 8"/>
          <p:cNvGraphicFramePr>
            <a:graphicFrameLocks noChangeAspect="1"/>
          </p:cNvGraphicFramePr>
          <p:nvPr/>
        </p:nvGraphicFramePr>
        <p:xfrm>
          <a:off x="2197100" y="2501900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r:id="rId5" imgW="292100" imgH="393700" progId="Equation.DSMT4">
                  <p:embed/>
                </p:oleObj>
              </mc:Choice>
              <mc:Fallback>
                <p:oleObj r:id="rId5" imgW="292100" imgH="3937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7100" y="2501900"/>
                        <a:ext cx="292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49" name="Object 9"/>
          <p:cNvGraphicFramePr>
            <a:graphicFrameLocks noChangeAspect="1"/>
          </p:cNvGraphicFramePr>
          <p:nvPr/>
        </p:nvGraphicFramePr>
        <p:xfrm>
          <a:off x="1535113" y="2714625"/>
          <a:ext cx="2873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r:id="rId7" imgW="228600" imgH="330200" progId="Equation.DSMT4">
                  <p:embed/>
                </p:oleObj>
              </mc:Choice>
              <mc:Fallback>
                <p:oleObj r:id="rId7" imgW="228600" imgH="330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5113" y="2714625"/>
                        <a:ext cx="287337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50" name="AutoShape 10"/>
          <p:cNvSpPr/>
          <p:nvPr/>
        </p:nvSpPr>
        <p:spPr>
          <a:xfrm>
            <a:off x="4392613" y="3392488"/>
            <a:ext cx="250825" cy="685800"/>
          </a:xfrm>
          <a:prstGeom prst="leftBrace">
            <a:avLst>
              <a:gd name="adj1" fmla="val 22784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31851" name="Text Box 11"/>
          <p:cNvSpPr txBox="1"/>
          <p:nvPr/>
        </p:nvSpPr>
        <p:spPr>
          <a:xfrm>
            <a:off x="4573588" y="3055938"/>
            <a:ext cx="1616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大小</a:t>
            </a:r>
          </a:p>
        </p:txBody>
      </p:sp>
      <p:graphicFrame>
        <p:nvGraphicFramePr>
          <p:cNvPr id="931852" name="Object 12"/>
          <p:cNvGraphicFramePr>
            <a:graphicFrameLocks noChangeAspect="1"/>
          </p:cNvGraphicFramePr>
          <p:nvPr/>
        </p:nvGraphicFramePr>
        <p:xfrm>
          <a:off x="5465763" y="2957513"/>
          <a:ext cx="1590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r:id="rId9" imgW="1460500" imgH="838200" progId="Equation.DSMT4">
                  <p:embed/>
                </p:oleObj>
              </mc:Choice>
              <mc:Fallback>
                <p:oleObj r:id="rId9" imgW="1460500" imgH="838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65763" y="2957513"/>
                        <a:ext cx="1590675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53" name="Text Box 13"/>
          <p:cNvSpPr txBox="1"/>
          <p:nvPr/>
        </p:nvSpPr>
        <p:spPr>
          <a:xfrm>
            <a:off x="4541838" y="3738563"/>
            <a:ext cx="2008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</a:t>
            </a:r>
          </a:p>
        </p:txBody>
      </p:sp>
      <p:graphicFrame>
        <p:nvGraphicFramePr>
          <p:cNvPr id="931854" name="Object 14"/>
          <p:cNvGraphicFramePr>
            <a:graphicFrameLocks noChangeAspect="1"/>
          </p:cNvGraphicFramePr>
          <p:nvPr/>
        </p:nvGraphicFramePr>
        <p:xfrm>
          <a:off x="5553075" y="3789363"/>
          <a:ext cx="12874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r:id="rId11" imgW="1257300" imgH="469900" progId="Equation.DSMT4">
                  <p:embed/>
                </p:oleObj>
              </mc:Choice>
              <mc:Fallback>
                <p:oleObj r:id="rId11" imgW="1257300" imgH="4699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53075" y="3789363"/>
                        <a:ext cx="128746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55" name="Text Box 15"/>
          <p:cNvSpPr txBox="1"/>
          <p:nvPr/>
        </p:nvSpPr>
        <p:spPr>
          <a:xfrm>
            <a:off x="3436938" y="4435475"/>
            <a:ext cx="25034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单位：</a:t>
            </a:r>
          </a:p>
        </p:txBody>
      </p:sp>
      <p:sp>
        <p:nvSpPr>
          <p:cNvPr id="931856" name="Text Box 16"/>
          <p:cNvSpPr txBox="1"/>
          <p:nvPr/>
        </p:nvSpPr>
        <p:spPr>
          <a:xfrm>
            <a:off x="3830638" y="4892675"/>
            <a:ext cx="39100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SI</a:t>
            </a:r>
            <a:r>
              <a:rPr lang="zh-CN" altLang="en-US" sz="2800" b="1" dirty="0"/>
              <a:t>制   </a:t>
            </a:r>
            <a:r>
              <a:rPr lang="en-US" altLang="zh-CN" sz="2800" b="1" dirty="0"/>
              <a:t>T(</a:t>
            </a:r>
            <a:r>
              <a:rPr lang="zh-CN" altLang="zh-CN" sz="2800" b="1" dirty="0"/>
              <a:t>特斯拉</a:t>
            </a:r>
            <a:r>
              <a:rPr lang="en-US" altLang="zh-CN" sz="2800" b="1" dirty="0"/>
              <a:t>)</a:t>
            </a:r>
          </a:p>
        </p:txBody>
      </p:sp>
      <p:sp>
        <p:nvSpPr>
          <p:cNvPr id="931857" name="Text Box 17"/>
          <p:cNvSpPr txBox="1"/>
          <p:nvPr/>
        </p:nvSpPr>
        <p:spPr>
          <a:xfrm>
            <a:off x="3754438" y="5502275"/>
            <a:ext cx="41290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高斯制   </a:t>
            </a:r>
            <a:r>
              <a:rPr lang="en-US" altLang="zh-CN" sz="2800" b="1" dirty="0"/>
              <a:t>G(</a:t>
            </a:r>
            <a:r>
              <a:rPr lang="zh-CN" altLang="en-US" sz="2800" b="1" dirty="0"/>
              <a:t>高斯</a:t>
            </a:r>
            <a:r>
              <a:rPr lang="en-US" altLang="zh-CN" sz="2800" b="1" dirty="0"/>
              <a:t>)</a:t>
            </a:r>
          </a:p>
        </p:txBody>
      </p:sp>
      <p:sp>
        <p:nvSpPr>
          <p:cNvPr id="931858" name="Text Box 18"/>
          <p:cNvSpPr txBox="1"/>
          <p:nvPr/>
        </p:nvSpPr>
        <p:spPr>
          <a:xfrm>
            <a:off x="6880225" y="5156200"/>
            <a:ext cx="2120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1T = 10</a:t>
            </a:r>
            <a:r>
              <a:rPr lang="en-US" altLang="zh-CN" sz="2800" b="1" baseline="30000" dirty="0"/>
              <a:t>4</a:t>
            </a:r>
            <a:r>
              <a:rPr lang="en-US" altLang="zh-CN" sz="2800" b="1" dirty="0"/>
              <a:t>G</a:t>
            </a:r>
          </a:p>
        </p:txBody>
      </p:sp>
      <p:sp>
        <p:nvSpPr>
          <p:cNvPr id="931860" name="Line 20"/>
          <p:cNvSpPr/>
          <p:nvPr/>
        </p:nvSpPr>
        <p:spPr>
          <a:xfrm flipH="1">
            <a:off x="1212850" y="2654300"/>
            <a:ext cx="533400" cy="3810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31861" name="AutoShape 21"/>
          <p:cNvSpPr/>
          <p:nvPr/>
        </p:nvSpPr>
        <p:spPr>
          <a:xfrm>
            <a:off x="773113" y="4710113"/>
            <a:ext cx="2667000" cy="990600"/>
          </a:xfrm>
          <a:prstGeom prst="parallelogram">
            <a:avLst>
              <a:gd name="adj" fmla="val 145198"/>
            </a:avLst>
          </a:prstGeom>
          <a:solidFill>
            <a:srgbClr val="DDDDDD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31862" name="AutoShape 22"/>
          <p:cNvSpPr/>
          <p:nvPr/>
        </p:nvSpPr>
        <p:spPr>
          <a:xfrm rot="-5400000" flipH="1">
            <a:off x="468313" y="3948113"/>
            <a:ext cx="2057400" cy="1447800"/>
          </a:xfrm>
          <a:prstGeom prst="parallelogram">
            <a:avLst>
              <a:gd name="adj" fmla="val 69618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31863" name="Line 23"/>
          <p:cNvSpPr/>
          <p:nvPr/>
        </p:nvSpPr>
        <p:spPr>
          <a:xfrm flipV="1">
            <a:off x="1763713" y="4405313"/>
            <a:ext cx="1587" cy="609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31864" name="Object 24"/>
          <p:cNvGraphicFramePr>
            <a:graphicFrameLocks noChangeAspect="1"/>
          </p:cNvGraphicFramePr>
          <p:nvPr/>
        </p:nvGraphicFramePr>
        <p:xfrm>
          <a:off x="1166813" y="4456113"/>
          <a:ext cx="7572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r:id="rId13" imgW="761365" imgH="495300" progId="Equation.DSMT4">
                  <p:embed/>
                </p:oleObj>
              </mc:Choice>
              <mc:Fallback>
                <p:oleObj r:id="rId13" imgW="761365" imgH="4953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6813" y="4456113"/>
                        <a:ext cx="75723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65" name="Object 25"/>
          <p:cNvGraphicFramePr>
            <a:graphicFrameLocks noChangeAspect="1"/>
          </p:cNvGraphicFramePr>
          <p:nvPr/>
        </p:nvGraphicFramePr>
        <p:xfrm>
          <a:off x="1552575" y="5151438"/>
          <a:ext cx="2873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r:id="rId15" imgW="228600" imgH="330200" progId="Equation.DSMT4">
                  <p:embed/>
                </p:oleObj>
              </mc:Choice>
              <mc:Fallback>
                <p:oleObj r:id="rId15" imgW="228600" imgH="330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52575" y="5151438"/>
                        <a:ext cx="287338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66" name="Group 26"/>
          <p:cNvGrpSpPr/>
          <p:nvPr/>
        </p:nvGrpSpPr>
        <p:grpSpPr>
          <a:xfrm>
            <a:off x="1511300" y="4833938"/>
            <a:ext cx="1371600" cy="304800"/>
            <a:chOff x="384" y="3744"/>
            <a:chExt cx="1056" cy="336"/>
          </a:xfrm>
        </p:grpSpPr>
        <p:sp>
          <p:nvSpPr>
            <p:cNvPr id="7211" name="AutoShape 27"/>
            <p:cNvSpPr/>
            <p:nvPr/>
          </p:nvSpPr>
          <p:spPr>
            <a:xfrm>
              <a:off x="384" y="3744"/>
              <a:ext cx="1056" cy="336"/>
            </a:xfrm>
            <a:prstGeom prst="parallelogram">
              <a:avLst>
                <a:gd name="adj" fmla="val 138386"/>
              </a:avLst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7212" name="Line 28"/>
            <p:cNvSpPr/>
            <p:nvPr/>
          </p:nvSpPr>
          <p:spPr>
            <a:xfrm flipV="1">
              <a:off x="576" y="3936"/>
              <a:ext cx="528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931869" name="Object 29"/>
          <p:cNvGraphicFramePr>
            <a:graphicFrameLocks noChangeAspect="1"/>
          </p:cNvGraphicFramePr>
          <p:nvPr/>
        </p:nvGraphicFramePr>
        <p:xfrm>
          <a:off x="2447925" y="4760913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r:id="rId17" imgW="292100" imgH="393700" progId="Equation.DSMT4">
                  <p:embed/>
                </p:oleObj>
              </mc:Choice>
              <mc:Fallback>
                <p:oleObj r:id="rId17" imgW="292100" imgH="3937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47925" y="4760913"/>
                        <a:ext cx="292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70" name="Line 30"/>
          <p:cNvSpPr/>
          <p:nvPr/>
        </p:nvSpPr>
        <p:spPr>
          <a:xfrm flipH="1">
            <a:off x="1230313" y="5014913"/>
            <a:ext cx="533400" cy="3810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31871" name="Group 31"/>
          <p:cNvGrpSpPr/>
          <p:nvPr/>
        </p:nvGrpSpPr>
        <p:grpSpPr>
          <a:xfrm>
            <a:off x="5795963" y="322263"/>
            <a:ext cx="2903537" cy="838200"/>
            <a:chOff x="385" y="90"/>
            <a:chExt cx="1829" cy="528"/>
          </a:xfrm>
        </p:grpSpPr>
        <p:graphicFrame>
          <p:nvGraphicFramePr>
            <p:cNvPr id="7209" name="Object 32"/>
            <p:cNvGraphicFramePr>
              <a:graphicFrameLocks noChangeAspect="1"/>
            </p:cNvGraphicFramePr>
            <p:nvPr/>
          </p:nvGraphicFramePr>
          <p:xfrm>
            <a:off x="955" y="150"/>
            <a:ext cx="1259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" r:id="rId19" imgW="1612900" imgH="482600" progId="Equation.DSMT4">
                    <p:embed/>
                  </p:oleObj>
                </mc:Choice>
                <mc:Fallback>
                  <p:oleObj r:id="rId19" imgW="1612900" imgH="482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55" y="150"/>
                          <a:ext cx="1259" cy="329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0" name="Object 33"/>
            <p:cNvGraphicFramePr>
              <a:graphicFrameLocks noChangeAspect="1"/>
            </p:cNvGraphicFramePr>
            <p:nvPr/>
          </p:nvGraphicFramePr>
          <p:xfrm>
            <a:off x="385" y="90"/>
            <a:ext cx="52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1" r:id="rId21" imgW="4343400" imgH="4013200" progId="MS_ClipArt_Gallery.2">
                    <p:embed/>
                  </p:oleObj>
                </mc:Choice>
                <mc:Fallback>
                  <p:oleObj r:id="rId21" imgW="4343400" imgH="4013200" progId="MS_ClipArt_Gallery.2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FFFFFF"/>
                            </a:clrFrom>
                            <a:clrTo>
                              <a:srgbClr val="FFCC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" y="90"/>
                          <a:ext cx="52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874" name="AutoShape 34"/>
          <p:cNvSpPr/>
          <p:nvPr/>
        </p:nvSpPr>
        <p:spPr>
          <a:xfrm>
            <a:off x="6516688" y="5084763"/>
            <a:ext cx="287337" cy="792162"/>
          </a:xfrm>
          <a:prstGeom prst="rightBrace">
            <a:avLst>
              <a:gd name="adj1" fmla="val 22974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31875" name="Object 35"/>
          <p:cNvGraphicFramePr>
            <a:graphicFrameLocks noChangeAspect="1"/>
          </p:cNvGraphicFramePr>
          <p:nvPr/>
        </p:nvGraphicFramePr>
        <p:xfrm>
          <a:off x="920750" y="512763"/>
          <a:ext cx="1382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r:id="rId23" imgW="1397000" imgH="431800" progId="Equation.DSMT4">
                  <p:embed/>
                </p:oleObj>
              </mc:Choice>
              <mc:Fallback>
                <p:oleObj r:id="rId23" imgW="1397000" imgH="431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20750" y="512763"/>
                        <a:ext cx="13827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76" name="Group 36"/>
          <p:cNvGrpSpPr/>
          <p:nvPr/>
        </p:nvGrpSpPr>
        <p:grpSpPr>
          <a:xfrm>
            <a:off x="3478213" y="1254125"/>
            <a:ext cx="5341937" cy="519113"/>
            <a:chOff x="2078" y="790"/>
            <a:chExt cx="3365" cy="327"/>
          </a:xfrm>
        </p:grpSpPr>
        <p:sp>
          <p:nvSpPr>
            <p:cNvPr id="7207" name="Text Box 37"/>
            <p:cNvSpPr txBox="1"/>
            <p:nvPr/>
          </p:nvSpPr>
          <p:spPr>
            <a:xfrm>
              <a:off x="2078" y="790"/>
              <a:ext cx="33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1º                    </a:t>
              </a:r>
              <a:r>
                <a:rPr lang="zh-CN" altLang="zh-CN" sz="2800" b="1" dirty="0"/>
                <a:t>决定的平面</a:t>
              </a:r>
              <a:endParaRPr lang="zh-CN" altLang="en-US" sz="2800" b="1" dirty="0"/>
            </a:p>
          </p:txBody>
        </p:sp>
        <p:graphicFrame>
          <p:nvGraphicFramePr>
            <p:cNvPr id="7208" name="Object 38"/>
            <p:cNvGraphicFramePr>
              <a:graphicFrameLocks noChangeAspect="1"/>
            </p:cNvGraphicFramePr>
            <p:nvPr/>
          </p:nvGraphicFramePr>
          <p:xfrm>
            <a:off x="2404" y="814"/>
            <a:ext cx="99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" r:id="rId25" imgW="1803400" imgH="444500" progId="Equation.DSMT4">
                    <p:embed/>
                  </p:oleObj>
                </mc:Choice>
                <mc:Fallback>
                  <p:oleObj r:id="rId25" imgW="1803400" imgH="4445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404" y="814"/>
                          <a:ext cx="998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1879" name="Group 39"/>
          <p:cNvGrpSpPr/>
          <p:nvPr/>
        </p:nvGrpSpPr>
        <p:grpSpPr>
          <a:xfrm>
            <a:off x="3478213" y="1801813"/>
            <a:ext cx="4410075" cy="519112"/>
            <a:chOff x="2078" y="1135"/>
            <a:chExt cx="2778" cy="327"/>
          </a:xfrm>
        </p:grpSpPr>
        <p:sp>
          <p:nvSpPr>
            <p:cNvPr id="7205" name="Text Box 40"/>
            <p:cNvSpPr txBox="1"/>
            <p:nvPr/>
          </p:nvSpPr>
          <p:spPr>
            <a:xfrm>
              <a:off x="2078" y="1135"/>
              <a:ext cx="27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2º           </a:t>
              </a:r>
              <a:r>
                <a:rPr lang="zh-CN" altLang="en-US" sz="2800" b="1" dirty="0">
                  <a:sym typeface="Symbol" panose="05050102010706020507" pitchFamily="18" charset="2"/>
                </a:rPr>
                <a:t>时，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800" b="1" dirty="0">
                  <a:sym typeface="Symbol" panose="05050102010706020507" pitchFamily="18" charset="2"/>
                </a:rPr>
                <a:t>=</a:t>
              </a:r>
              <a:r>
                <a:rPr lang="en-US" altLang="zh-CN" sz="2800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800" b="1" baseline="-25000" dirty="0">
                  <a:sym typeface="Symbol" panose="05050102010706020507" pitchFamily="18" charset="2"/>
                </a:rPr>
                <a:t>Max</a:t>
              </a:r>
            </a:p>
          </p:txBody>
        </p:sp>
        <p:graphicFrame>
          <p:nvGraphicFramePr>
            <p:cNvPr id="7206" name="Object 41"/>
            <p:cNvGraphicFramePr>
              <a:graphicFrameLocks noChangeAspect="1"/>
            </p:cNvGraphicFramePr>
            <p:nvPr/>
          </p:nvGraphicFramePr>
          <p:xfrm>
            <a:off x="2404" y="1139"/>
            <a:ext cx="48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r:id="rId27" imgW="901065" imgH="406400" progId="Equation.DSMT4">
                    <p:embed/>
                  </p:oleObj>
                </mc:Choice>
                <mc:Fallback>
                  <p:oleObj r:id="rId27" imgW="901065" imgH="4064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404" y="1139"/>
                          <a:ext cx="481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1882" name="Group 42"/>
          <p:cNvGrpSpPr/>
          <p:nvPr/>
        </p:nvGrpSpPr>
        <p:grpSpPr>
          <a:xfrm>
            <a:off x="3492500" y="2384425"/>
            <a:ext cx="4694238" cy="519113"/>
            <a:chOff x="2191" y="1470"/>
            <a:chExt cx="2957" cy="327"/>
          </a:xfrm>
        </p:grpSpPr>
        <p:sp>
          <p:nvSpPr>
            <p:cNvPr id="7203" name="Text Box 43"/>
            <p:cNvSpPr txBox="1"/>
            <p:nvPr/>
          </p:nvSpPr>
          <p:spPr>
            <a:xfrm>
              <a:off x="2191" y="1470"/>
              <a:ext cx="29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3º           </a:t>
              </a:r>
              <a:r>
                <a:rPr lang="zh-CN" altLang="zh-CN" sz="2800" b="1" dirty="0"/>
                <a:t>及</a:t>
              </a:r>
              <a:r>
                <a:rPr lang="en-US" altLang="zh-CN" sz="2800" b="1" i="1" dirty="0"/>
                <a:t>v </a:t>
              </a:r>
              <a:r>
                <a:rPr lang="en-US" altLang="zh-CN" sz="2800" b="1" dirty="0"/>
                <a:t>=0 </a:t>
              </a:r>
              <a:r>
                <a:rPr lang="zh-CN" altLang="zh-CN" sz="2800" b="1" dirty="0"/>
                <a:t>时</a:t>
              </a:r>
              <a:r>
                <a:rPr lang="en-US" altLang="zh-CN" sz="2800" b="1" dirty="0"/>
                <a:t>,  </a:t>
              </a:r>
              <a:r>
                <a:rPr lang="en-US" altLang="zh-CN" sz="2800" b="1" i="1" dirty="0"/>
                <a:t>F</a:t>
              </a:r>
              <a:r>
                <a:rPr lang="en-US" altLang="zh-CN" sz="2800" b="1" dirty="0"/>
                <a:t>=0</a:t>
              </a:r>
            </a:p>
          </p:txBody>
        </p:sp>
        <p:graphicFrame>
          <p:nvGraphicFramePr>
            <p:cNvPr id="7204" name="Object 44"/>
            <p:cNvGraphicFramePr>
              <a:graphicFrameLocks noChangeAspect="1"/>
            </p:cNvGraphicFramePr>
            <p:nvPr/>
          </p:nvGraphicFramePr>
          <p:xfrm>
            <a:off x="2540" y="1480"/>
            <a:ext cx="49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5" r:id="rId29" imgW="786765" imgH="406400" progId="Equation.DSMT4">
                    <p:embed/>
                  </p:oleObj>
                </mc:Choice>
                <mc:Fallback>
                  <p:oleObj r:id="rId29" imgW="786765" imgH="406400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540" y="1480"/>
                          <a:ext cx="491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1885" name="Object 45"/>
          <p:cNvGraphicFramePr>
            <a:graphicFrameLocks noChangeAspect="1"/>
          </p:cNvGraphicFramePr>
          <p:nvPr/>
        </p:nvGraphicFramePr>
        <p:xfrm>
          <a:off x="4032250" y="3465513"/>
          <a:ext cx="288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r:id="rId31" imgW="355600" imgH="482600" progId="Equation.DSMT4">
                  <p:embed/>
                </p:oleObj>
              </mc:Choice>
              <mc:Fallback>
                <p:oleObj r:id="rId31" imgW="355600" imgH="482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32250" y="3465513"/>
                        <a:ext cx="2889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93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3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93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3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3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3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3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93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3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3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93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3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93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93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4" dur="500"/>
                                        <p:tgtEl>
                                          <p:spTgt spid="9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93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4" dur="500"/>
                                        <p:tgtEl>
                                          <p:spTgt spid="9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75"/>
                                        <p:tgtEl>
                                          <p:spTgt spid="9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75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8" dur="500"/>
                                        <p:tgtEl>
                                          <p:spTgt spid="93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2" dur="500"/>
                                        <p:tgtEl>
                                          <p:spTgt spid="93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42" grpId="0"/>
      <p:bldP spid="931843" grpId="0" animBg="1"/>
      <p:bldP spid="931844" grpId="0" animBg="1"/>
      <p:bldP spid="931850" grpId="0" animBg="1"/>
      <p:bldP spid="931851" grpId="0"/>
      <p:bldP spid="931853" grpId="0"/>
      <p:bldP spid="931855" grpId="0"/>
      <p:bldP spid="931856" grpId="0"/>
      <p:bldP spid="931857" grpId="0"/>
      <p:bldP spid="931858" grpId="0"/>
      <p:bldP spid="931861" grpId="0" animBg="1"/>
      <p:bldP spid="931862" grpId="0" animBg="1"/>
      <p:bldP spid="9318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0274" name="Object 2"/>
          <p:cNvGraphicFramePr>
            <a:graphicFrameLocks noChangeAspect="1"/>
          </p:cNvGraphicFramePr>
          <p:nvPr/>
        </p:nvGraphicFramePr>
        <p:xfrm>
          <a:off x="3527425" y="3057525"/>
          <a:ext cx="54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3" imgW="685800" imgH="508000" progId="Equation.DSMT4">
                  <p:embed/>
                </p:oleObj>
              </mc:Choice>
              <mc:Fallback>
                <p:oleObj r:id="rId3" imgW="685800" imgH="5080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27425" y="3057525"/>
                        <a:ext cx="54451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0275" name="Object 3"/>
          <p:cNvGraphicFramePr>
            <a:graphicFrameLocks noChangeAspect="1"/>
          </p:cNvGraphicFramePr>
          <p:nvPr/>
        </p:nvGraphicFramePr>
        <p:xfrm>
          <a:off x="2484438" y="4997450"/>
          <a:ext cx="28527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5" imgW="3149600" imgH="482600" progId="Equation.DSMT4">
                  <p:embed/>
                </p:oleObj>
              </mc:Choice>
              <mc:Fallback>
                <p:oleObj r:id="rId5" imgW="3149600" imgH="4826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4997450"/>
                        <a:ext cx="2852737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276" name="AutoShape 4"/>
          <p:cNvSpPr/>
          <p:nvPr/>
        </p:nvSpPr>
        <p:spPr>
          <a:xfrm>
            <a:off x="3706813" y="5526088"/>
            <a:ext cx="1728787" cy="1079500"/>
          </a:xfrm>
          <a:prstGeom prst="wedgeEllipseCallout">
            <a:avLst>
              <a:gd name="adj1" fmla="val -99588"/>
              <a:gd name="adj2" fmla="val -57648"/>
            </a:avLst>
          </a:prstGeom>
          <a:solidFill>
            <a:srgbClr val="FFFF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>
              <a:solidFill>
                <a:schemeClr val="bg1"/>
              </a:solidFill>
            </a:endParaRPr>
          </a:p>
        </p:txBody>
      </p:sp>
      <p:grpSp>
        <p:nvGrpSpPr>
          <p:cNvPr id="950277" name="Group 5"/>
          <p:cNvGrpSpPr/>
          <p:nvPr/>
        </p:nvGrpSpPr>
        <p:grpSpPr>
          <a:xfrm>
            <a:off x="7866063" y="4645025"/>
            <a:ext cx="228600" cy="228600"/>
            <a:chOff x="1440" y="1488"/>
            <a:chExt cx="144" cy="144"/>
          </a:xfrm>
        </p:grpSpPr>
        <p:sp>
          <p:nvSpPr>
            <p:cNvPr id="8225" name="Oval 6"/>
            <p:cNvSpPr/>
            <p:nvPr/>
          </p:nvSpPr>
          <p:spPr>
            <a:xfrm>
              <a:off x="1440" y="1488"/>
              <a:ext cx="144" cy="14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8226" name="Object 7"/>
            <p:cNvGraphicFramePr>
              <a:graphicFrameLocks noChangeAspect="1"/>
            </p:cNvGraphicFramePr>
            <p:nvPr/>
          </p:nvGraphicFramePr>
          <p:xfrm>
            <a:off x="1440" y="148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" r:id="rId7" imgW="215900" imgH="215900" progId="Equation.3">
                    <p:embed/>
                  </p:oleObj>
                </mc:Choice>
                <mc:Fallback>
                  <p:oleObj r:id="rId7" imgW="215900" imgH="2159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0" y="148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0280" name="Text Box 8"/>
          <p:cNvSpPr txBox="1"/>
          <p:nvPr/>
        </p:nvSpPr>
        <p:spPr>
          <a:xfrm>
            <a:off x="1330325" y="4960938"/>
            <a:ext cx="18351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其中</a:t>
            </a:r>
          </a:p>
        </p:txBody>
      </p:sp>
      <p:sp>
        <p:nvSpPr>
          <p:cNvPr id="950281" name="Text Box 9"/>
          <p:cNvSpPr txBox="1"/>
          <p:nvPr/>
        </p:nvSpPr>
        <p:spPr>
          <a:xfrm>
            <a:off x="7627938" y="3959225"/>
            <a:ext cx="7572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rgbClr val="FF0066"/>
                </a:solidFill>
              </a:rPr>
              <a:t>.</a:t>
            </a:r>
            <a:r>
              <a:rPr lang="en-US" altLang="zh-CN" sz="2800" b="1" i="1" dirty="0"/>
              <a:t>P</a:t>
            </a:r>
            <a:endParaRPr lang="en-US" altLang="zh-CN" b="1" i="1" dirty="0"/>
          </a:p>
        </p:txBody>
      </p:sp>
      <p:grpSp>
        <p:nvGrpSpPr>
          <p:cNvPr id="950282" name="Group 10"/>
          <p:cNvGrpSpPr/>
          <p:nvPr/>
        </p:nvGrpSpPr>
        <p:grpSpPr>
          <a:xfrm>
            <a:off x="6265863" y="4708525"/>
            <a:ext cx="688975" cy="406400"/>
            <a:chOff x="480" y="1384"/>
            <a:chExt cx="434" cy="256"/>
          </a:xfrm>
        </p:grpSpPr>
        <p:sp>
          <p:nvSpPr>
            <p:cNvPr id="8222" name="Rectangle 11"/>
            <p:cNvSpPr/>
            <p:nvPr/>
          </p:nvSpPr>
          <p:spPr>
            <a:xfrm rot="367368">
              <a:off x="866" y="1392"/>
              <a:ext cx="48" cy="240"/>
            </a:xfrm>
            <a:prstGeom prst="rect">
              <a:avLst/>
            </a:prstGeom>
            <a:solidFill>
              <a:srgbClr val="0066FF"/>
            </a:solidFill>
            <a:ln w="9525" cap="flat" cmpd="sng">
              <a:solidFill>
                <a:srgbClr val="00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8223" name="Object 12"/>
            <p:cNvGraphicFramePr>
              <a:graphicFrameLocks noChangeAspect="1"/>
            </p:cNvGraphicFramePr>
            <p:nvPr/>
          </p:nvGraphicFramePr>
          <p:xfrm>
            <a:off x="480" y="1384"/>
            <a:ext cx="34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r:id="rId9" imgW="685800" imgH="508000" progId="Equation.DSMT4">
                    <p:embed/>
                  </p:oleObj>
                </mc:Choice>
                <mc:Fallback>
                  <p:oleObj r:id="rId9" imgW="685800" imgH="508000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0" y="1384"/>
                          <a:ext cx="343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4" name="Line 13"/>
            <p:cNvSpPr/>
            <p:nvPr/>
          </p:nvSpPr>
          <p:spPr>
            <a:xfrm rot="333094" flipV="1">
              <a:off x="912" y="1392"/>
              <a:ext cx="1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50286" name="Line 14"/>
          <p:cNvSpPr/>
          <p:nvPr/>
        </p:nvSpPr>
        <p:spPr>
          <a:xfrm flipV="1">
            <a:off x="6951663" y="4492625"/>
            <a:ext cx="914400" cy="6096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50287" name="Object 15"/>
          <p:cNvGraphicFramePr>
            <a:graphicFrameLocks noChangeAspect="1"/>
          </p:cNvGraphicFramePr>
          <p:nvPr/>
        </p:nvGraphicFramePr>
        <p:xfrm>
          <a:off x="7437438" y="4708525"/>
          <a:ext cx="2698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r:id="rId11" imgW="228600" imgH="317500" progId="Equation.DSMT4">
                  <p:embed/>
                </p:oleObj>
              </mc:Choice>
              <mc:Fallback>
                <p:oleObj r:id="rId11" imgW="228600" imgH="3175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37438" y="4708525"/>
                        <a:ext cx="269875" cy="376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0288" name="Group 16"/>
          <p:cNvGrpSpPr/>
          <p:nvPr/>
        </p:nvGrpSpPr>
        <p:grpSpPr>
          <a:xfrm>
            <a:off x="6951663" y="4645025"/>
            <a:ext cx="457200" cy="304800"/>
            <a:chOff x="912" y="1632"/>
            <a:chExt cx="288" cy="192"/>
          </a:xfrm>
        </p:grpSpPr>
        <p:graphicFrame>
          <p:nvGraphicFramePr>
            <p:cNvPr id="8220" name="Object 17"/>
            <p:cNvGraphicFramePr>
              <a:graphicFrameLocks noChangeAspect="1"/>
            </p:cNvGraphicFramePr>
            <p:nvPr/>
          </p:nvGraphicFramePr>
          <p:xfrm>
            <a:off x="1008" y="1632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r:id="rId13" imgW="279400" imgH="241300" progId="Equation.3">
                    <p:embed/>
                  </p:oleObj>
                </mc:Choice>
                <mc:Fallback>
                  <p:oleObj r:id="rId13" imgW="279400" imgH="2413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08" y="1632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1" name="Freeform 18"/>
            <p:cNvSpPr/>
            <p:nvPr/>
          </p:nvSpPr>
          <p:spPr>
            <a:xfrm>
              <a:off x="912" y="1728"/>
              <a:ext cx="144" cy="96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243" y="70"/>
                </a:cxn>
                <a:cxn ang="0">
                  <a:pos x="486" y="485"/>
                </a:cxn>
              </a:cxnLst>
              <a:rect l="0" t="0" r="0" b="0"/>
              <a:pathLst>
                <a:path w="96" h="56">
                  <a:moveTo>
                    <a:pt x="0" y="8"/>
                  </a:moveTo>
                  <a:cubicBezTo>
                    <a:pt x="16" y="4"/>
                    <a:pt x="32" y="0"/>
                    <a:pt x="48" y="8"/>
                  </a:cubicBezTo>
                  <a:cubicBezTo>
                    <a:pt x="64" y="16"/>
                    <a:pt x="88" y="48"/>
                    <a:pt x="96" y="56"/>
                  </a:cubicBezTo>
                </a:path>
              </a:pathLst>
            </a:custGeom>
            <a:noFill/>
            <a:ln w="28575" cap="flat" cmpd="sng">
              <a:solidFill>
                <a:srgbClr val="FF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0291" name="Group 19"/>
          <p:cNvGrpSpPr/>
          <p:nvPr/>
        </p:nvGrpSpPr>
        <p:grpSpPr>
          <a:xfrm>
            <a:off x="5580063" y="3729038"/>
            <a:ext cx="2667000" cy="2363787"/>
            <a:chOff x="48" y="719"/>
            <a:chExt cx="1680" cy="1489"/>
          </a:xfrm>
        </p:grpSpPr>
        <p:grpSp>
          <p:nvGrpSpPr>
            <p:cNvPr id="8212" name="Group 20"/>
            <p:cNvGrpSpPr/>
            <p:nvPr/>
          </p:nvGrpSpPr>
          <p:grpSpPr>
            <a:xfrm>
              <a:off x="48" y="719"/>
              <a:ext cx="1680" cy="1489"/>
              <a:chOff x="96" y="672"/>
              <a:chExt cx="1872" cy="1489"/>
            </a:xfrm>
          </p:grpSpPr>
          <p:grpSp>
            <p:nvGrpSpPr>
              <p:cNvPr id="8215" name="Group 21"/>
              <p:cNvGrpSpPr/>
              <p:nvPr/>
            </p:nvGrpSpPr>
            <p:grpSpPr>
              <a:xfrm>
                <a:off x="288" y="672"/>
                <a:ext cx="1536" cy="1488"/>
                <a:chOff x="480" y="528"/>
                <a:chExt cx="2064" cy="1872"/>
              </a:xfrm>
            </p:grpSpPr>
            <p:cxnSp>
              <p:nvCxnSpPr>
                <p:cNvPr id="8218" name="AutoShape 22"/>
                <p:cNvCxnSpPr/>
                <p:nvPr/>
              </p:nvCxnSpPr>
              <p:spPr>
                <a:xfrm flipV="1">
                  <a:off x="480" y="528"/>
                  <a:ext cx="2016" cy="1824"/>
                </a:xfrm>
                <a:prstGeom prst="curvedConnector3">
                  <a:avLst>
                    <a:gd name="adj1" fmla="val 50000"/>
                  </a:avLst>
                </a:prstGeom>
                <a:ln w="28575" cap="flat" cmpd="sng">
                  <a:solidFill>
                    <a:srgbClr val="666633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8219" name="AutoShape 23"/>
                <p:cNvCxnSpPr/>
                <p:nvPr/>
              </p:nvCxnSpPr>
              <p:spPr>
                <a:xfrm flipV="1">
                  <a:off x="528" y="576"/>
                  <a:ext cx="2016" cy="1824"/>
                </a:xfrm>
                <a:prstGeom prst="curvedConnector3">
                  <a:avLst>
                    <a:gd name="adj1" fmla="val 50000"/>
                  </a:avLst>
                </a:prstGeom>
                <a:ln w="28575" cap="flat" cmpd="sng">
                  <a:solidFill>
                    <a:srgbClr val="666633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216" name="Freeform 24"/>
              <p:cNvSpPr/>
              <p:nvPr/>
            </p:nvSpPr>
            <p:spPr>
              <a:xfrm>
                <a:off x="96" y="2160"/>
                <a:ext cx="240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" y="0"/>
                  </a:cxn>
                  <a:cxn ang="0">
                    <a:pos x="192" y="0"/>
                  </a:cxn>
                  <a:cxn ang="0">
                    <a:pos x="240" y="0"/>
                  </a:cxn>
                </a:cxnLst>
                <a:rect l="0" t="0" r="0" b="0"/>
                <a:pathLst>
                  <a:path w="240" h="1">
                    <a:moveTo>
                      <a:pt x="0" y="0"/>
                    </a:moveTo>
                    <a:cubicBezTo>
                      <a:pt x="8" y="0"/>
                      <a:pt x="16" y="0"/>
                      <a:pt x="48" y="0"/>
                    </a:cubicBezTo>
                    <a:cubicBezTo>
                      <a:pt x="80" y="0"/>
                      <a:pt x="160" y="0"/>
                      <a:pt x="192" y="0"/>
                    </a:cubicBezTo>
                    <a:cubicBezTo>
                      <a:pt x="224" y="0"/>
                      <a:pt x="232" y="0"/>
                      <a:pt x="240" y="0"/>
                    </a:cubicBezTo>
                  </a:path>
                </a:pathLst>
              </a:custGeom>
              <a:noFill/>
              <a:ln w="38100" cap="flat" cmpd="sng">
                <a:solidFill>
                  <a:srgbClr val="666633">
                    <a:alpha val="100000"/>
                  </a:srgbClr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Freeform 25"/>
              <p:cNvSpPr/>
              <p:nvPr/>
            </p:nvSpPr>
            <p:spPr>
              <a:xfrm>
                <a:off x="1728" y="672"/>
                <a:ext cx="240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" y="0"/>
                  </a:cxn>
                  <a:cxn ang="0">
                    <a:pos x="192" y="0"/>
                  </a:cxn>
                  <a:cxn ang="0">
                    <a:pos x="240" y="0"/>
                  </a:cxn>
                </a:cxnLst>
                <a:rect l="0" t="0" r="0" b="0"/>
                <a:pathLst>
                  <a:path w="240" h="1">
                    <a:moveTo>
                      <a:pt x="0" y="0"/>
                    </a:moveTo>
                    <a:cubicBezTo>
                      <a:pt x="8" y="0"/>
                      <a:pt x="16" y="0"/>
                      <a:pt x="48" y="0"/>
                    </a:cubicBezTo>
                    <a:cubicBezTo>
                      <a:pt x="80" y="0"/>
                      <a:pt x="160" y="0"/>
                      <a:pt x="192" y="0"/>
                    </a:cubicBezTo>
                    <a:cubicBezTo>
                      <a:pt x="224" y="0"/>
                      <a:pt x="232" y="0"/>
                      <a:pt x="240" y="0"/>
                    </a:cubicBezTo>
                  </a:path>
                </a:pathLst>
              </a:custGeom>
              <a:noFill/>
              <a:ln w="38100" cap="flat" cmpd="sng">
                <a:solidFill>
                  <a:srgbClr val="666633">
                    <a:alpha val="100000"/>
                  </a:srgbClr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13" name="Line 26"/>
            <p:cNvSpPr/>
            <p:nvPr/>
          </p:nvSpPr>
          <p:spPr>
            <a:xfrm flipV="1">
              <a:off x="384" y="2064"/>
              <a:ext cx="192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8214" name="Object 27"/>
            <p:cNvGraphicFramePr>
              <a:graphicFrameLocks noChangeAspect="1"/>
            </p:cNvGraphicFramePr>
            <p:nvPr/>
          </p:nvGraphicFramePr>
          <p:xfrm>
            <a:off x="320" y="1920"/>
            <a:ext cx="143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r:id="rId15" imgW="266700" imgH="355600" progId="Equation.DSMT4">
                    <p:embed/>
                  </p:oleObj>
                </mc:Choice>
                <mc:Fallback>
                  <p:oleObj r:id="rId15" imgW="266700" imgH="3556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0" y="1920"/>
                          <a:ext cx="143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0300" name="Text Box 28"/>
          <p:cNvSpPr txBox="1"/>
          <p:nvPr/>
        </p:nvSpPr>
        <p:spPr>
          <a:xfrm>
            <a:off x="576263" y="944563"/>
            <a:ext cx="52832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一、毕奥</a:t>
            </a:r>
            <a:r>
              <a:rPr lang="en-US" altLang="zh-CN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950301" name="Text Box 29"/>
          <p:cNvSpPr txBox="1"/>
          <p:nvPr/>
        </p:nvSpPr>
        <p:spPr>
          <a:xfrm>
            <a:off x="898525" y="1516063"/>
            <a:ext cx="7742238" cy="1373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毕奥－萨伐尔根据电流磁作用的实验结果分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析得出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电流元产生磁场的规律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                           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毕奥－萨伐尔定律</a:t>
            </a:r>
          </a:p>
        </p:txBody>
      </p:sp>
      <p:sp>
        <p:nvSpPr>
          <p:cNvPr id="950302" name="Text Box 30"/>
          <p:cNvSpPr txBox="1"/>
          <p:nvPr/>
        </p:nvSpPr>
        <p:spPr>
          <a:xfrm>
            <a:off x="788988" y="3032125"/>
            <a:ext cx="8247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即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真空中电流元      在空间任意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点产生的磁场</a:t>
            </a:r>
            <a:endParaRPr lang="zh-CN" altLang="en-US" sz="2800" dirty="0"/>
          </a:p>
        </p:txBody>
      </p:sp>
      <p:sp>
        <p:nvSpPr>
          <p:cNvPr id="950303" name="Rectangle 31"/>
          <p:cNvSpPr/>
          <p:nvPr/>
        </p:nvSpPr>
        <p:spPr>
          <a:xfrm>
            <a:off x="2347913" y="3716338"/>
            <a:ext cx="2800350" cy="10080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50304" name="Object 32"/>
          <p:cNvGraphicFramePr>
            <a:graphicFrameLocks noChangeAspect="1"/>
          </p:cNvGraphicFramePr>
          <p:nvPr/>
        </p:nvGraphicFramePr>
        <p:xfrm>
          <a:off x="2527300" y="3752850"/>
          <a:ext cx="2520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r:id="rId17" imgW="3263900" imgH="1079500" progId="Equation.DSMT4">
                  <p:embed/>
                </p:oleObj>
              </mc:Choice>
              <mc:Fallback>
                <p:oleObj r:id="rId17" imgW="3263900" imgH="10795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27300" y="3752850"/>
                        <a:ext cx="252095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306" name="Text Box 34"/>
          <p:cNvSpPr txBox="1"/>
          <p:nvPr/>
        </p:nvSpPr>
        <p:spPr>
          <a:xfrm>
            <a:off x="3240088" y="5516563"/>
            <a:ext cx="26844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真空中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的磁导率</a:t>
            </a:r>
          </a:p>
        </p:txBody>
      </p:sp>
      <p:sp>
        <p:nvSpPr>
          <p:cNvPr id="950307" name="Text Box 35"/>
          <p:cNvSpPr txBox="1"/>
          <p:nvPr/>
        </p:nvSpPr>
        <p:spPr>
          <a:xfrm>
            <a:off x="0" y="404813"/>
            <a:ext cx="88566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节  毕奥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萨伐尔定律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0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0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50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50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75"/>
                                        <p:tgtEl>
                                          <p:spTgt spid="95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950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950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950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950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95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5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50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0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0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50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5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5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50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50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"/>
                            </p:stCondLst>
                            <p:childTnLst>
                              <p:par>
                                <p:cTn id="7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95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0" dur="80"/>
                                        <p:tgtEl>
                                          <p:spTgt spid="950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1" dur="80"/>
                                        <p:tgtEl>
                                          <p:spTgt spid="950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80"/>
                                        <p:tgtEl>
                                          <p:spTgt spid="950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5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6" grpId="0" animBg="1"/>
      <p:bldP spid="950280" grpId="0"/>
      <p:bldP spid="950281" grpId="0"/>
      <p:bldP spid="950300" grpId="0"/>
      <p:bldP spid="950301" grpId="0"/>
      <p:bldP spid="950302" grpId="0"/>
      <p:bldP spid="950303" grpId="0" animBg="1"/>
      <p:bldP spid="950306" grpId="0"/>
      <p:bldP spid="9503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Text Box 2"/>
          <p:cNvSpPr txBox="1"/>
          <p:nvPr/>
        </p:nvSpPr>
        <p:spPr>
          <a:xfrm>
            <a:off x="6408738" y="836613"/>
            <a:ext cx="273526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毕 </a:t>
            </a:r>
            <a:r>
              <a:rPr lang="en-US" altLang="zh-CN" sz="2800" b="1" dirty="0">
                <a:solidFill>
                  <a:srgbClr val="FF0000"/>
                </a:solidFill>
              </a:rPr>
              <a:t>— </a:t>
            </a:r>
            <a:r>
              <a:rPr lang="zh-CN" altLang="en-US" sz="2800" b="1" dirty="0">
                <a:solidFill>
                  <a:srgbClr val="FF0000"/>
                </a:solidFill>
              </a:rPr>
              <a:t>萨定律</a:t>
            </a:r>
          </a:p>
        </p:txBody>
      </p:sp>
      <p:sp>
        <p:nvSpPr>
          <p:cNvPr id="951299" name="Rectangle 3"/>
          <p:cNvSpPr/>
          <p:nvPr/>
        </p:nvSpPr>
        <p:spPr>
          <a:xfrm>
            <a:off x="3744913" y="2708275"/>
            <a:ext cx="2987675" cy="108108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51300" name="Text Box 4"/>
          <p:cNvSpPr txBox="1"/>
          <p:nvPr/>
        </p:nvSpPr>
        <p:spPr>
          <a:xfrm>
            <a:off x="776288" y="1541463"/>
            <a:ext cx="7791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长为</a:t>
            </a:r>
            <a:r>
              <a:rPr lang="en-US" altLang="zh-CN" sz="2800" b="1" i="1" dirty="0"/>
              <a:t>L</a:t>
            </a:r>
            <a:r>
              <a:rPr lang="zh-CN" altLang="en-US" sz="2800" b="1" dirty="0"/>
              <a:t>的载流导线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在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点的总磁感应强度</a:t>
            </a:r>
            <a:endParaRPr lang="zh-CN" altLang="en-US" sz="2800" dirty="0"/>
          </a:p>
        </p:txBody>
      </p:sp>
      <p:graphicFrame>
        <p:nvGraphicFramePr>
          <p:cNvPr id="951301" name="Object 5"/>
          <p:cNvGraphicFramePr>
            <a:graphicFrameLocks noChangeAspect="1"/>
          </p:cNvGraphicFramePr>
          <p:nvPr/>
        </p:nvGraphicFramePr>
        <p:xfrm>
          <a:off x="3976688" y="2781300"/>
          <a:ext cx="2303462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3" imgW="3276600" imgH="1168400" progId="Equation.DSMT4">
                  <p:embed/>
                </p:oleObj>
              </mc:Choice>
              <mc:Fallback>
                <p:oleObj r:id="rId3" imgW="3276600" imgH="11684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76688" y="2781300"/>
                        <a:ext cx="2303462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1302" name="Group 6"/>
          <p:cNvGrpSpPr/>
          <p:nvPr/>
        </p:nvGrpSpPr>
        <p:grpSpPr>
          <a:xfrm>
            <a:off x="3935413" y="3860800"/>
            <a:ext cx="2616200" cy="1908175"/>
            <a:chOff x="2479" y="2432"/>
            <a:chExt cx="1648" cy="1202"/>
          </a:xfrm>
        </p:grpSpPr>
        <p:sp>
          <p:nvSpPr>
            <p:cNvPr id="9254" name="AutoShape 7"/>
            <p:cNvSpPr/>
            <p:nvPr/>
          </p:nvSpPr>
          <p:spPr>
            <a:xfrm>
              <a:off x="2757" y="2613"/>
              <a:ext cx="214" cy="840"/>
            </a:xfrm>
            <a:prstGeom prst="leftBrace">
              <a:avLst>
                <a:gd name="adj1" fmla="val 32710"/>
                <a:gd name="adj2" fmla="val 50000"/>
              </a:avLst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9255" name="Object 8"/>
            <p:cNvGraphicFramePr>
              <a:graphicFrameLocks noChangeAspect="1"/>
            </p:cNvGraphicFramePr>
            <p:nvPr/>
          </p:nvGraphicFramePr>
          <p:xfrm>
            <a:off x="2479" y="2432"/>
            <a:ext cx="1648" cy="1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r:id="rId5" imgW="2540000" imgH="1892300" progId="Equation.DSMT4">
                    <p:embed/>
                  </p:oleObj>
                </mc:Choice>
                <mc:Fallback>
                  <p:oleObj r:id="rId5" imgW="2540000" imgH="18923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79" y="2432"/>
                          <a:ext cx="1648" cy="1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1305" name="AutoShape 9"/>
          <p:cNvSpPr/>
          <p:nvPr/>
        </p:nvSpPr>
        <p:spPr>
          <a:xfrm>
            <a:off x="5832475" y="549275"/>
            <a:ext cx="520700" cy="2171700"/>
          </a:xfrm>
          <a:prstGeom prst="rightBrace">
            <a:avLst>
              <a:gd name="adj1" fmla="val 34756"/>
              <a:gd name="adj2" fmla="val 26981"/>
            </a:avLst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951306" name="Group 10"/>
          <p:cNvGrpSpPr/>
          <p:nvPr/>
        </p:nvGrpSpPr>
        <p:grpSpPr>
          <a:xfrm>
            <a:off x="614363" y="2325688"/>
            <a:ext cx="2805112" cy="2363787"/>
            <a:chOff x="342" y="1638"/>
            <a:chExt cx="1767" cy="1489"/>
          </a:xfrm>
        </p:grpSpPr>
        <p:grpSp>
          <p:nvGrpSpPr>
            <p:cNvPr id="9232" name="Group 11"/>
            <p:cNvGrpSpPr/>
            <p:nvPr/>
          </p:nvGrpSpPr>
          <p:grpSpPr>
            <a:xfrm>
              <a:off x="1782" y="2215"/>
              <a:ext cx="144" cy="144"/>
              <a:chOff x="1440" y="1488"/>
              <a:chExt cx="144" cy="144"/>
            </a:xfrm>
          </p:grpSpPr>
          <p:sp>
            <p:nvSpPr>
              <p:cNvPr id="9252" name="Oval 12"/>
              <p:cNvSpPr/>
              <p:nvPr/>
            </p:nvSpPr>
            <p:spPr>
              <a:xfrm>
                <a:off x="1440" y="1488"/>
                <a:ext cx="144" cy="144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graphicFrame>
            <p:nvGraphicFramePr>
              <p:cNvPr id="9253" name="Object 13"/>
              <p:cNvGraphicFramePr>
                <a:graphicFrameLocks noChangeAspect="1"/>
              </p:cNvGraphicFramePr>
              <p:nvPr/>
            </p:nvGraphicFramePr>
            <p:xfrm>
              <a:off x="1440" y="1488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6" r:id="rId7" imgW="215900" imgH="215900" progId="Equation.3">
                      <p:embed/>
                    </p:oleObj>
                  </mc:Choice>
                  <mc:Fallback>
                    <p:oleObj r:id="rId7" imgW="215900" imgH="21590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440" y="1488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3" name="Text Box 14"/>
            <p:cNvSpPr txBox="1"/>
            <p:nvPr/>
          </p:nvSpPr>
          <p:spPr>
            <a:xfrm>
              <a:off x="1632" y="1783"/>
              <a:ext cx="477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400" b="1" dirty="0">
                  <a:solidFill>
                    <a:srgbClr val="FF0066"/>
                  </a:solidFill>
                </a:rPr>
                <a:t>.</a:t>
              </a:r>
              <a:r>
                <a:rPr lang="en-US" altLang="zh-CN" sz="2800" b="1" i="1" dirty="0"/>
                <a:t>P</a:t>
              </a:r>
              <a:endParaRPr lang="en-US" altLang="zh-CN" b="1" i="1" dirty="0"/>
            </a:p>
          </p:txBody>
        </p:sp>
        <p:grpSp>
          <p:nvGrpSpPr>
            <p:cNvPr id="9234" name="Group 15"/>
            <p:cNvGrpSpPr/>
            <p:nvPr/>
          </p:nvGrpSpPr>
          <p:grpSpPr>
            <a:xfrm>
              <a:off x="774" y="2255"/>
              <a:ext cx="434" cy="256"/>
              <a:chOff x="480" y="1384"/>
              <a:chExt cx="434" cy="256"/>
            </a:xfrm>
          </p:grpSpPr>
          <p:sp>
            <p:nvSpPr>
              <p:cNvPr id="9249" name="Rectangle 16"/>
              <p:cNvSpPr/>
              <p:nvPr/>
            </p:nvSpPr>
            <p:spPr>
              <a:xfrm rot="367368">
                <a:off x="866" y="1392"/>
                <a:ext cx="48" cy="240"/>
              </a:xfrm>
              <a:prstGeom prst="rect">
                <a:avLst/>
              </a:prstGeom>
              <a:solidFill>
                <a:srgbClr val="0066FF"/>
              </a:solidFill>
              <a:ln w="9525" cap="flat" cmpd="sng">
                <a:solidFill>
                  <a:srgbClr val="0066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graphicFrame>
            <p:nvGraphicFramePr>
              <p:cNvPr id="9250" name="Object 17"/>
              <p:cNvGraphicFramePr>
                <a:graphicFrameLocks noChangeAspect="1"/>
              </p:cNvGraphicFramePr>
              <p:nvPr/>
            </p:nvGraphicFramePr>
            <p:xfrm>
              <a:off x="480" y="1384"/>
              <a:ext cx="343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7" r:id="rId9" imgW="685800" imgH="508000" progId="Equation.DSMT4">
                      <p:embed/>
                    </p:oleObj>
                  </mc:Choice>
                  <mc:Fallback>
                    <p:oleObj r:id="rId9" imgW="685800" imgH="508000" progId="Equation.DSMT4">
                      <p:embed/>
                      <p:pic>
                        <p:nvPicPr>
                          <p:cNvPr id="0" name="图片 3132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" y="1384"/>
                            <a:ext cx="343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51" name="Line 18"/>
              <p:cNvSpPr/>
              <p:nvPr/>
            </p:nvSpPr>
            <p:spPr>
              <a:xfrm rot="333094" flipV="1">
                <a:off x="912" y="1392"/>
                <a:ext cx="1" cy="24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35" name="Line 19"/>
            <p:cNvSpPr/>
            <p:nvPr/>
          </p:nvSpPr>
          <p:spPr>
            <a:xfrm flipV="1">
              <a:off x="1206" y="2119"/>
              <a:ext cx="576" cy="38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9236" name="Object 20"/>
            <p:cNvGraphicFramePr>
              <a:graphicFrameLocks noChangeAspect="1"/>
            </p:cNvGraphicFramePr>
            <p:nvPr/>
          </p:nvGraphicFramePr>
          <p:xfrm>
            <a:off x="1512" y="2255"/>
            <a:ext cx="14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r:id="rId11" imgW="228600" imgH="317500" progId="Equation.DSMT4">
                    <p:embed/>
                  </p:oleObj>
                </mc:Choice>
                <mc:Fallback>
                  <p:oleObj r:id="rId11" imgW="228600" imgH="3175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12" y="2255"/>
                          <a:ext cx="143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37" name="Group 21"/>
            <p:cNvGrpSpPr/>
            <p:nvPr/>
          </p:nvGrpSpPr>
          <p:grpSpPr>
            <a:xfrm>
              <a:off x="1206" y="2215"/>
              <a:ext cx="288" cy="192"/>
              <a:chOff x="912" y="1632"/>
              <a:chExt cx="288" cy="192"/>
            </a:xfrm>
          </p:grpSpPr>
          <p:graphicFrame>
            <p:nvGraphicFramePr>
              <p:cNvPr id="9247" name="Object 22"/>
              <p:cNvGraphicFramePr>
                <a:graphicFrameLocks noChangeAspect="1"/>
              </p:cNvGraphicFramePr>
              <p:nvPr/>
            </p:nvGraphicFramePr>
            <p:xfrm>
              <a:off x="1008" y="1632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9" r:id="rId13" imgW="279400" imgH="241300" progId="Equation.3">
                      <p:embed/>
                    </p:oleObj>
                  </mc:Choice>
                  <mc:Fallback>
                    <p:oleObj r:id="rId13" imgW="279400" imgH="2413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008" y="1632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48" name="Freeform 23"/>
              <p:cNvSpPr/>
              <p:nvPr/>
            </p:nvSpPr>
            <p:spPr>
              <a:xfrm>
                <a:off x="912" y="1728"/>
                <a:ext cx="144" cy="96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243" y="70"/>
                  </a:cxn>
                  <a:cxn ang="0">
                    <a:pos x="486" y="485"/>
                  </a:cxn>
                </a:cxnLst>
                <a:rect l="0" t="0" r="0" b="0"/>
                <a:pathLst>
                  <a:path w="96" h="56">
                    <a:moveTo>
                      <a:pt x="0" y="8"/>
                    </a:moveTo>
                    <a:cubicBezTo>
                      <a:pt x="16" y="4"/>
                      <a:pt x="32" y="0"/>
                      <a:pt x="48" y="8"/>
                    </a:cubicBezTo>
                    <a:cubicBezTo>
                      <a:pt x="64" y="16"/>
                      <a:pt x="88" y="48"/>
                      <a:pt x="96" y="56"/>
                    </a:cubicBezTo>
                  </a:path>
                </a:pathLst>
              </a:custGeom>
              <a:noFill/>
              <a:ln w="28575" cap="flat" cmpd="sng">
                <a:solidFill>
                  <a:srgbClr val="FF0066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38" name="Group 24"/>
            <p:cNvGrpSpPr/>
            <p:nvPr/>
          </p:nvGrpSpPr>
          <p:grpSpPr>
            <a:xfrm>
              <a:off x="342" y="1638"/>
              <a:ext cx="1680" cy="1489"/>
              <a:chOff x="48" y="719"/>
              <a:chExt cx="1680" cy="1489"/>
            </a:xfrm>
          </p:grpSpPr>
          <p:grpSp>
            <p:nvGrpSpPr>
              <p:cNvPr id="9239" name="Group 25"/>
              <p:cNvGrpSpPr/>
              <p:nvPr/>
            </p:nvGrpSpPr>
            <p:grpSpPr>
              <a:xfrm>
                <a:off x="48" y="719"/>
                <a:ext cx="1680" cy="1489"/>
                <a:chOff x="96" y="672"/>
                <a:chExt cx="1872" cy="1489"/>
              </a:xfrm>
            </p:grpSpPr>
            <p:grpSp>
              <p:nvGrpSpPr>
                <p:cNvPr id="9242" name="Group 26"/>
                <p:cNvGrpSpPr/>
                <p:nvPr/>
              </p:nvGrpSpPr>
              <p:grpSpPr>
                <a:xfrm>
                  <a:off x="288" y="672"/>
                  <a:ext cx="1536" cy="1488"/>
                  <a:chOff x="480" y="528"/>
                  <a:chExt cx="2064" cy="1872"/>
                </a:xfrm>
              </p:grpSpPr>
              <p:cxnSp>
                <p:nvCxnSpPr>
                  <p:cNvPr id="9245" name="AutoShape 27"/>
                  <p:cNvCxnSpPr/>
                  <p:nvPr/>
                </p:nvCxnSpPr>
                <p:spPr>
                  <a:xfrm flipV="1">
                    <a:off x="480" y="528"/>
                    <a:ext cx="2016" cy="1824"/>
                  </a:xfrm>
                  <a:prstGeom prst="curvedConnector3">
                    <a:avLst>
                      <a:gd name="adj1" fmla="val 50000"/>
                    </a:avLst>
                  </a:prstGeom>
                  <a:ln w="28575" cap="flat" cmpd="sng">
                    <a:solidFill>
                      <a:srgbClr val="666633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246" name="AutoShape 28"/>
                  <p:cNvCxnSpPr/>
                  <p:nvPr/>
                </p:nvCxnSpPr>
                <p:spPr>
                  <a:xfrm flipV="1">
                    <a:off x="528" y="576"/>
                    <a:ext cx="2016" cy="1824"/>
                  </a:xfrm>
                  <a:prstGeom prst="curvedConnector3">
                    <a:avLst>
                      <a:gd name="adj1" fmla="val 50000"/>
                    </a:avLst>
                  </a:prstGeom>
                  <a:ln w="28575" cap="flat" cmpd="sng">
                    <a:solidFill>
                      <a:srgbClr val="666633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9243" name="Freeform 29"/>
                <p:cNvSpPr/>
                <p:nvPr/>
              </p:nvSpPr>
              <p:spPr>
                <a:xfrm>
                  <a:off x="96" y="2160"/>
                  <a:ext cx="240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8" y="0"/>
                    </a:cxn>
                    <a:cxn ang="0">
                      <a:pos x="192" y="0"/>
                    </a:cxn>
                    <a:cxn ang="0">
                      <a:pos x="240" y="0"/>
                    </a:cxn>
                  </a:cxnLst>
                  <a:rect l="0" t="0" r="0" b="0"/>
                  <a:pathLst>
                    <a:path w="240" h="1">
                      <a:moveTo>
                        <a:pt x="0" y="0"/>
                      </a:moveTo>
                      <a:cubicBezTo>
                        <a:pt x="8" y="0"/>
                        <a:pt x="16" y="0"/>
                        <a:pt x="48" y="0"/>
                      </a:cubicBezTo>
                      <a:cubicBezTo>
                        <a:pt x="80" y="0"/>
                        <a:pt x="160" y="0"/>
                        <a:pt x="192" y="0"/>
                      </a:cubicBezTo>
                      <a:cubicBezTo>
                        <a:pt x="224" y="0"/>
                        <a:pt x="232" y="0"/>
                        <a:pt x="240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666633">
                      <a:alpha val="100000"/>
                    </a:srgbClr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4" name="Freeform 30"/>
                <p:cNvSpPr/>
                <p:nvPr/>
              </p:nvSpPr>
              <p:spPr>
                <a:xfrm>
                  <a:off x="1728" y="672"/>
                  <a:ext cx="240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8" y="0"/>
                    </a:cxn>
                    <a:cxn ang="0">
                      <a:pos x="192" y="0"/>
                    </a:cxn>
                    <a:cxn ang="0">
                      <a:pos x="240" y="0"/>
                    </a:cxn>
                  </a:cxnLst>
                  <a:rect l="0" t="0" r="0" b="0"/>
                  <a:pathLst>
                    <a:path w="240" h="1">
                      <a:moveTo>
                        <a:pt x="0" y="0"/>
                      </a:moveTo>
                      <a:cubicBezTo>
                        <a:pt x="8" y="0"/>
                        <a:pt x="16" y="0"/>
                        <a:pt x="48" y="0"/>
                      </a:cubicBezTo>
                      <a:cubicBezTo>
                        <a:pt x="80" y="0"/>
                        <a:pt x="160" y="0"/>
                        <a:pt x="192" y="0"/>
                      </a:cubicBezTo>
                      <a:cubicBezTo>
                        <a:pt x="224" y="0"/>
                        <a:pt x="232" y="0"/>
                        <a:pt x="240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666633">
                      <a:alpha val="100000"/>
                    </a:srgbClr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240" name="Line 31"/>
              <p:cNvSpPr/>
              <p:nvPr/>
            </p:nvSpPr>
            <p:spPr>
              <a:xfrm flipV="1">
                <a:off x="384" y="2064"/>
                <a:ext cx="192" cy="9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9241" name="Object 32"/>
              <p:cNvGraphicFramePr>
                <a:graphicFrameLocks noChangeAspect="1"/>
              </p:cNvGraphicFramePr>
              <p:nvPr/>
            </p:nvGraphicFramePr>
            <p:xfrm>
              <a:off x="336" y="1920"/>
              <a:ext cx="111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0" r:id="rId15" imgW="203200" imgH="355600" progId="Equation.3">
                      <p:embed/>
                    </p:oleObj>
                  </mc:Choice>
                  <mc:Fallback>
                    <p:oleObj r:id="rId15" imgW="203200" imgH="3556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6" y="1920"/>
                            <a:ext cx="111" cy="1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51329" name="Group 33"/>
          <p:cNvGrpSpPr/>
          <p:nvPr/>
        </p:nvGrpSpPr>
        <p:grpSpPr>
          <a:xfrm>
            <a:off x="1116013" y="407988"/>
            <a:ext cx="3455987" cy="933450"/>
            <a:chOff x="1247" y="118"/>
            <a:chExt cx="2497" cy="588"/>
          </a:xfrm>
        </p:grpSpPr>
        <p:sp>
          <p:nvSpPr>
            <p:cNvPr id="9229" name="Rectangle 34"/>
            <p:cNvSpPr/>
            <p:nvPr/>
          </p:nvSpPr>
          <p:spPr>
            <a:xfrm>
              <a:off x="1776" y="130"/>
              <a:ext cx="1968" cy="576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9230" name="Object 35"/>
            <p:cNvGraphicFramePr>
              <a:graphicFrameLocks noChangeAspect="1"/>
            </p:cNvGraphicFramePr>
            <p:nvPr/>
          </p:nvGraphicFramePr>
          <p:xfrm>
            <a:off x="1900" y="118"/>
            <a:ext cx="1767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" r:id="rId17" imgW="3073400" imgH="1168400" progId="Equation.DSMT4">
                    <p:embed/>
                  </p:oleObj>
                </mc:Choice>
                <mc:Fallback>
                  <p:oleObj r:id="rId17" imgW="3073400" imgH="11684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00" y="118"/>
                          <a:ext cx="1767" cy="5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1" name="Object 36"/>
            <p:cNvGraphicFramePr>
              <a:graphicFrameLocks noChangeAspect="1"/>
            </p:cNvGraphicFramePr>
            <p:nvPr/>
          </p:nvGraphicFramePr>
          <p:xfrm>
            <a:off x="1247" y="119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2" r:id="rId19" imgW="4343400" imgH="4013200" progId="MS_ClipArt_Gallery.2">
                    <p:embed/>
                  </p:oleObj>
                </mc:Choice>
                <mc:Fallback>
                  <p:oleObj r:id="rId19" imgW="4343400" imgH="4013200" progId="MS_ClipArt_Gallery.2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3399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47" y="119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1333" name="Text Box 37"/>
          <p:cNvSpPr txBox="1"/>
          <p:nvPr/>
        </p:nvSpPr>
        <p:spPr>
          <a:xfrm>
            <a:off x="3995738" y="2117725"/>
            <a:ext cx="35639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矢量迭加得</a:t>
            </a:r>
            <a:endParaRPr lang="zh-CN" altLang="en-US" sz="2800" dirty="0"/>
          </a:p>
        </p:txBody>
      </p:sp>
      <p:sp>
        <p:nvSpPr>
          <p:cNvPr id="951335" name="Text Box 39"/>
          <p:cNvSpPr txBox="1"/>
          <p:nvPr/>
        </p:nvSpPr>
        <p:spPr>
          <a:xfrm>
            <a:off x="652463" y="5589588"/>
            <a:ext cx="5791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二、毕</a:t>
            </a:r>
            <a:r>
              <a:rPr lang="en-US" altLang="zh-CN" sz="2800" b="1" dirty="0">
                <a:latin typeface="宋体" panose="02010600030101010101" pitchFamily="2" charset="-122"/>
              </a:rPr>
              <a:t>—</a:t>
            </a:r>
            <a:r>
              <a:rPr lang="zh-CN" altLang="en-US" sz="2800" b="1" dirty="0"/>
              <a:t>萨定律的应用</a:t>
            </a:r>
          </a:p>
        </p:txBody>
      </p:sp>
      <p:sp>
        <p:nvSpPr>
          <p:cNvPr id="951336" name="Text Box 40"/>
          <p:cNvSpPr txBox="1"/>
          <p:nvPr/>
        </p:nvSpPr>
        <p:spPr>
          <a:xfrm>
            <a:off x="2051050" y="6021388"/>
            <a:ext cx="68405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下面讨论几种常见的电流结构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1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1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951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951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5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95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951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951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95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95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95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8" grpId="0"/>
      <p:bldP spid="951299" grpId="0" animBg="1"/>
      <p:bldP spid="951300" grpId="0"/>
      <p:bldP spid="951305" grpId="0" animBg="1"/>
      <p:bldP spid="951333" grpId="0"/>
      <p:bldP spid="951335" grpId="0"/>
      <p:bldP spid="9513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Text Box 2"/>
          <p:cNvSpPr txBox="1"/>
          <p:nvPr/>
        </p:nvSpPr>
        <p:spPr>
          <a:xfrm>
            <a:off x="1619250" y="131445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952323" name="Object 3"/>
          <p:cNvGraphicFramePr>
            <a:graphicFrameLocks noChangeAspect="1"/>
          </p:cNvGraphicFramePr>
          <p:nvPr/>
        </p:nvGraphicFramePr>
        <p:xfrm>
          <a:off x="5783263" y="1731963"/>
          <a:ext cx="231775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r:id="rId3" imgW="2590800" imgH="838200" progId="Equation.DSMT4">
                  <p:embed/>
                </p:oleObj>
              </mc:Choice>
              <mc:Fallback>
                <p:oleObj r:id="rId3" imgW="2590800" imgH="8382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3263" y="1731963"/>
                        <a:ext cx="2317750" cy="820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24" name="Text Box 4"/>
          <p:cNvSpPr txBox="1"/>
          <p:nvPr/>
        </p:nvSpPr>
        <p:spPr>
          <a:xfrm>
            <a:off x="2178050" y="1912938"/>
            <a:ext cx="524351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其在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点产生的磁场为</a:t>
            </a:r>
          </a:p>
        </p:txBody>
      </p:sp>
      <p:sp>
        <p:nvSpPr>
          <p:cNvPr id="952325" name="Text Box 5"/>
          <p:cNvSpPr txBox="1"/>
          <p:nvPr/>
        </p:nvSpPr>
        <p:spPr>
          <a:xfrm>
            <a:off x="2228850" y="1325563"/>
            <a:ext cx="34226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取任意电流元</a:t>
            </a:r>
          </a:p>
        </p:txBody>
      </p:sp>
      <p:graphicFrame>
        <p:nvGraphicFramePr>
          <p:cNvPr id="952326" name="Object 6"/>
          <p:cNvGraphicFramePr>
            <a:graphicFrameLocks noChangeAspect="1"/>
          </p:cNvGraphicFramePr>
          <p:nvPr/>
        </p:nvGraphicFramePr>
        <p:xfrm>
          <a:off x="4500563" y="1363663"/>
          <a:ext cx="5365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r:id="rId5" imgW="723900" imgH="609600" progId="Equation.DSMT4">
                  <p:embed/>
                </p:oleObj>
              </mc:Choice>
              <mc:Fallback>
                <p:oleObj r:id="rId5" imgW="723900" imgH="609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1363663"/>
                        <a:ext cx="536575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27" name="AutoShape 7"/>
          <p:cNvSpPr/>
          <p:nvPr/>
        </p:nvSpPr>
        <p:spPr>
          <a:xfrm>
            <a:off x="142875" y="4076700"/>
            <a:ext cx="4962525" cy="1143000"/>
          </a:xfrm>
          <a:prstGeom prst="parallelogram">
            <a:avLst>
              <a:gd name="adj" fmla="val 87215"/>
            </a:avLst>
          </a:prstGeom>
          <a:solidFill>
            <a:srgbClr val="CCE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52328" name="Line 8"/>
          <p:cNvSpPr/>
          <p:nvPr/>
        </p:nvSpPr>
        <p:spPr>
          <a:xfrm flipH="1" flipV="1">
            <a:off x="1143000" y="1408113"/>
            <a:ext cx="0" cy="3276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2329" name="Line 9"/>
          <p:cNvSpPr/>
          <p:nvPr/>
        </p:nvSpPr>
        <p:spPr>
          <a:xfrm>
            <a:off x="1143000" y="3084513"/>
            <a:ext cx="2286000" cy="1600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52330" name="Object 10"/>
          <p:cNvGraphicFramePr>
            <a:graphicFrameLocks noChangeAspect="1"/>
          </p:cNvGraphicFramePr>
          <p:nvPr/>
        </p:nvGraphicFramePr>
        <p:xfrm>
          <a:off x="2286000" y="3619500"/>
          <a:ext cx="2857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r:id="rId7" imgW="266700" imgH="368300" progId="Equation.3">
                  <p:embed/>
                </p:oleObj>
              </mc:Choice>
              <mc:Fallback>
                <p:oleObj r:id="rId7" imgW="266700" imgH="3683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3619500"/>
                        <a:ext cx="28575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31" name="Line 11"/>
          <p:cNvSpPr/>
          <p:nvPr/>
        </p:nvSpPr>
        <p:spPr>
          <a:xfrm>
            <a:off x="1143000" y="4684713"/>
            <a:ext cx="297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52332" name="Object 12"/>
          <p:cNvGraphicFramePr>
            <a:graphicFrameLocks noChangeAspect="1"/>
          </p:cNvGraphicFramePr>
          <p:nvPr/>
        </p:nvGraphicFramePr>
        <p:xfrm>
          <a:off x="3886200" y="4767263"/>
          <a:ext cx="27305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r:id="rId9" imgW="355600" imgH="292100" progId="Equation.3">
                  <p:embed/>
                </p:oleObj>
              </mc:Choice>
              <mc:Fallback>
                <p:oleObj r:id="rId9" imgW="355600" imgH="2921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86200" y="4767263"/>
                        <a:ext cx="273050" cy="222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333" name="Group 13"/>
          <p:cNvGrpSpPr/>
          <p:nvPr/>
        </p:nvGrpSpPr>
        <p:grpSpPr>
          <a:xfrm>
            <a:off x="228600" y="2093913"/>
            <a:ext cx="914400" cy="1371600"/>
            <a:chOff x="144" y="1008"/>
            <a:chExt cx="576" cy="864"/>
          </a:xfrm>
        </p:grpSpPr>
        <p:sp>
          <p:nvSpPr>
            <p:cNvPr id="10309" name="Line 14"/>
            <p:cNvSpPr/>
            <p:nvPr/>
          </p:nvSpPr>
          <p:spPr>
            <a:xfrm>
              <a:off x="192" y="1008"/>
              <a:ext cx="5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10" name="Line 15"/>
            <p:cNvSpPr/>
            <p:nvPr/>
          </p:nvSpPr>
          <p:spPr>
            <a:xfrm>
              <a:off x="144" y="1872"/>
              <a:ext cx="576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52336" name="Arc 16"/>
          <p:cNvSpPr/>
          <p:nvPr/>
        </p:nvSpPr>
        <p:spPr>
          <a:xfrm>
            <a:off x="2590800" y="4227513"/>
            <a:ext cx="379413" cy="455612"/>
          </a:xfrm>
          <a:custGeom>
            <a:avLst/>
            <a:gdLst/>
            <a:ahLst/>
            <a:cxnLst>
              <a:cxn ang="0">
                <a:pos x="35412196" y="2147483646"/>
              </a:cxn>
              <a:cxn ang="0">
                <a:pos x="857272151" y="0"/>
              </a:cxn>
              <a:cxn ang="0">
                <a:pos x="2056305075" y="2147483646"/>
              </a:cxn>
            </a:cxnLst>
            <a:rect l="0" t="0" r="0" b="0"/>
            <a:pathLst>
              <a:path w="21600" h="21540" fill="none">
                <a:moveTo>
                  <a:pt x="372" y="21539"/>
                </a:moveTo>
                <a:cubicBezTo>
                  <a:pt x="124" y="20223"/>
                  <a:pt x="0" y="18887"/>
                  <a:pt x="0" y="17548"/>
                </a:cubicBezTo>
                <a:cubicBezTo>
                  <a:pt x="-1" y="10589"/>
                  <a:pt x="3352" y="4057"/>
                  <a:pt x="9005" y="0"/>
                </a:cubicBezTo>
              </a:path>
              <a:path w="21600" h="21540" stroke="0">
                <a:moveTo>
                  <a:pt x="372" y="21539"/>
                </a:moveTo>
                <a:cubicBezTo>
                  <a:pt x="124" y="20223"/>
                  <a:pt x="0" y="18887"/>
                  <a:pt x="0" y="17548"/>
                </a:cubicBezTo>
                <a:cubicBezTo>
                  <a:pt x="-1" y="10589"/>
                  <a:pt x="3352" y="4057"/>
                  <a:pt x="9005" y="0"/>
                </a:cubicBezTo>
                <a:lnTo>
                  <a:pt x="21600" y="17548"/>
                </a:lnTo>
                <a:lnTo>
                  <a:pt x="372" y="21539"/>
                </a:lnTo>
                <a:close/>
              </a:path>
            </a:pathLst>
          </a:custGeom>
          <a:noFill/>
          <a:ln w="28575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2337" name="Object 17"/>
          <p:cNvGraphicFramePr>
            <a:graphicFrameLocks noChangeAspect="1"/>
          </p:cNvGraphicFramePr>
          <p:nvPr/>
        </p:nvGraphicFramePr>
        <p:xfrm>
          <a:off x="2635250" y="4310063"/>
          <a:ext cx="3032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r:id="rId11" imgW="368300" imgH="482600" progId="Equation.3">
                  <p:embed/>
                </p:oleObj>
              </mc:Choice>
              <mc:Fallback>
                <p:oleObj r:id="rId11" imgW="368300" imgH="4826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35250" y="4310063"/>
                        <a:ext cx="303213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38" name="Line 18"/>
          <p:cNvSpPr/>
          <p:nvPr/>
        </p:nvSpPr>
        <p:spPr>
          <a:xfrm flipV="1">
            <a:off x="3429000" y="4138613"/>
            <a:ext cx="422275" cy="5461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952339" name="Object 19"/>
          <p:cNvGraphicFramePr>
            <a:graphicFrameLocks noChangeAspect="1"/>
          </p:cNvGraphicFramePr>
          <p:nvPr/>
        </p:nvGraphicFramePr>
        <p:xfrm>
          <a:off x="3779838" y="3687763"/>
          <a:ext cx="4556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r:id="rId13" imgW="571500" imgH="508000" progId="Equation.DSMT4">
                  <p:embed/>
                </p:oleObj>
              </mc:Choice>
              <mc:Fallback>
                <p:oleObj r:id="rId13" imgW="571500" imgH="5080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3687763"/>
                        <a:ext cx="455612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40" name="Line 20"/>
          <p:cNvSpPr/>
          <p:nvPr/>
        </p:nvSpPr>
        <p:spPr>
          <a:xfrm flipV="1">
            <a:off x="1143000" y="3770313"/>
            <a:ext cx="7620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52341" name="Object 21"/>
          <p:cNvGraphicFramePr>
            <a:graphicFrameLocks noChangeAspect="1"/>
          </p:cNvGraphicFramePr>
          <p:nvPr/>
        </p:nvGraphicFramePr>
        <p:xfrm>
          <a:off x="1447800" y="3694113"/>
          <a:ext cx="2651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r:id="rId15" imgW="266700" imgH="330200" progId="Equation.3">
                  <p:embed/>
                </p:oleObj>
              </mc:Choice>
              <mc:Fallback>
                <p:oleObj r:id="rId15" imgW="266700" imgH="3302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47800" y="3694113"/>
                        <a:ext cx="265113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42" name="Object 22"/>
          <p:cNvGraphicFramePr>
            <a:graphicFrameLocks noChangeAspect="1"/>
          </p:cNvGraphicFramePr>
          <p:nvPr/>
        </p:nvGraphicFramePr>
        <p:xfrm>
          <a:off x="1219200" y="1560513"/>
          <a:ext cx="214313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r:id="rId17" imgW="215900" imgH="266065" progId="Equation.3">
                  <p:embed/>
                </p:oleObj>
              </mc:Choice>
              <mc:Fallback>
                <p:oleObj r:id="rId17" imgW="215900" imgH="26606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9200" y="1560513"/>
                        <a:ext cx="214313" cy="265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43" name="Line 23"/>
          <p:cNvSpPr/>
          <p:nvPr/>
        </p:nvSpPr>
        <p:spPr>
          <a:xfrm>
            <a:off x="1143000" y="3465513"/>
            <a:ext cx="2286000" cy="1219200"/>
          </a:xfrm>
          <a:prstGeom prst="line">
            <a:avLst/>
          </a:prstGeom>
          <a:ln w="28575" cap="flat" cmpd="sng">
            <a:solidFill>
              <a:srgbClr val="000099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2344" name="Arc 24"/>
          <p:cNvSpPr/>
          <p:nvPr/>
        </p:nvSpPr>
        <p:spPr>
          <a:xfrm rot="-5400000">
            <a:off x="2133600" y="4227513"/>
            <a:ext cx="533400" cy="381000"/>
          </a:xfrm>
          <a:custGeom>
            <a:avLst/>
            <a:gdLst/>
            <a:ahLst/>
            <a:cxnLst>
              <a:cxn ang="0">
                <a:pos x="0" y="101253660"/>
              </a:cxn>
              <a:cxn ang="0">
                <a:pos x="2147483646" y="938688503"/>
              </a:cxn>
              <a:cxn ang="0">
                <a:pos x="1452517792" y="2090926042"/>
              </a:cxn>
            </a:cxnLst>
            <a:rect l="0" t="0" r="0" b="0"/>
            <a:pathLst>
              <a:path w="24665" h="21600" fill="none">
                <a:moveTo>
                  <a:pt x="0" y="1046"/>
                </a:moveTo>
                <a:cubicBezTo>
                  <a:pt x="2145" y="353"/>
                  <a:pt x="4386" y="-1"/>
                  <a:pt x="6641" y="0"/>
                </a:cubicBezTo>
                <a:cubicBezTo>
                  <a:pt x="13896" y="0"/>
                  <a:pt x="20667" y="3642"/>
                  <a:pt x="24665" y="9696"/>
                </a:cubicBezTo>
              </a:path>
              <a:path w="24665" h="21600" stroke="0">
                <a:moveTo>
                  <a:pt x="0" y="1046"/>
                </a:moveTo>
                <a:cubicBezTo>
                  <a:pt x="2145" y="353"/>
                  <a:pt x="4386" y="-1"/>
                  <a:pt x="6641" y="0"/>
                </a:cubicBezTo>
                <a:cubicBezTo>
                  <a:pt x="13896" y="0"/>
                  <a:pt x="20667" y="3642"/>
                  <a:pt x="24665" y="9696"/>
                </a:cubicBezTo>
                <a:lnTo>
                  <a:pt x="6641" y="21600"/>
                </a:lnTo>
                <a:lnTo>
                  <a:pt x="0" y="1046"/>
                </a:lnTo>
                <a:close/>
              </a:path>
            </a:pathLst>
          </a:custGeom>
          <a:noFill/>
          <a:ln w="2857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2345" name="Arc 25"/>
          <p:cNvSpPr/>
          <p:nvPr/>
        </p:nvSpPr>
        <p:spPr>
          <a:xfrm rot="-5400000">
            <a:off x="1739900" y="3630613"/>
            <a:ext cx="1168400" cy="8382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1154" h="21600" fill="none">
                <a:moveTo>
                  <a:pt x="-1" y="3080"/>
                </a:moveTo>
                <a:cubicBezTo>
                  <a:pt x="3357" y="1064"/>
                  <a:pt x="7200" y="-1"/>
                  <a:pt x="11117" y="0"/>
                </a:cubicBezTo>
                <a:cubicBezTo>
                  <a:pt x="19931" y="0"/>
                  <a:pt x="27862" y="5356"/>
                  <a:pt x="31154" y="13532"/>
                </a:cubicBezTo>
              </a:path>
              <a:path w="31154" h="21600" stroke="0">
                <a:moveTo>
                  <a:pt x="-1" y="3080"/>
                </a:moveTo>
                <a:cubicBezTo>
                  <a:pt x="3357" y="1064"/>
                  <a:pt x="7200" y="-1"/>
                  <a:pt x="11117" y="0"/>
                </a:cubicBezTo>
                <a:cubicBezTo>
                  <a:pt x="19931" y="0"/>
                  <a:pt x="27862" y="5356"/>
                  <a:pt x="31154" y="13532"/>
                </a:cubicBezTo>
                <a:lnTo>
                  <a:pt x="11117" y="21600"/>
                </a:lnTo>
                <a:lnTo>
                  <a:pt x="-1" y="3080"/>
                </a:lnTo>
                <a:close/>
              </a:path>
            </a:pathLst>
          </a:custGeom>
          <a:noFill/>
          <a:ln w="2857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2346" name="Object 26"/>
          <p:cNvGraphicFramePr>
            <a:graphicFrameLocks noChangeAspect="1"/>
          </p:cNvGraphicFramePr>
          <p:nvPr/>
        </p:nvGraphicFramePr>
        <p:xfrm>
          <a:off x="1905000" y="4227513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r:id="rId19" imgW="469900" imgH="520700" progId="Equation.3">
                  <p:embed/>
                </p:oleObj>
              </mc:Choice>
              <mc:Fallback>
                <p:oleObj r:id="rId19" imgW="469900" imgH="5207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4227513"/>
                        <a:ext cx="3460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47" name="Object 27"/>
          <p:cNvGraphicFramePr>
            <a:graphicFrameLocks noChangeAspect="1"/>
          </p:cNvGraphicFramePr>
          <p:nvPr/>
        </p:nvGraphicFramePr>
        <p:xfrm>
          <a:off x="1828800" y="3332163"/>
          <a:ext cx="35083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r:id="rId21" imgW="508000" imgH="520700" progId="Equation.3">
                  <p:embed/>
                </p:oleObj>
              </mc:Choice>
              <mc:Fallback>
                <p:oleObj r:id="rId21" imgW="508000" imgH="520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3332163"/>
                        <a:ext cx="350838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48" name="Object 28"/>
          <p:cNvGraphicFramePr>
            <a:graphicFrameLocks noChangeAspect="1"/>
          </p:cNvGraphicFramePr>
          <p:nvPr/>
        </p:nvGraphicFramePr>
        <p:xfrm>
          <a:off x="914400" y="4456113"/>
          <a:ext cx="2143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r:id="rId23" imgW="215900" imgH="330200" progId="Equation.3">
                  <p:embed/>
                </p:oleObj>
              </mc:Choice>
              <mc:Fallback>
                <p:oleObj r:id="rId23" imgW="215900" imgH="3302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14400" y="4456113"/>
                        <a:ext cx="214313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49" name="Arc 29"/>
          <p:cNvSpPr/>
          <p:nvPr/>
        </p:nvSpPr>
        <p:spPr>
          <a:xfrm>
            <a:off x="685800" y="2703513"/>
            <a:ext cx="838200" cy="60483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1600" h="31150" fill="none">
                <a:moveTo>
                  <a:pt x="10944" y="-1"/>
                </a:moveTo>
                <a:cubicBezTo>
                  <a:pt x="17545" y="3879"/>
                  <a:pt x="21600" y="10964"/>
                  <a:pt x="21600" y="18622"/>
                </a:cubicBezTo>
                <a:cubicBezTo>
                  <a:pt x="21600" y="23112"/>
                  <a:pt x="20200" y="27492"/>
                  <a:pt x="17595" y="31150"/>
                </a:cubicBezTo>
              </a:path>
              <a:path w="21600" h="31150" stroke="0">
                <a:moveTo>
                  <a:pt x="10944" y="-1"/>
                </a:moveTo>
                <a:cubicBezTo>
                  <a:pt x="17545" y="3879"/>
                  <a:pt x="21600" y="10964"/>
                  <a:pt x="21600" y="18622"/>
                </a:cubicBezTo>
                <a:cubicBezTo>
                  <a:pt x="21600" y="23112"/>
                  <a:pt x="20200" y="27492"/>
                  <a:pt x="17595" y="31150"/>
                </a:cubicBezTo>
                <a:lnTo>
                  <a:pt x="0" y="18622"/>
                </a:lnTo>
                <a:lnTo>
                  <a:pt x="10944" y="-1"/>
                </a:lnTo>
                <a:close/>
              </a:path>
            </a:pathLst>
          </a:custGeom>
          <a:noFill/>
          <a:ln w="28575" cap="flat" cmpd="sng">
            <a:solidFill>
              <a:srgbClr val="0066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2350" name="Object 30"/>
          <p:cNvGraphicFramePr>
            <a:graphicFrameLocks noChangeAspect="1"/>
          </p:cNvGraphicFramePr>
          <p:nvPr/>
        </p:nvGraphicFramePr>
        <p:xfrm>
          <a:off x="1555750" y="2914650"/>
          <a:ext cx="279400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r:id="rId25" imgW="330200" imgH="279400" progId="Equation.DSMT4">
                  <p:embed/>
                </p:oleObj>
              </mc:Choice>
              <mc:Fallback>
                <p:oleObj r:id="rId25" imgW="330200" imgH="2794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66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55750" y="2914650"/>
                        <a:ext cx="279400" cy="239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1" name="Object 31"/>
          <p:cNvGraphicFramePr>
            <a:graphicFrameLocks noChangeAspect="1"/>
          </p:cNvGraphicFramePr>
          <p:nvPr/>
        </p:nvGraphicFramePr>
        <p:xfrm>
          <a:off x="868363" y="3541713"/>
          <a:ext cx="18891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r:id="rId27" imgW="165100" imgH="330200" progId="Equation.3">
                  <p:embed/>
                </p:oleObj>
              </mc:Choice>
              <mc:Fallback>
                <p:oleObj r:id="rId27" imgW="165100" imgH="330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8363" y="3541713"/>
                        <a:ext cx="188912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2" name="Object 32"/>
          <p:cNvGraphicFramePr>
            <a:graphicFrameLocks noChangeAspect="1"/>
          </p:cNvGraphicFramePr>
          <p:nvPr/>
        </p:nvGraphicFramePr>
        <p:xfrm>
          <a:off x="2286000" y="4737100"/>
          <a:ext cx="2651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r:id="rId29" imgW="266700" imgH="254000" progId="Equation.3">
                  <p:embed/>
                </p:oleObj>
              </mc:Choice>
              <mc:Fallback>
                <p:oleObj r:id="rId29" imgW="266700" imgH="2540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86000" y="4737100"/>
                        <a:ext cx="265113" cy="252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353" name="Group 33"/>
          <p:cNvGrpSpPr/>
          <p:nvPr/>
        </p:nvGrpSpPr>
        <p:grpSpPr>
          <a:xfrm>
            <a:off x="228600" y="2093913"/>
            <a:ext cx="401638" cy="1371600"/>
            <a:chOff x="144" y="1008"/>
            <a:chExt cx="253" cy="864"/>
          </a:xfrm>
        </p:grpSpPr>
        <p:sp>
          <p:nvSpPr>
            <p:cNvPr id="10306" name="Rectangle 34"/>
            <p:cNvSpPr/>
            <p:nvPr/>
          </p:nvSpPr>
          <p:spPr>
            <a:xfrm>
              <a:off x="144" y="1296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10307" name="Line 35"/>
            <p:cNvSpPr/>
            <p:nvPr/>
          </p:nvSpPr>
          <p:spPr>
            <a:xfrm flipV="1">
              <a:off x="240" y="1008"/>
              <a:ext cx="0" cy="28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308" name="Line 36"/>
            <p:cNvSpPr/>
            <p:nvPr/>
          </p:nvSpPr>
          <p:spPr>
            <a:xfrm>
              <a:off x="240" y="1584"/>
              <a:ext cx="0" cy="28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952357" name="Object 37"/>
          <p:cNvGraphicFramePr>
            <a:graphicFrameLocks noChangeAspect="1"/>
          </p:cNvGraphicFramePr>
          <p:nvPr/>
        </p:nvGraphicFramePr>
        <p:xfrm>
          <a:off x="838200" y="1712913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r:id="rId31" imgW="279400" imgH="381000" progId="Equation.3">
                  <p:embed/>
                </p:oleObj>
              </mc:Choice>
              <mc:Fallback>
                <p:oleObj r:id="rId31" imgW="279400" imgH="3810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8200" y="1712913"/>
                        <a:ext cx="241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58" name="Text Box 38"/>
          <p:cNvSpPr txBox="1"/>
          <p:nvPr/>
        </p:nvSpPr>
        <p:spPr>
          <a:xfrm>
            <a:off x="2484438" y="2565400"/>
            <a:ext cx="6516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/>
              <a:t> </a:t>
            </a:r>
            <a:r>
              <a:rPr lang="zh-CN" altLang="en-US" sz="2800" b="1" dirty="0"/>
              <a:t>各电流元在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处产生的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方向一致</a:t>
            </a:r>
          </a:p>
        </p:txBody>
      </p:sp>
      <p:graphicFrame>
        <p:nvGraphicFramePr>
          <p:cNvPr id="952359" name="Object 39"/>
          <p:cNvGraphicFramePr>
            <a:graphicFrameLocks noChangeAspect="1"/>
          </p:cNvGraphicFramePr>
          <p:nvPr/>
        </p:nvGraphicFramePr>
        <p:xfrm>
          <a:off x="4937125" y="3003550"/>
          <a:ext cx="30051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r:id="rId33" imgW="2882900" imgH="850900" progId="Equation.DSMT4">
                  <p:embed/>
                </p:oleObj>
              </mc:Choice>
              <mc:Fallback>
                <p:oleObj r:id="rId33" imgW="2882900" imgH="8509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937125" y="3003550"/>
                        <a:ext cx="3005138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0" name="Line 40"/>
          <p:cNvSpPr/>
          <p:nvPr/>
        </p:nvSpPr>
        <p:spPr>
          <a:xfrm>
            <a:off x="6804025" y="3454400"/>
            <a:ext cx="3048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2361" name="Line 41"/>
          <p:cNvSpPr/>
          <p:nvPr/>
        </p:nvSpPr>
        <p:spPr>
          <a:xfrm>
            <a:off x="7235825" y="3500438"/>
            <a:ext cx="720725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2362" name="Line 42"/>
          <p:cNvSpPr/>
          <p:nvPr/>
        </p:nvSpPr>
        <p:spPr>
          <a:xfrm>
            <a:off x="7019925" y="3933825"/>
            <a:ext cx="3048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952363" name="Object 43"/>
          <p:cNvGraphicFramePr>
            <a:graphicFrameLocks noChangeAspect="1"/>
          </p:cNvGraphicFramePr>
          <p:nvPr/>
        </p:nvGraphicFramePr>
        <p:xfrm>
          <a:off x="5991225" y="3933825"/>
          <a:ext cx="2468563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r:id="rId35" imgW="2489200" imgH="787400" progId="Equation.DSMT4">
                  <p:embed/>
                </p:oleObj>
              </mc:Choice>
              <mc:Fallback>
                <p:oleObj r:id="rId35" imgW="2489200" imgH="7874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991225" y="3933825"/>
                        <a:ext cx="2468563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4" name="Object 44"/>
          <p:cNvGraphicFramePr>
            <a:graphicFrameLocks noChangeAspect="1"/>
          </p:cNvGraphicFramePr>
          <p:nvPr/>
        </p:nvGraphicFramePr>
        <p:xfrm>
          <a:off x="5203825" y="4591050"/>
          <a:ext cx="28114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r:id="rId37" imgW="2679700" imgH="965200" progId="Equation.DSMT4">
                  <p:embed/>
                </p:oleObj>
              </mc:Choice>
              <mc:Fallback>
                <p:oleObj r:id="rId37" imgW="2679700" imgH="9652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203825" y="4591050"/>
                        <a:ext cx="2811463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5" name="AutoShape 45"/>
          <p:cNvSpPr/>
          <p:nvPr/>
        </p:nvSpPr>
        <p:spPr>
          <a:xfrm>
            <a:off x="1258888" y="5441950"/>
            <a:ext cx="274637" cy="1227138"/>
          </a:xfrm>
          <a:prstGeom prst="leftBrace">
            <a:avLst>
              <a:gd name="adj1" fmla="val 37235"/>
              <a:gd name="adj2" fmla="val 50000"/>
            </a:avLst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52366" name="Object 46"/>
          <p:cNvGraphicFramePr>
            <a:graphicFrameLocks noChangeAspect="1"/>
          </p:cNvGraphicFramePr>
          <p:nvPr/>
        </p:nvGraphicFramePr>
        <p:xfrm>
          <a:off x="1981200" y="5626100"/>
          <a:ext cx="15113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r:id="rId39" imgW="1497965" imgH="393700" progId="Equation.3">
                  <p:embed/>
                </p:oleObj>
              </mc:Choice>
              <mc:Fallback>
                <p:oleObj r:id="rId39" imgW="1497965" imgH="393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981200" y="5626100"/>
                        <a:ext cx="1511300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7" name="Object 47"/>
          <p:cNvGraphicFramePr>
            <a:graphicFrameLocks noChangeAspect="1"/>
          </p:cNvGraphicFramePr>
          <p:nvPr/>
        </p:nvGraphicFramePr>
        <p:xfrm>
          <a:off x="1506538" y="5300663"/>
          <a:ext cx="1676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r:id="rId41" imgW="1879600" imgH="393700" progId="Equation.3">
                  <p:embed/>
                </p:oleObj>
              </mc:Choice>
              <mc:Fallback>
                <p:oleObj r:id="rId41" imgW="1879600" imgH="3937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06538" y="5300663"/>
                        <a:ext cx="16764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8" name="Object 48"/>
          <p:cNvGraphicFramePr>
            <a:graphicFrameLocks noChangeAspect="1"/>
          </p:cNvGraphicFramePr>
          <p:nvPr/>
        </p:nvGraphicFramePr>
        <p:xfrm>
          <a:off x="2051050" y="5995988"/>
          <a:ext cx="12700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r:id="rId43" imgW="1269365" imgH="393700" progId="Equation.3">
                  <p:embed/>
                </p:oleObj>
              </mc:Choice>
              <mc:Fallback>
                <p:oleObj r:id="rId43" imgW="1269365" imgH="393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051050" y="5995988"/>
                        <a:ext cx="1270000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9" name="Object 49"/>
          <p:cNvGraphicFramePr>
            <a:graphicFrameLocks noChangeAspect="1"/>
          </p:cNvGraphicFramePr>
          <p:nvPr/>
        </p:nvGraphicFramePr>
        <p:xfrm>
          <a:off x="1908175" y="6283325"/>
          <a:ext cx="2032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r:id="rId45" imgW="2311400" imgH="469900" progId="Equation.DSMT4">
                  <p:embed/>
                </p:oleObj>
              </mc:Choice>
              <mc:Fallback>
                <p:oleObj r:id="rId45" imgW="2311400" imgH="4699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908175" y="6283325"/>
                        <a:ext cx="20320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0" name="Text Box 50"/>
          <p:cNvSpPr txBox="1"/>
          <p:nvPr/>
        </p:nvSpPr>
        <p:spPr>
          <a:xfrm>
            <a:off x="4864100" y="6248400"/>
            <a:ext cx="38846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方向：沿 </a:t>
            </a:r>
            <a:r>
              <a:rPr lang="en-US" altLang="zh-CN" sz="2800" b="1" i="1" dirty="0"/>
              <a:t>y </a:t>
            </a:r>
            <a:r>
              <a:rPr lang="zh-CN" altLang="en-US" sz="2800" b="1" dirty="0"/>
              <a:t>方向</a:t>
            </a:r>
            <a:endParaRPr lang="zh-CN" altLang="en-US" sz="2800" dirty="0"/>
          </a:p>
        </p:txBody>
      </p:sp>
      <p:graphicFrame>
        <p:nvGraphicFramePr>
          <p:cNvPr id="952371" name="Object 51"/>
          <p:cNvGraphicFramePr>
            <a:graphicFrameLocks noChangeAspect="1"/>
          </p:cNvGraphicFramePr>
          <p:nvPr/>
        </p:nvGraphicFramePr>
        <p:xfrm>
          <a:off x="5537200" y="5395913"/>
          <a:ext cx="33559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r:id="rId47" imgW="4140200" imgH="1041400" progId="Equation.DSMT4">
                  <p:embed/>
                </p:oleObj>
              </mc:Choice>
              <mc:Fallback>
                <p:oleObj r:id="rId47" imgW="4140200" imgH="10414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37200" y="5395913"/>
                        <a:ext cx="33559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2" name="AutoShape 52"/>
          <p:cNvSpPr/>
          <p:nvPr/>
        </p:nvSpPr>
        <p:spPr>
          <a:xfrm>
            <a:off x="1066800" y="2017713"/>
            <a:ext cx="152400" cy="1524000"/>
          </a:xfrm>
          <a:prstGeom prst="can">
            <a:avLst>
              <a:gd name="adj" fmla="val 71250"/>
            </a:avLst>
          </a:prstGeom>
          <a:gradFill rotWithShape="0">
            <a:gsLst>
              <a:gs pos="0">
                <a:srgbClr val="433628"/>
              </a:gs>
              <a:gs pos="50000">
                <a:srgbClr val="FFCC99"/>
              </a:gs>
              <a:gs pos="100000">
                <a:srgbClr val="433628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952373" name="Group 53"/>
          <p:cNvGrpSpPr/>
          <p:nvPr/>
        </p:nvGrpSpPr>
        <p:grpSpPr>
          <a:xfrm>
            <a:off x="1066800" y="2703513"/>
            <a:ext cx="152400" cy="457200"/>
            <a:chOff x="336" y="2016"/>
            <a:chExt cx="96" cy="288"/>
          </a:xfrm>
        </p:grpSpPr>
        <p:sp>
          <p:nvSpPr>
            <p:cNvPr id="10303" name="Line 54"/>
            <p:cNvSpPr/>
            <p:nvPr/>
          </p:nvSpPr>
          <p:spPr>
            <a:xfrm flipV="1">
              <a:off x="384" y="2016"/>
              <a:ext cx="0" cy="288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0304" name="Line 55"/>
            <p:cNvSpPr/>
            <p:nvPr/>
          </p:nvSpPr>
          <p:spPr>
            <a:xfrm flipV="1">
              <a:off x="336" y="2304"/>
              <a:ext cx="96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10305" name="Line 56"/>
            <p:cNvSpPr/>
            <p:nvPr/>
          </p:nvSpPr>
          <p:spPr>
            <a:xfrm flipV="1">
              <a:off x="336" y="2016"/>
              <a:ext cx="96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lg"/>
            </a:ln>
          </p:spPr>
        </p:sp>
      </p:grpSp>
      <p:graphicFrame>
        <p:nvGraphicFramePr>
          <p:cNvPr id="952377" name="Object 57"/>
          <p:cNvGraphicFramePr>
            <a:graphicFrameLocks noChangeAspect="1"/>
          </p:cNvGraphicFramePr>
          <p:nvPr/>
        </p:nvGraphicFramePr>
        <p:xfrm>
          <a:off x="552450" y="2627313"/>
          <a:ext cx="5445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r:id="rId49" imgW="685800" imgH="508000" progId="Equation.DSMT4">
                  <p:embed/>
                </p:oleObj>
              </mc:Choice>
              <mc:Fallback>
                <p:oleObj r:id="rId49" imgW="685800" imgH="5080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2450" y="2627313"/>
                        <a:ext cx="544513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8" name="Line 58"/>
          <p:cNvSpPr/>
          <p:nvPr/>
        </p:nvSpPr>
        <p:spPr>
          <a:xfrm>
            <a:off x="1143000" y="2093913"/>
            <a:ext cx="2362200" cy="2667000"/>
          </a:xfrm>
          <a:prstGeom prst="line">
            <a:avLst/>
          </a:prstGeom>
          <a:ln w="28575" cap="flat" cmpd="sng">
            <a:solidFill>
              <a:srgbClr val="000099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2379" name="Text Box 59"/>
          <p:cNvSpPr txBox="1"/>
          <p:nvPr/>
        </p:nvSpPr>
        <p:spPr>
          <a:xfrm>
            <a:off x="5159375" y="1325563"/>
            <a:ext cx="31178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建立坐标系</a:t>
            </a:r>
          </a:p>
        </p:txBody>
      </p:sp>
      <p:sp>
        <p:nvSpPr>
          <p:cNvPr id="952380" name="Line 60"/>
          <p:cNvSpPr/>
          <p:nvPr/>
        </p:nvSpPr>
        <p:spPr>
          <a:xfrm flipV="1">
            <a:off x="1143000" y="1712913"/>
            <a:ext cx="0" cy="381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2382" name="Text Box 62"/>
          <p:cNvSpPr txBox="1"/>
          <p:nvPr/>
        </p:nvSpPr>
        <p:spPr>
          <a:xfrm>
            <a:off x="6588125" y="5157788"/>
            <a:ext cx="4064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ym typeface="Symbol" panose="05050102010706020507" pitchFamily="18" charset="2"/>
              </a:rPr>
              <a:t></a:t>
            </a:r>
            <a:r>
              <a:rPr lang="en-US" altLang="zh-CN" sz="2000" b="1" baseline="-25000" dirty="0">
                <a:sym typeface="Symbol" panose="05050102010706020507" pitchFamily="18" charset="2"/>
              </a:rPr>
              <a:t>1</a:t>
            </a:r>
            <a:endParaRPr lang="en-US" altLang="zh-CN" sz="2000" b="1" dirty="0">
              <a:sym typeface="Symbol" panose="05050102010706020507" pitchFamily="18" charset="2"/>
            </a:endParaRPr>
          </a:p>
        </p:txBody>
      </p:sp>
      <p:sp>
        <p:nvSpPr>
          <p:cNvPr id="952383" name="Text Box 63"/>
          <p:cNvSpPr txBox="1"/>
          <p:nvPr/>
        </p:nvSpPr>
        <p:spPr>
          <a:xfrm>
            <a:off x="6670675" y="4508500"/>
            <a:ext cx="7096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ym typeface="Symbol" panose="05050102010706020507" pitchFamily="18" charset="2"/>
              </a:rPr>
              <a:t></a:t>
            </a:r>
            <a:r>
              <a:rPr lang="en-US" altLang="zh-CN" sz="2000" b="1" baseline="-25000" dirty="0">
                <a:sym typeface="Symbol" panose="05050102010706020507" pitchFamily="18" charset="2"/>
              </a:rPr>
              <a:t>2</a:t>
            </a:r>
            <a:endParaRPr lang="en-US" altLang="zh-CN" sz="2000" b="1" dirty="0">
              <a:sym typeface="Symbol" panose="05050102010706020507" pitchFamily="18" charset="2"/>
            </a:endParaRPr>
          </a:p>
        </p:txBody>
      </p:sp>
      <p:sp>
        <p:nvSpPr>
          <p:cNvPr id="952384" name="Text Box 64"/>
          <p:cNvSpPr txBox="1"/>
          <p:nvPr/>
        </p:nvSpPr>
        <p:spPr>
          <a:xfrm>
            <a:off x="657225" y="395288"/>
            <a:ext cx="614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例、</a:t>
            </a:r>
            <a:r>
              <a:rPr lang="zh-CN" altLang="en-US" sz="2800" b="1" dirty="0"/>
              <a:t>求长为</a:t>
            </a:r>
            <a:r>
              <a:rPr lang="en-US" altLang="zh-CN" sz="2800" b="1" i="1" dirty="0"/>
              <a:t>L</a:t>
            </a:r>
            <a:r>
              <a:rPr lang="zh-CN" altLang="en-US" sz="2800" b="1" dirty="0"/>
              <a:t>的直线电流 </a:t>
            </a:r>
            <a:r>
              <a:rPr lang="en-US" altLang="zh-CN" sz="2800" b="1" i="1" dirty="0"/>
              <a:t>I</a:t>
            </a:r>
            <a:r>
              <a:rPr lang="en-US" altLang="zh-CN" sz="2800" b="1" i="1" dirty="0">
                <a:solidFill>
                  <a:srgbClr val="0000FF"/>
                </a:solidFill>
              </a:rPr>
              <a:t> </a:t>
            </a:r>
            <a:r>
              <a:rPr lang="zh-CN" altLang="en-US" sz="2800" b="1" dirty="0"/>
              <a:t>在周围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空间激发的磁场。</a:t>
            </a:r>
          </a:p>
        </p:txBody>
      </p:sp>
      <p:grpSp>
        <p:nvGrpSpPr>
          <p:cNvPr id="952385" name="Group 65"/>
          <p:cNvGrpSpPr/>
          <p:nvPr/>
        </p:nvGrpSpPr>
        <p:grpSpPr>
          <a:xfrm>
            <a:off x="5867400" y="406400"/>
            <a:ext cx="3167063" cy="935038"/>
            <a:chOff x="3713" y="48"/>
            <a:chExt cx="1995" cy="589"/>
          </a:xfrm>
        </p:grpSpPr>
        <p:graphicFrame>
          <p:nvGraphicFramePr>
            <p:cNvPr id="10301" name="Object 66"/>
            <p:cNvGraphicFramePr>
              <a:graphicFrameLocks noChangeAspect="1"/>
            </p:cNvGraphicFramePr>
            <p:nvPr/>
          </p:nvGraphicFramePr>
          <p:xfrm>
            <a:off x="4195" y="61"/>
            <a:ext cx="1513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0" r:id="rId51" imgW="2997200" imgH="1168400" progId="Equation.DSMT4">
                    <p:embed/>
                  </p:oleObj>
                </mc:Choice>
                <mc:Fallback>
                  <p:oleObj r:id="rId51" imgW="2997200" imgH="11684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5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5" y="61"/>
                          <a:ext cx="1513" cy="576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2" name="Object 67"/>
            <p:cNvGraphicFramePr>
              <a:graphicFrameLocks noChangeAspect="1"/>
            </p:cNvGraphicFramePr>
            <p:nvPr/>
          </p:nvGraphicFramePr>
          <p:xfrm>
            <a:off x="3713" y="48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1" r:id="rId53" imgW="4343400" imgH="4013200" progId="MS_ClipArt_Gallery.2">
                    <p:embed/>
                  </p:oleObj>
                </mc:Choice>
                <mc:Fallback>
                  <p:oleObj r:id="rId53" imgW="4343400" imgH="4013200" progId="MS_ClipArt_Gallery.2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5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13" y="48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388" name="Line 68"/>
          <p:cNvSpPr/>
          <p:nvPr/>
        </p:nvSpPr>
        <p:spPr>
          <a:xfrm>
            <a:off x="6048375" y="1989138"/>
            <a:ext cx="144463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triangle" w="sm" len="sm"/>
          </a:ln>
        </p:spPr>
      </p:sp>
      <p:graphicFrame>
        <p:nvGraphicFramePr>
          <p:cNvPr id="952389" name="Object 69"/>
          <p:cNvGraphicFramePr>
            <a:graphicFrameLocks noChangeAspect="1"/>
          </p:cNvGraphicFramePr>
          <p:nvPr/>
        </p:nvGraphicFramePr>
        <p:xfrm>
          <a:off x="8101013" y="1916113"/>
          <a:ext cx="2159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r:id="rId55" imgW="241300" imgH="482600" progId="Equation.DSMT4">
                  <p:embed/>
                </p:oleObj>
              </mc:Choice>
              <mc:Fallback>
                <p:oleObj r:id="rId55" imgW="241300" imgH="4826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101013" y="1916113"/>
                        <a:ext cx="215900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0" name="Text Box 70"/>
          <p:cNvSpPr txBox="1"/>
          <p:nvPr/>
        </p:nvSpPr>
        <p:spPr>
          <a:xfrm>
            <a:off x="3276600" y="4083050"/>
            <a:ext cx="1079500" cy="103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solidFill>
                  <a:schemeClr val="tx2"/>
                </a:solidFill>
              </a:rPr>
              <a:t>.</a:t>
            </a:r>
          </a:p>
          <a:p>
            <a:pPr marL="0" lvl="0" indent="0" eaLnBrk="1" hangingPunct="1">
              <a:lnSpc>
                <a:spcPct val="50000"/>
              </a:lnSpc>
              <a:spcBef>
                <a:spcPct val="0"/>
              </a:spcBef>
              <a:buNone/>
            </a:pPr>
            <a:r>
              <a:rPr lang="en-US" altLang="zh-CN" sz="2800" b="1" i="1" dirty="0"/>
              <a:t>P</a:t>
            </a:r>
            <a:endParaRPr lang="en-US" altLang="zh-CN" sz="2800" i="1" dirty="0"/>
          </a:p>
        </p:txBody>
      </p:sp>
      <p:sp>
        <p:nvSpPr>
          <p:cNvPr id="952391" name="Line 71"/>
          <p:cNvSpPr/>
          <p:nvPr/>
        </p:nvSpPr>
        <p:spPr>
          <a:xfrm>
            <a:off x="6372225" y="2673350"/>
            <a:ext cx="144463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triangle" w="sm" len="sm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52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5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5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95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5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95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5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5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5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75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5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75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75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95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875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375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95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75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5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5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5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5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5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5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75"/>
                                        <p:tgtEl>
                                          <p:spTgt spid="95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75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95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95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95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5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95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3" dur="500"/>
                                        <p:tgtEl>
                                          <p:spTgt spid="95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500"/>
                            </p:stCondLst>
                            <p:childTnLst>
                              <p:par>
                                <p:cTn id="1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95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9" dur="500"/>
                                        <p:tgtEl>
                                          <p:spTgt spid="95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3" dur="500"/>
                                        <p:tgtEl>
                                          <p:spTgt spid="95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500"/>
                            </p:stCondLst>
                            <p:childTnLst>
                              <p:par>
                                <p:cTn id="20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7" dur="500"/>
                                        <p:tgtEl>
                                          <p:spTgt spid="95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1" dur="500"/>
                                        <p:tgtEl>
                                          <p:spTgt spid="95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6" dur="500"/>
                                        <p:tgtEl>
                                          <p:spTgt spid="95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95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95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500"/>
                            </p:stCondLst>
                            <p:childTnLst>
                              <p:par>
                                <p:cTn id="2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9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000"/>
                            </p:stCondLst>
                            <p:childTnLst>
                              <p:par>
                                <p:cTn id="2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95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500"/>
                            </p:stCondLst>
                            <p:childTnLst>
                              <p:par>
                                <p:cTn id="2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4" dur="500"/>
                                        <p:tgtEl>
                                          <p:spTgt spid="9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8" dur="500"/>
                                        <p:tgtEl>
                                          <p:spTgt spid="95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95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75"/>
                                        <p:tgtEl>
                                          <p:spTgt spid="95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2" grpId="0"/>
      <p:bldP spid="952324" grpId="0"/>
      <p:bldP spid="952325" grpId="0"/>
      <p:bldP spid="952327" grpId="0" animBg="1"/>
      <p:bldP spid="952358" grpId="0"/>
      <p:bldP spid="952365" grpId="0" animBg="1"/>
      <p:bldP spid="952370" grpId="0"/>
      <p:bldP spid="952372" grpId="0" animBg="1"/>
      <p:bldP spid="952379" grpId="0"/>
      <p:bldP spid="952382" grpId="0"/>
      <p:bldP spid="952383" grpId="0"/>
      <p:bldP spid="952384" grpId="0"/>
      <p:bldP spid="9523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6" name="AutoShape 2"/>
          <p:cNvSpPr/>
          <p:nvPr/>
        </p:nvSpPr>
        <p:spPr>
          <a:xfrm>
            <a:off x="5435600" y="4581525"/>
            <a:ext cx="2089150" cy="720725"/>
          </a:xfrm>
          <a:prstGeom prst="cloudCallout">
            <a:avLst>
              <a:gd name="adj1" fmla="val -83815"/>
              <a:gd name="adj2" fmla="val 64537"/>
            </a:avLst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b="1" dirty="0"/>
          </a:p>
        </p:txBody>
      </p:sp>
      <p:sp>
        <p:nvSpPr>
          <p:cNvPr id="953347" name="Text Box 3"/>
          <p:cNvSpPr txBox="1"/>
          <p:nvPr/>
        </p:nvSpPr>
        <p:spPr>
          <a:xfrm>
            <a:off x="2051050" y="1196975"/>
            <a:ext cx="42957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1º </a:t>
            </a:r>
            <a:r>
              <a:rPr lang="en-US" altLang="zh-CN" sz="2800" b="1" baseline="30000" dirty="0"/>
              <a:t>  </a:t>
            </a:r>
            <a:r>
              <a:rPr lang="zh-CN" altLang="en-US" sz="2800" b="1" dirty="0"/>
              <a:t>若导线无限长</a:t>
            </a:r>
          </a:p>
        </p:txBody>
      </p:sp>
      <p:graphicFrame>
        <p:nvGraphicFramePr>
          <p:cNvPr id="953348" name="Object 4"/>
          <p:cNvGraphicFramePr>
            <a:graphicFrameLocks noChangeAspect="1"/>
          </p:cNvGraphicFramePr>
          <p:nvPr/>
        </p:nvGraphicFramePr>
        <p:xfrm>
          <a:off x="4643438" y="1754188"/>
          <a:ext cx="504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r:id="rId3" imgW="673100" imgH="419100" progId="Equation.3">
                  <p:embed/>
                </p:oleObj>
              </mc:Choice>
              <mc:Fallback>
                <p:oleObj r:id="rId3" imgW="673100" imgH="4191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3438" y="1754188"/>
                        <a:ext cx="5048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49" name="Text Box 5"/>
          <p:cNvSpPr txBox="1"/>
          <p:nvPr/>
        </p:nvSpPr>
        <p:spPr>
          <a:xfrm>
            <a:off x="2133600" y="2205038"/>
            <a:ext cx="5822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2º</a:t>
            </a:r>
            <a:r>
              <a:rPr lang="en-US" altLang="zh-CN" sz="2800" b="1" baseline="30000" dirty="0"/>
              <a:t>  </a:t>
            </a:r>
            <a:r>
              <a:rPr lang="zh-CN" altLang="en-US" sz="2800" b="1" dirty="0"/>
              <a:t>若导线半无限长</a:t>
            </a:r>
          </a:p>
        </p:txBody>
      </p:sp>
      <p:graphicFrame>
        <p:nvGraphicFramePr>
          <p:cNvPr id="953350" name="Object 6"/>
          <p:cNvGraphicFramePr>
            <a:graphicFrameLocks noChangeAspect="1"/>
          </p:cNvGraphicFramePr>
          <p:nvPr/>
        </p:nvGraphicFramePr>
        <p:xfrm>
          <a:off x="3305175" y="2663825"/>
          <a:ext cx="22034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r:id="rId5" imgW="2400300" imgH="711200" progId="Equation.DSMT4">
                  <p:embed/>
                </p:oleObj>
              </mc:Choice>
              <mc:Fallback>
                <p:oleObj r:id="rId5" imgW="2400300" imgH="7112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5175" y="2663825"/>
                        <a:ext cx="22034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1" name="Object 7"/>
          <p:cNvGraphicFramePr>
            <a:graphicFrameLocks noChangeAspect="1"/>
          </p:cNvGraphicFramePr>
          <p:nvPr/>
        </p:nvGraphicFramePr>
        <p:xfrm>
          <a:off x="5818188" y="2565400"/>
          <a:ext cx="12017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r:id="rId7" imgW="1752600" imgH="1041400" progId="Equation.DSMT4">
                  <p:embed/>
                </p:oleObj>
              </mc:Choice>
              <mc:Fallback>
                <p:oleObj r:id="rId7" imgW="1752600" imgH="10414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18188" y="2565400"/>
                        <a:ext cx="1201737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2" name="Object 8"/>
          <p:cNvGraphicFramePr>
            <a:graphicFrameLocks noChangeAspect="1"/>
          </p:cNvGraphicFramePr>
          <p:nvPr/>
        </p:nvGraphicFramePr>
        <p:xfrm>
          <a:off x="5867400" y="1555750"/>
          <a:ext cx="10810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r:id="rId9" imgW="1752600" imgH="1041400" progId="Equation.DSMT4">
                  <p:embed/>
                </p:oleObj>
              </mc:Choice>
              <mc:Fallback>
                <p:oleObj r:id="rId9" imgW="1752600" imgH="10414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1555750"/>
                        <a:ext cx="1081088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3" name="Text Box 9"/>
          <p:cNvSpPr txBox="1"/>
          <p:nvPr/>
        </p:nvSpPr>
        <p:spPr>
          <a:xfrm>
            <a:off x="3492500" y="3429000"/>
            <a:ext cx="5219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3º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  </a:t>
            </a:r>
            <a:r>
              <a:rPr lang="en-US" altLang="zh-CN" sz="2800" b="1" i="1" dirty="0">
                <a:solidFill>
                  <a:schemeClr val="tx2"/>
                </a:solidFill>
              </a:rPr>
              <a:t>P</a:t>
            </a:r>
            <a:r>
              <a:rPr lang="zh-CN" altLang="en-US" sz="2800" b="1" dirty="0">
                <a:solidFill>
                  <a:schemeClr val="tx2"/>
                </a:solidFill>
              </a:rPr>
              <a:t>点</a:t>
            </a:r>
            <a:r>
              <a:rPr lang="zh-CN" altLang="en-US" sz="2800" b="1" dirty="0"/>
              <a:t>在导线的延长线上</a:t>
            </a:r>
          </a:p>
        </p:txBody>
      </p:sp>
      <p:graphicFrame>
        <p:nvGraphicFramePr>
          <p:cNvPr id="953354" name="Object 10"/>
          <p:cNvGraphicFramePr>
            <a:graphicFrameLocks noChangeAspect="1"/>
          </p:cNvGraphicFramePr>
          <p:nvPr/>
        </p:nvGraphicFramePr>
        <p:xfrm>
          <a:off x="5148263" y="1611313"/>
          <a:ext cx="53498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r:id="rId11" imgW="571500" imgH="711200" progId="Equation.DSMT4">
                  <p:embed/>
                </p:oleObj>
              </mc:Choice>
              <mc:Fallback>
                <p:oleObj r:id="rId11" imgW="571500" imgH="711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8263" y="1611313"/>
                        <a:ext cx="534987" cy="684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5" name="Object 11"/>
          <p:cNvGraphicFramePr>
            <a:graphicFrameLocks noChangeAspect="1"/>
          </p:cNvGraphicFramePr>
          <p:nvPr/>
        </p:nvGraphicFramePr>
        <p:xfrm>
          <a:off x="3276600" y="1754188"/>
          <a:ext cx="5746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r:id="rId13" imgW="698500" imgH="419100" progId="Equation.3">
                  <p:embed/>
                </p:oleObj>
              </mc:Choice>
              <mc:Fallback>
                <p:oleObj r:id="rId13" imgW="698500" imgH="4191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76600" y="1754188"/>
                        <a:ext cx="574675" cy="382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6" name="Object 12"/>
          <p:cNvGraphicFramePr>
            <a:graphicFrameLocks noChangeAspect="1"/>
          </p:cNvGraphicFramePr>
          <p:nvPr/>
        </p:nvGraphicFramePr>
        <p:xfrm>
          <a:off x="3851275" y="1592263"/>
          <a:ext cx="5048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r:id="rId15" imgW="571500" imgH="711200" progId="Equation.DSMT4">
                  <p:embed/>
                </p:oleObj>
              </mc:Choice>
              <mc:Fallback>
                <p:oleObj r:id="rId15" imgW="571500" imgH="7112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51275" y="1592263"/>
                        <a:ext cx="504825" cy="684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7" name="AutoShape 13"/>
          <p:cNvSpPr/>
          <p:nvPr/>
        </p:nvSpPr>
        <p:spPr>
          <a:xfrm>
            <a:off x="468313" y="476250"/>
            <a:ext cx="1600200" cy="137160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>
              <a:solidFill>
                <a:srgbClr val="FF0000"/>
              </a:solidFill>
            </a:endParaRPr>
          </a:p>
        </p:txBody>
      </p:sp>
      <p:sp>
        <p:nvSpPr>
          <p:cNvPr id="953358" name="Rectangle 14"/>
          <p:cNvSpPr/>
          <p:nvPr/>
        </p:nvSpPr>
        <p:spPr>
          <a:xfrm>
            <a:off x="7631113" y="3860800"/>
            <a:ext cx="1512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953359" name="Object 15"/>
          <p:cNvGraphicFramePr>
            <a:graphicFrameLocks noChangeAspect="1"/>
          </p:cNvGraphicFramePr>
          <p:nvPr/>
        </p:nvGraphicFramePr>
        <p:xfrm>
          <a:off x="5435600" y="3968750"/>
          <a:ext cx="20828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r:id="rId17" imgW="2438400" imgH="419100" progId="Equation.3">
                  <p:embed/>
                </p:oleObj>
              </mc:Choice>
              <mc:Fallback>
                <p:oleObj r:id="rId17" imgW="2438400" imgH="4191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35600" y="3968750"/>
                        <a:ext cx="20828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60" name="Text Box 16"/>
          <p:cNvSpPr txBox="1"/>
          <p:nvPr/>
        </p:nvSpPr>
        <p:spPr>
          <a:xfrm>
            <a:off x="684213" y="765175"/>
            <a:ext cx="187166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00"/>
                </a:solidFill>
                <a:ea typeface="隶书" panose="02010509060101010101" pitchFamily="49" charset="-122"/>
              </a:rPr>
              <a:t>讨论</a:t>
            </a:r>
          </a:p>
        </p:txBody>
      </p:sp>
      <p:sp>
        <p:nvSpPr>
          <p:cNvPr id="953361" name="AutoShape 17"/>
          <p:cNvSpPr/>
          <p:nvPr/>
        </p:nvSpPr>
        <p:spPr>
          <a:xfrm>
            <a:off x="1295400" y="5102225"/>
            <a:ext cx="215900" cy="1223963"/>
          </a:xfrm>
          <a:prstGeom prst="can">
            <a:avLst>
              <a:gd name="adj" fmla="val 26139"/>
            </a:avLst>
          </a:prstGeom>
          <a:gradFill rotWithShape="1">
            <a:gsLst>
              <a:gs pos="0">
                <a:srgbClr val="765E47"/>
              </a:gs>
              <a:gs pos="50000">
                <a:srgbClr val="FFCC99"/>
              </a:gs>
              <a:gs pos="100000">
                <a:srgbClr val="765E47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953362" name="Group 18"/>
          <p:cNvGrpSpPr/>
          <p:nvPr/>
        </p:nvGrpSpPr>
        <p:grpSpPr>
          <a:xfrm>
            <a:off x="250825" y="1557338"/>
            <a:ext cx="4953000" cy="3657600"/>
            <a:chOff x="48" y="240"/>
            <a:chExt cx="3120" cy="2304"/>
          </a:xfrm>
        </p:grpSpPr>
        <p:grpSp>
          <p:nvGrpSpPr>
            <p:cNvPr id="11301" name="Group 19"/>
            <p:cNvGrpSpPr/>
            <p:nvPr/>
          </p:nvGrpSpPr>
          <p:grpSpPr>
            <a:xfrm>
              <a:off x="48" y="240"/>
              <a:ext cx="3120" cy="2304"/>
              <a:chOff x="48" y="240"/>
              <a:chExt cx="3120" cy="2304"/>
            </a:xfrm>
          </p:grpSpPr>
          <p:sp>
            <p:nvSpPr>
              <p:cNvPr id="11304" name="AutoShape 20"/>
              <p:cNvSpPr/>
              <p:nvPr/>
            </p:nvSpPr>
            <p:spPr>
              <a:xfrm>
                <a:off x="48" y="1824"/>
                <a:ext cx="3120" cy="720"/>
              </a:xfrm>
              <a:prstGeom prst="parallelogram">
                <a:avLst>
                  <a:gd name="adj" fmla="val 97361"/>
                </a:avLst>
              </a:prstGeom>
              <a:solidFill>
                <a:srgbClr val="66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1305" name="Line 21"/>
              <p:cNvSpPr/>
              <p:nvPr/>
            </p:nvSpPr>
            <p:spPr>
              <a:xfrm flipH="1" flipV="1">
                <a:off x="768" y="240"/>
                <a:ext cx="0" cy="196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11306" name="Object 22"/>
              <p:cNvGraphicFramePr>
                <a:graphicFrameLocks noChangeAspect="1"/>
              </p:cNvGraphicFramePr>
              <p:nvPr/>
            </p:nvGraphicFramePr>
            <p:xfrm>
              <a:off x="2448" y="2112"/>
              <a:ext cx="127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4" r:id="rId19" imgW="228600" imgH="228600" progId="Equation.3">
                      <p:embed/>
                    </p:oleObj>
                  </mc:Choice>
                  <mc:Fallback>
                    <p:oleObj r:id="rId19" imgW="228600" imgH="228600" progId="Equation.3">
                      <p:embed/>
                      <p:pic>
                        <p:nvPicPr>
                          <p:cNvPr id="0" name="图片 3165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48" y="2112"/>
                            <a:ext cx="127" cy="12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7" name="Object 23"/>
              <p:cNvGraphicFramePr>
                <a:graphicFrameLocks noChangeAspect="1"/>
              </p:cNvGraphicFramePr>
              <p:nvPr/>
            </p:nvGraphicFramePr>
            <p:xfrm>
              <a:off x="2348" y="2268"/>
              <a:ext cx="18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5" r:id="rId21" imgW="292100" imgH="292100" progId="Equation.3">
                      <p:embed/>
                    </p:oleObj>
                  </mc:Choice>
                  <mc:Fallback>
                    <p:oleObj r:id="rId21" imgW="292100" imgH="292100" progId="Equation.3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348" y="2268"/>
                            <a:ext cx="184" cy="1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8" name="Line 24"/>
              <p:cNvSpPr/>
              <p:nvPr/>
            </p:nvSpPr>
            <p:spPr>
              <a:xfrm>
                <a:off x="768" y="2208"/>
                <a:ext cx="23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11309" name="Object 25"/>
              <p:cNvGraphicFramePr>
                <a:graphicFrameLocks noChangeAspect="1"/>
              </p:cNvGraphicFramePr>
              <p:nvPr/>
            </p:nvGraphicFramePr>
            <p:xfrm>
              <a:off x="2900" y="2293"/>
              <a:ext cx="172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6" r:id="rId23" imgW="355600" imgH="292100" progId="Equation.3">
                      <p:embed/>
                    </p:oleObj>
                  </mc:Choice>
                  <mc:Fallback>
                    <p:oleObj r:id="rId23" imgW="355600" imgH="29210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900" y="2293"/>
                            <a:ext cx="172" cy="1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10" name="Line 26"/>
              <p:cNvSpPr/>
              <p:nvPr/>
            </p:nvSpPr>
            <p:spPr>
              <a:xfrm>
                <a:off x="240" y="576"/>
                <a:ext cx="528" cy="0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1" name="Line 27"/>
              <p:cNvSpPr/>
              <p:nvPr/>
            </p:nvSpPr>
            <p:spPr>
              <a:xfrm>
                <a:off x="192" y="1440"/>
                <a:ext cx="576" cy="0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2" name="Line 28"/>
              <p:cNvSpPr/>
              <p:nvPr/>
            </p:nvSpPr>
            <p:spPr>
              <a:xfrm flipV="1">
                <a:off x="768" y="1632"/>
                <a:ext cx="480" cy="5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11313" name="Object 29"/>
              <p:cNvGraphicFramePr>
                <a:graphicFrameLocks noChangeAspect="1"/>
              </p:cNvGraphicFramePr>
              <p:nvPr/>
            </p:nvGraphicFramePr>
            <p:xfrm>
              <a:off x="960" y="1584"/>
              <a:ext cx="167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7" r:id="rId25" imgW="266700" imgH="330200" progId="Equation.3">
                      <p:embed/>
                    </p:oleObj>
                  </mc:Choice>
                  <mc:Fallback>
                    <p:oleObj r:id="rId25" imgW="266700" imgH="3302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960" y="1584"/>
                            <a:ext cx="167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14" name="Object 30"/>
              <p:cNvGraphicFramePr>
                <a:graphicFrameLocks noChangeAspect="1"/>
              </p:cNvGraphicFramePr>
              <p:nvPr/>
            </p:nvGraphicFramePr>
            <p:xfrm>
              <a:off x="816" y="240"/>
              <a:ext cx="135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8" r:id="rId27" imgW="215900" imgH="266065" progId="Equation.3">
                      <p:embed/>
                    </p:oleObj>
                  </mc:Choice>
                  <mc:Fallback>
                    <p:oleObj r:id="rId27" imgW="215900" imgH="266065" progId="Equation.3">
                      <p:embed/>
                      <p:pic>
                        <p:nvPicPr>
                          <p:cNvPr id="0" name="图片 3139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816" y="240"/>
                            <a:ext cx="135" cy="16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15" name="Line 31"/>
              <p:cNvSpPr/>
              <p:nvPr/>
            </p:nvSpPr>
            <p:spPr>
              <a:xfrm>
                <a:off x="768" y="1440"/>
                <a:ext cx="1728" cy="72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6" name="Line 32"/>
              <p:cNvSpPr/>
              <p:nvPr/>
            </p:nvSpPr>
            <p:spPr>
              <a:xfrm>
                <a:off x="768" y="576"/>
                <a:ext cx="1728" cy="15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7" name="Arc 33"/>
              <p:cNvSpPr/>
              <p:nvPr/>
            </p:nvSpPr>
            <p:spPr>
              <a:xfrm rot="-5400000">
                <a:off x="1671" y="1688"/>
                <a:ext cx="400" cy="5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4991" h="21600" fill="none">
                    <a:moveTo>
                      <a:pt x="0" y="1046"/>
                    </a:moveTo>
                    <a:cubicBezTo>
                      <a:pt x="2145" y="353"/>
                      <a:pt x="4386" y="-1"/>
                      <a:pt x="6641" y="0"/>
                    </a:cubicBezTo>
                    <a:cubicBezTo>
                      <a:pt x="9508" y="0"/>
                      <a:pt x="12346" y="570"/>
                      <a:pt x="14990" y="1679"/>
                    </a:cubicBezTo>
                  </a:path>
                  <a:path w="14991" h="21600" stroke="0">
                    <a:moveTo>
                      <a:pt x="0" y="1046"/>
                    </a:moveTo>
                    <a:cubicBezTo>
                      <a:pt x="2145" y="353"/>
                      <a:pt x="4386" y="-1"/>
                      <a:pt x="6641" y="0"/>
                    </a:cubicBezTo>
                    <a:cubicBezTo>
                      <a:pt x="9508" y="0"/>
                      <a:pt x="12346" y="570"/>
                      <a:pt x="14990" y="1679"/>
                    </a:cubicBezTo>
                    <a:lnTo>
                      <a:pt x="6641" y="21600"/>
                    </a:lnTo>
                    <a:lnTo>
                      <a:pt x="0" y="104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accent2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8" name="Arc 34"/>
              <p:cNvSpPr/>
              <p:nvPr/>
            </p:nvSpPr>
            <p:spPr>
              <a:xfrm rot="-5400000">
                <a:off x="1120" y="1472"/>
                <a:ext cx="832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31154" h="21600" fill="none">
                    <a:moveTo>
                      <a:pt x="-1" y="3080"/>
                    </a:moveTo>
                    <a:cubicBezTo>
                      <a:pt x="3357" y="1064"/>
                      <a:pt x="7200" y="-1"/>
                      <a:pt x="11117" y="0"/>
                    </a:cubicBezTo>
                    <a:cubicBezTo>
                      <a:pt x="19931" y="0"/>
                      <a:pt x="27862" y="5356"/>
                      <a:pt x="31154" y="13532"/>
                    </a:cubicBezTo>
                  </a:path>
                  <a:path w="31154" h="21600" stroke="0">
                    <a:moveTo>
                      <a:pt x="-1" y="3080"/>
                    </a:moveTo>
                    <a:cubicBezTo>
                      <a:pt x="3357" y="1064"/>
                      <a:pt x="7200" y="-1"/>
                      <a:pt x="11117" y="0"/>
                    </a:cubicBezTo>
                    <a:cubicBezTo>
                      <a:pt x="19931" y="0"/>
                      <a:pt x="27862" y="5356"/>
                      <a:pt x="31154" y="13532"/>
                    </a:cubicBezTo>
                    <a:lnTo>
                      <a:pt x="11117" y="21600"/>
                    </a:lnTo>
                    <a:lnTo>
                      <a:pt x="-1" y="308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accent2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319" name="Object 35"/>
              <p:cNvGraphicFramePr>
                <a:graphicFrameLocks noChangeAspect="1"/>
              </p:cNvGraphicFramePr>
              <p:nvPr/>
            </p:nvGraphicFramePr>
            <p:xfrm>
              <a:off x="1628" y="1880"/>
              <a:ext cx="23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9" r:id="rId29" imgW="457200" imgH="533400" progId="Equation.DSMT4">
                      <p:embed/>
                    </p:oleObj>
                  </mc:Choice>
                  <mc:Fallback>
                    <p:oleObj r:id="rId29" imgW="457200" imgH="533400" progId="Equation.DSMT4">
                      <p:embed/>
                      <p:pic>
                        <p:nvPicPr>
                          <p:cNvPr id="0" name="图片 3135"/>
                          <p:cNvPicPr/>
                          <p:nvPr/>
                        </p:nvPicPr>
                        <p:blipFill>
                          <a:blip r:embed="rId3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628" y="1880"/>
                            <a:ext cx="23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0" name="Object 36"/>
              <p:cNvGraphicFramePr>
                <a:graphicFrameLocks noChangeAspect="1"/>
              </p:cNvGraphicFramePr>
              <p:nvPr/>
            </p:nvGraphicFramePr>
            <p:xfrm>
              <a:off x="1244" y="1160"/>
              <a:ext cx="24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0" r:id="rId31" imgW="482600" imgH="533400" progId="Equation.DSMT4">
                      <p:embed/>
                    </p:oleObj>
                  </mc:Choice>
                  <mc:Fallback>
                    <p:oleObj r:id="rId31" imgW="482600" imgH="533400" progId="Equation.DSMT4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32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44" y="1160"/>
                            <a:ext cx="24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1" name="Object 37"/>
              <p:cNvGraphicFramePr>
                <a:graphicFrameLocks noChangeAspect="1"/>
              </p:cNvGraphicFramePr>
              <p:nvPr/>
            </p:nvGraphicFramePr>
            <p:xfrm>
              <a:off x="624" y="2064"/>
              <a:ext cx="135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1" r:id="rId33" imgW="215900" imgH="330200" progId="Equation.3">
                      <p:embed/>
                    </p:oleObj>
                  </mc:Choice>
                  <mc:Fallback>
                    <p:oleObj r:id="rId33" imgW="215900" imgH="330200" progId="Equation.3">
                      <p:embed/>
                      <p:pic>
                        <p:nvPicPr>
                          <p:cNvPr id="0" name="图片 3137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624" y="2064"/>
                            <a:ext cx="135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22" name="Group 38"/>
              <p:cNvGrpSpPr/>
              <p:nvPr/>
            </p:nvGrpSpPr>
            <p:grpSpPr>
              <a:xfrm>
                <a:off x="192" y="576"/>
                <a:ext cx="253" cy="864"/>
                <a:chOff x="144" y="1008"/>
                <a:chExt cx="253" cy="864"/>
              </a:xfrm>
            </p:grpSpPr>
            <p:sp>
              <p:nvSpPr>
                <p:cNvPr id="11326" name="Rectangle 39"/>
                <p:cNvSpPr/>
                <p:nvPr/>
              </p:nvSpPr>
              <p:spPr>
                <a:xfrm>
                  <a:off x="144" y="1296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b="1" i="1" dirty="0">
                      <a:solidFill>
                        <a:schemeClr val="tx2"/>
                      </a:solidFill>
                    </a:rPr>
                    <a:t>L</a:t>
                  </a:r>
                </a:p>
              </p:txBody>
            </p:sp>
            <p:sp>
              <p:nvSpPr>
                <p:cNvPr id="11327" name="Line 40"/>
                <p:cNvSpPr/>
                <p:nvPr/>
              </p:nvSpPr>
              <p:spPr>
                <a:xfrm flipV="1">
                  <a:off x="240" y="1008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11328" name="Line 41"/>
                <p:cNvSpPr/>
                <p:nvPr/>
              </p:nvSpPr>
              <p:spPr>
                <a:xfrm>
                  <a:off x="240" y="1584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1323" name="AutoShape 42"/>
              <p:cNvSpPr/>
              <p:nvPr/>
            </p:nvSpPr>
            <p:spPr>
              <a:xfrm>
                <a:off x="720" y="576"/>
                <a:ext cx="96" cy="912"/>
              </a:xfrm>
              <a:prstGeom prst="can">
                <a:avLst>
                  <a:gd name="adj" fmla="val 67685"/>
                </a:avLst>
              </a:prstGeom>
              <a:gradFill rotWithShape="0">
                <a:gsLst>
                  <a:gs pos="0">
                    <a:srgbClr val="433628"/>
                  </a:gs>
                  <a:gs pos="50000">
                    <a:srgbClr val="FFCC99"/>
                  </a:gs>
                  <a:gs pos="100000">
                    <a:srgbClr val="433628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graphicFrame>
            <p:nvGraphicFramePr>
              <p:cNvPr id="11324" name="Object 43"/>
              <p:cNvGraphicFramePr>
                <a:graphicFrameLocks noChangeAspect="1"/>
              </p:cNvGraphicFramePr>
              <p:nvPr/>
            </p:nvGraphicFramePr>
            <p:xfrm>
              <a:off x="576" y="33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2" r:id="rId35" imgW="279400" imgH="381000" progId="Equation.3">
                      <p:embed/>
                    </p:oleObj>
                  </mc:Choice>
                  <mc:Fallback>
                    <p:oleObj r:id="rId35" imgW="279400" imgH="381000" progId="Equation.3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36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76" y="33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25" name="Line 44"/>
              <p:cNvSpPr/>
              <p:nvPr/>
            </p:nvSpPr>
            <p:spPr>
              <a:xfrm flipV="1">
                <a:off x="768" y="38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1302" name="Line 45"/>
            <p:cNvSpPr/>
            <p:nvPr/>
          </p:nvSpPr>
          <p:spPr>
            <a:xfrm flipV="1">
              <a:off x="2496" y="1872"/>
              <a:ext cx="288" cy="33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1303" name="Object 46"/>
            <p:cNvGraphicFramePr>
              <a:graphicFrameLocks noChangeAspect="1"/>
            </p:cNvGraphicFramePr>
            <p:nvPr/>
          </p:nvGraphicFramePr>
          <p:xfrm>
            <a:off x="2420" y="1728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3" r:id="rId37" imgW="355600" imgH="457200" progId="Equation.3">
                    <p:embed/>
                  </p:oleObj>
                </mc:Choice>
                <mc:Fallback>
                  <p:oleObj r:id="rId37" imgW="355600" imgH="4572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3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0" y="1728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3391" name="Group 47"/>
          <p:cNvGrpSpPr/>
          <p:nvPr/>
        </p:nvGrpSpPr>
        <p:grpSpPr>
          <a:xfrm>
            <a:off x="250825" y="4238625"/>
            <a:ext cx="2339975" cy="790575"/>
            <a:chOff x="45" y="1843"/>
            <a:chExt cx="1474" cy="498"/>
          </a:xfrm>
        </p:grpSpPr>
        <p:sp>
          <p:nvSpPr>
            <p:cNvPr id="11295" name="Oval 48"/>
            <p:cNvSpPr/>
            <p:nvPr/>
          </p:nvSpPr>
          <p:spPr>
            <a:xfrm>
              <a:off x="340" y="1979"/>
              <a:ext cx="862" cy="226"/>
            </a:xfrm>
            <a:prstGeom prst="ellipse">
              <a:avLst/>
            </a:prstGeom>
            <a:noFill/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1296" name="Oval 49"/>
            <p:cNvSpPr/>
            <p:nvPr/>
          </p:nvSpPr>
          <p:spPr>
            <a:xfrm>
              <a:off x="204" y="1933"/>
              <a:ext cx="1134" cy="318"/>
            </a:xfrm>
            <a:prstGeom prst="ellipse">
              <a:avLst/>
            </a:prstGeom>
            <a:noFill/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1297" name="Oval 50"/>
            <p:cNvSpPr/>
            <p:nvPr/>
          </p:nvSpPr>
          <p:spPr>
            <a:xfrm>
              <a:off x="45" y="1843"/>
              <a:ext cx="1474" cy="498"/>
            </a:xfrm>
            <a:prstGeom prst="ellipse">
              <a:avLst/>
            </a:prstGeom>
            <a:noFill/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1298" name="Line 51"/>
            <p:cNvSpPr/>
            <p:nvPr/>
          </p:nvSpPr>
          <p:spPr>
            <a:xfrm>
              <a:off x="657" y="2205"/>
              <a:ext cx="182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dash"/>
              <a:headEnd type="none" w="med" len="med"/>
              <a:tailEnd type="triangle" w="med" len="lg"/>
            </a:ln>
          </p:spPr>
        </p:sp>
        <p:sp>
          <p:nvSpPr>
            <p:cNvPr id="11299" name="Line 52"/>
            <p:cNvSpPr/>
            <p:nvPr/>
          </p:nvSpPr>
          <p:spPr>
            <a:xfrm>
              <a:off x="657" y="2251"/>
              <a:ext cx="182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1300" name="Line 53"/>
            <p:cNvSpPr/>
            <p:nvPr/>
          </p:nvSpPr>
          <p:spPr>
            <a:xfrm>
              <a:off x="657" y="2341"/>
              <a:ext cx="182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triangle" w="med" len="lg"/>
            </a:ln>
          </p:spPr>
        </p:sp>
      </p:grpSp>
      <p:sp>
        <p:nvSpPr>
          <p:cNvPr id="953398" name="AutoShape 54"/>
          <p:cNvSpPr/>
          <p:nvPr/>
        </p:nvSpPr>
        <p:spPr>
          <a:xfrm>
            <a:off x="1295400" y="2005013"/>
            <a:ext cx="215900" cy="2665412"/>
          </a:xfrm>
          <a:prstGeom prst="can">
            <a:avLst>
              <a:gd name="adj" fmla="val 56926"/>
            </a:avLst>
          </a:prstGeom>
          <a:gradFill rotWithShape="1">
            <a:gsLst>
              <a:gs pos="0">
                <a:srgbClr val="765E47"/>
              </a:gs>
              <a:gs pos="50000">
                <a:srgbClr val="FFCC99"/>
              </a:gs>
              <a:gs pos="100000">
                <a:srgbClr val="765E47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53399" name="Object 55"/>
          <p:cNvGraphicFramePr>
            <a:graphicFrameLocks noChangeAspect="1"/>
          </p:cNvGraphicFramePr>
          <p:nvPr/>
        </p:nvGraphicFramePr>
        <p:xfrm>
          <a:off x="2519363" y="4741863"/>
          <a:ext cx="2651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r:id="rId39" imgW="266700" imgH="254000" progId="Equation.DSMT4">
                  <p:embed/>
                </p:oleObj>
              </mc:Choice>
              <mc:Fallback>
                <p:oleObj r:id="rId39" imgW="266700" imgH="2540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519363" y="4741863"/>
                        <a:ext cx="265112" cy="252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3400" name="Group 56"/>
          <p:cNvGrpSpPr/>
          <p:nvPr/>
        </p:nvGrpSpPr>
        <p:grpSpPr>
          <a:xfrm>
            <a:off x="3419475" y="277813"/>
            <a:ext cx="4418013" cy="919162"/>
            <a:chOff x="901" y="73"/>
            <a:chExt cx="2783" cy="579"/>
          </a:xfrm>
        </p:grpSpPr>
        <p:graphicFrame>
          <p:nvGraphicFramePr>
            <p:cNvPr id="11293" name="Object 57"/>
            <p:cNvGraphicFramePr>
              <a:graphicFrameLocks noChangeAspect="1"/>
            </p:cNvGraphicFramePr>
            <p:nvPr/>
          </p:nvGraphicFramePr>
          <p:xfrm>
            <a:off x="1420" y="100"/>
            <a:ext cx="226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5" r:id="rId41" imgW="4749800" imgH="1130300" progId="Equation.DSMT4">
                    <p:embed/>
                  </p:oleObj>
                </mc:Choice>
                <mc:Fallback>
                  <p:oleObj r:id="rId41" imgW="4749800" imgH="11303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4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20" y="100"/>
                          <a:ext cx="2264" cy="552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4" name="Object 58"/>
            <p:cNvGraphicFramePr>
              <a:graphicFrameLocks noChangeAspect="1"/>
            </p:cNvGraphicFramePr>
            <p:nvPr/>
          </p:nvGraphicFramePr>
          <p:xfrm>
            <a:off x="901" y="73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6" r:id="rId43" imgW="4343400" imgH="4013200" progId="MS_ClipArt_Gallery.2">
                    <p:embed/>
                  </p:oleObj>
                </mc:Choice>
                <mc:Fallback>
                  <p:oleObj r:id="rId43" imgW="4343400" imgH="4013200" progId="MS_ClipArt_Gallery.2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44">
                          <a:clrChange>
                            <a:clrFrom>
                              <a:srgbClr val="000000"/>
                            </a:clrFrom>
                            <a:clrTo>
                              <a:srgbClr val="FF3399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1" y="73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3403" name="Text Box 59"/>
          <p:cNvSpPr txBox="1"/>
          <p:nvPr/>
        </p:nvSpPr>
        <p:spPr>
          <a:xfrm>
            <a:off x="5867400" y="4581525"/>
            <a:ext cx="23764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ea typeface="隶书" panose="02010509060101010101" pitchFamily="49" charset="-122"/>
              </a:rPr>
              <a:t>结论</a:t>
            </a:r>
            <a:r>
              <a:rPr lang="zh-CN" altLang="en-US" dirty="0">
                <a:ea typeface="隶书" panose="02010509060101010101" pitchFamily="49" charset="-122"/>
              </a:rPr>
              <a:t>：</a:t>
            </a:r>
          </a:p>
        </p:txBody>
      </p:sp>
      <p:sp>
        <p:nvSpPr>
          <p:cNvPr id="953404" name="Text Box 60"/>
          <p:cNvSpPr txBox="1"/>
          <p:nvPr/>
        </p:nvSpPr>
        <p:spPr>
          <a:xfrm>
            <a:off x="1979613" y="5300663"/>
            <a:ext cx="71643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楷体_GB2312" pitchFamily="49" charset="-122"/>
                <a:sym typeface="Wingdings" panose="05000000000000000000" pitchFamily="2" charset="2"/>
              </a:rPr>
              <a:t>(1)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rPr>
              <a:t>无限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长载流直导线周围</a:t>
            </a:r>
            <a:r>
              <a:rPr lang="en-US" altLang="zh-CN" sz="2800" b="1" i="1" dirty="0"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成反比。</a:t>
            </a:r>
          </a:p>
        </p:txBody>
      </p:sp>
      <p:sp>
        <p:nvSpPr>
          <p:cNvPr id="953405" name="Text Box 61"/>
          <p:cNvSpPr txBox="1"/>
          <p:nvPr/>
        </p:nvSpPr>
        <p:spPr>
          <a:xfrm>
            <a:off x="1979613" y="5805488"/>
            <a:ext cx="71643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(2)    </a:t>
            </a:r>
            <a:r>
              <a:rPr lang="zh-CN" altLang="en-US" sz="2800" b="1" dirty="0">
                <a:ea typeface="楷体_GB2312" pitchFamily="49" charset="-122"/>
              </a:rPr>
              <a:t>在垂直导线平面内沿同心圆切线方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     向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并与电流方向成右手螺旋关系</a:t>
            </a:r>
            <a:r>
              <a:rPr lang="zh-CN" altLang="en-US" sz="2800" dirty="0"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953407" name="Object 63"/>
          <p:cNvGraphicFramePr>
            <a:graphicFrameLocks noChangeAspect="1"/>
          </p:cNvGraphicFramePr>
          <p:nvPr/>
        </p:nvGraphicFramePr>
        <p:xfrm>
          <a:off x="7385050" y="1628775"/>
          <a:ext cx="12334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r:id="rId45" imgW="2146300" imgH="1041400" progId="Equation.DSMT4">
                  <p:embed/>
                </p:oleObj>
              </mc:Choice>
              <mc:Fallback>
                <p:oleObj r:id="rId45" imgW="2146300" imgH="10414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85050" y="1628775"/>
                        <a:ext cx="1233488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408" name="Text Box 64"/>
          <p:cNvSpPr txBox="1"/>
          <p:nvPr/>
        </p:nvSpPr>
        <p:spPr>
          <a:xfrm>
            <a:off x="7451725" y="1289050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比较</a:t>
            </a:r>
            <a:r>
              <a:rPr lang="en-US" altLang="zh-CN" sz="2400" b="1" dirty="0"/>
              <a:t>:</a:t>
            </a:r>
          </a:p>
        </p:txBody>
      </p:sp>
      <p:graphicFrame>
        <p:nvGraphicFramePr>
          <p:cNvPr id="953409" name="Object 65"/>
          <p:cNvGraphicFramePr>
            <a:graphicFrameLocks noChangeAspect="1"/>
          </p:cNvGraphicFramePr>
          <p:nvPr/>
        </p:nvGraphicFramePr>
        <p:xfrm>
          <a:off x="2551113" y="5845175"/>
          <a:ext cx="292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r:id="rId47" imgW="355600" imgH="482600" progId="Equation.DSMT4">
                  <p:embed/>
                </p:oleObj>
              </mc:Choice>
              <mc:Fallback>
                <p:oleObj r:id="rId47" imgW="355600" imgH="4826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1113" y="5845175"/>
                        <a:ext cx="2921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3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3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95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53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53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95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5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5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5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5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53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53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5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95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95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5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53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53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95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95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953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" fill="hold"/>
                                        <p:tgtEl>
                                          <p:spTgt spid="953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953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953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953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953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5" dur="300"/>
                                        <p:tgtEl>
                                          <p:spTgt spid="95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95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6" grpId="0" animBg="1"/>
      <p:bldP spid="953347" grpId="0"/>
      <p:bldP spid="953349" grpId="0"/>
      <p:bldP spid="953353" grpId="0"/>
      <p:bldP spid="953357" grpId="0" animBg="1"/>
      <p:bldP spid="953358" grpId="0"/>
      <p:bldP spid="953360" grpId="0"/>
      <p:bldP spid="953361" grpId="0" animBg="1"/>
      <p:bldP spid="953398" grpId="0" animBg="1"/>
      <p:bldP spid="953403" grpId="0"/>
      <p:bldP spid="953404" grpId="0"/>
      <p:bldP spid="953405" grpId="0"/>
      <p:bldP spid="9534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Oval 2"/>
          <p:cNvSpPr/>
          <p:nvPr/>
        </p:nvSpPr>
        <p:spPr>
          <a:xfrm>
            <a:off x="5554663" y="2341563"/>
            <a:ext cx="914400" cy="1828800"/>
          </a:xfrm>
          <a:prstGeom prst="ellipse">
            <a:avLst/>
          </a:prstGeom>
          <a:noFill/>
          <a:ln w="57150" cap="flat" cmpd="sng">
            <a:solidFill>
              <a:srgbClr val="666633"/>
            </a:solidFill>
            <a:prstDash val="solid"/>
            <a:headEnd type="none" w="med" len="med"/>
            <a:tailEnd type="none" w="sm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sp>
        <p:nvSpPr>
          <p:cNvPr id="954371" name="Text Box 3"/>
          <p:cNvSpPr txBox="1"/>
          <p:nvPr/>
        </p:nvSpPr>
        <p:spPr>
          <a:xfrm>
            <a:off x="739775" y="1325563"/>
            <a:ext cx="1419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endParaRPr lang="zh-CN" altLang="en-US" sz="2800" dirty="0"/>
          </a:p>
        </p:txBody>
      </p:sp>
      <p:sp>
        <p:nvSpPr>
          <p:cNvPr id="954372" name="Line 4"/>
          <p:cNvSpPr/>
          <p:nvPr/>
        </p:nvSpPr>
        <p:spPr>
          <a:xfrm>
            <a:off x="6011863" y="2341563"/>
            <a:ext cx="0" cy="1828800"/>
          </a:xfrm>
          <a:prstGeom prst="line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sm" len="med"/>
          </a:ln>
        </p:spPr>
      </p:sp>
      <p:sp>
        <p:nvSpPr>
          <p:cNvPr id="954373" name="Line 5"/>
          <p:cNvSpPr/>
          <p:nvPr/>
        </p:nvSpPr>
        <p:spPr>
          <a:xfrm>
            <a:off x="6011863" y="2330450"/>
            <a:ext cx="18288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med"/>
          </a:ln>
        </p:spPr>
      </p:sp>
      <p:sp>
        <p:nvSpPr>
          <p:cNvPr id="954374" name="Line 6"/>
          <p:cNvSpPr/>
          <p:nvPr/>
        </p:nvSpPr>
        <p:spPr>
          <a:xfrm flipV="1">
            <a:off x="6011863" y="3255963"/>
            <a:ext cx="18288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sm" len="med"/>
          </a:ln>
        </p:spPr>
      </p:sp>
      <p:grpSp>
        <p:nvGrpSpPr>
          <p:cNvPr id="954375" name="Group 7"/>
          <p:cNvGrpSpPr/>
          <p:nvPr/>
        </p:nvGrpSpPr>
        <p:grpSpPr>
          <a:xfrm>
            <a:off x="7916863" y="2951163"/>
            <a:ext cx="322262" cy="314325"/>
            <a:chOff x="4752" y="864"/>
            <a:chExt cx="203" cy="198"/>
          </a:xfrm>
        </p:grpSpPr>
        <p:sp>
          <p:nvSpPr>
            <p:cNvPr id="12351" name="Freeform 8"/>
            <p:cNvSpPr/>
            <p:nvPr/>
          </p:nvSpPr>
          <p:spPr>
            <a:xfrm>
              <a:off x="4752" y="997"/>
              <a:ext cx="49" cy="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59"/>
                </a:cxn>
              </a:cxnLst>
              <a:rect l="0" t="0" r="0" b="0"/>
              <a:pathLst>
                <a:path w="49" h="59">
                  <a:moveTo>
                    <a:pt x="0" y="0"/>
                  </a:moveTo>
                  <a:cubicBezTo>
                    <a:pt x="46" y="15"/>
                    <a:pt x="29" y="20"/>
                    <a:pt x="49" y="59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52" name="Object 9"/>
            <p:cNvGraphicFramePr>
              <a:graphicFrameLocks noChangeAspect="1"/>
            </p:cNvGraphicFramePr>
            <p:nvPr/>
          </p:nvGraphicFramePr>
          <p:xfrm>
            <a:off x="4800" y="864"/>
            <a:ext cx="15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r:id="rId3" imgW="139700" imgH="177800" progId="Equation.3">
                    <p:embed/>
                  </p:oleObj>
                </mc:Choice>
                <mc:Fallback>
                  <p:oleObj r:id="rId3" imgW="139700" imgH="1778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0" y="864"/>
                          <a:ext cx="155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4378" name="Object 10"/>
          <p:cNvGraphicFramePr>
            <a:graphicFrameLocks noChangeAspect="1"/>
          </p:cNvGraphicFramePr>
          <p:nvPr/>
        </p:nvGraphicFramePr>
        <p:xfrm>
          <a:off x="7667625" y="2351088"/>
          <a:ext cx="48418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r:id="rId5" imgW="228600" imgH="215900" progId="Equation.DSMT4">
                  <p:embed/>
                </p:oleObj>
              </mc:Choice>
              <mc:Fallback>
                <p:oleObj r:id="rId5" imgW="228600" imgH="2159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67625" y="2351088"/>
                        <a:ext cx="484188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9" name="Object 11"/>
          <p:cNvGraphicFramePr>
            <a:graphicFrameLocks noChangeAspect="1"/>
          </p:cNvGraphicFramePr>
          <p:nvPr/>
        </p:nvGraphicFramePr>
        <p:xfrm>
          <a:off x="7580313" y="3549650"/>
          <a:ext cx="5556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r:id="rId7" imgW="266065" imgH="215900" progId="Equation.DSMT4">
                  <p:embed/>
                </p:oleObj>
              </mc:Choice>
              <mc:Fallback>
                <p:oleObj r:id="rId7" imgW="266065" imgH="2159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80313" y="3549650"/>
                        <a:ext cx="555625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380" name="Rectangle 12"/>
          <p:cNvSpPr/>
          <p:nvPr/>
        </p:nvSpPr>
        <p:spPr>
          <a:xfrm>
            <a:off x="611188" y="404813"/>
            <a:ext cx="83899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例、</a:t>
            </a:r>
            <a:r>
              <a:rPr lang="zh-CN" altLang="en-US" sz="2800" b="1" dirty="0"/>
              <a:t>求载流圆线圈轴线上的磁场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已知半径为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,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通电电流为</a:t>
            </a:r>
            <a:r>
              <a:rPr lang="en-US" altLang="zh-CN" sz="2800" b="1" i="1" dirty="0"/>
              <a:t>I</a:t>
            </a:r>
            <a:r>
              <a:rPr lang="zh-CN" altLang="en-US" sz="2800" b="1" dirty="0"/>
              <a:t>。</a:t>
            </a:r>
            <a:endParaRPr lang="zh-CN" altLang="en-US" sz="2800" dirty="0"/>
          </a:p>
        </p:txBody>
      </p:sp>
      <p:sp>
        <p:nvSpPr>
          <p:cNvPr id="954381" name="Line 13"/>
          <p:cNvSpPr/>
          <p:nvPr/>
        </p:nvSpPr>
        <p:spPr>
          <a:xfrm>
            <a:off x="5773738" y="512763"/>
            <a:ext cx="166687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954382" name="Line 14"/>
          <p:cNvSpPr/>
          <p:nvPr/>
        </p:nvSpPr>
        <p:spPr>
          <a:xfrm flipH="1">
            <a:off x="5554663" y="2725738"/>
            <a:ext cx="98425" cy="2159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3" name="Text Box 15"/>
          <p:cNvSpPr txBox="1"/>
          <p:nvPr/>
        </p:nvSpPr>
        <p:spPr>
          <a:xfrm>
            <a:off x="5232400" y="2551113"/>
            <a:ext cx="3222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I</a:t>
            </a:r>
          </a:p>
        </p:txBody>
      </p:sp>
      <p:sp>
        <p:nvSpPr>
          <p:cNvPr id="954384" name="Text Box 16"/>
          <p:cNvSpPr txBox="1"/>
          <p:nvPr/>
        </p:nvSpPr>
        <p:spPr>
          <a:xfrm>
            <a:off x="7688263" y="2798763"/>
            <a:ext cx="2984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en-US" altLang="zh-CN" sz="2800" b="1" dirty="0"/>
          </a:p>
        </p:txBody>
      </p:sp>
      <p:sp>
        <p:nvSpPr>
          <p:cNvPr id="954385" name="Text Box 17"/>
          <p:cNvSpPr txBox="1"/>
          <p:nvPr/>
        </p:nvSpPr>
        <p:spPr>
          <a:xfrm>
            <a:off x="7672388" y="2798763"/>
            <a:ext cx="3698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P</a:t>
            </a:r>
          </a:p>
        </p:txBody>
      </p:sp>
      <p:sp>
        <p:nvSpPr>
          <p:cNvPr id="954386" name="Text Box 18"/>
          <p:cNvSpPr txBox="1"/>
          <p:nvPr/>
        </p:nvSpPr>
        <p:spPr>
          <a:xfrm>
            <a:off x="8602663" y="317976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x</a:t>
            </a:r>
          </a:p>
        </p:txBody>
      </p:sp>
      <p:sp>
        <p:nvSpPr>
          <p:cNvPr id="954387" name="Text Box 19"/>
          <p:cNvSpPr txBox="1"/>
          <p:nvPr/>
        </p:nvSpPr>
        <p:spPr>
          <a:xfrm>
            <a:off x="6773863" y="310356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x</a:t>
            </a:r>
          </a:p>
        </p:txBody>
      </p:sp>
      <p:sp>
        <p:nvSpPr>
          <p:cNvPr id="954388" name="Text Box 20"/>
          <p:cNvSpPr txBox="1"/>
          <p:nvPr/>
        </p:nvSpPr>
        <p:spPr>
          <a:xfrm>
            <a:off x="5859463" y="317976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o</a:t>
            </a:r>
          </a:p>
        </p:txBody>
      </p:sp>
      <p:grpSp>
        <p:nvGrpSpPr>
          <p:cNvPr id="954389" name="Group 21"/>
          <p:cNvGrpSpPr/>
          <p:nvPr/>
        </p:nvGrpSpPr>
        <p:grpSpPr>
          <a:xfrm>
            <a:off x="5692775" y="1870075"/>
            <a:ext cx="595313" cy="484188"/>
            <a:chOff x="3351" y="183"/>
            <a:chExt cx="375" cy="305"/>
          </a:xfrm>
        </p:grpSpPr>
        <p:graphicFrame>
          <p:nvGraphicFramePr>
            <p:cNvPr id="12348" name="Object 22"/>
            <p:cNvGraphicFramePr>
              <a:graphicFrameLocks noChangeAspect="1"/>
            </p:cNvGraphicFramePr>
            <p:nvPr/>
          </p:nvGraphicFramePr>
          <p:xfrm>
            <a:off x="3351" y="183"/>
            <a:ext cx="37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7" r:id="rId9" imgW="266065" imgH="215900" progId="Equation.DSMT4">
                    <p:embed/>
                  </p:oleObj>
                </mc:Choice>
                <mc:Fallback>
                  <p:oleObj r:id="rId9" imgW="266065" imgH="2159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51" y="183"/>
                          <a:ext cx="375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9" name="Line 23"/>
            <p:cNvSpPr/>
            <p:nvPr/>
          </p:nvSpPr>
          <p:spPr>
            <a:xfrm flipV="1">
              <a:off x="3504" y="480"/>
              <a:ext cx="96" cy="0"/>
            </a:xfrm>
            <a:prstGeom prst="line">
              <a:avLst/>
            </a:prstGeom>
            <a:ln w="5715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0" name="Line 24"/>
            <p:cNvSpPr/>
            <p:nvPr/>
          </p:nvSpPr>
          <p:spPr>
            <a:xfrm flipH="1">
              <a:off x="3456" y="480"/>
              <a:ext cx="48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54393" name="Group 25"/>
          <p:cNvGrpSpPr/>
          <p:nvPr/>
        </p:nvGrpSpPr>
        <p:grpSpPr>
          <a:xfrm>
            <a:off x="5783263" y="4079875"/>
            <a:ext cx="609600" cy="501650"/>
            <a:chOff x="3408" y="1575"/>
            <a:chExt cx="384" cy="316"/>
          </a:xfrm>
        </p:grpSpPr>
        <p:graphicFrame>
          <p:nvGraphicFramePr>
            <p:cNvPr id="12344" name="Object 26"/>
            <p:cNvGraphicFramePr>
              <a:graphicFrameLocks noChangeAspect="1"/>
            </p:cNvGraphicFramePr>
            <p:nvPr/>
          </p:nvGraphicFramePr>
          <p:xfrm>
            <a:off x="3408" y="1575"/>
            <a:ext cx="38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" r:id="rId11" imgW="279400" imgH="215900" progId="Equation.DSMT4">
                    <p:embed/>
                  </p:oleObj>
                </mc:Choice>
                <mc:Fallback>
                  <p:oleObj r:id="rId11" imgW="279400" imgH="215900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08" y="1575"/>
                          <a:ext cx="384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45" name="Group 27"/>
            <p:cNvGrpSpPr/>
            <p:nvPr/>
          </p:nvGrpSpPr>
          <p:grpSpPr>
            <a:xfrm>
              <a:off x="3504" y="1632"/>
              <a:ext cx="144" cy="0"/>
              <a:chOff x="3168" y="2304"/>
              <a:chExt cx="144" cy="0"/>
            </a:xfrm>
          </p:grpSpPr>
          <p:sp>
            <p:nvSpPr>
              <p:cNvPr id="12346" name="Line 28"/>
              <p:cNvSpPr/>
              <p:nvPr/>
            </p:nvSpPr>
            <p:spPr>
              <a:xfrm>
                <a:off x="3216" y="2304"/>
                <a:ext cx="96" cy="0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2347" name="Line 29"/>
              <p:cNvSpPr/>
              <p:nvPr/>
            </p:nvSpPr>
            <p:spPr>
              <a:xfrm>
                <a:off x="3168" y="2304"/>
                <a:ext cx="96" cy="0"/>
              </a:xfrm>
              <a:prstGeom prst="line">
                <a:avLst/>
              </a:prstGeom>
              <a:ln w="571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54398" name="Group 30"/>
          <p:cNvGrpSpPr/>
          <p:nvPr/>
        </p:nvGrpSpPr>
        <p:grpSpPr>
          <a:xfrm>
            <a:off x="4335463" y="3249613"/>
            <a:ext cx="4572000" cy="0"/>
            <a:chOff x="2496" y="1056"/>
            <a:chExt cx="2880" cy="0"/>
          </a:xfrm>
        </p:grpSpPr>
        <p:sp>
          <p:nvSpPr>
            <p:cNvPr id="12341" name="Line 31"/>
            <p:cNvSpPr/>
            <p:nvPr/>
          </p:nvSpPr>
          <p:spPr>
            <a:xfrm>
              <a:off x="2496" y="1056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12342" name="Line 32"/>
            <p:cNvSpPr/>
            <p:nvPr/>
          </p:nvSpPr>
          <p:spPr>
            <a:xfrm>
              <a:off x="3168" y="105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sm" len="med"/>
            </a:ln>
          </p:spPr>
        </p:sp>
        <p:sp>
          <p:nvSpPr>
            <p:cNvPr id="12343" name="Line 33"/>
            <p:cNvSpPr/>
            <p:nvPr/>
          </p:nvSpPr>
          <p:spPr>
            <a:xfrm>
              <a:off x="3552" y="1056"/>
              <a:ext cx="18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</p:grpSp>
      <p:graphicFrame>
        <p:nvGraphicFramePr>
          <p:cNvPr id="954402" name="Object 34"/>
          <p:cNvGraphicFramePr>
            <a:graphicFrameLocks noChangeAspect="1"/>
          </p:cNvGraphicFramePr>
          <p:nvPr/>
        </p:nvGraphicFramePr>
        <p:xfrm>
          <a:off x="1520825" y="3392488"/>
          <a:ext cx="3446463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r:id="rId13" imgW="3403600" imgH="533400" progId="Equation.DSMT4">
                  <p:embed/>
                </p:oleObj>
              </mc:Choice>
              <mc:Fallback>
                <p:oleObj r:id="rId13" imgW="3403600" imgH="5334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0825" y="3392488"/>
                        <a:ext cx="3446463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403" name="Object 35"/>
          <p:cNvGraphicFramePr>
            <a:graphicFrameLocks noChangeAspect="1"/>
          </p:cNvGraphicFramePr>
          <p:nvPr/>
        </p:nvGraphicFramePr>
        <p:xfrm>
          <a:off x="1006475" y="4005263"/>
          <a:ext cx="194468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r:id="rId15" imgW="1727200" imgH="457200" progId="Equation.DSMT4">
                  <p:embed/>
                </p:oleObj>
              </mc:Choice>
              <mc:Fallback>
                <p:oleObj r:id="rId15" imgW="1727200" imgH="4572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6475" y="4005263"/>
                        <a:ext cx="1944688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404" name="Object 36"/>
          <p:cNvGraphicFramePr>
            <a:graphicFrameLocks noChangeAspect="1"/>
          </p:cNvGraphicFramePr>
          <p:nvPr/>
        </p:nvGraphicFramePr>
        <p:xfrm>
          <a:off x="3367088" y="4005263"/>
          <a:ext cx="20955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r:id="rId17" imgW="2145665" imgH="495300" progId="Equation.DSMT4">
                  <p:embed/>
                </p:oleObj>
              </mc:Choice>
              <mc:Fallback>
                <p:oleObj r:id="rId17" imgW="2145665" imgH="4953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67088" y="4005263"/>
                        <a:ext cx="209550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405" name="Text Box 37"/>
          <p:cNvSpPr txBox="1"/>
          <p:nvPr/>
        </p:nvSpPr>
        <p:spPr>
          <a:xfrm>
            <a:off x="6681788" y="2332038"/>
            <a:ext cx="3222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r</a:t>
            </a:r>
          </a:p>
        </p:txBody>
      </p:sp>
      <p:graphicFrame>
        <p:nvGraphicFramePr>
          <p:cNvPr id="954406" name="Object 38"/>
          <p:cNvGraphicFramePr>
            <a:graphicFrameLocks noChangeAspect="1"/>
          </p:cNvGraphicFramePr>
          <p:nvPr/>
        </p:nvGraphicFramePr>
        <p:xfrm>
          <a:off x="954088" y="4754563"/>
          <a:ext cx="29432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r:id="rId19" imgW="2895600" imgH="850900" progId="Equation.DSMT4">
                  <p:embed/>
                </p:oleObj>
              </mc:Choice>
              <mc:Fallback>
                <p:oleObj r:id="rId19" imgW="2895600" imgH="8509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4088" y="4754563"/>
                        <a:ext cx="2943225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407" name="Object 39"/>
          <p:cNvGraphicFramePr>
            <a:graphicFrameLocks noChangeAspect="1"/>
          </p:cNvGraphicFramePr>
          <p:nvPr/>
        </p:nvGraphicFramePr>
        <p:xfrm>
          <a:off x="3933825" y="4756150"/>
          <a:ext cx="29876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r:id="rId21" imgW="3213100" imgH="965200" progId="Equation.DSMT4">
                  <p:embed/>
                </p:oleObj>
              </mc:Choice>
              <mc:Fallback>
                <p:oleObj r:id="rId21" imgW="3213100" imgH="9652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33825" y="4756150"/>
                        <a:ext cx="2987675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408" name="Object 40"/>
          <p:cNvGraphicFramePr>
            <a:graphicFrameLocks noChangeAspect="1"/>
          </p:cNvGraphicFramePr>
          <p:nvPr/>
        </p:nvGraphicFramePr>
        <p:xfrm>
          <a:off x="1514475" y="5732463"/>
          <a:ext cx="27813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r:id="rId23" imgW="2730500" imgH="965200" progId="Equation.DSMT4">
                  <p:embed/>
                </p:oleObj>
              </mc:Choice>
              <mc:Fallback>
                <p:oleObj r:id="rId23" imgW="2730500" imgH="9652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14475" y="5732463"/>
                        <a:ext cx="2781300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409" name="Text Box 41"/>
          <p:cNvSpPr txBox="1"/>
          <p:nvPr/>
        </p:nvSpPr>
        <p:spPr>
          <a:xfrm>
            <a:off x="5951538" y="2570163"/>
            <a:ext cx="4206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R</a:t>
            </a:r>
          </a:p>
        </p:txBody>
      </p:sp>
      <p:graphicFrame>
        <p:nvGraphicFramePr>
          <p:cNvPr id="954410" name="Object 42"/>
          <p:cNvGraphicFramePr>
            <a:graphicFrameLocks noChangeAspect="1"/>
          </p:cNvGraphicFramePr>
          <p:nvPr/>
        </p:nvGraphicFramePr>
        <p:xfrm>
          <a:off x="6911975" y="3897313"/>
          <a:ext cx="14859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r:id="rId25" imgW="1854200" imgH="889000" progId="Equation.DSMT4">
                  <p:embed/>
                </p:oleObj>
              </mc:Choice>
              <mc:Fallback>
                <p:oleObj r:id="rId25" imgW="1854200" imgH="8890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11975" y="3897313"/>
                        <a:ext cx="148590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411" name="Text Box 43"/>
          <p:cNvSpPr txBox="1"/>
          <p:nvPr/>
        </p:nvSpPr>
        <p:spPr>
          <a:xfrm>
            <a:off x="4157663" y="533558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0</a:t>
            </a:r>
          </a:p>
        </p:txBody>
      </p:sp>
      <p:sp>
        <p:nvSpPr>
          <p:cNvPr id="954412" name="Text Box 44"/>
          <p:cNvSpPr txBox="1"/>
          <p:nvPr/>
        </p:nvSpPr>
        <p:spPr>
          <a:xfrm>
            <a:off x="4060825" y="4616450"/>
            <a:ext cx="962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</a:t>
            </a:r>
            <a:r>
              <a:rPr lang="en-US" altLang="zh-CN" sz="2400" b="1" i="1" dirty="0">
                <a:sym typeface="Symbol" panose="05050102010706020507" pitchFamily="18" charset="2"/>
              </a:rPr>
              <a:t>R</a:t>
            </a:r>
            <a:endParaRPr lang="en-US" altLang="zh-CN" sz="2400" b="1" i="1" dirty="0"/>
          </a:p>
        </p:txBody>
      </p:sp>
      <p:sp>
        <p:nvSpPr>
          <p:cNvPr id="954413" name="Rectangle 45"/>
          <p:cNvSpPr/>
          <p:nvPr/>
        </p:nvSpPr>
        <p:spPr>
          <a:xfrm>
            <a:off x="4427538" y="5934075"/>
            <a:ext cx="40655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方向沿 </a:t>
            </a:r>
            <a:r>
              <a:rPr lang="en-US" altLang="zh-CN" sz="2800" b="1" dirty="0"/>
              <a:t>x </a:t>
            </a:r>
            <a:r>
              <a:rPr lang="zh-CN" altLang="en-US" sz="2800" b="1" dirty="0"/>
              <a:t>轴正向 </a:t>
            </a:r>
            <a:endParaRPr lang="zh-CN" altLang="en-US" sz="2800" dirty="0"/>
          </a:p>
        </p:txBody>
      </p:sp>
      <p:graphicFrame>
        <p:nvGraphicFramePr>
          <p:cNvPr id="954414" name="Object 46"/>
          <p:cNvGraphicFramePr>
            <a:graphicFrameLocks noChangeAspect="1"/>
          </p:cNvGraphicFramePr>
          <p:nvPr/>
        </p:nvGraphicFramePr>
        <p:xfrm>
          <a:off x="2089150" y="2816225"/>
          <a:ext cx="1727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r:id="rId27" imgW="1726565" imgH="444500" progId="Equation.DSMT4">
                  <p:embed/>
                </p:oleObj>
              </mc:Choice>
              <mc:Fallback>
                <p:oleObj r:id="rId27" imgW="1726565" imgH="4445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89150" y="2816225"/>
                        <a:ext cx="172720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4415" name="Group 47"/>
          <p:cNvGrpSpPr/>
          <p:nvPr/>
        </p:nvGrpSpPr>
        <p:grpSpPr>
          <a:xfrm>
            <a:off x="5003800" y="944563"/>
            <a:ext cx="3330575" cy="936625"/>
            <a:chOff x="3742" y="391"/>
            <a:chExt cx="2098" cy="590"/>
          </a:xfrm>
        </p:grpSpPr>
        <p:graphicFrame>
          <p:nvGraphicFramePr>
            <p:cNvPr id="12339" name="Object 48"/>
            <p:cNvGraphicFramePr>
              <a:graphicFrameLocks noChangeAspect="1"/>
            </p:cNvGraphicFramePr>
            <p:nvPr/>
          </p:nvGraphicFramePr>
          <p:xfrm>
            <a:off x="4236" y="394"/>
            <a:ext cx="1604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7" r:id="rId29" imgW="2425700" imgH="889000" progId="Equation.DSMT4">
                    <p:embed/>
                  </p:oleObj>
                </mc:Choice>
                <mc:Fallback>
                  <p:oleObj r:id="rId29" imgW="2425700" imgH="8890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236" y="394"/>
                          <a:ext cx="1604" cy="587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0" name="Object 49"/>
            <p:cNvGraphicFramePr>
              <a:graphicFrameLocks noChangeAspect="1"/>
            </p:cNvGraphicFramePr>
            <p:nvPr/>
          </p:nvGraphicFramePr>
          <p:xfrm>
            <a:off x="3742" y="391"/>
            <a:ext cx="52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r:id="rId31" imgW="4343400" imgH="4013200" progId="MS_ClipArt_Gallery.2">
                    <p:embed/>
                  </p:oleObj>
                </mc:Choice>
                <mc:Fallback>
                  <p:oleObj r:id="rId31" imgW="4343400" imgH="4013200" progId="MS_ClipArt_Gallery.2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FF3399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42" y="391"/>
                          <a:ext cx="52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4419" name="Object 51"/>
          <p:cNvGraphicFramePr>
            <a:graphicFrameLocks noChangeAspect="1"/>
          </p:cNvGraphicFramePr>
          <p:nvPr/>
        </p:nvGraphicFramePr>
        <p:xfrm>
          <a:off x="6911975" y="4616450"/>
          <a:ext cx="1555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r:id="rId33" imgW="2032000" imgH="584200" progId="Equation.DSMT4">
                  <p:embed/>
                </p:oleObj>
              </mc:Choice>
              <mc:Fallback>
                <p:oleObj r:id="rId33" imgW="2032000" imgH="584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11975" y="4616450"/>
                        <a:ext cx="155575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420" name="Arc 52"/>
          <p:cNvSpPr/>
          <p:nvPr/>
        </p:nvSpPr>
        <p:spPr>
          <a:xfrm flipH="1">
            <a:off x="6026150" y="2363788"/>
            <a:ext cx="161925" cy="215900"/>
          </a:xfrm>
          <a:custGeom>
            <a:avLst/>
            <a:gdLst/>
            <a:ahLst/>
            <a:cxnLst>
              <a:cxn ang="0">
                <a:pos x="46724482" y="213464208"/>
              </a:cxn>
              <a:cxn ang="0">
                <a:pos x="0" y="23216687"/>
              </a:cxn>
              <a:cxn ang="0">
                <a:pos x="40946725" y="0"/>
              </a:cxn>
            </a:cxnLst>
            <a:rect l="0" t="0" r="0" b="0"/>
            <a:pathLst>
              <a:path w="24504" h="21600" fill="none">
                <a:moveTo>
                  <a:pt x="24504" y="21386"/>
                </a:moveTo>
                <a:cubicBezTo>
                  <a:pt x="23500" y="21528"/>
                  <a:pt x="22487" y="21599"/>
                  <a:pt x="21474" y="21600"/>
                </a:cubicBezTo>
                <a:cubicBezTo>
                  <a:pt x="10444" y="21600"/>
                  <a:pt x="1187" y="13290"/>
                  <a:pt x="-1" y="2326"/>
                </a:cubicBezTo>
              </a:path>
              <a:path w="24504" h="21600" stroke="0">
                <a:moveTo>
                  <a:pt x="24504" y="21386"/>
                </a:moveTo>
                <a:cubicBezTo>
                  <a:pt x="23500" y="21528"/>
                  <a:pt x="22487" y="21599"/>
                  <a:pt x="21474" y="21600"/>
                </a:cubicBezTo>
                <a:cubicBezTo>
                  <a:pt x="10444" y="21600"/>
                  <a:pt x="1187" y="13290"/>
                  <a:pt x="-1" y="2326"/>
                </a:cubicBezTo>
                <a:lnTo>
                  <a:pt x="21474" y="0"/>
                </a:lnTo>
                <a:lnTo>
                  <a:pt x="24504" y="21386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4421" name="AutoShape 53"/>
          <p:cNvSpPr/>
          <p:nvPr/>
        </p:nvSpPr>
        <p:spPr>
          <a:xfrm>
            <a:off x="6313488" y="1974850"/>
            <a:ext cx="360362" cy="360363"/>
          </a:xfrm>
          <a:prstGeom prst="wedgeEllipseCallout">
            <a:avLst>
              <a:gd name="adj1" fmla="val -111231"/>
              <a:gd name="adj2" fmla="val 74227"/>
            </a:avLst>
          </a:prstGeom>
          <a:solidFill>
            <a:schemeClr val="bg1"/>
          </a:solidFill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graphicFrame>
        <p:nvGraphicFramePr>
          <p:cNvPr id="954422" name="Object 54"/>
          <p:cNvGraphicFramePr>
            <a:graphicFrameLocks noChangeAspect="1"/>
          </p:cNvGraphicFramePr>
          <p:nvPr/>
        </p:nvGraphicFramePr>
        <p:xfrm>
          <a:off x="6384925" y="2046288"/>
          <a:ext cx="187325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r:id="rId35" imgW="241300" imgH="317500" progId="Equation.3">
                  <p:embed/>
                </p:oleObj>
              </mc:Choice>
              <mc:Fallback>
                <p:oleObj r:id="rId35" imgW="241300" imgH="3175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384925" y="2046288"/>
                        <a:ext cx="187325" cy="246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423" name="Text Box 55"/>
          <p:cNvSpPr txBox="1"/>
          <p:nvPr/>
        </p:nvSpPr>
        <p:spPr>
          <a:xfrm>
            <a:off x="1295400" y="1341438"/>
            <a:ext cx="3756025" cy="1373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/>
              <a:t>由电流的对称性可知</a:t>
            </a:r>
            <a:r>
              <a:rPr lang="en-US" altLang="zh-CN" sz="2800" b="1" dirty="0"/>
              <a:t>,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/>
              <a:t>磁场只有沿轴的分量，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/>
              <a:t>垂直轴的分量和为零</a:t>
            </a:r>
          </a:p>
        </p:txBody>
      </p:sp>
      <p:grpSp>
        <p:nvGrpSpPr>
          <p:cNvPr id="954424" name="Group 56"/>
          <p:cNvGrpSpPr/>
          <p:nvPr/>
        </p:nvGrpSpPr>
        <p:grpSpPr>
          <a:xfrm>
            <a:off x="7848600" y="2673350"/>
            <a:ext cx="468313" cy="1116013"/>
            <a:chOff x="4853" y="1412"/>
            <a:chExt cx="295" cy="703"/>
          </a:xfrm>
        </p:grpSpPr>
        <p:grpSp>
          <p:nvGrpSpPr>
            <p:cNvPr id="12332" name="Group 57"/>
            <p:cNvGrpSpPr/>
            <p:nvPr/>
          </p:nvGrpSpPr>
          <p:grpSpPr>
            <a:xfrm>
              <a:off x="4853" y="1412"/>
              <a:ext cx="250" cy="703"/>
              <a:chOff x="1451" y="1616"/>
              <a:chExt cx="900" cy="1344"/>
            </a:xfrm>
          </p:grpSpPr>
          <p:sp>
            <p:nvSpPr>
              <p:cNvPr id="12334" name="Freeform 58"/>
              <p:cNvSpPr/>
              <p:nvPr/>
            </p:nvSpPr>
            <p:spPr>
              <a:xfrm>
                <a:off x="1451" y="2273"/>
                <a:ext cx="792" cy="6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5" y="0"/>
                  </a:cxn>
                  <a:cxn ang="0">
                    <a:pos x="335" y="672"/>
                  </a:cxn>
                  <a:cxn ang="0">
                    <a:pos x="0" y="0"/>
                  </a:cxn>
                </a:cxnLst>
                <a:rect l="0" t="0" r="0" b="0"/>
                <a:pathLst>
                  <a:path w="1056" h="672">
                    <a:moveTo>
                      <a:pt x="0" y="0"/>
                    </a:moveTo>
                    <a:lnTo>
                      <a:pt x="1056" y="0"/>
                    </a:lnTo>
                    <a:lnTo>
                      <a:pt x="1056" y="6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666666">
                      <a:alpha val="100000"/>
                    </a:srgbClr>
                  </a:gs>
                </a:gsLst>
                <a:lin ang="5400000" scaled="1"/>
                <a:tileRect/>
              </a:gradFill>
              <a:ln w="9525" cap="flat" cmpd="sng">
                <a:solidFill>
                  <a:srgbClr val="B6D1EC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Freeform 59"/>
              <p:cNvSpPr/>
              <p:nvPr/>
            </p:nvSpPr>
            <p:spPr>
              <a:xfrm>
                <a:off x="1451" y="1616"/>
                <a:ext cx="792" cy="672"/>
              </a:xfrm>
              <a:custGeom>
                <a:avLst/>
                <a:gdLst/>
                <a:ahLst/>
                <a:cxnLst>
                  <a:cxn ang="0">
                    <a:pos x="335" y="672"/>
                  </a:cxn>
                  <a:cxn ang="0">
                    <a:pos x="335" y="0"/>
                  </a:cxn>
                  <a:cxn ang="0">
                    <a:pos x="0" y="672"/>
                  </a:cxn>
                  <a:cxn ang="0">
                    <a:pos x="335" y="672"/>
                  </a:cxn>
                </a:cxnLst>
                <a:rect l="0" t="0" r="0" b="0"/>
                <a:pathLst>
                  <a:path w="1056" h="672">
                    <a:moveTo>
                      <a:pt x="1056" y="672"/>
                    </a:moveTo>
                    <a:lnTo>
                      <a:pt x="1056" y="0"/>
                    </a:lnTo>
                    <a:lnTo>
                      <a:pt x="0" y="672"/>
                    </a:lnTo>
                    <a:lnTo>
                      <a:pt x="1056" y="672"/>
                    </a:lnTo>
                    <a:close/>
                  </a:path>
                </a:pathLst>
              </a:custGeom>
              <a:solidFill>
                <a:srgbClr val="DDDDDD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Oval 60"/>
              <p:cNvSpPr/>
              <p:nvPr/>
            </p:nvSpPr>
            <p:spPr>
              <a:xfrm>
                <a:off x="2135" y="1616"/>
                <a:ext cx="216" cy="1344"/>
              </a:xfrm>
              <a:prstGeom prst="ellipse">
                <a:avLst/>
              </a:prstGeom>
              <a:gradFill rotWithShape="0">
                <a:gsLst>
                  <a:gs pos="0">
                    <a:srgbClr val="666666"/>
                  </a:gs>
                  <a:gs pos="100000">
                    <a:srgbClr val="DDDDDD"/>
                  </a:gs>
                </a:gsLst>
                <a:lin ang="2700000" scaled="1"/>
                <a:tileRect/>
              </a:gradFill>
              <a:ln w="9525" cap="flat" cmpd="sng">
                <a:solidFill>
                  <a:srgbClr val="666633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2337" name="Line 61"/>
              <p:cNvSpPr/>
              <p:nvPr/>
            </p:nvSpPr>
            <p:spPr>
              <a:xfrm flipV="1">
                <a:off x="1451" y="1616"/>
                <a:ext cx="792" cy="672"/>
              </a:xfrm>
              <a:prstGeom prst="line">
                <a:avLst/>
              </a:prstGeom>
              <a:ln w="12700">
                <a:noFill/>
              </a:ln>
            </p:spPr>
          </p:sp>
          <p:sp>
            <p:nvSpPr>
              <p:cNvPr id="12338" name="Line 62"/>
              <p:cNvSpPr/>
              <p:nvPr/>
            </p:nvSpPr>
            <p:spPr>
              <a:xfrm>
                <a:off x="1451" y="2288"/>
                <a:ext cx="792" cy="672"/>
              </a:xfrm>
              <a:prstGeom prst="line">
                <a:avLst/>
              </a:prstGeom>
              <a:ln w="12700">
                <a:noFill/>
              </a:ln>
            </p:spPr>
          </p:sp>
        </p:grpSp>
        <p:sp>
          <p:nvSpPr>
            <p:cNvPr id="12333" name="Line 63"/>
            <p:cNvSpPr/>
            <p:nvPr/>
          </p:nvSpPr>
          <p:spPr>
            <a:xfrm>
              <a:off x="5057" y="1774"/>
              <a:ext cx="91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54432" name="Line 64"/>
          <p:cNvSpPr/>
          <p:nvPr/>
        </p:nvSpPr>
        <p:spPr>
          <a:xfrm>
            <a:off x="7840663" y="3255963"/>
            <a:ext cx="331787" cy="496887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954433" name="Line 65"/>
          <p:cNvSpPr/>
          <p:nvPr/>
        </p:nvSpPr>
        <p:spPr>
          <a:xfrm flipV="1">
            <a:off x="7840663" y="2708275"/>
            <a:ext cx="328612" cy="547688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sm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5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95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95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5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95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54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54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75"/>
                                        <p:tgtEl>
                                          <p:spTgt spid="95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5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5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95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5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5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5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4" dur="500"/>
                                        <p:tgtEl>
                                          <p:spTgt spid="95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9" dur="500"/>
                                        <p:tgtEl>
                                          <p:spTgt spid="95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4" dur="500"/>
                                        <p:tgtEl>
                                          <p:spTgt spid="95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95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5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95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4" dur="500"/>
                                        <p:tgtEl>
                                          <p:spTgt spid="95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9" dur="500"/>
                                        <p:tgtEl>
                                          <p:spTgt spid="95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5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95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54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954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1" dur="500"/>
                                        <p:tgtEl>
                                          <p:spTgt spid="95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6" dur="500"/>
                                        <p:tgtEl>
                                          <p:spTgt spid="95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1" dur="500"/>
                                        <p:tgtEl>
                                          <p:spTgt spid="95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5" dur="500"/>
                                        <p:tgtEl>
                                          <p:spTgt spid="95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954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54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75" fill="hold"/>
                                        <p:tgtEl>
                                          <p:spTgt spid="954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75" fill="hold"/>
                                        <p:tgtEl>
                                          <p:spTgt spid="954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370" grpId="0" animBg="1"/>
      <p:bldP spid="954371" grpId="0"/>
      <p:bldP spid="954380" grpId="0"/>
      <p:bldP spid="954383" grpId="0"/>
      <p:bldP spid="954384" grpId="0"/>
      <p:bldP spid="954385" grpId="0"/>
      <p:bldP spid="954386" grpId="0"/>
      <p:bldP spid="954387" grpId="0"/>
      <p:bldP spid="954388" grpId="0"/>
      <p:bldP spid="954405" grpId="0"/>
      <p:bldP spid="954409" grpId="0"/>
      <p:bldP spid="954411" grpId="0"/>
      <p:bldP spid="954412" grpId="0"/>
      <p:bldP spid="954413" grpId="0"/>
      <p:bldP spid="954421" grpId="0" animBg="1"/>
      <p:bldP spid="9544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Text Box 2"/>
          <p:cNvSpPr txBox="1"/>
          <p:nvPr/>
        </p:nvSpPr>
        <p:spPr>
          <a:xfrm>
            <a:off x="1187450" y="2684463"/>
            <a:ext cx="48101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2º</a:t>
            </a:r>
            <a:r>
              <a:rPr lang="en-US" altLang="zh-CN" sz="2800" b="1" baseline="30000" dirty="0"/>
              <a:t> </a:t>
            </a:r>
            <a:r>
              <a:rPr lang="zh-CN" altLang="en-US" sz="2800" b="1" dirty="0"/>
              <a:t>当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= 0</a:t>
            </a:r>
            <a:r>
              <a:rPr lang="zh-CN" altLang="en-US" sz="2800" b="1" dirty="0"/>
              <a:t>时，圆心处</a:t>
            </a:r>
          </a:p>
        </p:txBody>
      </p:sp>
      <p:graphicFrame>
        <p:nvGraphicFramePr>
          <p:cNvPr id="955395" name="Object 3"/>
          <p:cNvGraphicFramePr>
            <a:graphicFrameLocks noChangeAspect="1"/>
          </p:cNvGraphicFramePr>
          <p:nvPr/>
        </p:nvGraphicFramePr>
        <p:xfrm>
          <a:off x="4787900" y="2565400"/>
          <a:ext cx="1179513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r:id="rId3" imgW="1269365" imgH="799465" progId="Equation.DSMT4">
                  <p:embed/>
                </p:oleObj>
              </mc:Choice>
              <mc:Fallback>
                <p:oleObj r:id="rId3" imgW="1269365" imgH="799465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7900" y="2565400"/>
                        <a:ext cx="1179513" cy="747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5396" name="Group 4"/>
          <p:cNvGrpSpPr/>
          <p:nvPr/>
        </p:nvGrpSpPr>
        <p:grpSpPr>
          <a:xfrm>
            <a:off x="5454650" y="520700"/>
            <a:ext cx="3581400" cy="1828800"/>
            <a:chOff x="3456" y="48"/>
            <a:chExt cx="2256" cy="1152"/>
          </a:xfrm>
        </p:grpSpPr>
        <p:sp>
          <p:nvSpPr>
            <p:cNvPr id="13346" name="Oval 5"/>
            <p:cNvSpPr/>
            <p:nvPr/>
          </p:nvSpPr>
          <p:spPr>
            <a:xfrm>
              <a:off x="3888" y="48"/>
              <a:ext cx="576" cy="1152"/>
            </a:xfrm>
            <a:prstGeom prst="ellipse">
              <a:avLst/>
            </a:prstGeom>
            <a:solidFill>
              <a:srgbClr val="FFFFFF"/>
            </a:solidFill>
            <a:ln w="57150" cap="flat" cmpd="sng">
              <a:solidFill>
                <a:srgbClr val="006600"/>
              </a:solidFill>
              <a:prstDash val="solid"/>
              <a:headEnd type="none" w="med" len="med"/>
              <a:tailEnd type="none" w="sm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  <p:sp>
          <p:nvSpPr>
            <p:cNvPr id="13347" name="Line 6"/>
            <p:cNvSpPr/>
            <p:nvPr/>
          </p:nvSpPr>
          <p:spPr>
            <a:xfrm>
              <a:off x="4176" y="48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13348" name="Line 7"/>
            <p:cNvSpPr/>
            <p:nvPr/>
          </p:nvSpPr>
          <p:spPr>
            <a:xfrm flipH="1">
              <a:off x="3888" y="336"/>
              <a:ext cx="48" cy="96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3349" name="Text Box 8"/>
            <p:cNvSpPr txBox="1"/>
            <p:nvPr/>
          </p:nvSpPr>
          <p:spPr>
            <a:xfrm>
              <a:off x="3696" y="201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I</a:t>
              </a:r>
            </a:p>
          </p:txBody>
        </p:sp>
        <p:sp>
          <p:nvSpPr>
            <p:cNvPr id="13350" name="Text Box 9"/>
            <p:cNvSpPr txBox="1"/>
            <p:nvPr/>
          </p:nvSpPr>
          <p:spPr>
            <a:xfrm>
              <a:off x="4080" y="57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o</a:t>
              </a:r>
            </a:p>
          </p:txBody>
        </p:sp>
        <p:sp>
          <p:nvSpPr>
            <p:cNvPr id="13351" name="Text Box 10"/>
            <p:cNvSpPr txBox="1"/>
            <p:nvPr/>
          </p:nvSpPr>
          <p:spPr>
            <a:xfrm>
              <a:off x="4138" y="19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</a:p>
          </p:txBody>
        </p:sp>
        <p:grpSp>
          <p:nvGrpSpPr>
            <p:cNvPr id="13352" name="Group 11"/>
            <p:cNvGrpSpPr/>
            <p:nvPr/>
          </p:nvGrpSpPr>
          <p:grpSpPr>
            <a:xfrm>
              <a:off x="4944" y="304"/>
              <a:ext cx="253" cy="436"/>
              <a:chOff x="4598" y="736"/>
              <a:chExt cx="253" cy="436"/>
            </a:xfrm>
          </p:grpSpPr>
          <p:sp>
            <p:nvSpPr>
              <p:cNvPr id="13358" name="Text Box 12"/>
              <p:cNvSpPr txBox="1"/>
              <p:nvPr/>
            </p:nvSpPr>
            <p:spPr>
              <a:xfrm>
                <a:off x="4608" y="768"/>
                <a:ext cx="18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3600" b="1" dirty="0">
                    <a:solidFill>
                      <a:srgbClr val="FF0000"/>
                    </a:solidFill>
                  </a:rPr>
                  <a:t>.</a:t>
                </a:r>
                <a:endParaRPr lang="en-US" altLang="zh-CN" sz="2800" b="1" dirty="0"/>
              </a:p>
            </p:txBody>
          </p:sp>
          <p:sp>
            <p:nvSpPr>
              <p:cNvPr id="13359" name="Text Box 13"/>
              <p:cNvSpPr txBox="1"/>
              <p:nvPr/>
            </p:nvSpPr>
            <p:spPr>
              <a:xfrm>
                <a:off x="4598" y="736"/>
                <a:ext cx="2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/>
                  <a:t>P</a:t>
                </a:r>
              </a:p>
            </p:txBody>
          </p:sp>
        </p:grpSp>
        <p:grpSp>
          <p:nvGrpSpPr>
            <p:cNvPr id="13353" name="Group 14"/>
            <p:cNvGrpSpPr/>
            <p:nvPr/>
          </p:nvGrpSpPr>
          <p:grpSpPr>
            <a:xfrm flipV="1">
              <a:off x="3456" y="625"/>
              <a:ext cx="2208" cy="47"/>
              <a:chOff x="2496" y="1056"/>
              <a:chExt cx="2880" cy="0"/>
            </a:xfrm>
          </p:grpSpPr>
          <p:sp>
            <p:nvSpPr>
              <p:cNvPr id="13355" name="Line 15"/>
              <p:cNvSpPr/>
              <p:nvPr/>
            </p:nvSpPr>
            <p:spPr>
              <a:xfrm>
                <a:off x="2496" y="1056"/>
                <a:ext cx="6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13356" name="Line 16"/>
              <p:cNvSpPr/>
              <p:nvPr/>
            </p:nvSpPr>
            <p:spPr>
              <a:xfrm>
                <a:off x="3168" y="1056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lgDash"/>
                <a:headEnd type="none" w="med" len="med"/>
                <a:tailEnd type="none" w="sm" len="med"/>
              </a:ln>
            </p:spPr>
          </p:sp>
          <p:sp>
            <p:nvSpPr>
              <p:cNvPr id="13357" name="Line 17"/>
              <p:cNvSpPr/>
              <p:nvPr/>
            </p:nvSpPr>
            <p:spPr>
              <a:xfrm>
                <a:off x="3552" y="1056"/>
                <a:ext cx="182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med"/>
              </a:ln>
            </p:spPr>
          </p:sp>
        </p:grpSp>
        <p:sp>
          <p:nvSpPr>
            <p:cNvPr id="13354" name="Text Box 18"/>
            <p:cNvSpPr txBox="1"/>
            <p:nvPr/>
          </p:nvSpPr>
          <p:spPr>
            <a:xfrm>
              <a:off x="5484" y="53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</a:p>
          </p:txBody>
        </p:sp>
      </p:grpSp>
      <p:sp>
        <p:nvSpPr>
          <p:cNvPr id="955411" name="Line 19"/>
          <p:cNvSpPr/>
          <p:nvPr/>
        </p:nvSpPr>
        <p:spPr>
          <a:xfrm>
            <a:off x="8001000" y="1435100"/>
            <a:ext cx="381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5412" name="Line 20"/>
          <p:cNvSpPr/>
          <p:nvPr/>
        </p:nvSpPr>
        <p:spPr>
          <a:xfrm>
            <a:off x="5638800" y="1435100"/>
            <a:ext cx="381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5413" name="AutoShape 21"/>
          <p:cNvSpPr/>
          <p:nvPr/>
        </p:nvSpPr>
        <p:spPr>
          <a:xfrm>
            <a:off x="323850" y="1268413"/>
            <a:ext cx="1892300" cy="1219200"/>
          </a:xfrm>
          <a:prstGeom prst="irregularSeal1">
            <a:avLst/>
          </a:prstGeom>
          <a:solidFill>
            <a:schemeClr val="bg1"/>
          </a:solidFill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955414" name="Text Box 22"/>
          <p:cNvSpPr txBox="1"/>
          <p:nvPr/>
        </p:nvSpPr>
        <p:spPr>
          <a:xfrm>
            <a:off x="625475" y="1554163"/>
            <a:ext cx="2794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ea typeface="隶书" panose="02010509060101010101" pitchFamily="49" charset="-122"/>
              </a:rPr>
              <a:t>结论</a:t>
            </a:r>
            <a:endParaRPr lang="zh-CN" altLang="en-US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955415" name="Text Box 23"/>
          <p:cNvSpPr txBox="1"/>
          <p:nvPr/>
        </p:nvSpPr>
        <p:spPr>
          <a:xfrm>
            <a:off x="1511300" y="3357563"/>
            <a:ext cx="42846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半</a:t>
            </a:r>
            <a:r>
              <a:rPr lang="zh-CN" altLang="en-US" sz="2800" b="1" dirty="0"/>
              <a:t>圆环圆心处</a:t>
            </a:r>
          </a:p>
        </p:txBody>
      </p:sp>
      <p:graphicFrame>
        <p:nvGraphicFramePr>
          <p:cNvPr id="955416" name="Object 24"/>
          <p:cNvGraphicFramePr>
            <a:graphicFrameLocks noChangeAspect="1"/>
          </p:cNvGraphicFramePr>
          <p:nvPr/>
        </p:nvGraphicFramePr>
        <p:xfrm>
          <a:off x="4068763" y="3214688"/>
          <a:ext cx="12382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r:id="rId5" imgW="1269365" imgH="799465" progId="Equation.DSMT4">
                  <p:embed/>
                </p:oleObj>
              </mc:Choice>
              <mc:Fallback>
                <p:oleObj r:id="rId5" imgW="1269365" imgH="799465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8763" y="3214688"/>
                        <a:ext cx="123825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17" name="Text Box 25"/>
          <p:cNvSpPr txBox="1"/>
          <p:nvPr/>
        </p:nvSpPr>
        <p:spPr>
          <a:xfrm>
            <a:off x="1511300" y="4097338"/>
            <a:ext cx="3816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弧长</a:t>
            </a:r>
            <a:r>
              <a:rPr lang="en-US" altLang="zh-CN" sz="2800" b="1" i="1" dirty="0"/>
              <a:t>L</a:t>
            </a:r>
            <a:r>
              <a:rPr lang="zh-CN" altLang="en-US" sz="2800" b="1" dirty="0"/>
              <a:t>的圆心处</a:t>
            </a:r>
          </a:p>
        </p:txBody>
      </p:sp>
      <p:grpSp>
        <p:nvGrpSpPr>
          <p:cNvPr id="955418" name="Group 26"/>
          <p:cNvGrpSpPr/>
          <p:nvPr/>
        </p:nvGrpSpPr>
        <p:grpSpPr>
          <a:xfrm>
            <a:off x="6732588" y="2638425"/>
            <a:ext cx="1371600" cy="1219200"/>
            <a:chOff x="3984" y="2352"/>
            <a:chExt cx="864" cy="768"/>
          </a:xfrm>
        </p:grpSpPr>
        <p:sp>
          <p:nvSpPr>
            <p:cNvPr id="13340" name="Arc 27"/>
            <p:cNvSpPr/>
            <p:nvPr/>
          </p:nvSpPr>
          <p:spPr>
            <a:xfrm rot="-5400000">
              <a:off x="4083" y="2445"/>
              <a:ext cx="761" cy="5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8538" h="21600" fill="none">
                  <a:moveTo>
                    <a:pt x="-1" y="1568"/>
                  </a:moveTo>
                  <a:cubicBezTo>
                    <a:pt x="2568" y="532"/>
                    <a:pt x="5311" y="-1"/>
                    <a:pt x="8081" y="0"/>
                  </a:cubicBezTo>
                  <a:cubicBezTo>
                    <a:pt x="17338" y="0"/>
                    <a:pt x="25566" y="5899"/>
                    <a:pt x="28538" y="14666"/>
                  </a:cubicBezTo>
                </a:path>
                <a:path w="28538" h="21600" stroke="0">
                  <a:moveTo>
                    <a:pt x="-1" y="1568"/>
                  </a:moveTo>
                  <a:cubicBezTo>
                    <a:pt x="2568" y="532"/>
                    <a:pt x="5311" y="-1"/>
                    <a:pt x="8081" y="0"/>
                  </a:cubicBezTo>
                  <a:cubicBezTo>
                    <a:pt x="17338" y="0"/>
                    <a:pt x="25566" y="5899"/>
                    <a:pt x="28538" y="14666"/>
                  </a:cubicBezTo>
                  <a:lnTo>
                    <a:pt x="8081" y="21600"/>
                  </a:lnTo>
                  <a:lnTo>
                    <a:pt x="-1" y="1568"/>
                  </a:lnTo>
                  <a:close/>
                </a:path>
              </a:pathLst>
            </a:custGeom>
            <a:noFill/>
            <a:ln w="38100" cap="flat" cmpd="sng">
              <a:solidFill>
                <a:srgbClr val="CC0099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28"/>
            <p:cNvSpPr/>
            <p:nvPr/>
          </p:nvSpPr>
          <p:spPr>
            <a:xfrm flipH="1" flipV="1">
              <a:off x="4559" y="2352"/>
              <a:ext cx="192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2" name="Line 29"/>
            <p:cNvSpPr/>
            <p:nvPr/>
          </p:nvSpPr>
          <p:spPr>
            <a:xfrm flipH="1">
              <a:off x="4223" y="2928"/>
              <a:ext cx="528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3343" name="Object 30"/>
            <p:cNvGraphicFramePr>
              <a:graphicFrameLocks noChangeAspect="1"/>
            </p:cNvGraphicFramePr>
            <p:nvPr/>
          </p:nvGraphicFramePr>
          <p:xfrm>
            <a:off x="4511" y="2788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" r:id="rId7" imgW="279400" imgH="241300" progId="Equation.DSMT4">
                    <p:embed/>
                  </p:oleObj>
                </mc:Choice>
                <mc:Fallback>
                  <p:oleObj r:id="rId7" imgW="279400" imgH="241300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11" y="2788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31"/>
            <p:cNvGraphicFramePr>
              <a:graphicFrameLocks noChangeAspect="1"/>
            </p:cNvGraphicFramePr>
            <p:nvPr/>
          </p:nvGraphicFramePr>
          <p:xfrm>
            <a:off x="4655" y="2447"/>
            <a:ext cx="193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" r:id="rId9" imgW="317500" imgH="317500" progId="Equation.3">
                    <p:embed/>
                  </p:oleObj>
                </mc:Choice>
                <mc:Fallback>
                  <p:oleObj r:id="rId9" imgW="317500" imgH="3175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55" y="2447"/>
                          <a:ext cx="193" cy="1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32"/>
            <p:cNvGraphicFramePr>
              <a:graphicFrameLocks noChangeAspect="1"/>
            </p:cNvGraphicFramePr>
            <p:nvPr/>
          </p:nvGraphicFramePr>
          <p:xfrm>
            <a:off x="3984" y="2592"/>
            <a:ext cx="17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" r:id="rId11" imgW="279400" imgH="317500" progId="Equation.3">
                    <p:embed/>
                  </p:oleObj>
                </mc:Choice>
                <mc:Fallback>
                  <p:oleObj r:id="rId11" imgW="279400" imgH="3175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84" y="2592"/>
                          <a:ext cx="17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5425" name="Object 33"/>
          <p:cNvGraphicFramePr>
            <a:graphicFrameLocks noChangeAspect="1"/>
          </p:cNvGraphicFramePr>
          <p:nvPr/>
        </p:nvGraphicFramePr>
        <p:xfrm>
          <a:off x="4067175" y="3949700"/>
          <a:ext cx="20891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r:id="rId13" imgW="2082800" imgH="876300" progId="Equation.DSMT4">
                  <p:embed/>
                </p:oleObj>
              </mc:Choice>
              <mc:Fallback>
                <p:oleObj r:id="rId13" imgW="2082800" imgH="8763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7175" y="3949700"/>
                        <a:ext cx="208915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26" name="Object 34"/>
          <p:cNvGraphicFramePr>
            <a:graphicFrameLocks noChangeAspect="1"/>
          </p:cNvGraphicFramePr>
          <p:nvPr/>
        </p:nvGraphicFramePr>
        <p:xfrm>
          <a:off x="6192838" y="3968750"/>
          <a:ext cx="11890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r:id="rId15" imgW="1155700" imgH="812800" progId="Equation.DSMT4">
                  <p:embed/>
                </p:oleObj>
              </mc:Choice>
              <mc:Fallback>
                <p:oleObj r:id="rId15" imgW="1155700" imgH="8128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92838" y="3968750"/>
                        <a:ext cx="1189037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28" name="Text Box 36"/>
          <p:cNvSpPr txBox="1"/>
          <p:nvPr/>
        </p:nvSpPr>
        <p:spPr>
          <a:xfrm>
            <a:off x="1187450" y="2133600"/>
            <a:ext cx="71675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1º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无论 </a:t>
            </a:r>
            <a:r>
              <a:rPr lang="en-US" altLang="zh-CN" sz="2800" b="1" i="1" dirty="0"/>
              <a:t>x &gt;</a:t>
            </a:r>
            <a:r>
              <a:rPr lang="en-US" altLang="zh-CN" sz="2800" b="1" dirty="0"/>
              <a:t>0 </a:t>
            </a:r>
            <a:r>
              <a:rPr lang="zh-CN" altLang="en-US" sz="2800" b="1" dirty="0"/>
              <a:t>或 </a:t>
            </a:r>
            <a:r>
              <a:rPr lang="en-US" altLang="zh-CN" sz="2800" b="1" i="1" dirty="0"/>
              <a:t>x&lt; </a:t>
            </a:r>
            <a:r>
              <a:rPr lang="en-US" altLang="zh-CN" sz="2800" b="1" dirty="0"/>
              <a:t>0,     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x </a:t>
            </a:r>
            <a:r>
              <a:rPr lang="zh-CN" altLang="en-US" sz="2800" b="1" dirty="0"/>
              <a:t>轴同向。</a:t>
            </a:r>
          </a:p>
        </p:txBody>
      </p:sp>
      <p:sp>
        <p:nvSpPr>
          <p:cNvPr id="955429" name="Rectangle 37"/>
          <p:cNvSpPr/>
          <p:nvPr/>
        </p:nvSpPr>
        <p:spPr>
          <a:xfrm>
            <a:off x="1187450" y="4670425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3º</a:t>
            </a:r>
            <a:r>
              <a:rPr lang="en-US" altLang="zh-CN" sz="2800" b="1" dirty="0"/>
              <a:t> 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&gt;&gt;</a:t>
            </a:r>
            <a:r>
              <a:rPr lang="en-US" altLang="zh-CN" sz="2800" b="1" i="1" dirty="0"/>
              <a:t>R </a:t>
            </a:r>
            <a:r>
              <a:rPr lang="zh-CN" altLang="en-US" sz="2800" b="1" dirty="0"/>
              <a:t>时</a:t>
            </a:r>
          </a:p>
        </p:txBody>
      </p:sp>
      <p:graphicFrame>
        <p:nvGraphicFramePr>
          <p:cNvPr id="955430" name="Object 38"/>
          <p:cNvGraphicFramePr>
            <a:graphicFrameLocks noChangeAspect="1"/>
          </p:cNvGraphicFramePr>
          <p:nvPr/>
        </p:nvGraphicFramePr>
        <p:xfrm>
          <a:off x="2025650" y="5094288"/>
          <a:ext cx="28130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r:id="rId17" imgW="2857500" imgH="965200" progId="Equation.DSMT4">
                  <p:embed/>
                </p:oleObj>
              </mc:Choice>
              <mc:Fallback>
                <p:oleObj r:id="rId17" imgW="2857500" imgH="9652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25650" y="5094288"/>
                        <a:ext cx="2813050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31" name="Rectangle 39"/>
          <p:cNvSpPr/>
          <p:nvPr/>
        </p:nvSpPr>
        <p:spPr>
          <a:xfrm>
            <a:off x="5157788" y="5286375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即</a:t>
            </a:r>
            <a:endParaRPr lang="zh-CN" altLang="en-US" sz="2800" dirty="0"/>
          </a:p>
        </p:txBody>
      </p:sp>
      <p:graphicFrame>
        <p:nvGraphicFramePr>
          <p:cNvPr id="955432" name="Object 40"/>
          <p:cNvGraphicFramePr>
            <a:graphicFrameLocks noChangeAspect="1"/>
          </p:cNvGraphicFramePr>
          <p:nvPr/>
        </p:nvGraphicFramePr>
        <p:xfrm>
          <a:off x="5711825" y="5084763"/>
          <a:ext cx="1598613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r:id="rId19" imgW="1536700" imgH="927100" progId="Equation.DSMT4">
                  <p:embed/>
                </p:oleObj>
              </mc:Choice>
              <mc:Fallback>
                <p:oleObj r:id="rId19" imgW="1536700" imgH="9271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11825" y="5084763"/>
                        <a:ext cx="1598613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33" name="Rectangle 41"/>
          <p:cNvSpPr/>
          <p:nvPr/>
        </p:nvSpPr>
        <p:spPr>
          <a:xfrm>
            <a:off x="1762125" y="6021388"/>
            <a:ext cx="5473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比较电偶极子延长线上</a:t>
            </a:r>
          </a:p>
        </p:txBody>
      </p:sp>
      <p:graphicFrame>
        <p:nvGraphicFramePr>
          <p:cNvPr id="955434" name="Object 42"/>
          <p:cNvGraphicFramePr>
            <a:graphicFrameLocks noChangeAspect="1"/>
          </p:cNvGraphicFramePr>
          <p:nvPr/>
        </p:nvGraphicFramePr>
        <p:xfrm>
          <a:off x="5684838" y="5913438"/>
          <a:ext cx="15208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r:id="rId21" imgW="1892300" imgH="914400" progId="Equation.DSMT4">
                  <p:embed/>
                </p:oleObj>
              </mc:Choice>
              <mc:Fallback>
                <p:oleObj r:id="rId21" imgW="1892300" imgH="9144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84838" y="5913438"/>
                        <a:ext cx="1520825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5435" name="Group 43"/>
          <p:cNvGrpSpPr/>
          <p:nvPr/>
        </p:nvGrpSpPr>
        <p:grpSpPr>
          <a:xfrm>
            <a:off x="777875" y="376238"/>
            <a:ext cx="3644900" cy="1022350"/>
            <a:chOff x="490" y="237"/>
            <a:chExt cx="2296" cy="644"/>
          </a:xfrm>
        </p:grpSpPr>
        <p:graphicFrame>
          <p:nvGraphicFramePr>
            <p:cNvPr id="13338" name="Object 44"/>
            <p:cNvGraphicFramePr>
              <a:graphicFrameLocks noChangeAspect="1"/>
            </p:cNvGraphicFramePr>
            <p:nvPr/>
          </p:nvGraphicFramePr>
          <p:xfrm>
            <a:off x="1051" y="245"/>
            <a:ext cx="1735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6" r:id="rId23" imgW="3606800" imgH="1244600" progId="Equation.DSMT4">
                    <p:embed/>
                  </p:oleObj>
                </mc:Choice>
                <mc:Fallback>
                  <p:oleObj r:id="rId23" imgW="3606800" imgH="1244600" progId="Equation.DSMT4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1" y="245"/>
                          <a:ext cx="1735" cy="636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45"/>
            <p:cNvGraphicFramePr>
              <a:graphicFrameLocks noChangeAspect="1"/>
            </p:cNvGraphicFramePr>
            <p:nvPr/>
          </p:nvGraphicFramePr>
          <p:xfrm>
            <a:off x="490" y="237"/>
            <a:ext cx="57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7" r:id="rId25" imgW="4343400" imgH="4013200" progId="MS_ClipArt_Gallery.2">
                    <p:embed/>
                  </p:oleObj>
                </mc:Choice>
                <mc:Fallback>
                  <p:oleObj r:id="rId25" imgW="4343400" imgH="4013200" progId="MS_ClipArt_Gallery.2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FFFFFF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0" y="237"/>
                          <a:ext cx="576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5438" name="Object 46"/>
          <p:cNvGraphicFramePr>
            <a:graphicFrameLocks noChangeAspect="1"/>
          </p:cNvGraphicFramePr>
          <p:nvPr/>
        </p:nvGraphicFramePr>
        <p:xfrm>
          <a:off x="5543550" y="981075"/>
          <a:ext cx="2952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r:id="rId27" imgW="292100" imgH="393700" progId="Equation.DSMT4">
                  <p:embed/>
                </p:oleObj>
              </mc:Choice>
              <mc:Fallback>
                <p:oleObj r:id="rId27" imgW="292100" imgH="3937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43550" y="981075"/>
                        <a:ext cx="295275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39" name="Object 47"/>
          <p:cNvGraphicFramePr>
            <a:graphicFrameLocks noChangeAspect="1"/>
          </p:cNvGraphicFramePr>
          <p:nvPr/>
        </p:nvGraphicFramePr>
        <p:xfrm>
          <a:off x="7848600" y="1484313"/>
          <a:ext cx="2952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r:id="rId29" imgW="292100" imgH="393700" progId="Equation.DSMT4">
                  <p:embed/>
                </p:oleObj>
              </mc:Choice>
              <mc:Fallback>
                <p:oleObj r:id="rId29" imgW="292100" imgH="3937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848600" y="1484313"/>
                        <a:ext cx="29527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40" name="Object 48"/>
          <p:cNvGraphicFramePr>
            <a:graphicFrameLocks noChangeAspect="1"/>
          </p:cNvGraphicFramePr>
          <p:nvPr/>
        </p:nvGraphicFramePr>
        <p:xfrm>
          <a:off x="4492625" y="2160588"/>
          <a:ext cx="2952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r:id="rId31" imgW="292100" imgH="393700" progId="Equation.DSMT4">
                  <p:embed/>
                </p:oleObj>
              </mc:Choice>
              <mc:Fallback>
                <p:oleObj r:id="rId31" imgW="292100" imgH="3937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92625" y="2160588"/>
                        <a:ext cx="29527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5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55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55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55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5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5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5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55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95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95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95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75"/>
                                        <p:tgtEl>
                                          <p:spTgt spid="95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95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95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5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95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25"/>
                            </p:stCondLst>
                            <p:childTnLst>
                              <p:par>
                                <p:cTn id="8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95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5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95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3" dur="500"/>
                                        <p:tgtEl>
                                          <p:spTgt spid="95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95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95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95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55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55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55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55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5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5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55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55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4" grpId="0"/>
      <p:bldP spid="955413" grpId="0" animBg="1"/>
      <p:bldP spid="955414" grpId="0"/>
      <p:bldP spid="955415" grpId="0"/>
      <p:bldP spid="955417" grpId="0"/>
      <p:bldP spid="955428" grpId="0"/>
      <p:bldP spid="955429" grpId="0"/>
      <p:bldP spid="955431" grpId="0"/>
      <p:bldP spid="9554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AutoShape 2"/>
          <p:cNvSpPr/>
          <p:nvPr/>
        </p:nvSpPr>
        <p:spPr>
          <a:xfrm>
            <a:off x="250825" y="1339850"/>
            <a:ext cx="2160588" cy="1152525"/>
          </a:xfrm>
          <a:prstGeom prst="irregularSeal1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956419" name="Group 3"/>
          <p:cNvGrpSpPr/>
          <p:nvPr/>
        </p:nvGrpSpPr>
        <p:grpSpPr>
          <a:xfrm>
            <a:off x="4248150" y="260350"/>
            <a:ext cx="4629150" cy="2566988"/>
            <a:chOff x="2686" y="164"/>
            <a:chExt cx="2916" cy="1617"/>
          </a:xfrm>
        </p:grpSpPr>
        <p:sp>
          <p:nvSpPr>
            <p:cNvPr id="14406" name="Oval 4"/>
            <p:cNvSpPr/>
            <p:nvPr/>
          </p:nvSpPr>
          <p:spPr>
            <a:xfrm>
              <a:off x="3454" y="395"/>
              <a:ext cx="576" cy="1152"/>
            </a:xfrm>
            <a:prstGeom prst="ellipse">
              <a:avLst/>
            </a:prstGeom>
            <a:solidFill>
              <a:srgbClr val="FFFFFF"/>
            </a:solidFill>
            <a:ln w="57150" cap="flat" cmpd="sng">
              <a:solidFill>
                <a:srgbClr val="006600"/>
              </a:solidFill>
              <a:prstDash val="solid"/>
              <a:headEnd type="none" w="med" len="med"/>
              <a:tailEnd type="none" w="sm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b="1" dirty="0"/>
            </a:p>
          </p:txBody>
        </p:sp>
        <p:sp>
          <p:nvSpPr>
            <p:cNvPr id="14407" name="Line 5"/>
            <p:cNvSpPr/>
            <p:nvPr/>
          </p:nvSpPr>
          <p:spPr>
            <a:xfrm>
              <a:off x="3742" y="395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sm" len="med"/>
            </a:ln>
          </p:spPr>
        </p:sp>
        <p:sp>
          <p:nvSpPr>
            <p:cNvPr id="14408" name="Line 6"/>
            <p:cNvSpPr/>
            <p:nvPr/>
          </p:nvSpPr>
          <p:spPr>
            <a:xfrm>
              <a:off x="3742" y="395"/>
              <a:ext cx="1152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14409" name="Line 7"/>
            <p:cNvSpPr/>
            <p:nvPr/>
          </p:nvSpPr>
          <p:spPr>
            <a:xfrm flipV="1">
              <a:off x="3742" y="971"/>
              <a:ext cx="1152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sm" len="med"/>
            </a:ln>
          </p:spPr>
        </p:sp>
        <p:sp>
          <p:nvSpPr>
            <p:cNvPr id="14410" name="Line 8"/>
            <p:cNvSpPr/>
            <p:nvPr/>
          </p:nvSpPr>
          <p:spPr>
            <a:xfrm flipV="1">
              <a:off x="4894" y="731"/>
              <a:ext cx="144" cy="24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14411" name="Line 9"/>
            <p:cNvSpPr/>
            <p:nvPr/>
          </p:nvSpPr>
          <p:spPr>
            <a:xfrm>
              <a:off x="4894" y="971"/>
              <a:ext cx="144" cy="24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sm" len="med"/>
            </a:ln>
          </p:spPr>
        </p:sp>
        <p:grpSp>
          <p:nvGrpSpPr>
            <p:cNvPr id="14412" name="Group 10"/>
            <p:cNvGrpSpPr/>
            <p:nvPr/>
          </p:nvGrpSpPr>
          <p:grpSpPr>
            <a:xfrm>
              <a:off x="4942" y="779"/>
              <a:ext cx="203" cy="198"/>
              <a:chOff x="4752" y="864"/>
              <a:chExt cx="203" cy="198"/>
            </a:xfrm>
          </p:grpSpPr>
          <p:sp>
            <p:nvSpPr>
              <p:cNvPr id="14435" name="Freeform 11"/>
              <p:cNvSpPr/>
              <p:nvPr/>
            </p:nvSpPr>
            <p:spPr>
              <a:xfrm>
                <a:off x="4752" y="997"/>
                <a:ext cx="49" cy="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9" y="59"/>
                  </a:cxn>
                </a:cxnLst>
                <a:rect l="0" t="0" r="0" b="0"/>
                <a:pathLst>
                  <a:path w="49" h="59">
                    <a:moveTo>
                      <a:pt x="0" y="0"/>
                    </a:moveTo>
                    <a:cubicBezTo>
                      <a:pt x="46" y="15"/>
                      <a:pt x="29" y="20"/>
                      <a:pt x="49" y="59"/>
                    </a:cubicBez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436" name="Object 12"/>
              <p:cNvGraphicFramePr>
                <a:graphicFrameLocks noChangeAspect="1"/>
              </p:cNvGraphicFramePr>
              <p:nvPr/>
            </p:nvGraphicFramePr>
            <p:xfrm>
              <a:off x="4800" y="864"/>
              <a:ext cx="155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4" r:id="rId3" imgW="139700" imgH="177800" progId="Equation.3">
                      <p:embed/>
                    </p:oleObj>
                  </mc:Choice>
                  <mc:Fallback>
                    <p:oleObj r:id="rId3" imgW="139700" imgH="1778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800" y="864"/>
                            <a:ext cx="155" cy="19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413" name="Object 13"/>
            <p:cNvGraphicFramePr>
              <a:graphicFrameLocks noChangeAspect="1"/>
            </p:cNvGraphicFramePr>
            <p:nvPr/>
          </p:nvGraphicFramePr>
          <p:xfrm>
            <a:off x="5013" y="518"/>
            <a:ext cx="22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5" r:id="rId5" imgW="457200" imgH="381000" progId="Equation.DSMT4">
                    <p:embed/>
                  </p:oleObj>
                </mc:Choice>
                <mc:Fallback>
                  <p:oleObj r:id="rId5" imgW="457200" imgH="3810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13" y="518"/>
                          <a:ext cx="226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14" name="Object 14"/>
            <p:cNvGraphicFramePr>
              <a:graphicFrameLocks noChangeAspect="1"/>
            </p:cNvGraphicFramePr>
            <p:nvPr/>
          </p:nvGraphicFramePr>
          <p:xfrm>
            <a:off x="4921" y="1167"/>
            <a:ext cx="2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6" r:id="rId7" imgW="546100" imgH="381000" progId="Equation.DSMT4">
                    <p:embed/>
                  </p:oleObj>
                </mc:Choice>
                <mc:Fallback>
                  <p:oleObj r:id="rId7" imgW="546100" imgH="3810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21" y="1167"/>
                          <a:ext cx="27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15" name="Line 15"/>
            <p:cNvSpPr/>
            <p:nvPr/>
          </p:nvSpPr>
          <p:spPr>
            <a:xfrm flipH="1">
              <a:off x="3454" y="683"/>
              <a:ext cx="48" cy="96"/>
            </a:xfrm>
            <a:prstGeom prst="line">
              <a:avLst/>
            </a:prstGeom>
            <a:ln w="57150" cap="flat" cmpd="sng">
              <a:solidFill>
                <a:srgbClr val="0066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4416" name="Text Box 16"/>
            <p:cNvSpPr txBox="1"/>
            <p:nvPr/>
          </p:nvSpPr>
          <p:spPr>
            <a:xfrm>
              <a:off x="3262" y="548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I</a:t>
              </a:r>
            </a:p>
          </p:txBody>
        </p:sp>
        <p:sp>
          <p:nvSpPr>
            <p:cNvPr id="14417" name="Text Box 17"/>
            <p:cNvSpPr txBox="1"/>
            <p:nvPr/>
          </p:nvSpPr>
          <p:spPr>
            <a:xfrm>
              <a:off x="4798" y="683"/>
              <a:ext cx="18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FF0000"/>
                  </a:solidFill>
                </a:rPr>
                <a:t>.</a:t>
              </a:r>
              <a:endParaRPr lang="en-US" altLang="zh-CN" sz="2800" b="1" dirty="0"/>
            </a:p>
          </p:txBody>
        </p:sp>
        <p:sp>
          <p:nvSpPr>
            <p:cNvPr id="14418" name="Text Box 18"/>
            <p:cNvSpPr txBox="1"/>
            <p:nvPr/>
          </p:nvSpPr>
          <p:spPr>
            <a:xfrm>
              <a:off x="4788" y="683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/>
                <a:t>P</a:t>
              </a:r>
            </a:p>
          </p:txBody>
        </p:sp>
        <p:sp>
          <p:nvSpPr>
            <p:cNvPr id="14419" name="Text Box 19"/>
            <p:cNvSpPr txBox="1"/>
            <p:nvPr/>
          </p:nvSpPr>
          <p:spPr>
            <a:xfrm>
              <a:off x="5374" y="89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</a:p>
          </p:txBody>
        </p:sp>
        <p:sp>
          <p:nvSpPr>
            <p:cNvPr id="14420" name="Text Box 20"/>
            <p:cNvSpPr txBox="1"/>
            <p:nvPr/>
          </p:nvSpPr>
          <p:spPr>
            <a:xfrm>
              <a:off x="4222" y="87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14421" name="Text Box 21"/>
            <p:cNvSpPr txBox="1"/>
            <p:nvPr/>
          </p:nvSpPr>
          <p:spPr>
            <a:xfrm>
              <a:off x="3646" y="92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o</a:t>
              </a:r>
            </a:p>
          </p:txBody>
        </p:sp>
        <p:graphicFrame>
          <p:nvGraphicFramePr>
            <p:cNvPr id="14422" name="Object 22"/>
            <p:cNvGraphicFramePr>
              <a:graphicFrameLocks noChangeAspect="1"/>
            </p:cNvGraphicFramePr>
            <p:nvPr/>
          </p:nvGraphicFramePr>
          <p:xfrm>
            <a:off x="3606" y="164"/>
            <a:ext cx="317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r:id="rId9" imgW="546100" imgH="393700" progId="Equation.DSMT4">
                    <p:embed/>
                  </p:oleObj>
                </mc:Choice>
                <mc:Fallback>
                  <p:oleObj r:id="rId9" imgW="546100" imgH="3937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06" y="164"/>
                          <a:ext cx="317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23" name="Line 23"/>
            <p:cNvSpPr/>
            <p:nvPr/>
          </p:nvSpPr>
          <p:spPr>
            <a:xfrm flipV="1">
              <a:off x="3694" y="395"/>
              <a:ext cx="96" cy="0"/>
            </a:xfrm>
            <a:prstGeom prst="line">
              <a:avLst/>
            </a:prstGeom>
            <a:ln w="5715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24" name="Line 24"/>
            <p:cNvSpPr/>
            <p:nvPr/>
          </p:nvSpPr>
          <p:spPr>
            <a:xfrm flipH="1">
              <a:off x="3646" y="395"/>
              <a:ext cx="48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4425" name="Object 25"/>
            <p:cNvGraphicFramePr>
              <a:graphicFrameLocks noChangeAspect="1"/>
            </p:cNvGraphicFramePr>
            <p:nvPr/>
          </p:nvGraphicFramePr>
          <p:xfrm>
            <a:off x="3606" y="1553"/>
            <a:ext cx="317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r:id="rId11" imgW="584200" imgH="393700" progId="Equation.DSMT4">
                    <p:embed/>
                  </p:oleObj>
                </mc:Choice>
                <mc:Fallback>
                  <p:oleObj r:id="rId11" imgW="584200" imgH="3937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06" y="1553"/>
                          <a:ext cx="317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426" name="Group 26"/>
            <p:cNvGrpSpPr/>
            <p:nvPr/>
          </p:nvGrpSpPr>
          <p:grpSpPr>
            <a:xfrm>
              <a:off x="3694" y="1547"/>
              <a:ext cx="144" cy="0"/>
              <a:chOff x="3168" y="2304"/>
              <a:chExt cx="144" cy="0"/>
            </a:xfrm>
          </p:grpSpPr>
          <p:sp>
            <p:nvSpPr>
              <p:cNvPr id="14433" name="Line 27"/>
              <p:cNvSpPr/>
              <p:nvPr/>
            </p:nvSpPr>
            <p:spPr>
              <a:xfrm>
                <a:off x="3216" y="2304"/>
                <a:ext cx="96" cy="0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434" name="Line 28"/>
              <p:cNvSpPr/>
              <p:nvPr/>
            </p:nvSpPr>
            <p:spPr>
              <a:xfrm>
                <a:off x="3168" y="2304"/>
                <a:ext cx="96" cy="0"/>
              </a:xfrm>
              <a:prstGeom prst="line">
                <a:avLst/>
              </a:prstGeom>
              <a:ln w="571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427" name="Group 29"/>
            <p:cNvGrpSpPr/>
            <p:nvPr/>
          </p:nvGrpSpPr>
          <p:grpSpPr>
            <a:xfrm>
              <a:off x="2686" y="971"/>
              <a:ext cx="2880" cy="0"/>
              <a:chOff x="2496" y="1056"/>
              <a:chExt cx="2880" cy="0"/>
            </a:xfrm>
          </p:grpSpPr>
          <p:sp>
            <p:nvSpPr>
              <p:cNvPr id="14430" name="Line 30"/>
              <p:cNvSpPr/>
              <p:nvPr/>
            </p:nvSpPr>
            <p:spPr>
              <a:xfrm>
                <a:off x="2496" y="1056"/>
                <a:ext cx="6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lg"/>
              </a:ln>
            </p:spPr>
          </p:sp>
          <p:sp>
            <p:nvSpPr>
              <p:cNvPr id="14431" name="Line 31"/>
              <p:cNvSpPr/>
              <p:nvPr/>
            </p:nvSpPr>
            <p:spPr>
              <a:xfrm>
                <a:off x="3168" y="1056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lgDash"/>
                <a:headEnd type="none" w="med" len="med"/>
                <a:tailEnd type="none" w="med" len="lg"/>
              </a:ln>
            </p:spPr>
          </p:sp>
          <p:sp>
            <p:nvSpPr>
              <p:cNvPr id="14432" name="Line 32"/>
              <p:cNvSpPr/>
              <p:nvPr/>
            </p:nvSpPr>
            <p:spPr>
              <a:xfrm>
                <a:off x="3552" y="1056"/>
                <a:ext cx="182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</p:sp>
        </p:grpSp>
        <p:sp>
          <p:nvSpPr>
            <p:cNvPr id="14428" name="Text Box 33"/>
            <p:cNvSpPr txBox="1"/>
            <p:nvPr/>
          </p:nvSpPr>
          <p:spPr>
            <a:xfrm>
              <a:off x="4164" y="389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</a:p>
          </p:txBody>
        </p:sp>
        <p:sp>
          <p:nvSpPr>
            <p:cNvPr id="14429" name="Text Box 34"/>
            <p:cNvSpPr txBox="1"/>
            <p:nvPr/>
          </p:nvSpPr>
          <p:spPr>
            <a:xfrm>
              <a:off x="3704" y="53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</a:p>
          </p:txBody>
        </p:sp>
      </p:grpSp>
      <p:sp>
        <p:nvSpPr>
          <p:cNvPr id="956451" name="Rectangle 35"/>
          <p:cNvSpPr/>
          <p:nvPr/>
        </p:nvSpPr>
        <p:spPr>
          <a:xfrm>
            <a:off x="677863" y="2266950"/>
            <a:ext cx="5334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4º</a:t>
            </a:r>
            <a:r>
              <a:rPr lang="en-US" altLang="zh-CN" sz="2800" b="1" baseline="30000" dirty="0"/>
              <a:t>  </a:t>
            </a:r>
            <a:r>
              <a:rPr lang="zh-CN" altLang="en-US" sz="2800" b="1" dirty="0"/>
              <a:t>轴线以外的磁场较复杂，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可定性给出磁感应线</a:t>
            </a:r>
            <a:r>
              <a:rPr lang="en-US" altLang="zh-CN" sz="2800" b="1" dirty="0"/>
              <a:t>.</a:t>
            </a:r>
            <a:endParaRPr lang="en-US" altLang="zh-CN" sz="2800" dirty="0"/>
          </a:p>
        </p:txBody>
      </p:sp>
      <p:sp>
        <p:nvSpPr>
          <p:cNvPr id="956452" name="Text Box 36"/>
          <p:cNvSpPr txBox="1"/>
          <p:nvPr/>
        </p:nvSpPr>
        <p:spPr>
          <a:xfrm>
            <a:off x="1187450" y="3213100"/>
            <a:ext cx="607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I</a:t>
            </a:r>
            <a:r>
              <a:rPr lang="zh-CN" altLang="en-US" sz="2800" b="1" dirty="0"/>
              <a:t>与   线仍服从右手螺旋关系</a:t>
            </a:r>
            <a:endParaRPr lang="zh-CN" altLang="en-US" sz="2800" dirty="0"/>
          </a:p>
        </p:txBody>
      </p:sp>
      <p:sp>
        <p:nvSpPr>
          <p:cNvPr id="956453" name="Text Box 37"/>
          <p:cNvSpPr txBox="1"/>
          <p:nvPr/>
        </p:nvSpPr>
        <p:spPr>
          <a:xfrm>
            <a:off x="5508625" y="52419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S</a:t>
            </a:r>
          </a:p>
        </p:txBody>
      </p:sp>
      <p:sp>
        <p:nvSpPr>
          <p:cNvPr id="956454" name="Text Box 38"/>
          <p:cNvSpPr txBox="1"/>
          <p:nvPr/>
        </p:nvSpPr>
        <p:spPr>
          <a:xfrm>
            <a:off x="7402513" y="522763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N</a:t>
            </a:r>
          </a:p>
        </p:txBody>
      </p:sp>
      <p:grpSp>
        <p:nvGrpSpPr>
          <p:cNvPr id="956455" name="Group 39"/>
          <p:cNvGrpSpPr/>
          <p:nvPr/>
        </p:nvGrpSpPr>
        <p:grpSpPr>
          <a:xfrm>
            <a:off x="6375400" y="4364038"/>
            <a:ext cx="762000" cy="152400"/>
            <a:chOff x="4272" y="2976"/>
            <a:chExt cx="480" cy="96"/>
          </a:xfrm>
        </p:grpSpPr>
        <p:sp>
          <p:nvSpPr>
            <p:cNvPr id="14396" name="Line 40"/>
            <p:cNvSpPr/>
            <p:nvPr/>
          </p:nvSpPr>
          <p:spPr>
            <a:xfrm>
              <a:off x="4272" y="2976"/>
              <a:ext cx="48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97" name="Line 41"/>
            <p:cNvSpPr/>
            <p:nvPr/>
          </p:nvSpPr>
          <p:spPr>
            <a:xfrm>
              <a:off x="4272" y="3072"/>
              <a:ext cx="48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98" name="Line 42"/>
            <p:cNvSpPr/>
            <p:nvPr/>
          </p:nvSpPr>
          <p:spPr>
            <a:xfrm>
              <a:off x="4752" y="2976"/>
              <a:ext cx="0" cy="9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99" name="Line 43"/>
            <p:cNvSpPr/>
            <p:nvPr/>
          </p:nvSpPr>
          <p:spPr>
            <a:xfrm>
              <a:off x="4272" y="2976"/>
              <a:ext cx="0" cy="9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0" name="Line 44"/>
            <p:cNvSpPr/>
            <p:nvPr/>
          </p:nvSpPr>
          <p:spPr>
            <a:xfrm>
              <a:off x="4499" y="2976"/>
              <a:ext cx="0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1" name="Line 45"/>
            <p:cNvSpPr/>
            <p:nvPr/>
          </p:nvSpPr>
          <p:spPr>
            <a:xfrm flipH="1">
              <a:off x="4499" y="2976"/>
              <a:ext cx="127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2" name="Line 46"/>
            <p:cNvSpPr/>
            <p:nvPr/>
          </p:nvSpPr>
          <p:spPr>
            <a:xfrm flipH="1">
              <a:off x="4550" y="2976"/>
              <a:ext cx="126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3" name="Line 47"/>
            <p:cNvSpPr/>
            <p:nvPr/>
          </p:nvSpPr>
          <p:spPr>
            <a:xfrm flipH="1">
              <a:off x="4626" y="2976"/>
              <a:ext cx="126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4" name="Line 48"/>
            <p:cNvSpPr/>
            <p:nvPr/>
          </p:nvSpPr>
          <p:spPr>
            <a:xfrm flipH="1">
              <a:off x="4701" y="3040"/>
              <a:ext cx="51" cy="3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4405" name="Line 49"/>
            <p:cNvSpPr/>
            <p:nvPr/>
          </p:nvSpPr>
          <p:spPr>
            <a:xfrm flipH="1">
              <a:off x="4499" y="2976"/>
              <a:ext cx="76" cy="6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56466" name="Text Box 50"/>
          <p:cNvSpPr txBox="1"/>
          <p:nvPr/>
        </p:nvSpPr>
        <p:spPr>
          <a:xfrm>
            <a:off x="7289800" y="4022725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N</a:t>
            </a:r>
            <a:endParaRPr lang="en-US" altLang="zh-CN" sz="2800" b="1" dirty="0"/>
          </a:p>
        </p:txBody>
      </p:sp>
      <p:sp>
        <p:nvSpPr>
          <p:cNvPr id="956467" name="Text Box 51"/>
          <p:cNvSpPr txBox="1"/>
          <p:nvPr/>
        </p:nvSpPr>
        <p:spPr>
          <a:xfrm>
            <a:off x="5627688" y="4022725"/>
            <a:ext cx="9001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956468" name="Text Box 52"/>
          <p:cNvSpPr txBox="1"/>
          <p:nvPr/>
        </p:nvSpPr>
        <p:spPr>
          <a:xfrm>
            <a:off x="1049338" y="3860800"/>
            <a:ext cx="44592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若有</a:t>
            </a:r>
            <a:r>
              <a:rPr lang="en-US" altLang="zh-CN" sz="2800" b="1" i="1" dirty="0"/>
              <a:t>N </a:t>
            </a:r>
            <a:r>
              <a:rPr lang="zh-CN" altLang="en-US" sz="2800" b="1" dirty="0"/>
              <a:t>匝线圈，总磁矩为：</a:t>
            </a:r>
            <a:endParaRPr lang="zh-CN" altLang="en-US" sz="2800" dirty="0"/>
          </a:p>
        </p:txBody>
      </p:sp>
      <p:grpSp>
        <p:nvGrpSpPr>
          <p:cNvPr id="956469" name="Group 53"/>
          <p:cNvGrpSpPr/>
          <p:nvPr/>
        </p:nvGrpSpPr>
        <p:grpSpPr>
          <a:xfrm>
            <a:off x="5689600" y="3779838"/>
            <a:ext cx="2514600" cy="1371600"/>
            <a:chOff x="3615" y="2200"/>
            <a:chExt cx="1584" cy="864"/>
          </a:xfrm>
        </p:grpSpPr>
        <p:sp>
          <p:nvSpPr>
            <p:cNvPr id="14387" name="Freeform 54"/>
            <p:cNvSpPr/>
            <p:nvPr/>
          </p:nvSpPr>
          <p:spPr>
            <a:xfrm>
              <a:off x="4453" y="2344"/>
              <a:ext cx="362" cy="15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262" y="127"/>
                </a:cxn>
                <a:cxn ang="0">
                  <a:pos x="482" y="78"/>
                </a:cxn>
                <a:cxn ang="0">
                  <a:pos x="656" y="0"/>
                </a:cxn>
              </a:cxnLst>
              <a:rect l="0" t="0" r="0" b="0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8" name="Freeform 55"/>
            <p:cNvSpPr/>
            <p:nvPr/>
          </p:nvSpPr>
          <p:spPr>
            <a:xfrm flipV="1">
              <a:off x="4479" y="2728"/>
              <a:ext cx="296" cy="15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117" y="127"/>
                </a:cxn>
                <a:cxn ang="0">
                  <a:pos x="215" y="78"/>
                </a:cxn>
                <a:cxn ang="0">
                  <a:pos x="293" y="0"/>
                </a:cxn>
              </a:cxnLst>
              <a:rect l="0" t="0" r="0" b="0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9" name="Freeform 56"/>
            <p:cNvSpPr/>
            <p:nvPr/>
          </p:nvSpPr>
          <p:spPr>
            <a:xfrm flipH="1">
              <a:off x="3759" y="2344"/>
              <a:ext cx="296" cy="144"/>
            </a:xfrm>
            <a:custGeom>
              <a:avLst/>
              <a:gdLst/>
              <a:ahLst/>
              <a:cxnLst>
                <a:cxn ang="0">
                  <a:pos x="0" y="114"/>
                </a:cxn>
                <a:cxn ang="0">
                  <a:pos x="117" y="92"/>
                </a:cxn>
                <a:cxn ang="0">
                  <a:pos x="215" y="56"/>
                </a:cxn>
                <a:cxn ang="0">
                  <a:pos x="293" y="0"/>
                </a:cxn>
              </a:cxnLst>
              <a:rect l="0" t="0" r="0" b="0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0" name="Freeform 57"/>
            <p:cNvSpPr/>
            <p:nvPr/>
          </p:nvSpPr>
          <p:spPr>
            <a:xfrm flipH="1" flipV="1">
              <a:off x="3799" y="2776"/>
              <a:ext cx="296" cy="144"/>
            </a:xfrm>
            <a:custGeom>
              <a:avLst/>
              <a:gdLst/>
              <a:ahLst/>
              <a:cxnLst>
                <a:cxn ang="0">
                  <a:pos x="0" y="114"/>
                </a:cxn>
                <a:cxn ang="0">
                  <a:pos x="117" y="92"/>
                </a:cxn>
                <a:cxn ang="0">
                  <a:pos x="215" y="56"/>
                </a:cxn>
                <a:cxn ang="0">
                  <a:pos x="293" y="0"/>
                </a:cxn>
              </a:cxnLst>
              <a:rect l="0" t="0" r="0" b="0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1" name="Oval 58"/>
            <p:cNvSpPr/>
            <p:nvPr/>
          </p:nvSpPr>
          <p:spPr>
            <a:xfrm>
              <a:off x="4047" y="2824"/>
              <a:ext cx="480" cy="240"/>
            </a:xfrm>
            <a:prstGeom prst="ellipse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92" name="Oval 59"/>
            <p:cNvSpPr/>
            <p:nvPr/>
          </p:nvSpPr>
          <p:spPr>
            <a:xfrm>
              <a:off x="4047" y="2200"/>
              <a:ext cx="480" cy="240"/>
            </a:xfrm>
            <a:prstGeom prst="ellipse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pSp>
          <p:nvGrpSpPr>
            <p:cNvPr id="14393" name="Group 60"/>
            <p:cNvGrpSpPr/>
            <p:nvPr/>
          </p:nvGrpSpPr>
          <p:grpSpPr>
            <a:xfrm>
              <a:off x="3615" y="2614"/>
              <a:ext cx="1584" cy="0"/>
              <a:chOff x="3984" y="1920"/>
              <a:chExt cx="1584" cy="0"/>
            </a:xfrm>
          </p:grpSpPr>
          <p:sp>
            <p:nvSpPr>
              <p:cNvPr id="14394" name="Line 61"/>
              <p:cNvSpPr/>
              <p:nvPr/>
            </p:nvSpPr>
            <p:spPr>
              <a:xfrm>
                <a:off x="3984" y="1920"/>
                <a:ext cx="1584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lg"/>
              </a:ln>
            </p:spPr>
          </p:sp>
          <p:sp>
            <p:nvSpPr>
              <p:cNvPr id="14395" name="Line 62"/>
              <p:cNvSpPr/>
              <p:nvPr/>
            </p:nvSpPr>
            <p:spPr>
              <a:xfrm>
                <a:off x="4128" y="1920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lg"/>
              </a:ln>
            </p:spPr>
          </p:sp>
        </p:grpSp>
      </p:grpSp>
      <p:sp>
        <p:nvSpPr>
          <p:cNvPr id="956479" name="Oval 63"/>
          <p:cNvSpPr/>
          <p:nvPr/>
        </p:nvSpPr>
        <p:spPr>
          <a:xfrm>
            <a:off x="6527800" y="3932238"/>
            <a:ext cx="381000" cy="990600"/>
          </a:xfrm>
          <a:prstGeom prst="ellipse">
            <a:avLst/>
          </a:prstGeom>
          <a:noFill/>
          <a:ln w="57150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956480" name="Group 64"/>
          <p:cNvGrpSpPr/>
          <p:nvPr/>
        </p:nvGrpSpPr>
        <p:grpSpPr>
          <a:xfrm>
            <a:off x="5994400" y="5380038"/>
            <a:ext cx="1371600" cy="228600"/>
            <a:chOff x="4176" y="2496"/>
            <a:chExt cx="864" cy="144"/>
          </a:xfrm>
        </p:grpSpPr>
        <p:sp>
          <p:nvSpPr>
            <p:cNvPr id="14385" name="Rectangle 65"/>
            <p:cNvSpPr/>
            <p:nvPr/>
          </p:nvSpPr>
          <p:spPr>
            <a:xfrm>
              <a:off x="4176" y="2496"/>
              <a:ext cx="432" cy="14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86" name="Rectangle 66"/>
            <p:cNvSpPr/>
            <p:nvPr/>
          </p:nvSpPr>
          <p:spPr>
            <a:xfrm>
              <a:off x="4608" y="2496"/>
              <a:ext cx="432" cy="144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956483" name="Line 67"/>
          <p:cNvSpPr/>
          <p:nvPr/>
        </p:nvSpPr>
        <p:spPr>
          <a:xfrm>
            <a:off x="6527800" y="4356100"/>
            <a:ext cx="0" cy="152400"/>
          </a:xfrm>
          <a:prstGeom prst="line">
            <a:avLst/>
          </a:prstGeom>
          <a:ln w="57150" cap="flat" cmpd="sng">
            <a:solidFill>
              <a:srgbClr val="006600"/>
            </a:solidFill>
            <a:prstDash val="solid"/>
            <a:headEnd type="none" w="med" len="med"/>
            <a:tailEnd type="triangle" w="med" len="lg"/>
          </a:ln>
        </p:spPr>
      </p:sp>
      <p:graphicFrame>
        <p:nvGraphicFramePr>
          <p:cNvPr id="956484" name="Object 68"/>
          <p:cNvGraphicFramePr>
            <a:graphicFrameLocks noChangeAspect="1"/>
          </p:cNvGraphicFramePr>
          <p:nvPr/>
        </p:nvGraphicFramePr>
        <p:xfrm>
          <a:off x="1620838" y="4508500"/>
          <a:ext cx="2879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r:id="rId13" imgW="2692400" imgH="469900" progId="Equation.3">
                  <p:embed/>
                </p:oleObj>
              </mc:Choice>
              <mc:Fallback>
                <p:oleObj r:id="rId13" imgW="2692400" imgH="469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20838" y="4508500"/>
                        <a:ext cx="28797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6485" name="AutoShape 69"/>
          <p:cNvSpPr/>
          <p:nvPr/>
        </p:nvSpPr>
        <p:spPr>
          <a:xfrm>
            <a:off x="8194675" y="4221163"/>
            <a:ext cx="609600" cy="1871662"/>
          </a:xfrm>
          <a:prstGeom prst="wedgeRectCallout">
            <a:avLst>
              <a:gd name="adj1" fmla="val -190366"/>
              <a:gd name="adj2" fmla="val -41519"/>
            </a:avLst>
          </a:prstGeom>
          <a:solidFill>
            <a:srgbClr val="FFFF00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磁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偶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极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子</a:t>
            </a:r>
          </a:p>
        </p:txBody>
      </p:sp>
      <p:grpSp>
        <p:nvGrpSpPr>
          <p:cNvPr id="956486" name="Group 70"/>
          <p:cNvGrpSpPr/>
          <p:nvPr/>
        </p:nvGrpSpPr>
        <p:grpSpPr>
          <a:xfrm>
            <a:off x="6677025" y="3970338"/>
            <a:ext cx="438150" cy="969962"/>
            <a:chOff x="4237" y="2320"/>
            <a:chExt cx="276" cy="611"/>
          </a:xfrm>
        </p:grpSpPr>
        <p:sp>
          <p:nvSpPr>
            <p:cNvPr id="14382" name="Arc 71"/>
            <p:cNvSpPr/>
            <p:nvPr/>
          </p:nvSpPr>
          <p:spPr>
            <a:xfrm>
              <a:off x="4237" y="2320"/>
              <a:ext cx="242" cy="1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067" h="21600" fill="none">
                  <a:moveTo>
                    <a:pt x="23067" y="11460"/>
                  </a:moveTo>
                  <a:cubicBezTo>
                    <a:pt x="19118" y="17768"/>
                    <a:pt x="12200" y="21599"/>
                    <a:pt x="4758" y="21600"/>
                  </a:cubicBezTo>
                  <a:cubicBezTo>
                    <a:pt x="3157" y="21600"/>
                    <a:pt x="1561" y="21422"/>
                    <a:pt x="-1" y="21069"/>
                  </a:cubicBezTo>
                </a:path>
                <a:path w="23067" h="21600" stroke="0">
                  <a:moveTo>
                    <a:pt x="23067" y="11460"/>
                  </a:moveTo>
                  <a:cubicBezTo>
                    <a:pt x="19118" y="17768"/>
                    <a:pt x="12200" y="21599"/>
                    <a:pt x="4758" y="21600"/>
                  </a:cubicBezTo>
                  <a:cubicBezTo>
                    <a:pt x="3157" y="21600"/>
                    <a:pt x="1561" y="21422"/>
                    <a:pt x="-1" y="21069"/>
                  </a:cubicBezTo>
                  <a:lnTo>
                    <a:pt x="4758" y="0"/>
                  </a:lnTo>
                  <a:lnTo>
                    <a:pt x="23067" y="1146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3" name="Arc 72"/>
            <p:cNvSpPr/>
            <p:nvPr/>
          </p:nvSpPr>
          <p:spPr>
            <a:xfrm flipV="1">
              <a:off x="4241" y="2817"/>
              <a:ext cx="242" cy="1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067" h="21600" fill="none">
                  <a:moveTo>
                    <a:pt x="23067" y="11460"/>
                  </a:moveTo>
                  <a:cubicBezTo>
                    <a:pt x="19118" y="17768"/>
                    <a:pt x="12200" y="21599"/>
                    <a:pt x="4758" y="21600"/>
                  </a:cubicBezTo>
                  <a:cubicBezTo>
                    <a:pt x="3157" y="21600"/>
                    <a:pt x="1561" y="21422"/>
                    <a:pt x="-1" y="21069"/>
                  </a:cubicBezTo>
                </a:path>
                <a:path w="23067" h="21600" stroke="0">
                  <a:moveTo>
                    <a:pt x="23067" y="11460"/>
                  </a:moveTo>
                  <a:cubicBezTo>
                    <a:pt x="19118" y="17768"/>
                    <a:pt x="12200" y="21599"/>
                    <a:pt x="4758" y="21600"/>
                  </a:cubicBezTo>
                  <a:cubicBezTo>
                    <a:pt x="3157" y="21600"/>
                    <a:pt x="1561" y="21422"/>
                    <a:pt x="-1" y="21069"/>
                  </a:cubicBezTo>
                  <a:lnTo>
                    <a:pt x="4758" y="0"/>
                  </a:lnTo>
                  <a:lnTo>
                    <a:pt x="23067" y="1146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4" name="Line 73"/>
            <p:cNvSpPr/>
            <p:nvPr/>
          </p:nvSpPr>
          <p:spPr>
            <a:xfrm>
              <a:off x="4286" y="2614"/>
              <a:ext cx="227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56490" name="Group 74"/>
          <p:cNvGrpSpPr/>
          <p:nvPr/>
        </p:nvGrpSpPr>
        <p:grpSpPr>
          <a:xfrm>
            <a:off x="5651500" y="2497138"/>
            <a:ext cx="3097213" cy="1076325"/>
            <a:chOff x="3809" y="1253"/>
            <a:chExt cx="1951" cy="678"/>
          </a:xfrm>
        </p:grpSpPr>
        <p:sp>
          <p:nvSpPr>
            <p:cNvPr id="14361" name="Arc 75"/>
            <p:cNvSpPr/>
            <p:nvPr/>
          </p:nvSpPr>
          <p:spPr>
            <a:xfrm rot="-10800000" flipH="1">
              <a:off x="4444" y="1569"/>
              <a:ext cx="726" cy="3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080" h="21600" fill="none">
                  <a:moveTo>
                    <a:pt x="-1" y="19326"/>
                  </a:moveTo>
                  <a:cubicBezTo>
                    <a:pt x="1162" y="8338"/>
                    <a:pt x="10430" y="-1"/>
                    <a:pt x="21480" y="0"/>
                  </a:cubicBezTo>
                  <a:cubicBezTo>
                    <a:pt x="33409" y="0"/>
                    <a:pt x="43080" y="9670"/>
                    <a:pt x="43080" y="21600"/>
                  </a:cubicBezTo>
                </a:path>
                <a:path w="43080" h="21600" stroke="0">
                  <a:moveTo>
                    <a:pt x="-1" y="19326"/>
                  </a:moveTo>
                  <a:cubicBezTo>
                    <a:pt x="1162" y="8338"/>
                    <a:pt x="10430" y="-1"/>
                    <a:pt x="21480" y="0"/>
                  </a:cubicBezTo>
                  <a:cubicBezTo>
                    <a:pt x="33409" y="0"/>
                    <a:pt x="43080" y="9670"/>
                    <a:pt x="43080" y="21600"/>
                  </a:cubicBezTo>
                  <a:lnTo>
                    <a:pt x="21480" y="21600"/>
                  </a:lnTo>
                  <a:lnTo>
                    <a:pt x="-1" y="19326"/>
                  </a:lnTo>
                  <a:close/>
                </a:path>
              </a:pathLst>
            </a:custGeom>
            <a:noFill/>
            <a:ln w="76200" cap="flat" cmpd="tri">
              <a:solidFill>
                <a:srgbClr val="00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AutoShape 76"/>
            <p:cNvSpPr/>
            <p:nvPr/>
          </p:nvSpPr>
          <p:spPr>
            <a:xfrm>
              <a:off x="3809" y="1388"/>
              <a:ext cx="1951" cy="453"/>
            </a:xfrm>
            <a:prstGeom prst="parallelogram">
              <a:avLst>
                <a:gd name="adj" fmla="val 107671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3" name="Oval 77"/>
            <p:cNvSpPr/>
            <p:nvPr/>
          </p:nvSpPr>
          <p:spPr>
            <a:xfrm>
              <a:off x="5079" y="1569"/>
              <a:ext cx="182" cy="91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4" name="Oval 78"/>
            <p:cNvSpPr/>
            <p:nvPr/>
          </p:nvSpPr>
          <p:spPr>
            <a:xfrm>
              <a:off x="4353" y="1524"/>
              <a:ext cx="182" cy="91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5" name="Oval 79"/>
            <p:cNvSpPr/>
            <p:nvPr/>
          </p:nvSpPr>
          <p:spPr>
            <a:xfrm>
              <a:off x="5034" y="1524"/>
              <a:ext cx="363" cy="181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6" name="Oval 80"/>
            <p:cNvSpPr/>
            <p:nvPr/>
          </p:nvSpPr>
          <p:spPr>
            <a:xfrm>
              <a:off x="4218" y="1478"/>
              <a:ext cx="363" cy="181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4367" name="Arc 81"/>
            <p:cNvSpPr/>
            <p:nvPr/>
          </p:nvSpPr>
          <p:spPr>
            <a:xfrm>
              <a:off x="4946" y="1436"/>
              <a:ext cx="665" cy="3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8438" h="43176" fill="none">
                  <a:moveTo>
                    <a:pt x="20572" y="43175"/>
                  </a:moveTo>
                  <a:cubicBezTo>
                    <a:pt x="9055" y="42626"/>
                    <a:pt x="0" y="331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45" y="-1"/>
                    <a:pt x="34338" y="2968"/>
                    <a:pt x="38438" y="8070"/>
                  </a:cubicBezTo>
                </a:path>
                <a:path w="38438" h="43176" stroke="0">
                  <a:moveTo>
                    <a:pt x="20572" y="43175"/>
                  </a:moveTo>
                  <a:cubicBezTo>
                    <a:pt x="9055" y="42626"/>
                    <a:pt x="0" y="331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45" y="-1"/>
                    <a:pt x="34338" y="2968"/>
                    <a:pt x="38438" y="8070"/>
                  </a:cubicBezTo>
                  <a:lnTo>
                    <a:pt x="21600" y="21600"/>
                  </a:lnTo>
                  <a:lnTo>
                    <a:pt x="20572" y="43175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Arc 82"/>
            <p:cNvSpPr/>
            <p:nvPr/>
          </p:nvSpPr>
          <p:spPr>
            <a:xfrm>
              <a:off x="4855" y="1388"/>
              <a:ext cx="374" cy="4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8289" fill="none">
                  <a:moveTo>
                    <a:pt x="10641" y="38289"/>
                  </a:moveTo>
                  <a:cubicBezTo>
                    <a:pt x="4048" y="34407"/>
                    <a:pt x="0" y="27326"/>
                    <a:pt x="0" y="19675"/>
                  </a:cubicBezTo>
                  <a:cubicBezTo>
                    <a:pt x="-1" y="11194"/>
                    <a:pt x="4962" y="3499"/>
                    <a:pt x="12686" y="-1"/>
                  </a:cubicBezTo>
                </a:path>
                <a:path w="21600" h="38289" stroke="0">
                  <a:moveTo>
                    <a:pt x="10641" y="38289"/>
                  </a:moveTo>
                  <a:cubicBezTo>
                    <a:pt x="4048" y="34407"/>
                    <a:pt x="0" y="27326"/>
                    <a:pt x="0" y="19675"/>
                  </a:cubicBezTo>
                  <a:cubicBezTo>
                    <a:pt x="-1" y="11194"/>
                    <a:pt x="4962" y="3499"/>
                    <a:pt x="12686" y="-1"/>
                  </a:cubicBezTo>
                  <a:lnTo>
                    <a:pt x="21600" y="19675"/>
                  </a:lnTo>
                  <a:lnTo>
                    <a:pt x="10641" y="38289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Arc 83"/>
            <p:cNvSpPr/>
            <p:nvPr/>
          </p:nvSpPr>
          <p:spPr>
            <a:xfrm flipH="1" flipV="1">
              <a:off x="3982" y="1390"/>
              <a:ext cx="666" cy="3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8513" h="43099" fill="none">
                  <a:moveTo>
                    <a:pt x="19509" y="43098"/>
                  </a:moveTo>
                  <a:cubicBezTo>
                    <a:pt x="8441" y="42022"/>
                    <a:pt x="0" y="3271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87" y="-1"/>
                    <a:pt x="34415" y="3006"/>
                    <a:pt x="38513" y="8164"/>
                  </a:cubicBezTo>
                </a:path>
                <a:path w="38513" h="43099" stroke="0">
                  <a:moveTo>
                    <a:pt x="19509" y="43098"/>
                  </a:moveTo>
                  <a:cubicBezTo>
                    <a:pt x="8441" y="42022"/>
                    <a:pt x="0" y="3271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87" y="-1"/>
                    <a:pt x="34415" y="3006"/>
                    <a:pt x="38513" y="8164"/>
                  </a:cubicBezTo>
                  <a:lnTo>
                    <a:pt x="21600" y="21600"/>
                  </a:lnTo>
                  <a:lnTo>
                    <a:pt x="19509" y="43098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Arc 84"/>
            <p:cNvSpPr/>
            <p:nvPr/>
          </p:nvSpPr>
          <p:spPr>
            <a:xfrm flipH="1">
              <a:off x="4340" y="1369"/>
              <a:ext cx="373" cy="4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8909" fill="none">
                  <a:moveTo>
                    <a:pt x="19087" y="38909"/>
                  </a:moveTo>
                  <a:cubicBezTo>
                    <a:pt x="8204" y="37635"/>
                    <a:pt x="0" y="28413"/>
                    <a:pt x="0" y="17456"/>
                  </a:cubicBezTo>
                  <a:cubicBezTo>
                    <a:pt x="-1" y="10552"/>
                    <a:pt x="3299" y="4065"/>
                    <a:pt x="8878" y="0"/>
                  </a:cubicBezTo>
                </a:path>
                <a:path w="21600" h="38909" stroke="0">
                  <a:moveTo>
                    <a:pt x="19087" y="38909"/>
                  </a:moveTo>
                  <a:cubicBezTo>
                    <a:pt x="8204" y="37635"/>
                    <a:pt x="0" y="28413"/>
                    <a:pt x="0" y="17456"/>
                  </a:cubicBezTo>
                  <a:cubicBezTo>
                    <a:pt x="-1" y="10552"/>
                    <a:pt x="3299" y="4065"/>
                    <a:pt x="8878" y="0"/>
                  </a:cubicBezTo>
                  <a:lnTo>
                    <a:pt x="21600" y="17456"/>
                  </a:lnTo>
                  <a:lnTo>
                    <a:pt x="19087" y="38909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85"/>
            <p:cNvSpPr/>
            <p:nvPr/>
          </p:nvSpPr>
          <p:spPr>
            <a:xfrm flipH="1">
              <a:off x="4762" y="1388"/>
              <a:ext cx="45" cy="45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2" name="Line 86"/>
            <p:cNvSpPr/>
            <p:nvPr/>
          </p:nvSpPr>
          <p:spPr>
            <a:xfrm>
              <a:off x="4853" y="1614"/>
              <a:ext cx="0" cy="91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4373" name="Line 87"/>
            <p:cNvSpPr/>
            <p:nvPr/>
          </p:nvSpPr>
          <p:spPr>
            <a:xfrm flipH="1">
              <a:off x="4671" y="1614"/>
              <a:ext cx="45" cy="91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4374" name="Line 88"/>
            <p:cNvSpPr/>
            <p:nvPr/>
          </p:nvSpPr>
          <p:spPr>
            <a:xfrm flipH="1">
              <a:off x="4535" y="1659"/>
              <a:ext cx="46" cy="46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4375" name="Line 89"/>
            <p:cNvSpPr/>
            <p:nvPr/>
          </p:nvSpPr>
          <p:spPr>
            <a:xfrm>
              <a:off x="4943" y="1614"/>
              <a:ext cx="46" cy="91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4376" name="Line 90"/>
            <p:cNvSpPr/>
            <p:nvPr/>
          </p:nvSpPr>
          <p:spPr>
            <a:xfrm>
              <a:off x="5057" y="1661"/>
              <a:ext cx="91" cy="45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7" name="Line 91"/>
            <p:cNvSpPr/>
            <p:nvPr/>
          </p:nvSpPr>
          <p:spPr>
            <a:xfrm>
              <a:off x="5148" y="1661"/>
              <a:ext cx="46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8" name="Line 92"/>
            <p:cNvSpPr/>
            <p:nvPr/>
          </p:nvSpPr>
          <p:spPr>
            <a:xfrm flipH="1">
              <a:off x="4422" y="1616"/>
              <a:ext cx="46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9" name="Line 93"/>
            <p:cNvSpPr/>
            <p:nvPr/>
          </p:nvSpPr>
          <p:spPr>
            <a:xfrm flipH="1">
              <a:off x="4468" y="1616"/>
              <a:ext cx="91" cy="45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80" name="Line 94"/>
            <p:cNvSpPr/>
            <p:nvPr/>
          </p:nvSpPr>
          <p:spPr>
            <a:xfrm>
              <a:off x="4785" y="1570"/>
              <a:ext cx="0" cy="136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4381" name="Arc 95"/>
            <p:cNvSpPr/>
            <p:nvPr/>
          </p:nvSpPr>
          <p:spPr>
            <a:xfrm>
              <a:off x="4444" y="1253"/>
              <a:ext cx="727" cy="3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167" h="21600" fill="none">
                  <a:moveTo>
                    <a:pt x="-1" y="20408"/>
                  </a:moveTo>
                  <a:cubicBezTo>
                    <a:pt x="632" y="8959"/>
                    <a:pt x="10100" y="-1"/>
                    <a:pt x="21567" y="0"/>
                  </a:cubicBezTo>
                  <a:cubicBezTo>
                    <a:pt x="33496" y="0"/>
                    <a:pt x="43167" y="9670"/>
                    <a:pt x="43167" y="21600"/>
                  </a:cubicBezTo>
                </a:path>
                <a:path w="43167" h="21600" stroke="0">
                  <a:moveTo>
                    <a:pt x="-1" y="20408"/>
                  </a:moveTo>
                  <a:cubicBezTo>
                    <a:pt x="632" y="8959"/>
                    <a:pt x="10100" y="-1"/>
                    <a:pt x="21567" y="0"/>
                  </a:cubicBezTo>
                  <a:cubicBezTo>
                    <a:pt x="33496" y="0"/>
                    <a:pt x="43167" y="9670"/>
                    <a:pt x="43167" y="21600"/>
                  </a:cubicBezTo>
                  <a:lnTo>
                    <a:pt x="21567" y="21600"/>
                  </a:lnTo>
                  <a:lnTo>
                    <a:pt x="-1" y="20408"/>
                  </a:lnTo>
                  <a:close/>
                </a:path>
              </a:pathLst>
            </a:custGeom>
            <a:noFill/>
            <a:ln w="76200" cap="flat" cmpd="tri">
              <a:solidFill>
                <a:srgbClr val="00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6512" name="Text Box 96"/>
          <p:cNvSpPr txBox="1"/>
          <p:nvPr/>
        </p:nvSpPr>
        <p:spPr>
          <a:xfrm>
            <a:off x="735013" y="1625600"/>
            <a:ext cx="210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ea typeface="隶书" panose="02010509060101010101" pitchFamily="49" charset="-122"/>
              </a:rPr>
              <a:t>结论</a:t>
            </a:r>
          </a:p>
        </p:txBody>
      </p:sp>
      <p:grpSp>
        <p:nvGrpSpPr>
          <p:cNvPr id="956513" name="Group 97"/>
          <p:cNvGrpSpPr/>
          <p:nvPr/>
        </p:nvGrpSpPr>
        <p:grpSpPr>
          <a:xfrm>
            <a:off x="777875" y="376238"/>
            <a:ext cx="3644900" cy="1022350"/>
            <a:chOff x="490" y="237"/>
            <a:chExt cx="2296" cy="644"/>
          </a:xfrm>
        </p:grpSpPr>
        <p:graphicFrame>
          <p:nvGraphicFramePr>
            <p:cNvPr id="14359" name="Object 98"/>
            <p:cNvGraphicFramePr>
              <a:graphicFrameLocks noChangeAspect="1"/>
            </p:cNvGraphicFramePr>
            <p:nvPr/>
          </p:nvGraphicFramePr>
          <p:xfrm>
            <a:off x="1051" y="245"/>
            <a:ext cx="1735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0" r:id="rId15" imgW="3606800" imgH="1244600" progId="Equation.DSMT4">
                    <p:embed/>
                  </p:oleObj>
                </mc:Choice>
                <mc:Fallback>
                  <p:oleObj r:id="rId15" imgW="3606800" imgH="12446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1" y="245"/>
                          <a:ext cx="1735" cy="636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0" name="Object 99"/>
            <p:cNvGraphicFramePr>
              <a:graphicFrameLocks noChangeAspect="1"/>
            </p:cNvGraphicFramePr>
            <p:nvPr/>
          </p:nvGraphicFramePr>
          <p:xfrm>
            <a:off x="490" y="237"/>
            <a:ext cx="57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1" r:id="rId17" imgW="4343400" imgH="4013200" progId="MS_ClipArt_Gallery.2">
                    <p:embed/>
                  </p:oleObj>
                </mc:Choice>
                <mc:Fallback>
                  <p:oleObj r:id="rId17" imgW="4343400" imgH="4013200" progId="MS_ClipArt_Gallery.2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FFFFFF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0" y="237"/>
                          <a:ext cx="576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6517" name="Object 101"/>
          <p:cNvGraphicFramePr>
            <a:graphicFrameLocks noChangeAspect="1"/>
          </p:cNvGraphicFramePr>
          <p:nvPr/>
        </p:nvGraphicFramePr>
        <p:xfrm>
          <a:off x="1727200" y="3240088"/>
          <a:ext cx="2952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r:id="rId19" imgW="292100" imgH="393700" progId="Equation.DSMT4">
                  <p:embed/>
                </p:oleObj>
              </mc:Choice>
              <mc:Fallback>
                <p:oleObj r:id="rId19" imgW="292100" imgH="3937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27200" y="3240088"/>
                        <a:ext cx="29527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6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6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56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56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75"/>
                                        <p:tgtEl>
                                          <p:spTgt spid="95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6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56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956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956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25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5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5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5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95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95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95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95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5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5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56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56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75" fill="hold"/>
                                        <p:tgtEl>
                                          <p:spTgt spid="956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956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95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18" grpId="0" animBg="1"/>
      <p:bldP spid="956451" grpId="0"/>
      <p:bldP spid="956452" grpId="0"/>
      <p:bldP spid="956453" grpId="0"/>
      <p:bldP spid="956454" grpId="0"/>
      <p:bldP spid="956466" grpId="0"/>
      <p:bldP spid="956467" grpId="0"/>
      <p:bldP spid="956468" grpId="0"/>
      <p:bldP spid="956479" grpId="0" animBg="1"/>
      <p:bldP spid="956485" grpId="0" animBg="1"/>
      <p:bldP spid="9565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442" name="Group 2"/>
          <p:cNvGrpSpPr/>
          <p:nvPr/>
        </p:nvGrpSpPr>
        <p:grpSpPr>
          <a:xfrm>
            <a:off x="661988" y="369888"/>
            <a:ext cx="6323012" cy="538162"/>
            <a:chOff x="417" y="233"/>
            <a:chExt cx="3983" cy="339"/>
          </a:xfrm>
        </p:grpSpPr>
        <p:sp>
          <p:nvSpPr>
            <p:cNvPr id="15436" name="Text Box 3"/>
            <p:cNvSpPr txBox="1"/>
            <p:nvPr/>
          </p:nvSpPr>
          <p:spPr>
            <a:xfrm>
              <a:off x="417" y="245"/>
              <a:ext cx="398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例、</a:t>
              </a:r>
              <a:r>
                <a:rPr lang="zh-CN" altLang="en-US" sz="2800" b="1" dirty="0"/>
                <a:t> 一长螺线管轴线上的磁场</a:t>
              </a:r>
              <a:endParaRPr lang="zh-CN" altLang="en-US" sz="2800" dirty="0"/>
            </a:p>
          </p:txBody>
        </p:sp>
        <p:graphicFrame>
          <p:nvGraphicFramePr>
            <p:cNvPr id="15437" name="Object 4"/>
            <p:cNvGraphicFramePr>
              <a:graphicFrameLocks noChangeAspect="1"/>
            </p:cNvGraphicFramePr>
            <p:nvPr/>
          </p:nvGraphicFramePr>
          <p:xfrm>
            <a:off x="3402" y="233"/>
            <a:ext cx="521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r:id="rId3" imgW="342900" imgH="203200" progId="Equation.3">
                    <p:embed/>
                  </p:oleObj>
                </mc:Choice>
                <mc:Fallback>
                  <p:oleObj r:id="rId3" imgW="342900" imgH="203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02" y="233"/>
                          <a:ext cx="521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7445" name="Text Box 5"/>
          <p:cNvSpPr txBox="1"/>
          <p:nvPr/>
        </p:nvSpPr>
        <p:spPr>
          <a:xfrm>
            <a:off x="1327150" y="908050"/>
            <a:ext cx="75295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已知：导线通有电流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单位长度上匝数为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。</a:t>
            </a:r>
            <a:endParaRPr lang="zh-CN" altLang="en-US" sz="2800" i="1" dirty="0"/>
          </a:p>
        </p:txBody>
      </p:sp>
      <p:sp>
        <p:nvSpPr>
          <p:cNvPr id="957446" name="Text Box 6"/>
          <p:cNvSpPr txBox="1"/>
          <p:nvPr/>
        </p:nvSpPr>
        <p:spPr>
          <a:xfrm>
            <a:off x="792163" y="1403350"/>
            <a:ext cx="81724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在管上取一小段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x,</a:t>
            </a:r>
            <a:r>
              <a:rPr lang="en-US" altLang="zh-CN" sz="2800" b="1" dirty="0"/>
              <a:t> 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内的各匝圆线圈的总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效果，是一匝圆电流线圈的 </a:t>
            </a:r>
            <a:r>
              <a:rPr lang="en-US" altLang="zh-CN" sz="2800" b="1" i="1" dirty="0"/>
              <a:t>n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倍，        </a:t>
            </a:r>
          </a:p>
        </p:txBody>
      </p:sp>
      <p:graphicFrame>
        <p:nvGraphicFramePr>
          <p:cNvPr id="957447" name="Object 7"/>
          <p:cNvGraphicFramePr>
            <a:graphicFrameLocks noChangeAspect="1"/>
          </p:cNvGraphicFramePr>
          <p:nvPr/>
        </p:nvGraphicFramePr>
        <p:xfrm>
          <a:off x="5033963" y="3001963"/>
          <a:ext cx="2562225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r:id="rId5" imgW="2844800" imgH="965200" progId="Equation.DSMT4">
                  <p:embed/>
                </p:oleObj>
              </mc:Choice>
              <mc:Fallback>
                <p:oleObj r:id="rId5" imgW="2844800" imgH="965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3963" y="3001963"/>
                        <a:ext cx="2562225" cy="931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8" name="Object 8"/>
          <p:cNvGraphicFramePr>
            <a:graphicFrameLocks noChangeAspect="1"/>
          </p:cNvGraphicFramePr>
          <p:nvPr/>
        </p:nvGraphicFramePr>
        <p:xfrm>
          <a:off x="4999038" y="4187825"/>
          <a:ext cx="1584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r:id="rId7" imgW="1765300" imgH="393700" progId="Equation.3">
                  <p:embed/>
                </p:oleObj>
              </mc:Choice>
              <mc:Fallback>
                <p:oleObj r:id="rId7" imgW="1765300" imgH="393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9038" y="4187825"/>
                        <a:ext cx="15843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7449" name="Group 9"/>
          <p:cNvGrpSpPr/>
          <p:nvPr/>
        </p:nvGrpSpPr>
        <p:grpSpPr>
          <a:xfrm>
            <a:off x="304800" y="4156075"/>
            <a:ext cx="2947988" cy="1117600"/>
            <a:chOff x="192" y="2124"/>
            <a:chExt cx="1857" cy="704"/>
          </a:xfrm>
        </p:grpSpPr>
        <p:graphicFrame>
          <p:nvGraphicFramePr>
            <p:cNvPr id="15434" name="Object 10"/>
            <p:cNvGraphicFramePr>
              <a:graphicFrameLocks noChangeAspect="1"/>
            </p:cNvGraphicFramePr>
            <p:nvPr/>
          </p:nvGraphicFramePr>
          <p:xfrm>
            <a:off x="688" y="2124"/>
            <a:ext cx="1361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r:id="rId9" imgW="2628900" imgH="1155700" progId="Equation.DSMT4">
                    <p:embed/>
                  </p:oleObj>
                </mc:Choice>
                <mc:Fallback>
                  <p:oleObj r:id="rId9" imgW="2628900" imgH="11557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8" y="2124"/>
                          <a:ext cx="1361" cy="704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66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35" name="Object 11"/>
            <p:cNvGraphicFramePr>
              <a:graphicFrameLocks noChangeAspect="1"/>
            </p:cNvGraphicFramePr>
            <p:nvPr/>
          </p:nvGraphicFramePr>
          <p:xfrm>
            <a:off x="192" y="2160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5" r:id="rId11" imgW="4343400" imgH="4013200" progId="MS_ClipArt_Gallery.2">
                    <p:embed/>
                  </p:oleObj>
                </mc:Choice>
                <mc:Fallback>
                  <p:oleObj r:id="rId11" imgW="4343400" imgH="4013200" progId="MS_ClipArt_Gallery.2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FFFFFF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" y="2160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7452" name="Object 12"/>
          <p:cNvGraphicFramePr>
            <a:graphicFrameLocks noChangeAspect="1"/>
          </p:cNvGraphicFramePr>
          <p:nvPr/>
        </p:nvGraphicFramePr>
        <p:xfrm>
          <a:off x="5457825" y="4729163"/>
          <a:ext cx="24225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r:id="rId13" imgW="2679700" imgH="800100" progId="Equation.DSMT4">
                  <p:embed/>
                </p:oleObj>
              </mc:Choice>
              <mc:Fallback>
                <p:oleObj r:id="rId13" imgW="2679700" imgH="800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7825" y="4729163"/>
                        <a:ext cx="2422525" cy="769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7453" name="Text Box 13"/>
          <p:cNvSpPr txBox="1"/>
          <p:nvPr/>
        </p:nvSpPr>
        <p:spPr>
          <a:xfrm>
            <a:off x="4787900" y="4854575"/>
            <a:ext cx="1003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则</a:t>
            </a:r>
            <a:endParaRPr lang="zh-CN" altLang="en-US" sz="2800" dirty="0"/>
          </a:p>
        </p:txBody>
      </p:sp>
      <p:graphicFrame>
        <p:nvGraphicFramePr>
          <p:cNvPr id="957454" name="Object 14"/>
          <p:cNvGraphicFramePr>
            <a:graphicFrameLocks noChangeAspect="1"/>
          </p:cNvGraphicFramePr>
          <p:nvPr/>
        </p:nvGraphicFramePr>
        <p:xfrm>
          <a:off x="1501775" y="5592763"/>
          <a:ext cx="35750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15" imgW="3759200" imgH="812800" progId="Equation.DSMT4">
                  <p:embed/>
                </p:oleObj>
              </mc:Choice>
              <mc:Fallback>
                <p:oleObj r:id="rId15" imgW="3759200" imgH="8128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01775" y="5592763"/>
                        <a:ext cx="3575050" cy="788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55" name="Object 15"/>
          <p:cNvGraphicFramePr>
            <a:graphicFrameLocks noChangeAspect="1"/>
          </p:cNvGraphicFramePr>
          <p:nvPr/>
        </p:nvGraphicFramePr>
        <p:xfrm>
          <a:off x="5102225" y="5578475"/>
          <a:ext cx="310673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17" imgW="3365500" imgH="812800" progId="Equation.DSMT4">
                  <p:embed/>
                </p:oleObj>
              </mc:Choice>
              <mc:Fallback>
                <p:oleObj r:id="rId17" imgW="3365500" imgH="812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02225" y="5578475"/>
                        <a:ext cx="3106738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7456" name="Text Box 16"/>
          <p:cNvSpPr txBox="1"/>
          <p:nvPr/>
        </p:nvSpPr>
        <p:spPr>
          <a:xfrm>
            <a:off x="2951163" y="6067425"/>
            <a:ext cx="647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</a:t>
            </a:r>
            <a:r>
              <a:rPr lang="en-US" altLang="zh-CN" sz="2000" b="1" baseline="-25000" dirty="0">
                <a:sym typeface="Symbol" panose="05050102010706020507" pitchFamily="18" charset="2"/>
              </a:rPr>
              <a:t>1</a:t>
            </a:r>
            <a:endParaRPr lang="en-US" altLang="zh-CN" sz="2400" b="1" dirty="0"/>
          </a:p>
        </p:txBody>
      </p:sp>
      <p:sp>
        <p:nvSpPr>
          <p:cNvPr id="957457" name="Text Box 17"/>
          <p:cNvSpPr txBox="1"/>
          <p:nvPr/>
        </p:nvSpPr>
        <p:spPr>
          <a:xfrm>
            <a:off x="2990850" y="5445125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</a:t>
            </a:r>
            <a:r>
              <a:rPr lang="en-US" altLang="zh-CN" sz="2000" b="1" baseline="-25000" dirty="0">
                <a:sym typeface="Symbol" panose="05050102010706020507" pitchFamily="18" charset="2"/>
              </a:rPr>
              <a:t>2</a:t>
            </a:r>
            <a:endParaRPr lang="en-US" altLang="zh-CN" sz="2400" b="1" dirty="0"/>
          </a:p>
        </p:txBody>
      </p:sp>
      <p:graphicFrame>
        <p:nvGraphicFramePr>
          <p:cNvPr id="957458" name="Object 18"/>
          <p:cNvGraphicFramePr>
            <a:graphicFrameLocks noChangeAspect="1"/>
          </p:cNvGraphicFramePr>
          <p:nvPr/>
        </p:nvGraphicFramePr>
        <p:xfrm>
          <a:off x="6889750" y="3933825"/>
          <a:ext cx="16462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r:id="rId19" imgW="1663700" imgH="825500" progId="Equation.DSMT4">
                  <p:embed/>
                </p:oleObj>
              </mc:Choice>
              <mc:Fallback>
                <p:oleObj r:id="rId19" imgW="1663700" imgH="8255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89750" y="3933825"/>
                        <a:ext cx="1646238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7459" name="Text Box 19"/>
          <p:cNvSpPr txBox="1"/>
          <p:nvPr/>
        </p:nvSpPr>
        <p:spPr>
          <a:xfrm>
            <a:off x="3851275" y="6273800"/>
            <a:ext cx="2820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方向沿 </a:t>
            </a:r>
            <a:r>
              <a:rPr lang="en-US" altLang="zh-CN" sz="2800" b="1" i="1" dirty="0"/>
              <a:t>x </a:t>
            </a:r>
            <a:r>
              <a:rPr lang="zh-CN" altLang="en-US" sz="2800" b="1" dirty="0"/>
              <a:t>轴</a:t>
            </a:r>
          </a:p>
        </p:txBody>
      </p:sp>
      <p:grpSp>
        <p:nvGrpSpPr>
          <p:cNvPr id="957461" name="Group 21"/>
          <p:cNvGrpSpPr/>
          <p:nvPr/>
        </p:nvGrpSpPr>
        <p:grpSpPr>
          <a:xfrm>
            <a:off x="395288" y="2508250"/>
            <a:ext cx="4348162" cy="1641475"/>
            <a:chOff x="93" y="1440"/>
            <a:chExt cx="2739" cy="1034"/>
          </a:xfrm>
        </p:grpSpPr>
        <p:sp>
          <p:nvSpPr>
            <p:cNvPr id="15397" name="Rectangle 22"/>
            <p:cNvSpPr/>
            <p:nvPr/>
          </p:nvSpPr>
          <p:spPr>
            <a:xfrm>
              <a:off x="93" y="1441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398" name="Rectangle 23"/>
            <p:cNvSpPr/>
            <p:nvPr/>
          </p:nvSpPr>
          <p:spPr>
            <a:xfrm>
              <a:off x="93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399" name="Rectangle 24"/>
            <p:cNvSpPr/>
            <p:nvPr/>
          </p:nvSpPr>
          <p:spPr>
            <a:xfrm>
              <a:off x="226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0" name="Rectangle 25"/>
            <p:cNvSpPr/>
            <p:nvPr/>
          </p:nvSpPr>
          <p:spPr>
            <a:xfrm>
              <a:off x="360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1" name="Rectangle 26"/>
            <p:cNvSpPr/>
            <p:nvPr/>
          </p:nvSpPr>
          <p:spPr>
            <a:xfrm>
              <a:off x="493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2" name="Rectangle 27"/>
            <p:cNvSpPr/>
            <p:nvPr/>
          </p:nvSpPr>
          <p:spPr>
            <a:xfrm>
              <a:off x="627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3" name="Rectangle 28"/>
            <p:cNvSpPr/>
            <p:nvPr/>
          </p:nvSpPr>
          <p:spPr>
            <a:xfrm>
              <a:off x="761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4" name="Rectangle 29"/>
            <p:cNvSpPr/>
            <p:nvPr/>
          </p:nvSpPr>
          <p:spPr>
            <a:xfrm>
              <a:off x="895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5" name="Rectangle 30"/>
            <p:cNvSpPr/>
            <p:nvPr/>
          </p:nvSpPr>
          <p:spPr>
            <a:xfrm>
              <a:off x="1028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6" name="Rectangle 31"/>
            <p:cNvSpPr/>
            <p:nvPr/>
          </p:nvSpPr>
          <p:spPr>
            <a:xfrm>
              <a:off x="1162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7" name="Rectangle 32"/>
            <p:cNvSpPr/>
            <p:nvPr/>
          </p:nvSpPr>
          <p:spPr>
            <a:xfrm>
              <a:off x="1295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8" name="Rectangle 33"/>
            <p:cNvSpPr/>
            <p:nvPr/>
          </p:nvSpPr>
          <p:spPr>
            <a:xfrm>
              <a:off x="1429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09" name="Rectangle 34"/>
            <p:cNvSpPr/>
            <p:nvPr/>
          </p:nvSpPr>
          <p:spPr>
            <a:xfrm>
              <a:off x="1562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0" name="Rectangle 35"/>
            <p:cNvSpPr/>
            <p:nvPr/>
          </p:nvSpPr>
          <p:spPr>
            <a:xfrm>
              <a:off x="1696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1" name="Rectangle 36"/>
            <p:cNvSpPr/>
            <p:nvPr/>
          </p:nvSpPr>
          <p:spPr>
            <a:xfrm>
              <a:off x="1830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2" name="Rectangle 37"/>
            <p:cNvSpPr/>
            <p:nvPr/>
          </p:nvSpPr>
          <p:spPr>
            <a:xfrm>
              <a:off x="1963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3" name="Rectangle 38"/>
            <p:cNvSpPr/>
            <p:nvPr/>
          </p:nvSpPr>
          <p:spPr>
            <a:xfrm>
              <a:off x="2097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4" name="Rectangle 39"/>
            <p:cNvSpPr/>
            <p:nvPr/>
          </p:nvSpPr>
          <p:spPr>
            <a:xfrm>
              <a:off x="2231" y="1440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5415" name="Rectangle 40"/>
            <p:cNvSpPr/>
            <p:nvPr/>
          </p:nvSpPr>
          <p:spPr>
            <a:xfrm>
              <a:off x="226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16" name="Rectangle 41"/>
            <p:cNvSpPr/>
            <p:nvPr/>
          </p:nvSpPr>
          <p:spPr>
            <a:xfrm>
              <a:off x="360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17" name="Rectangle 42"/>
            <p:cNvSpPr/>
            <p:nvPr/>
          </p:nvSpPr>
          <p:spPr>
            <a:xfrm>
              <a:off x="493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18" name="Rectangle 43"/>
            <p:cNvSpPr/>
            <p:nvPr/>
          </p:nvSpPr>
          <p:spPr>
            <a:xfrm>
              <a:off x="627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19" name="Rectangle 44"/>
            <p:cNvSpPr/>
            <p:nvPr/>
          </p:nvSpPr>
          <p:spPr>
            <a:xfrm>
              <a:off x="761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0" name="Rectangle 45"/>
            <p:cNvSpPr/>
            <p:nvPr/>
          </p:nvSpPr>
          <p:spPr>
            <a:xfrm>
              <a:off x="895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1" name="Rectangle 46"/>
            <p:cNvSpPr/>
            <p:nvPr/>
          </p:nvSpPr>
          <p:spPr>
            <a:xfrm>
              <a:off x="1028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2" name="Rectangle 47"/>
            <p:cNvSpPr/>
            <p:nvPr/>
          </p:nvSpPr>
          <p:spPr>
            <a:xfrm>
              <a:off x="1162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3" name="Rectangle 48"/>
            <p:cNvSpPr/>
            <p:nvPr/>
          </p:nvSpPr>
          <p:spPr>
            <a:xfrm>
              <a:off x="1295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4" name="Rectangle 49"/>
            <p:cNvSpPr/>
            <p:nvPr/>
          </p:nvSpPr>
          <p:spPr>
            <a:xfrm>
              <a:off x="1429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5" name="Rectangle 50"/>
            <p:cNvSpPr/>
            <p:nvPr/>
          </p:nvSpPr>
          <p:spPr>
            <a:xfrm>
              <a:off x="1562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6" name="Rectangle 51"/>
            <p:cNvSpPr/>
            <p:nvPr/>
          </p:nvSpPr>
          <p:spPr>
            <a:xfrm>
              <a:off x="1696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7" name="Rectangle 52"/>
            <p:cNvSpPr/>
            <p:nvPr/>
          </p:nvSpPr>
          <p:spPr>
            <a:xfrm>
              <a:off x="1830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8" name="Rectangle 53"/>
            <p:cNvSpPr/>
            <p:nvPr/>
          </p:nvSpPr>
          <p:spPr>
            <a:xfrm>
              <a:off x="1963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29" name="Rectangle 54"/>
            <p:cNvSpPr/>
            <p:nvPr/>
          </p:nvSpPr>
          <p:spPr>
            <a:xfrm>
              <a:off x="2097" y="214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30" name="Rectangle 55"/>
            <p:cNvSpPr/>
            <p:nvPr/>
          </p:nvSpPr>
          <p:spPr>
            <a:xfrm>
              <a:off x="2231" y="2148"/>
              <a:ext cx="28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5431" name="Rectangle 56"/>
            <p:cNvSpPr/>
            <p:nvPr/>
          </p:nvSpPr>
          <p:spPr>
            <a:xfrm>
              <a:off x="192" y="1680"/>
              <a:ext cx="2256" cy="576"/>
            </a:xfrm>
            <a:prstGeom prst="rect">
              <a:avLst/>
            </a:prstGeom>
            <a:gradFill rotWithShape="1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5400000" scaled="1"/>
              <a:tileRect/>
            </a:gradFill>
            <a:ln w="9525" cap="flat" cmpd="sng">
              <a:solidFill>
                <a:srgbClr val="6666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5432" name="Line 57"/>
            <p:cNvSpPr/>
            <p:nvPr/>
          </p:nvSpPr>
          <p:spPr>
            <a:xfrm>
              <a:off x="96" y="1968"/>
              <a:ext cx="267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433" name="Text Box 58"/>
            <p:cNvSpPr txBox="1"/>
            <p:nvPr/>
          </p:nvSpPr>
          <p:spPr>
            <a:xfrm>
              <a:off x="2604" y="192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</a:p>
          </p:txBody>
        </p:sp>
      </p:grpSp>
      <p:sp>
        <p:nvSpPr>
          <p:cNvPr id="957499" name="Rectangle 59" descr="深色上对角线"/>
          <p:cNvSpPr/>
          <p:nvPr/>
        </p:nvSpPr>
        <p:spPr>
          <a:xfrm>
            <a:off x="1309688" y="2584450"/>
            <a:ext cx="228600" cy="14478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57500" name="Line 60"/>
          <p:cNvSpPr/>
          <p:nvPr/>
        </p:nvSpPr>
        <p:spPr>
          <a:xfrm flipH="1" flipV="1">
            <a:off x="1538288" y="2847975"/>
            <a:ext cx="1676400" cy="533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7501" name="Line 61"/>
          <p:cNvSpPr/>
          <p:nvPr/>
        </p:nvSpPr>
        <p:spPr>
          <a:xfrm flipV="1">
            <a:off x="3214688" y="2847975"/>
            <a:ext cx="762000" cy="4572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7502" name="Line 62"/>
          <p:cNvSpPr/>
          <p:nvPr/>
        </p:nvSpPr>
        <p:spPr>
          <a:xfrm flipH="1" flipV="1">
            <a:off x="547688" y="2847975"/>
            <a:ext cx="2590800" cy="498475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7503" name="Text Box 63"/>
          <p:cNvSpPr txBox="1"/>
          <p:nvPr/>
        </p:nvSpPr>
        <p:spPr>
          <a:xfrm>
            <a:off x="1157288" y="212725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/>
              <a:t>d</a:t>
            </a:r>
            <a:r>
              <a:rPr lang="en-US" altLang="zh-CN" sz="2800" b="1" i="1" dirty="0"/>
              <a:t>x</a:t>
            </a:r>
          </a:p>
        </p:txBody>
      </p:sp>
      <p:grpSp>
        <p:nvGrpSpPr>
          <p:cNvPr id="957504" name="Group 64"/>
          <p:cNvGrpSpPr/>
          <p:nvPr/>
        </p:nvGrpSpPr>
        <p:grpSpPr>
          <a:xfrm>
            <a:off x="849313" y="2965450"/>
            <a:ext cx="384175" cy="381000"/>
            <a:chOff x="430" y="1584"/>
            <a:chExt cx="242" cy="240"/>
          </a:xfrm>
        </p:grpSpPr>
        <p:sp>
          <p:nvSpPr>
            <p:cNvPr id="15395" name="Line 65"/>
            <p:cNvSpPr/>
            <p:nvPr/>
          </p:nvSpPr>
          <p:spPr>
            <a:xfrm flipH="1">
              <a:off x="576" y="1584"/>
              <a:ext cx="96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15396" name="Object 66"/>
            <p:cNvGraphicFramePr>
              <a:graphicFrameLocks noChangeAspect="1"/>
            </p:cNvGraphicFramePr>
            <p:nvPr/>
          </p:nvGraphicFramePr>
          <p:xfrm>
            <a:off x="430" y="1632"/>
            <a:ext cx="14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0" r:id="rId21" imgW="317500" imgH="419100" progId="Equation.3">
                    <p:embed/>
                  </p:oleObj>
                </mc:Choice>
                <mc:Fallback>
                  <p:oleObj r:id="rId21" imgW="317500" imgH="4191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0" y="1632"/>
                          <a:ext cx="14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7507" name="Group 67"/>
          <p:cNvGrpSpPr/>
          <p:nvPr/>
        </p:nvGrpSpPr>
        <p:grpSpPr>
          <a:xfrm>
            <a:off x="2127250" y="3076575"/>
            <a:ext cx="325438" cy="250825"/>
            <a:chOff x="2435" y="2400"/>
            <a:chExt cx="205" cy="158"/>
          </a:xfrm>
        </p:grpSpPr>
        <p:sp>
          <p:nvSpPr>
            <p:cNvPr id="15393" name="Line 68"/>
            <p:cNvSpPr/>
            <p:nvPr/>
          </p:nvSpPr>
          <p:spPr>
            <a:xfrm flipH="1">
              <a:off x="2592" y="2414"/>
              <a:ext cx="48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15394" name="Object 69"/>
            <p:cNvGraphicFramePr>
              <a:graphicFrameLocks noChangeAspect="1"/>
            </p:cNvGraphicFramePr>
            <p:nvPr/>
          </p:nvGraphicFramePr>
          <p:xfrm>
            <a:off x="2435" y="2400"/>
            <a:ext cx="10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1" r:id="rId23" imgW="241300" imgH="317500" progId="Equation.3">
                    <p:embed/>
                  </p:oleObj>
                </mc:Choice>
                <mc:Fallback>
                  <p:oleObj r:id="rId23" imgW="241300" imgH="3175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435" y="2400"/>
                          <a:ext cx="109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7510" name="Group 70"/>
          <p:cNvGrpSpPr/>
          <p:nvPr/>
        </p:nvGrpSpPr>
        <p:grpSpPr>
          <a:xfrm>
            <a:off x="2909888" y="2822575"/>
            <a:ext cx="466725" cy="523875"/>
            <a:chOff x="2092" y="2262"/>
            <a:chExt cx="294" cy="330"/>
          </a:xfrm>
        </p:grpSpPr>
        <p:graphicFrame>
          <p:nvGraphicFramePr>
            <p:cNvPr id="15391" name="Object 71"/>
            <p:cNvGraphicFramePr>
              <a:graphicFrameLocks noChangeAspect="1"/>
            </p:cNvGraphicFramePr>
            <p:nvPr/>
          </p:nvGraphicFramePr>
          <p:xfrm>
            <a:off x="2092" y="2262"/>
            <a:ext cx="18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r:id="rId25" imgW="330200" imgH="419100" progId="Equation.3">
                    <p:embed/>
                  </p:oleObj>
                </mc:Choice>
                <mc:Fallback>
                  <p:oleObj r:id="rId25" imgW="330200" imgH="4191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092" y="2262"/>
                          <a:ext cx="186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2" name="Freeform 72"/>
            <p:cNvSpPr/>
            <p:nvPr/>
          </p:nvSpPr>
          <p:spPr>
            <a:xfrm>
              <a:off x="2112" y="2448"/>
              <a:ext cx="274" cy="144"/>
            </a:xfrm>
            <a:custGeom>
              <a:avLst/>
              <a:gdLst/>
              <a:ahLst/>
              <a:cxnLst>
                <a:cxn ang="0">
                  <a:pos x="0" y="282"/>
                </a:cxn>
                <a:cxn ang="0">
                  <a:pos x="98" y="118"/>
                </a:cxn>
                <a:cxn ang="0">
                  <a:pos x="244" y="8"/>
                </a:cxn>
                <a:cxn ang="0">
                  <a:pos x="489" y="61"/>
                </a:cxn>
              </a:cxnLst>
              <a:rect l="0" t="0" r="0" b="0"/>
              <a:pathLst>
                <a:path w="226" h="115">
                  <a:moveTo>
                    <a:pt x="0" y="115"/>
                  </a:moveTo>
                  <a:cubicBezTo>
                    <a:pt x="15" y="93"/>
                    <a:pt x="30" y="70"/>
                    <a:pt x="45" y="48"/>
                  </a:cubicBezTo>
                  <a:cubicBezTo>
                    <a:pt x="60" y="25"/>
                    <a:pt x="113" y="3"/>
                    <a:pt x="113" y="3"/>
                  </a:cubicBezTo>
                  <a:cubicBezTo>
                    <a:pt x="212" y="15"/>
                    <a:pt x="177" y="0"/>
                    <a:pt x="226" y="25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7513" name="Group 73"/>
          <p:cNvGrpSpPr/>
          <p:nvPr/>
        </p:nvGrpSpPr>
        <p:grpSpPr>
          <a:xfrm>
            <a:off x="2909888" y="2771775"/>
            <a:ext cx="457200" cy="1004888"/>
            <a:chOff x="1248" y="1335"/>
            <a:chExt cx="288" cy="633"/>
          </a:xfrm>
        </p:grpSpPr>
        <p:sp>
          <p:nvSpPr>
            <p:cNvPr id="15389" name="Text Box 74"/>
            <p:cNvSpPr txBox="1"/>
            <p:nvPr/>
          </p:nvSpPr>
          <p:spPr>
            <a:xfrm>
              <a:off x="1248" y="168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/>
                <a:t> </a:t>
              </a:r>
              <a:r>
                <a:rPr lang="en-US" altLang="zh-CN" sz="2400" b="1" i="1" dirty="0"/>
                <a:t>P</a:t>
              </a:r>
              <a:endParaRPr lang="en-US" altLang="zh-CN" sz="2400" i="1" dirty="0"/>
            </a:p>
          </p:txBody>
        </p:sp>
        <p:sp>
          <p:nvSpPr>
            <p:cNvPr id="15390" name="Text Box 75"/>
            <p:cNvSpPr txBox="1"/>
            <p:nvPr/>
          </p:nvSpPr>
          <p:spPr>
            <a:xfrm>
              <a:off x="1296" y="1335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4800" b="1" dirty="0">
                  <a:solidFill>
                    <a:srgbClr val="FF3300"/>
                  </a:solidFill>
                </a:rPr>
                <a:t>.</a:t>
              </a:r>
              <a:endParaRPr lang="en-US" altLang="zh-CN" sz="4400" b="1" dirty="0"/>
            </a:p>
          </p:txBody>
        </p:sp>
      </p:grpSp>
      <p:sp>
        <p:nvSpPr>
          <p:cNvPr id="957516" name="Text Box 76"/>
          <p:cNvSpPr txBox="1"/>
          <p:nvPr/>
        </p:nvSpPr>
        <p:spPr>
          <a:xfrm>
            <a:off x="1995488" y="3152775"/>
            <a:ext cx="38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/>
              <a:t>x</a:t>
            </a:r>
            <a:endParaRPr lang="en-US" altLang="zh-CN" sz="2800" i="1" dirty="0"/>
          </a:p>
        </p:txBody>
      </p:sp>
      <p:sp>
        <p:nvSpPr>
          <p:cNvPr id="957517" name="Text Box 77"/>
          <p:cNvSpPr txBox="1"/>
          <p:nvPr/>
        </p:nvSpPr>
        <p:spPr>
          <a:xfrm>
            <a:off x="4275138" y="2362200"/>
            <a:ext cx="4725987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800" b="1" dirty="0"/>
              <a:t> 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内的电流在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点的磁场</a:t>
            </a:r>
          </a:p>
        </p:txBody>
      </p:sp>
      <p:sp>
        <p:nvSpPr>
          <p:cNvPr id="15388" name="Text Box 78"/>
          <p:cNvSpPr txBox="1"/>
          <p:nvPr/>
        </p:nvSpPr>
        <p:spPr>
          <a:xfrm>
            <a:off x="4443413" y="1900238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5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5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5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5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5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7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7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5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7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57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95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5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5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95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5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5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57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57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95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95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9" dur="500"/>
                                        <p:tgtEl>
                                          <p:spTgt spid="95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5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95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95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95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5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95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5" grpId="0"/>
      <p:bldP spid="957446" grpId="0"/>
      <p:bldP spid="957453" grpId="0"/>
      <p:bldP spid="957456" grpId="0"/>
      <p:bldP spid="957457" grpId="0"/>
      <p:bldP spid="957459" grpId="0"/>
      <p:bldP spid="957499" grpId="0" animBg="1"/>
      <p:bldP spid="957503" grpId="0"/>
      <p:bldP spid="957516" grpId="0"/>
      <p:bldP spid="9575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8466" name="Object 2"/>
          <p:cNvGraphicFramePr>
            <a:graphicFrameLocks noChangeAspect="1"/>
          </p:cNvGraphicFramePr>
          <p:nvPr/>
        </p:nvGraphicFramePr>
        <p:xfrm>
          <a:off x="1476375" y="2708275"/>
          <a:ext cx="28178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r:id="rId3" imgW="3187700" imgH="571500" progId="Equation.3">
                  <p:embed/>
                </p:oleObj>
              </mc:Choice>
              <mc:Fallback>
                <p:oleObj r:id="rId3" imgW="3187700" imgH="5715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2708275"/>
                        <a:ext cx="2817813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67" name="Text Box 3"/>
          <p:cNvSpPr txBox="1"/>
          <p:nvPr/>
        </p:nvSpPr>
        <p:spPr>
          <a:xfrm>
            <a:off x="914400" y="3860800"/>
            <a:ext cx="51704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2º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  </a:t>
            </a:r>
            <a:r>
              <a:rPr lang="zh-CN" altLang="en-US" sz="2800" b="1" dirty="0"/>
              <a:t>半无限长螺线管</a:t>
            </a:r>
          </a:p>
        </p:txBody>
      </p:sp>
      <p:graphicFrame>
        <p:nvGraphicFramePr>
          <p:cNvPr id="958468" name="Object 4"/>
          <p:cNvGraphicFramePr>
            <a:graphicFrameLocks noChangeAspect="1"/>
          </p:cNvGraphicFramePr>
          <p:nvPr/>
        </p:nvGraphicFramePr>
        <p:xfrm>
          <a:off x="4071938" y="4546600"/>
          <a:ext cx="13604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r:id="rId5" imgW="1663700" imgH="698500" progId="Equation.DSMT4">
                  <p:embed/>
                </p:oleObj>
              </mc:Choice>
              <mc:Fallback>
                <p:oleObj r:id="rId5" imgW="1663700" imgH="6985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1938" y="4546600"/>
                        <a:ext cx="1360487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69" name="AutoShape 5"/>
          <p:cNvSpPr/>
          <p:nvPr/>
        </p:nvSpPr>
        <p:spPr>
          <a:xfrm>
            <a:off x="3686175" y="4519613"/>
            <a:ext cx="304800" cy="685800"/>
          </a:xfrm>
          <a:prstGeom prst="rightBrace">
            <a:avLst>
              <a:gd name="adj1" fmla="val 18750"/>
              <a:gd name="adj2" fmla="val 50000"/>
            </a:avLst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58471" name="AutoShape 7"/>
          <p:cNvSpPr/>
          <p:nvPr/>
        </p:nvSpPr>
        <p:spPr>
          <a:xfrm>
            <a:off x="5535613" y="3357563"/>
            <a:ext cx="3048000" cy="533400"/>
          </a:xfrm>
          <a:prstGeom prst="wedgeRoundRectCallout">
            <a:avLst>
              <a:gd name="adj1" fmla="val -52657"/>
              <a:gd name="adj2" fmla="val -104764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dirty="0">
              <a:solidFill>
                <a:srgbClr val="0000FF"/>
              </a:solidFill>
            </a:endParaRPr>
          </a:p>
        </p:txBody>
      </p:sp>
      <p:sp>
        <p:nvSpPr>
          <p:cNvPr id="958472" name="AutoShape 8"/>
          <p:cNvSpPr/>
          <p:nvPr/>
        </p:nvSpPr>
        <p:spPr>
          <a:xfrm>
            <a:off x="588963" y="1300163"/>
            <a:ext cx="1676400" cy="1219200"/>
          </a:xfrm>
          <a:prstGeom prst="irregularSeal1">
            <a:avLst/>
          </a:prstGeom>
          <a:solidFill>
            <a:schemeClr val="bg1"/>
          </a:solidFill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958473" name="Text Box 9"/>
          <p:cNvSpPr txBox="1"/>
          <p:nvPr/>
        </p:nvSpPr>
        <p:spPr>
          <a:xfrm>
            <a:off x="827088" y="1557338"/>
            <a:ext cx="21939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讨论</a:t>
            </a:r>
            <a:r>
              <a:rPr lang="en-US" altLang="zh-CN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958474" name="Text Box 10"/>
          <p:cNvSpPr txBox="1"/>
          <p:nvPr/>
        </p:nvSpPr>
        <p:spPr>
          <a:xfrm>
            <a:off x="900113" y="2276475"/>
            <a:ext cx="40878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1º</a:t>
            </a:r>
            <a:r>
              <a:rPr lang="en-US" altLang="zh-CN" sz="2800" b="1" baseline="30000" dirty="0">
                <a:solidFill>
                  <a:srgbClr val="000099"/>
                </a:solidFill>
              </a:rPr>
              <a:t> </a:t>
            </a:r>
            <a:r>
              <a:rPr lang="en-US" altLang="zh-CN" sz="2800" b="1" baseline="30000" dirty="0">
                <a:solidFill>
                  <a:srgbClr val="0000FF"/>
                </a:solidFill>
              </a:rPr>
              <a:t>  </a:t>
            </a:r>
            <a:r>
              <a:rPr lang="zh-CN" altLang="en-US" sz="2800" b="1" dirty="0"/>
              <a:t>无限长螺线管</a:t>
            </a:r>
          </a:p>
        </p:txBody>
      </p:sp>
      <p:grpSp>
        <p:nvGrpSpPr>
          <p:cNvPr id="958475" name="Group 11"/>
          <p:cNvGrpSpPr/>
          <p:nvPr/>
        </p:nvGrpSpPr>
        <p:grpSpPr>
          <a:xfrm>
            <a:off x="584200" y="350838"/>
            <a:ext cx="4419600" cy="990600"/>
            <a:chOff x="192" y="48"/>
            <a:chExt cx="2784" cy="624"/>
          </a:xfrm>
        </p:grpSpPr>
        <p:graphicFrame>
          <p:nvGraphicFramePr>
            <p:cNvPr id="16467" name="Object 12"/>
            <p:cNvGraphicFramePr>
              <a:graphicFrameLocks noChangeAspect="1"/>
            </p:cNvGraphicFramePr>
            <p:nvPr/>
          </p:nvGraphicFramePr>
          <p:xfrm>
            <a:off x="730" y="133"/>
            <a:ext cx="2232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8" r:id="rId7" imgW="3746500" imgH="800100" progId="Equation.DSMT4">
                    <p:embed/>
                  </p:oleObj>
                </mc:Choice>
                <mc:Fallback>
                  <p:oleObj r:id="rId7" imgW="3746500" imgH="8001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0" y="133"/>
                          <a:ext cx="2232" cy="4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68" name="Rectangle 13"/>
            <p:cNvSpPr/>
            <p:nvPr/>
          </p:nvSpPr>
          <p:spPr>
            <a:xfrm>
              <a:off x="672" y="96"/>
              <a:ext cx="2304" cy="576"/>
            </a:xfrm>
            <a:prstGeom prst="rect">
              <a:avLst/>
            </a:prstGeom>
            <a:noFill/>
            <a:ln w="381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16469" name="Object 14"/>
            <p:cNvGraphicFramePr>
              <a:graphicFrameLocks noChangeAspect="1"/>
            </p:cNvGraphicFramePr>
            <p:nvPr/>
          </p:nvGraphicFramePr>
          <p:xfrm>
            <a:off x="192" y="48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9" r:id="rId9" imgW="4343400" imgH="4013200" progId="MS_ClipArt_Gallery.2">
                    <p:embed/>
                  </p:oleObj>
                </mc:Choice>
                <mc:Fallback>
                  <p:oleObj r:id="rId9" imgW="4343400" imgH="4013200" progId="MS_ClipArt_Gallery.2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FFFFFF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" y="48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8479" name="Object 15"/>
          <p:cNvGraphicFramePr>
            <a:graphicFrameLocks noChangeAspect="1"/>
          </p:cNvGraphicFramePr>
          <p:nvPr/>
        </p:nvGraphicFramePr>
        <p:xfrm>
          <a:off x="1476375" y="3357563"/>
          <a:ext cx="1295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r:id="rId11" imgW="1397000" imgH="431800" progId="Equation.DSMT4">
                  <p:embed/>
                </p:oleObj>
              </mc:Choice>
              <mc:Fallback>
                <p:oleObj r:id="rId11" imgW="1397000" imgH="4318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6375" y="3357563"/>
                        <a:ext cx="12954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80" name="Text Box 16"/>
          <p:cNvSpPr txBox="1"/>
          <p:nvPr/>
        </p:nvSpPr>
        <p:spPr>
          <a:xfrm>
            <a:off x="2843213" y="3284538"/>
            <a:ext cx="2533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方向向右</a:t>
            </a:r>
          </a:p>
        </p:txBody>
      </p:sp>
      <p:graphicFrame>
        <p:nvGraphicFramePr>
          <p:cNvPr id="958481" name="Object 17"/>
          <p:cNvGraphicFramePr>
            <a:graphicFrameLocks noChangeAspect="1"/>
          </p:cNvGraphicFramePr>
          <p:nvPr/>
        </p:nvGraphicFramePr>
        <p:xfrm>
          <a:off x="1682750" y="4271963"/>
          <a:ext cx="18764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r:id="rId13" imgW="2120900" imgH="711200" progId="Equation.DSMT4">
                  <p:embed/>
                </p:oleObj>
              </mc:Choice>
              <mc:Fallback>
                <p:oleObj r:id="rId13" imgW="2120900" imgH="7112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82750" y="4271963"/>
                        <a:ext cx="1876425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8482" name="Object 18"/>
          <p:cNvGraphicFramePr>
            <a:graphicFrameLocks noChangeAspect="1"/>
          </p:cNvGraphicFramePr>
          <p:nvPr/>
        </p:nvGraphicFramePr>
        <p:xfrm>
          <a:off x="1643063" y="4808538"/>
          <a:ext cx="199866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r:id="rId15" imgW="2032000" imgH="711200" progId="Equation.DSMT4">
                  <p:embed/>
                </p:oleObj>
              </mc:Choice>
              <mc:Fallback>
                <p:oleObj r:id="rId15" imgW="2032000" imgH="711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43063" y="4808538"/>
                        <a:ext cx="1998662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83" name="Text Box 19"/>
          <p:cNvSpPr txBox="1"/>
          <p:nvPr/>
        </p:nvSpPr>
        <p:spPr>
          <a:xfrm>
            <a:off x="914400" y="5446713"/>
            <a:ext cx="6105525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3º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  </a:t>
            </a:r>
            <a:r>
              <a:rPr lang="zh-CN" altLang="en-US" sz="2800" b="1" dirty="0"/>
              <a:t>若管长</a:t>
            </a:r>
            <a:r>
              <a:rPr lang="en-US" altLang="zh-CN" sz="2800" b="1" i="1" dirty="0"/>
              <a:t>L</a:t>
            </a:r>
            <a:r>
              <a:rPr lang="en-US" altLang="zh-CN" b="1" dirty="0"/>
              <a:t>&gt;&gt;</a:t>
            </a:r>
            <a:r>
              <a:rPr lang="en-US" altLang="zh-CN" sz="2800" b="1" i="1" dirty="0"/>
              <a:t>R</a:t>
            </a:r>
            <a:r>
              <a:rPr lang="zh-CN" altLang="en-US" sz="2800" b="1" dirty="0"/>
              <a:t>，管内有</a:t>
            </a: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很大一部分场是均匀的。</a:t>
            </a:r>
          </a:p>
        </p:txBody>
      </p:sp>
      <p:grpSp>
        <p:nvGrpSpPr>
          <p:cNvPr id="958484" name="Group 20"/>
          <p:cNvGrpSpPr/>
          <p:nvPr/>
        </p:nvGrpSpPr>
        <p:grpSpPr>
          <a:xfrm>
            <a:off x="4679950" y="1500188"/>
            <a:ext cx="4348163" cy="1641475"/>
            <a:chOff x="192" y="1158"/>
            <a:chExt cx="2739" cy="1034"/>
          </a:xfrm>
        </p:grpSpPr>
        <p:grpSp>
          <p:nvGrpSpPr>
            <p:cNvPr id="16416" name="Group 21"/>
            <p:cNvGrpSpPr/>
            <p:nvPr/>
          </p:nvGrpSpPr>
          <p:grpSpPr>
            <a:xfrm>
              <a:off x="192" y="1158"/>
              <a:ext cx="2739" cy="1034"/>
              <a:chOff x="93" y="1440"/>
              <a:chExt cx="2739" cy="1034"/>
            </a:xfrm>
          </p:grpSpPr>
          <p:sp>
            <p:nvSpPr>
              <p:cNvPr id="16430" name="Rectangle 22"/>
              <p:cNvSpPr/>
              <p:nvPr/>
            </p:nvSpPr>
            <p:spPr>
              <a:xfrm>
                <a:off x="93" y="1441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1" name="Rectangle 23"/>
              <p:cNvSpPr/>
              <p:nvPr/>
            </p:nvSpPr>
            <p:spPr>
              <a:xfrm>
                <a:off x="93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32" name="Rectangle 24"/>
              <p:cNvSpPr/>
              <p:nvPr/>
            </p:nvSpPr>
            <p:spPr>
              <a:xfrm>
                <a:off x="226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3" name="Rectangle 25"/>
              <p:cNvSpPr/>
              <p:nvPr/>
            </p:nvSpPr>
            <p:spPr>
              <a:xfrm>
                <a:off x="360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4" name="Rectangle 26"/>
              <p:cNvSpPr/>
              <p:nvPr/>
            </p:nvSpPr>
            <p:spPr>
              <a:xfrm>
                <a:off x="493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5" name="Rectangle 27"/>
              <p:cNvSpPr/>
              <p:nvPr/>
            </p:nvSpPr>
            <p:spPr>
              <a:xfrm>
                <a:off x="627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6" name="Rectangle 28"/>
              <p:cNvSpPr/>
              <p:nvPr/>
            </p:nvSpPr>
            <p:spPr>
              <a:xfrm>
                <a:off x="761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7" name="Rectangle 29"/>
              <p:cNvSpPr/>
              <p:nvPr/>
            </p:nvSpPr>
            <p:spPr>
              <a:xfrm>
                <a:off x="895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8" name="Rectangle 30"/>
              <p:cNvSpPr/>
              <p:nvPr/>
            </p:nvSpPr>
            <p:spPr>
              <a:xfrm>
                <a:off x="1028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39" name="Rectangle 31"/>
              <p:cNvSpPr/>
              <p:nvPr/>
            </p:nvSpPr>
            <p:spPr>
              <a:xfrm>
                <a:off x="1162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0" name="Rectangle 32"/>
              <p:cNvSpPr/>
              <p:nvPr/>
            </p:nvSpPr>
            <p:spPr>
              <a:xfrm>
                <a:off x="1295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1" name="Rectangle 33"/>
              <p:cNvSpPr/>
              <p:nvPr/>
            </p:nvSpPr>
            <p:spPr>
              <a:xfrm>
                <a:off x="1429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2" name="Rectangle 34"/>
              <p:cNvSpPr/>
              <p:nvPr/>
            </p:nvSpPr>
            <p:spPr>
              <a:xfrm>
                <a:off x="1562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3" name="Rectangle 35"/>
              <p:cNvSpPr/>
              <p:nvPr/>
            </p:nvSpPr>
            <p:spPr>
              <a:xfrm>
                <a:off x="1696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4" name="Rectangle 36"/>
              <p:cNvSpPr/>
              <p:nvPr/>
            </p:nvSpPr>
            <p:spPr>
              <a:xfrm>
                <a:off x="1830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5" name="Rectangle 37"/>
              <p:cNvSpPr/>
              <p:nvPr/>
            </p:nvSpPr>
            <p:spPr>
              <a:xfrm>
                <a:off x="1963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6" name="Rectangle 38"/>
              <p:cNvSpPr/>
              <p:nvPr/>
            </p:nvSpPr>
            <p:spPr>
              <a:xfrm>
                <a:off x="2097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7" name="Rectangle 39"/>
              <p:cNvSpPr/>
              <p:nvPr/>
            </p:nvSpPr>
            <p:spPr>
              <a:xfrm>
                <a:off x="2231" y="1440"/>
                <a:ext cx="3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Wingdings 2" panose="05020102010507070707" pitchFamily="18" charset="2"/>
                  </a:rPr>
                  <a:t></a:t>
                </a:r>
              </a:p>
            </p:txBody>
          </p:sp>
          <p:sp>
            <p:nvSpPr>
              <p:cNvPr id="16448" name="Rectangle 40"/>
              <p:cNvSpPr/>
              <p:nvPr/>
            </p:nvSpPr>
            <p:spPr>
              <a:xfrm>
                <a:off x="226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49" name="Rectangle 41"/>
              <p:cNvSpPr/>
              <p:nvPr/>
            </p:nvSpPr>
            <p:spPr>
              <a:xfrm>
                <a:off x="360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0" name="Rectangle 42"/>
              <p:cNvSpPr/>
              <p:nvPr/>
            </p:nvSpPr>
            <p:spPr>
              <a:xfrm>
                <a:off x="493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1" name="Rectangle 43"/>
              <p:cNvSpPr/>
              <p:nvPr/>
            </p:nvSpPr>
            <p:spPr>
              <a:xfrm>
                <a:off x="627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2" name="Rectangle 44"/>
              <p:cNvSpPr/>
              <p:nvPr/>
            </p:nvSpPr>
            <p:spPr>
              <a:xfrm>
                <a:off x="761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3" name="Rectangle 45"/>
              <p:cNvSpPr/>
              <p:nvPr/>
            </p:nvSpPr>
            <p:spPr>
              <a:xfrm>
                <a:off x="895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4" name="Rectangle 46"/>
              <p:cNvSpPr/>
              <p:nvPr/>
            </p:nvSpPr>
            <p:spPr>
              <a:xfrm>
                <a:off x="1028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5" name="Rectangle 47"/>
              <p:cNvSpPr/>
              <p:nvPr/>
            </p:nvSpPr>
            <p:spPr>
              <a:xfrm>
                <a:off x="1162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6" name="Rectangle 48"/>
              <p:cNvSpPr/>
              <p:nvPr/>
            </p:nvSpPr>
            <p:spPr>
              <a:xfrm>
                <a:off x="1295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7" name="Rectangle 49"/>
              <p:cNvSpPr/>
              <p:nvPr/>
            </p:nvSpPr>
            <p:spPr>
              <a:xfrm>
                <a:off x="1429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8" name="Rectangle 50"/>
              <p:cNvSpPr/>
              <p:nvPr/>
            </p:nvSpPr>
            <p:spPr>
              <a:xfrm>
                <a:off x="1562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59" name="Rectangle 51"/>
              <p:cNvSpPr/>
              <p:nvPr/>
            </p:nvSpPr>
            <p:spPr>
              <a:xfrm>
                <a:off x="1696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60" name="Rectangle 52"/>
              <p:cNvSpPr/>
              <p:nvPr/>
            </p:nvSpPr>
            <p:spPr>
              <a:xfrm>
                <a:off x="1830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61" name="Rectangle 53"/>
              <p:cNvSpPr/>
              <p:nvPr/>
            </p:nvSpPr>
            <p:spPr>
              <a:xfrm>
                <a:off x="1963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62" name="Rectangle 54"/>
              <p:cNvSpPr/>
              <p:nvPr/>
            </p:nvSpPr>
            <p:spPr>
              <a:xfrm>
                <a:off x="2097" y="2147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63" name="Rectangle 55"/>
              <p:cNvSpPr/>
              <p:nvPr/>
            </p:nvSpPr>
            <p:spPr>
              <a:xfrm>
                <a:off x="2231" y="2148"/>
                <a:ext cx="28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800080"/>
                    </a:solidFill>
                    <a:sym typeface="Symbol" panose="05050102010706020507" pitchFamily="18" charset="2"/>
                  </a:rPr>
                  <a:t></a:t>
                </a:r>
              </a:p>
            </p:txBody>
          </p:sp>
          <p:sp>
            <p:nvSpPr>
              <p:cNvPr id="16464" name="Rectangle 56"/>
              <p:cNvSpPr/>
              <p:nvPr/>
            </p:nvSpPr>
            <p:spPr>
              <a:xfrm>
                <a:off x="192" y="1680"/>
                <a:ext cx="2256" cy="576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rgbClr val="6666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6465" name="Line 57"/>
              <p:cNvSpPr/>
              <p:nvPr/>
            </p:nvSpPr>
            <p:spPr>
              <a:xfrm>
                <a:off x="96" y="1968"/>
                <a:ext cx="267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66" name="Text Box 58"/>
              <p:cNvSpPr txBox="1"/>
              <p:nvPr/>
            </p:nvSpPr>
            <p:spPr>
              <a:xfrm>
                <a:off x="2604" y="192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/>
                  <a:t>x</a:t>
                </a:r>
              </a:p>
            </p:txBody>
          </p:sp>
        </p:grpSp>
        <p:grpSp>
          <p:nvGrpSpPr>
            <p:cNvPr id="16417" name="Group 59"/>
            <p:cNvGrpSpPr/>
            <p:nvPr/>
          </p:nvGrpSpPr>
          <p:grpSpPr>
            <a:xfrm>
              <a:off x="336" y="1331"/>
              <a:ext cx="2160" cy="633"/>
              <a:chOff x="0" y="2400"/>
              <a:chExt cx="2160" cy="633"/>
            </a:xfrm>
          </p:grpSpPr>
          <p:sp>
            <p:nvSpPr>
              <p:cNvPr id="16418" name="Line 60"/>
              <p:cNvSpPr/>
              <p:nvPr/>
            </p:nvSpPr>
            <p:spPr>
              <a:xfrm flipV="1">
                <a:off x="1680" y="2448"/>
                <a:ext cx="480" cy="288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9" name="Line 61"/>
              <p:cNvSpPr/>
              <p:nvPr/>
            </p:nvSpPr>
            <p:spPr>
              <a:xfrm flipH="1" flipV="1">
                <a:off x="0" y="2448"/>
                <a:ext cx="1632" cy="314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6420" name="Group 62"/>
              <p:cNvGrpSpPr/>
              <p:nvPr/>
            </p:nvGrpSpPr>
            <p:grpSpPr>
              <a:xfrm>
                <a:off x="190" y="2544"/>
                <a:ext cx="242" cy="240"/>
                <a:chOff x="430" y="1584"/>
                <a:chExt cx="242" cy="240"/>
              </a:xfrm>
            </p:grpSpPr>
            <p:sp>
              <p:nvSpPr>
                <p:cNvPr id="16428" name="Line 63"/>
                <p:cNvSpPr/>
                <p:nvPr/>
              </p:nvSpPr>
              <p:spPr>
                <a:xfrm flipH="1">
                  <a:off x="576" y="1584"/>
                  <a:ext cx="96" cy="24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  <p:graphicFrame>
              <p:nvGraphicFramePr>
                <p:cNvPr id="16429" name="Object 64"/>
                <p:cNvGraphicFramePr>
                  <a:graphicFrameLocks noChangeAspect="1"/>
                </p:cNvGraphicFramePr>
                <p:nvPr/>
              </p:nvGraphicFramePr>
              <p:xfrm>
                <a:off x="430" y="1632"/>
                <a:ext cx="146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333" r:id="rId17" imgW="317500" imgH="419100" progId="Equation.3">
                        <p:embed/>
                      </p:oleObj>
                    </mc:Choice>
                    <mc:Fallback>
                      <p:oleObj r:id="rId17" imgW="317500" imgH="419100" progId="Equation.3">
                        <p:embed/>
                        <p:pic>
                          <p:nvPicPr>
                            <p:cNvPr id="0" name="图片 3090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0" y="1632"/>
                              <a:ext cx="146" cy="19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6421" name="Group 65"/>
              <p:cNvGrpSpPr/>
              <p:nvPr/>
            </p:nvGrpSpPr>
            <p:grpSpPr>
              <a:xfrm>
                <a:off x="1488" y="2448"/>
                <a:ext cx="294" cy="330"/>
                <a:chOff x="2092" y="2262"/>
                <a:chExt cx="294" cy="330"/>
              </a:xfrm>
            </p:grpSpPr>
            <p:graphicFrame>
              <p:nvGraphicFramePr>
                <p:cNvPr id="16426" name="Object 66"/>
                <p:cNvGraphicFramePr>
                  <a:graphicFrameLocks noChangeAspect="1"/>
                </p:cNvGraphicFramePr>
                <p:nvPr/>
              </p:nvGraphicFramePr>
              <p:xfrm>
                <a:off x="2092" y="2262"/>
                <a:ext cx="186" cy="2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334" r:id="rId19" imgW="330200" imgH="419100" progId="Equation.3">
                        <p:embed/>
                      </p:oleObj>
                    </mc:Choice>
                    <mc:Fallback>
                      <p:oleObj r:id="rId19" imgW="330200" imgH="419100" progId="Equation.3">
                        <p:embed/>
                        <p:pic>
                          <p:nvPicPr>
                            <p:cNvPr id="0" name="图片 3093"/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092" y="2262"/>
                              <a:ext cx="186" cy="23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427" name="Freeform 67"/>
                <p:cNvSpPr/>
                <p:nvPr/>
              </p:nvSpPr>
              <p:spPr>
                <a:xfrm>
                  <a:off x="2112" y="2448"/>
                  <a:ext cx="274" cy="144"/>
                </a:xfrm>
                <a:custGeom>
                  <a:avLst/>
                  <a:gdLst/>
                  <a:ahLst/>
                  <a:cxnLst>
                    <a:cxn ang="0">
                      <a:pos x="0" y="282"/>
                    </a:cxn>
                    <a:cxn ang="0">
                      <a:pos x="98" y="118"/>
                    </a:cxn>
                    <a:cxn ang="0">
                      <a:pos x="244" y="8"/>
                    </a:cxn>
                    <a:cxn ang="0">
                      <a:pos x="489" y="61"/>
                    </a:cxn>
                  </a:cxnLst>
                  <a:rect l="0" t="0" r="0" b="0"/>
                  <a:pathLst>
                    <a:path w="226" h="115">
                      <a:moveTo>
                        <a:pt x="0" y="115"/>
                      </a:moveTo>
                      <a:cubicBezTo>
                        <a:pt x="15" y="93"/>
                        <a:pt x="30" y="70"/>
                        <a:pt x="45" y="48"/>
                      </a:cubicBezTo>
                      <a:cubicBezTo>
                        <a:pt x="60" y="25"/>
                        <a:pt x="113" y="3"/>
                        <a:pt x="113" y="3"/>
                      </a:cubicBezTo>
                      <a:cubicBezTo>
                        <a:pt x="212" y="15"/>
                        <a:pt x="177" y="0"/>
                        <a:pt x="226" y="25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3300">
                      <a:alpha val="100000"/>
                    </a:srgbClr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22" name="Group 68"/>
              <p:cNvGrpSpPr/>
              <p:nvPr/>
            </p:nvGrpSpPr>
            <p:grpSpPr>
              <a:xfrm>
                <a:off x="1488" y="2400"/>
                <a:ext cx="288" cy="633"/>
                <a:chOff x="1248" y="1335"/>
                <a:chExt cx="288" cy="633"/>
              </a:xfrm>
            </p:grpSpPr>
            <p:sp>
              <p:nvSpPr>
                <p:cNvPr id="16424" name="Text Box 69"/>
                <p:cNvSpPr txBox="1"/>
                <p:nvPr/>
              </p:nvSpPr>
              <p:spPr>
                <a:xfrm>
                  <a:off x="1248" y="1680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b="1" dirty="0"/>
                    <a:t> </a:t>
                  </a:r>
                  <a:r>
                    <a:rPr lang="en-US" altLang="zh-CN" sz="2400" b="1" i="1" dirty="0"/>
                    <a:t>P</a:t>
                  </a:r>
                  <a:endParaRPr lang="en-US" altLang="zh-CN" sz="2400" i="1" dirty="0"/>
                </a:p>
              </p:txBody>
            </p:sp>
            <p:sp>
              <p:nvSpPr>
                <p:cNvPr id="16425" name="Text Box 70"/>
                <p:cNvSpPr txBox="1"/>
                <p:nvPr/>
              </p:nvSpPr>
              <p:spPr>
                <a:xfrm>
                  <a:off x="1296" y="1335"/>
                  <a:ext cx="212" cy="51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4800" b="1" dirty="0">
                      <a:solidFill>
                        <a:srgbClr val="FF3300"/>
                      </a:solidFill>
                    </a:rPr>
                    <a:t>.</a:t>
                  </a:r>
                  <a:endParaRPr lang="en-US" altLang="zh-CN" sz="4400" b="1" dirty="0"/>
                </a:p>
              </p:txBody>
            </p:sp>
          </p:grpSp>
          <p:sp>
            <p:nvSpPr>
              <p:cNvPr id="16423" name="Text Box 71"/>
              <p:cNvSpPr txBox="1"/>
              <p:nvPr/>
            </p:nvSpPr>
            <p:spPr>
              <a:xfrm>
                <a:off x="912" y="2640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i="1" dirty="0"/>
                  <a:t>x</a:t>
                </a:r>
                <a:endParaRPr lang="en-US" altLang="zh-CN" sz="2800" i="1" dirty="0"/>
              </a:p>
            </p:txBody>
          </p:sp>
        </p:grpSp>
      </p:grpSp>
      <p:sp>
        <p:nvSpPr>
          <p:cNvPr id="958536" name="AutoShape 72"/>
          <p:cNvSpPr/>
          <p:nvPr/>
        </p:nvSpPr>
        <p:spPr>
          <a:xfrm>
            <a:off x="5065713" y="620713"/>
            <a:ext cx="2774950" cy="838200"/>
          </a:xfrm>
          <a:prstGeom prst="wedgeEllipseCallout">
            <a:avLst>
              <a:gd name="adj1" fmla="val -26144"/>
              <a:gd name="adj2" fmla="val 130870"/>
            </a:avLst>
          </a:prstGeom>
          <a:solidFill>
            <a:srgbClr val="66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>
              <a:solidFill>
                <a:schemeClr val="bg1"/>
              </a:solidFill>
            </a:endParaRPr>
          </a:p>
        </p:txBody>
      </p:sp>
      <p:grpSp>
        <p:nvGrpSpPr>
          <p:cNvPr id="958537" name="Group 73"/>
          <p:cNvGrpSpPr/>
          <p:nvPr/>
        </p:nvGrpSpPr>
        <p:grpSpPr>
          <a:xfrm>
            <a:off x="5580063" y="4368800"/>
            <a:ext cx="3111500" cy="1889125"/>
            <a:chOff x="3600" y="3072"/>
            <a:chExt cx="1960" cy="1190"/>
          </a:xfrm>
        </p:grpSpPr>
        <p:sp>
          <p:nvSpPr>
            <p:cNvPr id="16405" name="Line 74"/>
            <p:cNvSpPr/>
            <p:nvPr/>
          </p:nvSpPr>
          <p:spPr>
            <a:xfrm>
              <a:off x="3600" y="3936"/>
              <a:ext cx="18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6" name="Line 75"/>
            <p:cNvSpPr/>
            <p:nvPr/>
          </p:nvSpPr>
          <p:spPr>
            <a:xfrm>
              <a:off x="4464" y="3264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arrow" w="med" len="med"/>
              <a:tailEnd type="none" w="med" len="med"/>
            </a:ln>
          </p:spPr>
        </p:sp>
        <p:sp>
          <p:nvSpPr>
            <p:cNvPr id="16407" name="Line 76"/>
            <p:cNvSpPr/>
            <p:nvPr/>
          </p:nvSpPr>
          <p:spPr>
            <a:xfrm>
              <a:off x="4032" y="3504"/>
              <a:ext cx="96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8" name="Freeform 77"/>
            <p:cNvSpPr/>
            <p:nvPr/>
          </p:nvSpPr>
          <p:spPr>
            <a:xfrm flipH="1">
              <a:off x="3620" y="3504"/>
              <a:ext cx="412" cy="3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" y="36"/>
                </a:cxn>
                <a:cxn ang="0">
                  <a:pos x="3444" y="882"/>
                </a:cxn>
              </a:cxnLst>
              <a:rect l="0" t="0" r="0" b="0"/>
              <a:pathLst>
                <a:path w="203" h="271">
                  <a:moveTo>
                    <a:pt x="0" y="0"/>
                  </a:moveTo>
                  <a:cubicBezTo>
                    <a:pt x="11" y="4"/>
                    <a:pt x="25" y="4"/>
                    <a:pt x="34" y="11"/>
                  </a:cubicBezTo>
                  <a:cubicBezTo>
                    <a:pt x="107" y="69"/>
                    <a:pt x="68" y="271"/>
                    <a:pt x="203" y="271"/>
                  </a:cubicBez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Freeform 78"/>
            <p:cNvSpPr/>
            <p:nvPr/>
          </p:nvSpPr>
          <p:spPr>
            <a:xfrm>
              <a:off x="4944" y="3504"/>
              <a:ext cx="412" cy="3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" y="36"/>
                </a:cxn>
                <a:cxn ang="0">
                  <a:pos x="3444" y="882"/>
                </a:cxn>
              </a:cxnLst>
              <a:rect l="0" t="0" r="0" b="0"/>
              <a:pathLst>
                <a:path w="203" h="271">
                  <a:moveTo>
                    <a:pt x="0" y="0"/>
                  </a:moveTo>
                  <a:cubicBezTo>
                    <a:pt x="11" y="4"/>
                    <a:pt x="25" y="4"/>
                    <a:pt x="34" y="11"/>
                  </a:cubicBezTo>
                  <a:cubicBezTo>
                    <a:pt x="107" y="69"/>
                    <a:pt x="68" y="271"/>
                    <a:pt x="203" y="271"/>
                  </a:cubicBez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Line 79"/>
            <p:cNvSpPr/>
            <p:nvPr/>
          </p:nvSpPr>
          <p:spPr>
            <a:xfrm>
              <a:off x="3840" y="3072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6411" name="Line 80"/>
            <p:cNvSpPr/>
            <p:nvPr/>
          </p:nvSpPr>
          <p:spPr>
            <a:xfrm>
              <a:off x="5088" y="3120"/>
              <a:ext cx="0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16412" name="Object 81"/>
            <p:cNvGraphicFramePr>
              <a:graphicFrameLocks noChangeAspect="1"/>
            </p:cNvGraphicFramePr>
            <p:nvPr/>
          </p:nvGraphicFramePr>
          <p:xfrm>
            <a:off x="5424" y="3840"/>
            <a:ext cx="13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5" r:id="rId21" imgW="101600" imgH="165100" progId="Equation.3">
                    <p:embed/>
                  </p:oleObj>
                </mc:Choice>
                <mc:Fallback>
                  <p:oleObj r:id="rId21" imgW="101600" imgH="1651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424" y="3840"/>
                          <a:ext cx="136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3" name="Object 82"/>
            <p:cNvGraphicFramePr>
              <a:graphicFrameLocks noChangeAspect="1"/>
            </p:cNvGraphicFramePr>
            <p:nvPr/>
          </p:nvGraphicFramePr>
          <p:xfrm>
            <a:off x="4504" y="3169"/>
            <a:ext cx="19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6" r:id="rId23" imgW="152400" imgH="152400" progId="Equation.3">
                    <p:embed/>
                  </p:oleObj>
                </mc:Choice>
                <mc:Fallback>
                  <p:oleObj r:id="rId23" imgW="152400" imgH="1524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504" y="3169"/>
                          <a:ext cx="192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4" name="Object 83"/>
            <p:cNvGraphicFramePr>
              <a:graphicFrameLocks noChangeAspect="1"/>
            </p:cNvGraphicFramePr>
            <p:nvPr/>
          </p:nvGraphicFramePr>
          <p:xfrm>
            <a:off x="3754" y="3916"/>
            <a:ext cx="28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7" r:id="rId25" imgW="546100" imgH="673100" progId="Equation.DSMT4">
                    <p:embed/>
                  </p:oleObj>
                </mc:Choice>
                <mc:Fallback>
                  <p:oleObj r:id="rId25" imgW="546100" imgH="6731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754" y="3916"/>
                          <a:ext cx="28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5" name="Object 84"/>
            <p:cNvGraphicFramePr>
              <a:graphicFrameLocks noChangeAspect="1"/>
            </p:cNvGraphicFramePr>
            <p:nvPr/>
          </p:nvGraphicFramePr>
          <p:xfrm>
            <a:off x="5071" y="3914"/>
            <a:ext cx="17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8" r:id="rId27" imgW="330200" imgH="673100" progId="Equation.DSMT4">
                    <p:embed/>
                  </p:oleObj>
                </mc:Choice>
                <mc:Fallback>
                  <p:oleObj r:id="rId27" imgW="330200" imgH="6731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071" y="3914"/>
                          <a:ext cx="170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8549" name="Text Box 85"/>
          <p:cNvSpPr txBox="1"/>
          <p:nvPr/>
        </p:nvSpPr>
        <p:spPr>
          <a:xfrm>
            <a:off x="5353050" y="747713"/>
            <a:ext cx="3675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管内为均匀场</a:t>
            </a:r>
          </a:p>
        </p:txBody>
      </p:sp>
      <p:sp>
        <p:nvSpPr>
          <p:cNvPr id="958550" name="Text Box 86"/>
          <p:cNvSpPr txBox="1"/>
          <p:nvPr/>
        </p:nvSpPr>
        <p:spPr>
          <a:xfrm>
            <a:off x="5680075" y="3357563"/>
            <a:ext cx="33480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管外空间 </a:t>
            </a:r>
            <a:r>
              <a:rPr lang="en-US" altLang="zh-CN" sz="2800" b="1" i="1" dirty="0"/>
              <a:t>B </a:t>
            </a:r>
            <a:r>
              <a:rPr lang="en-US" altLang="zh-CN" sz="2800" b="1" dirty="0">
                <a:sym typeface="Symbol" panose="05050102010706020507" pitchFamily="18" charset="2"/>
              </a:rPr>
              <a:t></a:t>
            </a:r>
            <a:r>
              <a:rPr lang="en-US" altLang="zh-CN" sz="2800" b="1" dirty="0"/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5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8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8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58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58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8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8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8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8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5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5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8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8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58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58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95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5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95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95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958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958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5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5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5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9" dur="500"/>
                                        <p:tgtEl>
                                          <p:spTgt spid="9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95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95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67" grpId="0"/>
      <p:bldP spid="958469" grpId="0" animBg="1"/>
      <p:bldP spid="958471" grpId="0" animBg="1"/>
      <p:bldP spid="958472" grpId="0" animBg="1"/>
      <p:bldP spid="958473" grpId="0"/>
      <p:bldP spid="958474" grpId="0"/>
      <p:bldP spid="958480" grpId="0"/>
      <p:bldP spid="958483" grpId="0"/>
      <p:bldP spid="958536" grpId="0" animBg="1"/>
      <p:bldP spid="958549" grpId="0"/>
      <p:bldP spid="9585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Text Box 2"/>
          <p:cNvSpPr txBox="1"/>
          <p:nvPr/>
        </p:nvSpPr>
        <p:spPr>
          <a:xfrm>
            <a:off x="655638" y="388938"/>
            <a:ext cx="6580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例、</a:t>
            </a:r>
            <a:r>
              <a:rPr lang="zh-CN" altLang="en-US" sz="2800" b="1" dirty="0"/>
              <a:t>求</a:t>
            </a:r>
            <a:r>
              <a:rPr lang="zh-CN" altLang="zh-CN" sz="2800" b="1" dirty="0"/>
              <a:t>运动电荷的磁场</a:t>
            </a:r>
            <a:r>
              <a:rPr lang="zh-CN" altLang="en-US" sz="2800" b="1" dirty="0"/>
              <a:t>   </a:t>
            </a:r>
            <a:r>
              <a:rPr lang="zh-CN" altLang="en-US" sz="2800" b="1" i="1" dirty="0"/>
              <a:t> 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？</a:t>
            </a:r>
          </a:p>
        </p:txBody>
      </p:sp>
      <p:sp>
        <p:nvSpPr>
          <p:cNvPr id="959491" name="Text Box 3"/>
          <p:cNvSpPr txBox="1"/>
          <p:nvPr/>
        </p:nvSpPr>
        <p:spPr>
          <a:xfrm>
            <a:off x="638175" y="898525"/>
            <a:ext cx="8255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</a:rPr>
              <a:t>:  </a:t>
            </a:r>
            <a:r>
              <a:rPr lang="zh-CN" altLang="en-US" sz="2800" b="1" dirty="0"/>
              <a:t>设导体截面积为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电流中载流子密度为</a:t>
            </a:r>
            <a:r>
              <a:rPr lang="en-US" altLang="zh-CN" sz="2800" b="1" i="1" dirty="0"/>
              <a:t>n,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        </a:t>
            </a:r>
            <a:r>
              <a:rPr lang="zh-CN" altLang="en-US" sz="2800" b="1" dirty="0"/>
              <a:t>带电为</a:t>
            </a:r>
            <a:r>
              <a:rPr lang="en-US" altLang="zh-CN" sz="2800" b="1" i="1" dirty="0"/>
              <a:t>q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以速度</a:t>
            </a:r>
            <a:r>
              <a:rPr lang="en-US" altLang="zh-CN" sz="2800" b="1" i="1" dirty="0"/>
              <a:t>v </a:t>
            </a:r>
            <a:r>
              <a:rPr lang="zh-CN" altLang="en-US" sz="2800" b="1" dirty="0"/>
              <a:t>沿电流 </a:t>
            </a:r>
            <a:r>
              <a:rPr lang="en-US" altLang="zh-CN" sz="2800" b="1" i="1" dirty="0"/>
              <a:t>I </a:t>
            </a:r>
            <a:r>
              <a:rPr lang="zh-CN" altLang="en-US" sz="2800" b="1" dirty="0"/>
              <a:t>方向运动</a:t>
            </a:r>
            <a:r>
              <a:rPr lang="en-US" altLang="zh-CN" sz="2800" b="1" dirty="0"/>
              <a:t>.</a:t>
            </a:r>
          </a:p>
        </p:txBody>
      </p:sp>
      <p:sp>
        <p:nvSpPr>
          <p:cNvPr id="17412" name="AutoShape 4"/>
          <p:cNvSpPr/>
          <p:nvPr/>
        </p:nvSpPr>
        <p:spPr>
          <a:xfrm rot="5400000">
            <a:off x="1027113" y="1773238"/>
            <a:ext cx="685800" cy="1524000"/>
          </a:xfrm>
          <a:prstGeom prst="can">
            <a:avLst>
              <a:gd name="adj" fmla="val 55556"/>
            </a:avLst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  <a:tileRect/>
          </a:gradFill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800" b="1" dirty="0"/>
          </a:p>
        </p:txBody>
      </p:sp>
      <p:grpSp>
        <p:nvGrpSpPr>
          <p:cNvPr id="959493" name="Group 5"/>
          <p:cNvGrpSpPr/>
          <p:nvPr/>
        </p:nvGrpSpPr>
        <p:grpSpPr>
          <a:xfrm>
            <a:off x="836613" y="2206625"/>
            <a:ext cx="777875" cy="519113"/>
            <a:chOff x="470" y="618"/>
            <a:chExt cx="490" cy="327"/>
          </a:xfrm>
        </p:grpSpPr>
        <p:sp>
          <p:nvSpPr>
            <p:cNvPr id="17457" name="Line 6"/>
            <p:cNvSpPr/>
            <p:nvPr/>
          </p:nvSpPr>
          <p:spPr>
            <a:xfrm>
              <a:off x="672" y="81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58" name="Text Box 7"/>
            <p:cNvSpPr txBox="1"/>
            <p:nvPr/>
          </p:nvSpPr>
          <p:spPr>
            <a:xfrm>
              <a:off x="470" y="618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I</a:t>
              </a:r>
            </a:p>
          </p:txBody>
        </p:sp>
      </p:grpSp>
      <p:sp>
        <p:nvSpPr>
          <p:cNvPr id="959496" name="Text Box 8"/>
          <p:cNvSpPr txBox="1"/>
          <p:nvPr/>
        </p:nvSpPr>
        <p:spPr>
          <a:xfrm>
            <a:off x="1751013" y="2282825"/>
            <a:ext cx="8048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S</a:t>
            </a:r>
          </a:p>
        </p:txBody>
      </p:sp>
      <p:grpSp>
        <p:nvGrpSpPr>
          <p:cNvPr id="959497" name="Group 9"/>
          <p:cNvGrpSpPr/>
          <p:nvPr/>
        </p:nvGrpSpPr>
        <p:grpSpPr>
          <a:xfrm>
            <a:off x="760413" y="2801938"/>
            <a:ext cx="1219200" cy="519112"/>
            <a:chOff x="288" y="1296"/>
            <a:chExt cx="768" cy="327"/>
          </a:xfrm>
        </p:grpSpPr>
        <p:sp>
          <p:nvSpPr>
            <p:cNvPr id="17452" name="Line 10"/>
            <p:cNvSpPr/>
            <p:nvPr/>
          </p:nvSpPr>
          <p:spPr>
            <a:xfrm>
              <a:off x="288" y="1344"/>
              <a:ext cx="0" cy="24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3" name="Line 11"/>
            <p:cNvSpPr/>
            <p:nvPr/>
          </p:nvSpPr>
          <p:spPr>
            <a:xfrm>
              <a:off x="1056" y="1344"/>
              <a:ext cx="0" cy="24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4" name="Line 12"/>
            <p:cNvSpPr/>
            <p:nvPr/>
          </p:nvSpPr>
          <p:spPr>
            <a:xfrm>
              <a:off x="768" y="1488"/>
              <a:ext cx="28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55" name="Line 13"/>
            <p:cNvSpPr/>
            <p:nvPr/>
          </p:nvSpPr>
          <p:spPr>
            <a:xfrm>
              <a:off x="288" y="1488"/>
              <a:ext cx="28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7456" name="Text Box 14"/>
            <p:cNvSpPr txBox="1"/>
            <p:nvPr/>
          </p:nvSpPr>
          <p:spPr>
            <a:xfrm>
              <a:off x="553" y="1296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v</a:t>
              </a:r>
            </a:p>
          </p:txBody>
        </p:sp>
      </p:grpSp>
      <p:sp>
        <p:nvSpPr>
          <p:cNvPr id="959503" name="Text Box 15"/>
          <p:cNvSpPr txBox="1"/>
          <p:nvPr/>
        </p:nvSpPr>
        <p:spPr>
          <a:xfrm>
            <a:off x="2270125" y="1830388"/>
            <a:ext cx="60467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如图取一段长为</a:t>
            </a:r>
            <a:r>
              <a:rPr lang="en-US" altLang="zh-CN" sz="2800" b="1" i="1" dirty="0"/>
              <a:t>v </a:t>
            </a:r>
            <a:r>
              <a:rPr lang="zh-CN" altLang="en-US" sz="2800" b="1" dirty="0"/>
              <a:t>的导体</a:t>
            </a:r>
            <a:r>
              <a:rPr lang="en-US" altLang="zh-CN" sz="2800" b="1" dirty="0"/>
              <a:t>,</a:t>
            </a:r>
          </a:p>
        </p:txBody>
      </p:sp>
      <p:sp>
        <p:nvSpPr>
          <p:cNvPr id="959504" name="Text Box 16"/>
          <p:cNvSpPr txBox="1"/>
          <p:nvPr/>
        </p:nvSpPr>
        <p:spPr>
          <a:xfrm>
            <a:off x="6227763" y="1830388"/>
            <a:ext cx="29162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则有 </a:t>
            </a:r>
            <a:r>
              <a:rPr lang="en-US" altLang="zh-CN" sz="2800" b="1" i="1" dirty="0"/>
              <a:t>I= nqSv</a:t>
            </a:r>
          </a:p>
        </p:txBody>
      </p:sp>
      <p:graphicFrame>
        <p:nvGraphicFramePr>
          <p:cNvPr id="959505" name="Object 17"/>
          <p:cNvGraphicFramePr>
            <a:graphicFrameLocks noChangeAspect="1"/>
          </p:cNvGraphicFramePr>
          <p:nvPr/>
        </p:nvGraphicFramePr>
        <p:xfrm>
          <a:off x="2484438" y="2781300"/>
          <a:ext cx="21669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r:id="rId3" imgW="2489200" imgH="901700" progId="Equation.DSMT4">
                  <p:embed/>
                </p:oleObj>
              </mc:Choice>
              <mc:Fallback>
                <p:oleObj r:id="rId3" imgW="2489200" imgH="9017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2781300"/>
                        <a:ext cx="2166937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506" name="Text Box 18"/>
          <p:cNvSpPr txBox="1"/>
          <p:nvPr/>
        </p:nvSpPr>
        <p:spPr>
          <a:xfrm>
            <a:off x="2274888" y="23495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根据毕 </a:t>
            </a:r>
            <a:r>
              <a:rPr lang="en-US" altLang="zh-CN" sz="2800" b="1" dirty="0"/>
              <a:t>— </a:t>
            </a:r>
            <a:r>
              <a:rPr lang="zh-CN" altLang="en-US" sz="2800" b="1" dirty="0"/>
              <a:t>萨定律</a:t>
            </a:r>
          </a:p>
        </p:txBody>
      </p:sp>
      <p:graphicFrame>
        <p:nvGraphicFramePr>
          <p:cNvPr id="959507" name="Object 19"/>
          <p:cNvGraphicFramePr>
            <a:graphicFrameLocks noChangeAspect="1"/>
          </p:cNvGraphicFramePr>
          <p:nvPr/>
        </p:nvGraphicFramePr>
        <p:xfrm>
          <a:off x="4643438" y="2768600"/>
          <a:ext cx="260508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r:id="rId5" imgW="2552700" imgH="901700" progId="Equation.DSMT4">
                  <p:embed/>
                </p:oleObj>
              </mc:Choice>
              <mc:Fallback>
                <p:oleObj r:id="rId5" imgW="2552700" imgH="901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3438" y="2768600"/>
                        <a:ext cx="2605087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9508" name="Object 20"/>
          <p:cNvGraphicFramePr>
            <a:graphicFrameLocks noChangeAspect="1"/>
          </p:cNvGraphicFramePr>
          <p:nvPr/>
        </p:nvGraphicFramePr>
        <p:xfrm>
          <a:off x="2187575" y="3716338"/>
          <a:ext cx="30321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r:id="rId7" imgW="3200400" imgH="838200" progId="Equation.DSMT4">
                  <p:embed/>
                </p:oleObj>
              </mc:Choice>
              <mc:Fallback>
                <p:oleObj r:id="rId7" imgW="3200400" imgH="8382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87575" y="3716338"/>
                        <a:ext cx="3032125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9509" name="Object 21"/>
          <p:cNvGraphicFramePr>
            <a:graphicFrameLocks noChangeAspect="1"/>
          </p:cNvGraphicFramePr>
          <p:nvPr/>
        </p:nvGraphicFramePr>
        <p:xfrm>
          <a:off x="7529513" y="3233738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r:id="rId9" imgW="875665" imgH="406400" progId="Equation.DSMT4">
                  <p:embed/>
                </p:oleObj>
              </mc:Choice>
              <mc:Fallback>
                <p:oleObj r:id="rId9" imgW="875665" imgH="4064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9513" y="3233738"/>
                        <a:ext cx="876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510" name="Text Box 22"/>
          <p:cNvSpPr txBox="1"/>
          <p:nvPr/>
        </p:nvSpPr>
        <p:spPr>
          <a:xfrm>
            <a:off x="7312025" y="2751138"/>
            <a:ext cx="16525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其中</a:t>
            </a:r>
          </a:p>
        </p:txBody>
      </p:sp>
      <p:sp>
        <p:nvSpPr>
          <p:cNvPr id="959511" name="Text Box 23"/>
          <p:cNvSpPr txBox="1"/>
          <p:nvPr/>
        </p:nvSpPr>
        <p:spPr>
          <a:xfrm>
            <a:off x="7308850" y="3702050"/>
            <a:ext cx="1835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/>
              <a:t>nS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l=</a:t>
            </a:r>
            <a:r>
              <a:rPr lang="en-US" altLang="zh-CN" sz="2800" dirty="0"/>
              <a:t>d</a:t>
            </a:r>
            <a:r>
              <a:rPr lang="en-US" altLang="zh-CN" sz="2800" b="1" i="1" dirty="0"/>
              <a:t>N</a:t>
            </a:r>
          </a:p>
        </p:txBody>
      </p:sp>
      <p:sp>
        <p:nvSpPr>
          <p:cNvPr id="959512" name="Text Box 24"/>
          <p:cNvSpPr txBox="1"/>
          <p:nvPr/>
        </p:nvSpPr>
        <p:spPr>
          <a:xfrm>
            <a:off x="915988" y="4549775"/>
            <a:ext cx="6981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单个运动电荷所激发的磁场为</a:t>
            </a:r>
          </a:p>
        </p:txBody>
      </p:sp>
      <p:graphicFrame>
        <p:nvGraphicFramePr>
          <p:cNvPr id="959513" name="Object 25"/>
          <p:cNvGraphicFramePr>
            <a:graphicFrameLocks noChangeAspect="1"/>
          </p:cNvGraphicFramePr>
          <p:nvPr/>
        </p:nvGraphicFramePr>
        <p:xfrm>
          <a:off x="6002338" y="4402138"/>
          <a:ext cx="20542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r:id="rId11" imgW="2184400" imgH="838200" progId="Equation.DSMT4">
                  <p:embed/>
                </p:oleObj>
              </mc:Choice>
              <mc:Fallback>
                <p:oleObj r:id="rId11" imgW="2184400" imgH="8382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2338" y="4402138"/>
                        <a:ext cx="2054225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514" name="Rectangle 26"/>
          <p:cNvSpPr/>
          <p:nvPr/>
        </p:nvSpPr>
        <p:spPr>
          <a:xfrm>
            <a:off x="5810250" y="4362450"/>
            <a:ext cx="2362200" cy="8667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959516" name="Object 28"/>
          <p:cNvGraphicFramePr>
            <a:graphicFrameLocks noChangeAspect="1"/>
          </p:cNvGraphicFramePr>
          <p:nvPr/>
        </p:nvGraphicFramePr>
        <p:xfrm>
          <a:off x="6270625" y="5430838"/>
          <a:ext cx="2286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r:id="rId13" imgW="228600" imgH="304800" progId="Equation.3">
                  <p:embed/>
                </p:oleObj>
              </mc:Choice>
              <mc:Fallback>
                <p:oleObj r:id="rId13" imgW="228600" imgH="3048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70625" y="5430838"/>
                        <a:ext cx="228600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9517" name="Object 29"/>
          <p:cNvGraphicFramePr>
            <a:graphicFrameLocks noChangeAspect="1"/>
          </p:cNvGraphicFramePr>
          <p:nvPr/>
        </p:nvGraphicFramePr>
        <p:xfrm>
          <a:off x="2771775" y="5449888"/>
          <a:ext cx="2286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r:id="rId15" imgW="228600" imgH="304800" progId="Equation.3">
                  <p:embed/>
                </p:oleObj>
              </mc:Choice>
              <mc:Fallback>
                <p:oleObj r:id="rId15" imgW="228600" imgH="304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71775" y="5449888"/>
                        <a:ext cx="228600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518" name="Line 30"/>
          <p:cNvSpPr/>
          <p:nvPr/>
        </p:nvSpPr>
        <p:spPr>
          <a:xfrm flipV="1">
            <a:off x="5249863" y="5500688"/>
            <a:ext cx="1828800" cy="762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519" name="Line 31"/>
          <p:cNvSpPr/>
          <p:nvPr/>
        </p:nvSpPr>
        <p:spPr>
          <a:xfrm flipV="1">
            <a:off x="1828800" y="5472113"/>
            <a:ext cx="1828800" cy="762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59520" name="Group 32"/>
          <p:cNvGrpSpPr/>
          <p:nvPr/>
        </p:nvGrpSpPr>
        <p:grpSpPr>
          <a:xfrm>
            <a:off x="5173663" y="6110288"/>
            <a:ext cx="1765300" cy="317500"/>
            <a:chOff x="3552" y="3312"/>
            <a:chExt cx="1112" cy="200"/>
          </a:xfrm>
        </p:grpSpPr>
        <p:sp>
          <p:nvSpPr>
            <p:cNvPr id="17450" name="Line 33"/>
            <p:cNvSpPr/>
            <p:nvPr/>
          </p:nvSpPr>
          <p:spPr>
            <a:xfrm>
              <a:off x="3552" y="3408"/>
              <a:ext cx="9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7451" name="Object 34"/>
            <p:cNvGraphicFramePr>
              <a:graphicFrameLocks noChangeAspect="1"/>
            </p:cNvGraphicFramePr>
            <p:nvPr/>
          </p:nvGraphicFramePr>
          <p:xfrm>
            <a:off x="4512" y="331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8" r:id="rId16" imgW="241300" imgH="317500" progId="Equation.3">
                    <p:embed/>
                  </p:oleObj>
                </mc:Choice>
                <mc:Fallback>
                  <p:oleObj r:id="rId16" imgW="241300" imgH="3175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512" y="331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9523" name="Group 35"/>
          <p:cNvGrpSpPr/>
          <p:nvPr/>
        </p:nvGrpSpPr>
        <p:grpSpPr>
          <a:xfrm>
            <a:off x="1828800" y="6126163"/>
            <a:ext cx="1905000" cy="317500"/>
            <a:chOff x="528" y="3388"/>
            <a:chExt cx="1200" cy="200"/>
          </a:xfrm>
        </p:grpSpPr>
        <p:sp>
          <p:nvSpPr>
            <p:cNvPr id="17448" name="Line 36"/>
            <p:cNvSpPr/>
            <p:nvPr/>
          </p:nvSpPr>
          <p:spPr>
            <a:xfrm>
              <a:off x="528" y="3456"/>
              <a:ext cx="10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7449" name="Object 37"/>
            <p:cNvGraphicFramePr>
              <a:graphicFrameLocks noChangeAspect="1"/>
            </p:cNvGraphicFramePr>
            <p:nvPr/>
          </p:nvGraphicFramePr>
          <p:xfrm>
            <a:off x="1576" y="33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r:id="rId18" imgW="241300" imgH="317500" progId="Equation.3">
                    <p:embed/>
                  </p:oleObj>
                </mc:Choice>
                <mc:Fallback>
                  <p:oleObj r:id="rId18" imgW="241300" imgH="3175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576" y="33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9526" name="Group 38"/>
          <p:cNvGrpSpPr/>
          <p:nvPr/>
        </p:nvGrpSpPr>
        <p:grpSpPr>
          <a:xfrm>
            <a:off x="6926263" y="5214938"/>
            <a:ext cx="696912" cy="519112"/>
            <a:chOff x="4608" y="2736"/>
            <a:chExt cx="439" cy="327"/>
          </a:xfrm>
        </p:grpSpPr>
        <p:graphicFrame>
          <p:nvGraphicFramePr>
            <p:cNvPr id="17446" name="Object 39"/>
            <p:cNvGraphicFramePr>
              <a:graphicFrameLocks noChangeAspect="1"/>
            </p:cNvGraphicFramePr>
            <p:nvPr/>
          </p:nvGraphicFramePr>
          <p:xfrm>
            <a:off x="4848" y="2736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0" r:id="rId19" imgW="317500" imgH="380365" progId="Equation.3">
                    <p:embed/>
                  </p:oleObj>
                </mc:Choice>
                <mc:Fallback>
                  <p:oleObj r:id="rId19" imgW="317500" imgH="380365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48" y="2736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7" name="Text Box 40"/>
            <p:cNvSpPr txBox="1"/>
            <p:nvPr/>
          </p:nvSpPr>
          <p:spPr>
            <a:xfrm>
              <a:off x="4608" y="2736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Wingdings 2" panose="05020102010507070707" pitchFamily="18" charset="2"/>
                </a:rPr>
                <a:t>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59529" name="Group 41"/>
          <p:cNvGrpSpPr/>
          <p:nvPr/>
        </p:nvGrpSpPr>
        <p:grpSpPr>
          <a:xfrm>
            <a:off x="3505200" y="5167313"/>
            <a:ext cx="773113" cy="519112"/>
            <a:chOff x="1584" y="2784"/>
            <a:chExt cx="487" cy="327"/>
          </a:xfrm>
        </p:grpSpPr>
        <p:graphicFrame>
          <p:nvGraphicFramePr>
            <p:cNvPr id="17444" name="Object 42"/>
            <p:cNvGraphicFramePr>
              <a:graphicFrameLocks noChangeAspect="1"/>
            </p:cNvGraphicFramePr>
            <p:nvPr/>
          </p:nvGraphicFramePr>
          <p:xfrm>
            <a:off x="1872" y="2784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1" r:id="rId21" imgW="317500" imgH="380365" progId="Equation.3">
                    <p:embed/>
                  </p:oleObj>
                </mc:Choice>
                <mc:Fallback>
                  <p:oleObj r:id="rId21" imgW="317500" imgH="380365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72" y="2784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5" name="Rectangle 43"/>
            <p:cNvSpPr/>
            <p:nvPr/>
          </p:nvSpPr>
          <p:spPr>
            <a:xfrm>
              <a:off x="1584" y="278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</p:grpSp>
      <p:grpSp>
        <p:nvGrpSpPr>
          <p:cNvPr id="959532" name="Group 44"/>
          <p:cNvGrpSpPr/>
          <p:nvPr/>
        </p:nvGrpSpPr>
        <p:grpSpPr>
          <a:xfrm>
            <a:off x="4679950" y="5984875"/>
            <a:ext cx="609600" cy="519113"/>
            <a:chOff x="3216" y="3264"/>
            <a:chExt cx="384" cy="327"/>
          </a:xfrm>
        </p:grpSpPr>
        <p:sp>
          <p:nvSpPr>
            <p:cNvPr id="17442" name="Text Box 45"/>
            <p:cNvSpPr txBox="1"/>
            <p:nvPr/>
          </p:nvSpPr>
          <p:spPr>
            <a:xfrm>
              <a:off x="3312" y="326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3300"/>
                  </a:solidFill>
                  <a:sym typeface="Symbol" panose="05050102010706020507" pitchFamily="18" charset="2"/>
                </a:rPr>
                <a:t></a:t>
              </a:r>
              <a:endParaRPr lang="en-US" altLang="zh-CN" sz="2800" b="1" dirty="0">
                <a:solidFill>
                  <a:srgbClr val="FF3300"/>
                </a:solidFill>
              </a:endParaRPr>
            </a:p>
          </p:txBody>
        </p:sp>
        <p:graphicFrame>
          <p:nvGraphicFramePr>
            <p:cNvPr id="17443" name="Object 46"/>
            <p:cNvGraphicFramePr>
              <a:graphicFrameLocks noChangeAspect="1"/>
            </p:cNvGraphicFramePr>
            <p:nvPr/>
          </p:nvGraphicFramePr>
          <p:xfrm>
            <a:off x="3216" y="3312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2" r:id="rId22" imgW="228600" imgH="330200" progId="Equation.3">
                    <p:embed/>
                  </p:oleObj>
                </mc:Choice>
                <mc:Fallback>
                  <p:oleObj r:id="rId22" imgW="228600" imgH="3302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216" y="3312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9535" name="Group 47"/>
          <p:cNvGrpSpPr/>
          <p:nvPr/>
        </p:nvGrpSpPr>
        <p:grpSpPr>
          <a:xfrm>
            <a:off x="1295400" y="6005513"/>
            <a:ext cx="692150" cy="519112"/>
            <a:chOff x="192" y="3312"/>
            <a:chExt cx="436" cy="327"/>
          </a:xfrm>
        </p:grpSpPr>
        <p:sp>
          <p:nvSpPr>
            <p:cNvPr id="17440" name="Rectangle 48"/>
            <p:cNvSpPr/>
            <p:nvPr/>
          </p:nvSpPr>
          <p:spPr>
            <a:xfrm>
              <a:off x="288" y="331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00"/>
                  </a:solidFill>
                  <a:sym typeface="Webdings" panose="05030102010509060703" pitchFamily="18" charset="2"/>
                </a:rPr>
                <a:t></a:t>
              </a:r>
            </a:p>
          </p:txBody>
        </p:sp>
        <p:graphicFrame>
          <p:nvGraphicFramePr>
            <p:cNvPr id="17441" name="Object 49"/>
            <p:cNvGraphicFramePr>
              <a:graphicFrameLocks noChangeAspect="1"/>
            </p:cNvGraphicFramePr>
            <p:nvPr/>
          </p:nvGraphicFramePr>
          <p:xfrm>
            <a:off x="192" y="3360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3" r:id="rId24" imgW="228600" imgH="330200" progId="Equation.3">
                    <p:embed/>
                  </p:oleObj>
                </mc:Choice>
                <mc:Fallback>
                  <p:oleObj r:id="rId24" imgW="228600" imgH="3302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92" y="3360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9538" name="Object 50"/>
          <p:cNvGraphicFramePr>
            <a:graphicFrameLocks noChangeAspect="1"/>
          </p:cNvGraphicFramePr>
          <p:nvPr/>
        </p:nvGraphicFramePr>
        <p:xfrm>
          <a:off x="4319588" y="404813"/>
          <a:ext cx="2952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r:id="rId26" imgW="292100" imgH="393700" progId="Equation.DSMT4">
                  <p:embed/>
                </p:oleObj>
              </mc:Choice>
              <mc:Fallback>
                <p:oleObj r:id="rId26" imgW="292100" imgH="3937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19588" y="404813"/>
                        <a:ext cx="29527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539" name="Line 51"/>
          <p:cNvSpPr/>
          <p:nvPr/>
        </p:nvSpPr>
        <p:spPr>
          <a:xfrm>
            <a:off x="3959225" y="1484313"/>
            <a:ext cx="144463" cy="0"/>
          </a:xfrm>
          <a:prstGeom prst="line">
            <a:avLst/>
          </a:prstGeom>
          <a:ln w="6350" cap="flat" cmpd="sng">
            <a:solidFill>
              <a:schemeClr val="tx2"/>
            </a:solidFill>
            <a:prstDash val="solid"/>
            <a:headEnd type="none" w="med" len="med"/>
            <a:tailEnd type="triangle" w="sm" len="sm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75"/>
                                        <p:tgtEl>
                                          <p:spTgt spid="95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5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95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5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5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50"/>
                            </p:stCondLst>
                            <p:childTnLst>
                              <p:par>
                                <p:cTn id="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5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5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300"/>
                                        <p:tgtEl>
                                          <p:spTgt spid="95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95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95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75"/>
                                        <p:tgtEl>
                                          <p:spTgt spid="95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59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59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59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59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95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59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59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95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95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95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75" fill="hold"/>
                                        <p:tgtEl>
                                          <p:spTgt spid="959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" fill="hold"/>
                                        <p:tgtEl>
                                          <p:spTgt spid="959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" fill="hold"/>
                                        <p:tgtEl>
                                          <p:spTgt spid="959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959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1" dur="500"/>
                                        <p:tgtEl>
                                          <p:spTgt spid="95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5" dur="500"/>
                                        <p:tgtEl>
                                          <p:spTgt spid="95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0" fill="hold"/>
                                        <p:tgtEl>
                                          <p:spTgt spid="959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0" fill="hold"/>
                                        <p:tgtEl>
                                          <p:spTgt spid="959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5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95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59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59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59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59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5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95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959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959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0" grpId="0"/>
      <p:bldP spid="959491" grpId="0"/>
      <p:bldP spid="17412" grpId="0" animBg="1"/>
      <p:bldP spid="959496" grpId="0"/>
      <p:bldP spid="959503" grpId="0"/>
      <p:bldP spid="959504" grpId="0"/>
      <p:bldP spid="959506" grpId="0"/>
      <p:bldP spid="959510" grpId="0"/>
      <p:bldP spid="959511" grpId="0"/>
      <p:bldP spid="959512" grpId="0"/>
      <p:bldP spid="9595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4" name="Rectangle 2"/>
          <p:cNvSpPr/>
          <p:nvPr/>
        </p:nvSpPr>
        <p:spPr>
          <a:xfrm>
            <a:off x="1835150" y="533400"/>
            <a:ext cx="5616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1º </a:t>
            </a:r>
            <a:r>
              <a:rPr lang="zh-CN" altLang="en-US" sz="2800" b="1" dirty="0"/>
              <a:t>无限长直线电流的磁场</a:t>
            </a:r>
          </a:p>
        </p:txBody>
      </p:sp>
      <p:graphicFrame>
        <p:nvGraphicFramePr>
          <p:cNvPr id="960515" name="Object 3"/>
          <p:cNvGraphicFramePr>
            <a:graphicFrameLocks noChangeAspect="1"/>
          </p:cNvGraphicFramePr>
          <p:nvPr/>
        </p:nvGraphicFramePr>
        <p:xfrm>
          <a:off x="3119438" y="981075"/>
          <a:ext cx="15240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r:id="rId3" imgW="1993900" imgH="1092200" progId="Equation.DSMT4">
                  <p:embed/>
                </p:oleObj>
              </mc:Choice>
              <mc:Fallback>
                <p:oleObj r:id="rId3" imgW="1993900" imgH="10922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19438" y="981075"/>
                        <a:ext cx="1524000" cy="86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16" name="Rectangle 4"/>
          <p:cNvSpPr/>
          <p:nvPr/>
        </p:nvSpPr>
        <p:spPr>
          <a:xfrm>
            <a:off x="1835150" y="1700213"/>
            <a:ext cx="5892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2º </a:t>
            </a:r>
            <a:r>
              <a:rPr lang="zh-CN" altLang="en-US" sz="2800" b="1" dirty="0"/>
              <a:t>圆电流轴线上 </a:t>
            </a:r>
            <a:r>
              <a:rPr lang="en-US" altLang="zh-CN" sz="2800" b="1" i="1" dirty="0"/>
              <a:t>P </a:t>
            </a:r>
            <a:r>
              <a:rPr lang="zh-CN" altLang="en-US" sz="2800" b="1" dirty="0"/>
              <a:t>点磁场</a:t>
            </a:r>
          </a:p>
        </p:txBody>
      </p:sp>
      <p:graphicFrame>
        <p:nvGraphicFramePr>
          <p:cNvPr id="960517" name="Object 5"/>
          <p:cNvGraphicFramePr>
            <a:graphicFrameLocks noChangeAspect="1"/>
          </p:cNvGraphicFramePr>
          <p:nvPr/>
        </p:nvGraphicFramePr>
        <p:xfrm>
          <a:off x="5229225" y="2085975"/>
          <a:ext cx="26352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r:id="rId5" imgW="3454400" imgH="1117600" progId="Equation.DSMT4">
                  <p:embed/>
                </p:oleObj>
              </mc:Choice>
              <mc:Fallback>
                <p:oleObj r:id="rId5" imgW="3454400" imgH="11176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29225" y="2085975"/>
                        <a:ext cx="2635250" cy="890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18" name="Rectangle 6"/>
          <p:cNvSpPr/>
          <p:nvPr/>
        </p:nvSpPr>
        <p:spPr>
          <a:xfrm>
            <a:off x="1835150" y="3644900"/>
            <a:ext cx="68405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3º  </a:t>
            </a:r>
            <a:r>
              <a:rPr lang="zh-CN" altLang="en-US" sz="2800" b="1" dirty="0"/>
              <a:t>无限长载流直螺线管的磁场</a:t>
            </a:r>
          </a:p>
        </p:txBody>
      </p:sp>
      <p:graphicFrame>
        <p:nvGraphicFramePr>
          <p:cNvPr id="960519" name="Object 7"/>
          <p:cNvGraphicFramePr>
            <a:graphicFrameLocks noChangeAspect="1"/>
          </p:cNvGraphicFramePr>
          <p:nvPr/>
        </p:nvGraphicFramePr>
        <p:xfrm>
          <a:off x="4956175" y="4292600"/>
          <a:ext cx="15621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r:id="rId7" imgW="2209800" imgH="584200" progId="Equation.DSMT4">
                  <p:embed/>
                </p:oleObj>
              </mc:Choice>
              <mc:Fallback>
                <p:oleObj r:id="rId7" imgW="2209800" imgH="5842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56175" y="4292600"/>
                        <a:ext cx="15621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20" name="Rectangle 8"/>
          <p:cNvSpPr/>
          <p:nvPr/>
        </p:nvSpPr>
        <p:spPr>
          <a:xfrm>
            <a:off x="5219700" y="3063875"/>
            <a:ext cx="2520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圆心处</a:t>
            </a:r>
          </a:p>
        </p:txBody>
      </p:sp>
      <p:graphicFrame>
        <p:nvGraphicFramePr>
          <p:cNvPr id="960521" name="Object 9"/>
          <p:cNvGraphicFramePr>
            <a:graphicFrameLocks noChangeAspect="1"/>
          </p:cNvGraphicFramePr>
          <p:nvPr/>
        </p:nvGraphicFramePr>
        <p:xfrm>
          <a:off x="6516688" y="2919413"/>
          <a:ext cx="13541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r:id="rId9" imgW="1524000" imgH="990600" progId="Equation.DSMT4">
                  <p:embed/>
                </p:oleObj>
              </mc:Choice>
              <mc:Fallback>
                <p:oleObj r:id="rId9" imgW="1524000" imgH="990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16688" y="2919413"/>
                        <a:ext cx="1354137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22" name="Rectangle 10"/>
          <p:cNvSpPr/>
          <p:nvPr/>
        </p:nvSpPr>
        <p:spPr>
          <a:xfrm>
            <a:off x="1908175" y="5516563"/>
            <a:ext cx="46085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4º </a:t>
            </a:r>
            <a:r>
              <a:rPr lang="zh-CN" altLang="en-US" sz="2800" b="1" dirty="0"/>
              <a:t>运动电荷的磁场</a:t>
            </a:r>
          </a:p>
        </p:txBody>
      </p:sp>
      <p:grpSp>
        <p:nvGrpSpPr>
          <p:cNvPr id="960523" name="Group 11"/>
          <p:cNvGrpSpPr/>
          <p:nvPr/>
        </p:nvGrpSpPr>
        <p:grpSpPr>
          <a:xfrm>
            <a:off x="5724525" y="5300663"/>
            <a:ext cx="2663825" cy="1357312"/>
            <a:chOff x="2352" y="3465"/>
            <a:chExt cx="1831" cy="855"/>
          </a:xfrm>
        </p:grpSpPr>
        <p:graphicFrame>
          <p:nvGraphicFramePr>
            <p:cNvPr id="18509" name="Object 12"/>
            <p:cNvGraphicFramePr>
              <a:graphicFrameLocks noChangeAspect="1"/>
            </p:cNvGraphicFramePr>
            <p:nvPr/>
          </p:nvGraphicFramePr>
          <p:xfrm>
            <a:off x="3504" y="3513"/>
            <a:ext cx="14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4" r:id="rId11" imgW="228600" imgH="304800" progId="Equation.3">
                    <p:embed/>
                  </p:oleObj>
                </mc:Choice>
                <mc:Fallback>
                  <p:oleObj r:id="rId11" imgW="228600" imgH="3048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04" y="3513"/>
                          <a:ext cx="144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0" name="Line 13"/>
            <p:cNvSpPr/>
            <p:nvPr/>
          </p:nvSpPr>
          <p:spPr>
            <a:xfrm flipV="1">
              <a:off x="2688" y="3657"/>
              <a:ext cx="1152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8511" name="Group 14"/>
            <p:cNvGrpSpPr/>
            <p:nvPr/>
          </p:nvGrpSpPr>
          <p:grpSpPr>
            <a:xfrm>
              <a:off x="2640" y="4041"/>
              <a:ext cx="1112" cy="200"/>
              <a:chOff x="3552" y="3312"/>
              <a:chExt cx="1112" cy="200"/>
            </a:xfrm>
          </p:grpSpPr>
          <p:sp>
            <p:nvSpPr>
              <p:cNvPr id="18517" name="Line 15"/>
              <p:cNvSpPr/>
              <p:nvPr/>
            </p:nvSpPr>
            <p:spPr>
              <a:xfrm>
                <a:off x="3552" y="3408"/>
                <a:ext cx="9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18518" name="Object 16"/>
              <p:cNvGraphicFramePr>
                <a:graphicFrameLocks noChangeAspect="1"/>
              </p:cNvGraphicFramePr>
              <p:nvPr/>
            </p:nvGraphicFramePr>
            <p:xfrm>
              <a:off x="4512" y="3312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85" r:id="rId13" imgW="241300" imgH="317500" progId="Equation.3">
                      <p:embed/>
                    </p:oleObj>
                  </mc:Choice>
                  <mc:Fallback>
                    <p:oleObj r:id="rId13" imgW="241300" imgH="317500" progId="Equation.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512" y="3312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512" name="Object 17"/>
            <p:cNvGraphicFramePr>
              <a:graphicFrameLocks noChangeAspect="1"/>
            </p:cNvGraphicFramePr>
            <p:nvPr/>
          </p:nvGraphicFramePr>
          <p:xfrm>
            <a:off x="3984" y="3465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6" r:id="rId15" imgW="381000" imgH="469900" progId="Equation.3">
                    <p:embed/>
                  </p:oleObj>
                </mc:Choice>
                <mc:Fallback>
                  <p:oleObj r:id="rId15" imgW="381000" imgH="4699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4" y="3465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3" name="Text Box 18"/>
            <p:cNvSpPr txBox="1"/>
            <p:nvPr/>
          </p:nvSpPr>
          <p:spPr>
            <a:xfrm>
              <a:off x="3744" y="3465"/>
              <a:ext cx="3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00"/>
                  </a:solidFill>
                  <a:sym typeface="Wingdings 2" panose="05020102010507070707" pitchFamily="18" charset="2"/>
                </a:rPr>
                <a:t></a:t>
              </a:r>
              <a:endParaRPr lang="en-US" altLang="zh-CN" sz="28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14" name="Group 19"/>
            <p:cNvGrpSpPr/>
            <p:nvPr/>
          </p:nvGrpSpPr>
          <p:grpSpPr>
            <a:xfrm>
              <a:off x="2352" y="3993"/>
              <a:ext cx="410" cy="327"/>
              <a:chOff x="3216" y="3264"/>
              <a:chExt cx="410" cy="327"/>
            </a:xfrm>
          </p:grpSpPr>
          <p:sp>
            <p:nvSpPr>
              <p:cNvPr id="18515" name="Text Box 20"/>
              <p:cNvSpPr txBox="1"/>
              <p:nvPr/>
            </p:nvSpPr>
            <p:spPr>
              <a:xfrm>
                <a:off x="3312" y="3264"/>
                <a:ext cx="31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003366"/>
                    </a:solidFill>
                    <a:sym typeface="Symbol" panose="05050102010706020507" pitchFamily="18" charset="2"/>
                  </a:rPr>
                  <a:t></a:t>
                </a:r>
                <a:endParaRPr lang="en-US" altLang="zh-CN" sz="2800" b="1" dirty="0">
                  <a:solidFill>
                    <a:srgbClr val="003366"/>
                  </a:solidFill>
                </a:endParaRPr>
              </a:p>
            </p:txBody>
          </p:sp>
          <p:graphicFrame>
            <p:nvGraphicFramePr>
              <p:cNvPr id="18516" name="Object 21"/>
              <p:cNvGraphicFramePr>
                <a:graphicFrameLocks noChangeAspect="1"/>
              </p:cNvGraphicFramePr>
              <p:nvPr/>
            </p:nvGraphicFramePr>
            <p:xfrm>
              <a:off x="3216" y="3312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87" r:id="rId17" imgW="228600" imgH="330200" progId="Equation.3">
                      <p:embed/>
                    </p:oleObj>
                  </mc:Choice>
                  <mc:Fallback>
                    <p:oleObj r:id="rId17" imgW="228600" imgH="330200" progId="Equation.3">
                      <p:embed/>
                      <p:pic>
                        <p:nvPicPr>
                          <p:cNvPr id="0" name="图片 3149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216" y="3312"/>
                            <a:ext cx="144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960534" name="Object 22"/>
          <p:cNvGraphicFramePr>
            <a:graphicFrameLocks noChangeAspect="1"/>
          </p:cNvGraphicFramePr>
          <p:nvPr/>
        </p:nvGraphicFramePr>
        <p:xfrm>
          <a:off x="2951163" y="5892800"/>
          <a:ext cx="24844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r:id="rId19" imgW="3276600" imgH="1117600" progId="Equation.DSMT4">
                  <p:embed/>
                </p:oleObj>
              </mc:Choice>
              <mc:Fallback>
                <p:oleObj r:id="rId19" imgW="3276600" imgH="11176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51163" y="5892800"/>
                        <a:ext cx="2484437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0535" name="Group 23"/>
          <p:cNvGrpSpPr/>
          <p:nvPr/>
        </p:nvGrpSpPr>
        <p:grpSpPr>
          <a:xfrm>
            <a:off x="6275388" y="384175"/>
            <a:ext cx="1968500" cy="1676400"/>
            <a:chOff x="3072" y="0"/>
            <a:chExt cx="1240" cy="1056"/>
          </a:xfrm>
        </p:grpSpPr>
        <p:sp>
          <p:nvSpPr>
            <p:cNvPr id="18502" name="Line 24"/>
            <p:cNvSpPr/>
            <p:nvPr/>
          </p:nvSpPr>
          <p:spPr>
            <a:xfrm rot="-5400000">
              <a:off x="2808" y="264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03" name="Line 25"/>
            <p:cNvSpPr/>
            <p:nvPr/>
          </p:nvSpPr>
          <p:spPr>
            <a:xfrm>
              <a:off x="3072" y="576"/>
              <a:ext cx="0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18504" name="Object 26"/>
            <p:cNvGraphicFramePr>
              <a:graphicFrameLocks noChangeAspect="1"/>
            </p:cNvGraphicFramePr>
            <p:nvPr/>
          </p:nvGraphicFramePr>
          <p:xfrm>
            <a:off x="3168" y="4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9" r:id="rId21" imgW="279400" imgH="381000" progId="Equation.3">
                    <p:embed/>
                  </p:oleObj>
                </mc:Choice>
                <mc:Fallback>
                  <p:oleObj r:id="rId21" imgW="279400" imgH="3810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68" y="4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5" name="Oval 27"/>
            <p:cNvSpPr/>
            <p:nvPr/>
          </p:nvSpPr>
          <p:spPr>
            <a:xfrm>
              <a:off x="3792" y="5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8506" name="Line 28"/>
            <p:cNvSpPr/>
            <p:nvPr/>
          </p:nvSpPr>
          <p:spPr>
            <a:xfrm>
              <a:off x="3072" y="624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18507" name="Object 29"/>
            <p:cNvGraphicFramePr>
              <a:graphicFrameLocks noChangeAspect="1"/>
            </p:cNvGraphicFramePr>
            <p:nvPr/>
          </p:nvGraphicFramePr>
          <p:xfrm>
            <a:off x="3376" y="676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0" r:id="rId23" imgW="215900" imgH="241300" progId="Equation.3">
                    <p:embed/>
                  </p:oleObj>
                </mc:Choice>
                <mc:Fallback>
                  <p:oleObj r:id="rId23" imgW="215900" imgH="2413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376" y="676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08" name="Object 30"/>
            <p:cNvGraphicFramePr>
              <a:graphicFrameLocks noChangeAspect="1"/>
            </p:cNvGraphicFramePr>
            <p:nvPr/>
          </p:nvGraphicFramePr>
          <p:xfrm>
            <a:off x="3888" y="480"/>
            <a:ext cx="42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1" r:id="rId25" imgW="863600" imgH="482600" progId="Equation.3">
                    <p:embed/>
                  </p:oleObj>
                </mc:Choice>
                <mc:Fallback>
                  <p:oleObj r:id="rId25" imgW="863600" imgH="4826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88" y="480"/>
                          <a:ext cx="42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60543" name="Group 31"/>
          <p:cNvGrpSpPr/>
          <p:nvPr/>
        </p:nvGrpSpPr>
        <p:grpSpPr>
          <a:xfrm>
            <a:off x="1258888" y="4076700"/>
            <a:ext cx="3713162" cy="1471613"/>
            <a:chOff x="1111" y="2649"/>
            <a:chExt cx="2339" cy="927"/>
          </a:xfrm>
        </p:grpSpPr>
        <p:sp>
          <p:nvSpPr>
            <p:cNvPr id="18467" name="Rectangle 32"/>
            <p:cNvSpPr/>
            <p:nvPr/>
          </p:nvSpPr>
          <p:spPr>
            <a:xfrm>
              <a:off x="1111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68" name="Rectangle 33"/>
            <p:cNvSpPr/>
            <p:nvPr/>
          </p:nvSpPr>
          <p:spPr>
            <a:xfrm>
              <a:off x="1245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69" name="Rectangle 34"/>
            <p:cNvSpPr/>
            <p:nvPr/>
          </p:nvSpPr>
          <p:spPr>
            <a:xfrm>
              <a:off x="1379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0" name="Rectangle 35"/>
            <p:cNvSpPr/>
            <p:nvPr/>
          </p:nvSpPr>
          <p:spPr>
            <a:xfrm>
              <a:off x="1513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1" name="Rectangle 36"/>
            <p:cNvSpPr/>
            <p:nvPr/>
          </p:nvSpPr>
          <p:spPr>
            <a:xfrm>
              <a:off x="1646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2" name="Rectangle 37"/>
            <p:cNvSpPr/>
            <p:nvPr/>
          </p:nvSpPr>
          <p:spPr>
            <a:xfrm>
              <a:off x="1780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3" name="Rectangle 38"/>
            <p:cNvSpPr/>
            <p:nvPr/>
          </p:nvSpPr>
          <p:spPr>
            <a:xfrm>
              <a:off x="1913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4" name="Rectangle 39"/>
            <p:cNvSpPr/>
            <p:nvPr/>
          </p:nvSpPr>
          <p:spPr>
            <a:xfrm>
              <a:off x="2047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5" name="Rectangle 40"/>
            <p:cNvSpPr/>
            <p:nvPr/>
          </p:nvSpPr>
          <p:spPr>
            <a:xfrm>
              <a:off x="2180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6" name="Rectangle 41"/>
            <p:cNvSpPr/>
            <p:nvPr/>
          </p:nvSpPr>
          <p:spPr>
            <a:xfrm>
              <a:off x="2314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7" name="Rectangle 42"/>
            <p:cNvSpPr/>
            <p:nvPr/>
          </p:nvSpPr>
          <p:spPr>
            <a:xfrm>
              <a:off x="2448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8" name="Rectangle 43"/>
            <p:cNvSpPr/>
            <p:nvPr/>
          </p:nvSpPr>
          <p:spPr>
            <a:xfrm>
              <a:off x="2581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79" name="Rectangle 44"/>
            <p:cNvSpPr/>
            <p:nvPr/>
          </p:nvSpPr>
          <p:spPr>
            <a:xfrm>
              <a:off x="2715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80" name="Rectangle 45"/>
            <p:cNvSpPr/>
            <p:nvPr/>
          </p:nvSpPr>
          <p:spPr>
            <a:xfrm>
              <a:off x="2849" y="2649"/>
              <a:ext cx="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Wingdings 2" panose="05020102010507070707" pitchFamily="18" charset="2"/>
                </a:rPr>
                <a:t></a:t>
              </a:r>
            </a:p>
          </p:txBody>
        </p:sp>
        <p:sp>
          <p:nvSpPr>
            <p:cNvPr id="18481" name="Rectangle 46"/>
            <p:cNvSpPr/>
            <p:nvPr/>
          </p:nvSpPr>
          <p:spPr>
            <a:xfrm>
              <a:off x="1111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2" name="Rectangle 47"/>
            <p:cNvSpPr/>
            <p:nvPr/>
          </p:nvSpPr>
          <p:spPr>
            <a:xfrm>
              <a:off x="1245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3" name="Rectangle 48"/>
            <p:cNvSpPr/>
            <p:nvPr/>
          </p:nvSpPr>
          <p:spPr>
            <a:xfrm>
              <a:off x="1379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4" name="Rectangle 49"/>
            <p:cNvSpPr/>
            <p:nvPr/>
          </p:nvSpPr>
          <p:spPr>
            <a:xfrm>
              <a:off x="1513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5" name="Rectangle 50"/>
            <p:cNvSpPr/>
            <p:nvPr/>
          </p:nvSpPr>
          <p:spPr>
            <a:xfrm>
              <a:off x="1646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6" name="Rectangle 51"/>
            <p:cNvSpPr/>
            <p:nvPr/>
          </p:nvSpPr>
          <p:spPr>
            <a:xfrm>
              <a:off x="1780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7" name="Rectangle 52"/>
            <p:cNvSpPr/>
            <p:nvPr/>
          </p:nvSpPr>
          <p:spPr>
            <a:xfrm>
              <a:off x="1913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8" name="Rectangle 53"/>
            <p:cNvSpPr/>
            <p:nvPr/>
          </p:nvSpPr>
          <p:spPr>
            <a:xfrm>
              <a:off x="2047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89" name="Rectangle 54"/>
            <p:cNvSpPr/>
            <p:nvPr/>
          </p:nvSpPr>
          <p:spPr>
            <a:xfrm>
              <a:off x="2180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0" name="Rectangle 55"/>
            <p:cNvSpPr/>
            <p:nvPr/>
          </p:nvSpPr>
          <p:spPr>
            <a:xfrm>
              <a:off x="2314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1" name="Rectangle 56"/>
            <p:cNvSpPr/>
            <p:nvPr/>
          </p:nvSpPr>
          <p:spPr>
            <a:xfrm>
              <a:off x="2448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2" name="Rectangle 57"/>
            <p:cNvSpPr/>
            <p:nvPr/>
          </p:nvSpPr>
          <p:spPr>
            <a:xfrm>
              <a:off x="2581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3" name="Rectangle 58"/>
            <p:cNvSpPr/>
            <p:nvPr/>
          </p:nvSpPr>
          <p:spPr>
            <a:xfrm>
              <a:off x="2715" y="324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4" name="Rectangle 59"/>
            <p:cNvSpPr/>
            <p:nvPr/>
          </p:nvSpPr>
          <p:spPr>
            <a:xfrm>
              <a:off x="2849" y="3249"/>
              <a:ext cx="28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800080"/>
                  </a:solidFill>
                  <a:sym typeface="Symbol" panose="05050102010706020507" pitchFamily="18" charset="2"/>
                </a:rPr>
                <a:t></a:t>
              </a:r>
            </a:p>
          </p:txBody>
        </p:sp>
        <p:sp>
          <p:nvSpPr>
            <p:cNvPr id="18495" name="Rectangle 60"/>
            <p:cNvSpPr/>
            <p:nvPr/>
          </p:nvSpPr>
          <p:spPr>
            <a:xfrm>
              <a:off x="1255" y="2886"/>
              <a:ext cx="1811" cy="45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rgbClr val="6666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8496" name="Text Box 61"/>
            <p:cNvSpPr txBox="1"/>
            <p:nvPr/>
          </p:nvSpPr>
          <p:spPr>
            <a:xfrm>
              <a:off x="3222" y="305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x</a:t>
              </a:r>
            </a:p>
          </p:txBody>
        </p:sp>
        <p:grpSp>
          <p:nvGrpSpPr>
            <p:cNvPr id="18497" name="Group 62"/>
            <p:cNvGrpSpPr/>
            <p:nvPr/>
          </p:nvGrpSpPr>
          <p:grpSpPr>
            <a:xfrm>
              <a:off x="2026" y="2735"/>
              <a:ext cx="288" cy="633"/>
              <a:chOff x="1248" y="1335"/>
              <a:chExt cx="288" cy="633"/>
            </a:xfrm>
          </p:grpSpPr>
          <p:sp>
            <p:nvSpPr>
              <p:cNvPr id="18500" name="Text Box 63"/>
              <p:cNvSpPr txBox="1"/>
              <p:nvPr/>
            </p:nvSpPr>
            <p:spPr>
              <a:xfrm>
                <a:off x="1248" y="1680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/>
                  <a:t> </a:t>
                </a:r>
                <a:r>
                  <a:rPr lang="en-US" altLang="zh-CN" sz="2400" b="1" i="1" dirty="0"/>
                  <a:t>P</a:t>
                </a:r>
                <a:endParaRPr lang="en-US" altLang="zh-CN" sz="2400" i="1" dirty="0"/>
              </a:p>
            </p:txBody>
          </p:sp>
          <p:sp>
            <p:nvSpPr>
              <p:cNvPr id="18501" name="Text Box 64"/>
              <p:cNvSpPr txBox="1"/>
              <p:nvPr/>
            </p:nvSpPr>
            <p:spPr>
              <a:xfrm>
                <a:off x="1296" y="1335"/>
                <a:ext cx="212" cy="5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800" b="1" dirty="0"/>
                  <a:t>.</a:t>
                </a:r>
                <a:endParaRPr lang="en-US" altLang="zh-CN" sz="4400" b="1" dirty="0"/>
              </a:p>
            </p:txBody>
          </p:sp>
        </p:grpSp>
        <p:sp>
          <p:nvSpPr>
            <p:cNvPr id="18498" name="Line 65"/>
            <p:cNvSpPr/>
            <p:nvPr/>
          </p:nvSpPr>
          <p:spPr>
            <a:xfrm>
              <a:off x="1119" y="3113"/>
              <a:ext cx="217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99" name="Line 66"/>
            <p:cNvSpPr/>
            <p:nvPr/>
          </p:nvSpPr>
          <p:spPr>
            <a:xfrm>
              <a:off x="2208" y="3113"/>
              <a:ext cx="499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960579" name="Object 67"/>
          <p:cNvGraphicFramePr>
            <a:graphicFrameLocks noChangeAspect="1"/>
          </p:cNvGraphicFramePr>
          <p:nvPr/>
        </p:nvGraphicFramePr>
        <p:xfrm>
          <a:off x="4932363" y="4824413"/>
          <a:ext cx="10810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r:id="rId27" imgW="1524000" imgH="571500" progId="Equation.3">
                  <p:embed/>
                </p:oleObj>
              </mc:Choice>
              <mc:Fallback>
                <p:oleObj r:id="rId27" imgW="1524000" imgH="5715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4824413"/>
                        <a:ext cx="1081087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80" name="Text Box 68"/>
          <p:cNvSpPr txBox="1"/>
          <p:nvPr/>
        </p:nvSpPr>
        <p:spPr>
          <a:xfrm>
            <a:off x="6443663" y="4221163"/>
            <a:ext cx="25574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—</a:t>
            </a:r>
            <a:r>
              <a:rPr lang="zh-CN" altLang="en-US" sz="2800" b="1" dirty="0">
                <a:ea typeface="楷体_GB2312" pitchFamily="49" charset="-122"/>
              </a:rPr>
              <a:t>均匀磁场</a:t>
            </a:r>
          </a:p>
        </p:txBody>
      </p:sp>
      <p:grpSp>
        <p:nvGrpSpPr>
          <p:cNvPr id="960581" name="Group 69"/>
          <p:cNvGrpSpPr/>
          <p:nvPr/>
        </p:nvGrpSpPr>
        <p:grpSpPr>
          <a:xfrm>
            <a:off x="611188" y="333375"/>
            <a:ext cx="1595437" cy="792163"/>
            <a:chOff x="1247" y="164"/>
            <a:chExt cx="1005" cy="499"/>
          </a:xfrm>
        </p:grpSpPr>
        <p:sp>
          <p:nvSpPr>
            <p:cNvPr id="18465" name="AutoShape 70"/>
            <p:cNvSpPr/>
            <p:nvPr/>
          </p:nvSpPr>
          <p:spPr>
            <a:xfrm>
              <a:off x="1247" y="164"/>
              <a:ext cx="771" cy="499"/>
            </a:xfrm>
            <a:prstGeom prst="horizontalScroll">
              <a:avLst>
                <a:gd name="adj" fmla="val 12500"/>
              </a:avLst>
            </a:prstGeom>
            <a:solidFill>
              <a:srgbClr val="000099"/>
            </a:solidFill>
            <a:ln w="9525" cap="flat" cmpd="sng">
              <a:solidFill>
                <a:srgbClr val="0048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8466" name="Rectangle 71"/>
            <p:cNvSpPr/>
            <p:nvPr/>
          </p:nvSpPr>
          <p:spPr>
            <a:xfrm>
              <a:off x="1292" y="255"/>
              <a:ext cx="9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ea typeface="楷体_GB2312" pitchFamily="49" charset="-122"/>
                </a:rPr>
                <a:t>小结：</a:t>
              </a:r>
            </a:p>
          </p:txBody>
        </p:sp>
      </p:grpSp>
      <p:grpSp>
        <p:nvGrpSpPr>
          <p:cNvPr id="960584" name="Group 72"/>
          <p:cNvGrpSpPr/>
          <p:nvPr/>
        </p:nvGrpSpPr>
        <p:grpSpPr>
          <a:xfrm>
            <a:off x="1106488" y="2419350"/>
            <a:ext cx="3825875" cy="1239838"/>
            <a:chOff x="697" y="1524"/>
            <a:chExt cx="2410" cy="781"/>
          </a:xfrm>
        </p:grpSpPr>
        <p:sp>
          <p:nvSpPr>
            <p:cNvPr id="18451" name="Oval 73"/>
            <p:cNvSpPr/>
            <p:nvPr/>
          </p:nvSpPr>
          <p:spPr>
            <a:xfrm>
              <a:off x="884" y="1525"/>
              <a:ext cx="324" cy="780"/>
            </a:xfrm>
            <a:prstGeom prst="ellipse">
              <a:avLst/>
            </a:prstGeom>
            <a:solidFill>
              <a:srgbClr val="FFFF66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8452" name="Line 74"/>
            <p:cNvSpPr/>
            <p:nvPr/>
          </p:nvSpPr>
          <p:spPr>
            <a:xfrm>
              <a:off x="878" y="1845"/>
              <a:ext cx="0" cy="11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18453" name="Object 75"/>
            <p:cNvGraphicFramePr>
              <a:graphicFrameLocks noChangeAspect="1"/>
            </p:cNvGraphicFramePr>
            <p:nvPr/>
          </p:nvGraphicFramePr>
          <p:xfrm>
            <a:off x="697" y="1671"/>
            <a:ext cx="10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3" r:id="rId29" imgW="279400" imgH="381000" progId="Equation.3">
                    <p:embed/>
                  </p:oleObj>
                </mc:Choice>
                <mc:Fallback>
                  <p:oleObj r:id="rId29" imgW="279400" imgH="3810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97" y="1671"/>
                          <a:ext cx="105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Line 76"/>
            <p:cNvSpPr/>
            <p:nvPr/>
          </p:nvSpPr>
          <p:spPr>
            <a:xfrm>
              <a:off x="1047" y="1918"/>
              <a:ext cx="191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8455" name="Object 77"/>
            <p:cNvGraphicFramePr>
              <a:graphicFrameLocks noChangeAspect="1"/>
            </p:cNvGraphicFramePr>
            <p:nvPr/>
          </p:nvGraphicFramePr>
          <p:xfrm>
            <a:off x="2994" y="1845"/>
            <a:ext cx="113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4" r:id="rId31" imgW="266700" imgH="254000" progId="Equation.3">
                    <p:embed/>
                  </p:oleObj>
                </mc:Choice>
                <mc:Fallback>
                  <p:oleObj r:id="rId31" imgW="266700" imgH="2540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994" y="1845"/>
                          <a:ext cx="113" cy="1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6" name="Line 78"/>
            <p:cNvSpPr/>
            <p:nvPr/>
          </p:nvSpPr>
          <p:spPr>
            <a:xfrm flipH="1">
              <a:off x="1047" y="1525"/>
              <a:ext cx="19" cy="3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8457" name="Object 79"/>
            <p:cNvGraphicFramePr>
              <a:graphicFrameLocks noChangeAspect="1"/>
            </p:cNvGraphicFramePr>
            <p:nvPr/>
          </p:nvGraphicFramePr>
          <p:xfrm>
            <a:off x="1015" y="1626"/>
            <a:ext cx="14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5" r:id="rId33" imgW="381000" imgH="381000" progId="Equation.3">
                    <p:embed/>
                  </p:oleObj>
                </mc:Choice>
                <mc:Fallback>
                  <p:oleObj r:id="rId33" imgW="381000" imgH="3810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3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15" y="1626"/>
                          <a:ext cx="141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8" name="Line 80"/>
            <p:cNvSpPr/>
            <p:nvPr/>
          </p:nvSpPr>
          <p:spPr>
            <a:xfrm>
              <a:off x="1066" y="1535"/>
              <a:ext cx="1224" cy="363"/>
            </a:xfrm>
            <a:prstGeom prst="line">
              <a:avLst/>
            </a:prstGeom>
            <a:ln w="28575" cap="flat" cmpd="sng">
              <a:solidFill>
                <a:srgbClr val="0048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8459" name="Object 81"/>
            <p:cNvGraphicFramePr>
              <a:graphicFrameLocks noChangeAspect="1"/>
            </p:cNvGraphicFramePr>
            <p:nvPr/>
          </p:nvGraphicFramePr>
          <p:xfrm>
            <a:off x="1701" y="1524"/>
            <a:ext cx="1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" r:id="rId35" imgW="228600" imgH="304800" progId="Equation.3">
                    <p:embed/>
                  </p:oleObj>
                </mc:Choice>
                <mc:Fallback>
                  <p:oleObj r:id="rId35" imgW="228600" imgH="3048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01" y="1524"/>
                          <a:ext cx="105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0" name="Object 82"/>
            <p:cNvGraphicFramePr>
              <a:graphicFrameLocks noChangeAspect="1"/>
            </p:cNvGraphicFramePr>
            <p:nvPr/>
          </p:nvGraphicFramePr>
          <p:xfrm>
            <a:off x="2291" y="1964"/>
            <a:ext cx="181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7" r:id="rId36" imgW="292100" imgH="292100" progId="Equation.3">
                    <p:embed/>
                  </p:oleObj>
                </mc:Choice>
                <mc:Fallback>
                  <p:oleObj r:id="rId36" imgW="292100" imgH="2921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2291" y="1964"/>
                          <a:ext cx="181" cy="1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1" name="Line 83"/>
            <p:cNvSpPr/>
            <p:nvPr/>
          </p:nvSpPr>
          <p:spPr>
            <a:xfrm>
              <a:off x="2290" y="1882"/>
              <a:ext cx="0" cy="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8462" name="Object 84"/>
            <p:cNvGraphicFramePr>
              <a:graphicFrameLocks noChangeAspect="1"/>
            </p:cNvGraphicFramePr>
            <p:nvPr/>
          </p:nvGraphicFramePr>
          <p:xfrm>
            <a:off x="2646" y="1661"/>
            <a:ext cx="14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8" r:id="rId38" imgW="381000" imgH="469900" progId="Equation.3">
                    <p:embed/>
                  </p:oleObj>
                </mc:Choice>
                <mc:Fallback>
                  <p:oleObj r:id="rId38" imgW="381000" imgH="4699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39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6" y="1661"/>
                          <a:ext cx="14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3" name="Line 85"/>
            <p:cNvSpPr/>
            <p:nvPr/>
          </p:nvSpPr>
          <p:spPr>
            <a:xfrm>
              <a:off x="2290" y="1918"/>
              <a:ext cx="444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64" name="Text Box 86"/>
            <p:cNvSpPr txBox="1"/>
            <p:nvPr/>
          </p:nvSpPr>
          <p:spPr>
            <a:xfrm>
              <a:off x="930" y="182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o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96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75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96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96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25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6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75"/>
                                        <p:tgtEl>
                                          <p:spTgt spid="96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5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6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96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96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6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60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60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60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60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6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96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6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6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514" grpId="0"/>
      <p:bldP spid="960516" grpId="0"/>
      <p:bldP spid="960518" grpId="0"/>
      <p:bldP spid="960520" grpId="0"/>
      <p:bldP spid="960522" grpId="0"/>
      <p:bldP spid="96058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539403-71c9-4667-893e-78dd2c30ddb6"/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Microsoft Office PowerPoint</Application>
  <PresentationFormat>全屏显示(4:3)</PresentationFormat>
  <Paragraphs>294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楷体_GB2312</vt:lpstr>
      <vt:lpstr>隶书</vt:lpstr>
      <vt:lpstr>宋体</vt:lpstr>
      <vt:lpstr>Times New Roman</vt:lpstr>
      <vt:lpstr>默认设计模板</vt:lpstr>
      <vt:lpstr>MathType 6.0 Equation</vt:lpstr>
      <vt:lpstr>Microsoft Equation 3.0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项林川 Xiang Linchuan</dc:creator>
  <cp:lastModifiedBy>陈 亮</cp:lastModifiedBy>
  <cp:revision>1958</cp:revision>
  <dcterms:created xsi:type="dcterms:W3CDTF">2000-02-14T01:19:08Z</dcterms:created>
  <dcterms:modified xsi:type="dcterms:W3CDTF">2024-06-07T07:19:15Z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755D68303F4C421491C0EF1326462C93</vt:lpwstr>
  </property>
  <property fmtid="{D5CDD505-2E9C-101B-9397-08002B2CF9AE}" pid="3" name="KSOProductBuildVer">
    <vt:lpwstr>2052-11.1.0.13012</vt:lpwstr>
  </property>
</Properties>
</file>