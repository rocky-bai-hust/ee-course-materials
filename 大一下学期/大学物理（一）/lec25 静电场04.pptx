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handoutMasterIdLst>
    <p:handoutMasterId r:id="rId28"/>
  </p:handoutMasterIdLst>
  <p:sldIdLst>
    <p:sldId id="321" r:id="rId5"/>
    <p:sldId id="325" r:id="rId6"/>
    <p:sldId id="326" r:id="rId8"/>
    <p:sldId id="327" r:id="rId9"/>
    <p:sldId id="329" r:id="rId10"/>
    <p:sldId id="328" r:id="rId11"/>
    <p:sldId id="439" r:id="rId12"/>
    <p:sldId id="331" r:id="rId13"/>
    <p:sldId id="330" r:id="rId14"/>
    <p:sldId id="431" r:id="rId15"/>
    <p:sldId id="333" r:id="rId16"/>
    <p:sldId id="429" r:id="rId17"/>
    <p:sldId id="425" r:id="rId18"/>
    <p:sldId id="426" r:id="rId19"/>
    <p:sldId id="427" r:id="rId20"/>
    <p:sldId id="428" r:id="rId21"/>
    <p:sldId id="440" r:id="rId22"/>
    <p:sldId id="441" r:id="rId23"/>
    <p:sldId id="442" r:id="rId24"/>
    <p:sldId id="443" r:id="rId25"/>
    <p:sldId id="460" r:id="rId26"/>
    <p:sldId id="461" r:id="rId27"/>
  </p:sldIdLst>
  <p:sldSz cx="9144000" cy="6858000" type="screen4x3"/>
  <p:notesSz cx="6761480" cy="9942830"/>
  <p:custDataLst>
    <p:tags r:id="rId3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000"/>
    <a:srgbClr val="FFFFFF"/>
    <a:srgbClr val="0000FF"/>
    <a:srgbClr val="FF3300"/>
    <a:srgbClr val="660033"/>
    <a:srgbClr val="FF9933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5"/>
    <p:restoredTop sz="90701"/>
  </p:normalViewPr>
  <p:slideViewPr>
    <p:cSldViewPr snapToGrid="0" showGuides="1">
      <p:cViewPr varScale="1">
        <p:scale>
          <a:sx n="90" d="100"/>
          <a:sy n="90" d="100"/>
        </p:scale>
        <p:origin x="16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5" Type="http://schemas.openxmlformats.org/officeDocument/2006/relationships/image" Target="../media/image27.wmf"/><Relationship Id="rId14" Type="http://schemas.openxmlformats.org/officeDocument/2006/relationships/image" Target="../media/image26.wmf"/><Relationship Id="rId13" Type="http://schemas.openxmlformats.org/officeDocument/2006/relationships/image" Target="../media/image25.wmf"/><Relationship Id="rId12" Type="http://schemas.openxmlformats.org/officeDocument/2006/relationships/image" Target="../media/image24.wmf"/><Relationship Id="rId11" Type="http://schemas.openxmlformats.org/officeDocument/2006/relationships/image" Target="../media/image23.wmf"/><Relationship Id="rId10" Type="http://schemas.openxmlformats.org/officeDocument/2006/relationships/image" Target="../media/image22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4" Type="http://schemas.openxmlformats.org/officeDocument/2006/relationships/image" Target="../media/image49.wmf"/><Relationship Id="rId13" Type="http://schemas.openxmlformats.org/officeDocument/2006/relationships/image" Target="../media/image48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4" Type="http://schemas.openxmlformats.org/officeDocument/2006/relationships/image" Target="../media/image79.wmf"/><Relationship Id="rId13" Type="http://schemas.openxmlformats.org/officeDocument/2006/relationships/image" Target="../media/image78.wmf"/><Relationship Id="rId12" Type="http://schemas.openxmlformats.org/officeDocument/2006/relationships/image" Target="../media/image77.emf"/><Relationship Id="rId11" Type="http://schemas.openxmlformats.org/officeDocument/2006/relationships/image" Target="../media/image76.emf"/><Relationship Id="rId10" Type="http://schemas.openxmlformats.org/officeDocument/2006/relationships/image" Target="../media/image75.wmf"/><Relationship Id="rId1" Type="http://schemas.openxmlformats.org/officeDocument/2006/relationships/image" Target="../media/image66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image" Target="../media/image103.wmf"/><Relationship Id="rId7" Type="http://schemas.openxmlformats.org/officeDocument/2006/relationships/image" Target="../media/image102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3" Type="http://schemas.openxmlformats.org/officeDocument/2006/relationships/image" Target="../media/image108.wmf"/><Relationship Id="rId12" Type="http://schemas.openxmlformats.org/officeDocument/2006/relationships/image" Target="../media/image107.wmf"/><Relationship Id="rId11" Type="http://schemas.openxmlformats.org/officeDocument/2006/relationships/image" Target="../media/image106.wmf"/><Relationship Id="rId10" Type="http://schemas.openxmlformats.org/officeDocument/2006/relationships/image" Target="../media/image105.wmf"/><Relationship Id="rId1" Type="http://schemas.openxmlformats.org/officeDocument/2006/relationships/image" Target="../media/image96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e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7" Type="http://schemas.openxmlformats.org/officeDocument/2006/relationships/image" Target="../media/image123.wmf"/><Relationship Id="rId16" Type="http://schemas.openxmlformats.org/officeDocument/2006/relationships/image" Target="../media/image106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7" Type="http://schemas.openxmlformats.org/officeDocument/2006/relationships/image" Target="../media/image130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37.wmf"/><Relationship Id="rId2" Type="http://schemas.openxmlformats.org/officeDocument/2006/relationships/image" Target="../media/image38.wmf"/><Relationship Id="rId10" Type="http://schemas.openxmlformats.org/officeDocument/2006/relationships/image" Target="../media/image139.wmf"/><Relationship Id="rId1" Type="http://schemas.openxmlformats.org/officeDocument/2006/relationships/image" Target="../media/image132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image" Target="../media/image147.e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wmf"/><Relationship Id="rId8" Type="http://schemas.openxmlformats.org/officeDocument/2006/relationships/image" Target="../media/image154.wmf"/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8.wmf"/><Relationship Id="rId2" Type="http://schemas.openxmlformats.org/officeDocument/2006/relationships/image" Target="../media/image149.emf"/><Relationship Id="rId17" Type="http://schemas.openxmlformats.org/officeDocument/2006/relationships/image" Target="../media/image163.wmf"/><Relationship Id="rId16" Type="http://schemas.openxmlformats.org/officeDocument/2006/relationships/image" Target="../media/image162.wmf"/><Relationship Id="rId15" Type="http://schemas.openxmlformats.org/officeDocument/2006/relationships/image" Target="../media/image161.wmf"/><Relationship Id="rId14" Type="http://schemas.openxmlformats.org/officeDocument/2006/relationships/image" Target="../media/image160.wmf"/><Relationship Id="rId13" Type="http://schemas.openxmlformats.org/officeDocument/2006/relationships/image" Target="../media/image159.wmf"/><Relationship Id="rId12" Type="http://schemas.openxmlformats.org/officeDocument/2006/relationships/image" Target="../media/image158.wmf"/><Relationship Id="rId11" Type="http://schemas.openxmlformats.org/officeDocument/2006/relationships/image" Target="../media/image157.wmf"/><Relationship Id="rId10" Type="http://schemas.openxmlformats.org/officeDocument/2006/relationships/image" Target="../media/image156.wmf"/><Relationship Id="rId1" Type="http://schemas.openxmlformats.org/officeDocument/2006/relationships/image" Target="../media/image14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5443" tIns="47721" rIns="95443" bIns="47721" rtlCol="0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5443" tIns="47721" rIns="95443" bIns="47721" rtlCol="0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4E1BEF-1E59-4DF5-AE90-7202B2A41DC4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8"/>
          </a:xfrm>
          <a:prstGeom prst="rect">
            <a:avLst/>
          </a:prstGeom>
        </p:spPr>
        <p:txBody>
          <a:bodyPr vert="horz" lIns="95443" tIns="47721" rIns="95443" bIns="47721" rtlCol="0" anchor="b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8"/>
          </a:xfrm>
          <a:prstGeom prst="rect">
            <a:avLst/>
          </a:prstGeom>
        </p:spPr>
        <p:txBody>
          <a:bodyPr vert="horz" wrap="square" lIns="95443" tIns="47721" rIns="95443" bIns="47721" numCol="1" anchor="b" anchorCtr="0" compatLnSpc="1"/>
          <a:p>
            <a:pPr lvl="0" algn="r" eaLnBrk="1" hangingPunct="1"/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43" tIns="47721" rIns="95443" bIns="47721" numCol="1" anchor="t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43" tIns="47721" rIns="95443" bIns="47721" numCol="1" anchor="t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" name="Rectangle 4"/>
          <p:cNvSpPr>
            <a:spLocks noTextEdi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722813"/>
            <a:ext cx="4957763" cy="4473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43" tIns="47721" rIns="95443" bIns="4772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56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43" tIns="47721" rIns="95443" bIns="47721" numCol="1" anchor="b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43" tIns="47721" rIns="95443" bIns="47721" numCol="1" anchor="b" anchorCtr="0" compatLnSpc="1"/>
          <a:p>
            <a:pPr lvl="0" algn="r" eaLnBrk="1" hangingPunct="1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71683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71684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73731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73732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75779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75780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r>
              <a:rPr lang="zh-CN" altLang="en-US" b="1" dirty="0"/>
              <a:t>电荷连续分布的带电体可认为由许多电荷元组成，每个电荷元可看成点电荷，所有电荷元电势的叠加就是总的电势。</a:t>
            </a:r>
            <a:endParaRPr lang="zh-CN" altLang="en-US" b="1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77827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77828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79875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79876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  <p:sp>
        <p:nvSpPr>
          <p:cNvPr id="86019" name="Rectangle 2"/>
          <p:cNvSpPr>
            <a:spLocks noTextEdit="1"/>
          </p:cNvSpPr>
          <p:nvPr>
            <p:ph type="sldImg"/>
          </p:nvPr>
        </p:nvSpPr>
        <p:spPr>
          <a:xfrm>
            <a:off x="949325" y="768350"/>
            <a:ext cx="4910138" cy="3684588"/>
          </a:xfrm>
          <a:solidFill>
            <a:srgbClr val="FFFFFF">
              <a:alpha val="100000"/>
            </a:srgbClr>
          </a:solidFill>
        </p:spPr>
      </p:sp>
      <p:sp>
        <p:nvSpPr>
          <p:cNvPr id="86020" name="Rectangle 3"/>
          <p:cNvSpPr/>
          <p:nvPr>
            <p:ph type="body" idx="1"/>
          </p:nvPr>
        </p:nvSpPr>
        <p:spPr>
          <a:xfrm>
            <a:off x="928688" y="4759325"/>
            <a:ext cx="4951412" cy="44529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5443" tIns="47721" rIns="95443" bIns="47721" anchor="t" anchorCtr="0"/>
          <a:p>
            <a:pPr lvl="0"/>
            <a:r>
              <a:rPr lang="en-US" altLang="zh-CN" dirty="0"/>
              <a:t>E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均为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描述电场各点性质的物理量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  <a:p>
            <a:pPr lvl="0"/>
            <a:endParaRPr lang="zh-CN" altLang="en-US" dirty="0"/>
          </a:p>
        </p:txBody>
      </p:sp>
      <p:sp>
        <p:nvSpPr>
          <p:cNvPr id="9523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300" dirty="0">
                <a:solidFill>
                  <a:srgbClr val="000000"/>
                </a:solidFill>
              </a:rPr>
            </a:fld>
            <a:endParaRPr lang="en-US" altLang="zh-CN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30638" y="9445625"/>
            <a:ext cx="2930525" cy="496888"/>
          </a:xfrm>
          <a:prstGeom prst="rect">
            <a:avLst/>
          </a:prstGeom>
          <a:noFill/>
          <a:ln w="9525">
            <a:noFill/>
          </a:ln>
        </p:spPr>
        <p:txBody>
          <a:bodyPr lIns="95443" tIns="47721" rIns="95443" bIns="47721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  <p:sp>
        <p:nvSpPr>
          <p:cNvPr id="97283" name="Rectangle 2"/>
          <p:cNvSpPr>
            <a:spLocks noTextEdit="1"/>
          </p:cNvSpPr>
          <p:nvPr>
            <p:ph type="sldImg"/>
          </p:nvPr>
        </p:nvSpPr>
        <p:spPr>
          <a:xfrm>
            <a:off x="1046163" y="790575"/>
            <a:ext cx="5056187" cy="3792538"/>
          </a:xfrm>
        </p:spPr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xfrm>
            <a:off x="974725" y="4899025"/>
            <a:ext cx="5199063" cy="4584700"/>
          </a:xfrm>
        </p:spPr>
        <p:txBody>
          <a:bodyPr wrap="square" lIns="95443" tIns="47721" rIns="95443" bIns="47721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reeform 2"/>
          <p:cNvSpPr/>
          <p:nvPr/>
        </p:nvSpPr>
        <p:spPr>
          <a:xfrm>
            <a:off x="690563" y="3340100"/>
            <a:ext cx="7653337" cy="4857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solidFill>
                  <a:srgbClr val="578963"/>
                </a:solidFill>
              </a:rPr>
            </a:fld>
            <a:endParaRPr lang="zh-CN" altLang="en-US" dirty="0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mtClean="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solidFill>
                  <a:srgbClr val="0000FF"/>
                </a:solidFill>
              </a:defRPr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400" b="0" smtClean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 b="0" smtClean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9" Type="http://schemas.openxmlformats.org/officeDocument/2006/relationships/notesSlide" Target="../notesSlides/notesSlide1.xml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Relationship Id="rId33" Type="http://schemas.openxmlformats.org/officeDocument/2006/relationships/notesSlide" Target="../notesSlides/notesSlide2.xml"/><Relationship Id="rId32" Type="http://schemas.openxmlformats.org/officeDocument/2006/relationships/vmlDrawing" Target="../drawings/vmlDrawing3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7.wmf"/><Relationship Id="rId3" Type="http://schemas.openxmlformats.org/officeDocument/2006/relationships/oleObject" Target="../embeddings/oleObject13.bin"/><Relationship Id="rId29" Type="http://schemas.openxmlformats.org/officeDocument/2006/relationships/oleObject" Target="../embeddings/oleObject26.bin"/><Relationship Id="rId28" Type="http://schemas.openxmlformats.org/officeDocument/2006/relationships/image" Target="../media/image26.wmf"/><Relationship Id="rId27" Type="http://schemas.openxmlformats.org/officeDocument/2006/relationships/oleObject" Target="../embeddings/oleObject25.bin"/><Relationship Id="rId26" Type="http://schemas.openxmlformats.org/officeDocument/2006/relationships/image" Target="../media/image25.wmf"/><Relationship Id="rId25" Type="http://schemas.openxmlformats.org/officeDocument/2006/relationships/oleObject" Target="../embeddings/oleObject24.bin"/><Relationship Id="rId24" Type="http://schemas.openxmlformats.org/officeDocument/2006/relationships/image" Target="../media/image24.wmf"/><Relationship Id="rId23" Type="http://schemas.openxmlformats.org/officeDocument/2006/relationships/oleObject" Target="../embeddings/oleObject23.bin"/><Relationship Id="rId22" Type="http://schemas.openxmlformats.org/officeDocument/2006/relationships/image" Target="../media/image23.wmf"/><Relationship Id="rId21" Type="http://schemas.openxmlformats.org/officeDocument/2006/relationships/oleObject" Target="../embeddings/oleObject22.bin"/><Relationship Id="rId20" Type="http://schemas.openxmlformats.org/officeDocument/2006/relationships/image" Target="../media/image22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21.bin"/><Relationship Id="rId18" Type="http://schemas.openxmlformats.org/officeDocument/2006/relationships/image" Target="../media/image21.wmf"/><Relationship Id="rId17" Type="http://schemas.openxmlformats.org/officeDocument/2006/relationships/oleObject" Target="../embeddings/oleObject20.bin"/><Relationship Id="rId16" Type="http://schemas.openxmlformats.org/officeDocument/2006/relationships/image" Target="../media/image20.wmf"/><Relationship Id="rId15" Type="http://schemas.openxmlformats.org/officeDocument/2006/relationships/oleObject" Target="../embeddings/oleObject19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18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8.wmf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23.wmf"/><Relationship Id="rId17" Type="http://schemas.openxmlformats.org/officeDocument/2006/relationships/notesSlide" Target="../notesSlides/notesSlide4.xml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7.wmf"/><Relationship Id="rId32" Type="http://schemas.openxmlformats.org/officeDocument/2006/relationships/notesSlide" Target="../notesSlides/notesSlide5.xml"/><Relationship Id="rId31" Type="http://schemas.openxmlformats.org/officeDocument/2006/relationships/vmlDrawing" Target="../drawings/vmlDrawing6.vml"/><Relationship Id="rId30" Type="http://schemas.openxmlformats.org/officeDocument/2006/relationships/slideLayout" Target="../slideLayouts/slideLayout18.xml"/><Relationship Id="rId3" Type="http://schemas.openxmlformats.org/officeDocument/2006/relationships/oleObject" Target="../embeddings/oleObject39.bin"/><Relationship Id="rId29" Type="http://schemas.openxmlformats.org/officeDocument/2006/relationships/image" Target="../media/image49.wmf"/><Relationship Id="rId28" Type="http://schemas.openxmlformats.org/officeDocument/2006/relationships/oleObject" Target="../embeddings/oleObject52.bin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48.wmf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8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0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5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8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65.wmf"/><Relationship Id="rId23" Type="http://schemas.openxmlformats.org/officeDocument/2006/relationships/oleObject" Target="../embeddings/oleObject68.bin"/><Relationship Id="rId22" Type="http://schemas.openxmlformats.org/officeDocument/2006/relationships/image" Target="../media/image64.wmf"/><Relationship Id="rId21" Type="http://schemas.openxmlformats.org/officeDocument/2006/relationships/oleObject" Target="../embeddings/oleObject67.bin"/><Relationship Id="rId20" Type="http://schemas.openxmlformats.org/officeDocument/2006/relationships/image" Target="../media/image63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66.bin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65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62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7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7.wmf"/><Relationship Id="rId30" Type="http://schemas.openxmlformats.org/officeDocument/2006/relationships/vmlDrawing" Target="../drawings/vmlDrawing9.vml"/><Relationship Id="rId3" Type="http://schemas.openxmlformats.org/officeDocument/2006/relationships/oleObject" Target="../embeddings/oleObject7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79.wmf"/><Relationship Id="rId27" Type="http://schemas.openxmlformats.org/officeDocument/2006/relationships/oleObject" Target="../embeddings/oleObject82.bin"/><Relationship Id="rId26" Type="http://schemas.openxmlformats.org/officeDocument/2006/relationships/image" Target="../media/image78.wmf"/><Relationship Id="rId25" Type="http://schemas.openxmlformats.org/officeDocument/2006/relationships/oleObject" Target="../embeddings/oleObject81.bin"/><Relationship Id="rId24" Type="http://schemas.openxmlformats.org/officeDocument/2006/relationships/image" Target="../media/image77.emf"/><Relationship Id="rId23" Type="http://schemas.openxmlformats.org/officeDocument/2006/relationships/oleObject" Target="../embeddings/oleObject80.bin"/><Relationship Id="rId22" Type="http://schemas.openxmlformats.org/officeDocument/2006/relationships/image" Target="../media/image76.emf"/><Relationship Id="rId21" Type="http://schemas.openxmlformats.org/officeDocument/2006/relationships/oleObject" Target="../embeddings/oleObject79.bin"/><Relationship Id="rId20" Type="http://schemas.openxmlformats.org/officeDocument/2006/relationships/image" Target="../media/image75.wmf"/><Relationship Id="rId2" Type="http://schemas.openxmlformats.org/officeDocument/2006/relationships/image" Target="../media/image66.wmf"/><Relationship Id="rId19" Type="http://schemas.openxmlformats.org/officeDocument/2006/relationships/oleObject" Target="../embeddings/oleObject78.bin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7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6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5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83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1.e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0.e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8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84.wmf"/><Relationship Id="rId19" Type="http://schemas.openxmlformats.org/officeDocument/2006/relationships/notesSlide" Target="../notesSlides/notesSlide6.xml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94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9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96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08.wmf"/><Relationship Id="rId25" Type="http://schemas.openxmlformats.org/officeDocument/2006/relationships/oleObject" Target="../embeddings/oleObject107.bin"/><Relationship Id="rId24" Type="http://schemas.openxmlformats.org/officeDocument/2006/relationships/image" Target="../media/image107.wmf"/><Relationship Id="rId23" Type="http://schemas.openxmlformats.org/officeDocument/2006/relationships/oleObject" Target="../embeddings/oleObject106.bin"/><Relationship Id="rId22" Type="http://schemas.openxmlformats.org/officeDocument/2006/relationships/image" Target="../media/image106.wmf"/><Relationship Id="rId21" Type="http://schemas.openxmlformats.org/officeDocument/2006/relationships/oleObject" Target="../embeddings/oleObject105.bin"/><Relationship Id="rId20" Type="http://schemas.openxmlformats.org/officeDocument/2006/relationships/image" Target="../media/image105.wmf"/><Relationship Id="rId2" Type="http://schemas.openxmlformats.org/officeDocument/2006/relationships/image" Target="../media/image96.wmf"/><Relationship Id="rId19" Type="http://schemas.openxmlformats.org/officeDocument/2006/relationships/oleObject" Target="../embeddings/oleObject104.bin"/><Relationship Id="rId18" Type="http://schemas.openxmlformats.org/officeDocument/2006/relationships/image" Target="../media/image104.wmf"/><Relationship Id="rId17" Type="http://schemas.openxmlformats.org/officeDocument/2006/relationships/oleObject" Target="../embeddings/oleObject103.bin"/><Relationship Id="rId16" Type="http://schemas.openxmlformats.org/officeDocument/2006/relationships/image" Target="../media/image103.wmf"/><Relationship Id="rId15" Type="http://schemas.openxmlformats.org/officeDocument/2006/relationships/oleObject" Target="../embeddings/oleObject102.bin"/><Relationship Id="rId14" Type="http://schemas.openxmlformats.org/officeDocument/2006/relationships/image" Target="../media/image102.wmf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100.wmf"/><Relationship Id="rId1" Type="http://schemas.openxmlformats.org/officeDocument/2006/relationships/oleObject" Target="../embeddings/oleObject9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2.e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0.wmf"/><Relationship Id="rId36" Type="http://schemas.openxmlformats.org/officeDocument/2006/relationships/vmlDrawing" Target="../drawings/vmlDrawing13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123.wmf"/><Relationship Id="rId33" Type="http://schemas.openxmlformats.org/officeDocument/2006/relationships/oleObject" Target="../embeddings/oleObject124.bin"/><Relationship Id="rId32" Type="http://schemas.openxmlformats.org/officeDocument/2006/relationships/image" Target="../media/image106.wmf"/><Relationship Id="rId31" Type="http://schemas.openxmlformats.org/officeDocument/2006/relationships/oleObject" Target="../embeddings/oleObject123.bin"/><Relationship Id="rId30" Type="http://schemas.openxmlformats.org/officeDocument/2006/relationships/image" Target="../media/image122.wmf"/><Relationship Id="rId3" Type="http://schemas.openxmlformats.org/officeDocument/2006/relationships/oleObject" Target="../embeddings/oleObject109.bin"/><Relationship Id="rId29" Type="http://schemas.openxmlformats.org/officeDocument/2006/relationships/oleObject" Target="../embeddings/oleObject122.bin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21.bin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120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19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18.bin"/><Relationship Id="rId20" Type="http://schemas.openxmlformats.org/officeDocument/2006/relationships/image" Target="../media/image117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17.bin"/><Relationship Id="rId18" Type="http://schemas.openxmlformats.org/officeDocument/2006/relationships/image" Target="../media/image100.wmf"/><Relationship Id="rId17" Type="http://schemas.openxmlformats.org/officeDocument/2006/relationships/oleObject" Target="../embeddings/oleObject116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15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14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24.wmf"/><Relationship Id="rId19" Type="http://schemas.openxmlformats.org/officeDocument/2006/relationships/notesSlide" Target="../notesSlides/notesSlide7.xml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13.xml"/><Relationship Id="rId16" Type="http://schemas.openxmlformats.org/officeDocument/2006/relationships/image" Target="../media/image131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25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134.bin"/><Relationship Id="rId23" Type="http://schemas.openxmlformats.org/officeDocument/2006/relationships/notesSlide" Target="../notesSlides/notesSlide8.xml"/><Relationship Id="rId22" Type="http://schemas.openxmlformats.org/officeDocument/2006/relationships/vmlDrawing" Target="../drawings/vmlDrawing15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39.wmf"/><Relationship Id="rId2" Type="http://schemas.openxmlformats.org/officeDocument/2006/relationships/image" Target="../media/image132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138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137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33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7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46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144.bin"/><Relationship Id="rId20" Type="http://schemas.openxmlformats.org/officeDocument/2006/relationships/vmlDrawing" Target="../drawings/vmlDrawing16.vml"/><Relationship Id="rId2" Type="http://schemas.openxmlformats.org/officeDocument/2006/relationships/image" Target="../media/image140.wmf"/><Relationship Id="rId19" Type="http://schemas.openxmlformats.org/officeDocument/2006/relationships/slideLayout" Target="../slideLayouts/slideLayout29.xml"/><Relationship Id="rId18" Type="http://schemas.openxmlformats.org/officeDocument/2006/relationships/image" Target="../media/image148.wmf"/><Relationship Id="rId17" Type="http://schemas.openxmlformats.org/officeDocument/2006/relationships/oleObject" Target="../embeddings/oleObject151.bin"/><Relationship Id="rId16" Type="http://schemas.openxmlformats.org/officeDocument/2006/relationships/image" Target="../media/image147.emf"/><Relationship Id="rId15" Type="http://schemas.openxmlformats.org/officeDocument/2006/relationships/oleObject" Target="../embeddings/oleObject150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49.bin"/><Relationship Id="rId12" Type="http://schemas.openxmlformats.org/officeDocument/2006/relationships/image" Target="../media/image145.wmf"/><Relationship Id="rId11" Type="http://schemas.openxmlformats.org/officeDocument/2006/relationships/oleObject" Target="../embeddings/oleObject148.bin"/><Relationship Id="rId10" Type="http://schemas.openxmlformats.org/officeDocument/2006/relationships/image" Target="../media/image144.wmf"/><Relationship Id="rId1" Type="http://schemas.openxmlformats.org/officeDocument/2006/relationships/oleObject" Target="../embeddings/oleObject14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49.emf"/><Relationship Id="rId36" Type="http://schemas.openxmlformats.org/officeDocument/2006/relationships/vmlDrawing" Target="../drawings/vmlDrawing17.vml"/><Relationship Id="rId35" Type="http://schemas.openxmlformats.org/officeDocument/2006/relationships/slideLayout" Target="../slideLayouts/slideLayout29.xml"/><Relationship Id="rId34" Type="http://schemas.openxmlformats.org/officeDocument/2006/relationships/image" Target="../media/image163.wmf"/><Relationship Id="rId33" Type="http://schemas.openxmlformats.org/officeDocument/2006/relationships/oleObject" Target="../embeddings/oleObject168.bin"/><Relationship Id="rId32" Type="http://schemas.openxmlformats.org/officeDocument/2006/relationships/image" Target="../media/image162.wmf"/><Relationship Id="rId31" Type="http://schemas.openxmlformats.org/officeDocument/2006/relationships/oleObject" Target="../embeddings/oleObject167.bin"/><Relationship Id="rId30" Type="http://schemas.openxmlformats.org/officeDocument/2006/relationships/image" Target="../media/image161.wmf"/><Relationship Id="rId3" Type="http://schemas.openxmlformats.org/officeDocument/2006/relationships/oleObject" Target="../embeddings/oleObject153.bin"/><Relationship Id="rId29" Type="http://schemas.openxmlformats.org/officeDocument/2006/relationships/oleObject" Target="../embeddings/oleObject166.bin"/><Relationship Id="rId28" Type="http://schemas.openxmlformats.org/officeDocument/2006/relationships/image" Target="../media/image160.wmf"/><Relationship Id="rId27" Type="http://schemas.openxmlformats.org/officeDocument/2006/relationships/oleObject" Target="../embeddings/oleObject165.bin"/><Relationship Id="rId26" Type="http://schemas.openxmlformats.org/officeDocument/2006/relationships/image" Target="../media/image159.wmf"/><Relationship Id="rId25" Type="http://schemas.openxmlformats.org/officeDocument/2006/relationships/oleObject" Target="../embeddings/oleObject164.bin"/><Relationship Id="rId24" Type="http://schemas.openxmlformats.org/officeDocument/2006/relationships/image" Target="../media/image158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57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56.wmf"/><Relationship Id="rId2" Type="http://schemas.openxmlformats.org/officeDocument/2006/relationships/image" Target="../media/image146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55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54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53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52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5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37221" name="Text Box 5"/>
          <p:cNvSpPr txBox="1"/>
          <p:nvPr/>
        </p:nvSpPr>
        <p:spPr>
          <a:xfrm>
            <a:off x="395288" y="1071563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、按定义求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24" name="Text Box 8"/>
          <p:cNvSpPr txBox="1"/>
          <p:nvPr/>
        </p:nvSpPr>
        <p:spPr>
          <a:xfrm>
            <a:off x="285750" y="349250"/>
            <a:ext cx="340360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>
            <a:prstShdw prst="shdw13" dist="53882" dir="13499999">
              <a:schemeClr val="bg2"/>
            </a:prst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二. 电势的计算</a:t>
            </a:r>
            <a:endParaRPr lang="zh-CN" altLang="en-US" sz="28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25" name="Text Box 9"/>
          <p:cNvSpPr txBox="1"/>
          <p:nvPr/>
        </p:nvSpPr>
        <p:spPr>
          <a:xfrm>
            <a:off x="1639888" y="2379663"/>
            <a:ext cx="4114800" cy="55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①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明确电势零点；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26" name="Text Box 10"/>
          <p:cNvSpPr txBox="1"/>
          <p:nvPr/>
        </p:nvSpPr>
        <p:spPr>
          <a:xfrm>
            <a:off x="1639888" y="3065463"/>
            <a:ext cx="3276600" cy="55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②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求电场分布；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1639888" y="3598863"/>
            <a:ext cx="5638800" cy="908050"/>
            <a:chOff x="1008" y="2064"/>
            <a:chExt cx="3552" cy="572"/>
          </a:xfrm>
        </p:grpSpPr>
        <p:graphicFrame>
          <p:nvGraphicFramePr>
            <p:cNvPr id="65552" name="Object 4"/>
            <p:cNvGraphicFramePr>
              <a:graphicFrameLocks noChangeAspect="1"/>
            </p:cNvGraphicFramePr>
            <p:nvPr/>
          </p:nvGraphicFramePr>
          <p:xfrm>
            <a:off x="2064" y="2112"/>
            <a:ext cx="161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1016000" imgH="330200" progId="Equation.3">
                    <p:embed/>
                  </p:oleObj>
                </mc:Choice>
                <mc:Fallback>
                  <p:oleObj name="" r:id="rId1" imgW="1016000" imgH="3302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64" y="2112"/>
                          <a:ext cx="1616" cy="5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53" name="Text Box 14"/>
            <p:cNvSpPr txBox="1"/>
            <p:nvPr/>
          </p:nvSpPr>
          <p:spPr>
            <a:xfrm>
              <a:off x="1008" y="2064"/>
              <a:ext cx="3552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70000"/>
                </a:lnSpc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③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由定义                            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, </a:t>
              </a:r>
              <a:endPara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7231" name="Text Box 15"/>
          <p:cNvSpPr txBox="1"/>
          <p:nvPr/>
        </p:nvSpPr>
        <p:spPr>
          <a:xfrm>
            <a:off x="496888" y="2384425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步骤：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32" name="Text Box 16"/>
          <p:cNvSpPr txBox="1"/>
          <p:nvPr/>
        </p:nvSpPr>
        <p:spPr>
          <a:xfrm>
            <a:off x="496888" y="1755775"/>
            <a:ext cx="647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条件：场强分布已知或易求。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1760538" y="4446588"/>
            <a:ext cx="6324600" cy="719137"/>
            <a:chOff x="1207" y="2706"/>
            <a:chExt cx="3984" cy="453"/>
          </a:xfrm>
        </p:grpSpPr>
        <p:sp>
          <p:nvSpPr>
            <p:cNvPr id="65550" name="Text Box 18"/>
            <p:cNvSpPr txBox="1"/>
            <p:nvPr/>
          </p:nvSpPr>
          <p:spPr>
            <a:xfrm>
              <a:off x="1207" y="2706"/>
              <a:ext cx="3984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70000"/>
                </a:lnSpc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选一条简单路径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，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计算    的线积分。</a:t>
              </a:r>
              <a:endPara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65551" name="Object 3"/>
            <p:cNvGraphicFramePr>
              <a:graphicFrameLocks noChangeAspect="1"/>
            </p:cNvGraphicFramePr>
            <p:nvPr/>
          </p:nvGraphicFramePr>
          <p:xfrm>
            <a:off x="3581" y="2841"/>
            <a:ext cx="2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" imgW="165100" imgH="190500" progId="Equation.3">
                    <p:embed/>
                  </p:oleObj>
                </mc:Choice>
                <mc:Fallback>
                  <p:oleObj name="" r:id="rId3" imgW="165100" imgH="1905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81" y="2841"/>
                          <a:ext cx="25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547" name="Group 22"/>
          <p:cNvGrpSpPr/>
          <p:nvPr/>
        </p:nvGrpSpPr>
        <p:grpSpPr>
          <a:xfrm>
            <a:off x="4357688" y="179388"/>
            <a:ext cx="2849562" cy="800100"/>
            <a:chOff x="3822" y="72"/>
            <a:chExt cx="1795" cy="504"/>
          </a:xfrm>
        </p:grpSpPr>
        <p:graphicFrame>
          <p:nvGraphicFramePr>
            <p:cNvPr id="65548" name="Object 2"/>
            <p:cNvGraphicFramePr>
              <a:graphicFrameLocks noChangeAspect="1"/>
            </p:cNvGraphicFramePr>
            <p:nvPr/>
          </p:nvGraphicFramePr>
          <p:xfrm>
            <a:off x="4225" y="88"/>
            <a:ext cx="1392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5" imgW="989965" imgH="330200" progId="Equation.3">
                    <p:embed/>
                  </p:oleObj>
                </mc:Choice>
                <mc:Fallback>
                  <p:oleObj name="" r:id="rId5" imgW="989965" imgH="3302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25" y="88"/>
                          <a:ext cx="1392" cy="46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 cap="flat" cmpd="sng">
                          <a:solidFill>
                            <a:srgbClr val="FF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5549" name="Picture 24" descr="RY_14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22" y="72"/>
              <a:ext cx="370" cy="504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1" grpId="0"/>
      <p:bldP spid="137224" grpId="0" animBg="1"/>
      <p:bldP spid="137225" grpId="0"/>
      <p:bldP spid="137226" grpId="0"/>
      <p:bldP spid="137231" grpId="0"/>
      <p:bldP spid="1372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50800" y="77788"/>
            <a:ext cx="89408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3300"/>
                </a:solidFill>
                <a:latin typeface="+mn-lt"/>
                <a:ea typeface="楷体_GB2312" pitchFamily="49" charset="-122"/>
                <a:cs typeface="+mn-cs"/>
              </a:rPr>
              <a:t>例3.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半径为 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的无限长带电圆柱，电荷体密度为</a:t>
            </a:r>
            <a:r>
              <a:rPr kumimoji="1" lang="zh-CN" altLang="en-US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 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，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       求离轴为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处的 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V=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？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2403" name="AutoShape 3"/>
          <p:cNvSpPr>
            <a:spLocks noChangeArrowheads="1"/>
          </p:cNvSpPr>
          <p:nvPr/>
        </p:nvSpPr>
        <p:spPr bwMode="auto">
          <a:xfrm>
            <a:off x="431800" y="1657350"/>
            <a:ext cx="762000" cy="3200400"/>
          </a:xfrm>
          <a:prstGeom prst="can">
            <a:avLst>
              <a:gd name="adj" fmla="val 54367"/>
            </a:avLst>
          </a:prstGeom>
          <a:gradFill rotWithShape="0">
            <a:gsLst>
              <a:gs pos="0">
                <a:srgbClr val="7C7C7C"/>
              </a:gs>
              <a:gs pos="50000">
                <a:srgbClr val="DDDDDD"/>
              </a:gs>
              <a:gs pos="100000">
                <a:srgbClr val="7C7C7C"/>
              </a:gs>
            </a:gsLst>
            <a:lin ang="0" scaled="1"/>
          </a:gradFill>
          <a:ln w="9525">
            <a:solidFill>
              <a:srgbClr val="91919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4" name="Line 4"/>
          <p:cNvSpPr>
            <a:spLocks noChangeShapeType="1"/>
          </p:cNvSpPr>
          <p:nvPr/>
        </p:nvSpPr>
        <p:spPr bwMode="auto">
          <a:xfrm>
            <a:off x="812800" y="977900"/>
            <a:ext cx="0" cy="4191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812800" y="18351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6" name="Text Box 6"/>
          <p:cNvSpPr txBox="1"/>
          <p:nvPr/>
        </p:nvSpPr>
        <p:spPr>
          <a:xfrm>
            <a:off x="850900" y="1441450"/>
            <a:ext cx="4238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ea typeface="楷体_GB2312" pitchFamily="49" charset="-122"/>
              </a:rPr>
              <a:t>R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02407" name="Line 7"/>
          <p:cNvSpPr>
            <a:spLocks noChangeShapeType="1"/>
          </p:cNvSpPr>
          <p:nvPr/>
        </p:nvSpPr>
        <p:spPr bwMode="auto">
          <a:xfrm>
            <a:off x="812800" y="325755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1817688" y="2608263"/>
            <a:ext cx="57785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5400" b="1" kern="1200" cap="none" spc="0" normalizeH="0" baseline="0" noProof="0" dirty="0">
                <a:solidFill>
                  <a:srgbClr val="FF0000"/>
                </a:solidFill>
                <a:latin typeface="+mn-lt"/>
                <a:ea typeface="楷体_GB2312" pitchFamily="49" charset="-122"/>
                <a:cs typeface="+mn-cs"/>
              </a:rPr>
              <a:t>.</a:t>
            </a:r>
            <a:r>
              <a:rPr kumimoji="1" lang="en-US" altLang="zh-CN" sz="2800" b="1" i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P</a:t>
            </a:r>
            <a:endParaRPr kumimoji="1" lang="en-US" altLang="zh-CN" sz="2800" b="1" kern="1200" cap="none" spc="0" normalizeH="0" baseline="0" noProof="0" dirty="0"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2409" name="Text Box 9"/>
          <p:cNvSpPr txBox="1"/>
          <p:nvPr/>
        </p:nvSpPr>
        <p:spPr>
          <a:xfrm>
            <a:off x="1406525" y="2825750"/>
            <a:ext cx="3238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ea typeface="楷体_GB2312" pitchFamily="49" charset="-122"/>
              </a:rPr>
              <a:t>r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355600" y="981075"/>
            <a:ext cx="7416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3300"/>
                </a:solidFill>
                <a:latin typeface="+mn-lt"/>
                <a:ea typeface="楷体_GB2312" pitchFamily="49" charset="-122"/>
                <a:cs typeface="+mn-cs"/>
              </a:rPr>
              <a:t>解：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由高斯定理求得电场分布：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2412" name="Object 2"/>
          <p:cNvGraphicFramePr>
            <a:graphicFrameLocks noChangeAspect="1"/>
          </p:cNvGraphicFramePr>
          <p:nvPr/>
        </p:nvGraphicFramePr>
        <p:xfrm>
          <a:off x="2582863" y="1238250"/>
          <a:ext cx="293528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308100" imgH="457200" progId="Equation.DSMT4">
                  <p:embed/>
                </p:oleObj>
              </mc:Choice>
              <mc:Fallback>
                <p:oleObj name="" r:id="rId1" imgW="1308100" imgH="4572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2863" y="1238250"/>
                        <a:ext cx="2935287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3" name="Object 3"/>
          <p:cNvGraphicFramePr>
            <a:graphicFrameLocks noChangeAspect="1"/>
          </p:cNvGraphicFramePr>
          <p:nvPr/>
        </p:nvGraphicFramePr>
        <p:xfrm>
          <a:off x="5792788" y="1287463"/>
          <a:ext cx="288131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1320165" imgH="406400" progId="Equation.3">
                  <p:embed/>
                </p:oleObj>
              </mc:Choice>
              <mc:Fallback>
                <p:oleObj name="" r:id="rId3" imgW="1320165" imgH="4064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2788" y="1287463"/>
                        <a:ext cx="2881312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5" name="Text Box 15"/>
          <p:cNvSpPr txBox="1">
            <a:spLocks noChangeArrowheads="1"/>
          </p:cNvSpPr>
          <p:nvPr/>
        </p:nvSpPr>
        <p:spPr bwMode="auto">
          <a:xfrm>
            <a:off x="2708275" y="2365375"/>
            <a:ext cx="30067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设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, 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= 0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2416" name="Object 5"/>
          <p:cNvGraphicFramePr>
            <a:graphicFrameLocks noChangeAspect="1"/>
          </p:cNvGraphicFramePr>
          <p:nvPr/>
        </p:nvGraphicFramePr>
        <p:xfrm>
          <a:off x="2322513" y="3541713"/>
          <a:ext cx="787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787400" imgH="292100" progId="Equation.3">
                  <p:embed/>
                </p:oleObj>
              </mc:Choice>
              <mc:Fallback>
                <p:oleObj name="" r:id="rId5" imgW="787400" imgH="2921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2513" y="3541713"/>
                        <a:ext cx="7874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7" name="Object 6"/>
          <p:cNvGraphicFramePr>
            <a:graphicFrameLocks noChangeAspect="1"/>
          </p:cNvGraphicFramePr>
          <p:nvPr/>
        </p:nvGraphicFramePr>
        <p:xfrm>
          <a:off x="3455988" y="3171825"/>
          <a:ext cx="51847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7" imgW="2286000" imgH="469900" progId="Equation.3">
                  <p:embed/>
                </p:oleObj>
              </mc:Choice>
              <mc:Fallback>
                <p:oleObj name="" r:id="rId7" imgW="2286000" imgH="4699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55988" y="3171825"/>
                        <a:ext cx="5184775" cy="1068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8" name="Line 18"/>
          <p:cNvSpPr>
            <a:spLocks noChangeShapeType="1"/>
          </p:cNvSpPr>
          <p:nvPr/>
        </p:nvSpPr>
        <p:spPr bwMode="auto">
          <a:xfrm flipV="1">
            <a:off x="7656513" y="3363913"/>
            <a:ext cx="609600" cy="7985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19" name="Text Box 19"/>
          <p:cNvSpPr txBox="1">
            <a:spLocks noChangeArrowheads="1"/>
          </p:cNvSpPr>
          <p:nvPr/>
        </p:nvSpPr>
        <p:spPr bwMode="auto">
          <a:xfrm>
            <a:off x="7834313" y="2995613"/>
            <a:ext cx="4381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en-US" sz="2800" b="1" kern="1200" cap="none" spc="0" normalizeH="0" baseline="0" noProof="0">
                <a:solidFill>
                  <a:srgbClr val="FF0000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</a:t>
            </a:r>
            <a:endParaRPr kumimoji="1" lang="zh-CN" altLang="en-US" sz="2800" b="1" kern="1200" cap="none" spc="0" normalizeH="0" baseline="0" noProof="0">
              <a:solidFill>
                <a:srgbClr val="FF0000"/>
              </a:solidFill>
              <a:latin typeface="+mn-lt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02420" name="Line 20"/>
          <p:cNvSpPr>
            <a:spLocks noChangeShapeType="1"/>
          </p:cNvSpPr>
          <p:nvPr/>
        </p:nvSpPr>
        <p:spPr bwMode="auto">
          <a:xfrm>
            <a:off x="3013075" y="2427288"/>
            <a:ext cx="18288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21" name="Line 21"/>
          <p:cNvSpPr>
            <a:spLocks noChangeShapeType="1"/>
          </p:cNvSpPr>
          <p:nvPr/>
        </p:nvSpPr>
        <p:spPr bwMode="auto">
          <a:xfrm flipH="1">
            <a:off x="3089275" y="2503488"/>
            <a:ext cx="19050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22" name="Text Box 22"/>
          <p:cNvSpPr txBox="1">
            <a:spLocks noChangeArrowheads="1"/>
          </p:cNvSpPr>
          <p:nvPr/>
        </p:nvSpPr>
        <p:spPr bwMode="auto">
          <a:xfrm>
            <a:off x="5470525" y="2379663"/>
            <a:ext cx="3178175" cy="5191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设 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r= R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处，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V= 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0</a:t>
            </a:r>
            <a:endParaRPr kumimoji="1" lang="en-US" altLang="zh-CN" sz="2800" b="1" i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2423" name="Object 7"/>
          <p:cNvGraphicFramePr>
            <a:graphicFrameLocks noChangeAspect="1"/>
          </p:cNvGraphicFramePr>
          <p:nvPr/>
        </p:nvGraphicFramePr>
        <p:xfrm>
          <a:off x="2681288" y="5092700"/>
          <a:ext cx="56689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9" imgW="2501900" imgH="457200" progId="Equation.3">
                  <p:embed/>
                </p:oleObj>
              </mc:Choice>
              <mc:Fallback>
                <p:oleObj name="" r:id="rId9" imgW="2501900" imgH="4572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81288" y="5092700"/>
                        <a:ext cx="5668962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4" name="Text Box 24"/>
          <p:cNvSpPr txBox="1">
            <a:spLocks noChangeArrowheads="1"/>
          </p:cNvSpPr>
          <p:nvPr/>
        </p:nvSpPr>
        <p:spPr bwMode="auto">
          <a:xfrm>
            <a:off x="6397625" y="4421188"/>
            <a:ext cx="10033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CC0066"/>
                </a:solidFill>
                <a:latin typeface="+mn-lt"/>
                <a:ea typeface="楷体_GB2312" pitchFamily="49" charset="-122"/>
                <a:cs typeface="+mn-cs"/>
              </a:rPr>
              <a:t>&lt; 0</a:t>
            </a:r>
            <a:endParaRPr kumimoji="1" lang="zh-CN" altLang="en-US" sz="2800" b="1" kern="1200" cap="none" spc="0" normalizeH="0" baseline="0" noProof="0" dirty="0">
              <a:solidFill>
                <a:srgbClr val="CC0066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2425" name="Text Box 25"/>
          <p:cNvSpPr txBox="1">
            <a:spLocks noChangeArrowheads="1"/>
          </p:cNvSpPr>
          <p:nvPr/>
        </p:nvSpPr>
        <p:spPr bwMode="auto">
          <a:xfrm>
            <a:off x="8412163" y="5295900"/>
            <a:ext cx="8826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latin typeface="+mn-lt"/>
                <a:ea typeface="楷体_GB2312" pitchFamily="49" charset="-122"/>
                <a:cs typeface="+mn-cs"/>
              </a:rPr>
              <a:t>&gt; 0</a:t>
            </a:r>
            <a:endParaRPr kumimoji="1" lang="zh-CN" altLang="en-US" sz="2800" b="1" kern="1200" cap="none" spc="0" normalizeH="0" baseline="0" noProof="0" dirty="0">
              <a:solidFill>
                <a:srgbClr val="CC0066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2426" name="Text Box 26"/>
          <p:cNvSpPr txBox="1">
            <a:spLocks noChangeArrowheads="1"/>
          </p:cNvSpPr>
          <p:nvPr/>
        </p:nvSpPr>
        <p:spPr bwMode="auto">
          <a:xfrm>
            <a:off x="2630488" y="6140450"/>
            <a:ext cx="34051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 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 0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处，</a:t>
            </a:r>
            <a:r>
              <a:rPr kumimoji="1" lang="en-US" altLang="zh-CN" sz="2800" b="1" i="1" kern="1200" cap="none" spc="0" normalizeH="0" baseline="0" noProof="0" dirty="0" err="1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800" b="1" kern="1200" cap="none" spc="0" normalizeH="0" baseline="-25000" noProof="0" dirty="0" err="1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max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2427" name="Object 8"/>
          <p:cNvGraphicFramePr>
            <a:graphicFrameLocks noChangeAspect="1"/>
          </p:cNvGraphicFramePr>
          <p:nvPr/>
        </p:nvGraphicFramePr>
        <p:xfrm>
          <a:off x="5129213" y="5961063"/>
          <a:ext cx="9207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1" imgW="927100" imgH="901700" progId="Equation.3">
                  <p:embed/>
                </p:oleObj>
              </mc:Choice>
              <mc:Fallback>
                <p:oleObj name="" r:id="rId11" imgW="927100" imgH="9017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29213" y="5961063"/>
                        <a:ext cx="920750" cy="89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0" name="Object 9"/>
          <p:cNvGraphicFramePr>
            <a:graphicFrameLocks noChangeAspect="1"/>
          </p:cNvGraphicFramePr>
          <p:nvPr/>
        </p:nvGraphicFramePr>
        <p:xfrm>
          <a:off x="3743325" y="4187825"/>
          <a:ext cx="25146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1078865" imgH="444500" progId="Equation.3">
                  <p:embed/>
                </p:oleObj>
              </mc:Choice>
              <mc:Fallback>
                <p:oleObj name="" r:id="rId13" imgW="1078865" imgH="4445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3325" y="4187825"/>
                        <a:ext cx="2514600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6" name="Text Box 36"/>
          <p:cNvSpPr txBox="1">
            <a:spLocks noChangeArrowheads="1"/>
          </p:cNvSpPr>
          <p:nvPr/>
        </p:nvSpPr>
        <p:spPr bwMode="auto">
          <a:xfrm>
            <a:off x="127000" y="4929188"/>
            <a:ext cx="2438400" cy="1816100"/>
          </a:xfrm>
          <a:prstGeom prst="rect">
            <a:avLst/>
          </a:prstGeom>
          <a:solidFill>
            <a:srgbClr val="FFFF99"/>
          </a:solidFill>
          <a:ln w="9525">
            <a:solidFill>
              <a:srgbClr val="FF99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当电荷分布扩展到无穷远时，电势零点不能选在无穷远处。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2428" name="Rectangle 28"/>
          <p:cNvSpPr>
            <a:spLocks noChangeArrowheads="1"/>
          </p:cNvSpPr>
          <p:nvPr/>
        </p:nvSpPr>
        <p:spPr bwMode="auto">
          <a:xfrm>
            <a:off x="3384550" y="3160713"/>
            <a:ext cx="54102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429" name="Object 10"/>
          <p:cNvGraphicFramePr>
            <a:graphicFrameLocks noChangeAspect="1"/>
          </p:cNvGraphicFramePr>
          <p:nvPr/>
        </p:nvGraphicFramePr>
        <p:xfrm>
          <a:off x="3240088" y="3119438"/>
          <a:ext cx="56578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2501900" imgH="495300" progId="Equation.3">
                  <p:embed/>
                </p:oleObj>
              </mc:Choice>
              <mc:Fallback>
                <p:oleObj name="" r:id="rId15" imgW="2501900" imgH="4953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40088" y="3119438"/>
                        <a:ext cx="5657850" cy="112077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75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75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75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10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9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75"/>
                                        <p:tgtEl>
                                          <p:spTgt spid="10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500"/>
                                        <p:tgtEl>
                                          <p:spTgt spid="10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3" grpId="0" animBg="1"/>
      <p:bldP spid="102406" grpId="0"/>
      <p:bldP spid="102408" grpId="0"/>
      <p:bldP spid="102409" grpId="0"/>
      <p:bldP spid="102410" grpId="0"/>
      <p:bldP spid="102415" grpId="0"/>
      <p:bldP spid="102419" grpId="0"/>
      <p:bldP spid="102422" grpId="0" animBg="1"/>
      <p:bldP spid="102424" grpId="0"/>
      <p:bldP spid="102425" grpId="0"/>
      <p:bldP spid="102426" grpId="0"/>
      <p:bldP spid="102436" grpId="0" animBg="1"/>
      <p:bldP spid="1024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212725" y="228600"/>
            <a:ext cx="5386388" cy="52387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rgbClr val="FF3300"/>
                </a:solidFill>
                <a:latin typeface="+mn-lt"/>
                <a:ea typeface="黑体" panose="02010609060101010101" pitchFamily="49" charset="-122"/>
                <a:cs typeface="+mn-cs"/>
              </a:rPr>
              <a:t>2、用叠加法求</a:t>
            </a:r>
            <a:r>
              <a:rPr kumimoji="0" lang="en-US" altLang="zh-CN" sz="2800" b="1" i="1" kern="1200" cap="none" spc="0" normalizeH="0" baseline="0" noProof="0">
                <a:solidFill>
                  <a:srgbClr val="FF3300"/>
                </a:solidFill>
                <a:latin typeface="+mn-lt"/>
                <a:ea typeface="黑体" panose="02010609060101010101" pitchFamily="49" charset="-122"/>
                <a:cs typeface="+mn-cs"/>
              </a:rPr>
              <a:t>V</a:t>
            </a:r>
            <a:endParaRPr kumimoji="0" lang="en-US" altLang="zh-CN" sz="2800" b="1" i="1" kern="1200" cap="none" spc="0" normalizeH="0" baseline="0" noProof="0">
              <a:solidFill>
                <a:srgbClr val="FF3300"/>
              </a:solidFill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0" y="838200"/>
            <a:ext cx="6705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（1）点电荷的电势</a:t>
            </a:r>
            <a:r>
              <a:rPr kumimoji="1" lang="en-US" altLang="zh-CN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：</a:t>
            </a:r>
            <a:endParaRPr kumimoji="1" lang="en-US" altLang="zh-CN" sz="2800" b="1" kern="1200" cap="none" spc="0" normalizeH="0" baseline="0" noProof="0" dirty="0"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4452" name="Object 2"/>
          <p:cNvGraphicFramePr>
            <a:graphicFrameLocks noChangeAspect="1"/>
          </p:cNvGraphicFramePr>
          <p:nvPr/>
        </p:nvGraphicFramePr>
        <p:xfrm>
          <a:off x="3779838" y="620713"/>
          <a:ext cx="16700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698500" imgH="444500" progId="Equation.3">
                  <p:embed/>
                </p:oleObj>
              </mc:Choice>
              <mc:Fallback>
                <p:oleObj name="" r:id="rId1" imgW="698500" imgH="444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9838" y="620713"/>
                        <a:ext cx="1670050" cy="1071562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369888" y="1558925"/>
            <a:ext cx="550227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00FF"/>
                </a:solidFill>
                <a:latin typeface="+mn-lt"/>
                <a:ea typeface="楷体_GB2312" pitchFamily="49" charset="-122"/>
                <a:cs typeface="+mn-cs"/>
              </a:rPr>
              <a:t>点电荷系的电势</a:t>
            </a:r>
            <a:r>
              <a:rPr kumimoji="1" lang="zh-CN" altLang="en-US" sz="28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：</a:t>
            </a:r>
            <a:endParaRPr kumimoji="1" lang="zh-CN" altLang="en-US" sz="2800" b="1" kern="1200" cap="none" spc="0" normalizeH="0" baseline="0" noProof="0">
              <a:solidFill>
                <a:srgbClr val="0000FF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369888" y="2157413"/>
            <a:ext cx="515937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任意点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P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处的电势：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4458" name="Object 3"/>
          <p:cNvGraphicFramePr>
            <a:graphicFrameLocks noChangeAspect="1"/>
          </p:cNvGraphicFramePr>
          <p:nvPr/>
        </p:nvGraphicFramePr>
        <p:xfrm>
          <a:off x="3130550" y="2632075"/>
          <a:ext cx="19050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812165" imgH="457200" progId="Equation.3">
                  <p:embed/>
                </p:oleObj>
              </mc:Choice>
              <mc:Fallback>
                <p:oleObj name="" r:id="rId3" imgW="812165" imgH="4572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0550" y="2632075"/>
                        <a:ext cx="1905000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9" name="Object 4"/>
          <p:cNvGraphicFramePr>
            <a:graphicFrameLocks noChangeAspect="1"/>
          </p:cNvGraphicFramePr>
          <p:nvPr/>
        </p:nvGraphicFramePr>
        <p:xfrm>
          <a:off x="5029200" y="2590800"/>
          <a:ext cx="38100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1625600" imgH="457200" progId="Equation.3">
                  <p:embed/>
                </p:oleObj>
              </mc:Choice>
              <mc:Fallback>
                <p:oleObj name="" r:id="rId5" imgW="1625600" imgH="457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9200" y="2590800"/>
                        <a:ext cx="38100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0" name="Object 5"/>
          <p:cNvGraphicFramePr>
            <a:graphicFrameLocks noChangeAspect="1"/>
          </p:cNvGraphicFramePr>
          <p:nvPr/>
        </p:nvGraphicFramePr>
        <p:xfrm>
          <a:off x="3657600" y="3733800"/>
          <a:ext cx="50292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2146300" imgH="457200" progId="Equation.3">
                  <p:embed/>
                </p:oleObj>
              </mc:Choice>
              <mc:Fallback>
                <p:oleObj name="" r:id="rId7" imgW="2146300" imgH="457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7600" y="3733800"/>
                        <a:ext cx="5029200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1" name="Object 6"/>
          <p:cNvGraphicFramePr>
            <a:graphicFrameLocks noChangeAspect="1"/>
          </p:cNvGraphicFramePr>
          <p:nvPr/>
        </p:nvGraphicFramePr>
        <p:xfrm>
          <a:off x="3732213" y="5591175"/>
          <a:ext cx="4495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9" imgW="4203700" imgH="901700" progId="Equation.3">
                  <p:embed/>
                </p:oleObj>
              </mc:Choice>
              <mc:Fallback>
                <p:oleObj name="" r:id="rId9" imgW="4203700" imgH="9017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32213" y="5591175"/>
                        <a:ext cx="44958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2" name="Object 7"/>
          <p:cNvGraphicFramePr>
            <a:graphicFrameLocks noChangeAspect="1"/>
          </p:cNvGraphicFramePr>
          <p:nvPr/>
        </p:nvGraphicFramePr>
        <p:xfrm>
          <a:off x="3678238" y="4891088"/>
          <a:ext cx="2895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1" imgW="1117600" imgH="228600" progId="Equation.3">
                  <p:embed/>
                </p:oleObj>
              </mc:Choice>
              <mc:Fallback>
                <p:oleObj name="" r:id="rId11" imgW="1117600" imgH="2286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78238" y="4891088"/>
                        <a:ext cx="28956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>
          <a:xfrm>
            <a:off x="355600" y="4229100"/>
            <a:ext cx="2997200" cy="2170113"/>
            <a:chOff x="224" y="2664"/>
            <a:chExt cx="1888" cy="1367"/>
          </a:xfrm>
        </p:grpSpPr>
        <p:sp>
          <p:nvSpPr>
            <p:cNvPr id="58391" name="Line 18"/>
            <p:cNvSpPr>
              <a:spLocks noChangeShapeType="1"/>
            </p:cNvSpPr>
            <p:nvPr/>
          </p:nvSpPr>
          <p:spPr bwMode="auto">
            <a:xfrm flipV="1">
              <a:off x="588" y="2888"/>
              <a:ext cx="1002" cy="952"/>
            </a:xfrm>
            <a:prstGeom prst="line">
              <a:avLst/>
            </a:prstGeom>
            <a:noFill/>
            <a:ln w="41275">
              <a:solidFill>
                <a:srgbClr val="FF6600"/>
              </a:solidFill>
              <a:round/>
              <a:tailEnd type="arrow" w="med" len="lg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2" name="Line 19"/>
            <p:cNvSpPr>
              <a:spLocks noChangeShapeType="1"/>
            </p:cNvSpPr>
            <p:nvPr/>
          </p:nvSpPr>
          <p:spPr bwMode="auto">
            <a:xfrm flipV="1">
              <a:off x="501" y="2888"/>
              <a:ext cx="1089" cy="30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arrow" w="med" len="lg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3" name="Line 20"/>
            <p:cNvSpPr>
              <a:spLocks noChangeShapeType="1"/>
            </p:cNvSpPr>
            <p:nvPr/>
          </p:nvSpPr>
          <p:spPr bwMode="auto">
            <a:xfrm flipV="1">
              <a:off x="1198" y="2888"/>
              <a:ext cx="348" cy="90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arrow" w="med" len="lg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4" name="Line 21"/>
            <p:cNvSpPr>
              <a:spLocks noChangeShapeType="1"/>
            </p:cNvSpPr>
            <p:nvPr/>
          </p:nvSpPr>
          <p:spPr bwMode="auto">
            <a:xfrm flipH="1" flipV="1">
              <a:off x="1546" y="2888"/>
              <a:ext cx="522" cy="70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tailEnd type="arrow" w="med" len="lg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5" name="Oval 22"/>
            <p:cNvSpPr>
              <a:spLocks noChangeArrowheads="1"/>
            </p:cNvSpPr>
            <p:nvPr/>
          </p:nvSpPr>
          <p:spPr bwMode="auto">
            <a:xfrm>
              <a:off x="414" y="3139"/>
              <a:ext cx="87" cy="1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6" name="Oval 23"/>
            <p:cNvSpPr>
              <a:spLocks noChangeArrowheads="1"/>
            </p:cNvSpPr>
            <p:nvPr/>
          </p:nvSpPr>
          <p:spPr bwMode="auto">
            <a:xfrm>
              <a:off x="2025" y="3556"/>
              <a:ext cx="87" cy="1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7" name="Oval 24"/>
            <p:cNvSpPr>
              <a:spLocks noChangeArrowheads="1"/>
            </p:cNvSpPr>
            <p:nvPr/>
          </p:nvSpPr>
          <p:spPr bwMode="auto">
            <a:xfrm>
              <a:off x="1154" y="3740"/>
              <a:ext cx="87" cy="1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8" name="Oval 25"/>
            <p:cNvSpPr>
              <a:spLocks noChangeArrowheads="1"/>
            </p:cNvSpPr>
            <p:nvPr/>
          </p:nvSpPr>
          <p:spPr bwMode="auto">
            <a:xfrm>
              <a:off x="545" y="3790"/>
              <a:ext cx="87" cy="1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2726" name="Object 8"/>
            <p:cNvGraphicFramePr>
              <a:graphicFrameLocks noChangeAspect="1"/>
            </p:cNvGraphicFramePr>
            <p:nvPr/>
          </p:nvGraphicFramePr>
          <p:xfrm>
            <a:off x="756" y="2801"/>
            <a:ext cx="14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3" imgW="228600" imgH="419100" progId="Equation.3">
                    <p:embed/>
                  </p:oleObj>
                </mc:Choice>
                <mc:Fallback>
                  <p:oleObj name="" r:id="rId13" imgW="228600" imgH="4191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56" y="2801"/>
                          <a:ext cx="145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27" name="Object 9"/>
            <p:cNvGraphicFramePr>
              <a:graphicFrameLocks noChangeAspect="1"/>
            </p:cNvGraphicFramePr>
            <p:nvPr/>
          </p:nvGraphicFramePr>
          <p:xfrm>
            <a:off x="739" y="3289"/>
            <a:ext cx="15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5" imgW="241300" imgH="419100" progId="Equation.3">
                    <p:embed/>
                  </p:oleObj>
                </mc:Choice>
                <mc:Fallback>
                  <p:oleObj name="" r:id="rId15" imgW="241300" imgH="4191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39" y="3289"/>
                          <a:ext cx="152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28" name="Object 10"/>
            <p:cNvGraphicFramePr>
              <a:graphicFrameLocks noChangeAspect="1"/>
            </p:cNvGraphicFramePr>
            <p:nvPr/>
          </p:nvGraphicFramePr>
          <p:xfrm>
            <a:off x="1368" y="3345"/>
            <a:ext cx="15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7" imgW="241300" imgH="419100" progId="Equation.3">
                    <p:embed/>
                  </p:oleObj>
                </mc:Choice>
                <mc:Fallback>
                  <p:oleObj name="" r:id="rId17" imgW="241300" imgH="4191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68" y="3345"/>
                          <a:ext cx="152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29" name="Object 11"/>
            <p:cNvGraphicFramePr>
              <a:graphicFrameLocks noChangeAspect="1"/>
            </p:cNvGraphicFramePr>
            <p:nvPr/>
          </p:nvGraphicFramePr>
          <p:xfrm>
            <a:off x="1800" y="3049"/>
            <a:ext cx="13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9" imgW="215900" imgH="419100" progId="Equation.3">
                    <p:embed/>
                  </p:oleObj>
                </mc:Choice>
                <mc:Fallback>
                  <p:oleObj name="" r:id="rId19" imgW="215900" imgH="4191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00" y="3049"/>
                          <a:ext cx="136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0" name="Object 12"/>
            <p:cNvGraphicFramePr>
              <a:graphicFrameLocks noChangeAspect="1"/>
            </p:cNvGraphicFramePr>
            <p:nvPr/>
          </p:nvGraphicFramePr>
          <p:xfrm>
            <a:off x="224" y="3001"/>
            <a:ext cx="18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21" imgW="292100" imgH="419100" progId="Equation.3">
                    <p:embed/>
                  </p:oleObj>
                </mc:Choice>
                <mc:Fallback>
                  <p:oleObj name="" r:id="rId21" imgW="292100" imgH="4191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24" y="3001"/>
                          <a:ext cx="184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1" name="Object 13"/>
            <p:cNvGraphicFramePr>
              <a:graphicFrameLocks noChangeAspect="1"/>
            </p:cNvGraphicFramePr>
            <p:nvPr/>
          </p:nvGraphicFramePr>
          <p:xfrm>
            <a:off x="383" y="3577"/>
            <a:ext cx="19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23" imgW="304800" imgH="419100" progId="Equation.3">
                    <p:embed/>
                  </p:oleObj>
                </mc:Choice>
                <mc:Fallback>
                  <p:oleObj name="" r:id="rId23" imgW="304800" imgH="4191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3" y="3577"/>
                          <a:ext cx="192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2" name="Object 14"/>
            <p:cNvGraphicFramePr>
              <a:graphicFrameLocks noChangeAspect="1"/>
            </p:cNvGraphicFramePr>
            <p:nvPr/>
          </p:nvGraphicFramePr>
          <p:xfrm>
            <a:off x="1176" y="3768"/>
            <a:ext cx="19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25" imgW="304800" imgH="419100" progId="Equation.3">
                    <p:embed/>
                  </p:oleObj>
                </mc:Choice>
                <mc:Fallback>
                  <p:oleObj name="" r:id="rId25" imgW="304800" imgH="4191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76" y="3768"/>
                          <a:ext cx="192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3" name="Object 15"/>
            <p:cNvGraphicFramePr>
              <a:graphicFrameLocks noChangeAspect="1"/>
            </p:cNvGraphicFramePr>
            <p:nvPr/>
          </p:nvGraphicFramePr>
          <p:xfrm>
            <a:off x="1935" y="3600"/>
            <a:ext cx="17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27" imgW="279400" imgH="419100" progId="Equation.3">
                    <p:embed/>
                  </p:oleObj>
                </mc:Choice>
                <mc:Fallback>
                  <p:oleObj name="" r:id="rId27" imgW="279400" imgH="4191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935" y="3600"/>
                          <a:ext cx="176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34" name="Object 16"/>
            <p:cNvGraphicFramePr>
              <a:graphicFrameLocks noChangeAspect="1"/>
            </p:cNvGraphicFramePr>
            <p:nvPr/>
          </p:nvGraphicFramePr>
          <p:xfrm>
            <a:off x="1510" y="2664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29" imgW="292100" imgH="292100" progId="Equation.3">
                    <p:embed/>
                  </p:oleObj>
                </mc:Choice>
                <mc:Fallback>
                  <p:oleObj name="" r:id="rId29" imgW="292100" imgH="2921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510" y="2664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75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/>
      <p:bldP spid="104451" grpId="0"/>
      <p:bldP spid="104456" grpId="0"/>
      <p:bldP spid="1044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101600" y="1731963"/>
            <a:ext cx="9042400" cy="9461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楷体_GB2312" pitchFamily="49" charset="-122"/>
                <a:cs typeface="+mn-cs"/>
              </a:rPr>
              <a:t>表述：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一个电荷系的电场中,任一点的电势等于每一个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      带电体单独存在时在该点所产生电势的代数和。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6500" name="Object 2"/>
          <p:cNvGraphicFramePr>
            <a:graphicFrameLocks noChangeAspect="1"/>
          </p:cNvGraphicFramePr>
          <p:nvPr/>
        </p:nvGraphicFramePr>
        <p:xfrm>
          <a:off x="1066800" y="458788"/>
          <a:ext cx="35814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1447165" imgH="444500" progId="Equation.3">
                  <p:embed/>
                </p:oleObj>
              </mc:Choice>
              <mc:Fallback>
                <p:oleObj name="" r:id="rId1" imgW="1447165" imgH="4445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458788"/>
                        <a:ext cx="3581400" cy="1098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 cap="flat" cmpd="sng">
                        <a:solidFill>
                          <a:srgbClr val="996633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prstShdw prst="shdw13" dist="53882" dir="13499999">
                          <a:srgbClr val="808080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5784850" y="701675"/>
            <a:ext cx="2749550" cy="519113"/>
          </a:xfrm>
          <a:prstGeom prst="rect">
            <a:avLst/>
          </a:prstGeom>
          <a:solidFill>
            <a:schemeClr val="accent2"/>
          </a:solidFill>
          <a:ln w="19050">
            <a:noFill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电势叠加原理</a:t>
            </a:r>
            <a:endParaRPr kumimoji="1" lang="zh-CN" altLang="en-US" sz="2800" b="1" kern="1200" cap="none" spc="0" normalizeH="0" baseline="0" noProof="0" dirty="0"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6502" name="AutoShape 6"/>
          <p:cNvSpPr>
            <a:spLocks noChangeArrowheads="1"/>
          </p:cNvSpPr>
          <p:nvPr/>
        </p:nvSpPr>
        <p:spPr bwMode="auto">
          <a:xfrm>
            <a:off x="4702175" y="774700"/>
            <a:ext cx="914400" cy="381000"/>
          </a:xfrm>
          <a:prstGeom prst="lef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0" y="2687638"/>
            <a:ext cx="6629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（2）连续带电体的电势：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6156325" y="4140200"/>
            <a:ext cx="1012825" cy="849313"/>
            <a:chOff x="635" y="757"/>
            <a:chExt cx="638" cy="535"/>
          </a:xfrm>
        </p:grpSpPr>
        <p:sp>
          <p:nvSpPr>
            <p:cNvPr id="59412" name="Freeform 9"/>
            <p:cNvSpPr/>
            <p:nvPr/>
          </p:nvSpPr>
          <p:spPr bwMode="auto">
            <a:xfrm>
              <a:off x="635" y="757"/>
              <a:ext cx="638" cy="535"/>
            </a:xfrm>
            <a:custGeom>
              <a:avLst/>
              <a:gdLst>
                <a:gd name="T0" fmla="*/ 40 w 638"/>
                <a:gd name="T1" fmla="*/ 366 h 535"/>
                <a:gd name="T2" fmla="*/ 97 w 638"/>
                <a:gd name="T3" fmla="*/ 227 h 535"/>
                <a:gd name="T4" fmla="*/ 122 w 638"/>
                <a:gd name="T5" fmla="*/ 187 h 535"/>
                <a:gd name="T6" fmla="*/ 130 w 638"/>
                <a:gd name="T7" fmla="*/ 162 h 535"/>
                <a:gd name="T8" fmla="*/ 154 w 638"/>
                <a:gd name="T9" fmla="*/ 154 h 535"/>
                <a:gd name="T10" fmla="*/ 187 w 638"/>
                <a:gd name="T11" fmla="*/ 122 h 535"/>
                <a:gd name="T12" fmla="*/ 227 w 638"/>
                <a:gd name="T13" fmla="*/ 89 h 535"/>
                <a:gd name="T14" fmla="*/ 284 w 638"/>
                <a:gd name="T15" fmla="*/ 40 h 535"/>
                <a:gd name="T16" fmla="*/ 350 w 638"/>
                <a:gd name="T17" fmla="*/ 0 h 535"/>
                <a:gd name="T18" fmla="*/ 545 w 638"/>
                <a:gd name="T19" fmla="*/ 8 h 535"/>
                <a:gd name="T20" fmla="*/ 569 w 638"/>
                <a:gd name="T21" fmla="*/ 16 h 535"/>
                <a:gd name="T22" fmla="*/ 602 w 638"/>
                <a:gd name="T23" fmla="*/ 48 h 535"/>
                <a:gd name="T24" fmla="*/ 634 w 638"/>
                <a:gd name="T25" fmla="*/ 122 h 535"/>
                <a:gd name="T26" fmla="*/ 618 w 638"/>
                <a:gd name="T27" fmla="*/ 268 h 535"/>
                <a:gd name="T28" fmla="*/ 594 w 638"/>
                <a:gd name="T29" fmla="*/ 276 h 535"/>
                <a:gd name="T30" fmla="*/ 561 w 638"/>
                <a:gd name="T31" fmla="*/ 317 h 535"/>
                <a:gd name="T32" fmla="*/ 496 w 638"/>
                <a:gd name="T33" fmla="*/ 374 h 535"/>
                <a:gd name="T34" fmla="*/ 463 w 638"/>
                <a:gd name="T35" fmla="*/ 406 h 535"/>
                <a:gd name="T36" fmla="*/ 406 w 638"/>
                <a:gd name="T37" fmla="*/ 471 h 535"/>
                <a:gd name="T38" fmla="*/ 398 w 638"/>
                <a:gd name="T39" fmla="*/ 496 h 535"/>
                <a:gd name="T40" fmla="*/ 366 w 638"/>
                <a:gd name="T41" fmla="*/ 504 h 535"/>
                <a:gd name="T42" fmla="*/ 301 w 638"/>
                <a:gd name="T43" fmla="*/ 528 h 535"/>
                <a:gd name="T44" fmla="*/ 105 w 638"/>
                <a:gd name="T45" fmla="*/ 520 h 535"/>
                <a:gd name="T46" fmla="*/ 81 w 638"/>
                <a:gd name="T47" fmla="*/ 512 h 535"/>
                <a:gd name="T48" fmla="*/ 48 w 638"/>
                <a:gd name="T49" fmla="*/ 447 h 535"/>
                <a:gd name="T50" fmla="*/ 40 w 638"/>
                <a:gd name="T51" fmla="*/ 366 h 53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38"/>
                <a:gd name="T79" fmla="*/ 0 h 535"/>
                <a:gd name="T80" fmla="*/ 638 w 638"/>
                <a:gd name="T81" fmla="*/ 535 h 53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38" h="535">
                  <a:moveTo>
                    <a:pt x="40" y="366"/>
                  </a:moveTo>
                  <a:cubicBezTo>
                    <a:pt x="49" y="310"/>
                    <a:pt x="58" y="268"/>
                    <a:pt x="97" y="227"/>
                  </a:cubicBezTo>
                  <a:cubicBezTo>
                    <a:pt x="120" y="157"/>
                    <a:pt x="87" y="244"/>
                    <a:pt x="122" y="187"/>
                  </a:cubicBezTo>
                  <a:cubicBezTo>
                    <a:pt x="127" y="180"/>
                    <a:pt x="124" y="168"/>
                    <a:pt x="130" y="162"/>
                  </a:cubicBezTo>
                  <a:cubicBezTo>
                    <a:pt x="136" y="156"/>
                    <a:pt x="146" y="157"/>
                    <a:pt x="154" y="154"/>
                  </a:cubicBezTo>
                  <a:cubicBezTo>
                    <a:pt x="172" y="101"/>
                    <a:pt x="147" y="154"/>
                    <a:pt x="187" y="122"/>
                  </a:cubicBezTo>
                  <a:cubicBezTo>
                    <a:pt x="241" y="79"/>
                    <a:pt x="165" y="110"/>
                    <a:pt x="227" y="89"/>
                  </a:cubicBezTo>
                  <a:cubicBezTo>
                    <a:pt x="246" y="62"/>
                    <a:pt x="253" y="50"/>
                    <a:pt x="284" y="40"/>
                  </a:cubicBezTo>
                  <a:cubicBezTo>
                    <a:pt x="304" y="21"/>
                    <a:pt x="326" y="15"/>
                    <a:pt x="350" y="0"/>
                  </a:cubicBezTo>
                  <a:cubicBezTo>
                    <a:pt x="415" y="3"/>
                    <a:pt x="480" y="3"/>
                    <a:pt x="545" y="8"/>
                  </a:cubicBezTo>
                  <a:cubicBezTo>
                    <a:pt x="553" y="9"/>
                    <a:pt x="563" y="10"/>
                    <a:pt x="569" y="16"/>
                  </a:cubicBezTo>
                  <a:cubicBezTo>
                    <a:pt x="611" y="58"/>
                    <a:pt x="536" y="27"/>
                    <a:pt x="602" y="48"/>
                  </a:cubicBezTo>
                  <a:cubicBezTo>
                    <a:pt x="621" y="106"/>
                    <a:pt x="609" y="83"/>
                    <a:pt x="634" y="122"/>
                  </a:cubicBezTo>
                  <a:cubicBezTo>
                    <a:pt x="629" y="171"/>
                    <a:pt x="638" y="223"/>
                    <a:pt x="618" y="268"/>
                  </a:cubicBezTo>
                  <a:cubicBezTo>
                    <a:pt x="615" y="276"/>
                    <a:pt x="602" y="273"/>
                    <a:pt x="594" y="276"/>
                  </a:cubicBezTo>
                  <a:cubicBezTo>
                    <a:pt x="573" y="335"/>
                    <a:pt x="602" y="269"/>
                    <a:pt x="561" y="317"/>
                  </a:cubicBezTo>
                  <a:cubicBezTo>
                    <a:pt x="507" y="379"/>
                    <a:pt x="557" y="359"/>
                    <a:pt x="496" y="374"/>
                  </a:cubicBezTo>
                  <a:cubicBezTo>
                    <a:pt x="474" y="439"/>
                    <a:pt x="507" y="362"/>
                    <a:pt x="463" y="406"/>
                  </a:cubicBezTo>
                  <a:cubicBezTo>
                    <a:pt x="370" y="499"/>
                    <a:pt x="475" y="427"/>
                    <a:pt x="406" y="471"/>
                  </a:cubicBezTo>
                  <a:cubicBezTo>
                    <a:pt x="403" y="479"/>
                    <a:pt x="405" y="490"/>
                    <a:pt x="398" y="496"/>
                  </a:cubicBezTo>
                  <a:cubicBezTo>
                    <a:pt x="390" y="503"/>
                    <a:pt x="376" y="500"/>
                    <a:pt x="366" y="504"/>
                  </a:cubicBezTo>
                  <a:cubicBezTo>
                    <a:pt x="282" y="535"/>
                    <a:pt x="382" y="508"/>
                    <a:pt x="301" y="528"/>
                  </a:cubicBezTo>
                  <a:cubicBezTo>
                    <a:pt x="236" y="525"/>
                    <a:pt x="170" y="525"/>
                    <a:pt x="105" y="520"/>
                  </a:cubicBezTo>
                  <a:cubicBezTo>
                    <a:pt x="97" y="519"/>
                    <a:pt x="86" y="519"/>
                    <a:pt x="81" y="512"/>
                  </a:cubicBezTo>
                  <a:cubicBezTo>
                    <a:pt x="0" y="397"/>
                    <a:pt x="106" y="501"/>
                    <a:pt x="48" y="447"/>
                  </a:cubicBezTo>
                  <a:cubicBezTo>
                    <a:pt x="44" y="428"/>
                    <a:pt x="25" y="381"/>
                    <a:pt x="40" y="366"/>
                  </a:cubicBezTo>
                  <a:close/>
                </a:path>
              </a:pathLst>
            </a:custGeom>
            <a:solidFill>
              <a:srgbClr val="33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13" name="Text Box 10"/>
            <p:cNvSpPr txBox="1">
              <a:spLocks noChangeArrowheads="1"/>
            </p:cNvSpPr>
            <p:nvPr/>
          </p:nvSpPr>
          <p:spPr bwMode="auto">
            <a:xfrm>
              <a:off x="768" y="832"/>
              <a:ext cx="359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+</a:t>
              </a:r>
              <a:r>
                <a:rPr kumimoji="1" lang="en-US" altLang="zh-CN" sz="2800" b="1" i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q</a:t>
              </a:r>
              <a:endPara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3" name="Group 26"/>
          <p:cNvGrpSpPr/>
          <p:nvPr/>
        </p:nvGrpSpPr>
        <p:grpSpPr>
          <a:xfrm>
            <a:off x="611188" y="3262313"/>
            <a:ext cx="6605587" cy="533400"/>
            <a:chOff x="385" y="1842"/>
            <a:chExt cx="4161" cy="336"/>
          </a:xfrm>
        </p:grpSpPr>
        <p:sp>
          <p:nvSpPr>
            <p:cNvPr id="59411" name="Text Box 13"/>
            <p:cNvSpPr txBox="1">
              <a:spLocks noChangeArrowheads="1"/>
            </p:cNvSpPr>
            <p:nvPr/>
          </p:nvSpPr>
          <p:spPr bwMode="auto">
            <a:xfrm>
              <a:off x="385" y="1842"/>
              <a:ext cx="416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取电荷元     ，则任意点</a:t>
              </a:r>
              <a:r>
                <a:rPr kumimoji="1" lang="en-US" altLang="zh-CN" sz="2800" b="1" i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P</a:t>
              </a: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处的电势：</a:t>
              </a:r>
              <a:endPara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74772" name="Object 5"/>
            <p:cNvGraphicFramePr>
              <a:graphicFrameLocks noChangeAspect="1"/>
            </p:cNvGraphicFramePr>
            <p:nvPr/>
          </p:nvGraphicFramePr>
          <p:xfrm>
            <a:off x="1344" y="1863"/>
            <a:ext cx="31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3" imgW="203200" imgH="203200" progId="Equation.3">
                    <p:embed/>
                  </p:oleObj>
                </mc:Choice>
                <mc:Fallback>
                  <p:oleObj name="" r:id="rId3" imgW="203200" imgH="2032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44" y="1863"/>
                          <a:ext cx="318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6511" name="Object 3"/>
          <p:cNvGraphicFramePr>
            <a:graphicFrameLocks noChangeAspect="1"/>
          </p:cNvGraphicFramePr>
          <p:nvPr/>
        </p:nvGraphicFramePr>
        <p:xfrm>
          <a:off x="7375525" y="36957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5" imgW="203200" imgH="203200" progId="Equation.3">
                  <p:embed/>
                </p:oleObj>
              </mc:Choice>
              <mc:Fallback>
                <p:oleObj name="" r:id="rId5" imgW="203200" imgH="203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5525" y="3695700"/>
                        <a:ext cx="381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2" name="Text Box 16"/>
          <p:cNvSpPr txBox="1">
            <a:spLocks noChangeArrowheads="1"/>
          </p:cNvSpPr>
          <p:nvPr/>
        </p:nvSpPr>
        <p:spPr bwMode="auto">
          <a:xfrm>
            <a:off x="7064375" y="4778375"/>
            <a:ext cx="4841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dirty="0" err="1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800" b="1" i="1" kern="1200" cap="none" spc="0" normalizeH="0" baseline="-25000" noProof="0" dirty="0" err="1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P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6513" name="Object 4"/>
          <p:cNvGraphicFramePr>
            <a:graphicFrameLocks noChangeAspect="1"/>
          </p:cNvGraphicFramePr>
          <p:nvPr/>
        </p:nvGraphicFramePr>
        <p:xfrm>
          <a:off x="2268538" y="3911600"/>
          <a:ext cx="22098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914400" imgH="444500" progId="Equation.3">
                  <p:embed/>
                </p:oleObj>
              </mc:Choice>
              <mc:Fallback>
                <p:oleObj name="" r:id="rId7" imgW="914400" imgH="444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8538" y="3911600"/>
                        <a:ext cx="2209800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4" name="Text Box 18"/>
          <p:cNvSpPr txBox="1">
            <a:spLocks noChangeArrowheads="1"/>
          </p:cNvSpPr>
          <p:nvPr/>
        </p:nvSpPr>
        <p:spPr bwMode="auto">
          <a:xfrm>
            <a:off x="323850" y="5062538"/>
            <a:ext cx="7773988" cy="592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注：</a:t>
            </a:r>
            <a:r>
              <a:rPr kumimoji="1" lang="zh-CN" altLang="en-US" sz="2800" b="1" kern="1200" cap="none" spc="0" normalizeH="0" baseline="0" noProof="0" dirty="0">
                <a:solidFill>
                  <a:srgbClr val="0000FF"/>
                </a:solidFill>
                <a:latin typeface="+mn-lt"/>
                <a:ea typeface="楷体_GB2312" pitchFamily="49" charset="-122"/>
                <a:cs typeface="+mn-cs"/>
              </a:rPr>
              <a:t>电势是标量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，积分是标量叠加。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6515" name="Oval 19"/>
          <p:cNvSpPr>
            <a:spLocks noChangeArrowheads="1"/>
          </p:cNvSpPr>
          <p:nvPr/>
        </p:nvSpPr>
        <p:spPr bwMode="auto">
          <a:xfrm>
            <a:off x="6842125" y="4292600"/>
            <a:ext cx="1524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16" name="Line 20"/>
          <p:cNvSpPr>
            <a:spLocks noChangeShapeType="1"/>
          </p:cNvSpPr>
          <p:nvPr/>
        </p:nvSpPr>
        <p:spPr bwMode="auto">
          <a:xfrm>
            <a:off x="6931025" y="4368800"/>
            <a:ext cx="215900" cy="13096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19" name="Line 23"/>
          <p:cNvSpPr>
            <a:spLocks noChangeShapeType="1"/>
          </p:cNvSpPr>
          <p:nvPr/>
        </p:nvSpPr>
        <p:spPr bwMode="auto">
          <a:xfrm flipH="1">
            <a:off x="6905625" y="4025900"/>
            <a:ext cx="45720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5113" y="5802313"/>
            <a:ext cx="6450013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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电势叠加比电场叠加要简便。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6970713" y="5003800"/>
            <a:ext cx="5969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6000" b="1" kern="1200" cap="none" spc="0" normalizeH="0" baseline="0" noProof="0" dirty="0">
                <a:solidFill>
                  <a:srgbClr val="FF0000"/>
                </a:solidFill>
                <a:latin typeface="+mn-lt"/>
                <a:ea typeface="楷体_GB2312" pitchFamily="49" charset="-122"/>
                <a:cs typeface="+mn-cs"/>
              </a:rPr>
              <a:t>.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P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75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75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1" grpId="0" animBg="1"/>
      <p:bldP spid="106502" grpId="0" animBg="1"/>
      <p:bldP spid="106503" grpId="0"/>
      <p:bldP spid="106512" grpId="0"/>
      <p:bldP spid="106514" grpId="0"/>
      <p:bldP spid="106515" grpId="0" animBg="1"/>
      <p:bldP spid="22" grpId="0"/>
      <p:bldP spid="1065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139700" y="101600"/>
            <a:ext cx="8851900" cy="197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4</a:t>
            </a: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.</a:t>
            </a:r>
            <a:r>
              <a:rPr kumimoji="1" lang="zh-CN" altLang="en-US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点电荷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3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4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放置在一正方形的四个顶角上，各顶角距中心距离为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。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求  (1)中心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O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点的电势,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      (2)将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0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从无穷远移到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点，电场力作的功。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76238" y="2765425"/>
            <a:ext cx="2274887" cy="2713038"/>
            <a:chOff x="317" y="1308"/>
            <a:chExt cx="1433" cy="1709"/>
          </a:xfrm>
        </p:grpSpPr>
        <p:grpSp>
          <p:nvGrpSpPr>
            <p:cNvPr id="76812" name="Group 4"/>
            <p:cNvGrpSpPr/>
            <p:nvPr/>
          </p:nvGrpSpPr>
          <p:grpSpPr>
            <a:xfrm>
              <a:off x="317" y="1308"/>
              <a:ext cx="1433" cy="1709"/>
              <a:chOff x="317" y="1308"/>
              <a:chExt cx="1433" cy="1709"/>
            </a:xfrm>
          </p:grpSpPr>
          <p:sp>
            <p:nvSpPr>
              <p:cNvPr id="61464" name="Line 15"/>
              <p:cNvSpPr>
                <a:spLocks noChangeShapeType="1"/>
              </p:cNvSpPr>
              <p:nvPr/>
            </p:nvSpPr>
            <p:spPr bwMode="auto">
              <a:xfrm flipV="1">
                <a:off x="436" y="1638"/>
                <a:ext cx="1151" cy="11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63" name="Line 14"/>
              <p:cNvSpPr>
                <a:spLocks noChangeShapeType="1"/>
              </p:cNvSpPr>
              <p:nvPr/>
            </p:nvSpPr>
            <p:spPr bwMode="auto">
              <a:xfrm>
                <a:off x="421" y="1603"/>
                <a:ext cx="1195" cy="11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58" name="Rectangle 5"/>
              <p:cNvSpPr>
                <a:spLocks noChangeArrowheads="1"/>
              </p:cNvSpPr>
              <p:nvPr/>
            </p:nvSpPr>
            <p:spPr bwMode="auto">
              <a:xfrm>
                <a:off x="421" y="1603"/>
                <a:ext cx="1195" cy="1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59" name="Oval 6"/>
              <p:cNvSpPr>
                <a:spLocks noChangeArrowheads="1"/>
              </p:cNvSpPr>
              <p:nvPr/>
            </p:nvSpPr>
            <p:spPr bwMode="auto">
              <a:xfrm>
                <a:off x="1572" y="2742"/>
                <a:ext cx="89" cy="8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60" name="Oval 7"/>
              <p:cNvSpPr>
                <a:spLocks noChangeArrowheads="1"/>
              </p:cNvSpPr>
              <p:nvPr/>
            </p:nvSpPr>
            <p:spPr bwMode="auto">
              <a:xfrm>
                <a:off x="377" y="2742"/>
                <a:ext cx="88" cy="8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61" name="Oval 8"/>
              <p:cNvSpPr>
                <a:spLocks noChangeArrowheads="1"/>
              </p:cNvSpPr>
              <p:nvPr/>
            </p:nvSpPr>
            <p:spPr bwMode="auto">
              <a:xfrm>
                <a:off x="1572" y="1559"/>
                <a:ext cx="89" cy="8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62" name="Oval 9"/>
              <p:cNvSpPr>
                <a:spLocks noChangeArrowheads="1"/>
              </p:cNvSpPr>
              <p:nvPr/>
            </p:nvSpPr>
            <p:spPr bwMode="auto">
              <a:xfrm>
                <a:off x="377" y="1559"/>
                <a:ext cx="88" cy="88"/>
              </a:xfrm>
              <a:prstGeom prst="ellipse">
                <a:avLst/>
              </a:prstGeom>
              <a:solidFill>
                <a:srgbClr val="FF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76821" name="Object 5"/>
              <p:cNvGraphicFramePr>
                <a:graphicFrameLocks noChangeAspect="1"/>
              </p:cNvGraphicFramePr>
              <p:nvPr/>
            </p:nvGraphicFramePr>
            <p:xfrm>
              <a:off x="358" y="1316"/>
              <a:ext cx="184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4" name="" r:id="rId1" imgW="292100" imgH="419100" progId="Equation.3">
                      <p:embed/>
                    </p:oleObj>
                  </mc:Choice>
                  <mc:Fallback>
                    <p:oleObj name="" r:id="rId1" imgW="292100" imgH="419100" progId="Equation.3">
                      <p:embed/>
                      <p:pic>
                        <p:nvPicPr>
                          <p:cNvPr id="0" name="图片 312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58" y="1316"/>
                            <a:ext cx="184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22" name="Object 6"/>
              <p:cNvGraphicFramePr>
                <a:graphicFrameLocks noChangeAspect="1"/>
              </p:cNvGraphicFramePr>
              <p:nvPr/>
            </p:nvGraphicFramePr>
            <p:xfrm>
              <a:off x="1557" y="1308"/>
              <a:ext cx="193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7" name="" r:id="rId3" imgW="304800" imgH="419100" progId="Equation.3">
                      <p:embed/>
                    </p:oleObj>
                  </mc:Choice>
                  <mc:Fallback>
                    <p:oleObj name="" r:id="rId3" imgW="304800" imgH="419100" progId="Equation.3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57" y="1308"/>
                            <a:ext cx="193" cy="26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23" name="Object 7"/>
              <p:cNvGraphicFramePr>
                <a:graphicFrameLocks noChangeAspect="1"/>
              </p:cNvGraphicFramePr>
              <p:nvPr/>
            </p:nvGraphicFramePr>
            <p:xfrm>
              <a:off x="1557" y="2746"/>
              <a:ext cx="193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1" name="" r:id="rId5" imgW="304800" imgH="419100" progId="Equation.3">
                      <p:embed/>
                    </p:oleObj>
                  </mc:Choice>
                  <mc:Fallback>
                    <p:oleObj name="" r:id="rId5" imgW="304800" imgH="4191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557" y="2746"/>
                            <a:ext cx="193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24" name="Object 8"/>
              <p:cNvGraphicFramePr>
                <a:graphicFrameLocks noChangeAspect="1"/>
              </p:cNvGraphicFramePr>
              <p:nvPr/>
            </p:nvGraphicFramePr>
            <p:xfrm>
              <a:off x="317" y="2754"/>
              <a:ext cx="193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9" name="" r:id="rId7" imgW="304800" imgH="419100" progId="Equation.3">
                      <p:embed/>
                    </p:oleObj>
                  </mc:Choice>
                  <mc:Fallback>
                    <p:oleObj name="" r:id="rId7" imgW="304800" imgH="419100" progId="Equation.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17" y="2754"/>
                            <a:ext cx="193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6813" name="Text Box 16"/>
            <p:cNvSpPr txBox="1"/>
            <p:nvPr/>
          </p:nvSpPr>
          <p:spPr>
            <a:xfrm>
              <a:off x="884" y="1807"/>
              <a:ext cx="28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ea typeface="楷体_GB2312" pitchFamily="49" charset="-122"/>
                </a:rPr>
                <a:t>O</a:t>
              </a:r>
              <a:endParaRPr lang="en-US" altLang="zh-CN" sz="2800" b="1" i="1" dirty="0">
                <a:ea typeface="楷体_GB2312" pitchFamily="49" charset="-122"/>
              </a:endParaRPr>
            </a:p>
          </p:txBody>
        </p:sp>
      </p:grp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3048000" y="2471738"/>
            <a:ext cx="2514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解：</a:t>
            </a:r>
            <a:endParaRPr kumimoji="1" lang="zh-CN" altLang="en-US" sz="2800" b="1" kern="1200" cap="none" spc="0" normalizeH="0" baseline="0" noProof="0">
              <a:solidFill>
                <a:srgbClr val="FF33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3810000" y="2471738"/>
            <a:ext cx="5334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(1) 各点电荷在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点处的电势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10611" name="Object 2"/>
          <p:cNvGraphicFramePr>
            <a:graphicFrameLocks noChangeAspect="1"/>
          </p:cNvGraphicFramePr>
          <p:nvPr/>
        </p:nvGraphicFramePr>
        <p:xfrm>
          <a:off x="4516438" y="2903538"/>
          <a:ext cx="39306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9" imgW="1612900" imgH="444500" progId="Equation.DSMT4">
                  <p:embed/>
                </p:oleObj>
              </mc:Choice>
              <mc:Fallback>
                <p:oleObj name="" r:id="rId9" imgW="1612900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6438" y="2903538"/>
                        <a:ext cx="393065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2" name="Object 3"/>
          <p:cNvGraphicFramePr>
            <a:graphicFrameLocks noChangeAspect="1"/>
          </p:cNvGraphicFramePr>
          <p:nvPr/>
        </p:nvGraphicFramePr>
        <p:xfrm>
          <a:off x="4956175" y="3767138"/>
          <a:ext cx="2751138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1143000" imgH="444500" progId="Equation.DSMT4">
                  <p:embed/>
                </p:oleObj>
              </mc:Choice>
              <mc:Fallback>
                <p:oleObj name="" r:id="rId11" imgW="1143000" imgH="4445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56175" y="3767138"/>
                        <a:ext cx="2751138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3333750" y="4970463"/>
            <a:ext cx="3733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(2)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4514850" y="5746750"/>
            <a:ext cx="18859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= –q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1" lang="en-US" altLang="zh-CN" sz="2800" b="1" kern="1200" cap="none" spc="0" normalizeH="0" baseline="-2500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o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110623" name="Object 4"/>
          <p:cNvGraphicFramePr>
            <a:graphicFrameLocks noChangeAspect="1"/>
          </p:cNvGraphicFramePr>
          <p:nvPr/>
        </p:nvGraphicFramePr>
        <p:xfrm>
          <a:off x="4097338" y="4973638"/>
          <a:ext cx="27162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3" imgW="977900" imgH="228600" progId="Equation.3">
                  <p:embed/>
                </p:oleObj>
              </mc:Choice>
              <mc:Fallback>
                <p:oleObj name="" r:id="rId13" imgW="977900" imgH="2286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97338" y="4973638"/>
                        <a:ext cx="2716212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11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75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/>
      <p:bldP spid="110609" grpId="0"/>
      <p:bldP spid="110610" grpId="0"/>
      <p:bldP spid="110613" grpId="0"/>
      <p:bldP spid="1106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8546" name="Object 2"/>
          <p:cNvGraphicFramePr>
            <a:graphicFrameLocks noChangeAspect="1"/>
          </p:cNvGraphicFramePr>
          <p:nvPr/>
        </p:nvGraphicFramePr>
        <p:xfrm>
          <a:off x="3792538" y="1990725"/>
          <a:ext cx="30480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1295400" imgH="457200" progId="Equation.3">
                  <p:embed/>
                </p:oleObj>
              </mc:Choice>
              <mc:Fallback>
                <p:oleObj name="" r:id="rId1" imgW="1295400" imgH="457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2538" y="1990725"/>
                        <a:ext cx="3048000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7" name="Text Box 1027"/>
          <p:cNvSpPr txBox="1">
            <a:spLocks noChangeArrowheads="1"/>
          </p:cNvSpPr>
          <p:nvPr/>
        </p:nvSpPr>
        <p:spPr bwMode="auto">
          <a:xfrm>
            <a:off x="153988" y="169863"/>
            <a:ext cx="9144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  <a:cs typeface="+mn-cs"/>
              </a:rPr>
              <a:t>.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计算均匀带电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q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的圆环轴线上任意一点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P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的电势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=？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8548" name="Oval 1028"/>
          <p:cNvSpPr>
            <a:spLocks noChangeArrowheads="1"/>
          </p:cNvSpPr>
          <p:nvPr/>
        </p:nvSpPr>
        <p:spPr bwMode="auto">
          <a:xfrm>
            <a:off x="533400" y="1697038"/>
            <a:ext cx="609600" cy="1600200"/>
          </a:xfrm>
          <a:prstGeom prst="ellipse">
            <a:avLst/>
          </a:prstGeom>
          <a:noFill/>
          <a:ln w="76200">
            <a:solidFill>
              <a:srgbClr val="0033CC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9" name="Line 1029"/>
          <p:cNvSpPr>
            <a:spLocks noChangeShapeType="1"/>
          </p:cNvSpPr>
          <p:nvPr/>
        </p:nvSpPr>
        <p:spPr bwMode="auto">
          <a:xfrm>
            <a:off x="838200" y="2459038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50" name="Line 1030"/>
          <p:cNvSpPr>
            <a:spLocks noChangeShapeType="1"/>
          </p:cNvSpPr>
          <p:nvPr/>
        </p:nvSpPr>
        <p:spPr bwMode="auto">
          <a:xfrm flipV="1">
            <a:off x="838200" y="1697038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51" name="Text Box 1031"/>
          <p:cNvSpPr txBox="1"/>
          <p:nvPr/>
        </p:nvSpPr>
        <p:spPr>
          <a:xfrm>
            <a:off x="533400" y="1849438"/>
            <a:ext cx="4445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楷体_GB2312" pitchFamily="49" charset="-122"/>
              </a:rPr>
              <a:t>R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08552" name="AutoShape 1032"/>
          <p:cNvSpPr>
            <a:spLocks noChangeArrowheads="1"/>
          </p:cNvSpPr>
          <p:nvPr/>
        </p:nvSpPr>
        <p:spPr bwMode="auto">
          <a:xfrm>
            <a:off x="685800" y="1620838"/>
            <a:ext cx="304800" cy="990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8 w 21600"/>
              <a:gd name="T13" fmla="*/ 0 h 21600"/>
              <a:gd name="T14" fmla="*/ 18342 w 21600"/>
              <a:gd name="T15" fmla="*/ 443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963" y="3338"/>
                </a:moveTo>
                <a:cubicBezTo>
                  <a:pt x="7403" y="2404"/>
                  <a:pt x="9083" y="1907"/>
                  <a:pt x="10800" y="1908"/>
                </a:cubicBezTo>
                <a:cubicBezTo>
                  <a:pt x="12516" y="1908"/>
                  <a:pt x="14196" y="2404"/>
                  <a:pt x="15636" y="3338"/>
                </a:cubicBezTo>
                <a:lnTo>
                  <a:pt x="16674" y="1737"/>
                </a:lnTo>
                <a:cubicBezTo>
                  <a:pt x="14925" y="603"/>
                  <a:pt x="12884" y="-1"/>
                  <a:pt x="10799" y="0"/>
                </a:cubicBezTo>
                <a:cubicBezTo>
                  <a:pt x="8715" y="0"/>
                  <a:pt x="6674" y="603"/>
                  <a:pt x="4925" y="1737"/>
                </a:cubicBezTo>
                <a:close/>
              </a:path>
            </a:pathLst>
          </a:custGeom>
          <a:solidFill>
            <a:srgbClr val="FF99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53" name="Line 1033"/>
          <p:cNvSpPr>
            <a:spLocks noChangeShapeType="1"/>
          </p:cNvSpPr>
          <p:nvPr/>
        </p:nvSpPr>
        <p:spPr bwMode="auto">
          <a:xfrm>
            <a:off x="838200" y="1712913"/>
            <a:ext cx="1600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8554" name="Object 3"/>
          <p:cNvGraphicFramePr>
            <a:graphicFrameLocks noChangeAspect="1"/>
          </p:cNvGraphicFramePr>
          <p:nvPr/>
        </p:nvGraphicFramePr>
        <p:xfrm>
          <a:off x="1600200" y="1849438"/>
          <a:ext cx="180975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228600" imgH="266700" progId="Equation.3">
                  <p:embed/>
                </p:oleObj>
              </mc:Choice>
              <mc:Fallback>
                <p:oleObj name="" r:id="rId3" imgW="228600" imgH="2667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1849438"/>
                        <a:ext cx="180975" cy="20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5" name="Object 4"/>
          <p:cNvGraphicFramePr>
            <a:graphicFrameLocks noChangeAspect="1"/>
          </p:cNvGraphicFramePr>
          <p:nvPr/>
        </p:nvGraphicFramePr>
        <p:xfrm>
          <a:off x="1600200" y="2535238"/>
          <a:ext cx="22860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304800" imgH="279400" progId="Equation.3">
                  <p:embed/>
                </p:oleObj>
              </mc:Choice>
              <mc:Fallback>
                <p:oleObj name="" r:id="rId5" imgW="304800" imgH="2794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200" y="2535238"/>
                        <a:ext cx="228600" cy="211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6" name="Text Box 1036"/>
          <p:cNvSpPr txBox="1"/>
          <p:nvPr/>
        </p:nvSpPr>
        <p:spPr>
          <a:xfrm>
            <a:off x="2895600" y="2408238"/>
            <a:ext cx="3635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ea typeface="楷体_GB2312" pitchFamily="49" charset="-122"/>
              </a:rPr>
              <a:t>x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graphicFrame>
        <p:nvGraphicFramePr>
          <p:cNvPr id="108557" name="Object 5"/>
          <p:cNvGraphicFramePr>
            <a:graphicFrameLocks noChangeAspect="1"/>
          </p:cNvGraphicFramePr>
          <p:nvPr/>
        </p:nvGraphicFramePr>
        <p:xfrm>
          <a:off x="717550" y="2459038"/>
          <a:ext cx="1968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7" imgW="241300" imgH="279400" progId="Equation.3">
                  <p:embed/>
                </p:oleObj>
              </mc:Choice>
              <mc:Fallback>
                <p:oleObj name="" r:id="rId7" imgW="241300" imgH="2794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7550" y="2459038"/>
                        <a:ext cx="19685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76"/>
          <p:cNvGrpSpPr/>
          <p:nvPr/>
        </p:nvGrpSpPr>
        <p:grpSpPr>
          <a:xfrm>
            <a:off x="1905000" y="757238"/>
            <a:ext cx="7239000" cy="546100"/>
            <a:chOff x="1200" y="672"/>
            <a:chExt cx="4560" cy="344"/>
          </a:xfrm>
        </p:grpSpPr>
        <p:sp>
          <p:nvSpPr>
            <p:cNvPr id="60463" name="Text Box 1039"/>
            <p:cNvSpPr txBox="1">
              <a:spLocks noChangeArrowheads="1"/>
            </p:cNvSpPr>
            <p:nvPr/>
          </p:nvSpPr>
          <p:spPr bwMode="auto">
            <a:xfrm>
              <a:off x="1200" y="681"/>
              <a:ext cx="2500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0" dirty="0">
                  <a:solidFill>
                    <a:srgbClr val="FF3300"/>
                  </a:solidFill>
                  <a:latin typeface="+mn-lt"/>
                  <a:ea typeface="楷体_GB2312" pitchFamily="49" charset="-122"/>
                  <a:cs typeface="+mn-cs"/>
                </a:rPr>
                <a:t>解：</a:t>
              </a: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取环上电荷元     ， </a:t>
              </a:r>
              <a:endPara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78892" name="Object 19"/>
            <p:cNvGraphicFramePr>
              <a:graphicFrameLocks noChangeAspect="1"/>
            </p:cNvGraphicFramePr>
            <p:nvPr/>
          </p:nvGraphicFramePr>
          <p:xfrm>
            <a:off x="3055" y="698"/>
            <a:ext cx="30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9" imgW="203200" imgH="203200" progId="Equation.3">
                    <p:embed/>
                  </p:oleObj>
                </mc:Choice>
                <mc:Fallback>
                  <p:oleObj name="" r:id="rId9" imgW="203200" imgH="2032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55" y="698"/>
                          <a:ext cx="30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64" name="Text Box 1041"/>
            <p:cNvSpPr txBox="1">
              <a:spLocks noChangeArrowheads="1"/>
            </p:cNvSpPr>
            <p:nvPr/>
          </p:nvSpPr>
          <p:spPr bwMode="auto">
            <a:xfrm>
              <a:off x="3405" y="672"/>
              <a:ext cx="235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其在</a:t>
              </a:r>
              <a:r>
                <a:rPr kumimoji="1" lang="en-US" altLang="zh-CN" sz="2800" b="1" i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P</a:t>
              </a: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楷体_GB2312" pitchFamily="49" charset="-122"/>
                  <a:cs typeface="+mn-cs"/>
                </a:rPr>
                <a:t>点产生的电势</a:t>
              </a:r>
              <a:endPara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endParaRPr>
            </a:p>
          </p:txBody>
        </p:sp>
      </p:grpSp>
      <p:graphicFrame>
        <p:nvGraphicFramePr>
          <p:cNvPr id="108562" name="Object 6"/>
          <p:cNvGraphicFramePr/>
          <p:nvPr/>
        </p:nvGraphicFramePr>
        <p:xfrm>
          <a:off x="685800" y="1143000"/>
          <a:ext cx="609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203200" imgH="203200" progId="Equation.3">
                  <p:embed/>
                </p:oleObj>
              </mc:Choice>
              <mc:Fallback>
                <p:oleObj name="" r:id="rId11" imgW="203200" imgH="2032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800" y="1143000"/>
                        <a:ext cx="6096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3" name="Object 7"/>
          <p:cNvGraphicFramePr>
            <a:graphicFrameLocks noChangeAspect="1"/>
          </p:cNvGraphicFramePr>
          <p:nvPr/>
        </p:nvGraphicFramePr>
        <p:xfrm>
          <a:off x="2840038" y="1212850"/>
          <a:ext cx="16922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3" imgW="786765" imgH="444500" progId="Equation.DSMT4">
                  <p:embed/>
                </p:oleObj>
              </mc:Choice>
              <mc:Fallback>
                <p:oleObj name="" r:id="rId13" imgW="786765" imgH="4445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0038" y="1212850"/>
                        <a:ext cx="1692275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4" name="Object 8"/>
          <p:cNvGraphicFramePr>
            <a:graphicFrameLocks noChangeAspect="1"/>
          </p:cNvGraphicFramePr>
          <p:nvPr/>
        </p:nvGraphicFramePr>
        <p:xfrm>
          <a:off x="6959600" y="1212850"/>
          <a:ext cx="12080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5" imgW="546100" imgH="444500" progId="Equation.DSMT4">
                  <p:embed/>
                </p:oleObj>
              </mc:Choice>
              <mc:Fallback>
                <p:oleObj name="" r:id="rId15" imgW="546100" imgH="4445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59600" y="1212850"/>
                        <a:ext cx="1208088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9" name="Object 13"/>
          <p:cNvGraphicFramePr/>
          <p:nvPr/>
        </p:nvGraphicFramePr>
        <p:xfrm>
          <a:off x="1143000" y="2895600"/>
          <a:ext cx="215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7" imgW="215900" imgH="292100" progId="Equation.3">
                  <p:embed/>
                </p:oleObj>
              </mc:Choice>
              <mc:Fallback>
                <p:oleObj name="" r:id="rId17" imgW="215900" imgH="2921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43000" y="2895600"/>
                        <a:ext cx="2159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0" name="Text Box 1050"/>
          <p:cNvSpPr txBox="1">
            <a:spLocks noChangeArrowheads="1"/>
          </p:cNvSpPr>
          <p:nvPr/>
        </p:nvSpPr>
        <p:spPr bwMode="auto">
          <a:xfrm>
            <a:off x="1620838" y="3046413"/>
            <a:ext cx="193833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讨论：</a:t>
            </a:r>
            <a:endParaRPr kumimoji="0" lang="zh-CN" altLang="en-US" sz="28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8571" name="Text Box 1051"/>
          <p:cNvSpPr txBox="1">
            <a:spLocks noChangeArrowheads="1"/>
          </p:cNvSpPr>
          <p:nvPr/>
        </p:nvSpPr>
        <p:spPr bwMode="auto">
          <a:xfrm>
            <a:off x="2747963" y="3022600"/>
            <a:ext cx="42735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(1)当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x= 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0，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8572" name="Object 14"/>
          <p:cNvGraphicFramePr>
            <a:graphicFrameLocks noChangeAspect="1"/>
          </p:cNvGraphicFramePr>
          <p:nvPr/>
        </p:nvGraphicFramePr>
        <p:xfrm>
          <a:off x="4583113" y="2814638"/>
          <a:ext cx="1905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9" imgW="799465" imgH="444500" progId="Equation.3">
                  <p:embed/>
                </p:oleObj>
              </mc:Choice>
              <mc:Fallback>
                <p:oleObj name="" r:id="rId19" imgW="799465" imgH="4445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83113" y="2814638"/>
                        <a:ext cx="19050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3" name="Text Box 1053"/>
          <p:cNvSpPr txBox="1">
            <a:spLocks noChangeArrowheads="1"/>
          </p:cNvSpPr>
          <p:nvPr/>
        </p:nvSpPr>
        <p:spPr bwMode="auto">
          <a:xfrm>
            <a:off x="2763838" y="3868738"/>
            <a:ext cx="47117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(2)当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x &gt;&gt;R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，</a:t>
            </a:r>
            <a:endParaRPr kumimoji="1" lang="en-US" altLang="zh-CN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8574" name="Object 15"/>
          <p:cNvGraphicFramePr>
            <a:graphicFrameLocks noChangeAspect="1"/>
          </p:cNvGraphicFramePr>
          <p:nvPr/>
        </p:nvGraphicFramePr>
        <p:xfrm>
          <a:off x="4837113" y="3675063"/>
          <a:ext cx="18288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1" imgW="774065" imgH="444500" progId="Equation.3">
                  <p:embed/>
                </p:oleObj>
              </mc:Choice>
              <mc:Fallback>
                <p:oleObj name="" r:id="rId21" imgW="774065" imgH="4445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37113" y="3675063"/>
                        <a:ext cx="1828800" cy="1046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5" name="AutoShape 1055"/>
          <p:cNvSpPr>
            <a:spLocks noChangeArrowheads="1"/>
          </p:cNvSpPr>
          <p:nvPr/>
        </p:nvSpPr>
        <p:spPr bwMode="auto">
          <a:xfrm>
            <a:off x="6796088" y="2949575"/>
            <a:ext cx="2347913" cy="914400"/>
          </a:xfrm>
          <a:prstGeom prst="wedgeEllipseCallout">
            <a:avLst>
              <a:gd name="adj1" fmla="val -58449"/>
              <a:gd name="adj2" fmla="val 6871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相当于点电荷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8576" name="Text Box 1056"/>
          <p:cNvSpPr txBox="1">
            <a:spLocks noChangeArrowheads="1"/>
          </p:cNvSpPr>
          <p:nvPr/>
        </p:nvSpPr>
        <p:spPr bwMode="auto">
          <a:xfrm>
            <a:off x="288925" y="4891088"/>
            <a:ext cx="649287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(3)若是一带电圆盘？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8577" name="Rectangle 1057"/>
          <p:cNvSpPr>
            <a:spLocks noChangeArrowheads="1"/>
          </p:cNvSpPr>
          <p:nvPr/>
        </p:nvSpPr>
        <p:spPr bwMode="auto">
          <a:xfrm>
            <a:off x="1447800" y="1865313"/>
            <a:ext cx="457200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8578" name="Object 16"/>
          <p:cNvGraphicFramePr>
            <a:graphicFrameLocks noChangeAspect="1"/>
          </p:cNvGraphicFramePr>
          <p:nvPr/>
        </p:nvGraphicFramePr>
        <p:xfrm>
          <a:off x="3597275" y="4648200"/>
          <a:ext cx="33194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23" imgW="1282700" imgH="457200" progId="Equation.3">
                  <p:embed/>
                </p:oleObj>
              </mc:Choice>
              <mc:Fallback>
                <p:oleObj name="" r:id="rId23" imgW="1282700" imgH="4572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97275" y="4648200"/>
                        <a:ext cx="3319463" cy="1182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79" name="AutoShape 1059"/>
          <p:cNvSpPr>
            <a:spLocks noChangeArrowheads="1"/>
          </p:cNvSpPr>
          <p:nvPr/>
        </p:nvSpPr>
        <p:spPr bwMode="auto">
          <a:xfrm>
            <a:off x="6889750" y="4265613"/>
            <a:ext cx="2057400" cy="762000"/>
          </a:xfrm>
          <a:prstGeom prst="wedgeEllipseCallout">
            <a:avLst>
              <a:gd name="adj1" fmla="val -84504"/>
              <a:gd name="adj2" fmla="val 3342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q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r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  <a:sym typeface="Symbol" panose="05050102010706020507" pitchFamily="18" charset="2"/>
              </a:rPr>
              <a:t>r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08580" name="Object 17"/>
          <p:cNvGraphicFramePr>
            <a:graphicFrameLocks noChangeAspect="1"/>
          </p:cNvGraphicFramePr>
          <p:nvPr/>
        </p:nvGraphicFramePr>
        <p:xfrm>
          <a:off x="1947863" y="5829300"/>
          <a:ext cx="482441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5" imgW="1943100" imgH="381000" progId="Equation.3">
                  <p:embed/>
                </p:oleObj>
              </mc:Choice>
              <mc:Fallback>
                <p:oleObj name="" r:id="rId25" imgW="1943100" imgH="3810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47863" y="5829300"/>
                        <a:ext cx="4824412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81" name="Line 1061"/>
          <p:cNvSpPr>
            <a:spLocks noChangeShapeType="1"/>
          </p:cNvSpPr>
          <p:nvPr/>
        </p:nvSpPr>
        <p:spPr bwMode="auto">
          <a:xfrm>
            <a:off x="990600" y="1789113"/>
            <a:ext cx="1447800" cy="685800"/>
          </a:xfrm>
          <a:prstGeom prst="line">
            <a:avLst/>
          </a:prstGeom>
          <a:noFill/>
          <a:ln w="76200">
            <a:noFill/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82" name="Rectangle 1062"/>
          <p:cNvSpPr>
            <a:spLocks noChangeArrowheads="1"/>
          </p:cNvSpPr>
          <p:nvPr/>
        </p:nvSpPr>
        <p:spPr bwMode="auto">
          <a:xfrm rot="-3914268">
            <a:off x="1655763" y="1373188"/>
            <a:ext cx="90488" cy="15033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063"/>
          <p:cNvGrpSpPr/>
          <p:nvPr/>
        </p:nvGrpSpPr>
        <p:grpSpPr>
          <a:xfrm>
            <a:off x="2209800" y="1739900"/>
            <a:ext cx="404813" cy="1166813"/>
            <a:chOff x="1680" y="2139"/>
            <a:chExt cx="255" cy="735"/>
          </a:xfrm>
        </p:grpSpPr>
        <p:sp>
          <p:nvSpPr>
            <p:cNvPr id="60461" name="Text Box 1064"/>
            <p:cNvSpPr txBox="1">
              <a:spLocks noChangeArrowheads="1"/>
            </p:cNvSpPr>
            <p:nvPr/>
          </p:nvSpPr>
          <p:spPr bwMode="auto">
            <a:xfrm>
              <a:off x="1680" y="2139"/>
              <a:ext cx="237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6000" b="1" kern="1200" cap="none" spc="0" normalizeH="0" baseline="0" noProof="0" dirty="0">
                  <a:solidFill>
                    <a:srgbClr val="CC0066"/>
                  </a:solidFill>
                  <a:latin typeface="+mn-lt"/>
                  <a:ea typeface="楷体_GB2312" pitchFamily="49" charset="-122"/>
                  <a:cs typeface="+mn-cs"/>
                </a:rPr>
                <a:t>.</a:t>
              </a:r>
              <a:endParaRPr kumimoji="1" lang="zh-CN" altLang="en-US" sz="6000" b="1" kern="1200" cap="none" spc="0" normalizeH="0" baseline="0" noProof="0" dirty="0">
                <a:latin typeface="+mn-lt"/>
                <a:ea typeface="楷体_GB2312" pitchFamily="49" charset="-122"/>
                <a:cs typeface="+mn-cs"/>
              </a:endParaRPr>
            </a:p>
          </p:txBody>
        </p:sp>
        <p:sp>
          <p:nvSpPr>
            <p:cNvPr id="60462" name="Text Box 1065"/>
            <p:cNvSpPr txBox="1">
              <a:spLocks noChangeArrowheads="1"/>
            </p:cNvSpPr>
            <p:nvPr/>
          </p:nvSpPr>
          <p:spPr bwMode="auto">
            <a:xfrm>
              <a:off x="1680" y="2544"/>
              <a:ext cx="255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b="1" i="1" kern="1200" cap="none" spc="0" normalizeH="0" baseline="0" noProof="0">
                  <a:latin typeface="+mn-lt"/>
                  <a:ea typeface="楷体_GB2312" pitchFamily="49" charset="-122"/>
                  <a:cs typeface="+mn-cs"/>
                </a:rPr>
                <a:t>P</a:t>
              </a:r>
              <a:endParaRPr kumimoji="1" lang="en-US" altLang="zh-CN" sz="2800" b="1" kern="1200" cap="none" spc="0" normalizeH="0" baseline="0" noProof="0">
                <a:latin typeface="+mn-lt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08586" name="Oval 1066"/>
          <p:cNvSpPr>
            <a:spLocks noChangeArrowheads="1"/>
          </p:cNvSpPr>
          <p:nvPr/>
        </p:nvSpPr>
        <p:spPr bwMode="auto">
          <a:xfrm>
            <a:off x="457200" y="1617663"/>
            <a:ext cx="762000" cy="1752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87" name="Oval 1067"/>
          <p:cNvSpPr>
            <a:spLocks noChangeArrowheads="1"/>
          </p:cNvSpPr>
          <p:nvPr/>
        </p:nvSpPr>
        <p:spPr bwMode="auto">
          <a:xfrm>
            <a:off x="609600" y="1849438"/>
            <a:ext cx="457200" cy="12954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88" name="Line 1068"/>
          <p:cNvSpPr>
            <a:spLocks noChangeShapeType="1"/>
          </p:cNvSpPr>
          <p:nvPr/>
        </p:nvSpPr>
        <p:spPr bwMode="auto">
          <a:xfrm>
            <a:off x="838200" y="1865313"/>
            <a:ext cx="1600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8589" name="Object 18"/>
          <p:cNvGraphicFramePr>
            <a:graphicFrameLocks noChangeAspect="1"/>
          </p:cNvGraphicFramePr>
          <p:nvPr/>
        </p:nvGraphicFramePr>
        <p:xfrm>
          <a:off x="685800" y="2170113"/>
          <a:ext cx="180975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27" imgW="228600" imgH="266700" progId="Equation.3">
                  <p:embed/>
                </p:oleObj>
              </mc:Choice>
              <mc:Fallback>
                <p:oleObj name="" r:id="rId27" imgW="228600" imgH="266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170113"/>
                        <a:ext cx="180975" cy="20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90" name="Line 1070"/>
          <p:cNvSpPr>
            <a:spLocks noChangeShapeType="1"/>
          </p:cNvSpPr>
          <p:nvPr/>
        </p:nvSpPr>
        <p:spPr bwMode="auto">
          <a:xfrm>
            <a:off x="838200" y="2474913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91" name="Line 1071"/>
          <p:cNvSpPr>
            <a:spLocks noChangeShapeType="1"/>
          </p:cNvSpPr>
          <p:nvPr/>
        </p:nvSpPr>
        <p:spPr bwMode="auto">
          <a:xfrm flipV="1">
            <a:off x="838200" y="1865313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49"/>
          <p:cNvGraphicFramePr>
            <a:graphicFrameLocks noChangeAspect="1"/>
          </p:cNvGraphicFramePr>
          <p:nvPr/>
        </p:nvGraphicFramePr>
        <p:xfrm>
          <a:off x="5070475" y="1246188"/>
          <a:ext cx="18542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28" imgW="837565" imgH="444500" progId="Equation.DSMT4">
                  <p:embed/>
                </p:oleObj>
              </mc:Choice>
              <mc:Fallback>
                <p:oleObj name="" r:id="rId28" imgW="837565" imgH="4445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070475" y="1246188"/>
                        <a:ext cx="1854200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0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108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75"/>
                                        <p:tgtEl>
                                          <p:spTgt spid="10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10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75"/>
                                        <p:tgtEl>
                                          <p:spTgt spid="10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4" dur="500"/>
                                        <p:tgtEl>
                                          <p:spTgt spid="1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  <p:bldP spid="108548" grpId="0" animBg="1"/>
      <p:bldP spid="108551" grpId="0"/>
      <p:bldP spid="108556" grpId="0"/>
      <p:bldP spid="108570" grpId="0"/>
      <p:bldP spid="108571" grpId="0"/>
      <p:bldP spid="108573" grpId="0"/>
      <p:bldP spid="108575" grpId="0" animBg="1"/>
      <p:bldP spid="108576" grpId="0"/>
      <p:bldP spid="108577" grpId="0" animBg="1"/>
      <p:bldP spid="108579" grpId="0" animBg="1"/>
      <p:bldP spid="108582" grpId="0" animBg="1"/>
      <p:bldP spid="108586" grpId="0" animBg="1"/>
      <p:bldP spid="1085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61461" name="Text Box 4117"/>
          <p:cNvSpPr txBox="1">
            <a:spLocks noChangeArrowheads="1"/>
          </p:cNvSpPr>
          <p:nvPr/>
        </p:nvSpPr>
        <p:spPr bwMode="auto">
          <a:xfrm>
            <a:off x="225425" y="349250"/>
            <a:ext cx="4221163" cy="95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just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6</a:t>
            </a: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.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两同心带电球面，求 </a:t>
            </a:r>
            <a:r>
              <a:rPr kumimoji="0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点的电势。</a:t>
            </a:r>
            <a:endParaRPr kumimoji="0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163"/>
          <p:cNvGrpSpPr/>
          <p:nvPr/>
        </p:nvGrpSpPr>
        <p:grpSpPr>
          <a:xfrm>
            <a:off x="5048250" y="85725"/>
            <a:ext cx="3375025" cy="3040063"/>
            <a:chOff x="3000" y="99"/>
            <a:chExt cx="2126" cy="1915"/>
          </a:xfrm>
        </p:grpSpPr>
        <p:sp>
          <p:nvSpPr>
            <p:cNvPr id="61470" name="Line 4126"/>
            <p:cNvSpPr>
              <a:spLocks noChangeShapeType="1"/>
            </p:cNvSpPr>
            <p:nvPr/>
          </p:nvSpPr>
          <p:spPr bwMode="auto">
            <a:xfrm flipV="1">
              <a:off x="4276" y="442"/>
              <a:ext cx="357" cy="78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1" name="Oval 4127"/>
            <p:cNvSpPr>
              <a:spLocks noChangeArrowheads="1"/>
            </p:cNvSpPr>
            <p:nvPr/>
          </p:nvSpPr>
          <p:spPr bwMode="auto">
            <a:xfrm>
              <a:off x="3425" y="357"/>
              <a:ext cx="1701" cy="1657"/>
            </a:xfrm>
            <a:prstGeom prst="ellipse">
              <a:avLst/>
            </a:prstGeom>
            <a:noFill/>
            <a:ln w="57150">
              <a:solidFill>
                <a:schemeClr val="tx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2" name="Oval 4128"/>
            <p:cNvSpPr>
              <a:spLocks noChangeArrowheads="1"/>
            </p:cNvSpPr>
            <p:nvPr/>
          </p:nvSpPr>
          <p:spPr bwMode="auto">
            <a:xfrm>
              <a:off x="3783" y="688"/>
              <a:ext cx="1003" cy="1029"/>
            </a:xfrm>
            <a:prstGeom prst="ellipse">
              <a:avLst/>
            </a:prstGeom>
            <a:noFill/>
            <a:ln w="57150">
              <a:solidFill>
                <a:schemeClr val="tx1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3" name="Line 4129"/>
            <p:cNvSpPr>
              <a:spLocks noChangeShapeType="1"/>
            </p:cNvSpPr>
            <p:nvPr/>
          </p:nvSpPr>
          <p:spPr bwMode="auto">
            <a:xfrm>
              <a:off x="4276" y="1224"/>
              <a:ext cx="502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4" name="Freeform 4130"/>
            <p:cNvSpPr/>
            <p:nvPr/>
          </p:nvSpPr>
          <p:spPr bwMode="auto">
            <a:xfrm>
              <a:off x="3077" y="943"/>
              <a:ext cx="1199" cy="289"/>
            </a:xfrm>
            <a:custGeom>
              <a:avLst/>
              <a:gdLst/>
              <a:ahLst/>
              <a:cxnLst>
                <a:cxn ang="0">
                  <a:pos x="1199" y="289"/>
                </a:cxn>
                <a:cxn ang="0">
                  <a:pos x="1199" y="272"/>
                </a:cxn>
                <a:cxn ang="0">
                  <a:pos x="0" y="0"/>
                </a:cxn>
                <a:cxn ang="0">
                  <a:pos x="0" y="17"/>
                </a:cxn>
                <a:cxn ang="0">
                  <a:pos x="1199" y="289"/>
                </a:cxn>
              </a:cxnLst>
              <a:rect l="0" t="0" r="r" b="b"/>
              <a:pathLst>
                <a:path w="1199" h="289">
                  <a:moveTo>
                    <a:pt x="1199" y="289"/>
                  </a:moveTo>
                  <a:lnTo>
                    <a:pt x="1199" y="272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199" y="28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5" name="Freeform 4131"/>
            <p:cNvSpPr/>
            <p:nvPr/>
          </p:nvSpPr>
          <p:spPr bwMode="auto">
            <a:xfrm>
              <a:off x="3638" y="1215"/>
              <a:ext cx="638" cy="213"/>
            </a:xfrm>
            <a:custGeom>
              <a:avLst/>
              <a:gdLst/>
              <a:ahLst/>
              <a:cxnLst>
                <a:cxn ang="0">
                  <a:pos x="638" y="17"/>
                </a:cxn>
                <a:cxn ang="0">
                  <a:pos x="638" y="0"/>
                </a:cxn>
                <a:cxn ang="0">
                  <a:pos x="0" y="196"/>
                </a:cxn>
                <a:cxn ang="0">
                  <a:pos x="0" y="213"/>
                </a:cxn>
                <a:cxn ang="0">
                  <a:pos x="638" y="17"/>
                </a:cxn>
              </a:cxnLst>
              <a:rect l="0" t="0" r="r" b="b"/>
              <a:pathLst>
                <a:path w="638" h="213">
                  <a:moveTo>
                    <a:pt x="638" y="17"/>
                  </a:moveTo>
                  <a:lnTo>
                    <a:pt x="638" y="0"/>
                  </a:lnTo>
                  <a:lnTo>
                    <a:pt x="0" y="196"/>
                  </a:lnTo>
                  <a:lnTo>
                    <a:pt x="0" y="213"/>
                  </a:lnTo>
                  <a:lnTo>
                    <a:pt x="638" y="17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6" name="Freeform 4132"/>
            <p:cNvSpPr/>
            <p:nvPr/>
          </p:nvSpPr>
          <p:spPr bwMode="auto">
            <a:xfrm>
              <a:off x="4106" y="1224"/>
              <a:ext cx="178" cy="246"/>
            </a:xfrm>
            <a:custGeom>
              <a:avLst/>
              <a:gdLst/>
              <a:ahLst/>
              <a:cxnLst>
                <a:cxn ang="0">
                  <a:pos x="178" y="8"/>
                </a:cxn>
                <a:cxn ang="0">
                  <a:pos x="170" y="0"/>
                </a:cxn>
                <a:cxn ang="0">
                  <a:pos x="0" y="238"/>
                </a:cxn>
                <a:cxn ang="0">
                  <a:pos x="8" y="246"/>
                </a:cxn>
                <a:cxn ang="0">
                  <a:pos x="178" y="8"/>
                </a:cxn>
              </a:cxnLst>
              <a:rect l="0" t="0" r="r" b="b"/>
              <a:pathLst>
                <a:path w="178" h="246">
                  <a:moveTo>
                    <a:pt x="178" y="8"/>
                  </a:moveTo>
                  <a:lnTo>
                    <a:pt x="170" y="0"/>
                  </a:lnTo>
                  <a:lnTo>
                    <a:pt x="0" y="238"/>
                  </a:lnTo>
                  <a:lnTo>
                    <a:pt x="8" y="246"/>
                  </a:lnTo>
                  <a:lnTo>
                    <a:pt x="178" y="8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7" name="Rectangle 4133"/>
            <p:cNvSpPr>
              <a:spLocks noChangeArrowheads="1"/>
            </p:cNvSpPr>
            <p:nvPr/>
          </p:nvSpPr>
          <p:spPr bwMode="auto">
            <a:xfrm>
              <a:off x="4208" y="331"/>
              <a:ext cx="417" cy="3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8" name="Rectangle 4134"/>
            <p:cNvSpPr>
              <a:spLocks noChangeArrowheads="1"/>
            </p:cNvSpPr>
            <p:nvPr/>
          </p:nvSpPr>
          <p:spPr bwMode="auto">
            <a:xfrm>
              <a:off x="4216" y="348"/>
              <a:ext cx="113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q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9" name="Rectangle 4135"/>
            <p:cNvSpPr>
              <a:spLocks noChangeArrowheads="1"/>
            </p:cNvSpPr>
            <p:nvPr/>
          </p:nvSpPr>
          <p:spPr bwMode="auto">
            <a:xfrm>
              <a:off x="4344" y="476"/>
              <a:ext cx="73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0" name="Rectangle 4136"/>
            <p:cNvSpPr>
              <a:spLocks noChangeArrowheads="1"/>
            </p:cNvSpPr>
            <p:nvPr/>
          </p:nvSpPr>
          <p:spPr bwMode="auto">
            <a:xfrm>
              <a:off x="3714" y="118"/>
              <a:ext cx="417" cy="3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1" name="Rectangle 4137"/>
            <p:cNvSpPr>
              <a:spLocks noChangeArrowheads="1"/>
            </p:cNvSpPr>
            <p:nvPr/>
          </p:nvSpPr>
          <p:spPr bwMode="auto">
            <a:xfrm>
              <a:off x="3723" y="99"/>
              <a:ext cx="113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q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2" name="Rectangle 4138"/>
            <p:cNvSpPr>
              <a:spLocks noChangeArrowheads="1"/>
            </p:cNvSpPr>
            <p:nvPr/>
          </p:nvSpPr>
          <p:spPr bwMode="auto">
            <a:xfrm>
              <a:off x="3851" y="245"/>
              <a:ext cx="73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3" name="Rectangle 4139"/>
            <p:cNvSpPr>
              <a:spLocks noChangeArrowheads="1"/>
            </p:cNvSpPr>
            <p:nvPr/>
          </p:nvSpPr>
          <p:spPr bwMode="auto">
            <a:xfrm>
              <a:off x="4420" y="909"/>
              <a:ext cx="409" cy="3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4" name="Rectangle 4140"/>
            <p:cNvSpPr>
              <a:spLocks noChangeArrowheads="1"/>
            </p:cNvSpPr>
            <p:nvPr/>
          </p:nvSpPr>
          <p:spPr bwMode="auto">
            <a:xfrm>
              <a:off x="4429" y="935"/>
              <a:ext cx="15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5" name="Rectangle 4141"/>
            <p:cNvSpPr>
              <a:spLocks noChangeArrowheads="1"/>
            </p:cNvSpPr>
            <p:nvPr/>
          </p:nvSpPr>
          <p:spPr bwMode="auto">
            <a:xfrm>
              <a:off x="4599" y="1062"/>
              <a:ext cx="73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6" name="Rectangle 4142"/>
            <p:cNvSpPr>
              <a:spLocks noChangeArrowheads="1"/>
            </p:cNvSpPr>
            <p:nvPr/>
          </p:nvSpPr>
          <p:spPr bwMode="auto">
            <a:xfrm>
              <a:off x="4531" y="561"/>
              <a:ext cx="408" cy="34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7" name="Rectangle 4143"/>
            <p:cNvSpPr>
              <a:spLocks noChangeArrowheads="1"/>
            </p:cNvSpPr>
            <p:nvPr/>
          </p:nvSpPr>
          <p:spPr bwMode="auto">
            <a:xfrm>
              <a:off x="4575" y="488"/>
              <a:ext cx="15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8" name="Rectangle 4144"/>
            <p:cNvSpPr>
              <a:spLocks noChangeArrowheads="1"/>
            </p:cNvSpPr>
            <p:nvPr/>
          </p:nvSpPr>
          <p:spPr bwMode="auto">
            <a:xfrm>
              <a:off x="4729" y="624"/>
              <a:ext cx="73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9" name="Oval 4145"/>
            <p:cNvSpPr>
              <a:spLocks noChangeArrowheads="1"/>
            </p:cNvSpPr>
            <p:nvPr/>
          </p:nvSpPr>
          <p:spPr bwMode="auto">
            <a:xfrm>
              <a:off x="3043" y="926"/>
              <a:ext cx="68" cy="68"/>
            </a:xfrm>
            <a:prstGeom prst="ellipse">
              <a:avLst/>
            </a:prstGeom>
            <a:solidFill>
              <a:srgbClr val="0000FF"/>
            </a:solidFill>
            <a:ln w="14288">
              <a:solidFill>
                <a:srgbClr val="0000FF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0" name="Oval 4146"/>
            <p:cNvSpPr>
              <a:spLocks noChangeArrowheads="1"/>
            </p:cNvSpPr>
            <p:nvPr/>
          </p:nvSpPr>
          <p:spPr bwMode="auto">
            <a:xfrm>
              <a:off x="3595" y="1394"/>
              <a:ext cx="68" cy="68"/>
            </a:xfrm>
            <a:prstGeom prst="ellipse">
              <a:avLst/>
            </a:prstGeom>
            <a:solidFill>
              <a:srgbClr val="0000FF"/>
            </a:solidFill>
            <a:ln w="14288">
              <a:solidFill>
                <a:srgbClr val="0000FF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1" name="Oval 4147"/>
            <p:cNvSpPr>
              <a:spLocks noChangeArrowheads="1"/>
            </p:cNvSpPr>
            <p:nvPr/>
          </p:nvSpPr>
          <p:spPr bwMode="auto">
            <a:xfrm>
              <a:off x="4080" y="1436"/>
              <a:ext cx="68" cy="68"/>
            </a:xfrm>
            <a:prstGeom prst="ellipse">
              <a:avLst/>
            </a:prstGeom>
            <a:solidFill>
              <a:srgbClr val="0000FF"/>
            </a:solidFill>
            <a:ln w="14288">
              <a:solidFill>
                <a:srgbClr val="0000FF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2" name="Rectangle 4148"/>
            <p:cNvSpPr>
              <a:spLocks noChangeArrowheads="1"/>
            </p:cNvSpPr>
            <p:nvPr/>
          </p:nvSpPr>
          <p:spPr bwMode="auto">
            <a:xfrm>
              <a:off x="3000" y="629"/>
              <a:ext cx="323" cy="3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3" name="Rectangle 4149"/>
            <p:cNvSpPr>
              <a:spLocks noChangeArrowheads="1"/>
            </p:cNvSpPr>
            <p:nvPr/>
          </p:nvSpPr>
          <p:spPr bwMode="auto">
            <a:xfrm>
              <a:off x="3017" y="646"/>
              <a:ext cx="15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4" name="Rectangle 4150"/>
            <p:cNvSpPr>
              <a:spLocks noChangeArrowheads="1"/>
            </p:cNvSpPr>
            <p:nvPr/>
          </p:nvSpPr>
          <p:spPr bwMode="auto">
            <a:xfrm>
              <a:off x="3357" y="1249"/>
              <a:ext cx="323" cy="3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5" name="Rectangle 4151"/>
            <p:cNvSpPr>
              <a:spLocks noChangeArrowheads="1"/>
            </p:cNvSpPr>
            <p:nvPr/>
          </p:nvSpPr>
          <p:spPr bwMode="auto">
            <a:xfrm>
              <a:off x="3506" y="1153"/>
              <a:ext cx="242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6" name="Rectangle 4152"/>
            <p:cNvSpPr>
              <a:spLocks noChangeArrowheads="1"/>
            </p:cNvSpPr>
            <p:nvPr/>
          </p:nvSpPr>
          <p:spPr bwMode="auto">
            <a:xfrm>
              <a:off x="3851" y="1368"/>
              <a:ext cx="365" cy="3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7" name="Rectangle 4153"/>
            <p:cNvSpPr>
              <a:spLocks noChangeArrowheads="1"/>
            </p:cNvSpPr>
            <p:nvPr/>
          </p:nvSpPr>
          <p:spPr bwMode="auto">
            <a:xfrm>
              <a:off x="4159" y="1420"/>
              <a:ext cx="15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8" name="Rectangle 4154"/>
            <p:cNvSpPr>
              <a:spLocks noChangeArrowheads="1"/>
            </p:cNvSpPr>
            <p:nvPr/>
          </p:nvSpPr>
          <p:spPr bwMode="auto">
            <a:xfrm>
              <a:off x="3570" y="799"/>
              <a:ext cx="349" cy="3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9" name="Rectangle 4155"/>
            <p:cNvSpPr>
              <a:spLocks noChangeArrowheads="1"/>
            </p:cNvSpPr>
            <p:nvPr/>
          </p:nvSpPr>
          <p:spPr bwMode="auto">
            <a:xfrm>
              <a:off x="3578" y="789"/>
              <a:ext cx="88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0" name="Rectangle 4156"/>
            <p:cNvSpPr>
              <a:spLocks noChangeArrowheads="1"/>
            </p:cNvSpPr>
            <p:nvPr/>
          </p:nvSpPr>
          <p:spPr bwMode="auto">
            <a:xfrm>
              <a:off x="3671" y="916"/>
              <a:ext cx="97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1" name="Rectangle 4157"/>
            <p:cNvSpPr>
              <a:spLocks noChangeArrowheads="1"/>
            </p:cNvSpPr>
            <p:nvPr/>
          </p:nvSpPr>
          <p:spPr bwMode="auto">
            <a:xfrm>
              <a:off x="3842" y="1028"/>
              <a:ext cx="349" cy="3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2" name="Rectangle 4158"/>
            <p:cNvSpPr>
              <a:spLocks noChangeArrowheads="1"/>
            </p:cNvSpPr>
            <p:nvPr/>
          </p:nvSpPr>
          <p:spPr bwMode="auto">
            <a:xfrm>
              <a:off x="3851" y="1045"/>
              <a:ext cx="88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3" name="Rectangle 4159"/>
            <p:cNvSpPr>
              <a:spLocks noChangeArrowheads="1"/>
            </p:cNvSpPr>
            <p:nvPr/>
          </p:nvSpPr>
          <p:spPr bwMode="auto">
            <a:xfrm>
              <a:off x="3935" y="1172"/>
              <a:ext cx="97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4" name="Rectangle 4160"/>
            <p:cNvSpPr>
              <a:spLocks noChangeArrowheads="1"/>
            </p:cNvSpPr>
            <p:nvPr/>
          </p:nvSpPr>
          <p:spPr bwMode="auto">
            <a:xfrm>
              <a:off x="4267" y="1190"/>
              <a:ext cx="349" cy="3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5" name="Rectangle 4161"/>
            <p:cNvSpPr>
              <a:spLocks noChangeArrowheads="1"/>
            </p:cNvSpPr>
            <p:nvPr/>
          </p:nvSpPr>
          <p:spPr bwMode="auto">
            <a:xfrm>
              <a:off x="4276" y="1215"/>
              <a:ext cx="88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6" name="Rectangle 4162"/>
            <p:cNvSpPr>
              <a:spLocks noChangeArrowheads="1"/>
            </p:cNvSpPr>
            <p:nvPr/>
          </p:nvSpPr>
          <p:spPr bwMode="auto">
            <a:xfrm>
              <a:off x="4343" y="1351"/>
              <a:ext cx="97" cy="1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61463" name="Object 2"/>
          <p:cNvGraphicFramePr>
            <a:graphicFrameLocks noChangeAspect="1"/>
          </p:cNvGraphicFramePr>
          <p:nvPr/>
        </p:nvGraphicFramePr>
        <p:xfrm>
          <a:off x="3684588" y="3190875"/>
          <a:ext cx="440213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2578100" imgH="609600" progId="Equation.3">
                  <p:embed/>
                </p:oleObj>
              </mc:Choice>
              <mc:Fallback>
                <p:oleObj name="" r:id="rId1" imgW="2578100" imgH="6096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4588" y="3190875"/>
                        <a:ext cx="4402137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3"/>
          <p:cNvGraphicFramePr>
            <a:graphicFrameLocks noChangeAspect="1"/>
          </p:cNvGraphicFramePr>
          <p:nvPr/>
        </p:nvGraphicFramePr>
        <p:xfrm>
          <a:off x="1214438" y="5419725"/>
          <a:ext cx="55721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3263900" imgH="609600" progId="Equation.3">
                  <p:embed/>
                </p:oleObj>
              </mc:Choice>
              <mc:Fallback>
                <p:oleObj name="" r:id="rId3" imgW="3263900" imgH="6096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4438" y="5419725"/>
                        <a:ext cx="5572125" cy="1039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7" name="Object 4"/>
          <p:cNvGraphicFramePr>
            <a:graphicFrameLocks noChangeAspect="1"/>
          </p:cNvGraphicFramePr>
          <p:nvPr/>
        </p:nvGraphicFramePr>
        <p:xfrm>
          <a:off x="1189038" y="4322763"/>
          <a:ext cx="5507037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3225800" imgH="609600" progId="Equation.3">
                  <p:embed/>
                </p:oleObj>
              </mc:Choice>
              <mc:Fallback>
                <p:oleObj name="" r:id="rId5" imgW="3225800" imgH="6096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9038" y="4322763"/>
                        <a:ext cx="5507037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9" name="Object 5"/>
          <p:cNvGraphicFramePr>
            <a:graphicFrameLocks noChangeAspect="1"/>
          </p:cNvGraphicFramePr>
          <p:nvPr/>
        </p:nvGraphicFramePr>
        <p:xfrm>
          <a:off x="1160463" y="3441700"/>
          <a:ext cx="25161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7" imgW="1472565" imgH="317500" progId="Equation.3">
                  <p:embed/>
                </p:oleObj>
              </mc:Choice>
              <mc:Fallback>
                <p:oleObj name="" r:id="rId7" imgW="1472565" imgH="3175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463" y="3441700"/>
                        <a:ext cx="2516187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8" name="Rectangle 4164"/>
          <p:cNvSpPr/>
          <p:nvPr/>
        </p:nvSpPr>
        <p:spPr>
          <a:xfrm>
            <a:off x="523875" y="1885950"/>
            <a:ext cx="5099050" cy="573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单独在该点的电势的和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!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1" grpId="0"/>
      <p:bldP spid="615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5410" name="Object 2"/>
          <p:cNvGraphicFramePr/>
          <p:nvPr/>
        </p:nvGraphicFramePr>
        <p:xfrm>
          <a:off x="695325" y="2990850"/>
          <a:ext cx="2949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" imgW="1091565" imgH="228600" progId="Equation.DSMT4">
                  <p:embed/>
                </p:oleObj>
              </mc:Choice>
              <mc:Fallback>
                <p:oleObj name="" r:id="rId1" imgW="1091565" imgH="2286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325" y="2990850"/>
                        <a:ext cx="294957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1" name="Object 3"/>
          <p:cNvGraphicFramePr/>
          <p:nvPr/>
        </p:nvGraphicFramePr>
        <p:xfrm>
          <a:off x="2605088" y="4941888"/>
          <a:ext cx="57912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2171700" imgH="457200" progId="Equation.3">
                  <p:embed/>
                </p:oleObj>
              </mc:Choice>
              <mc:Fallback>
                <p:oleObj name="" r:id="rId3" imgW="2171700" imgH="4572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5088" y="4941888"/>
                        <a:ext cx="5791200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325438" y="1762125"/>
            <a:ext cx="4114800" cy="1117600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7620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解：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在任意位置 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x 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处取长度元</a:t>
            </a:r>
            <a:r>
              <a:rPr kumimoji="1" lang="en-US" altLang="zh-CN" sz="2800" b="1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800" b="1" i="1" kern="1200" cap="none" spc="0" normalizeH="0" baseline="0" noProof="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,  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其带电量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325438" y="3962400"/>
            <a:ext cx="3967163" cy="560388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R="0" defTabSz="7620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它在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点的电势：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53988" y="273050"/>
            <a:ext cx="8990012" cy="1077913"/>
            <a:chOff x="222" y="172"/>
            <a:chExt cx="5602" cy="679"/>
          </a:xfrm>
        </p:grpSpPr>
        <p:sp>
          <p:nvSpPr>
            <p:cNvPr id="145416" name="Rectangle 8"/>
            <p:cNvSpPr>
              <a:spLocks noChangeArrowheads="1"/>
            </p:cNvSpPr>
            <p:nvPr/>
          </p:nvSpPr>
          <p:spPr bwMode="auto">
            <a:xfrm>
              <a:off x="222" y="172"/>
              <a:ext cx="5602" cy="67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762000" rtl="0" eaLnBrk="1" fontAlgn="base" latinLnBrk="0" hangingPunct="1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楷体_GB2312" pitchFamily="49" charset="-122"/>
                  <a:cs typeface="+mn-cs"/>
                </a:rPr>
                <a:t>例7.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长为  的不均匀带电直线，电荷线密度为                 ，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762000" rtl="0" eaLnBrk="1" fontAlgn="base" latinLnBrk="0" hangingPunct="1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取无穷远处为电势零点，求坐标原点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O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的电势。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1955" name="Object 13"/>
            <p:cNvGraphicFramePr/>
            <p:nvPr/>
          </p:nvGraphicFramePr>
          <p:xfrm>
            <a:off x="1127" y="205"/>
            <a:ext cx="22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5" imgW="101600" imgH="177800" progId="Equation.3">
                    <p:embed/>
                  </p:oleObj>
                </mc:Choice>
                <mc:Fallback>
                  <p:oleObj name="" r:id="rId5" imgW="101600" imgH="1778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27" y="205"/>
                          <a:ext cx="220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6" name="Object 12"/>
            <p:cNvGraphicFramePr/>
            <p:nvPr/>
          </p:nvGraphicFramePr>
          <p:xfrm>
            <a:off x="4597" y="207"/>
            <a:ext cx="97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7" imgW="862965" imgH="228600" progId="Equation.DSMT4">
                    <p:embed/>
                  </p:oleObj>
                </mc:Choice>
                <mc:Fallback>
                  <p:oleObj name="" r:id="rId7" imgW="862965" imgH="2286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97" y="207"/>
                          <a:ext cx="979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5418" name="Object 4"/>
          <p:cNvGraphicFramePr/>
          <p:nvPr/>
        </p:nvGraphicFramePr>
        <p:xfrm>
          <a:off x="3328988" y="3733800"/>
          <a:ext cx="29718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1167765" imgH="444500" progId="Equation.3">
                  <p:embed/>
                </p:oleObj>
              </mc:Choice>
              <mc:Fallback>
                <p:oleObj name="" r:id="rId9" imgW="1167765" imgH="4445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28988" y="3733800"/>
                        <a:ext cx="2971800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40" name="Text Box 32"/>
          <p:cNvSpPr txBox="1">
            <a:spLocks noChangeArrowheads="1"/>
          </p:cNvSpPr>
          <p:nvPr/>
        </p:nvSpPr>
        <p:spPr bwMode="auto">
          <a:xfrm>
            <a:off x="325438" y="5157788"/>
            <a:ext cx="3103563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O</a:t>
            </a:r>
            <a:r>
              <a:rPr kumimoji="0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点总电势</a:t>
            </a:r>
            <a:endParaRPr kumimoji="0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38"/>
          <p:cNvGrpSpPr/>
          <p:nvPr/>
        </p:nvGrpSpPr>
        <p:grpSpPr>
          <a:xfrm>
            <a:off x="4495800" y="1676400"/>
            <a:ext cx="4670425" cy="1296988"/>
            <a:chOff x="2832" y="1056"/>
            <a:chExt cx="2942" cy="817"/>
          </a:xfrm>
        </p:grpSpPr>
        <p:graphicFrame>
          <p:nvGraphicFramePr>
            <p:cNvPr id="81941" name="Object 5"/>
            <p:cNvGraphicFramePr/>
            <p:nvPr/>
          </p:nvGraphicFramePr>
          <p:xfrm>
            <a:off x="3264" y="1056"/>
            <a:ext cx="33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1" imgW="127000" imgH="139700" progId="Equation.3">
                    <p:embed/>
                  </p:oleObj>
                </mc:Choice>
                <mc:Fallback>
                  <p:oleObj name="" r:id="rId11" imgW="127000" imgH="1397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64" y="1056"/>
                          <a:ext cx="335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42" name="Object 6"/>
            <p:cNvGraphicFramePr/>
            <p:nvPr/>
          </p:nvGraphicFramePr>
          <p:xfrm>
            <a:off x="2832" y="154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3" imgW="127000" imgH="127000" progId="Equation.3">
                    <p:embed/>
                  </p:oleObj>
                </mc:Choice>
                <mc:Fallback>
                  <p:oleObj name="" r:id="rId13" imgW="127000" imgH="1270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32" y="154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43" name="Object 7"/>
            <p:cNvGraphicFramePr/>
            <p:nvPr/>
          </p:nvGraphicFramePr>
          <p:xfrm>
            <a:off x="5472" y="1615"/>
            <a:ext cx="30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15" imgW="139700" imgH="139700" progId="Equation.3">
                    <p:embed/>
                  </p:oleObj>
                </mc:Choice>
                <mc:Fallback>
                  <p:oleObj name="" r:id="rId15" imgW="139700" imgH="1397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72" y="1615"/>
                          <a:ext cx="302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9" name="Line 15"/>
            <p:cNvSpPr>
              <a:spLocks noChangeShapeType="1"/>
            </p:cNvSpPr>
            <p:nvPr/>
          </p:nvSpPr>
          <p:spPr bwMode="auto">
            <a:xfrm>
              <a:off x="3072" y="1584"/>
              <a:ext cx="26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1945" name="Object 8"/>
            <p:cNvGraphicFramePr/>
            <p:nvPr/>
          </p:nvGraphicFramePr>
          <p:xfrm>
            <a:off x="4381" y="1196"/>
            <a:ext cx="205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17" imgW="101600" imgH="177800" progId="Equation.3">
                    <p:embed/>
                  </p:oleObj>
                </mc:Choice>
                <mc:Fallback>
                  <p:oleObj name="" r:id="rId17" imgW="101600" imgH="1778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81" y="1196"/>
                          <a:ext cx="205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10" name="Line 20"/>
            <p:cNvSpPr>
              <a:spLocks noChangeShapeType="1"/>
            </p:cNvSpPr>
            <p:nvPr/>
          </p:nvSpPr>
          <p:spPr bwMode="auto">
            <a:xfrm>
              <a:off x="3744" y="1104"/>
              <a:ext cx="0" cy="384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1" name="Line 21"/>
            <p:cNvSpPr>
              <a:spLocks noChangeShapeType="1"/>
            </p:cNvSpPr>
            <p:nvPr/>
          </p:nvSpPr>
          <p:spPr bwMode="auto">
            <a:xfrm>
              <a:off x="5232" y="1104"/>
              <a:ext cx="0" cy="384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2" name="Line 22"/>
            <p:cNvSpPr>
              <a:spLocks noChangeShapeType="1"/>
            </p:cNvSpPr>
            <p:nvPr/>
          </p:nvSpPr>
          <p:spPr bwMode="auto">
            <a:xfrm flipV="1">
              <a:off x="3744" y="1389"/>
              <a:ext cx="633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3" name="Line 23"/>
            <p:cNvSpPr>
              <a:spLocks noChangeShapeType="1"/>
            </p:cNvSpPr>
            <p:nvPr/>
          </p:nvSpPr>
          <p:spPr bwMode="auto">
            <a:xfrm flipH="1" flipV="1">
              <a:off x="4604" y="1389"/>
              <a:ext cx="599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4" name="Line 24"/>
            <p:cNvSpPr>
              <a:spLocks noChangeShapeType="1"/>
            </p:cNvSpPr>
            <p:nvPr/>
          </p:nvSpPr>
          <p:spPr bwMode="auto">
            <a:xfrm>
              <a:off x="3744" y="1584"/>
              <a:ext cx="1536" cy="0"/>
            </a:xfrm>
            <a:prstGeom prst="line">
              <a:avLst/>
            </a:prstGeom>
            <a:noFill/>
            <a:ln w="98425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5" name="Line 25"/>
            <p:cNvSpPr>
              <a:spLocks noChangeShapeType="1"/>
            </p:cNvSpPr>
            <p:nvPr/>
          </p:nvSpPr>
          <p:spPr bwMode="auto">
            <a:xfrm>
              <a:off x="3072" y="1104"/>
              <a:ext cx="0" cy="384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6" name="Line 26"/>
            <p:cNvSpPr>
              <a:spLocks noChangeShapeType="1"/>
            </p:cNvSpPr>
            <p:nvPr/>
          </p:nvSpPr>
          <p:spPr bwMode="auto">
            <a:xfrm>
              <a:off x="3072" y="139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1953" name="Object 9"/>
            <p:cNvGraphicFramePr/>
            <p:nvPr/>
          </p:nvGraphicFramePr>
          <p:xfrm>
            <a:off x="2952" y="1470"/>
            <a:ext cx="23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19" imgW="76200" imgH="76200" progId="Equation.3">
                    <p:embed/>
                  </p:oleObj>
                </mc:Choice>
                <mc:Fallback>
                  <p:oleObj name="" r:id="rId19" imgW="76200" imgH="762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52" y="1470"/>
                          <a:ext cx="237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6"/>
          <p:cNvGrpSpPr/>
          <p:nvPr/>
        </p:nvGrpSpPr>
        <p:grpSpPr>
          <a:xfrm>
            <a:off x="4876800" y="2514600"/>
            <a:ext cx="3511550" cy="842963"/>
            <a:chOff x="4876800" y="2514600"/>
            <a:chExt cx="3511550" cy="842963"/>
          </a:xfrm>
        </p:grpSpPr>
        <p:grpSp>
          <p:nvGrpSpPr>
            <p:cNvPr id="81932" name="Group 39"/>
            <p:cNvGrpSpPr/>
            <p:nvPr/>
          </p:nvGrpSpPr>
          <p:grpSpPr>
            <a:xfrm>
              <a:off x="4876800" y="2590800"/>
              <a:ext cx="3511550" cy="766763"/>
              <a:chOff x="3072" y="1632"/>
              <a:chExt cx="2212" cy="483"/>
            </a:xfrm>
          </p:grpSpPr>
          <p:graphicFrame>
            <p:nvGraphicFramePr>
              <p:cNvPr id="81934" name="Object 10"/>
              <p:cNvGraphicFramePr/>
              <p:nvPr/>
            </p:nvGraphicFramePr>
            <p:xfrm>
              <a:off x="3732" y="1766"/>
              <a:ext cx="259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2" name="" r:id="rId21" imgW="139700" imgH="139700" progId="Equation.3">
                      <p:embed/>
                    </p:oleObj>
                  </mc:Choice>
                  <mc:Fallback>
                    <p:oleObj name="" r:id="rId21" imgW="139700" imgH="139700" progId="Equation.3">
                      <p:embed/>
                      <p:pic>
                        <p:nvPicPr>
                          <p:cNvPr id="0" name="图片 3161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732" y="1766"/>
                            <a:ext cx="259" cy="2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35" name="Object 11"/>
              <p:cNvGraphicFramePr/>
              <p:nvPr/>
            </p:nvGraphicFramePr>
            <p:xfrm>
              <a:off x="4876" y="1752"/>
              <a:ext cx="381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4" name="" r:id="rId23" imgW="215900" imgH="177800" progId="Equation.3">
                      <p:embed/>
                    </p:oleObj>
                  </mc:Choice>
                  <mc:Fallback>
                    <p:oleObj name="" r:id="rId23" imgW="215900" imgH="177800" progId="Equation.3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876" y="1752"/>
                            <a:ext cx="381" cy="3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3518" name="Line 27"/>
              <p:cNvSpPr>
                <a:spLocks noChangeShapeType="1"/>
              </p:cNvSpPr>
              <p:nvPr/>
            </p:nvSpPr>
            <p:spPr bwMode="auto">
              <a:xfrm>
                <a:off x="4608" y="1632"/>
                <a:ext cx="0" cy="384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19" name="Line 29"/>
              <p:cNvSpPr>
                <a:spLocks noChangeShapeType="1"/>
              </p:cNvSpPr>
              <p:nvPr/>
            </p:nvSpPr>
            <p:spPr bwMode="auto">
              <a:xfrm>
                <a:off x="3072" y="1632"/>
                <a:ext cx="0" cy="384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20" name="Line 30"/>
              <p:cNvSpPr>
                <a:spLocks noChangeShapeType="1"/>
              </p:cNvSpPr>
              <p:nvPr/>
            </p:nvSpPr>
            <p:spPr bwMode="auto">
              <a:xfrm flipV="1">
                <a:off x="3079" y="1891"/>
                <a:ext cx="6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21" name="Line 31"/>
              <p:cNvSpPr>
                <a:spLocks noChangeShapeType="1"/>
              </p:cNvSpPr>
              <p:nvPr/>
            </p:nvSpPr>
            <p:spPr bwMode="auto">
              <a:xfrm flipH="1">
                <a:off x="4014" y="1891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22" name="AutoShape 35"/>
              <p:cNvSpPr>
                <a:spLocks noChangeArrowheads="1"/>
              </p:cNvSpPr>
              <p:nvPr/>
            </p:nvSpPr>
            <p:spPr bwMode="auto">
              <a:xfrm>
                <a:off x="4876" y="1752"/>
                <a:ext cx="408" cy="363"/>
              </a:xfrm>
              <a:prstGeom prst="wedgeRectCallout">
                <a:avLst>
                  <a:gd name="adj1" fmla="val -105639"/>
                  <a:gd name="adj2" fmla="val -80579"/>
                </a:avLst>
              </a:prstGeom>
              <a:solidFill>
                <a:srgbClr val="FFCC00">
                  <a:alpha val="18823"/>
                </a:srgbClr>
              </a:solidFill>
              <a:ln w="28575">
                <a:solidFill>
                  <a:srgbClr val="FF6600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7162800" y="2514600"/>
              <a:ext cx="381000" cy="0"/>
            </a:xfrm>
            <a:prstGeom prst="line">
              <a:avLst/>
            </a:prstGeom>
            <a:noFill/>
            <a:ln w="920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541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4541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2" grpId="0" build="p"/>
      <p:bldP spid="145413" grpId="0" build="p"/>
      <p:bldP spid="1454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4386" name="Object 2"/>
          <p:cNvGraphicFramePr>
            <a:graphicFrameLocks noChangeAspect="1"/>
          </p:cNvGraphicFramePr>
          <p:nvPr/>
        </p:nvGraphicFramePr>
        <p:xfrm>
          <a:off x="1147763" y="652463"/>
          <a:ext cx="5211762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44700" imgH="419100" progId="Equation.3">
                  <p:embed/>
                </p:oleObj>
              </mc:Choice>
              <mc:Fallback>
                <p:oleObj name="" r:id="rId1" imgW="20447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7763" y="652463"/>
                        <a:ext cx="5211762" cy="1065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33363" y="190500"/>
            <a:ext cx="68738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8</a:t>
            </a: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.</a:t>
            </a:r>
            <a:r>
              <a:rPr kumimoji="0" lang="zh-CN" altLang="en-US" sz="2800" b="1" kern="120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计算电偶极子场中任一点</a:t>
            </a:r>
            <a:r>
              <a:rPr kumimoji="0" lang="en-US" altLang="zh-CN" sz="2800" b="1" i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rPr>
              <a:t>的电势</a:t>
            </a:r>
            <a:endParaRPr kumimoji="0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4388" name="Object 3"/>
          <p:cNvGraphicFramePr>
            <a:graphicFrameLocks noChangeAspect="1"/>
          </p:cNvGraphicFramePr>
          <p:nvPr/>
        </p:nvGraphicFramePr>
        <p:xfrm>
          <a:off x="954088" y="3113088"/>
          <a:ext cx="2760662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951865" imgH="342900" progId="Equation.3">
                  <p:embed/>
                </p:oleObj>
              </mc:Choice>
              <mc:Fallback>
                <p:oleObj name="" r:id="rId3" imgW="951865" imgH="3429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4088" y="3113088"/>
                        <a:ext cx="2760662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4"/>
          <p:cNvGraphicFramePr>
            <a:graphicFrameLocks noChangeAspect="1"/>
          </p:cNvGraphicFramePr>
          <p:nvPr/>
        </p:nvGraphicFramePr>
        <p:xfrm>
          <a:off x="931863" y="2274888"/>
          <a:ext cx="275748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951865" imgH="342900" progId="Equation.3">
                  <p:embed/>
                </p:oleObj>
              </mc:Choice>
              <mc:Fallback>
                <p:oleObj name="" r:id="rId5" imgW="951865" imgH="342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1863" y="2274888"/>
                        <a:ext cx="2757487" cy="887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0" name="Object 5"/>
          <p:cNvGraphicFramePr>
            <a:graphicFrameLocks noChangeAspect="1"/>
          </p:cNvGraphicFramePr>
          <p:nvPr/>
        </p:nvGraphicFramePr>
        <p:xfrm>
          <a:off x="6604000" y="4132263"/>
          <a:ext cx="1622425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609600" imgH="444500" progId="Equation.DSMT4">
                  <p:embed/>
                </p:oleObj>
              </mc:Choice>
              <mc:Fallback>
                <p:oleObj name="" r:id="rId7" imgW="609600" imgH="4445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4000" y="4132263"/>
                        <a:ext cx="1622425" cy="1217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1" name="Object 6"/>
          <p:cNvGraphicFramePr>
            <a:graphicFrameLocks noChangeAspect="1"/>
          </p:cNvGraphicFramePr>
          <p:nvPr/>
        </p:nvGraphicFramePr>
        <p:xfrm>
          <a:off x="1176338" y="5780088"/>
          <a:ext cx="41179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1460500" imgH="228600" progId="Equation.3">
                  <p:embed/>
                </p:oleObj>
              </mc:Choice>
              <mc:Fallback>
                <p:oleObj name="" r:id="rId9" imgW="14605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6338" y="5780088"/>
                        <a:ext cx="4117975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>
          <a:xfrm>
            <a:off x="365125" y="1762125"/>
            <a:ext cx="4349750" cy="533400"/>
            <a:chOff x="230" y="1152"/>
            <a:chExt cx="2740" cy="336"/>
          </a:xfrm>
        </p:grpSpPr>
        <p:graphicFrame>
          <p:nvGraphicFramePr>
            <p:cNvPr id="82977" name="Object 16"/>
            <p:cNvGraphicFramePr>
              <a:graphicFrameLocks noChangeAspect="1"/>
            </p:cNvGraphicFramePr>
            <p:nvPr/>
          </p:nvGraphicFramePr>
          <p:xfrm>
            <a:off x="517" y="1152"/>
            <a:ext cx="74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1" imgW="405765" imgH="177800" progId="Equation.DSMT4">
                    <p:embed/>
                  </p:oleObj>
                </mc:Choice>
                <mc:Fallback>
                  <p:oleObj name="" r:id="rId11" imgW="405765" imgH="1778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7" y="1152"/>
                          <a:ext cx="743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9" name="Text Box 10"/>
            <p:cNvSpPr txBox="1">
              <a:spLocks noChangeArrowheads="1"/>
            </p:cNvSpPr>
            <p:nvPr/>
          </p:nvSpPr>
          <p:spPr bwMode="auto">
            <a:xfrm>
              <a:off x="230" y="1158"/>
              <a:ext cx="2740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dirty="0">
                  <a:solidFill>
                    <a:srgbClr val="080808"/>
                  </a:solidFill>
                  <a:latin typeface="+mn-lt"/>
                  <a:ea typeface="宋体" panose="02010600030101010101" pitchFamily="2" charset="-122"/>
                  <a:cs typeface="+mn-cs"/>
                </a:rPr>
                <a:t>当             可做如下近似：</a:t>
              </a:r>
              <a:endPara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44423" name="Object 7"/>
          <p:cNvGraphicFramePr>
            <a:graphicFrameLocks noChangeAspect="1"/>
          </p:cNvGraphicFramePr>
          <p:nvPr/>
        </p:nvGraphicFramePr>
        <p:xfrm>
          <a:off x="258763" y="4217988"/>
          <a:ext cx="6313487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3" imgW="2641600" imgH="533400" progId="Equation.3">
                  <p:embed/>
                </p:oleObj>
              </mc:Choice>
              <mc:Fallback>
                <p:oleObj name="" r:id="rId13" imgW="2641600" imgH="5334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8763" y="4217988"/>
                        <a:ext cx="6313487" cy="1462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25" name="Text Box 41"/>
          <p:cNvSpPr txBox="1">
            <a:spLocks noChangeArrowheads="1"/>
          </p:cNvSpPr>
          <p:nvPr/>
        </p:nvSpPr>
        <p:spPr bwMode="auto">
          <a:xfrm>
            <a:off x="395288" y="836613"/>
            <a:ext cx="2514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解：</a:t>
            </a:r>
            <a:endParaRPr kumimoji="1" lang="zh-CN" altLang="en-US" sz="2800" b="1" kern="1200" cap="none" spc="0" normalizeH="0" baseline="0" noProof="0">
              <a:solidFill>
                <a:srgbClr val="FF33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pSp>
        <p:nvGrpSpPr>
          <p:cNvPr id="82956" name="Group 42"/>
          <p:cNvGrpSpPr/>
          <p:nvPr/>
        </p:nvGrpSpPr>
        <p:grpSpPr>
          <a:xfrm>
            <a:off x="5356225" y="579438"/>
            <a:ext cx="3251200" cy="3005137"/>
            <a:chOff x="3198" y="391"/>
            <a:chExt cx="2048" cy="1893"/>
          </a:xfrm>
        </p:grpSpPr>
        <p:graphicFrame>
          <p:nvGraphicFramePr>
            <p:cNvPr id="82962" name="Object 9"/>
            <p:cNvGraphicFramePr>
              <a:graphicFrameLocks noChangeAspect="1"/>
            </p:cNvGraphicFramePr>
            <p:nvPr/>
          </p:nvGraphicFramePr>
          <p:xfrm>
            <a:off x="3840" y="1071"/>
            <a:ext cx="21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5" imgW="152400" imgH="215900" progId="Equation.3">
                    <p:embed/>
                  </p:oleObj>
                </mc:Choice>
                <mc:Fallback>
                  <p:oleObj name="" r:id="rId15" imgW="152400" imgH="2159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40" y="1071"/>
                          <a:ext cx="21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63" name="Object 10"/>
            <p:cNvGraphicFramePr>
              <a:graphicFrameLocks noChangeAspect="1"/>
            </p:cNvGraphicFramePr>
            <p:nvPr/>
          </p:nvGraphicFramePr>
          <p:xfrm>
            <a:off x="4744" y="1160"/>
            <a:ext cx="239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7" imgW="152400" imgH="215900" progId="Equation.3">
                    <p:embed/>
                  </p:oleObj>
                </mc:Choice>
                <mc:Fallback>
                  <p:oleObj name="" r:id="rId17" imgW="152400" imgH="2159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44" y="1160"/>
                          <a:ext cx="239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6" name="Line 45"/>
            <p:cNvSpPr>
              <a:spLocks noChangeShapeType="1"/>
            </p:cNvSpPr>
            <p:nvPr/>
          </p:nvSpPr>
          <p:spPr bwMode="auto">
            <a:xfrm flipV="1">
              <a:off x="3912" y="624"/>
              <a:ext cx="1056" cy="13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arrow" w="sm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2965" name="Object 11"/>
            <p:cNvGraphicFramePr>
              <a:graphicFrameLocks noChangeAspect="1"/>
            </p:cNvGraphicFramePr>
            <p:nvPr/>
          </p:nvGraphicFramePr>
          <p:xfrm>
            <a:off x="4224" y="1188"/>
            <a:ext cx="2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9" imgW="127000" imgH="165100" progId="Equation.3">
                    <p:embed/>
                  </p:oleObj>
                </mc:Choice>
                <mc:Fallback>
                  <p:oleObj name="" r:id="rId19" imgW="127000" imgH="1651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24" y="1188"/>
                          <a:ext cx="224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7" name="Line 47"/>
            <p:cNvSpPr>
              <a:spLocks noChangeShapeType="1"/>
            </p:cNvSpPr>
            <p:nvPr/>
          </p:nvSpPr>
          <p:spPr bwMode="auto">
            <a:xfrm rot="21300000" flipH="1">
              <a:off x="3329" y="688"/>
              <a:ext cx="1682" cy="12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arrow" w="sm" len="med"/>
              <a:tailEnd type="none" w="med" len="lg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8" name="Line 48"/>
            <p:cNvSpPr>
              <a:spLocks noChangeShapeType="1"/>
            </p:cNvSpPr>
            <p:nvPr/>
          </p:nvSpPr>
          <p:spPr bwMode="auto">
            <a:xfrm rot="240000" flipH="1">
              <a:off x="4548" y="623"/>
              <a:ext cx="383" cy="134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sm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2968" name="Object 12"/>
            <p:cNvGraphicFramePr>
              <a:graphicFrameLocks noChangeAspect="1"/>
            </p:cNvGraphicFramePr>
            <p:nvPr/>
          </p:nvGraphicFramePr>
          <p:xfrm>
            <a:off x="3967" y="2004"/>
            <a:ext cx="15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21" imgW="226695" imgH="427990" progId="Equation.3">
                    <p:embed/>
                  </p:oleObj>
                </mc:Choice>
                <mc:Fallback>
                  <p:oleObj name="" r:id="rId21" imgW="226695" imgH="42799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67" y="2004"/>
                          <a:ext cx="159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2" name="Line 53"/>
            <p:cNvSpPr>
              <a:spLocks noChangeShapeType="1"/>
            </p:cNvSpPr>
            <p:nvPr/>
          </p:nvSpPr>
          <p:spPr bwMode="auto">
            <a:xfrm>
              <a:off x="3392" y="1995"/>
              <a:ext cx="10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3" name="Text Box 54"/>
            <p:cNvSpPr txBox="1">
              <a:spLocks noChangeArrowheads="1"/>
            </p:cNvSpPr>
            <p:nvPr/>
          </p:nvSpPr>
          <p:spPr bwMode="auto">
            <a:xfrm>
              <a:off x="4991" y="391"/>
              <a:ext cx="255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en-US" altLang="zh-CN" sz="2800" b="1" i="1" kern="1200" cap="none" spc="0" normalizeH="0" baseline="0" noProof="0">
                  <a:latin typeface="+mn-lt"/>
                  <a:ea typeface="楷体_GB2312" pitchFamily="49" charset="-122"/>
                  <a:cs typeface="+mn-cs"/>
                </a:rPr>
                <a:t>P</a:t>
              </a:r>
              <a:endParaRPr kumimoji="1" lang="en-US" altLang="zh-CN" sz="2800" b="1" kern="1200" cap="none" spc="0" normalizeH="0" baseline="0" noProof="0">
                <a:latin typeface="+mn-lt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82971" name="Object 13"/>
            <p:cNvGraphicFramePr>
              <a:graphicFrameLocks noChangeAspect="1"/>
            </p:cNvGraphicFramePr>
            <p:nvPr/>
          </p:nvGraphicFramePr>
          <p:xfrm>
            <a:off x="4069" y="1806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23" imgW="352425" imgH="461645" progId="Equation.3">
                    <p:embed/>
                  </p:oleObj>
                </mc:Choice>
                <mc:Fallback>
                  <p:oleObj name="" r:id="rId23" imgW="352425" imgH="46164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69" y="1806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6" name="Line 58"/>
            <p:cNvSpPr>
              <a:spLocks noChangeShapeType="1"/>
            </p:cNvSpPr>
            <p:nvPr/>
          </p:nvSpPr>
          <p:spPr bwMode="auto">
            <a:xfrm flipH="1" flipV="1">
              <a:off x="4152" y="1680"/>
              <a:ext cx="288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2973" name="Object 14"/>
            <p:cNvGraphicFramePr>
              <a:graphicFrameLocks noChangeAspect="1"/>
            </p:cNvGraphicFramePr>
            <p:nvPr/>
          </p:nvGraphicFramePr>
          <p:xfrm>
            <a:off x="4408" y="2057"/>
            <a:ext cx="26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25" imgW="228600" imgH="177800" progId="Equation.3">
                    <p:embed/>
                  </p:oleObj>
                </mc:Choice>
                <mc:Fallback>
                  <p:oleObj name="" r:id="rId25" imgW="228600" imgH="1778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08" y="2057"/>
                          <a:ext cx="26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4" name="Object 15"/>
            <p:cNvGraphicFramePr>
              <a:graphicFrameLocks noChangeAspect="1"/>
            </p:cNvGraphicFramePr>
            <p:nvPr/>
          </p:nvGraphicFramePr>
          <p:xfrm>
            <a:off x="3198" y="2069"/>
            <a:ext cx="260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27" imgW="228600" imgH="165100" progId="Equation.3">
                    <p:embed/>
                  </p:oleObj>
                </mc:Choice>
                <mc:Fallback>
                  <p:oleObj name="" r:id="rId27" imgW="228600" imgH="1651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198" y="2069"/>
                          <a:ext cx="260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7" name="Arc 61"/>
            <p:cNvSpPr/>
            <p:nvPr/>
          </p:nvSpPr>
          <p:spPr bwMode="auto">
            <a:xfrm>
              <a:off x="3915" y="1883"/>
              <a:ext cx="136" cy="103"/>
            </a:xfrm>
            <a:custGeom>
              <a:avLst/>
              <a:gdLst>
                <a:gd name="T0" fmla="*/ 0 w 21600"/>
                <a:gd name="T1" fmla="*/ 0 h 24585"/>
                <a:gd name="T2" fmla="*/ 0 w 21600"/>
                <a:gd name="T3" fmla="*/ 0 h 24585"/>
                <a:gd name="T4" fmla="*/ 0 w 21600"/>
                <a:gd name="T5" fmla="*/ 0 h 245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585"/>
                <a:gd name="T11" fmla="*/ 21600 w 21600"/>
                <a:gd name="T12" fmla="*/ 24585 h 245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585" fill="none" extrusionOk="0">
                  <a:moveTo>
                    <a:pt x="13353" y="-1"/>
                  </a:moveTo>
                  <a:cubicBezTo>
                    <a:pt x="18560" y="4095"/>
                    <a:pt x="21600" y="10353"/>
                    <a:pt x="21600" y="16978"/>
                  </a:cubicBezTo>
                  <a:cubicBezTo>
                    <a:pt x="21600" y="19576"/>
                    <a:pt x="21131" y="22153"/>
                    <a:pt x="20216" y="24585"/>
                  </a:cubicBezTo>
                </a:path>
                <a:path w="21600" h="24585" stroke="0" extrusionOk="0">
                  <a:moveTo>
                    <a:pt x="13353" y="-1"/>
                  </a:moveTo>
                  <a:cubicBezTo>
                    <a:pt x="18560" y="4095"/>
                    <a:pt x="21600" y="10353"/>
                    <a:pt x="21600" y="16978"/>
                  </a:cubicBezTo>
                  <a:cubicBezTo>
                    <a:pt x="21600" y="19576"/>
                    <a:pt x="21131" y="22153"/>
                    <a:pt x="20216" y="24585"/>
                  </a:cubicBezTo>
                  <a:lnTo>
                    <a:pt x="0" y="1697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8" name="Oval 62"/>
            <p:cNvSpPr>
              <a:spLocks noChangeArrowheads="1"/>
            </p:cNvSpPr>
            <p:nvPr/>
          </p:nvSpPr>
          <p:spPr bwMode="auto">
            <a:xfrm>
              <a:off x="4940" y="574"/>
              <a:ext cx="68" cy="68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alpha val="75000"/>
                  </a:srgbClr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19050" algn="ctr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2957" name="Oval 56"/>
          <p:cNvSpPr/>
          <p:nvPr/>
        </p:nvSpPr>
        <p:spPr>
          <a:xfrm>
            <a:off x="5556250" y="3009900"/>
            <a:ext cx="174625" cy="1778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82958" name="Oval 50"/>
          <p:cNvSpPr/>
          <p:nvPr/>
        </p:nvSpPr>
        <p:spPr>
          <a:xfrm>
            <a:off x="7307263" y="3024188"/>
            <a:ext cx="174625" cy="1778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82959" name="Line 51"/>
          <p:cNvSpPr/>
          <p:nvPr/>
        </p:nvSpPr>
        <p:spPr>
          <a:xfrm>
            <a:off x="7312025" y="3114675"/>
            <a:ext cx="174625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60" name="Line 52"/>
          <p:cNvSpPr/>
          <p:nvPr/>
        </p:nvSpPr>
        <p:spPr>
          <a:xfrm>
            <a:off x="7396163" y="3028950"/>
            <a:ext cx="0" cy="17780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61" name="Line 57"/>
          <p:cNvSpPr/>
          <p:nvPr/>
        </p:nvSpPr>
        <p:spPr>
          <a:xfrm>
            <a:off x="5600700" y="3100388"/>
            <a:ext cx="90488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/>
      <p:bldP spid="1444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77"/>
          <p:cNvGrpSpPr/>
          <p:nvPr/>
        </p:nvGrpSpPr>
        <p:grpSpPr bwMode="auto">
          <a:xfrm>
            <a:off x="3916218" y="1556327"/>
            <a:ext cx="4968875" cy="4800600"/>
            <a:chOff x="512" y="1104"/>
            <a:chExt cx="3130" cy="3024"/>
          </a:xfrm>
          <a:solidFill>
            <a:srgbClr val="FFFFFF"/>
          </a:solidFill>
        </p:grpSpPr>
        <p:sp>
          <p:nvSpPr>
            <p:cNvPr id="149670" name="Rectangle 166"/>
            <p:cNvSpPr>
              <a:spLocks noChangeArrowheads="1"/>
            </p:cNvSpPr>
            <p:nvPr/>
          </p:nvSpPr>
          <p:spPr bwMode="auto">
            <a:xfrm>
              <a:off x="512" y="1104"/>
              <a:ext cx="3130" cy="3024"/>
            </a:xfrm>
            <a:prstGeom prst="rect">
              <a:avLst/>
            </a:prstGeom>
            <a:grpFill/>
            <a:ln w="9525">
              <a:solidFill>
                <a:srgbClr val="00B05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" name="Group 176"/>
            <p:cNvGrpSpPr/>
            <p:nvPr/>
          </p:nvGrpSpPr>
          <p:grpSpPr bwMode="auto">
            <a:xfrm>
              <a:off x="599" y="1248"/>
              <a:ext cx="3001" cy="2496"/>
              <a:chOff x="599" y="1248"/>
              <a:chExt cx="3001" cy="2496"/>
            </a:xfrm>
            <a:grpFill/>
          </p:grpSpPr>
          <p:grpSp>
            <p:nvGrpSpPr>
              <p:cNvPr id="4" name="Group 92"/>
              <p:cNvGrpSpPr/>
              <p:nvPr/>
            </p:nvGrpSpPr>
            <p:grpSpPr bwMode="auto">
              <a:xfrm>
                <a:off x="1104" y="2511"/>
                <a:ext cx="576" cy="48"/>
                <a:chOff x="1495" y="3126"/>
                <a:chExt cx="528" cy="67"/>
              </a:xfrm>
              <a:grpFill/>
            </p:grpSpPr>
            <p:sp>
              <p:nvSpPr>
                <p:cNvPr id="149597" name="Line 93"/>
                <p:cNvSpPr>
                  <a:spLocks noChangeShapeType="1"/>
                </p:cNvSpPr>
                <p:nvPr/>
              </p:nvSpPr>
              <p:spPr bwMode="auto">
                <a:xfrm flipH="1">
                  <a:off x="1495" y="3159"/>
                  <a:ext cx="462" cy="1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598" name="Freeform 94"/>
                <p:cNvSpPr/>
                <p:nvPr/>
              </p:nvSpPr>
              <p:spPr bwMode="auto">
                <a:xfrm>
                  <a:off x="1924" y="3126"/>
                  <a:ext cx="99" cy="67"/>
                </a:xfrm>
                <a:custGeom>
                  <a:avLst/>
                  <a:gdLst/>
                  <a:ahLst/>
                  <a:cxnLst>
                    <a:cxn ang="0">
                      <a:pos x="0" y="67"/>
                    </a:cxn>
                    <a:cxn ang="0">
                      <a:pos x="99" y="33"/>
                    </a:cxn>
                    <a:cxn ang="0">
                      <a:pos x="0" y="0"/>
                    </a:cxn>
                    <a:cxn ang="0">
                      <a:pos x="31" y="33"/>
                    </a:cxn>
                    <a:cxn ang="0">
                      <a:pos x="0" y="67"/>
                    </a:cxn>
                  </a:cxnLst>
                  <a:rect l="0" t="0" r="r" b="b"/>
                  <a:pathLst>
                    <a:path w="99" h="67">
                      <a:moveTo>
                        <a:pt x="0" y="67"/>
                      </a:moveTo>
                      <a:lnTo>
                        <a:pt x="99" y="33"/>
                      </a:lnTo>
                      <a:lnTo>
                        <a:pt x="0" y="0"/>
                      </a:lnTo>
                      <a:lnTo>
                        <a:pt x="31" y="33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" name="Group 95"/>
              <p:cNvGrpSpPr/>
              <p:nvPr/>
            </p:nvGrpSpPr>
            <p:grpSpPr bwMode="auto">
              <a:xfrm>
                <a:off x="1152" y="2064"/>
                <a:ext cx="528" cy="240"/>
                <a:chOff x="1543" y="2727"/>
                <a:chExt cx="480" cy="192"/>
              </a:xfrm>
              <a:grpFill/>
            </p:grpSpPr>
            <p:sp>
              <p:nvSpPr>
                <p:cNvPr id="149600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1543" y="2727"/>
                  <a:ext cx="419" cy="167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01" name="Freeform 97"/>
                <p:cNvSpPr/>
                <p:nvPr/>
              </p:nvSpPr>
              <p:spPr bwMode="auto">
                <a:xfrm>
                  <a:off x="1918" y="2852"/>
                  <a:ext cx="105" cy="67"/>
                </a:xfrm>
                <a:custGeom>
                  <a:avLst/>
                  <a:gdLst/>
                  <a:ahLst/>
                  <a:cxnLst>
                    <a:cxn ang="0">
                      <a:pos x="0" y="62"/>
                    </a:cxn>
                    <a:cxn ang="0">
                      <a:pos x="105" y="67"/>
                    </a:cxn>
                    <a:cxn ang="0">
                      <a:pos x="25" y="0"/>
                    </a:cxn>
                    <a:cxn ang="0">
                      <a:pos x="42" y="42"/>
                    </a:cxn>
                    <a:cxn ang="0">
                      <a:pos x="0" y="62"/>
                    </a:cxn>
                  </a:cxnLst>
                  <a:rect l="0" t="0" r="r" b="b"/>
                  <a:pathLst>
                    <a:path w="105" h="67">
                      <a:moveTo>
                        <a:pt x="0" y="62"/>
                      </a:moveTo>
                      <a:lnTo>
                        <a:pt x="105" y="67"/>
                      </a:lnTo>
                      <a:lnTo>
                        <a:pt x="25" y="0"/>
                      </a:lnTo>
                      <a:lnTo>
                        <a:pt x="42" y="4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" name="Group 98"/>
              <p:cNvGrpSpPr/>
              <p:nvPr/>
            </p:nvGrpSpPr>
            <p:grpSpPr bwMode="auto">
              <a:xfrm>
                <a:off x="1424" y="1671"/>
                <a:ext cx="400" cy="393"/>
                <a:chOff x="1767" y="2286"/>
                <a:chExt cx="400" cy="393"/>
              </a:xfrm>
              <a:grpFill/>
            </p:grpSpPr>
            <p:sp>
              <p:nvSpPr>
                <p:cNvPr id="149603" name="Line 99"/>
                <p:cNvSpPr>
                  <a:spLocks noChangeShapeType="1"/>
                </p:cNvSpPr>
                <p:nvPr/>
              </p:nvSpPr>
              <p:spPr bwMode="auto">
                <a:xfrm flipH="1" flipV="1">
                  <a:off x="1767" y="2286"/>
                  <a:ext cx="353" cy="347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04" name="Freeform 100"/>
                <p:cNvSpPr/>
                <p:nvPr/>
              </p:nvSpPr>
              <p:spPr bwMode="auto">
                <a:xfrm>
                  <a:off x="2072" y="2586"/>
                  <a:ext cx="95" cy="93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95" y="93"/>
                    </a:cxn>
                    <a:cxn ang="0">
                      <a:pos x="47" y="0"/>
                    </a:cxn>
                    <a:cxn ang="0">
                      <a:pos x="46" y="45"/>
                    </a:cxn>
                    <a:cxn ang="0">
                      <a:pos x="0" y="48"/>
                    </a:cxn>
                  </a:cxnLst>
                  <a:rect l="0" t="0" r="r" b="b"/>
                  <a:pathLst>
                    <a:path w="95" h="93">
                      <a:moveTo>
                        <a:pt x="0" y="48"/>
                      </a:moveTo>
                      <a:lnTo>
                        <a:pt x="95" y="93"/>
                      </a:lnTo>
                      <a:lnTo>
                        <a:pt x="47" y="0"/>
                      </a:lnTo>
                      <a:lnTo>
                        <a:pt x="46" y="45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7" name="Group 101"/>
              <p:cNvGrpSpPr/>
              <p:nvPr/>
            </p:nvGrpSpPr>
            <p:grpSpPr bwMode="auto">
              <a:xfrm>
                <a:off x="1824" y="3120"/>
                <a:ext cx="240" cy="528"/>
                <a:chOff x="2197" y="3735"/>
                <a:chExt cx="210" cy="470"/>
              </a:xfrm>
              <a:grpFill/>
            </p:grpSpPr>
            <p:sp>
              <p:nvSpPr>
                <p:cNvPr id="149606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2197" y="3795"/>
                  <a:ext cx="182" cy="410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07" name="Freeform 103"/>
                <p:cNvSpPr/>
                <p:nvPr/>
              </p:nvSpPr>
              <p:spPr bwMode="auto">
                <a:xfrm>
                  <a:off x="2336" y="3735"/>
                  <a:ext cx="71" cy="104"/>
                </a:xfrm>
                <a:custGeom>
                  <a:avLst/>
                  <a:gdLst/>
                  <a:ahLst/>
                  <a:cxnLst>
                    <a:cxn ang="0">
                      <a:pos x="61" y="104"/>
                    </a:cxn>
                    <a:cxn ang="0">
                      <a:pos x="71" y="0"/>
                    </a:cxn>
                    <a:cxn ang="0">
                      <a:pos x="0" y="77"/>
                    </a:cxn>
                    <a:cxn ang="0">
                      <a:pos x="43" y="62"/>
                    </a:cxn>
                    <a:cxn ang="0">
                      <a:pos x="61" y="104"/>
                    </a:cxn>
                  </a:cxnLst>
                  <a:rect l="0" t="0" r="r" b="b"/>
                  <a:pathLst>
                    <a:path w="71" h="104">
                      <a:moveTo>
                        <a:pt x="61" y="104"/>
                      </a:moveTo>
                      <a:lnTo>
                        <a:pt x="71" y="0"/>
                      </a:lnTo>
                      <a:lnTo>
                        <a:pt x="0" y="77"/>
                      </a:lnTo>
                      <a:lnTo>
                        <a:pt x="43" y="62"/>
                      </a:lnTo>
                      <a:lnTo>
                        <a:pt x="61" y="104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8" name="Group 104"/>
              <p:cNvGrpSpPr/>
              <p:nvPr/>
            </p:nvGrpSpPr>
            <p:grpSpPr bwMode="auto">
              <a:xfrm>
                <a:off x="1152" y="2780"/>
                <a:ext cx="576" cy="196"/>
                <a:chOff x="1546" y="3395"/>
                <a:chExt cx="525" cy="158"/>
              </a:xfrm>
              <a:grpFill/>
            </p:grpSpPr>
            <p:sp>
              <p:nvSpPr>
                <p:cNvPr id="149609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1546" y="3418"/>
                  <a:ext cx="462" cy="135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10" name="Freeform 106"/>
                <p:cNvSpPr/>
                <p:nvPr/>
              </p:nvSpPr>
              <p:spPr bwMode="auto">
                <a:xfrm>
                  <a:off x="1967" y="3395"/>
                  <a:ext cx="104" cy="64"/>
                </a:xfrm>
                <a:custGeom>
                  <a:avLst/>
                  <a:gdLst/>
                  <a:ahLst/>
                  <a:cxnLst>
                    <a:cxn ang="0">
                      <a:pos x="19" y="64"/>
                    </a:cxn>
                    <a:cxn ang="0">
                      <a:pos x="104" y="4"/>
                    </a:cxn>
                    <a:cxn ang="0">
                      <a:pos x="0" y="0"/>
                    </a:cxn>
                    <a:cxn ang="0">
                      <a:pos x="39" y="23"/>
                    </a:cxn>
                    <a:cxn ang="0">
                      <a:pos x="19" y="64"/>
                    </a:cxn>
                  </a:cxnLst>
                  <a:rect l="0" t="0" r="r" b="b"/>
                  <a:pathLst>
                    <a:path w="104" h="64">
                      <a:moveTo>
                        <a:pt x="19" y="64"/>
                      </a:moveTo>
                      <a:lnTo>
                        <a:pt x="104" y="4"/>
                      </a:lnTo>
                      <a:lnTo>
                        <a:pt x="0" y="0"/>
                      </a:lnTo>
                      <a:lnTo>
                        <a:pt x="39" y="23"/>
                      </a:lnTo>
                      <a:lnTo>
                        <a:pt x="19" y="64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9" name="Group 107"/>
              <p:cNvGrpSpPr/>
              <p:nvPr/>
            </p:nvGrpSpPr>
            <p:grpSpPr bwMode="auto">
              <a:xfrm>
                <a:off x="1392" y="2976"/>
                <a:ext cx="432" cy="432"/>
                <a:chOff x="1815" y="3591"/>
                <a:chExt cx="352" cy="346"/>
              </a:xfrm>
              <a:grpFill/>
            </p:grpSpPr>
            <p:sp>
              <p:nvSpPr>
                <p:cNvPr id="149612" name="Line 108"/>
                <p:cNvSpPr>
                  <a:spLocks noChangeShapeType="1"/>
                </p:cNvSpPr>
                <p:nvPr/>
              </p:nvSpPr>
              <p:spPr bwMode="auto">
                <a:xfrm flipV="1">
                  <a:off x="1815" y="3637"/>
                  <a:ext cx="306" cy="300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13" name="Freeform 109"/>
                <p:cNvSpPr/>
                <p:nvPr/>
              </p:nvSpPr>
              <p:spPr bwMode="auto">
                <a:xfrm>
                  <a:off x="2074" y="3591"/>
                  <a:ext cx="93" cy="94"/>
                </a:xfrm>
                <a:custGeom>
                  <a:avLst/>
                  <a:gdLst/>
                  <a:ahLst/>
                  <a:cxnLst>
                    <a:cxn ang="0">
                      <a:pos x="47" y="94"/>
                    </a:cxn>
                    <a:cxn ang="0">
                      <a:pos x="93" y="0"/>
                    </a:cxn>
                    <a:cxn ang="0">
                      <a:pos x="0" y="47"/>
                    </a:cxn>
                    <a:cxn ang="0">
                      <a:pos x="45" y="48"/>
                    </a:cxn>
                    <a:cxn ang="0">
                      <a:pos x="47" y="94"/>
                    </a:cxn>
                  </a:cxnLst>
                  <a:rect l="0" t="0" r="r" b="b"/>
                  <a:pathLst>
                    <a:path w="93" h="94">
                      <a:moveTo>
                        <a:pt x="47" y="94"/>
                      </a:moveTo>
                      <a:lnTo>
                        <a:pt x="93" y="0"/>
                      </a:lnTo>
                      <a:lnTo>
                        <a:pt x="0" y="47"/>
                      </a:lnTo>
                      <a:lnTo>
                        <a:pt x="45" y="48"/>
                      </a:lnTo>
                      <a:lnTo>
                        <a:pt x="47" y="94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" name="Group 110"/>
              <p:cNvGrpSpPr/>
              <p:nvPr/>
            </p:nvGrpSpPr>
            <p:grpSpPr bwMode="auto">
              <a:xfrm>
                <a:off x="2256" y="3168"/>
                <a:ext cx="82" cy="576"/>
                <a:chOff x="2614" y="3783"/>
                <a:chExt cx="67" cy="529"/>
              </a:xfrm>
              <a:grpFill/>
            </p:grpSpPr>
            <p:sp>
              <p:nvSpPr>
                <p:cNvPr id="149615" name="Line 111"/>
                <p:cNvSpPr>
                  <a:spLocks noChangeShapeType="1"/>
                </p:cNvSpPr>
                <p:nvPr/>
              </p:nvSpPr>
              <p:spPr bwMode="auto">
                <a:xfrm flipV="1">
                  <a:off x="2647" y="3849"/>
                  <a:ext cx="1" cy="463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16" name="Freeform 112"/>
                <p:cNvSpPr/>
                <p:nvPr/>
              </p:nvSpPr>
              <p:spPr bwMode="auto">
                <a:xfrm>
                  <a:off x="2614" y="3783"/>
                  <a:ext cx="67" cy="99"/>
                </a:xfrm>
                <a:custGeom>
                  <a:avLst/>
                  <a:gdLst/>
                  <a:ahLst/>
                  <a:cxnLst>
                    <a:cxn ang="0">
                      <a:pos x="67" y="99"/>
                    </a:cxn>
                    <a:cxn ang="0">
                      <a:pos x="33" y="0"/>
                    </a:cxn>
                    <a:cxn ang="0">
                      <a:pos x="0" y="99"/>
                    </a:cxn>
                    <a:cxn ang="0">
                      <a:pos x="33" y="68"/>
                    </a:cxn>
                    <a:cxn ang="0">
                      <a:pos x="67" y="99"/>
                    </a:cxn>
                  </a:cxnLst>
                  <a:rect l="0" t="0" r="r" b="b"/>
                  <a:pathLst>
                    <a:path w="67" h="99">
                      <a:moveTo>
                        <a:pt x="67" y="99"/>
                      </a:moveTo>
                      <a:lnTo>
                        <a:pt x="33" y="0"/>
                      </a:lnTo>
                      <a:lnTo>
                        <a:pt x="0" y="99"/>
                      </a:lnTo>
                      <a:lnTo>
                        <a:pt x="33" y="68"/>
                      </a:lnTo>
                      <a:lnTo>
                        <a:pt x="67" y="99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Group 113"/>
              <p:cNvGrpSpPr/>
              <p:nvPr/>
            </p:nvGrpSpPr>
            <p:grpSpPr bwMode="auto">
              <a:xfrm>
                <a:off x="1807" y="1354"/>
                <a:ext cx="209" cy="518"/>
                <a:chOff x="2150" y="1969"/>
                <a:chExt cx="209" cy="518"/>
              </a:xfrm>
              <a:grpFill/>
            </p:grpSpPr>
            <p:sp>
              <p:nvSpPr>
                <p:cNvPr id="149618" name="Line 114"/>
                <p:cNvSpPr>
                  <a:spLocks noChangeShapeType="1"/>
                </p:cNvSpPr>
                <p:nvPr/>
              </p:nvSpPr>
              <p:spPr bwMode="auto">
                <a:xfrm flipH="1" flipV="1">
                  <a:off x="2150" y="1969"/>
                  <a:ext cx="184" cy="457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19" name="Freeform 115"/>
                <p:cNvSpPr/>
                <p:nvPr/>
              </p:nvSpPr>
              <p:spPr bwMode="auto">
                <a:xfrm>
                  <a:off x="2291" y="2383"/>
                  <a:ext cx="68" cy="104"/>
                </a:xfrm>
                <a:custGeom>
                  <a:avLst/>
                  <a:gdLst/>
                  <a:ahLst/>
                  <a:cxnLst>
                    <a:cxn ang="0">
                      <a:pos x="0" y="25"/>
                    </a:cxn>
                    <a:cxn ang="0">
                      <a:pos x="68" y="104"/>
                    </a:cxn>
                    <a:cxn ang="0">
                      <a:pos x="62" y="0"/>
                    </a:cxn>
                    <a:cxn ang="0">
                      <a:pos x="43" y="41"/>
                    </a:cxn>
                    <a:cxn ang="0">
                      <a:pos x="0" y="25"/>
                    </a:cxn>
                  </a:cxnLst>
                  <a:rect l="0" t="0" r="r" b="b"/>
                  <a:pathLst>
                    <a:path w="68" h="104">
                      <a:moveTo>
                        <a:pt x="0" y="25"/>
                      </a:moveTo>
                      <a:lnTo>
                        <a:pt x="68" y="104"/>
                      </a:lnTo>
                      <a:lnTo>
                        <a:pt x="62" y="0"/>
                      </a:lnTo>
                      <a:lnTo>
                        <a:pt x="43" y="41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49620" name="Oval 116"/>
              <p:cNvSpPr>
                <a:spLocks noChangeArrowheads="1"/>
              </p:cNvSpPr>
              <p:nvPr/>
            </p:nvSpPr>
            <p:spPr bwMode="auto">
              <a:xfrm>
                <a:off x="2212" y="2404"/>
                <a:ext cx="234" cy="234"/>
              </a:xfrm>
              <a:prstGeom prst="ellips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2" name="Group 117"/>
              <p:cNvGrpSpPr/>
              <p:nvPr/>
            </p:nvGrpSpPr>
            <p:grpSpPr bwMode="auto">
              <a:xfrm>
                <a:off x="3072" y="2510"/>
                <a:ext cx="528" cy="67"/>
                <a:chOff x="3415" y="3125"/>
                <a:chExt cx="528" cy="67"/>
              </a:xfrm>
              <a:grpFill/>
            </p:grpSpPr>
            <p:sp>
              <p:nvSpPr>
                <p:cNvPr id="149622" name="Line 118"/>
                <p:cNvSpPr>
                  <a:spLocks noChangeShapeType="1"/>
                </p:cNvSpPr>
                <p:nvPr/>
              </p:nvSpPr>
              <p:spPr bwMode="auto">
                <a:xfrm>
                  <a:off x="3481" y="3159"/>
                  <a:ext cx="462" cy="1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23" name="Freeform 119"/>
                <p:cNvSpPr/>
                <p:nvPr/>
              </p:nvSpPr>
              <p:spPr bwMode="auto">
                <a:xfrm>
                  <a:off x="3415" y="3125"/>
                  <a:ext cx="99" cy="67"/>
                </a:xfrm>
                <a:custGeom>
                  <a:avLst/>
                  <a:gdLst/>
                  <a:ahLst/>
                  <a:cxnLst>
                    <a:cxn ang="0">
                      <a:pos x="99" y="0"/>
                    </a:cxn>
                    <a:cxn ang="0">
                      <a:pos x="0" y="34"/>
                    </a:cxn>
                    <a:cxn ang="0">
                      <a:pos x="99" y="67"/>
                    </a:cxn>
                    <a:cxn ang="0">
                      <a:pos x="68" y="34"/>
                    </a:cxn>
                    <a:cxn ang="0">
                      <a:pos x="99" y="0"/>
                    </a:cxn>
                  </a:cxnLst>
                  <a:rect l="0" t="0" r="r" b="b"/>
                  <a:pathLst>
                    <a:path w="99" h="67">
                      <a:moveTo>
                        <a:pt x="99" y="0"/>
                      </a:moveTo>
                      <a:lnTo>
                        <a:pt x="0" y="34"/>
                      </a:lnTo>
                      <a:lnTo>
                        <a:pt x="99" y="67"/>
                      </a:lnTo>
                      <a:lnTo>
                        <a:pt x="68" y="34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Group 120"/>
              <p:cNvGrpSpPr/>
              <p:nvPr/>
            </p:nvGrpSpPr>
            <p:grpSpPr bwMode="auto">
              <a:xfrm>
                <a:off x="2784" y="3024"/>
                <a:ext cx="432" cy="384"/>
                <a:chOff x="3127" y="3639"/>
                <a:chExt cx="384" cy="336"/>
              </a:xfrm>
              <a:grpFill/>
            </p:grpSpPr>
            <p:sp>
              <p:nvSpPr>
                <p:cNvPr id="149625" name="Line 121"/>
                <p:cNvSpPr>
                  <a:spLocks noChangeShapeType="1"/>
                </p:cNvSpPr>
                <p:nvPr/>
              </p:nvSpPr>
              <p:spPr bwMode="auto">
                <a:xfrm>
                  <a:off x="3176" y="3682"/>
                  <a:ext cx="335" cy="293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26" name="Freeform 122"/>
                <p:cNvSpPr/>
                <p:nvPr/>
              </p:nvSpPr>
              <p:spPr bwMode="auto">
                <a:xfrm>
                  <a:off x="3127" y="3639"/>
                  <a:ext cx="97" cy="90"/>
                </a:xfrm>
                <a:custGeom>
                  <a:avLst/>
                  <a:gdLst/>
                  <a:ahLst/>
                  <a:cxnLst>
                    <a:cxn ang="0">
                      <a:pos x="97" y="40"/>
                    </a:cxn>
                    <a:cxn ang="0">
                      <a:pos x="0" y="0"/>
                    </a:cxn>
                    <a:cxn ang="0">
                      <a:pos x="52" y="90"/>
                    </a:cxn>
                    <a:cxn ang="0">
                      <a:pos x="51" y="45"/>
                    </a:cxn>
                    <a:cxn ang="0">
                      <a:pos x="97" y="40"/>
                    </a:cxn>
                  </a:cxnLst>
                  <a:rect l="0" t="0" r="r" b="b"/>
                  <a:pathLst>
                    <a:path w="97" h="90">
                      <a:moveTo>
                        <a:pt x="97" y="40"/>
                      </a:moveTo>
                      <a:lnTo>
                        <a:pt x="0" y="0"/>
                      </a:lnTo>
                      <a:lnTo>
                        <a:pt x="52" y="90"/>
                      </a:lnTo>
                      <a:lnTo>
                        <a:pt x="51" y="45"/>
                      </a:lnTo>
                      <a:lnTo>
                        <a:pt x="97" y="4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Group 123"/>
              <p:cNvGrpSpPr/>
              <p:nvPr/>
            </p:nvGrpSpPr>
            <p:grpSpPr bwMode="auto">
              <a:xfrm>
                <a:off x="2270" y="1248"/>
                <a:ext cx="52" cy="528"/>
                <a:chOff x="2613" y="1815"/>
                <a:chExt cx="67" cy="576"/>
              </a:xfrm>
              <a:grpFill/>
            </p:grpSpPr>
            <p:sp>
              <p:nvSpPr>
                <p:cNvPr id="149628" name="Line 124"/>
                <p:cNvSpPr>
                  <a:spLocks noChangeShapeType="1"/>
                </p:cNvSpPr>
                <p:nvPr/>
              </p:nvSpPr>
              <p:spPr bwMode="auto">
                <a:xfrm flipV="1">
                  <a:off x="2647" y="1815"/>
                  <a:ext cx="1" cy="510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29" name="Freeform 125"/>
                <p:cNvSpPr/>
                <p:nvPr/>
              </p:nvSpPr>
              <p:spPr bwMode="auto">
                <a:xfrm>
                  <a:off x="2613" y="2292"/>
                  <a:ext cx="67" cy="9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4" y="99"/>
                    </a:cxn>
                    <a:cxn ang="0">
                      <a:pos x="67" y="0"/>
                    </a:cxn>
                    <a:cxn ang="0">
                      <a:pos x="34" y="3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5" name="Group 126"/>
              <p:cNvGrpSpPr/>
              <p:nvPr/>
            </p:nvGrpSpPr>
            <p:grpSpPr bwMode="auto">
              <a:xfrm>
                <a:off x="2880" y="1632"/>
                <a:ext cx="432" cy="384"/>
                <a:chOff x="3223" y="2247"/>
                <a:chExt cx="432" cy="384"/>
              </a:xfrm>
              <a:grpFill/>
            </p:grpSpPr>
            <p:sp>
              <p:nvSpPr>
                <p:cNvPr id="149631" name="Line 127"/>
                <p:cNvSpPr>
                  <a:spLocks noChangeShapeType="1"/>
                </p:cNvSpPr>
                <p:nvPr/>
              </p:nvSpPr>
              <p:spPr bwMode="auto">
                <a:xfrm flipV="1">
                  <a:off x="3272" y="2247"/>
                  <a:ext cx="383" cy="341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32" name="Freeform 128"/>
                <p:cNvSpPr/>
                <p:nvPr/>
              </p:nvSpPr>
              <p:spPr bwMode="auto">
                <a:xfrm>
                  <a:off x="3223" y="2540"/>
                  <a:ext cx="96" cy="91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91"/>
                    </a:cxn>
                    <a:cxn ang="0">
                      <a:pos x="96" y="50"/>
                    </a:cxn>
                    <a:cxn ang="0">
                      <a:pos x="51" y="46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96" h="91">
                      <a:moveTo>
                        <a:pt x="52" y="0"/>
                      </a:moveTo>
                      <a:lnTo>
                        <a:pt x="0" y="91"/>
                      </a:lnTo>
                      <a:lnTo>
                        <a:pt x="96" y="50"/>
                      </a:lnTo>
                      <a:lnTo>
                        <a:pt x="51" y="46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6" name="Group 129"/>
              <p:cNvGrpSpPr/>
              <p:nvPr/>
            </p:nvGrpSpPr>
            <p:grpSpPr bwMode="auto">
              <a:xfrm>
                <a:off x="3024" y="2112"/>
                <a:ext cx="528" cy="192"/>
                <a:chOff x="3367" y="2727"/>
                <a:chExt cx="528" cy="192"/>
              </a:xfrm>
              <a:grpFill/>
            </p:grpSpPr>
            <p:sp>
              <p:nvSpPr>
                <p:cNvPr id="149634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3429" y="2727"/>
                  <a:ext cx="466" cy="169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35" name="Freeform 131"/>
                <p:cNvSpPr/>
                <p:nvPr/>
              </p:nvSpPr>
              <p:spPr bwMode="auto">
                <a:xfrm>
                  <a:off x="3367" y="2854"/>
                  <a:ext cx="104" cy="65"/>
                </a:xfrm>
                <a:custGeom>
                  <a:avLst/>
                  <a:gdLst/>
                  <a:ahLst/>
                  <a:cxnLst>
                    <a:cxn ang="0">
                      <a:pos x="82" y="0"/>
                    </a:cxn>
                    <a:cxn ang="0">
                      <a:pos x="0" y="65"/>
                    </a:cxn>
                    <a:cxn ang="0">
                      <a:pos x="104" y="63"/>
                    </a:cxn>
                    <a:cxn ang="0">
                      <a:pos x="64" y="42"/>
                    </a:cxn>
                    <a:cxn ang="0">
                      <a:pos x="82" y="0"/>
                    </a:cxn>
                  </a:cxnLst>
                  <a:rect l="0" t="0" r="r" b="b"/>
                  <a:pathLst>
                    <a:path w="104" h="65">
                      <a:moveTo>
                        <a:pt x="82" y="0"/>
                      </a:moveTo>
                      <a:lnTo>
                        <a:pt x="0" y="65"/>
                      </a:lnTo>
                      <a:lnTo>
                        <a:pt x="104" y="63"/>
                      </a:lnTo>
                      <a:lnTo>
                        <a:pt x="64" y="4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7" name="Group 132"/>
              <p:cNvGrpSpPr/>
              <p:nvPr/>
            </p:nvGrpSpPr>
            <p:grpSpPr bwMode="auto">
              <a:xfrm>
                <a:off x="2544" y="3120"/>
                <a:ext cx="192" cy="576"/>
                <a:chOff x="2887" y="3735"/>
                <a:chExt cx="192" cy="528"/>
              </a:xfrm>
              <a:grpFill/>
            </p:grpSpPr>
            <p:sp>
              <p:nvSpPr>
                <p:cNvPr id="149637" name="Line 133"/>
                <p:cNvSpPr>
                  <a:spLocks noChangeShapeType="1"/>
                </p:cNvSpPr>
                <p:nvPr/>
              </p:nvSpPr>
              <p:spPr bwMode="auto">
                <a:xfrm>
                  <a:off x="2910" y="3797"/>
                  <a:ext cx="169" cy="466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38" name="Freeform 134"/>
                <p:cNvSpPr/>
                <p:nvPr/>
              </p:nvSpPr>
              <p:spPr bwMode="auto">
                <a:xfrm>
                  <a:off x="2887" y="3735"/>
                  <a:ext cx="65" cy="104"/>
                </a:xfrm>
                <a:custGeom>
                  <a:avLst/>
                  <a:gdLst/>
                  <a:ahLst/>
                  <a:cxnLst>
                    <a:cxn ang="0">
                      <a:pos x="65" y="82"/>
                    </a:cxn>
                    <a:cxn ang="0">
                      <a:pos x="0" y="0"/>
                    </a:cxn>
                    <a:cxn ang="0">
                      <a:pos x="2" y="104"/>
                    </a:cxn>
                    <a:cxn ang="0">
                      <a:pos x="23" y="64"/>
                    </a:cxn>
                    <a:cxn ang="0">
                      <a:pos x="65" y="82"/>
                    </a:cxn>
                  </a:cxnLst>
                  <a:rect l="0" t="0" r="r" b="b"/>
                  <a:pathLst>
                    <a:path w="65" h="104">
                      <a:moveTo>
                        <a:pt x="65" y="82"/>
                      </a:moveTo>
                      <a:lnTo>
                        <a:pt x="0" y="0"/>
                      </a:lnTo>
                      <a:lnTo>
                        <a:pt x="2" y="104"/>
                      </a:lnTo>
                      <a:lnTo>
                        <a:pt x="23" y="64"/>
                      </a:lnTo>
                      <a:lnTo>
                        <a:pt x="65" y="82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8" name="Group 135"/>
              <p:cNvGrpSpPr/>
              <p:nvPr/>
            </p:nvGrpSpPr>
            <p:grpSpPr bwMode="auto">
              <a:xfrm>
                <a:off x="2976" y="2832"/>
                <a:ext cx="480" cy="192"/>
                <a:chOff x="3319" y="3447"/>
                <a:chExt cx="480" cy="192"/>
              </a:xfrm>
              <a:grpFill/>
            </p:grpSpPr>
            <p:sp>
              <p:nvSpPr>
                <p:cNvPr id="149640" name="Line 136"/>
                <p:cNvSpPr>
                  <a:spLocks noChangeShapeType="1"/>
                </p:cNvSpPr>
                <p:nvPr/>
              </p:nvSpPr>
              <p:spPr bwMode="auto">
                <a:xfrm>
                  <a:off x="3380" y="3472"/>
                  <a:ext cx="419" cy="167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41" name="Freeform 137"/>
                <p:cNvSpPr/>
                <p:nvPr/>
              </p:nvSpPr>
              <p:spPr bwMode="auto">
                <a:xfrm>
                  <a:off x="3319" y="3447"/>
                  <a:ext cx="105" cy="67"/>
                </a:xfrm>
                <a:custGeom>
                  <a:avLst/>
                  <a:gdLst/>
                  <a:ahLst/>
                  <a:cxnLst>
                    <a:cxn ang="0">
                      <a:pos x="105" y="5"/>
                    </a:cxn>
                    <a:cxn ang="0">
                      <a:pos x="0" y="0"/>
                    </a:cxn>
                    <a:cxn ang="0">
                      <a:pos x="80" y="67"/>
                    </a:cxn>
                    <a:cxn ang="0">
                      <a:pos x="63" y="25"/>
                    </a:cxn>
                    <a:cxn ang="0">
                      <a:pos x="105" y="5"/>
                    </a:cxn>
                  </a:cxnLst>
                  <a:rect l="0" t="0" r="r" b="b"/>
                  <a:pathLst>
                    <a:path w="105" h="67">
                      <a:moveTo>
                        <a:pt x="105" y="5"/>
                      </a:moveTo>
                      <a:lnTo>
                        <a:pt x="0" y="0"/>
                      </a:lnTo>
                      <a:lnTo>
                        <a:pt x="80" y="67"/>
                      </a:lnTo>
                      <a:lnTo>
                        <a:pt x="63" y="25"/>
                      </a:lnTo>
                      <a:lnTo>
                        <a:pt x="105" y="5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49642" name="Rectangle 138"/>
              <p:cNvSpPr>
                <a:spLocks noChangeArrowheads="1"/>
              </p:cNvSpPr>
              <p:nvPr/>
            </p:nvSpPr>
            <p:spPr bwMode="auto">
              <a:xfrm>
                <a:off x="2256" y="2511"/>
                <a:ext cx="145" cy="33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rgbClr val="0000FF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9" name="Group 139"/>
              <p:cNvGrpSpPr/>
              <p:nvPr/>
            </p:nvGrpSpPr>
            <p:grpSpPr bwMode="auto">
              <a:xfrm>
                <a:off x="2655" y="1370"/>
                <a:ext cx="240" cy="480"/>
                <a:chOff x="2998" y="1985"/>
                <a:chExt cx="240" cy="480"/>
              </a:xfrm>
              <a:grpFill/>
            </p:grpSpPr>
            <p:sp>
              <p:nvSpPr>
                <p:cNvPr id="149644" name="Line 140"/>
                <p:cNvSpPr>
                  <a:spLocks noChangeShapeType="1"/>
                </p:cNvSpPr>
                <p:nvPr/>
              </p:nvSpPr>
              <p:spPr bwMode="auto">
                <a:xfrm flipV="1">
                  <a:off x="3028" y="1985"/>
                  <a:ext cx="210" cy="421"/>
                </a:xfrm>
                <a:prstGeom prst="line">
                  <a:avLst/>
                </a:prstGeom>
                <a:grpFill/>
                <a:ln w="28575">
                  <a:solidFill>
                    <a:srgbClr val="0000FF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9645" name="Freeform 141"/>
                <p:cNvSpPr/>
                <p:nvPr/>
              </p:nvSpPr>
              <p:spPr bwMode="auto">
                <a:xfrm>
                  <a:off x="2998" y="2361"/>
                  <a:ext cx="73" cy="104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0" y="104"/>
                    </a:cxn>
                    <a:cxn ang="0">
                      <a:pos x="73" y="30"/>
                    </a:cxn>
                    <a:cxn ang="0">
                      <a:pos x="30" y="43"/>
                    </a:cxn>
                    <a:cxn ang="0">
                      <a:pos x="13" y="0"/>
                    </a:cxn>
                  </a:cxnLst>
                  <a:rect l="0" t="0" r="r" b="b"/>
                  <a:pathLst>
                    <a:path w="73" h="104">
                      <a:moveTo>
                        <a:pt x="13" y="0"/>
                      </a:moveTo>
                      <a:lnTo>
                        <a:pt x="0" y="104"/>
                      </a:lnTo>
                      <a:lnTo>
                        <a:pt x="73" y="30"/>
                      </a:lnTo>
                      <a:lnTo>
                        <a:pt x="30" y="43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28575" cmpd="sng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49646" name="Line 142"/>
              <p:cNvSpPr>
                <a:spLocks noChangeShapeType="1"/>
              </p:cNvSpPr>
              <p:nvPr/>
            </p:nvSpPr>
            <p:spPr bwMode="auto">
              <a:xfrm>
                <a:off x="2448" y="2544"/>
                <a:ext cx="624" cy="1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47" name="Line 143"/>
              <p:cNvSpPr>
                <a:spLocks noChangeShapeType="1"/>
              </p:cNvSpPr>
              <p:nvPr/>
            </p:nvSpPr>
            <p:spPr bwMode="auto">
              <a:xfrm flipH="1">
                <a:off x="2448" y="2304"/>
                <a:ext cx="576" cy="192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48" name="Line 144"/>
              <p:cNvSpPr>
                <a:spLocks noChangeShapeType="1"/>
              </p:cNvSpPr>
              <p:nvPr/>
            </p:nvSpPr>
            <p:spPr bwMode="auto">
              <a:xfrm flipH="1">
                <a:off x="2400" y="2016"/>
                <a:ext cx="480" cy="432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49" name="Line 145"/>
              <p:cNvSpPr>
                <a:spLocks noChangeShapeType="1"/>
              </p:cNvSpPr>
              <p:nvPr/>
            </p:nvSpPr>
            <p:spPr bwMode="auto">
              <a:xfrm flipH="1">
                <a:off x="2352" y="1872"/>
                <a:ext cx="288" cy="528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0" name="Line 146"/>
              <p:cNvSpPr>
                <a:spLocks noChangeShapeType="1"/>
              </p:cNvSpPr>
              <p:nvPr/>
            </p:nvSpPr>
            <p:spPr bwMode="auto">
              <a:xfrm>
                <a:off x="2304" y="1776"/>
                <a:ext cx="1" cy="624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1" name="Line 147"/>
              <p:cNvSpPr>
                <a:spLocks noChangeShapeType="1"/>
              </p:cNvSpPr>
              <p:nvPr/>
            </p:nvSpPr>
            <p:spPr bwMode="auto">
              <a:xfrm>
                <a:off x="2016" y="1872"/>
                <a:ext cx="240" cy="528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2" name="Line 148"/>
              <p:cNvSpPr>
                <a:spLocks noChangeShapeType="1"/>
              </p:cNvSpPr>
              <p:nvPr/>
            </p:nvSpPr>
            <p:spPr bwMode="auto">
              <a:xfrm>
                <a:off x="1632" y="2544"/>
                <a:ext cx="576" cy="1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3" name="Line 149"/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528" cy="192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4" name="Line 150"/>
              <p:cNvSpPr>
                <a:spLocks noChangeShapeType="1"/>
              </p:cNvSpPr>
              <p:nvPr/>
            </p:nvSpPr>
            <p:spPr bwMode="auto">
              <a:xfrm>
                <a:off x="1824" y="2064"/>
                <a:ext cx="384" cy="384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5" name="Line 151"/>
              <p:cNvSpPr>
                <a:spLocks noChangeShapeType="1"/>
              </p:cNvSpPr>
              <p:nvPr/>
            </p:nvSpPr>
            <p:spPr bwMode="auto">
              <a:xfrm flipV="1">
                <a:off x="1680" y="2592"/>
                <a:ext cx="528" cy="192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6" name="Line 152"/>
              <p:cNvSpPr>
                <a:spLocks noChangeShapeType="1"/>
              </p:cNvSpPr>
              <p:nvPr/>
            </p:nvSpPr>
            <p:spPr bwMode="auto">
              <a:xfrm flipV="1">
                <a:off x="1824" y="2592"/>
                <a:ext cx="432" cy="384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7" name="Line 153"/>
              <p:cNvSpPr>
                <a:spLocks noChangeShapeType="1"/>
              </p:cNvSpPr>
              <p:nvPr/>
            </p:nvSpPr>
            <p:spPr bwMode="auto">
              <a:xfrm flipV="1">
                <a:off x="2064" y="2640"/>
                <a:ext cx="192" cy="480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8" name="Line 154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1" cy="528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59" name="Line 155"/>
              <p:cNvSpPr>
                <a:spLocks noChangeShapeType="1"/>
              </p:cNvSpPr>
              <p:nvPr/>
            </p:nvSpPr>
            <p:spPr bwMode="auto">
              <a:xfrm>
                <a:off x="2352" y="2640"/>
                <a:ext cx="192" cy="528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60" name="Line 156"/>
              <p:cNvSpPr>
                <a:spLocks noChangeShapeType="1"/>
              </p:cNvSpPr>
              <p:nvPr/>
            </p:nvSpPr>
            <p:spPr bwMode="auto">
              <a:xfrm>
                <a:off x="2400" y="2640"/>
                <a:ext cx="384" cy="384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61" name="Line 157"/>
              <p:cNvSpPr>
                <a:spLocks noChangeShapeType="1"/>
              </p:cNvSpPr>
              <p:nvPr/>
            </p:nvSpPr>
            <p:spPr bwMode="auto">
              <a:xfrm>
                <a:off x="2448" y="2592"/>
                <a:ext cx="528" cy="240"/>
              </a:xfrm>
              <a:prstGeom prst="line">
                <a:avLst/>
              </a:prstGeom>
              <a:grpFill/>
              <a:ln w="2857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667" name="Text Box 163"/>
              <p:cNvSpPr txBox="1">
                <a:spLocks noChangeArrowheads="1"/>
              </p:cNvSpPr>
              <p:nvPr/>
            </p:nvSpPr>
            <p:spPr bwMode="auto">
              <a:xfrm>
                <a:off x="599" y="1271"/>
                <a:ext cx="384" cy="1941"/>
              </a:xfrm>
              <a:prstGeom prst="rect">
                <a:avLst/>
              </a:prstGeom>
              <a:grp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点电荷的等势面</a:t>
                </a: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0" name="Group 76"/>
          <p:cNvGrpSpPr/>
          <p:nvPr/>
        </p:nvGrpSpPr>
        <p:grpSpPr>
          <a:xfrm>
            <a:off x="7446963" y="1784350"/>
            <a:ext cx="457200" cy="4038600"/>
            <a:chOff x="2496" y="864"/>
            <a:chExt cx="336" cy="2928"/>
          </a:xfrm>
        </p:grpSpPr>
        <p:sp>
          <p:nvSpPr>
            <p:cNvPr id="83993" name="Line 77"/>
            <p:cNvSpPr/>
            <p:nvPr/>
          </p:nvSpPr>
          <p:spPr>
            <a:xfrm>
              <a:off x="2496" y="864"/>
              <a:ext cx="0" cy="292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3994" name="Line 78"/>
            <p:cNvSpPr/>
            <p:nvPr/>
          </p:nvSpPr>
          <p:spPr>
            <a:xfrm>
              <a:off x="2832" y="864"/>
              <a:ext cx="0" cy="292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21" name="Group 178"/>
          <p:cNvGrpSpPr/>
          <p:nvPr/>
        </p:nvGrpSpPr>
        <p:grpSpPr>
          <a:xfrm>
            <a:off x="7397750" y="5670550"/>
            <a:ext cx="571500" cy="666750"/>
            <a:chOff x="2705" y="3648"/>
            <a:chExt cx="360" cy="420"/>
          </a:xfrm>
        </p:grpSpPr>
        <p:sp>
          <p:nvSpPr>
            <p:cNvPr id="83991" name="Line 80"/>
            <p:cNvSpPr/>
            <p:nvPr/>
          </p:nvSpPr>
          <p:spPr>
            <a:xfrm>
              <a:off x="2736" y="3648"/>
              <a:ext cx="288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83992" name="Object 5"/>
            <p:cNvGraphicFramePr>
              <a:graphicFrameLocks noChangeAspect="1"/>
            </p:cNvGraphicFramePr>
            <p:nvPr/>
          </p:nvGraphicFramePr>
          <p:xfrm>
            <a:off x="2705" y="3663"/>
            <a:ext cx="360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226695" imgH="260350" progId="Equation.DSMT4">
                    <p:embed/>
                  </p:oleObj>
                </mc:Choice>
                <mc:Fallback>
                  <p:oleObj name="" r:id="rId1" imgW="226695" imgH="26035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8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5" y="3663"/>
                          <a:ext cx="360" cy="4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79"/>
          <p:cNvGrpSpPr/>
          <p:nvPr/>
        </p:nvGrpSpPr>
        <p:grpSpPr>
          <a:xfrm>
            <a:off x="7904163" y="1784350"/>
            <a:ext cx="685800" cy="4237038"/>
            <a:chOff x="3024" y="1200"/>
            <a:chExt cx="432" cy="2669"/>
          </a:xfrm>
        </p:grpSpPr>
        <p:sp>
          <p:nvSpPr>
            <p:cNvPr id="83988" name="Line 83"/>
            <p:cNvSpPr/>
            <p:nvPr/>
          </p:nvSpPr>
          <p:spPr>
            <a:xfrm>
              <a:off x="3456" y="1200"/>
              <a:ext cx="0" cy="249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3989" name="Line 84"/>
            <p:cNvSpPr/>
            <p:nvPr/>
          </p:nvSpPr>
          <p:spPr>
            <a:xfrm>
              <a:off x="3024" y="3504"/>
              <a:ext cx="432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83990" name="Object 4"/>
            <p:cNvGraphicFramePr>
              <a:graphicFrameLocks noChangeAspect="1"/>
            </p:cNvGraphicFramePr>
            <p:nvPr/>
          </p:nvGraphicFramePr>
          <p:xfrm>
            <a:off x="3099" y="3491"/>
            <a:ext cx="35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3" imgW="251460" imgH="260350" progId="Equation.DSMT4">
                    <p:embed/>
                  </p:oleObj>
                </mc:Choice>
                <mc:Fallback>
                  <p:oleObj name="" r:id="rId3" imgW="251460" imgH="26035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8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99" y="3491"/>
                          <a:ext cx="357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590" name="Object 2"/>
          <p:cNvGraphicFramePr>
            <a:graphicFrameLocks noChangeAspect="1"/>
          </p:cNvGraphicFramePr>
          <p:nvPr/>
        </p:nvGraphicFramePr>
        <p:xfrm>
          <a:off x="3998913" y="5143500"/>
          <a:ext cx="14033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546100" imgH="228600" progId="Equation.DSMT4">
                  <p:embed/>
                </p:oleObj>
              </mc:Choice>
              <mc:Fallback>
                <p:oleObj name="" r:id="rId5" imgW="546100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8913" y="5143500"/>
                        <a:ext cx="1403350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91" name="Object 3"/>
          <p:cNvGraphicFramePr>
            <a:graphicFrameLocks noChangeAspect="1"/>
          </p:cNvGraphicFramePr>
          <p:nvPr/>
        </p:nvGraphicFramePr>
        <p:xfrm>
          <a:off x="4017963" y="5703888"/>
          <a:ext cx="13382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520700" imgH="228600" progId="Equation.DSMT4">
                  <p:embed/>
                </p:oleObj>
              </mc:Choice>
              <mc:Fallback>
                <p:oleObj name="" r:id="rId7" imgW="520700" imgH="228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17963" y="5703888"/>
                        <a:ext cx="1338262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92" name="Rectangle 88"/>
          <p:cNvSpPr/>
          <p:nvPr/>
        </p:nvSpPr>
        <p:spPr>
          <a:xfrm>
            <a:off x="193675" y="3105150"/>
            <a:ext cx="3722688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按规定，电场中任意两相邻等势面之间的电势差相等。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" name="Group 164"/>
          <p:cNvGrpSpPr/>
          <p:nvPr/>
        </p:nvGrpSpPr>
        <p:grpSpPr>
          <a:xfrm>
            <a:off x="5008563" y="2012950"/>
            <a:ext cx="3581400" cy="3581400"/>
            <a:chOff x="1200" y="1440"/>
            <a:chExt cx="2256" cy="2256"/>
          </a:xfrm>
        </p:grpSpPr>
        <p:sp>
          <p:nvSpPr>
            <p:cNvPr id="83983" name="Oval 158"/>
            <p:cNvSpPr/>
            <p:nvPr/>
          </p:nvSpPr>
          <p:spPr>
            <a:xfrm>
              <a:off x="1632" y="1872"/>
              <a:ext cx="1392" cy="139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3984" name="Oval 159"/>
            <p:cNvSpPr/>
            <p:nvPr/>
          </p:nvSpPr>
          <p:spPr>
            <a:xfrm>
              <a:off x="1920" y="2160"/>
              <a:ext cx="816" cy="81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3985" name="Oval 160"/>
            <p:cNvSpPr/>
            <p:nvPr/>
          </p:nvSpPr>
          <p:spPr>
            <a:xfrm>
              <a:off x="2064" y="2304"/>
              <a:ext cx="528" cy="52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3986" name="Oval 161"/>
            <p:cNvSpPr/>
            <p:nvPr/>
          </p:nvSpPr>
          <p:spPr>
            <a:xfrm>
              <a:off x="2160" y="2400"/>
              <a:ext cx="336" cy="33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3987" name="Oval 162"/>
            <p:cNvSpPr/>
            <p:nvPr/>
          </p:nvSpPr>
          <p:spPr>
            <a:xfrm>
              <a:off x="1200" y="1440"/>
              <a:ext cx="2256" cy="225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91" name="Text Box 2"/>
          <p:cNvSpPr txBox="1">
            <a:spLocks noChangeArrowheads="1"/>
          </p:cNvSpPr>
          <p:nvPr/>
        </p:nvSpPr>
        <p:spPr bwMode="auto">
          <a:xfrm>
            <a:off x="252413" y="898525"/>
            <a:ext cx="8613775" cy="52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由电场中电势相等的点组成的面叫做等势面。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93" name="Rectangle 8"/>
          <p:cNvSpPr>
            <a:spLocks noChangeArrowheads="1"/>
          </p:cNvSpPr>
          <p:nvPr/>
        </p:nvSpPr>
        <p:spPr bwMode="auto">
          <a:xfrm>
            <a:off x="209550" y="1741488"/>
            <a:ext cx="3568700" cy="954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等势面上的任一曲线叫做等势线或等位线。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207963" y="4841875"/>
            <a:ext cx="3505200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即等势面的疏密程度同样可以表示场强的大小。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81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96" name="Text Box 3"/>
          <p:cNvSpPr txBox="1"/>
          <p:nvPr/>
        </p:nvSpPr>
        <p:spPr>
          <a:xfrm>
            <a:off x="360363" y="176213"/>
            <a:ext cx="3327400" cy="519112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>
            <a:prstShdw prst="shdw13" dist="53882" dir="13499999">
              <a:schemeClr val="bg2"/>
            </a:prst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80808"/>
                </a:solidFill>
                <a:latin typeface="Arial" panose="020B0604020202020204" pitchFamily="34" charset="0"/>
                <a:ea typeface="楷体_GB2312" pitchFamily="49" charset="-122"/>
              </a:rPr>
              <a:t>三、等势面</a:t>
            </a:r>
            <a:endParaRPr lang="zh-CN" altLang="en-US" sz="2800" b="1" dirty="0">
              <a:solidFill>
                <a:srgbClr val="080808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92" grpId="0"/>
      <p:bldP spid="91" grpId="0"/>
      <p:bldP spid="93" grpId="0"/>
      <p:bldP spid="94" grpId="0"/>
      <p:bldP spid="9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227013" y="4608513"/>
            <a:ext cx="8916988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  <a:sym typeface="Monotype Sorts" pitchFamily="2" charset="2"/>
              </a:rPr>
              <a:t>3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. 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电场线的方向总是指向电势降低的方向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因沿电场线方向移动正电荷场力做正功，电势能减少。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227013" y="5648325"/>
            <a:ext cx="8001000" cy="1031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  <a:sym typeface="Monotype Sorts" pitchFamily="2" charset="2"/>
              </a:rPr>
              <a:t>4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.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  <a:sym typeface="Monotype Sorts" pitchFamily="2" charset="2"/>
              </a:rPr>
              <a:t>  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等势面较密集的地方，场强较大。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     等势面较稀疏的地方，场强较小。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20675" y="2338388"/>
            <a:ext cx="7091363" cy="954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证明：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因为将单位正电荷从等势面上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M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点移到</a:t>
            </a:r>
            <a:r>
              <a:rPr kumimoji="1" lang="en-US" altLang="zh-CN" sz="2800" b="1" i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N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点，电场力做功为零，而路径不为零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7013" y="1855788"/>
            <a:ext cx="6324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  <a:sym typeface="Monotype Sorts" pitchFamily="2" charset="2"/>
              </a:rPr>
              <a:t>2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  <a:sym typeface="Monotype Sorts" pitchFamily="2" charset="2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+mn-cs"/>
              </a:rPr>
              <a:t>.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等势面与电场线处处正交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374650" y="3305175"/>
          <a:ext cx="53260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209800" imgH="241300" progId="Equation.DSMT4">
                  <p:embed/>
                </p:oleObj>
              </mc:Choice>
              <mc:Fallback>
                <p:oleObj name="" r:id="rId1" imgW="2209800" imgH="2413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4650" y="3305175"/>
                        <a:ext cx="5326063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5680075" y="3700463"/>
          <a:ext cx="12954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533400" imgH="342900" progId="Equation.3">
                  <p:embed/>
                </p:oleObj>
              </mc:Choice>
              <mc:Fallback>
                <p:oleObj name="" r:id="rId3" imgW="533400" imgH="3429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80075" y="3700463"/>
                        <a:ext cx="1295400" cy="833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7"/>
          <p:cNvGrpSpPr/>
          <p:nvPr/>
        </p:nvGrpSpPr>
        <p:grpSpPr>
          <a:xfrm>
            <a:off x="7239000" y="2025650"/>
            <a:ext cx="1600200" cy="1714500"/>
            <a:chOff x="4656" y="2760"/>
            <a:chExt cx="1008" cy="1080"/>
          </a:xfrm>
        </p:grpSpPr>
        <p:sp>
          <p:nvSpPr>
            <p:cNvPr id="16" name="Freeform 28"/>
            <p:cNvSpPr/>
            <p:nvPr/>
          </p:nvSpPr>
          <p:spPr bwMode="auto">
            <a:xfrm>
              <a:off x="4682" y="2769"/>
              <a:ext cx="744" cy="1062"/>
            </a:xfrm>
            <a:custGeom>
              <a:avLst/>
              <a:gdLst>
                <a:gd name="T0" fmla="*/ 0 w 744"/>
                <a:gd name="T1" fmla="*/ 1062 h 1062"/>
                <a:gd name="T2" fmla="*/ 744 w 744"/>
                <a:gd name="T3" fmla="*/ 0 h 1062"/>
                <a:gd name="T4" fmla="*/ 0 60000 65536"/>
                <a:gd name="T5" fmla="*/ 0 60000 65536"/>
                <a:gd name="T6" fmla="*/ 0 w 744"/>
                <a:gd name="T7" fmla="*/ 0 h 1062"/>
                <a:gd name="T8" fmla="*/ 744 w 744"/>
                <a:gd name="T9" fmla="*/ 1062 h 10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4" h="1062">
                  <a:moveTo>
                    <a:pt x="0" y="1062"/>
                  </a:moveTo>
                  <a:cubicBezTo>
                    <a:pt x="0" y="1062"/>
                    <a:pt x="711" y="1005"/>
                    <a:pt x="744" y="0"/>
                  </a:cubicBezTo>
                </a:path>
              </a:pathLst>
            </a:custGeom>
            <a:noFill/>
            <a:ln w="412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5007" name="Object 6"/>
            <p:cNvGraphicFramePr/>
            <p:nvPr/>
          </p:nvGraphicFramePr>
          <p:xfrm>
            <a:off x="5012" y="3067"/>
            <a:ext cx="31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5" imgW="203200" imgH="203200" progId="Equation.3">
                    <p:embed/>
                  </p:oleObj>
                </mc:Choice>
                <mc:Fallback>
                  <p:oleObj name="" r:id="rId5" imgW="203200" imgH="2032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12" y="3067"/>
                          <a:ext cx="317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08" name="Object 7"/>
            <p:cNvGraphicFramePr>
              <a:graphicFrameLocks noChangeAspect="1"/>
            </p:cNvGraphicFramePr>
            <p:nvPr/>
          </p:nvGraphicFramePr>
          <p:xfrm>
            <a:off x="4656" y="3576"/>
            <a:ext cx="247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7" imgW="393700" imgH="292100" progId="Equation.3">
                    <p:embed/>
                  </p:oleObj>
                </mc:Choice>
                <mc:Fallback>
                  <p:oleObj name="" r:id="rId7" imgW="393700" imgH="2921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56" y="3576"/>
                          <a:ext cx="247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09" name="Object 8"/>
            <p:cNvGraphicFramePr>
              <a:graphicFrameLocks noChangeAspect="1"/>
            </p:cNvGraphicFramePr>
            <p:nvPr/>
          </p:nvGraphicFramePr>
          <p:xfrm>
            <a:off x="5200" y="2760"/>
            <a:ext cx="22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9" imgW="355600" imgH="292100" progId="Equation.3">
                    <p:embed/>
                  </p:oleObj>
                </mc:Choice>
                <mc:Fallback>
                  <p:oleObj name="" r:id="rId9" imgW="355600" imgH="2921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00" y="2760"/>
                          <a:ext cx="224" cy="1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32"/>
            <p:cNvSpPr>
              <a:spLocks noChangeShapeType="1"/>
            </p:cNvSpPr>
            <p:nvPr/>
          </p:nvSpPr>
          <p:spPr bwMode="auto">
            <a:xfrm>
              <a:off x="5258" y="3447"/>
              <a:ext cx="240" cy="19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tailEnd type="arrow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5011" name="Object 9"/>
            <p:cNvGraphicFramePr>
              <a:graphicFrameLocks noChangeAspect="1"/>
            </p:cNvGraphicFramePr>
            <p:nvPr/>
          </p:nvGraphicFramePr>
          <p:xfrm>
            <a:off x="5471" y="3359"/>
            <a:ext cx="19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1" imgW="304800" imgH="342900" progId="Equation.3">
                    <p:embed/>
                  </p:oleObj>
                </mc:Choice>
                <mc:Fallback>
                  <p:oleObj name="" r:id="rId11" imgW="304800" imgH="3429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471" y="3359"/>
                          <a:ext cx="193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Oval 34"/>
            <p:cNvSpPr>
              <a:spLocks noChangeArrowheads="1"/>
            </p:cNvSpPr>
            <p:nvPr/>
          </p:nvSpPr>
          <p:spPr bwMode="auto">
            <a:xfrm>
              <a:off x="4656" y="3792"/>
              <a:ext cx="48" cy="48"/>
            </a:xfrm>
            <a:prstGeom prst="ellipse">
              <a:avLst/>
            </a:prstGeom>
            <a:solidFill>
              <a:srgbClr val="CC66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Oval 35"/>
            <p:cNvSpPr>
              <a:spLocks noChangeArrowheads="1"/>
            </p:cNvSpPr>
            <p:nvPr/>
          </p:nvSpPr>
          <p:spPr bwMode="auto">
            <a:xfrm>
              <a:off x="5388" y="2760"/>
              <a:ext cx="48" cy="48"/>
            </a:xfrm>
            <a:prstGeom prst="ellipse">
              <a:avLst/>
            </a:prstGeom>
            <a:solidFill>
              <a:srgbClr val="CC66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Oval 36"/>
            <p:cNvSpPr>
              <a:spLocks noChangeArrowheads="1"/>
            </p:cNvSpPr>
            <p:nvPr/>
          </p:nvSpPr>
          <p:spPr bwMode="auto">
            <a:xfrm>
              <a:off x="5220" y="34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77169" name="Object 17"/>
          <p:cNvGraphicFramePr>
            <a:graphicFrameLocks noChangeAspect="1"/>
          </p:cNvGraphicFramePr>
          <p:nvPr/>
        </p:nvGraphicFramePr>
        <p:xfrm>
          <a:off x="1412875" y="3916363"/>
          <a:ext cx="3429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1422400" imgH="241300" progId="Equation.DSMT4">
                  <p:embed/>
                </p:oleObj>
              </mc:Choice>
              <mc:Fallback>
                <p:oleObj name="" r:id="rId13" imgW="1422400" imgH="2413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12875" y="3916363"/>
                        <a:ext cx="34290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42888" y="120650"/>
            <a:ext cx="7173913" cy="52228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等势面与电场分布的关系</a:t>
            </a:r>
            <a:r>
              <a:rPr kumimoji="1" lang="en-US" altLang="zh-CN" sz="2800" b="1" kern="1200" cap="none" spc="0" normalizeH="0" baseline="0" noProof="0" dirty="0">
                <a:latin typeface="+mn-lt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+mn-lt"/>
                <a:ea typeface="楷体_GB2312" pitchFamily="49" charset="-122"/>
                <a:cs typeface="+mn-cs"/>
              </a:rPr>
              <a:t>等势面的性质</a:t>
            </a:r>
            <a:r>
              <a:rPr kumimoji="1" lang="en-US" altLang="zh-CN" sz="2800" b="1" kern="1200" cap="none" spc="0" normalizeH="0" baseline="0" noProof="0" dirty="0">
                <a:solidFill>
                  <a:srgbClr val="3333FF"/>
                </a:solidFill>
                <a:latin typeface="+mn-lt"/>
                <a:ea typeface="楷体_GB2312" pitchFamily="49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+mn-lt"/>
                <a:ea typeface="楷体_GB2312" pitchFamily="49" charset="-122"/>
                <a:cs typeface="+mn-cs"/>
              </a:rPr>
              <a:t>：</a:t>
            </a:r>
            <a:endParaRPr kumimoji="1" lang="zh-CN" altLang="en-US" sz="2800" b="1" kern="1200" cap="none" spc="0" normalizeH="0" baseline="0" noProof="0" dirty="0">
              <a:solidFill>
                <a:srgbClr val="3333FF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227013" y="703263"/>
            <a:ext cx="8674100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800" b="1" kern="1200" cap="none" spc="0" normalizeH="0" baseline="0" noProof="0" dirty="0">
                <a:solidFill>
                  <a:srgbClr val="000000"/>
                </a:solidFill>
                <a:latin typeface="+mn-lt"/>
                <a:ea typeface="楷体_GB2312" pitchFamily="49" charset="-122"/>
                <a:cs typeface="+mn-cs"/>
              </a:rPr>
              <a:t>.  在同一等势面上移动电荷，电场力的功恒等于0。</a:t>
            </a:r>
            <a:endParaRPr kumimoji="1" lang="zh-CN" altLang="en-US" sz="2800" b="1" kern="1200" cap="none" spc="0" normalizeH="0" baseline="0" noProof="0" dirty="0">
              <a:solidFill>
                <a:srgbClr val="0000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43" name="Object 21"/>
          <p:cNvGraphicFramePr>
            <a:graphicFrameLocks noChangeAspect="1"/>
          </p:cNvGraphicFramePr>
          <p:nvPr/>
        </p:nvGraphicFramePr>
        <p:xfrm>
          <a:off x="3087688" y="1228725"/>
          <a:ext cx="31559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5" imgW="2781300" imgH="431800" progId="Equation.DSMT4">
                  <p:embed/>
                </p:oleObj>
              </mc:Choice>
              <mc:Fallback>
                <p:oleObj name="" r:id="rId15" imgW="2781300" imgH="431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87688" y="1228725"/>
                        <a:ext cx="315595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7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/>
      <p:bldP spid="114691" grpId="0"/>
      <p:bldP spid="10" grpId="0"/>
      <p:bldP spid="11" grpId="0"/>
      <p:bldP spid="41" grpId="0" animBg="1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Slide Number Placeholder 1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87043" name="Group 160"/>
          <p:cNvGrpSpPr/>
          <p:nvPr/>
        </p:nvGrpSpPr>
        <p:grpSpPr>
          <a:xfrm>
            <a:off x="609600" y="368300"/>
            <a:ext cx="7924800" cy="6184900"/>
            <a:chOff x="384" y="232"/>
            <a:chExt cx="4992" cy="3896"/>
          </a:xfrm>
        </p:grpSpPr>
        <p:sp>
          <p:nvSpPr>
            <p:cNvPr id="87056" name="Rectangle 2"/>
            <p:cNvSpPr/>
            <p:nvPr/>
          </p:nvSpPr>
          <p:spPr>
            <a:xfrm>
              <a:off x="384" y="432"/>
              <a:ext cx="4992" cy="369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7057" name="Rectangle 3"/>
            <p:cNvSpPr/>
            <p:nvPr/>
          </p:nvSpPr>
          <p:spPr>
            <a:xfrm>
              <a:off x="957" y="232"/>
              <a:ext cx="3563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966" y="330"/>
              <a:ext cx="4224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一对等量异号点电荷的电场线和等势面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7059" name="Group 90"/>
            <p:cNvGrpSpPr/>
            <p:nvPr/>
          </p:nvGrpSpPr>
          <p:grpSpPr>
            <a:xfrm>
              <a:off x="624" y="1008"/>
              <a:ext cx="4368" cy="2976"/>
              <a:chOff x="624" y="912"/>
              <a:chExt cx="4368" cy="2976"/>
            </a:xfrm>
          </p:grpSpPr>
          <p:sp>
            <p:nvSpPr>
              <p:cNvPr id="87060" name="Freeform 91"/>
              <p:cNvSpPr/>
              <p:nvPr/>
            </p:nvSpPr>
            <p:spPr>
              <a:xfrm>
                <a:off x="2203" y="2415"/>
                <a:ext cx="1445" cy="1473"/>
              </a:xfrm>
              <a:custGeom>
                <a:avLst/>
                <a:gdLst>
                  <a:gd name="txL" fmla="*/ 0 w 1620"/>
                  <a:gd name="txT" fmla="*/ 0 h 1759"/>
                  <a:gd name="txR" fmla="*/ 1620 w 1620"/>
                  <a:gd name="txB" fmla="*/ 1759 h 1759"/>
                </a:gdLst>
                <a:ahLst/>
                <a:cxnLst>
                  <a:cxn ang="0">
                    <a:pos x="366" y="3"/>
                  </a:cxn>
                  <a:cxn ang="0">
                    <a:pos x="366" y="11"/>
                  </a:cxn>
                  <a:cxn ang="0">
                    <a:pos x="365" y="28"/>
                  </a:cxn>
                  <a:cxn ang="0">
                    <a:pos x="360" y="46"/>
                  </a:cxn>
                  <a:cxn ang="0">
                    <a:pos x="355" y="63"/>
                  </a:cxn>
                  <a:cxn ang="0">
                    <a:pos x="348" y="78"/>
                  </a:cxn>
                  <a:cxn ang="0">
                    <a:pos x="338" y="92"/>
                  </a:cxn>
                  <a:cxn ang="0">
                    <a:pos x="327" y="106"/>
                  </a:cxn>
                  <a:cxn ang="0">
                    <a:pos x="317" y="119"/>
                  </a:cxn>
                  <a:cxn ang="0">
                    <a:pos x="301" y="131"/>
                  </a:cxn>
                  <a:cxn ang="0">
                    <a:pos x="287" y="140"/>
                  </a:cxn>
                  <a:cxn ang="0">
                    <a:pos x="273" y="150"/>
                  </a:cxn>
                  <a:cxn ang="0">
                    <a:pos x="255" y="158"/>
                  </a:cxn>
                  <a:cxn ang="0">
                    <a:pos x="238" y="164"/>
                  </a:cxn>
                  <a:cxn ang="0">
                    <a:pos x="220" y="170"/>
                  </a:cxn>
                  <a:cxn ang="0">
                    <a:pos x="210" y="171"/>
                  </a:cxn>
                  <a:cxn ang="0">
                    <a:pos x="202" y="173"/>
                  </a:cxn>
                  <a:cxn ang="0">
                    <a:pos x="190" y="174"/>
                  </a:cxn>
                  <a:cxn ang="0">
                    <a:pos x="180" y="175"/>
                  </a:cxn>
                  <a:cxn ang="0">
                    <a:pos x="170" y="175"/>
                  </a:cxn>
                  <a:cxn ang="0">
                    <a:pos x="158" y="175"/>
                  </a:cxn>
                  <a:cxn ang="0">
                    <a:pos x="144" y="174"/>
                  </a:cxn>
                  <a:cxn ang="0">
                    <a:pos x="132" y="171"/>
                  </a:cxn>
                  <a:cxn ang="0">
                    <a:pos x="120" y="168"/>
                  </a:cxn>
                  <a:cxn ang="0">
                    <a:pos x="107" y="166"/>
                  </a:cxn>
                  <a:cxn ang="0">
                    <a:pos x="95" y="162"/>
                  </a:cxn>
                  <a:cxn ang="0">
                    <a:pos x="83" y="157"/>
                  </a:cxn>
                  <a:cxn ang="0">
                    <a:pos x="72" y="152"/>
                  </a:cxn>
                  <a:cxn ang="0">
                    <a:pos x="61" y="145"/>
                  </a:cxn>
                  <a:cxn ang="0">
                    <a:pos x="50" y="139"/>
                  </a:cxn>
                  <a:cxn ang="0">
                    <a:pos x="40" y="131"/>
                  </a:cxn>
                  <a:cxn ang="0">
                    <a:pos x="31" y="123"/>
                  </a:cxn>
                  <a:cxn ang="0">
                    <a:pos x="22" y="115"/>
                  </a:cxn>
                  <a:cxn ang="0">
                    <a:pos x="15" y="106"/>
                  </a:cxn>
                  <a:cxn ang="0">
                    <a:pos x="7" y="96"/>
                  </a:cxn>
                  <a:cxn ang="0">
                    <a:pos x="0" y="86"/>
                  </a:cxn>
                </a:cxnLst>
                <a:rect l="txL" t="txT" r="txR" b="txB"/>
                <a:pathLst>
                  <a:path w="1620" h="1759">
                    <a:moveTo>
                      <a:pt x="1620" y="0"/>
                    </a:moveTo>
                    <a:lnTo>
                      <a:pt x="1620" y="16"/>
                    </a:lnTo>
                    <a:lnTo>
                      <a:pt x="1620" y="31"/>
                    </a:lnTo>
                    <a:lnTo>
                      <a:pt x="1619" y="120"/>
                    </a:lnTo>
                    <a:lnTo>
                      <a:pt x="1616" y="208"/>
                    </a:lnTo>
                    <a:lnTo>
                      <a:pt x="1610" y="294"/>
                    </a:lnTo>
                    <a:lnTo>
                      <a:pt x="1602" y="379"/>
                    </a:lnTo>
                    <a:lnTo>
                      <a:pt x="1593" y="463"/>
                    </a:lnTo>
                    <a:lnTo>
                      <a:pt x="1581" y="545"/>
                    </a:lnTo>
                    <a:lnTo>
                      <a:pt x="1568" y="625"/>
                    </a:lnTo>
                    <a:lnTo>
                      <a:pt x="1552" y="704"/>
                    </a:lnTo>
                    <a:lnTo>
                      <a:pt x="1535" y="780"/>
                    </a:lnTo>
                    <a:lnTo>
                      <a:pt x="1516" y="855"/>
                    </a:lnTo>
                    <a:lnTo>
                      <a:pt x="1495" y="927"/>
                    </a:lnTo>
                    <a:lnTo>
                      <a:pt x="1472" y="997"/>
                    </a:lnTo>
                    <a:lnTo>
                      <a:pt x="1448" y="1065"/>
                    </a:lnTo>
                    <a:lnTo>
                      <a:pt x="1423" y="1130"/>
                    </a:lnTo>
                    <a:lnTo>
                      <a:pt x="1396" y="1193"/>
                    </a:lnTo>
                    <a:lnTo>
                      <a:pt x="1367" y="1253"/>
                    </a:lnTo>
                    <a:lnTo>
                      <a:pt x="1337" y="1310"/>
                    </a:lnTo>
                    <a:lnTo>
                      <a:pt x="1306" y="1364"/>
                    </a:lnTo>
                    <a:lnTo>
                      <a:pt x="1273" y="1416"/>
                    </a:lnTo>
                    <a:lnTo>
                      <a:pt x="1239" y="1464"/>
                    </a:lnTo>
                    <a:lnTo>
                      <a:pt x="1204" y="1509"/>
                    </a:lnTo>
                    <a:lnTo>
                      <a:pt x="1168" y="1550"/>
                    </a:lnTo>
                    <a:lnTo>
                      <a:pt x="1131" y="1589"/>
                    </a:lnTo>
                    <a:lnTo>
                      <a:pt x="1092" y="1623"/>
                    </a:lnTo>
                    <a:lnTo>
                      <a:pt x="1053" y="1654"/>
                    </a:lnTo>
                    <a:lnTo>
                      <a:pt x="1013" y="1681"/>
                    </a:lnTo>
                    <a:lnTo>
                      <a:pt x="972" y="1705"/>
                    </a:lnTo>
                    <a:lnTo>
                      <a:pt x="951" y="1715"/>
                    </a:lnTo>
                    <a:lnTo>
                      <a:pt x="930" y="1724"/>
                    </a:lnTo>
                    <a:lnTo>
                      <a:pt x="909" y="1732"/>
                    </a:lnTo>
                    <a:lnTo>
                      <a:pt x="888" y="1739"/>
                    </a:lnTo>
                    <a:lnTo>
                      <a:pt x="866" y="1745"/>
                    </a:lnTo>
                    <a:lnTo>
                      <a:pt x="844" y="1750"/>
                    </a:lnTo>
                    <a:lnTo>
                      <a:pt x="822" y="1754"/>
                    </a:lnTo>
                    <a:lnTo>
                      <a:pt x="800" y="1757"/>
                    </a:lnTo>
                    <a:lnTo>
                      <a:pt x="778" y="1758"/>
                    </a:lnTo>
                    <a:lnTo>
                      <a:pt x="756" y="1759"/>
                    </a:lnTo>
                    <a:lnTo>
                      <a:pt x="727" y="1758"/>
                    </a:lnTo>
                    <a:lnTo>
                      <a:pt x="697" y="1755"/>
                    </a:lnTo>
                    <a:lnTo>
                      <a:pt x="668" y="1750"/>
                    </a:lnTo>
                    <a:lnTo>
                      <a:pt x="639" y="1743"/>
                    </a:lnTo>
                    <a:lnTo>
                      <a:pt x="611" y="1734"/>
                    </a:lnTo>
                    <a:lnTo>
                      <a:pt x="582" y="1724"/>
                    </a:lnTo>
                    <a:lnTo>
                      <a:pt x="554" y="1711"/>
                    </a:lnTo>
                    <a:lnTo>
                      <a:pt x="526" y="1697"/>
                    </a:lnTo>
                    <a:lnTo>
                      <a:pt x="499" y="1681"/>
                    </a:lnTo>
                    <a:lnTo>
                      <a:pt x="472" y="1663"/>
                    </a:lnTo>
                    <a:lnTo>
                      <a:pt x="445" y="1643"/>
                    </a:lnTo>
                    <a:lnTo>
                      <a:pt x="418" y="1622"/>
                    </a:lnTo>
                    <a:lnTo>
                      <a:pt x="392" y="1599"/>
                    </a:lnTo>
                    <a:lnTo>
                      <a:pt x="366" y="1574"/>
                    </a:lnTo>
                    <a:lnTo>
                      <a:pt x="341" y="1547"/>
                    </a:lnTo>
                    <a:lnTo>
                      <a:pt x="317" y="1519"/>
                    </a:lnTo>
                    <a:lnTo>
                      <a:pt x="292" y="1489"/>
                    </a:lnTo>
                    <a:lnTo>
                      <a:pt x="268" y="1458"/>
                    </a:lnTo>
                    <a:lnTo>
                      <a:pt x="245" y="1425"/>
                    </a:lnTo>
                    <a:lnTo>
                      <a:pt x="223" y="1391"/>
                    </a:lnTo>
                    <a:lnTo>
                      <a:pt x="200" y="1355"/>
                    </a:lnTo>
                    <a:lnTo>
                      <a:pt x="179" y="1318"/>
                    </a:lnTo>
                    <a:lnTo>
                      <a:pt x="158" y="1279"/>
                    </a:lnTo>
                    <a:lnTo>
                      <a:pt x="138" y="1239"/>
                    </a:lnTo>
                    <a:lnTo>
                      <a:pt x="118" y="1197"/>
                    </a:lnTo>
                    <a:lnTo>
                      <a:pt x="99" y="1154"/>
                    </a:lnTo>
                    <a:lnTo>
                      <a:pt x="81" y="1110"/>
                    </a:lnTo>
                    <a:lnTo>
                      <a:pt x="63" y="1064"/>
                    </a:lnTo>
                    <a:lnTo>
                      <a:pt x="46" y="1017"/>
                    </a:lnTo>
                    <a:lnTo>
                      <a:pt x="30" y="969"/>
                    </a:lnTo>
                    <a:lnTo>
                      <a:pt x="15" y="920"/>
                    </a:lnTo>
                    <a:lnTo>
                      <a:pt x="0" y="869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1" name="Freeform 92"/>
              <p:cNvSpPr/>
              <p:nvPr/>
            </p:nvSpPr>
            <p:spPr>
              <a:xfrm>
                <a:off x="2148" y="2928"/>
                <a:ext cx="60" cy="87"/>
              </a:xfrm>
              <a:custGeom>
                <a:avLst/>
                <a:gdLst>
                  <a:gd name="txL" fmla="*/ 0 w 65"/>
                  <a:gd name="txT" fmla="*/ 0 h 104"/>
                  <a:gd name="txR" fmla="*/ 65 w 65"/>
                  <a:gd name="txB" fmla="*/ 104 h 104"/>
                </a:gdLst>
                <a:ahLst/>
                <a:cxnLst>
                  <a:cxn ang="0">
                    <a:pos x="23" y="9"/>
                  </a:cxn>
                  <a:cxn ang="0">
                    <a:pos x="6" y="0"/>
                  </a:cxn>
                  <a:cxn ang="0">
                    <a:pos x="0" y="11"/>
                  </a:cxn>
                  <a:cxn ang="0">
                    <a:pos x="8" y="7"/>
                  </a:cxn>
                  <a:cxn ang="0">
                    <a:pos x="23" y="9"/>
                  </a:cxn>
                </a:cxnLst>
                <a:rect l="txL" t="txT" r="txR" b="txB"/>
                <a:pathLst>
                  <a:path w="65" h="104">
                    <a:moveTo>
                      <a:pt x="65" y="87"/>
                    </a:moveTo>
                    <a:lnTo>
                      <a:pt x="7" y="0"/>
                    </a:lnTo>
                    <a:lnTo>
                      <a:pt x="0" y="104"/>
                    </a:lnTo>
                    <a:lnTo>
                      <a:pt x="24" y="66"/>
                    </a:lnTo>
                    <a:lnTo>
                      <a:pt x="65" y="87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2" name="Freeform 93"/>
              <p:cNvSpPr/>
              <p:nvPr/>
            </p:nvSpPr>
            <p:spPr>
              <a:xfrm>
                <a:off x="2104" y="2440"/>
                <a:ext cx="1544" cy="1448"/>
              </a:xfrm>
              <a:custGeom>
                <a:avLst/>
                <a:gdLst>
                  <a:gd name="txL" fmla="*/ 0 w 1728"/>
                  <a:gd name="txT" fmla="*/ 0 h 1728"/>
                  <a:gd name="txR" fmla="*/ 1728 w 1728"/>
                  <a:gd name="txB" fmla="*/ 1728 h 1728"/>
                </a:gdLst>
                <a:ahLst/>
                <a:cxnLst>
                  <a:cxn ang="0">
                    <a:pos x="399" y="11"/>
                  </a:cxn>
                  <a:cxn ang="0">
                    <a:pos x="399" y="28"/>
                  </a:cxn>
                  <a:cxn ang="0">
                    <a:pos x="393" y="45"/>
                  </a:cxn>
                  <a:cxn ang="0">
                    <a:pos x="387" y="60"/>
                  </a:cxn>
                  <a:cxn ang="0">
                    <a:pos x="380" y="76"/>
                  </a:cxn>
                  <a:cxn ang="0">
                    <a:pos x="371" y="91"/>
                  </a:cxn>
                  <a:cxn ang="0">
                    <a:pos x="360" y="105"/>
                  </a:cxn>
                  <a:cxn ang="0">
                    <a:pos x="347" y="118"/>
                  </a:cxn>
                  <a:cxn ang="0">
                    <a:pos x="333" y="129"/>
                  </a:cxn>
                  <a:cxn ang="0">
                    <a:pos x="319" y="140"/>
                  </a:cxn>
                  <a:cxn ang="0">
                    <a:pos x="304" y="149"/>
                  </a:cxn>
                  <a:cxn ang="0">
                    <a:pos x="285" y="157"/>
                  </a:cxn>
                  <a:cxn ang="0">
                    <a:pos x="268" y="163"/>
                  </a:cxn>
                  <a:cxn ang="0">
                    <a:pos x="250" y="168"/>
                  </a:cxn>
                  <a:cxn ang="0">
                    <a:pos x="240" y="170"/>
                  </a:cxn>
                  <a:cxn ang="0">
                    <a:pos x="231" y="172"/>
                  </a:cxn>
                  <a:cxn ang="0">
                    <a:pos x="220" y="173"/>
                  </a:cxn>
                  <a:cxn ang="0">
                    <a:pos x="211" y="173"/>
                  </a:cxn>
                  <a:cxn ang="0">
                    <a:pos x="200" y="173"/>
                  </a:cxn>
                  <a:cxn ang="0">
                    <a:pos x="190" y="173"/>
                  </a:cxn>
                  <a:cxn ang="0">
                    <a:pos x="179" y="173"/>
                  </a:cxn>
                  <a:cxn ang="0">
                    <a:pos x="169" y="172"/>
                  </a:cxn>
                  <a:cxn ang="0">
                    <a:pos x="160" y="170"/>
                  </a:cxn>
                  <a:cxn ang="0">
                    <a:pos x="151" y="168"/>
                  </a:cxn>
                  <a:cxn ang="0">
                    <a:pos x="131" y="163"/>
                  </a:cxn>
                  <a:cxn ang="0">
                    <a:pos x="113" y="157"/>
                  </a:cxn>
                  <a:cxn ang="0">
                    <a:pos x="97" y="148"/>
                  </a:cxn>
                  <a:cxn ang="0">
                    <a:pos x="80" y="139"/>
                  </a:cxn>
                  <a:cxn ang="0">
                    <a:pos x="65" y="128"/>
                  </a:cxn>
                  <a:cxn ang="0">
                    <a:pos x="52" y="116"/>
                  </a:cxn>
                  <a:cxn ang="0">
                    <a:pos x="40" y="103"/>
                  </a:cxn>
                  <a:cxn ang="0">
                    <a:pos x="29" y="90"/>
                  </a:cxn>
                  <a:cxn ang="0">
                    <a:pos x="20" y="75"/>
                  </a:cxn>
                  <a:cxn ang="0">
                    <a:pos x="12" y="59"/>
                  </a:cxn>
                  <a:cxn ang="0">
                    <a:pos x="6" y="44"/>
                  </a:cxn>
                  <a:cxn ang="0">
                    <a:pos x="4" y="27"/>
                  </a:cxn>
                  <a:cxn ang="0">
                    <a:pos x="1" y="9"/>
                  </a:cxn>
                </a:cxnLst>
                <a:rect l="txL" t="txT" r="txR" b="txB"/>
                <a:pathLst>
                  <a:path w="1728" h="1728">
                    <a:moveTo>
                      <a:pt x="1728" y="18"/>
                    </a:moveTo>
                    <a:lnTo>
                      <a:pt x="1726" y="106"/>
                    </a:lnTo>
                    <a:lnTo>
                      <a:pt x="1723" y="193"/>
                    </a:lnTo>
                    <a:lnTo>
                      <a:pt x="1717" y="279"/>
                    </a:lnTo>
                    <a:lnTo>
                      <a:pt x="1709" y="363"/>
                    </a:lnTo>
                    <a:lnTo>
                      <a:pt x="1699" y="446"/>
                    </a:lnTo>
                    <a:lnTo>
                      <a:pt x="1687" y="527"/>
                    </a:lnTo>
                    <a:lnTo>
                      <a:pt x="1673" y="607"/>
                    </a:lnTo>
                    <a:lnTo>
                      <a:pt x="1658" y="685"/>
                    </a:lnTo>
                    <a:lnTo>
                      <a:pt x="1640" y="761"/>
                    </a:lnTo>
                    <a:lnTo>
                      <a:pt x="1621" y="834"/>
                    </a:lnTo>
                    <a:lnTo>
                      <a:pt x="1600" y="906"/>
                    </a:lnTo>
                    <a:lnTo>
                      <a:pt x="1577" y="975"/>
                    </a:lnTo>
                    <a:lnTo>
                      <a:pt x="1553" y="1042"/>
                    </a:lnTo>
                    <a:lnTo>
                      <a:pt x="1528" y="1107"/>
                    </a:lnTo>
                    <a:lnTo>
                      <a:pt x="1500" y="1169"/>
                    </a:lnTo>
                    <a:lnTo>
                      <a:pt x="1472" y="1228"/>
                    </a:lnTo>
                    <a:lnTo>
                      <a:pt x="1442" y="1285"/>
                    </a:lnTo>
                    <a:lnTo>
                      <a:pt x="1411" y="1338"/>
                    </a:lnTo>
                    <a:lnTo>
                      <a:pt x="1378" y="1389"/>
                    </a:lnTo>
                    <a:lnTo>
                      <a:pt x="1344" y="1437"/>
                    </a:lnTo>
                    <a:lnTo>
                      <a:pt x="1309" y="1481"/>
                    </a:lnTo>
                    <a:lnTo>
                      <a:pt x="1273" y="1522"/>
                    </a:lnTo>
                    <a:lnTo>
                      <a:pt x="1236" y="1560"/>
                    </a:lnTo>
                    <a:lnTo>
                      <a:pt x="1198" y="1594"/>
                    </a:lnTo>
                    <a:lnTo>
                      <a:pt x="1159" y="1625"/>
                    </a:lnTo>
                    <a:lnTo>
                      <a:pt x="1119" y="1651"/>
                    </a:lnTo>
                    <a:lnTo>
                      <a:pt x="1079" y="1674"/>
                    </a:lnTo>
                    <a:lnTo>
                      <a:pt x="1058" y="1684"/>
                    </a:lnTo>
                    <a:lnTo>
                      <a:pt x="1037" y="1693"/>
                    </a:lnTo>
                    <a:lnTo>
                      <a:pt x="1016" y="1701"/>
                    </a:lnTo>
                    <a:lnTo>
                      <a:pt x="995" y="1708"/>
                    </a:lnTo>
                    <a:lnTo>
                      <a:pt x="973" y="1714"/>
                    </a:lnTo>
                    <a:lnTo>
                      <a:pt x="952" y="1719"/>
                    </a:lnTo>
                    <a:lnTo>
                      <a:pt x="930" y="1723"/>
                    </a:lnTo>
                    <a:lnTo>
                      <a:pt x="908" y="1726"/>
                    </a:lnTo>
                    <a:lnTo>
                      <a:pt x="886" y="1727"/>
                    </a:lnTo>
                    <a:lnTo>
                      <a:pt x="864" y="1728"/>
                    </a:lnTo>
                    <a:lnTo>
                      <a:pt x="842" y="1727"/>
                    </a:lnTo>
                    <a:lnTo>
                      <a:pt x="820" y="1726"/>
                    </a:lnTo>
                    <a:lnTo>
                      <a:pt x="798" y="1723"/>
                    </a:lnTo>
                    <a:lnTo>
                      <a:pt x="776" y="1719"/>
                    </a:lnTo>
                    <a:lnTo>
                      <a:pt x="754" y="1714"/>
                    </a:lnTo>
                    <a:lnTo>
                      <a:pt x="732" y="1708"/>
                    </a:lnTo>
                    <a:lnTo>
                      <a:pt x="711" y="1701"/>
                    </a:lnTo>
                    <a:lnTo>
                      <a:pt x="690" y="1693"/>
                    </a:lnTo>
                    <a:lnTo>
                      <a:pt x="669" y="1684"/>
                    </a:lnTo>
                    <a:lnTo>
                      <a:pt x="648" y="1674"/>
                    </a:lnTo>
                    <a:lnTo>
                      <a:pt x="607" y="1650"/>
                    </a:lnTo>
                    <a:lnTo>
                      <a:pt x="567" y="1623"/>
                    </a:lnTo>
                    <a:lnTo>
                      <a:pt x="528" y="1592"/>
                    </a:lnTo>
                    <a:lnTo>
                      <a:pt x="490" y="1558"/>
                    </a:lnTo>
                    <a:lnTo>
                      <a:pt x="452" y="1519"/>
                    </a:lnTo>
                    <a:lnTo>
                      <a:pt x="416" y="1478"/>
                    </a:lnTo>
                    <a:lnTo>
                      <a:pt x="381" y="1433"/>
                    </a:lnTo>
                    <a:lnTo>
                      <a:pt x="347" y="1385"/>
                    </a:lnTo>
                    <a:lnTo>
                      <a:pt x="315" y="1333"/>
                    </a:lnTo>
                    <a:lnTo>
                      <a:pt x="283" y="1279"/>
                    </a:lnTo>
                    <a:lnTo>
                      <a:pt x="253" y="1222"/>
                    </a:lnTo>
                    <a:lnTo>
                      <a:pt x="225" y="1162"/>
                    </a:lnTo>
                    <a:lnTo>
                      <a:pt x="197" y="1099"/>
                    </a:lnTo>
                    <a:lnTo>
                      <a:pt x="172" y="1034"/>
                    </a:lnTo>
                    <a:lnTo>
                      <a:pt x="148" y="966"/>
                    </a:lnTo>
                    <a:lnTo>
                      <a:pt x="125" y="896"/>
                    </a:lnTo>
                    <a:lnTo>
                      <a:pt x="104" y="824"/>
                    </a:lnTo>
                    <a:lnTo>
                      <a:pt x="85" y="749"/>
                    </a:lnTo>
                    <a:lnTo>
                      <a:pt x="68" y="673"/>
                    </a:lnTo>
                    <a:lnTo>
                      <a:pt x="52" y="594"/>
                    </a:lnTo>
                    <a:lnTo>
                      <a:pt x="39" y="514"/>
                    </a:lnTo>
                    <a:lnTo>
                      <a:pt x="27" y="432"/>
                    </a:lnTo>
                    <a:lnTo>
                      <a:pt x="18" y="348"/>
                    </a:lnTo>
                    <a:lnTo>
                      <a:pt x="10" y="263"/>
                    </a:lnTo>
                    <a:lnTo>
                      <a:pt x="4" y="177"/>
                    </a:lnTo>
                    <a:lnTo>
                      <a:pt x="1" y="89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3" name="Freeform 94"/>
              <p:cNvSpPr/>
              <p:nvPr/>
            </p:nvSpPr>
            <p:spPr>
              <a:xfrm>
                <a:off x="2184" y="2039"/>
                <a:ext cx="1353" cy="250"/>
              </a:xfrm>
              <a:custGeom>
                <a:avLst/>
                <a:gdLst>
                  <a:gd name="txL" fmla="*/ 0 w 1506"/>
                  <a:gd name="txT" fmla="*/ 0 h 298"/>
                  <a:gd name="txR" fmla="*/ 1506 w 1506"/>
                  <a:gd name="txB" fmla="*/ 298 h 298"/>
                </a:gdLst>
                <a:ahLst/>
                <a:cxnLst>
                  <a:cxn ang="0">
                    <a:pos x="0" y="30"/>
                  </a:cxn>
                  <a:cxn ang="0">
                    <a:pos x="11" y="27"/>
                  </a:cxn>
                  <a:cxn ang="0">
                    <a:pos x="21" y="24"/>
                  </a:cxn>
                  <a:cxn ang="0">
                    <a:pos x="32" y="20"/>
                  </a:cxn>
                  <a:cxn ang="0">
                    <a:pos x="44" y="17"/>
                  </a:cxn>
                  <a:cxn ang="0">
                    <a:pos x="55" y="14"/>
                  </a:cxn>
                  <a:cxn ang="0">
                    <a:pos x="67" y="12"/>
                  </a:cxn>
                  <a:cxn ang="0">
                    <a:pos x="80" y="10"/>
                  </a:cxn>
                  <a:cxn ang="0">
                    <a:pos x="91" y="8"/>
                  </a:cxn>
                  <a:cxn ang="0">
                    <a:pos x="103" y="6"/>
                  </a:cxn>
                  <a:cxn ang="0">
                    <a:pos x="117" y="5"/>
                  </a:cxn>
                  <a:cxn ang="0">
                    <a:pos x="128" y="3"/>
                  </a:cxn>
                  <a:cxn ang="0">
                    <a:pos x="141" y="3"/>
                  </a:cxn>
                  <a:cxn ang="0">
                    <a:pos x="154" y="3"/>
                  </a:cxn>
                  <a:cxn ang="0">
                    <a:pos x="168" y="3"/>
                  </a:cxn>
                  <a:cxn ang="0">
                    <a:pos x="180" y="1"/>
                  </a:cxn>
                  <a:cxn ang="0">
                    <a:pos x="193" y="0"/>
                  </a:cxn>
                  <a:cxn ang="0">
                    <a:pos x="204" y="1"/>
                  </a:cxn>
                  <a:cxn ang="0">
                    <a:pos x="217" y="3"/>
                  </a:cxn>
                  <a:cxn ang="0">
                    <a:pos x="228" y="3"/>
                  </a:cxn>
                  <a:cxn ang="0">
                    <a:pos x="241" y="3"/>
                  </a:cxn>
                  <a:cxn ang="0">
                    <a:pos x="253" y="3"/>
                  </a:cxn>
                  <a:cxn ang="0">
                    <a:pos x="265" y="4"/>
                  </a:cxn>
                  <a:cxn ang="0">
                    <a:pos x="276" y="6"/>
                  </a:cxn>
                  <a:cxn ang="0">
                    <a:pos x="287" y="7"/>
                  </a:cxn>
                  <a:cxn ang="0">
                    <a:pos x="298" y="8"/>
                  </a:cxn>
                  <a:cxn ang="0">
                    <a:pos x="311" y="11"/>
                  </a:cxn>
                  <a:cxn ang="0">
                    <a:pos x="322" y="13"/>
                  </a:cxn>
                  <a:cxn ang="0">
                    <a:pos x="332" y="15"/>
                  </a:cxn>
                  <a:cxn ang="0">
                    <a:pos x="343" y="17"/>
                  </a:cxn>
                  <a:cxn ang="0">
                    <a:pos x="354" y="20"/>
                  </a:cxn>
                  <a:cxn ang="0">
                    <a:pos x="364" y="24"/>
                  </a:cxn>
                  <a:cxn ang="0">
                    <a:pos x="375" y="27"/>
                  </a:cxn>
                </a:cxnLst>
                <a:rect l="txL" t="txT" r="txR" b="txB"/>
                <a:pathLst>
                  <a:path w="1506" h="298">
                    <a:moveTo>
                      <a:pt x="0" y="298"/>
                    </a:moveTo>
                    <a:lnTo>
                      <a:pt x="43" y="263"/>
                    </a:lnTo>
                    <a:lnTo>
                      <a:pt x="86" y="230"/>
                    </a:lnTo>
                    <a:lnTo>
                      <a:pt x="131" y="199"/>
                    </a:lnTo>
                    <a:lnTo>
                      <a:pt x="176" y="170"/>
                    </a:lnTo>
                    <a:lnTo>
                      <a:pt x="223" y="143"/>
                    </a:lnTo>
                    <a:lnTo>
                      <a:pt x="270" y="119"/>
                    </a:lnTo>
                    <a:lnTo>
                      <a:pt x="318" y="97"/>
                    </a:lnTo>
                    <a:lnTo>
                      <a:pt x="367" y="77"/>
                    </a:lnTo>
                    <a:lnTo>
                      <a:pt x="416" y="59"/>
                    </a:lnTo>
                    <a:lnTo>
                      <a:pt x="467" y="43"/>
                    </a:lnTo>
                    <a:lnTo>
                      <a:pt x="517" y="30"/>
                    </a:lnTo>
                    <a:lnTo>
                      <a:pt x="568" y="19"/>
                    </a:lnTo>
                    <a:lnTo>
                      <a:pt x="620" y="11"/>
                    </a:lnTo>
                    <a:lnTo>
                      <a:pt x="671" y="5"/>
                    </a:lnTo>
                    <a:lnTo>
                      <a:pt x="724" y="1"/>
                    </a:lnTo>
                    <a:lnTo>
                      <a:pt x="776" y="0"/>
                    </a:lnTo>
                    <a:lnTo>
                      <a:pt x="825" y="1"/>
                    </a:lnTo>
                    <a:lnTo>
                      <a:pt x="873" y="4"/>
                    </a:lnTo>
                    <a:lnTo>
                      <a:pt x="922" y="10"/>
                    </a:lnTo>
                    <a:lnTo>
                      <a:pt x="970" y="17"/>
                    </a:lnTo>
                    <a:lnTo>
                      <a:pt x="1017" y="26"/>
                    </a:lnTo>
                    <a:lnTo>
                      <a:pt x="1065" y="38"/>
                    </a:lnTo>
                    <a:lnTo>
                      <a:pt x="1111" y="51"/>
                    </a:lnTo>
                    <a:lnTo>
                      <a:pt x="1158" y="67"/>
                    </a:lnTo>
                    <a:lnTo>
                      <a:pt x="1204" y="84"/>
                    </a:lnTo>
                    <a:lnTo>
                      <a:pt x="1249" y="104"/>
                    </a:lnTo>
                    <a:lnTo>
                      <a:pt x="1294" y="125"/>
                    </a:lnTo>
                    <a:lnTo>
                      <a:pt x="1338" y="149"/>
                    </a:lnTo>
                    <a:lnTo>
                      <a:pt x="1381" y="174"/>
                    </a:lnTo>
                    <a:lnTo>
                      <a:pt x="1424" y="201"/>
                    </a:lnTo>
                    <a:lnTo>
                      <a:pt x="1465" y="230"/>
                    </a:lnTo>
                    <a:lnTo>
                      <a:pt x="1506" y="261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4" name="Freeform 95"/>
              <p:cNvSpPr/>
              <p:nvPr/>
            </p:nvSpPr>
            <p:spPr>
              <a:xfrm>
                <a:off x="1056" y="1104"/>
                <a:ext cx="960" cy="1157"/>
              </a:xfrm>
              <a:custGeom>
                <a:avLst/>
                <a:gdLst>
                  <a:gd name="txL" fmla="*/ 0 w 576"/>
                  <a:gd name="txT" fmla="*/ 0 h 533"/>
                  <a:gd name="txR" fmla="*/ 576 w 576"/>
                  <a:gd name="txB" fmla="*/ 533 h 533"/>
                </a:gdLst>
                <a:ahLst/>
                <a:cxnLst>
                  <a:cxn ang="0">
                    <a:pos x="441063" y="12667748"/>
                  </a:cxn>
                  <a:cxn ang="0">
                    <a:pos x="409813" y="12163721"/>
                  </a:cxn>
                  <a:cxn ang="0">
                    <a:pos x="379088" y="11594351"/>
                  </a:cxn>
                  <a:cxn ang="0">
                    <a:pos x="348125" y="11022917"/>
                  </a:cxn>
                  <a:cxn ang="0">
                    <a:pos x="317812" y="10389068"/>
                  </a:cxn>
                  <a:cxn ang="0">
                    <a:pos x="288555" y="9722540"/>
                  </a:cxn>
                  <a:cxn ang="0">
                    <a:pos x="259708" y="9011176"/>
                  </a:cxn>
                  <a:cxn ang="0">
                    <a:pos x="230687" y="8265072"/>
                  </a:cxn>
                  <a:cxn ang="0">
                    <a:pos x="203147" y="7489274"/>
                  </a:cxn>
                  <a:cxn ang="0">
                    <a:pos x="175638" y="6676663"/>
                  </a:cxn>
                  <a:cxn ang="0">
                    <a:pos x="148367" y="5823891"/>
                  </a:cxn>
                  <a:cxn ang="0">
                    <a:pos x="121888" y="4945424"/>
                  </a:cxn>
                  <a:cxn ang="0">
                    <a:pos x="96450" y="4018571"/>
                  </a:cxn>
                  <a:cxn ang="0">
                    <a:pos x="71158" y="3066039"/>
                  </a:cxn>
                  <a:cxn ang="0">
                    <a:pos x="46875" y="2067611"/>
                  </a:cxn>
                  <a:cxn ang="0">
                    <a:pos x="22787" y="1049521"/>
                  </a:cxn>
                  <a:cxn ang="0">
                    <a:pos x="0" y="0"/>
                  </a:cxn>
                </a:cxnLst>
                <a:rect l="txL" t="txT" r="txR" b="txB"/>
                <a:pathLst>
                  <a:path w="576" h="533">
                    <a:moveTo>
                      <a:pt x="576" y="533"/>
                    </a:moveTo>
                    <a:lnTo>
                      <a:pt x="535" y="512"/>
                    </a:lnTo>
                    <a:lnTo>
                      <a:pt x="495" y="488"/>
                    </a:lnTo>
                    <a:lnTo>
                      <a:pt x="455" y="464"/>
                    </a:lnTo>
                    <a:lnTo>
                      <a:pt x="415" y="437"/>
                    </a:lnTo>
                    <a:lnTo>
                      <a:pt x="377" y="409"/>
                    </a:lnTo>
                    <a:lnTo>
                      <a:pt x="339" y="379"/>
                    </a:lnTo>
                    <a:lnTo>
                      <a:pt x="301" y="348"/>
                    </a:lnTo>
                    <a:lnTo>
                      <a:pt x="265" y="315"/>
                    </a:lnTo>
                    <a:lnTo>
                      <a:pt x="229" y="281"/>
                    </a:lnTo>
                    <a:lnTo>
                      <a:pt x="194" y="245"/>
                    </a:lnTo>
                    <a:lnTo>
                      <a:pt x="159" y="208"/>
                    </a:lnTo>
                    <a:lnTo>
                      <a:pt x="126" y="169"/>
                    </a:lnTo>
                    <a:lnTo>
                      <a:pt x="93" y="129"/>
                    </a:lnTo>
                    <a:lnTo>
                      <a:pt x="61" y="87"/>
                    </a:lnTo>
                    <a:lnTo>
                      <a:pt x="30" y="44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5" name="Freeform 96"/>
              <p:cNvSpPr/>
              <p:nvPr/>
            </p:nvSpPr>
            <p:spPr>
              <a:xfrm>
                <a:off x="768" y="1584"/>
                <a:ext cx="1249" cy="696"/>
              </a:xfrm>
              <a:custGeom>
                <a:avLst/>
                <a:gdLst>
                  <a:gd name="txL" fmla="*/ 0 w 803"/>
                  <a:gd name="txT" fmla="*/ 0 h 241"/>
                  <a:gd name="txR" fmla="*/ 803 w 803"/>
                  <a:gd name="txB" fmla="*/ 241 h 241"/>
                </a:gdLst>
                <a:ahLst/>
                <a:cxnLst>
                  <a:cxn ang="0">
                    <a:pos x="250431" y="234280829"/>
                  </a:cxn>
                  <a:cxn ang="0">
                    <a:pos x="233972" y="233230169"/>
                  </a:cxn>
                  <a:cxn ang="0">
                    <a:pos x="217723" y="230195901"/>
                  </a:cxn>
                  <a:cxn ang="0">
                    <a:pos x="201061" y="225517963"/>
                  </a:cxn>
                  <a:cxn ang="0">
                    <a:pos x="184863" y="219831320"/>
                  </a:cxn>
                  <a:cxn ang="0">
                    <a:pos x="168581" y="211068443"/>
                  </a:cxn>
                  <a:cxn ang="0">
                    <a:pos x="152765" y="200254619"/>
                  </a:cxn>
                  <a:cxn ang="0">
                    <a:pos x="136505" y="188470767"/>
                  </a:cxn>
                  <a:cxn ang="0">
                    <a:pos x="121072" y="175068499"/>
                  </a:cxn>
                  <a:cxn ang="0">
                    <a:pos x="105064" y="159573332"/>
                  </a:cxn>
                  <a:cxn ang="0">
                    <a:pos x="89418" y="142062688"/>
                  </a:cxn>
                  <a:cxn ang="0">
                    <a:pos x="74271" y="122484402"/>
                  </a:cxn>
                  <a:cxn ang="0">
                    <a:pos x="58922" y="100937605"/>
                  </a:cxn>
                  <a:cxn ang="0">
                    <a:pos x="43925" y="78770441"/>
                  </a:cxn>
                  <a:cxn ang="0">
                    <a:pos x="29189" y="54571125"/>
                  </a:cxn>
                  <a:cxn ang="0">
                    <a:pos x="14445" y="28326053"/>
                  </a:cxn>
                  <a:cxn ang="0">
                    <a:pos x="0" y="0"/>
                  </a:cxn>
                </a:cxnLst>
                <a:rect l="txL" t="txT" r="txR" b="txB"/>
                <a:pathLst>
                  <a:path w="803" h="241">
                    <a:moveTo>
                      <a:pt x="803" y="241"/>
                    </a:moveTo>
                    <a:lnTo>
                      <a:pt x="750" y="240"/>
                    </a:lnTo>
                    <a:lnTo>
                      <a:pt x="698" y="237"/>
                    </a:lnTo>
                    <a:lnTo>
                      <a:pt x="645" y="232"/>
                    </a:lnTo>
                    <a:lnTo>
                      <a:pt x="593" y="226"/>
                    </a:lnTo>
                    <a:lnTo>
                      <a:pt x="541" y="217"/>
                    </a:lnTo>
                    <a:lnTo>
                      <a:pt x="490" y="206"/>
                    </a:lnTo>
                    <a:lnTo>
                      <a:pt x="438" y="194"/>
                    </a:lnTo>
                    <a:lnTo>
                      <a:pt x="388" y="180"/>
                    </a:lnTo>
                    <a:lnTo>
                      <a:pt x="337" y="164"/>
                    </a:lnTo>
                    <a:lnTo>
                      <a:pt x="287" y="146"/>
                    </a:lnTo>
                    <a:lnTo>
                      <a:pt x="238" y="126"/>
                    </a:lnTo>
                    <a:lnTo>
                      <a:pt x="189" y="104"/>
                    </a:lnTo>
                    <a:lnTo>
                      <a:pt x="141" y="81"/>
                    </a:lnTo>
                    <a:lnTo>
                      <a:pt x="93" y="56"/>
                    </a:lnTo>
                    <a:lnTo>
                      <a:pt x="46" y="29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6" name="Freeform 97"/>
              <p:cNvSpPr/>
              <p:nvPr/>
            </p:nvSpPr>
            <p:spPr>
              <a:xfrm>
                <a:off x="1864" y="1677"/>
                <a:ext cx="195" cy="563"/>
              </a:xfrm>
              <a:custGeom>
                <a:avLst/>
                <a:gdLst>
                  <a:gd name="txL" fmla="*/ 0 w 217"/>
                  <a:gd name="txT" fmla="*/ 0 h 673"/>
                  <a:gd name="txR" fmla="*/ 217 w 217"/>
                  <a:gd name="txB" fmla="*/ 673 h 673"/>
                </a:gdLst>
                <a:ahLst/>
                <a:cxnLst>
                  <a:cxn ang="0">
                    <a:pos x="54" y="66"/>
                  </a:cxn>
                  <a:cxn ang="0">
                    <a:pos x="49" y="64"/>
                  </a:cxn>
                  <a:cxn ang="0">
                    <a:pos x="46" y="61"/>
                  </a:cxn>
                  <a:cxn ang="0">
                    <a:pos x="42" y="58"/>
                  </a:cxn>
                  <a:cxn ang="0">
                    <a:pos x="39" y="54"/>
                  </a:cxn>
                  <a:cxn ang="0">
                    <a:pos x="35" y="51"/>
                  </a:cxn>
                  <a:cxn ang="0">
                    <a:pos x="31" y="46"/>
                  </a:cxn>
                  <a:cxn ang="0">
                    <a:pos x="27" y="44"/>
                  </a:cxn>
                  <a:cxn ang="0">
                    <a:pos x="23" y="38"/>
                  </a:cxn>
                  <a:cxn ang="0">
                    <a:pos x="20" y="34"/>
                  </a:cxn>
                  <a:cxn ang="0">
                    <a:pos x="17" y="31"/>
                  </a:cxn>
                  <a:cxn ang="0">
                    <a:pos x="13" y="26"/>
                  </a:cxn>
                  <a:cxn ang="0">
                    <a:pos x="11" y="21"/>
                  </a:cxn>
                  <a:cxn ang="0">
                    <a:pos x="8" y="16"/>
                  </a:cxn>
                  <a:cxn ang="0">
                    <a:pos x="4" y="11"/>
                  </a:cxn>
                  <a:cxn ang="0">
                    <a:pos x="4" y="6"/>
                  </a:cxn>
                  <a:cxn ang="0">
                    <a:pos x="0" y="0"/>
                  </a:cxn>
                </a:cxnLst>
                <a:rect l="txL" t="txT" r="txR" b="txB"/>
                <a:pathLst>
                  <a:path w="217" h="673">
                    <a:moveTo>
                      <a:pt x="217" y="673"/>
                    </a:moveTo>
                    <a:lnTo>
                      <a:pt x="200" y="646"/>
                    </a:lnTo>
                    <a:lnTo>
                      <a:pt x="184" y="616"/>
                    </a:lnTo>
                    <a:lnTo>
                      <a:pt x="168" y="584"/>
                    </a:lnTo>
                    <a:lnTo>
                      <a:pt x="152" y="550"/>
                    </a:lnTo>
                    <a:lnTo>
                      <a:pt x="137" y="514"/>
                    </a:lnTo>
                    <a:lnTo>
                      <a:pt x="122" y="476"/>
                    </a:lnTo>
                    <a:lnTo>
                      <a:pt x="108" y="437"/>
                    </a:lnTo>
                    <a:lnTo>
                      <a:pt x="94" y="395"/>
                    </a:lnTo>
                    <a:lnTo>
                      <a:pt x="80" y="352"/>
                    </a:lnTo>
                    <a:lnTo>
                      <a:pt x="67" y="306"/>
                    </a:lnTo>
                    <a:lnTo>
                      <a:pt x="55" y="259"/>
                    </a:lnTo>
                    <a:lnTo>
                      <a:pt x="43" y="211"/>
                    </a:lnTo>
                    <a:lnTo>
                      <a:pt x="31" y="160"/>
                    </a:lnTo>
                    <a:lnTo>
                      <a:pt x="20" y="108"/>
                    </a:lnTo>
                    <a:lnTo>
                      <a:pt x="10" y="55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7" name="Freeform 98"/>
              <p:cNvSpPr/>
              <p:nvPr/>
            </p:nvSpPr>
            <p:spPr>
              <a:xfrm>
                <a:off x="2629" y="2365"/>
                <a:ext cx="934" cy="132"/>
              </a:xfrm>
              <a:custGeom>
                <a:avLst/>
                <a:gdLst>
                  <a:gd name="txL" fmla="*/ 0 w 1089"/>
                  <a:gd name="txT" fmla="*/ 0 h 114"/>
                  <a:gd name="txR" fmla="*/ 1089 w 1089"/>
                  <a:gd name="txB" fmla="*/ 114 h 114"/>
                </a:gdLst>
                <a:ahLst/>
                <a:cxnLst>
                  <a:cxn ang="0">
                    <a:pos x="148" y="0"/>
                  </a:cxn>
                  <a:cxn ang="0">
                    <a:pos x="136" y="176"/>
                  </a:cxn>
                  <a:cxn ang="0">
                    <a:pos x="124" y="331"/>
                  </a:cxn>
                  <a:cxn ang="0">
                    <a:pos x="111" y="470"/>
                  </a:cxn>
                  <a:cxn ang="0">
                    <a:pos x="99" y="569"/>
                  </a:cxn>
                  <a:cxn ang="0">
                    <a:pos x="86" y="659"/>
                  </a:cxn>
                  <a:cxn ang="0">
                    <a:pos x="72" y="720"/>
                  </a:cxn>
                  <a:cxn ang="0">
                    <a:pos x="59" y="761"/>
                  </a:cxn>
                  <a:cxn ang="0">
                    <a:pos x="45" y="764"/>
                  </a:cxn>
                  <a:cxn ang="0">
                    <a:pos x="33" y="763"/>
                  </a:cxn>
                  <a:cxn ang="0">
                    <a:pos x="23" y="736"/>
                  </a:cxn>
                  <a:cxn ang="0">
                    <a:pos x="11" y="688"/>
                  </a:cxn>
                  <a:cxn ang="0">
                    <a:pos x="0" y="622"/>
                  </a:cxn>
                </a:cxnLst>
                <a:rect l="txL" t="txT" r="txR" b="txB"/>
                <a:pathLst>
                  <a:path w="1089" h="114">
                    <a:moveTo>
                      <a:pt x="1089" y="0"/>
                    </a:moveTo>
                    <a:lnTo>
                      <a:pt x="1002" y="26"/>
                    </a:lnTo>
                    <a:lnTo>
                      <a:pt x="912" y="49"/>
                    </a:lnTo>
                    <a:lnTo>
                      <a:pt x="820" y="69"/>
                    </a:lnTo>
                    <a:lnTo>
                      <a:pt x="726" y="85"/>
                    </a:lnTo>
                    <a:lnTo>
                      <a:pt x="630" y="98"/>
                    </a:lnTo>
                    <a:lnTo>
                      <a:pt x="532" y="107"/>
                    </a:lnTo>
                    <a:lnTo>
                      <a:pt x="434" y="112"/>
                    </a:lnTo>
                    <a:lnTo>
                      <a:pt x="335" y="114"/>
                    </a:lnTo>
                    <a:lnTo>
                      <a:pt x="250" y="113"/>
                    </a:lnTo>
                    <a:lnTo>
                      <a:pt x="166" y="109"/>
                    </a:lnTo>
                    <a:lnTo>
                      <a:pt x="83" y="102"/>
                    </a:lnTo>
                    <a:lnTo>
                      <a:pt x="0" y="92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8" name="Freeform 99"/>
              <p:cNvSpPr/>
              <p:nvPr/>
            </p:nvSpPr>
            <p:spPr>
              <a:xfrm>
                <a:off x="2592" y="2439"/>
                <a:ext cx="88" cy="76"/>
              </a:xfrm>
              <a:custGeom>
                <a:avLst/>
                <a:gdLst>
                  <a:gd name="txL" fmla="*/ 0 w 103"/>
                  <a:gd name="txT" fmla="*/ 0 h 66"/>
                  <a:gd name="txR" fmla="*/ 103 w 103"/>
                  <a:gd name="txB" fmla="*/ 66 h 66"/>
                </a:gdLst>
                <a:ahLst/>
                <a:cxnLst>
                  <a:cxn ang="0">
                    <a:pos x="13" y="0"/>
                  </a:cxn>
                  <a:cxn ang="0">
                    <a:pos x="0" y="120"/>
                  </a:cxn>
                  <a:cxn ang="0">
                    <a:pos x="12" y="413"/>
                  </a:cxn>
                  <a:cxn ang="0">
                    <a:pos x="9" y="183"/>
                  </a:cxn>
                  <a:cxn ang="0">
                    <a:pos x="13" y="0"/>
                  </a:cxn>
                </a:cxnLst>
                <a:rect l="txL" t="txT" r="txR" b="txB"/>
                <a:pathLst>
                  <a:path w="103" h="66">
                    <a:moveTo>
                      <a:pt x="103" y="0"/>
                    </a:moveTo>
                    <a:lnTo>
                      <a:pt x="0" y="19"/>
                    </a:lnTo>
                    <a:lnTo>
                      <a:pt x="93" y="66"/>
                    </a:lnTo>
                    <a:lnTo>
                      <a:pt x="67" y="2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69" name="Freeform 100"/>
              <p:cNvSpPr/>
              <p:nvPr/>
            </p:nvSpPr>
            <p:spPr>
              <a:xfrm>
                <a:off x="3703" y="1210"/>
                <a:ext cx="770" cy="1043"/>
              </a:xfrm>
              <a:custGeom>
                <a:avLst/>
                <a:gdLst>
                  <a:gd name="txL" fmla="*/ 0 w 858"/>
                  <a:gd name="txT" fmla="*/ 0 h 1246"/>
                  <a:gd name="txR" fmla="*/ 858 w 858"/>
                  <a:gd name="txB" fmla="*/ 1246 h 1246"/>
                </a:gdLst>
                <a:ahLst/>
                <a:cxnLst>
                  <a:cxn ang="0">
                    <a:pos x="210" y="0"/>
                  </a:cxn>
                  <a:cxn ang="0">
                    <a:pos x="208" y="6"/>
                  </a:cxn>
                  <a:cxn ang="0">
                    <a:pos x="208" y="10"/>
                  </a:cxn>
                  <a:cxn ang="0">
                    <a:pos x="207" y="15"/>
                  </a:cxn>
                  <a:cxn ang="0">
                    <a:pos x="204" y="19"/>
                  </a:cxn>
                  <a:cxn ang="0">
                    <a:pos x="201" y="26"/>
                  </a:cxn>
                  <a:cxn ang="0">
                    <a:pos x="200" y="31"/>
                  </a:cxn>
                  <a:cxn ang="0">
                    <a:pos x="196" y="34"/>
                  </a:cxn>
                  <a:cxn ang="0">
                    <a:pos x="192" y="39"/>
                  </a:cxn>
                  <a:cxn ang="0">
                    <a:pos x="187" y="44"/>
                  </a:cxn>
                  <a:cxn ang="0">
                    <a:pos x="183" y="49"/>
                  </a:cxn>
                  <a:cxn ang="0">
                    <a:pos x="179" y="54"/>
                  </a:cxn>
                  <a:cxn ang="0">
                    <a:pos x="173" y="58"/>
                  </a:cxn>
                  <a:cxn ang="0">
                    <a:pos x="168" y="63"/>
                  </a:cxn>
                  <a:cxn ang="0">
                    <a:pos x="161" y="67"/>
                  </a:cxn>
                  <a:cxn ang="0">
                    <a:pos x="155" y="71"/>
                  </a:cxn>
                  <a:cxn ang="0">
                    <a:pos x="149" y="75"/>
                  </a:cxn>
                  <a:cxn ang="0">
                    <a:pos x="142" y="80"/>
                  </a:cxn>
                  <a:cxn ang="0">
                    <a:pos x="135" y="83"/>
                  </a:cxn>
                  <a:cxn ang="0">
                    <a:pos x="127" y="87"/>
                  </a:cxn>
                  <a:cxn ang="0">
                    <a:pos x="118" y="89"/>
                  </a:cxn>
                  <a:cxn ang="0">
                    <a:pos x="110" y="94"/>
                  </a:cxn>
                  <a:cxn ang="0">
                    <a:pos x="101" y="97"/>
                  </a:cxn>
                  <a:cxn ang="0">
                    <a:pos x="92" y="100"/>
                  </a:cxn>
                  <a:cxn ang="0">
                    <a:pos x="83" y="104"/>
                  </a:cxn>
                  <a:cxn ang="0">
                    <a:pos x="74" y="106"/>
                  </a:cxn>
                  <a:cxn ang="0">
                    <a:pos x="65" y="110"/>
                  </a:cxn>
                  <a:cxn ang="0">
                    <a:pos x="53" y="113"/>
                  </a:cxn>
                  <a:cxn ang="0">
                    <a:pos x="43" y="115"/>
                  </a:cxn>
                  <a:cxn ang="0">
                    <a:pos x="33" y="117"/>
                  </a:cxn>
                  <a:cxn ang="0">
                    <a:pos x="22" y="119"/>
                  </a:cxn>
                  <a:cxn ang="0">
                    <a:pos x="12" y="121"/>
                  </a:cxn>
                  <a:cxn ang="0">
                    <a:pos x="0" y="124"/>
                  </a:cxn>
                </a:cxnLst>
                <a:rect l="txL" t="txT" r="txR" b="txB"/>
                <a:pathLst>
                  <a:path w="858" h="1246">
                    <a:moveTo>
                      <a:pt x="858" y="0"/>
                    </a:moveTo>
                    <a:lnTo>
                      <a:pt x="855" y="52"/>
                    </a:lnTo>
                    <a:lnTo>
                      <a:pt x="850" y="103"/>
                    </a:lnTo>
                    <a:lnTo>
                      <a:pt x="843" y="154"/>
                    </a:lnTo>
                    <a:lnTo>
                      <a:pt x="834" y="205"/>
                    </a:lnTo>
                    <a:lnTo>
                      <a:pt x="824" y="255"/>
                    </a:lnTo>
                    <a:lnTo>
                      <a:pt x="812" y="304"/>
                    </a:lnTo>
                    <a:lnTo>
                      <a:pt x="799" y="352"/>
                    </a:lnTo>
                    <a:lnTo>
                      <a:pt x="783" y="400"/>
                    </a:lnTo>
                    <a:lnTo>
                      <a:pt x="766" y="448"/>
                    </a:lnTo>
                    <a:lnTo>
                      <a:pt x="748" y="494"/>
                    </a:lnTo>
                    <a:lnTo>
                      <a:pt x="728" y="540"/>
                    </a:lnTo>
                    <a:lnTo>
                      <a:pt x="707" y="585"/>
                    </a:lnTo>
                    <a:lnTo>
                      <a:pt x="684" y="629"/>
                    </a:lnTo>
                    <a:lnTo>
                      <a:pt x="659" y="672"/>
                    </a:lnTo>
                    <a:lnTo>
                      <a:pt x="633" y="714"/>
                    </a:lnTo>
                    <a:lnTo>
                      <a:pt x="606" y="755"/>
                    </a:lnTo>
                    <a:lnTo>
                      <a:pt x="577" y="796"/>
                    </a:lnTo>
                    <a:lnTo>
                      <a:pt x="547" y="835"/>
                    </a:lnTo>
                    <a:lnTo>
                      <a:pt x="516" y="873"/>
                    </a:lnTo>
                    <a:lnTo>
                      <a:pt x="483" y="909"/>
                    </a:lnTo>
                    <a:lnTo>
                      <a:pt x="449" y="945"/>
                    </a:lnTo>
                    <a:lnTo>
                      <a:pt x="414" y="979"/>
                    </a:lnTo>
                    <a:lnTo>
                      <a:pt x="378" y="1012"/>
                    </a:lnTo>
                    <a:lnTo>
                      <a:pt x="340" y="1044"/>
                    </a:lnTo>
                    <a:lnTo>
                      <a:pt x="302" y="1075"/>
                    </a:lnTo>
                    <a:lnTo>
                      <a:pt x="262" y="1104"/>
                    </a:lnTo>
                    <a:lnTo>
                      <a:pt x="221" y="1131"/>
                    </a:lnTo>
                    <a:lnTo>
                      <a:pt x="179" y="1157"/>
                    </a:lnTo>
                    <a:lnTo>
                      <a:pt x="135" y="1182"/>
                    </a:lnTo>
                    <a:lnTo>
                      <a:pt x="91" y="1205"/>
                    </a:lnTo>
                    <a:lnTo>
                      <a:pt x="46" y="1226"/>
                    </a:lnTo>
                    <a:lnTo>
                      <a:pt x="0" y="1246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0" name="Freeform 101"/>
              <p:cNvSpPr/>
              <p:nvPr/>
            </p:nvSpPr>
            <p:spPr>
              <a:xfrm>
                <a:off x="4443" y="1154"/>
                <a:ext cx="60" cy="84"/>
              </a:xfrm>
              <a:custGeom>
                <a:avLst/>
                <a:gdLst>
                  <a:gd name="txL" fmla="*/ 0 w 67"/>
                  <a:gd name="txT" fmla="*/ 0 h 100"/>
                  <a:gd name="txR" fmla="*/ 67 w 67"/>
                  <a:gd name="txB" fmla="*/ 100 h 100"/>
                </a:gdLst>
                <a:ahLst/>
                <a:cxnLst>
                  <a:cxn ang="0">
                    <a:pos x="16" y="10"/>
                  </a:cxn>
                  <a:cxn ang="0">
                    <a:pos x="9" y="0"/>
                  </a:cxn>
                  <a:cxn ang="0">
                    <a:pos x="0" y="10"/>
                  </a:cxn>
                  <a:cxn ang="0">
                    <a:pos x="8" y="7"/>
                  </a:cxn>
                  <a:cxn ang="0">
                    <a:pos x="16" y="10"/>
                  </a:cxn>
                </a:cxnLst>
                <a:rect l="txL" t="txT" r="txR" b="txB"/>
                <a:pathLst>
                  <a:path w="67" h="100">
                    <a:moveTo>
                      <a:pt x="67" y="100"/>
                    </a:moveTo>
                    <a:lnTo>
                      <a:pt x="36" y="0"/>
                    </a:lnTo>
                    <a:lnTo>
                      <a:pt x="0" y="98"/>
                    </a:lnTo>
                    <a:lnTo>
                      <a:pt x="34" y="68"/>
                    </a:lnTo>
                    <a:lnTo>
                      <a:pt x="67" y="10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1" name="Freeform 102"/>
              <p:cNvSpPr/>
              <p:nvPr/>
            </p:nvSpPr>
            <p:spPr>
              <a:xfrm>
                <a:off x="3725" y="2398"/>
                <a:ext cx="763" cy="1194"/>
              </a:xfrm>
              <a:custGeom>
                <a:avLst/>
                <a:gdLst>
                  <a:gd name="txL" fmla="*/ 0 w 850"/>
                  <a:gd name="txT" fmla="*/ 0 h 1424"/>
                  <a:gd name="txR" fmla="*/ 850 w 850"/>
                  <a:gd name="txB" fmla="*/ 1424 h 1424"/>
                </a:gdLst>
                <a:ahLst/>
                <a:cxnLst>
                  <a:cxn ang="0">
                    <a:pos x="0" y="0"/>
                  </a:cxn>
                  <a:cxn ang="0">
                    <a:pos x="10" y="3"/>
                  </a:cxn>
                  <a:cxn ang="0">
                    <a:pos x="20" y="6"/>
                  </a:cxn>
                  <a:cxn ang="0">
                    <a:pos x="28" y="8"/>
                  </a:cxn>
                  <a:cxn ang="0">
                    <a:pos x="39" y="11"/>
                  </a:cxn>
                  <a:cxn ang="0">
                    <a:pos x="48" y="14"/>
                  </a:cxn>
                  <a:cxn ang="0">
                    <a:pos x="57" y="17"/>
                  </a:cxn>
                  <a:cxn ang="0">
                    <a:pos x="66" y="20"/>
                  </a:cxn>
                  <a:cxn ang="0">
                    <a:pos x="75" y="24"/>
                  </a:cxn>
                  <a:cxn ang="0">
                    <a:pos x="83" y="28"/>
                  </a:cxn>
                  <a:cxn ang="0">
                    <a:pos x="91" y="32"/>
                  </a:cxn>
                  <a:cxn ang="0">
                    <a:pos x="99" y="35"/>
                  </a:cxn>
                  <a:cxn ang="0">
                    <a:pos x="105" y="40"/>
                  </a:cxn>
                  <a:cxn ang="0">
                    <a:pos x="114" y="44"/>
                  </a:cxn>
                  <a:cxn ang="0">
                    <a:pos x="122" y="49"/>
                  </a:cxn>
                  <a:cxn ang="0">
                    <a:pos x="128" y="53"/>
                  </a:cxn>
                  <a:cxn ang="0">
                    <a:pos x="136" y="58"/>
                  </a:cxn>
                  <a:cxn ang="0">
                    <a:pos x="142" y="63"/>
                  </a:cxn>
                  <a:cxn ang="0">
                    <a:pos x="147" y="67"/>
                  </a:cxn>
                  <a:cxn ang="0">
                    <a:pos x="153" y="72"/>
                  </a:cxn>
                  <a:cxn ang="0">
                    <a:pos x="160" y="76"/>
                  </a:cxn>
                  <a:cxn ang="0">
                    <a:pos x="166" y="82"/>
                  </a:cxn>
                  <a:cxn ang="0">
                    <a:pos x="171" y="87"/>
                  </a:cxn>
                  <a:cxn ang="0">
                    <a:pos x="176" y="93"/>
                  </a:cxn>
                  <a:cxn ang="0">
                    <a:pos x="180" y="98"/>
                  </a:cxn>
                  <a:cxn ang="0">
                    <a:pos x="186" y="104"/>
                  </a:cxn>
                  <a:cxn ang="0">
                    <a:pos x="189" y="109"/>
                  </a:cxn>
                  <a:cxn ang="0">
                    <a:pos x="193" y="116"/>
                  </a:cxn>
                  <a:cxn ang="0">
                    <a:pos x="197" y="121"/>
                  </a:cxn>
                  <a:cxn ang="0">
                    <a:pos x="201" y="126"/>
                  </a:cxn>
                  <a:cxn ang="0">
                    <a:pos x="204" y="132"/>
                  </a:cxn>
                  <a:cxn ang="0">
                    <a:pos x="207" y="138"/>
                  </a:cxn>
                  <a:cxn ang="0">
                    <a:pos x="208" y="144"/>
                  </a:cxn>
                </a:cxnLst>
                <a:rect l="txL" t="txT" r="txR" b="txB"/>
                <a:pathLst>
                  <a:path w="850" h="1424">
                    <a:moveTo>
                      <a:pt x="0" y="0"/>
                    </a:moveTo>
                    <a:lnTo>
                      <a:pt x="40" y="25"/>
                    </a:lnTo>
                    <a:lnTo>
                      <a:pt x="80" y="51"/>
                    </a:lnTo>
                    <a:lnTo>
                      <a:pt x="118" y="79"/>
                    </a:lnTo>
                    <a:lnTo>
                      <a:pt x="156" y="108"/>
                    </a:lnTo>
                    <a:lnTo>
                      <a:pt x="194" y="139"/>
                    </a:lnTo>
                    <a:lnTo>
                      <a:pt x="230" y="171"/>
                    </a:lnTo>
                    <a:lnTo>
                      <a:pt x="266" y="205"/>
                    </a:lnTo>
                    <a:lnTo>
                      <a:pt x="301" y="240"/>
                    </a:lnTo>
                    <a:lnTo>
                      <a:pt x="335" y="276"/>
                    </a:lnTo>
                    <a:lnTo>
                      <a:pt x="368" y="314"/>
                    </a:lnTo>
                    <a:lnTo>
                      <a:pt x="401" y="353"/>
                    </a:lnTo>
                    <a:lnTo>
                      <a:pt x="432" y="394"/>
                    </a:lnTo>
                    <a:lnTo>
                      <a:pt x="463" y="435"/>
                    </a:lnTo>
                    <a:lnTo>
                      <a:pt x="493" y="478"/>
                    </a:lnTo>
                    <a:lnTo>
                      <a:pt x="521" y="522"/>
                    </a:lnTo>
                    <a:lnTo>
                      <a:pt x="549" y="568"/>
                    </a:lnTo>
                    <a:lnTo>
                      <a:pt x="576" y="614"/>
                    </a:lnTo>
                    <a:lnTo>
                      <a:pt x="602" y="662"/>
                    </a:lnTo>
                    <a:lnTo>
                      <a:pt x="627" y="710"/>
                    </a:lnTo>
                    <a:lnTo>
                      <a:pt x="651" y="760"/>
                    </a:lnTo>
                    <a:lnTo>
                      <a:pt x="673" y="810"/>
                    </a:lnTo>
                    <a:lnTo>
                      <a:pt x="695" y="862"/>
                    </a:lnTo>
                    <a:lnTo>
                      <a:pt x="716" y="914"/>
                    </a:lnTo>
                    <a:lnTo>
                      <a:pt x="735" y="968"/>
                    </a:lnTo>
                    <a:lnTo>
                      <a:pt x="754" y="1022"/>
                    </a:lnTo>
                    <a:lnTo>
                      <a:pt x="771" y="1077"/>
                    </a:lnTo>
                    <a:lnTo>
                      <a:pt x="787" y="1133"/>
                    </a:lnTo>
                    <a:lnTo>
                      <a:pt x="802" y="1190"/>
                    </a:lnTo>
                    <a:lnTo>
                      <a:pt x="816" y="1247"/>
                    </a:lnTo>
                    <a:lnTo>
                      <a:pt x="829" y="1306"/>
                    </a:lnTo>
                    <a:lnTo>
                      <a:pt x="840" y="1364"/>
                    </a:lnTo>
                    <a:lnTo>
                      <a:pt x="850" y="1424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2" name="Freeform 103"/>
              <p:cNvSpPr/>
              <p:nvPr/>
            </p:nvSpPr>
            <p:spPr>
              <a:xfrm>
                <a:off x="4455" y="3563"/>
                <a:ext cx="59" cy="86"/>
              </a:xfrm>
              <a:custGeom>
                <a:avLst/>
                <a:gdLst>
                  <a:gd name="txL" fmla="*/ 0 w 66"/>
                  <a:gd name="txT" fmla="*/ 0 h 103"/>
                  <a:gd name="txR" fmla="*/ 66 w 66"/>
                  <a:gd name="txB" fmla="*/ 103 h 103"/>
                </a:gdLst>
                <a:ahLst/>
                <a:cxnLst>
                  <a:cxn ang="0">
                    <a:pos x="0" y="3"/>
                  </a:cxn>
                  <a:cxn ang="0">
                    <a:pos x="11" y="10"/>
                  </a:cxn>
                  <a:cxn ang="0">
                    <a:pos x="15" y="0"/>
                  </a:cxn>
                  <a:cxn ang="0">
                    <a:pos x="9" y="4"/>
                  </a:cxn>
                  <a:cxn ang="0">
                    <a:pos x="0" y="3"/>
                  </a:cxn>
                </a:cxnLst>
                <a:rect l="txL" t="txT" r="txR" b="txB"/>
                <a:pathLst>
                  <a:path w="66" h="103">
                    <a:moveTo>
                      <a:pt x="0" y="10"/>
                    </a:moveTo>
                    <a:lnTo>
                      <a:pt x="48" y="103"/>
                    </a:lnTo>
                    <a:lnTo>
                      <a:pt x="66" y="0"/>
                    </a:lnTo>
                    <a:lnTo>
                      <a:pt x="38" y="3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3" name="Freeform 104"/>
              <p:cNvSpPr/>
              <p:nvPr/>
            </p:nvSpPr>
            <p:spPr>
              <a:xfrm>
                <a:off x="3663" y="969"/>
                <a:ext cx="294" cy="1281"/>
              </a:xfrm>
              <a:custGeom>
                <a:avLst/>
                <a:gdLst>
                  <a:gd name="txL" fmla="*/ 0 w 327"/>
                  <a:gd name="txT" fmla="*/ 0 h 1529"/>
                  <a:gd name="txR" fmla="*/ 327 w 327"/>
                  <a:gd name="txB" fmla="*/ 1529 h 1529"/>
                </a:gdLst>
                <a:ahLst/>
                <a:cxnLst>
                  <a:cxn ang="0">
                    <a:pos x="83" y="0"/>
                  </a:cxn>
                  <a:cxn ang="0">
                    <a:pos x="82" y="13"/>
                  </a:cxn>
                  <a:cxn ang="0">
                    <a:pos x="80" y="26"/>
                  </a:cxn>
                  <a:cxn ang="0">
                    <a:pos x="78" y="38"/>
                  </a:cxn>
                  <a:cxn ang="0">
                    <a:pos x="76" y="49"/>
                  </a:cxn>
                  <a:cxn ang="0">
                    <a:pos x="74" y="56"/>
                  </a:cxn>
                  <a:cxn ang="0">
                    <a:pos x="72" y="63"/>
                  </a:cxn>
                  <a:cxn ang="0">
                    <a:pos x="69" y="67"/>
                  </a:cxn>
                  <a:cxn ang="0">
                    <a:pos x="68" y="74"/>
                  </a:cxn>
                  <a:cxn ang="0">
                    <a:pos x="66" y="78"/>
                  </a:cxn>
                  <a:cxn ang="0">
                    <a:pos x="63" y="85"/>
                  </a:cxn>
                  <a:cxn ang="0">
                    <a:pos x="61" y="89"/>
                  </a:cxn>
                  <a:cxn ang="0">
                    <a:pos x="58" y="95"/>
                  </a:cxn>
                  <a:cxn ang="0">
                    <a:pos x="55" y="99"/>
                  </a:cxn>
                  <a:cxn ang="0">
                    <a:pos x="53" y="105"/>
                  </a:cxn>
                  <a:cxn ang="0">
                    <a:pos x="49" y="108"/>
                  </a:cxn>
                  <a:cxn ang="0">
                    <a:pos x="46" y="114"/>
                  </a:cxn>
                  <a:cxn ang="0">
                    <a:pos x="43" y="117"/>
                  </a:cxn>
                  <a:cxn ang="0">
                    <a:pos x="40" y="122"/>
                  </a:cxn>
                  <a:cxn ang="0">
                    <a:pos x="36" y="126"/>
                  </a:cxn>
                  <a:cxn ang="0">
                    <a:pos x="32" y="129"/>
                  </a:cxn>
                  <a:cxn ang="0">
                    <a:pos x="29" y="133"/>
                  </a:cxn>
                  <a:cxn ang="0">
                    <a:pos x="25" y="137"/>
                  </a:cxn>
                  <a:cxn ang="0">
                    <a:pos x="21" y="140"/>
                  </a:cxn>
                  <a:cxn ang="0">
                    <a:pos x="17" y="143"/>
                  </a:cxn>
                  <a:cxn ang="0">
                    <a:pos x="13" y="147"/>
                  </a:cxn>
                  <a:cxn ang="0">
                    <a:pos x="9" y="149"/>
                  </a:cxn>
                  <a:cxn ang="0">
                    <a:pos x="4" y="150"/>
                  </a:cxn>
                  <a:cxn ang="0">
                    <a:pos x="0" y="153"/>
                  </a:cxn>
                </a:cxnLst>
                <a:rect l="txL" t="txT" r="txR" b="txB"/>
                <a:pathLst>
                  <a:path w="327" h="1529">
                    <a:moveTo>
                      <a:pt x="327" y="0"/>
                    </a:moveTo>
                    <a:lnTo>
                      <a:pt x="324" y="129"/>
                    </a:lnTo>
                    <a:lnTo>
                      <a:pt x="318" y="256"/>
                    </a:lnTo>
                    <a:lnTo>
                      <a:pt x="310" y="381"/>
                    </a:lnTo>
                    <a:lnTo>
                      <a:pt x="299" y="501"/>
                    </a:lnTo>
                    <a:lnTo>
                      <a:pt x="293" y="560"/>
                    </a:lnTo>
                    <a:lnTo>
                      <a:pt x="286" y="618"/>
                    </a:lnTo>
                    <a:lnTo>
                      <a:pt x="278" y="675"/>
                    </a:lnTo>
                    <a:lnTo>
                      <a:pt x="270" y="731"/>
                    </a:lnTo>
                    <a:lnTo>
                      <a:pt x="261" y="786"/>
                    </a:lnTo>
                    <a:lnTo>
                      <a:pt x="252" y="839"/>
                    </a:lnTo>
                    <a:lnTo>
                      <a:pt x="242" y="891"/>
                    </a:lnTo>
                    <a:lnTo>
                      <a:pt x="231" y="942"/>
                    </a:lnTo>
                    <a:lnTo>
                      <a:pt x="220" y="992"/>
                    </a:lnTo>
                    <a:lnTo>
                      <a:pt x="209" y="1040"/>
                    </a:lnTo>
                    <a:lnTo>
                      <a:pt x="197" y="1086"/>
                    </a:lnTo>
                    <a:lnTo>
                      <a:pt x="184" y="1131"/>
                    </a:lnTo>
                    <a:lnTo>
                      <a:pt x="171" y="1175"/>
                    </a:lnTo>
                    <a:lnTo>
                      <a:pt x="158" y="1216"/>
                    </a:lnTo>
                    <a:lnTo>
                      <a:pt x="144" y="1256"/>
                    </a:lnTo>
                    <a:lnTo>
                      <a:pt x="130" y="1294"/>
                    </a:lnTo>
                    <a:lnTo>
                      <a:pt x="115" y="1331"/>
                    </a:lnTo>
                    <a:lnTo>
                      <a:pt x="100" y="1365"/>
                    </a:lnTo>
                    <a:lnTo>
                      <a:pt x="84" y="1398"/>
                    </a:lnTo>
                    <a:lnTo>
                      <a:pt x="68" y="1428"/>
                    </a:lnTo>
                    <a:lnTo>
                      <a:pt x="52" y="1457"/>
                    </a:lnTo>
                    <a:lnTo>
                      <a:pt x="35" y="1483"/>
                    </a:lnTo>
                    <a:lnTo>
                      <a:pt x="18" y="1507"/>
                    </a:lnTo>
                    <a:lnTo>
                      <a:pt x="0" y="1529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4" name="Freeform 105"/>
              <p:cNvSpPr/>
              <p:nvPr/>
            </p:nvSpPr>
            <p:spPr>
              <a:xfrm>
                <a:off x="3928" y="912"/>
                <a:ext cx="60" cy="83"/>
              </a:xfrm>
              <a:custGeom>
                <a:avLst/>
                <a:gdLst>
                  <a:gd name="txL" fmla="*/ 0 w 67"/>
                  <a:gd name="txT" fmla="*/ 0 h 99"/>
                  <a:gd name="txR" fmla="*/ 67 w 67"/>
                  <a:gd name="txB" fmla="*/ 99 h 99"/>
                </a:gdLst>
                <a:ahLst/>
                <a:cxnLst>
                  <a:cxn ang="0">
                    <a:pos x="16" y="10"/>
                  </a:cxn>
                  <a:cxn ang="0">
                    <a:pos x="8" y="0"/>
                  </a:cxn>
                  <a:cxn ang="0">
                    <a:pos x="0" y="10"/>
                  </a:cxn>
                  <a:cxn ang="0">
                    <a:pos x="8" y="7"/>
                  </a:cxn>
                  <a:cxn ang="0">
                    <a:pos x="16" y="10"/>
                  </a:cxn>
                </a:cxnLst>
                <a:rect l="txL" t="txT" r="txR" b="txB"/>
                <a:pathLst>
                  <a:path w="67" h="99">
                    <a:moveTo>
                      <a:pt x="67" y="99"/>
                    </a:moveTo>
                    <a:lnTo>
                      <a:pt x="33" y="0"/>
                    </a:lnTo>
                    <a:lnTo>
                      <a:pt x="0" y="99"/>
                    </a:lnTo>
                    <a:lnTo>
                      <a:pt x="33" y="68"/>
                    </a:lnTo>
                    <a:lnTo>
                      <a:pt x="67" y="99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5" name="Freeform 106"/>
              <p:cNvSpPr/>
              <p:nvPr/>
            </p:nvSpPr>
            <p:spPr>
              <a:xfrm>
                <a:off x="3698" y="2428"/>
                <a:ext cx="302" cy="1290"/>
              </a:xfrm>
              <a:custGeom>
                <a:avLst/>
                <a:gdLst>
                  <a:gd name="txL" fmla="*/ 0 w 337"/>
                  <a:gd name="txT" fmla="*/ 0 h 1539"/>
                  <a:gd name="txR" fmla="*/ 337 w 337"/>
                  <a:gd name="txB" fmla="*/ 1539 h 1539"/>
                </a:gdLst>
                <a:ahLst/>
                <a:cxnLst>
                  <a:cxn ang="0">
                    <a:pos x="0" y="0"/>
                  </a:cxn>
                  <a:cxn ang="0">
                    <a:pos x="4" y="3"/>
                  </a:cxn>
                  <a:cxn ang="0">
                    <a:pos x="9" y="5"/>
                  </a:cxn>
                  <a:cxn ang="0">
                    <a:pos x="13" y="7"/>
                  </a:cxn>
                  <a:cxn ang="0">
                    <a:pos x="17" y="9"/>
                  </a:cxn>
                  <a:cxn ang="0">
                    <a:pos x="21" y="13"/>
                  </a:cxn>
                  <a:cxn ang="0">
                    <a:pos x="24" y="16"/>
                  </a:cxn>
                  <a:cxn ang="0">
                    <a:pos x="28" y="19"/>
                  </a:cxn>
                  <a:cxn ang="0">
                    <a:pos x="32" y="23"/>
                  </a:cxn>
                  <a:cxn ang="0">
                    <a:pos x="36" y="27"/>
                  </a:cxn>
                  <a:cxn ang="0">
                    <a:pos x="39" y="31"/>
                  </a:cxn>
                  <a:cxn ang="0">
                    <a:pos x="42" y="35"/>
                  </a:cxn>
                  <a:cxn ang="0">
                    <a:pos x="46" y="39"/>
                  </a:cxn>
                  <a:cxn ang="0">
                    <a:pos x="48" y="44"/>
                  </a:cxn>
                  <a:cxn ang="0">
                    <a:pos x="52" y="49"/>
                  </a:cxn>
                  <a:cxn ang="0">
                    <a:pos x="54" y="54"/>
                  </a:cxn>
                  <a:cxn ang="0">
                    <a:pos x="58" y="59"/>
                  </a:cxn>
                  <a:cxn ang="0">
                    <a:pos x="58" y="64"/>
                  </a:cxn>
                  <a:cxn ang="0">
                    <a:pos x="63" y="69"/>
                  </a:cxn>
                  <a:cxn ang="0">
                    <a:pos x="65" y="75"/>
                  </a:cxn>
                  <a:cxn ang="0">
                    <a:pos x="65" y="80"/>
                  </a:cxn>
                  <a:cxn ang="0">
                    <a:pos x="70" y="85"/>
                  </a:cxn>
                  <a:cxn ang="0">
                    <a:pos x="70" y="91"/>
                  </a:cxn>
                  <a:cxn ang="0">
                    <a:pos x="73" y="98"/>
                  </a:cxn>
                  <a:cxn ang="0">
                    <a:pos x="73" y="104"/>
                  </a:cxn>
                  <a:cxn ang="0">
                    <a:pos x="75" y="111"/>
                  </a:cxn>
                  <a:cxn ang="0">
                    <a:pos x="78" y="116"/>
                  </a:cxn>
                  <a:cxn ang="0">
                    <a:pos x="78" y="129"/>
                  </a:cxn>
                  <a:cxn ang="0">
                    <a:pos x="81" y="142"/>
                  </a:cxn>
                  <a:cxn ang="0">
                    <a:pos x="82" y="154"/>
                  </a:cxn>
                </a:cxnLst>
                <a:rect l="txL" t="txT" r="txR" b="txB"/>
                <a:pathLst>
                  <a:path w="337" h="1539">
                    <a:moveTo>
                      <a:pt x="0" y="0"/>
                    </a:moveTo>
                    <a:lnTo>
                      <a:pt x="18" y="21"/>
                    </a:lnTo>
                    <a:lnTo>
                      <a:pt x="36" y="44"/>
                    </a:lnTo>
                    <a:lnTo>
                      <a:pt x="53" y="70"/>
                    </a:lnTo>
                    <a:lnTo>
                      <a:pt x="70" y="98"/>
                    </a:lnTo>
                    <a:lnTo>
                      <a:pt x="86" y="128"/>
                    </a:lnTo>
                    <a:lnTo>
                      <a:pt x="102" y="160"/>
                    </a:lnTo>
                    <a:lnTo>
                      <a:pt x="118" y="194"/>
                    </a:lnTo>
                    <a:lnTo>
                      <a:pt x="133" y="230"/>
                    </a:lnTo>
                    <a:lnTo>
                      <a:pt x="148" y="268"/>
                    </a:lnTo>
                    <a:lnTo>
                      <a:pt x="163" y="307"/>
                    </a:lnTo>
                    <a:lnTo>
                      <a:pt x="176" y="349"/>
                    </a:lnTo>
                    <a:lnTo>
                      <a:pt x="190" y="392"/>
                    </a:lnTo>
                    <a:lnTo>
                      <a:pt x="203" y="438"/>
                    </a:lnTo>
                    <a:lnTo>
                      <a:pt x="215" y="484"/>
                    </a:lnTo>
                    <a:lnTo>
                      <a:pt x="227" y="533"/>
                    </a:lnTo>
                    <a:lnTo>
                      <a:pt x="238" y="582"/>
                    </a:lnTo>
                    <a:lnTo>
                      <a:pt x="249" y="634"/>
                    </a:lnTo>
                    <a:lnTo>
                      <a:pt x="259" y="686"/>
                    </a:lnTo>
                    <a:lnTo>
                      <a:pt x="269" y="740"/>
                    </a:lnTo>
                    <a:lnTo>
                      <a:pt x="278" y="796"/>
                    </a:lnTo>
                    <a:lnTo>
                      <a:pt x="287" y="852"/>
                    </a:lnTo>
                    <a:lnTo>
                      <a:pt x="294" y="910"/>
                    </a:lnTo>
                    <a:lnTo>
                      <a:pt x="302" y="969"/>
                    </a:lnTo>
                    <a:lnTo>
                      <a:pt x="308" y="1029"/>
                    </a:lnTo>
                    <a:lnTo>
                      <a:pt x="314" y="1090"/>
                    </a:lnTo>
                    <a:lnTo>
                      <a:pt x="320" y="1151"/>
                    </a:lnTo>
                    <a:lnTo>
                      <a:pt x="328" y="1278"/>
                    </a:lnTo>
                    <a:lnTo>
                      <a:pt x="334" y="1407"/>
                    </a:lnTo>
                    <a:lnTo>
                      <a:pt x="337" y="1539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6" name="Freeform 107"/>
              <p:cNvSpPr/>
              <p:nvPr/>
            </p:nvSpPr>
            <p:spPr>
              <a:xfrm>
                <a:off x="3971" y="3693"/>
                <a:ext cx="60" cy="83"/>
              </a:xfrm>
              <a:custGeom>
                <a:avLst/>
                <a:gdLst>
                  <a:gd name="txL" fmla="*/ 0 w 67"/>
                  <a:gd name="txT" fmla="*/ 0 h 99"/>
                  <a:gd name="txR" fmla="*/ 67 w 67"/>
                  <a:gd name="txB" fmla="*/ 99 h 99"/>
                </a:gdLst>
                <a:ahLst/>
                <a:cxnLst>
                  <a:cxn ang="0">
                    <a:pos x="0" y="0"/>
                  </a:cxn>
                  <a:cxn ang="0">
                    <a:pos x="8" y="10"/>
                  </a:cxn>
                  <a:cxn ang="0">
                    <a:pos x="16" y="0"/>
                  </a:cxn>
                  <a:cxn ang="0">
                    <a:pos x="8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7" name="Freeform 108"/>
              <p:cNvSpPr/>
              <p:nvPr/>
            </p:nvSpPr>
            <p:spPr>
              <a:xfrm>
                <a:off x="3742" y="1866"/>
                <a:ext cx="992" cy="414"/>
              </a:xfrm>
              <a:custGeom>
                <a:avLst/>
                <a:gdLst>
                  <a:gd name="txL" fmla="*/ 0 w 1105"/>
                  <a:gd name="txT" fmla="*/ 0 h 494"/>
                  <a:gd name="txR" fmla="*/ 1105 w 1105"/>
                  <a:gd name="txB" fmla="*/ 494 h 494"/>
                </a:gdLst>
                <a:ahLst/>
                <a:cxnLst>
                  <a:cxn ang="0">
                    <a:pos x="272" y="0"/>
                  </a:cxn>
                  <a:cxn ang="0">
                    <a:pos x="258" y="6"/>
                  </a:cxn>
                  <a:cxn ang="0">
                    <a:pos x="243" y="11"/>
                  </a:cxn>
                  <a:cxn ang="0">
                    <a:pos x="228" y="16"/>
                  </a:cxn>
                  <a:cxn ang="0">
                    <a:pos x="213" y="21"/>
                  </a:cxn>
                  <a:cxn ang="0">
                    <a:pos x="197" y="26"/>
                  </a:cxn>
                  <a:cxn ang="0">
                    <a:pos x="180" y="29"/>
                  </a:cxn>
                  <a:cxn ang="0">
                    <a:pos x="162" y="33"/>
                  </a:cxn>
                  <a:cxn ang="0">
                    <a:pos x="145" y="37"/>
                  </a:cxn>
                  <a:cxn ang="0">
                    <a:pos x="129" y="39"/>
                  </a:cxn>
                  <a:cxn ang="0">
                    <a:pos x="111" y="42"/>
                  </a:cxn>
                  <a:cxn ang="0">
                    <a:pos x="93" y="45"/>
                  </a:cxn>
                  <a:cxn ang="0">
                    <a:pos x="75" y="45"/>
                  </a:cxn>
                  <a:cxn ang="0">
                    <a:pos x="57" y="48"/>
                  </a:cxn>
                  <a:cxn ang="0">
                    <a:pos x="48" y="49"/>
                  </a:cxn>
                  <a:cxn ang="0">
                    <a:pos x="38" y="49"/>
                  </a:cxn>
                  <a:cxn ang="0">
                    <a:pos x="28" y="49"/>
                  </a:cxn>
                  <a:cxn ang="0">
                    <a:pos x="19" y="49"/>
                  </a:cxn>
                  <a:cxn ang="0">
                    <a:pos x="10" y="50"/>
                  </a:cxn>
                  <a:cxn ang="0">
                    <a:pos x="0" y="50"/>
                  </a:cxn>
                </a:cxnLst>
                <a:rect l="txL" t="txT" r="txR" b="txB"/>
                <a:pathLst>
                  <a:path w="1105" h="494">
                    <a:moveTo>
                      <a:pt x="1105" y="0"/>
                    </a:moveTo>
                    <a:lnTo>
                      <a:pt x="1048" y="58"/>
                    </a:lnTo>
                    <a:lnTo>
                      <a:pt x="989" y="112"/>
                    </a:lnTo>
                    <a:lnTo>
                      <a:pt x="927" y="163"/>
                    </a:lnTo>
                    <a:lnTo>
                      <a:pt x="864" y="211"/>
                    </a:lnTo>
                    <a:lnTo>
                      <a:pt x="799" y="255"/>
                    </a:lnTo>
                    <a:lnTo>
                      <a:pt x="732" y="296"/>
                    </a:lnTo>
                    <a:lnTo>
                      <a:pt x="664" y="333"/>
                    </a:lnTo>
                    <a:lnTo>
                      <a:pt x="595" y="366"/>
                    </a:lnTo>
                    <a:lnTo>
                      <a:pt x="524" y="395"/>
                    </a:lnTo>
                    <a:lnTo>
                      <a:pt x="451" y="421"/>
                    </a:lnTo>
                    <a:lnTo>
                      <a:pt x="378" y="443"/>
                    </a:lnTo>
                    <a:lnTo>
                      <a:pt x="304" y="461"/>
                    </a:lnTo>
                    <a:lnTo>
                      <a:pt x="229" y="476"/>
                    </a:lnTo>
                    <a:lnTo>
                      <a:pt x="191" y="481"/>
                    </a:lnTo>
                    <a:lnTo>
                      <a:pt x="153" y="486"/>
                    </a:lnTo>
                    <a:lnTo>
                      <a:pt x="115" y="489"/>
                    </a:lnTo>
                    <a:lnTo>
                      <a:pt x="77" y="492"/>
                    </a:lnTo>
                    <a:lnTo>
                      <a:pt x="39" y="494"/>
                    </a:lnTo>
                    <a:lnTo>
                      <a:pt x="0" y="494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8" name="Freeform 109"/>
              <p:cNvSpPr/>
              <p:nvPr/>
            </p:nvSpPr>
            <p:spPr>
              <a:xfrm>
                <a:off x="4694" y="1825"/>
                <a:ext cx="81" cy="80"/>
              </a:xfrm>
              <a:custGeom>
                <a:avLst/>
                <a:gdLst>
                  <a:gd name="txL" fmla="*/ 0 w 91"/>
                  <a:gd name="txT" fmla="*/ 0 h 96"/>
                  <a:gd name="txR" fmla="*/ 91 w 91"/>
                  <a:gd name="txB" fmla="*/ 96 h 96"/>
                </a:gdLst>
                <a:ahLst/>
                <a:cxnLst>
                  <a:cxn ang="0">
                    <a:pos x="11" y="9"/>
                  </a:cxn>
                  <a:cxn ang="0">
                    <a:pos x="20" y="0"/>
                  </a:cxn>
                  <a:cxn ang="0">
                    <a:pos x="0" y="5"/>
                  </a:cxn>
                  <a:cxn ang="0">
                    <a:pos x="10" y="5"/>
                  </a:cxn>
                  <a:cxn ang="0">
                    <a:pos x="11" y="9"/>
                  </a:cxn>
                </a:cxnLst>
                <a:rect l="txL" t="txT" r="txR" b="txB"/>
                <a:pathLst>
                  <a:path w="91" h="96">
                    <a:moveTo>
                      <a:pt x="50" y="96"/>
                    </a:moveTo>
                    <a:lnTo>
                      <a:pt x="91" y="0"/>
                    </a:lnTo>
                    <a:lnTo>
                      <a:pt x="0" y="52"/>
                    </a:lnTo>
                    <a:lnTo>
                      <a:pt x="46" y="51"/>
                    </a:lnTo>
                    <a:lnTo>
                      <a:pt x="50" y="96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79" name="Freeform 110"/>
              <p:cNvSpPr/>
              <p:nvPr/>
            </p:nvSpPr>
            <p:spPr>
              <a:xfrm>
                <a:off x="3699" y="2360"/>
                <a:ext cx="993" cy="413"/>
              </a:xfrm>
              <a:custGeom>
                <a:avLst/>
                <a:gdLst>
                  <a:gd name="txL" fmla="*/ 0 w 1106"/>
                  <a:gd name="txT" fmla="*/ 0 h 493"/>
                  <a:gd name="txR" fmla="*/ 1106 w 1106"/>
                  <a:gd name="txB" fmla="*/ 493 h 493"/>
                </a:gdLst>
                <a:ahLst/>
                <a:cxnLst>
                  <a:cxn ang="0">
                    <a:pos x="0" y="0"/>
                  </a:cxn>
                  <a:cxn ang="0">
                    <a:pos x="10" y="1"/>
                  </a:cxn>
                  <a:cxn ang="0">
                    <a:pos x="19" y="2"/>
                  </a:cxn>
                  <a:cxn ang="0">
                    <a:pos x="28" y="3"/>
                  </a:cxn>
                  <a:cxn ang="0">
                    <a:pos x="38" y="3"/>
                  </a:cxn>
                  <a:cxn ang="0">
                    <a:pos x="48" y="3"/>
                  </a:cxn>
                  <a:cxn ang="0">
                    <a:pos x="57" y="3"/>
                  </a:cxn>
                  <a:cxn ang="0">
                    <a:pos x="75" y="3"/>
                  </a:cxn>
                  <a:cxn ang="0">
                    <a:pos x="93" y="6"/>
                  </a:cxn>
                  <a:cxn ang="0">
                    <a:pos x="111" y="8"/>
                  </a:cxn>
                  <a:cxn ang="0">
                    <a:pos x="129" y="9"/>
                  </a:cxn>
                  <a:cxn ang="0">
                    <a:pos x="146" y="13"/>
                  </a:cxn>
                  <a:cxn ang="0">
                    <a:pos x="163" y="16"/>
                  </a:cxn>
                  <a:cxn ang="0">
                    <a:pos x="180" y="19"/>
                  </a:cxn>
                  <a:cxn ang="0">
                    <a:pos x="197" y="23"/>
                  </a:cxn>
                  <a:cxn ang="0">
                    <a:pos x="213" y="28"/>
                  </a:cxn>
                  <a:cxn ang="0">
                    <a:pos x="228" y="33"/>
                  </a:cxn>
                  <a:cxn ang="0">
                    <a:pos x="243" y="38"/>
                  </a:cxn>
                  <a:cxn ang="0">
                    <a:pos x="259" y="44"/>
                  </a:cxn>
                  <a:cxn ang="0">
                    <a:pos x="272" y="49"/>
                  </a:cxn>
                </a:cxnLst>
                <a:rect l="txL" t="txT" r="txR" b="txB"/>
                <a:pathLst>
                  <a:path w="1106" h="493">
                    <a:moveTo>
                      <a:pt x="0" y="0"/>
                    </a:moveTo>
                    <a:lnTo>
                      <a:pt x="39" y="1"/>
                    </a:lnTo>
                    <a:lnTo>
                      <a:pt x="77" y="2"/>
                    </a:lnTo>
                    <a:lnTo>
                      <a:pt x="115" y="5"/>
                    </a:lnTo>
                    <a:lnTo>
                      <a:pt x="153" y="8"/>
                    </a:lnTo>
                    <a:lnTo>
                      <a:pt x="191" y="13"/>
                    </a:lnTo>
                    <a:lnTo>
                      <a:pt x="229" y="18"/>
                    </a:lnTo>
                    <a:lnTo>
                      <a:pt x="304" y="33"/>
                    </a:lnTo>
                    <a:lnTo>
                      <a:pt x="378" y="51"/>
                    </a:lnTo>
                    <a:lnTo>
                      <a:pt x="452" y="73"/>
                    </a:lnTo>
                    <a:lnTo>
                      <a:pt x="524" y="98"/>
                    </a:lnTo>
                    <a:lnTo>
                      <a:pt x="595" y="128"/>
                    </a:lnTo>
                    <a:lnTo>
                      <a:pt x="665" y="161"/>
                    </a:lnTo>
                    <a:lnTo>
                      <a:pt x="733" y="198"/>
                    </a:lnTo>
                    <a:lnTo>
                      <a:pt x="800" y="239"/>
                    </a:lnTo>
                    <a:lnTo>
                      <a:pt x="865" y="283"/>
                    </a:lnTo>
                    <a:lnTo>
                      <a:pt x="928" y="330"/>
                    </a:lnTo>
                    <a:lnTo>
                      <a:pt x="990" y="381"/>
                    </a:lnTo>
                    <a:lnTo>
                      <a:pt x="1049" y="435"/>
                    </a:lnTo>
                    <a:lnTo>
                      <a:pt x="1106" y="493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0" name="Freeform 111"/>
              <p:cNvSpPr/>
              <p:nvPr/>
            </p:nvSpPr>
            <p:spPr>
              <a:xfrm>
                <a:off x="4652" y="2735"/>
                <a:ext cx="81" cy="80"/>
              </a:xfrm>
              <a:custGeom>
                <a:avLst/>
                <a:gdLst>
                  <a:gd name="txL" fmla="*/ 0 w 91"/>
                  <a:gd name="txT" fmla="*/ 0 h 96"/>
                  <a:gd name="txR" fmla="*/ 91 w 91"/>
                  <a:gd name="txB" fmla="*/ 96 h 96"/>
                </a:gdLst>
                <a:ahLst/>
                <a:cxnLst>
                  <a:cxn ang="0">
                    <a:pos x="0" y="4"/>
                  </a:cxn>
                  <a:cxn ang="0">
                    <a:pos x="20" y="9"/>
                  </a:cxn>
                  <a:cxn ang="0">
                    <a:pos x="11" y="0"/>
                  </a:cxn>
                  <a:cxn ang="0">
                    <a:pos x="10" y="4"/>
                  </a:cxn>
                  <a:cxn ang="0">
                    <a:pos x="0" y="4"/>
                  </a:cxn>
                </a:cxnLst>
                <a:rect l="txL" t="txT" r="txR" b="txB"/>
                <a:pathLst>
                  <a:path w="91" h="96">
                    <a:moveTo>
                      <a:pt x="0" y="45"/>
                    </a:moveTo>
                    <a:lnTo>
                      <a:pt x="91" y="96"/>
                    </a:lnTo>
                    <a:lnTo>
                      <a:pt x="49" y="0"/>
                    </a:lnTo>
                    <a:lnTo>
                      <a:pt x="46" y="45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1" name="Freeform 112"/>
              <p:cNvSpPr/>
              <p:nvPr/>
            </p:nvSpPr>
            <p:spPr>
              <a:xfrm>
                <a:off x="4903" y="2292"/>
                <a:ext cx="89" cy="56"/>
              </a:xfrm>
              <a:custGeom>
                <a:avLst/>
                <a:gdLst>
                  <a:gd name="txL" fmla="*/ 0 w 99"/>
                  <a:gd name="txT" fmla="*/ 0 h 67"/>
                  <a:gd name="txR" fmla="*/ 99 w 99"/>
                  <a:gd name="txB" fmla="*/ 67 h 67"/>
                </a:gdLst>
                <a:ahLst/>
                <a:cxnLst>
                  <a:cxn ang="0">
                    <a:pos x="0" y="7"/>
                  </a:cxn>
                  <a:cxn ang="0">
                    <a:pos x="25" y="3"/>
                  </a:cxn>
                  <a:cxn ang="0">
                    <a:pos x="0" y="0"/>
                  </a:cxn>
                  <a:cxn ang="0">
                    <a:pos x="8" y="3"/>
                  </a:cxn>
                  <a:cxn ang="0">
                    <a:pos x="0" y="7"/>
                  </a:cxn>
                </a:cxnLst>
                <a:rect l="txL" t="txT" r="txR" b="txB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2" name="Freeform 113"/>
              <p:cNvSpPr/>
              <p:nvPr/>
            </p:nvSpPr>
            <p:spPr>
              <a:xfrm>
                <a:off x="2538" y="2405"/>
                <a:ext cx="1025" cy="282"/>
              </a:xfrm>
              <a:custGeom>
                <a:avLst/>
                <a:gdLst>
                  <a:gd name="txL" fmla="*/ 0 w 1182"/>
                  <a:gd name="txT" fmla="*/ 0 h 261"/>
                  <a:gd name="txR" fmla="*/ 1182 w 1182"/>
                  <a:gd name="txB" fmla="*/ 261 h 261"/>
                </a:gdLst>
                <a:ahLst/>
                <a:cxnLst>
                  <a:cxn ang="0">
                    <a:pos x="185" y="0"/>
                  </a:cxn>
                  <a:cxn ang="0">
                    <a:pos x="179" y="84"/>
                  </a:cxn>
                  <a:cxn ang="0">
                    <a:pos x="173" y="165"/>
                  </a:cxn>
                  <a:cxn ang="0">
                    <a:pos x="165" y="238"/>
                  </a:cxn>
                  <a:cxn ang="0">
                    <a:pos x="160" y="309"/>
                  </a:cxn>
                  <a:cxn ang="0">
                    <a:pos x="152" y="373"/>
                  </a:cxn>
                  <a:cxn ang="0">
                    <a:pos x="146" y="433"/>
                  </a:cxn>
                  <a:cxn ang="0">
                    <a:pos x="139" y="482"/>
                  </a:cxn>
                  <a:cxn ang="0">
                    <a:pos x="131" y="532"/>
                  </a:cxn>
                  <a:cxn ang="0">
                    <a:pos x="124" y="575"/>
                  </a:cxn>
                  <a:cxn ang="0">
                    <a:pos x="116" y="608"/>
                  </a:cxn>
                  <a:cxn ang="0">
                    <a:pos x="109" y="643"/>
                  </a:cxn>
                  <a:cxn ang="0">
                    <a:pos x="101" y="670"/>
                  </a:cxn>
                  <a:cxn ang="0">
                    <a:pos x="94" y="691"/>
                  </a:cxn>
                  <a:cxn ang="0">
                    <a:pos x="86" y="700"/>
                  </a:cxn>
                  <a:cxn ang="0">
                    <a:pos x="79" y="710"/>
                  </a:cxn>
                  <a:cxn ang="0">
                    <a:pos x="71" y="716"/>
                  </a:cxn>
                  <a:cxn ang="0">
                    <a:pos x="62" y="710"/>
                  </a:cxn>
                  <a:cxn ang="0">
                    <a:pos x="54" y="697"/>
                  </a:cxn>
                  <a:cxn ang="0">
                    <a:pos x="43" y="677"/>
                  </a:cxn>
                  <a:cxn ang="0">
                    <a:pos x="36" y="647"/>
                  </a:cxn>
                  <a:cxn ang="0">
                    <a:pos x="27" y="614"/>
                  </a:cxn>
                  <a:cxn ang="0">
                    <a:pos x="17" y="570"/>
                  </a:cxn>
                  <a:cxn ang="0">
                    <a:pos x="9" y="516"/>
                  </a:cxn>
                  <a:cxn ang="0">
                    <a:pos x="0" y="461"/>
                  </a:cxn>
                </a:cxnLst>
                <a:rect l="txL" t="txT" r="txR" b="txB"/>
                <a:pathLst>
                  <a:path w="1182" h="261">
                    <a:moveTo>
                      <a:pt x="1182" y="0"/>
                    </a:moveTo>
                    <a:lnTo>
                      <a:pt x="1141" y="31"/>
                    </a:lnTo>
                    <a:lnTo>
                      <a:pt x="1100" y="60"/>
                    </a:lnTo>
                    <a:lnTo>
                      <a:pt x="1057" y="87"/>
                    </a:lnTo>
                    <a:lnTo>
                      <a:pt x="1014" y="113"/>
                    </a:lnTo>
                    <a:lnTo>
                      <a:pt x="970" y="136"/>
                    </a:lnTo>
                    <a:lnTo>
                      <a:pt x="925" y="157"/>
                    </a:lnTo>
                    <a:lnTo>
                      <a:pt x="880" y="177"/>
                    </a:lnTo>
                    <a:lnTo>
                      <a:pt x="834" y="194"/>
                    </a:lnTo>
                    <a:lnTo>
                      <a:pt x="787" y="210"/>
                    </a:lnTo>
                    <a:lnTo>
                      <a:pt x="740" y="223"/>
                    </a:lnTo>
                    <a:lnTo>
                      <a:pt x="693" y="235"/>
                    </a:lnTo>
                    <a:lnTo>
                      <a:pt x="645" y="244"/>
                    </a:lnTo>
                    <a:lnTo>
                      <a:pt x="597" y="252"/>
                    </a:lnTo>
                    <a:lnTo>
                      <a:pt x="549" y="257"/>
                    </a:lnTo>
                    <a:lnTo>
                      <a:pt x="500" y="260"/>
                    </a:lnTo>
                    <a:lnTo>
                      <a:pt x="451" y="261"/>
                    </a:lnTo>
                    <a:lnTo>
                      <a:pt x="393" y="260"/>
                    </a:lnTo>
                    <a:lnTo>
                      <a:pt x="336" y="255"/>
                    </a:lnTo>
                    <a:lnTo>
                      <a:pt x="279" y="248"/>
                    </a:lnTo>
                    <a:lnTo>
                      <a:pt x="222" y="237"/>
                    </a:lnTo>
                    <a:lnTo>
                      <a:pt x="165" y="224"/>
                    </a:lnTo>
                    <a:lnTo>
                      <a:pt x="110" y="208"/>
                    </a:lnTo>
                    <a:lnTo>
                      <a:pt x="54" y="190"/>
                    </a:lnTo>
                    <a:lnTo>
                      <a:pt x="0" y="168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3" name="Freeform 114"/>
              <p:cNvSpPr/>
              <p:nvPr/>
            </p:nvSpPr>
            <p:spPr>
              <a:xfrm>
                <a:off x="2544" y="2564"/>
                <a:ext cx="90" cy="76"/>
              </a:xfrm>
              <a:custGeom>
                <a:avLst/>
                <a:gdLst>
                  <a:gd name="txL" fmla="*/ 0 w 104"/>
                  <a:gd name="txT" fmla="*/ 0 h 71"/>
                  <a:gd name="txR" fmla="*/ 104 w 104"/>
                  <a:gd name="txB" fmla="*/ 71 h 71"/>
                </a:gdLst>
                <a:ahLst/>
                <a:cxnLst>
                  <a:cxn ang="0">
                    <a:pos x="16" y="24"/>
                  </a:cxn>
                  <a:cxn ang="0">
                    <a:pos x="0" y="0"/>
                  </a:cxn>
                  <a:cxn ang="0">
                    <a:pos x="11" y="173"/>
                  </a:cxn>
                  <a:cxn ang="0">
                    <a:pos x="10" y="67"/>
                  </a:cxn>
                  <a:cxn ang="0">
                    <a:pos x="16" y="24"/>
                  </a:cxn>
                </a:cxnLst>
                <a:rect l="txL" t="txT" r="txR" b="txB"/>
                <a:pathLst>
                  <a:path w="104" h="71">
                    <a:moveTo>
                      <a:pt x="104" y="10"/>
                    </a:moveTo>
                    <a:lnTo>
                      <a:pt x="0" y="0"/>
                    </a:lnTo>
                    <a:lnTo>
                      <a:pt x="76" y="71"/>
                    </a:lnTo>
                    <a:lnTo>
                      <a:pt x="62" y="28"/>
                    </a:lnTo>
                    <a:lnTo>
                      <a:pt x="104" y="1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4" name="Freeform 115"/>
              <p:cNvSpPr/>
              <p:nvPr/>
            </p:nvSpPr>
            <p:spPr>
              <a:xfrm>
                <a:off x="2098" y="917"/>
                <a:ext cx="1551" cy="1291"/>
              </a:xfrm>
              <a:custGeom>
                <a:avLst/>
                <a:gdLst>
                  <a:gd name="txL" fmla="*/ 0 w 1680"/>
                  <a:gd name="txT" fmla="*/ 0 h 1539"/>
                  <a:gd name="txR" fmla="*/ 1680 w 1680"/>
                  <a:gd name="txB" fmla="*/ 1539 h 1539"/>
                </a:gdLst>
                <a:ahLst/>
                <a:cxnLst>
                  <a:cxn ang="0">
                    <a:pos x="1" y="152"/>
                  </a:cxn>
                  <a:cxn ang="0">
                    <a:pos x="1" y="140"/>
                  </a:cxn>
                  <a:cxn ang="0">
                    <a:pos x="6" y="124"/>
                  </a:cxn>
                  <a:cxn ang="0">
                    <a:pos x="9" y="110"/>
                  </a:cxn>
                  <a:cxn ang="0">
                    <a:pos x="18" y="97"/>
                  </a:cxn>
                  <a:cxn ang="0">
                    <a:pos x="30" y="84"/>
                  </a:cxn>
                  <a:cxn ang="0">
                    <a:pos x="43" y="71"/>
                  </a:cxn>
                  <a:cxn ang="0">
                    <a:pos x="59" y="60"/>
                  </a:cxn>
                  <a:cxn ang="0">
                    <a:pos x="78" y="48"/>
                  </a:cxn>
                  <a:cxn ang="0">
                    <a:pos x="97" y="38"/>
                  </a:cxn>
                  <a:cxn ang="0">
                    <a:pos x="118" y="29"/>
                  </a:cxn>
                  <a:cxn ang="0">
                    <a:pos x="143" y="21"/>
                  </a:cxn>
                  <a:cxn ang="0">
                    <a:pos x="169" y="14"/>
                  </a:cxn>
                  <a:cxn ang="0">
                    <a:pos x="196" y="9"/>
                  </a:cxn>
                  <a:cxn ang="0">
                    <a:pos x="222" y="5"/>
                  </a:cxn>
                  <a:cxn ang="0">
                    <a:pos x="251" y="3"/>
                  </a:cxn>
                  <a:cxn ang="0">
                    <a:pos x="283" y="2"/>
                  </a:cxn>
                  <a:cxn ang="0">
                    <a:pos x="313" y="2"/>
                  </a:cxn>
                  <a:cxn ang="0">
                    <a:pos x="343" y="3"/>
                  </a:cxn>
                  <a:cxn ang="0">
                    <a:pos x="372" y="5"/>
                  </a:cxn>
                  <a:cxn ang="0">
                    <a:pos x="399" y="9"/>
                  </a:cxn>
                  <a:cxn ang="0">
                    <a:pos x="427" y="14"/>
                  </a:cxn>
                  <a:cxn ang="0">
                    <a:pos x="451" y="21"/>
                  </a:cxn>
                  <a:cxn ang="0">
                    <a:pos x="476" y="29"/>
                  </a:cxn>
                  <a:cxn ang="0">
                    <a:pos x="497" y="38"/>
                  </a:cxn>
                  <a:cxn ang="0">
                    <a:pos x="517" y="48"/>
                  </a:cxn>
                  <a:cxn ang="0">
                    <a:pos x="537" y="60"/>
                  </a:cxn>
                  <a:cxn ang="0">
                    <a:pos x="552" y="71"/>
                  </a:cxn>
                  <a:cxn ang="0">
                    <a:pos x="565" y="84"/>
                  </a:cxn>
                  <a:cxn ang="0">
                    <a:pos x="577" y="97"/>
                  </a:cxn>
                  <a:cxn ang="0">
                    <a:pos x="585" y="110"/>
                  </a:cxn>
                  <a:cxn ang="0">
                    <a:pos x="592" y="124"/>
                  </a:cxn>
                  <a:cxn ang="0">
                    <a:pos x="594" y="140"/>
                  </a:cxn>
                  <a:cxn ang="0">
                    <a:pos x="594" y="149"/>
                  </a:cxn>
                </a:cxnLst>
                <a:rect l="txL" t="txT" r="txR" b="txB"/>
                <a:pathLst>
                  <a:path w="1680" h="1539">
                    <a:moveTo>
                      <a:pt x="2" y="1539"/>
                    </a:moveTo>
                    <a:lnTo>
                      <a:pt x="1" y="1493"/>
                    </a:lnTo>
                    <a:lnTo>
                      <a:pt x="0" y="1447"/>
                    </a:lnTo>
                    <a:lnTo>
                      <a:pt x="1" y="1373"/>
                    </a:lnTo>
                    <a:lnTo>
                      <a:pt x="4" y="1299"/>
                    </a:lnTo>
                    <a:lnTo>
                      <a:pt x="10" y="1227"/>
                    </a:lnTo>
                    <a:lnTo>
                      <a:pt x="17" y="1155"/>
                    </a:lnTo>
                    <a:lnTo>
                      <a:pt x="26" y="1085"/>
                    </a:lnTo>
                    <a:lnTo>
                      <a:pt x="38" y="1017"/>
                    </a:lnTo>
                    <a:lnTo>
                      <a:pt x="51" y="950"/>
                    </a:lnTo>
                    <a:lnTo>
                      <a:pt x="66" y="884"/>
                    </a:lnTo>
                    <a:lnTo>
                      <a:pt x="83" y="820"/>
                    </a:lnTo>
                    <a:lnTo>
                      <a:pt x="101" y="757"/>
                    </a:lnTo>
                    <a:lnTo>
                      <a:pt x="122" y="697"/>
                    </a:lnTo>
                    <a:lnTo>
                      <a:pt x="143" y="638"/>
                    </a:lnTo>
                    <a:lnTo>
                      <a:pt x="167" y="581"/>
                    </a:lnTo>
                    <a:lnTo>
                      <a:pt x="192" y="527"/>
                    </a:lnTo>
                    <a:lnTo>
                      <a:pt x="218" y="474"/>
                    </a:lnTo>
                    <a:lnTo>
                      <a:pt x="246" y="424"/>
                    </a:lnTo>
                    <a:lnTo>
                      <a:pt x="275" y="376"/>
                    </a:lnTo>
                    <a:lnTo>
                      <a:pt x="306" y="331"/>
                    </a:lnTo>
                    <a:lnTo>
                      <a:pt x="337" y="288"/>
                    </a:lnTo>
                    <a:lnTo>
                      <a:pt x="370" y="247"/>
                    </a:lnTo>
                    <a:lnTo>
                      <a:pt x="404" y="210"/>
                    </a:lnTo>
                    <a:lnTo>
                      <a:pt x="440" y="175"/>
                    </a:lnTo>
                    <a:lnTo>
                      <a:pt x="476" y="143"/>
                    </a:lnTo>
                    <a:lnTo>
                      <a:pt x="513" y="114"/>
                    </a:lnTo>
                    <a:lnTo>
                      <a:pt x="551" y="88"/>
                    </a:lnTo>
                    <a:lnTo>
                      <a:pt x="590" y="65"/>
                    </a:lnTo>
                    <a:lnTo>
                      <a:pt x="630" y="46"/>
                    </a:lnTo>
                    <a:lnTo>
                      <a:pt x="671" y="29"/>
                    </a:lnTo>
                    <a:lnTo>
                      <a:pt x="712" y="17"/>
                    </a:lnTo>
                    <a:lnTo>
                      <a:pt x="754" y="8"/>
                    </a:lnTo>
                    <a:lnTo>
                      <a:pt x="797" y="2"/>
                    </a:lnTo>
                    <a:lnTo>
                      <a:pt x="840" y="0"/>
                    </a:lnTo>
                    <a:lnTo>
                      <a:pt x="883" y="2"/>
                    </a:lnTo>
                    <a:lnTo>
                      <a:pt x="926" y="8"/>
                    </a:lnTo>
                    <a:lnTo>
                      <a:pt x="968" y="17"/>
                    </a:lnTo>
                    <a:lnTo>
                      <a:pt x="1009" y="29"/>
                    </a:lnTo>
                    <a:lnTo>
                      <a:pt x="1050" y="46"/>
                    </a:lnTo>
                    <a:lnTo>
                      <a:pt x="1090" y="65"/>
                    </a:lnTo>
                    <a:lnTo>
                      <a:pt x="1129" y="88"/>
                    </a:lnTo>
                    <a:lnTo>
                      <a:pt x="1167" y="114"/>
                    </a:lnTo>
                    <a:lnTo>
                      <a:pt x="1204" y="143"/>
                    </a:lnTo>
                    <a:lnTo>
                      <a:pt x="1240" y="175"/>
                    </a:lnTo>
                    <a:lnTo>
                      <a:pt x="1276" y="210"/>
                    </a:lnTo>
                    <a:lnTo>
                      <a:pt x="1310" y="247"/>
                    </a:lnTo>
                    <a:lnTo>
                      <a:pt x="1343" y="288"/>
                    </a:lnTo>
                    <a:lnTo>
                      <a:pt x="1374" y="331"/>
                    </a:lnTo>
                    <a:lnTo>
                      <a:pt x="1405" y="376"/>
                    </a:lnTo>
                    <a:lnTo>
                      <a:pt x="1434" y="424"/>
                    </a:lnTo>
                    <a:lnTo>
                      <a:pt x="1462" y="474"/>
                    </a:lnTo>
                    <a:lnTo>
                      <a:pt x="1488" y="527"/>
                    </a:lnTo>
                    <a:lnTo>
                      <a:pt x="1513" y="581"/>
                    </a:lnTo>
                    <a:lnTo>
                      <a:pt x="1537" y="638"/>
                    </a:lnTo>
                    <a:lnTo>
                      <a:pt x="1558" y="697"/>
                    </a:lnTo>
                    <a:lnTo>
                      <a:pt x="1579" y="757"/>
                    </a:lnTo>
                    <a:lnTo>
                      <a:pt x="1597" y="820"/>
                    </a:lnTo>
                    <a:lnTo>
                      <a:pt x="1614" y="884"/>
                    </a:lnTo>
                    <a:lnTo>
                      <a:pt x="1629" y="950"/>
                    </a:lnTo>
                    <a:lnTo>
                      <a:pt x="1642" y="1017"/>
                    </a:lnTo>
                    <a:lnTo>
                      <a:pt x="1654" y="1085"/>
                    </a:lnTo>
                    <a:lnTo>
                      <a:pt x="1663" y="1155"/>
                    </a:lnTo>
                    <a:lnTo>
                      <a:pt x="1670" y="1227"/>
                    </a:lnTo>
                    <a:lnTo>
                      <a:pt x="1676" y="1299"/>
                    </a:lnTo>
                    <a:lnTo>
                      <a:pt x="1679" y="1373"/>
                    </a:lnTo>
                    <a:lnTo>
                      <a:pt x="1680" y="1447"/>
                    </a:lnTo>
                    <a:lnTo>
                      <a:pt x="1680" y="1467"/>
                    </a:lnTo>
                    <a:lnTo>
                      <a:pt x="1680" y="1487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5" name="Freeform 116"/>
              <p:cNvSpPr/>
              <p:nvPr/>
            </p:nvSpPr>
            <p:spPr>
              <a:xfrm>
                <a:off x="2175" y="913"/>
                <a:ext cx="1473" cy="1292"/>
              </a:xfrm>
              <a:custGeom>
                <a:avLst/>
                <a:gdLst>
                  <a:gd name="txL" fmla="*/ 0 w 1603"/>
                  <a:gd name="txT" fmla="*/ 0 h 1488"/>
                  <a:gd name="txR" fmla="*/ 1603 w 1603"/>
                  <a:gd name="txB" fmla="*/ 1488 h 1488"/>
                </a:gdLst>
                <a:ahLst/>
                <a:cxnLst>
                  <a:cxn ang="0">
                    <a:pos x="6" y="126"/>
                  </a:cxn>
                  <a:cxn ang="0">
                    <a:pos x="15" y="112"/>
                  </a:cxn>
                  <a:cxn ang="0">
                    <a:pos x="25" y="97"/>
                  </a:cxn>
                  <a:cxn ang="0">
                    <a:pos x="37" y="84"/>
                  </a:cxn>
                  <a:cxn ang="0">
                    <a:pos x="51" y="72"/>
                  </a:cxn>
                  <a:cxn ang="0">
                    <a:pos x="65" y="61"/>
                  </a:cxn>
                  <a:cxn ang="0">
                    <a:pos x="78" y="50"/>
                  </a:cxn>
                  <a:cxn ang="0">
                    <a:pos x="95" y="42"/>
                  </a:cxn>
                  <a:cxn ang="0">
                    <a:pos x="111" y="32"/>
                  </a:cxn>
                  <a:cxn ang="0">
                    <a:pos x="130" y="24"/>
                  </a:cxn>
                  <a:cxn ang="0">
                    <a:pos x="147" y="17"/>
                  </a:cxn>
                  <a:cxn ang="0">
                    <a:pos x="165" y="12"/>
                  </a:cxn>
                  <a:cxn ang="0">
                    <a:pos x="184" y="8"/>
                  </a:cxn>
                  <a:cxn ang="0">
                    <a:pos x="204" y="3"/>
                  </a:cxn>
                  <a:cxn ang="0">
                    <a:pos x="224" y="3"/>
                  </a:cxn>
                  <a:cxn ang="0">
                    <a:pos x="244" y="1"/>
                  </a:cxn>
                  <a:cxn ang="0">
                    <a:pos x="268" y="2"/>
                  </a:cxn>
                  <a:cxn ang="0">
                    <a:pos x="297" y="3"/>
                  </a:cxn>
                  <a:cxn ang="0">
                    <a:pos x="323" y="8"/>
                  </a:cxn>
                  <a:cxn ang="0">
                    <a:pos x="351" y="14"/>
                  </a:cxn>
                  <a:cxn ang="0">
                    <a:pos x="376" y="23"/>
                  </a:cxn>
                  <a:cxn ang="0">
                    <a:pos x="400" y="32"/>
                  </a:cxn>
                  <a:cxn ang="0">
                    <a:pos x="422" y="46"/>
                  </a:cxn>
                  <a:cxn ang="0">
                    <a:pos x="442" y="60"/>
                  </a:cxn>
                  <a:cxn ang="0">
                    <a:pos x="462" y="76"/>
                  </a:cxn>
                  <a:cxn ang="0">
                    <a:pos x="480" y="93"/>
                  </a:cxn>
                  <a:cxn ang="0">
                    <a:pos x="493" y="112"/>
                  </a:cxn>
                  <a:cxn ang="0">
                    <a:pos x="505" y="132"/>
                  </a:cxn>
                  <a:cxn ang="0">
                    <a:pos x="516" y="152"/>
                  </a:cxn>
                  <a:cxn ang="0">
                    <a:pos x="525" y="174"/>
                  </a:cxn>
                  <a:cxn ang="0">
                    <a:pos x="531" y="196"/>
                  </a:cxn>
                  <a:cxn ang="0">
                    <a:pos x="533" y="220"/>
                  </a:cxn>
                  <a:cxn ang="0">
                    <a:pos x="534" y="234"/>
                  </a:cxn>
                </a:cxnLst>
                <a:rect l="txL" t="txT" r="txR" b="txB"/>
                <a:pathLst>
                  <a:path w="1603" h="1488">
                    <a:moveTo>
                      <a:pt x="0" y="838"/>
                    </a:moveTo>
                    <a:lnTo>
                      <a:pt x="13" y="791"/>
                    </a:lnTo>
                    <a:lnTo>
                      <a:pt x="28" y="745"/>
                    </a:lnTo>
                    <a:lnTo>
                      <a:pt x="43" y="700"/>
                    </a:lnTo>
                    <a:lnTo>
                      <a:pt x="59" y="656"/>
                    </a:lnTo>
                    <a:lnTo>
                      <a:pt x="75" y="613"/>
                    </a:lnTo>
                    <a:lnTo>
                      <a:pt x="93" y="572"/>
                    </a:lnTo>
                    <a:lnTo>
                      <a:pt x="112" y="531"/>
                    </a:lnTo>
                    <a:lnTo>
                      <a:pt x="131" y="492"/>
                    </a:lnTo>
                    <a:lnTo>
                      <a:pt x="151" y="455"/>
                    </a:lnTo>
                    <a:lnTo>
                      <a:pt x="171" y="418"/>
                    </a:lnTo>
                    <a:lnTo>
                      <a:pt x="193" y="383"/>
                    </a:lnTo>
                    <a:lnTo>
                      <a:pt x="215" y="349"/>
                    </a:lnTo>
                    <a:lnTo>
                      <a:pt x="238" y="317"/>
                    </a:lnTo>
                    <a:lnTo>
                      <a:pt x="261" y="286"/>
                    </a:lnTo>
                    <a:lnTo>
                      <a:pt x="285" y="256"/>
                    </a:lnTo>
                    <a:lnTo>
                      <a:pt x="310" y="228"/>
                    </a:lnTo>
                    <a:lnTo>
                      <a:pt x="335" y="202"/>
                    </a:lnTo>
                    <a:lnTo>
                      <a:pt x="360" y="176"/>
                    </a:lnTo>
                    <a:lnTo>
                      <a:pt x="386" y="153"/>
                    </a:lnTo>
                    <a:lnTo>
                      <a:pt x="413" y="131"/>
                    </a:lnTo>
                    <a:lnTo>
                      <a:pt x="440" y="111"/>
                    </a:lnTo>
                    <a:lnTo>
                      <a:pt x="468" y="92"/>
                    </a:lnTo>
                    <a:lnTo>
                      <a:pt x="496" y="75"/>
                    </a:lnTo>
                    <a:lnTo>
                      <a:pt x="524" y="59"/>
                    </a:lnTo>
                    <a:lnTo>
                      <a:pt x="553" y="46"/>
                    </a:lnTo>
                    <a:lnTo>
                      <a:pt x="582" y="34"/>
                    </a:lnTo>
                    <a:lnTo>
                      <a:pt x="612" y="24"/>
                    </a:lnTo>
                    <a:lnTo>
                      <a:pt x="641" y="15"/>
                    </a:lnTo>
                    <a:lnTo>
                      <a:pt x="671" y="9"/>
                    </a:lnTo>
                    <a:lnTo>
                      <a:pt x="702" y="4"/>
                    </a:lnTo>
                    <a:lnTo>
                      <a:pt x="732" y="1"/>
                    </a:lnTo>
                    <a:lnTo>
                      <a:pt x="763" y="0"/>
                    </a:lnTo>
                    <a:lnTo>
                      <a:pt x="806" y="2"/>
                    </a:lnTo>
                    <a:lnTo>
                      <a:pt x="849" y="8"/>
                    </a:lnTo>
                    <a:lnTo>
                      <a:pt x="891" y="17"/>
                    </a:lnTo>
                    <a:lnTo>
                      <a:pt x="932" y="29"/>
                    </a:lnTo>
                    <a:lnTo>
                      <a:pt x="973" y="46"/>
                    </a:lnTo>
                    <a:lnTo>
                      <a:pt x="1013" y="65"/>
                    </a:lnTo>
                    <a:lnTo>
                      <a:pt x="1052" y="88"/>
                    </a:lnTo>
                    <a:lnTo>
                      <a:pt x="1090" y="114"/>
                    </a:lnTo>
                    <a:lnTo>
                      <a:pt x="1127" y="143"/>
                    </a:lnTo>
                    <a:lnTo>
                      <a:pt x="1163" y="175"/>
                    </a:lnTo>
                    <a:lnTo>
                      <a:pt x="1199" y="210"/>
                    </a:lnTo>
                    <a:lnTo>
                      <a:pt x="1233" y="247"/>
                    </a:lnTo>
                    <a:lnTo>
                      <a:pt x="1266" y="288"/>
                    </a:lnTo>
                    <a:lnTo>
                      <a:pt x="1297" y="331"/>
                    </a:lnTo>
                    <a:lnTo>
                      <a:pt x="1328" y="376"/>
                    </a:lnTo>
                    <a:lnTo>
                      <a:pt x="1357" y="424"/>
                    </a:lnTo>
                    <a:lnTo>
                      <a:pt x="1385" y="474"/>
                    </a:lnTo>
                    <a:lnTo>
                      <a:pt x="1411" y="527"/>
                    </a:lnTo>
                    <a:lnTo>
                      <a:pt x="1436" y="582"/>
                    </a:lnTo>
                    <a:lnTo>
                      <a:pt x="1460" y="638"/>
                    </a:lnTo>
                    <a:lnTo>
                      <a:pt x="1481" y="697"/>
                    </a:lnTo>
                    <a:lnTo>
                      <a:pt x="1502" y="758"/>
                    </a:lnTo>
                    <a:lnTo>
                      <a:pt x="1520" y="820"/>
                    </a:lnTo>
                    <a:lnTo>
                      <a:pt x="1537" y="884"/>
                    </a:lnTo>
                    <a:lnTo>
                      <a:pt x="1552" y="950"/>
                    </a:lnTo>
                    <a:lnTo>
                      <a:pt x="1565" y="1017"/>
                    </a:lnTo>
                    <a:lnTo>
                      <a:pt x="1577" y="1086"/>
                    </a:lnTo>
                    <a:lnTo>
                      <a:pt x="1586" y="1156"/>
                    </a:lnTo>
                    <a:lnTo>
                      <a:pt x="1593" y="1227"/>
                    </a:lnTo>
                    <a:lnTo>
                      <a:pt x="1599" y="1300"/>
                    </a:lnTo>
                    <a:lnTo>
                      <a:pt x="1602" y="1373"/>
                    </a:lnTo>
                    <a:lnTo>
                      <a:pt x="1603" y="1448"/>
                    </a:lnTo>
                    <a:lnTo>
                      <a:pt x="1603" y="1468"/>
                    </a:lnTo>
                    <a:lnTo>
                      <a:pt x="1603" y="1488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6" name="Freeform 117"/>
              <p:cNvSpPr/>
              <p:nvPr/>
            </p:nvSpPr>
            <p:spPr>
              <a:xfrm>
                <a:off x="2148" y="1632"/>
                <a:ext cx="60" cy="90"/>
              </a:xfrm>
              <a:custGeom>
                <a:avLst/>
                <a:gdLst>
                  <a:gd name="txL" fmla="*/ 0 w 65"/>
                  <a:gd name="txT" fmla="*/ 0 h 104"/>
                  <a:gd name="txR" fmla="*/ 65 w 65"/>
                  <a:gd name="txB" fmla="*/ 104 h 104"/>
                </a:gdLst>
                <a:ahLst/>
                <a:cxnLst>
                  <a:cxn ang="0">
                    <a:pos x="0" y="0"/>
                  </a:cxn>
                  <a:cxn ang="0">
                    <a:pos x="6" y="16"/>
                  </a:cxn>
                  <a:cxn ang="0">
                    <a:pos x="23" y="3"/>
                  </a:cxn>
                  <a:cxn ang="0">
                    <a:pos x="9" y="6"/>
                  </a:cxn>
                  <a:cxn ang="0">
                    <a:pos x="0" y="0"/>
                  </a:cxn>
                </a:cxnLst>
                <a:rect l="txL" t="txT" r="txR" b="txB"/>
                <a:pathLst>
                  <a:path w="65" h="104">
                    <a:moveTo>
                      <a:pt x="0" y="0"/>
                    </a:moveTo>
                    <a:lnTo>
                      <a:pt x="8" y="104"/>
                    </a:lnTo>
                    <a:lnTo>
                      <a:pt x="65" y="16"/>
                    </a:lnTo>
                    <a:lnTo>
                      <a:pt x="25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7" name="Freeform 118"/>
              <p:cNvSpPr/>
              <p:nvPr/>
            </p:nvSpPr>
            <p:spPr>
              <a:xfrm>
                <a:off x="2206" y="2199"/>
                <a:ext cx="1323" cy="95"/>
              </a:xfrm>
              <a:custGeom>
                <a:avLst/>
                <a:gdLst>
                  <a:gd name="txL" fmla="*/ 0 w 1473"/>
                  <a:gd name="txT" fmla="*/ 0 h 113"/>
                  <a:gd name="txR" fmla="*/ 1473 w 1473"/>
                  <a:gd name="txB" fmla="*/ 113 h 113"/>
                </a:gdLst>
                <a:ahLst/>
                <a:cxnLst>
                  <a:cxn ang="0">
                    <a:pos x="0" y="12"/>
                  </a:cxn>
                  <a:cxn ang="0">
                    <a:pos x="22" y="9"/>
                  </a:cxn>
                  <a:cxn ang="0">
                    <a:pos x="44" y="7"/>
                  </a:cxn>
                  <a:cxn ang="0">
                    <a:pos x="66" y="5"/>
                  </a:cxn>
                  <a:cxn ang="0">
                    <a:pos x="90" y="3"/>
                  </a:cxn>
                  <a:cxn ang="0">
                    <a:pos x="113" y="3"/>
                  </a:cxn>
                  <a:cxn ang="0">
                    <a:pos x="137" y="3"/>
                  </a:cxn>
                  <a:cxn ang="0">
                    <a:pos x="162" y="2"/>
                  </a:cxn>
                  <a:cxn ang="0">
                    <a:pos x="186" y="0"/>
                  </a:cxn>
                  <a:cxn ang="0">
                    <a:pos x="210" y="2"/>
                  </a:cxn>
                  <a:cxn ang="0">
                    <a:pos x="233" y="3"/>
                  </a:cxn>
                  <a:cxn ang="0">
                    <a:pos x="255" y="3"/>
                  </a:cxn>
                  <a:cxn ang="0">
                    <a:pos x="278" y="3"/>
                  </a:cxn>
                  <a:cxn ang="0">
                    <a:pos x="301" y="4"/>
                  </a:cxn>
                  <a:cxn ang="0">
                    <a:pos x="322" y="6"/>
                  </a:cxn>
                  <a:cxn ang="0">
                    <a:pos x="344" y="8"/>
                  </a:cxn>
                  <a:cxn ang="0">
                    <a:pos x="364" y="11"/>
                  </a:cxn>
                </a:cxnLst>
                <a:rect l="txL" t="txT" r="txR" b="txB"/>
                <a:pathLst>
                  <a:path w="1473" h="113">
                    <a:moveTo>
                      <a:pt x="0" y="113"/>
                    </a:moveTo>
                    <a:lnTo>
                      <a:pt x="87" y="87"/>
                    </a:lnTo>
                    <a:lnTo>
                      <a:pt x="176" y="64"/>
                    </a:lnTo>
                    <a:lnTo>
                      <a:pt x="268" y="45"/>
                    </a:lnTo>
                    <a:lnTo>
                      <a:pt x="362" y="29"/>
                    </a:lnTo>
                    <a:lnTo>
                      <a:pt x="457" y="16"/>
                    </a:lnTo>
                    <a:lnTo>
                      <a:pt x="554" y="7"/>
                    </a:lnTo>
                    <a:lnTo>
                      <a:pt x="651" y="2"/>
                    </a:lnTo>
                    <a:lnTo>
                      <a:pt x="750" y="0"/>
                    </a:lnTo>
                    <a:lnTo>
                      <a:pt x="845" y="2"/>
                    </a:lnTo>
                    <a:lnTo>
                      <a:pt x="939" y="7"/>
                    </a:lnTo>
                    <a:lnTo>
                      <a:pt x="1032" y="15"/>
                    </a:lnTo>
                    <a:lnTo>
                      <a:pt x="1124" y="27"/>
                    </a:lnTo>
                    <a:lnTo>
                      <a:pt x="1214" y="41"/>
                    </a:lnTo>
                    <a:lnTo>
                      <a:pt x="1302" y="59"/>
                    </a:lnTo>
                    <a:lnTo>
                      <a:pt x="1389" y="80"/>
                    </a:lnTo>
                    <a:lnTo>
                      <a:pt x="1473" y="104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8" name="Freeform 119"/>
              <p:cNvSpPr/>
              <p:nvPr/>
            </p:nvSpPr>
            <p:spPr>
              <a:xfrm>
                <a:off x="2208" y="2365"/>
                <a:ext cx="367" cy="106"/>
              </a:xfrm>
              <a:custGeom>
                <a:avLst/>
                <a:gdLst>
                  <a:gd name="txL" fmla="*/ 0 w 381"/>
                  <a:gd name="txT" fmla="*/ 0 h 86"/>
                  <a:gd name="txR" fmla="*/ 381 w 381"/>
                  <a:gd name="txB" fmla="*/ 86 h 86"/>
                </a:gdLst>
                <a:ahLst/>
                <a:cxnLst>
                  <a:cxn ang="0">
                    <a:pos x="234" y="1299"/>
                  </a:cxn>
                  <a:cxn ang="0">
                    <a:pos x="173" y="1054"/>
                  </a:cxn>
                  <a:cxn ang="0">
                    <a:pos x="114" y="759"/>
                  </a:cxn>
                  <a:cxn ang="0">
                    <a:pos x="57" y="413"/>
                  </a:cxn>
                  <a:cxn ang="0">
                    <a:pos x="0" y="0"/>
                  </a:cxn>
                </a:cxnLst>
                <a:rect l="txL" t="txT" r="txR" b="txB"/>
                <a:pathLst>
                  <a:path w="381" h="86">
                    <a:moveTo>
                      <a:pt x="381" y="86"/>
                    </a:moveTo>
                    <a:lnTo>
                      <a:pt x="282" y="70"/>
                    </a:lnTo>
                    <a:lnTo>
                      <a:pt x="185" y="50"/>
                    </a:lnTo>
                    <a:lnTo>
                      <a:pt x="91" y="2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89" name="Freeform 120"/>
              <p:cNvSpPr/>
              <p:nvPr/>
            </p:nvSpPr>
            <p:spPr>
              <a:xfrm>
                <a:off x="2184" y="2405"/>
                <a:ext cx="350" cy="176"/>
              </a:xfrm>
              <a:custGeom>
                <a:avLst/>
                <a:gdLst>
                  <a:gd name="txL" fmla="*/ 0 w 340"/>
                  <a:gd name="txT" fmla="*/ 0 h 211"/>
                  <a:gd name="txR" fmla="*/ 340 w 340"/>
                  <a:gd name="txB" fmla="*/ 211 h 211"/>
                </a:gdLst>
                <a:ahLst/>
                <a:cxnLst>
                  <a:cxn ang="0">
                    <a:pos x="496" y="20"/>
                  </a:cxn>
                  <a:cxn ang="0">
                    <a:pos x="430" y="19"/>
                  </a:cxn>
                  <a:cxn ang="0">
                    <a:pos x="365" y="16"/>
                  </a:cxn>
                  <a:cxn ang="0">
                    <a:pos x="300" y="13"/>
                  </a:cxn>
                  <a:cxn ang="0">
                    <a:pos x="238" y="11"/>
                  </a:cxn>
                  <a:cxn ang="0">
                    <a:pos x="178" y="9"/>
                  </a:cxn>
                  <a:cxn ang="0">
                    <a:pos x="116" y="7"/>
                  </a:cxn>
                  <a:cxn ang="0">
                    <a:pos x="52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340" h="211">
                    <a:moveTo>
                      <a:pt x="340" y="211"/>
                    </a:moveTo>
                    <a:lnTo>
                      <a:pt x="295" y="191"/>
                    </a:lnTo>
                    <a:lnTo>
                      <a:pt x="250" y="170"/>
                    </a:lnTo>
                    <a:lnTo>
                      <a:pt x="206" y="146"/>
                    </a:lnTo>
                    <a:lnTo>
                      <a:pt x="163" y="121"/>
                    </a:lnTo>
                    <a:lnTo>
                      <a:pt x="121" y="93"/>
                    </a:lnTo>
                    <a:lnTo>
                      <a:pt x="80" y="64"/>
                    </a:lnTo>
                    <a:lnTo>
                      <a:pt x="39" y="33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0" name="Freeform 121"/>
              <p:cNvSpPr/>
              <p:nvPr/>
            </p:nvSpPr>
            <p:spPr>
              <a:xfrm>
                <a:off x="2563" y="2039"/>
                <a:ext cx="974" cy="219"/>
              </a:xfrm>
              <a:custGeom>
                <a:avLst/>
                <a:gdLst>
                  <a:gd name="txL" fmla="*/ 0 w 1084"/>
                  <a:gd name="txT" fmla="*/ 0 h 261"/>
                  <a:gd name="txR" fmla="*/ 1084 w 1084"/>
                  <a:gd name="txB" fmla="*/ 261 h 261"/>
                </a:gdLst>
                <a:ahLst/>
                <a:cxnLst>
                  <a:cxn ang="0">
                    <a:pos x="0" y="6"/>
                  </a:cxn>
                  <a:cxn ang="0">
                    <a:pos x="11" y="5"/>
                  </a:cxn>
                  <a:cxn ang="0">
                    <a:pos x="22" y="3"/>
                  </a:cxn>
                  <a:cxn ang="0">
                    <a:pos x="32" y="3"/>
                  </a:cxn>
                  <a:cxn ang="0">
                    <a:pos x="44" y="3"/>
                  </a:cxn>
                  <a:cxn ang="0">
                    <a:pos x="54" y="3"/>
                  </a:cxn>
                  <a:cxn ang="0">
                    <a:pos x="66" y="3"/>
                  </a:cxn>
                  <a:cxn ang="0">
                    <a:pos x="77" y="1"/>
                  </a:cxn>
                  <a:cxn ang="0">
                    <a:pos x="89" y="0"/>
                  </a:cxn>
                  <a:cxn ang="0">
                    <a:pos x="100" y="1"/>
                  </a:cxn>
                  <a:cxn ang="0">
                    <a:pos x="112" y="3"/>
                  </a:cxn>
                  <a:cxn ang="0">
                    <a:pos x="124" y="3"/>
                  </a:cxn>
                  <a:cxn ang="0">
                    <a:pos x="137" y="3"/>
                  </a:cxn>
                  <a:cxn ang="0">
                    <a:pos x="147" y="3"/>
                  </a:cxn>
                  <a:cxn ang="0">
                    <a:pos x="160" y="4"/>
                  </a:cxn>
                  <a:cxn ang="0">
                    <a:pos x="171" y="6"/>
                  </a:cxn>
                  <a:cxn ang="0">
                    <a:pos x="182" y="7"/>
                  </a:cxn>
                  <a:cxn ang="0">
                    <a:pos x="195" y="8"/>
                  </a:cxn>
                  <a:cxn ang="0">
                    <a:pos x="205" y="11"/>
                  </a:cxn>
                  <a:cxn ang="0">
                    <a:pos x="217" y="13"/>
                  </a:cxn>
                  <a:cxn ang="0">
                    <a:pos x="227" y="15"/>
                  </a:cxn>
                  <a:cxn ang="0">
                    <a:pos x="240" y="17"/>
                  </a:cxn>
                  <a:cxn ang="0">
                    <a:pos x="250" y="20"/>
                  </a:cxn>
                  <a:cxn ang="0">
                    <a:pos x="260" y="24"/>
                  </a:cxn>
                  <a:cxn ang="0">
                    <a:pos x="269" y="27"/>
                  </a:cxn>
                </a:cxnLst>
                <a:rect l="txL" t="txT" r="txR" b="txB"/>
                <a:pathLst>
                  <a:path w="1084" h="261">
                    <a:moveTo>
                      <a:pt x="0" y="57"/>
                    </a:moveTo>
                    <a:lnTo>
                      <a:pt x="43" y="44"/>
                    </a:lnTo>
                    <a:lnTo>
                      <a:pt x="87" y="32"/>
                    </a:lnTo>
                    <a:lnTo>
                      <a:pt x="131" y="22"/>
                    </a:lnTo>
                    <a:lnTo>
                      <a:pt x="175" y="14"/>
                    </a:lnTo>
                    <a:lnTo>
                      <a:pt x="220" y="8"/>
                    </a:lnTo>
                    <a:lnTo>
                      <a:pt x="264" y="4"/>
                    </a:lnTo>
                    <a:lnTo>
                      <a:pt x="309" y="1"/>
                    </a:lnTo>
                    <a:lnTo>
                      <a:pt x="354" y="0"/>
                    </a:lnTo>
                    <a:lnTo>
                      <a:pt x="403" y="1"/>
                    </a:lnTo>
                    <a:lnTo>
                      <a:pt x="451" y="4"/>
                    </a:lnTo>
                    <a:lnTo>
                      <a:pt x="500" y="10"/>
                    </a:lnTo>
                    <a:lnTo>
                      <a:pt x="548" y="17"/>
                    </a:lnTo>
                    <a:lnTo>
                      <a:pt x="595" y="26"/>
                    </a:lnTo>
                    <a:lnTo>
                      <a:pt x="643" y="38"/>
                    </a:lnTo>
                    <a:lnTo>
                      <a:pt x="689" y="51"/>
                    </a:lnTo>
                    <a:lnTo>
                      <a:pt x="736" y="67"/>
                    </a:lnTo>
                    <a:lnTo>
                      <a:pt x="782" y="84"/>
                    </a:lnTo>
                    <a:lnTo>
                      <a:pt x="827" y="104"/>
                    </a:lnTo>
                    <a:lnTo>
                      <a:pt x="872" y="125"/>
                    </a:lnTo>
                    <a:lnTo>
                      <a:pt x="916" y="149"/>
                    </a:lnTo>
                    <a:lnTo>
                      <a:pt x="959" y="174"/>
                    </a:lnTo>
                    <a:lnTo>
                      <a:pt x="1002" y="201"/>
                    </a:lnTo>
                    <a:lnTo>
                      <a:pt x="1043" y="230"/>
                    </a:lnTo>
                    <a:lnTo>
                      <a:pt x="1084" y="261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1" name="Freeform 122"/>
              <p:cNvSpPr/>
              <p:nvPr/>
            </p:nvSpPr>
            <p:spPr>
              <a:xfrm>
                <a:off x="2546" y="2038"/>
                <a:ext cx="94" cy="55"/>
              </a:xfrm>
              <a:custGeom>
                <a:avLst/>
                <a:gdLst>
                  <a:gd name="txL" fmla="*/ 0 w 104"/>
                  <a:gd name="txT" fmla="*/ 0 h 66"/>
                  <a:gd name="txR" fmla="*/ 104 w 104"/>
                  <a:gd name="txB" fmla="*/ 66 h 66"/>
                </a:gdLst>
                <a:ahLst/>
                <a:cxnLst>
                  <a:cxn ang="0">
                    <a:pos x="22" y="0"/>
                  </a:cxn>
                  <a:cxn ang="0">
                    <a:pos x="0" y="6"/>
                  </a:cxn>
                  <a:cxn ang="0">
                    <a:pos x="28" y="6"/>
                  </a:cxn>
                  <a:cxn ang="0">
                    <a:pos x="17" y="4"/>
                  </a:cxn>
                  <a:cxn ang="0">
                    <a:pos x="22" y="0"/>
                  </a:cxn>
                </a:cxnLst>
                <a:rect l="txL" t="txT" r="txR" b="txB"/>
                <a:pathLst>
                  <a:path w="104" h="66">
                    <a:moveTo>
                      <a:pt x="81" y="0"/>
                    </a:moveTo>
                    <a:lnTo>
                      <a:pt x="0" y="66"/>
                    </a:lnTo>
                    <a:lnTo>
                      <a:pt x="104" y="63"/>
                    </a:lnTo>
                    <a:lnTo>
                      <a:pt x="64" y="4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2" name="Freeform 123"/>
              <p:cNvSpPr/>
              <p:nvPr/>
            </p:nvSpPr>
            <p:spPr>
              <a:xfrm>
                <a:off x="2579" y="2200"/>
                <a:ext cx="949" cy="87"/>
              </a:xfrm>
              <a:custGeom>
                <a:avLst/>
                <a:gdLst>
                  <a:gd name="txL" fmla="*/ 0 w 1058"/>
                  <a:gd name="txT" fmla="*/ 0 h 104"/>
                  <a:gd name="txR" fmla="*/ 1058 w 1058"/>
                  <a:gd name="txB" fmla="*/ 104 h 104"/>
                </a:gdLst>
                <a:ahLst/>
                <a:cxnLst>
                  <a:cxn ang="0">
                    <a:pos x="0" y="3"/>
                  </a:cxn>
                  <a:cxn ang="0">
                    <a:pos x="20" y="3"/>
                  </a:cxn>
                  <a:cxn ang="0">
                    <a:pos x="41" y="3"/>
                  </a:cxn>
                  <a:cxn ang="0">
                    <a:pos x="59" y="1"/>
                  </a:cxn>
                  <a:cxn ang="0">
                    <a:pos x="82" y="0"/>
                  </a:cxn>
                  <a:cxn ang="0">
                    <a:pos x="104" y="2"/>
                  </a:cxn>
                  <a:cxn ang="0">
                    <a:pos x="129" y="3"/>
                  </a:cxn>
                  <a:cxn ang="0">
                    <a:pos x="150" y="3"/>
                  </a:cxn>
                  <a:cxn ang="0">
                    <a:pos x="172" y="3"/>
                  </a:cxn>
                  <a:cxn ang="0">
                    <a:pos x="194" y="4"/>
                  </a:cxn>
                  <a:cxn ang="0">
                    <a:pos x="215" y="6"/>
                  </a:cxn>
                  <a:cxn ang="0">
                    <a:pos x="238" y="8"/>
                  </a:cxn>
                  <a:cxn ang="0">
                    <a:pos x="257" y="11"/>
                  </a:cxn>
                </a:cxnLst>
                <a:rect l="txL" t="txT" r="txR" b="txB"/>
                <a:pathLst>
                  <a:path w="1058" h="104">
                    <a:moveTo>
                      <a:pt x="0" y="21"/>
                    </a:moveTo>
                    <a:lnTo>
                      <a:pt x="83" y="11"/>
                    </a:lnTo>
                    <a:lnTo>
                      <a:pt x="166" y="5"/>
                    </a:lnTo>
                    <a:lnTo>
                      <a:pt x="250" y="1"/>
                    </a:lnTo>
                    <a:lnTo>
                      <a:pt x="335" y="0"/>
                    </a:lnTo>
                    <a:lnTo>
                      <a:pt x="430" y="2"/>
                    </a:lnTo>
                    <a:lnTo>
                      <a:pt x="524" y="7"/>
                    </a:lnTo>
                    <a:lnTo>
                      <a:pt x="617" y="15"/>
                    </a:lnTo>
                    <a:lnTo>
                      <a:pt x="709" y="27"/>
                    </a:lnTo>
                    <a:lnTo>
                      <a:pt x="799" y="41"/>
                    </a:lnTo>
                    <a:lnTo>
                      <a:pt x="887" y="59"/>
                    </a:lnTo>
                    <a:lnTo>
                      <a:pt x="974" y="80"/>
                    </a:lnTo>
                    <a:lnTo>
                      <a:pt x="1058" y="104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3" name="Freeform 124"/>
              <p:cNvSpPr/>
              <p:nvPr/>
            </p:nvSpPr>
            <p:spPr>
              <a:xfrm>
                <a:off x="2592" y="2183"/>
                <a:ext cx="92" cy="55"/>
              </a:xfrm>
              <a:custGeom>
                <a:avLst/>
                <a:gdLst>
                  <a:gd name="txL" fmla="*/ 0 w 103"/>
                  <a:gd name="txT" fmla="*/ 0 h 66"/>
                  <a:gd name="txR" fmla="*/ 103 w 103"/>
                  <a:gd name="txB" fmla="*/ 66 h 66"/>
                </a:gdLst>
                <a:ahLst/>
                <a:cxnLst>
                  <a:cxn ang="0">
                    <a:pos x="21" y="0"/>
                  </a:cxn>
                  <a:cxn ang="0">
                    <a:pos x="0" y="5"/>
                  </a:cxn>
                  <a:cxn ang="0">
                    <a:pos x="23" y="6"/>
                  </a:cxn>
                  <a:cxn ang="0">
                    <a:pos x="15" y="3"/>
                  </a:cxn>
                  <a:cxn ang="0">
                    <a:pos x="21" y="0"/>
                  </a:cxn>
                </a:cxnLst>
                <a:rect l="txL" t="txT" r="txR" b="txB"/>
                <a:pathLst>
                  <a:path w="103" h="66">
                    <a:moveTo>
                      <a:pt x="93" y="0"/>
                    </a:moveTo>
                    <a:lnTo>
                      <a:pt x="0" y="48"/>
                    </a:lnTo>
                    <a:lnTo>
                      <a:pt x="103" y="66"/>
                    </a:lnTo>
                    <a:lnTo>
                      <a:pt x="67" y="38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4" name="Freeform 125"/>
              <p:cNvSpPr/>
              <p:nvPr/>
            </p:nvSpPr>
            <p:spPr>
              <a:xfrm>
                <a:off x="2197" y="1757"/>
                <a:ext cx="1374" cy="469"/>
              </a:xfrm>
              <a:custGeom>
                <a:avLst/>
                <a:gdLst>
                  <a:gd name="txL" fmla="*/ 0 w 1531"/>
                  <a:gd name="txT" fmla="*/ 0 h 559"/>
                  <a:gd name="txR" fmla="*/ 1531 w 1531"/>
                  <a:gd name="txB" fmla="*/ 559 h 559"/>
                </a:gdLst>
                <a:ahLst/>
                <a:cxnLst>
                  <a:cxn ang="0">
                    <a:pos x="0" y="55"/>
                  </a:cxn>
                  <a:cxn ang="0">
                    <a:pos x="9" y="50"/>
                  </a:cxn>
                  <a:cxn ang="0">
                    <a:pos x="17" y="42"/>
                  </a:cxn>
                  <a:cxn ang="0">
                    <a:pos x="26" y="38"/>
                  </a:cxn>
                  <a:cxn ang="0">
                    <a:pos x="35" y="32"/>
                  </a:cxn>
                  <a:cxn ang="0">
                    <a:pos x="47" y="28"/>
                  </a:cxn>
                  <a:cxn ang="0">
                    <a:pos x="57" y="23"/>
                  </a:cxn>
                  <a:cxn ang="0">
                    <a:pos x="68" y="19"/>
                  </a:cxn>
                  <a:cxn ang="0">
                    <a:pos x="81" y="14"/>
                  </a:cxn>
                  <a:cxn ang="0">
                    <a:pos x="87" y="13"/>
                  </a:cxn>
                  <a:cxn ang="0">
                    <a:pos x="93" y="11"/>
                  </a:cxn>
                  <a:cxn ang="0">
                    <a:pos x="99" y="10"/>
                  </a:cxn>
                  <a:cxn ang="0">
                    <a:pos x="105" y="8"/>
                  </a:cxn>
                  <a:cxn ang="0">
                    <a:pos x="111" y="7"/>
                  </a:cxn>
                  <a:cxn ang="0">
                    <a:pos x="118" y="6"/>
                  </a:cxn>
                  <a:cxn ang="0">
                    <a:pos x="125" y="5"/>
                  </a:cxn>
                  <a:cxn ang="0">
                    <a:pos x="131" y="4"/>
                  </a:cxn>
                  <a:cxn ang="0">
                    <a:pos x="137" y="3"/>
                  </a:cxn>
                  <a:cxn ang="0">
                    <a:pos x="144" y="3"/>
                  </a:cxn>
                  <a:cxn ang="0">
                    <a:pos x="152" y="3"/>
                  </a:cxn>
                  <a:cxn ang="0">
                    <a:pos x="159" y="3"/>
                  </a:cxn>
                  <a:cxn ang="0">
                    <a:pos x="166" y="3"/>
                  </a:cxn>
                  <a:cxn ang="0">
                    <a:pos x="172" y="2"/>
                  </a:cxn>
                  <a:cxn ang="0">
                    <a:pos x="179" y="1"/>
                  </a:cxn>
                  <a:cxn ang="0">
                    <a:pos x="187" y="0"/>
                  </a:cxn>
                  <a:cxn ang="0">
                    <a:pos x="193" y="1"/>
                  </a:cxn>
                  <a:cxn ang="0">
                    <a:pos x="200" y="2"/>
                  </a:cxn>
                  <a:cxn ang="0">
                    <a:pos x="208" y="3"/>
                  </a:cxn>
                  <a:cxn ang="0">
                    <a:pos x="215" y="3"/>
                  </a:cxn>
                  <a:cxn ang="0">
                    <a:pos x="223" y="3"/>
                  </a:cxn>
                  <a:cxn ang="0">
                    <a:pos x="229" y="3"/>
                  </a:cxn>
                  <a:cxn ang="0">
                    <a:pos x="236" y="3"/>
                  </a:cxn>
                  <a:cxn ang="0">
                    <a:pos x="242" y="4"/>
                  </a:cxn>
                  <a:cxn ang="0">
                    <a:pos x="249" y="5"/>
                  </a:cxn>
                  <a:cxn ang="0">
                    <a:pos x="256" y="6"/>
                  </a:cxn>
                  <a:cxn ang="0">
                    <a:pos x="263" y="7"/>
                  </a:cxn>
                  <a:cxn ang="0">
                    <a:pos x="269" y="8"/>
                  </a:cxn>
                  <a:cxn ang="0">
                    <a:pos x="276" y="10"/>
                  </a:cxn>
                  <a:cxn ang="0">
                    <a:pos x="281" y="12"/>
                  </a:cxn>
                  <a:cxn ang="0">
                    <a:pos x="287" y="13"/>
                  </a:cxn>
                  <a:cxn ang="0">
                    <a:pos x="294" y="15"/>
                  </a:cxn>
                  <a:cxn ang="0">
                    <a:pos x="300" y="17"/>
                  </a:cxn>
                  <a:cxn ang="0">
                    <a:pos x="306" y="19"/>
                  </a:cxn>
                  <a:cxn ang="0">
                    <a:pos x="318" y="23"/>
                  </a:cxn>
                  <a:cxn ang="0">
                    <a:pos x="328" y="29"/>
                  </a:cxn>
                  <a:cxn ang="0">
                    <a:pos x="338" y="33"/>
                  </a:cxn>
                  <a:cxn ang="0">
                    <a:pos x="349" y="39"/>
                  </a:cxn>
                  <a:cxn ang="0">
                    <a:pos x="359" y="45"/>
                  </a:cxn>
                  <a:cxn ang="0">
                    <a:pos x="366" y="50"/>
                  </a:cxn>
                  <a:cxn ang="0">
                    <a:pos x="375" y="57"/>
                  </a:cxn>
                </a:cxnLst>
                <a:rect l="txL" t="txT" r="txR" b="txB"/>
                <a:pathLst>
                  <a:path w="1531" h="559">
                    <a:moveTo>
                      <a:pt x="0" y="542"/>
                    </a:moveTo>
                    <a:lnTo>
                      <a:pt x="33" y="480"/>
                    </a:lnTo>
                    <a:lnTo>
                      <a:pt x="69" y="421"/>
                    </a:lnTo>
                    <a:lnTo>
                      <a:pt x="107" y="366"/>
                    </a:lnTo>
                    <a:lnTo>
                      <a:pt x="147" y="314"/>
                    </a:lnTo>
                    <a:lnTo>
                      <a:pt x="190" y="266"/>
                    </a:lnTo>
                    <a:lnTo>
                      <a:pt x="234" y="222"/>
                    </a:lnTo>
                    <a:lnTo>
                      <a:pt x="281" y="181"/>
                    </a:lnTo>
                    <a:lnTo>
                      <a:pt x="329" y="144"/>
                    </a:lnTo>
                    <a:lnTo>
                      <a:pt x="354" y="127"/>
                    </a:lnTo>
                    <a:lnTo>
                      <a:pt x="379" y="111"/>
                    </a:lnTo>
                    <a:lnTo>
                      <a:pt x="404" y="96"/>
                    </a:lnTo>
                    <a:lnTo>
                      <a:pt x="430" y="82"/>
                    </a:lnTo>
                    <a:lnTo>
                      <a:pt x="456" y="69"/>
                    </a:lnTo>
                    <a:lnTo>
                      <a:pt x="483" y="57"/>
                    </a:lnTo>
                    <a:lnTo>
                      <a:pt x="510" y="47"/>
                    </a:lnTo>
                    <a:lnTo>
                      <a:pt x="537" y="37"/>
                    </a:lnTo>
                    <a:lnTo>
                      <a:pt x="564" y="28"/>
                    </a:lnTo>
                    <a:lnTo>
                      <a:pt x="592" y="21"/>
                    </a:lnTo>
                    <a:lnTo>
                      <a:pt x="619" y="15"/>
                    </a:lnTo>
                    <a:lnTo>
                      <a:pt x="647" y="9"/>
                    </a:lnTo>
                    <a:lnTo>
                      <a:pt x="676" y="5"/>
                    </a:lnTo>
                    <a:lnTo>
                      <a:pt x="704" y="2"/>
                    </a:lnTo>
                    <a:lnTo>
                      <a:pt x="732" y="1"/>
                    </a:lnTo>
                    <a:lnTo>
                      <a:pt x="761" y="0"/>
                    </a:lnTo>
                    <a:lnTo>
                      <a:pt x="790" y="1"/>
                    </a:lnTo>
                    <a:lnTo>
                      <a:pt x="819" y="2"/>
                    </a:lnTo>
                    <a:lnTo>
                      <a:pt x="848" y="6"/>
                    </a:lnTo>
                    <a:lnTo>
                      <a:pt x="877" y="10"/>
                    </a:lnTo>
                    <a:lnTo>
                      <a:pt x="905" y="15"/>
                    </a:lnTo>
                    <a:lnTo>
                      <a:pt x="934" y="22"/>
                    </a:lnTo>
                    <a:lnTo>
                      <a:pt x="962" y="30"/>
                    </a:lnTo>
                    <a:lnTo>
                      <a:pt x="989" y="38"/>
                    </a:lnTo>
                    <a:lnTo>
                      <a:pt x="1017" y="48"/>
                    </a:lnTo>
                    <a:lnTo>
                      <a:pt x="1044" y="60"/>
                    </a:lnTo>
                    <a:lnTo>
                      <a:pt x="1071" y="72"/>
                    </a:lnTo>
                    <a:lnTo>
                      <a:pt x="1098" y="85"/>
                    </a:lnTo>
                    <a:lnTo>
                      <a:pt x="1124" y="100"/>
                    </a:lnTo>
                    <a:lnTo>
                      <a:pt x="1150" y="115"/>
                    </a:lnTo>
                    <a:lnTo>
                      <a:pt x="1175" y="131"/>
                    </a:lnTo>
                    <a:lnTo>
                      <a:pt x="1200" y="149"/>
                    </a:lnTo>
                    <a:lnTo>
                      <a:pt x="1225" y="168"/>
                    </a:lnTo>
                    <a:lnTo>
                      <a:pt x="1249" y="187"/>
                    </a:lnTo>
                    <a:lnTo>
                      <a:pt x="1296" y="229"/>
                    </a:lnTo>
                    <a:lnTo>
                      <a:pt x="1341" y="275"/>
                    </a:lnTo>
                    <a:lnTo>
                      <a:pt x="1384" y="325"/>
                    </a:lnTo>
                    <a:lnTo>
                      <a:pt x="1425" y="378"/>
                    </a:lnTo>
                    <a:lnTo>
                      <a:pt x="1463" y="435"/>
                    </a:lnTo>
                    <a:lnTo>
                      <a:pt x="1498" y="495"/>
                    </a:lnTo>
                    <a:lnTo>
                      <a:pt x="1531" y="559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5" name="Freeform 126"/>
              <p:cNvSpPr/>
              <p:nvPr/>
            </p:nvSpPr>
            <p:spPr>
              <a:xfrm>
                <a:off x="2184" y="2447"/>
                <a:ext cx="342" cy="341"/>
              </a:xfrm>
              <a:custGeom>
                <a:avLst/>
                <a:gdLst>
                  <a:gd name="txL" fmla="*/ 0 w 367"/>
                  <a:gd name="txT" fmla="*/ 0 h 423"/>
                  <a:gd name="txR" fmla="*/ 367 w 367"/>
                  <a:gd name="txB" fmla="*/ 423 h 423"/>
                </a:gdLst>
                <a:ahLst/>
                <a:cxnLst>
                  <a:cxn ang="0">
                    <a:pos x="147" y="26"/>
                  </a:cxn>
                  <a:cxn ang="0">
                    <a:pos x="136" y="25"/>
                  </a:cxn>
                  <a:cxn ang="0">
                    <a:pos x="125" y="23"/>
                  </a:cxn>
                  <a:cxn ang="0">
                    <a:pos x="114" y="22"/>
                  </a:cxn>
                  <a:cxn ang="0">
                    <a:pos x="104" y="21"/>
                  </a:cxn>
                  <a:cxn ang="0">
                    <a:pos x="94" y="19"/>
                  </a:cxn>
                  <a:cxn ang="0">
                    <a:pos x="83" y="19"/>
                  </a:cxn>
                  <a:cxn ang="0">
                    <a:pos x="74" y="16"/>
                  </a:cxn>
                  <a:cxn ang="0">
                    <a:pos x="65" y="15"/>
                  </a:cxn>
                  <a:cxn ang="0">
                    <a:pos x="56" y="13"/>
                  </a:cxn>
                  <a:cxn ang="0">
                    <a:pos x="47" y="12"/>
                  </a:cxn>
                  <a:cxn ang="0">
                    <a:pos x="30" y="8"/>
                  </a:cxn>
                  <a:cxn ang="0">
                    <a:pos x="16" y="4"/>
                  </a:cxn>
                  <a:cxn ang="0">
                    <a:pos x="0" y="0"/>
                  </a:cxn>
                </a:cxnLst>
                <a:rect l="txL" t="txT" r="txR" b="txB"/>
                <a:pathLst>
                  <a:path w="367" h="423">
                    <a:moveTo>
                      <a:pt x="367" y="423"/>
                    </a:moveTo>
                    <a:lnTo>
                      <a:pt x="339" y="405"/>
                    </a:lnTo>
                    <a:lnTo>
                      <a:pt x="312" y="385"/>
                    </a:lnTo>
                    <a:lnTo>
                      <a:pt x="286" y="365"/>
                    </a:lnTo>
                    <a:lnTo>
                      <a:pt x="260" y="343"/>
                    </a:lnTo>
                    <a:lnTo>
                      <a:pt x="234" y="320"/>
                    </a:lnTo>
                    <a:lnTo>
                      <a:pt x="209" y="296"/>
                    </a:lnTo>
                    <a:lnTo>
                      <a:pt x="185" y="271"/>
                    </a:lnTo>
                    <a:lnTo>
                      <a:pt x="162" y="245"/>
                    </a:lnTo>
                    <a:lnTo>
                      <a:pt x="139" y="218"/>
                    </a:lnTo>
                    <a:lnTo>
                      <a:pt x="117" y="190"/>
                    </a:lnTo>
                    <a:lnTo>
                      <a:pt x="75" y="130"/>
                    </a:lnTo>
                    <a:lnTo>
                      <a:pt x="36" y="6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6" name="Freeform 127"/>
              <p:cNvSpPr/>
              <p:nvPr/>
            </p:nvSpPr>
            <p:spPr>
              <a:xfrm>
                <a:off x="2473" y="1757"/>
                <a:ext cx="1098" cy="469"/>
              </a:xfrm>
              <a:custGeom>
                <a:avLst/>
                <a:gdLst>
                  <a:gd name="txL" fmla="*/ 0 w 1224"/>
                  <a:gd name="txT" fmla="*/ 0 h 559"/>
                  <a:gd name="txR" fmla="*/ 1224 w 1224"/>
                  <a:gd name="txB" fmla="*/ 559 h 559"/>
                </a:gdLst>
                <a:ahLst/>
                <a:cxnLst>
                  <a:cxn ang="0">
                    <a:pos x="0" y="16"/>
                  </a:cxn>
                  <a:cxn ang="0">
                    <a:pos x="6" y="14"/>
                  </a:cxn>
                  <a:cxn ang="0">
                    <a:pos x="13" y="12"/>
                  </a:cxn>
                  <a:cxn ang="0">
                    <a:pos x="20" y="11"/>
                  </a:cxn>
                  <a:cxn ang="0">
                    <a:pos x="26" y="9"/>
                  </a:cxn>
                  <a:cxn ang="0">
                    <a:pos x="33" y="8"/>
                  </a:cxn>
                  <a:cxn ang="0">
                    <a:pos x="39" y="7"/>
                  </a:cxn>
                  <a:cxn ang="0">
                    <a:pos x="46" y="6"/>
                  </a:cxn>
                  <a:cxn ang="0">
                    <a:pos x="53" y="4"/>
                  </a:cxn>
                  <a:cxn ang="0">
                    <a:pos x="59" y="3"/>
                  </a:cxn>
                  <a:cxn ang="0">
                    <a:pos x="66" y="3"/>
                  </a:cxn>
                  <a:cxn ang="0">
                    <a:pos x="74" y="3"/>
                  </a:cxn>
                  <a:cxn ang="0">
                    <a:pos x="82" y="3"/>
                  </a:cxn>
                  <a:cxn ang="0">
                    <a:pos x="88" y="3"/>
                  </a:cxn>
                  <a:cxn ang="0">
                    <a:pos x="96" y="3"/>
                  </a:cxn>
                  <a:cxn ang="0">
                    <a:pos x="104" y="1"/>
                  </a:cxn>
                  <a:cxn ang="0">
                    <a:pos x="110" y="0"/>
                  </a:cxn>
                  <a:cxn ang="0">
                    <a:pos x="117" y="1"/>
                  </a:cxn>
                  <a:cxn ang="0">
                    <a:pos x="125" y="2"/>
                  </a:cxn>
                  <a:cxn ang="0">
                    <a:pos x="132" y="3"/>
                  </a:cxn>
                  <a:cxn ang="0">
                    <a:pos x="138" y="3"/>
                  </a:cxn>
                  <a:cxn ang="0">
                    <a:pos x="144" y="3"/>
                  </a:cxn>
                  <a:cxn ang="0">
                    <a:pos x="153" y="3"/>
                  </a:cxn>
                  <a:cxn ang="0">
                    <a:pos x="161" y="3"/>
                  </a:cxn>
                  <a:cxn ang="0">
                    <a:pos x="166" y="4"/>
                  </a:cxn>
                  <a:cxn ang="0">
                    <a:pos x="173" y="5"/>
                  </a:cxn>
                  <a:cxn ang="0">
                    <a:pos x="179" y="6"/>
                  </a:cxn>
                  <a:cxn ang="0">
                    <a:pos x="186" y="7"/>
                  </a:cxn>
                  <a:cxn ang="0">
                    <a:pos x="193" y="8"/>
                  </a:cxn>
                  <a:cxn ang="0">
                    <a:pos x="199" y="10"/>
                  </a:cxn>
                  <a:cxn ang="0">
                    <a:pos x="205" y="12"/>
                  </a:cxn>
                  <a:cxn ang="0">
                    <a:pos x="211" y="13"/>
                  </a:cxn>
                  <a:cxn ang="0">
                    <a:pos x="217" y="15"/>
                  </a:cxn>
                  <a:cxn ang="0">
                    <a:pos x="222" y="17"/>
                  </a:cxn>
                  <a:cxn ang="0">
                    <a:pos x="230" y="19"/>
                  </a:cxn>
                  <a:cxn ang="0">
                    <a:pos x="240" y="23"/>
                  </a:cxn>
                  <a:cxn ang="0">
                    <a:pos x="251" y="29"/>
                  </a:cxn>
                  <a:cxn ang="0">
                    <a:pos x="262" y="33"/>
                  </a:cxn>
                  <a:cxn ang="0">
                    <a:pos x="272" y="39"/>
                  </a:cxn>
                  <a:cxn ang="0">
                    <a:pos x="281" y="45"/>
                  </a:cxn>
                  <a:cxn ang="0">
                    <a:pos x="292" y="50"/>
                  </a:cxn>
                  <a:cxn ang="0">
                    <a:pos x="298" y="57"/>
                  </a:cxn>
                </a:cxnLst>
                <a:rect l="txL" t="txT" r="txR" b="txB"/>
                <a:pathLst>
                  <a:path w="1224" h="559">
                    <a:moveTo>
                      <a:pt x="0" y="159"/>
                    </a:moveTo>
                    <a:lnTo>
                      <a:pt x="26" y="140"/>
                    </a:lnTo>
                    <a:lnTo>
                      <a:pt x="53" y="122"/>
                    </a:lnTo>
                    <a:lnTo>
                      <a:pt x="79" y="106"/>
                    </a:lnTo>
                    <a:lnTo>
                      <a:pt x="107" y="90"/>
                    </a:lnTo>
                    <a:lnTo>
                      <a:pt x="134" y="76"/>
                    </a:lnTo>
                    <a:lnTo>
                      <a:pt x="162" y="63"/>
                    </a:lnTo>
                    <a:lnTo>
                      <a:pt x="190" y="51"/>
                    </a:lnTo>
                    <a:lnTo>
                      <a:pt x="219" y="41"/>
                    </a:lnTo>
                    <a:lnTo>
                      <a:pt x="248" y="31"/>
                    </a:lnTo>
                    <a:lnTo>
                      <a:pt x="276" y="23"/>
                    </a:lnTo>
                    <a:lnTo>
                      <a:pt x="306" y="16"/>
                    </a:lnTo>
                    <a:lnTo>
                      <a:pt x="335" y="10"/>
                    </a:lnTo>
                    <a:lnTo>
                      <a:pt x="365" y="6"/>
                    </a:lnTo>
                    <a:lnTo>
                      <a:pt x="394" y="3"/>
                    </a:lnTo>
                    <a:lnTo>
                      <a:pt x="424" y="1"/>
                    </a:lnTo>
                    <a:lnTo>
                      <a:pt x="454" y="0"/>
                    </a:lnTo>
                    <a:lnTo>
                      <a:pt x="483" y="1"/>
                    </a:lnTo>
                    <a:lnTo>
                      <a:pt x="512" y="2"/>
                    </a:lnTo>
                    <a:lnTo>
                      <a:pt x="541" y="6"/>
                    </a:lnTo>
                    <a:lnTo>
                      <a:pt x="570" y="10"/>
                    </a:lnTo>
                    <a:lnTo>
                      <a:pt x="598" y="15"/>
                    </a:lnTo>
                    <a:lnTo>
                      <a:pt x="627" y="22"/>
                    </a:lnTo>
                    <a:lnTo>
                      <a:pt x="655" y="30"/>
                    </a:lnTo>
                    <a:lnTo>
                      <a:pt x="682" y="38"/>
                    </a:lnTo>
                    <a:lnTo>
                      <a:pt x="710" y="48"/>
                    </a:lnTo>
                    <a:lnTo>
                      <a:pt x="737" y="60"/>
                    </a:lnTo>
                    <a:lnTo>
                      <a:pt x="764" y="72"/>
                    </a:lnTo>
                    <a:lnTo>
                      <a:pt x="791" y="85"/>
                    </a:lnTo>
                    <a:lnTo>
                      <a:pt x="817" y="100"/>
                    </a:lnTo>
                    <a:lnTo>
                      <a:pt x="843" y="115"/>
                    </a:lnTo>
                    <a:lnTo>
                      <a:pt x="868" y="131"/>
                    </a:lnTo>
                    <a:lnTo>
                      <a:pt x="893" y="149"/>
                    </a:lnTo>
                    <a:lnTo>
                      <a:pt x="918" y="168"/>
                    </a:lnTo>
                    <a:lnTo>
                      <a:pt x="942" y="187"/>
                    </a:lnTo>
                    <a:lnTo>
                      <a:pt x="989" y="229"/>
                    </a:lnTo>
                    <a:lnTo>
                      <a:pt x="1034" y="275"/>
                    </a:lnTo>
                    <a:lnTo>
                      <a:pt x="1077" y="325"/>
                    </a:lnTo>
                    <a:lnTo>
                      <a:pt x="1118" y="378"/>
                    </a:lnTo>
                    <a:lnTo>
                      <a:pt x="1156" y="435"/>
                    </a:lnTo>
                    <a:lnTo>
                      <a:pt x="1191" y="495"/>
                    </a:lnTo>
                    <a:lnTo>
                      <a:pt x="1224" y="559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7" name="Freeform 128"/>
              <p:cNvSpPr/>
              <p:nvPr/>
            </p:nvSpPr>
            <p:spPr>
              <a:xfrm>
                <a:off x="2427" y="1852"/>
                <a:ext cx="88" cy="75"/>
              </a:xfrm>
              <a:custGeom>
                <a:avLst/>
                <a:gdLst>
                  <a:gd name="txL" fmla="*/ 0 w 98"/>
                  <a:gd name="txT" fmla="*/ 0 h 89"/>
                  <a:gd name="txR" fmla="*/ 98 w 98"/>
                  <a:gd name="txB" fmla="*/ 89 h 89"/>
                </a:gdLst>
                <a:ahLst/>
                <a:cxnLst>
                  <a:cxn ang="0">
                    <a:pos x="13" y="0"/>
                  </a:cxn>
                  <a:cxn ang="0">
                    <a:pos x="0" y="9"/>
                  </a:cxn>
                  <a:cxn ang="0">
                    <a:pos x="24" y="6"/>
                  </a:cxn>
                  <a:cxn ang="0">
                    <a:pos x="13" y="5"/>
                  </a:cxn>
                  <a:cxn ang="0">
                    <a:pos x="13" y="0"/>
                  </a:cxn>
                </a:cxnLst>
                <a:rect l="txL" t="txT" r="txR" b="txB"/>
                <a:pathLst>
                  <a:path w="98" h="89">
                    <a:moveTo>
                      <a:pt x="56" y="0"/>
                    </a:moveTo>
                    <a:lnTo>
                      <a:pt x="0" y="89"/>
                    </a:lnTo>
                    <a:lnTo>
                      <a:pt x="98" y="52"/>
                    </a:lnTo>
                    <a:lnTo>
                      <a:pt x="53" y="4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8" name="Freeform 129"/>
              <p:cNvSpPr/>
              <p:nvPr/>
            </p:nvSpPr>
            <p:spPr>
              <a:xfrm>
                <a:off x="2533" y="2447"/>
                <a:ext cx="1067" cy="482"/>
              </a:xfrm>
              <a:custGeom>
                <a:avLst/>
                <a:gdLst>
                  <a:gd name="txL" fmla="*/ 0 w 1221"/>
                  <a:gd name="txT" fmla="*/ 0 h 570"/>
                  <a:gd name="txR" fmla="*/ 1221 w 1221"/>
                  <a:gd name="txB" fmla="*/ 570 h 570"/>
                </a:gdLst>
                <a:ahLst/>
                <a:cxnLst>
                  <a:cxn ang="0">
                    <a:pos x="211" y="0"/>
                  </a:cxn>
                  <a:cxn ang="0">
                    <a:pos x="206" y="8"/>
                  </a:cxn>
                  <a:cxn ang="0">
                    <a:pos x="200" y="14"/>
                  </a:cxn>
                  <a:cxn ang="0">
                    <a:pos x="192" y="21"/>
                  </a:cxn>
                  <a:cxn ang="0">
                    <a:pos x="187" y="27"/>
                  </a:cxn>
                  <a:cxn ang="0">
                    <a:pos x="178" y="32"/>
                  </a:cxn>
                  <a:cxn ang="0">
                    <a:pos x="172" y="38"/>
                  </a:cxn>
                  <a:cxn ang="0">
                    <a:pos x="167" y="41"/>
                  </a:cxn>
                  <a:cxn ang="0">
                    <a:pos x="163" y="44"/>
                  </a:cxn>
                  <a:cxn ang="0">
                    <a:pos x="160" y="45"/>
                  </a:cxn>
                  <a:cxn ang="0">
                    <a:pos x="155" y="47"/>
                  </a:cxn>
                  <a:cxn ang="0">
                    <a:pos x="150" y="49"/>
                  </a:cxn>
                  <a:cxn ang="0">
                    <a:pos x="146" y="52"/>
                  </a:cxn>
                  <a:cxn ang="0">
                    <a:pos x="141" y="53"/>
                  </a:cxn>
                  <a:cxn ang="0">
                    <a:pos x="136" y="54"/>
                  </a:cxn>
                  <a:cxn ang="0">
                    <a:pos x="131" y="57"/>
                  </a:cxn>
                  <a:cxn ang="0">
                    <a:pos x="127" y="58"/>
                  </a:cxn>
                  <a:cxn ang="0">
                    <a:pos x="122" y="58"/>
                  </a:cxn>
                  <a:cxn ang="0">
                    <a:pos x="118" y="61"/>
                  </a:cxn>
                  <a:cxn ang="0">
                    <a:pos x="112" y="61"/>
                  </a:cxn>
                  <a:cxn ang="0">
                    <a:pos x="107" y="62"/>
                  </a:cxn>
                  <a:cxn ang="0">
                    <a:pos x="103" y="63"/>
                  </a:cxn>
                  <a:cxn ang="0">
                    <a:pos x="98" y="63"/>
                  </a:cxn>
                  <a:cxn ang="0">
                    <a:pos x="94" y="63"/>
                  </a:cxn>
                  <a:cxn ang="0">
                    <a:pos x="87" y="64"/>
                  </a:cxn>
                  <a:cxn ang="0">
                    <a:pos x="82" y="64"/>
                  </a:cxn>
                  <a:cxn ang="0">
                    <a:pos x="76" y="64"/>
                  </a:cxn>
                  <a:cxn ang="0">
                    <a:pos x="72" y="64"/>
                  </a:cxn>
                  <a:cxn ang="0">
                    <a:pos x="66" y="64"/>
                  </a:cxn>
                  <a:cxn ang="0">
                    <a:pos x="63" y="63"/>
                  </a:cxn>
                  <a:cxn ang="0">
                    <a:pos x="58" y="63"/>
                  </a:cxn>
                  <a:cxn ang="0">
                    <a:pos x="52" y="63"/>
                  </a:cxn>
                  <a:cxn ang="0">
                    <a:pos x="47" y="62"/>
                  </a:cxn>
                  <a:cxn ang="0">
                    <a:pos x="42" y="61"/>
                  </a:cxn>
                  <a:cxn ang="0">
                    <a:pos x="38" y="61"/>
                  </a:cxn>
                  <a:cxn ang="0">
                    <a:pos x="32" y="58"/>
                  </a:cxn>
                  <a:cxn ang="0">
                    <a:pos x="27" y="58"/>
                  </a:cxn>
                  <a:cxn ang="0">
                    <a:pos x="23" y="57"/>
                  </a:cxn>
                  <a:cxn ang="0">
                    <a:pos x="18" y="54"/>
                  </a:cxn>
                  <a:cxn ang="0">
                    <a:pos x="13" y="53"/>
                  </a:cxn>
                  <a:cxn ang="0">
                    <a:pos x="9" y="52"/>
                  </a:cxn>
                  <a:cxn ang="0">
                    <a:pos x="4" y="49"/>
                  </a:cxn>
                  <a:cxn ang="0">
                    <a:pos x="0" y="47"/>
                  </a:cxn>
                </a:cxnLst>
                <a:rect l="txL" t="txT" r="txR" b="txB"/>
                <a:pathLst>
                  <a:path w="1221" h="570">
                    <a:moveTo>
                      <a:pt x="1221" y="0"/>
                    </a:moveTo>
                    <a:lnTo>
                      <a:pt x="1188" y="65"/>
                    </a:lnTo>
                    <a:lnTo>
                      <a:pt x="1153" y="126"/>
                    </a:lnTo>
                    <a:lnTo>
                      <a:pt x="1115" y="184"/>
                    </a:lnTo>
                    <a:lnTo>
                      <a:pt x="1074" y="238"/>
                    </a:lnTo>
                    <a:lnTo>
                      <a:pt x="1031" y="289"/>
                    </a:lnTo>
                    <a:lnTo>
                      <a:pt x="986" y="336"/>
                    </a:lnTo>
                    <a:lnTo>
                      <a:pt x="963" y="358"/>
                    </a:lnTo>
                    <a:lnTo>
                      <a:pt x="939" y="379"/>
                    </a:lnTo>
                    <a:lnTo>
                      <a:pt x="915" y="399"/>
                    </a:lnTo>
                    <a:lnTo>
                      <a:pt x="890" y="418"/>
                    </a:lnTo>
                    <a:lnTo>
                      <a:pt x="865" y="436"/>
                    </a:lnTo>
                    <a:lnTo>
                      <a:pt x="839" y="453"/>
                    </a:lnTo>
                    <a:lnTo>
                      <a:pt x="813" y="468"/>
                    </a:lnTo>
                    <a:lnTo>
                      <a:pt x="786" y="483"/>
                    </a:lnTo>
                    <a:lnTo>
                      <a:pt x="760" y="497"/>
                    </a:lnTo>
                    <a:lnTo>
                      <a:pt x="732" y="509"/>
                    </a:lnTo>
                    <a:lnTo>
                      <a:pt x="705" y="521"/>
                    </a:lnTo>
                    <a:lnTo>
                      <a:pt x="677" y="531"/>
                    </a:lnTo>
                    <a:lnTo>
                      <a:pt x="649" y="540"/>
                    </a:lnTo>
                    <a:lnTo>
                      <a:pt x="621" y="548"/>
                    </a:lnTo>
                    <a:lnTo>
                      <a:pt x="592" y="555"/>
                    </a:lnTo>
                    <a:lnTo>
                      <a:pt x="563" y="560"/>
                    </a:lnTo>
                    <a:lnTo>
                      <a:pt x="534" y="564"/>
                    </a:lnTo>
                    <a:lnTo>
                      <a:pt x="505" y="568"/>
                    </a:lnTo>
                    <a:lnTo>
                      <a:pt x="476" y="569"/>
                    </a:lnTo>
                    <a:lnTo>
                      <a:pt x="446" y="570"/>
                    </a:lnTo>
                    <a:lnTo>
                      <a:pt x="417" y="569"/>
                    </a:lnTo>
                    <a:lnTo>
                      <a:pt x="387" y="568"/>
                    </a:lnTo>
                    <a:lnTo>
                      <a:pt x="358" y="564"/>
                    </a:lnTo>
                    <a:lnTo>
                      <a:pt x="329" y="560"/>
                    </a:lnTo>
                    <a:lnTo>
                      <a:pt x="300" y="555"/>
                    </a:lnTo>
                    <a:lnTo>
                      <a:pt x="272" y="548"/>
                    </a:lnTo>
                    <a:lnTo>
                      <a:pt x="243" y="540"/>
                    </a:lnTo>
                    <a:lnTo>
                      <a:pt x="215" y="531"/>
                    </a:lnTo>
                    <a:lnTo>
                      <a:pt x="187" y="521"/>
                    </a:lnTo>
                    <a:lnTo>
                      <a:pt x="159" y="509"/>
                    </a:lnTo>
                    <a:lnTo>
                      <a:pt x="132" y="497"/>
                    </a:lnTo>
                    <a:lnTo>
                      <a:pt x="105" y="483"/>
                    </a:lnTo>
                    <a:lnTo>
                      <a:pt x="78" y="468"/>
                    </a:lnTo>
                    <a:lnTo>
                      <a:pt x="52" y="452"/>
                    </a:lnTo>
                    <a:lnTo>
                      <a:pt x="26" y="434"/>
                    </a:lnTo>
                    <a:lnTo>
                      <a:pt x="0" y="416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099" name="Freeform 130"/>
              <p:cNvSpPr/>
              <p:nvPr/>
            </p:nvSpPr>
            <p:spPr>
              <a:xfrm>
                <a:off x="2448" y="2736"/>
                <a:ext cx="86" cy="75"/>
              </a:xfrm>
              <a:custGeom>
                <a:avLst/>
                <a:gdLst>
                  <a:gd name="txL" fmla="*/ 0 w 98"/>
                  <a:gd name="txT" fmla="*/ 0 h 88"/>
                  <a:gd name="txR" fmla="*/ 98 w 98"/>
                  <a:gd name="txB" fmla="*/ 88 h 88"/>
                </a:gdLst>
                <a:ahLst/>
                <a:cxnLst>
                  <a:cxn ang="0">
                    <a:pos x="18" y="5"/>
                  </a:cxn>
                  <a:cxn ang="0">
                    <a:pos x="0" y="0"/>
                  </a:cxn>
                  <a:cxn ang="0">
                    <a:pos x="10" y="11"/>
                  </a:cxn>
                  <a:cxn ang="0">
                    <a:pos x="10" y="6"/>
                  </a:cxn>
                  <a:cxn ang="0">
                    <a:pos x="18" y="5"/>
                  </a:cxn>
                </a:cxnLst>
                <a:rect l="txL" t="txT" r="txR" b="txB"/>
                <a:pathLst>
                  <a:path w="98" h="88">
                    <a:moveTo>
                      <a:pt x="98" y="36"/>
                    </a:moveTo>
                    <a:lnTo>
                      <a:pt x="0" y="0"/>
                    </a:lnTo>
                    <a:lnTo>
                      <a:pt x="56" y="88"/>
                    </a:lnTo>
                    <a:lnTo>
                      <a:pt x="53" y="43"/>
                    </a:lnTo>
                    <a:lnTo>
                      <a:pt x="98" y="36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0" name="Freeform 131"/>
              <p:cNvSpPr/>
              <p:nvPr/>
            </p:nvSpPr>
            <p:spPr>
              <a:xfrm>
                <a:off x="2123" y="1355"/>
                <a:ext cx="1477" cy="849"/>
              </a:xfrm>
              <a:custGeom>
                <a:avLst/>
                <a:gdLst>
                  <a:gd name="txL" fmla="*/ 0 w 1644"/>
                  <a:gd name="txT" fmla="*/ 0 h 1013"/>
                  <a:gd name="txR" fmla="*/ 1644 w 1644"/>
                  <a:gd name="txB" fmla="*/ 1013 h 1013"/>
                </a:gdLst>
                <a:ahLst/>
                <a:cxnLst>
                  <a:cxn ang="0">
                    <a:pos x="4" y="96"/>
                  </a:cxn>
                  <a:cxn ang="0">
                    <a:pos x="10" y="85"/>
                  </a:cxn>
                  <a:cxn ang="0">
                    <a:pos x="18" y="75"/>
                  </a:cxn>
                  <a:cxn ang="0">
                    <a:pos x="26" y="65"/>
                  </a:cxn>
                  <a:cxn ang="0">
                    <a:pos x="36" y="56"/>
                  </a:cxn>
                  <a:cxn ang="0">
                    <a:pos x="48" y="47"/>
                  </a:cxn>
                  <a:cxn ang="0">
                    <a:pos x="59" y="39"/>
                  </a:cxn>
                  <a:cxn ang="0">
                    <a:pos x="73" y="32"/>
                  </a:cxn>
                  <a:cxn ang="0">
                    <a:pos x="85" y="24"/>
                  </a:cxn>
                  <a:cxn ang="0">
                    <a:pos x="100" y="19"/>
                  </a:cxn>
                  <a:cxn ang="0">
                    <a:pos x="115" y="13"/>
                  </a:cxn>
                  <a:cxn ang="0">
                    <a:pos x="130" y="9"/>
                  </a:cxn>
                  <a:cxn ang="0">
                    <a:pos x="146" y="6"/>
                  </a:cxn>
                  <a:cxn ang="0">
                    <a:pos x="163" y="3"/>
                  </a:cxn>
                  <a:cxn ang="0">
                    <a:pos x="179" y="3"/>
                  </a:cxn>
                  <a:cxn ang="0">
                    <a:pos x="196" y="1"/>
                  </a:cxn>
                  <a:cxn ang="0">
                    <a:pos x="215" y="1"/>
                  </a:cxn>
                  <a:cxn ang="0">
                    <a:pos x="231" y="3"/>
                  </a:cxn>
                  <a:cxn ang="0">
                    <a:pos x="246" y="3"/>
                  </a:cxn>
                  <a:cxn ang="0">
                    <a:pos x="262" y="6"/>
                  </a:cxn>
                  <a:cxn ang="0">
                    <a:pos x="279" y="9"/>
                  </a:cxn>
                  <a:cxn ang="0">
                    <a:pos x="296" y="13"/>
                  </a:cxn>
                  <a:cxn ang="0">
                    <a:pos x="309" y="19"/>
                  </a:cxn>
                  <a:cxn ang="0">
                    <a:pos x="323" y="23"/>
                  </a:cxn>
                  <a:cxn ang="0">
                    <a:pos x="337" y="31"/>
                  </a:cxn>
                  <a:cxn ang="0">
                    <a:pos x="349" y="38"/>
                  </a:cxn>
                  <a:cxn ang="0">
                    <a:pos x="361" y="45"/>
                  </a:cxn>
                  <a:cxn ang="0">
                    <a:pos x="371" y="54"/>
                  </a:cxn>
                  <a:cxn ang="0">
                    <a:pos x="382" y="64"/>
                  </a:cxn>
                  <a:cxn ang="0">
                    <a:pos x="391" y="75"/>
                  </a:cxn>
                  <a:cxn ang="0">
                    <a:pos x="399" y="84"/>
                  </a:cxn>
                  <a:cxn ang="0">
                    <a:pos x="406" y="94"/>
                  </a:cxn>
                </a:cxnLst>
                <a:rect l="txL" t="txT" r="txR" b="txB"/>
                <a:pathLst>
                  <a:path w="1644" h="1013">
                    <a:moveTo>
                      <a:pt x="0" y="1013"/>
                    </a:moveTo>
                    <a:lnTo>
                      <a:pt x="12" y="957"/>
                    </a:lnTo>
                    <a:lnTo>
                      <a:pt x="25" y="902"/>
                    </a:lnTo>
                    <a:lnTo>
                      <a:pt x="39" y="848"/>
                    </a:lnTo>
                    <a:lnTo>
                      <a:pt x="54" y="796"/>
                    </a:lnTo>
                    <a:lnTo>
                      <a:pt x="71" y="744"/>
                    </a:lnTo>
                    <a:lnTo>
                      <a:pt x="88" y="695"/>
                    </a:lnTo>
                    <a:lnTo>
                      <a:pt x="107" y="646"/>
                    </a:lnTo>
                    <a:lnTo>
                      <a:pt x="127" y="599"/>
                    </a:lnTo>
                    <a:lnTo>
                      <a:pt x="147" y="554"/>
                    </a:lnTo>
                    <a:lnTo>
                      <a:pt x="169" y="510"/>
                    </a:lnTo>
                    <a:lnTo>
                      <a:pt x="191" y="467"/>
                    </a:lnTo>
                    <a:lnTo>
                      <a:pt x="215" y="426"/>
                    </a:lnTo>
                    <a:lnTo>
                      <a:pt x="239" y="387"/>
                    </a:lnTo>
                    <a:lnTo>
                      <a:pt x="264" y="349"/>
                    </a:lnTo>
                    <a:lnTo>
                      <a:pt x="290" y="313"/>
                    </a:lnTo>
                    <a:lnTo>
                      <a:pt x="317" y="279"/>
                    </a:lnTo>
                    <a:lnTo>
                      <a:pt x="344" y="247"/>
                    </a:lnTo>
                    <a:lnTo>
                      <a:pt x="372" y="216"/>
                    </a:lnTo>
                    <a:lnTo>
                      <a:pt x="401" y="188"/>
                    </a:lnTo>
                    <a:lnTo>
                      <a:pt x="431" y="161"/>
                    </a:lnTo>
                    <a:lnTo>
                      <a:pt x="461" y="136"/>
                    </a:lnTo>
                    <a:lnTo>
                      <a:pt x="492" y="113"/>
                    </a:lnTo>
                    <a:lnTo>
                      <a:pt x="523" y="92"/>
                    </a:lnTo>
                    <a:lnTo>
                      <a:pt x="555" y="73"/>
                    </a:lnTo>
                    <a:lnTo>
                      <a:pt x="587" y="56"/>
                    </a:lnTo>
                    <a:lnTo>
                      <a:pt x="620" y="42"/>
                    </a:lnTo>
                    <a:lnTo>
                      <a:pt x="653" y="29"/>
                    </a:lnTo>
                    <a:lnTo>
                      <a:pt x="686" y="19"/>
                    </a:lnTo>
                    <a:lnTo>
                      <a:pt x="720" y="11"/>
                    </a:lnTo>
                    <a:lnTo>
                      <a:pt x="755" y="5"/>
                    </a:lnTo>
                    <a:lnTo>
                      <a:pt x="789" y="1"/>
                    </a:lnTo>
                    <a:lnTo>
                      <a:pt x="824" y="0"/>
                    </a:lnTo>
                    <a:lnTo>
                      <a:pt x="859" y="1"/>
                    </a:lnTo>
                    <a:lnTo>
                      <a:pt x="893" y="5"/>
                    </a:lnTo>
                    <a:lnTo>
                      <a:pt x="927" y="10"/>
                    </a:lnTo>
                    <a:lnTo>
                      <a:pt x="960" y="18"/>
                    </a:lnTo>
                    <a:lnTo>
                      <a:pt x="993" y="28"/>
                    </a:lnTo>
                    <a:lnTo>
                      <a:pt x="1026" y="41"/>
                    </a:lnTo>
                    <a:lnTo>
                      <a:pt x="1059" y="55"/>
                    </a:lnTo>
                    <a:lnTo>
                      <a:pt x="1091" y="72"/>
                    </a:lnTo>
                    <a:lnTo>
                      <a:pt x="1122" y="90"/>
                    </a:lnTo>
                    <a:lnTo>
                      <a:pt x="1153" y="111"/>
                    </a:lnTo>
                    <a:lnTo>
                      <a:pt x="1184" y="133"/>
                    </a:lnTo>
                    <a:lnTo>
                      <a:pt x="1213" y="158"/>
                    </a:lnTo>
                    <a:lnTo>
                      <a:pt x="1243" y="184"/>
                    </a:lnTo>
                    <a:lnTo>
                      <a:pt x="1271" y="212"/>
                    </a:lnTo>
                    <a:lnTo>
                      <a:pt x="1299" y="242"/>
                    </a:lnTo>
                    <a:lnTo>
                      <a:pt x="1327" y="274"/>
                    </a:lnTo>
                    <a:lnTo>
                      <a:pt x="1353" y="308"/>
                    </a:lnTo>
                    <a:lnTo>
                      <a:pt x="1379" y="343"/>
                    </a:lnTo>
                    <a:lnTo>
                      <a:pt x="1404" y="380"/>
                    </a:lnTo>
                    <a:lnTo>
                      <a:pt x="1428" y="418"/>
                    </a:lnTo>
                    <a:lnTo>
                      <a:pt x="1452" y="458"/>
                    </a:lnTo>
                    <a:lnTo>
                      <a:pt x="1474" y="500"/>
                    </a:lnTo>
                    <a:lnTo>
                      <a:pt x="1496" y="543"/>
                    </a:lnTo>
                    <a:lnTo>
                      <a:pt x="1516" y="588"/>
                    </a:lnTo>
                    <a:lnTo>
                      <a:pt x="1536" y="634"/>
                    </a:lnTo>
                    <a:lnTo>
                      <a:pt x="1555" y="682"/>
                    </a:lnTo>
                    <a:lnTo>
                      <a:pt x="1572" y="731"/>
                    </a:lnTo>
                    <a:lnTo>
                      <a:pt x="1589" y="781"/>
                    </a:lnTo>
                    <a:lnTo>
                      <a:pt x="1604" y="833"/>
                    </a:lnTo>
                    <a:lnTo>
                      <a:pt x="1619" y="886"/>
                    </a:lnTo>
                    <a:lnTo>
                      <a:pt x="1632" y="940"/>
                    </a:lnTo>
                    <a:lnTo>
                      <a:pt x="1644" y="995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1" name="Freeform 132"/>
              <p:cNvSpPr/>
              <p:nvPr/>
            </p:nvSpPr>
            <p:spPr>
              <a:xfrm>
                <a:off x="2141" y="2447"/>
                <a:ext cx="144" cy="481"/>
              </a:xfrm>
              <a:custGeom>
                <a:avLst/>
                <a:gdLst>
                  <a:gd name="txL" fmla="*/ 0 w 149"/>
                  <a:gd name="txT" fmla="*/ 0 h 626"/>
                  <a:gd name="txR" fmla="*/ 149 w 149"/>
                  <a:gd name="txB" fmla="*/ 626 h 626"/>
                </a:gdLst>
                <a:ahLst/>
                <a:cxnLst>
                  <a:cxn ang="0">
                    <a:pos x="96" y="21"/>
                  </a:cxn>
                  <a:cxn ang="0">
                    <a:pos x="77" y="18"/>
                  </a:cxn>
                  <a:cxn ang="0">
                    <a:pos x="61" y="16"/>
                  </a:cxn>
                  <a:cxn ang="0">
                    <a:pos x="45" y="13"/>
                  </a:cxn>
                  <a:cxn ang="0">
                    <a:pos x="34" y="11"/>
                  </a:cxn>
                  <a:cxn ang="0">
                    <a:pos x="20" y="8"/>
                  </a:cxn>
                  <a:cxn ang="0">
                    <a:pos x="14" y="5"/>
                  </a:cxn>
                  <a:cxn ang="0">
                    <a:pos x="8" y="3"/>
                  </a:cxn>
                  <a:cxn ang="0">
                    <a:pos x="0" y="0"/>
                  </a:cxn>
                </a:cxnLst>
                <a:rect l="txL" t="txT" r="txR" b="txB"/>
                <a:pathLst>
                  <a:path w="149" h="626">
                    <a:moveTo>
                      <a:pt x="149" y="626"/>
                    </a:moveTo>
                    <a:lnTo>
                      <a:pt x="120" y="557"/>
                    </a:lnTo>
                    <a:lnTo>
                      <a:pt x="94" y="485"/>
                    </a:lnTo>
                    <a:lnTo>
                      <a:pt x="71" y="410"/>
                    </a:lnTo>
                    <a:lnTo>
                      <a:pt x="51" y="332"/>
                    </a:lnTo>
                    <a:lnTo>
                      <a:pt x="33" y="252"/>
                    </a:lnTo>
                    <a:lnTo>
                      <a:pt x="19" y="170"/>
                    </a:lnTo>
                    <a:lnTo>
                      <a:pt x="8" y="86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2" name="Freeform 133"/>
              <p:cNvSpPr/>
              <p:nvPr/>
            </p:nvSpPr>
            <p:spPr>
              <a:xfrm>
                <a:off x="1810" y="2440"/>
                <a:ext cx="243" cy="674"/>
              </a:xfrm>
              <a:custGeom>
                <a:avLst/>
                <a:gdLst>
                  <a:gd name="txL" fmla="*/ 0 w 272"/>
                  <a:gd name="txT" fmla="*/ 0 h 804"/>
                  <a:gd name="txR" fmla="*/ 272 w 272"/>
                  <a:gd name="txB" fmla="*/ 804 h 804"/>
                </a:gdLst>
                <a:ahLst/>
                <a:cxnLst>
                  <a:cxn ang="0">
                    <a:pos x="0" y="80"/>
                  </a:cxn>
                  <a:cxn ang="0">
                    <a:pos x="4" y="75"/>
                  </a:cxn>
                  <a:cxn ang="0">
                    <a:pos x="5" y="67"/>
                  </a:cxn>
                  <a:cxn ang="0">
                    <a:pos x="9" y="60"/>
                  </a:cxn>
                  <a:cxn ang="0">
                    <a:pos x="12" y="54"/>
                  </a:cxn>
                  <a:cxn ang="0">
                    <a:pos x="15" y="49"/>
                  </a:cxn>
                  <a:cxn ang="0">
                    <a:pos x="19" y="42"/>
                  </a:cxn>
                  <a:cxn ang="0">
                    <a:pos x="23" y="37"/>
                  </a:cxn>
                  <a:cxn ang="0">
                    <a:pos x="26" y="32"/>
                  </a:cxn>
                  <a:cxn ang="0">
                    <a:pos x="30" y="27"/>
                  </a:cxn>
                  <a:cxn ang="0">
                    <a:pos x="35" y="22"/>
                  </a:cxn>
                  <a:cxn ang="0">
                    <a:pos x="39" y="17"/>
                  </a:cxn>
                  <a:cxn ang="0">
                    <a:pos x="44" y="13"/>
                  </a:cxn>
                  <a:cxn ang="0">
                    <a:pos x="48" y="9"/>
                  </a:cxn>
                  <a:cxn ang="0">
                    <a:pos x="53" y="6"/>
                  </a:cxn>
                  <a:cxn ang="0">
                    <a:pos x="56" y="3"/>
                  </a:cxn>
                  <a:cxn ang="0">
                    <a:pos x="63" y="0"/>
                  </a:cxn>
                </a:cxnLst>
                <a:rect l="txL" t="txT" r="txR" b="txB"/>
                <a:pathLst>
                  <a:path w="272" h="804">
                    <a:moveTo>
                      <a:pt x="0" y="804"/>
                    </a:moveTo>
                    <a:lnTo>
                      <a:pt x="11" y="734"/>
                    </a:lnTo>
                    <a:lnTo>
                      <a:pt x="24" y="666"/>
                    </a:lnTo>
                    <a:lnTo>
                      <a:pt x="37" y="600"/>
                    </a:lnTo>
                    <a:lnTo>
                      <a:pt x="51" y="537"/>
                    </a:lnTo>
                    <a:lnTo>
                      <a:pt x="65" y="477"/>
                    </a:lnTo>
                    <a:lnTo>
                      <a:pt x="81" y="419"/>
                    </a:lnTo>
                    <a:lnTo>
                      <a:pt x="97" y="363"/>
                    </a:lnTo>
                    <a:lnTo>
                      <a:pt x="114" y="311"/>
                    </a:lnTo>
                    <a:lnTo>
                      <a:pt x="132" y="261"/>
                    </a:lnTo>
                    <a:lnTo>
                      <a:pt x="150" y="214"/>
                    </a:lnTo>
                    <a:lnTo>
                      <a:pt x="169" y="170"/>
                    </a:lnTo>
                    <a:lnTo>
                      <a:pt x="188" y="130"/>
                    </a:lnTo>
                    <a:lnTo>
                      <a:pt x="208" y="92"/>
                    </a:lnTo>
                    <a:lnTo>
                      <a:pt x="229" y="58"/>
                    </a:lnTo>
                    <a:lnTo>
                      <a:pt x="250" y="27"/>
                    </a:lnTo>
                    <a:lnTo>
                      <a:pt x="272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3" name="Freeform 134"/>
              <p:cNvSpPr/>
              <p:nvPr/>
            </p:nvSpPr>
            <p:spPr>
              <a:xfrm>
                <a:off x="1803" y="912"/>
                <a:ext cx="63" cy="732"/>
              </a:xfrm>
              <a:custGeom>
                <a:avLst/>
                <a:gdLst>
                  <a:gd name="txL" fmla="*/ 0 w 70"/>
                  <a:gd name="txT" fmla="*/ 0 h 874"/>
                  <a:gd name="txR" fmla="*/ 70 w 70"/>
                  <a:gd name="txB" fmla="*/ 874 h 874"/>
                </a:gdLst>
                <a:ahLst/>
                <a:cxnLst>
                  <a:cxn ang="0">
                    <a:pos x="18" y="88"/>
                  </a:cxn>
                  <a:cxn ang="0">
                    <a:pos x="14" y="77"/>
                  </a:cxn>
                  <a:cxn ang="0">
                    <a:pos x="11" y="67"/>
                  </a:cxn>
                  <a:cxn ang="0">
                    <a:pos x="7" y="56"/>
                  </a:cxn>
                  <a:cxn ang="0">
                    <a:pos x="5" y="45"/>
                  </a:cxn>
                  <a:cxn ang="0">
                    <a:pos x="4" y="34"/>
                  </a:cxn>
                  <a:cxn ang="0">
                    <a:pos x="4" y="23"/>
                  </a:cxn>
                  <a:cxn ang="0">
                    <a:pos x="1" y="11"/>
                  </a:cxn>
                  <a:cxn ang="0">
                    <a:pos x="0" y="0"/>
                  </a:cxn>
                </a:cxnLst>
                <a:rect l="txL" t="txT" r="txR" b="txB"/>
                <a:pathLst>
                  <a:path w="70" h="874">
                    <a:moveTo>
                      <a:pt x="70" y="874"/>
                    </a:moveTo>
                    <a:lnTo>
                      <a:pt x="54" y="774"/>
                    </a:lnTo>
                    <a:lnTo>
                      <a:pt x="40" y="670"/>
                    </a:lnTo>
                    <a:lnTo>
                      <a:pt x="28" y="563"/>
                    </a:lnTo>
                    <a:lnTo>
                      <a:pt x="18" y="454"/>
                    </a:lnTo>
                    <a:lnTo>
                      <a:pt x="10" y="343"/>
                    </a:lnTo>
                    <a:lnTo>
                      <a:pt x="5" y="230"/>
                    </a:lnTo>
                    <a:lnTo>
                      <a:pt x="1" y="115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4" name="Freeform 135"/>
              <p:cNvSpPr/>
              <p:nvPr/>
            </p:nvSpPr>
            <p:spPr>
              <a:xfrm>
                <a:off x="1831" y="1614"/>
                <a:ext cx="59" cy="87"/>
              </a:xfrm>
              <a:custGeom>
                <a:avLst/>
                <a:gdLst>
                  <a:gd name="txL" fmla="*/ 0 w 66"/>
                  <a:gd name="txT" fmla="*/ 0 h 103"/>
                  <a:gd name="txR" fmla="*/ 66 w 66"/>
                  <a:gd name="txB" fmla="*/ 103 h 103"/>
                </a:gdLst>
                <a:ahLst/>
                <a:cxnLst>
                  <a:cxn ang="0">
                    <a:pos x="0" y="3"/>
                  </a:cxn>
                  <a:cxn ang="0">
                    <a:pos x="12" y="12"/>
                  </a:cxn>
                  <a:cxn ang="0">
                    <a:pos x="15" y="0"/>
                  </a:cxn>
                  <a:cxn ang="0">
                    <a:pos x="10" y="4"/>
                  </a:cxn>
                  <a:cxn ang="0">
                    <a:pos x="0" y="3"/>
                  </a:cxn>
                </a:cxnLst>
                <a:rect l="txL" t="txT" r="txR" b="txB"/>
                <a:pathLst>
                  <a:path w="66" h="103">
                    <a:moveTo>
                      <a:pt x="0" y="12"/>
                    </a:moveTo>
                    <a:lnTo>
                      <a:pt x="51" y="103"/>
                    </a:lnTo>
                    <a:lnTo>
                      <a:pt x="66" y="0"/>
                    </a:lnTo>
                    <a:lnTo>
                      <a:pt x="39" y="3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5" name="Freeform 136"/>
              <p:cNvSpPr/>
              <p:nvPr/>
            </p:nvSpPr>
            <p:spPr>
              <a:xfrm>
                <a:off x="816" y="2362"/>
                <a:ext cx="1159" cy="518"/>
              </a:xfrm>
              <a:custGeom>
                <a:avLst/>
                <a:gdLst>
                  <a:gd name="txL" fmla="*/ 0 w 659"/>
                  <a:gd name="txT" fmla="*/ 0 h 181"/>
                  <a:gd name="txR" fmla="*/ 659 w 659"/>
                  <a:gd name="txB" fmla="*/ 181 h 181"/>
                </a:gdLst>
                <a:ahLst/>
                <a:cxnLst>
                  <a:cxn ang="0">
                    <a:pos x="0" y="156306048"/>
                  </a:cxn>
                  <a:cxn ang="0">
                    <a:pos x="60426" y="139138661"/>
                  </a:cxn>
                  <a:cxn ang="0">
                    <a:pos x="120059" y="121917619"/>
                  </a:cxn>
                  <a:cxn ang="0">
                    <a:pos x="182413" y="106222150"/>
                  </a:cxn>
                  <a:cxn ang="0">
                    <a:pos x="243573" y="91435657"/>
                  </a:cxn>
                  <a:cxn ang="0">
                    <a:pos x="304625" y="78466451"/>
                  </a:cxn>
                  <a:cxn ang="0">
                    <a:pos x="367962" y="65821464"/>
                  </a:cxn>
                  <a:cxn ang="0">
                    <a:pos x="430677" y="54319234"/>
                  </a:cxn>
                  <a:cxn ang="0">
                    <a:pos x="494842" y="44081863"/>
                  </a:cxn>
                  <a:cxn ang="0">
                    <a:pos x="557822" y="34385129"/>
                  </a:cxn>
                  <a:cxn ang="0">
                    <a:pos x="622378" y="26900201"/>
                  </a:cxn>
                  <a:cxn ang="0">
                    <a:pos x="686578" y="19934832"/>
                  </a:cxn>
                  <a:cxn ang="0">
                    <a:pos x="751479" y="13936238"/>
                  </a:cxn>
                  <a:cxn ang="0">
                    <a:pos x="818300" y="8771002"/>
                  </a:cxn>
                  <a:cxn ang="0">
                    <a:pos x="882848" y="4198250"/>
                  </a:cxn>
                  <a:cxn ang="0">
                    <a:pos x="948491" y="1804841"/>
                  </a:cxn>
                  <a:cxn ang="0">
                    <a:pos x="1014632" y="0"/>
                  </a:cxn>
                </a:cxnLst>
                <a:rect l="txL" t="txT" r="txR" b="txB"/>
                <a:pathLst>
                  <a:path w="659" h="181">
                    <a:moveTo>
                      <a:pt x="0" y="181"/>
                    </a:moveTo>
                    <a:lnTo>
                      <a:pt x="39" y="161"/>
                    </a:lnTo>
                    <a:lnTo>
                      <a:pt x="78" y="141"/>
                    </a:lnTo>
                    <a:lnTo>
                      <a:pt x="118" y="123"/>
                    </a:lnTo>
                    <a:lnTo>
                      <a:pt x="158" y="106"/>
                    </a:lnTo>
                    <a:lnTo>
                      <a:pt x="198" y="91"/>
                    </a:lnTo>
                    <a:lnTo>
                      <a:pt x="239" y="76"/>
                    </a:lnTo>
                    <a:lnTo>
                      <a:pt x="280" y="63"/>
                    </a:lnTo>
                    <a:lnTo>
                      <a:pt x="321" y="51"/>
                    </a:lnTo>
                    <a:lnTo>
                      <a:pt x="362" y="40"/>
                    </a:lnTo>
                    <a:lnTo>
                      <a:pt x="404" y="31"/>
                    </a:lnTo>
                    <a:lnTo>
                      <a:pt x="446" y="23"/>
                    </a:lnTo>
                    <a:lnTo>
                      <a:pt x="488" y="16"/>
                    </a:lnTo>
                    <a:lnTo>
                      <a:pt x="531" y="10"/>
                    </a:lnTo>
                    <a:lnTo>
                      <a:pt x="573" y="5"/>
                    </a:lnTo>
                    <a:lnTo>
                      <a:pt x="616" y="2"/>
                    </a:lnTo>
                    <a:lnTo>
                      <a:pt x="659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6" name="Freeform 137"/>
              <p:cNvSpPr/>
              <p:nvPr/>
            </p:nvSpPr>
            <p:spPr>
              <a:xfrm>
                <a:off x="1152" y="2292"/>
                <a:ext cx="90" cy="56"/>
              </a:xfrm>
              <a:custGeom>
                <a:avLst/>
                <a:gdLst>
                  <a:gd name="txL" fmla="*/ 0 w 99"/>
                  <a:gd name="txT" fmla="*/ 0 h 67"/>
                  <a:gd name="txR" fmla="*/ 99 w 99"/>
                  <a:gd name="txB" fmla="*/ 67 h 67"/>
                </a:gdLst>
                <a:ahLst/>
                <a:cxnLst>
                  <a:cxn ang="0">
                    <a:pos x="0" y="7"/>
                  </a:cxn>
                  <a:cxn ang="0">
                    <a:pos x="29" y="3"/>
                  </a:cxn>
                  <a:cxn ang="0">
                    <a:pos x="0" y="0"/>
                  </a:cxn>
                  <a:cxn ang="0">
                    <a:pos x="9" y="3"/>
                  </a:cxn>
                  <a:cxn ang="0">
                    <a:pos x="0" y="7"/>
                  </a:cxn>
                </a:cxnLst>
                <a:rect l="txL" t="txT" r="txR" b="txB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7" name="Freeform 138"/>
              <p:cNvSpPr/>
              <p:nvPr/>
            </p:nvSpPr>
            <p:spPr>
              <a:xfrm>
                <a:off x="1200" y="2016"/>
                <a:ext cx="92" cy="67"/>
              </a:xfrm>
              <a:custGeom>
                <a:avLst/>
                <a:gdLst>
                  <a:gd name="txL" fmla="*/ 0 w 102"/>
                  <a:gd name="txT" fmla="*/ 0 h 81"/>
                  <a:gd name="txR" fmla="*/ 102 w 102"/>
                  <a:gd name="txB" fmla="*/ 81 h 81"/>
                </a:gdLst>
                <a:ahLst/>
                <a:cxnLst>
                  <a:cxn ang="0">
                    <a:pos x="0" y="5"/>
                  </a:cxn>
                  <a:cxn ang="0">
                    <a:pos x="27" y="7"/>
                  </a:cxn>
                  <a:cxn ang="0">
                    <a:pos x="10" y="0"/>
                  </a:cxn>
                  <a:cxn ang="0">
                    <a:pos x="12" y="4"/>
                  </a:cxn>
                  <a:cxn ang="0">
                    <a:pos x="0" y="5"/>
                  </a:cxn>
                </a:cxnLst>
                <a:rect l="txL" t="txT" r="txR" b="txB"/>
                <a:pathLst>
                  <a:path w="102" h="81">
                    <a:moveTo>
                      <a:pt x="0" y="56"/>
                    </a:moveTo>
                    <a:lnTo>
                      <a:pt x="102" y="81"/>
                    </a:lnTo>
                    <a:lnTo>
                      <a:pt x="36" y="0"/>
                    </a:lnTo>
                    <a:lnTo>
                      <a:pt x="45" y="44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8" name="Freeform 139"/>
              <p:cNvSpPr/>
              <p:nvPr/>
            </p:nvSpPr>
            <p:spPr>
              <a:xfrm>
                <a:off x="1479" y="2385"/>
                <a:ext cx="500" cy="456"/>
              </a:xfrm>
              <a:custGeom>
                <a:avLst/>
                <a:gdLst>
                  <a:gd name="txL" fmla="*/ 0 w 557"/>
                  <a:gd name="txT" fmla="*/ 0 h 545"/>
                  <a:gd name="txR" fmla="*/ 557 w 557"/>
                  <a:gd name="txB" fmla="*/ 545 h 545"/>
                </a:gdLst>
                <a:ahLst/>
                <a:cxnLst>
                  <a:cxn ang="0">
                    <a:pos x="0" y="54"/>
                  </a:cxn>
                  <a:cxn ang="0">
                    <a:pos x="7" y="49"/>
                  </a:cxn>
                  <a:cxn ang="0">
                    <a:pos x="14" y="45"/>
                  </a:cxn>
                  <a:cxn ang="0">
                    <a:pos x="22" y="41"/>
                  </a:cxn>
                  <a:cxn ang="0">
                    <a:pos x="30" y="37"/>
                  </a:cxn>
                  <a:cxn ang="0">
                    <a:pos x="38" y="33"/>
                  </a:cxn>
                  <a:cxn ang="0">
                    <a:pos x="47" y="28"/>
                  </a:cxn>
                  <a:cxn ang="0">
                    <a:pos x="54" y="26"/>
                  </a:cxn>
                  <a:cxn ang="0">
                    <a:pos x="63" y="23"/>
                  </a:cxn>
                  <a:cxn ang="0">
                    <a:pos x="72" y="19"/>
                  </a:cxn>
                  <a:cxn ang="0">
                    <a:pos x="81" y="16"/>
                  </a:cxn>
                  <a:cxn ang="0">
                    <a:pos x="90" y="13"/>
                  </a:cxn>
                  <a:cxn ang="0">
                    <a:pos x="99" y="9"/>
                  </a:cxn>
                  <a:cxn ang="0">
                    <a:pos x="108" y="8"/>
                  </a:cxn>
                  <a:cxn ang="0">
                    <a:pos x="117" y="5"/>
                  </a:cxn>
                  <a:cxn ang="0">
                    <a:pos x="127" y="3"/>
                  </a:cxn>
                  <a:cxn ang="0">
                    <a:pos x="137" y="0"/>
                  </a:cxn>
                </a:cxnLst>
                <a:rect l="txL" t="txT" r="txR" b="txB"/>
                <a:pathLst>
                  <a:path w="557" h="545">
                    <a:moveTo>
                      <a:pt x="0" y="545"/>
                    </a:moveTo>
                    <a:lnTo>
                      <a:pt x="29" y="500"/>
                    </a:lnTo>
                    <a:lnTo>
                      <a:pt x="59" y="457"/>
                    </a:lnTo>
                    <a:lnTo>
                      <a:pt x="90" y="415"/>
                    </a:lnTo>
                    <a:lnTo>
                      <a:pt x="121" y="375"/>
                    </a:lnTo>
                    <a:lnTo>
                      <a:pt x="153" y="335"/>
                    </a:lnTo>
                    <a:lnTo>
                      <a:pt x="187" y="298"/>
                    </a:lnTo>
                    <a:lnTo>
                      <a:pt x="221" y="261"/>
                    </a:lnTo>
                    <a:lnTo>
                      <a:pt x="255" y="226"/>
                    </a:lnTo>
                    <a:lnTo>
                      <a:pt x="291" y="192"/>
                    </a:lnTo>
                    <a:lnTo>
                      <a:pt x="327" y="160"/>
                    </a:lnTo>
                    <a:lnTo>
                      <a:pt x="364" y="130"/>
                    </a:lnTo>
                    <a:lnTo>
                      <a:pt x="401" y="101"/>
                    </a:lnTo>
                    <a:lnTo>
                      <a:pt x="439" y="73"/>
                    </a:lnTo>
                    <a:lnTo>
                      <a:pt x="478" y="47"/>
                    </a:lnTo>
                    <a:lnTo>
                      <a:pt x="517" y="23"/>
                    </a:lnTo>
                    <a:lnTo>
                      <a:pt x="557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09" name="Freeform 140"/>
              <p:cNvSpPr/>
              <p:nvPr/>
            </p:nvSpPr>
            <p:spPr>
              <a:xfrm>
                <a:off x="2333" y="1355"/>
                <a:ext cx="1273" cy="850"/>
              </a:xfrm>
              <a:custGeom>
                <a:avLst/>
                <a:gdLst>
                  <a:gd name="txL" fmla="*/ 0 w 1410"/>
                  <a:gd name="txT" fmla="*/ 0 h 995"/>
                  <a:gd name="txR" fmla="*/ 1410 w 1410"/>
                  <a:gd name="txB" fmla="*/ 995 h 995"/>
                </a:gdLst>
                <a:ahLst/>
                <a:cxnLst>
                  <a:cxn ang="0">
                    <a:pos x="0" y="51"/>
                  </a:cxn>
                  <a:cxn ang="0">
                    <a:pos x="9" y="45"/>
                  </a:cxn>
                  <a:cxn ang="0">
                    <a:pos x="17" y="38"/>
                  </a:cxn>
                  <a:cxn ang="0">
                    <a:pos x="25" y="34"/>
                  </a:cxn>
                  <a:cxn ang="0">
                    <a:pos x="34" y="29"/>
                  </a:cxn>
                  <a:cxn ang="0">
                    <a:pos x="42" y="23"/>
                  </a:cxn>
                  <a:cxn ang="0">
                    <a:pos x="52" y="20"/>
                  </a:cxn>
                  <a:cxn ang="0">
                    <a:pos x="62" y="16"/>
                  </a:cxn>
                  <a:cxn ang="0">
                    <a:pos x="71" y="13"/>
                  </a:cxn>
                  <a:cxn ang="0">
                    <a:pos x="82" y="10"/>
                  </a:cxn>
                  <a:cxn ang="0">
                    <a:pos x="92" y="8"/>
                  </a:cxn>
                  <a:cxn ang="0">
                    <a:pos x="102" y="5"/>
                  </a:cxn>
                  <a:cxn ang="0">
                    <a:pos x="113" y="3"/>
                  </a:cxn>
                  <a:cxn ang="0">
                    <a:pos x="125" y="3"/>
                  </a:cxn>
                  <a:cxn ang="0">
                    <a:pos x="134" y="3"/>
                  </a:cxn>
                  <a:cxn ang="0">
                    <a:pos x="146" y="2"/>
                  </a:cxn>
                  <a:cxn ang="0">
                    <a:pos x="156" y="0"/>
                  </a:cxn>
                  <a:cxn ang="0">
                    <a:pos x="165" y="1"/>
                  </a:cxn>
                  <a:cxn ang="0">
                    <a:pos x="174" y="3"/>
                  </a:cxn>
                  <a:cxn ang="0">
                    <a:pos x="183" y="3"/>
                  </a:cxn>
                  <a:cxn ang="0">
                    <a:pos x="193" y="3"/>
                  </a:cxn>
                  <a:cxn ang="0">
                    <a:pos x="200" y="3"/>
                  </a:cxn>
                  <a:cxn ang="0">
                    <a:pos x="209" y="6"/>
                  </a:cxn>
                  <a:cxn ang="0">
                    <a:pos x="219" y="7"/>
                  </a:cxn>
                  <a:cxn ang="0">
                    <a:pos x="228" y="9"/>
                  </a:cxn>
                  <a:cxn ang="0">
                    <a:pos x="236" y="12"/>
                  </a:cxn>
                  <a:cxn ang="0">
                    <a:pos x="243" y="15"/>
                  </a:cxn>
                  <a:cxn ang="0">
                    <a:pos x="253" y="17"/>
                  </a:cxn>
                  <a:cxn ang="0">
                    <a:pos x="259" y="20"/>
                  </a:cxn>
                  <a:cxn ang="0">
                    <a:pos x="267" y="23"/>
                  </a:cxn>
                  <a:cxn ang="0">
                    <a:pos x="274" y="27"/>
                  </a:cxn>
                  <a:cxn ang="0">
                    <a:pos x="283" y="32"/>
                  </a:cxn>
                  <a:cxn ang="0">
                    <a:pos x="290" y="36"/>
                  </a:cxn>
                  <a:cxn ang="0">
                    <a:pos x="297" y="40"/>
                  </a:cxn>
                  <a:cxn ang="0">
                    <a:pos x="304" y="44"/>
                  </a:cxn>
                  <a:cxn ang="0">
                    <a:pos x="310" y="49"/>
                  </a:cxn>
                  <a:cxn ang="0">
                    <a:pos x="315" y="54"/>
                  </a:cxn>
                  <a:cxn ang="0">
                    <a:pos x="323" y="59"/>
                  </a:cxn>
                  <a:cxn ang="0">
                    <a:pos x="330" y="65"/>
                  </a:cxn>
                  <a:cxn ang="0">
                    <a:pos x="334" y="71"/>
                  </a:cxn>
                  <a:cxn ang="0">
                    <a:pos x="339" y="76"/>
                  </a:cxn>
                  <a:cxn ang="0">
                    <a:pos x="345" y="83"/>
                  </a:cxn>
                  <a:cxn ang="0">
                    <a:pos x="349" y="88"/>
                  </a:cxn>
                  <a:cxn ang="0">
                    <a:pos x="355" y="95"/>
                  </a:cxn>
                  <a:cxn ang="0">
                    <a:pos x="359" y="101"/>
                  </a:cxn>
                  <a:cxn ang="0">
                    <a:pos x="363" y="108"/>
                  </a:cxn>
                  <a:cxn ang="0">
                    <a:pos x="367" y="114"/>
                  </a:cxn>
                  <a:cxn ang="0">
                    <a:pos x="370" y="122"/>
                  </a:cxn>
                  <a:cxn ang="0">
                    <a:pos x="373" y="129"/>
                  </a:cxn>
                </a:cxnLst>
                <a:rect l="txL" t="txT" r="txR" b="txB"/>
                <a:pathLst>
                  <a:path w="1410" h="995">
                    <a:moveTo>
                      <a:pt x="0" y="393"/>
                    </a:moveTo>
                    <a:lnTo>
                      <a:pt x="31" y="347"/>
                    </a:lnTo>
                    <a:lnTo>
                      <a:pt x="62" y="304"/>
                    </a:lnTo>
                    <a:lnTo>
                      <a:pt x="95" y="263"/>
                    </a:lnTo>
                    <a:lnTo>
                      <a:pt x="129" y="225"/>
                    </a:lnTo>
                    <a:lnTo>
                      <a:pt x="163" y="190"/>
                    </a:lnTo>
                    <a:lnTo>
                      <a:pt x="199" y="158"/>
                    </a:lnTo>
                    <a:lnTo>
                      <a:pt x="235" y="128"/>
                    </a:lnTo>
                    <a:lnTo>
                      <a:pt x="273" y="102"/>
                    </a:lnTo>
                    <a:lnTo>
                      <a:pt x="310" y="78"/>
                    </a:lnTo>
                    <a:lnTo>
                      <a:pt x="349" y="58"/>
                    </a:lnTo>
                    <a:lnTo>
                      <a:pt x="388" y="40"/>
                    </a:lnTo>
                    <a:lnTo>
                      <a:pt x="428" y="26"/>
                    </a:lnTo>
                    <a:lnTo>
                      <a:pt x="468" y="15"/>
                    </a:lnTo>
                    <a:lnTo>
                      <a:pt x="508" y="7"/>
                    </a:lnTo>
                    <a:lnTo>
                      <a:pt x="549" y="2"/>
                    </a:lnTo>
                    <a:lnTo>
                      <a:pt x="590" y="0"/>
                    </a:lnTo>
                    <a:lnTo>
                      <a:pt x="625" y="1"/>
                    </a:lnTo>
                    <a:lnTo>
                      <a:pt x="659" y="5"/>
                    </a:lnTo>
                    <a:lnTo>
                      <a:pt x="693" y="10"/>
                    </a:lnTo>
                    <a:lnTo>
                      <a:pt x="726" y="18"/>
                    </a:lnTo>
                    <a:lnTo>
                      <a:pt x="759" y="28"/>
                    </a:lnTo>
                    <a:lnTo>
                      <a:pt x="792" y="41"/>
                    </a:lnTo>
                    <a:lnTo>
                      <a:pt x="825" y="55"/>
                    </a:lnTo>
                    <a:lnTo>
                      <a:pt x="857" y="72"/>
                    </a:lnTo>
                    <a:lnTo>
                      <a:pt x="888" y="90"/>
                    </a:lnTo>
                    <a:lnTo>
                      <a:pt x="919" y="111"/>
                    </a:lnTo>
                    <a:lnTo>
                      <a:pt x="950" y="133"/>
                    </a:lnTo>
                    <a:lnTo>
                      <a:pt x="979" y="158"/>
                    </a:lnTo>
                    <a:lnTo>
                      <a:pt x="1009" y="184"/>
                    </a:lnTo>
                    <a:lnTo>
                      <a:pt x="1037" y="212"/>
                    </a:lnTo>
                    <a:lnTo>
                      <a:pt x="1065" y="242"/>
                    </a:lnTo>
                    <a:lnTo>
                      <a:pt x="1093" y="274"/>
                    </a:lnTo>
                    <a:lnTo>
                      <a:pt x="1119" y="308"/>
                    </a:lnTo>
                    <a:lnTo>
                      <a:pt x="1145" y="343"/>
                    </a:lnTo>
                    <a:lnTo>
                      <a:pt x="1170" y="380"/>
                    </a:lnTo>
                    <a:lnTo>
                      <a:pt x="1194" y="418"/>
                    </a:lnTo>
                    <a:lnTo>
                      <a:pt x="1218" y="458"/>
                    </a:lnTo>
                    <a:lnTo>
                      <a:pt x="1240" y="500"/>
                    </a:lnTo>
                    <a:lnTo>
                      <a:pt x="1262" y="543"/>
                    </a:lnTo>
                    <a:lnTo>
                      <a:pt x="1282" y="588"/>
                    </a:lnTo>
                    <a:lnTo>
                      <a:pt x="1302" y="634"/>
                    </a:lnTo>
                    <a:lnTo>
                      <a:pt x="1321" y="682"/>
                    </a:lnTo>
                    <a:lnTo>
                      <a:pt x="1338" y="731"/>
                    </a:lnTo>
                    <a:lnTo>
                      <a:pt x="1355" y="781"/>
                    </a:lnTo>
                    <a:lnTo>
                      <a:pt x="1370" y="833"/>
                    </a:lnTo>
                    <a:lnTo>
                      <a:pt x="1385" y="886"/>
                    </a:lnTo>
                    <a:lnTo>
                      <a:pt x="1398" y="940"/>
                    </a:lnTo>
                    <a:lnTo>
                      <a:pt x="1410" y="995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0" name="Freeform 141"/>
              <p:cNvSpPr/>
              <p:nvPr/>
            </p:nvSpPr>
            <p:spPr>
              <a:xfrm>
                <a:off x="2281" y="1689"/>
                <a:ext cx="71" cy="87"/>
              </a:xfrm>
              <a:custGeom>
                <a:avLst/>
                <a:gdLst>
                  <a:gd name="txL" fmla="*/ 0 w 79"/>
                  <a:gd name="txT" fmla="*/ 0 h 102"/>
                  <a:gd name="txR" fmla="*/ 79 w 79"/>
                  <a:gd name="txB" fmla="*/ 102 h 102"/>
                </a:gdLst>
                <a:ahLst/>
                <a:cxnLst>
                  <a:cxn ang="0">
                    <a:pos x="4" y="0"/>
                  </a:cxn>
                  <a:cxn ang="0">
                    <a:pos x="0" y="13"/>
                  </a:cxn>
                  <a:cxn ang="0">
                    <a:pos x="20" y="4"/>
                  </a:cxn>
                  <a:cxn ang="0">
                    <a:pos x="9" y="6"/>
                  </a:cxn>
                  <a:cxn ang="0">
                    <a:pos x="4" y="0"/>
                  </a:cxn>
                </a:cxnLst>
                <a:rect l="txL" t="txT" r="txR" b="txB"/>
                <a:pathLst>
                  <a:path w="79" h="102">
                    <a:moveTo>
                      <a:pt x="21" y="0"/>
                    </a:moveTo>
                    <a:lnTo>
                      <a:pt x="0" y="102"/>
                    </a:lnTo>
                    <a:lnTo>
                      <a:pt x="79" y="34"/>
                    </a:lnTo>
                    <a:lnTo>
                      <a:pt x="35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1" name="Freeform 142"/>
              <p:cNvSpPr/>
              <p:nvPr/>
            </p:nvSpPr>
            <p:spPr>
              <a:xfrm>
                <a:off x="2599" y="2292"/>
                <a:ext cx="89" cy="55"/>
              </a:xfrm>
              <a:custGeom>
                <a:avLst/>
                <a:gdLst>
                  <a:gd name="txL" fmla="*/ 0 w 99"/>
                  <a:gd name="txT" fmla="*/ 0 h 67"/>
                  <a:gd name="txR" fmla="*/ 99 w 99"/>
                  <a:gd name="txB" fmla="*/ 67 h 67"/>
                </a:gdLst>
                <a:ahLst/>
                <a:cxnLst>
                  <a:cxn ang="0">
                    <a:pos x="25" y="0"/>
                  </a:cxn>
                  <a:cxn ang="0">
                    <a:pos x="0" y="2"/>
                  </a:cxn>
                  <a:cxn ang="0">
                    <a:pos x="25" y="5"/>
                  </a:cxn>
                  <a:cxn ang="0">
                    <a:pos x="17" y="2"/>
                  </a:cxn>
                  <a:cxn ang="0">
                    <a:pos x="25" y="0"/>
                  </a:cxn>
                </a:cxnLst>
                <a:rect l="txL" t="txT" r="txR" b="txB"/>
                <a:pathLst>
                  <a:path w="99" h="67">
                    <a:moveTo>
                      <a:pt x="99" y="0"/>
                    </a:moveTo>
                    <a:lnTo>
                      <a:pt x="0" y="34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2" name="Freeform 143"/>
              <p:cNvSpPr/>
              <p:nvPr/>
            </p:nvSpPr>
            <p:spPr>
              <a:xfrm>
                <a:off x="1457" y="1728"/>
                <a:ext cx="79" cy="81"/>
              </a:xfrm>
              <a:custGeom>
                <a:avLst/>
                <a:gdLst>
                  <a:gd name="txL" fmla="*/ 0 w 89"/>
                  <a:gd name="txT" fmla="*/ 0 h 97"/>
                  <a:gd name="txR" fmla="*/ 89 w 89"/>
                  <a:gd name="txB" fmla="*/ 97 h 97"/>
                </a:gdLst>
                <a:ahLst/>
                <a:cxnLst>
                  <a:cxn ang="0">
                    <a:pos x="0" y="5"/>
                  </a:cxn>
                  <a:cxn ang="0">
                    <a:pos x="19" y="9"/>
                  </a:cxn>
                  <a:cxn ang="0">
                    <a:pos x="11" y="0"/>
                  </a:cxn>
                  <a:cxn ang="0">
                    <a:pos x="10" y="5"/>
                  </a:cxn>
                  <a:cxn ang="0">
                    <a:pos x="0" y="5"/>
                  </a:cxn>
                </a:cxnLst>
                <a:rect l="txL" t="txT" r="txR" b="txB"/>
                <a:pathLst>
                  <a:path w="89" h="97">
                    <a:moveTo>
                      <a:pt x="0" y="43"/>
                    </a:moveTo>
                    <a:lnTo>
                      <a:pt x="89" y="97"/>
                    </a:lnTo>
                    <a:lnTo>
                      <a:pt x="51" y="0"/>
                    </a:lnTo>
                    <a:lnTo>
                      <a:pt x="46" y="4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3" name="Freeform 144"/>
              <p:cNvSpPr/>
              <p:nvPr/>
            </p:nvSpPr>
            <p:spPr>
              <a:xfrm>
                <a:off x="1202" y="2544"/>
                <a:ext cx="94" cy="58"/>
              </a:xfrm>
              <a:custGeom>
                <a:avLst/>
                <a:gdLst>
                  <a:gd name="txL" fmla="*/ 0 w 104"/>
                  <a:gd name="txT" fmla="*/ 0 h 69"/>
                  <a:gd name="txR" fmla="*/ 104 w 104"/>
                  <a:gd name="txB" fmla="*/ 69 h 69"/>
                </a:gdLst>
                <a:ahLst/>
                <a:cxnLst>
                  <a:cxn ang="0">
                    <a:pos x="7" y="7"/>
                  </a:cxn>
                  <a:cxn ang="0">
                    <a:pos x="28" y="0"/>
                  </a:cxn>
                  <a:cxn ang="0">
                    <a:pos x="0" y="3"/>
                  </a:cxn>
                  <a:cxn ang="0">
                    <a:pos x="11" y="3"/>
                  </a:cxn>
                  <a:cxn ang="0">
                    <a:pos x="7" y="7"/>
                  </a:cxn>
                </a:cxnLst>
                <a:rect l="txL" t="txT" r="txR" b="txB"/>
                <a:pathLst>
                  <a:path w="104" h="69">
                    <a:moveTo>
                      <a:pt x="25" y="69"/>
                    </a:moveTo>
                    <a:lnTo>
                      <a:pt x="104" y="0"/>
                    </a:lnTo>
                    <a:lnTo>
                      <a:pt x="0" y="7"/>
                    </a:lnTo>
                    <a:lnTo>
                      <a:pt x="41" y="26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4" name="Freeform 145"/>
              <p:cNvSpPr/>
              <p:nvPr/>
            </p:nvSpPr>
            <p:spPr>
              <a:xfrm>
                <a:off x="1236" y="2857"/>
                <a:ext cx="235" cy="684"/>
              </a:xfrm>
              <a:custGeom>
                <a:avLst/>
                <a:gdLst>
                  <a:gd name="txL" fmla="*/ 0 w 263"/>
                  <a:gd name="txT" fmla="*/ 0 h 816"/>
                  <a:gd name="txR" fmla="*/ 263 w 263"/>
                  <a:gd name="txB" fmla="*/ 816 h 816"/>
                </a:gdLst>
                <a:ahLst/>
                <a:cxnLst>
                  <a:cxn ang="0">
                    <a:pos x="0" y="82"/>
                  </a:cxn>
                  <a:cxn ang="0">
                    <a:pos x="4" y="76"/>
                  </a:cxn>
                  <a:cxn ang="0">
                    <a:pos x="4" y="71"/>
                  </a:cxn>
                  <a:cxn ang="0">
                    <a:pos x="8" y="65"/>
                  </a:cxn>
                  <a:cxn ang="0">
                    <a:pos x="10" y="60"/>
                  </a:cxn>
                  <a:cxn ang="0">
                    <a:pos x="17" y="49"/>
                  </a:cxn>
                  <a:cxn ang="0">
                    <a:pos x="23" y="38"/>
                  </a:cxn>
                  <a:cxn ang="0">
                    <a:pos x="32" y="29"/>
                  </a:cxn>
                  <a:cxn ang="0">
                    <a:pos x="40" y="19"/>
                  </a:cxn>
                  <a:cxn ang="0">
                    <a:pos x="50" y="9"/>
                  </a:cxn>
                  <a:cxn ang="0">
                    <a:pos x="56" y="5"/>
                  </a:cxn>
                  <a:cxn ang="0">
                    <a:pos x="62" y="0"/>
                  </a:cxn>
                </a:cxnLst>
                <a:rect l="txL" t="txT" r="txR" b="txB"/>
                <a:pathLst>
                  <a:path w="263" h="816">
                    <a:moveTo>
                      <a:pt x="0" y="816"/>
                    </a:moveTo>
                    <a:lnTo>
                      <a:pt x="9" y="760"/>
                    </a:lnTo>
                    <a:lnTo>
                      <a:pt x="20" y="704"/>
                    </a:lnTo>
                    <a:lnTo>
                      <a:pt x="31" y="649"/>
                    </a:lnTo>
                    <a:lnTo>
                      <a:pt x="43" y="594"/>
                    </a:lnTo>
                    <a:lnTo>
                      <a:pt x="71" y="487"/>
                    </a:lnTo>
                    <a:lnTo>
                      <a:pt x="102" y="383"/>
                    </a:lnTo>
                    <a:lnTo>
                      <a:pt x="137" y="282"/>
                    </a:lnTo>
                    <a:lnTo>
                      <a:pt x="176" y="184"/>
                    </a:lnTo>
                    <a:lnTo>
                      <a:pt x="218" y="90"/>
                    </a:lnTo>
                    <a:lnTo>
                      <a:pt x="240" y="45"/>
                    </a:lnTo>
                    <a:lnTo>
                      <a:pt x="263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5" name="Freeform 146"/>
              <p:cNvSpPr/>
              <p:nvPr/>
            </p:nvSpPr>
            <p:spPr>
              <a:xfrm>
                <a:off x="1432" y="2808"/>
                <a:ext cx="69" cy="87"/>
              </a:xfrm>
              <a:custGeom>
                <a:avLst/>
                <a:gdLst>
                  <a:gd name="txL" fmla="*/ 0 w 77"/>
                  <a:gd name="txT" fmla="*/ 0 h 103"/>
                  <a:gd name="txR" fmla="*/ 77 w 77"/>
                  <a:gd name="txB" fmla="*/ 103 h 103"/>
                </a:gdLst>
                <a:ahLst/>
                <a:cxnLst>
                  <a:cxn ang="0">
                    <a:pos x="14" y="12"/>
                  </a:cxn>
                  <a:cxn ang="0">
                    <a:pos x="19" y="0"/>
                  </a:cxn>
                  <a:cxn ang="0">
                    <a:pos x="0" y="8"/>
                  </a:cxn>
                  <a:cxn ang="0">
                    <a:pos x="11" y="7"/>
                  </a:cxn>
                  <a:cxn ang="0">
                    <a:pos x="14" y="12"/>
                  </a:cxn>
                </a:cxnLst>
                <a:rect l="txL" t="txT" r="txR" b="txB"/>
                <a:pathLst>
                  <a:path w="77" h="103">
                    <a:moveTo>
                      <a:pt x="58" y="103"/>
                    </a:moveTo>
                    <a:lnTo>
                      <a:pt x="77" y="0"/>
                    </a:lnTo>
                    <a:lnTo>
                      <a:pt x="0" y="70"/>
                    </a:lnTo>
                    <a:lnTo>
                      <a:pt x="44" y="59"/>
                    </a:lnTo>
                    <a:lnTo>
                      <a:pt x="58" y="103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6" name="Freeform 147"/>
              <p:cNvSpPr/>
              <p:nvPr/>
            </p:nvSpPr>
            <p:spPr>
              <a:xfrm>
                <a:off x="1753" y="3120"/>
                <a:ext cx="49" cy="655"/>
              </a:xfrm>
              <a:custGeom>
                <a:avLst/>
                <a:gdLst>
                  <a:gd name="txL" fmla="*/ 0 w 55"/>
                  <a:gd name="txT" fmla="*/ 0 h 783"/>
                  <a:gd name="txR" fmla="*/ 55 w 55"/>
                  <a:gd name="txB" fmla="*/ 783 h 783"/>
                </a:gdLst>
                <a:ahLst/>
                <a:cxnLst>
                  <a:cxn ang="0">
                    <a:pos x="0" y="76"/>
                  </a:cxn>
                  <a:cxn ang="0">
                    <a:pos x="1" y="66"/>
                  </a:cxn>
                  <a:cxn ang="0">
                    <a:pos x="4" y="57"/>
                  </a:cxn>
                  <a:cxn ang="0">
                    <a:pos x="4" y="47"/>
                  </a:cxn>
                  <a:cxn ang="0">
                    <a:pos x="4" y="38"/>
                  </a:cxn>
                  <a:cxn ang="0">
                    <a:pos x="4" y="28"/>
                  </a:cxn>
                  <a:cxn ang="0">
                    <a:pos x="7" y="19"/>
                  </a:cxn>
                  <a:cxn ang="0">
                    <a:pos x="9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55" h="783">
                    <a:moveTo>
                      <a:pt x="0" y="783"/>
                    </a:moveTo>
                    <a:lnTo>
                      <a:pt x="1" y="681"/>
                    </a:lnTo>
                    <a:lnTo>
                      <a:pt x="4" y="579"/>
                    </a:lnTo>
                    <a:lnTo>
                      <a:pt x="8" y="478"/>
                    </a:lnTo>
                    <a:lnTo>
                      <a:pt x="14" y="379"/>
                    </a:lnTo>
                    <a:lnTo>
                      <a:pt x="22" y="281"/>
                    </a:lnTo>
                    <a:lnTo>
                      <a:pt x="31" y="186"/>
                    </a:lnTo>
                    <a:lnTo>
                      <a:pt x="42" y="92"/>
                    </a:lnTo>
                    <a:lnTo>
                      <a:pt x="55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7" name="Freeform 148"/>
              <p:cNvSpPr/>
              <p:nvPr/>
            </p:nvSpPr>
            <p:spPr>
              <a:xfrm>
                <a:off x="1812" y="2937"/>
                <a:ext cx="60" cy="87"/>
              </a:xfrm>
              <a:custGeom>
                <a:avLst/>
                <a:gdLst>
                  <a:gd name="txL" fmla="*/ 0 w 67"/>
                  <a:gd name="txT" fmla="*/ 0 h 103"/>
                  <a:gd name="txR" fmla="*/ 67 w 67"/>
                  <a:gd name="txB" fmla="*/ 103 h 103"/>
                </a:gdLst>
                <a:ahLst/>
                <a:cxnLst>
                  <a:cxn ang="0">
                    <a:pos x="16" y="12"/>
                  </a:cxn>
                  <a:cxn ang="0">
                    <a:pos x="12" y="0"/>
                  </a:cxn>
                  <a:cxn ang="0">
                    <a:pos x="0" y="10"/>
                  </a:cxn>
                  <a:cxn ang="0">
                    <a:pos x="9" y="8"/>
                  </a:cxn>
                  <a:cxn ang="0">
                    <a:pos x="16" y="12"/>
                  </a:cxn>
                </a:cxnLst>
                <a:rect l="txL" t="txT" r="txR" b="txB"/>
                <a:pathLst>
                  <a:path w="67" h="103">
                    <a:moveTo>
                      <a:pt x="67" y="103"/>
                    </a:moveTo>
                    <a:lnTo>
                      <a:pt x="49" y="0"/>
                    </a:lnTo>
                    <a:lnTo>
                      <a:pt x="0" y="92"/>
                    </a:lnTo>
                    <a:lnTo>
                      <a:pt x="38" y="67"/>
                    </a:lnTo>
                    <a:lnTo>
                      <a:pt x="67" y="103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8" name="Freeform 149"/>
              <p:cNvSpPr/>
              <p:nvPr/>
            </p:nvSpPr>
            <p:spPr>
              <a:xfrm>
                <a:off x="2299" y="2447"/>
                <a:ext cx="1324" cy="899"/>
              </a:xfrm>
              <a:custGeom>
                <a:avLst/>
                <a:gdLst>
                  <a:gd name="txL" fmla="*/ 0 w 1493"/>
                  <a:gd name="txT" fmla="*/ 0 h 1026"/>
                  <a:gd name="txR" fmla="*/ 1493 w 1493"/>
                  <a:gd name="txB" fmla="*/ 1026 h 1026"/>
                </a:gdLst>
                <a:ahLst/>
                <a:cxnLst>
                  <a:cxn ang="0">
                    <a:pos x="313" y="0"/>
                  </a:cxn>
                  <a:cxn ang="0">
                    <a:pos x="310" y="11"/>
                  </a:cxn>
                  <a:cxn ang="0">
                    <a:pos x="308" y="20"/>
                  </a:cxn>
                  <a:cxn ang="0">
                    <a:pos x="305" y="30"/>
                  </a:cxn>
                  <a:cxn ang="0">
                    <a:pos x="302" y="40"/>
                  </a:cxn>
                  <a:cxn ang="0">
                    <a:pos x="298" y="49"/>
                  </a:cxn>
                  <a:cxn ang="0">
                    <a:pos x="294" y="57"/>
                  </a:cxn>
                  <a:cxn ang="0">
                    <a:pos x="290" y="67"/>
                  </a:cxn>
                  <a:cxn ang="0">
                    <a:pos x="286" y="74"/>
                  </a:cxn>
                  <a:cxn ang="0">
                    <a:pos x="281" y="84"/>
                  </a:cxn>
                  <a:cxn ang="0">
                    <a:pos x="277" y="91"/>
                  </a:cxn>
                  <a:cxn ang="0">
                    <a:pos x="273" y="100"/>
                  </a:cxn>
                  <a:cxn ang="0">
                    <a:pos x="268" y="107"/>
                  </a:cxn>
                  <a:cxn ang="0">
                    <a:pos x="262" y="114"/>
                  </a:cxn>
                  <a:cxn ang="0">
                    <a:pos x="255" y="120"/>
                  </a:cxn>
                  <a:cxn ang="0">
                    <a:pos x="251" y="127"/>
                  </a:cxn>
                  <a:cxn ang="0">
                    <a:pos x="245" y="133"/>
                  </a:cxn>
                  <a:cxn ang="0">
                    <a:pos x="239" y="139"/>
                  </a:cxn>
                  <a:cxn ang="0">
                    <a:pos x="232" y="145"/>
                  </a:cxn>
                  <a:cxn ang="0">
                    <a:pos x="226" y="150"/>
                  </a:cxn>
                  <a:cxn ang="0">
                    <a:pos x="220" y="155"/>
                  </a:cxn>
                  <a:cxn ang="0">
                    <a:pos x="215" y="159"/>
                  </a:cxn>
                  <a:cxn ang="0">
                    <a:pos x="207" y="164"/>
                  </a:cxn>
                  <a:cxn ang="0">
                    <a:pos x="200" y="167"/>
                  </a:cxn>
                  <a:cxn ang="0">
                    <a:pos x="193" y="171"/>
                  </a:cxn>
                  <a:cxn ang="0">
                    <a:pos x="187" y="173"/>
                  </a:cxn>
                  <a:cxn ang="0">
                    <a:pos x="179" y="177"/>
                  </a:cxn>
                  <a:cxn ang="0">
                    <a:pos x="172" y="178"/>
                  </a:cxn>
                  <a:cxn ang="0">
                    <a:pos x="165" y="181"/>
                  </a:cxn>
                  <a:cxn ang="0">
                    <a:pos x="157" y="182"/>
                  </a:cxn>
                  <a:cxn ang="0">
                    <a:pos x="150" y="183"/>
                  </a:cxn>
                  <a:cxn ang="0">
                    <a:pos x="143" y="184"/>
                  </a:cxn>
                  <a:cxn ang="0">
                    <a:pos x="135" y="184"/>
                  </a:cxn>
                  <a:cxn ang="0">
                    <a:pos x="126" y="184"/>
                  </a:cxn>
                  <a:cxn ang="0">
                    <a:pos x="116" y="183"/>
                  </a:cxn>
                  <a:cxn ang="0">
                    <a:pos x="107" y="181"/>
                  </a:cxn>
                  <a:cxn ang="0">
                    <a:pos x="97" y="178"/>
                  </a:cxn>
                  <a:cxn ang="0">
                    <a:pos x="89" y="176"/>
                  </a:cxn>
                  <a:cxn ang="0">
                    <a:pos x="80" y="172"/>
                  </a:cxn>
                  <a:cxn ang="0">
                    <a:pos x="71" y="168"/>
                  </a:cxn>
                  <a:cxn ang="0">
                    <a:pos x="62" y="163"/>
                  </a:cxn>
                  <a:cxn ang="0">
                    <a:pos x="52" y="159"/>
                  </a:cxn>
                  <a:cxn ang="0">
                    <a:pos x="45" y="152"/>
                  </a:cxn>
                  <a:cxn ang="0">
                    <a:pos x="36" y="145"/>
                  </a:cxn>
                  <a:cxn ang="0">
                    <a:pos x="28" y="138"/>
                  </a:cxn>
                  <a:cxn ang="0">
                    <a:pos x="21" y="130"/>
                  </a:cxn>
                  <a:cxn ang="0">
                    <a:pos x="14" y="122"/>
                  </a:cxn>
                  <a:cxn ang="0">
                    <a:pos x="7" y="111"/>
                  </a:cxn>
                  <a:cxn ang="0">
                    <a:pos x="0" y="103"/>
                  </a:cxn>
                </a:cxnLst>
                <a:rect l="txL" t="txT" r="txR" b="txB"/>
                <a:pathLst>
                  <a:path w="1493" h="1026">
                    <a:moveTo>
                      <a:pt x="1493" y="0"/>
                    </a:moveTo>
                    <a:lnTo>
                      <a:pt x="1481" y="57"/>
                    </a:lnTo>
                    <a:lnTo>
                      <a:pt x="1468" y="112"/>
                    </a:lnTo>
                    <a:lnTo>
                      <a:pt x="1454" y="167"/>
                    </a:lnTo>
                    <a:lnTo>
                      <a:pt x="1438" y="220"/>
                    </a:lnTo>
                    <a:lnTo>
                      <a:pt x="1421" y="272"/>
                    </a:lnTo>
                    <a:lnTo>
                      <a:pt x="1403" y="322"/>
                    </a:lnTo>
                    <a:lnTo>
                      <a:pt x="1384" y="371"/>
                    </a:lnTo>
                    <a:lnTo>
                      <a:pt x="1364" y="419"/>
                    </a:lnTo>
                    <a:lnTo>
                      <a:pt x="1343" y="465"/>
                    </a:lnTo>
                    <a:lnTo>
                      <a:pt x="1321" y="509"/>
                    </a:lnTo>
                    <a:lnTo>
                      <a:pt x="1298" y="552"/>
                    </a:lnTo>
                    <a:lnTo>
                      <a:pt x="1273" y="594"/>
                    </a:lnTo>
                    <a:lnTo>
                      <a:pt x="1248" y="633"/>
                    </a:lnTo>
                    <a:lnTo>
                      <a:pt x="1222" y="671"/>
                    </a:lnTo>
                    <a:lnTo>
                      <a:pt x="1196" y="708"/>
                    </a:lnTo>
                    <a:lnTo>
                      <a:pt x="1168" y="743"/>
                    </a:lnTo>
                    <a:lnTo>
                      <a:pt x="1140" y="775"/>
                    </a:lnTo>
                    <a:lnTo>
                      <a:pt x="1111" y="806"/>
                    </a:lnTo>
                    <a:lnTo>
                      <a:pt x="1081" y="836"/>
                    </a:lnTo>
                    <a:lnTo>
                      <a:pt x="1050" y="863"/>
                    </a:lnTo>
                    <a:lnTo>
                      <a:pt x="1019" y="888"/>
                    </a:lnTo>
                    <a:lnTo>
                      <a:pt x="987" y="911"/>
                    </a:lnTo>
                    <a:lnTo>
                      <a:pt x="955" y="933"/>
                    </a:lnTo>
                    <a:lnTo>
                      <a:pt x="922" y="952"/>
                    </a:lnTo>
                    <a:lnTo>
                      <a:pt x="889" y="969"/>
                    </a:lnTo>
                    <a:lnTo>
                      <a:pt x="855" y="984"/>
                    </a:lnTo>
                    <a:lnTo>
                      <a:pt x="821" y="997"/>
                    </a:lnTo>
                    <a:lnTo>
                      <a:pt x="786" y="1007"/>
                    </a:lnTo>
                    <a:lnTo>
                      <a:pt x="751" y="1015"/>
                    </a:lnTo>
                    <a:lnTo>
                      <a:pt x="715" y="1021"/>
                    </a:lnTo>
                    <a:lnTo>
                      <a:pt x="679" y="1025"/>
                    </a:lnTo>
                    <a:lnTo>
                      <a:pt x="643" y="1026"/>
                    </a:lnTo>
                    <a:lnTo>
                      <a:pt x="598" y="1024"/>
                    </a:lnTo>
                    <a:lnTo>
                      <a:pt x="553" y="1018"/>
                    </a:lnTo>
                    <a:lnTo>
                      <a:pt x="508" y="1009"/>
                    </a:lnTo>
                    <a:lnTo>
                      <a:pt x="464" y="996"/>
                    </a:lnTo>
                    <a:lnTo>
                      <a:pt x="420" y="979"/>
                    </a:lnTo>
                    <a:lnTo>
                      <a:pt x="377" y="959"/>
                    </a:lnTo>
                    <a:lnTo>
                      <a:pt x="335" y="935"/>
                    </a:lnTo>
                    <a:lnTo>
                      <a:pt x="293" y="908"/>
                    </a:lnTo>
                    <a:lnTo>
                      <a:pt x="253" y="878"/>
                    </a:lnTo>
                    <a:lnTo>
                      <a:pt x="213" y="844"/>
                    </a:lnTo>
                    <a:lnTo>
                      <a:pt x="175" y="807"/>
                    </a:lnTo>
                    <a:lnTo>
                      <a:pt x="137" y="767"/>
                    </a:lnTo>
                    <a:lnTo>
                      <a:pt x="101" y="723"/>
                    </a:lnTo>
                    <a:lnTo>
                      <a:pt x="66" y="677"/>
                    </a:lnTo>
                    <a:lnTo>
                      <a:pt x="32" y="627"/>
                    </a:lnTo>
                    <a:lnTo>
                      <a:pt x="0" y="575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19" name="Freeform 150"/>
              <p:cNvSpPr/>
              <p:nvPr/>
            </p:nvSpPr>
            <p:spPr>
              <a:xfrm>
                <a:off x="2256" y="2880"/>
                <a:ext cx="70" cy="90"/>
              </a:xfrm>
              <a:custGeom>
                <a:avLst/>
                <a:gdLst>
                  <a:gd name="txL" fmla="*/ 0 w 78"/>
                  <a:gd name="txT" fmla="*/ 0 h 103"/>
                  <a:gd name="txR" fmla="*/ 78 w 78"/>
                  <a:gd name="txB" fmla="*/ 103 h 103"/>
                </a:gdLst>
                <a:ahLst/>
                <a:cxnLst>
                  <a:cxn ang="0">
                    <a:pos x="20" y="12"/>
                  </a:cxn>
                  <a:cxn ang="0">
                    <a:pos x="0" y="0"/>
                  </a:cxn>
                  <a:cxn ang="0">
                    <a:pos x="4" y="17"/>
                  </a:cxn>
                  <a:cxn ang="0">
                    <a:pos x="9" y="10"/>
                  </a:cxn>
                  <a:cxn ang="0">
                    <a:pos x="20" y="12"/>
                  </a:cxn>
                </a:cxnLst>
                <a:rect l="txL" t="txT" r="txR" b="txB"/>
                <a:pathLst>
                  <a:path w="78" h="103">
                    <a:moveTo>
                      <a:pt x="78" y="70"/>
                    </a:moveTo>
                    <a:lnTo>
                      <a:pt x="0" y="0"/>
                    </a:lnTo>
                    <a:lnTo>
                      <a:pt x="20" y="103"/>
                    </a:lnTo>
                    <a:lnTo>
                      <a:pt x="33" y="59"/>
                    </a:lnTo>
                    <a:lnTo>
                      <a:pt x="78" y="7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7120" name="Line 151"/>
              <p:cNvSpPr/>
              <p:nvPr/>
            </p:nvSpPr>
            <p:spPr>
              <a:xfrm>
                <a:off x="624" y="2325"/>
                <a:ext cx="432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87121" name="Group 152"/>
              <p:cNvGrpSpPr/>
              <p:nvPr/>
            </p:nvGrpSpPr>
            <p:grpSpPr>
              <a:xfrm>
                <a:off x="3504" y="2160"/>
                <a:ext cx="242" cy="346"/>
                <a:chOff x="4176" y="528"/>
                <a:chExt cx="242" cy="346"/>
              </a:xfrm>
            </p:grpSpPr>
            <p:sp>
              <p:nvSpPr>
                <p:cNvPr id="87125" name="Oval 153"/>
                <p:cNvSpPr/>
                <p:nvPr/>
              </p:nvSpPr>
              <p:spPr>
                <a:xfrm>
                  <a:off x="4176" y="575"/>
                  <a:ext cx="242" cy="248"/>
                </a:xfrm>
                <a:prstGeom prst="ellipse">
                  <a:avLst/>
                </a:prstGeom>
                <a:solidFill>
                  <a:schemeClr val="folHlink"/>
                </a:solidFill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7126" name="Rectangle 154"/>
                <p:cNvSpPr/>
                <p:nvPr/>
              </p:nvSpPr>
              <p:spPr>
                <a:xfrm>
                  <a:off x="4212" y="528"/>
                  <a:ext cx="173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3600" dirty="0">
                      <a:solidFill>
                        <a:srgbClr val="CC0000"/>
                      </a:solidFill>
                      <a:latin typeface="Bookman Old Style" panose="02050604050505020204" pitchFamily="18" charset="0"/>
                    </a:rPr>
                    <a:t>+</a:t>
                  </a:r>
                  <a:endParaRPr lang="en-US" altLang="zh-CN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87122" name="Group 155"/>
              <p:cNvGrpSpPr/>
              <p:nvPr/>
            </p:nvGrpSpPr>
            <p:grpSpPr>
              <a:xfrm>
                <a:off x="2001" y="2208"/>
                <a:ext cx="255" cy="264"/>
                <a:chOff x="1440" y="2851"/>
                <a:chExt cx="255" cy="264"/>
              </a:xfrm>
            </p:grpSpPr>
            <p:sp>
              <p:nvSpPr>
                <p:cNvPr id="87123" name="Oval 156"/>
                <p:cNvSpPr/>
                <p:nvPr/>
              </p:nvSpPr>
              <p:spPr>
                <a:xfrm>
                  <a:off x="1440" y="2851"/>
                  <a:ext cx="255" cy="264"/>
                </a:xfrm>
                <a:prstGeom prst="ellipse">
                  <a:avLst/>
                </a:prstGeom>
                <a:solidFill>
                  <a:srgbClr val="CCFFFF"/>
                </a:solidFill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7124" name="Rectangle 157"/>
                <p:cNvSpPr/>
                <p:nvPr/>
              </p:nvSpPr>
              <p:spPr>
                <a:xfrm>
                  <a:off x="1487" y="2967"/>
                  <a:ext cx="155" cy="5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7" name="Group 89"/>
          <p:cNvGrpSpPr/>
          <p:nvPr/>
        </p:nvGrpSpPr>
        <p:grpSpPr>
          <a:xfrm>
            <a:off x="1295400" y="1371600"/>
            <a:ext cx="6629400" cy="5105400"/>
            <a:chOff x="768" y="768"/>
            <a:chExt cx="4176" cy="3216"/>
          </a:xfrm>
        </p:grpSpPr>
        <p:sp>
          <p:nvSpPr>
            <p:cNvPr id="87045" name="Oval 78"/>
            <p:cNvSpPr/>
            <p:nvPr/>
          </p:nvSpPr>
          <p:spPr>
            <a:xfrm>
              <a:off x="3408" y="2112"/>
              <a:ext cx="432" cy="43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7046" name="Freeform 79"/>
            <p:cNvSpPr/>
            <p:nvPr/>
          </p:nvSpPr>
          <p:spPr>
            <a:xfrm>
              <a:off x="3360" y="1920"/>
              <a:ext cx="720" cy="817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14" y="465"/>
                </a:cxn>
                <a:cxn ang="0">
                  <a:pos x="18" y="297"/>
                </a:cxn>
                <a:cxn ang="0">
                  <a:pos x="93" y="115"/>
                </a:cxn>
                <a:cxn ang="0">
                  <a:pos x="228" y="17"/>
                </a:cxn>
                <a:cxn ang="0">
                  <a:pos x="333" y="17"/>
                </a:cxn>
                <a:cxn ang="0">
                  <a:pos x="444" y="119"/>
                </a:cxn>
                <a:cxn ang="0">
                  <a:pos x="512" y="353"/>
                </a:cxn>
                <a:cxn ang="0">
                  <a:pos x="481" y="638"/>
                </a:cxn>
                <a:cxn ang="0">
                  <a:pos x="372" y="788"/>
                </a:cxn>
                <a:cxn ang="0">
                  <a:pos x="228" y="802"/>
                </a:cxn>
                <a:cxn ang="0">
                  <a:pos x="91" y="700"/>
                </a:cxn>
                <a:cxn ang="0">
                  <a:pos x="29" y="581"/>
                </a:cxn>
                <a:cxn ang="0">
                  <a:pos x="14" y="465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47" name="Oval 80"/>
            <p:cNvSpPr/>
            <p:nvPr/>
          </p:nvSpPr>
          <p:spPr>
            <a:xfrm>
              <a:off x="1872" y="2112"/>
              <a:ext cx="432" cy="432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7048" name="Freeform 81"/>
            <p:cNvSpPr/>
            <p:nvPr/>
          </p:nvSpPr>
          <p:spPr>
            <a:xfrm flipH="1">
              <a:off x="1632" y="1920"/>
              <a:ext cx="720" cy="817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14" y="465"/>
                </a:cxn>
                <a:cxn ang="0">
                  <a:pos x="18" y="297"/>
                </a:cxn>
                <a:cxn ang="0">
                  <a:pos x="93" y="115"/>
                </a:cxn>
                <a:cxn ang="0">
                  <a:pos x="228" y="17"/>
                </a:cxn>
                <a:cxn ang="0">
                  <a:pos x="333" y="17"/>
                </a:cxn>
                <a:cxn ang="0">
                  <a:pos x="444" y="119"/>
                </a:cxn>
                <a:cxn ang="0">
                  <a:pos x="512" y="353"/>
                </a:cxn>
                <a:cxn ang="0">
                  <a:pos x="481" y="638"/>
                </a:cxn>
                <a:cxn ang="0">
                  <a:pos x="372" y="788"/>
                </a:cxn>
                <a:cxn ang="0">
                  <a:pos x="228" y="802"/>
                </a:cxn>
                <a:cxn ang="0">
                  <a:pos x="91" y="700"/>
                </a:cxn>
                <a:cxn ang="0">
                  <a:pos x="29" y="581"/>
                </a:cxn>
                <a:cxn ang="0">
                  <a:pos x="14" y="465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49" name="Freeform 82"/>
            <p:cNvSpPr/>
            <p:nvPr/>
          </p:nvSpPr>
          <p:spPr>
            <a:xfrm>
              <a:off x="3264" y="1632"/>
              <a:ext cx="1200" cy="1345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7523" y="303596"/>
                </a:cxn>
                <a:cxn ang="0">
                  <a:pos x="10566" y="193749"/>
                </a:cxn>
                <a:cxn ang="0">
                  <a:pos x="71818" y="74885"/>
                </a:cxn>
                <a:cxn ang="0">
                  <a:pos x="174297" y="11114"/>
                </a:cxn>
                <a:cxn ang="0">
                  <a:pos x="255871" y="11114"/>
                </a:cxn>
                <a:cxn ang="0">
                  <a:pos x="339884" y="77799"/>
                </a:cxn>
                <a:cxn ang="0">
                  <a:pos x="391964" y="230084"/>
                </a:cxn>
                <a:cxn ang="0">
                  <a:pos x="369018" y="416140"/>
                </a:cxn>
                <a:cxn ang="0">
                  <a:pos x="285294" y="513996"/>
                </a:cxn>
                <a:cxn ang="0">
                  <a:pos x="174297" y="523073"/>
                </a:cxn>
                <a:cxn ang="0">
                  <a:pos x="70206" y="456375"/>
                </a:cxn>
                <a:cxn ang="0">
                  <a:pos x="22438" y="378780"/>
                </a:cxn>
                <a:cxn ang="0">
                  <a:pos x="7523" y="303596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0" name="Line 83"/>
            <p:cNvSpPr/>
            <p:nvPr/>
          </p:nvSpPr>
          <p:spPr>
            <a:xfrm>
              <a:off x="2880" y="768"/>
              <a:ext cx="0" cy="321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7051" name="Freeform 84"/>
            <p:cNvSpPr/>
            <p:nvPr/>
          </p:nvSpPr>
          <p:spPr>
            <a:xfrm flipH="1">
              <a:off x="1248" y="1632"/>
              <a:ext cx="1200" cy="1345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7523" y="303596"/>
                </a:cxn>
                <a:cxn ang="0">
                  <a:pos x="10566" y="193749"/>
                </a:cxn>
                <a:cxn ang="0">
                  <a:pos x="71818" y="74885"/>
                </a:cxn>
                <a:cxn ang="0">
                  <a:pos x="174297" y="11114"/>
                </a:cxn>
                <a:cxn ang="0">
                  <a:pos x="255871" y="11114"/>
                </a:cxn>
                <a:cxn ang="0">
                  <a:pos x="339884" y="77799"/>
                </a:cxn>
                <a:cxn ang="0">
                  <a:pos x="391964" y="230084"/>
                </a:cxn>
                <a:cxn ang="0">
                  <a:pos x="369018" y="416140"/>
                </a:cxn>
                <a:cxn ang="0">
                  <a:pos x="285294" y="513996"/>
                </a:cxn>
                <a:cxn ang="0">
                  <a:pos x="174297" y="523073"/>
                </a:cxn>
                <a:cxn ang="0">
                  <a:pos x="70206" y="456375"/>
                </a:cxn>
                <a:cxn ang="0">
                  <a:pos x="22438" y="378780"/>
                </a:cxn>
                <a:cxn ang="0">
                  <a:pos x="7523" y="303596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2" name="Freeform 85"/>
            <p:cNvSpPr/>
            <p:nvPr/>
          </p:nvSpPr>
          <p:spPr>
            <a:xfrm>
              <a:off x="3120" y="1200"/>
              <a:ext cx="1824" cy="2208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1756182" y="190833797"/>
                </a:cxn>
                <a:cxn ang="0">
                  <a:pos x="2468671" y="121912123"/>
                </a:cxn>
                <a:cxn ang="0">
                  <a:pos x="16590140" y="47184941"/>
                </a:cxn>
                <a:cxn ang="0">
                  <a:pos x="40281564" y="6960516"/>
                </a:cxn>
                <a:cxn ang="0">
                  <a:pos x="59155803" y="6960516"/>
                </a:cxn>
                <a:cxn ang="0">
                  <a:pos x="78618095" y="48870007"/>
                </a:cxn>
                <a:cxn ang="0">
                  <a:pos x="90638097" y="144818536"/>
                </a:cxn>
                <a:cxn ang="0">
                  <a:pos x="85291672" y="261714875"/>
                </a:cxn>
                <a:cxn ang="0">
                  <a:pos x="65925653" y="323345174"/>
                </a:cxn>
                <a:cxn ang="0">
                  <a:pos x="40281564" y="328961037"/>
                </a:cxn>
                <a:cxn ang="0">
                  <a:pos x="16241202" y="287220186"/>
                </a:cxn>
                <a:cxn ang="0">
                  <a:pos x="5222667" y="238350181"/>
                </a:cxn>
                <a:cxn ang="0">
                  <a:pos x="1756182" y="190833797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3" name="Freeform 86"/>
            <p:cNvSpPr/>
            <p:nvPr/>
          </p:nvSpPr>
          <p:spPr>
            <a:xfrm flipH="1">
              <a:off x="768" y="1200"/>
              <a:ext cx="1824" cy="2208"/>
            </a:xfrm>
            <a:custGeom>
              <a:avLst/>
              <a:gdLst>
                <a:gd name="txL" fmla="*/ 0 w 740"/>
                <a:gd name="txT" fmla="*/ 0 h 817"/>
                <a:gd name="txR" fmla="*/ 740 w 740"/>
                <a:gd name="txB" fmla="*/ 817 h 817"/>
              </a:gdLst>
              <a:ahLst/>
              <a:cxnLst>
                <a:cxn ang="0">
                  <a:pos x="1756182" y="190833797"/>
                </a:cxn>
                <a:cxn ang="0">
                  <a:pos x="2468671" y="121912123"/>
                </a:cxn>
                <a:cxn ang="0">
                  <a:pos x="16590140" y="47184941"/>
                </a:cxn>
                <a:cxn ang="0">
                  <a:pos x="40281564" y="6960516"/>
                </a:cxn>
                <a:cxn ang="0">
                  <a:pos x="59155803" y="6960516"/>
                </a:cxn>
                <a:cxn ang="0">
                  <a:pos x="78618095" y="48870007"/>
                </a:cxn>
                <a:cxn ang="0">
                  <a:pos x="90638097" y="144818536"/>
                </a:cxn>
                <a:cxn ang="0">
                  <a:pos x="85291672" y="261714875"/>
                </a:cxn>
                <a:cxn ang="0">
                  <a:pos x="65925653" y="323345174"/>
                </a:cxn>
                <a:cxn ang="0">
                  <a:pos x="40281564" y="328961037"/>
                </a:cxn>
                <a:cxn ang="0">
                  <a:pos x="16241202" y="287220186"/>
                </a:cxn>
                <a:cxn ang="0">
                  <a:pos x="5222667" y="238350181"/>
                </a:cxn>
                <a:cxn ang="0">
                  <a:pos x="1756182" y="190833797"/>
                </a:cxn>
              </a:cxnLst>
              <a:rect l="txL" t="txT" r="txR" b="txB"/>
              <a:pathLst>
                <a:path w="740" h="817">
                  <a:moveTo>
                    <a:pt x="14" y="465"/>
                  </a:moveTo>
                  <a:cubicBezTo>
                    <a:pt x="11" y="419"/>
                    <a:pt x="0" y="356"/>
                    <a:pt x="20" y="297"/>
                  </a:cubicBezTo>
                  <a:cubicBezTo>
                    <a:pt x="40" y="239"/>
                    <a:pt x="84" y="162"/>
                    <a:pt x="134" y="115"/>
                  </a:cubicBezTo>
                  <a:cubicBezTo>
                    <a:pt x="185" y="68"/>
                    <a:pt x="267" y="33"/>
                    <a:pt x="325" y="17"/>
                  </a:cubicBezTo>
                  <a:cubicBezTo>
                    <a:pt x="382" y="0"/>
                    <a:pt x="425" y="0"/>
                    <a:pt x="477" y="17"/>
                  </a:cubicBezTo>
                  <a:cubicBezTo>
                    <a:pt x="529" y="34"/>
                    <a:pt x="592" y="63"/>
                    <a:pt x="634" y="119"/>
                  </a:cubicBezTo>
                  <a:cubicBezTo>
                    <a:pt x="676" y="175"/>
                    <a:pt x="722" y="266"/>
                    <a:pt x="731" y="353"/>
                  </a:cubicBezTo>
                  <a:cubicBezTo>
                    <a:pt x="740" y="440"/>
                    <a:pt x="721" y="566"/>
                    <a:pt x="688" y="638"/>
                  </a:cubicBezTo>
                  <a:cubicBezTo>
                    <a:pt x="655" y="710"/>
                    <a:pt x="592" y="761"/>
                    <a:pt x="532" y="788"/>
                  </a:cubicBezTo>
                  <a:cubicBezTo>
                    <a:pt x="472" y="815"/>
                    <a:pt x="392" y="817"/>
                    <a:pt x="325" y="802"/>
                  </a:cubicBezTo>
                  <a:cubicBezTo>
                    <a:pt x="258" y="787"/>
                    <a:pt x="178" y="737"/>
                    <a:pt x="131" y="700"/>
                  </a:cubicBezTo>
                  <a:cubicBezTo>
                    <a:pt x="85" y="664"/>
                    <a:pt x="62" y="621"/>
                    <a:pt x="42" y="581"/>
                  </a:cubicBezTo>
                  <a:cubicBezTo>
                    <a:pt x="22" y="541"/>
                    <a:pt x="17" y="512"/>
                    <a:pt x="14" y="465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4" name="Freeform 87"/>
            <p:cNvSpPr/>
            <p:nvPr/>
          </p:nvSpPr>
          <p:spPr>
            <a:xfrm>
              <a:off x="3024" y="816"/>
              <a:ext cx="568" cy="3024"/>
            </a:xfrm>
            <a:custGeom>
              <a:avLst/>
              <a:gdLst>
                <a:gd name="txL" fmla="*/ 0 w 568"/>
                <a:gd name="txT" fmla="*/ 0 h 3024"/>
                <a:gd name="txR" fmla="*/ 568 w 568"/>
                <a:gd name="txB" fmla="*/ 3024 h 3024"/>
              </a:gdLst>
              <a:ahLst/>
              <a:cxnLst>
                <a:cxn ang="0">
                  <a:pos x="544" y="0"/>
                </a:cxn>
                <a:cxn ang="0">
                  <a:pos x="400" y="144"/>
                </a:cxn>
                <a:cxn ang="0">
                  <a:pos x="304" y="240"/>
                </a:cxn>
                <a:cxn ang="0">
                  <a:pos x="208" y="384"/>
                </a:cxn>
                <a:cxn ang="0">
                  <a:pos x="112" y="576"/>
                </a:cxn>
                <a:cxn ang="0">
                  <a:pos x="16" y="960"/>
                </a:cxn>
                <a:cxn ang="0">
                  <a:pos x="16" y="1872"/>
                </a:cxn>
                <a:cxn ang="0">
                  <a:pos x="64" y="2352"/>
                </a:cxn>
                <a:cxn ang="0">
                  <a:pos x="208" y="2688"/>
                </a:cxn>
                <a:cxn ang="0">
                  <a:pos x="352" y="2880"/>
                </a:cxn>
                <a:cxn ang="0">
                  <a:pos x="568" y="3024"/>
                </a:cxn>
              </a:cxnLst>
              <a:rect l="txL" t="txT" r="txR" b="txB"/>
              <a:pathLst>
                <a:path w="568" h="3024">
                  <a:moveTo>
                    <a:pt x="544" y="0"/>
                  </a:moveTo>
                  <a:cubicBezTo>
                    <a:pt x="492" y="52"/>
                    <a:pt x="440" y="104"/>
                    <a:pt x="400" y="144"/>
                  </a:cubicBezTo>
                  <a:cubicBezTo>
                    <a:pt x="360" y="184"/>
                    <a:pt x="336" y="200"/>
                    <a:pt x="304" y="240"/>
                  </a:cubicBezTo>
                  <a:cubicBezTo>
                    <a:pt x="272" y="280"/>
                    <a:pt x="240" y="328"/>
                    <a:pt x="208" y="384"/>
                  </a:cubicBezTo>
                  <a:cubicBezTo>
                    <a:pt x="176" y="440"/>
                    <a:pt x="144" y="480"/>
                    <a:pt x="112" y="576"/>
                  </a:cubicBezTo>
                  <a:cubicBezTo>
                    <a:pt x="80" y="672"/>
                    <a:pt x="32" y="744"/>
                    <a:pt x="16" y="960"/>
                  </a:cubicBezTo>
                  <a:cubicBezTo>
                    <a:pt x="0" y="1176"/>
                    <a:pt x="8" y="1640"/>
                    <a:pt x="16" y="1872"/>
                  </a:cubicBezTo>
                  <a:cubicBezTo>
                    <a:pt x="24" y="2104"/>
                    <a:pt x="32" y="2216"/>
                    <a:pt x="64" y="2352"/>
                  </a:cubicBezTo>
                  <a:cubicBezTo>
                    <a:pt x="96" y="2488"/>
                    <a:pt x="160" y="2600"/>
                    <a:pt x="208" y="2688"/>
                  </a:cubicBezTo>
                  <a:cubicBezTo>
                    <a:pt x="256" y="2776"/>
                    <a:pt x="292" y="2824"/>
                    <a:pt x="352" y="2880"/>
                  </a:cubicBezTo>
                  <a:cubicBezTo>
                    <a:pt x="412" y="2936"/>
                    <a:pt x="523" y="2994"/>
                    <a:pt x="568" y="3024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5" name="Freeform 88"/>
            <p:cNvSpPr/>
            <p:nvPr/>
          </p:nvSpPr>
          <p:spPr>
            <a:xfrm flipH="1">
              <a:off x="2160" y="816"/>
              <a:ext cx="576" cy="3024"/>
            </a:xfrm>
            <a:custGeom>
              <a:avLst/>
              <a:gdLst>
                <a:gd name="txL" fmla="*/ 0 w 568"/>
                <a:gd name="txT" fmla="*/ 0 h 3024"/>
                <a:gd name="txR" fmla="*/ 568 w 568"/>
                <a:gd name="txB" fmla="*/ 3024 h 3024"/>
              </a:gdLst>
              <a:ahLst/>
              <a:cxnLst>
                <a:cxn ang="0">
                  <a:pos x="653" y="0"/>
                </a:cxn>
                <a:cxn ang="0">
                  <a:pos x="480" y="144"/>
                </a:cxn>
                <a:cxn ang="0">
                  <a:pos x="365" y="240"/>
                </a:cxn>
                <a:cxn ang="0">
                  <a:pos x="247" y="384"/>
                </a:cxn>
                <a:cxn ang="0">
                  <a:pos x="138" y="576"/>
                </a:cxn>
                <a:cxn ang="0">
                  <a:pos x="16" y="960"/>
                </a:cxn>
                <a:cxn ang="0">
                  <a:pos x="16" y="1872"/>
                </a:cxn>
                <a:cxn ang="0">
                  <a:pos x="77" y="2352"/>
                </a:cxn>
                <a:cxn ang="0">
                  <a:pos x="247" y="2688"/>
                </a:cxn>
                <a:cxn ang="0">
                  <a:pos x="422" y="2880"/>
                </a:cxn>
                <a:cxn ang="0">
                  <a:pos x="680" y="3024"/>
                </a:cxn>
              </a:cxnLst>
              <a:rect l="txL" t="txT" r="txR" b="txB"/>
              <a:pathLst>
                <a:path w="568" h="3024">
                  <a:moveTo>
                    <a:pt x="544" y="0"/>
                  </a:moveTo>
                  <a:cubicBezTo>
                    <a:pt x="492" y="52"/>
                    <a:pt x="440" y="104"/>
                    <a:pt x="400" y="144"/>
                  </a:cubicBezTo>
                  <a:cubicBezTo>
                    <a:pt x="360" y="184"/>
                    <a:pt x="336" y="200"/>
                    <a:pt x="304" y="240"/>
                  </a:cubicBezTo>
                  <a:cubicBezTo>
                    <a:pt x="272" y="280"/>
                    <a:pt x="240" y="328"/>
                    <a:pt x="208" y="384"/>
                  </a:cubicBezTo>
                  <a:cubicBezTo>
                    <a:pt x="176" y="440"/>
                    <a:pt x="144" y="480"/>
                    <a:pt x="112" y="576"/>
                  </a:cubicBezTo>
                  <a:cubicBezTo>
                    <a:pt x="80" y="672"/>
                    <a:pt x="32" y="744"/>
                    <a:pt x="16" y="960"/>
                  </a:cubicBezTo>
                  <a:cubicBezTo>
                    <a:pt x="0" y="1176"/>
                    <a:pt x="8" y="1640"/>
                    <a:pt x="16" y="1872"/>
                  </a:cubicBezTo>
                  <a:cubicBezTo>
                    <a:pt x="24" y="2104"/>
                    <a:pt x="32" y="2216"/>
                    <a:pt x="64" y="2352"/>
                  </a:cubicBezTo>
                  <a:cubicBezTo>
                    <a:pt x="96" y="2488"/>
                    <a:pt x="160" y="2600"/>
                    <a:pt x="208" y="2688"/>
                  </a:cubicBezTo>
                  <a:cubicBezTo>
                    <a:pt x="256" y="2776"/>
                    <a:pt x="292" y="2824"/>
                    <a:pt x="352" y="2880"/>
                  </a:cubicBezTo>
                  <a:cubicBezTo>
                    <a:pt x="412" y="2936"/>
                    <a:pt x="523" y="2994"/>
                    <a:pt x="568" y="3024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88067" name="Group 1034"/>
          <p:cNvGrpSpPr/>
          <p:nvPr/>
        </p:nvGrpSpPr>
        <p:grpSpPr>
          <a:xfrm>
            <a:off x="0" y="325438"/>
            <a:ext cx="9144000" cy="6172200"/>
            <a:chOff x="0" y="380"/>
            <a:chExt cx="5760" cy="3888"/>
          </a:xfrm>
        </p:grpSpPr>
        <p:sp>
          <p:nvSpPr>
            <p:cNvPr id="88071" name="Rectangle 1028"/>
            <p:cNvSpPr/>
            <p:nvPr/>
          </p:nvSpPr>
          <p:spPr>
            <a:xfrm>
              <a:off x="1694" y="380"/>
              <a:ext cx="237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两相等点电荷的等势面</a:t>
              </a:r>
              <a:endPara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8072" name="Group 1033"/>
            <p:cNvGrpSpPr/>
            <p:nvPr/>
          </p:nvGrpSpPr>
          <p:grpSpPr>
            <a:xfrm>
              <a:off x="0" y="884"/>
              <a:ext cx="5760" cy="3384"/>
              <a:chOff x="0" y="416"/>
              <a:chExt cx="5760" cy="3384"/>
            </a:xfrm>
          </p:grpSpPr>
          <p:pic>
            <p:nvPicPr>
              <p:cNvPr id="88073" name="Picture 1027" descr="hw5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416"/>
                <a:ext cx="5760" cy="33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8074" name="Rectangle 1032"/>
              <p:cNvSpPr/>
              <p:nvPr/>
            </p:nvSpPr>
            <p:spPr>
              <a:xfrm>
                <a:off x="133" y="2364"/>
                <a:ext cx="795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电场线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8068" name="Group 10"/>
          <p:cNvGrpSpPr/>
          <p:nvPr/>
        </p:nvGrpSpPr>
        <p:grpSpPr>
          <a:xfrm>
            <a:off x="304800" y="5772150"/>
            <a:ext cx="1773238" cy="841375"/>
            <a:chOff x="452582" y="5569527"/>
            <a:chExt cx="1773381" cy="840508"/>
          </a:xfrm>
        </p:grpSpPr>
        <p:sp>
          <p:nvSpPr>
            <p:cNvPr id="88069" name="Rectangle 11"/>
            <p:cNvSpPr/>
            <p:nvPr/>
          </p:nvSpPr>
          <p:spPr>
            <a:xfrm>
              <a:off x="452582" y="5569527"/>
              <a:ext cx="1773381" cy="84050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88070" name="Rectangle 6"/>
            <p:cNvSpPr/>
            <p:nvPr/>
          </p:nvSpPr>
          <p:spPr>
            <a:xfrm>
              <a:off x="741217" y="5656119"/>
              <a:ext cx="1420582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等势面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89091" name="Group 1031"/>
          <p:cNvGrpSpPr/>
          <p:nvPr/>
        </p:nvGrpSpPr>
        <p:grpSpPr>
          <a:xfrm>
            <a:off x="0" y="114300"/>
            <a:ext cx="9144000" cy="6610350"/>
            <a:chOff x="0" y="72"/>
            <a:chExt cx="5760" cy="4164"/>
          </a:xfrm>
        </p:grpSpPr>
        <p:grpSp>
          <p:nvGrpSpPr>
            <p:cNvPr id="89092" name="Group 1029"/>
            <p:cNvGrpSpPr/>
            <p:nvPr/>
          </p:nvGrpSpPr>
          <p:grpSpPr>
            <a:xfrm>
              <a:off x="0" y="72"/>
              <a:ext cx="5760" cy="4164"/>
              <a:chOff x="0" y="72"/>
              <a:chExt cx="5760" cy="4164"/>
            </a:xfrm>
          </p:grpSpPr>
          <p:pic>
            <p:nvPicPr>
              <p:cNvPr id="89094" name="Picture 1026" descr="等势面与电力线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72"/>
                <a:ext cx="5760" cy="416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9095" name="Text Box 1027"/>
              <p:cNvSpPr txBox="1"/>
              <p:nvPr/>
            </p:nvSpPr>
            <p:spPr>
              <a:xfrm>
                <a:off x="4626" y="531"/>
                <a:ext cx="913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等势面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9096" name="Line 1028"/>
              <p:cNvSpPr/>
              <p:nvPr/>
            </p:nvSpPr>
            <p:spPr>
              <a:xfrm flipH="1">
                <a:off x="4674" y="880"/>
                <a:ext cx="206" cy="91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9093" name="Rectangle 1030"/>
            <p:cNvSpPr/>
            <p:nvPr/>
          </p:nvSpPr>
          <p:spPr>
            <a:xfrm>
              <a:off x="3322" y="576"/>
              <a:ext cx="79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电场线</a:t>
              </a:r>
              <a:endPara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90115" name="Group 9"/>
          <p:cNvGrpSpPr/>
          <p:nvPr/>
        </p:nvGrpSpPr>
        <p:grpSpPr>
          <a:xfrm>
            <a:off x="111125" y="542925"/>
            <a:ext cx="8802688" cy="5737225"/>
            <a:chOff x="64" y="272"/>
            <a:chExt cx="5545" cy="3614"/>
          </a:xfrm>
        </p:grpSpPr>
        <p:pic>
          <p:nvPicPr>
            <p:cNvPr id="90119" name="Picture 2" descr="hw6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" y="272"/>
              <a:ext cx="5545" cy="36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20" name="Rectangle 7"/>
            <p:cNvSpPr/>
            <p:nvPr/>
          </p:nvSpPr>
          <p:spPr>
            <a:xfrm>
              <a:off x="588" y="1050"/>
              <a:ext cx="79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电场线</a:t>
              </a:r>
              <a:endPara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121" name="Line 8"/>
            <p:cNvSpPr/>
            <p:nvPr/>
          </p:nvSpPr>
          <p:spPr>
            <a:xfrm flipH="1">
              <a:off x="875" y="1350"/>
              <a:ext cx="103" cy="17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0116" name="Group 13"/>
          <p:cNvGrpSpPr/>
          <p:nvPr/>
        </p:nvGrpSpPr>
        <p:grpSpPr>
          <a:xfrm>
            <a:off x="4129088" y="425450"/>
            <a:ext cx="2317750" cy="1023938"/>
            <a:chOff x="221674" y="5458691"/>
            <a:chExt cx="2318326" cy="1025236"/>
          </a:xfrm>
        </p:grpSpPr>
        <p:sp>
          <p:nvSpPr>
            <p:cNvPr id="90117" name="Rectangle 14"/>
            <p:cNvSpPr/>
            <p:nvPr/>
          </p:nvSpPr>
          <p:spPr>
            <a:xfrm>
              <a:off x="221674" y="5458691"/>
              <a:ext cx="2318326" cy="102523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90118" name="Rectangle 6"/>
            <p:cNvSpPr/>
            <p:nvPr/>
          </p:nvSpPr>
          <p:spPr>
            <a:xfrm>
              <a:off x="990599" y="5822373"/>
              <a:ext cx="1420582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等势面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91139" name="Group 6"/>
          <p:cNvGrpSpPr/>
          <p:nvPr/>
        </p:nvGrpSpPr>
        <p:grpSpPr>
          <a:xfrm>
            <a:off x="0" y="0"/>
            <a:ext cx="8977313" cy="6858000"/>
            <a:chOff x="0" y="0"/>
            <a:chExt cx="5655" cy="4320"/>
          </a:xfrm>
        </p:grpSpPr>
        <p:pic>
          <p:nvPicPr>
            <p:cNvPr id="91144" name="Picture 4" descr="心脏等电位线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3623" cy="432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145" name="Text Box 5"/>
            <p:cNvSpPr txBox="1"/>
            <p:nvPr/>
          </p:nvSpPr>
          <p:spPr>
            <a:xfrm>
              <a:off x="3711" y="791"/>
              <a:ext cx="1944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80808"/>
                  </a:solidFill>
                  <a:latin typeface="Arial" panose="020B0604020202020204" pitchFamily="34" charset="0"/>
                </a:rPr>
                <a:t>人心脏的等电势线，类似于电偶极子。</a:t>
              </a:r>
              <a:endParaRPr lang="zh-CN" altLang="en-US" sz="2800" b="1" dirty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5884863" y="2725738"/>
            <a:ext cx="3382963" cy="1385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cs typeface="+mn-cs"/>
              </a:rPr>
              <a:t>注：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等势面是确实存在的，并能通过实验测定。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6505575" y="4459288"/>
            <a:ext cx="1905000" cy="519113"/>
          </a:xfrm>
          <a:prstGeom prst="rect">
            <a:avLst/>
          </a:prstGeom>
          <a:solidFill>
            <a:srgbClr val="FFB1FF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等势面图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8" name="Text Box 30"/>
          <p:cNvSpPr txBox="1">
            <a:spLocks noChangeArrowheads="1"/>
          </p:cNvSpPr>
          <p:nvPr/>
        </p:nvSpPr>
        <p:spPr bwMode="auto">
          <a:xfrm>
            <a:off x="6162675" y="5859463"/>
            <a:ext cx="2590800" cy="519113"/>
          </a:xfrm>
          <a:prstGeom prst="rect">
            <a:avLst/>
          </a:prstGeom>
          <a:solidFill>
            <a:schemeClr val="accent2"/>
          </a:solidFill>
          <a:ln w="12700" cap="sq">
            <a:noFill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+mn-lt"/>
                <a:ea typeface="楷体_GB2312" pitchFamily="49" charset="-122"/>
                <a:cs typeface="+mn-cs"/>
              </a:rPr>
              <a:t>电场强度分布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9" name="AutoShape 32"/>
          <p:cNvSpPr>
            <a:spLocks noChangeArrowheads="1"/>
          </p:cNvSpPr>
          <p:nvPr/>
        </p:nvSpPr>
        <p:spPr bwMode="auto">
          <a:xfrm rot="5400000">
            <a:off x="7108825" y="5308600"/>
            <a:ext cx="6985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40" name="Rectangle 40"/>
          <p:cNvSpPr/>
          <p:nvPr/>
        </p:nvSpPr>
        <p:spPr>
          <a:xfrm>
            <a:off x="5770563" y="657225"/>
            <a:ext cx="2952750" cy="2700338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sp>
        <p:nvSpPr>
          <p:cNvPr id="128003" name="Arc 3"/>
          <p:cNvSpPr/>
          <p:nvPr/>
        </p:nvSpPr>
        <p:spPr>
          <a:xfrm>
            <a:off x="5878513" y="1252538"/>
            <a:ext cx="914400" cy="1593850"/>
          </a:xfrm>
          <a:custGeom>
            <a:avLst/>
            <a:gdLst/>
            <a:ahLst/>
            <a:cxnLst>
              <a:cxn ang="0">
                <a:pos x="720423290" y="0"/>
              </a:cxn>
              <a:cxn ang="0">
                <a:pos x="871093254" y="2147483646"/>
              </a:cxn>
              <a:cxn ang="0">
                <a:pos x="0" y="1466535909"/>
              </a:cxn>
            </a:cxnLst>
            <a:pathLst>
              <a:path w="21600" h="37695" fill="none">
                <a:moveTo>
                  <a:pt x="9496" y="-1"/>
                </a:moveTo>
                <a:cubicBezTo>
                  <a:pt x="16903" y="3625"/>
                  <a:pt x="21600" y="11152"/>
                  <a:pt x="21600" y="19400"/>
                </a:cubicBezTo>
                <a:cubicBezTo>
                  <a:pt x="21600" y="26833"/>
                  <a:pt x="17778" y="33744"/>
                  <a:pt x="11482" y="37695"/>
                </a:cubicBezTo>
              </a:path>
              <a:path w="21600" h="37695" stroke="0">
                <a:moveTo>
                  <a:pt x="9496" y="-1"/>
                </a:moveTo>
                <a:cubicBezTo>
                  <a:pt x="16903" y="3625"/>
                  <a:pt x="21600" y="11152"/>
                  <a:pt x="21600" y="19400"/>
                </a:cubicBezTo>
                <a:cubicBezTo>
                  <a:pt x="21600" y="26833"/>
                  <a:pt x="17778" y="33744"/>
                  <a:pt x="11482" y="37695"/>
                </a:cubicBezTo>
                <a:lnTo>
                  <a:pt x="0" y="19400"/>
                </a:lnTo>
                <a:lnTo>
                  <a:pt x="9496" y="-1"/>
                </a:lnTo>
                <a:close/>
              </a:path>
            </a:pathLst>
          </a:custGeom>
          <a:noFill/>
          <a:ln w="38100" cap="flat" cmpd="sng">
            <a:solidFill>
              <a:srgbClr val="0000FF">
                <a:alpha val="100000"/>
              </a:srgbClr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8004" name="Arc 4"/>
          <p:cNvSpPr/>
          <p:nvPr/>
        </p:nvSpPr>
        <p:spPr>
          <a:xfrm>
            <a:off x="6259513" y="795338"/>
            <a:ext cx="1371600" cy="240665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37880" fill="none">
                <a:moveTo>
                  <a:pt x="9550" y="-1"/>
                </a:moveTo>
                <a:cubicBezTo>
                  <a:pt x="16928" y="3636"/>
                  <a:pt x="21600" y="11148"/>
                  <a:pt x="21600" y="19374"/>
                </a:cubicBezTo>
                <a:cubicBezTo>
                  <a:pt x="21600" y="26950"/>
                  <a:pt x="17630" y="33973"/>
                  <a:pt x="11139" y="37880"/>
                </a:cubicBezTo>
              </a:path>
              <a:path w="21600" h="37880" stroke="0">
                <a:moveTo>
                  <a:pt x="9550" y="-1"/>
                </a:moveTo>
                <a:cubicBezTo>
                  <a:pt x="16928" y="3636"/>
                  <a:pt x="21600" y="11148"/>
                  <a:pt x="21600" y="19374"/>
                </a:cubicBezTo>
                <a:cubicBezTo>
                  <a:pt x="21600" y="26950"/>
                  <a:pt x="17630" y="33973"/>
                  <a:pt x="11139" y="37880"/>
                </a:cubicBezTo>
                <a:lnTo>
                  <a:pt x="0" y="19374"/>
                </a:lnTo>
                <a:lnTo>
                  <a:pt x="9550" y="-1"/>
                </a:lnTo>
                <a:close/>
              </a:path>
            </a:pathLst>
          </a:custGeom>
          <a:noFill/>
          <a:ln w="38100" cap="flat" cmpd="sng">
            <a:solidFill>
              <a:srgbClr val="0000FF">
                <a:alpha val="100000"/>
              </a:srgbClr>
            </a:solidFill>
            <a:prstDash val="sysDot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28005" name="Object 2"/>
          <p:cNvGraphicFramePr>
            <a:graphicFrameLocks noChangeAspect="1"/>
          </p:cNvGraphicFramePr>
          <p:nvPr/>
        </p:nvGraphicFramePr>
        <p:xfrm>
          <a:off x="6248400" y="2882900"/>
          <a:ext cx="26987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92100" imgH="304800" progId="Equation.3">
                  <p:embed/>
                </p:oleObj>
              </mc:Choice>
              <mc:Fallback>
                <p:oleObj name="" r:id="rId1" imgW="292100" imgH="304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8400" y="2882900"/>
                        <a:ext cx="269875" cy="280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6" name="Object 3"/>
          <p:cNvGraphicFramePr>
            <a:graphicFrameLocks noChangeAspect="1"/>
          </p:cNvGraphicFramePr>
          <p:nvPr/>
        </p:nvGraphicFramePr>
        <p:xfrm>
          <a:off x="7265988" y="2960688"/>
          <a:ext cx="9175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091565" imgH="317500" progId="Equation.DSMT4">
                  <p:embed/>
                </p:oleObj>
              </mc:Choice>
              <mc:Fallback>
                <p:oleObj name="" r:id="rId3" imgW="1091565" imgH="3175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5988" y="2960688"/>
                        <a:ext cx="917575" cy="309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7" name="Oval 7"/>
          <p:cNvSpPr/>
          <p:nvPr/>
        </p:nvSpPr>
        <p:spPr>
          <a:xfrm rot="-5400000">
            <a:off x="6716713" y="1938338"/>
            <a:ext cx="76200" cy="762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sp>
        <p:nvSpPr>
          <p:cNvPr id="128008" name="Oval 8"/>
          <p:cNvSpPr/>
          <p:nvPr/>
        </p:nvSpPr>
        <p:spPr>
          <a:xfrm rot="-5400000">
            <a:off x="7554913" y="1938338"/>
            <a:ext cx="76200" cy="762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graphicFrame>
        <p:nvGraphicFramePr>
          <p:cNvPr id="128009" name="Object 4"/>
          <p:cNvGraphicFramePr>
            <a:graphicFrameLocks noChangeAspect="1"/>
          </p:cNvGraphicFramePr>
          <p:nvPr/>
        </p:nvGraphicFramePr>
        <p:xfrm>
          <a:off x="6364288" y="1989138"/>
          <a:ext cx="3524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177800" imgH="228600" progId="Equation.DSMT4">
                  <p:embed/>
                </p:oleObj>
              </mc:Choice>
              <mc:Fallback>
                <p:oleObj name="" r:id="rId5" imgW="177800" imgH="2286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4288" y="1989138"/>
                        <a:ext cx="352425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0" name="Object 5"/>
          <p:cNvGraphicFramePr>
            <a:graphicFrameLocks noChangeAspect="1"/>
          </p:cNvGraphicFramePr>
          <p:nvPr/>
        </p:nvGraphicFramePr>
        <p:xfrm>
          <a:off x="7605713" y="1939925"/>
          <a:ext cx="3841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177800" imgH="228600" progId="Equation.DSMT4">
                  <p:embed/>
                </p:oleObj>
              </mc:Choice>
              <mc:Fallback>
                <p:oleObj name="" r:id="rId7" imgW="177800" imgH="228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05713" y="1939925"/>
                        <a:ext cx="38417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5878513" y="1481138"/>
            <a:ext cx="914400" cy="457200"/>
            <a:chOff x="0" y="1152"/>
            <a:chExt cx="576" cy="288"/>
          </a:xfrm>
        </p:grpSpPr>
        <p:sp>
          <p:nvSpPr>
            <p:cNvPr id="92200" name="Line 12"/>
            <p:cNvSpPr/>
            <p:nvPr/>
          </p:nvSpPr>
          <p:spPr>
            <a:xfrm flipH="1">
              <a:off x="0" y="1440"/>
              <a:ext cx="576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92201" name="Object 13"/>
            <p:cNvGraphicFramePr>
              <a:graphicFrameLocks noChangeAspect="1"/>
            </p:cNvGraphicFramePr>
            <p:nvPr/>
          </p:nvGraphicFramePr>
          <p:xfrm>
            <a:off x="144" y="115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9" imgW="342900" imgH="381000" progId="Equation.3">
                    <p:embed/>
                  </p:oleObj>
                </mc:Choice>
                <mc:Fallback>
                  <p:oleObj name="" r:id="rId9" imgW="342900" imgH="3810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4" y="1152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6792913" y="1335088"/>
            <a:ext cx="838200" cy="527050"/>
            <a:chOff x="4416" y="1396"/>
            <a:chExt cx="528" cy="332"/>
          </a:xfrm>
        </p:grpSpPr>
        <p:sp>
          <p:nvSpPr>
            <p:cNvPr id="92198" name="AutoShape 15"/>
            <p:cNvSpPr/>
            <p:nvPr/>
          </p:nvSpPr>
          <p:spPr>
            <a:xfrm rot="5400000">
              <a:off x="4632" y="1416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92199" name="Object 12"/>
            <p:cNvGraphicFramePr>
              <a:graphicFrameLocks noChangeAspect="1"/>
            </p:cNvGraphicFramePr>
            <p:nvPr/>
          </p:nvGraphicFramePr>
          <p:xfrm>
            <a:off x="4520" y="1396"/>
            <a:ext cx="25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1" imgW="405765" imgH="317500" progId="Equation.DSMT4">
                    <p:embed/>
                  </p:oleObj>
                </mc:Choice>
                <mc:Fallback>
                  <p:oleObj name="" r:id="rId11" imgW="405765" imgH="317500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20" y="1396"/>
                          <a:ext cx="25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8017" name="Line 17"/>
          <p:cNvSpPr/>
          <p:nvPr/>
        </p:nvSpPr>
        <p:spPr>
          <a:xfrm>
            <a:off x="6792913" y="1938338"/>
            <a:ext cx="1752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28018" name="Object 6"/>
          <p:cNvGraphicFramePr>
            <a:graphicFrameLocks noChangeAspect="1"/>
          </p:cNvGraphicFramePr>
          <p:nvPr/>
        </p:nvGraphicFramePr>
        <p:xfrm>
          <a:off x="8240713" y="1487488"/>
          <a:ext cx="28098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3" imgW="241300" imgH="330200" progId="Equation.DSMT4">
                  <p:embed/>
                </p:oleObj>
              </mc:Choice>
              <mc:Fallback>
                <p:oleObj name="" r:id="rId13" imgW="241300" imgH="330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40713" y="1487488"/>
                        <a:ext cx="280987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9" name="Text Box 19"/>
          <p:cNvSpPr txBox="1"/>
          <p:nvPr/>
        </p:nvSpPr>
        <p:spPr>
          <a:xfrm>
            <a:off x="376238" y="1262063"/>
            <a:ext cx="510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设两等势面电势之差：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d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28020" name="Rectangle 20"/>
          <p:cNvSpPr/>
          <p:nvPr/>
        </p:nvSpPr>
        <p:spPr>
          <a:xfrm>
            <a:off x="355600" y="1779588"/>
            <a:ext cx="4668838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且在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P</a:t>
            </a:r>
            <a:r>
              <a:rPr lang="en-US" altLang="zh-CN" sz="2800" b="1" i="1" baseline="-25000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点处的最短距离：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d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28021" name="Rectangle 21"/>
          <p:cNvSpPr/>
          <p:nvPr/>
        </p:nvSpPr>
        <p:spPr>
          <a:xfrm>
            <a:off x="381000" y="2341563"/>
            <a:ext cx="67278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P</a:t>
            </a:r>
            <a:r>
              <a:rPr lang="en-US" altLang="zh-CN" sz="2800" b="1" i="1" baseline="-25000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点处法线方向上的单位矢量： 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128022" name="Object 7"/>
          <p:cNvGraphicFramePr>
            <a:graphicFrameLocks noChangeAspect="1"/>
          </p:cNvGraphicFramePr>
          <p:nvPr/>
        </p:nvGraphicFramePr>
        <p:xfrm>
          <a:off x="481013" y="2955925"/>
          <a:ext cx="280987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5" imgW="241300" imgH="330200" progId="Equation.DSMT4">
                  <p:embed/>
                </p:oleObj>
              </mc:Choice>
              <mc:Fallback>
                <p:oleObj name="" r:id="rId15" imgW="241300" imgH="3302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1013" y="2955925"/>
                        <a:ext cx="280987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3" name="Rectangle 23"/>
          <p:cNvSpPr/>
          <p:nvPr/>
        </p:nvSpPr>
        <p:spPr>
          <a:xfrm>
            <a:off x="706438" y="287655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指向电势升高的方向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8024" name="Rectangle 24"/>
          <p:cNvSpPr/>
          <p:nvPr/>
        </p:nvSpPr>
        <p:spPr>
          <a:xfrm>
            <a:off x="282575" y="727075"/>
            <a:ext cx="4805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、电势梯度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8025" name="Text Box 25"/>
          <p:cNvSpPr txBox="1"/>
          <p:nvPr/>
        </p:nvSpPr>
        <p:spPr>
          <a:xfrm>
            <a:off x="582613" y="3851275"/>
            <a:ext cx="77914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</a:rPr>
              <a:t>电场中某点的电势沿过该点等势面的法线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        方向的空间变化率叫该点的电势梯度。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128026" name="AutoShape 26"/>
          <p:cNvSpPr/>
          <p:nvPr/>
        </p:nvSpPr>
        <p:spPr>
          <a:xfrm>
            <a:off x="5502275" y="5489575"/>
            <a:ext cx="217488" cy="882650"/>
          </a:xfrm>
          <a:prstGeom prst="leftBrace">
            <a:avLst>
              <a:gd name="adj1" fmla="val 33819"/>
              <a:gd name="adj2" fmla="val 50000"/>
            </a:avLst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sp>
        <p:nvSpPr>
          <p:cNvPr id="128028" name="Text Box 28"/>
          <p:cNvSpPr txBox="1"/>
          <p:nvPr/>
        </p:nvSpPr>
        <p:spPr>
          <a:xfrm>
            <a:off x="5588000" y="5314950"/>
            <a:ext cx="16668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大小：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128029" name="Object 8"/>
          <p:cNvGraphicFramePr>
            <a:graphicFrameLocks noChangeAspect="1"/>
          </p:cNvGraphicFramePr>
          <p:nvPr/>
        </p:nvGraphicFramePr>
        <p:xfrm>
          <a:off x="6702425" y="5272088"/>
          <a:ext cx="51752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7" imgW="558800" imgH="723900" progId="Equation.DSMT4">
                  <p:embed/>
                </p:oleObj>
              </mc:Choice>
              <mc:Fallback>
                <p:oleObj name="" r:id="rId17" imgW="558800" imgH="7239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02425" y="5272088"/>
                        <a:ext cx="517525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31" name="Text Box 31"/>
          <p:cNvSpPr txBox="1"/>
          <p:nvPr/>
        </p:nvSpPr>
        <p:spPr>
          <a:xfrm>
            <a:off x="5588000" y="5940425"/>
            <a:ext cx="32607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方向：与     同向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128032" name="Object 9"/>
          <p:cNvGraphicFramePr>
            <a:graphicFrameLocks noChangeAspect="1"/>
          </p:cNvGraphicFramePr>
          <p:nvPr/>
        </p:nvGraphicFramePr>
        <p:xfrm>
          <a:off x="7188200" y="5986463"/>
          <a:ext cx="28098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9" imgW="241300" imgH="330200" progId="Equation.DSMT4">
                  <p:embed/>
                </p:oleObj>
              </mc:Choice>
              <mc:Fallback>
                <p:oleObj name="" r:id="rId19" imgW="241300" imgH="330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88200" y="5986463"/>
                        <a:ext cx="280988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33" name="Text Box 33"/>
          <p:cNvSpPr txBox="1"/>
          <p:nvPr/>
        </p:nvSpPr>
        <p:spPr>
          <a:xfrm>
            <a:off x="411163" y="5545138"/>
            <a:ext cx="1335087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数学表达式：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28034" name="Object 10"/>
          <p:cNvGraphicFramePr>
            <a:graphicFrameLocks noChangeAspect="1"/>
          </p:cNvGraphicFramePr>
          <p:nvPr/>
        </p:nvGraphicFramePr>
        <p:xfrm>
          <a:off x="1901825" y="5610225"/>
          <a:ext cx="22685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21" imgW="2209800" imgH="723900" progId="Equation.DSMT4">
                  <p:embed/>
                </p:oleObj>
              </mc:Choice>
              <mc:Fallback>
                <p:oleObj name="" r:id="rId21" imgW="2209800" imgH="7239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01825" y="5610225"/>
                        <a:ext cx="2268538" cy="750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35" name="Rectangle 35"/>
          <p:cNvSpPr/>
          <p:nvPr/>
        </p:nvSpPr>
        <p:spPr>
          <a:xfrm>
            <a:off x="1085850" y="4786313"/>
            <a:ext cx="77263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（实际上是电势在该点的最大空间变化率） 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28037" name="Line 37"/>
          <p:cNvSpPr/>
          <p:nvPr/>
        </p:nvSpPr>
        <p:spPr>
          <a:xfrm>
            <a:off x="6807200" y="1979613"/>
            <a:ext cx="719138" cy="4318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128038" name="Object 11"/>
          <p:cNvGraphicFramePr>
            <a:graphicFrameLocks noChangeAspect="1"/>
          </p:cNvGraphicFramePr>
          <p:nvPr/>
        </p:nvGraphicFramePr>
        <p:xfrm>
          <a:off x="7593013" y="2384425"/>
          <a:ext cx="3698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3" imgW="444500" imgH="520700" progId="Equation.DSMT4">
                  <p:embed/>
                </p:oleObj>
              </mc:Choice>
              <mc:Fallback>
                <p:oleObj name="" r:id="rId23" imgW="444500" imgH="5207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93013" y="2384425"/>
                        <a:ext cx="369887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39" name="Text Box 39"/>
          <p:cNvSpPr txBox="1"/>
          <p:nvPr/>
        </p:nvSpPr>
        <p:spPr>
          <a:xfrm>
            <a:off x="366713" y="3862388"/>
            <a:ext cx="2089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9" name="Text Box 2"/>
          <p:cNvSpPr txBox="1"/>
          <p:nvPr/>
        </p:nvSpPr>
        <p:spPr>
          <a:xfrm>
            <a:off x="250825" y="120650"/>
            <a:ext cx="2760663" cy="519113"/>
          </a:xfrm>
          <a:prstGeom prst="rect">
            <a:avLst/>
          </a:prstGeom>
          <a:solidFill>
            <a:srgbClr val="FFFF99"/>
          </a:solidFill>
          <a:ln w="9525">
            <a:noFill/>
          </a:ln>
          <a:effectLst>
            <a:prstShdw prst="shdw13" dist="53882" dir="13499999">
              <a:schemeClr val="bg2"/>
            </a:prst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33"/>
                </a:solidFill>
                <a:ea typeface="楷体_GB2312" pitchFamily="49" charset="-122"/>
              </a:rPr>
              <a:t>四、电势梯度</a:t>
            </a:r>
            <a:endParaRPr lang="zh-CN" altLang="en-US" sz="2800" b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9219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 Box 33"/>
          <p:cNvSpPr txBox="1"/>
          <p:nvPr/>
        </p:nvSpPr>
        <p:spPr>
          <a:xfrm>
            <a:off x="4464050" y="5664200"/>
            <a:ext cx="31670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矢量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40" name="Object 40"/>
          <p:cNvGraphicFramePr>
            <a:graphicFrameLocks noChangeAspect="1"/>
          </p:cNvGraphicFramePr>
          <p:nvPr/>
        </p:nvGraphicFramePr>
        <p:xfrm>
          <a:off x="468313" y="3433763"/>
          <a:ext cx="3032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5" imgW="317500" imgH="393065" progId="Equation.DSMT4">
                  <p:embed/>
                </p:oleObj>
              </mc:Choice>
              <mc:Fallback>
                <p:oleObj name="" r:id="rId25" imgW="317500" imgH="393065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8313" y="3433763"/>
                        <a:ext cx="303212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23"/>
          <p:cNvSpPr/>
          <p:nvPr/>
        </p:nvSpPr>
        <p:spPr>
          <a:xfrm>
            <a:off x="728663" y="3382963"/>
            <a:ext cx="4419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指向电势降低的方向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12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12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75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75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75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75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75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74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1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5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75"/>
                                        <p:tgtEl>
                                          <p:spTgt spid="1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75"/>
                                        <p:tgtEl>
                                          <p:spTgt spid="12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5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2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5" dur="500"/>
                                        <p:tgtEl>
                                          <p:spTgt spid="128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8" dur="500"/>
                                        <p:tgtEl>
                                          <p:spTgt spid="128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28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40" grpId="0" animBg="1"/>
      <p:bldP spid="128007" grpId="0" animBg="1"/>
      <p:bldP spid="128008" grpId="0" animBg="1"/>
      <p:bldP spid="128019" grpId="0"/>
      <p:bldP spid="128020" grpId="0"/>
      <p:bldP spid="128021" grpId="0"/>
      <p:bldP spid="128023" grpId="0"/>
      <p:bldP spid="128024" grpId="0"/>
      <p:bldP spid="128025" grpId="0"/>
      <p:bldP spid="128026" grpId="0" animBg="1"/>
      <p:bldP spid="128028" grpId="0"/>
      <p:bldP spid="128031" grpId="0"/>
      <p:bldP spid="128033" grpId="0"/>
      <p:bldP spid="128035" grpId="0"/>
      <p:bldP spid="128039" grpId="0"/>
      <p:bldP spid="39" grpId="0" animBg="1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716" name="Rectangle 36"/>
          <p:cNvSpPr/>
          <p:nvPr/>
        </p:nvSpPr>
        <p:spPr>
          <a:xfrm>
            <a:off x="469900" y="2066925"/>
            <a:ext cx="2952750" cy="2808288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sp>
        <p:nvSpPr>
          <p:cNvPr id="199682" name="Text Box 2"/>
          <p:cNvSpPr txBox="1"/>
          <p:nvPr/>
        </p:nvSpPr>
        <p:spPr>
          <a:xfrm>
            <a:off x="128588" y="200025"/>
            <a:ext cx="7016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、电场强度与电势梯度的关系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99683" name="Text Box 3"/>
          <p:cNvSpPr txBox="1"/>
          <p:nvPr/>
        </p:nvSpPr>
        <p:spPr>
          <a:xfrm>
            <a:off x="417513" y="942975"/>
            <a:ext cx="81915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80808"/>
                </a:solidFill>
              </a:rPr>
              <a:t>根据电势差的定义</a:t>
            </a:r>
            <a:r>
              <a:rPr lang="en-US" altLang="zh-CN" sz="2800" b="1" dirty="0">
                <a:solidFill>
                  <a:srgbClr val="080808"/>
                </a:solidFill>
              </a:rPr>
              <a:t>, </a:t>
            </a:r>
            <a:r>
              <a:rPr lang="zh-CN" altLang="en-US" sz="2800" b="1" dirty="0">
                <a:solidFill>
                  <a:srgbClr val="080808"/>
                </a:solidFill>
              </a:rPr>
              <a:t>把</a:t>
            </a:r>
            <a:r>
              <a:rPr lang="zh-CN" altLang="en-US" sz="2800" b="1" dirty="0">
                <a:solidFill>
                  <a:srgbClr val="FF3300"/>
                </a:solidFill>
              </a:rPr>
              <a:t>单位正电荷</a:t>
            </a:r>
            <a:r>
              <a:rPr lang="zh-CN" altLang="en-US" sz="2800" b="1" dirty="0">
                <a:solidFill>
                  <a:srgbClr val="080808"/>
                </a:solidFill>
              </a:rPr>
              <a:t>从</a:t>
            </a:r>
            <a:r>
              <a:rPr lang="en-US" altLang="zh-CN" sz="2800" b="1" i="1" dirty="0">
                <a:solidFill>
                  <a:srgbClr val="080808"/>
                </a:solidFill>
              </a:rPr>
              <a:t>P</a:t>
            </a:r>
            <a:r>
              <a:rPr lang="en-US" altLang="zh-CN" sz="2800" b="1" baseline="-25000" dirty="0">
                <a:solidFill>
                  <a:srgbClr val="080808"/>
                </a:solidFill>
              </a:rPr>
              <a:t>a</a:t>
            </a:r>
            <a:r>
              <a:rPr lang="zh-CN" altLang="en-US" sz="2800" b="1" dirty="0">
                <a:solidFill>
                  <a:srgbClr val="080808"/>
                </a:solidFill>
              </a:rPr>
              <a:t>移到</a:t>
            </a:r>
            <a:r>
              <a:rPr lang="en-US" altLang="zh-CN" sz="2800" b="1" i="1" dirty="0">
                <a:solidFill>
                  <a:srgbClr val="080808"/>
                </a:solidFill>
              </a:rPr>
              <a:t>P</a:t>
            </a:r>
            <a:r>
              <a:rPr lang="en-US" altLang="zh-CN" sz="2800" b="1" baseline="-25000" dirty="0">
                <a:solidFill>
                  <a:srgbClr val="080808"/>
                </a:solidFill>
              </a:rPr>
              <a:t>b</a:t>
            </a:r>
            <a:r>
              <a:rPr lang="zh-CN" altLang="en-US" sz="2800" b="1" dirty="0">
                <a:solidFill>
                  <a:srgbClr val="080808"/>
                </a:solidFill>
              </a:rPr>
              <a:t>电场力所作的功为：</a:t>
            </a:r>
            <a:endParaRPr lang="zh-CN" altLang="en-US" sz="2800" b="1" dirty="0">
              <a:solidFill>
                <a:srgbClr val="080808"/>
              </a:solidFill>
            </a:endParaRPr>
          </a:p>
        </p:txBody>
      </p:sp>
      <p:graphicFrame>
        <p:nvGraphicFramePr>
          <p:cNvPr id="199684" name="Object 2"/>
          <p:cNvGraphicFramePr>
            <a:graphicFrameLocks noChangeAspect="1"/>
          </p:cNvGraphicFramePr>
          <p:nvPr/>
        </p:nvGraphicFramePr>
        <p:xfrm>
          <a:off x="4033838" y="2613025"/>
          <a:ext cx="3190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3149600" imgH="406400" progId="Equation.DSMT4">
                  <p:embed/>
                </p:oleObj>
              </mc:Choice>
              <mc:Fallback>
                <p:oleObj name="" r:id="rId1" imgW="3149600" imgH="4064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33838" y="2613025"/>
                        <a:ext cx="3190875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3"/>
          <p:cNvGraphicFramePr>
            <a:graphicFrameLocks noChangeAspect="1"/>
          </p:cNvGraphicFramePr>
          <p:nvPr/>
        </p:nvGraphicFramePr>
        <p:xfrm>
          <a:off x="4656138" y="3176588"/>
          <a:ext cx="1208087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1205865" imgH="723900" progId="Equation.DSMT4">
                  <p:embed/>
                </p:oleObj>
              </mc:Choice>
              <mc:Fallback>
                <p:oleObj name="" r:id="rId3" imgW="1205865" imgH="7239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6138" y="3176588"/>
                        <a:ext cx="1208087" cy="801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8" name="Object 5"/>
          <p:cNvGraphicFramePr>
            <a:graphicFrameLocks noChangeAspect="1"/>
          </p:cNvGraphicFramePr>
          <p:nvPr/>
        </p:nvGraphicFramePr>
        <p:xfrm>
          <a:off x="4113213" y="4224338"/>
          <a:ext cx="34036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3403600" imgH="723900" progId="Equation.DSMT4">
                  <p:embed/>
                </p:oleObj>
              </mc:Choice>
              <mc:Fallback>
                <p:oleObj name="" r:id="rId5" imgW="3403600" imgH="7239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3213" y="4224338"/>
                        <a:ext cx="3403600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730250" y="5273675"/>
            <a:ext cx="8281988" cy="536575"/>
            <a:chOff x="385" y="3467"/>
            <a:chExt cx="5217" cy="338"/>
          </a:xfrm>
        </p:grpSpPr>
        <p:sp>
          <p:nvSpPr>
            <p:cNvPr id="93219" name="Rectangle 10"/>
            <p:cNvSpPr/>
            <p:nvPr/>
          </p:nvSpPr>
          <p:spPr>
            <a:xfrm>
              <a:off x="385" y="3478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即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:</a:t>
              </a:r>
              <a:r>
                <a:rPr lang="zh-CN" altLang="en-US" sz="2800" b="1" dirty="0">
                  <a:solidFill>
                    <a:srgbClr val="FF0000"/>
                  </a:solidFill>
                  <a:ea typeface="楷体_GB2312" pitchFamily="49" charset="-122"/>
                </a:rPr>
                <a:t>电场中某点的场强    等于该点电势梯度的负值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 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93220" name="Object 17"/>
            <p:cNvGraphicFramePr>
              <a:graphicFrameLocks noChangeAspect="1"/>
            </p:cNvGraphicFramePr>
            <p:nvPr/>
          </p:nvGraphicFramePr>
          <p:xfrm>
            <a:off x="2534" y="3467"/>
            <a:ext cx="2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7" imgW="193040" imgH="243205" progId="Equation.DSMT4">
                    <p:embed/>
                  </p:oleObj>
                </mc:Choice>
                <mc:Fallback>
                  <p:oleObj name="" r:id="rId7" imgW="193040" imgH="243205" progId="Equation.DSMT4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333333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34" y="3467"/>
                          <a:ext cx="260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/>
          <p:nvPr/>
        </p:nvGrpSpPr>
        <p:grpSpPr>
          <a:xfrm>
            <a:off x="588963" y="2217738"/>
            <a:ext cx="2667000" cy="2674937"/>
            <a:chOff x="3792" y="144"/>
            <a:chExt cx="1680" cy="1685"/>
          </a:xfrm>
        </p:grpSpPr>
        <p:sp>
          <p:nvSpPr>
            <p:cNvPr id="93203" name="Arc 13"/>
            <p:cNvSpPr/>
            <p:nvPr/>
          </p:nvSpPr>
          <p:spPr>
            <a:xfrm>
              <a:off x="3792" y="432"/>
              <a:ext cx="576" cy="10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</a:cxnLst>
              <a:pathLst>
                <a:path w="21600" h="37695" fill="none">
                  <a:moveTo>
                    <a:pt x="9496" y="-1"/>
                  </a:moveTo>
                  <a:cubicBezTo>
                    <a:pt x="16903" y="3625"/>
                    <a:pt x="21600" y="11152"/>
                    <a:pt x="21600" y="19400"/>
                  </a:cubicBezTo>
                  <a:cubicBezTo>
                    <a:pt x="21600" y="26833"/>
                    <a:pt x="17778" y="33744"/>
                    <a:pt x="11482" y="37695"/>
                  </a:cubicBezTo>
                </a:path>
                <a:path w="21600" h="37695" stroke="0">
                  <a:moveTo>
                    <a:pt x="9496" y="-1"/>
                  </a:moveTo>
                  <a:cubicBezTo>
                    <a:pt x="16903" y="3625"/>
                    <a:pt x="21600" y="11152"/>
                    <a:pt x="21600" y="19400"/>
                  </a:cubicBezTo>
                  <a:cubicBezTo>
                    <a:pt x="21600" y="26833"/>
                    <a:pt x="17778" y="33744"/>
                    <a:pt x="11482" y="37695"/>
                  </a:cubicBezTo>
                  <a:lnTo>
                    <a:pt x="0" y="19400"/>
                  </a:lnTo>
                  <a:lnTo>
                    <a:pt x="9496" y="-1"/>
                  </a:lnTo>
                  <a:close/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204" name="Arc 14"/>
            <p:cNvSpPr/>
            <p:nvPr/>
          </p:nvSpPr>
          <p:spPr>
            <a:xfrm>
              <a:off x="4032" y="144"/>
              <a:ext cx="864" cy="15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1"/>
                </a:cxn>
              </a:cxnLst>
              <a:pathLst>
                <a:path w="21600" h="37880" fill="none">
                  <a:moveTo>
                    <a:pt x="9550" y="-1"/>
                  </a:moveTo>
                  <a:cubicBezTo>
                    <a:pt x="16928" y="3636"/>
                    <a:pt x="21600" y="11148"/>
                    <a:pt x="21600" y="19374"/>
                  </a:cubicBezTo>
                  <a:cubicBezTo>
                    <a:pt x="21600" y="26950"/>
                    <a:pt x="17630" y="33973"/>
                    <a:pt x="11139" y="37880"/>
                  </a:cubicBezTo>
                </a:path>
                <a:path w="21600" h="37880" stroke="0">
                  <a:moveTo>
                    <a:pt x="9550" y="-1"/>
                  </a:moveTo>
                  <a:cubicBezTo>
                    <a:pt x="16928" y="3636"/>
                    <a:pt x="21600" y="11148"/>
                    <a:pt x="21600" y="19374"/>
                  </a:cubicBezTo>
                  <a:cubicBezTo>
                    <a:pt x="21600" y="26950"/>
                    <a:pt x="17630" y="33973"/>
                    <a:pt x="11139" y="37880"/>
                  </a:cubicBezTo>
                  <a:lnTo>
                    <a:pt x="0" y="19374"/>
                  </a:lnTo>
                  <a:lnTo>
                    <a:pt x="9550" y="-1"/>
                  </a:lnTo>
                  <a:close/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93205" name="Object 9"/>
            <p:cNvGraphicFramePr>
              <a:graphicFrameLocks noChangeAspect="1"/>
            </p:cNvGraphicFramePr>
            <p:nvPr/>
          </p:nvGraphicFramePr>
          <p:xfrm>
            <a:off x="3947" y="1447"/>
            <a:ext cx="170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9" imgW="292100" imgH="304800" progId="Equation.3">
                    <p:embed/>
                  </p:oleObj>
                </mc:Choice>
                <mc:Fallback>
                  <p:oleObj name="" r:id="rId9" imgW="292100" imgH="3048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47" y="1447"/>
                          <a:ext cx="170" cy="1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6" name="Object 10"/>
            <p:cNvGraphicFramePr>
              <a:graphicFrameLocks noChangeAspect="1"/>
            </p:cNvGraphicFramePr>
            <p:nvPr/>
          </p:nvGraphicFramePr>
          <p:xfrm>
            <a:off x="4275" y="1607"/>
            <a:ext cx="61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1" imgW="1180465" imgH="431800" progId="Equation.DSMT4">
                    <p:embed/>
                  </p:oleObj>
                </mc:Choice>
                <mc:Fallback>
                  <p:oleObj name="" r:id="rId11" imgW="1180465" imgH="4318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75" y="1607"/>
                          <a:ext cx="610" cy="2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07" name="Oval 17"/>
            <p:cNvSpPr/>
            <p:nvPr/>
          </p:nvSpPr>
          <p:spPr>
            <a:xfrm rot="-5400000">
              <a:off x="4320" y="864"/>
              <a:ext cx="48" cy="48"/>
            </a:xfrm>
            <a:prstGeom prst="ellipse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333333"/>
                </a:solidFill>
              </a:endParaRPr>
            </a:p>
          </p:txBody>
        </p:sp>
        <p:sp>
          <p:nvSpPr>
            <p:cNvPr id="93208" name="Oval 18"/>
            <p:cNvSpPr/>
            <p:nvPr/>
          </p:nvSpPr>
          <p:spPr>
            <a:xfrm rot="-5400000">
              <a:off x="4848" y="864"/>
              <a:ext cx="48" cy="48"/>
            </a:xfrm>
            <a:prstGeom prst="ellipse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333333"/>
                </a:solidFill>
              </a:endParaRPr>
            </a:p>
          </p:txBody>
        </p:sp>
        <p:graphicFrame>
          <p:nvGraphicFramePr>
            <p:cNvPr id="93209" name="Object 11"/>
            <p:cNvGraphicFramePr>
              <a:graphicFrameLocks noChangeAspect="1"/>
            </p:cNvGraphicFramePr>
            <p:nvPr/>
          </p:nvGraphicFramePr>
          <p:xfrm>
            <a:off x="4078" y="847"/>
            <a:ext cx="24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3" imgW="177800" imgH="228600" progId="Equation.DSMT4">
                    <p:embed/>
                  </p:oleObj>
                </mc:Choice>
                <mc:Fallback>
                  <p:oleObj name="" r:id="rId13" imgW="177800" imgH="2286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78" y="847"/>
                          <a:ext cx="244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10" name="Object 12"/>
            <p:cNvGraphicFramePr>
              <a:graphicFrameLocks noChangeAspect="1"/>
            </p:cNvGraphicFramePr>
            <p:nvPr/>
          </p:nvGraphicFramePr>
          <p:xfrm>
            <a:off x="4896" y="844"/>
            <a:ext cx="24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5" imgW="177800" imgH="228600" progId="Equation.DSMT4">
                    <p:embed/>
                  </p:oleObj>
                </mc:Choice>
                <mc:Fallback>
                  <p:oleObj name="" r:id="rId15" imgW="177800" imgH="228600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96" y="844"/>
                          <a:ext cx="247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211" name="Group 21"/>
            <p:cNvGrpSpPr/>
            <p:nvPr/>
          </p:nvGrpSpPr>
          <p:grpSpPr>
            <a:xfrm>
              <a:off x="3792" y="576"/>
              <a:ext cx="576" cy="288"/>
              <a:chOff x="0" y="1152"/>
              <a:chExt cx="576" cy="288"/>
            </a:xfrm>
          </p:grpSpPr>
          <p:sp>
            <p:nvSpPr>
              <p:cNvPr id="93217" name="Line 22"/>
              <p:cNvSpPr/>
              <p:nvPr/>
            </p:nvSpPr>
            <p:spPr>
              <a:xfrm flipH="1">
                <a:off x="0" y="1440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93218" name="Object 15"/>
              <p:cNvGraphicFramePr>
                <a:graphicFrameLocks noChangeAspect="1"/>
              </p:cNvGraphicFramePr>
              <p:nvPr/>
            </p:nvGraphicFramePr>
            <p:xfrm>
              <a:off x="144" y="1152"/>
              <a:ext cx="21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name="" r:id="rId17" imgW="342900" imgH="381000" progId="Equation.3">
                      <p:embed/>
                    </p:oleObj>
                  </mc:Choice>
                  <mc:Fallback>
                    <p:oleObj name="" r:id="rId17" imgW="342900" imgH="38100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44" y="1152"/>
                            <a:ext cx="216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3212" name="Group 24"/>
            <p:cNvGrpSpPr/>
            <p:nvPr/>
          </p:nvGrpSpPr>
          <p:grpSpPr>
            <a:xfrm>
              <a:off x="4368" y="496"/>
              <a:ext cx="528" cy="320"/>
              <a:chOff x="4416" y="1408"/>
              <a:chExt cx="528" cy="320"/>
            </a:xfrm>
          </p:grpSpPr>
          <p:sp>
            <p:nvSpPr>
              <p:cNvPr id="93215" name="AutoShape 25"/>
              <p:cNvSpPr/>
              <p:nvPr/>
            </p:nvSpPr>
            <p:spPr>
              <a:xfrm rot="5400000">
                <a:off x="4632" y="1416"/>
                <a:ext cx="96" cy="528"/>
              </a:xfrm>
              <a:prstGeom prst="leftBrace">
                <a:avLst>
                  <a:gd name="adj1" fmla="val 45833"/>
                  <a:gd name="adj2" fmla="val 50000"/>
                </a:avLst>
              </a:prstGeom>
              <a:noFill/>
              <a:ln w="2857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solidFill>
                    <a:srgbClr val="333333"/>
                  </a:solidFill>
                </a:endParaRPr>
              </a:p>
            </p:txBody>
          </p:sp>
          <p:graphicFrame>
            <p:nvGraphicFramePr>
              <p:cNvPr id="93216" name="Object 14"/>
              <p:cNvGraphicFramePr>
                <a:graphicFrameLocks noChangeAspect="1"/>
              </p:cNvGraphicFramePr>
              <p:nvPr/>
            </p:nvGraphicFramePr>
            <p:xfrm>
              <a:off x="4536" y="1408"/>
              <a:ext cx="22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8" name="" r:id="rId19" imgW="355600" imgH="279400" progId="Equation.DSMT4">
                      <p:embed/>
                    </p:oleObj>
                  </mc:Choice>
                  <mc:Fallback>
                    <p:oleObj name="" r:id="rId19" imgW="355600" imgH="279400" progId="Equation.DSMT4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36" y="1408"/>
                            <a:ext cx="224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3213" name="Line 27"/>
            <p:cNvSpPr/>
            <p:nvPr/>
          </p:nvSpPr>
          <p:spPr>
            <a:xfrm>
              <a:off x="4368" y="864"/>
              <a:ext cx="1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93214" name="Object 13"/>
            <p:cNvGraphicFramePr>
              <a:graphicFrameLocks noChangeAspect="1"/>
            </p:cNvGraphicFramePr>
            <p:nvPr/>
          </p:nvGraphicFramePr>
          <p:xfrm>
            <a:off x="5289" y="594"/>
            <a:ext cx="158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21" imgW="215900" imgH="292100" progId="Equation.DSMT4">
                    <p:embed/>
                  </p:oleObj>
                </mc:Choice>
                <mc:Fallback>
                  <p:oleObj name="" r:id="rId21" imgW="215900" imgH="2921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89" y="594"/>
                          <a:ext cx="158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9709" name="Object 6"/>
          <p:cNvGraphicFramePr>
            <a:graphicFrameLocks noChangeAspect="1"/>
          </p:cNvGraphicFramePr>
          <p:nvPr/>
        </p:nvGraphicFramePr>
        <p:xfrm>
          <a:off x="5605463" y="2068513"/>
          <a:ext cx="20891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23" imgW="2209800" imgH="393700" progId="Equation.DSMT4">
                  <p:embed/>
                </p:oleObj>
              </mc:Choice>
              <mc:Fallback>
                <p:oleObj name="" r:id="rId23" imgW="2209800" imgH="3937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05463" y="2068513"/>
                        <a:ext cx="2089150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0"/>
          <p:cNvGrpSpPr/>
          <p:nvPr/>
        </p:nvGrpSpPr>
        <p:grpSpPr>
          <a:xfrm>
            <a:off x="3813175" y="2005013"/>
            <a:ext cx="1701800" cy="454025"/>
            <a:chOff x="1117" y="912"/>
            <a:chExt cx="1047" cy="258"/>
          </a:xfrm>
        </p:grpSpPr>
        <p:graphicFrame>
          <p:nvGraphicFramePr>
            <p:cNvPr id="93201" name="Object 8"/>
            <p:cNvGraphicFramePr>
              <a:graphicFrameLocks noChangeAspect="1"/>
            </p:cNvGraphicFramePr>
            <p:nvPr/>
          </p:nvGraphicFramePr>
          <p:xfrm>
            <a:off x="1117" y="912"/>
            <a:ext cx="104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25" imgW="1663065" imgH="406400" progId="Equation.DSMT4">
                    <p:embed/>
                  </p:oleObj>
                </mc:Choice>
                <mc:Fallback>
                  <p:oleObj name="" r:id="rId25" imgW="1663065" imgH="4064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17" y="912"/>
                          <a:ext cx="1047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02" name="Line 32"/>
            <p:cNvSpPr/>
            <p:nvPr/>
          </p:nvSpPr>
          <p:spPr>
            <a:xfrm>
              <a:off x="1152" y="1008"/>
              <a:ext cx="96" cy="0"/>
            </a:xfrm>
            <a:prstGeom prst="line">
              <a:avLst/>
            </a:prstGeom>
            <a:ln w="19050">
              <a:noFill/>
            </a:ln>
          </p:spPr>
        </p:sp>
      </p:grpSp>
      <p:graphicFrame>
        <p:nvGraphicFramePr>
          <p:cNvPr id="199713" name="Object 7"/>
          <p:cNvGraphicFramePr>
            <a:graphicFrameLocks noChangeAspect="1"/>
          </p:cNvGraphicFramePr>
          <p:nvPr/>
        </p:nvGraphicFramePr>
        <p:xfrm>
          <a:off x="3843338" y="5911850"/>
          <a:ext cx="20494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7" imgW="888365" imgH="241300" progId="Equation.DSMT4">
                  <p:embed/>
                </p:oleObj>
              </mc:Choice>
              <mc:Fallback>
                <p:oleObj name="" r:id="rId27" imgW="888365" imgH="2413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43338" y="5911850"/>
                        <a:ext cx="2049462" cy="60483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30196"/>
                        </a:srgbClr>
                      </a:solidFill>
                      <a:ln w="158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" name="Object 16"/>
          <p:cNvGraphicFramePr>
            <a:graphicFrameLocks noChangeAspect="1"/>
          </p:cNvGraphicFramePr>
          <p:nvPr/>
        </p:nvGraphicFramePr>
        <p:xfrm>
          <a:off x="5175250" y="55563"/>
          <a:ext cx="28194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29" imgW="1129665" imgH="330200" progId="Equation.3">
                  <p:embed/>
                </p:oleObj>
              </mc:Choice>
              <mc:Fallback>
                <p:oleObj name="" r:id="rId29" imgW="1129665" imgH="330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175250" y="55563"/>
                        <a:ext cx="2819400" cy="823912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66" name="Object 18"/>
          <p:cNvGraphicFramePr>
            <a:graphicFrameLocks noChangeAspect="1"/>
          </p:cNvGraphicFramePr>
          <p:nvPr/>
        </p:nvGraphicFramePr>
        <p:xfrm>
          <a:off x="6597650" y="3173413"/>
          <a:ext cx="22685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1" imgW="2209800" imgH="723900" progId="Equation.DSMT4">
                  <p:embed/>
                </p:oleObj>
              </mc:Choice>
              <mc:Fallback>
                <p:oleObj name="" r:id="rId31" imgW="2209800" imgH="7239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97650" y="3173413"/>
                        <a:ext cx="2268538" cy="750887"/>
                      </a:xfrm>
                      <a:prstGeom prst="rect">
                        <a:avLst/>
                      </a:prstGeom>
                      <a:noFill/>
                      <a:ln w="158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9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108" name="Object 36"/>
          <p:cNvGraphicFramePr>
            <a:graphicFrameLocks noChangeAspect="1"/>
          </p:cNvGraphicFramePr>
          <p:nvPr/>
        </p:nvGraphicFramePr>
        <p:xfrm>
          <a:off x="5919788" y="5980113"/>
          <a:ext cx="12747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3" imgW="494665" imgH="177800" progId="Equation.DSMT4">
                  <p:embed/>
                </p:oleObj>
              </mc:Choice>
              <mc:Fallback>
                <p:oleObj name="" r:id="rId33" imgW="494665" imgH="177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919788" y="5980113"/>
                        <a:ext cx="1274762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16" grpId="0" animBg="1"/>
      <p:bldP spid="199682" grpId="0"/>
      <p:bldP spid="1996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10" name="Text Box 6"/>
          <p:cNvSpPr txBox="1"/>
          <p:nvPr/>
        </p:nvSpPr>
        <p:spPr>
          <a:xfrm>
            <a:off x="2176463" y="831850"/>
            <a:ext cx="2886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积分关系：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0715" name="Rectangle 11"/>
          <p:cNvSpPr/>
          <p:nvPr/>
        </p:nvSpPr>
        <p:spPr>
          <a:xfrm>
            <a:off x="2181225" y="1512888"/>
            <a:ext cx="3175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微分关系：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0720" name="Text Box 16"/>
          <p:cNvSpPr txBox="1"/>
          <p:nvPr/>
        </p:nvSpPr>
        <p:spPr>
          <a:xfrm>
            <a:off x="2111375" y="47625"/>
            <a:ext cx="535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电场强度与电势的关系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4251325" y="590550"/>
          <a:ext cx="23717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989965" imgH="330200" progId="Equation.3">
                  <p:embed/>
                </p:oleObj>
              </mc:Choice>
              <mc:Fallback>
                <p:oleObj name="" r:id="rId1" imgW="989965" imgH="3302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51325" y="590550"/>
                        <a:ext cx="2371725" cy="7905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30196"/>
                        </a:srgbClr>
                      </a:solidFill>
                      <a:ln w="1587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5886" name="Object 14"/>
          <p:cNvGraphicFramePr>
            <a:graphicFrameLocks noChangeAspect="1"/>
          </p:cNvGraphicFramePr>
          <p:nvPr/>
        </p:nvGraphicFramePr>
        <p:xfrm>
          <a:off x="4694238" y="1465263"/>
          <a:ext cx="14922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647700" imgH="241300" progId="Equation.DSMT4">
                  <p:embed/>
                </p:oleObj>
              </mc:Choice>
              <mc:Fallback>
                <p:oleObj name="" r:id="rId3" imgW="647700" imgH="2413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4238" y="1465263"/>
                        <a:ext cx="1492250" cy="604837"/>
                      </a:xfrm>
                      <a:prstGeom prst="rect">
                        <a:avLst/>
                      </a:prstGeom>
                      <a:solidFill>
                        <a:srgbClr val="FFFF00">
                          <a:alpha val="30196"/>
                        </a:srgbClr>
                      </a:solidFill>
                      <a:ln w="158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8"/>
          <p:cNvSpPr txBox="1"/>
          <p:nvPr/>
        </p:nvSpPr>
        <p:spPr>
          <a:xfrm>
            <a:off x="142875" y="3044825"/>
            <a:ext cx="838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(3) 若电势函数用直角坐标表示时：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V=V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 y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 z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)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1" name="Text Box 9"/>
          <p:cNvSpPr txBox="1"/>
          <p:nvPr/>
        </p:nvSpPr>
        <p:spPr>
          <a:xfrm>
            <a:off x="5605463" y="4700588"/>
            <a:ext cx="24177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则：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6804025" y="3665538"/>
          <a:ext cx="16081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723900" imgH="406400" progId="Equation.3">
                  <p:embed/>
                </p:oleObj>
              </mc:Choice>
              <mc:Fallback>
                <p:oleObj name="" r:id="rId5" imgW="723900" imgH="4064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4025" y="3665538"/>
                        <a:ext cx="1608138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"/>
          <p:cNvGraphicFramePr>
            <a:graphicFrameLocks noChangeAspect="1"/>
          </p:cNvGraphicFramePr>
          <p:nvPr/>
        </p:nvGraphicFramePr>
        <p:xfrm>
          <a:off x="6804025" y="4579938"/>
          <a:ext cx="16351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7" imgW="723900" imgH="431800" progId="Equation.3">
                  <p:embed/>
                </p:oleObj>
              </mc:Choice>
              <mc:Fallback>
                <p:oleObj name="" r:id="rId7" imgW="723900" imgH="4318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04025" y="4579938"/>
                        <a:ext cx="1635125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5"/>
          <p:cNvGraphicFramePr>
            <a:graphicFrameLocks noChangeAspect="1"/>
          </p:cNvGraphicFramePr>
          <p:nvPr/>
        </p:nvGraphicFramePr>
        <p:xfrm>
          <a:off x="6804025" y="5494338"/>
          <a:ext cx="16113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9" imgW="711200" imgH="419100" progId="Equation.3">
                  <p:embed/>
                </p:oleObj>
              </mc:Choice>
              <mc:Fallback>
                <p:oleObj name="" r:id="rId9" imgW="711200" imgH="419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4025" y="5494338"/>
                        <a:ext cx="1611313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13"/>
          <p:cNvSpPr/>
          <p:nvPr/>
        </p:nvSpPr>
        <p:spPr>
          <a:xfrm>
            <a:off x="6362700" y="3995738"/>
            <a:ext cx="274638" cy="2154237"/>
          </a:xfrm>
          <a:prstGeom prst="leftBrace">
            <a:avLst>
              <a:gd name="adj1" fmla="val 53963"/>
              <a:gd name="adj2" fmla="val 50000"/>
            </a:avLst>
          </a:prstGeom>
          <a:noFill/>
          <a:ln w="381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  <p:graphicFrame>
        <p:nvGraphicFramePr>
          <p:cNvPr id="36" name="Object 6"/>
          <p:cNvGraphicFramePr>
            <a:graphicFrameLocks noChangeAspect="1"/>
          </p:cNvGraphicFramePr>
          <p:nvPr/>
        </p:nvGraphicFramePr>
        <p:xfrm>
          <a:off x="957263" y="4875213"/>
          <a:ext cx="39687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1" imgW="1841500" imgH="469900" progId="Equation.3">
                  <p:embed/>
                </p:oleObj>
              </mc:Choice>
              <mc:Fallback>
                <p:oleObj name="" r:id="rId11" imgW="1841500" imgH="469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7263" y="4875213"/>
                        <a:ext cx="396875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6"/>
          <p:cNvSpPr txBox="1"/>
          <p:nvPr/>
        </p:nvSpPr>
        <p:spPr>
          <a:xfrm>
            <a:off x="557213" y="61341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得：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8" name="Object 8"/>
          <p:cNvGraphicFramePr>
            <a:graphicFrameLocks noChangeAspect="1"/>
          </p:cNvGraphicFramePr>
          <p:nvPr/>
        </p:nvGraphicFramePr>
        <p:xfrm>
          <a:off x="1579563" y="3722688"/>
          <a:ext cx="38100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3" imgW="1422400" imgH="431800" progId="Equation.3">
                  <p:embed/>
                </p:oleObj>
              </mc:Choice>
              <mc:Fallback>
                <p:oleObj name="" r:id="rId13" imgW="1422400" imgH="4318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79563" y="3722688"/>
                        <a:ext cx="3810000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9"/>
          <p:cNvSpPr txBox="1"/>
          <p:nvPr/>
        </p:nvSpPr>
        <p:spPr>
          <a:xfrm>
            <a:off x="455613" y="3638550"/>
            <a:ext cx="1219200" cy="1031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梯度算符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51567" name="Object 7"/>
          <p:cNvGraphicFramePr>
            <a:graphicFrameLocks noChangeAspect="1"/>
          </p:cNvGraphicFramePr>
          <p:nvPr/>
        </p:nvGraphicFramePr>
        <p:xfrm>
          <a:off x="1276350" y="5997575"/>
          <a:ext cx="37338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5" imgW="1346200" imgH="228600" progId="Equation.DSMT4">
                  <p:embed/>
                </p:oleObj>
              </mc:Choice>
              <mc:Fallback>
                <p:oleObj name="" r:id="rId15" imgW="1346200" imgH="2286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76350" y="5997575"/>
                        <a:ext cx="3733800" cy="6302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99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6"/>
          <p:cNvSpPr txBox="1"/>
          <p:nvPr/>
        </p:nvSpPr>
        <p:spPr>
          <a:xfrm>
            <a:off x="158750" y="2124075"/>
            <a:ext cx="942975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(2) 场中任一点，沿不同方向，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的空间变化率一般不等。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电势梯度为空间变化率的最大值。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1447800" cy="5191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>
            <a:outerShdw dist="107763" dir="135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结论：</a:t>
            </a:r>
            <a:endParaRPr kumimoji="1" lang="zh-CN" altLang="en-US" sz="2800" b="1" kern="1200" cap="none" spc="0" normalizeH="0" baseline="0" noProof="0" dirty="0">
              <a:solidFill>
                <a:srgbClr val="333333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9422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0" grpId="0"/>
      <p:bldP spid="200715" grpId="0"/>
      <p:bldP spid="200720" grpId="0"/>
      <p:bldP spid="30" grpId="0"/>
      <p:bldP spid="31" grpId="0"/>
      <p:bldP spid="35" grpId="0" animBg="1"/>
      <p:bldP spid="37" grpId="0"/>
      <p:bldP spid="39" grpId="0"/>
      <p:bldP spid="41" grpId="0"/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</a:fld>
            <a:endParaRPr lang="zh-CN" alt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-1587" y="74613"/>
            <a:ext cx="946943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1.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求均匀带电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q </a:t>
            </a:r>
            <a:r>
              <a:rPr kumimoji="1" lang="en-US" altLang="zh-CN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半径为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R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的圆环轴线上任意一点的场强。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81000" y="884238"/>
            <a:ext cx="3019425" cy="1905000"/>
            <a:chOff x="624" y="1056"/>
            <a:chExt cx="1954" cy="1200"/>
          </a:xfrm>
        </p:grpSpPr>
        <p:sp>
          <p:nvSpPr>
            <p:cNvPr id="96280" name="Oval 4"/>
            <p:cNvSpPr/>
            <p:nvPr/>
          </p:nvSpPr>
          <p:spPr>
            <a:xfrm>
              <a:off x="624" y="1056"/>
              <a:ext cx="576" cy="1200"/>
            </a:xfrm>
            <a:prstGeom prst="ellipse">
              <a:avLst/>
            </a:prstGeom>
            <a:noFill/>
            <a:ln w="7620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333333"/>
                </a:solidFill>
              </a:endParaRPr>
            </a:p>
          </p:txBody>
        </p:sp>
        <p:sp>
          <p:nvSpPr>
            <p:cNvPr id="96281" name="Line 5"/>
            <p:cNvSpPr/>
            <p:nvPr/>
          </p:nvSpPr>
          <p:spPr>
            <a:xfrm>
              <a:off x="864" y="1056"/>
              <a:ext cx="96" cy="0"/>
            </a:xfrm>
            <a:prstGeom prst="line">
              <a:avLst/>
            </a:prstGeom>
            <a:ln w="762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282" name="Line 6"/>
            <p:cNvSpPr/>
            <p:nvPr/>
          </p:nvSpPr>
          <p:spPr>
            <a:xfrm>
              <a:off x="912" y="1632"/>
              <a:ext cx="15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283" name="Line 7"/>
            <p:cNvSpPr/>
            <p:nvPr/>
          </p:nvSpPr>
          <p:spPr>
            <a:xfrm flipV="1">
              <a:off x="912" y="1056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284" name="Text Box 8"/>
            <p:cNvSpPr txBox="1"/>
            <p:nvPr/>
          </p:nvSpPr>
          <p:spPr>
            <a:xfrm>
              <a:off x="2342" y="1658"/>
              <a:ext cx="2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33"/>
                  </a:solidFill>
                  <a:ea typeface="楷体_GB2312" pitchFamily="49" charset="-122"/>
                </a:rPr>
                <a:t>x</a:t>
              </a:r>
              <a:endParaRPr lang="en-US" altLang="zh-CN" sz="2800" b="1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grpSp>
          <p:nvGrpSpPr>
            <p:cNvPr id="96285" name="Group 9"/>
            <p:cNvGrpSpPr/>
            <p:nvPr/>
          </p:nvGrpSpPr>
          <p:grpSpPr>
            <a:xfrm>
              <a:off x="1776" y="1296"/>
              <a:ext cx="262" cy="631"/>
              <a:chOff x="1728" y="2398"/>
              <a:chExt cx="262" cy="631"/>
            </a:xfrm>
          </p:grpSpPr>
          <p:sp>
            <p:nvSpPr>
              <p:cNvPr id="96291" name="Text Box 10"/>
              <p:cNvSpPr txBox="1"/>
              <p:nvPr/>
            </p:nvSpPr>
            <p:spPr>
              <a:xfrm>
                <a:off x="1766" y="2398"/>
                <a:ext cx="211" cy="4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4400" b="1" dirty="0">
                    <a:solidFill>
                      <a:srgbClr val="6600FF"/>
                    </a:solidFill>
                    <a:ea typeface="楷体_GB2312" pitchFamily="49" charset="-122"/>
                  </a:rPr>
                  <a:t>.</a:t>
                </a:r>
                <a:endParaRPr lang="zh-CN" altLang="en-US" sz="4400" b="1" dirty="0">
                  <a:solidFill>
                    <a:srgbClr val="333333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96292" name="Text Box 11"/>
              <p:cNvSpPr txBox="1"/>
              <p:nvPr/>
            </p:nvSpPr>
            <p:spPr>
              <a:xfrm>
                <a:off x="1728" y="2699"/>
                <a:ext cx="262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i="1" dirty="0">
                    <a:solidFill>
                      <a:srgbClr val="333333"/>
                    </a:solidFill>
                    <a:ea typeface="楷体_GB2312" pitchFamily="49" charset="-122"/>
                  </a:rPr>
                  <a:t>P</a:t>
                </a:r>
                <a:endParaRPr lang="en-US" altLang="zh-CN" sz="2800" b="1" dirty="0">
                  <a:solidFill>
                    <a:srgbClr val="333333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96286" name="Text Box 12"/>
            <p:cNvSpPr txBox="1"/>
            <p:nvPr/>
          </p:nvSpPr>
          <p:spPr>
            <a:xfrm>
              <a:off x="768" y="1536"/>
              <a:ext cx="2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333333"/>
                  </a:solidFill>
                  <a:ea typeface="楷体_GB2312" pitchFamily="49" charset="-122"/>
                </a:rPr>
                <a:t>o</a:t>
              </a:r>
              <a:endParaRPr lang="en-US" altLang="zh-CN" sz="2800" b="1" dirty="0">
                <a:solidFill>
                  <a:srgbClr val="333333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96287" name="Object 9"/>
            <p:cNvGraphicFramePr>
              <a:graphicFrameLocks noChangeAspect="1"/>
            </p:cNvGraphicFramePr>
            <p:nvPr/>
          </p:nvGraphicFramePr>
          <p:xfrm>
            <a:off x="768" y="1296"/>
            <a:ext cx="164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" imgW="368300" imgH="355600" progId="Equation.3">
                    <p:embed/>
                  </p:oleObj>
                </mc:Choice>
                <mc:Fallback>
                  <p:oleObj name="" r:id="rId1" imgW="368300" imgH="3556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68" y="1296"/>
                          <a:ext cx="164" cy="1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88" name="Object 10"/>
            <p:cNvGraphicFramePr>
              <a:graphicFrameLocks noChangeAspect="1"/>
            </p:cNvGraphicFramePr>
            <p:nvPr/>
          </p:nvGraphicFramePr>
          <p:xfrm>
            <a:off x="1344" y="1691"/>
            <a:ext cx="144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3" imgW="304800" imgH="279400" progId="Equation.3">
                    <p:embed/>
                  </p:oleObj>
                </mc:Choice>
                <mc:Fallback>
                  <p:oleObj name="" r:id="rId3" imgW="304800" imgH="2794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44" y="1691"/>
                          <a:ext cx="144" cy="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89" name="Line 15"/>
            <p:cNvSpPr/>
            <p:nvPr/>
          </p:nvSpPr>
          <p:spPr>
            <a:xfrm>
              <a:off x="912" y="1056"/>
              <a:ext cx="1009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6290" name="Object 11"/>
            <p:cNvGraphicFramePr>
              <a:graphicFrameLocks noChangeAspect="1"/>
            </p:cNvGraphicFramePr>
            <p:nvPr/>
          </p:nvGraphicFramePr>
          <p:xfrm>
            <a:off x="1392" y="1200"/>
            <a:ext cx="114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5" imgW="228600" imgH="266700" progId="Equation.3">
                    <p:embed/>
                  </p:oleObj>
                </mc:Choice>
                <mc:Fallback>
                  <p:oleObj name="" r:id="rId5" imgW="228600" imgH="2667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92" y="1200"/>
                          <a:ext cx="114" cy="1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17" name="Text Box 17"/>
          <p:cNvSpPr txBox="1">
            <a:spLocks noChangeArrowheads="1"/>
          </p:cNvSpPr>
          <p:nvPr/>
        </p:nvSpPr>
        <p:spPr bwMode="auto">
          <a:xfrm>
            <a:off x="2286000" y="593725"/>
            <a:ext cx="7315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解：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根据电势叠加，</a:t>
            </a:r>
            <a:r>
              <a:rPr kumimoji="1" lang="en-US" altLang="zh-CN" sz="2800" b="1" i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P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点的电势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aphicFrame>
        <p:nvGraphicFramePr>
          <p:cNvPr id="153618" name="Object 2"/>
          <p:cNvGraphicFramePr>
            <a:graphicFrameLocks noChangeAspect="1"/>
          </p:cNvGraphicFramePr>
          <p:nvPr/>
        </p:nvGraphicFramePr>
        <p:xfrm>
          <a:off x="3733800" y="990600"/>
          <a:ext cx="21336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7" imgW="850265" imgH="469900" progId="Equation.3">
                  <p:embed/>
                </p:oleObj>
              </mc:Choice>
              <mc:Fallback>
                <p:oleObj name="" r:id="rId7" imgW="850265" imgH="4699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33800" y="990600"/>
                        <a:ext cx="2133600" cy="1176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9" name="Object 3"/>
          <p:cNvGraphicFramePr>
            <a:graphicFrameLocks noChangeAspect="1"/>
          </p:cNvGraphicFramePr>
          <p:nvPr/>
        </p:nvGraphicFramePr>
        <p:xfrm>
          <a:off x="5956300" y="1058863"/>
          <a:ext cx="2309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9" imgW="2311400" imgH="914400" progId="Equation.3">
                  <p:embed/>
                </p:oleObj>
              </mc:Choice>
              <mc:Fallback>
                <p:oleObj name="" r:id="rId9" imgW="2311400" imgH="9144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6300" y="1058863"/>
                        <a:ext cx="2309813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0" name="Text Box 20"/>
          <p:cNvSpPr txBox="1"/>
          <p:nvPr/>
        </p:nvSpPr>
        <p:spPr>
          <a:xfrm>
            <a:off x="3505200" y="2105025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080808"/>
                </a:solidFill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080808"/>
                </a:solidFill>
                <a:ea typeface="楷体_GB2312" pitchFamily="49" charset="-122"/>
              </a:rPr>
              <a:t>点的电场：</a:t>
            </a:r>
            <a:endParaRPr lang="zh-CN" altLang="en-US" sz="2800" b="1" dirty="0">
              <a:solidFill>
                <a:srgbClr val="080808"/>
              </a:solidFill>
              <a:ea typeface="楷体_GB2312" pitchFamily="49" charset="-122"/>
            </a:endParaRPr>
          </a:p>
        </p:txBody>
      </p:sp>
      <p:graphicFrame>
        <p:nvGraphicFramePr>
          <p:cNvPr id="153621" name="Object 4"/>
          <p:cNvGraphicFramePr>
            <a:graphicFrameLocks noChangeAspect="1"/>
          </p:cNvGraphicFramePr>
          <p:nvPr/>
        </p:nvGraphicFramePr>
        <p:xfrm>
          <a:off x="5907088" y="2008188"/>
          <a:ext cx="25273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1" imgW="1143000" imgH="381000" progId="Equation.3">
                  <p:embed/>
                </p:oleObj>
              </mc:Choice>
              <mc:Fallback>
                <p:oleObj name="" r:id="rId11" imgW="1143000" imgH="3810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7088" y="2008188"/>
                        <a:ext cx="25273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2" name="Object 5"/>
          <p:cNvGraphicFramePr>
            <a:graphicFrameLocks noChangeAspect="1"/>
          </p:cNvGraphicFramePr>
          <p:nvPr/>
        </p:nvGraphicFramePr>
        <p:xfrm>
          <a:off x="3324225" y="2667000"/>
          <a:ext cx="28368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3" imgW="1243965" imgH="355600" progId="Equation.3">
                  <p:embed/>
                </p:oleObj>
              </mc:Choice>
              <mc:Fallback>
                <p:oleObj name="" r:id="rId13" imgW="1243965" imgH="3556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24225" y="2667000"/>
                        <a:ext cx="2836863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3" name="Object 6"/>
          <p:cNvGraphicFramePr>
            <a:graphicFrameLocks noChangeAspect="1"/>
          </p:cNvGraphicFramePr>
          <p:nvPr/>
        </p:nvGraphicFramePr>
        <p:xfrm>
          <a:off x="6230938" y="2589213"/>
          <a:ext cx="26622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5" imgW="1193800" imgH="444500" progId="Equation.3">
                  <p:embed/>
                </p:oleObj>
              </mc:Choice>
              <mc:Fallback>
                <p:oleObj name="" r:id="rId15" imgW="1193800" imgH="4445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30938" y="2589213"/>
                        <a:ext cx="2662237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4" name="Text Box 24"/>
          <p:cNvSpPr txBox="1"/>
          <p:nvPr/>
        </p:nvSpPr>
        <p:spPr>
          <a:xfrm>
            <a:off x="4457700" y="3409950"/>
            <a:ext cx="3902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80808"/>
                </a:solidFill>
                <a:ea typeface="楷体_GB2312" pitchFamily="49" charset="-122"/>
              </a:rPr>
              <a:t>方向沿</a:t>
            </a:r>
            <a:r>
              <a:rPr lang="en-US" altLang="zh-CN" sz="2800" b="1" i="1" dirty="0">
                <a:solidFill>
                  <a:srgbClr val="080808"/>
                </a:solidFill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80808"/>
                </a:solidFill>
                <a:ea typeface="楷体_GB2312" pitchFamily="49" charset="-122"/>
              </a:rPr>
              <a:t>轴。</a:t>
            </a:r>
            <a:endParaRPr lang="zh-CN" altLang="en-US" sz="2800" b="1" dirty="0">
              <a:solidFill>
                <a:srgbClr val="080808"/>
              </a:solidFill>
              <a:ea typeface="楷体_GB2312" pitchFamily="49" charset="-122"/>
            </a:endParaRPr>
          </a:p>
        </p:txBody>
      </p:sp>
      <p:sp>
        <p:nvSpPr>
          <p:cNvPr id="153625" name="Text Box 25"/>
          <p:cNvSpPr txBox="1">
            <a:spLocks noChangeArrowheads="1"/>
          </p:cNvSpPr>
          <p:nvPr/>
        </p:nvSpPr>
        <p:spPr bwMode="auto">
          <a:xfrm>
            <a:off x="41275" y="3983038"/>
            <a:ext cx="134302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</a:rPr>
              <a:t>注：</a:t>
            </a:r>
            <a:r>
              <a:rPr kumimoji="1" lang="zh-CN" altLang="en-US" sz="2800" b="1" kern="1200" cap="none" spc="0" normalizeH="0" baseline="0" noProof="0" dirty="0">
                <a:solidFill>
                  <a:srgbClr val="080808"/>
                </a:solidFill>
                <a:latin typeface="Times New Roman" panose="02020603050405020304"/>
                <a:ea typeface="楷体_GB2312" pitchFamily="49" charset="-122"/>
                <a:cs typeface="+mn-cs"/>
              </a:rPr>
              <a:t>(1)</a:t>
            </a:r>
            <a:endParaRPr kumimoji="1" lang="zh-CN" altLang="en-US" sz="2800" b="1" kern="1200" cap="none" spc="0" normalizeH="0" baseline="0" noProof="0" dirty="0">
              <a:solidFill>
                <a:srgbClr val="080808"/>
              </a:solidFill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graphicFrame>
        <p:nvGraphicFramePr>
          <p:cNvPr id="153626" name="Object 7"/>
          <p:cNvGraphicFramePr>
            <a:graphicFrameLocks noChangeAspect="1"/>
          </p:cNvGraphicFramePr>
          <p:nvPr/>
        </p:nvGraphicFramePr>
        <p:xfrm>
          <a:off x="1454150" y="4003675"/>
          <a:ext cx="16065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7" imgW="635000" imgH="203200" progId="Equation.DSMT4">
                  <p:embed/>
                </p:oleObj>
              </mc:Choice>
              <mc:Fallback>
                <p:oleObj name="" r:id="rId17" imgW="635000" imgH="203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54150" y="4003675"/>
                        <a:ext cx="160655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7" name="Text Box 27"/>
          <p:cNvSpPr txBox="1"/>
          <p:nvPr/>
        </p:nvSpPr>
        <p:spPr>
          <a:xfrm>
            <a:off x="3241675" y="3932238"/>
            <a:ext cx="59023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决定于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在该点的空间变化率，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而与该点的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值大小无关。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53628" name="Text Box 28"/>
          <p:cNvSpPr txBox="1"/>
          <p:nvPr/>
        </p:nvSpPr>
        <p:spPr>
          <a:xfrm>
            <a:off x="809625" y="4751388"/>
            <a:ext cx="50768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(2) 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的又一单位：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V/m</a:t>
            </a:r>
            <a:endParaRPr lang="en-US" altLang="zh-CN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53629" name="Text Box 29"/>
          <p:cNvSpPr txBox="1"/>
          <p:nvPr/>
        </p:nvSpPr>
        <p:spPr>
          <a:xfrm>
            <a:off x="4483100" y="4765675"/>
            <a:ext cx="11128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80808"/>
                </a:solidFill>
                <a:ea typeface="楷体_GB2312" pitchFamily="49" charset="-122"/>
              </a:rPr>
              <a:t>= </a:t>
            </a:r>
            <a:r>
              <a:rPr lang="en-US" altLang="zh-CN" sz="2800" b="1" dirty="0">
                <a:solidFill>
                  <a:srgbClr val="080808"/>
                </a:solidFill>
                <a:ea typeface="楷体_GB2312" pitchFamily="49" charset="-122"/>
              </a:rPr>
              <a:t>N/C</a:t>
            </a:r>
            <a:endParaRPr lang="en-US" altLang="zh-CN" sz="2800" b="1" dirty="0">
              <a:solidFill>
                <a:srgbClr val="080808"/>
              </a:solidFill>
              <a:ea typeface="楷体_GB2312" pitchFamily="49" charset="-122"/>
            </a:endParaRPr>
          </a:p>
        </p:txBody>
      </p:sp>
      <p:sp>
        <p:nvSpPr>
          <p:cNvPr id="153630" name="Text Box 30"/>
          <p:cNvSpPr txBox="1"/>
          <p:nvPr/>
        </p:nvSpPr>
        <p:spPr>
          <a:xfrm>
            <a:off x="809625" y="5684838"/>
            <a:ext cx="4495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(3)求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的三种方法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53632" name="Text Box 32"/>
          <p:cNvSpPr txBox="1"/>
          <p:nvPr/>
        </p:nvSpPr>
        <p:spPr>
          <a:xfrm>
            <a:off x="4064000" y="5199063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663300"/>
                </a:solidFill>
                <a:ea typeface="楷体_GB2312" pitchFamily="49" charset="-122"/>
              </a:rPr>
              <a:t>点电荷电场叠加：</a:t>
            </a:r>
            <a:endParaRPr lang="zh-CN" altLang="en-US" sz="2800" b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53633" name="Text Box 33"/>
          <p:cNvSpPr txBox="1"/>
          <p:nvPr/>
        </p:nvSpPr>
        <p:spPr>
          <a:xfrm>
            <a:off x="4064000" y="5700713"/>
            <a:ext cx="4359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66"/>
                </a:solidFill>
                <a:ea typeface="楷体_GB2312" pitchFamily="49" charset="-122"/>
              </a:rPr>
              <a:t>用高斯定理求对称场</a:t>
            </a:r>
            <a:endParaRPr lang="zh-CN" altLang="en-US" sz="2800" b="1" dirty="0">
              <a:solidFill>
                <a:srgbClr val="333333"/>
              </a:solidFill>
              <a:ea typeface="楷体_GB2312" pitchFamily="49" charset="-122"/>
            </a:endParaRPr>
          </a:p>
        </p:txBody>
      </p:sp>
      <p:sp>
        <p:nvSpPr>
          <p:cNvPr id="153634" name="Text Box 34"/>
          <p:cNvSpPr txBox="1"/>
          <p:nvPr/>
        </p:nvSpPr>
        <p:spPr>
          <a:xfrm>
            <a:off x="4064000" y="6234113"/>
            <a:ext cx="3063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0000"/>
                </a:solidFill>
                <a:ea typeface="楷体_GB2312" pitchFamily="49" charset="-122"/>
              </a:rPr>
              <a:t>电势梯度法</a:t>
            </a:r>
            <a:endParaRPr lang="zh-CN" altLang="en-US" sz="2800" b="1" dirty="0">
              <a:solidFill>
                <a:srgbClr val="CC0000"/>
              </a:solidFill>
              <a:ea typeface="楷体_GB2312" pitchFamily="49" charset="-122"/>
            </a:endParaRPr>
          </a:p>
        </p:txBody>
      </p:sp>
      <p:graphicFrame>
        <p:nvGraphicFramePr>
          <p:cNvPr id="153635" name="Object 8"/>
          <p:cNvGraphicFramePr>
            <a:graphicFrameLocks noChangeAspect="1"/>
          </p:cNvGraphicFramePr>
          <p:nvPr/>
        </p:nvGraphicFramePr>
        <p:xfrm>
          <a:off x="6859588" y="5003800"/>
          <a:ext cx="217011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9" imgW="1002665" imgH="419100" progId="Equation.3">
                  <p:embed/>
                </p:oleObj>
              </mc:Choice>
              <mc:Fallback>
                <p:oleObj name="" r:id="rId19" imgW="1002665" imgH="4191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59588" y="5003800"/>
                        <a:ext cx="2170112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AutoShape 13"/>
          <p:cNvSpPr/>
          <p:nvPr/>
        </p:nvSpPr>
        <p:spPr>
          <a:xfrm>
            <a:off x="3805238" y="5349875"/>
            <a:ext cx="274637" cy="1298575"/>
          </a:xfrm>
          <a:prstGeom prst="leftBrace">
            <a:avLst>
              <a:gd name="adj1" fmla="val 53959"/>
              <a:gd name="adj2" fmla="val 50000"/>
            </a:avLst>
          </a:prstGeom>
          <a:noFill/>
          <a:ln w="381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5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75"/>
                                        <p:tgtEl>
                                          <p:spTgt spid="15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5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5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5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3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3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15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15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75"/>
                                        <p:tgtEl>
                                          <p:spTgt spid="15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9" dur="500"/>
                                        <p:tgtEl>
                                          <p:spTgt spid="15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15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"/>
                            </p:stCondLst>
                            <p:childTnLst>
                              <p:par>
                                <p:cTn id="8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6" dur="500"/>
                                        <p:tgtEl>
                                          <p:spTgt spid="15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15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75"/>
                                        <p:tgtEl>
                                          <p:spTgt spid="1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17" grpId="0"/>
      <p:bldP spid="153620" grpId="0"/>
      <p:bldP spid="153624" grpId="0"/>
      <p:bldP spid="153625" grpId="0"/>
      <p:bldP spid="153627" grpId="0"/>
      <p:bldP spid="153628" grpId="0"/>
      <p:bldP spid="153629" grpId="0"/>
      <p:bldP spid="153630" grpId="0"/>
      <p:bldP spid="153632" grpId="0"/>
      <p:bldP spid="153633" grpId="0"/>
      <p:bldP spid="153634" grpId="0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76194" name="Object 2"/>
          <p:cNvGraphicFramePr>
            <a:graphicFrameLocks noChangeAspect="1"/>
          </p:cNvGraphicFramePr>
          <p:nvPr/>
        </p:nvGraphicFramePr>
        <p:xfrm>
          <a:off x="1687513" y="1341438"/>
          <a:ext cx="19335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968500" imgH="673100" progId="Equation.DSMT4">
                  <p:embed/>
                </p:oleObj>
              </mc:Choice>
              <mc:Fallback>
                <p:oleObj name="" r:id="rId1" imgW="1968500" imgH="6731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87513" y="1341438"/>
                        <a:ext cx="1933575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195" name="Text Box 3"/>
          <p:cNvSpPr txBox="1"/>
          <p:nvPr/>
        </p:nvSpPr>
        <p:spPr>
          <a:xfrm>
            <a:off x="684213" y="225425"/>
            <a:ext cx="82391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例、</a:t>
            </a:r>
            <a:r>
              <a:rPr lang="zh-CN" altLang="en-US" sz="2800" b="1" dirty="0">
                <a:solidFill>
                  <a:srgbClr val="000000"/>
                </a:solidFill>
              </a:rPr>
              <a:t>计算电偶极子电场中任意一点</a:t>
            </a:r>
            <a:r>
              <a:rPr lang="en-US" altLang="zh-CN" sz="2800" b="1" dirty="0">
                <a:solidFill>
                  <a:srgbClr val="000000"/>
                </a:solidFill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</a:rPr>
              <a:t>的电场。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776196" name="Object 4"/>
          <p:cNvGraphicFramePr>
            <a:graphicFrameLocks noChangeAspect="1"/>
          </p:cNvGraphicFramePr>
          <p:nvPr/>
        </p:nvGraphicFramePr>
        <p:xfrm>
          <a:off x="2371725" y="3970338"/>
          <a:ext cx="19431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2171700" imgH="711200" progId="Equation.DSMT4">
                  <p:embed/>
                </p:oleObj>
              </mc:Choice>
              <mc:Fallback>
                <p:oleObj name="" r:id="rId3" imgW="2171700" imgH="7112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1725" y="3970338"/>
                        <a:ext cx="194310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7" name="Object 5"/>
          <p:cNvGraphicFramePr>
            <a:graphicFrameLocks noChangeAspect="1"/>
          </p:cNvGraphicFramePr>
          <p:nvPr/>
        </p:nvGraphicFramePr>
        <p:xfrm>
          <a:off x="2335213" y="3249613"/>
          <a:ext cx="1979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2171700" imgH="711200" progId="Equation.DSMT4">
                  <p:embed/>
                </p:oleObj>
              </mc:Choice>
              <mc:Fallback>
                <p:oleObj name="" r:id="rId5" imgW="2171700" imgH="711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5213" y="3249613"/>
                        <a:ext cx="1979612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8" name="Object 6"/>
          <p:cNvGraphicFramePr>
            <a:graphicFrameLocks noChangeAspect="1"/>
          </p:cNvGraphicFramePr>
          <p:nvPr/>
        </p:nvGraphicFramePr>
        <p:xfrm>
          <a:off x="1038225" y="4686300"/>
          <a:ext cx="695642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7" imgW="7620000" imgH="1206500" progId="Equation.DSMT4">
                  <p:embed/>
                </p:oleObj>
              </mc:Choice>
              <mc:Fallback>
                <p:oleObj name="" r:id="rId7" imgW="7620000" imgH="12065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8225" y="4686300"/>
                        <a:ext cx="6956425" cy="1263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9" name="Object 7"/>
          <p:cNvGraphicFramePr>
            <a:graphicFrameLocks noChangeAspect="1"/>
          </p:cNvGraphicFramePr>
          <p:nvPr/>
        </p:nvGraphicFramePr>
        <p:xfrm>
          <a:off x="1974850" y="5878513"/>
          <a:ext cx="3878263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3530600" imgH="495300" progId="Equation.DSMT4">
                  <p:embed/>
                </p:oleObj>
              </mc:Choice>
              <mc:Fallback>
                <p:oleObj name="" r:id="rId9" imgW="3530600" imgH="4953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4850" y="5878513"/>
                        <a:ext cx="3878263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200" name="Text Box 8"/>
          <p:cNvSpPr txBox="1"/>
          <p:nvPr/>
        </p:nvSpPr>
        <p:spPr>
          <a:xfrm>
            <a:off x="822325" y="2801938"/>
            <a:ext cx="56530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当 </a:t>
            </a:r>
            <a:r>
              <a:rPr lang="en-US" altLang="zh-CN" sz="2800" b="1" i="1" dirty="0">
                <a:solidFill>
                  <a:srgbClr val="0000FF"/>
                </a:solidFill>
              </a:rPr>
              <a:t>r </a:t>
            </a:r>
            <a:r>
              <a:rPr lang="en-US" altLang="zh-CN" sz="2800" b="1" dirty="0">
                <a:solidFill>
                  <a:srgbClr val="0000FF"/>
                </a:solidFill>
              </a:rPr>
              <a:t>&gt;&gt; </a:t>
            </a:r>
            <a:r>
              <a:rPr lang="en-US" altLang="zh-CN" sz="2800" b="1" i="1" dirty="0">
                <a:solidFill>
                  <a:srgbClr val="0000FF"/>
                </a:solidFill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可做如下近似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776201" name="Text Box 9"/>
          <p:cNvSpPr txBox="1"/>
          <p:nvPr/>
        </p:nvSpPr>
        <p:spPr>
          <a:xfrm>
            <a:off x="714375" y="765175"/>
            <a:ext cx="3924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解：</a:t>
            </a:r>
            <a:r>
              <a:rPr lang="zh-CN" altLang="en-US" sz="2800" b="1" dirty="0">
                <a:solidFill>
                  <a:srgbClr val="000000"/>
                </a:solidFill>
              </a:rPr>
              <a:t>用叠加法求电势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776202" name="Object 10"/>
          <p:cNvGraphicFramePr>
            <a:graphicFrameLocks noChangeAspect="1"/>
          </p:cNvGraphicFramePr>
          <p:nvPr/>
        </p:nvGraphicFramePr>
        <p:xfrm>
          <a:off x="2160588" y="1881188"/>
          <a:ext cx="2659062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1" imgW="2705100" imgH="876300" progId="Equation.DSMT4">
                  <p:embed/>
                </p:oleObj>
              </mc:Choice>
              <mc:Fallback>
                <p:oleObj name="" r:id="rId11" imgW="2705100" imgH="8763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60588" y="1881188"/>
                        <a:ext cx="2659062" cy="858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6203" name="Group 11"/>
          <p:cNvGrpSpPr/>
          <p:nvPr/>
        </p:nvGrpSpPr>
        <p:grpSpPr>
          <a:xfrm>
            <a:off x="5538788" y="946150"/>
            <a:ext cx="2592387" cy="3565525"/>
            <a:chOff x="3787" y="1207"/>
            <a:chExt cx="1633" cy="2246"/>
          </a:xfrm>
        </p:grpSpPr>
        <p:sp>
          <p:nvSpPr>
            <p:cNvPr id="98320" name="Rectangle 12"/>
            <p:cNvSpPr/>
            <p:nvPr/>
          </p:nvSpPr>
          <p:spPr>
            <a:xfrm>
              <a:off x="3787" y="1207"/>
              <a:ext cx="1633" cy="2246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98321" name="Object 13"/>
            <p:cNvGraphicFramePr>
              <a:graphicFrameLocks noChangeAspect="1"/>
            </p:cNvGraphicFramePr>
            <p:nvPr/>
          </p:nvGraphicFramePr>
          <p:xfrm>
            <a:off x="4498" y="3127"/>
            <a:ext cx="1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3" imgW="254000" imgH="457200" progId="Equation.3">
                    <p:embed/>
                  </p:oleObj>
                </mc:Choice>
                <mc:Fallback>
                  <p:oleObj name="" r:id="rId13" imgW="254000" imgH="4572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98" y="3127"/>
                          <a:ext cx="1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2" name="Line 14"/>
            <p:cNvSpPr/>
            <p:nvPr/>
          </p:nvSpPr>
          <p:spPr>
            <a:xfrm flipV="1">
              <a:off x="4524" y="1548"/>
              <a:ext cx="443" cy="1579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8323" name="Group 15"/>
            <p:cNvGrpSpPr/>
            <p:nvPr/>
          </p:nvGrpSpPr>
          <p:grpSpPr>
            <a:xfrm>
              <a:off x="3948" y="2887"/>
              <a:ext cx="1104" cy="327"/>
              <a:chOff x="4512" y="1426"/>
              <a:chExt cx="1104" cy="327"/>
            </a:xfrm>
          </p:grpSpPr>
          <p:grpSp>
            <p:nvGrpSpPr>
              <p:cNvPr id="98335" name="Group 16"/>
              <p:cNvGrpSpPr/>
              <p:nvPr/>
            </p:nvGrpSpPr>
            <p:grpSpPr>
              <a:xfrm>
                <a:off x="4512" y="1426"/>
                <a:ext cx="1104" cy="327"/>
                <a:chOff x="4560" y="1476"/>
                <a:chExt cx="960" cy="279"/>
              </a:xfrm>
            </p:grpSpPr>
            <p:grpSp>
              <p:nvGrpSpPr>
                <p:cNvPr id="98337" name="Group 17"/>
                <p:cNvGrpSpPr/>
                <p:nvPr/>
              </p:nvGrpSpPr>
              <p:grpSpPr>
                <a:xfrm>
                  <a:off x="4560" y="1476"/>
                  <a:ext cx="144" cy="279"/>
                  <a:chOff x="384" y="1620"/>
                  <a:chExt cx="144" cy="279"/>
                </a:xfrm>
              </p:grpSpPr>
              <p:sp>
                <p:nvSpPr>
                  <p:cNvPr id="98343" name="Oval 18"/>
                  <p:cNvSpPr/>
                  <p:nvPr/>
                </p:nvSpPr>
                <p:spPr>
                  <a:xfrm>
                    <a:off x="432" y="1776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33CCFF"/>
                      </a:gs>
                      <a:gs pos="100000">
                        <a:srgbClr val="185E76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19050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8344" name="Text Box 19"/>
                  <p:cNvSpPr txBox="1"/>
                  <p:nvPr/>
                </p:nvSpPr>
                <p:spPr>
                  <a:xfrm>
                    <a:off x="384" y="1620"/>
                    <a:ext cx="101" cy="27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800" b="1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98338" name="Group 20"/>
                <p:cNvGrpSpPr/>
                <p:nvPr/>
              </p:nvGrpSpPr>
              <p:grpSpPr>
                <a:xfrm>
                  <a:off x="5424" y="1632"/>
                  <a:ext cx="96" cy="96"/>
                  <a:chOff x="1008" y="1584"/>
                  <a:chExt cx="96" cy="96"/>
                </a:xfrm>
              </p:grpSpPr>
              <p:sp>
                <p:nvSpPr>
                  <p:cNvPr id="98340" name="Oval 21"/>
                  <p:cNvSpPr/>
                  <p:nvPr/>
                </p:nvSpPr>
                <p:spPr>
                  <a:xfrm>
                    <a:off x="1008" y="1584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8341" name="Line 22"/>
                  <p:cNvSpPr/>
                  <p:nvPr/>
                </p:nvSpPr>
                <p:spPr>
                  <a:xfrm>
                    <a:off x="1008" y="1632"/>
                    <a:ext cx="96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42" name="Line 23"/>
                  <p:cNvSpPr/>
                  <p:nvPr/>
                </p:nvSpPr>
                <p:spPr>
                  <a:xfrm>
                    <a:off x="1056" y="1584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98339" name="Line 24"/>
                <p:cNvSpPr/>
                <p:nvPr/>
              </p:nvSpPr>
              <p:spPr>
                <a:xfrm>
                  <a:off x="4704" y="1680"/>
                  <a:ext cx="720" cy="0"/>
                </a:xfrm>
                <a:prstGeom prst="line">
                  <a:avLst/>
                </a:prstGeom>
                <a:ln w="28575" cap="flat" cmpd="sng">
                  <a:solidFill>
                    <a:schemeClr val="tx2"/>
                  </a:solidFill>
                  <a:prstDash val="solid"/>
                  <a:headEnd type="none" w="med" len="med"/>
                  <a:tailEnd type="triangle" w="med" len="lg"/>
                </a:ln>
              </p:spPr>
            </p:sp>
          </p:grpSp>
          <p:sp>
            <p:nvSpPr>
              <p:cNvPr id="98336" name="Line 25"/>
              <p:cNvSpPr/>
              <p:nvPr/>
            </p:nvSpPr>
            <p:spPr>
              <a:xfrm>
                <a:off x="4608" y="1680"/>
                <a:ext cx="48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98324" name="Object 26"/>
            <p:cNvGraphicFramePr>
              <a:graphicFrameLocks noChangeAspect="1"/>
            </p:cNvGraphicFramePr>
            <p:nvPr/>
          </p:nvGraphicFramePr>
          <p:xfrm>
            <a:off x="4944" y="1502"/>
            <a:ext cx="93" cy="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5" imgW="285115" imgH="293370" progId="Equation.3">
                    <p:embed/>
                  </p:oleObj>
                </mc:Choice>
                <mc:Fallback>
                  <p:oleObj name="" r:id="rId15" imgW="285115" imgH="29337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44" y="1502"/>
                          <a:ext cx="93" cy="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5" name="Text Box 27"/>
            <p:cNvSpPr txBox="1"/>
            <p:nvPr/>
          </p:nvSpPr>
          <p:spPr>
            <a:xfrm>
              <a:off x="4989" y="1344"/>
              <a:ext cx="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P</a:t>
              </a:r>
              <a:endParaRPr lang="en-US" altLang="zh-CN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98326" name="Line 28"/>
            <p:cNvSpPr/>
            <p:nvPr/>
          </p:nvSpPr>
          <p:spPr>
            <a:xfrm flipH="1">
              <a:off x="4044" y="1548"/>
              <a:ext cx="923" cy="157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98327" name="Line 29"/>
            <p:cNvSpPr/>
            <p:nvPr/>
          </p:nvSpPr>
          <p:spPr>
            <a:xfrm>
              <a:off x="4989" y="1570"/>
              <a:ext cx="4" cy="156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98328" name="Text Box 30"/>
            <p:cNvSpPr txBox="1"/>
            <p:nvPr/>
          </p:nvSpPr>
          <p:spPr>
            <a:xfrm>
              <a:off x="4150" y="2092"/>
              <a:ext cx="4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zh-CN" sz="2000" b="1" dirty="0">
                <a:solidFill>
                  <a:srgbClr val="0000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98329" name="Text Box 31"/>
            <p:cNvSpPr txBox="1"/>
            <p:nvPr/>
          </p:nvSpPr>
          <p:spPr>
            <a:xfrm>
              <a:off x="4989" y="2364"/>
              <a:ext cx="29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r>
                <a:rPr lang="en-US" altLang="zh-CN" b="1" i="1" baseline="-25000" dirty="0">
                  <a:solidFill>
                    <a:srgbClr val="000000"/>
                  </a:solidFill>
                </a:rPr>
                <a:t>+</a:t>
              </a:r>
              <a:endParaRPr lang="en-US" altLang="zh-CN" b="1" i="1" dirty="0">
                <a:solidFill>
                  <a:srgbClr val="000000"/>
                </a:solidFill>
              </a:endParaRPr>
            </a:p>
          </p:txBody>
        </p:sp>
        <p:sp>
          <p:nvSpPr>
            <p:cNvPr id="98330" name="Text Box 32"/>
            <p:cNvSpPr txBox="1"/>
            <p:nvPr/>
          </p:nvSpPr>
          <p:spPr>
            <a:xfrm>
              <a:off x="4490" y="236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endParaRPr lang="en-US" altLang="zh-CN" sz="2800" b="1" i="1" dirty="0">
                <a:solidFill>
                  <a:srgbClr val="000000"/>
                </a:solidFill>
              </a:endParaRPr>
            </a:p>
          </p:txBody>
        </p:sp>
        <p:sp>
          <p:nvSpPr>
            <p:cNvPr id="98331" name="Text Box 33"/>
            <p:cNvSpPr txBox="1"/>
            <p:nvPr/>
          </p:nvSpPr>
          <p:spPr>
            <a:xfrm>
              <a:off x="4910" y="3063"/>
              <a:ext cx="3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+</a:t>
              </a:r>
              <a:r>
                <a:rPr lang="en-US" altLang="zh-CN" sz="2800" b="1" i="1" dirty="0">
                  <a:solidFill>
                    <a:srgbClr val="000000"/>
                  </a:solidFill>
                </a:rPr>
                <a:t>q</a:t>
              </a:r>
              <a:endParaRPr lang="en-US" altLang="zh-CN" sz="3600" b="1" i="1" dirty="0">
                <a:solidFill>
                  <a:srgbClr val="000000"/>
                </a:solidFill>
              </a:endParaRPr>
            </a:p>
          </p:txBody>
        </p:sp>
        <p:sp>
          <p:nvSpPr>
            <p:cNvPr id="98332" name="Text Box 34"/>
            <p:cNvSpPr txBox="1"/>
            <p:nvPr/>
          </p:nvSpPr>
          <p:spPr>
            <a:xfrm>
              <a:off x="3896" y="3050"/>
              <a:ext cx="3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800" b="1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q</a:t>
              </a:r>
              <a:endParaRPr lang="en-US" altLang="zh-CN" sz="2800" b="1" i="1" dirty="0">
                <a:solidFill>
                  <a:srgbClr val="000000"/>
                </a:solidFill>
                <a:sym typeface="Symbol" panose="05050102010706020507" pitchFamily="18" charset="2"/>
              </a:endParaRPr>
            </a:p>
          </p:txBody>
        </p:sp>
        <p:graphicFrame>
          <p:nvGraphicFramePr>
            <p:cNvPr id="98333" name="Object 35"/>
            <p:cNvGraphicFramePr>
              <a:graphicFrameLocks noChangeAspect="1"/>
            </p:cNvGraphicFramePr>
            <p:nvPr/>
          </p:nvGraphicFramePr>
          <p:xfrm>
            <a:off x="4672" y="2863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17" imgW="292100" imgH="381000" progId="Equation.3">
                    <p:embed/>
                  </p:oleObj>
                </mc:Choice>
                <mc:Fallback>
                  <p:oleObj name="" r:id="rId17" imgW="292100" imgH="3810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672" y="2863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34" name="Arc 36"/>
            <p:cNvSpPr/>
            <p:nvPr/>
          </p:nvSpPr>
          <p:spPr>
            <a:xfrm>
              <a:off x="4422" y="2943"/>
              <a:ext cx="249" cy="17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</a:cxnLst>
              <a:pathLst>
                <a:path w="21600" h="16535" fill="none">
                  <a:moveTo>
                    <a:pt x="13897" y="0"/>
                  </a:moveTo>
                  <a:cubicBezTo>
                    <a:pt x="18780" y="4104"/>
                    <a:pt x="21600" y="10156"/>
                    <a:pt x="21600" y="16535"/>
                  </a:cubicBezTo>
                </a:path>
                <a:path w="21600" h="16535" stroke="0">
                  <a:moveTo>
                    <a:pt x="13897" y="0"/>
                  </a:moveTo>
                  <a:cubicBezTo>
                    <a:pt x="18780" y="4104"/>
                    <a:pt x="21600" y="10156"/>
                    <a:pt x="21600" y="16535"/>
                  </a:cubicBezTo>
                  <a:lnTo>
                    <a:pt x="0" y="16535"/>
                  </a:lnTo>
                  <a:lnTo>
                    <a:pt x="13897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76229" name="Text Box 37"/>
          <p:cNvSpPr txBox="1"/>
          <p:nvPr/>
        </p:nvSpPr>
        <p:spPr>
          <a:xfrm>
            <a:off x="1025525" y="5934075"/>
            <a:ext cx="1597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其中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98318" name="Line 38"/>
          <p:cNvSpPr/>
          <p:nvPr/>
        </p:nvSpPr>
        <p:spPr>
          <a:xfrm>
            <a:off x="6156325" y="3681413"/>
            <a:ext cx="539750" cy="287337"/>
          </a:xfrm>
          <a:prstGeom prst="line">
            <a:avLst/>
          </a:prstGeom>
          <a:ln w="28575" cap="rnd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8319" name="Line 39"/>
          <p:cNvSpPr/>
          <p:nvPr/>
        </p:nvSpPr>
        <p:spPr>
          <a:xfrm>
            <a:off x="6767513" y="3752850"/>
            <a:ext cx="612775" cy="215900"/>
          </a:xfrm>
          <a:prstGeom prst="line">
            <a:avLst/>
          </a:prstGeom>
          <a:ln w="28575" cap="rnd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7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77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77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7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77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77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5" grpId="0"/>
      <p:bldP spid="776200" grpId="0"/>
      <p:bldP spid="776201" grpId="0"/>
      <p:bldP spid="7762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21922" name="Group 2"/>
          <p:cNvGrpSpPr/>
          <p:nvPr/>
        </p:nvGrpSpPr>
        <p:grpSpPr>
          <a:xfrm>
            <a:off x="6011863" y="1325563"/>
            <a:ext cx="2736850" cy="3924300"/>
            <a:chOff x="3674" y="981"/>
            <a:chExt cx="1724" cy="2472"/>
          </a:xfrm>
        </p:grpSpPr>
        <p:sp>
          <p:nvSpPr>
            <p:cNvPr id="99362" name="Rectangle 3"/>
            <p:cNvSpPr/>
            <p:nvPr/>
          </p:nvSpPr>
          <p:spPr>
            <a:xfrm>
              <a:off x="3674" y="981"/>
              <a:ext cx="1724" cy="2472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  <a:effectLst>
              <a:outerShdw dist="107763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99363" name="Object 4"/>
            <p:cNvGraphicFramePr>
              <a:graphicFrameLocks noChangeAspect="1"/>
            </p:cNvGraphicFramePr>
            <p:nvPr/>
          </p:nvGraphicFramePr>
          <p:xfrm>
            <a:off x="4475" y="3127"/>
            <a:ext cx="1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254000" imgH="457200" progId="Equation.3">
                    <p:embed/>
                  </p:oleObj>
                </mc:Choice>
                <mc:Fallback>
                  <p:oleObj name="" r:id="rId1" imgW="254000" imgH="4572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475" y="3127"/>
                          <a:ext cx="1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64" name="Line 5"/>
            <p:cNvSpPr/>
            <p:nvPr/>
          </p:nvSpPr>
          <p:spPr>
            <a:xfrm flipV="1">
              <a:off x="4501" y="1548"/>
              <a:ext cx="443" cy="1579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9365" name="Group 6"/>
            <p:cNvGrpSpPr/>
            <p:nvPr/>
          </p:nvGrpSpPr>
          <p:grpSpPr>
            <a:xfrm>
              <a:off x="3925" y="2887"/>
              <a:ext cx="1104" cy="327"/>
              <a:chOff x="4512" y="1426"/>
              <a:chExt cx="1104" cy="327"/>
            </a:xfrm>
          </p:grpSpPr>
          <p:grpSp>
            <p:nvGrpSpPr>
              <p:cNvPr id="99377" name="Group 7"/>
              <p:cNvGrpSpPr/>
              <p:nvPr/>
            </p:nvGrpSpPr>
            <p:grpSpPr>
              <a:xfrm>
                <a:off x="4512" y="1426"/>
                <a:ext cx="1104" cy="327"/>
                <a:chOff x="4560" y="1476"/>
                <a:chExt cx="960" cy="279"/>
              </a:xfrm>
            </p:grpSpPr>
            <p:grpSp>
              <p:nvGrpSpPr>
                <p:cNvPr id="99379" name="Group 8"/>
                <p:cNvGrpSpPr/>
                <p:nvPr/>
              </p:nvGrpSpPr>
              <p:grpSpPr>
                <a:xfrm>
                  <a:off x="4560" y="1476"/>
                  <a:ext cx="144" cy="279"/>
                  <a:chOff x="384" y="1620"/>
                  <a:chExt cx="144" cy="279"/>
                </a:xfrm>
              </p:grpSpPr>
              <p:sp>
                <p:nvSpPr>
                  <p:cNvPr id="99385" name="Oval 9"/>
                  <p:cNvSpPr/>
                  <p:nvPr/>
                </p:nvSpPr>
                <p:spPr>
                  <a:xfrm>
                    <a:off x="432" y="1776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33CCFF"/>
                      </a:gs>
                      <a:gs pos="100000">
                        <a:srgbClr val="185E76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19050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9386" name="Text Box 10"/>
                  <p:cNvSpPr txBox="1"/>
                  <p:nvPr/>
                </p:nvSpPr>
                <p:spPr>
                  <a:xfrm>
                    <a:off x="384" y="1620"/>
                    <a:ext cx="101" cy="27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zh-CN" sz="2800" b="1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99380" name="Group 11"/>
                <p:cNvGrpSpPr/>
                <p:nvPr/>
              </p:nvGrpSpPr>
              <p:grpSpPr>
                <a:xfrm>
                  <a:off x="5424" y="1632"/>
                  <a:ext cx="96" cy="96"/>
                  <a:chOff x="1008" y="1584"/>
                  <a:chExt cx="96" cy="96"/>
                </a:xfrm>
              </p:grpSpPr>
              <p:sp>
                <p:nvSpPr>
                  <p:cNvPr id="99382" name="Oval 12"/>
                  <p:cNvSpPr/>
                  <p:nvPr/>
                </p:nvSpPr>
                <p:spPr>
                  <a:xfrm>
                    <a:off x="1008" y="1584"/>
                    <a:ext cx="96" cy="9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800" b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9383" name="Line 13"/>
                  <p:cNvSpPr/>
                  <p:nvPr/>
                </p:nvSpPr>
                <p:spPr>
                  <a:xfrm>
                    <a:off x="1008" y="1632"/>
                    <a:ext cx="96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9384" name="Line 14"/>
                  <p:cNvSpPr/>
                  <p:nvPr/>
                </p:nvSpPr>
                <p:spPr>
                  <a:xfrm>
                    <a:off x="1056" y="1584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99381" name="Line 15"/>
                <p:cNvSpPr/>
                <p:nvPr/>
              </p:nvSpPr>
              <p:spPr>
                <a:xfrm>
                  <a:off x="4704" y="1680"/>
                  <a:ext cx="720" cy="0"/>
                </a:xfrm>
                <a:prstGeom prst="line">
                  <a:avLst/>
                </a:prstGeom>
                <a:ln w="28575" cap="flat" cmpd="sng">
                  <a:solidFill>
                    <a:schemeClr val="tx2"/>
                  </a:solidFill>
                  <a:prstDash val="solid"/>
                  <a:headEnd type="none" w="med" len="med"/>
                  <a:tailEnd type="triangle" w="med" len="lg"/>
                </a:ln>
              </p:spPr>
            </p:sp>
          </p:grpSp>
          <p:sp>
            <p:nvSpPr>
              <p:cNvPr id="99378" name="Line 16"/>
              <p:cNvSpPr/>
              <p:nvPr/>
            </p:nvSpPr>
            <p:spPr>
              <a:xfrm>
                <a:off x="4608" y="1680"/>
                <a:ext cx="48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99366" name="Object 17"/>
            <p:cNvGraphicFramePr>
              <a:graphicFrameLocks noChangeAspect="1"/>
            </p:cNvGraphicFramePr>
            <p:nvPr/>
          </p:nvGraphicFramePr>
          <p:xfrm>
            <a:off x="4921" y="1502"/>
            <a:ext cx="93" cy="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3" imgW="285115" imgH="293370" progId="Equation.3">
                    <p:embed/>
                  </p:oleObj>
                </mc:Choice>
                <mc:Fallback>
                  <p:oleObj name="" r:id="rId3" imgW="285115" imgH="29337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1" y="1502"/>
                          <a:ext cx="93" cy="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67" name="Text Box 18"/>
            <p:cNvSpPr txBox="1"/>
            <p:nvPr/>
          </p:nvSpPr>
          <p:spPr>
            <a:xfrm>
              <a:off x="4966" y="1344"/>
              <a:ext cx="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P</a:t>
              </a:r>
              <a:endParaRPr lang="en-US" altLang="zh-CN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99368" name="Line 19"/>
            <p:cNvSpPr/>
            <p:nvPr/>
          </p:nvSpPr>
          <p:spPr>
            <a:xfrm flipH="1">
              <a:off x="4021" y="1548"/>
              <a:ext cx="923" cy="157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99369" name="Line 20"/>
            <p:cNvSpPr/>
            <p:nvPr/>
          </p:nvSpPr>
          <p:spPr>
            <a:xfrm>
              <a:off x="4966" y="1570"/>
              <a:ext cx="4" cy="156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99370" name="Text Box 21"/>
            <p:cNvSpPr txBox="1"/>
            <p:nvPr/>
          </p:nvSpPr>
          <p:spPr>
            <a:xfrm>
              <a:off x="4127" y="2092"/>
              <a:ext cx="4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zh-CN" sz="2000" b="1" dirty="0">
                <a:solidFill>
                  <a:srgbClr val="0000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99371" name="Text Box 22"/>
            <p:cNvSpPr txBox="1"/>
            <p:nvPr/>
          </p:nvSpPr>
          <p:spPr>
            <a:xfrm>
              <a:off x="4966" y="2364"/>
              <a:ext cx="29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r>
                <a:rPr lang="en-US" altLang="zh-CN" b="1" i="1" baseline="-25000" dirty="0">
                  <a:solidFill>
                    <a:srgbClr val="000000"/>
                  </a:solidFill>
                </a:rPr>
                <a:t>+</a:t>
              </a:r>
              <a:endParaRPr lang="en-US" altLang="zh-CN" b="1" i="1" dirty="0">
                <a:solidFill>
                  <a:srgbClr val="000000"/>
                </a:solidFill>
              </a:endParaRPr>
            </a:p>
          </p:txBody>
        </p:sp>
        <p:sp>
          <p:nvSpPr>
            <p:cNvPr id="99372" name="Text Box 23"/>
            <p:cNvSpPr txBox="1"/>
            <p:nvPr/>
          </p:nvSpPr>
          <p:spPr>
            <a:xfrm>
              <a:off x="4467" y="236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</a:rPr>
                <a:t>r</a:t>
              </a:r>
              <a:endParaRPr lang="en-US" altLang="zh-CN" sz="2800" b="1" i="1" dirty="0">
                <a:solidFill>
                  <a:srgbClr val="000000"/>
                </a:solidFill>
              </a:endParaRPr>
            </a:p>
          </p:txBody>
        </p:sp>
        <p:sp>
          <p:nvSpPr>
            <p:cNvPr id="99373" name="Text Box 24"/>
            <p:cNvSpPr txBox="1"/>
            <p:nvPr/>
          </p:nvSpPr>
          <p:spPr>
            <a:xfrm>
              <a:off x="4887" y="3063"/>
              <a:ext cx="3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+</a:t>
              </a:r>
              <a:r>
                <a:rPr lang="en-US" altLang="zh-CN" sz="2800" b="1" i="1" dirty="0">
                  <a:solidFill>
                    <a:srgbClr val="000000"/>
                  </a:solidFill>
                </a:rPr>
                <a:t>q</a:t>
              </a:r>
              <a:endParaRPr lang="en-US" altLang="zh-CN" sz="3600" b="1" i="1" dirty="0">
                <a:solidFill>
                  <a:srgbClr val="000000"/>
                </a:solidFill>
              </a:endParaRPr>
            </a:p>
          </p:txBody>
        </p:sp>
        <p:sp>
          <p:nvSpPr>
            <p:cNvPr id="99374" name="Text Box 25"/>
            <p:cNvSpPr txBox="1"/>
            <p:nvPr/>
          </p:nvSpPr>
          <p:spPr>
            <a:xfrm>
              <a:off x="3873" y="3050"/>
              <a:ext cx="3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800" b="1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q</a:t>
              </a:r>
              <a:endParaRPr lang="en-US" altLang="zh-CN" sz="2800" b="1" i="1" dirty="0">
                <a:solidFill>
                  <a:srgbClr val="000000"/>
                </a:solidFill>
                <a:sym typeface="Symbol" panose="05050102010706020507" pitchFamily="18" charset="2"/>
              </a:endParaRPr>
            </a:p>
          </p:txBody>
        </p:sp>
        <p:graphicFrame>
          <p:nvGraphicFramePr>
            <p:cNvPr id="99375" name="Object 26"/>
            <p:cNvGraphicFramePr>
              <a:graphicFrameLocks noChangeAspect="1"/>
            </p:cNvGraphicFramePr>
            <p:nvPr/>
          </p:nvGraphicFramePr>
          <p:xfrm>
            <a:off x="4649" y="2863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5" imgW="292100" imgH="381000" progId="Equation.3">
                    <p:embed/>
                  </p:oleObj>
                </mc:Choice>
                <mc:Fallback>
                  <p:oleObj name="" r:id="rId5" imgW="292100" imgH="3810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49" y="2863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76" name="Arc 27"/>
            <p:cNvSpPr/>
            <p:nvPr/>
          </p:nvSpPr>
          <p:spPr>
            <a:xfrm>
              <a:off x="4399" y="2943"/>
              <a:ext cx="249" cy="17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</a:cxnLst>
              <a:pathLst>
                <a:path w="21600" h="16535" fill="none">
                  <a:moveTo>
                    <a:pt x="13897" y="0"/>
                  </a:moveTo>
                  <a:cubicBezTo>
                    <a:pt x="18780" y="4104"/>
                    <a:pt x="21600" y="10156"/>
                    <a:pt x="21600" y="16535"/>
                  </a:cubicBezTo>
                </a:path>
                <a:path w="21600" h="16535" stroke="0">
                  <a:moveTo>
                    <a:pt x="13897" y="0"/>
                  </a:moveTo>
                  <a:cubicBezTo>
                    <a:pt x="18780" y="4104"/>
                    <a:pt x="21600" y="10156"/>
                    <a:pt x="21600" y="16535"/>
                  </a:cubicBezTo>
                  <a:lnTo>
                    <a:pt x="0" y="16535"/>
                  </a:lnTo>
                  <a:lnTo>
                    <a:pt x="13897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21948" name="Text Box 28"/>
          <p:cNvSpPr txBox="1"/>
          <p:nvPr/>
        </p:nvSpPr>
        <p:spPr>
          <a:xfrm>
            <a:off x="576263" y="368300"/>
            <a:ext cx="8451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求电场的分布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21949" name="Object 29"/>
          <p:cNvGraphicFramePr>
            <a:graphicFrameLocks noChangeAspect="1"/>
          </p:cNvGraphicFramePr>
          <p:nvPr/>
        </p:nvGraphicFramePr>
        <p:xfrm>
          <a:off x="1655763" y="1157288"/>
          <a:ext cx="2052637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7" imgW="2159000" imgH="939800" progId="Equation.DSMT4">
                  <p:embed/>
                </p:oleObj>
              </mc:Choice>
              <mc:Fallback>
                <p:oleObj name="" r:id="rId7" imgW="2159000" imgH="9398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5763" y="1157288"/>
                        <a:ext cx="2052637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50" name="Object 30"/>
          <p:cNvGraphicFramePr>
            <a:graphicFrameLocks noChangeAspect="1"/>
          </p:cNvGraphicFramePr>
          <p:nvPr/>
        </p:nvGraphicFramePr>
        <p:xfrm>
          <a:off x="2016125" y="3357563"/>
          <a:ext cx="30956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9" imgW="3238500" imgH="914400" progId="Equation.DSMT4">
                  <p:embed/>
                </p:oleObj>
              </mc:Choice>
              <mc:Fallback>
                <p:oleObj name="" r:id="rId9" imgW="3238500" imgH="9144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16125" y="3357563"/>
                        <a:ext cx="3095625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52" name="Object 32"/>
          <p:cNvGraphicFramePr>
            <a:graphicFrameLocks noChangeAspect="1"/>
          </p:cNvGraphicFramePr>
          <p:nvPr/>
        </p:nvGraphicFramePr>
        <p:xfrm>
          <a:off x="2016125" y="4200525"/>
          <a:ext cx="30241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1" imgW="3149600" imgH="914400" progId="Equation.DSMT4">
                  <p:embed/>
                </p:oleObj>
              </mc:Choice>
              <mc:Fallback>
                <p:oleObj name="" r:id="rId11" imgW="3149600" imgH="9144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6125" y="4200525"/>
                        <a:ext cx="3024188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1953" name="Group 33"/>
          <p:cNvGrpSpPr/>
          <p:nvPr/>
        </p:nvGrpSpPr>
        <p:grpSpPr>
          <a:xfrm>
            <a:off x="6084888" y="1268413"/>
            <a:ext cx="1222375" cy="2001837"/>
            <a:chOff x="3006" y="935"/>
            <a:chExt cx="770" cy="1261"/>
          </a:xfrm>
        </p:grpSpPr>
        <p:sp>
          <p:nvSpPr>
            <p:cNvPr id="99353" name="Line 34"/>
            <p:cNvSpPr/>
            <p:nvPr/>
          </p:nvSpPr>
          <p:spPr>
            <a:xfrm flipV="1">
              <a:off x="3064" y="1322"/>
              <a:ext cx="432" cy="87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arrow" w="med" len="lg"/>
            </a:ln>
          </p:spPr>
        </p:sp>
        <p:graphicFrame>
          <p:nvGraphicFramePr>
            <p:cNvPr id="99354" name="Object 35"/>
            <p:cNvGraphicFramePr>
              <a:graphicFrameLocks noChangeAspect="1"/>
            </p:cNvGraphicFramePr>
            <p:nvPr/>
          </p:nvGraphicFramePr>
          <p:xfrm>
            <a:off x="3266" y="1933"/>
            <a:ext cx="14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13" imgW="241300" imgH="317500" progId="Equation.DSMT4">
                    <p:embed/>
                  </p:oleObj>
                </mc:Choice>
                <mc:Fallback>
                  <p:oleObj name="" r:id="rId13" imgW="241300" imgH="317500" progId="Equation.DSMT4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66" y="1933"/>
                          <a:ext cx="14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5" name="Freeform 36"/>
            <p:cNvSpPr/>
            <p:nvPr/>
          </p:nvSpPr>
          <p:spPr>
            <a:xfrm>
              <a:off x="3243" y="1185"/>
              <a:ext cx="248" cy="124"/>
            </a:xfrm>
            <a:custGeom>
              <a:avLst/>
              <a:gdLst/>
              <a:ahLst/>
              <a:cxnLst>
                <a:cxn ang="0">
                  <a:pos x="240" y="148"/>
                </a:cxn>
                <a:cxn ang="0">
                  <a:pos x="0" y="0"/>
                </a:cxn>
              </a:cxnLst>
              <a:pathLst>
                <a:path w="256" h="104">
                  <a:moveTo>
                    <a:pt x="256" y="104"/>
                  </a:moveTo>
                  <a:lnTo>
                    <a:pt x="0" y="0"/>
                  </a:lnTo>
                </a:path>
              </a:pathLst>
            </a:custGeom>
            <a:noFill/>
            <a:ln w="412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99356" name="Object 37"/>
            <p:cNvGraphicFramePr>
              <a:graphicFrameLocks noChangeAspect="1"/>
            </p:cNvGraphicFramePr>
            <p:nvPr/>
          </p:nvGraphicFramePr>
          <p:xfrm>
            <a:off x="3016" y="935"/>
            <a:ext cx="250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5" imgW="342900" imgH="431800" progId="Equation.DSMT4">
                    <p:embed/>
                  </p:oleObj>
                </mc:Choice>
                <mc:Fallback>
                  <p:oleObj name="" r:id="rId15" imgW="342900" imgH="4318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016" y="935"/>
                          <a:ext cx="250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7" name="Line 38"/>
            <p:cNvSpPr/>
            <p:nvPr/>
          </p:nvSpPr>
          <p:spPr>
            <a:xfrm>
              <a:off x="3064" y="2196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9358" name="Object 39"/>
            <p:cNvGraphicFramePr>
              <a:graphicFrameLocks noChangeAspect="1"/>
            </p:cNvGraphicFramePr>
            <p:nvPr/>
          </p:nvGraphicFramePr>
          <p:xfrm>
            <a:off x="3583" y="1094"/>
            <a:ext cx="19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17" imgW="317500" imgH="431165" progId="Equation.DSMT4">
                    <p:embed/>
                  </p:oleObj>
                </mc:Choice>
                <mc:Fallback>
                  <p:oleObj name="" r:id="rId17" imgW="317500" imgH="431165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583" y="1094"/>
                          <a:ext cx="193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9" name="Line 40"/>
            <p:cNvSpPr/>
            <p:nvPr/>
          </p:nvSpPr>
          <p:spPr>
            <a:xfrm flipV="1">
              <a:off x="3496" y="1085"/>
              <a:ext cx="115" cy="239"/>
            </a:xfrm>
            <a:prstGeom prst="line">
              <a:avLst/>
            </a:prstGeom>
            <a:ln w="4127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</p:spPr>
        </p:sp>
        <p:graphicFrame>
          <p:nvGraphicFramePr>
            <p:cNvPr id="99360" name="Object 41"/>
            <p:cNvGraphicFramePr>
              <a:graphicFrameLocks noChangeAspect="1"/>
            </p:cNvGraphicFramePr>
            <p:nvPr/>
          </p:nvGraphicFramePr>
          <p:xfrm>
            <a:off x="3061" y="1570"/>
            <a:ext cx="22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9" imgW="228600" imgH="317500" progId="Equation.DSMT4">
                    <p:embed/>
                  </p:oleObj>
                </mc:Choice>
                <mc:Fallback>
                  <p:oleObj name="" r:id="rId19" imgW="228600" imgH="317500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61" y="1570"/>
                          <a:ext cx="224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61" name="Arc 42"/>
            <p:cNvSpPr/>
            <p:nvPr/>
          </p:nvSpPr>
          <p:spPr>
            <a:xfrm flipV="1">
              <a:off x="3006" y="2045"/>
              <a:ext cx="214" cy="1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1"/>
                </a:cxn>
                <a:cxn ang="0">
                  <a:pos x="0" y="0"/>
                </a:cxn>
              </a:cxnLst>
              <a:pathLst>
                <a:path w="21600" h="22111" fill="none">
                  <a:moveTo>
                    <a:pt x="20655" y="-1"/>
                  </a:moveTo>
                  <a:cubicBezTo>
                    <a:pt x="21281" y="2047"/>
                    <a:pt x="21600" y="4176"/>
                    <a:pt x="21600" y="6318"/>
                  </a:cubicBezTo>
                  <a:cubicBezTo>
                    <a:pt x="21600" y="12306"/>
                    <a:pt x="19114" y="18025"/>
                    <a:pt x="14735" y="22110"/>
                  </a:cubicBezTo>
                </a:path>
                <a:path w="21600" h="22111" stroke="0">
                  <a:moveTo>
                    <a:pt x="20655" y="-1"/>
                  </a:moveTo>
                  <a:cubicBezTo>
                    <a:pt x="21281" y="2047"/>
                    <a:pt x="21600" y="4176"/>
                    <a:pt x="21600" y="6318"/>
                  </a:cubicBezTo>
                  <a:cubicBezTo>
                    <a:pt x="21600" y="12306"/>
                    <a:pt x="19114" y="18025"/>
                    <a:pt x="14735" y="22110"/>
                  </a:cubicBezTo>
                  <a:lnTo>
                    <a:pt x="0" y="6318"/>
                  </a:lnTo>
                  <a:lnTo>
                    <a:pt x="20655" y="-1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721963" name="Object 43"/>
          <p:cNvGraphicFramePr>
            <a:graphicFrameLocks noChangeAspect="1"/>
          </p:cNvGraphicFramePr>
          <p:nvPr/>
        </p:nvGraphicFramePr>
        <p:xfrm>
          <a:off x="3743325" y="1157288"/>
          <a:ext cx="122555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21" imgW="1422400" imgH="914400" progId="Equation.DSMT4">
                  <p:embed/>
                </p:oleObj>
              </mc:Choice>
              <mc:Fallback>
                <p:oleObj name="" r:id="rId21" imgW="1422400" imgH="9144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43325" y="1157288"/>
                        <a:ext cx="1225550" cy="903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64" name="Text Box 44"/>
          <p:cNvSpPr txBox="1"/>
          <p:nvPr/>
        </p:nvSpPr>
        <p:spPr>
          <a:xfrm>
            <a:off x="827088" y="2276475"/>
            <a:ext cx="52927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如图取极坐标系</a:t>
            </a:r>
            <a:r>
              <a:rPr lang="en-US" altLang="zh-CN" sz="2800" b="1" dirty="0">
                <a:solidFill>
                  <a:srgbClr val="000000"/>
                </a:solidFill>
              </a:rPr>
              <a:t>,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721965" name="Text Box 45"/>
          <p:cNvSpPr txBox="1"/>
          <p:nvPr/>
        </p:nvSpPr>
        <p:spPr>
          <a:xfrm>
            <a:off x="3527425" y="2276475"/>
            <a:ext cx="3943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则电场强度为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721966" name="Object 46"/>
          <p:cNvGraphicFramePr>
            <a:graphicFrameLocks noChangeAspect="1"/>
          </p:cNvGraphicFramePr>
          <p:nvPr/>
        </p:nvGraphicFramePr>
        <p:xfrm>
          <a:off x="1728788" y="2816225"/>
          <a:ext cx="2447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23" imgW="2438400" imgH="495300" progId="Equation.DSMT4">
                  <p:embed/>
                </p:oleObj>
              </mc:Choice>
              <mc:Fallback>
                <p:oleObj name="" r:id="rId23" imgW="2438400" imgH="4953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28788" y="2816225"/>
                        <a:ext cx="2447925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67" name="Text Box 47"/>
          <p:cNvSpPr txBox="1"/>
          <p:nvPr/>
        </p:nvSpPr>
        <p:spPr>
          <a:xfrm>
            <a:off x="863600" y="3465513"/>
            <a:ext cx="172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其中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721968" name="Object 48"/>
          <p:cNvGraphicFramePr>
            <a:graphicFrameLocks noChangeAspect="1"/>
          </p:cNvGraphicFramePr>
          <p:nvPr/>
        </p:nvGraphicFramePr>
        <p:xfrm>
          <a:off x="2771775" y="5013325"/>
          <a:ext cx="24574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25" imgW="2387600" imgH="939800" progId="Equation.DSMT4">
                  <p:embed/>
                </p:oleObj>
              </mc:Choice>
              <mc:Fallback>
                <p:oleObj name="" r:id="rId25" imgW="2387600" imgH="9398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71775" y="5013325"/>
                        <a:ext cx="245745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1969" name="Group 49"/>
          <p:cNvGrpSpPr/>
          <p:nvPr/>
        </p:nvGrpSpPr>
        <p:grpSpPr>
          <a:xfrm>
            <a:off x="755650" y="5110163"/>
            <a:ext cx="2771775" cy="731837"/>
            <a:chOff x="363" y="3219"/>
            <a:chExt cx="1746" cy="461"/>
          </a:xfrm>
        </p:grpSpPr>
        <p:graphicFrame>
          <p:nvGraphicFramePr>
            <p:cNvPr id="99351" name="Object 50"/>
            <p:cNvGraphicFramePr>
              <a:graphicFrameLocks noChangeAspect="1"/>
            </p:cNvGraphicFramePr>
            <p:nvPr/>
          </p:nvGraphicFramePr>
          <p:xfrm>
            <a:off x="702" y="3219"/>
            <a:ext cx="590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27" imgW="901065" imgH="711200" progId="Equation.DSMT4">
                    <p:embed/>
                  </p:oleObj>
                </mc:Choice>
                <mc:Fallback>
                  <p:oleObj name="" r:id="rId27" imgW="901065" imgH="711200" progId="Equation.DSMT4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02" y="3219"/>
                          <a:ext cx="590" cy="4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2" name="Text Box 51"/>
            <p:cNvSpPr txBox="1"/>
            <p:nvPr/>
          </p:nvSpPr>
          <p:spPr>
            <a:xfrm>
              <a:off x="363" y="3262"/>
              <a:ext cx="17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当</a:t>
              </a:r>
              <a:r>
                <a:rPr lang="zh-CN" altLang="en-US" sz="2800" dirty="0">
                  <a:solidFill>
                    <a:srgbClr val="000000"/>
                  </a:solidFill>
                </a:rPr>
                <a:t>            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时</a:t>
              </a:r>
              <a:endParaRPr lang="zh-CN" altLang="en-US" sz="2800" dirty="0">
                <a:solidFill>
                  <a:srgbClr val="000000"/>
                </a:solidFill>
              </a:endParaRPr>
            </a:p>
          </p:txBody>
        </p:sp>
      </p:grpSp>
      <p:sp>
        <p:nvSpPr>
          <p:cNvPr id="721972" name="Text Box 52"/>
          <p:cNvSpPr txBox="1"/>
          <p:nvPr/>
        </p:nvSpPr>
        <p:spPr>
          <a:xfrm>
            <a:off x="5184775" y="5214938"/>
            <a:ext cx="3959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中垂线上一点的场强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721973" name="Object 53"/>
          <p:cNvGraphicFramePr>
            <a:graphicFrameLocks noChangeAspect="1"/>
          </p:cNvGraphicFramePr>
          <p:nvPr/>
        </p:nvGraphicFramePr>
        <p:xfrm>
          <a:off x="2736850" y="5872163"/>
          <a:ext cx="24479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29" imgW="2438400" imgH="939800" progId="Equation.DSMT4">
                  <p:embed/>
                </p:oleObj>
              </mc:Choice>
              <mc:Fallback>
                <p:oleObj name="" r:id="rId29" imgW="2438400" imgH="9398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36850" y="5872163"/>
                        <a:ext cx="2447925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1974" name="Group 54"/>
          <p:cNvGrpSpPr/>
          <p:nvPr/>
        </p:nvGrpSpPr>
        <p:grpSpPr>
          <a:xfrm>
            <a:off x="769938" y="5962650"/>
            <a:ext cx="2649537" cy="519113"/>
            <a:chOff x="372" y="3756"/>
            <a:chExt cx="1669" cy="327"/>
          </a:xfrm>
        </p:grpSpPr>
        <p:graphicFrame>
          <p:nvGraphicFramePr>
            <p:cNvPr id="99349" name="Object 55"/>
            <p:cNvGraphicFramePr>
              <a:graphicFrameLocks noChangeAspect="1"/>
            </p:cNvGraphicFramePr>
            <p:nvPr/>
          </p:nvGraphicFramePr>
          <p:xfrm>
            <a:off x="730" y="3818"/>
            <a:ext cx="49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31" imgW="774065" imgH="317500" progId="Equation.DSMT4">
                    <p:embed/>
                  </p:oleObj>
                </mc:Choice>
                <mc:Fallback>
                  <p:oleObj name="" r:id="rId31" imgW="774065" imgH="3175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730" y="3818"/>
                          <a:ext cx="494" cy="2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0" name="Text Box 56"/>
            <p:cNvSpPr txBox="1"/>
            <p:nvPr/>
          </p:nvSpPr>
          <p:spPr>
            <a:xfrm>
              <a:off x="372" y="3756"/>
              <a:ext cx="16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当            时</a:t>
              </a: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721977" name="Text Box 57"/>
          <p:cNvSpPr txBox="1"/>
          <p:nvPr/>
        </p:nvSpPr>
        <p:spPr>
          <a:xfrm>
            <a:off x="5256213" y="6005513"/>
            <a:ext cx="3887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延长线上一点的场强</a:t>
            </a:r>
            <a:endParaRPr lang="zh-CN" altLang="en-US" sz="28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99348" name="Object 61"/>
          <p:cNvGraphicFramePr>
            <a:graphicFrameLocks noChangeAspect="1"/>
          </p:cNvGraphicFramePr>
          <p:nvPr/>
        </p:nvGraphicFramePr>
        <p:xfrm>
          <a:off x="4572000" y="296863"/>
          <a:ext cx="321468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33" imgW="1320165" imgH="241300" progId="Equation.3">
                  <p:embed/>
                </p:oleObj>
              </mc:Choice>
              <mc:Fallback>
                <p:oleObj name="" r:id="rId33" imgW="1320165" imgH="2413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72000" y="296863"/>
                        <a:ext cx="3214688" cy="587375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1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1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2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2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21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1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21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21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21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21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21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1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2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72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72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1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21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72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72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48" grpId="0"/>
      <p:bldP spid="721964" grpId="0"/>
      <p:bldP spid="721965" grpId="0"/>
      <p:bldP spid="721967" grpId="0"/>
      <p:bldP spid="721972" grpId="0"/>
      <p:bldP spid="721977" grpId="0"/>
    </p:bldLst>
  </p:timing>
</p:sld>
</file>

<file path=ppt/tags/tag1.xml><?xml version="1.0" encoding="utf-8"?>
<p:tagLst xmlns:p="http://schemas.openxmlformats.org/presentationml/2006/main">
  <p:tag name="commondata" val="eyJoZGlkIjoiNTRmMGEyNDZlNzIxMzE3MDI5ZTUxZWVjOTU5NmZhZTYifQ=="/>
</p:tagLst>
</file>

<file path=ppt/theme/theme1.xml><?xml version="1.0" encoding="utf-8"?>
<a:theme xmlns:a="http://schemas.openxmlformats.org/drawingml/2006/main" name="1_默认设计模板">
  <a:themeElements>
    <a:clrScheme name="默认设计模板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AAAA"/>
      </a:accent5>
      <a:accent6>
        <a:srgbClr val="2D2D8A"/>
      </a:accent6>
      <a:hlink>
        <a:srgbClr val="009999"/>
      </a:hlink>
      <a:folHlink>
        <a:srgbClr val="000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2D8A"/>
        </a:accent6>
        <a:hlink>
          <a:srgbClr val="009999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2D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1826</Words>
  <Application>WPS 演示</Application>
  <PresentationFormat>全屏显示(4:3)</PresentationFormat>
  <Paragraphs>394</Paragraphs>
  <Slides>22</Slides>
  <Notes>21</Notes>
  <HiddenSlides>1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168</vt:i4>
      </vt:variant>
      <vt:variant>
        <vt:lpstr>幻灯片标题</vt:lpstr>
      </vt:variant>
      <vt:variant>
        <vt:i4>22</vt:i4>
      </vt:variant>
    </vt:vector>
  </HeadingPairs>
  <TitlesOfParts>
    <vt:vector size="211" baseType="lpstr">
      <vt:lpstr>Arial</vt:lpstr>
      <vt:lpstr>宋体</vt:lpstr>
      <vt:lpstr>Wingdings</vt:lpstr>
      <vt:lpstr>Times New Roman</vt:lpstr>
      <vt:lpstr>Monotype Sorts</vt:lpstr>
      <vt:lpstr>Wingdings</vt:lpstr>
      <vt:lpstr>黑体</vt:lpstr>
      <vt:lpstr>楷体_GB2312</vt:lpstr>
      <vt:lpstr>新宋体</vt:lpstr>
      <vt:lpstr>Symbol</vt:lpstr>
      <vt:lpstr>华文新魏</vt:lpstr>
      <vt:lpstr>微软雅黑</vt:lpstr>
      <vt:lpstr>Arial Unicode MS</vt:lpstr>
      <vt:lpstr>Bookman Old Style</vt:lpstr>
      <vt:lpstr>Times New Roman</vt:lpstr>
      <vt:lpstr>方正舒体</vt:lpstr>
      <vt:lpstr>Wingdings 2</vt:lpstr>
      <vt:lpstr>华文行楷</vt:lpstr>
      <vt:lpstr>1_默认设计模板</vt:lpstr>
      <vt:lpstr>1_场景型模板</vt:lpstr>
      <vt:lpstr>2_默认设计模板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静电场</dc:title>
  <dc:creator>朱佑新</dc:creator>
  <cp:lastModifiedBy>WPS_1631981099</cp:lastModifiedBy>
  <cp:revision>622</cp:revision>
  <cp:lastPrinted>2018-04-24T00:26:00Z</cp:lastPrinted>
  <dcterms:created xsi:type="dcterms:W3CDTF">2004-04-19T05:53:00Z</dcterms:created>
  <dcterms:modified xsi:type="dcterms:W3CDTF">2024-05-15T08:29:54Z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2B529581656741428DF710922E04D4F7_13</vt:lpwstr>
  </property>
  <property fmtid="{D5CDD505-2E9C-101B-9397-08002B2CF9AE}" pid="3" name="KSOProductBuildVer">
    <vt:lpwstr>2052-12.1.0.16729</vt:lpwstr>
  </property>
</Properties>
</file>