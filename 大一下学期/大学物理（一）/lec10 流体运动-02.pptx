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6"/>
  </p:handoutMasterIdLst>
  <p:sldIdLst>
    <p:sldId id="516" r:id="rId3"/>
    <p:sldId id="515" r:id="rId5"/>
    <p:sldId id="517" r:id="rId6"/>
    <p:sldId id="514" r:id="rId7"/>
    <p:sldId id="513" r:id="rId8"/>
    <p:sldId id="542" r:id="rId9"/>
    <p:sldId id="543" r:id="rId10"/>
    <p:sldId id="544" r:id="rId11"/>
    <p:sldId id="545" r:id="rId12"/>
    <p:sldId id="341" r:id="rId13"/>
    <p:sldId id="391" r:id="rId14"/>
    <p:sldId id="498" r:id="rId15"/>
    <p:sldId id="415" r:id="rId16"/>
    <p:sldId id="412" r:id="rId17"/>
    <p:sldId id="345" r:id="rId18"/>
    <p:sldId id="346" r:id="rId19"/>
    <p:sldId id="347" r:id="rId20"/>
    <p:sldId id="348" r:id="rId21"/>
    <p:sldId id="355" r:id="rId22"/>
    <p:sldId id="413" r:id="rId23"/>
    <p:sldId id="393" r:id="rId24"/>
    <p:sldId id="394" r:id="rId25"/>
    <p:sldId id="417" r:id="rId26"/>
    <p:sldId id="416" r:id="rId27"/>
    <p:sldId id="418" r:id="rId28"/>
    <p:sldId id="419" r:id="rId29"/>
    <p:sldId id="420" r:id="rId30"/>
    <p:sldId id="568" r:id="rId31"/>
    <p:sldId id="569" r:id="rId32"/>
    <p:sldId id="422" r:id="rId33"/>
    <p:sldId id="364" r:id="rId34"/>
    <p:sldId id="365" r:id="rId35"/>
  </p:sldIdLst>
  <p:sldSz cx="9144000" cy="6858000" type="screen4x3"/>
  <p:notesSz cx="6761480" cy="9942830"/>
  <p:custDataLst>
    <p:tags r:id="rId40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A50021"/>
    <a:srgbClr val="0000CC"/>
    <a:srgbClr val="FFCC66"/>
    <a:srgbClr val="CC00CC"/>
    <a:srgbClr val="9900CC"/>
    <a:srgbClr val="333399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0164"/>
    <p:restoredTop sz="94572"/>
  </p:normalViewPr>
  <p:slideViewPr>
    <p:cSldViewPr showGuides="1">
      <p:cViewPr varScale="1">
        <p:scale>
          <a:sx n="94" d="100"/>
          <a:sy n="94" d="100"/>
        </p:scale>
        <p:origin x="1328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52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gs" Target="tags/tag1.xml"/><Relationship Id="rId4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handoutMaster" Target="handoutMasters/handoutMaster1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w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.wmf"/><Relationship Id="rId8" Type="http://schemas.openxmlformats.org/officeDocument/2006/relationships/image" Target="../media/image13.emf"/><Relationship Id="rId7" Type="http://schemas.openxmlformats.org/officeDocument/2006/relationships/image" Target="../media/image12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1" Type="http://schemas.openxmlformats.org/officeDocument/2006/relationships/image" Target="../media/image16.wmf"/><Relationship Id="rId10" Type="http://schemas.openxmlformats.org/officeDocument/2006/relationships/image" Target="../media/image15.e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image" Target="../media/image24.emf"/></Relationships>
</file>

<file path=ppt/drawings/_rels/vmlDrawing5.vml.rels><?xml version="1.0" encoding="UTF-8" standalone="yes"?>
<Relationships xmlns="http://schemas.openxmlformats.org/package/2006/relationships"><Relationship Id="rId5" Type="http://schemas.openxmlformats.org/officeDocument/2006/relationships/image" Target="../media/image35.emf"/><Relationship Id="rId4" Type="http://schemas.openxmlformats.org/officeDocument/2006/relationships/image" Target="../media/image34.emf"/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image" Target="../media/image40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image" Target="../media/image43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png"/></Relationships>
</file>

<file path=ppt/drawings/_rels/vmlDrawing10.vml.rels><?xml version="1.0" encoding="UTF-8" standalone="yes"?>
<Relationships xmlns="http://schemas.openxmlformats.org/package/2006/relationships"><Relationship Id="rId6" Type="http://schemas.openxmlformats.org/officeDocument/2006/relationships/image" Target="../media/image54.emf"/><Relationship Id="rId5" Type="http://schemas.openxmlformats.org/officeDocument/2006/relationships/image" Target="../media/image53.emf"/><Relationship Id="rId4" Type="http://schemas.openxmlformats.org/officeDocument/2006/relationships/image" Target="../media/image52.emf"/><Relationship Id="rId3" Type="http://schemas.openxmlformats.org/officeDocument/2006/relationships/image" Target="../media/image51.emf"/><Relationship Id="rId2" Type="http://schemas.openxmlformats.org/officeDocument/2006/relationships/image" Target="../media/image50.emf"/><Relationship Id="rId1" Type="http://schemas.openxmlformats.org/officeDocument/2006/relationships/image" Target="../media/image49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image" Target="../media/image56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image" Target="../media/image65.emf"/><Relationship Id="rId1" Type="http://schemas.openxmlformats.org/officeDocument/2006/relationships/image" Target="../media/image64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69.emf"/><Relationship Id="rId1" Type="http://schemas.openxmlformats.org/officeDocument/2006/relationships/image" Target="../media/image67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emf"/><Relationship Id="rId2" Type="http://schemas.openxmlformats.org/officeDocument/2006/relationships/image" Target="../media/image71.emf"/><Relationship Id="rId1" Type="http://schemas.openxmlformats.org/officeDocument/2006/relationships/image" Target="../media/image70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73.emf"/></Relationships>
</file>

<file path=ppt/drawings/_rels/vmlDrawing19.vml.rels><?xml version="1.0" encoding="UTF-8" standalone="yes"?>
<Relationships xmlns="http://schemas.openxmlformats.org/package/2006/relationships"><Relationship Id="rId5" Type="http://schemas.openxmlformats.org/officeDocument/2006/relationships/image" Target="../media/image80.emf"/><Relationship Id="rId4" Type="http://schemas.openxmlformats.org/officeDocument/2006/relationships/image" Target="../media/image79.emf"/><Relationship Id="rId3" Type="http://schemas.openxmlformats.org/officeDocument/2006/relationships/image" Target="../media/image78.emf"/><Relationship Id="rId2" Type="http://schemas.openxmlformats.org/officeDocument/2006/relationships/image" Target="../media/image77.emf"/><Relationship Id="rId1" Type="http://schemas.openxmlformats.org/officeDocument/2006/relationships/image" Target="../media/image76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2" Type="http://schemas.openxmlformats.org/officeDocument/2006/relationships/image" Target="../media/image82.emf"/><Relationship Id="rId1" Type="http://schemas.openxmlformats.org/officeDocument/2006/relationships/image" Target="../media/image81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2" Type="http://schemas.openxmlformats.org/officeDocument/2006/relationships/image" Target="../media/image85.emf"/><Relationship Id="rId1" Type="http://schemas.openxmlformats.org/officeDocument/2006/relationships/image" Target="../media/image84.emf"/></Relationships>
</file>

<file path=ppt/drawings/_rels/vmlDrawing22.vml.rels><?xml version="1.0" encoding="UTF-8" standalone="yes"?>
<Relationships xmlns="http://schemas.openxmlformats.org/package/2006/relationships"><Relationship Id="rId4" Type="http://schemas.openxmlformats.org/officeDocument/2006/relationships/image" Target="../media/image98.emf"/><Relationship Id="rId3" Type="http://schemas.openxmlformats.org/officeDocument/2006/relationships/image" Target="../media/image97.emf"/><Relationship Id="rId2" Type="http://schemas.openxmlformats.org/officeDocument/2006/relationships/image" Target="../media/image96.emf"/><Relationship Id="rId1" Type="http://schemas.openxmlformats.org/officeDocument/2006/relationships/image" Target="../media/image95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9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052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29050" y="0"/>
            <a:ext cx="293052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31FD9E7-1DB3-4C4D-904A-7E2D5D674FC2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4038"/>
            <a:ext cx="293052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29050" y="9444038"/>
            <a:ext cx="2930525" cy="4984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42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9050" y="0"/>
            <a:ext cx="2930525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Rot="1" noTextEdit="1"/>
          </p:cNvSpPr>
          <p:nvPr>
            <p:ph type="sldImg" idx="2"/>
          </p:nvPr>
        </p:nvSpPr>
        <p:spPr>
          <a:xfrm>
            <a:off x="896938" y="746125"/>
            <a:ext cx="4967287" cy="37274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42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6275" y="4722813"/>
            <a:ext cx="5408613" cy="44735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42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4038"/>
            <a:ext cx="2930525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42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9050" y="9444038"/>
            <a:ext cx="2930525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61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300" dirty="0"/>
            </a:fld>
            <a:endParaRPr lang="en-US" altLang="zh-CN" sz="13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300" dirty="0"/>
            </a:fld>
            <a:endParaRPr lang="en-US" altLang="zh-CN" sz="1300" dirty="0"/>
          </a:p>
        </p:txBody>
      </p:sp>
      <p:sp>
        <p:nvSpPr>
          <p:cNvPr id="819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300" dirty="0"/>
            </a:fld>
            <a:endParaRPr lang="en-US" altLang="zh-CN" sz="1300" dirty="0"/>
          </a:p>
        </p:txBody>
      </p:sp>
      <p:sp>
        <p:nvSpPr>
          <p:cNvPr id="1024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24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122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33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143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3072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1.png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6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>
    <p:rand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2.e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GIF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.bin"/><Relationship Id="rId8" Type="http://schemas.openxmlformats.org/officeDocument/2006/relationships/image" Target="../media/image9.wmf"/><Relationship Id="rId7" Type="http://schemas.openxmlformats.org/officeDocument/2006/relationships/oleObject" Target="../embeddings/oleObject7.bin"/><Relationship Id="rId6" Type="http://schemas.openxmlformats.org/officeDocument/2006/relationships/image" Target="../media/image8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7.wmf"/><Relationship Id="rId3" Type="http://schemas.openxmlformats.org/officeDocument/2006/relationships/oleObject" Target="../embeddings/oleObject5.bin"/><Relationship Id="rId25" Type="http://schemas.openxmlformats.org/officeDocument/2006/relationships/notesSlide" Target="../notesSlides/notesSlide3.xml"/><Relationship Id="rId24" Type="http://schemas.openxmlformats.org/officeDocument/2006/relationships/vmlDrawing" Target="../drawings/vmlDrawing2.vml"/><Relationship Id="rId23" Type="http://schemas.openxmlformats.org/officeDocument/2006/relationships/slideLayout" Target="../slideLayouts/slideLayout15.xml"/><Relationship Id="rId22" Type="http://schemas.openxmlformats.org/officeDocument/2006/relationships/image" Target="../media/image16.wmf"/><Relationship Id="rId21" Type="http://schemas.openxmlformats.org/officeDocument/2006/relationships/oleObject" Target="../embeddings/oleObject14.bin"/><Relationship Id="rId20" Type="http://schemas.openxmlformats.org/officeDocument/2006/relationships/image" Target="../media/image15.emf"/><Relationship Id="rId2" Type="http://schemas.openxmlformats.org/officeDocument/2006/relationships/image" Target="../media/image6.wmf"/><Relationship Id="rId19" Type="http://schemas.openxmlformats.org/officeDocument/2006/relationships/oleObject" Target="../embeddings/oleObject13.bin"/><Relationship Id="rId18" Type="http://schemas.openxmlformats.org/officeDocument/2006/relationships/image" Target="../media/image14.wmf"/><Relationship Id="rId17" Type="http://schemas.openxmlformats.org/officeDocument/2006/relationships/oleObject" Target="../embeddings/oleObject12.bin"/><Relationship Id="rId16" Type="http://schemas.openxmlformats.org/officeDocument/2006/relationships/image" Target="../media/image13.emf"/><Relationship Id="rId15" Type="http://schemas.openxmlformats.org/officeDocument/2006/relationships/oleObject" Target="../embeddings/oleObject11.bin"/><Relationship Id="rId14" Type="http://schemas.openxmlformats.org/officeDocument/2006/relationships/image" Target="../media/image12.wmf"/><Relationship Id="rId13" Type="http://schemas.openxmlformats.org/officeDocument/2006/relationships/oleObject" Target="../embeddings/oleObject10.bin"/><Relationship Id="rId12" Type="http://schemas.openxmlformats.org/officeDocument/2006/relationships/image" Target="../media/image11.wmf"/><Relationship Id="rId11" Type="http://schemas.openxmlformats.org/officeDocument/2006/relationships/oleObject" Target="../embeddings/oleObject9.bin"/><Relationship Id="rId10" Type="http://schemas.openxmlformats.org/officeDocument/2006/relationships/image" Target="../media/image10.wmf"/><Relationship Id="rId1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7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.bin"/><Relationship Id="rId8" Type="http://schemas.openxmlformats.org/officeDocument/2006/relationships/image" Target="../media/image21.emf"/><Relationship Id="rId7" Type="http://schemas.openxmlformats.org/officeDocument/2006/relationships/oleObject" Target="../embeddings/oleObject18.bin"/><Relationship Id="rId6" Type="http://schemas.openxmlformats.org/officeDocument/2006/relationships/image" Target="../media/image20.e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9.e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18.emf"/><Relationship Id="rId15" Type="http://schemas.openxmlformats.org/officeDocument/2006/relationships/notesSlide" Target="../notesSlides/notesSlide5.xml"/><Relationship Id="rId14" Type="http://schemas.openxmlformats.org/officeDocument/2006/relationships/vmlDrawing" Target="../drawings/vmlDrawing3.vml"/><Relationship Id="rId13" Type="http://schemas.openxmlformats.org/officeDocument/2006/relationships/slideLayout" Target="../slideLayouts/slideLayout13.xml"/><Relationship Id="rId12" Type="http://schemas.openxmlformats.org/officeDocument/2006/relationships/image" Target="../media/image23.emf"/><Relationship Id="rId11" Type="http://schemas.openxmlformats.org/officeDocument/2006/relationships/oleObject" Target="../embeddings/oleObject20.bin"/><Relationship Id="rId10" Type="http://schemas.openxmlformats.org/officeDocument/2006/relationships/image" Target="../media/image22.emf"/><Relationship Id="rId1" Type="http://schemas.openxmlformats.org/officeDocument/2006/relationships/oleObject" Target="../embeddings/oleObject15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7.emf"/><Relationship Id="rId5" Type="http://schemas.openxmlformats.org/officeDocument/2006/relationships/image" Target="../media/image26.emf"/><Relationship Id="rId4" Type="http://schemas.openxmlformats.org/officeDocument/2006/relationships/oleObject" Target="../embeddings/oleObject22.bin"/><Relationship Id="rId3" Type="http://schemas.openxmlformats.org/officeDocument/2006/relationships/image" Target="../media/image25.png"/><Relationship Id="rId2" Type="http://schemas.openxmlformats.org/officeDocument/2006/relationships/image" Target="../media/image24.emf"/><Relationship Id="rId1" Type="http://schemas.openxmlformats.org/officeDocument/2006/relationships/oleObject" Target="../embeddings/oleObject2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emf"/><Relationship Id="rId8" Type="http://schemas.openxmlformats.org/officeDocument/2006/relationships/oleObject" Target="../embeddings/oleObject26.bin"/><Relationship Id="rId7" Type="http://schemas.openxmlformats.org/officeDocument/2006/relationships/image" Target="../media/image33.emf"/><Relationship Id="rId6" Type="http://schemas.openxmlformats.org/officeDocument/2006/relationships/oleObject" Target="../embeddings/oleObject25.bin"/><Relationship Id="rId5" Type="http://schemas.openxmlformats.org/officeDocument/2006/relationships/image" Target="../media/image32.emf"/><Relationship Id="rId4" Type="http://schemas.openxmlformats.org/officeDocument/2006/relationships/oleObject" Target="../embeddings/oleObject24.bin"/><Relationship Id="rId3" Type="http://schemas.openxmlformats.org/officeDocument/2006/relationships/image" Target="../media/image31.emf"/><Relationship Id="rId2" Type="http://schemas.openxmlformats.org/officeDocument/2006/relationships/oleObject" Target="../embeddings/oleObject23.bin"/><Relationship Id="rId13" Type="http://schemas.openxmlformats.org/officeDocument/2006/relationships/vmlDrawing" Target="../drawings/vmlDrawing5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35.emf"/><Relationship Id="rId10" Type="http://schemas.openxmlformats.org/officeDocument/2006/relationships/oleObject" Target="../embeddings/oleObject27.bin"/><Relationship Id="rId1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39.png"/><Relationship Id="rId7" Type="http://schemas.openxmlformats.org/officeDocument/2006/relationships/image" Target="../media/image30.png"/><Relationship Id="rId6" Type="http://schemas.openxmlformats.org/officeDocument/2006/relationships/image" Target="../media/image38.e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37.emf"/><Relationship Id="rId3" Type="http://schemas.openxmlformats.org/officeDocument/2006/relationships/oleObject" Target="../embeddings/oleObject29.bin"/><Relationship Id="rId2" Type="http://schemas.openxmlformats.org/officeDocument/2006/relationships/image" Target="../media/image36.emf"/><Relationship Id="rId10" Type="http://schemas.openxmlformats.org/officeDocument/2006/relationships/vmlDrawing" Target="../drawings/vmlDrawing6.vml"/><Relationship Id="rId1" Type="http://schemas.openxmlformats.org/officeDocument/2006/relationships/oleObject" Target="../embeddings/oleObject28.bin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7.vml"/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42.png"/><Relationship Id="rId4" Type="http://schemas.openxmlformats.org/officeDocument/2006/relationships/image" Target="../media/image41.emf"/><Relationship Id="rId3" Type="http://schemas.openxmlformats.org/officeDocument/2006/relationships/oleObject" Target="../embeddings/oleObject32.bin"/><Relationship Id="rId2" Type="http://schemas.openxmlformats.org/officeDocument/2006/relationships/image" Target="../media/image40.emf"/><Relationship Id="rId1" Type="http://schemas.openxmlformats.org/officeDocument/2006/relationships/oleObject" Target="../embeddings/oleObject31.bin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8.vml"/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45.png"/><Relationship Id="rId4" Type="http://schemas.openxmlformats.org/officeDocument/2006/relationships/image" Target="../media/image44.emf"/><Relationship Id="rId3" Type="http://schemas.openxmlformats.org/officeDocument/2006/relationships/oleObject" Target="../embeddings/oleObject34.bin"/><Relationship Id="rId2" Type="http://schemas.openxmlformats.org/officeDocument/2006/relationships/image" Target="../media/image43.emf"/><Relationship Id="rId1" Type="http://schemas.openxmlformats.org/officeDocument/2006/relationships/oleObject" Target="../embeddings/oleObject33.bin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7.png"/><Relationship Id="rId1" Type="http://schemas.openxmlformats.org/officeDocument/2006/relationships/image" Target="../media/image46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9.bin"/><Relationship Id="rId8" Type="http://schemas.openxmlformats.org/officeDocument/2006/relationships/image" Target="../media/image52.emf"/><Relationship Id="rId7" Type="http://schemas.openxmlformats.org/officeDocument/2006/relationships/oleObject" Target="../embeddings/oleObject38.bin"/><Relationship Id="rId6" Type="http://schemas.openxmlformats.org/officeDocument/2006/relationships/image" Target="../media/image51.e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50.emf"/><Relationship Id="rId3" Type="http://schemas.openxmlformats.org/officeDocument/2006/relationships/oleObject" Target="../embeddings/oleObject36.bin"/><Relationship Id="rId2" Type="http://schemas.openxmlformats.org/officeDocument/2006/relationships/image" Target="../media/image49.emf"/><Relationship Id="rId15" Type="http://schemas.openxmlformats.org/officeDocument/2006/relationships/vmlDrawing" Target="../drawings/vmlDrawing10.v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55.png"/><Relationship Id="rId12" Type="http://schemas.openxmlformats.org/officeDocument/2006/relationships/image" Target="../media/image54.emf"/><Relationship Id="rId11" Type="http://schemas.openxmlformats.org/officeDocument/2006/relationships/oleObject" Target="../embeddings/oleObject40.bin"/><Relationship Id="rId10" Type="http://schemas.openxmlformats.org/officeDocument/2006/relationships/image" Target="../media/image53.emf"/><Relationship Id="rId1" Type="http://schemas.openxmlformats.org/officeDocument/2006/relationships/oleObject" Target="../embeddings/oleObject35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1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59.png"/><Relationship Id="rId6" Type="http://schemas.openxmlformats.org/officeDocument/2006/relationships/image" Target="../media/image58.e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57.emf"/><Relationship Id="rId3" Type="http://schemas.openxmlformats.org/officeDocument/2006/relationships/oleObject" Target="../embeddings/oleObject42.bin"/><Relationship Id="rId2" Type="http://schemas.openxmlformats.org/officeDocument/2006/relationships/image" Target="../media/image56.emf"/><Relationship Id="rId1" Type="http://schemas.openxmlformats.org/officeDocument/2006/relationships/oleObject" Target="../embeddings/oleObject41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12.v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3.vml"/><Relationship Id="rId4" Type="http://schemas.openxmlformats.org/officeDocument/2006/relationships/slideLayout" Target="../slideLayouts/slideLayout2.xml"/><Relationship Id="rId3" Type="http://schemas.openxmlformats.org/officeDocument/2006/relationships/slide" Target="slide18.xml"/><Relationship Id="rId2" Type="http://schemas.openxmlformats.org/officeDocument/2006/relationships/image" Target="../media/image62.emf"/><Relationship Id="rId1" Type="http://schemas.openxmlformats.org/officeDocument/2006/relationships/oleObject" Target="../embeddings/oleObject44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3.emf"/><Relationship Id="rId1" Type="http://schemas.openxmlformats.org/officeDocument/2006/relationships/oleObject" Target="../embeddings/oleObject45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5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6.e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65.emf"/><Relationship Id="rId3" Type="http://schemas.openxmlformats.org/officeDocument/2006/relationships/oleObject" Target="../embeddings/oleObject47.bin"/><Relationship Id="rId2" Type="http://schemas.openxmlformats.org/officeDocument/2006/relationships/image" Target="../media/image64.emf"/><Relationship Id="rId1" Type="http://schemas.openxmlformats.org/officeDocument/2006/relationships/oleObject" Target="../embeddings/oleObject46.bin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6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9.emf"/><Relationship Id="rId4" Type="http://schemas.openxmlformats.org/officeDocument/2006/relationships/oleObject" Target="../embeddings/oleObject50.bin"/><Relationship Id="rId3" Type="http://schemas.openxmlformats.org/officeDocument/2006/relationships/image" Target="../media/image68.png"/><Relationship Id="rId2" Type="http://schemas.openxmlformats.org/officeDocument/2006/relationships/image" Target="../media/image67.emf"/><Relationship Id="rId1" Type="http://schemas.openxmlformats.org/officeDocument/2006/relationships/oleObject" Target="../embeddings/oleObject49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7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2.e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71.emf"/><Relationship Id="rId3" Type="http://schemas.openxmlformats.org/officeDocument/2006/relationships/oleObject" Target="../embeddings/oleObject52.bin"/><Relationship Id="rId2" Type="http://schemas.openxmlformats.org/officeDocument/2006/relationships/image" Target="../media/image70.emf"/><Relationship Id="rId1" Type="http://schemas.openxmlformats.org/officeDocument/2006/relationships/oleObject" Target="../embeddings/oleObject51.bin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3.emf"/><Relationship Id="rId1" Type="http://schemas.openxmlformats.org/officeDocument/2006/relationships/oleObject" Target="../embeddings/oleObject54.bin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5.jpeg"/><Relationship Id="rId1" Type="http://schemas.openxmlformats.org/officeDocument/2006/relationships/image" Target="../media/image74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9.bin"/><Relationship Id="rId8" Type="http://schemas.openxmlformats.org/officeDocument/2006/relationships/image" Target="../media/image79.emf"/><Relationship Id="rId7" Type="http://schemas.openxmlformats.org/officeDocument/2006/relationships/oleObject" Target="../embeddings/oleObject58.bin"/><Relationship Id="rId6" Type="http://schemas.openxmlformats.org/officeDocument/2006/relationships/image" Target="../media/image78.e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77.emf"/><Relationship Id="rId3" Type="http://schemas.openxmlformats.org/officeDocument/2006/relationships/oleObject" Target="../embeddings/oleObject56.bin"/><Relationship Id="rId2" Type="http://schemas.openxmlformats.org/officeDocument/2006/relationships/image" Target="../media/image76.emf"/><Relationship Id="rId12" Type="http://schemas.openxmlformats.org/officeDocument/2006/relationships/vmlDrawing" Target="../drawings/vmlDrawing19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80.emf"/><Relationship Id="rId1" Type="http://schemas.openxmlformats.org/officeDocument/2006/relationships/oleObject" Target="../embeddings/oleObject55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0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3.emf"/><Relationship Id="rId5" Type="http://schemas.openxmlformats.org/officeDocument/2006/relationships/oleObject" Target="../embeddings/oleObject62.bin"/><Relationship Id="rId4" Type="http://schemas.openxmlformats.org/officeDocument/2006/relationships/image" Target="../media/image82.emf"/><Relationship Id="rId3" Type="http://schemas.openxmlformats.org/officeDocument/2006/relationships/oleObject" Target="../embeddings/oleObject61.bin"/><Relationship Id="rId2" Type="http://schemas.openxmlformats.org/officeDocument/2006/relationships/image" Target="../media/image81.emf"/><Relationship Id="rId1" Type="http://schemas.openxmlformats.org/officeDocument/2006/relationships/oleObject" Target="../embeddings/oleObject60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1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6.e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85.emf"/><Relationship Id="rId3" Type="http://schemas.openxmlformats.org/officeDocument/2006/relationships/oleObject" Target="../embeddings/oleObject64.bin"/><Relationship Id="rId2" Type="http://schemas.openxmlformats.org/officeDocument/2006/relationships/image" Target="../media/image84.emf"/><Relationship Id="rId1" Type="http://schemas.openxmlformats.org/officeDocument/2006/relationships/oleObject" Target="../embeddings/oleObject63.bin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0.png"/><Relationship Id="rId3" Type="http://schemas.openxmlformats.org/officeDocument/2006/relationships/image" Target="../media/image89.jpeg"/><Relationship Id="rId2" Type="http://schemas.openxmlformats.org/officeDocument/2006/relationships/image" Target="../media/image88.jpeg"/><Relationship Id="rId1" Type="http://schemas.openxmlformats.org/officeDocument/2006/relationships/image" Target="../media/image87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4.png"/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image" Target="../media/image91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98.emf"/><Relationship Id="rId7" Type="http://schemas.openxmlformats.org/officeDocument/2006/relationships/oleObject" Target="../embeddings/oleObject69.bin"/><Relationship Id="rId6" Type="http://schemas.openxmlformats.org/officeDocument/2006/relationships/image" Target="../media/image97.e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96.emf"/><Relationship Id="rId3" Type="http://schemas.openxmlformats.org/officeDocument/2006/relationships/oleObject" Target="../embeddings/oleObject67.bin"/><Relationship Id="rId2" Type="http://schemas.openxmlformats.org/officeDocument/2006/relationships/image" Target="../media/image95.emf"/><Relationship Id="rId10" Type="http://schemas.openxmlformats.org/officeDocument/2006/relationships/vmlDrawing" Target="../drawings/vmlDrawing22.vml"/><Relationship Id="rId1" Type="http://schemas.openxmlformats.org/officeDocument/2006/relationships/oleObject" Target="../embeddings/oleObject66.bin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9.wmf"/><Relationship Id="rId1" Type="http://schemas.openxmlformats.org/officeDocument/2006/relationships/oleObject" Target="../embeddings/oleObject70.bin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0.emf"/><Relationship Id="rId1" Type="http://schemas.openxmlformats.org/officeDocument/2006/relationships/oleObject" Target="../embeddings/oleObject7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800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</a:fld>
            <a:endParaRPr lang="en-US" altLang="zh-CN" sz="1800" dirty="0">
              <a:solidFill>
                <a:srgbClr val="0000FF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35338" y="203200"/>
            <a:ext cx="3606800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4000" b="1" dirty="0">
                <a:latin typeface="Arial" panose="020B0604020202020204" pitchFamily="34" charset="0"/>
                <a:cs typeface="Times New Roman" panose="02020603050405020304" pitchFamily="18" charset="0"/>
              </a:rPr>
              <a:t>上节回顾</a:t>
            </a:r>
            <a:endParaRPr lang="zh-CN" altLang="en-US" sz="40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7" name="Rectangle 3"/>
          <p:cNvSpPr>
            <a:spLocks noGrp="1"/>
          </p:cNvSpPr>
          <p:nvPr>
            <p:ph type="body" sz="half" idx="1"/>
          </p:nvPr>
        </p:nvSpPr>
        <p:spPr>
          <a:xfrm>
            <a:off x="1966913" y="1171575"/>
            <a:ext cx="5400675" cy="576263"/>
          </a:xfrm>
        </p:spPr>
        <p:txBody>
          <a:bodyPr vert="horz" wrap="square" lIns="91440" tIns="45720" rIns="91440" bIns="45720" anchor="t" anchorCtr="0"/>
          <a:p>
            <a:pPr algn="ctr" eaLnBrk="1" hangingPunct="1">
              <a:lnSpc>
                <a:spcPct val="90000"/>
              </a:lnSpc>
              <a:spcBef>
                <a:spcPct val="1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b="1" dirty="0">
                <a:ea typeface="黑体" panose="02010609060101010101" pitchFamily="2" charset="-122"/>
              </a:rPr>
              <a:t>第</a:t>
            </a:r>
            <a:r>
              <a:rPr lang="en-US" altLang="zh-CN" b="1" dirty="0">
                <a:ea typeface="黑体" panose="02010609060101010101" pitchFamily="2" charset="-122"/>
              </a:rPr>
              <a:t>1</a:t>
            </a:r>
            <a:r>
              <a:rPr lang="zh-CN" altLang="en-US" b="1" dirty="0">
                <a:ea typeface="黑体" panose="02010609060101010101" pitchFamily="2" charset="-122"/>
              </a:rPr>
              <a:t>节   理想流体的运动</a:t>
            </a:r>
            <a:endParaRPr lang="zh-CN" altLang="en-US" b="1" dirty="0"/>
          </a:p>
        </p:txBody>
      </p:sp>
      <p:sp>
        <p:nvSpPr>
          <p:cNvPr id="8" name="Text Box 6"/>
          <p:cNvSpPr txBox="1"/>
          <p:nvPr/>
        </p:nvSpPr>
        <p:spPr>
          <a:xfrm>
            <a:off x="344488" y="2054225"/>
            <a:ext cx="9561512" cy="519113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FF"/>
                </a:solidFill>
                <a:ea typeface="黑体" panose="02010609060101010101" pitchFamily="2" charset="-122"/>
              </a:rPr>
              <a:t>理想流体：</a:t>
            </a:r>
            <a:r>
              <a:rPr lang="zh-CN" altLang="en-US" sz="2800" b="1" dirty="0">
                <a:ea typeface="黑体" panose="02010609060101010101" pitchFamily="2" charset="-122"/>
              </a:rPr>
              <a:t>绝对不可压缩的、完全没有粘性的流体。</a:t>
            </a:r>
            <a:endParaRPr lang="zh-CN" altLang="en-US" sz="2800" b="1" dirty="0">
              <a:ea typeface="黑体" panose="02010609060101010101" pitchFamily="2" charset="-122"/>
            </a:endParaRPr>
          </a:p>
        </p:txBody>
      </p:sp>
      <p:sp>
        <p:nvSpPr>
          <p:cNvPr id="9" name="Rectangle 4"/>
          <p:cNvSpPr/>
          <p:nvPr/>
        </p:nvSpPr>
        <p:spPr>
          <a:xfrm>
            <a:off x="344488" y="3065463"/>
            <a:ext cx="7451725" cy="685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Clr>
                <a:srgbClr val="0000FF"/>
              </a:buClr>
              <a:buSzPct val="105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连续性方程</a:t>
            </a:r>
            <a:endParaRPr lang="zh-CN" altLang="en-US" sz="2800" b="1" dirty="0">
              <a:solidFill>
                <a:schemeClr val="folHlink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graphicFrame>
        <p:nvGraphicFramePr>
          <p:cNvPr id="10" name="Object 69"/>
          <p:cNvGraphicFramePr>
            <a:graphicFrameLocks noChangeAspect="1"/>
          </p:cNvGraphicFramePr>
          <p:nvPr/>
        </p:nvGraphicFramePr>
        <p:xfrm>
          <a:off x="2865438" y="3092450"/>
          <a:ext cx="2409825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" imgW="1968500" imgH="292100" progId="Equation.DSMT4">
                  <p:embed/>
                </p:oleObj>
              </mc:Choice>
              <mc:Fallback>
                <p:oleObj name="" r:id="rId1" imgW="1968500" imgH="2921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65438" y="3092450"/>
                        <a:ext cx="2409825" cy="490538"/>
                      </a:xfrm>
                      <a:prstGeom prst="rect">
                        <a:avLst/>
                      </a:prstGeom>
                      <a:solidFill>
                        <a:srgbClr val="FFFF00">
                          <a:alpha val="30196"/>
                        </a:srgbClr>
                      </a:solidFill>
                      <a:ln w="19050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93" name="Object 29"/>
          <p:cNvGraphicFramePr>
            <a:graphicFrameLocks noChangeAspect="1"/>
          </p:cNvGraphicFramePr>
          <p:nvPr/>
        </p:nvGraphicFramePr>
        <p:xfrm>
          <a:off x="2833688" y="3979863"/>
          <a:ext cx="3417887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3" imgW="1460500" imgH="228600" progId="Equation.3">
                  <p:embed/>
                </p:oleObj>
              </mc:Choice>
              <mc:Fallback>
                <p:oleObj name="" r:id="rId3" imgW="1460500" imgH="22860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33688" y="3979863"/>
                        <a:ext cx="3417887" cy="534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9"/>
          <p:cNvSpPr/>
          <p:nvPr/>
        </p:nvSpPr>
        <p:spPr>
          <a:xfrm>
            <a:off x="336550" y="5224463"/>
            <a:ext cx="6049963" cy="76358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Clr>
                <a:srgbClr val="0000FF"/>
              </a:buClr>
              <a:buSzPct val="105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folHlink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伯努利方程</a:t>
            </a:r>
            <a:endParaRPr lang="zh-CN" altLang="en-US" sz="2800" b="1" dirty="0">
              <a:solidFill>
                <a:schemeClr val="folHlink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graphicFrame>
        <p:nvGraphicFramePr>
          <p:cNvPr id="294920" name="Object 8"/>
          <p:cNvGraphicFramePr>
            <a:graphicFrameLocks noChangeAspect="1"/>
          </p:cNvGraphicFramePr>
          <p:nvPr/>
        </p:nvGraphicFramePr>
        <p:xfrm>
          <a:off x="2874963" y="5053013"/>
          <a:ext cx="3760787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5" imgW="2717800" imgH="469900" progId="Equation.3">
                  <p:embed/>
                </p:oleObj>
              </mc:Choice>
              <mc:Fallback>
                <p:oleObj name="" r:id="rId5" imgW="2717800" imgH="4699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74963" y="5053013"/>
                        <a:ext cx="3760787" cy="850900"/>
                      </a:xfrm>
                      <a:prstGeom prst="rect">
                        <a:avLst/>
                      </a:prstGeom>
                      <a:solidFill>
                        <a:srgbClr val="FFCC00">
                          <a:alpha val="27843"/>
                        </a:srgbClr>
                      </a:solidFill>
                      <a:ln w="2857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94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uild="p"/>
      <p:bldP spid="8" grpId="0"/>
      <p:bldP spid="9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195" name="Picture 3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1050" y="987425"/>
            <a:ext cx="5922963" cy="4883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7" name="Rectangle 5"/>
          <p:cNvSpPr/>
          <p:nvPr/>
        </p:nvSpPr>
        <p:spPr>
          <a:xfrm>
            <a:off x="-109537" y="3138488"/>
            <a:ext cx="2559050" cy="579437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30000"/>
              </a:spcBef>
              <a:buNone/>
            </a:pPr>
            <a:r>
              <a:rPr lang="en-US" altLang="zh-CN" b="1" dirty="0">
                <a:ea typeface="黑体" panose="02010609060101010101" pitchFamily="2" charset="-122"/>
              </a:rPr>
              <a:t>“</a:t>
            </a:r>
            <a:r>
              <a:rPr lang="zh-CN" altLang="en-US" b="1" dirty="0">
                <a:ea typeface="黑体" panose="02010609060101010101" pitchFamily="2" charset="-122"/>
              </a:rPr>
              <a:t>香蕉球”</a:t>
            </a:r>
            <a:endParaRPr lang="zh-CN" altLang="en-US" b="1" dirty="0">
              <a:ea typeface="黑体" panose="02010609060101010101" pitchFamily="2" charset="-122"/>
            </a:endParaRPr>
          </a:p>
        </p:txBody>
      </p:sp>
      <p:sp>
        <p:nvSpPr>
          <p:cNvPr id="7172" name="灯片编号占位符 1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800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</a:fld>
            <a:endParaRPr lang="en-US" altLang="zh-CN" sz="1800" dirty="0">
              <a:solidFill>
                <a:srgbClr val="0000FF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2"/>
          <p:cNvSpPr/>
          <p:nvPr/>
        </p:nvSpPr>
        <p:spPr>
          <a:xfrm>
            <a:off x="355600" y="115888"/>
            <a:ext cx="2632075" cy="579437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30000"/>
              </a:spcBef>
              <a:buNone/>
            </a:pPr>
            <a:r>
              <a:rPr lang="zh-CN" altLang="en-US" b="1" dirty="0">
                <a:ea typeface="黑体" panose="02010609060101010101" pitchFamily="2" charset="-122"/>
              </a:rPr>
              <a:t>弧线球原理：</a:t>
            </a:r>
            <a:endParaRPr lang="zh-CN" altLang="en-US" b="1" dirty="0">
              <a:ea typeface="黑体" panose="02010609060101010101" pitchFamily="2" charset="-122"/>
            </a:endParaRPr>
          </a:p>
        </p:txBody>
      </p:sp>
      <p:sp>
        <p:nvSpPr>
          <p:cNvPr id="10243" name="Oval 3"/>
          <p:cNvSpPr/>
          <p:nvPr/>
        </p:nvSpPr>
        <p:spPr>
          <a:xfrm>
            <a:off x="3598863" y="2227263"/>
            <a:ext cx="1633537" cy="1633537"/>
          </a:xfrm>
          <a:prstGeom prst="ellipse">
            <a:avLst/>
          </a:prstGeom>
          <a:gradFill rotWithShape="1">
            <a:gsLst>
              <a:gs pos="0">
                <a:srgbClr val="3366FF">
                  <a:alpha val="100000"/>
                </a:srgbClr>
              </a:gs>
              <a:gs pos="25000">
                <a:srgbClr val="01A78F">
                  <a:alpha val="100000"/>
                </a:srgbClr>
              </a:gs>
              <a:gs pos="50000">
                <a:srgbClr val="FFFF00">
                  <a:alpha val="100000"/>
                </a:srgbClr>
              </a:gs>
              <a:gs pos="75000">
                <a:srgbClr val="FF6633">
                  <a:alpha val="100000"/>
                </a:srgbClr>
              </a:gs>
              <a:gs pos="100000">
                <a:srgbClr val="FF3399">
                  <a:alpha val="100000"/>
                </a:srgbClr>
              </a:gs>
            </a:gsLst>
            <a:lin ang="18900000" scaled="1"/>
            <a:tileRect/>
          </a:gra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4356100" y="690563"/>
            <a:ext cx="647700" cy="1366837"/>
            <a:chOff x="2744" y="372"/>
            <a:chExt cx="408" cy="861"/>
          </a:xfrm>
        </p:grpSpPr>
        <p:sp>
          <p:nvSpPr>
            <p:cNvPr id="9249" name="AutoShape 5"/>
            <p:cNvSpPr/>
            <p:nvPr/>
          </p:nvSpPr>
          <p:spPr>
            <a:xfrm>
              <a:off x="2744" y="618"/>
              <a:ext cx="91" cy="615"/>
            </a:xfrm>
            <a:prstGeom prst="upArrow">
              <a:avLst>
                <a:gd name="adj1" fmla="val 50000"/>
                <a:gd name="adj2" fmla="val 168956"/>
              </a:avLst>
            </a:prstGeom>
            <a:solidFill>
              <a:schemeClr val="accent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latin typeface="Arial" panose="020B0604020202020204" pitchFamily="34" charset="0"/>
                <a:ea typeface="Times New Roman" panose="02020603050405020304" pitchFamily="18" charset="0"/>
              </a:endParaRPr>
            </a:p>
          </p:txBody>
        </p:sp>
        <p:graphicFrame>
          <p:nvGraphicFramePr>
            <p:cNvPr id="9250" name="Object 6"/>
            <p:cNvGraphicFramePr>
              <a:graphicFrameLocks noChangeAspect="1"/>
            </p:cNvGraphicFramePr>
            <p:nvPr/>
          </p:nvGraphicFramePr>
          <p:xfrm>
            <a:off x="2783" y="372"/>
            <a:ext cx="369" cy="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1" imgW="177800" imgH="228600" progId="Equation.DSMT4">
                    <p:embed/>
                  </p:oleObj>
                </mc:Choice>
                <mc:Fallback>
                  <p:oleObj name="" r:id="rId1" imgW="177800" imgH="228600" progId="Equation.DSMT4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783" y="372"/>
                          <a:ext cx="369" cy="4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7"/>
          <p:cNvGrpSpPr/>
          <p:nvPr/>
        </p:nvGrpSpPr>
        <p:grpSpPr>
          <a:xfrm>
            <a:off x="4140200" y="2300288"/>
            <a:ext cx="504825" cy="534987"/>
            <a:chOff x="2608" y="1344"/>
            <a:chExt cx="318" cy="337"/>
          </a:xfrm>
        </p:grpSpPr>
        <p:sp>
          <p:nvSpPr>
            <p:cNvPr id="9247" name="Arc 8"/>
            <p:cNvSpPr/>
            <p:nvPr/>
          </p:nvSpPr>
          <p:spPr>
            <a:xfrm rot="-2455464">
              <a:off x="2608" y="1344"/>
              <a:ext cx="315" cy="272"/>
            </a:xfrm>
            <a:custGeom>
              <a:avLst/>
              <a:gdLst>
                <a:gd name="txL" fmla="*/ 0 w 26233"/>
                <a:gd name="txT" fmla="*/ 0 h 21600"/>
                <a:gd name="txR" fmla="*/ 26233 w 26233"/>
                <a:gd name="txB" fmla="*/ 21600 h 216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6233" h="21600" fill="none">
                  <a:moveTo>
                    <a:pt x="-1" y="502"/>
                  </a:moveTo>
                  <a:cubicBezTo>
                    <a:pt x="1521" y="168"/>
                    <a:pt x="3075" y="-1"/>
                    <a:pt x="4633" y="0"/>
                  </a:cubicBezTo>
                  <a:cubicBezTo>
                    <a:pt x="16562" y="0"/>
                    <a:pt x="26233" y="9670"/>
                    <a:pt x="26233" y="21600"/>
                  </a:cubicBezTo>
                </a:path>
                <a:path w="26233" h="21600" stroke="0">
                  <a:moveTo>
                    <a:pt x="-1" y="502"/>
                  </a:moveTo>
                  <a:cubicBezTo>
                    <a:pt x="1521" y="168"/>
                    <a:pt x="3075" y="-1"/>
                    <a:pt x="4633" y="0"/>
                  </a:cubicBezTo>
                  <a:cubicBezTo>
                    <a:pt x="16562" y="0"/>
                    <a:pt x="26233" y="9670"/>
                    <a:pt x="26233" y="21600"/>
                  </a:cubicBezTo>
                  <a:lnTo>
                    <a:pt x="4633" y="21600"/>
                  </a:lnTo>
                  <a:lnTo>
                    <a:pt x="-1" y="502"/>
                  </a:lnTo>
                  <a:close/>
                </a:path>
              </a:pathLst>
            </a:custGeom>
            <a:noFill/>
            <a:ln w="38100" cap="flat" cmpd="sng">
              <a:solidFill>
                <a:srgbClr val="3366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9248" name="Object 9"/>
            <p:cNvGraphicFramePr>
              <a:graphicFrameLocks noChangeAspect="1"/>
            </p:cNvGraphicFramePr>
            <p:nvPr/>
          </p:nvGraphicFramePr>
          <p:xfrm>
            <a:off x="2608" y="1389"/>
            <a:ext cx="31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name="" r:id="rId3" imgW="152400" imgH="139700" progId="Equation.DSMT4">
                    <p:embed/>
                  </p:oleObj>
                </mc:Choice>
                <mc:Fallback>
                  <p:oleObj name="" r:id="rId3" imgW="152400" imgH="139700" progId="Equation.DSMT4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608" y="1389"/>
                          <a:ext cx="318" cy="2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0"/>
          <p:cNvGrpSpPr/>
          <p:nvPr/>
        </p:nvGrpSpPr>
        <p:grpSpPr>
          <a:xfrm>
            <a:off x="3132138" y="1341438"/>
            <a:ext cx="2592387" cy="1511300"/>
            <a:chOff x="1973" y="845"/>
            <a:chExt cx="1633" cy="952"/>
          </a:xfrm>
        </p:grpSpPr>
        <p:sp>
          <p:nvSpPr>
            <p:cNvPr id="9241" name="Line 11"/>
            <p:cNvSpPr/>
            <p:nvPr/>
          </p:nvSpPr>
          <p:spPr>
            <a:xfrm>
              <a:off x="2426" y="845"/>
              <a:ext cx="0" cy="544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242" name="Line 12"/>
            <p:cNvSpPr/>
            <p:nvPr/>
          </p:nvSpPr>
          <p:spPr>
            <a:xfrm>
              <a:off x="3152" y="845"/>
              <a:ext cx="0" cy="544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243" name="Line 13"/>
            <p:cNvSpPr/>
            <p:nvPr/>
          </p:nvSpPr>
          <p:spPr>
            <a:xfrm>
              <a:off x="2200" y="1026"/>
              <a:ext cx="0" cy="544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244" name="Line 14"/>
            <p:cNvSpPr/>
            <p:nvPr/>
          </p:nvSpPr>
          <p:spPr>
            <a:xfrm>
              <a:off x="3379" y="1026"/>
              <a:ext cx="0" cy="544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245" name="Line 15"/>
            <p:cNvSpPr/>
            <p:nvPr/>
          </p:nvSpPr>
          <p:spPr>
            <a:xfrm>
              <a:off x="1973" y="1253"/>
              <a:ext cx="0" cy="544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246" name="Line 16"/>
            <p:cNvSpPr/>
            <p:nvPr/>
          </p:nvSpPr>
          <p:spPr>
            <a:xfrm>
              <a:off x="3606" y="1253"/>
              <a:ext cx="0" cy="544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10257" name="AutoShape 17"/>
          <p:cNvSpPr/>
          <p:nvPr/>
        </p:nvSpPr>
        <p:spPr>
          <a:xfrm>
            <a:off x="900113" y="908050"/>
            <a:ext cx="2411412" cy="609600"/>
          </a:xfrm>
          <a:prstGeom prst="wedgeRectCallout">
            <a:avLst>
              <a:gd name="adj1" fmla="val 51644"/>
              <a:gd name="adj2" fmla="val 98440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cs typeface="Times New Roman" panose="02020603050405020304" pitchFamily="18" charset="0"/>
              </a:rPr>
              <a:t>球对面的气流</a:t>
            </a:r>
            <a:endParaRPr lang="zh-CN" altLang="en-US" sz="2800" b="1" dirty="0">
              <a:ea typeface="Times New Roman" panose="02020603050405020304" pitchFamily="18" charset="0"/>
            </a:endParaRPr>
          </a:p>
        </p:txBody>
      </p:sp>
      <p:graphicFrame>
        <p:nvGraphicFramePr>
          <p:cNvPr id="10258" name="Object 18"/>
          <p:cNvGraphicFramePr>
            <a:graphicFrameLocks noChangeAspect="1"/>
          </p:cNvGraphicFramePr>
          <p:nvPr/>
        </p:nvGraphicFramePr>
        <p:xfrm>
          <a:off x="5418138" y="1412875"/>
          <a:ext cx="468312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5" imgW="165100" imgH="228600" progId="Equation.DSMT4">
                  <p:embed/>
                </p:oleObj>
              </mc:Choice>
              <mc:Fallback>
                <p:oleObj name="" r:id="rId5" imgW="165100" imgH="228600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18138" y="1412875"/>
                        <a:ext cx="468312" cy="647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9" name="Arc 19"/>
          <p:cNvSpPr/>
          <p:nvPr/>
        </p:nvSpPr>
        <p:spPr>
          <a:xfrm>
            <a:off x="3492500" y="2133600"/>
            <a:ext cx="1828800" cy="1687513"/>
          </a:xfrm>
          <a:custGeom>
            <a:avLst/>
            <a:gdLst>
              <a:gd name="txL" fmla="*/ 0 w 43200"/>
              <a:gd name="txT" fmla="*/ 0 h 39852"/>
              <a:gd name="txR" fmla="*/ 43200 w 43200"/>
              <a:gd name="txB" fmla="*/ 39852 h 39852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3200" h="39852" fill="none">
                <a:moveTo>
                  <a:pt x="8395" y="38693"/>
                </a:moveTo>
                <a:cubicBezTo>
                  <a:pt x="3100" y="34603"/>
                  <a:pt x="0" y="28290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9004"/>
                  <a:pt x="39407" y="35892"/>
                  <a:pt x="33150" y="39851"/>
                </a:cubicBezTo>
              </a:path>
              <a:path w="43200" h="39852" stroke="0">
                <a:moveTo>
                  <a:pt x="8395" y="38693"/>
                </a:moveTo>
                <a:cubicBezTo>
                  <a:pt x="3100" y="34603"/>
                  <a:pt x="0" y="28290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9004"/>
                  <a:pt x="39407" y="35892"/>
                  <a:pt x="33150" y="39851"/>
                </a:cubicBezTo>
                <a:lnTo>
                  <a:pt x="21600" y="21600"/>
                </a:lnTo>
                <a:lnTo>
                  <a:pt x="8395" y="38693"/>
                </a:lnTo>
                <a:close/>
              </a:path>
            </a:pathLst>
          </a:custGeom>
          <a:noFill/>
          <a:ln w="25400" cap="flat" cmpd="sng">
            <a:solidFill>
              <a:schemeClr val="hlink">
                <a:alpha val="100000"/>
              </a:schemeClr>
            </a:solidFill>
            <a:prstDash val="dash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260" name="AutoShape 20"/>
          <p:cNvSpPr/>
          <p:nvPr/>
        </p:nvSpPr>
        <p:spPr>
          <a:xfrm>
            <a:off x="6264275" y="3500438"/>
            <a:ext cx="2411413" cy="609600"/>
          </a:xfrm>
          <a:prstGeom prst="wedgeRectCallout">
            <a:avLst>
              <a:gd name="adj1" fmla="val -88185"/>
              <a:gd name="adj2" fmla="val -84898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cs typeface="Times New Roman" panose="02020603050405020304" pitchFamily="18" charset="0"/>
              </a:rPr>
              <a:t>球表面的气流</a:t>
            </a:r>
            <a:endParaRPr lang="zh-CN" altLang="en-US" sz="2800" b="1" dirty="0">
              <a:ea typeface="Times New Roman" panose="02020603050405020304" pitchFamily="18" charset="0"/>
            </a:endParaRPr>
          </a:p>
        </p:txBody>
      </p:sp>
      <p:sp>
        <p:nvSpPr>
          <p:cNvPr id="10261" name="Line 21"/>
          <p:cNvSpPr/>
          <p:nvPr/>
        </p:nvSpPr>
        <p:spPr>
          <a:xfrm flipV="1">
            <a:off x="3419475" y="2636838"/>
            <a:ext cx="0" cy="504825"/>
          </a:xfrm>
          <a:prstGeom prst="line">
            <a:avLst/>
          </a:prstGeom>
          <a:ln w="38100" cap="flat" cmpd="sng">
            <a:solidFill>
              <a:schemeClr val="hlink"/>
            </a:solidFill>
            <a:prstDash val="sysDot"/>
            <a:headEnd type="none" w="med" len="med"/>
            <a:tailEnd type="triangle" w="med" len="med"/>
          </a:ln>
        </p:spPr>
      </p:sp>
      <p:sp>
        <p:nvSpPr>
          <p:cNvPr id="10262" name="Line 22"/>
          <p:cNvSpPr/>
          <p:nvPr/>
        </p:nvSpPr>
        <p:spPr>
          <a:xfrm flipV="1">
            <a:off x="5435600" y="2636838"/>
            <a:ext cx="0" cy="504825"/>
          </a:xfrm>
          <a:prstGeom prst="line">
            <a:avLst/>
          </a:prstGeom>
          <a:ln w="38100" cap="flat" cmpd="sng">
            <a:solidFill>
              <a:schemeClr val="hlink"/>
            </a:solidFill>
            <a:prstDash val="sysDot"/>
            <a:headEnd type="triangle" w="med" len="med"/>
            <a:tailEnd type="none" w="med" len="med"/>
          </a:ln>
        </p:spPr>
      </p:sp>
      <p:graphicFrame>
        <p:nvGraphicFramePr>
          <p:cNvPr id="10263" name="Object 23"/>
          <p:cNvGraphicFramePr>
            <a:graphicFrameLocks noChangeAspect="1"/>
          </p:cNvGraphicFramePr>
          <p:nvPr/>
        </p:nvGraphicFramePr>
        <p:xfrm>
          <a:off x="2919413" y="2852738"/>
          <a:ext cx="500062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7" imgW="228600" imgH="139700" progId="Equation.DSMT4">
                  <p:embed/>
                </p:oleObj>
              </mc:Choice>
              <mc:Fallback>
                <p:oleObj name="" r:id="rId7" imgW="228600" imgH="1397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19413" y="2852738"/>
                        <a:ext cx="500062" cy="306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4" name="Object 24"/>
          <p:cNvGraphicFramePr>
            <a:graphicFrameLocks noChangeAspect="1"/>
          </p:cNvGraphicFramePr>
          <p:nvPr/>
        </p:nvGraphicFramePr>
        <p:xfrm>
          <a:off x="5440363" y="2835275"/>
          <a:ext cx="500062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9" imgW="228600" imgH="139700" progId="Equation.DSMT4">
                  <p:embed/>
                </p:oleObj>
              </mc:Choice>
              <mc:Fallback>
                <p:oleObj name="" r:id="rId9" imgW="228600" imgH="139700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440363" y="2835275"/>
                        <a:ext cx="500062" cy="306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5" name="Object 25"/>
          <p:cNvGraphicFramePr>
            <a:graphicFrameLocks noChangeAspect="1"/>
          </p:cNvGraphicFramePr>
          <p:nvPr/>
        </p:nvGraphicFramePr>
        <p:xfrm>
          <a:off x="2100263" y="4432300"/>
          <a:ext cx="230187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1" imgW="838200" imgH="228600" progId="Equation.DSMT4">
                  <p:embed/>
                </p:oleObj>
              </mc:Choice>
              <mc:Fallback>
                <p:oleObj name="" r:id="rId11" imgW="838200" imgH="2286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00263" y="4432300"/>
                        <a:ext cx="2301875" cy="628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6" name="Object 26"/>
          <p:cNvGraphicFramePr>
            <a:graphicFrameLocks noChangeAspect="1"/>
          </p:cNvGraphicFramePr>
          <p:nvPr/>
        </p:nvGraphicFramePr>
        <p:xfrm>
          <a:off x="4906963" y="4432300"/>
          <a:ext cx="23749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3" imgW="838200" imgH="228600" progId="Equation.DSMT4">
                  <p:embed/>
                </p:oleObj>
              </mc:Choice>
              <mc:Fallback>
                <p:oleObj name="" r:id="rId13" imgW="838200" imgH="228600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906963" y="4432300"/>
                        <a:ext cx="2374900" cy="647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7" name="Object 27"/>
          <p:cNvGraphicFramePr>
            <a:graphicFrameLocks noChangeAspect="1"/>
          </p:cNvGraphicFramePr>
          <p:nvPr/>
        </p:nvGraphicFramePr>
        <p:xfrm>
          <a:off x="4414838" y="4575175"/>
          <a:ext cx="455612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5" imgW="152400" imgH="114300" progId="Equation.DSMT4">
                  <p:embed/>
                </p:oleObj>
              </mc:Choice>
              <mc:Fallback>
                <p:oleObj name="" r:id="rId15" imgW="152400" imgH="114300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414838" y="4575175"/>
                        <a:ext cx="455612" cy="414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8" name="Object 28"/>
          <p:cNvGraphicFramePr>
            <a:graphicFrameLocks noGrp="1" noChangeAspect="1"/>
          </p:cNvGraphicFramePr>
          <p:nvPr>
            <p:ph/>
          </p:nvPr>
        </p:nvGraphicFramePr>
        <p:xfrm>
          <a:off x="5832475" y="115888"/>
          <a:ext cx="3203575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7" imgW="1333500" imgH="381000" progId="Equation.DSMT4">
                  <p:embed/>
                </p:oleObj>
              </mc:Choice>
              <mc:Fallback>
                <p:oleObj name="" r:id="rId17" imgW="1333500" imgH="3810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>
                      <a:xfrm>
                        <a:off x="5832475" y="115888"/>
                        <a:ext cx="3203575" cy="915987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>
                            <a:alpha val="100000"/>
                          </a:srgbClr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9" name="Object 29"/>
          <p:cNvGraphicFramePr>
            <a:graphicFrameLocks noChangeAspect="1"/>
          </p:cNvGraphicFramePr>
          <p:nvPr/>
        </p:nvGraphicFramePr>
        <p:xfrm>
          <a:off x="3860800" y="5095875"/>
          <a:ext cx="1728788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9" imgW="1028700" imgH="330200" progId="Equation.DSMT4">
                  <p:embed/>
                </p:oleObj>
              </mc:Choice>
              <mc:Fallback>
                <p:oleObj name="" r:id="rId19" imgW="1028700" imgH="3302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860800" y="5095875"/>
                        <a:ext cx="1728788" cy="676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0" name="AutoShape 30"/>
          <p:cNvSpPr/>
          <p:nvPr/>
        </p:nvSpPr>
        <p:spPr>
          <a:xfrm>
            <a:off x="4427538" y="2997200"/>
            <a:ext cx="431800" cy="71438"/>
          </a:xfrm>
          <a:prstGeom prst="rightArrow">
            <a:avLst>
              <a:gd name="adj1" fmla="val 50000"/>
              <a:gd name="adj2" fmla="val 151110"/>
            </a:avLst>
          </a:prstGeom>
          <a:solidFill>
            <a:srgbClr val="00CCFF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graphicFrame>
        <p:nvGraphicFramePr>
          <p:cNvPr id="10271" name="Object 31"/>
          <p:cNvGraphicFramePr>
            <a:graphicFrameLocks noChangeAspect="1"/>
          </p:cNvGraphicFramePr>
          <p:nvPr/>
        </p:nvGraphicFramePr>
        <p:xfrm>
          <a:off x="4284663" y="3068638"/>
          <a:ext cx="395287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21" imgW="165100" imgH="165100" progId="Equation.DSMT4">
                  <p:embed/>
                </p:oleObj>
              </mc:Choice>
              <mc:Fallback>
                <p:oleObj name="" r:id="rId21" imgW="165100" imgH="1651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284663" y="3068638"/>
                        <a:ext cx="395287" cy="395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2" name="Rectangle 32"/>
          <p:cNvSpPr/>
          <p:nvPr/>
        </p:nvSpPr>
        <p:spPr>
          <a:xfrm>
            <a:off x="1671638" y="5872163"/>
            <a:ext cx="6173787" cy="519112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30000"/>
              </a:spcBef>
              <a:buNone/>
            </a:pPr>
            <a:r>
              <a:rPr lang="zh-CN" altLang="en-US" sz="2800" b="1" dirty="0">
                <a:solidFill>
                  <a:srgbClr val="0000FF"/>
                </a:solidFill>
                <a:cs typeface="Times New Roman" panose="02020603050405020304" pitchFamily="18" charset="0"/>
              </a:rPr>
              <a:t>球受到向右的力，轨迹向右倾斜！</a:t>
            </a:r>
            <a:endParaRPr lang="zh-CN" altLang="en-US" sz="2800" b="1" dirty="0">
              <a:solidFill>
                <a:srgbClr val="0000FF"/>
              </a:solidFill>
              <a:ea typeface="Times New Roman" panose="02020603050405020304" pitchFamily="18" charset="0"/>
            </a:endParaRPr>
          </a:p>
        </p:txBody>
      </p:sp>
      <p:sp>
        <p:nvSpPr>
          <p:cNvPr id="10273" name="Arc 33"/>
          <p:cNvSpPr/>
          <p:nvPr/>
        </p:nvSpPr>
        <p:spPr>
          <a:xfrm rot="-6481882">
            <a:off x="4814888" y="-125412"/>
            <a:ext cx="1622425" cy="2684462"/>
          </a:xfrm>
          <a:custGeom>
            <a:avLst/>
            <a:gdLst>
              <a:gd name="txL" fmla="*/ 0 w 19764"/>
              <a:gd name="txT" fmla="*/ 0 h 21384"/>
              <a:gd name="txR" fmla="*/ 19764 w 19764"/>
              <a:gd name="txB" fmla="*/ 21384 h 21384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</a:cxnLst>
            <a:rect l="txL" t="txT" r="txR" b="txB"/>
            <a:pathLst>
              <a:path w="19764" h="21384" fill="none">
                <a:moveTo>
                  <a:pt x="3050" y="0"/>
                </a:moveTo>
                <a:cubicBezTo>
                  <a:pt x="10435" y="1054"/>
                  <a:pt x="16754" y="5843"/>
                  <a:pt x="19763" y="12669"/>
                </a:cubicBezTo>
              </a:path>
              <a:path w="19764" h="21384" stroke="0">
                <a:moveTo>
                  <a:pt x="3050" y="0"/>
                </a:moveTo>
                <a:cubicBezTo>
                  <a:pt x="10435" y="1054"/>
                  <a:pt x="16754" y="5843"/>
                  <a:pt x="19763" y="12669"/>
                </a:cubicBezTo>
                <a:lnTo>
                  <a:pt x="0" y="21384"/>
                </a:lnTo>
                <a:lnTo>
                  <a:pt x="3050" y="0"/>
                </a:lnTo>
                <a:close/>
              </a:path>
            </a:pathLst>
          </a:custGeom>
          <a:noFill/>
          <a:ln w="38100" cap="flat" cmpd="sng">
            <a:solidFill>
              <a:srgbClr val="660033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9240" name="灯片编号占位符 4"/>
          <p:cNvSpPr txBox="1">
            <a:spLocks noGrp="1"/>
          </p:cNvSpPr>
          <p:nvPr>
            <p:ph type="sldNum" sz="quarter" idx="4"/>
          </p:nvPr>
        </p:nvSpPr>
        <p:spPr>
          <a:xfrm>
            <a:off x="7010400" y="6370638"/>
            <a:ext cx="2133600" cy="476250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800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</a:fld>
            <a:endParaRPr lang="en-US" altLang="zh-CN" sz="1800" dirty="0">
              <a:solidFill>
                <a:srgbClr val="0000FF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0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0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10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0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0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0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0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0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0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10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animBg="1"/>
      <p:bldP spid="10243" grpId="1" animBg="1"/>
      <p:bldP spid="10257" grpId="0" animBg="1"/>
      <p:bldP spid="10260" grpId="0" animBg="1"/>
      <p:bldP spid="10270" grpId="0" animBg="1"/>
      <p:bldP spid="1027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800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</a:fld>
            <a:endParaRPr lang="en-US" altLang="zh-CN" sz="1800" dirty="0">
              <a:solidFill>
                <a:srgbClr val="0000FF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267" name="Picture 2" descr="C:\Documents and Settings\Administrator\桌面\800px-Hawke_-_Olympic_collision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550" y="557213"/>
            <a:ext cx="7985125" cy="51006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8" name="矩形 7"/>
          <p:cNvSpPr/>
          <p:nvPr/>
        </p:nvSpPr>
        <p:spPr>
          <a:xfrm>
            <a:off x="620713" y="5800725"/>
            <a:ext cx="7924800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Calibri" panose="020F0502020204030204" pitchFamily="34" charset="0"/>
                <a:cs typeface="Times New Roman" panose="02020603050405020304" pitchFamily="18" charset="0"/>
              </a:rPr>
              <a:t>The collision took place as Olympic and Hawke were running parallel to each other through the Solent in 1911.</a:t>
            </a:r>
            <a:endParaRPr lang="zh-CN" altLang="en-US" sz="2000" b="1" dirty="0"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800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</a:fld>
            <a:endParaRPr lang="en-US" altLang="zh-CN" sz="1800" dirty="0">
              <a:solidFill>
                <a:srgbClr val="0000FF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66713" y="1304925"/>
            <a:ext cx="8439150" cy="9540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Arial" panose="020B0604020202020204" pitchFamily="34" charset="0"/>
                <a:cs typeface="Times New Roman" panose="02020603050405020304" pitchFamily="18" charset="0"/>
              </a:rPr>
              <a:t>在火车以每小时</a:t>
            </a:r>
            <a:r>
              <a:rPr lang="en-US" altLang="zh-CN" sz="2800" b="1" dirty="0">
                <a:latin typeface="Arial" panose="020B0604020202020204" pitchFamily="34" charset="0"/>
                <a:cs typeface="Times New Roman" panose="02020603050405020304" pitchFamily="18" charset="0"/>
              </a:rPr>
              <a:t>50</a:t>
            </a:r>
            <a:r>
              <a:rPr lang="zh-CN" altLang="en-US" sz="2800" b="1" dirty="0">
                <a:latin typeface="Arial" panose="020B0604020202020204" pitchFamily="34" charset="0"/>
                <a:cs typeface="Times New Roman" panose="02020603050405020304" pitchFamily="18" charset="0"/>
              </a:rPr>
              <a:t>公里的速度前进时，把人推向火车的推力有多大？</a:t>
            </a:r>
            <a:endParaRPr lang="zh-CN" altLang="en-US" sz="28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graphicFrame>
        <p:nvGraphicFramePr>
          <p:cNvPr id="13316" name="对象 8"/>
          <p:cNvGraphicFramePr>
            <a:graphicFrameLocks noChangeAspect="1"/>
          </p:cNvGraphicFramePr>
          <p:nvPr/>
        </p:nvGraphicFramePr>
        <p:xfrm>
          <a:off x="2624138" y="190500"/>
          <a:ext cx="3760787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1" imgW="2705100" imgH="457200" progId="Equation.3">
                  <p:embed/>
                </p:oleObj>
              </mc:Choice>
              <mc:Fallback>
                <p:oleObj name="" r:id="rId1" imgW="2705100" imgH="457200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24138" y="190500"/>
                        <a:ext cx="3760787" cy="763588"/>
                      </a:xfrm>
                      <a:prstGeom prst="rect">
                        <a:avLst/>
                      </a:prstGeom>
                      <a:solidFill>
                        <a:srgbClr val="FFCC00">
                          <a:alpha val="27843"/>
                        </a:srgbClr>
                      </a:solidFill>
                      <a:ln w="2857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873125" y="2190750"/>
          <a:ext cx="24288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3" imgW="1714500" imgH="342900" progId="Equation.DSMT4">
                  <p:embed/>
                </p:oleObj>
              </mc:Choice>
              <mc:Fallback>
                <p:oleObj name="" r:id="rId3" imgW="1714500" imgH="342900" progId="Equation.DSMT4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73125" y="2190750"/>
                        <a:ext cx="2428875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544888" y="2185988"/>
          <a:ext cx="2732087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5" imgW="1943100" imgH="292100" progId="Equation.DSMT4">
                  <p:embed/>
                </p:oleObj>
              </mc:Choice>
              <mc:Fallback>
                <p:oleObj name="" r:id="rId5" imgW="1943100" imgH="29210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44888" y="2185988"/>
                        <a:ext cx="2732087" cy="541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700838" y="2219325"/>
          <a:ext cx="1687512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7" imgW="1155700" imgH="254000" progId="Equation.DSMT4">
                  <p:embed/>
                </p:oleObj>
              </mc:Choice>
              <mc:Fallback>
                <p:oleObj name="" r:id="rId7" imgW="1155700" imgH="254000" progId="Equation.DSMT4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700838" y="2219325"/>
                        <a:ext cx="1687512" cy="474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2190750" y="2759075"/>
            <a:ext cx="5295900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8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公斤左右的推力！</a:t>
            </a:r>
            <a:endParaRPr lang="zh-CN" altLang="en-US" sz="2800" b="1" dirty="0">
              <a:solidFill>
                <a:srgbClr val="FF0000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66713" y="3695700"/>
            <a:ext cx="8439150" cy="9540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Arial" panose="020B0604020202020204" pitchFamily="34" charset="0"/>
                <a:cs typeface="Times New Roman" panose="02020603050405020304" pitchFamily="18" charset="0"/>
              </a:rPr>
              <a:t>当江心的水流以每秒</a:t>
            </a:r>
            <a:r>
              <a:rPr lang="en-US" altLang="zh-CN" sz="2800" b="1" dirty="0">
                <a:latin typeface="Arial" panose="020B0604020202020204" pitchFamily="34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Arial" panose="020B0604020202020204" pitchFamily="34" charset="0"/>
                <a:cs typeface="Times New Roman" panose="02020603050405020304" pitchFamily="18" charset="0"/>
              </a:rPr>
              <a:t>米的速度前进时，把人推向江心的推力有多大？</a:t>
            </a:r>
            <a:endParaRPr lang="zh-CN" altLang="en-US" sz="28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122363" y="5405438"/>
            <a:ext cx="743267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差不多有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30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多公斤的力在吸引着人的身体！</a:t>
            </a:r>
            <a:endParaRPr lang="zh-CN" altLang="en-US" sz="2800" b="1" dirty="0">
              <a:solidFill>
                <a:srgbClr val="FF0000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809625" y="4725988"/>
          <a:ext cx="24955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9" imgW="1765300" imgH="342900" progId="Equation.DSMT4">
                  <p:embed/>
                </p:oleObj>
              </mc:Choice>
              <mc:Fallback>
                <p:oleObj name="" r:id="rId9" imgW="1765300" imgH="342900" progId="Equation.DSMT4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09625" y="4725988"/>
                        <a:ext cx="2495550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3641725" y="4765675"/>
          <a:ext cx="1889125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11" imgW="1320800" imgH="254000" progId="Equation.DSMT4">
                  <p:embed/>
                </p:oleObj>
              </mc:Choice>
              <mc:Fallback>
                <p:oleObj name="" r:id="rId11" imgW="1320800" imgH="254000" progId="Equation.DSMT4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641725" y="4765675"/>
                        <a:ext cx="1889125" cy="474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</a:fld>
            <a:endParaRPr lang="en-US" altLang="zh-CN" sz="1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5954" name="Rectangle 2"/>
          <p:cNvSpPr>
            <a:spLocks noGrp="1"/>
          </p:cNvSpPr>
          <p:nvPr>
            <p:ph type="title"/>
          </p:nvPr>
        </p:nvSpPr>
        <p:spPr>
          <a:xfrm>
            <a:off x="250825" y="260350"/>
            <a:ext cx="7772400" cy="765175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200" b="1" dirty="0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伯努利方程的应用</a:t>
            </a:r>
            <a:endParaRPr lang="zh-CN" altLang="en-US" sz="3200" b="1" dirty="0">
              <a:solidFill>
                <a:srgbClr val="333399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25955" name="Rectangle 3"/>
          <p:cNvSpPr>
            <a:spLocks noGrp="1"/>
          </p:cNvSpPr>
          <p:nvPr>
            <p:ph type="body" sz="half" idx="1"/>
          </p:nvPr>
        </p:nvSpPr>
        <p:spPr>
          <a:xfrm>
            <a:off x="323850" y="1196975"/>
            <a:ext cx="3810000" cy="503238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b="1" dirty="0">
                <a:solidFill>
                  <a:srgbClr val="333399"/>
                </a:solidFill>
              </a:rPr>
              <a:t>1. </a:t>
            </a:r>
            <a:r>
              <a:rPr lang="zh-CN" altLang="en-US" b="1" dirty="0">
                <a:solidFill>
                  <a:srgbClr val="333399"/>
                </a:solidFill>
              </a:rPr>
              <a:t>空吸</a:t>
            </a:r>
            <a:r>
              <a:rPr lang="en-US" altLang="zh-CN" b="1" dirty="0">
                <a:solidFill>
                  <a:srgbClr val="333399"/>
                </a:solidFill>
              </a:rPr>
              <a:t>(suction)</a:t>
            </a:r>
            <a:endParaRPr lang="en-US" altLang="zh-CN" b="1" dirty="0">
              <a:solidFill>
                <a:srgbClr val="333399"/>
              </a:solidFill>
            </a:endParaRPr>
          </a:p>
        </p:txBody>
      </p:sp>
      <p:sp>
        <p:nvSpPr>
          <p:cNvPr id="125956" name="Text Box 4"/>
          <p:cNvSpPr txBox="1"/>
          <p:nvPr/>
        </p:nvSpPr>
        <p:spPr>
          <a:xfrm>
            <a:off x="6084888" y="2852738"/>
            <a:ext cx="2016125" cy="1673225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p>
            <a:pPr algn="ctr">
              <a:lnSpc>
                <a:spcPct val="110000"/>
              </a:lnSpc>
              <a:spcBef>
                <a:spcPct val="20000"/>
              </a:spcBef>
              <a:buClr>
                <a:srgbClr val="3333CC"/>
              </a:buClr>
              <a:buSzPct val="80000"/>
              <a:buFont typeface="Wingdings" panose="05000000000000000000" pitchFamily="2" charset="2"/>
            </a:pPr>
            <a:r>
              <a:rPr lang="en-US" altLang="zh-CN" sz="2800" b="1" i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sz="2800" b="1" baseline="-25000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r>
              <a:rPr lang="en-US" altLang="zh-CN" sz="2800" b="1" i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sz="2800" b="1" baseline="-25000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800" b="1" dirty="0">
              <a:solidFill>
                <a:srgbClr val="3333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ct val="110000"/>
              </a:lnSpc>
              <a:spcBef>
                <a:spcPct val="20000"/>
              </a:spcBef>
              <a:buClr>
                <a:srgbClr val="3333CC"/>
              </a:buClr>
              <a:buSzPct val="80000"/>
              <a:buFont typeface="Wingdings" panose="05000000000000000000" pitchFamily="2" charset="2"/>
            </a:pPr>
            <a:r>
              <a:rPr lang="en-US" altLang="zh-CN" sz="2800" b="1" i="1" dirty="0">
                <a:solidFill>
                  <a:srgbClr val="333399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800" b="1" baseline="-25000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r>
              <a:rPr lang="en-US" altLang="zh-CN" sz="2800" b="1" i="1" dirty="0">
                <a:solidFill>
                  <a:srgbClr val="333399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800" b="1" baseline="-25000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800" b="1" baseline="-25000" dirty="0">
              <a:solidFill>
                <a:srgbClr val="3333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ct val="110000"/>
              </a:lnSpc>
              <a:spcBef>
                <a:spcPct val="20000"/>
              </a:spcBef>
              <a:buClr>
                <a:srgbClr val="3333CC"/>
              </a:buClr>
              <a:buSzPct val="80000"/>
              <a:buFont typeface="Wingdings" panose="05000000000000000000" pitchFamily="2" charset="2"/>
            </a:pPr>
            <a:r>
              <a:rPr lang="en-US" altLang="zh-CN" sz="2800" b="1" i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800" b="1" baseline="-25000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r>
              <a:rPr lang="en-US" altLang="zh-CN" sz="2800" b="1" i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800" b="1" baseline="-25000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 </a:t>
            </a:r>
            <a:endParaRPr lang="en-US" altLang="zh-CN" sz="2800" b="1" baseline="-25000" dirty="0">
              <a:solidFill>
                <a:srgbClr val="3333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25957" name="Object 5"/>
          <p:cNvGraphicFramePr>
            <a:graphicFrameLocks noChangeAspect="1"/>
          </p:cNvGraphicFramePr>
          <p:nvPr/>
        </p:nvGraphicFramePr>
        <p:xfrm>
          <a:off x="4067175" y="1700213"/>
          <a:ext cx="3960813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1" imgW="1055370" imgH="239395" progId="Equation.3">
                  <p:embed/>
                </p:oleObj>
              </mc:Choice>
              <mc:Fallback>
                <p:oleObj name="" r:id="rId1" imgW="1055370" imgH="239395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067175" y="1700213"/>
                        <a:ext cx="3960813" cy="950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966" name="Text Box 14"/>
          <p:cNvSpPr txBox="1"/>
          <p:nvPr/>
        </p:nvSpPr>
        <p:spPr>
          <a:xfrm>
            <a:off x="6156325" y="4652963"/>
            <a:ext cx="2016125" cy="1117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p>
            <a:pPr algn="ctr">
              <a:lnSpc>
                <a:spcPct val="110000"/>
              </a:lnSpc>
              <a:spcBef>
                <a:spcPct val="20000"/>
              </a:spcBef>
              <a:buClr>
                <a:srgbClr val="3333CC"/>
              </a:buClr>
              <a:buSzPct val="80000"/>
              <a:buFont typeface="Wingdings" panose="05000000000000000000" pitchFamily="2" charset="2"/>
            </a:pPr>
            <a:r>
              <a:rPr lang="en-US" altLang="zh-CN" sz="2800" b="1" i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800" b="1" baseline="-25000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 </a:t>
            </a:r>
            <a:r>
              <a:rPr lang="en-US" altLang="zh-CN" sz="2800" b="1" i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800" b="1" baseline="-25000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2800" b="1" baseline="-25000" dirty="0">
              <a:solidFill>
                <a:srgbClr val="3333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ct val="110000"/>
              </a:lnSpc>
              <a:spcBef>
                <a:spcPct val="20000"/>
              </a:spcBef>
              <a:buClr>
                <a:srgbClr val="3333CC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空吸作用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975" name="Text Box 23"/>
          <p:cNvSpPr txBox="1"/>
          <p:nvPr/>
        </p:nvSpPr>
        <p:spPr>
          <a:xfrm>
            <a:off x="539750" y="1916113"/>
            <a:ext cx="3457575" cy="561975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p>
            <a:pPr algn="ctr">
              <a:lnSpc>
                <a:spcPct val="110000"/>
              </a:lnSpc>
              <a:spcBef>
                <a:spcPct val="10000"/>
              </a:spcBef>
              <a:buClr>
                <a:srgbClr val="3333CC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水平管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i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en-US" altLang="zh-CN" sz="2800" b="1" baseline="-25000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2800" b="1" i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en-US" altLang="zh-CN" sz="2800" b="1" baseline="-25000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2800" b="1" i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25977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088" y="2995613"/>
            <a:ext cx="4787900" cy="2878137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25981" name="Group 29"/>
          <p:cNvGrpSpPr/>
          <p:nvPr/>
        </p:nvGrpSpPr>
        <p:grpSpPr>
          <a:xfrm>
            <a:off x="3851275" y="333375"/>
            <a:ext cx="5076825" cy="684213"/>
            <a:chOff x="2426" y="210"/>
            <a:chExt cx="3198" cy="431"/>
          </a:xfrm>
        </p:grpSpPr>
        <p:graphicFrame>
          <p:nvGraphicFramePr>
            <p:cNvPr id="34826" name="Object 15"/>
            <p:cNvGraphicFramePr>
              <a:graphicFrameLocks noChangeAspect="1"/>
            </p:cNvGraphicFramePr>
            <p:nvPr/>
          </p:nvGraphicFramePr>
          <p:xfrm>
            <a:off x="2426" y="210"/>
            <a:ext cx="2813" cy="4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1" name="" r:id="rId4" imgW="1702435" imgH="239395" progId="Equation.3">
                    <p:embed/>
                  </p:oleObj>
                </mc:Choice>
                <mc:Fallback>
                  <p:oleObj name="" r:id="rId4" imgW="1702435" imgH="239395" progId="Equation.3">
                    <p:embed/>
                    <p:pic>
                      <p:nvPicPr>
                        <p:cNvPr id="0" name="图片 3110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3333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426" y="210"/>
                          <a:ext cx="2813" cy="429"/>
                        </a:xfrm>
                        <a:prstGeom prst="rect">
                          <a:avLst/>
                        </a:prstGeom>
                        <a:noFill/>
                        <a:ln w="9525" cap="flat" cmpd="sng">
                          <a:solidFill>
                            <a:srgbClr val="CC00CC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34827" name="Picture 28" descr="dove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5239" y="255"/>
              <a:ext cx="385" cy="386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5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5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5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5955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25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25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25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4" grpId="0"/>
      <p:bldP spid="125955" grpId="0" build="p"/>
      <p:bldP spid="125956" grpId="0"/>
      <p:bldP spid="125966" grpId="0"/>
      <p:bldP spid="12597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</a:fld>
            <a:endParaRPr lang="en-US" altLang="zh-CN" sz="1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6982" name="Rectangle 6"/>
          <p:cNvSpPr/>
          <p:nvPr/>
        </p:nvSpPr>
        <p:spPr>
          <a:xfrm>
            <a:off x="5364163" y="260350"/>
            <a:ext cx="3529012" cy="425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 algn="ctr">
              <a:lnSpc>
                <a:spcPct val="90000"/>
              </a:lnSpc>
              <a:spcBef>
                <a:spcPct val="20000"/>
              </a:spcBef>
              <a:buClr>
                <a:srgbClr val="3333CC"/>
              </a:buClr>
              <a:buSzPct val="80000"/>
              <a:buFont typeface="Wingdings" panose="05000000000000000000" pitchFamily="2" charset="2"/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实例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2: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水流抽气机</a:t>
            </a:r>
            <a:endParaRPr lang="zh-CN" altLang="en-US" sz="3200" b="1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26983" name="Picture 7" descr="图-水流抽气机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7850" y="889000"/>
            <a:ext cx="3240088" cy="56165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6988" name="Rectangle 12"/>
          <p:cNvSpPr/>
          <p:nvPr/>
        </p:nvSpPr>
        <p:spPr>
          <a:xfrm>
            <a:off x="971550" y="260350"/>
            <a:ext cx="3313113" cy="425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 algn="ctr">
              <a:lnSpc>
                <a:spcPct val="90000"/>
              </a:lnSpc>
              <a:spcBef>
                <a:spcPct val="20000"/>
              </a:spcBef>
              <a:buClr>
                <a:srgbClr val="3333CC"/>
              </a:buClr>
              <a:buSzPct val="80000"/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实例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1: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喷雾器</a:t>
            </a:r>
            <a:endParaRPr lang="zh-CN" altLang="en-US" sz="32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5845" name="ShockwaveFlash1"/>
          <p:cNvPicPr/>
          <p:nvPr/>
        </p:nvPicPr>
        <p:blipFill>
          <a:blip r:embed="rId2"/>
          <a:stretch>
            <a:fillRect/>
          </a:stretch>
        </p:blipFill>
        <p:spPr>
          <a:xfrm>
            <a:off x="250825" y="836613"/>
            <a:ext cx="4897438" cy="5689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6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6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2" grpId="0"/>
      <p:bldP spid="12698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</a:fld>
            <a:endParaRPr lang="en-US" altLang="zh-CN" sz="1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1186" name="Rectangle 2"/>
          <p:cNvSpPr>
            <a:spLocks noGrp="1"/>
          </p:cNvSpPr>
          <p:nvPr>
            <p:ph type="title" idx="4294967295"/>
          </p:nvPr>
        </p:nvSpPr>
        <p:spPr>
          <a:xfrm>
            <a:off x="323850" y="476250"/>
            <a:ext cx="8351838" cy="13716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2800" b="1" dirty="0">
                <a:solidFill>
                  <a:schemeClr val="tx1"/>
                </a:solidFill>
              </a:rPr>
              <a:t>     </a:t>
            </a:r>
            <a:r>
              <a:rPr lang="zh-CN" altLang="en-US" sz="2800" b="1" dirty="0">
                <a:solidFill>
                  <a:schemeClr val="tx1"/>
                </a:solidFill>
              </a:rPr>
              <a:t>一个很大的开口容器</a:t>
            </a:r>
            <a:r>
              <a:rPr lang="en-US" altLang="zh-CN" sz="2800" b="1" dirty="0">
                <a:solidFill>
                  <a:schemeClr val="tx1"/>
                </a:solidFill>
              </a:rPr>
              <a:t>,  </a:t>
            </a:r>
            <a:r>
              <a:rPr lang="zh-CN" altLang="en-US" sz="2800" b="1" dirty="0">
                <a:solidFill>
                  <a:schemeClr val="tx1"/>
                </a:solidFill>
              </a:rPr>
              <a:t>器壁上有一小孔</a:t>
            </a:r>
            <a:r>
              <a:rPr lang="en-US" altLang="zh-CN" sz="2800" b="1" dirty="0">
                <a:solidFill>
                  <a:schemeClr val="tx1"/>
                </a:solidFill>
              </a:rPr>
              <a:t>,  </a:t>
            </a:r>
            <a:r>
              <a:rPr lang="zh-CN" altLang="en-US" sz="2800" b="1" dirty="0">
                <a:solidFill>
                  <a:schemeClr val="tx1"/>
                </a:solidFill>
              </a:rPr>
              <a:t>当容器内注入液体后</a:t>
            </a:r>
            <a:r>
              <a:rPr lang="en-US" altLang="zh-CN" sz="2800" b="1" dirty="0">
                <a:solidFill>
                  <a:schemeClr val="tx1"/>
                </a:solidFill>
              </a:rPr>
              <a:t>,  </a:t>
            </a:r>
            <a:r>
              <a:rPr lang="zh-CN" altLang="en-US" sz="2800" b="1" dirty="0">
                <a:solidFill>
                  <a:schemeClr val="tx1"/>
                </a:solidFill>
              </a:rPr>
              <a:t>液体从小孔流出</a:t>
            </a:r>
            <a:r>
              <a:rPr lang="en-US" altLang="zh-CN" sz="2800" b="1" dirty="0">
                <a:solidFill>
                  <a:schemeClr val="tx1"/>
                </a:solidFill>
              </a:rPr>
              <a:t>.  </a:t>
            </a:r>
            <a:r>
              <a:rPr lang="zh-CN" altLang="en-US" sz="2800" b="1" dirty="0">
                <a:solidFill>
                  <a:schemeClr val="tx1"/>
                </a:solidFill>
              </a:rPr>
              <a:t>设小孔距液面的高度是</a:t>
            </a:r>
            <a:r>
              <a:rPr lang="en-US" altLang="zh-CN" sz="2800" b="1" i="1" dirty="0">
                <a:solidFill>
                  <a:srgbClr val="333399"/>
                </a:solidFill>
              </a:rPr>
              <a:t>h</a:t>
            </a:r>
            <a:r>
              <a:rPr lang="en-US" altLang="zh-CN" sz="2800" b="1" dirty="0">
                <a:solidFill>
                  <a:schemeClr val="tx1"/>
                </a:solidFill>
              </a:rPr>
              <a:t>,  </a:t>
            </a:r>
            <a:r>
              <a:rPr lang="zh-CN" altLang="en-US" sz="2800" b="1" dirty="0">
                <a:solidFill>
                  <a:schemeClr val="tx1"/>
                </a:solidFill>
              </a:rPr>
              <a:t>求液体从小孔流出的速度</a:t>
            </a:r>
            <a:r>
              <a:rPr lang="en-US" altLang="zh-CN" sz="2800" b="1" dirty="0">
                <a:solidFill>
                  <a:schemeClr val="tx1"/>
                </a:solidFill>
              </a:rPr>
              <a:t>.</a:t>
            </a:r>
            <a:endParaRPr lang="en-US" altLang="zh-CN" sz="2800" b="1" dirty="0">
              <a:solidFill>
                <a:schemeClr val="tx1"/>
              </a:solidFill>
            </a:endParaRPr>
          </a:p>
        </p:txBody>
      </p:sp>
      <p:sp>
        <p:nvSpPr>
          <p:cNvPr id="221187" name="Rectangle 3"/>
          <p:cNvSpPr/>
          <p:nvPr/>
        </p:nvSpPr>
        <p:spPr>
          <a:xfrm>
            <a:off x="323850" y="0"/>
            <a:ext cx="429895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3200" b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  </a:t>
            </a:r>
            <a:r>
              <a:rPr lang="zh-CN" altLang="en-US" sz="3200" b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小孔流速</a:t>
            </a:r>
            <a:endParaRPr lang="zh-CN" altLang="en-US" sz="3200" b="1" dirty="0">
              <a:solidFill>
                <a:srgbClr val="3333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21188" name="Group 4"/>
          <p:cNvGrpSpPr/>
          <p:nvPr/>
        </p:nvGrpSpPr>
        <p:grpSpPr>
          <a:xfrm>
            <a:off x="539750" y="2781300"/>
            <a:ext cx="2971800" cy="3717925"/>
            <a:chOff x="288" y="1546"/>
            <a:chExt cx="1872" cy="2342"/>
          </a:xfrm>
        </p:grpSpPr>
        <p:sp>
          <p:nvSpPr>
            <p:cNvPr id="36869" name="Line 5"/>
            <p:cNvSpPr/>
            <p:nvPr/>
          </p:nvSpPr>
          <p:spPr>
            <a:xfrm>
              <a:off x="288" y="1632"/>
              <a:ext cx="0" cy="172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70" name="Line 6"/>
            <p:cNvSpPr/>
            <p:nvPr/>
          </p:nvSpPr>
          <p:spPr>
            <a:xfrm>
              <a:off x="288" y="3360"/>
              <a:ext cx="144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71" name="Line 7"/>
            <p:cNvSpPr/>
            <p:nvPr/>
          </p:nvSpPr>
          <p:spPr>
            <a:xfrm>
              <a:off x="1728" y="1632"/>
              <a:ext cx="0" cy="14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72" name="Line 8"/>
            <p:cNvSpPr/>
            <p:nvPr/>
          </p:nvSpPr>
          <p:spPr>
            <a:xfrm>
              <a:off x="1728" y="3234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73" name="Line 9"/>
            <p:cNvSpPr/>
            <p:nvPr/>
          </p:nvSpPr>
          <p:spPr>
            <a:xfrm>
              <a:off x="288" y="1920"/>
              <a:ext cx="1440" cy="0"/>
            </a:xfrm>
            <a:prstGeom prst="line">
              <a:avLst/>
            </a:prstGeom>
            <a:ln w="9525" cap="flat" cmpd="sng">
              <a:solidFill>
                <a:srgbClr val="66FF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74" name="Rectangle 10"/>
            <p:cNvSpPr/>
            <p:nvPr/>
          </p:nvSpPr>
          <p:spPr>
            <a:xfrm>
              <a:off x="960" y="1546"/>
              <a:ext cx="244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•</a:t>
              </a:r>
              <a:endPara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75" name="Rectangle 11"/>
            <p:cNvSpPr/>
            <p:nvPr/>
          </p:nvSpPr>
          <p:spPr>
            <a:xfrm>
              <a:off x="1632" y="3024"/>
              <a:ext cx="4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•   </a:t>
              </a:r>
              <a:r>
                <a:rPr lang="en-US" altLang="zh-CN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76" name="Rectangle 12" descr="80%"/>
            <p:cNvSpPr/>
            <p:nvPr/>
          </p:nvSpPr>
          <p:spPr>
            <a:xfrm>
              <a:off x="288" y="1920"/>
              <a:ext cx="1440" cy="1440"/>
            </a:xfrm>
            <a:prstGeom prst="rect">
              <a:avLst/>
            </a:prstGeom>
            <a:blipFill rotWithShape="0">
              <a:blip r:embed="rId1"/>
            </a:blip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77" name="Line 13"/>
            <p:cNvSpPr/>
            <p:nvPr/>
          </p:nvSpPr>
          <p:spPr>
            <a:xfrm>
              <a:off x="1296" y="3024"/>
              <a:ext cx="240" cy="96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36878" name="Freeform 14"/>
            <p:cNvSpPr/>
            <p:nvPr/>
          </p:nvSpPr>
          <p:spPr>
            <a:xfrm>
              <a:off x="1024" y="1920"/>
              <a:ext cx="1136" cy="1968"/>
            </a:xfrm>
            <a:custGeom>
              <a:avLst/>
              <a:gdLst/>
              <a:ahLst/>
              <a:cxnLst>
                <a:cxn ang="0">
                  <a:pos x="142" y="0"/>
                </a:cxn>
                <a:cxn ang="0">
                  <a:pos x="142" y="4140"/>
                </a:cxn>
                <a:cxn ang="0">
                  <a:pos x="569" y="6778"/>
                </a:cxn>
                <a:cxn ang="0">
                  <a:pos x="3552" y="8647"/>
                </a:cxn>
                <a:cxn ang="0">
                  <a:pos x="4194" y="10541"/>
                </a:cxn>
                <a:cxn ang="0">
                  <a:pos x="4408" y="12798"/>
                </a:cxn>
              </a:cxnLst>
              <a:pathLst>
                <a:path w="992" h="1632">
                  <a:moveTo>
                    <a:pt x="32" y="0"/>
                  </a:moveTo>
                  <a:cubicBezTo>
                    <a:pt x="24" y="192"/>
                    <a:pt x="16" y="384"/>
                    <a:pt x="32" y="528"/>
                  </a:cubicBezTo>
                  <a:cubicBezTo>
                    <a:pt x="48" y="672"/>
                    <a:pt x="0" y="768"/>
                    <a:pt x="128" y="864"/>
                  </a:cubicBezTo>
                  <a:cubicBezTo>
                    <a:pt x="256" y="960"/>
                    <a:pt x="664" y="1024"/>
                    <a:pt x="800" y="1104"/>
                  </a:cubicBezTo>
                  <a:cubicBezTo>
                    <a:pt x="936" y="1184"/>
                    <a:pt x="912" y="1256"/>
                    <a:pt x="944" y="1344"/>
                  </a:cubicBezTo>
                  <a:cubicBezTo>
                    <a:pt x="976" y="1432"/>
                    <a:pt x="984" y="1532"/>
                    <a:pt x="992" y="1632"/>
                  </a:cubicBezTo>
                </a:path>
              </a:pathLst>
            </a:custGeom>
            <a:noFill/>
            <a:ln w="31750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21199" name="Text Box 15"/>
          <p:cNvSpPr txBox="1"/>
          <p:nvPr/>
        </p:nvSpPr>
        <p:spPr>
          <a:xfrm>
            <a:off x="323850" y="1773238"/>
            <a:ext cx="8424863" cy="946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任意选取一流线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800" b="1" i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为流线上通过液面的一点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800" b="1" i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该流线通过小孔上的一点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21200" name="Object 16"/>
          <p:cNvGraphicFramePr>
            <a:graphicFrameLocks noChangeAspect="1"/>
          </p:cNvGraphicFramePr>
          <p:nvPr/>
        </p:nvGraphicFramePr>
        <p:xfrm>
          <a:off x="3851275" y="2708275"/>
          <a:ext cx="1652588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2" imgW="502920" imgH="98425" progId="Equation.3">
                  <p:embed/>
                </p:oleObj>
              </mc:Choice>
              <mc:Fallback>
                <p:oleObj name="" r:id="rId2" imgW="502920" imgH="98425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851275" y="2708275"/>
                        <a:ext cx="1652588" cy="468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201" name="Object 17"/>
          <p:cNvGraphicFramePr>
            <a:graphicFrameLocks noChangeAspect="1"/>
          </p:cNvGraphicFramePr>
          <p:nvPr/>
        </p:nvGraphicFramePr>
        <p:xfrm>
          <a:off x="5867400" y="2684463"/>
          <a:ext cx="1368425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4" imgW="361950" imgH="98425" progId="Equation.3">
                  <p:embed/>
                </p:oleObj>
              </mc:Choice>
              <mc:Fallback>
                <p:oleObj name="" r:id="rId4" imgW="361950" imgH="98425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867400" y="2684463"/>
                        <a:ext cx="1368425" cy="515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1202" name="Text Box 18"/>
          <p:cNvSpPr txBox="1"/>
          <p:nvPr/>
        </p:nvSpPr>
        <p:spPr>
          <a:xfrm>
            <a:off x="3708400" y="3284538"/>
            <a:ext cx="43434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令小孔处的高度为 </a:t>
            </a:r>
            <a:r>
              <a:rPr lang="en-US" altLang="zh-CN" sz="2800" b="1" i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en-US" altLang="zh-CN" sz="2800" b="1" i="1" baseline="-25000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  <a:endParaRPr lang="en-US" altLang="zh-CN" sz="2800" b="1" dirty="0">
              <a:solidFill>
                <a:srgbClr val="3333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1203" name="Text Box 19"/>
          <p:cNvSpPr txBox="1"/>
          <p:nvPr/>
        </p:nvSpPr>
        <p:spPr>
          <a:xfrm>
            <a:off x="3708400" y="3716338"/>
            <a:ext cx="4662488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点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  </a:t>
            </a:r>
            <a:r>
              <a:rPr lang="en-US" altLang="zh-CN" sz="2800" b="1" i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en-US" altLang="zh-CN" sz="2800" b="1" i="1" baseline="-25000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2800" b="1" i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800" b="1" i="1" dirty="0">
                <a:solidFill>
                  <a:srgbClr val="333399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800" b="1" i="1" baseline="-25000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 </a:t>
            </a:r>
            <a:r>
              <a:rPr lang="en-US" altLang="zh-CN" sz="2800" b="1" i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800" b="1" i="1" baseline="-25000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2800" b="1" i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800" b="1" baseline="-25000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2800" b="1" baseline="-25000" dirty="0">
              <a:solidFill>
                <a:srgbClr val="3333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1204" name="Text Box 20"/>
          <p:cNvSpPr txBox="1"/>
          <p:nvPr/>
        </p:nvSpPr>
        <p:spPr>
          <a:xfrm>
            <a:off x="3708400" y="4292600"/>
            <a:ext cx="4392613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点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  </a:t>
            </a:r>
            <a:r>
              <a:rPr lang="en-US" altLang="zh-CN" sz="2800" b="1" i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en-US" altLang="zh-CN" sz="2800" b="1" i="1" baseline="-25000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2800" b="1" i="1" dirty="0">
                <a:solidFill>
                  <a:srgbClr val="333399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800" b="1" i="1" baseline="-25000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=?,  </a:t>
            </a:r>
            <a:r>
              <a:rPr lang="en-US" altLang="zh-CN" sz="2800" b="1" i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800" b="1" i="1" baseline="-25000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2800" b="1" i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800" b="1" baseline="-25000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2800" b="1" baseline="-25000" dirty="0">
              <a:solidFill>
                <a:srgbClr val="3333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21205" name="Object 21"/>
          <p:cNvGraphicFramePr>
            <a:graphicFrameLocks noChangeAspect="1"/>
          </p:cNvGraphicFramePr>
          <p:nvPr/>
        </p:nvGraphicFramePr>
        <p:xfrm>
          <a:off x="3563938" y="4724400"/>
          <a:ext cx="5132387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6" imgW="1874520" imgH="239395" progId="Equation.3">
                  <p:embed/>
                </p:oleObj>
              </mc:Choice>
              <mc:Fallback>
                <p:oleObj name="" r:id="rId6" imgW="1874520" imgH="239395" progId="Equation.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63938" y="4724400"/>
                        <a:ext cx="5132387" cy="898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206" name="Object 22"/>
          <p:cNvGraphicFramePr>
            <a:graphicFrameLocks noChangeAspect="1"/>
          </p:cNvGraphicFramePr>
          <p:nvPr/>
        </p:nvGraphicFramePr>
        <p:xfrm>
          <a:off x="4067175" y="5445125"/>
          <a:ext cx="2100263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8" imgW="587375" imgH="239395" progId="Equation.3">
                  <p:embed/>
                </p:oleObj>
              </mc:Choice>
              <mc:Fallback>
                <p:oleObj name="" r:id="rId8" imgW="587375" imgH="239395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067175" y="5445125"/>
                        <a:ext cx="2100263" cy="941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207" name="Object 23"/>
          <p:cNvGraphicFramePr>
            <a:graphicFrameLocks noChangeAspect="1"/>
          </p:cNvGraphicFramePr>
          <p:nvPr/>
        </p:nvGraphicFramePr>
        <p:xfrm>
          <a:off x="6659563" y="5661025"/>
          <a:ext cx="15113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10" imgW="478155" imgH="126365" progId="Equation.3">
                  <p:embed/>
                </p:oleObj>
              </mc:Choice>
              <mc:Fallback>
                <p:oleObj name="" r:id="rId10" imgW="478155" imgH="126365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659563" y="5661025"/>
                        <a:ext cx="1511300" cy="54927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00FFFF"/>
                          </a:gs>
                          <a:gs pos="50000">
                            <a:srgbClr val="FFFFFF"/>
                          </a:gs>
                          <a:gs pos="100000">
                            <a:srgbClr val="00FFFF"/>
                          </a:gs>
                        </a:gsLst>
                        <a:lin ang="5400000" scaled="1"/>
                        <a:tileRect/>
                      </a:gradFill>
                      <a:ln w="28575" cap="flat" cmpd="sng">
                        <a:solidFill>
                          <a:srgbClr val="CC00CC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1208" name="Line 24"/>
          <p:cNvSpPr/>
          <p:nvPr/>
        </p:nvSpPr>
        <p:spPr>
          <a:xfrm>
            <a:off x="6156325" y="5949950"/>
            <a:ext cx="431800" cy="0"/>
          </a:xfrm>
          <a:prstGeom prst="line">
            <a:avLst/>
          </a:prstGeom>
          <a:ln w="57150" cap="flat" cmpd="sng">
            <a:solidFill>
              <a:srgbClr val="333399"/>
            </a:solidFill>
            <a:prstDash val="solid"/>
            <a:round/>
            <a:headEnd type="none" w="med" len="med"/>
            <a:tailEnd type="triangle" w="med" len="med"/>
          </a:ln>
        </p:spPr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1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1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21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1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1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2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2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2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2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2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86" grpId="0"/>
      <p:bldP spid="221187" grpId="0"/>
      <p:bldP spid="221199" grpId="0"/>
      <p:bldP spid="221202" grpId="0"/>
      <p:bldP spid="221203" grpId="0"/>
      <p:bldP spid="22120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</a:fld>
            <a:endParaRPr lang="en-US" altLang="zh-CN" sz="1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0" name="Text Box 2"/>
          <p:cNvSpPr txBox="1"/>
          <p:nvPr/>
        </p:nvSpPr>
        <p:spPr>
          <a:xfrm>
            <a:off x="3962400" y="762000"/>
            <a:ext cx="4648200" cy="701675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endParaRPr lang="zh-CN" altLang="zh-CN" sz="4000" b="1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22211" name="Object 3"/>
          <p:cNvGraphicFramePr>
            <a:graphicFrameLocks noChangeAspect="1"/>
          </p:cNvGraphicFramePr>
          <p:nvPr/>
        </p:nvGraphicFramePr>
        <p:xfrm>
          <a:off x="4284663" y="2636838"/>
          <a:ext cx="1439862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1" imgW="478155" imgH="126365" progId="Equation.3">
                  <p:embed/>
                </p:oleObj>
              </mc:Choice>
              <mc:Fallback>
                <p:oleObj name="" r:id="rId1" imgW="478155" imgH="126365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84663" y="2636838"/>
                        <a:ext cx="1439862" cy="568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2212" name="Object 4"/>
          <p:cNvGraphicFramePr>
            <a:graphicFrameLocks noChangeAspect="1"/>
          </p:cNvGraphicFramePr>
          <p:nvPr/>
        </p:nvGraphicFramePr>
        <p:xfrm>
          <a:off x="823913" y="3789363"/>
          <a:ext cx="429577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3" imgW="1083310" imgH="270510" progId="Equation.3">
                  <p:embed/>
                </p:oleObj>
              </mc:Choice>
              <mc:Fallback>
                <p:oleObj name="" r:id="rId3" imgW="1083310" imgH="270510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3913" y="3789363"/>
                        <a:ext cx="4295775" cy="1006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2213" name="Object 5"/>
          <p:cNvGraphicFramePr>
            <a:graphicFrameLocks noChangeAspect="1"/>
          </p:cNvGraphicFramePr>
          <p:nvPr/>
        </p:nvGraphicFramePr>
        <p:xfrm>
          <a:off x="552450" y="5229225"/>
          <a:ext cx="8283575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5" imgW="3204210" imgH="281305" progId="Equation.3">
                  <p:embed/>
                </p:oleObj>
              </mc:Choice>
              <mc:Fallback>
                <p:oleObj name="" r:id="rId5" imgW="3204210" imgH="281305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2450" y="5229225"/>
                        <a:ext cx="8283575" cy="1017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2214" name="Rectangle 6"/>
          <p:cNvSpPr/>
          <p:nvPr/>
        </p:nvSpPr>
        <p:spPr>
          <a:xfrm>
            <a:off x="323850" y="3357563"/>
            <a:ext cx="5976938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-266700" algn="just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该处厚度为</a:t>
            </a:r>
            <a:r>
              <a:rPr lang="zh-CN" altLang="en-US" b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b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b="1" i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的薄层从小孔流出时间为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2215" name="Rectangle 7"/>
          <p:cNvSpPr/>
          <p:nvPr/>
        </p:nvSpPr>
        <p:spPr>
          <a:xfrm>
            <a:off x="539750" y="4797425"/>
            <a:ext cx="561657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-266700" algn="just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整个水箱的水流尽所需时间为   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22216" name="Group 8"/>
          <p:cNvGrpSpPr/>
          <p:nvPr/>
        </p:nvGrpSpPr>
        <p:grpSpPr>
          <a:xfrm>
            <a:off x="6243638" y="1773238"/>
            <a:ext cx="2900362" cy="2700337"/>
            <a:chOff x="2789" y="2024"/>
            <a:chExt cx="1827" cy="1701"/>
          </a:xfrm>
        </p:grpSpPr>
        <p:sp>
          <p:nvSpPr>
            <p:cNvPr id="37897" name="Text Box 9"/>
            <p:cNvSpPr txBox="1"/>
            <p:nvPr/>
          </p:nvSpPr>
          <p:spPr>
            <a:xfrm>
              <a:off x="3470" y="3475"/>
              <a:ext cx="741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ctr"/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r>
                <a:rPr lang="en-US" altLang="zh-CN" sz="2000" b="1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=1 cm</a:t>
              </a:r>
              <a:r>
                <a:rPr lang="en-US" altLang="zh-CN" sz="2000" b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898" name="Text Box 10"/>
            <p:cNvSpPr txBox="1"/>
            <p:nvPr/>
          </p:nvSpPr>
          <p:spPr>
            <a:xfrm>
              <a:off x="2835" y="2024"/>
              <a:ext cx="1079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ctr"/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r>
                <a:rPr lang="en-US" altLang="zh-CN" sz="2000" b="1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=6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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  <a:r>
                <a:rPr lang="en-US" altLang="zh-CN" sz="2000" b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</a:t>
              </a:r>
              <a:r>
                <a:rPr lang="en-US" altLang="zh-CN" sz="2000" b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m</a:t>
              </a:r>
              <a:r>
                <a:rPr lang="en-US" altLang="zh-CN" sz="2000" b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  </a:t>
              </a:r>
              <a:endPara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899" name="Line 11"/>
            <p:cNvSpPr/>
            <p:nvPr/>
          </p:nvSpPr>
          <p:spPr>
            <a:xfrm>
              <a:off x="2789" y="2115"/>
              <a:ext cx="0" cy="1274"/>
            </a:xfrm>
            <a:prstGeom prst="line">
              <a:avLst/>
            </a:prstGeom>
            <a:ln w="444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00" name="Line 12"/>
            <p:cNvSpPr/>
            <p:nvPr/>
          </p:nvSpPr>
          <p:spPr>
            <a:xfrm flipV="1">
              <a:off x="2789" y="3385"/>
              <a:ext cx="454" cy="4"/>
            </a:xfrm>
            <a:prstGeom prst="line">
              <a:avLst/>
            </a:prstGeom>
            <a:ln w="444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01" name="Line 13"/>
            <p:cNvSpPr/>
            <p:nvPr/>
          </p:nvSpPr>
          <p:spPr>
            <a:xfrm>
              <a:off x="3832" y="2115"/>
              <a:ext cx="0" cy="1270"/>
            </a:xfrm>
            <a:prstGeom prst="line">
              <a:avLst/>
            </a:prstGeom>
            <a:ln w="444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02" name="Line 14"/>
            <p:cNvSpPr/>
            <p:nvPr/>
          </p:nvSpPr>
          <p:spPr>
            <a:xfrm>
              <a:off x="2789" y="2296"/>
              <a:ext cx="1043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03" name="Rectangle 15" descr="80%"/>
            <p:cNvSpPr/>
            <p:nvPr/>
          </p:nvSpPr>
          <p:spPr>
            <a:xfrm>
              <a:off x="2789" y="2296"/>
              <a:ext cx="1043" cy="1089"/>
            </a:xfrm>
            <a:prstGeom prst="rect">
              <a:avLst/>
            </a:prstGeom>
            <a:blipFill rotWithShape="0">
              <a:blip r:embed="rId7"/>
            </a:blip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04" name="Rectangle 16" descr="80%"/>
            <p:cNvSpPr/>
            <p:nvPr/>
          </p:nvSpPr>
          <p:spPr>
            <a:xfrm>
              <a:off x="3243" y="3340"/>
              <a:ext cx="136" cy="227"/>
            </a:xfrm>
            <a:prstGeom prst="rect">
              <a:avLst/>
            </a:prstGeom>
            <a:blipFill rotWithShape="0">
              <a:blip r:embed="rId7"/>
            </a:blip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05" name="Line 17"/>
            <p:cNvSpPr/>
            <p:nvPr/>
          </p:nvSpPr>
          <p:spPr>
            <a:xfrm flipV="1">
              <a:off x="3379" y="3385"/>
              <a:ext cx="454" cy="0"/>
            </a:xfrm>
            <a:prstGeom prst="line">
              <a:avLst/>
            </a:prstGeom>
            <a:ln w="444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06" name="Line 18"/>
            <p:cNvSpPr/>
            <p:nvPr/>
          </p:nvSpPr>
          <p:spPr>
            <a:xfrm>
              <a:off x="3243" y="3385"/>
              <a:ext cx="0" cy="185"/>
            </a:xfrm>
            <a:prstGeom prst="line">
              <a:avLst/>
            </a:prstGeom>
            <a:ln w="444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07" name="Line 19"/>
            <p:cNvSpPr/>
            <p:nvPr/>
          </p:nvSpPr>
          <p:spPr>
            <a:xfrm>
              <a:off x="3379" y="3385"/>
              <a:ext cx="0" cy="185"/>
            </a:xfrm>
            <a:prstGeom prst="line">
              <a:avLst/>
            </a:prstGeom>
            <a:ln w="444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08" name="Line 20"/>
            <p:cNvSpPr/>
            <p:nvPr/>
          </p:nvSpPr>
          <p:spPr>
            <a:xfrm>
              <a:off x="3833" y="2296"/>
              <a:ext cx="499" cy="0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37909" name="Line 21"/>
            <p:cNvSpPr/>
            <p:nvPr/>
          </p:nvSpPr>
          <p:spPr>
            <a:xfrm>
              <a:off x="3878" y="3385"/>
              <a:ext cx="499" cy="0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37910" name="Line 22"/>
            <p:cNvSpPr/>
            <p:nvPr/>
          </p:nvSpPr>
          <p:spPr>
            <a:xfrm>
              <a:off x="4059" y="2296"/>
              <a:ext cx="0" cy="1134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triangle" w="med" len="lg"/>
              <a:tailEnd type="triangle" w="med" len="lg"/>
            </a:ln>
          </p:spPr>
        </p:sp>
        <p:sp>
          <p:nvSpPr>
            <p:cNvPr id="37911" name="Text Box 23"/>
            <p:cNvSpPr txBox="1"/>
            <p:nvPr/>
          </p:nvSpPr>
          <p:spPr>
            <a:xfrm>
              <a:off x="3878" y="2689"/>
              <a:ext cx="738" cy="269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txBody>
            <a:bodyPr wrap="none" anchor="t" anchorCtr="0">
              <a:spAutoFit/>
            </a:bodyPr>
            <a:p>
              <a:pPr algn="ctr">
                <a:lnSpc>
                  <a:spcPct val="110000"/>
                </a:lnSpc>
                <a:spcBef>
                  <a:spcPct val="10000"/>
                </a:spcBef>
              </a:pP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r>
                <a:rPr lang="en-US" altLang="zh-CN" sz="2000" b="1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=0.7 m</a:t>
              </a:r>
              <a:endPara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7912" name="Text Box 24"/>
          <p:cNvSpPr txBox="1"/>
          <p:nvPr/>
        </p:nvSpPr>
        <p:spPr>
          <a:xfrm>
            <a:off x="323850" y="333375"/>
            <a:ext cx="8569325" cy="89535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r>
              <a:rPr lang="en-US" altLang="zh-CN" b="1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一圆形开口容器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高</a:t>
            </a:r>
            <a:r>
              <a:rPr lang="en-US" altLang="zh-CN" b="1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0.7 m,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截面积</a:t>
            </a:r>
            <a:r>
              <a:rPr lang="en-US" altLang="zh-CN" b="1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6×10</a:t>
            </a:r>
            <a:r>
              <a:rPr lang="en-US" altLang="zh-CN" b="1" baseline="30000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b="1" baseline="30000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b="1" baseline="30000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贮满清水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若容器底有一小孔</a:t>
            </a:r>
            <a:r>
              <a:rPr lang="en-US" altLang="zh-CN" b="1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1cm</a:t>
            </a:r>
            <a:r>
              <a:rPr lang="en-US" altLang="zh-CN" b="1" baseline="30000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问该容器中水流完需要多少时间？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2233" name="Text Box 25"/>
          <p:cNvSpPr txBox="1"/>
          <p:nvPr/>
        </p:nvSpPr>
        <p:spPr>
          <a:xfrm>
            <a:off x="395288" y="1341438"/>
            <a:ext cx="5616575" cy="1844675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algn="just" eaLnBrk="0" hangingPunct="0">
              <a:lnSpc>
                <a:spcPct val="120000"/>
              </a:lnSpc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:</a:t>
            </a:r>
            <a:r>
              <a:rPr lang="en-US" altLang="zh-CN" b="1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已知  </a:t>
            </a:r>
            <a:r>
              <a:rPr lang="en-US" altLang="zh-CN" b="1" i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en-US" altLang="zh-CN" b="1" i="1" baseline="-25000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b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=0.7 m,   </a:t>
            </a:r>
            <a:r>
              <a:rPr lang="en-US" altLang="zh-CN" b="1" i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b="1" i="1" baseline="-25000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b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b="1" i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6×10</a:t>
            </a:r>
            <a:r>
              <a:rPr lang="en-US" altLang="zh-CN" b="1" baseline="30000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2 </a:t>
            </a:r>
            <a:r>
              <a:rPr lang="en-US" altLang="zh-CN" b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b="1" baseline="30000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 </a:t>
            </a:r>
            <a:r>
              <a:rPr lang="en-US" altLang="zh-CN" b="1" i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b="1" i="1" baseline="-25000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b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b="1" i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en-US" altLang="zh-CN" b="1" baseline="30000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4 </a:t>
            </a:r>
            <a:r>
              <a:rPr lang="en-US" altLang="zh-CN" b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b="1" baseline="30000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随着水的流出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水位不断下降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流速逐渐减小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根据小孔流速规律知在任意水位 </a:t>
            </a:r>
            <a:r>
              <a:rPr lang="en-US" altLang="zh-CN" b="1" i="1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处水的流速为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2234" name="Text Box 26" descr="棚架"/>
          <p:cNvSpPr txBox="1"/>
          <p:nvPr/>
        </p:nvSpPr>
        <p:spPr>
          <a:xfrm>
            <a:off x="6300788" y="2852738"/>
            <a:ext cx="1584325" cy="122237"/>
          </a:xfrm>
          <a:prstGeom prst="rect">
            <a:avLst/>
          </a:prstGeom>
          <a:blipFill rotWithShape="0">
            <a:blip r:embed="rId8"/>
          </a:blipFill>
          <a:ln w="38100">
            <a:noFill/>
          </a:ln>
        </p:spPr>
        <p:txBody>
          <a:bodyPr anchor="t" anchorCtr="0">
            <a:spAutoFit/>
          </a:bodyPr>
          <a:p>
            <a:pPr algn="ctr"/>
            <a:endParaRPr lang="zh-CN" altLang="zh-CN" sz="2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2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2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2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22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2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4" grpId="0"/>
      <p:bldP spid="222215" grpId="0"/>
      <p:bldP spid="222233" grpId="0"/>
      <p:bldP spid="22223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灯片编号占位符 7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29026" name="Rectangle 2"/>
          <p:cNvSpPr>
            <a:spLocks noGrp="1"/>
          </p:cNvSpPr>
          <p:nvPr>
            <p:ph type="body" sz="half" idx="1"/>
          </p:nvPr>
        </p:nvSpPr>
        <p:spPr>
          <a:xfrm>
            <a:off x="323850" y="260350"/>
            <a:ext cx="5003800" cy="620713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b="1" dirty="0">
                <a:solidFill>
                  <a:srgbClr val="333399"/>
                </a:solidFill>
              </a:rPr>
              <a:t>3. </a:t>
            </a:r>
            <a:r>
              <a:rPr lang="zh-CN" altLang="en-US" b="1" dirty="0">
                <a:solidFill>
                  <a:srgbClr val="333399"/>
                </a:solidFill>
              </a:rPr>
              <a:t>流速计</a:t>
            </a:r>
            <a:r>
              <a:rPr lang="en-US" altLang="zh-CN" b="1" dirty="0">
                <a:solidFill>
                  <a:srgbClr val="333399"/>
                </a:solidFill>
              </a:rPr>
              <a:t>(</a:t>
            </a:r>
            <a:r>
              <a:rPr lang="zh-CN" altLang="en-US" b="1" dirty="0">
                <a:solidFill>
                  <a:srgbClr val="333399"/>
                </a:solidFill>
              </a:rPr>
              <a:t>比托管</a:t>
            </a:r>
            <a:r>
              <a:rPr lang="en-US" altLang="zh-CN" b="1" dirty="0">
                <a:solidFill>
                  <a:srgbClr val="333399"/>
                </a:solidFill>
              </a:rPr>
              <a:t>pitot tube)</a:t>
            </a:r>
            <a:endParaRPr lang="en-US" altLang="zh-CN" b="1" dirty="0">
              <a:solidFill>
                <a:srgbClr val="333399"/>
              </a:solidFill>
            </a:endParaRPr>
          </a:p>
        </p:txBody>
      </p:sp>
      <p:graphicFrame>
        <p:nvGraphicFramePr>
          <p:cNvPr id="129027" name="Object 3"/>
          <p:cNvGraphicFramePr>
            <a:graphicFrameLocks noChangeAspect="1"/>
          </p:cNvGraphicFramePr>
          <p:nvPr/>
        </p:nvGraphicFramePr>
        <p:xfrm>
          <a:off x="1187450" y="5229225"/>
          <a:ext cx="230505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224915" imgH="444500" progId="Equation.3">
                  <p:embed/>
                </p:oleObj>
              </mc:Choice>
              <mc:Fallback>
                <p:oleObj name="" r:id="rId1" imgW="1224915" imgH="4445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7450" y="5229225"/>
                        <a:ext cx="2305050" cy="923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34" name="Rectangle 10"/>
          <p:cNvSpPr/>
          <p:nvPr/>
        </p:nvSpPr>
        <p:spPr>
          <a:xfrm>
            <a:off x="395288" y="981075"/>
            <a:ext cx="4500562" cy="5762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None/>
            </a:pPr>
            <a:r>
              <a:rPr lang="en-US" altLang="zh-CN" sz="2800" b="1" dirty="0"/>
              <a:t>(1) </a:t>
            </a:r>
            <a:r>
              <a:rPr lang="zh-CN" altLang="en-US" sz="2800" b="1" dirty="0"/>
              <a:t>原理图</a:t>
            </a:r>
            <a:r>
              <a:rPr lang="en-US" altLang="zh-CN" sz="2800" b="1" dirty="0">
                <a:solidFill>
                  <a:schemeClr val="accent2"/>
                </a:solidFill>
              </a:rPr>
              <a:t>, </a:t>
            </a:r>
            <a:r>
              <a:rPr lang="en-US" altLang="zh-CN" sz="2800" b="1" i="1" dirty="0">
                <a:solidFill>
                  <a:schemeClr val="accent2"/>
                </a:solidFill>
                <a:latin typeface="Book Antiqua" panose="02040602050305030304" pitchFamily="18" charset="0"/>
              </a:rPr>
              <a:t>v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2</a:t>
            </a:r>
            <a:r>
              <a:rPr lang="en-US" altLang="zh-CN" sz="2800" b="1" dirty="0">
                <a:solidFill>
                  <a:schemeClr val="accent2"/>
                </a:solidFill>
              </a:rPr>
              <a:t>=0</a:t>
            </a:r>
            <a:endParaRPr lang="en-US" altLang="zh-CN" sz="2800" b="1" dirty="0">
              <a:solidFill>
                <a:schemeClr val="accent2"/>
              </a:solidFill>
            </a:endParaRPr>
          </a:p>
        </p:txBody>
      </p:sp>
      <p:graphicFrame>
        <p:nvGraphicFramePr>
          <p:cNvPr id="129050" name="Object 26"/>
          <p:cNvGraphicFramePr>
            <a:graphicFrameLocks noChangeAspect="1"/>
          </p:cNvGraphicFramePr>
          <p:nvPr/>
        </p:nvGraphicFramePr>
        <p:xfrm>
          <a:off x="3851275" y="5229225"/>
          <a:ext cx="3690938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3" imgW="2709545" imgH="520065" progId="Equation.3">
                  <p:embed/>
                </p:oleObj>
              </mc:Choice>
              <mc:Fallback>
                <p:oleObj name="" r:id="rId3" imgW="2709545" imgH="520065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851275" y="5229225"/>
                        <a:ext cx="3690938" cy="998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9054" name="Picture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7450" y="1557338"/>
            <a:ext cx="6264275" cy="36687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6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9026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9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9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29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6" grpId="0" build="p"/>
      <p:bldP spid="1290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灯片编号占位符 7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aphicFrame>
        <p:nvGraphicFramePr>
          <p:cNvPr id="207876" name="Object 4"/>
          <p:cNvGraphicFramePr>
            <a:graphicFrameLocks noChangeAspect="1"/>
          </p:cNvGraphicFramePr>
          <p:nvPr/>
        </p:nvGraphicFramePr>
        <p:xfrm>
          <a:off x="1079500" y="4652963"/>
          <a:ext cx="2233613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1400810" imgH="603885" progId="Equation.3">
                  <p:embed/>
                </p:oleObj>
              </mc:Choice>
              <mc:Fallback>
                <p:oleObj name="" r:id="rId1" imgW="1400810" imgH="603885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79500" y="4652963"/>
                        <a:ext cx="2233613" cy="1247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877" name="Rectangle 5"/>
          <p:cNvSpPr/>
          <p:nvPr/>
        </p:nvSpPr>
        <p:spPr>
          <a:xfrm>
            <a:off x="539750" y="4005263"/>
            <a:ext cx="3779838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9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①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测量液体</a:t>
            </a:r>
            <a:endParaRPr lang="zh-CN" altLang="en-US" sz="2800" b="1" dirty="0">
              <a:solidFill>
                <a:schemeClr val="accent2"/>
              </a:solidFill>
            </a:endParaRPr>
          </a:p>
        </p:txBody>
      </p:sp>
      <p:sp>
        <p:nvSpPr>
          <p:cNvPr id="207882" name="Rectangle 10"/>
          <p:cNvSpPr/>
          <p:nvPr/>
        </p:nvSpPr>
        <p:spPr>
          <a:xfrm>
            <a:off x="250825" y="260350"/>
            <a:ext cx="4500563" cy="5762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None/>
            </a:pPr>
            <a:r>
              <a:rPr lang="en-US" altLang="zh-CN" sz="2800" b="1" dirty="0"/>
              <a:t>(2) </a:t>
            </a:r>
            <a:r>
              <a:rPr lang="zh-CN" altLang="en-US" sz="2800" b="1" dirty="0"/>
              <a:t>组合比托管</a:t>
            </a:r>
            <a:r>
              <a:rPr lang="en-US" altLang="zh-CN" sz="2800" b="1" dirty="0"/>
              <a:t>1</a:t>
            </a:r>
            <a:endParaRPr lang="en-US" altLang="zh-CN" sz="2800" b="1" dirty="0"/>
          </a:p>
        </p:txBody>
      </p:sp>
      <p:sp>
        <p:nvSpPr>
          <p:cNvPr id="207883" name="Rectangle 11"/>
          <p:cNvSpPr/>
          <p:nvPr/>
        </p:nvSpPr>
        <p:spPr>
          <a:xfrm>
            <a:off x="4572000" y="4005263"/>
            <a:ext cx="4140200" cy="50323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9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②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测量气体</a:t>
            </a:r>
            <a:endParaRPr lang="zh-CN" altLang="en-US" sz="2800" b="1" dirty="0">
              <a:solidFill>
                <a:schemeClr val="accent2"/>
              </a:solidFill>
            </a:endParaRPr>
          </a:p>
        </p:txBody>
      </p:sp>
      <p:graphicFrame>
        <p:nvGraphicFramePr>
          <p:cNvPr id="207884" name="Object 12"/>
          <p:cNvGraphicFramePr>
            <a:graphicFrameLocks noChangeAspect="1"/>
          </p:cNvGraphicFramePr>
          <p:nvPr>
            <p:ph sz="quarter" idx="3"/>
          </p:nvPr>
        </p:nvGraphicFramePr>
        <p:xfrm>
          <a:off x="4859338" y="4508500"/>
          <a:ext cx="3744912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3" imgW="2474595" imgH="520065" progId="Equation.3">
                  <p:embed/>
                </p:oleObj>
              </mc:Choice>
              <mc:Fallback>
                <p:oleObj name="" r:id="rId3" imgW="2474595" imgH="520065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4859338" y="4508500"/>
                        <a:ext cx="3744912" cy="103663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7894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213" y="908050"/>
            <a:ext cx="8132762" cy="2933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7895" name="Rectangle 23"/>
          <p:cNvSpPr/>
          <p:nvPr/>
        </p:nvSpPr>
        <p:spPr>
          <a:xfrm>
            <a:off x="5148263" y="5516563"/>
            <a:ext cx="3024187" cy="10080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9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b="1" i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</a:t>
            </a:r>
            <a:r>
              <a:rPr lang="en-US" altLang="zh-CN" sz="28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rgbClr val="333399"/>
                </a:solidFill>
              </a:rPr>
              <a:t>为液体的密度</a:t>
            </a:r>
            <a:endParaRPr lang="zh-CN" altLang="en-US" sz="2800" b="1" dirty="0">
              <a:solidFill>
                <a:srgbClr val="333399"/>
              </a:solidFill>
            </a:endParaRPr>
          </a:p>
          <a:p>
            <a:pPr marL="342900" lvl="0" indent="-342900" eaLnBrk="1" hangingPunct="1">
              <a:lnSpc>
                <a:spcPct val="9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b="1" i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 </a:t>
            </a:r>
            <a:r>
              <a:rPr lang="zh-CN" altLang="en-US" sz="2800" b="1" dirty="0">
                <a:solidFill>
                  <a:srgbClr val="333399"/>
                </a:solidFill>
              </a:rPr>
              <a:t>为气体的密度</a:t>
            </a:r>
            <a:endParaRPr lang="zh-CN" altLang="en-US" sz="2800" b="1" dirty="0">
              <a:solidFill>
                <a:srgbClr val="333399"/>
              </a:solidFill>
            </a:endParaRP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7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07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07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07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0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77" grpId="0"/>
      <p:bldP spid="207882" grpId="0"/>
      <p:bldP spid="207883" grpId="0"/>
      <p:bldP spid="20789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5" name="Rectangle 10"/>
          <p:cNvSpPr/>
          <p:nvPr/>
        </p:nvSpPr>
        <p:spPr>
          <a:xfrm>
            <a:off x="120650" y="196850"/>
            <a:ext cx="1981200" cy="14176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None/>
            </a:pPr>
            <a:r>
              <a:rPr lang="en-US" altLang="zh-CN" sz="2800" b="1" dirty="0">
                <a:cs typeface="Times New Roman" panose="02020603050405020304" pitchFamily="18" charset="0"/>
              </a:rPr>
              <a:t>(3) </a:t>
            </a:r>
            <a:r>
              <a:rPr lang="zh-CN" altLang="en-US" sz="2800" b="1" dirty="0">
                <a:latin typeface="Arial" panose="020B0604020202020204" pitchFamily="34" charset="0"/>
                <a:cs typeface="Times New Roman" panose="02020603050405020304" pitchFamily="18" charset="0"/>
              </a:rPr>
              <a:t>组合皮托管</a:t>
            </a:r>
            <a:r>
              <a:rPr lang="en-US" altLang="zh-CN" sz="2800" b="1" dirty="0">
                <a:cs typeface="Times New Roman" panose="02020603050405020304" pitchFamily="18" charset="0"/>
              </a:rPr>
              <a:t>2</a:t>
            </a:r>
            <a:endParaRPr lang="en-US" altLang="zh-CN" sz="2800" b="1" dirty="0">
              <a:ea typeface="Times New Roman" panose="02020603050405020304" pitchFamily="18" charset="0"/>
            </a:endParaRPr>
          </a:p>
        </p:txBody>
      </p:sp>
      <p:sp>
        <p:nvSpPr>
          <p:cNvPr id="17411" name="Slide Number Placeholder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800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</a:fld>
            <a:endParaRPr lang="en-US" altLang="zh-CN" sz="1800" dirty="0">
              <a:solidFill>
                <a:srgbClr val="0000FF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243513" y="3703638"/>
            <a:ext cx="3997325" cy="2611437"/>
            <a:chOff x="5124050" y="3980340"/>
            <a:chExt cx="3998067" cy="2611159"/>
          </a:xfrm>
        </p:grpSpPr>
        <p:pic>
          <p:nvPicPr>
            <p:cNvPr id="17417" name="Picture 6" descr="C:\Documents and Settings\Administrator\桌面\750px-Pitot-cs%C5%91_helikopteren_4.jpg"/>
            <p:cNvPicPr>
              <a:picLocks noChangeAspect="1"/>
            </p:cNvPicPr>
            <p:nvPr/>
          </p:nvPicPr>
          <p:blipFill>
            <a:blip r:embed="rId1"/>
            <a:srcRect t="13719" b="20216"/>
            <a:stretch>
              <a:fillRect/>
            </a:stretch>
          </p:blipFill>
          <p:spPr>
            <a:xfrm>
              <a:off x="5436170" y="3980340"/>
              <a:ext cx="3373825" cy="178016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418" name="矩形 3"/>
            <p:cNvSpPr/>
            <p:nvPr/>
          </p:nvSpPr>
          <p:spPr>
            <a:xfrm>
              <a:off x="5124050" y="5760502"/>
              <a:ext cx="3998067" cy="83099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fi-FI" altLang="zh-CN" sz="2400" b="1" dirty="0">
                  <a:latin typeface="Calibri" panose="020F0502020204030204" pitchFamily="34" charset="0"/>
                  <a:cs typeface="Times New Roman" panose="02020603050405020304" pitchFamily="18" charset="0"/>
                </a:rPr>
                <a:t>Pitot tube on </a:t>
              </a:r>
              <a:r>
                <a:rPr lang="en-US" altLang="zh-CN" sz="2400" b="1" dirty="0">
                  <a:latin typeface="Calibri" panose="020F0502020204030204" pitchFamily="34" charset="0"/>
                  <a:cs typeface="Times New Roman" panose="02020603050405020304" pitchFamily="18" charset="0"/>
                </a:rPr>
                <a:t>a </a:t>
              </a:r>
              <a:r>
                <a:rPr lang="fi-FI" altLang="zh-CN" sz="2400" b="1" dirty="0">
                  <a:latin typeface="Calibri" panose="020F0502020204030204" pitchFamily="34" charset="0"/>
                  <a:cs typeface="Times New Roman" panose="02020603050405020304" pitchFamily="18" charset="0"/>
                </a:rPr>
                <a:t>helicopter to measure airspeed</a:t>
              </a:r>
              <a:endParaRPr lang="zh-CN" altLang="en-US" sz="2400" b="1" dirty="0">
                <a:latin typeface="Calibri" panose="020F0502020204030204" pitchFamily="34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0163" y="3587750"/>
            <a:ext cx="5702300" cy="3095625"/>
            <a:chOff x="29755" y="3587750"/>
            <a:chExt cx="5702487" cy="3095440"/>
          </a:xfrm>
        </p:grpSpPr>
        <p:pic>
          <p:nvPicPr>
            <p:cNvPr id="1741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755" y="3587750"/>
              <a:ext cx="5313363" cy="203993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416" name="矩形 2"/>
            <p:cNvSpPr/>
            <p:nvPr/>
          </p:nvSpPr>
          <p:spPr>
            <a:xfrm>
              <a:off x="120650" y="5482861"/>
              <a:ext cx="5611592" cy="1200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Calibri" panose="020F0502020204030204" pitchFamily="34" charset="0"/>
                  <a:cs typeface="Times New Roman" panose="02020603050405020304" pitchFamily="18" charset="0"/>
                </a:rPr>
                <a:t>Close-up of a Pitot tube, showing the stagnation pressure hole and two of the five static circumferential pressure holes.</a:t>
              </a:r>
              <a:endParaRPr lang="zh-CN" altLang="en-US" sz="2400" b="1" dirty="0">
                <a:latin typeface="Calibri" panose="020F0502020204030204" pitchFamily="34" charset="0"/>
                <a:ea typeface="Times New Roman" panose="02020603050405020304" pitchFamily="18" charset="0"/>
              </a:endParaRPr>
            </a:p>
          </p:txBody>
        </p:sp>
      </p:grpSp>
    </p:spTree>
    <p:controls/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灯片编号占位符 6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39618" name="Rectangle 2"/>
          <p:cNvSpPr>
            <a:spLocks noGrp="1"/>
          </p:cNvSpPr>
          <p:nvPr>
            <p:ph type="body" sz="half" idx="1"/>
          </p:nvPr>
        </p:nvSpPr>
        <p:spPr>
          <a:xfrm>
            <a:off x="323850" y="333375"/>
            <a:ext cx="2879725" cy="43815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accent2"/>
                </a:solidFill>
              </a:rPr>
              <a:t>4. </a:t>
            </a:r>
            <a:r>
              <a:rPr lang="zh-CN" altLang="en-US" b="1" dirty="0">
                <a:solidFill>
                  <a:schemeClr val="accent2"/>
                </a:solidFill>
              </a:rPr>
              <a:t>流量计</a:t>
            </a:r>
            <a:endParaRPr lang="zh-CN" altLang="en-US" b="1" dirty="0">
              <a:solidFill>
                <a:schemeClr val="accent2"/>
              </a:solidFill>
            </a:endParaRPr>
          </a:p>
        </p:txBody>
      </p:sp>
      <p:graphicFrame>
        <p:nvGraphicFramePr>
          <p:cNvPr id="239619" name="Object 3"/>
          <p:cNvGraphicFramePr>
            <a:graphicFrameLocks noChangeAspect="1"/>
          </p:cNvGraphicFramePr>
          <p:nvPr/>
        </p:nvGraphicFramePr>
        <p:xfrm>
          <a:off x="684213" y="2636838"/>
          <a:ext cx="460851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2357120" imgH="444500" progId="Equation.3">
                  <p:embed/>
                </p:oleObj>
              </mc:Choice>
              <mc:Fallback>
                <p:oleObj name="" r:id="rId1" imgW="2357120" imgH="4445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4213" y="2636838"/>
                        <a:ext cx="4608512" cy="917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20" name="Object 4"/>
          <p:cNvGraphicFramePr>
            <a:graphicFrameLocks noChangeAspect="1"/>
          </p:cNvGraphicFramePr>
          <p:nvPr/>
        </p:nvGraphicFramePr>
        <p:xfrm>
          <a:off x="827088" y="3716338"/>
          <a:ext cx="3744912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1677670" imgH="545465" progId="Equation.3">
                  <p:embed/>
                </p:oleObj>
              </mc:Choice>
              <mc:Fallback>
                <p:oleObj name="" r:id="rId3" imgW="1677670" imgH="545465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3716338"/>
                        <a:ext cx="3744912" cy="10969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21" name="Object 5"/>
          <p:cNvGraphicFramePr>
            <a:graphicFrameLocks noChangeAspect="1"/>
          </p:cNvGraphicFramePr>
          <p:nvPr/>
        </p:nvGraphicFramePr>
        <p:xfrm>
          <a:off x="827088" y="4868863"/>
          <a:ext cx="3744912" cy="1163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5" imgW="1828800" imgH="545465" progId="Equation.3">
                  <p:embed/>
                </p:oleObj>
              </mc:Choice>
              <mc:Fallback>
                <p:oleObj name="" r:id="rId5" imgW="1828800" imgH="545465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4868863"/>
                        <a:ext cx="3744912" cy="11636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9626" name="Rectangle 10"/>
          <p:cNvSpPr/>
          <p:nvPr/>
        </p:nvSpPr>
        <p:spPr>
          <a:xfrm>
            <a:off x="468313" y="1196975"/>
            <a:ext cx="3505200" cy="11525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None/>
            </a:pPr>
            <a:r>
              <a:rPr lang="en-US" altLang="zh-CN" sz="2800" b="1" dirty="0"/>
              <a:t>(1) </a:t>
            </a:r>
            <a:r>
              <a:rPr lang="zh-CN" altLang="en-US" sz="2800" b="1" dirty="0"/>
              <a:t>测量液体流量</a:t>
            </a:r>
            <a:endParaRPr lang="zh-CN" altLang="en-US" sz="2800" b="1" dirty="0"/>
          </a:p>
          <a:p>
            <a:pPr marL="342900" lvl="0" indent="-342900" eaLnBrk="1" hangingPunct="1">
              <a:buNone/>
            </a:pPr>
            <a:r>
              <a:rPr lang="zh-CN" altLang="en-US" sz="2800" b="1" dirty="0"/>
              <a:t>的汾丘里流量计</a:t>
            </a:r>
            <a:endParaRPr lang="zh-CN" altLang="en-US" sz="2800" b="1" dirty="0">
              <a:solidFill>
                <a:schemeClr val="folHlink"/>
              </a:solidFill>
            </a:endParaRPr>
          </a:p>
        </p:txBody>
      </p:sp>
      <p:graphicFrame>
        <p:nvGraphicFramePr>
          <p:cNvPr id="239627" name="Object 11"/>
          <p:cNvGraphicFramePr>
            <a:graphicFrameLocks noChangeAspect="1"/>
          </p:cNvGraphicFramePr>
          <p:nvPr>
            <p:ph sz="half" idx="2"/>
          </p:nvPr>
        </p:nvGraphicFramePr>
        <p:xfrm>
          <a:off x="5508625" y="2852738"/>
          <a:ext cx="2663825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7" imgW="1400810" imgH="193040" progId="Equation.3">
                  <p:embed/>
                </p:oleObj>
              </mc:Choice>
              <mc:Fallback>
                <p:oleObj name="" r:id="rId7" imgW="1400810" imgH="193040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5508625" y="2852738"/>
                        <a:ext cx="2663825" cy="50958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28" name="Object 12"/>
          <p:cNvGraphicFramePr>
            <a:graphicFrameLocks noChangeAspect="1"/>
          </p:cNvGraphicFramePr>
          <p:nvPr/>
        </p:nvGraphicFramePr>
        <p:xfrm>
          <a:off x="4572000" y="3716338"/>
          <a:ext cx="273685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9" imgW="1157605" imgH="545465" progId="Equation.3">
                  <p:embed/>
                </p:oleObj>
              </mc:Choice>
              <mc:Fallback>
                <p:oleObj name="" r:id="rId9" imgW="1157605" imgH="545465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572000" y="3716338"/>
                        <a:ext cx="2736850" cy="10795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29" name="Object 13"/>
          <p:cNvGraphicFramePr>
            <a:graphicFrameLocks noChangeAspect="1"/>
          </p:cNvGraphicFramePr>
          <p:nvPr/>
        </p:nvGraphicFramePr>
        <p:xfrm>
          <a:off x="4572000" y="4868863"/>
          <a:ext cx="2736850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11" imgW="1358900" imgH="545465" progId="Equation.3">
                  <p:embed/>
                </p:oleObj>
              </mc:Choice>
              <mc:Fallback>
                <p:oleObj name="" r:id="rId11" imgW="1358900" imgH="545465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572000" y="4868863"/>
                        <a:ext cx="2736850" cy="11493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9634" name="Picture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48038" y="333375"/>
            <a:ext cx="4895850" cy="2333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8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9618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9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39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39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39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39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39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39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18" grpId="0" build="p"/>
      <p:bldP spid="2396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36546" name="Rectangle 2"/>
          <p:cNvSpPr>
            <a:spLocks noGrp="1"/>
          </p:cNvSpPr>
          <p:nvPr>
            <p:ph idx="1"/>
          </p:nvPr>
        </p:nvSpPr>
        <p:spPr>
          <a:xfrm>
            <a:off x="539750" y="692150"/>
            <a:ext cx="3095625" cy="935038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b="1" dirty="0"/>
              <a:t>(2) </a:t>
            </a:r>
            <a:r>
              <a:rPr lang="zh-CN" altLang="en-US" sz="2800" b="1" dirty="0"/>
              <a:t>测量气体流量</a:t>
            </a:r>
            <a:endParaRPr lang="zh-CN" altLang="en-US" sz="28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b="1" dirty="0"/>
              <a:t>   的汾丘里流量计</a:t>
            </a:r>
            <a:endParaRPr lang="zh-CN" altLang="en-US" sz="2800" b="1" dirty="0">
              <a:solidFill>
                <a:schemeClr val="accent2"/>
              </a:solidFill>
            </a:endParaRPr>
          </a:p>
        </p:txBody>
      </p:sp>
      <p:graphicFrame>
        <p:nvGraphicFramePr>
          <p:cNvPr id="236547" name="Object 3"/>
          <p:cNvGraphicFramePr>
            <a:graphicFrameLocks noChangeAspect="1"/>
          </p:cNvGraphicFramePr>
          <p:nvPr/>
        </p:nvGraphicFramePr>
        <p:xfrm>
          <a:off x="900113" y="2060575"/>
          <a:ext cx="4679950" cy="156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" imgW="1904365" imgH="746760" progId="Equation.3">
                  <p:embed/>
                </p:oleObj>
              </mc:Choice>
              <mc:Fallback>
                <p:oleObj name="" r:id="rId1" imgW="1904365" imgH="74676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00113" y="2060575"/>
                        <a:ext cx="4679950" cy="1565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548" name="Object 4"/>
          <p:cNvGraphicFramePr>
            <a:graphicFrameLocks noChangeAspect="1"/>
          </p:cNvGraphicFramePr>
          <p:nvPr/>
        </p:nvGraphicFramePr>
        <p:xfrm>
          <a:off x="971550" y="3644900"/>
          <a:ext cx="6913563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3" imgW="3414395" imgH="545465" progId="Equation.3">
                  <p:embed/>
                </p:oleObj>
              </mc:Choice>
              <mc:Fallback>
                <p:oleObj name="" r:id="rId3" imgW="3414395" imgH="545465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1550" y="3644900"/>
                        <a:ext cx="6913563" cy="1223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549" name="Object 5"/>
          <p:cNvGraphicFramePr>
            <a:graphicFrameLocks noChangeAspect="1"/>
          </p:cNvGraphicFramePr>
          <p:nvPr/>
        </p:nvGraphicFramePr>
        <p:xfrm>
          <a:off x="971550" y="4941888"/>
          <a:ext cx="6913563" cy="1258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5" imgW="3741420" imgH="545465" progId="Equation.3">
                  <p:embed/>
                </p:oleObj>
              </mc:Choice>
              <mc:Fallback>
                <p:oleObj name="" r:id="rId5" imgW="3741420" imgH="545465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1550" y="4941888"/>
                        <a:ext cx="6913563" cy="1258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6557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4300" y="404813"/>
            <a:ext cx="4640263" cy="21653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6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6546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6546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6">
                                            <p:txEl>
                                              <p:charRg st="11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6546">
                                            <p:txEl>
                                              <p:charRg st="11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6546">
                                            <p:txEl>
                                              <p:charRg st="11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36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36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36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4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33129" name="Rectangle 9"/>
          <p:cNvSpPr>
            <a:spLocks noGrp="1"/>
          </p:cNvSpPr>
          <p:nvPr>
            <p:ph idx="1"/>
          </p:nvPr>
        </p:nvSpPr>
        <p:spPr>
          <a:xfrm>
            <a:off x="250825" y="260350"/>
            <a:ext cx="8640763" cy="1152525"/>
          </a:xfrm>
        </p:spPr>
        <p:txBody>
          <a:bodyPr vert="horz" wrap="square" lIns="91440" tIns="45720" rIns="91440" bIns="45720" anchor="t" anchorCtr="0"/>
          <a:p>
            <a:pPr algn="ctr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A50021"/>
                </a:solidFill>
                <a:ea typeface="黑体" panose="02010609060101010101" pitchFamily="2" charset="-122"/>
              </a:rPr>
              <a:t>第</a:t>
            </a:r>
            <a:r>
              <a:rPr lang="en-US" altLang="zh-CN" b="1" dirty="0">
                <a:solidFill>
                  <a:srgbClr val="A50021"/>
                </a:solidFill>
                <a:ea typeface="黑体" panose="02010609060101010101" pitchFamily="2" charset="-122"/>
              </a:rPr>
              <a:t>2</a:t>
            </a:r>
            <a:r>
              <a:rPr lang="zh-CN" altLang="en-US" b="1" dirty="0">
                <a:solidFill>
                  <a:srgbClr val="A50021"/>
                </a:solidFill>
                <a:ea typeface="黑体" panose="02010609060101010101" pitchFamily="2" charset="-122"/>
              </a:rPr>
              <a:t>节 黏性流体的运动</a:t>
            </a:r>
            <a:endParaRPr lang="zh-CN" altLang="en-US" b="1" dirty="0">
              <a:solidFill>
                <a:srgbClr val="A50021"/>
              </a:solidFill>
              <a:ea typeface="黑体" panose="02010609060101010101" pitchFamily="2" charset="-122"/>
            </a:endParaRP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969696"/>
                </a:solidFill>
                <a:ea typeface="黑体" panose="02010609060101010101" pitchFamily="2" charset="-122"/>
              </a:rPr>
              <a:t>the motion </a:t>
            </a:r>
            <a:r>
              <a:rPr lang="en-US" altLang="zh-CN" b="1" dirty="0">
                <a:solidFill>
                  <a:srgbClr val="969696"/>
                </a:solidFill>
              </a:rPr>
              <a:t>of viscous fluid</a:t>
            </a:r>
            <a:endParaRPr lang="en-US" altLang="zh-CN" b="1" dirty="0">
              <a:solidFill>
                <a:srgbClr val="969696"/>
              </a:solidFill>
            </a:endParaRPr>
          </a:p>
        </p:txBody>
      </p:sp>
      <p:sp>
        <p:nvSpPr>
          <p:cNvPr id="133130" name="Rectangle 10"/>
          <p:cNvSpPr/>
          <p:nvPr/>
        </p:nvSpPr>
        <p:spPr>
          <a:xfrm>
            <a:off x="250825" y="1484313"/>
            <a:ext cx="8640763" cy="50323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90000"/>
              </a:lnSpc>
              <a:buNone/>
            </a:pPr>
            <a:r>
              <a:rPr lang="zh-CN" altLang="en-US" b="1" dirty="0">
                <a:solidFill>
                  <a:srgbClr val="333399"/>
                </a:solidFill>
                <a:ea typeface="黑体" panose="02010609060101010101" pitchFamily="2" charset="-122"/>
              </a:rPr>
              <a:t>一、牛顿黏滞定律</a:t>
            </a:r>
            <a:r>
              <a:rPr lang="en-US" altLang="zh-CN" b="1" dirty="0">
                <a:solidFill>
                  <a:srgbClr val="333399"/>
                </a:solidFill>
                <a:ea typeface="黑体" panose="02010609060101010101" pitchFamily="2" charset="-122"/>
              </a:rPr>
              <a:t>(Newton viscosity law)</a:t>
            </a:r>
            <a:endParaRPr lang="en-US" altLang="zh-CN" b="1" dirty="0">
              <a:solidFill>
                <a:srgbClr val="333399"/>
              </a:solidFill>
              <a:ea typeface="黑体" panose="02010609060101010101" pitchFamily="2" charset="-122"/>
            </a:endParaRPr>
          </a:p>
        </p:txBody>
      </p:sp>
      <p:sp>
        <p:nvSpPr>
          <p:cNvPr id="133133" name="Rectangle 13"/>
          <p:cNvSpPr/>
          <p:nvPr/>
        </p:nvSpPr>
        <p:spPr>
          <a:xfrm>
            <a:off x="250825" y="2105025"/>
            <a:ext cx="8640763" cy="5032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90000"/>
              </a:lnSpc>
              <a:buNone/>
            </a:pPr>
            <a:r>
              <a:rPr lang="en-US" altLang="zh-CN" sz="2800" b="1" dirty="0">
                <a:solidFill>
                  <a:srgbClr val="333399"/>
                </a:solidFill>
              </a:rPr>
              <a:t>1. </a:t>
            </a:r>
            <a:r>
              <a:rPr lang="zh-CN" altLang="en-US" sz="2800" b="1" dirty="0">
                <a:solidFill>
                  <a:srgbClr val="333399"/>
                </a:solidFill>
              </a:rPr>
              <a:t>实验</a:t>
            </a:r>
            <a:r>
              <a:rPr lang="en-US" altLang="zh-CN" sz="2800" b="1" dirty="0">
                <a:solidFill>
                  <a:srgbClr val="333399"/>
                </a:solidFill>
              </a:rPr>
              <a:t>:</a:t>
            </a:r>
            <a:r>
              <a:rPr lang="en-US" altLang="zh-CN" sz="2800" b="1" dirty="0">
                <a:solidFill>
                  <a:schemeClr val="accent2"/>
                </a:solidFill>
              </a:rPr>
              <a:t> </a:t>
            </a:r>
            <a:r>
              <a:rPr lang="zh-CN" altLang="en-US" sz="2800" b="1" dirty="0"/>
              <a:t>甘油在竖直圆管中的分层流动分析</a:t>
            </a:r>
            <a:endParaRPr lang="zh-CN" altLang="en-US" sz="2800" b="1" dirty="0"/>
          </a:p>
        </p:txBody>
      </p:sp>
      <p:pic>
        <p:nvPicPr>
          <p:cNvPr id="133134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1638" y="2708275"/>
            <a:ext cx="3109912" cy="3600450"/>
          </a:xfrm>
          <a:prstGeom prst="rect">
            <a:avLst/>
          </a:prstGeom>
          <a:noFill/>
          <a:ln w="38100">
            <a:noFill/>
          </a:ln>
        </p:spPr>
      </p:pic>
    </p:spTree>
    <p:controls/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9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3129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3129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9">
                                            <p:txEl>
                                              <p:charRg st="12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3129">
                                            <p:txEl>
                                              <p:charRg st="12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3129">
                                            <p:txEl>
                                              <p:charRg st="12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3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3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9" grpId="0" build="p"/>
      <p:bldP spid="133130" grpId="0"/>
      <p:bldP spid="13313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34146" name="Rectangle 2"/>
          <p:cNvSpPr>
            <a:spLocks noGrp="1"/>
          </p:cNvSpPr>
          <p:nvPr>
            <p:ph idx="1"/>
          </p:nvPr>
        </p:nvSpPr>
        <p:spPr>
          <a:xfrm>
            <a:off x="228600" y="228600"/>
            <a:ext cx="8382000" cy="609600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b="1" dirty="0">
                <a:solidFill>
                  <a:srgbClr val="333399"/>
                </a:solidFill>
              </a:rPr>
              <a:t>2. </a:t>
            </a:r>
            <a:r>
              <a:rPr lang="zh-CN" altLang="en-US" b="1" dirty="0">
                <a:solidFill>
                  <a:srgbClr val="333399"/>
                </a:solidFill>
              </a:rPr>
              <a:t>速度梯度</a:t>
            </a:r>
            <a:r>
              <a:rPr lang="en-US" altLang="zh-CN" b="1" dirty="0">
                <a:solidFill>
                  <a:srgbClr val="333399"/>
                </a:solidFill>
              </a:rPr>
              <a:t>(velocity gradient) :</a:t>
            </a:r>
            <a:endParaRPr lang="en-US" altLang="zh-CN" b="1" dirty="0">
              <a:solidFill>
                <a:srgbClr val="333399"/>
              </a:solidFill>
            </a:endParaRPr>
          </a:p>
        </p:txBody>
      </p:sp>
      <p:grpSp>
        <p:nvGrpSpPr>
          <p:cNvPr id="134147" name="Group 3"/>
          <p:cNvGrpSpPr/>
          <p:nvPr/>
        </p:nvGrpSpPr>
        <p:grpSpPr>
          <a:xfrm>
            <a:off x="1524000" y="1066800"/>
            <a:ext cx="5502275" cy="3454400"/>
            <a:chOff x="528" y="624"/>
            <a:chExt cx="3466" cy="2176"/>
          </a:xfrm>
        </p:grpSpPr>
        <p:sp>
          <p:nvSpPr>
            <p:cNvPr id="21510" name="Text Box 4"/>
            <p:cNvSpPr txBox="1"/>
            <p:nvPr/>
          </p:nvSpPr>
          <p:spPr>
            <a:xfrm>
              <a:off x="528" y="672"/>
              <a:ext cx="3466" cy="212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en-US" altLang="zh-CN" sz="2400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endParaRPr lang="en-US" altLang="zh-CN" sz="2400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endParaRPr lang="en-US" altLang="zh-CN" sz="2400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endParaRPr lang="en-US" altLang="zh-CN" sz="2400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endParaRPr lang="en-US" altLang="zh-CN" sz="2400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endParaRPr lang="en-US" altLang="zh-CN" sz="2400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endParaRPr lang="en-US" altLang="zh-CN" sz="2400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endParaRPr lang="en-US" altLang="zh-CN" sz="2400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endParaRPr lang="en-US" altLang="zh-CN" sz="2400" dirty="0"/>
            </a:p>
          </p:txBody>
        </p:sp>
        <p:sp>
          <p:nvSpPr>
            <p:cNvPr id="21511" name="Line 5"/>
            <p:cNvSpPr/>
            <p:nvPr/>
          </p:nvSpPr>
          <p:spPr>
            <a:xfrm>
              <a:off x="816" y="960"/>
              <a:ext cx="2544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triangle" w="sm" len="lg"/>
            </a:ln>
          </p:spPr>
        </p:sp>
        <p:sp>
          <p:nvSpPr>
            <p:cNvPr id="21512" name="Line 6"/>
            <p:cNvSpPr/>
            <p:nvPr/>
          </p:nvSpPr>
          <p:spPr>
            <a:xfrm>
              <a:off x="816" y="960"/>
              <a:ext cx="0" cy="1824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triangle" w="sm" len="lg"/>
            </a:ln>
          </p:spPr>
        </p:sp>
        <p:sp>
          <p:nvSpPr>
            <p:cNvPr id="21513" name="Line 7"/>
            <p:cNvSpPr/>
            <p:nvPr/>
          </p:nvSpPr>
          <p:spPr>
            <a:xfrm>
              <a:off x="1920" y="960"/>
              <a:ext cx="0" cy="1584"/>
            </a:xfrm>
            <a:prstGeom prst="line">
              <a:avLst/>
            </a:prstGeom>
            <a:ln w="38100" cap="sq" cmpd="sng">
              <a:solidFill>
                <a:schemeClr val="hlink"/>
              </a:solidFill>
              <a:prstDash val="solid"/>
              <a:headEnd type="none" w="sm" len="sm"/>
              <a:tailEnd type="triangle" w="sm" len="lg"/>
            </a:ln>
          </p:spPr>
        </p:sp>
        <p:sp>
          <p:nvSpPr>
            <p:cNvPr id="21514" name="Line 8"/>
            <p:cNvSpPr/>
            <p:nvPr/>
          </p:nvSpPr>
          <p:spPr>
            <a:xfrm>
              <a:off x="1584" y="960"/>
              <a:ext cx="0" cy="1152"/>
            </a:xfrm>
            <a:prstGeom prst="line">
              <a:avLst/>
            </a:prstGeom>
            <a:ln w="38100" cap="sq" cmpd="sng">
              <a:solidFill>
                <a:schemeClr val="hlink"/>
              </a:solidFill>
              <a:prstDash val="solid"/>
              <a:headEnd type="none" w="sm" len="sm"/>
              <a:tailEnd type="triangle" w="sm" len="lg"/>
            </a:ln>
          </p:spPr>
        </p:sp>
        <p:sp>
          <p:nvSpPr>
            <p:cNvPr id="21515" name="Line 9"/>
            <p:cNvSpPr/>
            <p:nvPr/>
          </p:nvSpPr>
          <p:spPr>
            <a:xfrm>
              <a:off x="1296" y="960"/>
              <a:ext cx="0" cy="768"/>
            </a:xfrm>
            <a:prstGeom prst="line">
              <a:avLst/>
            </a:prstGeom>
            <a:ln w="38100" cap="sq" cmpd="sng">
              <a:solidFill>
                <a:schemeClr val="hlink"/>
              </a:solidFill>
              <a:prstDash val="solid"/>
              <a:headEnd type="none" w="sm" len="sm"/>
              <a:tailEnd type="triangle" w="sm" len="lg"/>
            </a:ln>
          </p:spPr>
        </p:sp>
        <p:sp>
          <p:nvSpPr>
            <p:cNvPr id="21516" name="Line 10"/>
            <p:cNvSpPr/>
            <p:nvPr/>
          </p:nvSpPr>
          <p:spPr>
            <a:xfrm>
              <a:off x="1056" y="960"/>
              <a:ext cx="0" cy="432"/>
            </a:xfrm>
            <a:prstGeom prst="line">
              <a:avLst/>
            </a:prstGeom>
            <a:ln w="38100" cap="sq" cmpd="sng">
              <a:solidFill>
                <a:schemeClr val="hlink"/>
              </a:solidFill>
              <a:prstDash val="solid"/>
              <a:headEnd type="none" w="sm" len="sm"/>
              <a:tailEnd type="triangle" w="sm" len="lg"/>
            </a:ln>
          </p:spPr>
        </p:sp>
        <p:sp>
          <p:nvSpPr>
            <p:cNvPr id="21517" name="Line 11"/>
            <p:cNvSpPr/>
            <p:nvPr/>
          </p:nvSpPr>
          <p:spPr>
            <a:xfrm>
              <a:off x="2208" y="960"/>
              <a:ext cx="0" cy="1200"/>
            </a:xfrm>
            <a:prstGeom prst="line">
              <a:avLst/>
            </a:prstGeom>
            <a:ln w="38100" cap="sq" cmpd="sng">
              <a:solidFill>
                <a:schemeClr val="hlink"/>
              </a:solidFill>
              <a:prstDash val="solid"/>
              <a:headEnd type="none" w="sm" len="sm"/>
              <a:tailEnd type="triangle" w="sm" len="lg"/>
            </a:ln>
          </p:spPr>
        </p:sp>
        <p:sp>
          <p:nvSpPr>
            <p:cNvPr id="21518" name="Line 12"/>
            <p:cNvSpPr/>
            <p:nvPr/>
          </p:nvSpPr>
          <p:spPr>
            <a:xfrm>
              <a:off x="2496" y="960"/>
              <a:ext cx="0" cy="768"/>
            </a:xfrm>
            <a:prstGeom prst="line">
              <a:avLst/>
            </a:prstGeom>
            <a:ln w="38100" cap="sq" cmpd="sng">
              <a:solidFill>
                <a:schemeClr val="hlink"/>
              </a:solidFill>
              <a:prstDash val="solid"/>
              <a:headEnd type="none" w="sm" len="sm"/>
              <a:tailEnd type="triangle" w="sm" len="lg"/>
            </a:ln>
          </p:spPr>
        </p:sp>
        <p:sp>
          <p:nvSpPr>
            <p:cNvPr id="21519" name="Line 13"/>
            <p:cNvSpPr/>
            <p:nvPr/>
          </p:nvSpPr>
          <p:spPr>
            <a:xfrm>
              <a:off x="2784" y="960"/>
              <a:ext cx="0" cy="480"/>
            </a:xfrm>
            <a:prstGeom prst="line">
              <a:avLst/>
            </a:prstGeom>
            <a:ln w="38100" cap="sq" cmpd="sng">
              <a:solidFill>
                <a:schemeClr val="hlink"/>
              </a:solidFill>
              <a:prstDash val="solid"/>
              <a:headEnd type="none" w="sm" len="sm"/>
              <a:tailEnd type="triangle" w="sm" len="lg"/>
            </a:ln>
          </p:spPr>
        </p:sp>
        <p:sp>
          <p:nvSpPr>
            <p:cNvPr id="21520" name="Text Box 14"/>
            <p:cNvSpPr txBox="1"/>
            <p:nvPr/>
          </p:nvSpPr>
          <p:spPr>
            <a:xfrm>
              <a:off x="1152" y="624"/>
              <a:ext cx="244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b="1" i="1" dirty="0"/>
                <a:t>x</a:t>
              </a:r>
              <a:endParaRPr lang="en-US" altLang="zh-CN" b="1" i="1" dirty="0"/>
            </a:p>
          </p:txBody>
        </p:sp>
        <p:sp>
          <p:nvSpPr>
            <p:cNvPr id="21521" name="Text Box 15"/>
            <p:cNvSpPr txBox="1"/>
            <p:nvPr/>
          </p:nvSpPr>
          <p:spPr>
            <a:xfrm>
              <a:off x="1392" y="624"/>
              <a:ext cx="720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b="1" i="1" dirty="0"/>
                <a:t>x+</a:t>
              </a:r>
              <a:r>
                <a:rPr lang="en-US" altLang="zh-CN" b="1" dirty="0"/>
                <a:t>d</a:t>
              </a:r>
              <a:r>
                <a:rPr lang="en-US" altLang="zh-CN" b="1" i="1" dirty="0"/>
                <a:t>x</a:t>
              </a:r>
              <a:endParaRPr lang="en-US" altLang="zh-CN" b="1" i="1" dirty="0"/>
            </a:p>
          </p:txBody>
        </p:sp>
        <p:sp>
          <p:nvSpPr>
            <p:cNvPr id="21522" name="Text Box 16"/>
            <p:cNvSpPr txBox="1"/>
            <p:nvPr/>
          </p:nvSpPr>
          <p:spPr>
            <a:xfrm>
              <a:off x="1152" y="1688"/>
              <a:ext cx="258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b="1" i="1" dirty="0">
                  <a:latin typeface="Book Antiqua" panose="02040602050305030304" pitchFamily="18" charset="0"/>
                </a:rPr>
                <a:t>v</a:t>
              </a:r>
              <a:endParaRPr lang="en-US" altLang="zh-CN" b="1" i="1" dirty="0">
                <a:latin typeface="Book Antiqua" panose="02040602050305030304" pitchFamily="18" charset="0"/>
              </a:endParaRPr>
            </a:p>
          </p:txBody>
        </p:sp>
        <p:sp>
          <p:nvSpPr>
            <p:cNvPr id="21523" name="Text Box 17"/>
            <p:cNvSpPr txBox="1"/>
            <p:nvPr/>
          </p:nvSpPr>
          <p:spPr>
            <a:xfrm>
              <a:off x="1248" y="2016"/>
              <a:ext cx="960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b="1" i="1" dirty="0">
                  <a:latin typeface="Book Antiqua" panose="02040602050305030304" pitchFamily="18" charset="0"/>
                </a:rPr>
                <a:t>v</a:t>
              </a:r>
              <a:r>
                <a:rPr lang="en-US" altLang="zh-CN" i="1" dirty="0">
                  <a:latin typeface="Bookman Old Style" panose="02050604050505020204" pitchFamily="18" charset="0"/>
                </a:rPr>
                <a:t>+</a:t>
              </a:r>
              <a:r>
                <a:rPr lang="en-US" altLang="zh-CN" dirty="0"/>
                <a:t>d</a:t>
              </a:r>
              <a:r>
                <a:rPr lang="en-US" altLang="zh-CN" b="1" i="1" dirty="0">
                  <a:latin typeface="Book Antiqua" panose="02040602050305030304" pitchFamily="18" charset="0"/>
                </a:rPr>
                <a:t>v</a:t>
              </a:r>
              <a:endParaRPr lang="en-US" altLang="zh-CN" b="1" i="1" dirty="0">
                <a:latin typeface="Book Antiqua" panose="02040602050305030304" pitchFamily="18" charset="0"/>
              </a:endParaRPr>
            </a:p>
          </p:txBody>
        </p:sp>
        <p:sp>
          <p:nvSpPr>
            <p:cNvPr id="21524" name="Text Box 18"/>
            <p:cNvSpPr txBox="1"/>
            <p:nvPr/>
          </p:nvSpPr>
          <p:spPr>
            <a:xfrm>
              <a:off x="3360" y="768"/>
              <a:ext cx="244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b="1" i="1" dirty="0"/>
                <a:t>x</a:t>
              </a:r>
              <a:endParaRPr lang="en-US" altLang="zh-CN" b="1" i="1" dirty="0"/>
            </a:p>
          </p:txBody>
        </p:sp>
        <p:sp>
          <p:nvSpPr>
            <p:cNvPr id="21525" name="Text Box 19"/>
            <p:cNvSpPr txBox="1"/>
            <p:nvPr/>
          </p:nvSpPr>
          <p:spPr>
            <a:xfrm>
              <a:off x="864" y="2400"/>
              <a:ext cx="244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b="1" i="1" dirty="0">
                  <a:latin typeface="Book Antiqua" panose="02040602050305030304" pitchFamily="18" charset="0"/>
                </a:rPr>
                <a:t>v</a:t>
              </a:r>
              <a:endParaRPr lang="en-US" altLang="zh-CN" b="1" i="1" dirty="0">
                <a:latin typeface="Book Antiqua" panose="02040602050305030304" pitchFamily="18" charset="0"/>
              </a:endParaRPr>
            </a:p>
          </p:txBody>
        </p:sp>
      </p:grpSp>
      <p:sp>
        <p:nvSpPr>
          <p:cNvPr id="134164" name="Rectangle 20"/>
          <p:cNvSpPr/>
          <p:nvPr/>
        </p:nvSpPr>
        <p:spPr>
          <a:xfrm>
            <a:off x="468313" y="4797425"/>
            <a:ext cx="8154987" cy="15843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333399"/>
                </a:solidFill>
              </a:rPr>
              <a:t>d</a:t>
            </a:r>
            <a:r>
              <a:rPr lang="en-US" altLang="zh-CN" sz="2800" b="1" i="1" dirty="0">
                <a:solidFill>
                  <a:srgbClr val="333399"/>
                </a:solidFill>
                <a:latin typeface="Book Antiqua" panose="02040602050305030304" pitchFamily="18" charset="0"/>
              </a:rPr>
              <a:t>v</a:t>
            </a:r>
            <a:r>
              <a:rPr lang="en-US" altLang="zh-CN" sz="2800" b="1" dirty="0">
                <a:solidFill>
                  <a:srgbClr val="333399"/>
                </a:solidFill>
              </a:rPr>
              <a:t>/d</a:t>
            </a:r>
            <a:r>
              <a:rPr lang="en-US" altLang="zh-CN" sz="2800" b="1" i="1" dirty="0">
                <a:solidFill>
                  <a:srgbClr val="333399"/>
                </a:solidFill>
              </a:rPr>
              <a:t>x</a:t>
            </a:r>
            <a:r>
              <a:rPr lang="en-US" altLang="zh-CN" sz="2800" b="1" i="1" dirty="0">
                <a:solidFill>
                  <a:schemeClr val="accent2"/>
                </a:solidFill>
              </a:rPr>
              <a:t> </a:t>
            </a:r>
            <a:r>
              <a:rPr lang="zh-CN" altLang="en-US" sz="2800" b="1" dirty="0"/>
              <a:t>表示垂直速度方向相距单位距离的液层间的速度差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叫做该处的速度梯度</a:t>
            </a:r>
            <a:r>
              <a:rPr lang="en-US" altLang="zh-CN" sz="2800" b="1" dirty="0"/>
              <a:t>.</a:t>
            </a:r>
            <a:endParaRPr lang="en-US" altLang="zh-CN" sz="2800" b="1" dirty="0"/>
          </a:p>
          <a:p>
            <a:pPr marL="342900" lvl="0" indent="-342900"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333399"/>
                </a:solidFill>
              </a:rPr>
              <a:t>单位</a:t>
            </a:r>
            <a:r>
              <a:rPr lang="en-US" altLang="zh-CN" sz="2800" b="1" dirty="0">
                <a:solidFill>
                  <a:srgbClr val="333399"/>
                </a:solidFill>
              </a:rPr>
              <a:t>: s</a:t>
            </a:r>
            <a:r>
              <a:rPr lang="en-US" altLang="zh-CN" sz="2800" b="1" baseline="30000" dirty="0">
                <a:solidFill>
                  <a:srgbClr val="333399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rgbClr val="333399"/>
                </a:solidFill>
              </a:rPr>
              <a:t>1</a:t>
            </a:r>
            <a:endParaRPr lang="en-US" altLang="zh-CN" sz="2800" b="1" baseline="30000" dirty="0">
              <a:solidFill>
                <a:srgbClr val="333399"/>
              </a:solidFill>
            </a:endParaRP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6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4146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4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6" grpId="0" advAuto="1000" build="p"/>
      <p:bldP spid="13416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35170" name="Rectangle 2"/>
          <p:cNvSpPr>
            <a:spLocks noGrp="1"/>
          </p:cNvSpPr>
          <p:nvPr>
            <p:ph idx="1"/>
          </p:nvPr>
        </p:nvSpPr>
        <p:spPr>
          <a:xfrm>
            <a:off x="228600" y="228600"/>
            <a:ext cx="8447088" cy="1616075"/>
          </a:xfrm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10000"/>
              </a:spcBef>
              <a:buNone/>
            </a:pPr>
            <a:r>
              <a:rPr lang="en-US" altLang="zh-CN" sz="2800" b="1" dirty="0">
                <a:solidFill>
                  <a:srgbClr val="333399"/>
                </a:solidFill>
              </a:rPr>
              <a:t>3. </a:t>
            </a:r>
            <a:r>
              <a:rPr lang="zh-CN" altLang="en-US" sz="2800" b="1" dirty="0">
                <a:solidFill>
                  <a:srgbClr val="333399"/>
                </a:solidFill>
              </a:rPr>
              <a:t>牛顿黏滞定律</a:t>
            </a:r>
            <a:r>
              <a:rPr lang="en-US" altLang="zh-CN" sz="2800" b="1" dirty="0">
                <a:solidFill>
                  <a:srgbClr val="333399"/>
                </a:solidFill>
              </a:rPr>
              <a:t>(Newton viscosity law):</a:t>
            </a:r>
            <a:r>
              <a:rPr lang="en-US" altLang="zh-CN" sz="2800" b="1" dirty="0">
                <a:solidFill>
                  <a:schemeClr val="folHlink"/>
                </a:solidFill>
              </a:rPr>
              <a:t> </a:t>
            </a:r>
            <a:r>
              <a:rPr lang="zh-CN" altLang="en-US" sz="2800" b="1" dirty="0"/>
              <a:t>黏性力 </a:t>
            </a:r>
            <a:r>
              <a:rPr lang="en-US" altLang="zh-CN" sz="2800" b="1" i="1" dirty="0">
                <a:solidFill>
                  <a:schemeClr val="accent2"/>
                </a:solidFill>
              </a:rPr>
              <a:t>F </a:t>
            </a:r>
            <a:r>
              <a:rPr lang="zh-CN" altLang="en-US" sz="2800" b="1" dirty="0"/>
              <a:t>的大小与其分布的面积 </a:t>
            </a:r>
            <a:r>
              <a:rPr lang="en-US" altLang="zh-CN" sz="2800" b="1" i="1" dirty="0">
                <a:solidFill>
                  <a:schemeClr val="accent2"/>
                </a:solidFill>
              </a:rPr>
              <a:t>S </a:t>
            </a:r>
            <a:r>
              <a:rPr lang="zh-CN" altLang="en-US" sz="2800" b="1" dirty="0"/>
              <a:t>成正比</a:t>
            </a:r>
            <a:r>
              <a:rPr lang="zh-CN" altLang="en-US" b="1" dirty="0"/>
              <a:t>，</a:t>
            </a:r>
            <a:r>
              <a:rPr lang="zh-CN" altLang="en-US" sz="2800" b="1" dirty="0"/>
              <a:t>与该处的速度梯度成正比，即</a:t>
            </a:r>
            <a:r>
              <a:rPr lang="en-US" altLang="zh-CN" sz="2800" b="1" dirty="0"/>
              <a:t>: </a:t>
            </a:r>
            <a:endParaRPr lang="en-US" altLang="zh-CN" sz="2800" b="1" dirty="0"/>
          </a:p>
        </p:txBody>
      </p:sp>
      <p:graphicFrame>
        <p:nvGraphicFramePr>
          <p:cNvPr id="135171" name="Object 3"/>
          <p:cNvGraphicFramePr>
            <a:graphicFrameLocks noChangeAspect="1"/>
          </p:cNvGraphicFramePr>
          <p:nvPr/>
        </p:nvGraphicFramePr>
        <p:xfrm>
          <a:off x="2555875" y="1484630"/>
          <a:ext cx="2998470" cy="1055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" imgW="897890" imgH="444500" progId="Equation.3">
                  <p:embed/>
                </p:oleObj>
              </mc:Choice>
              <mc:Fallback>
                <p:oleObj name="" r:id="rId1" imgW="897890" imgH="4445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55875" y="1484630"/>
                        <a:ext cx="2998470" cy="10553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172" name="Rectangle 4"/>
          <p:cNvSpPr/>
          <p:nvPr/>
        </p:nvSpPr>
        <p:spPr>
          <a:xfrm>
            <a:off x="250825" y="2636838"/>
            <a:ext cx="8686800" cy="2286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10000"/>
              </a:spcBef>
              <a:buNone/>
            </a:pPr>
            <a:r>
              <a:rPr lang="en-US" altLang="zh-CN" sz="2800" b="1" dirty="0"/>
              <a:t>(1) </a:t>
            </a:r>
            <a:r>
              <a:rPr lang="en-US" altLang="zh-CN" sz="2800" b="1" i="1" dirty="0">
                <a:solidFill>
                  <a:schemeClr val="accent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 </a:t>
            </a:r>
            <a:r>
              <a:rPr lang="zh-CN" altLang="en-US" sz="2800" b="1" dirty="0"/>
              <a:t>称作黏度系数</a:t>
            </a:r>
            <a:r>
              <a:rPr lang="en-US" altLang="zh-CN" sz="2800" b="1" dirty="0">
                <a:solidFill>
                  <a:srgbClr val="333399"/>
                </a:solidFill>
              </a:rPr>
              <a:t>(coefficient of viscosity)</a:t>
            </a:r>
            <a:r>
              <a:rPr lang="zh-CN" altLang="en-US" sz="2800" b="1" dirty="0"/>
              <a:t>或黏度</a:t>
            </a:r>
            <a:r>
              <a:rPr lang="zh-CN" altLang="en-US" sz="2800" b="1" dirty="0">
                <a:solidFill>
                  <a:schemeClr val="folHlink"/>
                </a:solidFill>
              </a:rPr>
              <a:t> </a:t>
            </a:r>
            <a:endParaRPr lang="zh-CN" altLang="en-US" sz="2800" b="1" dirty="0">
              <a:solidFill>
                <a:schemeClr val="folHlink"/>
              </a:solidFill>
            </a:endParaRPr>
          </a:p>
          <a:p>
            <a:pPr marL="342900" lvl="0" indent="-342900" eaLnBrk="1" hangingPunct="1">
              <a:spcBef>
                <a:spcPct val="10000"/>
              </a:spcBef>
              <a:buNone/>
            </a:pPr>
            <a:r>
              <a:rPr lang="zh-CN" altLang="en-US" sz="2800" b="1" dirty="0">
                <a:solidFill>
                  <a:schemeClr val="accent2"/>
                </a:solidFill>
              </a:rPr>
              <a:t>     </a:t>
            </a:r>
            <a:r>
              <a:rPr lang="zh-CN" altLang="en-US" sz="2800" b="1" dirty="0">
                <a:solidFill>
                  <a:srgbClr val="333399"/>
                </a:solidFill>
              </a:rPr>
              <a:t>单位</a:t>
            </a:r>
            <a:r>
              <a:rPr lang="en-US" altLang="zh-CN" sz="2800" b="1" dirty="0">
                <a:solidFill>
                  <a:srgbClr val="333399"/>
                </a:solidFill>
              </a:rPr>
              <a:t>: Pa </a:t>
            </a:r>
            <a:r>
              <a:rPr lang="en-US" altLang="zh-CN" sz="2800" b="1" dirty="0">
                <a:solidFill>
                  <a:srgbClr val="333399"/>
                </a:solidFill>
                <a:cs typeface="Times New Roman" panose="02020603050405020304" pitchFamily="18" charset="0"/>
              </a:rPr>
              <a:t>·</a:t>
            </a:r>
            <a:r>
              <a:rPr lang="en-US" altLang="zh-CN" sz="2800" b="1" dirty="0">
                <a:solidFill>
                  <a:srgbClr val="333399"/>
                </a:solidFill>
              </a:rPr>
              <a:t> s</a:t>
            </a:r>
            <a:endParaRPr lang="en-US" altLang="zh-CN" sz="2800" b="1" dirty="0">
              <a:solidFill>
                <a:srgbClr val="333399"/>
              </a:solidFill>
            </a:endParaRPr>
          </a:p>
          <a:p>
            <a:pPr marL="342900" lvl="0" indent="-342900" eaLnBrk="1" hangingPunct="1">
              <a:spcBef>
                <a:spcPct val="10000"/>
              </a:spcBef>
              <a:buNone/>
            </a:pPr>
            <a:r>
              <a:rPr lang="en-US" altLang="zh-CN" sz="2800" b="1" dirty="0"/>
              <a:t>(2) </a:t>
            </a:r>
            <a:r>
              <a:rPr lang="en-US" altLang="zh-CN" sz="2800" b="1" i="1" dirty="0">
                <a:solidFill>
                  <a:srgbClr val="333399"/>
                </a:solidFill>
                <a:sym typeface="Symbol" panose="05050102010706020507" pitchFamily="18" charset="2"/>
              </a:rPr>
              <a:t></a:t>
            </a:r>
            <a:r>
              <a:rPr lang="en-US" altLang="zh-CN" sz="2800" b="1" i="1" dirty="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zh-CN" altLang="en-US" sz="2800" b="1" dirty="0"/>
              <a:t>与流体种类有关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不同的物质有不同的黏度</a:t>
            </a:r>
            <a:endParaRPr lang="zh-CN" altLang="en-US" sz="2800" b="1" dirty="0"/>
          </a:p>
          <a:p>
            <a:pPr marL="342900" lvl="0" indent="-342900" eaLnBrk="1" hangingPunct="1">
              <a:spcBef>
                <a:spcPct val="10000"/>
              </a:spcBef>
              <a:buNone/>
            </a:pPr>
            <a:r>
              <a:rPr lang="zh-CN" altLang="en-US" sz="2800" b="1" dirty="0"/>
              <a:t>      </a:t>
            </a:r>
            <a:r>
              <a:rPr lang="en-US" altLang="zh-CN" sz="2800" b="1" dirty="0">
                <a:solidFill>
                  <a:srgbClr val="333399"/>
                </a:solidFill>
              </a:rPr>
              <a:t>See: P</a:t>
            </a:r>
            <a:r>
              <a:rPr lang="en-US" altLang="zh-CN" sz="2800" b="1" baseline="-25000" dirty="0">
                <a:solidFill>
                  <a:srgbClr val="333399"/>
                </a:solidFill>
              </a:rPr>
              <a:t>98  </a:t>
            </a:r>
            <a:r>
              <a:rPr lang="en-US" altLang="zh-CN" sz="2800" b="1" dirty="0">
                <a:solidFill>
                  <a:srgbClr val="333399"/>
                </a:solidFill>
                <a:hlinkClick r:id="rId3" action="ppaction://hlinksldjump"/>
              </a:rPr>
              <a:t>table 4-2-1</a:t>
            </a:r>
            <a:endParaRPr lang="en-US" altLang="zh-CN" sz="2800" b="1" dirty="0">
              <a:solidFill>
                <a:srgbClr val="333399"/>
              </a:solidFill>
            </a:endParaRPr>
          </a:p>
        </p:txBody>
      </p:sp>
      <p:sp>
        <p:nvSpPr>
          <p:cNvPr id="135173" name="Text Box 5"/>
          <p:cNvSpPr txBox="1"/>
          <p:nvPr/>
        </p:nvSpPr>
        <p:spPr>
          <a:xfrm>
            <a:off x="250825" y="5013325"/>
            <a:ext cx="3114675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(3) </a:t>
            </a:r>
            <a:r>
              <a:rPr lang="en-US" altLang="zh-CN" sz="2800" b="1" i="1" dirty="0">
                <a:solidFill>
                  <a:schemeClr val="accent2"/>
                </a:solidFill>
                <a:sym typeface="Symbol" panose="05050102010706020507" pitchFamily="18" charset="2"/>
              </a:rPr>
              <a:t> </a:t>
            </a:r>
            <a:r>
              <a:rPr lang="zh-CN" altLang="en-US" sz="2800" b="1" dirty="0"/>
              <a:t>与温度有关</a:t>
            </a:r>
            <a:endParaRPr lang="zh-CN" altLang="en-US" sz="2800" b="1" dirty="0"/>
          </a:p>
        </p:txBody>
      </p:sp>
      <p:sp>
        <p:nvSpPr>
          <p:cNvPr id="135174" name="AutoShape 6"/>
          <p:cNvSpPr/>
          <p:nvPr/>
        </p:nvSpPr>
        <p:spPr>
          <a:xfrm>
            <a:off x="3203575" y="4868863"/>
            <a:ext cx="233363" cy="914400"/>
          </a:xfrm>
          <a:prstGeom prst="leftBrace">
            <a:avLst>
              <a:gd name="adj1" fmla="val 32652"/>
              <a:gd name="adj2" fmla="val 50000"/>
            </a:avLst>
          </a:prstGeom>
          <a:noFill/>
          <a:ln w="5080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135175" name="Text Box 7"/>
          <p:cNvSpPr txBox="1"/>
          <p:nvPr/>
        </p:nvSpPr>
        <p:spPr>
          <a:xfrm>
            <a:off x="3492500" y="4630738"/>
            <a:ext cx="2489200" cy="519112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液体</a:t>
            </a:r>
            <a:r>
              <a:rPr lang="en-US" altLang="zh-CN" sz="2800" b="1" dirty="0">
                <a:solidFill>
                  <a:srgbClr val="333399"/>
                </a:solidFill>
              </a:rPr>
              <a:t>: </a:t>
            </a:r>
            <a:r>
              <a:rPr lang="en-US" altLang="zh-CN" sz="2800" b="1" i="1" dirty="0">
                <a:solidFill>
                  <a:srgbClr val="333399"/>
                </a:solidFill>
              </a:rPr>
              <a:t>t</a:t>
            </a:r>
            <a:r>
              <a:rPr lang="en-US" altLang="zh-CN" sz="2800" b="1" dirty="0">
                <a:solidFill>
                  <a:srgbClr val="333399"/>
                </a:solidFill>
              </a:rPr>
              <a:t> </a:t>
            </a:r>
            <a:r>
              <a:rPr lang="en-US" altLang="zh-CN" sz="2800" b="1" dirty="0">
                <a:solidFill>
                  <a:srgbClr val="333399"/>
                </a:solidFill>
                <a:cs typeface="Times New Roman" panose="02020603050405020304" pitchFamily="18" charset="0"/>
              </a:rPr>
              <a:t>↑</a:t>
            </a:r>
            <a:r>
              <a:rPr lang="en-US" altLang="zh-CN" sz="2800" b="1" dirty="0">
                <a:solidFill>
                  <a:srgbClr val="333399"/>
                </a:solidFill>
              </a:rPr>
              <a:t>, </a:t>
            </a:r>
            <a:r>
              <a:rPr lang="en-US" altLang="zh-CN" sz="2800" b="1" i="1" dirty="0">
                <a:solidFill>
                  <a:srgbClr val="333399"/>
                </a:solidFill>
                <a:sym typeface="Symbol" panose="05050102010706020507" pitchFamily="18" charset="2"/>
              </a:rPr>
              <a:t></a:t>
            </a:r>
            <a:r>
              <a:rPr lang="en-US" altLang="zh-CN" sz="2800" b="1" i="1" dirty="0">
                <a:solidFill>
                  <a:srgbClr val="333399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333399"/>
                </a:solidFill>
              </a:rPr>
              <a:t>↓</a:t>
            </a:r>
            <a:endParaRPr lang="en-US" altLang="zh-CN" sz="2800" b="1" dirty="0">
              <a:solidFill>
                <a:srgbClr val="333399"/>
              </a:solidFill>
            </a:endParaRPr>
          </a:p>
        </p:txBody>
      </p:sp>
      <p:sp>
        <p:nvSpPr>
          <p:cNvPr id="135176" name="Text Box 8"/>
          <p:cNvSpPr txBox="1"/>
          <p:nvPr/>
        </p:nvSpPr>
        <p:spPr>
          <a:xfrm>
            <a:off x="3492500" y="5445125"/>
            <a:ext cx="2578100" cy="5191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气体</a:t>
            </a:r>
            <a:r>
              <a:rPr lang="en-US" altLang="zh-CN" sz="2800" b="1" dirty="0">
                <a:solidFill>
                  <a:srgbClr val="333399"/>
                </a:solidFill>
              </a:rPr>
              <a:t>:  </a:t>
            </a:r>
            <a:r>
              <a:rPr lang="en-US" altLang="zh-CN" sz="2800" b="1" i="1" dirty="0">
                <a:solidFill>
                  <a:srgbClr val="333399"/>
                </a:solidFill>
              </a:rPr>
              <a:t>t</a:t>
            </a:r>
            <a:r>
              <a:rPr lang="en-US" altLang="zh-CN" sz="2800" b="1" dirty="0">
                <a:solidFill>
                  <a:srgbClr val="333399"/>
                </a:solidFill>
              </a:rPr>
              <a:t> </a:t>
            </a:r>
            <a:r>
              <a:rPr lang="en-US" altLang="zh-CN" sz="2800" b="1" dirty="0">
                <a:solidFill>
                  <a:srgbClr val="333399"/>
                </a:solidFill>
                <a:cs typeface="Times New Roman" panose="02020603050405020304" pitchFamily="18" charset="0"/>
              </a:rPr>
              <a:t>↑</a:t>
            </a:r>
            <a:r>
              <a:rPr lang="en-US" altLang="zh-CN" sz="2800" b="1" dirty="0">
                <a:solidFill>
                  <a:srgbClr val="333399"/>
                </a:solidFill>
              </a:rPr>
              <a:t>, </a:t>
            </a:r>
            <a:r>
              <a:rPr lang="en-US" altLang="zh-CN" sz="2800" b="1" i="1" dirty="0">
                <a:solidFill>
                  <a:srgbClr val="333399"/>
                </a:solidFill>
                <a:sym typeface="Symbol" panose="05050102010706020507" pitchFamily="18" charset="2"/>
              </a:rPr>
              <a:t></a:t>
            </a:r>
            <a:r>
              <a:rPr lang="en-US" altLang="zh-CN" sz="2800" b="1" i="1" dirty="0">
                <a:solidFill>
                  <a:srgbClr val="333399"/>
                </a:solidFill>
              </a:rPr>
              <a:t> </a:t>
            </a:r>
            <a:r>
              <a:rPr lang="en-US" altLang="zh-CN" sz="2800" b="1" dirty="0">
                <a:solidFill>
                  <a:srgbClr val="333399"/>
                </a:solidFill>
                <a:cs typeface="Times New Roman" panose="02020603050405020304" pitchFamily="18" charset="0"/>
              </a:rPr>
              <a:t>↑</a:t>
            </a:r>
            <a:endParaRPr lang="en-US" altLang="zh-CN" sz="2800" b="1" dirty="0">
              <a:solidFill>
                <a:srgbClr val="333399"/>
              </a:solidFill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0">
                                            <p:txEl>
                                              <p:charRg st="0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5170">
                                            <p:txEl>
                                              <p:charRg st="0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35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>
                                            <p:txEl>
                                              <p:charRg st="0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35172">
                                            <p:txEl>
                                              <p:charRg st="0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>
                                            <p:txEl>
                                              <p:charRg st="43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5172">
                                            <p:txEl>
                                              <p:charRg st="43" end="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>
                                            <p:txEl>
                                              <p:charRg st="59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35172">
                                            <p:txEl>
                                              <p:charRg st="59" end="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>
                                            <p:txEl>
                                              <p:charRg st="86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35172">
                                            <p:txEl>
                                              <p:charRg st="86" end="1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5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5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3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35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0" grpId="0" advAuto="1000" build="p"/>
      <p:bldP spid="135172" grpId="0" advAuto="1000" build="p"/>
      <p:bldP spid="135173" grpId="0"/>
      <p:bldP spid="135174" grpId="0" animBg="1"/>
      <p:bldP spid="135175" grpId="0"/>
      <p:bldP spid="13517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3555" name="Rectangle 2"/>
          <p:cNvSpPr>
            <a:spLocks noGrp="1"/>
          </p:cNvSpPr>
          <p:nvPr>
            <p:ph type="title"/>
          </p:nvPr>
        </p:nvSpPr>
        <p:spPr>
          <a:xfrm>
            <a:off x="1042988" y="620713"/>
            <a:ext cx="7073900" cy="5334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200" b="1" dirty="0">
                <a:solidFill>
                  <a:schemeClr val="tx1"/>
                </a:solidFill>
                <a:ea typeface="黑体" panose="02010609060101010101" pitchFamily="2" charset="-122"/>
              </a:rPr>
              <a:t>几种流体的黏度系数</a:t>
            </a:r>
            <a:endParaRPr lang="zh-CN" altLang="en-US" sz="3200" b="1" dirty="0">
              <a:solidFill>
                <a:schemeClr val="tx1"/>
              </a:solidFill>
              <a:ea typeface="黑体" panose="02010609060101010101" pitchFamily="2" charset="-122"/>
            </a:endParaRPr>
          </a:p>
        </p:txBody>
      </p:sp>
      <p:graphicFrame>
        <p:nvGraphicFramePr>
          <p:cNvPr id="136284" name="Group 92"/>
          <p:cNvGraphicFramePr>
            <a:graphicFrameLocks noGrp="1"/>
          </p:cNvGraphicFramePr>
          <p:nvPr>
            <p:ph type="tbl" idx="1"/>
          </p:nvPr>
        </p:nvGraphicFramePr>
        <p:xfrm>
          <a:off x="395288" y="1484313"/>
          <a:ext cx="8424863" cy="4573588"/>
        </p:xfrm>
        <a:graphic>
          <a:graphicData uri="http://schemas.openxmlformats.org/drawingml/2006/table">
            <a:tbl>
              <a:tblPr/>
              <a:tblGrid>
                <a:gridCol w="1223962"/>
                <a:gridCol w="1152525"/>
                <a:gridCol w="1944688"/>
                <a:gridCol w="1074737"/>
                <a:gridCol w="1066800"/>
                <a:gridCol w="196215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流   体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°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C)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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10</a:t>
                      </a:r>
                      <a:r>
                        <a:rPr kumimoji="1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3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Pa·s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流   体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°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C)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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10</a:t>
                      </a:r>
                      <a:r>
                        <a:rPr kumimoji="1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5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Pa·s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水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1.792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空气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1.71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1.005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1.82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0.656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2.17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酒精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1.77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氢气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0.88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8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1.19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251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1.30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蓖麻油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17.5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1225.0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氦气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1.96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122.7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甲烷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1.10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血浆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37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1.0~1.4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1" i="0" u="none" strike="noStrike" cap="none" normalizeH="0" baseline="-2500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1.47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血清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37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0.9~1.2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320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2.7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43362" name="Rectangle 2"/>
          <p:cNvSpPr>
            <a:spLocks noGrp="1"/>
          </p:cNvSpPr>
          <p:nvPr>
            <p:ph idx="1"/>
          </p:nvPr>
        </p:nvSpPr>
        <p:spPr>
          <a:xfrm>
            <a:off x="0" y="2636838"/>
            <a:ext cx="8820150" cy="1511300"/>
          </a:xfrm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5000"/>
              </a:spcBef>
              <a:buNone/>
            </a:pPr>
            <a:r>
              <a:rPr lang="en-US" altLang="zh-CN" sz="2800" b="1" dirty="0">
                <a:solidFill>
                  <a:srgbClr val="333399"/>
                </a:solidFill>
              </a:rPr>
              <a:t>2. </a:t>
            </a:r>
            <a:r>
              <a:rPr lang="zh-CN" altLang="en-US" sz="2800" b="1" dirty="0">
                <a:solidFill>
                  <a:srgbClr val="333399"/>
                </a:solidFill>
              </a:rPr>
              <a:t>湍流</a:t>
            </a:r>
            <a:r>
              <a:rPr lang="en-US" altLang="zh-CN" sz="2800" b="1" dirty="0">
                <a:solidFill>
                  <a:srgbClr val="333399"/>
                </a:solidFill>
              </a:rPr>
              <a:t>(turbulent flow)</a:t>
            </a:r>
            <a:endParaRPr lang="en-US" altLang="zh-CN" sz="2800" b="1" dirty="0">
              <a:solidFill>
                <a:srgbClr val="333399"/>
              </a:solidFill>
            </a:endParaRPr>
          </a:p>
          <a:p>
            <a:pPr eaLnBrk="1" hangingPunct="1">
              <a:spcBef>
                <a:spcPct val="5000"/>
              </a:spcBef>
              <a:buNone/>
            </a:pPr>
            <a:r>
              <a:rPr lang="en-US" altLang="zh-CN" sz="2800" b="1" dirty="0"/>
              <a:t>    </a:t>
            </a:r>
            <a:r>
              <a:rPr lang="zh-CN" altLang="en-US" sz="2800" b="1" dirty="0"/>
              <a:t>随着速度的增加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流体可能向各个方向流动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各流体层</a:t>
            </a:r>
            <a:endParaRPr lang="zh-CN" altLang="en-US" sz="2800" b="1" dirty="0"/>
          </a:p>
          <a:p>
            <a:pPr eaLnBrk="1" hangingPunct="1">
              <a:spcBef>
                <a:spcPct val="5000"/>
              </a:spcBef>
              <a:buNone/>
            </a:pPr>
            <a:r>
              <a:rPr lang="zh-CN" altLang="en-US" sz="2800" b="1" dirty="0"/>
              <a:t>相互混淆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而且可能出现旋涡</a:t>
            </a:r>
            <a:r>
              <a:rPr lang="en-US" altLang="zh-CN" sz="2800" b="1" dirty="0"/>
              <a:t>.</a:t>
            </a:r>
            <a:endParaRPr lang="en-US" altLang="zh-CN" sz="2800" b="1" dirty="0"/>
          </a:p>
        </p:txBody>
      </p:sp>
      <p:graphicFrame>
        <p:nvGraphicFramePr>
          <p:cNvPr id="143363" name="Object 3"/>
          <p:cNvGraphicFramePr>
            <a:graphicFrameLocks noChangeAspect="1"/>
          </p:cNvGraphicFramePr>
          <p:nvPr/>
        </p:nvGraphicFramePr>
        <p:xfrm>
          <a:off x="1484313" y="4365625"/>
          <a:ext cx="2362200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805180" imgH="469900" progId="Equation.3">
                  <p:embed/>
                </p:oleObj>
              </mc:Choice>
              <mc:Fallback>
                <p:oleObj name="" r:id="rId1" imgW="805180" imgH="4699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84313" y="4365625"/>
                        <a:ext cx="2362200" cy="1052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64" name="Rectangle 4"/>
          <p:cNvSpPr/>
          <p:nvPr/>
        </p:nvSpPr>
        <p:spPr>
          <a:xfrm>
            <a:off x="395288" y="5300663"/>
            <a:ext cx="7999412" cy="124618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b="1" dirty="0"/>
              <a:t>(1) </a:t>
            </a:r>
            <a:r>
              <a:rPr lang="en-US" altLang="zh-CN" sz="2800" b="1" i="1" dirty="0">
                <a:solidFill>
                  <a:srgbClr val="333399"/>
                </a:solidFill>
              </a:rPr>
              <a:t>Re</a:t>
            </a:r>
            <a:r>
              <a:rPr lang="en-US" altLang="zh-CN" sz="2800" b="1" dirty="0">
                <a:solidFill>
                  <a:srgbClr val="333399"/>
                </a:solidFill>
              </a:rPr>
              <a:t>&lt;2000,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层流</a:t>
            </a:r>
            <a:r>
              <a:rPr lang="en-US" altLang="zh-CN" sz="2800" b="1" dirty="0"/>
              <a:t>;</a:t>
            </a:r>
            <a:endParaRPr lang="en-US" altLang="zh-CN" sz="2800" b="1" dirty="0"/>
          </a:p>
          <a:p>
            <a:pPr marL="342900" lvl="0" indent="-342900" eaLnBrk="1" hangingPunct="1"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b="1" dirty="0"/>
              <a:t>(2) </a:t>
            </a:r>
            <a:r>
              <a:rPr lang="en-US" altLang="zh-CN" sz="2800" b="1" i="1" dirty="0">
                <a:solidFill>
                  <a:srgbClr val="333399"/>
                </a:solidFill>
              </a:rPr>
              <a:t>Re</a:t>
            </a:r>
            <a:r>
              <a:rPr lang="en-US" altLang="zh-CN" sz="2800" b="1" dirty="0">
                <a:solidFill>
                  <a:srgbClr val="333399"/>
                </a:solidFill>
              </a:rPr>
              <a:t>&gt;3000,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湍流</a:t>
            </a:r>
            <a:r>
              <a:rPr lang="en-US" altLang="zh-CN" sz="2800" b="1" dirty="0"/>
              <a:t>;</a:t>
            </a:r>
            <a:endParaRPr lang="en-US" altLang="zh-CN" sz="2800" b="1" dirty="0"/>
          </a:p>
          <a:p>
            <a:pPr marL="342900" lvl="0" indent="-342900" eaLnBrk="1" hangingPunct="1"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b="1" dirty="0"/>
              <a:t>(3) </a:t>
            </a:r>
            <a:r>
              <a:rPr lang="en-US" altLang="zh-CN" sz="2800" b="1" dirty="0">
                <a:solidFill>
                  <a:srgbClr val="333399"/>
                </a:solidFill>
              </a:rPr>
              <a:t>2000&lt;</a:t>
            </a:r>
            <a:r>
              <a:rPr lang="en-US" altLang="zh-CN" sz="2800" b="1" i="1" dirty="0">
                <a:solidFill>
                  <a:srgbClr val="333399"/>
                </a:solidFill>
              </a:rPr>
              <a:t>Re</a:t>
            </a:r>
            <a:r>
              <a:rPr lang="en-US" altLang="zh-CN" sz="2800" b="1" dirty="0">
                <a:solidFill>
                  <a:srgbClr val="333399"/>
                </a:solidFill>
              </a:rPr>
              <a:t>&lt;3000,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过渡流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两种情况均可</a:t>
            </a:r>
            <a:r>
              <a:rPr lang="en-US" altLang="zh-CN" sz="2800" b="1" dirty="0"/>
              <a:t>.</a:t>
            </a:r>
            <a:endParaRPr lang="en-US" altLang="zh-CN" sz="2800" b="1" dirty="0"/>
          </a:p>
        </p:txBody>
      </p:sp>
      <p:sp>
        <p:nvSpPr>
          <p:cNvPr id="143365" name="Text Box 5"/>
          <p:cNvSpPr txBox="1"/>
          <p:nvPr/>
        </p:nvSpPr>
        <p:spPr>
          <a:xfrm>
            <a:off x="4211638" y="4508500"/>
            <a:ext cx="3744912" cy="9461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333399"/>
                </a:solidFill>
                <a:latin typeface="宋体" panose="02010600030101010101" pitchFamily="2" charset="-122"/>
              </a:rPr>
              <a:t>流速</a:t>
            </a:r>
            <a:r>
              <a:rPr lang="en-US" altLang="zh-CN" sz="2800" b="1" i="1" dirty="0">
                <a:solidFill>
                  <a:srgbClr val="333399"/>
                </a:solidFill>
                <a:latin typeface="Book Antiqua" panose="02040602050305030304" pitchFamily="18" charset="0"/>
              </a:rPr>
              <a:t>v</a:t>
            </a:r>
            <a:r>
              <a:rPr lang="en-US" altLang="zh-CN" sz="2800" b="1" dirty="0">
                <a:solidFill>
                  <a:srgbClr val="333399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2800" b="1" dirty="0">
                <a:solidFill>
                  <a:srgbClr val="333399"/>
                </a:solidFill>
                <a:latin typeface="宋体" panose="02010600030101010101" pitchFamily="2" charset="-122"/>
              </a:rPr>
              <a:t>圆</a:t>
            </a:r>
            <a:r>
              <a:rPr lang="zh-CN" altLang="en-US" sz="2800" b="1" dirty="0">
                <a:solidFill>
                  <a:srgbClr val="333399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管的直径</a:t>
            </a:r>
            <a:r>
              <a:rPr lang="en-US" altLang="zh-CN" sz="2800" b="1" i="1" dirty="0">
                <a:solidFill>
                  <a:srgbClr val="333399"/>
                </a:solidFill>
                <a:sym typeface="Symbol" panose="05050102010706020507" pitchFamily="18" charset="2"/>
              </a:rPr>
              <a:t>d</a:t>
            </a:r>
            <a:endParaRPr lang="en-US" altLang="zh-CN" sz="2800" b="1" i="1" dirty="0">
              <a:solidFill>
                <a:srgbClr val="333399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333399"/>
                </a:solidFill>
                <a:latin typeface="宋体" panose="02010600030101010101" pitchFamily="2" charset="-122"/>
              </a:rPr>
              <a:t>流体的密度</a:t>
            </a:r>
            <a:r>
              <a:rPr lang="zh-CN" altLang="en-US" sz="2800" b="1" i="1" dirty="0">
                <a:solidFill>
                  <a:srgbClr val="333399"/>
                </a:solidFill>
                <a:sym typeface="Symbol" panose="05050102010706020507" pitchFamily="18" charset="2"/>
              </a:rPr>
              <a:t></a:t>
            </a:r>
            <a:r>
              <a:rPr lang="en-US" altLang="zh-CN" sz="2800" b="1" dirty="0">
                <a:solidFill>
                  <a:srgbClr val="333399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zh-CN" altLang="en-US" sz="2800" b="1" dirty="0">
                <a:solidFill>
                  <a:srgbClr val="333399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黏度</a:t>
            </a:r>
            <a:r>
              <a:rPr lang="zh-CN" altLang="en-US" sz="2800" b="1" i="1" dirty="0">
                <a:solidFill>
                  <a:srgbClr val="333399"/>
                </a:solidFill>
                <a:sym typeface="Symbol" panose="05050102010706020507" pitchFamily="18" charset="2"/>
              </a:rPr>
              <a:t></a:t>
            </a:r>
            <a:endParaRPr lang="zh-CN" altLang="en-US" sz="2800" b="1" i="1" dirty="0">
              <a:solidFill>
                <a:srgbClr val="333399"/>
              </a:solidFill>
            </a:endParaRPr>
          </a:p>
        </p:txBody>
      </p:sp>
      <p:sp>
        <p:nvSpPr>
          <p:cNvPr id="143366" name="Rectangle 6"/>
          <p:cNvSpPr/>
          <p:nvPr/>
        </p:nvSpPr>
        <p:spPr>
          <a:xfrm>
            <a:off x="0" y="4005263"/>
            <a:ext cx="5364163" cy="43021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None/>
            </a:pPr>
            <a:r>
              <a:rPr lang="en-US" altLang="zh-CN" sz="2800" b="1" dirty="0">
                <a:solidFill>
                  <a:srgbClr val="333399"/>
                </a:solidFill>
              </a:rPr>
              <a:t>3. </a:t>
            </a:r>
            <a:r>
              <a:rPr lang="zh-CN" altLang="en-US" sz="2800" b="1" dirty="0">
                <a:solidFill>
                  <a:srgbClr val="333399"/>
                </a:solidFill>
              </a:rPr>
              <a:t>雷诺数</a:t>
            </a:r>
            <a:r>
              <a:rPr lang="en-US" altLang="zh-CN" sz="2800" b="1" dirty="0">
                <a:solidFill>
                  <a:srgbClr val="333399"/>
                </a:solidFill>
              </a:rPr>
              <a:t>(Reynold number)</a:t>
            </a:r>
            <a:endParaRPr lang="en-US" altLang="zh-CN" sz="2800" b="1" dirty="0">
              <a:solidFill>
                <a:srgbClr val="333399"/>
              </a:solidFill>
            </a:endParaRPr>
          </a:p>
        </p:txBody>
      </p:sp>
      <p:sp>
        <p:nvSpPr>
          <p:cNvPr id="143367" name="Rectangle 7"/>
          <p:cNvSpPr/>
          <p:nvPr/>
        </p:nvSpPr>
        <p:spPr>
          <a:xfrm>
            <a:off x="0" y="260350"/>
            <a:ext cx="8534400" cy="5762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333399"/>
                </a:solidFill>
                <a:ea typeface="黑体" panose="02010609060101010101" pitchFamily="2" charset="-122"/>
              </a:rPr>
              <a:t>二、层流、湍流、雷诺数</a:t>
            </a:r>
            <a:r>
              <a:rPr lang="zh-CN" altLang="en-US" b="1" dirty="0">
                <a:solidFill>
                  <a:srgbClr val="333399"/>
                </a:solidFill>
              </a:rPr>
              <a:t>   </a:t>
            </a:r>
            <a:endParaRPr lang="zh-CN" altLang="en-US" b="1" dirty="0">
              <a:solidFill>
                <a:srgbClr val="333399"/>
              </a:solidFill>
            </a:endParaRPr>
          </a:p>
        </p:txBody>
      </p:sp>
      <p:sp>
        <p:nvSpPr>
          <p:cNvPr id="143368" name="Rectangle 8"/>
          <p:cNvSpPr/>
          <p:nvPr/>
        </p:nvSpPr>
        <p:spPr>
          <a:xfrm>
            <a:off x="0" y="836613"/>
            <a:ext cx="8748713" cy="9366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10000"/>
              </a:spcBef>
              <a:buNone/>
            </a:pPr>
            <a:r>
              <a:rPr lang="en-US" altLang="zh-CN" sz="2800" b="1" dirty="0">
                <a:solidFill>
                  <a:srgbClr val="333399"/>
                </a:solidFill>
              </a:rPr>
              <a:t>1. </a:t>
            </a:r>
            <a:r>
              <a:rPr lang="zh-CN" altLang="en-US" sz="2800" b="1" dirty="0">
                <a:solidFill>
                  <a:srgbClr val="333399"/>
                </a:solidFill>
              </a:rPr>
              <a:t>层流</a:t>
            </a:r>
            <a:r>
              <a:rPr lang="en-US" altLang="zh-CN" sz="2800" b="1" dirty="0">
                <a:solidFill>
                  <a:srgbClr val="333399"/>
                </a:solidFill>
              </a:rPr>
              <a:t>(Laminar flow):</a:t>
            </a:r>
            <a:r>
              <a:rPr lang="en-US" altLang="zh-CN" sz="2800" b="1" dirty="0">
                <a:solidFill>
                  <a:schemeClr val="accent2"/>
                </a:solidFill>
              </a:rPr>
              <a:t> </a:t>
            </a:r>
            <a:r>
              <a:rPr lang="zh-CN" altLang="en-US" sz="2800" b="1" dirty="0"/>
              <a:t>黏性流体的分层流动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在流管中各流体层之间只做相对滑动而不混合</a:t>
            </a:r>
            <a:r>
              <a:rPr lang="en-US" altLang="zh-CN" sz="2800" b="1" dirty="0"/>
              <a:t>.</a:t>
            </a:r>
            <a:endParaRPr lang="en-US" altLang="zh-CN" sz="2800" b="1" dirty="0"/>
          </a:p>
        </p:txBody>
      </p:sp>
      <p:sp>
        <p:nvSpPr>
          <p:cNvPr id="143369" name="Text Box 9"/>
          <p:cNvSpPr txBox="1"/>
          <p:nvPr/>
        </p:nvSpPr>
        <p:spPr>
          <a:xfrm>
            <a:off x="323850" y="1773238"/>
            <a:ext cx="8351838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同一层</a:t>
            </a:r>
            <a:r>
              <a:rPr lang="en-US" altLang="zh-CN" sz="2800" b="1" dirty="0"/>
              <a:t>: </a:t>
            </a:r>
            <a:r>
              <a:rPr lang="en-US" altLang="zh-CN" sz="2800" b="1" i="1" dirty="0">
                <a:solidFill>
                  <a:schemeClr val="accent2"/>
                </a:solidFill>
                <a:latin typeface="Book Antiqua" panose="02040602050305030304" pitchFamily="18" charset="0"/>
              </a:rPr>
              <a:t>v</a:t>
            </a:r>
            <a:r>
              <a:rPr lang="zh-CN" altLang="en-US" sz="2800" b="1" dirty="0"/>
              <a:t>相同</a:t>
            </a:r>
            <a:r>
              <a:rPr lang="en-US" altLang="zh-CN" sz="2800" b="1" dirty="0"/>
              <a:t>; </a:t>
            </a:r>
            <a:r>
              <a:rPr lang="zh-CN" altLang="en-US" sz="2800" b="1" dirty="0"/>
              <a:t>不同层</a:t>
            </a:r>
            <a:r>
              <a:rPr lang="en-US" altLang="zh-CN" sz="2800" b="1" dirty="0"/>
              <a:t>: </a:t>
            </a:r>
            <a:r>
              <a:rPr lang="en-US" altLang="zh-CN" sz="2800" b="1" i="1" dirty="0">
                <a:solidFill>
                  <a:schemeClr val="accent2"/>
                </a:solidFill>
                <a:latin typeface="Book Antiqua" panose="02040602050305030304" pitchFamily="18" charset="0"/>
              </a:rPr>
              <a:t>v</a:t>
            </a:r>
            <a:r>
              <a:rPr lang="zh-CN" altLang="en-US" sz="2800" b="1" dirty="0"/>
              <a:t>不同</a:t>
            </a:r>
            <a:r>
              <a:rPr lang="en-US" altLang="zh-CN" sz="2800" b="1" dirty="0"/>
              <a:t>.</a:t>
            </a:r>
            <a:r>
              <a:rPr lang="en-US" altLang="zh-CN" sz="2800" b="1" i="1" dirty="0">
                <a:solidFill>
                  <a:schemeClr val="accent2"/>
                </a:solidFill>
                <a:latin typeface="Book Antiqua" panose="02040602050305030304" pitchFamily="18" charset="0"/>
              </a:rPr>
              <a:t>v</a:t>
            </a:r>
            <a:r>
              <a:rPr lang="zh-CN" altLang="en-US" sz="2800" b="1" dirty="0"/>
              <a:t>大对</a:t>
            </a:r>
            <a:r>
              <a:rPr lang="en-US" altLang="zh-CN" sz="2800" b="1" i="1" dirty="0">
                <a:solidFill>
                  <a:schemeClr val="accent2"/>
                </a:solidFill>
                <a:latin typeface="Book Antiqua" panose="02040602050305030304" pitchFamily="18" charset="0"/>
              </a:rPr>
              <a:t>v</a:t>
            </a:r>
            <a:r>
              <a:rPr lang="zh-CN" altLang="en-US" sz="2800" b="1" dirty="0"/>
              <a:t>小有拉力</a:t>
            </a:r>
            <a:r>
              <a:rPr lang="en-US" altLang="zh-CN" sz="2800" b="1" dirty="0"/>
              <a:t>;</a:t>
            </a:r>
            <a:r>
              <a:rPr lang="en-US" altLang="zh-CN" sz="2800" b="1" i="1" dirty="0">
                <a:solidFill>
                  <a:schemeClr val="accent2"/>
                </a:solidFill>
                <a:latin typeface="Book Antiqua" panose="02040602050305030304" pitchFamily="18" charset="0"/>
              </a:rPr>
              <a:t>v</a:t>
            </a:r>
            <a:r>
              <a:rPr lang="zh-CN" altLang="en-US" sz="2800" b="1" dirty="0"/>
              <a:t>小对</a:t>
            </a:r>
            <a:r>
              <a:rPr lang="en-US" altLang="zh-CN" sz="2800" b="1" i="1" dirty="0">
                <a:solidFill>
                  <a:schemeClr val="accent2"/>
                </a:solidFill>
                <a:latin typeface="Book Antiqua" panose="02040602050305030304" pitchFamily="18" charset="0"/>
              </a:rPr>
              <a:t>v</a:t>
            </a:r>
            <a:r>
              <a:rPr lang="zh-CN" altLang="en-US" sz="2800" b="1" dirty="0"/>
              <a:t>大有阻力</a:t>
            </a:r>
            <a:r>
              <a:rPr lang="en-US" altLang="zh-CN" sz="2800" b="1" dirty="0"/>
              <a:t>. </a:t>
            </a:r>
            <a:r>
              <a:rPr lang="zh-CN" altLang="en-US" sz="2800" b="1" dirty="0">
                <a:solidFill>
                  <a:srgbClr val="333399"/>
                </a:solidFill>
              </a:rPr>
              <a:t>相互作用的拉力和阻力就是黏性阻力</a:t>
            </a:r>
            <a:r>
              <a:rPr lang="en-US" altLang="zh-CN" sz="2800" b="1" dirty="0">
                <a:solidFill>
                  <a:srgbClr val="333399"/>
                </a:solidFill>
              </a:rPr>
              <a:t>.</a:t>
            </a:r>
            <a:endParaRPr lang="en-US" altLang="zh-CN" sz="2800" b="1" dirty="0">
              <a:solidFill>
                <a:srgbClr val="333399"/>
              </a:solidFill>
            </a:endParaRP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7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367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3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3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2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3362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2">
                                            <p:txEl>
                                              <p:charRg st="22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3362">
                                            <p:txEl>
                                              <p:charRg st="22" end="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2">
                                            <p:txEl>
                                              <p:charRg st="53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3362">
                                            <p:txEl>
                                              <p:charRg st="53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3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3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43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43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2" grpId="0" build="p"/>
      <p:bldP spid="143364" grpId="0"/>
      <p:bldP spid="143365" grpId="0"/>
      <p:bldP spid="143366" grpId="0"/>
      <p:bldP spid="143367" grpId="0" build="p"/>
      <p:bldP spid="143368" grpId="0"/>
      <p:bldP spid="14336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5603" name="Text Box 2"/>
          <p:cNvSpPr txBox="1"/>
          <p:nvPr/>
        </p:nvSpPr>
        <p:spPr>
          <a:xfrm>
            <a:off x="3962400" y="762000"/>
            <a:ext cx="4648200" cy="7016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zh-CN" sz="4000" b="1" dirty="0">
              <a:solidFill>
                <a:schemeClr val="folHlink"/>
              </a:solidFill>
            </a:endParaRPr>
          </a:p>
        </p:txBody>
      </p:sp>
      <p:sp>
        <p:nvSpPr>
          <p:cNvPr id="25604" name="Text Box 24"/>
          <p:cNvSpPr txBox="1"/>
          <p:nvPr/>
        </p:nvSpPr>
        <p:spPr>
          <a:xfrm>
            <a:off x="323850" y="260350"/>
            <a:ext cx="8820150" cy="15017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  <a:ea typeface="黑体" panose="0201060906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2" charset="-122"/>
              </a:rPr>
              <a:t>2</a:t>
            </a:r>
            <a:r>
              <a:rPr lang="en-US" altLang="zh-CN" sz="2800" b="1" dirty="0">
                <a:solidFill>
                  <a:srgbClr val="CC0000"/>
                </a:solidFill>
                <a:ea typeface="黑体" panose="02010609060101010101" pitchFamily="2" charset="-122"/>
              </a:rPr>
              <a:t>  </a:t>
            </a:r>
            <a:r>
              <a:rPr lang="zh-CN" altLang="en-US" sz="2800" b="1" dirty="0"/>
              <a:t>已知在</a:t>
            </a:r>
            <a:r>
              <a:rPr lang="en-US" altLang="zh-CN" sz="2800" b="1" dirty="0"/>
              <a:t>0 </a:t>
            </a:r>
            <a:r>
              <a:rPr lang="en-US" altLang="zh-CN" sz="2800" b="1" dirty="0">
                <a:sym typeface="Symbol" panose="05050102010706020507" pitchFamily="18" charset="2"/>
              </a:rPr>
              <a:t></a:t>
            </a:r>
            <a:r>
              <a:rPr lang="en-US" altLang="zh-CN" sz="2800" b="1" dirty="0"/>
              <a:t>C</a:t>
            </a:r>
            <a:r>
              <a:rPr lang="zh-CN" altLang="en-US" sz="2800" b="1" dirty="0"/>
              <a:t>时水的黏滞系数                    </a:t>
            </a:r>
            <a:r>
              <a:rPr lang="en-US" altLang="zh-CN" sz="2800" b="1" dirty="0">
                <a:solidFill>
                  <a:schemeClr val="accent2"/>
                </a:solidFill>
              </a:rPr>
              <a:t>Pa·s</a:t>
            </a:r>
            <a:r>
              <a:rPr lang="zh-CN" altLang="en-US" sz="2800" b="1" dirty="0"/>
              <a:t>，若保证水在直径</a:t>
            </a:r>
            <a:r>
              <a:rPr lang="en-US" altLang="zh-CN" sz="2800" b="1" i="1" dirty="0">
                <a:solidFill>
                  <a:schemeClr val="accent2"/>
                </a:solidFill>
              </a:rPr>
              <a:t>d</a:t>
            </a:r>
            <a:r>
              <a:rPr lang="en-US" altLang="zh-CN" sz="2800" b="1" dirty="0">
                <a:solidFill>
                  <a:schemeClr val="accent2"/>
                </a:solidFill>
              </a:rPr>
              <a:t>=2.0</a:t>
            </a:r>
            <a:r>
              <a:rPr lang="en-US" altLang="zh-CN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</a:t>
            </a:r>
            <a:r>
              <a:rPr lang="en-US" altLang="zh-CN" sz="2800" b="1" dirty="0">
                <a:solidFill>
                  <a:schemeClr val="accent2"/>
                </a:solidFill>
              </a:rPr>
              <a:t>10</a:t>
            </a:r>
            <a:r>
              <a:rPr lang="en-US" altLang="zh-CN" sz="2800" b="1" baseline="30000" dirty="0">
                <a:solidFill>
                  <a:schemeClr val="accent2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chemeClr val="accent2"/>
                </a:solidFill>
              </a:rPr>
              <a:t>2</a:t>
            </a:r>
            <a:r>
              <a:rPr lang="en-US" altLang="zh-CN" sz="2800" b="1" dirty="0">
                <a:solidFill>
                  <a:schemeClr val="accent2"/>
                </a:solidFill>
              </a:rPr>
              <a:t> m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的圆管中作稳定的层流，要求水流速度不超过多少？</a:t>
            </a:r>
            <a:r>
              <a:rPr lang="zh-CN" altLang="en-US" sz="2800" dirty="0"/>
              <a:t> </a:t>
            </a:r>
            <a:endParaRPr lang="zh-CN" altLang="en-US" sz="2800" dirty="0"/>
          </a:p>
        </p:txBody>
      </p:sp>
      <p:sp>
        <p:nvSpPr>
          <p:cNvPr id="237593" name="Text Box 25"/>
          <p:cNvSpPr txBox="1"/>
          <p:nvPr/>
        </p:nvSpPr>
        <p:spPr>
          <a:xfrm>
            <a:off x="323850" y="1628775"/>
            <a:ext cx="8496300" cy="13747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lnSpc>
                <a:spcPct val="150000"/>
              </a:lnSpc>
              <a:spcBef>
                <a:spcPct val="3000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  <a:ea typeface="黑体" panose="02010609060101010101" pitchFamily="2" charset="-122"/>
              </a:rPr>
              <a:t>解</a:t>
            </a:r>
            <a:r>
              <a:rPr lang="zh-CN" altLang="en-US" sz="2800" b="1" dirty="0">
                <a:solidFill>
                  <a:srgbClr val="CC0000"/>
                </a:solidFill>
                <a:ea typeface="黑体" panose="02010609060101010101" pitchFamily="2" charset="-122"/>
              </a:rPr>
              <a:t> </a:t>
            </a:r>
            <a:r>
              <a:rPr lang="zh-CN" altLang="en-US" sz="2800" b="1" dirty="0"/>
              <a:t>保证水在圆管中作稳定的层流，雷诺数</a:t>
            </a:r>
            <a:r>
              <a:rPr lang="en-US" altLang="zh-CN" sz="2800" b="1" i="1" dirty="0">
                <a:solidFill>
                  <a:srgbClr val="333399"/>
                </a:solidFill>
              </a:rPr>
              <a:t>Re</a:t>
            </a:r>
            <a:r>
              <a:rPr lang="zh-CN" altLang="en-US" sz="2800" b="1" dirty="0"/>
              <a:t>应小于</a:t>
            </a:r>
            <a:r>
              <a:rPr lang="en-US" altLang="zh-CN" sz="2800" b="1" dirty="0">
                <a:solidFill>
                  <a:srgbClr val="333399"/>
                </a:solidFill>
              </a:rPr>
              <a:t>2000</a:t>
            </a:r>
            <a:r>
              <a:rPr lang="zh-CN" altLang="en-US" sz="2800" b="1" dirty="0">
                <a:solidFill>
                  <a:srgbClr val="333399"/>
                </a:solidFill>
              </a:rPr>
              <a:t>，</a:t>
            </a:r>
            <a:r>
              <a:rPr lang="zh-CN" altLang="en-US" sz="2800" b="1" dirty="0"/>
              <a:t>即</a:t>
            </a:r>
            <a:r>
              <a:rPr lang="zh-CN" altLang="en-US" sz="2800" dirty="0"/>
              <a:t> </a:t>
            </a:r>
            <a:endParaRPr lang="zh-CN" altLang="en-US" sz="2800" dirty="0"/>
          </a:p>
        </p:txBody>
      </p:sp>
      <p:sp>
        <p:nvSpPr>
          <p:cNvPr id="25606" name="Rectangle 2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graphicFrame>
        <p:nvGraphicFramePr>
          <p:cNvPr id="25607" name="Object 26"/>
          <p:cNvGraphicFramePr>
            <a:graphicFrameLocks noChangeAspect="1"/>
          </p:cNvGraphicFramePr>
          <p:nvPr/>
        </p:nvGraphicFramePr>
        <p:xfrm>
          <a:off x="5364163" y="333375"/>
          <a:ext cx="1655762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" imgW="1006475" imgH="201295" progId="Equation.3">
                  <p:embed/>
                </p:oleObj>
              </mc:Choice>
              <mc:Fallback>
                <p:oleObj name="" r:id="rId1" imgW="1006475" imgH="201295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64163" y="333375"/>
                        <a:ext cx="1655762" cy="490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8" name="Rectangle 29"/>
          <p:cNvSpPr/>
          <p:nvPr/>
        </p:nvSpPr>
        <p:spPr>
          <a:xfrm>
            <a:off x="0" y="321945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graphicFrame>
        <p:nvGraphicFramePr>
          <p:cNvPr id="237596" name="Object 28"/>
          <p:cNvGraphicFramePr>
            <a:graphicFrameLocks noChangeAspect="1"/>
          </p:cNvGraphicFramePr>
          <p:nvPr/>
        </p:nvGraphicFramePr>
        <p:xfrm>
          <a:off x="1908175" y="2276475"/>
          <a:ext cx="2303463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3" imgW="1409065" imgH="469900" progId="Equation.3">
                  <p:embed/>
                </p:oleObj>
              </mc:Choice>
              <mc:Fallback>
                <p:oleObj name="" r:id="rId3" imgW="1409065" imgH="4699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08175" y="2276475"/>
                        <a:ext cx="2303463" cy="869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0" name="Rectangle 31"/>
          <p:cNvSpPr/>
          <p:nvPr/>
        </p:nvSpPr>
        <p:spPr>
          <a:xfrm>
            <a:off x="0" y="3205163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graphicFrame>
        <p:nvGraphicFramePr>
          <p:cNvPr id="237598" name="Object 30"/>
          <p:cNvGraphicFramePr>
            <a:graphicFrameLocks noChangeAspect="1"/>
          </p:cNvGraphicFramePr>
          <p:nvPr/>
        </p:nvGraphicFramePr>
        <p:xfrm>
          <a:off x="539750" y="3141663"/>
          <a:ext cx="8226425" cy="1065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5" imgW="4471035" imgH="494665" progId="Equation.3">
                  <p:embed/>
                </p:oleObj>
              </mc:Choice>
              <mc:Fallback>
                <p:oleObj name="" r:id="rId5" imgW="4471035" imgH="494665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9750" y="3141663"/>
                        <a:ext cx="8226425" cy="1065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600" name="Rectangle 32"/>
          <p:cNvSpPr/>
          <p:nvPr/>
        </p:nvSpPr>
        <p:spPr>
          <a:xfrm>
            <a:off x="395288" y="4508500"/>
            <a:ext cx="8424862" cy="1373188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333399"/>
                </a:solidFill>
              </a:rPr>
              <a:t>     </a:t>
            </a:r>
            <a:r>
              <a:rPr lang="zh-CN" altLang="en-US" sz="2800" b="1" dirty="0"/>
              <a:t>即水在圆管的流速小于</a:t>
            </a:r>
            <a:r>
              <a:rPr lang="en-US" altLang="zh-CN" sz="2800" b="1" dirty="0">
                <a:solidFill>
                  <a:srgbClr val="333399"/>
                </a:solidFill>
              </a:rPr>
              <a:t>0.18 m/s</a:t>
            </a:r>
            <a:r>
              <a:rPr lang="zh-CN" altLang="en-US" sz="2800" b="1" dirty="0"/>
              <a:t>时才能保持稳定的层流。而通常水在管道中的流速约为每秒几米，可见水在管道中的流动一般都是湍流。 </a:t>
            </a:r>
            <a:endParaRPr lang="zh-CN" altLang="en-US" sz="2800" b="1" dirty="0"/>
          </a:p>
        </p:txBody>
      </p:sp>
      <p:sp>
        <p:nvSpPr>
          <p:cNvPr id="237601" name="Text Box 33"/>
          <p:cNvSpPr txBox="1"/>
          <p:nvPr/>
        </p:nvSpPr>
        <p:spPr>
          <a:xfrm>
            <a:off x="4427538" y="2420938"/>
            <a:ext cx="539750" cy="519112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则</a:t>
            </a:r>
            <a:endParaRPr lang="zh-CN" altLang="en-US" sz="2800" b="1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7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7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7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7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7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93" grpId="0"/>
      <p:bldP spid="237600" grpId="0"/>
      <p:bldP spid="23760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10947" name="Rectangle 3"/>
          <p:cNvSpPr/>
          <p:nvPr/>
        </p:nvSpPr>
        <p:spPr>
          <a:xfrm>
            <a:off x="611188" y="4941888"/>
            <a:ext cx="8135937" cy="1371600"/>
          </a:xfrm>
          <a:prstGeom prst="rect">
            <a:avLst/>
          </a:prstGeom>
          <a:noFill/>
          <a:ln w="9525">
            <a:noFill/>
          </a:ln>
        </p:spPr>
        <p:txBody>
          <a:bodyPr lIns="0" r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b="1" i="1" dirty="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rgbClr val="333399"/>
                </a:solidFill>
                <a:latin typeface="Book Antiqua" panose="0204060205030503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zh-CN" sz="2800" b="1" dirty="0">
                <a:solidFill>
                  <a:srgbClr val="333399"/>
                </a:solidFill>
                <a:sym typeface="Symbol" panose="05050102010706020507" pitchFamily="18" charset="2"/>
              </a:rPr>
              <a:t>:</a:t>
            </a:r>
            <a:r>
              <a:rPr lang="en-US" altLang="zh-CN" sz="2800" b="1" dirty="0"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ym typeface="Symbol" panose="05050102010706020507" pitchFamily="18" charset="2"/>
              </a:rPr>
              <a:t>单位体积不可压缩的黏性流体由</a:t>
            </a:r>
            <a:r>
              <a:rPr lang="en-US" altLang="zh-CN" sz="2800" b="1" i="1" dirty="0">
                <a:solidFill>
                  <a:srgbClr val="333399"/>
                </a:solidFill>
              </a:rPr>
              <a:t>ab</a:t>
            </a:r>
            <a:r>
              <a:rPr lang="zh-CN" altLang="en-US" sz="2800" b="1" dirty="0">
                <a:sym typeface="Symbol" panose="05050102010706020507" pitchFamily="18" charset="2"/>
              </a:rPr>
              <a:t>处运动到</a:t>
            </a:r>
            <a:r>
              <a:rPr lang="zh-CN" altLang="en-US" sz="2800" b="1" i="1" dirty="0"/>
              <a:t> </a:t>
            </a:r>
            <a:r>
              <a:rPr lang="en-US" altLang="zh-CN" sz="2800" b="1" i="1" dirty="0">
                <a:solidFill>
                  <a:srgbClr val="333399"/>
                </a:solidFill>
              </a:rPr>
              <a:t>a'b'</a:t>
            </a:r>
            <a:r>
              <a:rPr lang="en-US" altLang="zh-CN" sz="2800" b="1" i="1" dirty="0">
                <a:solidFill>
                  <a:schemeClr val="accent2"/>
                </a:solidFill>
              </a:rPr>
              <a:t> </a:t>
            </a:r>
            <a:r>
              <a:rPr lang="zh-CN" altLang="en-US" sz="2800" b="1" dirty="0">
                <a:sym typeface="Symbol" panose="05050102010706020507" pitchFamily="18" charset="2"/>
              </a:rPr>
              <a:t>处的过程中</a:t>
            </a:r>
            <a:r>
              <a:rPr lang="en-US" altLang="zh-CN" sz="2800" b="1" dirty="0">
                <a:sym typeface="Symbol" panose="05050102010706020507" pitchFamily="18" charset="2"/>
              </a:rPr>
              <a:t>, </a:t>
            </a:r>
            <a:r>
              <a:rPr lang="zh-CN" altLang="en-US" sz="2800" b="1" dirty="0">
                <a:sym typeface="Symbol" panose="05050102010706020507" pitchFamily="18" charset="2"/>
              </a:rPr>
              <a:t>克服层与层之间的内摩擦力所做的功或所消耗的能量</a:t>
            </a:r>
            <a:r>
              <a:rPr lang="en-US" altLang="zh-CN" sz="2800" b="1" dirty="0">
                <a:sym typeface="Symbol" panose="05050102010706020507" pitchFamily="18" charset="2"/>
              </a:rPr>
              <a:t>.</a:t>
            </a:r>
            <a:endParaRPr lang="en-US" altLang="zh-CN" sz="2800" b="1" dirty="0">
              <a:sym typeface="Symbol" panose="05050102010706020507" pitchFamily="18" charset="2"/>
            </a:endParaRPr>
          </a:p>
        </p:txBody>
      </p:sp>
      <p:sp>
        <p:nvSpPr>
          <p:cNvPr id="210948" name="Text Box 4"/>
          <p:cNvSpPr txBox="1"/>
          <p:nvPr/>
        </p:nvSpPr>
        <p:spPr>
          <a:xfrm>
            <a:off x="539750" y="2276475"/>
            <a:ext cx="2327275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理想流体</a:t>
            </a:r>
            <a:r>
              <a:rPr lang="en-US" altLang="zh-CN" sz="2800" b="1" dirty="0"/>
              <a:t>:</a:t>
            </a:r>
            <a:endParaRPr lang="en-US" altLang="zh-CN" sz="2800" b="1" dirty="0"/>
          </a:p>
        </p:txBody>
      </p:sp>
      <p:sp>
        <p:nvSpPr>
          <p:cNvPr id="210949" name="Text Box 5"/>
          <p:cNvSpPr txBox="1"/>
          <p:nvPr/>
        </p:nvSpPr>
        <p:spPr>
          <a:xfrm>
            <a:off x="539750" y="3500438"/>
            <a:ext cx="2590800" cy="5191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ym typeface="Symbol" panose="05050102010706020507" pitchFamily="18" charset="2"/>
              </a:rPr>
              <a:t>黏性流体</a:t>
            </a:r>
            <a:r>
              <a:rPr lang="en-US" altLang="zh-CN" sz="2800" b="1" dirty="0">
                <a:sym typeface="Symbol" panose="05050102010706020507" pitchFamily="18" charset="2"/>
              </a:rPr>
              <a:t>:</a:t>
            </a:r>
            <a:endParaRPr lang="en-US" altLang="zh-CN" sz="2800" b="1" dirty="0">
              <a:sym typeface="Symbol" panose="05050102010706020507" pitchFamily="18" charset="2"/>
            </a:endParaRPr>
          </a:p>
        </p:txBody>
      </p:sp>
      <p:sp>
        <p:nvSpPr>
          <p:cNvPr id="210950" name="Rectangle 6"/>
          <p:cNvSpPr/>
          <p:nvPr/>
        </p:nvSpPr>
        <p:spPr>
          <a:xfrm>
            <a:off x="250825" y="404813"/>
            <a:ext cx="6948488" cy="10080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90000"/>
              </a:lnSpc>
              <a:buNone/>
            </a:pPr>
            <a:r>
              <a:rPr lang="zh-CN" altLang="en-US" b="1" dirty="0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三、黏性流体的运动规律 </a:t>
            </a:r>
            <a:endParaRPr lang="zh-CN" altLang="en-US" b="1" dirty="0">
              <a:solidFill>
                <a:srgbClr val="333399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342900" lvl="0" indent="-342900" eaLnBrk="1" hangingPunct="1">
              <a:lnSpc>
                <a:spcPct val="90000"/>
              </a:lnSpc>
              <a:buNone/>
            </a:pPr>
            <a:r>
              <a:rPr lang="zh-CN" altLang="en-US" sz="2800" b="1" dirty="0">
                <a:solidFill>
                  <a:srgbClr val="333399"/>
                </a:solidFill>
              </a:rPr>
              <a:t>        </a:t>
            </a:r>
            <a:r>
              <a:rPr lang="en-US" altLang="zh-CN" sz="2800" b="1" dirty="0">
                <a:solidFill>
                  <a:srgbClr val="333399"/>
                </a:solidFill>
              </a:rPr>
              <a:t>(the motion law of viscous fluid )</a:t>
            </a:r>
            <a:endParaRPr lang="en-US" altLang="zh-CN" sz="2800" b="1" dirty="0">
              <a:solidFill>
                <a:srgbClr val="333399"/>
              </a:solidFill>
            </a:endParaRPr>
          </a:p>
        </p:txBody>
      </p:sp>
      <p:sp>
        <p:nvSpPr>
          <p:cNvPr id="210951" name="Rectangle 7"/>
          <p:cNvSpPr/>
          <p:nvPr/>
        </p:nvSpPr>
        <p:spPr>
          <a:xfrm>
            <a:off x="323850" y="1557338"/>
            <a:ext cx="5256213" cy="50323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90000"/>
              </a:lnSpc>
              <a:buNone/>
            </a:pPr>
            <a:r>
              <a:rPr lang="en-US" altLang="zh-CN" b="1" dirty="0">
                <a:solidFill>
                  <a:srgbClr val="333399"/>
                </a:solidFill>
                <a:sym typeface="Symbol" panose="05050102010706020507" pitchFamily="18" charset="2"/>
              </a:rPr>
              <a:t>1.</a:t>
            </a:r>
            <a:r>
              <a:rPr lang="en-US" altLang="zh-CN" b="1" dirty="0">
                <a:solidFill>
                  <a:srgbClr val="333399"/>
                </a:solidFill>
              </a:rPr>
              <a:t> </a:t>
            </a:r>
            <a:r>
              <a:rPr lang="zh-CN" altLang="en-US" b="1" dirty="0">
                <a:solidFill>
                  <a:srgbClr val="333399"/>
                </a:solidFill>
              </a:rPr>
              <a:t>黏性流体的伯努利方程 </a:t>
            </a:r>
            <a:endParaRPr lang="zh-CN" altLang="en-US" b="1" dirty="0">
              <a:solidFill>
                <a:srgbClr val="333399"/>
              </a:solidFill>
            </a:endParaRPr>
          </a:p>
        </p:txBody>
      </p:sp>
      <p:graphicFrame>
        <p:nvGraphicFramePr>
          <p:cNvPr id="210952" name="Object 8"/>
          <p:cNvGraphicFramePr>
            <a:graphicFrameLocks noChangeAspect="1"/>
          </p:cNvGraphicFramePr>
          <p:nvPr/>
        </p:nvGraphicFramePr>
        <p:xfrm>
          <a:off x="900113" y="3933825"/>
          <a:ext cx="5903912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" imgW="3489960" imgH="503555" progId="Equation.3">
                  <p:embed/>
                </p:oleObj>
              </mc:Choice>
              <mc:Fallback>
                <p:oleObj name="" r:id="rId1" imgW="3489960" imgH="503555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00113" y="3933825"/>
                        <a:ext cx="5903912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0954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2813" y="333375"/>
            <a:ext cx="3151187" cy="3284538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210946" name="Object 2"/>
          <p:cNvGraphicFramePr>
            <a:graphicFrameLocks noChangeAspect="1"/>
          </p:cNvGraphicFramePr>
          <p:nvPr/>
        </p:nvGraphicFramePr>
        <p:xfrm>
          <a:off x="900113" y="2708275"/>
          <a:ext cx="5111750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4" imgW="3120390" imgH="503555" progId="Equation.3">
                  <p:embed/>
                </p:oleObj>
              </mc:Choice>
              <mc:Fallback>
                <p:oleObj name="" r:id="rId4" imgW="3120390" imgH="503555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00113" y="2708275"/>
                        <a:ext cx="5111750" cy="896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0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0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0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0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0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0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10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47" grpId="0"/>
      <p:bldP spid="210948" grpId="0"/>
      <p:bldP spid="210949" grpId="0"/>
      <p:bldP spid="210950" grpId="0"/>
      <p:bldP spid="21095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11970" name="Rectangle 2"/>
          <p:cNvSpPr>
            <a:spLocks noGrp="1"/>
          </p:cNvSpPr>
          <p:nvPr>
            <p:ph idx="1"/>
          </p:nvPr>
        </p:nvSpPr>
        <p:spPr>
          <a:xfrm>
            <a:off x="250825" y="333375"/>
            <a:ext cx="8305800" cy="609600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sz="2800" b="1" dirty="0">
                <a:solidFill>
                  <a:srgbClr val="333399"/>
                </a:solidFill>
                <a:sym typeface="Symbol" panose="05050102010706020507" pitchFamily="18" charset="2"/>
              </a:rPr>
              <a:t>不可压缩的</a:t>
            </a:r>
            <a:r>
              <a:rPr lang="zh-CN" altLang="en-US" sz="2800" b="1" dirty="0">
                <a:solidFill>
                  <a:srgbClr val="333399"/>
                </a:solidFill>
              </a:rPr>
              <a:t>粘性流体在水平均匀圆管中的运动 </a:t>
            </a:r>
            <a:endParaRPr lang="zh-CN" altLang="en-US" sz="2800" b="1" dirty="0">
              <a:solidFill>
                <a:srgbClr val="333399"/>
              </a:solidFill>
            </a:endParaRPr>
          </a:p>
        </p:txBody>
      </p:sp>
      <p:graphicFrame>
        <p:nvGraphicFramePr>
          <p:cNvPr id="211971" name="Object 3"/>
          <p:cNvGraphicFramePr>
            <a:graphicFrameLocks noChangeAspect="1"/>
          </p:cNvGraphicFramePr>
          <p:nvPr/>
        </p:nvGraphicFramePr>
        <p:xfrm>
          <a:off x="1042988" y="1916113"/>
          <a:ext cx="253047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" imgW="1535430" imgH="251460" progId="Equation.3">
                  <p:embed/>
                </p:oleObj>
              </mc:Choice>
              <mc:Fallback>
                <p:oleObj name="" r:id="rId1" imgW="1535430" imgH="251460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1916113"/>
                        <a:ext cx="2530475" cy="501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981" name="Object 13"/>
          <p:cNvGraphicFramePr>
            <a:graphicFrameLocks noChangeAspect="1"/>
          </p:cNvGraphicFramePr>
          <p:nvPr/>
        </p:nvGraphicFramePr>
        <p:xfrm>
          <a:off x="900113" y="908050"/>
          <a:ext cx="5903912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3" imgW="3489960" imgH="503555" progId="Equation.3">
                  <p:embed/>
                </p:oleObj>
              </mc:Choice>
              <mc:Fallback>
                <p:oleObj name="" r:id="rId3" imgW="3489960" imgH="503555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00113" y="908050"/>
                        <a:ext cx="5903912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985" name="Object 17"/>
          <p:cNvGraphicFramePr>
            <a:graphicFrameLocks noChangeAspect="1"/>
          </p:cNvGraphicFramePr>
          <p:nvPr/>
        </p:nvGraphicFramePr>
        <p:xfrm>
          <a:off x="4140200" y="1916113"/>
          <a:ext cx="2046288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5" imgW="1233170" imgH="251460" progId="Equation.3">
                  <p:embed/>
                </p:oleObj>
              </mc:Choice>
              <mc:Fallback>
                <p:oleObj name="" r:id="rId5" imgW="1233170" imgH="25146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40200" y="1916113"/>
                        <a:ext cx="2046288" cy="501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1986" name="Group 18"/>
          <p:cNvGrpSpPr/>
          <p:nvPr/>
        </p:nvGrpSpPr>
        <p:grpSpPr>
          <a:xfrm>
            <a:off x="1835150" y="2565400"/>
            <a:ext cx="5221288" cy="2592388"/>
            <a:chOff x="839" y="1117"/>
            <a:chExt cx="3289" cy="1633"/>
          </a:xfrm>
        </p:grpSpPr>
        <p:grpSp>
          <p:nvGrpSpPr>
            <p:cNvPr id="27657" name="Group 19"/>
            <p:cNvGrpSpPr/>
            <p:nvPr/>
          </p:nvGrpSpPr>
          <p:grpSpPr>
            <a:xfrm>
              <a:off x="3560" y="2205"/>
              <a:ext cx="568" cy="545"/>
              <a:chOff x="4308" y="2387"/>
              <a:chExt cx="568" cy="590"/>
            </a:xfrm>
          </p:grpSpPr>
          <p:grpSp>
            <p:nvGrpSpPr>
              <p:cNvPr id="27852" name="Group 20"/>
              <p:cNvGrpSpPr/>
              <p:nvPr/>
            </p:nvGrpSpPr>
            <p:grpSpPr>
              <a:xfrm>
                <a:off x="4377" y="2432"/>
                <a:ext cx="499" cy="545"/>
                <a:chOff x="4740" y="2886"/>
                <a:chExt cx="499" cy="499"/>
              </a:xfrm>
            </p:grpSpPr>
            <p:sp>
              <p:nvSpPr>
                <p:cNvPr id="27854" name="Freeform 21"/>
                <p:cNvSpPr/>
                <p:nvPr/>
              </p:nvSpPr>
              <p:spPr>
                <a:xfrm>
                  <a:off x="4740" y="2977"/>
                  <a:ext cx="416" cy="40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2" y="90"/>
                    </a:cxn>
                    <a:cxn ang="0">
                      <a:pos x="320" y="408"/>
                    </a:cxn>
                  </a:cxnLst>
                  <a:pathLst>
                    <a:path w="454" h="408">
                      <a:moveTo>
                        <a:pt x="0" y="0"/>
                      </a:moveTo>
                      <a:cubicBezTo>
                        <a:pt x="98" y="11"/>
                        <a:pt x="196" y="22"/>
                        <a:pt x="272" y="90"/>
                      </a:cubicBezTo>
                      <a:cubicBezTo>
                        <a:pt x="348" y="158"/>
                        <a:pt x="424" y="355"/>
                        <a:pt x="454" y="408"/>
                      </a:cubicBezTo>
                    </a:path>
                  </a:pathLst>
                </a:custGeom>
                <a:noFill/>
                <a:ln w="34925" cap="flat" cmpd="sng">
                  <a:solidFill>
                    <a:srgbClr val="0000FF">
                      <a:alpha val="100000"/>
                    </a:srgbClr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7855" name="Freeform 22"/>
                <p:cNvSpPr/>
                <p:nvPr/>
              </p:nvSpPr>
              <p:spPr>
                <a:xfrm>
                  <a:off x="4740" y="2931"/>
                  <a:ext cx="458" cy="45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80" y="138"/>
                    </a:cxn>
                    <a:cxn ang="0">
                      <a:pos x="470" y="625"/>
                    </a:cxn>
                  </a:cxnLst>
                  <a:pathLst>
                    <a:path w="454" h="408">
                      <a:moveTo>
                        <a:pt x="0" y="0"/>
                      </a:moveTo>
                      <a:cubicBezTo>
                        <a:pt x="98" y="11"/>
                        <a:pt x="196" y="22"/>
                        <a:pt x="272" y="90"/>
                      </a:cubicBezTo>
                      <a:cubicBezTo>
                        <a:pt x="348" y="158"/>
                        <a:pt x="424" y="355"/>
                        <a:pt x="454" y="408"/>
                      </a:cubicBezTo>
                    </a:path>
                  </a:pathLst>
                </a:custGeom>
                <a:noFill/>
                <a:ln w="34925" cap="flat" cmpd="sng">
                  <a:solidFill>
                    <a:srgbClr val="0000FF">
                      <a:alpha val="100000"/>
                    </a:srgbClr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7856" name="Freeform 23"/>
                <p:cNvSpPr/>
                <p:nvPr/>
              </p:nvSpPr>
              <p:spPr>
                <a:xfrm>
                  <a:off x="4740" y="2886"/>
                  <a:ext cx="499" cy="45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98" y="137"/>
                    </a:cxn>
                    <a:cxn ang="0">
                      <a:pos x="662" y="620"/>
                    </a:cxn>
                  </a:cxnLst>
                  <a:pathLst>
                    <a:path w="454" h="408">
                      <a:moveTo>
                        <a:pt x="0" y="0"/>
                      </a:moveTo>
                      <a:cubicBezTo>
                        <a:pt x="98" y="11"/>
                        <a:pt x="196" y="22"/>
                        <a:pt x="272" y="90"/>
                      </a:cubicBezTo>
                      <a:cubicBezTo>
                        <a:pt x="348" y="158"/>
                        <a:pt x="424" y="355"/>
                        <a:pt x="454" y="408"/>
                      </a:cubicBezTo>
                    </a:path>
                  </a:pathLst>
                </a:custGeom>
                <a:noFill/>
                <a:ln w="34925" cap="flat" cmpd="sng">
                  <a:solidFill>
                    <a:srgbClr val="0000FF">
                      <a:alpha val="100000"/>
                    </a:srgbClr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27853" name="Text Box 24"/>
              <p:cNvSpPr txBox="1"/>
              <p:nvPr/>
            </p:nvSpPr>
            <p:spPr>
              <a:xfrm>
                <a:off x="4308" y="2387"/>
                <a:ext cx="138" cy="167"/>
              </a:xfrm>
              <a:prstGeom prst="rect">
                <a:avLst/>
              </a:prstGeom>
              <a:solidFill>
                <a:schemeClr val="bg1"/>
              </a:solidFill>
              <a:ln w="349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zh-CN" sz="1000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7658" name="Line 25"/>
            <p:cNvSpPr/>
            <p:nvPr/>
          </p:nvSpPr>
          <p:spPr>
            <a:xfrm>
              <a:off x="1565" y="1389"/>
              <a:ext cx="2041" cy="862"/>
            </a:xfrm>
            <a:prstGeom prst="line">
              <a:avLst/>
            </a:prstGeom>
            <a:ln w="34925" cap="flat" cmpd="sng">
              <a:solidFill>
                <a:srgbClr val="D60093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7659" name="Line 26"/>
            <p:cNvSpPr/>
            <p:nvPr/>
          </p:nvSpPr>
          <p:spPr>
            <a:xfrm flipV="1">
              <a:off x="2064" y="1207"/>
              <a:ext cx="0" cy="997"/>
            </a:xfrm>
            <a:prstGeom prst="line">
              <a:avLst/>
            </a:prstGeom>
            <a:ln w="317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0" name="Line 27"/>
            <p:cNvSpPr/>
            <p:nvPr/>
          </p:nvSpPr>
          <p:spPr>
            <a:xfrm flipV="1">
              <a:off x="2154" y="1208"/>
              <a:ext cx="0" cy="997"/>
            </a:xfrm>
            <a:prstGeom prst="line">
              <a:avLst/>
            </a:prstGeom>
            <a:ln w="317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1" name="Line 28"/>
            <p:cNvSpPr/>
            <p:nvPr/>
          </p:nvSpPr>
          <p:spPr>
            <a:xfrm flipV="1">
              <a:off x="2699" y="1208"/>
              <a:ext cx="0" cy="997"/>
            </a:xfrm>
            <a:prstGeom prst="line">
              <a:avLst/>
            </a:prstGeom>
            <a:ln w="317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2" name="Line 29"/>
            <p:cNvSpPr/>
            <p:nvPr/>
          </p:nvSpPr>
          <p:spPr>
            <a:xfrm flipV="1">
              <a:off x="3152" y="1207"/>
              <a:ext cx="0" cy="952"/>
            </a:xfrm>
            <a:prstGeom prst="line">
              <a:avLst/>
            </a:prstGeom>
            <a:ln w="317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3" name="Line 30"/>
            <p:cNvSpPr/>
            <p:nvPr/>
          </p:nvSpPr>
          <p:spPr>
            <a:xfrm flipV="1">
              <a:off x="3243" y="1208"/>
              <a:ext cx="0" cy="997"/>
            </a:xfrm>
            <a:prstGeom prst="line">
              <a:avLst/>
            </a:prstGeom>
            <a:ln w="317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4" name="Line 31"/>
            <p:cNvSpPr/>
            <p:nvPr/>
          </p:nvSpPr>
          <p:spPr>
            <a:xfrm flipV="1">
              <a:off x="2608" y="1207"/>
              <a:ext cx="0" cy="952"/>
            </a:xfrm>
            <a:prstGeom prst="line">
              <a:avLst/>
            </a:prstGeom>
            <a:ln w="317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5" name="Text Box 32"/>
            <p:cNvSpPr txBox="1"/>
            <p:nvPr/>
          </p:nvSpPr>
          <p:spPr>
            <a:xfrm>
              <a:off x="1791" y="1797"/>
              <a:ext cx="363" cy="250"/>
            </a:xfrm>
            <a:prstGeom prst="rect">
              <a:avLst/>
            </a:prstGeom>
            <a:noFill/>
            <a:ln w="349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i="1" dirty="0"/>
                <a:t>h</a:t>
              </a:r>
              <a:r>
                <a:rPr lang="en-US" altLang="zh-CN" sz="2000" b="1" i="1" dirty="0">
                  <a:sym typeface="Symbol" panose="05050102010706020507" pitchFamily="18" charset="2"/>
                </a:rPr>
                <a:t></a:t>
              </a:r>
              <a:r>
                <a:rPr lang="en-US" altLang="zh-CN" sz="2000" b="1" baseline="-25000" dirty="0">
                  <a:sym typeface="Symbol" panose="05050102010706020507" pitchFamily="18" charset="2"/>
                </a:rPr>
                <a:t>1</a:t>
              </a:r>
              <a:endParaRPr lang="en-US" altLang="zh-CN" sz="2000" b="1" baseline="-25000" dirty="0">
                <a:sym typeface="Symbol" panose="05050102010706020507" pitchFamily="18" charset="2"/>
              </a:endParaRPr>
            </a:p>
          </p:txBody>
        </p:sp>
        <p:sp>
          <p:nvSpPr>
            <p:cNvPr id="27666" name="Text Box 33"/>
            <p:cNvSpPr txBox="1"/>
            <p:nvPr/>
          </p:nvSpPr>
          <p:spPr>
            <a:xfrm>
              <a:off x="2336" y="1888"/>
              <a:ext cx="318" cy="250"/>
            </a:xfrm>
            <a:prstGeom prst="rect">
              <a:avLst/>
            </a:prstGeom>
            <a:noFill/>
            <a:ln w="349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i="1" dirty="0"/>
                <a:t>h</a:t>
              </a:r>
              <a:r>
                <a:rPr lang="en-US" altLang="zh-CN" sz="2000" b="1" i="1" dirty="0">
                  <a:sym typeface="Symbol" panose="05050102010706020507" pitchFamily="18" charset="2"/>
                </a:rPr>
                <a:t></a:t>
              </a:r>
              <a:r>
                <a:rPr lang="en-US" altLang="zh-CN" sz="2000" b="1" baseline="-25000" dirty="0">
                  <a:sym typeface="Symbol" panose="05050102010706020507" pitchFamily="18" charset="2"/>
                </a:rPr>
                <a:t>2</a:t>
              </a:r>
              <a:endParaRPr lang="en-US" altLang="zh-CN" sz="2000" b="1" baseline="-25000" dirty="0">
                <a:sym typeface="Symbol" panose="05050102010706020507" pitchFamily="18" charset="2"/>
              </a:endParaRPr>
            </a:p>
          </p:txBody>
        </p:sp>
        <p:sp>
          <p:nvSpPr>
            <p:cNvPr id="27667" name="Text Box 34"/>
            <p:cNvSpPr txBox="1"/>
            <p:nvPr/>
          </p:nvSpPr>
          <p:spPr>
            <a:xfrm>
              <a:off x="2880" y="1979"/>
              <a:ext cx="318" cy="250"/>
            </a:xfrm>
            <a:prstGeom prst="rect">
              <a:avLst/>
            </a:prstGeom>
            <a:noFill/>
            <a:ln w="349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i="1" dirty="0"/>
                <a:t>h</a:t>
              </a:r>
              <a:r>
                <a:rPr lang="en-US" altLang="zh-CN" sz="2000" b="1" i="1" dirty="0">
                  <a:sym typeface="Symbol" panose="05050102010706020507" pitchFamily="18" charset="2"/>
                </a:rPr>
                <a:t></a:t>
              </a:r>
              <a:r>
                <a:rPr lang="en-US" altLang="zh-CN" sz="2000" b="1" baseline="-25000" dirty="0">
                  <a:sym typeface="Symbol" panose="05050102010706020507" pitchFamily="18" charset="2"/>
                </a:rPr>
                <a:t>3</a:t>
              </a:r>
              <a:endParaRPr lang="en-US" altLang="zh-CN" sz="2000" b="1" baseline="-25000" dirty="0">
                <a:sym typeface="Symbol" panose="05050102010706020507" pitchFamily="18" charset="2"/>
              </a:endParaRPr>
            </a:p>
          </p:txBody>
        </p:sp>
        <p:sp>
          <p:nvSpPr>
            <p:cNvPr id="27668" name="Text Box 35"/>
            <p:cNvSpPr txBox="1"/>
            <p:nvPr/>
          </p:nvSpPr>
          <p:spPr>
            <a:xfrm>
              <a:off x="2290" y="2478"/>
              <a:ext cx="227" cy="250"/>
            </a:xfrm>
            <a:prstGeom prst="rect">
              <a:avLst/>
            </a:prstGeom>
            <a:noFill/>
            <a:ln w="349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i="1" dirty="0"/>
                <a:t>a</a:t>
              </a:r>
              <a:endParaRPr lang="en-US" altLang="zh-CN" sz="2000" b="1" baseline="-25000" dirty="0">
                <a:sym typeface="Symbol" panose="05050102010706020507" pitchFamily="18" charset="2"/>
              </a:endParaRPr>
            </a:p>
          </p:txBody>
        </p:sp>
        <p:sp>
          <p:nvSpPr>
            <p:cNvPr id="27669" name="Line 36"/>
            <p:cNvSpPr/>
            <p:nvPr/>
          </p:nvSpPr>
          <p:spPr>
            <a:xfrm flipV="1">
              <a:off x="2109" y="2433"/>
              <a:ext cx="1" cy="227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0" name="Line 37"/>
            <p:cNvSpPr/>
            <p:nvPr/>
          </p:nvSpPr>
          <p:spPr>
            <a:xfrm flipV="1">
              <a:off x="2653" y="2433"/>
              <a:ext cx="1" cy="227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1" name="Line 38"/>
            <p:cNvSpPr/>
            <p:nvPr/>
          </p:nvSpPr>
          <p:spPr>
            <a:xfrm flipV="1">
              <a:off x="3198" y="2433"/>
              <a:ext cx="1" cy="227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2" name="Line 39"/>
            <p:cNvSpPr/>
            <p:nvPr/>
          </p:nvSpPr>
          <p:spPr>
            <a:xfrm flipV="1">
              <a:off x="3742" y="2387"/>
              <a:ext cx="1" cy="227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3" name="Text Box 40"/>
            <p:cNvSpPr txBox="1"/>
            <p:nvPr/>
          </p:nvSpPr>
          <p:spPr>
            <a:xfrm>
              <a:off x="2835" y="2478"/>
              <a:ext cx="227" cy="250"/>
            </a:xfrm>
            <a:prstGeom prst="rect">
              <a:avLst/>
            </a:prstGeom>
            <a:noFill/>
            <a:ln w="349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i="1" dirty="0"/>
                <a:t>a</a:t>
              </a:r>
              <a:endParaRPr lang="en-US" altLang="zh-CN" sz="2000" b="1" baseline="-25000" dirty="0">
                <a:sym typeface="Symbol" panose="05050102010706020507" pitchFamily="18" charset="2"/>
              </a:endParaRPr>
            </a:p>
          </p:txBody>
        </p:sp>
        <p:sp>
          <p:nvSpPr>
            <p:cNvPr id="27674" name="Text Box 41"/>
            <p:cNvSpPr txBox="1"/>
            <p:nvPr/>
          </p:nvSpPr>
          <p:spPr>
            <a:xfrm>
              <a:off x="3379" y="2478"/>
              <a:ext cx="227" cy="250"/>
            </a:xfrm>
            <a:prstGeom prst="rect">
              <a:avLst/>
            </a:prstGeom>
            <a:noFill/>
            <a:ln w="349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i="1" dirty="0"/>
                <a:t>a</a:t>
              </a:r>
              <a:endParaRPr lang="en-US" altLang="zh-CN" sz="2000" b="1" baseline="-25000" dirty="0">
                <a:sym typeface="Symbol" panose="05050102010706020507" pitchFamily="18" charset="2"/>
              </a:endParaRPr>
            </a:p>
          </p:txBody>
        </p:sp>
        <p:sp>
          <p:nvSpPr>
            <p:cNvPr id="27675" name="Line 42"/>
            <p:cNvSpPr/>
            <p:nvPr/>
          </p:nvSpPr>
          <p:spPr>
            <a:xfrm flipV="1">
              <a:off x="1565" y="1117"/>
              <a:ext cx="0" cy="108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6" name="Line 43"/>
            <p:cNvSpPr/>
            <p:nvPr/>
          </p:nvSpPr>
          <p:spPr>
            <a:xfrm flipV="1">
              <a:off x="839" y="1117"/>
              <a:ext cx="0" cy="11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7" name="Arc 44"/>
            <p:cNvSpPr/>
            <p:nvPr/>
          </p:nvSpPr>
          <p:spPr>
            <a:xfrm flipH="1" flipV="1">
              <a:off x="839" y="2297"/>
              <a:ext cx="84" cy="9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78" name="Arc 45"/>
            <p:cNvSpPr/>
            <p:nvPr/>
          </p:nvSpPr>
          <p:spPr>
            <a:xfrm flipH="1" flipV="1">
              <a:off x="1565" y="2206"/>
              <a:ext cx="46" cy="4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811" h="21600" fill="none">
                  <a:moveTo>
                    <a:pt x="0" y="1"/>
                  </a:moveTo>
                  <a:cubicBezTo>
                    <a:pt x="70" y="0"/>
                    <a:pt x="140" y="-1"/>
                    <a:pt x="211" y="0"/>
                  </a:cubicBezTo>
                  <a:cubicBezTo>
                    <a:pt x="12140" y="0"/>
                    <a:pt x="21811" y="9670"/>
                    <a:pt x="21811" y="21600"/>
                  </a:cubicBezTo>
                </a:path>
                <a:path w="21811" h="21600" stroke="0">
                  <a:moveTo>
                    <a:pt x="0" y="1"/>
                  </a:moveTo>
                  <a:cubicBezTo>
                    <a:pt x="70" y="0"/>
                    <a:pt x="140" y="-1"/>
                    <a:pt x="211" y="0"/>
                  </a:cubicBezTo>
                  <a:cubicBezTo>
                    <a:pt x="12140" y="0"/>
                    <a:pt x="21811" y="9670"/>
                    <a:pt x="21811" y="21600"/>
                  </a:cubicBezTo>
                  <a:lnTo>
                    <a:pt x="211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349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79" name="Line 46"/>
            <p:cNvSpPr/>
            <p:nvPr/>
          </p:nvSpPr>
          <p:spPr>
            <a:xfrm flipV="1">
              <a:off x="839" y="1389"/>
              <a:ext cx="72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0" name="Line 47"/>
            <p:cNvSpPr/>
            <p:nvPr/>
          </p:nvSpPr>
          <p:spPr>
            <a:xfrm flipV="1">
              <a:off x="1565" y="2433"/>
              <a:ext cx="1" cy="227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1" name="Text Box 48"/>
            <p:cNvSpPr txBox="1"/>
            <p:nvPr/>
          </p:nvSpPr>
          <p:spPr>
            <a:xfrm>
              <a:off x="1746" y="2478"/>
              <a:ext cx="227" cy="250"/>
            </a:xfrm>
            <a:prstGeom prst="rect">
              <a:avLst/>
            </a:prstGeom>
            <a:noFill/>
            <a:ln w="349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i="1" dirty="0"/>
                <a:t>a</a:t>
              </a:r>
              <a:endParaRPr lang="en-US" altLang="zh-CN" sz="2000" b="1" baseline="-25000" dirty="0">
                <a:sym typeface="Symbol" panose="05050102010706020507" pitchFamily="18" charset="2"/>
              </a:endParaRPr>
            </a:p>
          </p:txBody>
        </p:sp>
        <p:sp>
          <p:nvSpPr>
            <p:cNvPr id="27682" name="Arc 49"/>
            <p:cNvSpPr/>
            <p:nvPr/>
          </p:nvSpPr>
          <p:spPr>
            <a:xfrm flipH="1" flipV="1">
              <a:off x="3243" y="2206"/>
              <a:ext cx="45" cy="4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49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83" name="Line 50"/>
            <p:cNvSpPr/>
            <p:nvPr/>
          </p:nvSpPr>
          <p:spPr>
            <a:xfrm flipV="1">
              <a:off x="1565" y="2523"/>
              <a:ext cx="544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stealth" w="med" len="lg"/>
              <a:tailEnd type="stealth" w="med" len="lg"/>
            </a:ln>
          </p:spPr>
        </p:sp>
        <p:sp>
          <p:nvSpPr>
            <p:cNvPr id="27684" name="Line 51"/>
            <p:cNvSpPr/>
            <p:nvPr/>
          </p:nvSpPr>
          <p:spPr>
            <a:xfrm flipV="1">
              <a:off x="2109" y="2523"/>
              <a:ext cx="544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stealth" w="med" len="lg"/>
              <a:tailEnd type="stealth" w="med" len="lg"/>
            </a:ln>
          </p:spPr>
        </p:sp>
        <p:sp>
          <p:nvSpPr>
            <p:cNvPr id="27685" name="Line 52"/>
            <p:cNvSpPr/>
            <p:nvPr/>
          </p:nvSpPr>
          <p:spPr>
            <a:xfrm flipV="1">
              <a:off x="2653" y="2523"/>
              <a:ext cx="544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stealth" w="med" len="lg"/>
              <a:tailEnd type="stealth" w="med" len="lg"/>
            </a:ln>
          </p:spPr>
        </p:sp>
        <p:sp>
          <p:nvSpPr>
            <p:cNvPr id="27686" name="Line 53"/>
            <p:cNvSpPr/>
            <p:nvPr/>
          </p:nvSpPr>
          <p:spPr>
            <a:xfrm flipV="1">
              <a:off x="3198" y="2523"/>
              <a:ext cx="544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stealth" w="med" len="lg"/>
              <a:tailEnd type="stealth" w="med" len="lg"/>
            </a:ln>
          </p:spPr>
        </p:sp>
        <p:sp>
          <p:nvSpPr>
            <p:cNvPr id="27687" name="Line 54"/>
            <p:cNvSpPr/>
            <p:nvPr/>
          </p:nvSpPr>
          <p:spPr>
            <a:xfrm>
              <a:off x="2109" y="1706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8" name="Line 55"/>
            <p:cNvSpPr/>
            <p:nvPr/>
          </p:nvSpPr>
          <p:spPr>
            <a:xfrm>
              <a:off x="3152" y="2160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9" name="Line 56"/>
            <p:cNvSpPr/>
            <p:nvPr/>
          </p:nvSpPr>
          <p:spPr>
            <a:xfrm>
              <a:off x="2653" y="2115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0" name="Line 57"/>
            <p:cNvSpPr/>
            <p:nvPr/>
          </p:nvSpPr>
          <p:spPr>
            <a:xfrm>
              <a:off x="2653" y="2205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1" name="Line 58"/>
            <p:cNvSpPr/>
            <p:nvPr/>
          </p:nvSpPr>
          <p:spPr>
            <a:xfrm>
              <a:off x="2064" y="1979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2" name="Line 59"/>
            <p:cNvSpPr/>
            <p:nvPr/>
          </p:nvSpPr>
          <p:spPr>
            <a:xfrm>
              <a:off x="2109" y="2069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3" name="Line 60"/>
            <p:cNvSpPr/>
            <p:nvPr/>
          </p:nvSpPr>
          <p:spPr>
            <a:xfrm>
              <a:off x="2109" y="2160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4" name="Line 61"/>
            <p:cNvSpPr/>
            <p:nvPr/>
          </p:nvSpPr>
          <p:spPr>
            <a:xfrm>
              <a:off x="3016" y="2296"/>
              <a:ext cx="91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5" name="Line 62"/>
            <p:cNvSpPr/>
            <p:nvPr/>
          </p:nvSpPr>
          <p:spPr>
            <a:xfrm>
              <a:off x="2109" y="2024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6" name="Line 63"/>
            <p:cNvSpPr/>
            <p:nvPr/>
          </p:nvSpPr>
          <p:spPr>
            <a:xfrm>
              <a:off x="2608" y="2024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7" name="Line 64"/>
            <p:cNvSpPr/>
            <p:nvPr/>
          </p:nvSpPr>
          <p:spPr>
            <a:xfrm>
              <a:off x="1655" y="2296"/>
              <a:ext cx="91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8" name="Line 65"/>
            <p:cNvSpPr/>
            <p:nvPr/>
          </p:nvSpPr>
          <p:spPr>
            <a:xfrm>
              <a:off x="2608" y="2160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9" name="Line 66"/>
            <p:cNvSpPr/>
            <p:nvPr/>
          </p:nvSpPr>
          <p:spPr>
            <a:xfrm>
              <a:off x="3198" y="2205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0" name="Line 67"/>
            <p:cNvSpPr/>
            <p:nvPr/>
          </p:nvSpPr>
          <p:spPr>
            <a:xfrm>
              <a:off x="2653" y="2069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1" name="Line 68"/>
            <p:cNvSpPr/>
            <p:nvPr/>
          </p:nvSpPr>
          <p:spPr>
            <a:xfrm>
              <a:off x="3198" y="2115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2" name="Line 69"/>
            <p:cNvSpPr/>
            <p:nvPr/>
          </p:nvSpPr>
          <p:spPr>
            <a:xfrm>
              <a:off x="2653" y="1979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3" name="Line 70"/>
            <p:cNvSpPr/>
            <p:nvPr/>
          </p:nvSpPr>
          <p:spPr>
            <a:xfrm>
              <a:off x="2608" y="1888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4" name="Line 71"/>
            <p:cNvSpPr/>
            <p:nvPr/>
          </p:nvSpPr>
          <p:spPr>
            <a:xfrm>
              <a:off x="839" y="1616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5" name="Line 72"/>
            <p:cNvSpPr/>
            <p:nvPr/>
          </p:nvSpPr>
          <p:spPr>
            <a:xfrm>
              <a:off x="1292" y="2251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6" name="Line 73"/>
            <p:cNvSpPr/>
            <p:nvPr/>
          </p:nvSpPr>
          <p:spPr>
            <a:xfrm>
              <a:off x="1474" y="1434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7" name="Line 74"/>
            <p:cNvSpPr/>
            <p:nvPr/>
          </p:nvSpPr>
          <p:spPr>
            <a:xfrm>
              <a:off x="839" y="2115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8" name="Line 75"/>
            <p:cNvSpPr/>
            <p:nvPr/>
          </p:nvSpPr>
          <p:spPr>
            <a:xfrm>
              <a:off x="839" y="1888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9" name="Line 76"/>
            <p:cNvSpPr/>
            <p:nvPr/>
          </p:nvSpPr>
          <p:spPr>
            <a:xfrm>
              <a:off x="2109" y="1888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0" name="Line 77"/>
            <p:cNvSpPr/>
            <p:nvPr/>
          </p:nvSpPr>
          <p:spPr>
            <a:xfrm>
              <a:off x="2064" y="1933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1" name="Line 78"/>
            <p:cNvSpPr/>
            <p:nvPr/>
          </p:nvSpPr>
          <p:spPr>
            <a:xfrm>
              <a:off x="1407" y="1490"/>
              <a:ext cx="105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2" name="Line 79"/>
            <p:cNvSpPr/>
            <p:nvPr/>
          </p:nvSpPr>
          <p:spPr>
            <a:xfrm>
              <a:off x="989" y="2219"/>
              <a:ext cx="105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3" name="Line 80"/>
            <p:cNvSpPr/>
            <p:nvPr/>
          </p:nvSpPr>
          <p:spPr>
            <a:xfrm flipV="1">
              <a:off x="1407" y="2219"/>
              <a:ext cx="105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4" name="Line 81"/>
            <p:cNvSpPr/>
            <p:nvPr/>
          </p:nvSpPr>
          <p:spPr>
            <a:xfrm>
              <a:off x="1407" y="1658"/>
              <a:ext cx="105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5" name="Line 82"/>
            <p:cNvSpPr/>
            <p:nvPr/>
          </p:nvSpPr>
          <p:spPr>
            <a:xfrm>
              <a:off x="1512" y="1602"/>
              <a:ext cx="53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6" name="Line 83"/>
            <p:cNvSpPr/>
            <p:nvPr/>
          </p:nvSpPr>
          <p:spPr>
            <a:xfrm>
              <a:off x="1459" y="1770"/>
              <a:ext cx="53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7" name="Line 84"/>
            <p:cNvSpPr/>
            <p:nvPr/>
          </p:nvSpPr>
          <p:spPr>
            <a:xfrm>
              <a:off x="1512" y="1994"/>
              <a:ext cx="53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8" name="Line 85"/>
            <p:cNvSpPr/>
            <p:nvPr/>
          </p:nvSpPr>
          <p:spPr>
            <a:xfrm>
              <a:off x="1041" y="2330"/>
              <a:ext cx="53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19" name="Line 86"/>
            <p:cNvSpPr/>
            <p:nvPr/>
          </p:nvSpPr>
          <p:spPr>
            <a:xfrm>
              <a:off x="1197" y="2219"/>
              <a:ext cx="53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0" name="Line 87"/>
            <p:cNvSpPr/>
            <p:nvPr/>
          </p:nvSpPr>
          <p:spPr>
            <a:xfrm>
              <a:off x="884" y="2275"/>
              <a:ext cx="53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1" name="Line 88"/>
            <p:cNvSpPr/>
            <p:nvPr/>
          </p:nvSpPr>
          <p:spPr>
            <a:xfrm>
              <a:off x="1407" y="1938"/>
              <a:ext cx="53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2" name="Line 89"/>
            <p:cNvSpPr/>
            <p:nvPr/>
          </p:nvSpPr>
          <p:spPr>
            <a:xfrm>
              <a:off x="1407" y="1545"/>
              <a:ext cx="53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3" name="Line 90"/>
            <p:cNvSpPr/>
            <p:nvPr/>
          </p:nvSpPr>
          <p:spPr>
            <a:xfrm>
              <a:off x="1512" y="1713"/>
              <a:ext cx="53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4" name="Line 91"/>
            <p:cNvSpPr/>
            <p:nvPr/>
          </p:nvSpPr>
          <p:spPr>
            <a:xfrm>
              <a:off x="1459" y="2106"/>
              <a:ext cx="105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5" name="Line 92"/>
            <p:cNvSpPr/>
            <p:nvPr/>
          </p:nvSpPr>
          <p:spPr>
            <a:xfrm>
              <a:off x="1247" y="2296"/>
              <a:ext cx="105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6" name="Line 93"/>
            <p:cNvSpPr/>
            <p:nvPr/>
          </p:nvSpPr>
          <p:spPr>
            <a:xfrm>
              <a:off x="1459" y="1883"/>
              <a:ext cx="53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7" name="Line 94"/>
            <p:cNvSpPr/>
            <p:nvPr/>
          </p:nvSpPr>
          <p:spPr>
            <a:xfrm flipV="1">
              <a:off x="1459" y="1826"/>
              <a:ext cx="53" cy="1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28" name="Line 95"/>
            <p:cNvSpPr/>
            <p:nvPr/>
          </p:nvSpPr>
          <p:spPr>
            <a:xfrm>
              <a:off x="1459" y="2051"/>
              <a:ext cx="53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7729" name="Group 96"/>
            <p:cNvGrpSpPr/>
            <p:nvPr/>
          </p:nvGrpSpPr>
          <p:grpSpPr>
            <a:xfrm>
              <a:off x="884" y="1434"/>
              <a:ext cx="524" cy="728"/>
              <a:chOff x="4649" y="2387"/>
              <a:chExt cx="455" cy="589"/>
            </a:xfrm>
          </p:grpSpPr>
          <p:sp>
            <p:nvSpPr>
              <p:cNvPr id="27808" name="Line 97"/>
              <p:cNvSpPr/>
              <p:nvPr/>
            </p:nvSpPr>
            <p:spPr>
              <a:xfrm>
                <a:off x="4740" y="2432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09" name="Line 98"/>
              <p:cNvSpPr/>
              <p:nvPr/>
            </p:nvSpPr>
            <p:spPr>
              <a:xfrm>
                <a:off x="4921" y="2432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10" name="Line 99"/>
              <p:cNvSpPr/>
              <p:nvPr/>
            </p:nvSpPr>
            <p:spPr>
              <a:xfrm>
                <a:off x="5012" y="2704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11" name="Line 100"/>
              <p:cNvSpPr/>
              <p:nvPr/>
            </p:nvSpPr>
            <p:spPr>
              <a:xfrm>
                <a:off x="4876" y="2613"/>
                <a:ext cx="91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12" name="Line 101"/>
              <p:cNvSpPr/>
              <p:nvPr/>
            </p:nvSpPr>
            <p:spPr>
              <a:xfrm>
                <a:off x="4695" y="2704"/>
                <a:ext cx="90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13" name="Line 102"/>
              <p:cNvSpPr/>
              <p:nvPr/>
            </p:nvSpPr>
            <p:spPr>
              <a:xfrm>
                <a:off x="4921" y="2886"/>
                <a:ext cx="91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14" name="Line 103"/>
              <p:cNvSpPr/>
              <p:nvPr/>
            </p:nvSpPr>
            <p:spPr>
              <a:xfrm>
                <a:off x="4649" y="2477"/>
                <a:ext cx="91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15" name="Line 104"/>
              <p:cNvSpPr/>
              <p:nvPr/>
            </p:nvSpPr>
            <p:spPr>
              <a:xfrm>
                <a:off x="4876" y="2568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16" name="Line 105"/>
              <p:cNvSpPr/>
              <p:nvPr/>
            </p:nvSpPr>
            <p:spPr>
              <a:xfrm>
                <a:off x="4831" y="2795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17" name="Line 106"/>
              <p:cNvSpPr/>
              <p:nvPr/>
            </p:nvSpPr>
            <p:spPr>
              <a:xfrm>
                <a:off x="4831" y="2659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18" name="Line 107"/>
              <p:cNvSpPr/>
              <p:nvPr/>
            </p:nvSpPr>
            <p:spPr>
              <a:xfrm>
                <a:off x="5012" y="2477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19" name="Line 108"/>
              <p:cNvSpPr/>
              <p:nvPr/>
            </p:nvSpPr>
            <p:spPr>
              <a:xfrm>
                <a:off x="4695" y="2568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20" name="Line 109"/>
              <p:cNvSpPr/>
              <p:nvPr/>
            </p:nvSpPr>
            <p:spPr>
              <a:xfrm>
                <a:off x="4785" y="2886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21" name="Line 110"/>
              <p:cNvSpPr/>
              <p:nvPr/>
            </p:nvSpPr>
            <p:spPr>
              <a:xfrm>
                <a:off x="4785" y="2477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22" name="Line 111"/>
              <p:cNvSpPr/>
              <p:nvPr/>
            </p:nvSpPr>
            <p:spPr>
              <a:xfrm>
                <a:off x="4876" y="2704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23" name="Line 112"/>
              <p:cNvSpPr/>
              <p:nvPr/>
            </p:nvSpPr>
            <p:spPr>
              <a:xfrm>
                <a:off x="5012" y="2976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24" name="Line 113"/>
              <p:cNvSpPr/>
              <p:nvPr/>
            </p:nvSpPr>
            <p:spPr>
              <a:xfrm>
                <a:off x="5058" y="2613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25" name="Line 114"/>
              <p:cNvSpPr/>
              <p:nvPr/>
            </p:nvSpPr>
            <p:spPr>
              <a:xfrm>
                <a:off x="4740" y="2613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26" name="Line 115"/>
              <p:cNvSpPr/>
              <p:nvPr/>
            </p:nvSpPr>
            <p:spPr>
              <a:xfrm>
                <a:off x="4967" y="2795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27" name="Line 116"/>
              <p:cNvSpPr/>
              <p:nvPr/>
            </p:nvSpPr>
            <p:spPr>
              <a:xfrm>
                <a:off x="4831" y="2976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28" name="Line 117"/>
              <p:cNvSpPr/>
              <p:nvPr/>
            </p:nvSpPr>
            <p:spPr>
              <a:xfrm>
                <a:off x="4921" y="2477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29" name="Line 118"/>
              <p:cNvSpPr/>
              <p:nvPr/>
            </p:nvSpPr>
            <p:spPr>
              <a:xfrm>
                <a:off x="4695" y="2976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30" name="Line 119"/>
              <p:cNvSpPr/>
              <p:nvPr/>
            </p:nvSpPr>
            <p:spPr>
              <a:xfrm>
                <a:off x="4695" y="2795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31" name="Line 120"/>
              <p:cNvSpPr/>
              <p:nvPr/>
            </p:nvSpPr>
            <p:spPr>
              <a:xfrm>
                <a:off x="4785" y="2568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32" name="Line 121"/>
              <p:cNvSpPr/>
              <p:nvPr/>
            </p:nvSpPr>
            <p:spPr>
              <a:xfrm>
                <a:off x="4831" y="2387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33" name="Line 122"/>
              <p:cNvSpPr/>
              <p:nvPr/>
            </p:nvSpPr>
            <p:spPr>
              <a:xfrm>
                <a:off x="5058" y="2387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34" name="Line 123"/>
              <p:cNvSpPr/>
              <p:nvPr/>
            </p:nvSpPr>
            <p:spPr>
              <a:xfrm>
                <a:off x="4831" y="2432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35" name="Line 124"/>
              <p:cNvSpPr/>
              <p:nvPr/>
            </p:nvSpPr>
            <p:spPr>
              <a:xfrm>
                <a:off x="5012" y="2523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36" name="Line 125"/>
              <p:cNvSpPr/>
              <p:nvPr/>
            </p:nvSpPr>
            <p:spPr>
              <a:xfrm>
                <a:off x="4695" y="2886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37" name="Line 126"/>
              <p:cNvSpPr/>
              <p:nvPr/>
            </p:nvSpPr>
            <p:spPr>
              <a:xfrm>
                <a:off x="4831" y="2750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38" name="Line 127"/>
              <p:cNvSpPr/>
              <p:nvPr/>
            </p:nvSpPr>
            <p:spPr>
              <a:xfrm>
                <a:off x="4785" y="2523"/>
                <a:ext cx="91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39" name="Line 128"/>
              <p:cNvSpPr/>
              <p:nvPr/>
            </p:nvSpPr>
            <p:spPr>
              <a:xfrm>
                <a:off x="4695" y="2387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40" name="Line 129"/>
              <p:cNvSpPr/>
              <p:nvPr/>
            </p:nvSpPr>
            <p:spPr>
              <a:xfrm>
                <a:off x="5058" y="2750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41" name="Line 130"/>
              <p:cNvSpPr/>
              <p:nvPr/>
            </p:nvSpPr>
            <p:spPr>
              <a:xfrm>
                <a:off x="4921" y="2750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42" name="Line 131"/>
              <p:cNvSpPr/>
              <p:nvPr/>
            </p:nvSpPr>
            <p:spPr>
              <a:xfrm>
                <a:off x="5058" y="2886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43" name="Line 132"/>
              <p:cNvSpPr/>
              <p:nvPr/>
            </p:nvSpPr>
            <p:spPr>
              <a:xfrm>
                <a:off x="5058" y="2840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44" name="Line 133"/>
              <p:cNvSpPr/>
              <p:nvPr/>
            </p:nvSpPr>
            <p:spPr>
              <a:xfrm>
                <a:off x="4831" y="2840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45" name="Line 134"/>
              <p:cNvSpPr/>
              <p:nvPr/>
            </p:nvSpPr>
            <p:spPr>
              <a:xfrm>
                <a:off x="4876" y="2931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46" name="Line 135"/>
              <p:cNvSpPr/>
              <p:nvPr/>
            </p:nvSpPr>
            <p:spPr>
              <a:xfrm>
                <a:off x="4740" y="2750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47" name="Line 136"/>
              <p:cNvSpPr/>
              <p:nvPr/>
            </p:nvSpPr>
            <p:spPr>
              <a:xfrm>
                <a:off x="4649" y="2840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48" name="Line 137"/>
              <p:cNvSpPr/>
              <p:nvPr/>
            </p:nvSpPr>
            <p:spPr>
              <a:xfrm>
                <a:off x="4740" y="2931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49" name="Line 138"/>
              <p:cNvSpPr/>
              <p:nvPr/>
            </p:nvSpPr>
            <p:spPr>
              <a:xfrm>
                <a:off x="5012" y="2568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50" name="Line 139"/>
              <p:cNvSpPr/>
              <p:nvPr/>
            </p:nvSpPr>
            <p:spPr>
              <a:xfrm>
                <a:off x="4967" y="2659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51" name="Line 140"/>
              <p:cNvSpPr/>
              <p:nvPr/>
            </p:nvSpPr>
            <p:spPr>
              <a:xfrm>
                <a:off x="4649" y="2659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7730" name="Line 141"/>
            <p:cNvSpPr/>
            <p:nvPr/>
          </p:nvSpPr>
          <p:spPr>
            <a:xfrm>
              <a:off x="1974" y="2387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1" name="Line 142"/>
            <p:cNvSpPr/>
            <p:nvPr/>
          </p:nvSpPr>
          <p:spPr>
            <a:xfrm>
              <a:off x="2109" y="1842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2" name="Line 143"/>
            <p:cNvSpPr/>
            <p:nvPr/>
          </p:nvSpPr>
          <p:spPr>
            <a:xfrm>
              <a:off x="1928" y="2297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3" name="Line 144"/>
            <p:cNvSpPr/>
            <p:nvPr/>
          </p:nvSpPr>
          <p:spPr>
            <a:xfrm>
              <a:off x="1792" y="2251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4" name="Line 145"/>
            <p:cNvSpPr/>
            <p:nvPr/>
          </p:nvSpPr>
          <p:spPr>
            <a:xfrm>
              <a:off x="1475" y="2251"/>
              <a:ext cx="90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5" name="Line 146"/>
            <p:cNvSpPr/>
            <p:nvPr/>
          </p:nvSpPr>
          <p:spPr>
            <a:xfrm>
              <a:off x="1611" y="2342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6" name="Line 147"/>
            <p:cNvSpPr/>
            <p:nvPr/>
          </p:nvSpPr>
          <p:spPr>
            <a:xfrm>
              <a:off x="1656" y="2251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7" name="Line 148"/>
            <p:cNvSpPr/>
            <p:nvPr/>
          </p:nvSpPr>
          <p:spPr>
            <a:xfrm>
              <a:off x="1747" y="2342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8" name="Line 149"/>
            <p:cNvSpPr/>
            <p:nvPr/>
          </p:nvSpPr>
          <p:spPr>
            <a:xfrm>
              <a:off x="1475" y="2342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39" name="Line 150"/>
            <p:cNvSpPr/>
            <p:nvPr/>
          </p:nvSpPr>
          <p:spPr>
            <a:xfrm>
              <a:off x="1111" y="2251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0" name="Line 151"/>
            <p:cNvSpPr/>
            <p:nvPr/>
          </p:nvSpPr>
          <p:spPr>
            <a:xfrm>
              <a:off x="1838" y="2297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1" name="Line 152"/>
            <p:cNvSpPr/>
            <p:nvPr/>
          </p:nvSpPr>
          <p:spPr>
            <a:xfrm>
              <a:off x="2064" y="1752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2" name="Line 153"/>
            <p:cNvSpPr/>
            <p:nvPr/>
          </p:nvSpPr>
          <p:spPr>
            <a:xfrm>
              <a:off x="1838" y="2387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3" name="Line 154"/>
            <p:cNvSpPr/>
            <p:nvPr/>
          </p:nvSpPr>
          <p:spPr>
            <a:xfrm>
              <a:off x="1611" y="2387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4" name="Line 155"/>
            <p:cNvSpPr/>
            <p:nvPr/>
          </p:nvSpPr>
          <p:spPr>
            <a:xfrm>
              <a:off x="1520" y="2297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5" name="Line 156"/>
            <p:cNvSpPr/>
            <p:nvPr/>
          </p:nvSpPr>
          <p:spPr>
            <a:xfrm>
              <a:off x="1429" y="2387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6" name="Line 157"/>
            <p:cNvSpPr/>
            <p:nvPr/>
          </p:nvSpPr>
          <p:spPr>
            <a:xfrm>
              <a:off x="2518" y="2387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7" name="Line 158"/>
            <p:cNvSpPr/>
            <p:nvPr/>
          </p:nvSpPr>
          <p:spPr>
            <a:xfrm>
              <a:off x="2427" y="2342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8" name="Line 159"/>
            <p:cNvSpPr/>
            <p:nvPr/>
          </p:nvSpPr>
          <p:spPr>
            <a:xfrm>
              <a:off x="2472" y="2297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49" name="Line 160"/>
            <p:cNvSpPr/>
            <p:nvPr/>
          </p:nvSpPr>
          <p:spPr>
            <a:xfrm flipV="1">
              <a:off x="2472" y="2251"/>
              <a:ext cx="46" cy="1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0" name="Line 161"/>
            <p:cNvSpPr/>
            <p:nvPr/>
          </p:nvSpPr>
          <p:spPr>
            <a:xfrm>
              <a:off x="2336" y="2251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1" name="Line 162"/>
            <p:cNvSpPr/>
            <p:nvPr/>
          </p:nvSpPr>
          <p:spPr>
            <a:xfrm>
              <a:off x="2019" y="2251"/>
              <a:ext cx="90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2" name="Line 163"/>
            <p:cNvSpPr/>
            <p:nvPr/>
          </p:nvSpPr>
          <p:spPr>
            <a:xfrm>
              <a:off x="2155" y="2342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3" name="Line 164"/>
            <p:cNvSpPr/>
            <p:nvPr/>
          </p:nvSpPr>
          <p:spPr>
            <a:xfrm>
              <a:off x="2200" y="2251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4" name="Line 165"/>
            <p:cNvSpPr/>
            <p:nvPr/>
          </p:nvSpPr>
          <p:spPr>
            <a:xfrm>
              <a:off x="2291" y="2342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5" name="Line 166"/>
            <p:cNvSpPr/>
            <p:nvPr/>
          </p:nvSpPr>
          <p:spPr>
            <a:xfrm>
              <a:off x="2019" y="2342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6" name="Line 167"/>
            <p:cNvSpPr/>
            <p:nvPr/>
          </p:nvSpPr>
          <p:spPr>
            <a:xfrm>
              <a:off x="2155" y="2297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7" name="Line 168"/>
            <p:cNvSpPr/>
            <p:nvPr/>
          </p:nvSpPr>
          <p:spPr>
            <a:xfrm>
              <a:off x="2382" y="2297"/>
              <a:ext cx="4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8" name="Line 169"/>
            <p:cNvSpPr/>
            <p:nvPr/>
          </p:nvSpPr>
          <p:spPr>
            <a:xfrm>
              <a:off x="2245" y="2297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59" name="Line 170"/>
            <p:cNvSpPr/>
            <p:nvPr/>
          </p:nvSpPr>
          <p:spPr>
            <a:xfrm>
              <a:off x="2426" y="2387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0" name="Line 171"/>
            <p:cNvSpPr/>
            <p:nvPr/>
          </p:nvSpPr>
          <p:spPr>
            <a:xfrm>
              <a:off x="2155" y="2387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1" name="Line 172"/>
            <p:cNvSpPr/>
            <p:nvPr/>
          </p:nvSpPr>
          <p:spPr>
            <a:xfrm>
              <a:off x="2064" y="1661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2" name="Line 173"/>
            <p:cNvSpPr/>
            <p:nvPr/>
          </p:nvSpPr>
          <p:spPr>
            <a:xfrm>
              <a:off x="1973" y="2387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3" name="Line 174"/>
            <p:cNvSpPr/>
            <p:nvPr/>
          </p:nvSpPr>
          <p:spPr>
            <a:xfrm>
              <a:off x="3017" y="2387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4" name="Line 175"/>
            <p:cNvSpPr/>
            <p:nvPr/>
          </p:nvSpPr>
          <p:spPr>
            <a:xfrm>
              <a:off x="2926" y="2342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5" name="Line 176"/>
            <p:cNvSpPr/>
            <p:nvPr/>
          </p:nvSpPr>
          <p:spPr>
            <a:xfrm>
              <a:off x="1247" y="1434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6" name="Line 177"/>
            <p:cNvSpPr/>
            <p:nvPr/>
          </p:nvSpPr>
          <p:spPr>
            <a:xfrm flipV="1">
              <a:off x="1292" y="2115"/>
              <a:ext cx="46" cy="1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7" name="Line 178"/>
            <p:cNvSpPr/>
            <p:nvPr/>
          </p:nvSpPr>
          <p:spPr>
            <a:xfrm>
              <a:off x="2835" y="2251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8" name="Line 179"/>
            <p:cNvSpPr/>
            <p:nvPr/>
          </p:nvSpPr>
          <p:spPr>
            <a:xfrm>
              <a:off x="2518" y="2251"/>
              <a:ext cx="90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69" name="Line 180"/>
            <p:cNvSpPr/>
            <p:nvPr/>
          </p:nvSpPr>
          <p:spPr>
            <a:xfrm>
              <a:off x="2654" y="2342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0" name="Line 181"/>
            <p:cNvSpPr/>
            <p:nvPr/>
          </p:nvSpPr>
          <p:spPr>
            <a:xfrm>
              <a:off x="2699" y="2251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1" name="Line 182"/>
            <p:cNvSpPr/>
            <p:nvPr/>
          </p:nvSpPr>
          <p:spPr>
            <a:xfrm>
              <a:off x="2790" y="2342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2" name="Line 183"/>
            <p:cNvSpPr/>
            <p:nvPr/>
          </p:nvSpPr>
          <p:spPr>
            <a:xfrm>
              <a:off x="2064" y="2115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3" name="Line 184"/>
            <p:cNvSpPr/>
            <p:nvPr/>
          </p:nvSpPr>
          <p:spPr>
            <a:xfrm>
              <a:off x="2608" y="2296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4" name="Line 185"/>
            <p:cNvSpPr/>
            <p:nvPr/>
          </p:nvSpPr>
          <p:spPr>
            <a:xfrm>
              <a:off x="2881" y="2297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5" name="Line 186"/>
            <p:cNvSpPr/>
            <p:nvPr/>
          </p:nvSpPr>
          <p:spPr>
            <a:xfrm>
              <a:off x="2744" y="2297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6" name="Line 187"/>
            <p:cNvSpPr/>
            <p:nvPr/>
          </p:nvSpPr>
          <p:spPr>
            <a:xfrm>
              <a:off x="2881" y="2387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7" name="Line 188"/>
            <p:cNvSpPr/>
            <p:nvPr/>
          </p:nvSpPr>
          <p:spPr>
            <a:xfrm>
              <a:off x="2654" y="2387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8" name="Line 189"/>
            <p:cNvSpPr/>
            <p:nvPr/>
          </p:nvSpPr>
          <p:spPr>
            <a:xfrm>
              <a:off x="3061" y="2296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79" name="Line 190"/>
            <p:cNvSpPr/>
            <p:nvPr/>
          </p:nvSpPr>
          <p:spPr>
            <a:xfrm>
              <a:off x="2472" y="2387"/>
              <a:ext cx="46" cy="0"/>
            </a:xfrm>
            <a:prstGeom prst="line">
              <a:avLst/>
            </a:prstGeom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7780" name="Group 191"/>
            <p:cNvGrpSpPr/>
            <p:nvPr/>
          </p:nvGrpSpPr>
          <p:grpSpPr>
            <a:xfrm>
              <a:off x="3107" y="2251"/>
              <a:ext cx="591" cy="136"/>
              <a:chOff x="4649" y="2704"/>
              <a:chExt cx="591" cy="136"/>
            </a:xfrm>
          </p:grpSpPr>
          <p:sp>
            <p:nvSpPr>
              <p:cNvPr id="27791" name="Line 192"/>
              <p:cNvSpPr/>
              <p:nvPr/>
            </p:nvSpPr>
            <p:spPr>
              <a:xfrm>
                <a:off x="5194" y="2840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92" name="Line 193"/>
              <p:cNvSpPr/>
              <p:nvPr/>
            </p:nvSpPr>
            <p:spPr>
              <a:xfrm>
                <a:off x="5103" y="2795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93" name="Line 194"/>
              <p:cNvSpPr/>
              <p:nvPr/>
            </p:nvSpPr>
            <p:spPr>
              <a:xfrm>
                <a:off x="5148" y="2750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94" name="Line 195"/>
              <p:cNvSpPr/>
              <p:nvPr/>
            </p:nvSpPr>
            <p:spPr>
              <a:xfrm flipV="1">
                <a:off x="5148" y="2704"/>
                <a:ext cx="46" cy="1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95" name="Line 196"/>
              <p:cNvSpPr/>
              <p:nvPr/>
            </p:nvSpPr>
            <p:spPr>
              <a:xfrm>
                <a:off x="5012" y="2704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96" name="Line 197"/>
              <p:cNvSpPr/>
              <p:nvPr/>
            </p:nvSpPr>
            <p:spPr>
              <a:xfrm>
                <a:off x="4695" y="2704"/>
                <a:ext cx="90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97" name="Line 198"/>
              <p:cNvSpPr/>
              <p:nvPr/>
            </p:nvSpPr>
            <p:spPr>
              <a:xfrm>
                <a:off x="4831" y="2795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98" name="Line 199"/>
              <p:cNvSpPr/>
              <p:nvPr/>
            </p:nvSpPr>
            <p:spPr>
              <a:xfrm>
                <a:off x="4876" y="2704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99" name="Line 200"/>
              <p:cNvSpPr/>
              <p:nvPr/>
            </p:nvSpPr>
            <p:spPr>
              <a:xfrm>
                <a:off x="4967" y="2795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00" name="Line 201"/>
              <p:cNvSpPr/>
              <p:nvPr/>
            </p:nvSpPr>
            <p:spPr>
              <a:xfrm>
                <a:off x="4695" y="2795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01" name="Line 202"/>
              <p:cNvSpPr/>
              <p:nvPr/>
            </p:nvSpPr>
            <p:spPr>
              <a:xfrm>
                <a:off x="4831" y="2750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02" name="Line 203"/>
              <p:cNvSpPr/>
              <p:nvPr/>
            </p:nvSpPr>
            <p:spPr>
              <a:xfrm>
                <a:off x="5058" y="2750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03" name="Line 204"/>
              <p:cNvSpPr/>
              <p:nvPr/>
            </p:nvSpPr>
            <p:spPr>
              <a:xfrm>
                <a:off x="4921" y="2750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04" name="Line 205"/>
              <p:cNvSpPr/>
              <p:nvPr/>
            </p:nvSpPr>
            <p:spPr>
              <a:xfrm>
                <a:off x="5058" y="2840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05" name="Line 206"/>
              <p:cNvSpPr/>
              <p:nvPr/>
            </p:nvSpPr>
            <p:spPr>
              <a:xfrm>
                <a:off x="4831" y="2840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06" name="Line 207"/>
              <p:cNvSpPr/>
              <p:nvPr/>
            </p:nvSpPr>
            <p:spPr>
              <a:xfrm>
                <a:off x="4740" y="2750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07" name="Line 208"/>
              <p:cNvSpPr/>
              <p:nvPr/>
            </p:nvSpPr>
            <p:spPr>
              <a:xfrm>
                <a:off x="4649" y="2840"/>
                <a:ext cx="46" cy="0"/>
              </a:xfrm>
              <a:prstGeom prst="line">
                <a:avLst/>
              </a:prstGeom>
              <a:ln w="349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7781" name="Line 209"/>
            <p:cNvSpPr/>
            <p:nvPr/>
          </p:nvSpPr>
          <p:spPr>
            <a:xfrm>
              <a:off x="884" y="2387"/>
              <a:ext cx="28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82" name="Line 210"/>
            <p:cNvSpPr/>
            <p:nvPr/>
          </p:nvSpPr>
          <p:spPr>
            <a:xfrm flipV="1">
              <a:off x="1610" y="2251"/>
              <a:ext cx="40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83" name="Line 211"/>
            <p:cNvSpPr/>
            <p:nvPr/>
          </p:nvSpPr>
          <p:spPr>
            <a:xfrm flipV="1">
              <a:off x="2200" y="2251"/>
              <a:ext cx="36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84" name="Arc 212"/>
            <p:cNvSpPr/>
            <p:nvPr/>
          </p:nvSpPr>
          <p:spPr>
            <a:xfrm flipH="1" flipV="1">
              <a:off x="2154" y="2206"/>
              <a:ext cx="45" cy="4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49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785" name="Arc 213"/>
            <p:cNvSpPr/>
            <p:nvPr/>
          </p:nvSpPr>
          <p:spPr>
            <a:xfrm flipV="1">
              <a:off x="2018" y="2160"/>
              <a:ext cx="46" cy="9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17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786" name="Arc 214"/>
            <p:cNvSpPr/>
            <p:nvPr/>
          </p:nvSpPr>
          <p:spPr>
            <a:xfrm flipV="1">
              <a:off x="2563" y="2160"/>
              <a:ext cx="46" cy="9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49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787" name="Line 215"/>
            <p:cNvSpPr/>
            <p:nvPr/>
          </p:nvSpPr>
          <p:spPr>
            <a:xfrm flipV="1">
              <a:off x="2744" y="2251"/>
              <a:ext cx="363" cy="0"/>
            </a:xfrm>
            <a:prstGeom prst="line">
              <a:avLst/>
            </a:prstGeom>
            <a:ln w="349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88" name="Line 216"/>
            <p:cNvSpPr/>
            <p:nvPr/>
          </p:nvSpPr>
          <p:spPr>
            <a:xfrm flipV="1">
              <a:off x="3288" y="2251"/>
              <a:ext cx="36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89" name="Arc 217"/>
            <p:cNvSpPr/>
            <p:nvPr/>
          </p:nvSpPr>
          <p:spPr>
            <a:xfrm flipV="1">
              <a:off x="3107" y="2160"/>
              <a:ext cx="46" cy="9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49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790" name="Arc 218"/>
            <p:cNvSpPr/>
            <p:nvPr/>
          </p:nvSpPr>
          <p:spPr>
            <a:xfrm flipH="1" flipV="1">
              <a:off x="2699" y="2206"/>
              <a:ext cx="45" cy="4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49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12188" name="Text Box 220"/>
          <p:cNvSpPr txBox="1"/>
          <p:nvPr/>
        </p:nvSpPr>
        <p:spPr>
          <a:xfrm>
            <a:off x="323850" y="5300663"/>
            <a:ext cx="8316913" cy="94615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None/>
            </a:pPr>
            <a:r>
              <a:rPr lang="en-US" altLang="zh-CN" sz="2800" b="1" dirty="0"/>
              <a:t>    </a:t>
            </a:r>
            <a:r>
              <a:rPr lang="zh-CN" altLang="en-US" sz="2800" b="1" dirty="0"/>
              <a:t>黏性流体在水平均匀圆管中沿着流体流动方向，其压强的降落与各支管到容器的距离成正比。</a:t>
            </a:r>
            <a:r>
              <a:rPr lang="zh-CN" altLang="en-US" sz="2800" dirty="0"/>
              <a:t> </a:t>
            </a:r>
            <a:endParaRPr lang="zh-CN" altLang="en-US" sz="2800" dirty="0"/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1970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1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1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1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12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70" grpId="0" build="p"/>
      <p:bldP spid="21218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42690" name="Rectangle 2"/>
          <p:cNvSpPr>
            <a:spLocks noGrp="1"/>
          </p:cNvSpPr>
          <p:nvPr>
            <p:ph idx="1"/>
          </p:nvPr>
        </p:nvSpPr>
        <p:spPr>
          <a:xfrm>
            <a:off x="250825" y="908050"/>
            <a:ext cx="8353425" cy="144145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05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333399"/>
                </a:solidFill>
              </a:rPr>
              <a:t>(1) </a:t>
            </a:r>
            <a:r>
              <a:rPr lang="zh-CN" altLang="en-US" sz="2800" b="1" dirty="0">
                <a:solidFill>
                  <a:srgbClr val="333399"/>
                </a:solidFill>
              </a:rPr>
              <a:t>条件</a:t>
            </a:r>
            <a:r>
              <a:rPr lang="en-US" altLang="zh-CN" sz="2800" b="1" dirty="0">
                <a:solidFill>
                  <a:srgbClr val="333399"/>
                </a:solidFill>
              </a:rPr>
              <a:t>:</a:t>
            </a:r>
            <a:r>
              <a:rPr lang="en-US" altLang="zh-CN" sz="2800" b="1" dirty="0">
                <a:solidFill>
                  <a:schemeClr val="folHlink"/>
                </a:solidFill>
              </a:rPr>
              <a:t> </a:t>
            </a:r>
            <a:r>
              <a:rPr lang="zh-CN" altLang="en-US" sz="2800" b="1" dirty="0"/>
              <a:t>不可压缩的牛顿黏性流体在水平圆管中做稳定层流</a:t>
            </a:r>
            <a:r>
              <a:rPr lang="en-US" altLang="zh-CN" sz="2800" b="1" dirty="0"/>
              <a:t>.</a:t>
            </a:r>
            <a:endParaRPr lang="en-US" altLang="zh-CN" sz="2800" b="1" dirty="0"/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None/>
            </a:pPr>
            <a:r>
              <a:rPr lang="en-US" altLang="zh-CN" sz="2800" b="1" i="1" dirty="0">
                <a:solidFill>
                  <a:schemeClr val="accent2"/>
                </a:solidFill>
              </a:rPr>
              <a:t>    </a:t>
            </a:r>
            <a:r>
              <a:rPr lang="en-US" altLang="zh-CN" sz="2800" b="1" i="1" dirty="0">
                <a:solidFill>
                  <a:srgbClr val="333399"/>
                </a:solidFill>
              </a:rPr>
              <a:t>Re</a:t>
            </a:r>
            <a:r>
              <a:rPr lang="en-US" altLang="zh-CN" sz="2800" b="1" dirty="0">
                <a:solidFill>
                  <a:srgbClr val="333399"/>
                </a:solidFill>
              </a:rPr>
              <a:t>&lt;2000, </a:t>
            </a:r>
            <a:r>
              <a:rPr lang="zh-CN" altLang="en-US" sz="2800" b="1" dirty="0">
                <a:solidFill>
                  <a:srgbClr val="333399"/>
                </a:solidFill>
              </a:rPr>
              <a:t>层流</a:t>
            </a:r>
            <a:r>
              <a:rPr lang="en-US" altLang="zh-CN" sz="2800" b="1" dirty="0">
                <a:solidFill>
                  <a:srgbClr val="333399"/>
                </a:solidFill>
              </a:rPr>
              <a:t>;</a:t>
            </a:r>
            <a:r>
              <a:rPr lang="en-US" altLang="zh-CN" sz="2800" b="1" i="1" dirty="0">
                <a:solidFill>
                  <a:srgbClr val="333399"/>
                </a:solidFill>
              </a:rPr>
              <a:t> r</a:t>
            </a:r>
            <a:r>
              <a:rPr lang="en-US" altLang="zh-CN" sz="2800" b="1" dirty="0">
                <a:solidFill>
                  <a:srgbClr val="333399"/>
                </a:solidFill>
                <a:cs typeface="Times New Roman" panose="02020603050405020304" pitchFamily="18" charset="0"/>
              </a:rPr>
              <a:t>↑</a:t>
            </a:r>
            <a:r>
              <a:rPr lang="en-US" altLang="zh-CN" sz="2800" b="1" dirty="0">
                <a:solidFill>
                  <a:srgbClr val="333399"/>
                </a:solidFill>
              </a:rPr>
              <a:t>, </a:t>
            </a:r>
            <a:r>
              <a:rPr lang="en-US" altLang="zh-CN" sz="2800" b="1" i="1" dirty="0">
                <a:solidFill>
                  <a:srgbClr val="333399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800" b="1" dirty="0">
                <a:solidFill>
                  <a:srgbClr val="333399"/>
                </a:solidFill>
              </a:rPr>
              <a:t>↓, </a:t>
            </a:r>
            <a:r>
              <a:rPr lang="zh-CN" altLang="en-US" sz="2800" b="1" dirty="0">
                <a:solidFill>
                  <a:srgbClr val="333399"/>
                </a:solidFill>
              </a:rPr>
              <a:t>轴心</a:t>
            </a:r>
            <a:r>
              <a:rPr lang="en-US" altLang="zh-CN" sz="2800" b="1" dirty="0">
                <a:solidFill>
                  <a:srgbClr val="333399"/>
                </a:solidFill>
              </a:rPr>
              <a:t>, </a:t>
            </a:r>
            <a:r>
              <a:rPr lang="en-US" altLang="zh-CN" sz="2800" b="1" i="1" dirty="0">
                <a:solidFill>
                  <a:srgbClr val="333399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solidFill>
                  <a:srgbClr val="333399"/>
                </a:solidFill>
                <a:cs typeface="Times New Roman" panose="02020603050405020304" pitchFamily="18" charset="0"/>
              </a:rPr>
              <a:t>max</a:t>
            </a:r>
            <a:r>
              <a:rPr lang="en-US" altLang="zh-CN" sz="2800" b="1" dirty="0">
                <a:solidFill>
                  <a:srgbClr val="333399"/>
                </a:solidFill>
              </a:rPr>
              <a:t>; </a:t>
            </a:r>
            <a:r>
              <a:rPr lang="zh-CN" altLang="en-US" sz="2800" b="1" dirty="0">
                <a:solidFill>
                  <a:srgbClr val="333399"/>
                </a:solidFill>
              </a:rPr>
              <a:t>管壁</a:t>
            </a:r>
            <a:r>
              <a:rPr lang="en-US" altLang="zh-CN" sz="2800" b="1" dirty="0">
                <a:solidFill>
                  <a:srgbClr val="333399"/>
                </a:solidFill>
              </a:rPr>
              <a:t>, </a:t>
            </a:r>
            <a:r>
              <a:rPr lang="en-US" altLang="zh-CN" sz="2800" b="1" i="1" dirty="0">
                <a:solidFill>
                  <a:srgbClr val="333399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800" b="1" baseline="-25000" dirty="0">
                <a:solidFill>
                  <a:srgbClr val="333399"/>
                </a:solidFill>
                <a:cs typeface="Times New Roman" panose="02020603050405020304" pitchFamily="18" charset="0"/>
              </a:rPr>
              <a:t>min</a:t>
            </a:r>
            <a:r>
              <a:rPr lang="en-US" altLang="zh-CN" sz="28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solidFill>
                  <a:srgbClr val="333399"/>
                </a:solidFill>
                <a:cs typeface="Times New Roman" panose="02020603050405020304" pitchFamily="18" charset="0"/>
              </a:rPr>
              <a:t>0</a:t>
            </a:r>
            <a:endParaRPr lang="en-US" altLang="zh-CN" sz="2800" b="1" dirty="0">
              <a:solidFill>
                <a:srgbClr val="333399"/>
              </a:solidFill>
              <a:ea typeface="Times New Roman" panose="02020603050405020304" pitchFamily="18" charset="0"/>
            </a:endParaRPr>
          </a:p>
        </p:txBody>
      </p:sp>
      <p:sp>
        <p:nvSpPr>
          <p:cNvPr id="242691" name="Text Box 3"/>
          <p:cNvSpPr txBox="1"/>
          <p:nvPr/>
        </p:nvSpPr>
        <p:spPr>
          <a:xfrm>
            <a:off x="323850" y="3789363"/>
            <a:ext cx="8497888" cy="9461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90000"/>
              </a:lnSpc>
              <a:buNone/>
            </a:pPr>
            <a:r>
              <a:rPr lang="en-US" altLang="zh-CN" sz="2800" b="1" dirty="0">
                <a:solidFill>
                  <a:schemeClr val="accent2"/>
                </a:solidFill>
              </a:rPr>
              <a:t> </a:t>
            </a:r>
            <a:r>
              <a:rPr lang="en-US" altLang="zh-CN" sz="2800" b="1" dirty="0">
                <a:solidFill>
                  <a:schemeClr val="folHlink"/>
                </a:solidFill>
              </a:rPr>
              <a:t>1</a:t>
            </a:r>
            <a:r>
              <a:rPr lang="en-US" altLang="zh-CN" sz="2800" b="1" dirty="0">
                <a:solidFill>
                  <a:schemeClr val="folHlink"/>
                </a:solidFill>
                <a:cs typeface="Times New Roman" panose="02020603050405020304" pitchFamily="18" charset="0"/>
              </a:rPr>
              <a:t>°</a:t>
            </a:r>
            <a:r>
              <a:rPr lang="zh-CN" altLang="en-US" sz="2800" b="1" dirty="0">
                <a:solidFill>
                  <a:srgbClr val="333399"/>
                </a:solidFill>
              </a:rPr>
              <a:t>流量与压强梯度</a:t>
            </a:r>
            <a:r>
              <a:rPr lang="en-US" altLang="zh-CN" sz="2800" b="1" dirty="0">
                <a:solidFill>
                  <a:srgbClr val="333399"/>
                </a:solidFill>
                <a:sym typeface="Symbol" panose="05050102010706020507" pitchFamily="18" charset="2"/>
              </a:rPr>
              <a:t>Pressure Gradient</a:t>
            </a:r>
            <a:r>
              <a:rPr lang="zh-CN" altLang="en-US" sz="2800" b="1" dirty="0">
                <a:solidFill>
                  <a:srgbClr val="333399"/>
                </a:solidFill>
              </a:rPr>
              <a:t>成正比</a:t>
            </a:r>
            <a:r>
              <a:rPr lang="en-US" altLang="zh-CN" sz="2800" b="1" dirty="0">
                <a:solidFill>
                  <a:srgbClr val="333399"/>
                </a:solidFill>
              </a:rPr>
              <a:t>;</a:t>
            </a:r>
            <a:endParaRPr lang="en-US" altLang="zh-CN" sz="2800" b="1" dirty="0">
              <a:solidFill>
                <a:srgbClr val="333399"/>
              </a:solidFill>
            </a:endParaRPr>
          </a:p>
          <a:p>
            <a:pPr marL="0" lvl="0" indent="0" eaLnBrk="1" hangingPunct="1">
              <a:lnSpc>
                <a:spcPct val="90000"/>
              </a:lnSpc>
              <a:buNone/>
            </a:pPr>
            <a:r>
              <a:rPr lang="en-US" altLang="zh-CN" sz="2800" b="1" dirty="0">
                <a:solidFill>
                  <a:schemeClr val="accent2"/>
                </a:solidFill>
              </a:rPr>
              <a:t> </a:t>
            </a:r>
            <a:r>
              <a:rPr lang="en-US" altLang="zh-CN" sz="2800" b="1" dirty="0">
                <a:solidFill>
                  <a:schemeClr val="folHlink"/>
                </a:solidFill>
              </a:rPr>
              <a:t>2</a:t>
            </a:r>
            <a:r>
              <a:rPr lang="en-US" altLang="zh-CN" sz="2800" b="1" dirty="0">
                <a:solidFill>
                  <a:schemeClr val="folHlink"/>
                </a:solidFill>
                <a:cs typeface="Times New Roman" panose="02020603050405020304" pitchFamily="18" charset="0"/>
              </a:rPr>
              <a:t>°</a:t>
            </a:r>
            <a:r>
              <a:rPr lang="zh-CN" altLang="en-US" sz="2800" b="1" dirty="0">
                <a:solidFill>
                  <a:srgbClr val="333399"/>
                </a:solidFill>
              </a:rPr>
              <a:t>流量与管半径四次方成正比</a:t>
            </a:r>
            <a:r>
              <a:rPr lang="en-US" altLang="zh-CN" sz="2800" b="1" dirty="0">
                <a:solidFill>
                  <a:srgbClr val="333399"/>
                </a:solidFill>
              </a:rPr>
              <a:t>.</a:t>
            </a:r>
            <a:endParaRPr lang="en-US" altLang="zh-CN" sz="2800" b="1" dirty="0">
              <a:solidFill>
                <a:srgbClr val="333399"/>
              </a:solidFill>
            </a:endParaRPr>
          </a:p>
        </p:txBody>
      </p:sp>
      <p:sp>
        <p:nvSpPr>
          <p:cNvPr id="242692" name="Rectangle 4"/>
          <p:cNvSpPr/>
          <p:nvPr/>
        </p:nvSpPr>
        <p:spPr>
          <a:xfrm>
            <a:off x="250825" y="2276475"/>
            <a:ext cx="8569325" cy="13668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333399"/>
                </a:solidFill>
                <a:cs typeface="Times New Roman" panose="02020603050405020304" pitchFamily="18" charset="0"/>
              </a:rPr>
              <a:t>(2)  </a:t>
            </a:r>
            <a:r>
              <a:rPr lang="zh-CN" altLang="en-US" sz="2800" b="1" dirty="0">
                <a:solidFill>
                  <a:srgbClr val="333399"/>
                </a:solidFill>
              </a:rPr>
              <a:t>定律</a:t>
            </a:r>
            <a:r>
              <a:rPr lang="en-US" altLang="zh-CN" sz="2800" b="1" dirty="0">
                <a:solidFill>
                  <a:srgbClr val="333399"/>
                </a:solidFill>
              </a:rPr>
              <a:t>:</a:t>
            </a:r>
            <a:endParaRPr lang="en-US" altLang="zh-CN" sz="2800" b="1" dirty="0">
              <a:solidFill>
                <a:srgbClr val="333399"/>
              </a:solidFill>
            </a:endParaRPr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accent2"/>
                </a:solidFill>
              </a:rPr>
              <a:t>① </a:t>
            </a:r>
            <a:r>
              <a:rPr lang="zh-CN" altLang="en-US" sz="2800" b="1" dirty="0"/>
              <a:t>实验结果</a:t>
            </a:r>
            <a:r>
              <a:rPr lang="en-US" altLang="zh-CN" sz="2800" b="1" dirty="0"/>
              <a:t>:</a:t>
            </a:r>
            <a:r>
              <a:rPr lang="en-US" altLang="zh-CN" sz="2800" b="1" dirty="0">
                <a:solidFill>
                  <a:srgbClr val="333399"/>
                </a:solidFill>
              </a:rPr>
              <a:t>1842</a:t>
            </a:r>
            <a:r>
              <a:rPr lang="zh-CN" altLang="en-US" sz="2800" b="1" dirty="0">
                <a:solidFill>
                  <a:srgbClr val="333399"/>
                </a:solidFill>
              </a:rPr>
              <a:t>年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法国医学家</a:t>
            </a:r>
            <a:r>
              <a:rPr lang="en-US" altLang="zh-CN" sz="2800" b="1" dirty="0">
                <a:solidFill>
                  <a:srgbClr val="333399"/>
                </a:solidFill>
              </a:rPr>
              <a:t>Poiseuille</a:t>
            </a:r>
            <a:endParaRPr lang="en-US" altLang="zh-CN" sz="2800" b="1" dirty="0">
              <a:solidFill>
                <a:srgbClr val="333399"/>
              </a:solidFill>
            </a:endParaRPr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     </a:t>
            </a:r>
            <a:r>
              <a:rPr lang="zh-CN" altLang="en-US" sz="2800" b="1" dirty="0"/>
              <a:t>研究血液在血管中的流动得知</a:t>
            </a:r>
            <a:r>
              <a:rPr lang="en-US" altLang="zh-CN" sz="2800" b="1" dirty="0"/>
              <a:t>:  </a:t>
            </a:r>
            <a:endParaRPr lang="en-US" altLang="zh-CN" sz="2800" b="1" dirty="0"/>
          </a:p>
        </p:txBody>
      </p:sp>
      <p:sp>
        <p:nvSpPr>
          <p:cNvPr id="242693" name="Rectangle 5"/>
          <p:cNvSpPr/>
          <p:nvPr/>
        </p:nvSpPr>
        <p:spPr>
          <a:xfrm>
            <a:off x="250825" y="4797425"/>
            <a:ext cx="8458200" cy="10080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algn="just" eaLnBrk="1" hangingPunct="1">
              <a:buNone/>
            </a:pPr>
            <a:r>
              <a:rPr lang="en-US" altLang="zh-CN" b="1" dirty="0">
                <a:solidFill>
                  <a:schemeClr val="accent2"/>
                </a:solidFill>
              </a:rPr>
              <a:t>② </a:t>
            </a:r>
            <a:r>
              <a:rPr lang="zh-CN" altLang="en-US" sz="2800" b="1" dirty="0"/>
              <a:t>理论推导</a:t>
            </a:r>
            <a:r>
              <a:rPr lang="en-US" altLang="zh-CN" sz="2800" b="1" dirty="0"/>
              <a:t>: </a:t>
            </a:r>
            <a:r>
              <a:rPr lang="en-US" altLang="zh-CN" sz="2800" b="1" dirty="0">
                <a:solidFill>
                  <a:srgbClr val="333399"/>
                </a:solidFill>
              </a:rPr>
              <a:t>1852</a:t>
            </a:r>
            <a:r>
              <a:rPr lang="zh-CN" altLang="en-US" sz="2800" b="1" dirty="0">
                <a:solidFill>
                  <a:srgbClr val="333399"/>
                </a:solidFill>
              </a:rPr>
              <a:t>年</a:t>
            </a:r>
            <a:r>
              <a:rPr lang="en-US" altLang="zh-CN" sz="2800" b="1" dirty="0">
                <a:solidFill>
                  <a:srgbClr val="333399"/>
                </a:solidFill>
              </a:rPr>
              <a:t>, wiedmann</a:t>
            </a:r>
            <a:r>
              <a:rPr lang="en-US" altLang="zh-CN" sz="2800" b="1" dirty="0">
                <a:solidFill>
                  <a:schemeClr val="accent1"/>
                </a:solidFill>
              </a:rPr>
              <a:t> </a:t>
            </a:r>
            <a:r>
              <a:rPr lang="zh-CN" altLang="en-US" sz="2800" b="1" dirty="0"/>
              <a:t>推导成功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并确定比例系数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即     </a:t>
            </a:r>
            <a:endParaRPr lang="zh-CN" altLang="en-US" sz="2800" b="1" dirty="0"/>
          </a:p>
        </p:txBody>
      </p:sp>
      <p:graphicFrame>
        <p:nvGraphicFramePr>
          <p:cNvPr id="242694" name="Object 6"/>
          <p:cNvGraphicFramePr>
            <a:graphicFrameLocks noChangeAspect="1"/>
          </p:cNvGraphicFramePr>
          <p:nvPr/>
        </p:nvGraphicFramePr>
        <p:xfrm>
          <a:off x="2700338" y="5373688"/>
          <a:ext cx="3240087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484630" imgH="553720" progId="Equation.3">
                  <p:embed/>
                </p:oleObj>
              </mc:Choice>
              <mc:Fallback>
                <p:oleObj name="" r:id="rId1" imgW="1484630" imgH="55372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00338" y="5373688"/>
                        <a:ext cx="3240087" cy="1031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0" name="Rectangle 8"/>
          <p:cNvSpPr/>
          <p:nvPr/>
        </p:nvSpPr>
        <p:spPr>
          <a:xfrm>
            <a:off x="304800" y="304800"/>
            <a:ext cx="6067425" cy="603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90000"/>
              </a:lnSpc>
              <a:buNone/>
            </a:pPr>
            <a:r>
              <a:rPr lang="en-US" altLang="zh-CN" b="1" dirty="0">
                <a:solidFill>
                  <a:srgbClr val="333399"/>
                </a:solidFill>
              </a:rPr>
              <a:t>2.  </a:t>
            </a:r>
            <a:r>
              <a:rPr lang="zh-CN" altLang="en-US" b="1" dirty="0">
                <a:solidFill>
                  <a:srgbClr val="333399"/>
                </a:solidFill>
              </a:rPr>
              <a:t>泊肃叶定律</a:t>
            </a:r>
            <a:r>
              <a:rPr lang="en-US" altLang="zh-CN" b="1" dirty="0">
                <a:solidFill>
                  <a:srgbClr val="333399"/>
                </a:solidFill>
              </a:rPr>
              <a:t>(Poiseuille’s law)</a:t>
            </a:r>
            <a:endParaRPr lang="en-US" altLang="zh-CN" b="1" dirty="0">
              <a:solidFill>
                <a:srgbClr val="333399"/>
              </a:solidFill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0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2690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0">
                                            <p:txEl>
                                              <p:charRg st="32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2690">
                                            <p:txEl>
                                              <p:charRg st="32" end="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2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2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2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2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690" grpId="0" build="p"/>
      <p:bldP spid="242691" grpId="0"/>
      <p:bldP spid="242692" grpId="0"/>
      <p:bldP spid="24269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40642" name="Rectangle 2"/>
          <p:cNvSpPr/>
          <p:nvPr/>
        </p:nvSpPr>
        <p:spPr>
          <a:xfrm>
            <a:off x="323850" y="1412875"/>
            <a:ext cx="5761038" cy="20161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algn="just" eaLnBrk="1" hangingPunct="1">
              <a:spcBef>
                <a:spcPct val="5000"/>
              </a:spcBef>
              <a:buClr>
                <a:srgbClr val="E8002C"/>
              </a:buClr>
              <a:buSzPct val="80000"/>
              <a:buFont typeface="Wingdings" panose="05000000000000000000" pitchFamily="2" charset="2"/>
              <a:buChar char="¬"/>
            </a:pPr>
            <a:r>
              <a:rPr lang="zh-CN" altLang="en-US" sz="2800" b="1" dirty="0"/>
              <a:t>创造了用水银压力计测量狗主动脉血压的方法</a:t>
            </a:r>
            <a:endParaRPr lang="zh-CN" altLang="en-US" sz="2800" b="1" dirty="0"/>
          </a:p>
          <a:p>
            <a:pPr marL="342900" lvl="0" indent="-342900" algn="just" eaLnBrk="1" hangingPunct="1">
              <a:spcBef>
                <a:spcPct val="5000"/>
              </a:spcBef>
              <a:buClr>
                <a:srgbClr val="E8002C"/>
              </a:buClr>
              <a:buSzPct val="80000"/>
              <a:buFont typeface="Wingdings" panose="05000000000000000000" pitchFamily="2" charset="2"/>
              <a:buChar char="¬"/>
            </a:pPr>
            <a:r>
              <a:rPr lang="zh-CN" altLang="en-US" sz="2800" b="1" dirty="0"/>
              <a:t>研究了血液的黏滞性流动</a:t>
            </a:r>
            <a:endParaRPr lang="zh-CN" altLang="en-US" sz="2800" b="1" dirty="0"/>
          </a:p>
          <a:p>
            <a:pPr marL="342900" lvl="0" indent="-342900" algn="just" eaLnBrk="1" hangingPunct="1">
              <a:spcBef>
                <a:spcPct val="5000"/>
              </a:spcBef>
              <a:buClr>
                <a:srgbClr val="E8002C"/>
              </a:buClr>
              <a:buSzPct val="80000"/>
              <a:buFont typeface="Wingdings" panose="05000000000000000000" pitchFamily="2" charset="2"/>
              <a:buChar char="¬"/>
            </a:pPr>
            <a:r>
              <a:rPr lang="zh-CN" altLang="en-US" sz="2800" b="1" dirty="0"/>
              <a:t>建立了黏滞流动的泊肃叶公式</a:t>
            </a:r>
            <a:endParaRPr lang="zh-CN" altLang="en-US" sz="2800" b="1" dirty="0"/>
          </a:p>
        </p:txBody>
      </p:sp>
      <p:pic>
        <p:nvPicPr>
          <p:cNvPr id="240643" name="Picture 3" descr="poiseuill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0788" y="260350"/>
            <a:ext cx="2325687" cy="30241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0644" name="Rectangle 4"/>
          <p:cNvSpPr/>
          <p:nvPr/>
        </p:nvSpPr>
        <p:spPr>
          <a:xfrm>
            <a:off x="468313" y="476250"/>
            <a:ext cx="5040312" cy="9366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algn="just" eaLnBrk="1" hangingPunct="1">
              <a:spcBef>
                <a:spcPct val="5000"/>
              </a:spcBef>
              <a:buClr>
                <a:srgbClr val="E8002C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333399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泊肃叶</a:t>
            </a:r>
            <a:r>
              <a:rPr lang="en-US" altLang="zh-CN" sz="2800" b="1" dirty="0">
                <a:solidFill>
                  <a:srgbClr val="333399"/>
                </a:solidFill>
                <a:ea typeface="华文隶书" panose="02010800040101010101" pitchFamily="2" charset="-122"/>
              </a:rPr>
              <a:t>(Poiseuille, 1778-1869)</a:t>
            </a:r>
            <a:endParaRPr lang="en-US" altLang="zh-CN" sz="2800" b="1" dirty="0">
              <a:solidFill>
                <a:srgbClr val="333399"/>
              </a:solidFill>
              <a:ea typeface="华文隶书" panose="02010800040101010101" pitchFamily="2" charset="-122"/>
            </a:endParaRPr>
          </a:p>
          <a:p>
            <a:pPr marL="342900" lvl="0" indent="-342900" algn="just" eaLnBrk="1" hangingPunct="1">
              <a:spcBef>
                <a:spcPct val="5000"/>
              </a:spcBef>
              <a:buClr>
                <a:srgbClr val="E8002C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333399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 </a:t>
            </a:r>
            <a:r>
              <a:rPr lang="zh-CN" altLang="en-US" sz="2800" b="1" dirty="0">
                <a:solidFill>
                  <a:srgbClr val="333399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法国医生及生理学家</a:t>
            </a:r>
            <a:endParaRPr lang="zh-CN" altLang="en-US" sz="2800" b="1" dirty="0">
              <a:solidFill>
                <a:srgbClr val="333399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pic>
        <p:nvPicPr>
          <p:cNvPr id="240646" name="Picture 6" descr="c2_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788" y="3429000"/>
            <a:ext cx="2319337" cy="3095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0648" name="Rectangle 8"/>
          <p:cNvSpPr/>
          <p:nvPr/>
        </p:nvSpPr>
        <p:spPr>
          <a:xfrm>
            <a:off x="323850" y="3573463"/>
            <a:ext cx="5689600" cy="280828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algn="just"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333399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    </a:t>
            </a:r>
            <a:r>
              <a:rPr lang="zh-CN" altLang="en-US" sz="2800" b="1" dirty="0">
                <a:solidFill>
                  <a:srgbClr val="333399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血</a:t>
            </a:r>
            <a:r>
              <a:rPr lang="zh-CN" altLang="en-US" sz="2800" b="1" dirty="0">
                <a:solidFill>
                  <a:srgbClr val="333399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压测量</a:t>
            </a:r>
            <a:endParaRPr lang="zh-CN" altLang="en-US" sz="2800" b="1" dirty="0">
              <a:solidFill>
                <a:srgbClr val="333399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 marL="342900" lvl="0" indent="-342900" algn="just" eaLnBrk="1" hangingPunct="1">
              <a:spcBef>
                <a:spcPct val="5000"/>
              </a:spcBef>
              <a:buClr>
                <a:srgbClr val="E8002C"/>
              </a:buClr>
              <a:buSzPct val="80000"/>
              <a:buFont typeface="Wingdings" panose="05000000000000000000" pitchFamily="2" charset="2"/>
              <a:buChar char="¬"/>
            </a:pPr>
            <a:r>
              <a:rPr lang="en-US" altLang="zh-CN" sz="2800" b="1" dirty="0">
                <a:solidFill>
                  <a:srgbClr val="333399"/>
                </a:solidFill>
              </a:rPr>
              <a:t>1733</a:t>
            </a:r>
            <a:r>
              <a:rPr lang="zh-CN" altLang="en-US" sz="2800" b="1" dirty="0">
                <a:solidFill>
                  <a:srgbClr val="333399"/>
                </a:solidFill>
              </a:rPr>
              <a:t>年英国牧师黑尔斯</a:t>
            </a:r>
            <a:r>
              <a:rPr lang="en-US" altLang="zh-CN" sz="2800" b="1" dirty="0">
                <a:solidFill>
                  <a:srgbClr val="333399"/>
                </a:solidFill>
              </a:rPr>
              <a:t>(R. S. Hales, 1677-1761)</a:t>
            </a:r>
            <a:r>
              <a:rPr lang="zh-CN" altLang="en-US" sz="2800" b="1" dirty="0">
                <a:solidFill>
                  <a:srgbClr val="333399"/>
                </a:solidFill>
              </a:rPr>
              <a:t>完成最早的血压测量</a:t>
            </a:r>
            <a:endParaRPr lang="zh-CN" altLang="en-US" sz="2800" b="1" dirty="0">
              <a:solidFill>
                <a:srgbClr val="333399"/>
              </a:solidFill>
            </a:endParaRPr>
          </a:p>
          <a:p>
            <a:pPr marL="342900" lvl="0" indent="-342900" algn="just" eaLnBrk="1" hangingPunct="1">
              <a:spcBef>
                <a:spcPct val="5000"/>
              </a:spcBef>
              <a:buClr>
                <a:srgbClr val="E8002C"/>
              </a:buClr>
              <a:buSzPct val="80000"/>
              <a:buFont typeface="Wingdings" panose="05000000000000000000" pitchFamily="2" charset="2"/>
              <a:buChar char="¬"/>
            </a:pPr>
            <a:r>
              <a:rPr lang="en-US" altLang="zh-CN" sz="2800" b="1" dirty="0">
                <a:solidFill>
                  <a:srgbClr val="333399"/>
                </a:solidFill>
              </a:rPr>
              <a:t>1856</a:t>
            </a:r>
            <a:r>
              <a:rPr lang="zh-CN" altLang="en-US" sz="2800" b="1" dirty="0">
                <a:solidFill>
                  <a:srgbClr val="333399"/>
                </a:solidFill>
              </a:rPr>
              <a:t>年医生们开始用这种方法测量人的血压</a:t>
            </a:r>
            <a:endParaRPr lang="zh-CN" altLang="en-US" sz="2800" b="1" dirty="0">
              <a:solidFill>
                <a:srgbClr val="333399"/>
              </a:solidFill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0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40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40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642" grpId="0"/>
      <p:bldP spid="240644" grpId="0"/>
      <p:bldP spid="24064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43714" name="Rectangle 2"/>
          <p:cNvSpPr>
            <a:spLocks noGrp="1"/>
          </p:cNvSpPr>
          <p:nvPr>
            <p:ph idx="1"/>
          </p:nvPr>
        </p:nvSpPr>
        <p:spPr>
          <a:xfrm>
            <a:off x="0" y="3789363"/>
            <a:ext cx="3419475" cy="685800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②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任意层速度分布</a:t>
            </a:r>
            <a:r>
              <a:rPr lang="en-US" altLang="zh-CN" sz="2800" b="1" dirty="0"/>
              <a:t>:</a:t>
            </a:r>
            <a:endParaRPr lang="en-US" altLang="zh-CN" sz="2800" b="1" dirty="0"/>
          </a:p>
        </p:txBody>
      </p:sp>
      <p:sp>
        <p:nvSpPr>
          <p:cNvPr id="243715" name="Rectangle 3"/>
          <p:cNvSpPr/>
          <p:nvPr/>
        </p:nvSpPr>
        <p:spPr>
          <a:xfrm>
            <a:off x="0" y="5734050"/>
            <a:ext cx="3348038" cy="5032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④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整个管中的流量</a:t>
            </a:r>
            <a:r>
              <a:rPr lang="en-US" altLang="zh-CN" sz="2800" b="1" dirty="0"/>
              <a:t>:</a:t>
            </a:r>
            <a:endParaRPr lang="en-US" altLang="zh-CN" sz="2800" b="1" dirty="0"/>
          </a:p>
        </p:txBody>
      </p:sp>
      <p:graphicFrame>
        <p:nvGraphicFramePr>
          <p:cNvPr id="243716" name="Object 4"/>
          <p:cNvGraphicFramePr>
            <a:graphicFrameLocks noChangeAspect="1"/>
          </p:cNvGraphicFramePr>
          <p:nvPr/>
        </p:nvGraphicFramePr>
        <p:xfrm>
          <a:off x="3348038" y="5445125"/>
          <a:ext cx="4840287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1484630" imgH="553720" progId="Equation.3">
                  <p:embed/>
                </p:oleObj>
              </mc:Choice>
              <mc:Fallback>
                <p:oleObj name="" r:id="rId1" imgW="1484630" imgH="55372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348038" y="5445125"/>
                        <a:ext cx="4840287" cy="1090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17" name="Object 5"/>
          <p:cNvGraphicFramePr>
            <a:graphicFrameLocks noChangeAspect="1"/>
          </p:cNvGraphicFramePr>
          <p:nvPr/>
        </p:nvGraphicFramePr>
        <p:xfrm>
          <a:off x="3348038" y="3573463"/>
          <a:ext cx="4852987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3" imgW="1862455" imgH="528320" progId="Equation.3">
                  <p:embed/>
                </p:oleObj>
              </mc:Choice>
              <mc:Fallback>
                <p:oleObj name="" r:id="rId3" imgW="1862455" imgH="52832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348038" y="3573463"/>
                        <a:ext cx="4852987" cy="1041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18" name="Rectangle 6"/>
          <p:cNvSpPr/>
          <p:nvPr/>
        </p:nvSpPr>
        <p:spPr>
          <a:xfrm>
            <a:off x="0" y="4652963"/>
            <a:ext cx="3455988" cy="50323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③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任一流层的流量</a:t>
            </a:r>
            <a:r>
              <a:rPr lang="en-US" altLang="zh-CN" sz="2800" b="1" dirty="0"/>
              <a:t>:</a:t>
            </a:r>
            <a:endParaRPr lang="en-US" altLang="zh-CN" sz="2800" b="1" dirty="0"/>
          </a:p>
        </p:txBody>
      </p:sp>
      <p:graphicFrame>
        <p:nvGraphicFramePr>
          <p:cNvPr id="243719" name="Object 7"/>
          <p:cNvGraphicFramePr>
            <a:graphicFrameLocks noChangeAspect="1"/>
          </p:cNvGraphicFramePr>
          <p:nvPr/>
        </p:nvGraphicFramePr>
        <p:xfrm>
          <a:off x="3348038" y="4437063"/>
          <a:ext cx="4884737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5" imgW="2516505" imgH="528320" progId="Equation.3">
                  <p:embed/>
                </p:oleObj>
              </mc:Choice>
              <mc:Fallback>
                <p:oleObj name="" r:id="rId5" imgW="2516505" imgH="52832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348038" y="4437063"/>
                        <a:ext cx="4884737" cy="1020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20" name="Rectangle 8"/>
          <p:cNvSpPr/>
          <p:nvPr/>
        </p:nvSpPr>
        <p:spPr>
          <a:xfrm>
            <a:off x="0" y="260350"/>
            <a:ext cx="4176713" cy="26638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05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333399"/>
                </a:solidFill>
                <a:cs typeface="Times New Roman" panose="02020603050405020304" pitchFamily="18" charset="0"/>
              </a:rPr>
              <a:t>(3) </a:t>
            </a:r>
            <a:r>
              <a:rPr lang="zh-CN" altLang="en-US" sz="2800" b="1" dirty="0">
                <a:solidFill>
                  <a:srgbClr val="333399"/>
                </a:solidFill>
              </a:rPr>
              <a:t>泊肃叶定律推导</a:t>
            </a:r>
            <a:r>
              <a:rPr lang="en-US" altLang="zh-CN" sz="2800" b="1" dirty="0">
                <a:solidFill>
                  <a:srgbClr val="333399"/>
                </a:solidFill>
              </a:rPr>
              <a:t>:</a:t>
            </a:r>
            <a:endParaRPr lang="en-US" altLang="zh-CN" sz="2800" b="1" dirty="0">
              <a:solidFill>
                <a:srgbClr val="333399"/>
              </a:solidFill>
            </a:endParaRPr>
          </a:p>
          <a:p>
            <a:pPr marL="342900" lvl="0" indent="-342900" eaLnBrk="1" hangingPunct="1">
              <a:lnSpc>
                <a:spcPct val="105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①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研究对象及受力分析</a:t>
            </a:r>
            <a:r>
              <a:rPr lang="en-US" altLang="zh-CN" sz="2800" b="1" dirty="0"/>
              <a:t>: </a:t>
            </a:r>
            <a:r>
              <a:rPr lang="zh-CN" altLang="en-US" sz="2800" b="1" dirty="0"/>
              <a:t>半径为</a:t>
            </a:r>
            <a:r>
              <a:rPr lang="en-US" altLang="zh-CN" sz="2800" b="1" i="1" dirty="0">
                <a:solidFill>
                  <a:srgbClr val="333399"/>
                </a:solidFill>
              </a:rPr>
              <a:t>r</a:t>
            </a:r>
            <a:r>
              <a:rPr lang="en-US" altLang="zh-CN" sz="2800" b="1" dirty="0">
                <a:solidFill>
                  <a:srgbClr val="333399"/>
                </a:solidFill>
              </a:rPr>
              <a:t>,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长度为</a:t>
            </a:r>
            <a:r>
              <a:rPr lang="en-US" altLang="zh-CN" sz="2800" b="1" i="1" dirty="0">
                <a:solidFill>
                  <a:srgbClr val="333399"/>
                </a:solidFill>
              </a:rPr>
              <a:t>L</a:t>
            </a:r>
            <a:r>
              <a:rPr lang="en-US" altLang="zh-CN" sz="2800" b="1" dirty="0">
                <a:solidFill>
                  <a:srgbClr val="333399"/>
                </a:solidFill>
              </a:rPr>
              <a:t>,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与</a:t>
            </a:r>
            <a:endParaRPr lang="zh-CN" altLang="en-US" sz="2800" b="1" dirty="0"/>
          </a:p>
          <a:p>
            <a:pPr marL="342900" lvl="0" indent="-342900" eaLnBrk="1" hangingPunct="1">
              <a:lnSpc>
                <a:spcPct val="105000"/>
              </a:lnSpc>
              <a:spcBef>
                <a:spcPct val="0"/>
              </a:spcBef>
              <a:buNone/>
            </a:pPr>
            <a:r>
              <a:rPr lang="zh-CN" altLang="en-US" sz="2800" b="1" dirty="0"/>
              <a:t>    管共轴圆柱形流体元</a:t>
            </a:r>
            <a:endParaRPr lang="zh-CN" altLang="en-US" sz="2800" b="1" dirty="0"/>
          </a:p>
          <a:p>
            <a:pPr marL="342900" lvl="0" indent="-342900" eaLnBrk="1" hangingPunct="1">
              <a:lnSpc>
                <a:spcPct val="105000"/>
              </a:lnSpc>
              <a:spcBef>
                <a:spcPct val="0"/>
              </a:spcBef>
              <a:buNone/>
            </a:pPr>
            <a:r>
              <a:rPr lang="zh-CN" altLang="en-US" sz="2800" b="1" dirty="0"/>
              <a:t>    受</a:t>
            </a:r>
            <a:r>
              <a:rPr lang="en-US" altLang="zh-CN" sz="2800" b="1" i="1" dirty="0">
                <a:solidFill>
                  <a:srgbClr val="333399"/>
                </a:solidFill>
              </a:rPr>
              <a:t>F</a:t>
            </a:r>
            <a:r>
              <a:rPr lang="en-US" altLang="zh-CN" sz="2800" b="1" baseline="-25000" dirty="0">
                <a:solidFill>
                  <a:srgbClr val="333399"/>
                </a:solidFill>
              </a:rPr>
              <a:t>1</a:t>
            </a:r>
            <a:r>
              <a:rPr lang="en-US" altLang="zh-CN" sz="2800" b="1" dirty="0">
                <a:solidFill>
                  <a:srgbClr val="333399"/>
                </a:solidFill>
              </a:rPr>
              <a:t>, </a:t>
            </a:r>
            <a:r>
              <a:rPr lang="en-US" altLang="zh-CN" sz="2800" b="1" i="1" dirty="0">
                <a:solidFill>
                  <a:srgbClr val="333399"/>
                </a:solidFill>
              </a:rPr>
              <a:t>F</a:t>
            </a:r>
            <a:r>
              <a:rPr lang="en-US" altLang="zh-CN" sz="2800" b="1" baseline="-25000" dirty="0">
                <a:solidFill>
                  <a:srgbClr val="333399"/>
                </a:solidFill>
              </a:rPr>
              <a:t>2</a:t>
            </a:r>
            <a:r>
              <a:rPr lang="en-US" altLang="zh-CN" sz="2800" b="1" dirty="0">
                <a:solidFill>
                  <a:schemeClr val="accent2"/>
                </a:solidFill>
              </a:rPr>
              <a:t>,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和其周围流</a:t>
            </a:r>
            <a:endParaRPr lang="zh-CN" altLang="en-US" sz="2800" b="1" dirty="0"/>
          </a:p>
          <a:p>
            <a:pPr marL="342900" lvl="0" indent="-342900" eaLnBrk="1" hangingPunct="1">
              <a:lnSpc>
                <a:spcPct val="105000"/>
              </a:lnSpc>
              <a:spcBef>
                <a:spcPct val="0"/>
              </a:spcBef>
              <a:buNone/>
            </a:pPr>
            <a:r>
              <a:rPr lang="zh-CN" altLang="en-US" sz="2800" b="1" dirty="0"/>
              <a:t>    体黏性阻力 </a:t>
            </a:r>
            <a:r>
              <a:rPr lang="en-US" altLang="zh-CN" sz="2800" b="1" i="1" dirty="0">
                <a:solidFill>
                  <a:srgbClr val="333399"/>
                </a:solidFill>
              </a:rPr>
              <a:t>F</a:t>
            </a:r>
            <a:r>
              <a:rPr lang="en-US" altLang="zh-CN" sz="2800" b="1" i="1" dirty="0">
                <a:solidFill>
                  <a:srgbClr val="333399"/>
                </a:solidFill>
                <a:sym typeface="Symbol" panose="05050102010706020507" pitchFamily="18" charset="2"/>
              </a:rPr>
              <a:t></a:t>
            </a:r>
            <a:r>
              <a:rPr lang="en-US" altLang="zh-CN" sz="2800" b="1" i="1" dirty="0">
                <a:solidFill>
                  <a:schemeClr val="folHlink"/>
                </a:solidFill>
              </a:rPr>
              <a:t> </a:t>
            </a:r>
            <a:r>
              <a:rPr lang="zh-CN" altLang="en-US" sz="2800" b="1" dirty="0"/>
              <a:t>的作用</a:t>
            </a:r>
            <a:r>
              <a:rPr lang="en-US" altLang="zh-CN" sz="2800" b="1" dirty="0"/>
              <a:t>;</a:t>
            </a:r>
            <a:endParaRPr lang="en-US" altLang="zh-CN" sz="2800" b="1" dirty="0"/>
          </a:p>
        </p:txBody>
      </p:sp>
      <p:graphicFrame>
        <p:nvGraphicFramePr>
          <p:cNvPr id="243721" name="Object 9"/>
          <p:cNvGraphicFramePr>
            <a:graphicFrameLocks noChangeAspect="1"/>
          </p:cNvGraphicFramePr>
          <p:nvPr/>
        </p:nvGraphicFramePr>
        <p:xfrm>
          <a:off x="3851275" y="2708275"/>
          <a:ext cx="4608513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7" imgW="2214880" imgH="503555" progId="Equation.3">
                  <p:embed/>
                </p:oleObj>
              </mc:Choice>
              <mc:Fallback>
                <p:oleObj name="" r:id="rId7" imgW="2214880" imgH="503555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851275" y="2708275"/>
                        <a:ext cx="4608513" cy="1046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22" name="Object 10"/>
          <p:cNvGraphicFramePr>
            <a:graphicFrameLocks noChangeAspect="1"/>
          </p:cNvGraphicFramePr>
          <p:nvPr/>
        </p:nvGraphicFramePr>
        <p:xfrm>
          <a:off x="355600" y="3068638"/>
          <a:ext cx="3392488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9" imgW="2063750" imgH="251460" progId="Equation.3">
                  <p:embed/>
                </p:oleObj>
              </mc:Choice>
              <mc:Fallback>
                <p:oleObj name="" r:id="rId9" imgW="2063750" imgH="25146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5600" y="3068638"/>
                        <a:ext cx="3392488" cy="4841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756" name="Group 11"/>
          <p:cNvGrpSpPr/>
          <p:nvPr/>
        </p:nvGrpSpPr>
        <p:grpSpPr>
          <a:xfrm>
            <a:off x="4356100" y="0"/>
            <a:ext cx="4321175" cy="2736850"/>
            <a:chOff x="-341" y="0"/>
            <a:chExt cx="2722" cy="1724"/>
          </a:xfrm>
        </p:grpSpPr>
        <p:grpSp>
          <p:nvGrpSpPr>
            <p:cNvPr id="31790" name="Group 12"/>
            <p:cNvGrpSpPr/>
            <p:nvPr/>
          </p:nvGrpSpPr>
          <p:grpSpPr>
            <a:xfrm>
              <a:off x="-341" y="363"/>
              <a:ext cx="2722" cy="1361"/>
              <a:chOff x="-114" y="436"/>
              <a:chExt cx="2722" cy="1361"/>
            </a:xfrm>
          </p:grpSpPr>
          <p:sp>
            <p:nvSpPr>
              <p:cNvPr id="31798" name="Oval 13"/>
              <p:cNvSpPr/>
              <p:nvPr/>
            </p:nvSpPr>
            <p:spPr>
              <a:xfrm>
                <a:off x="-114" y="436"/>
                <a:ext cx="681" cy="1361"/>
              </a:xfrm>
              <a:prstGeom prst="ellipse">
                <a:avLst/>
              </a:prstGeom>
              <a:noFill/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1799" name="Oval 14"/>
              <p:cNvSpPr/>
              <p:nvPr/>
            </p:nvSpPr>
            <p:spPr>
              <a:xfrm>
                <a:off x="1927" y="436"/>
                <a:ext cx="681" cy="1361"/>
              </a:xfrm>
              <a:prstGeom prst="ellipse">
                <a:avLst/>
              </a:prstGeom>
              <a:noFill/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1800" name="Oval 15"/>
              <p:cNvSpPr/>
              <p:nvPr/>
            </p:nvSpPr>
            <p:spPr>
              <a:xfrm>
                <a:off x="1882" y="436"/>
                <a:ext cx="681" cy="1361"/>
              </a:xfrm>
              <a:prstGeom prst="ellipse">
                <a:avLst/>
              </a:prstGeom>
              <a:solidFill>
                <a:schemeClr val="bg1"/>
              </a:solidFill>
              <a:ln w="38100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zh-CN" sz="2400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1801" name="Line 16"/>
              <p:cNvSpPr/>
              <p:nvPr/>
            </p:nvSpPr>
            <p:spPr>
              <a:xfrm>
                <a:off x="249" y="436"/>
                <a:ext cx="2087" cy="0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02" name="Line 17"/>
              <p:cNvSpPr/>
              <p:nvPr/>
            </p:nvSpPr>
            <p:spPr>
              <a:xfrm>
                <a:off x="249" y="1797"/>
                <a:ext cx="2087" cy="0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1791" name="Text Box 18"/>
            <p:cNvSpPr txBox="1"/>
            <p:nvPr/>
          </p:nvSpPr>
          <p:spPr>
            <a:xfrm>
              <a:off x="975" y="0"/>
              <a:ext cx="32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/>
                <a:t>L</a:t>
              </a:r>
              <a:endParaRPr lang="en-US" altLang="zh-CN" sz="2800" b="1" i="1" dirty="0"/>
            </a:p>
          </p:txBody>
        </p:sp>
        <p:sp>
          <p:nvSpPr>
            <p:cNvPr id="31792" name="Line 19"/>
            <p:cNvSpPr/>
            <p:nvPr/>
          </p:nvSpPr>
          <p:spPr>
            <a:xfrm flipH="1">
              <a:off x="-295" y="1043"/>
              <a:ext cx="295" cy="346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31793" name="Line 20"/>
            <p:cNvSpPr/>
            <p:nvPr/>
          </p:nvSpPr>
          <p:spPr>
            <a:xfrm>
              <a:off x="0" y="46"/>
              <a:ext cx="0" cy="318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94" name="Line 21"/>
            <p:cNvSpPr/>
            <p:nvPr/>
          </p:nvSpPr>
          <p:spPr>
            <a:xfrm>
              <a:off x="2109" y="46"/>
              <a:ext cx="0" cy="318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95" name="Line 22"/>
            <p:cNvSpPr/>
            <p:nvPr/>
          </p:nvSpPr>
          <p:spPr>
            <a:xfrm>
              <a:off x="1202" y="182"/>
              <a:ext cx="907" cy="0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31796" name="Line 23"/>
            <p:cNvSpPr/>
            <p:nvPr/>
          </p:nvSpPr>
          <p:spPr>
            <a:xfrm>
              <a:off x="0" y="182"/>
              <a:ext cx="975" cy="0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headEnd type="triangle" w="med" len="lg"/>
              <a:tailEnd type="none" w="med" len="med"/>
            </a:ln>
          </p:spPr>
        </p:sp>
        <p:sp>
          <p:nvSpPr>
            <p:cNvPr id="31797" name="Text Box 24"/>
            <p:cNvSpPr txBox="1"/>
            <p:nvPr/>
          </p:nvSpPr>
          <p:spPr>
            <a:xfrm>
              <a:off x="-327" y="1207"/>
              <a:ext cx="32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/>
                <a:t>R</a:t>
              </a:r>
              <a:endParaRPr lang="en-US" altLang="zh-CN" sz="2800" b="1" i="1" dirty="0"/>
            </a:p>
          </p:txBody>
        </p:sp>
      </p:grpSp>
      <p:grpSp>
        <p:nvGrpSpPr>
          <p:cNvPr id="243737" name="Group 25"/>
          <p:cNvGrpSpPr/>
          <p:nvPr/>
        </p:nvGrpSpPr>
        <p:grpSpPr>
          <a:xfrm>
            <a:off x="3836988" y="549275"/>
            <a:ext cx="5307012" cy="1885950"/>
            <a:chOff x="2290" y="346"/>
            <a:chExt cx="3343" cy="1188"/>
          </a:xfrm>
        </p:grpSpPr>
        <p:sp>
          <p:nvSpPr>
            <p:cNvPr id="31771" name="Text Box 26"/>
            <p:cNvSpPr txBox="1"/>
            <p:nvPr/>
          </p:nvSpPr>
          <p:spPr>
            <a:xfrm>
              <a:off x="5329" y="709"/>
              <a:ext cx="30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solidFill>
                    <a:srgbClr val="A50021"/>
                  </a:solidFill>
                </a:rPr>
                <a:t>p</a:t>
              </a:r>
              <a:r>
                <a:rPr lang="en-US" altLang="zh-CN" sz="2800" b="1" baseline="-25000" dirty="0">
                  <a:solidFill>
                    <a:srgbClr val="A50021"/>
                  </a:solidFill>
                </a:rPr>
                <a:t>2</a:t>
              </a:r>
              <a:endParaRPr lang="en-US" altLang="zh-CN" sz="2800" b="1" baseline="-25000" dirty="0">
                <a:solidFill>
                  <a:srgbClr val="A50021"/>
                </a:solidFill>
              </a:endParaRPr>
            </a:p>
          </p:txBody>
        </p:sp>
        <p:sp>
          <p:nvSpPr>
            <p:cNvPr id="31772" name="Text Box 27"/>
            <p:cNvSpPr txBox="1"/>
            <p:nvPr/>
          </p:nvSpPr>
          <p:spPr>
            <a:xfrm>
              <a:off x="2290" y="663"/>
              <a:ext cx="33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solidFill>
                    <a:srgbClr val="A50021"/>
                  </a:solidFill>
                </a:rPr>
                <a:t>p</a:t>
              </a:r>
              <a:r>
                <a:rPr lang="en-US" altLang="zh-CN" sz="2800" b="1" baseline="-25000" dirty="0">
                  <a:solidFill>
                    <a:srgbClr val="A50021"/>
                  </a:solidFill>
                </a:rPr>
                <a:t>1</a:t>
              </a:r>
              <a:endParaRPr lang="en-US" altLang="zh-CN" sz="2800" b="1" baseline="-25000" dirty="0">
                <a:solidFill>
                  <a:srgbClr val="A50021"/>
                </a:solidFill>
              </a:endParaRPr>
            </a:p>
          </p:txBody>
        </p:sp>
        <p:sp>
          <p:nvSpPr>
            <p:cNvPr id="31773" name="Text Box 28"/>
            <p:cNvSpPr txBox="1"/>
            <p:nvPr/>
          </p:nvSpPr>
          <p:spPr>
            <a:xfrm>
              <a:off x="2290" y="1117"/>
              <a:ext cx="341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solidFill>
                    <a:srgbClr val="A50021"/>
                  </a:solidFill>
                </a:rPr>
                <a:t>F</a:t>
              </a:r>
              <a:r>
                <a:rPr lang="en-US" altLang="zh-CN" sz="2800" b="1" baseline="-25000" dirty="0">
                  <a:solidFill>
                    <a:srgbClr val="A50021"/>
                  </a:solidFill>
                </a:rPr>
                <a:t>1</a:t>
              </a:r>
              <a:endParaRPr lang="en-US" altLang="zh-CN" sz="2800" b="1" baseline="-25000" dirty="0">
                <a:solidFill>
                  <a:srgbClr val="A50021"/>
                </a:solidFill>
              </a:endParaRPr>
            </a:p>
          </p:txBody>
        </p:sp>
        <p:sp>
          <p:nvSpPr>
            <p:cNvPr id="31774" name="Text Box 29"/>
            <p:cNvSpPr txBox="1"/>
            <p:nvPr/>
          </p:nvSpPr>
          <p:spPr>
            <a:xfrm>
              <a:off x="5284" y="1207"/>
              <a:ext cx="341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solidFill>
                    <a:srgbClr val="A50021"/>
                  </a:solidFill>
                </a:rPr>
                <a:t>F</a:t>
              </a:r>
              <a:r>
                <a:rPr lang="en-US" altLang="zh-CN" sz="2800" b="1" baseline="-25000" dirty="0">
                  <a:solidFill>
                    <a:srgbClr val="A50021"/>
                  </a:solidFill>
                </a:rPr>
                <a:t>2</a:t>
              </a:r>
              <a:endParaRPr lang="en-US" altLang="zh-CN" sz="2800" b="1" baseline="-25000" dirty="0">
                <a:solidFill>
                  <a:srgbClr val="A50021"/>
                </a:solidFill>
              </a:endParaRPr>
            </a:p>
          </p:txBody>
        </p:sp>
        <p:sp>
          <p:nvSpPr>
            <p:cNvPr id="31775" name="Oval 30" descr="75%"/>
            <p:cNvSpPr/>
            <p:nvPr/>
          </p:nvSpPr>
          <p:spPr>
            <a:xfrm>
              <a:off x="2759" y="618"/>
              <a:ext cx="409" cy="907"/>
            </a:xfrm>
            <a:prstGeom prst="ellipse">
              <a:avLst/>
            </a:prstGeom>
            <a:pattFill prst="pct75">
              <a:fgClr>
                <a:srgbClr val="00CCFF"/>
              </a:fgClr>
              <a:bgClr>
                <a:schemeClr val="bg1"/>
              </a:bgClr>
            </a:pattFill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chemeClr val="accent2"/>
                </a:solidFill>
              </a:endParaRPr>
            </a:p>
          </p:txBody>
        </p:sp>
        <p:sp>
          <p:nvSpPr>
            <p:cNvPr id="31776" name="Oval 31"/>
            <p:cNvSpPr/>
            <p:nvPr/>
          </p:nvSpPr>
          <p:spPr>
            <a:xfrm>
              <a:off x="4801" y="618"/>
              <a:ext cx="409" cy="907"/>
            </a:xfrm>
            <a:prstGeom prst="ellipse">
              <a:avLst/>
            </a:prstGeom>
            <a:noFill/>
            <a:ln w="28575" cap="flat" cmpd="sng">
              <a:solidFill>
                <a:srgbClr val="3333FF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chemeClr val="accent2"/>
                </a:solidFill>
              </a:endParaRPr>
            </a:p>
          </p:txBody>
        </p:sp>
        <p:sp>
          <p:nvSpPr>
            <p:cNvPr id="31777" name="Oval 32"/>
            <p:cNvSpPr/>
            <p:nvPr/>
          </p:nvSpPr>
          <p:spPr>
            <a:xfrm>
              <a:off x="2805" y="709"/>
              <a:ext cx="317" cy="725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chemeClr val="accent2"/>
                </a:solidFill>
              </a:endParaRPr>
            </a:p>
          </p:txBody>
        </p:sp>
        <p:sp>
          <p:nvSpPr>
            <p:cNvPr id="31778" name="Oval 33"/>
            <p:cNvSpPr/>
            <p:nvPr/>
          </p:nvSpPr>
          <p:spPr>
            <a:xfrm>
              <a:off x="4846" y="709"/>
              <a:ext cx="317" cy="725"/>
            </a:xfrm>
            <a:prstGeom prst="ellipse">
              <a:avLst/>
            </a:prstGeom>
            <a:noFill/>
            <a:ln w="28575" cap="flat" cmpd="sng">
              <a:solidFill>
                <a:srgbClr val="3333FF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chemeClr val="accent2"/>
                </a:solidFill>
              </a:endParaRPr>
            </a:p>
          </p:txBody>
        </p:sp>
        <p:sp>
          <p:nvSpPr>
            <p:cNvPr id="31779" name="Line 34"/>
            <p:cNvSpPr/>
            <p:nvPr/>
          </p:nvSpPr>
          <p:spPr>
            <a:xfrm>
              <a:off x="2941" y="618"/>
              <a:ext cx="2087" cy="0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1780" name="Line 35"/>
            <p:cNvSpPr/>
            <p:nvPr/>
          </p:nvSpPr>
          <p:spPr>
            <a:xfrm>
              <a:off x="2941" y="709"/>
              <a:ext cx="2087" cy="0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1781" name="Line 36"/>
            <p:cNvSpPr/>
            <p:nvPr/>
          </p:nvSpPr>
          <p:spPr>
            <a:xfrm>
              <a:off x="2941" y="1434"/>
              <a:ext cx="2087" cy="0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1782" name="Line 37"/>
            <p:cNvSpPr/>
            <p:nvPr/>
          </p:nvSpPr>
          <p:spPr>
            <a:xfrm>
              <a:off x="2941" y="1525"/>
              <a:ext cx="2087" cy="0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1783" name="Line 38"/>
            <p:cNvSpPr/>
            <p:nvPr/>
          </p:nvSpPr>
          <p:spPr>
            <a:xfrm>
              <a:off x="2442" y="1071"/>
              <a:ext cx="544" cy="0"/>
            </a:xfrm>
            <a:prstGeom prst="line">
              <a:avLst/>
            </a:prstGeom>
            <a:ln w="38100" cap="flat" cmpd="sng">
              <a:solidFill>
                <a:srgbClr val="A50021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31784" name="Line 39"/>
            <p:cNvSpPr/>
            <p:nvPr/>
          </p:nvSpPr>
          <p:spPr>
            <a:xfrm>
              <a:off x="5027" y="1117"/>
              <a:ext cx="567" cy="0"/>
            </a:xfrm>
            <a:prstGeom prst="line">
              <a:avLst/>
            </a:prstGeom>
            <a:ln w="38100" cap="flat" cmpd="sng">
              <a:solidFill>
                <a:srgbClr val="A50021"/>
              </a:solidFill>
              <a:prstDash val="solid"/>
              <a:headEnd type="triangle" w="med" len="lg"/>
              <a:tailEnd type="none" w="med" len="lg"/>
            </a:ln>
          </p:spPr>
        </p:sp>
        <p:sp>
          <p:nvSpPr>
            <p:cNvPr id="31785" name="Line 40"/>
            <p:cNvSpPr/>
            <p:nvPr/>
          </p:nvSpPr>
          <p:spPr>
            <a:xfrm>
              <a:off x="2941" y="1071"/>
              <a:ext cx="136" cy="227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31786" name="Text Box 41"/>
            <p:cNvSpPr txBox="1"/>
            <p:nvPr/>
          </p:nvSpPr>
          <p:spPr>
            <a:xfrm>
              <a:off x="2941" y="890"/>
              <a:ext cx="203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/>
                <a:t>r</a:t>
              </a:r>
              <a:endParaRPr lang="en-US" altLang="zh-CN" sz="2800" b="1" baseline="-25000" dirty="0"/>
            </a:p>
          </p:txBody>
        </p:sp>
        <p:sp>
          <p:nvSpPr>
            <p:cNvPr id="31787" name="Text Box 42"/>
            <p:cNvSpPr txBox="1"/>
            <p:nvPr/>
          </p:nvSpPr>
          <p:spPr>
            <a:xfrm>
              <a:off x="3939" y="346"/>
              <a:ext cx="32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/>
                <a:t>d</a:t>
              </a:r>
              <a:r>
                <a:rPr lang="en-US" altLang="zh-CN" sz="2800" b="1" i="1" dirty="0"/>
                <a:t>r</a:t>
              </a:r>
              <a:endParaRPr lang="en-US" altLang="zh-CN" sz="2800" b="1" baseline="-25000" dirty="0"/>
            </a:p>
          </p:txBody>
        </p:sp>
        <p:sp>
          <p:nvSpPr>
            <p:cNvPr id="31788" name="Line 43"/>
            <p:cNvSpPr/>
            <p:nvPr/>
          </p:nvSpPr>
          <p:spPr>
            <a:xfrm flipV="1">
              <a:off x="3939" y="709"/>
              <a:ext cx="0" cy="226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31789" name="Line 44"/>
            <p:cNvSpPr/>
            <p:nvPr/>
          </p:nvSpPr>
          <p:spPr>
            <a:xfrm flipV="1">
              <a:off x="3939" y="391"/>
              <a:ext cx="0" cy="226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headEnd type="triangle" w="med" len="lg"/>
              <a:tailEnd type="none" w="med" len="med"/>
            </a:ln>
          </p:spPr>
        </p:sp>
      </p:grpSp>
      <p:grpSp>
        <p:nvGrpSpPr>
          <p:cNvPr id="243757" name="Group 45"/>
          <p:cNvGrpSpPr/>
          <p:nvPr/>
        </p:nvGrpSpPr>
        <p:grpSpPr>
          <a:xfrm>
            <a:off x="3836988" y="1052513"/>
            <a:ext cx="5307012" cy="1382712"/>
            <a:chOff x="2417" y="663"/>
            <a:chExt cx="3343" cy="871"/>
          </a:xfrm>
        </p:grpSpPr>
        <p:sp>
          <p:nvSpPr>
            <p:cNvPr id="31759" name="Text Box 46"/>
            <p:cNvSpPr txBox="1"/>
            <p:nvPr/>
          </p:nvSpPr>
          <p:spPr>
            <a:xfrm>
              <a:off x="5456" y="709"/>
              <a:ext cx="30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solidFill>
                    <a:srgbClr val="A50021"/>
                  </a:solidFill>
                </a:rPr>
                <a:t>p</a:t>
              </a:r>
              <a:r>
                <a:rPr lang="en-US" altLang="zh-CN" sz="2800" b="1" baseline="-25000" dirty="0">
                  <a:solidFill>
                    <a:srgbClr val="A50021"/>
                  </a:solidFill>
                </a:rPr>
                <a:t>2</a:t>
              </a:r>
              <a:endParaRPr lang="en-US" altLang="zh-CN" sz="2800" b="1" baseline="-25000" dirty="0">
                <a:solidFill>
                  <a:srgbClr val="A50021"/>
                </a:solidFill>
              </a:endParaRPr>
            </a:p>
          </p:txBody>
        </p:sp>
        <p:sp>
          <p:nvSpPr>
            <p:cNvPr id="31760" name="Text Box 47"/>
            <p:cNvSpPr txBox="1"/>
            <p:nvPr/>
          </p:nvSpPr>
          <p:spPr>
            <a:xfrm>
              <a:off x="2417" y="663"/>
              <a:ext cx="33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solidFill>
                    <a:srgbClr val="A50021"/>
                  </a:solidFill>
                </a:rPr>
                <a:t>p</a:t>
              </a:r>
              <a:r>
                <a:rPr lang="en-US" altLang="zh-CN" sz="2800" b="1" baseline="-25000" dirty="0">
                  <a:solidFill>
                    <a:srgbClr val="A50021"/>
                  </a:solidFill>
                </a:rPr>
                <a:t>1</a:t>
              </a:r>
              <a:endParaRPr lang="en-US" altLang="zh-CN" sz="2800" b="1" baseline="-25000" dirty="0">
                <a:solidFill>
                  <a:srgbClr val="A50021"/>
                </a:solidFill>
              </a:endParaRPr>
            </a:p>
          </p:txBody>
        </p:sp>
        <p:sp>
          <p:nvSpPr>
            <p:cNvPr id="31761" name="Text Box 48"/>
            <p:cNvSpPr txBox="1"/>
            <p:nvPr/>
          </p:nvSpPr>
          <p:spPr>
            <a:xfrm>
              <a:off x="2417" y="1117"/>
              <a:ext cx="341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solidFill>
                    <a:srgbClr val="A50021"/>
                  </a:solidFill>
                </a:rPr>
                <a:t>F</a:t>
              </a:r>
              <a:r>
                <a:rPr lang="en-US" altLang="zh-CN" sz="2800" b="1" baseline="-25000" dirty="0">
                  <a:solidFill>
                    <a:srgbClr val="A50021"/>
                  </a:solidFill>
                </a:rPr>
                <a:t>1</a:t>
              </a:r>
              <a:endParaRPr lang="en-US" altLang="zh-CN" sz="2800" b="1" baseline="-25000" dirty="0">
                <a:solidFill>
                  <a:srgbClr val="A50021"/>
                </a:solidFill>
              </a:endParaRPr>
            </a:p>
          </p:txBody>
        </p:sp>
        <p:sp>
          <p:nvSpPr>
            <p:cNvPr id="31762" name="Text Box 49"/>
            <p:cNvSpPr txBox="1"/>
            <p:nvPr/>
          </p:nvSpPr>
          <p:spPr>
            <a:xfrm>
              <a:off x="5411" y="1207"/>
              <a:ext cx="341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solidFill>
                    <a:srgbClr val="A50021"/>
                  </a:solidFill>
                </a:rPr>
                <a:t>F</a:t>
              </a:r>
              <a:r>
                <a:rPr lang="en-US" altLang="zh-CN" sz="2800" b="1" baseline="-25000" dirty="0">
                  <a:solidFill>
                    <a:srgbClr val="A50021"/>
                  </a:solidFill>
                </a:rPr>
                <a:t>2</a:t>
              </a:r>
              <a:endParaRPr lang="en-US" altLang="zh-CN" sz="2800" b="1" baseline="-25000" dirty="0">
                <a:solidFill>
                  <a:srgbClr val="A50021"/>
                </a:solidFill>
              </a:endParaRPr>
            </a:p>
          </p:txBody>
        </p:sp>
        <p:sp>
          <p:nvSpPr>
            <p:cNvPr id="31763" name="Oval 50" descr="80%"/>
            <p:cNvSpPr/>
            <p:nvPr/>
          </p:nvSpPr>
          <p:spPr>
            <a:xfrm>
              <a:off x="2932" y="709"/>
              <a:ext cx="317" cy="725"/>
            </a:xfrm>
            <a:prstGeom prst="ellipse">
              <a:avLst/>
            </a:prstGeom>
            <a:pattFill prst="pct80">
              <a:fgClr>
                <a:srgbClr val="00CCFF"/>
              </a:fgClr>
              <a:bgClr>
                <a:schemeClr val="bg1"/>
              </a:bgClr>
            </a:pattFill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chemeClr val="accent2"/>
                </a:solidFill>
              </a:endParaRPr>
            </a:p>
          </p:txBody>
        </p:sp>
        <p:sp>
          <p:nvSpPr>
            <p:cNvPr id="31764" name="Oval 51"/>
            <p:cNvSpPr/>
            <p:nvPr/>
          </p:nvSpPr>
          <p:spPr>
            <a:xfrm>
              <a:off x="4973" y="709"/>
              <a:ext cx="317" cy="725"/>
            </a:xfrm>
            <a:prstGeom prst="ellipse">
              <a:avLst/>
            </a:prstGeom>
            <a:noFill/>
            <a:ln w="28575" cap="flat" cmpd="sng">
              <a:solidFill>
                <a:srgbClr val="3333FF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zh-CN" sz="2400" dirty="0">
                <a:solidFill>
                  <a:schemeClr val="accent2"/>
                </a:solidFill>
              </a:endParaRPr>
            </a:p>
          </p:txBody>
        </p:sp>
        <p:sp>
          <p:nvSpPr>
            <p:cNvPr id="31765" name="Line 52"/>
            <p:cNvSpPr/>
            <p:nvPr/>
          </p:nvSpPr>
          <p:spPr>
            <a:xfrm>
              <a:off x="3068" y="709"/>
              <a:ext cx="2087" cy="0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1766" name="Line 53"/>
            <p:cNvSpPr/>
            <p:nvPr/>
          </p:nvSpPr>
          <p:spPr>
            <a:xfrm>
              <a:off x="3068" y="1434"/>
              <a:ext cx="2087" cy="0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1767" name="Line 54"/>
            <p:cNvSpPr/>
            <p:nvPr/>
          </p:nvSpPr>
          <p:spPr>
            <a:xfrm>
              <a:off x="2569" y="1071"/>
              <a:ext cx="544" cy="0"/>
            </a:xfrm>
            <a:prstGeom prst="line">
              <a:avLst/>
            </a:prstGeom>
            <a:ln w="38100" cap="flat" cmpd="sng">
              <a:solidFill>
                <a:srgbClr val="A50021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31768" name="Line 55"/>
            <p:cNvSpPr/>
            <p:nvPr/>
          </p:nvSpPr>
          <p:spPr>
            <a:xfrm>
              <a:off x="5154" y="1117"/>
              <a:ext cx="567" cy="0"/>
            </a:xfrm>
            <a:prstGeom prst="line">
              <a:avLst/>
            </a:prstGeom>
            <a:ln w="38100" cap="flat" cmpd="sng">
              <a:solidFill>
                <a:srgbClr val="A50021"/>
              </a:solidFill>
              <a:prstDash val="solid"/>
              <a:headEnd type="triangle" w="med" len="lg"/>
              <a:tailEnd type="none" w="med" len="lg"/>
            </a:ln>
          </p:spPr>
        </p:sp>
        <p:sp>
          <p:nvSpPr>
            <p:cNvPr id="31769" name="Line 56"/>
            <p:cNvSpPr/>
            <p:nvPr/>
          </p:nvSpPr>
          <p:spPr>
            <a:xfrm>
              <a:off x="3068" y="1071"/>
              <a:ext cx="136" cy="227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31770" name="Text Box 57"/>
            <p:cNvSpPr txBox="1"/>
            <p:nvPr/>
          </p:nvSpPr>
          <p:spPr>
            <a:xfrm>
              <a:off x="3068" y="890"/>
              <a:ext cx="203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/>
                <a:t>r</a:t>
              </a:r>
              <a:endParaRPr lang="en-US" altLang="zh-CN" sz="2800" b="1" baseline="-25000" dirty="0"/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3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3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3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3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4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3714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3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3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43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3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4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43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14" grpId="0" build="p"/>
      <p:bldP spid="243715" grpId="0"/>
      <p:bldP spid="243718" grpId="0"/>
      <p:bldP spid="24372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44738" name="Rectangle 2"/>
          <p:cNvSpPr>
            <a:spLocks noGrp="1"/>
          </p:cNvSpPr>
          <p:nvPr>
            <p:ph idx="1"/>
          </p:nvPr>
        </p:nvSpPr>
        <p:spPr>
          <a:xfrm>
            <a:off x="250825" y="404813"/>
            <a:ext cx="8458200" cy="685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b="1" dirty="0">
                <a:solidFill>
                  <a:srgbClr val="333399"/>
                </a:solidFill>
              </a:rPr>
              <a:t>(4) </a:t>
            </a:r>
            <a:r>
              <a:rPr lang="zh-CN" altLang="en-US" sz="2800" b="1" dirty="0">
                <a:solidFill>
                  <a:srgbClr val="333399"/>
                </a:solidFill>
              </a:rPr>
              <a:t>最大</a:t>
            </a:r>
            <a:r>
              <a:rPr lang="zh-CN" altLang="en-US" sz="2800" b="1" dirty="0">
                <a:solidFill>
                  <a:srgbClr val="333399"/>
                </a:solidFill>
                <a:sym typeface="Symbol" panose="05050102010706020507" pitchFamily="18" charset="2"/>
              </a:rPr>
              <a:t>流速与平均流速</a:t>
            </a:r>
            <a:endParaRPr lang="zh-CN" altLang="en-US" sz="2800" b="1" dirty="0">
              <a:solidFill>
                <a:srgbClr val="333399"/>
              </a:solidFill>
              <a:sym typeface="Symbol" panose="05050102010706020507" pitchFamily="18" charset="2"/>
            </a:endParaRPr>
          </a:p>
        </p:txBody>
      </p:sp>
      <p:sp>
        <p:nvSpPr>
          <p:cNvPr id="244740" name="Rectangle 4"/>
          <p:cNvSpPr/>
          <p:nvPr/>
        </p:nvSpPr>
        <p:spPr>
          <a:xfrm>
            <a:off x="228600" y="1125538"/>
            <a:ext cx="4919663" cy="71913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1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b="1" dirty="0"/>
              <a:t>①  </a:t>
            </a:r>
            <a:r>
              <a:rPr lang="zh-CN" altLang="en-US" sz="2800" b="1" dirty="0"/>
              <a:t>最大</a:t>
            </a:r>
            <a:r>
              <a:rPr lang="zh-CN" altLang="en-US" sz="2800" b="1" dirty="0">
                <a:sym typeface="Symbol" panose="05050102010706020507" pitchFamily="18" charset="2"/>
              </a:rPr>
              <a:t>流速</a:t>
            </a:r>
            <a:endParaRPr lang="zh-CN" altLang="en-US" sz="2800" b="1" dirty="0">
              <a:sym typeface="Symbol" panose="05050102010706020507" pitchFamily="18" charset="2"/>
            </a:endParaRPr>
          </a:p>
        </p:txBody>
      </p:sp>
      <p:sp>
        <p:nvSpPr>
          <p:cNvPr id="244745" name="Rectangle 9"/>
          <p:cNvSpPr/>
          <p:nvPr/>
        </p:nvSpPr>
        <p:spPr>
          <a:xfrm>
            <a:off x="250825" y="2565400"/>
            <a:ext cx="5856288" cy="5762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1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宋体" panose="02010600030101010101" pitchFamily="2" charset="-122"/>
                <a:sym typeface="Symbol" panose="05050102010706020507" pitchFamily="18" charset="2"/>
              </a:rPr>
              <a:t>② </a:t>
            </a:r>
            <a:r>
              <a:rPr lang="zh-CN" altLang="en-US" sz="2800" b="1" dirty="0">
                <a:sym typeface="Symbol" panose="05050102010706020507" pitchFamily="18" charset="2"/>
              </a:rPr>
              <a:t>平均流速</a:t>
            </a:r>
            <a:endParaRPr lang="zh-CN" altLang="en-US" sz="2800" b="1" dirty="0">
              <a:sym typeface="Symbol" panose="05050102010706020507" pitchFamily="18" charset="2"/>
            </a:endParaRPr>
          </a:p>
        </p:txBody>
      </p:sp>
      <p:graphicFrame>
        <p:nvGraphicFramePr>
          <p:cNvPr id="244749" name="Object 13"/>
          <p:cNvGraphicFramePr>
            <a:graphicFrameLocks noChangeAspect="1"/>
          </p:cNvGraphicFramePr>
          <p:nvPr/>
        </p:nvGraphicFramePr>
        <p:xfrm>
          <a:off x="1331913" y="1557338"/>
          <a:ext cx="3832225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1585595" imgH="553720" progId="Equation.3">
                  <p:embed/>
                </p:oleObj>
              </mc:Choice>
              <mc:Fallback>
                <p:oleObj name="" r:id="rId1" imgW="1585595" imgH="55372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31913" y="1557338"/>
                        <a:ext cx="3832225" cy="1071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5" name="Rectangle 15"/>
          <p:cNvSpPr/>
          <p:nvPr/>
        </p:nvSpPr>
        <p:spPr>
          <a:xfrm>
            <a:off x="0" y="321945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graphicFrame>
        <p:nvGraphicFramePr>
          <p:cNvPr id="244750" name="Object 14"/>
          <p:cNvGraphicFramePr>
            <a:graphicFrameLocks noChangeAspect="1"/>
          </p:cNvGraphicFramePr>
          <p:nvPr/>
        </p:nvGraphicFramePr>
        <p:xfrm>
          <a:off x="1331913" y="3213100"/>
          <a:ext cx="6408737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3" imgW="3070225" imgH="553720" progId="Equation.3">
                  <p:embed/>
                </p:oleObj>
              </mc:Choice>
              <mc:Fallback>
                <p:oleObj name="" r:id="rId3" imgW="3070225" imgH="55372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31913" y="3213100"/>
                        <a:ext cx="6408737" cy="1117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55" name="Object 19"/>
          <p:cNvGraphicFramePr>
            <a:graphicFrameLocks noChangeAspect="1"/>
          </p:cNvGraphicFramePr>
          <p:nvPr/>
        </p:nvGraphicFramePr>
        <p:xfrm>
          <a:off x="3059113" y="4868863"/>
          <a:ext cx="1957387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5" imgW="855980" imgH="503555" progId="Equation.3">
                  <p:embed/>
                </p:oleObj>
              </mc:Choice>
              <mc:Fallback>
                <p:oleObj name="" r:id="rId5" imgW="855980" imgH="503555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59113" y="4868863"/>
                        <a:ext cx="1957387" cy="10890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chemeClr val="accent1"/>
                          </a:gs>
                          <a:gs pos="50000">
                            <a:schemeClr val="bg1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n w="28575" cap="flat" cmpd="sng">
                        <a:solidFill>
                          <a:srgbClr val="CC00CC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8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4738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4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4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4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4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38" grpId="0" build="p"/>
      <p:bldP spid="244740" grpId="0"/>
      <p:bldP spid="24474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49858" name="Rectangle 2"/>
          <p:cNvSpPr>
            <a:spLocks noGrp="1"/>
          </p:cNvSpPr>
          <p:nvPr>
            <p:ph idx="1"/>
          </p:nvPr>
        </p:nvSpPr>
        <p:spPr>
          <a:xfrm>
            <a:off x="250825" y="404813"/>
            <a:ext cx="8458200" cy="685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b="1" dirty="0">
                <a:solidFill>
                  <a:srgbClr val="333399"/>
                </a:solidFill>
              </a:rPr>
              <a:t>(5) </a:t>
            </a:r>
            <a:r>
              <a:rPr lang="zh-CN" altLang="en-US" sz="2800" b="1" dirty="0">
                <a:solidFill>
                  <a:srgbClr val="333399"/>
                </a:solidFill>
                <a:sym typeface="Symbol" panose="05050102010706020507" pitchFamily="18" charset="2"/>
              </a:rPr>
              <a:t>流阻</a:t>
            </a:r>
            <a:r>
              <a:rPr lang="en-US" altLang="zh-CN" sz="2800" b="1" dirty="0">
                <a:solidFill>
                  <a:srgbClr val="333399"/>
                </a:solidFill>
                <a:sym typeface="Symbol" panose="05050102010706020507" pitchFamily="18" charset="2"/>
              </a:rPr>
              <a:t>(Flow Resistance)</a:t>
            </a:r>
            <a:endParaRPr lang="en-US" altLang="zh-CN" sz="2800" b="1" dirty="0">
              <a:solidFill>
                <a:srgbClr val="333399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249859" name="Object 3"/>
          <p:cNvGraphicFramePr>
            <a:graphicFrameLocks noChangeAspect="1"/>
          </p:cNvGraphicFramePr>
          <p:nvPr/>
        </p:nvGraphicFramePr>
        <p:xfrm>
          <a:off x="971550" y="1047750"/>
          <a:ext cx="6624638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3430905" imgH="579120" progId="Equation.3">
                  <p:embed/>
                </p:oleObj>
              </mc:Choice>
              <mc:Fallback>
                <p:oleObj name="" r:id="rId1" imgW="3430905" imgH="57912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1550" y="1047750"/>
                        <a:ext cx="6624638" cy="1141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860" name="Rectangle 4"/>
          <p:cNvSpPr/>
          <p:nvPr/>
        </p:nvSpPr>
        <p:spPr>
          <a:xfrm>
            <a:off x="228600" y="2349500"/>
            <a:ext cx="8915400" cy="11525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1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b="1" dirty="0"/>
              <a:t>①</a:t>
            </a:r>
            <a:r>
              <a:rPr lang="en-US" altLang="zh-CN" sz="2800" b="1" i="1" dirty="0">
                <a:solidFill>
                  <a:schemeClr val="hlink"/>
                </a:solidFill>
              </a:rPr>
              <a:t> </a:t>
            </a:r>
            <a:r>
              <a:rPr lang="en-US" altLang="zh-CN" sz="2800" b="1" i="1" dirty="0">
                <a:solidFill>
                  <a:schemeClr val="accent2"/>
                </a:solidFill>
              </a:rPr>
              <a:t> </a:t>
            </a:r>
            <a:r>
              <a:rPr lang="en-US" altLang="zh-CN" sz="2800" b="1" i="1" dirty="0">
                <a:solidFill>
                  <a:srgbClr val="333399"/>
                </a:solidFill>
              </a:rPr>
              <a:t>R</a:t>
            </a:r>
            <a:r>
              <a:rPr lang="en-US" altLang="zh-CN" sz="2800" b="1" i="1" baseline="-25000" dirty="0">
                <a:solidFill>
                  <a:srgbClr val="333399"/>
                </a:solidFill>
              </a:rPr>
              <a:t>f</a:t>
            </a:r>
            <a:r>
              <a:rPr lang="en-US" altLang="zh-CN" sz="2800" b="1" i="1" baseline="-25000" dirty="0">
                <a:solidFill>
                  <a:schemeClr val="folHlink"/>
                </a:solidFill>
              </a:rPr>
              <a:t> </a:t>
            </a:r>
            <a:r>
              <a:rPr lang="zh-CN" altLang="en-US" sz="2800" b="1" dirty="0"/>
              <a:t>叫做</a:t>
            </a:r>
            <a:r>
              <a:rPr lang="zh-CN" altLang="en-US" sz="2800" b="1" dirty="0">
                <a:sym typeface="Symbol" panose="05050102010706020507" pitchFamily="18" charset="2"/>
              </a:rPr>
              <a:t>流阻</a:t>
            </a:r>
            <a:r>
              <a:rPr lang="en-US" altLang="zh-CN" sz="2800" b="1" dirty="0">
                <a:sym typeface="Symbol" panose="05050102010706020507" pitchFamily="18" charset="2"/>
              </a:rPr>
              <a:t>, </a:t>
            </a:r>
            <a:r>
              <a:rPr lang="zh-CN" altLang="en-US" sz="2800" b="1" dirty="0">
                <a:sym typeface="Symbol" panose="05050102010706020507" pitchFamily="18" charset="2"/>
              </a:rPr>
              <a:t>只决定与管的长度、半径和流体的黏度</a:t>
            </a:r>
            <a:r>
              <a:rPr lang="en-US" altLang="zh-CN" sz="2800" b="1" dirty="0">
                <a:sym typeface="Symbol" panose="05050102010706020507" pitchFamily="18" charset="2"/>
              </a:rPr>
              <a:t>.</a:t>
            </a:r>
            <a:endParaRPr lang="en-US" altLang="zh-CN" sz="2800" b="1" dirty="0">
              <a:sym typeface="Symbol" panose="05050102010706020507" pitchFamily="18" charset="2"/>
            </a:endParaRPr>
          </a:p>
          <a:p>
            <a:pPr marL="342900" lvl="0" indent="-342900" eaLnBrk="1" hangingPunct="1">
              <a:lnSpc>
                <a:spcPct val="11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b="1" dirty="0">
                <a:sym typeface="Symbol" panose="05050102010706020507" pitchFamily="18" charset="2"/>
              </a:rPr>
              <a:t>     </a:t>
            </a:r>
            <a:r>
              <a:rPr lang="zh-CN" altLang="en-US" sz="2800" b="1" dirty="0">
                <a:sym typeface="Symbol" panose="05050102010706020507" pitchFamily="18" charset="2"/>
              </a:rPr>
              <a:t>单位：</a:t>
            </a:r>
            <a:r>
              <a:rPr lang="en-US" altLang="zh-CN" sz="2800" b="1" dirty="0">
                <a:solidFill>
                  <a:srgbClr val="333399"/>
                </a:solidFill>
                <a:sym typeface="Symbol" panose="05050102010706020507" pitchFamily="18" charset="2"/>
              </a:rPr>
              <a:t>Pas/m</a:t>
            </a:r>
            <a:r>
              <a:rPr lang="en-US" altLang="zh-CN" sz="2800" b="1" baseline="30000" dirty="0">
                <a:solidFill>
                  <a:srgbClr val="333399"/>
                </a:solidFill>
                <a:sym typeface="Symbol" panose="05050102010706020507" pitchFamily="18" charset="2"/>
              </a:rPr>
              <a:t>3</a:t>
            </a:r>
            <a:endParaRPr lang="en-US" altLang="zh-CN" sz="2800" b="1" baseline="30000" dirty="0">
              <a:solidFill>
                <a:srgbClr val="333399"/>
              </a:solidFill>
              <a:sym typeface="Symbol" panose="05050102010706020507" pitchFamily="18" charset="2"/>
            </a:endParaRPr>
          </a:p>
        </p:txBody>
      </p:sp>
      <p:sp>
        <p:nvSpPr>
          <p:cNvPr id="249861" name="Rectangle 5"/>
          <p:cNvSpPr/>
          <p:nvPr/>
        </p:nvSpPr>
        <p:spPr>
          <a:xfrm>
            <a:off x="971550" y="4292600"/>
            <a:ext cx="1439863" cy="2889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9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b="1" dirty="0">
                <a:sym typeface="Symbol" panose="05050102010706020507" pitchFamily="18" charset="2"/>
              </a:rPr>
              <a:t>串联</a:t>
            </a:r>
            <a:r>
              <a:rPr lang="en-US" altLang="zh-CN" sz="2800" b="1" dirty="0">
                <a:sym typeface="Symbol" panose="05050102010706020507" pitchFamily="18" charset="2"/>
              </a:rPr>
              <a:t>:</a:t>
            </a:r>
            <a:endParaRPr lang="en-US" altLang="zh-CN" sz="2800" b="1" dirty="0"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49862" name="Rectangle 6"/>
          <p:cNvSpPr/>
          <p:nvPr/>
        </p:nvSpPr>
        <p:spPr>
          <a:xfrm>
            <a:off x="971550" y="5157788"/>
            <a:ext cx="1296988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9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b="1" dirty="0">
                <a:sym typeface="Symbol" panose="05050102010706020507" pitchFamily="18" charset="2"/>
              </a:rPr>
              <a:t>并联</a:t>
            </a:r>
            <a:r>
              <a:rPr lang="en-US" altLang="zh-CN" sz="3600" b="1" dirty="0">
                <a:sym typeface="Symbol" panose="05050102010706020507" pitchFamily="18" charset="2"/>
              </a:rPr>
              <a:t>:</a:t>
            </a:r>
            <a:endParaRPr lang="en-US" altLang="zh-CN" sz="3600" b="1" dirty="0"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249863" name="Object 7"/>
          <p:cNvGraphicFramePr>
            <a:graphicFrameLocks noChangeAspect="1"/>
          </p:cNvGraphicFramePr>
          <p:nvPr/>
        </p:nvGraphicFramePr>
        <p:xfrm>
          <a:off x="1979613" y="4221163"/>
          <a:ext cx="3478212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3" imgW="1736725" imgH="276860" progId="Equation.3">
                  <p:embed/>
                </p:oleObj>
              </mc:Choice>
              <mc:Fallback>
                <p:oleObj name="" r:id="rId3" imgW="1736725" imgH="27686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79613" y="4221163"/>
                        <a:ext cx="3478212" cy="600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864" name="Object 8"/>
          <p:cNvGraphicFramePr>
            <a:graphicFrameLocks noChangeAspect="1"/>
          </p:cNvGraphicFramePr>
          <p:nvPr/>
        </p:nvGraphicFramePr>
        <p:xfrm>
          <a:off x="2051050" y="4941888"/>
          <a:ext cx="3600450" cy="1147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5" imgW="1837055" imgH="561975" progId="Equation.3">
                  <p:embed/>
                </p:oleObj>
              </mc:Choice>
              <mc:Fallback>
                <p:oleObj name="" r:id="rId5" imgW="1837055" imgH="561975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51050" y="4941888"/>
                        <a:ext cx="3600450" cy="1147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865" name="Rectangle 9"/>
          <p:cNvSpPr/>
          <p:nvPr/>
        </p:nvSpPr>
        <p:spPr>
          <a:xfrm>
            <a:off x="250825" y="3500438"/>
            <a:ext cx="5856288" cy="5762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1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宋体" panose="02010600030101010101" pitchFamily="2" charset="-122"/>
                <a:sym typeface="Symbol" panose="05050102010706020507" pitchFamily="18" charset="2"/>
              </a:rPr>
              <a:t>②</a:t>
            </a:r>
            <a:r>
              <a:rPr lang="en-US" altLang="zh-CN" sz="2800" b="1" dirty="0">
                <a:sym typeface="Symbol" panose="05050102010706020507" pitchFamily="18" charset="2"/>
              </a:rPr>
              <a:t>  </a:t>
            </a:r>
            <a:r>
              <a:rPr lang="zh-CN" altLang="en-US" sz="2800" b="1" dirty="0">
                <a:sym typeface="Symbol" panose="05050102010706020507" pitchFamily="18" charset="2"/>
              </a:rPr>
              <a:t>流阻的串并联</a:t>
            </a:r>
            <a:r>
              <a:rPr lang="en-US" altLang="zh-CN" sz="2800" b="1" dirty="0">
                <a:sym typeface="Symbol" panose="05050102010706020507" pitchFamily="18" charset="2"/>
              </a:rPr>
              <a:t>:</a:t>
            </a:r>
            <a:endParaRPr lang="en-US" altLang="zh-CN" sz="2800" b="1" dirty="0"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8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9858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49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49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9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9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49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49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58" grpId="0" build="p"/>
      <p:bldP spid="249860" grpId="0"/>
      <p:bldP spid="249861" grpId="0"/>
      <p:bldP spid="249862" grpId="0"/>
      <p:bldP spid="24986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5602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3263" y="4094163"/>
            <a:ext cx="4545012" cy="2422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74650" y="500063"/>
            <a:ext cx="7807325" cy="633413"/>
          </a:xfrm>
          <a:prstGeom prst="rect">
            <a:avLst/>
          </a:prstGeom>
          <a:noFill/>
          <a:ln>
            <a:noFill/>
          </a:ln>
        </p:spPr>
        <p:txBody>
          <a:bodyPr vert="horz" wrap="square" lIns="84406" tIns="42203" rIns="84406" bIns="42203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16230" marR="0" lvl="0" indent="-316230" algn="l" defTabSz="843915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58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2" charset="-122"/>
                <a:cs typeface="+mn-cs"/>
              </a:rPr>
              <a:t>城市交通中的</a:t>
            </a:r>
            <a:r>
              <a:rPr kumimoji="0" lang="zh-CN" altLang="en-US" sz="258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2" charset="-122"/>
                <a:cs typeface="+mn-cs"/>
                <a:sym typeface="Symbol" panose="05050102010706020507" pitchFamily="18" charset="2"/>
              </a:rPr>
              <a:t>流阻</a:t>
            </a:r>
            <a:endParaRPr kumimoji="0" lang="en-US" altLang="zh-CN" sz="2585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黑体" panose="02010609060101010101" pitchFamily="2" charset="-122"/>
              <a:cs typeface="+mn-cs"/>
              <a:sym typeface="Symbol" panose="05050102010706020507" pitchFamily="18" charset="2"/>
            </a:endParaRPr>
          </a:p>
        </p:txBody>
      </p:sp>
      <p:pic>
        <p:nvPicPr>
          <p:cNvPr id="25604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38" y="1054100"/>
            <a:ext cx="4202112" cy="2803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5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8" y="4094163"/>
            <a:ext cx="4308475" cy="2422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6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0613" y="1054100"/>
            <a:ext cx="3848100" cy="2803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6626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13" y="557213"/>
            <a:ext cx="5145087" cy="3733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627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288" y="1397000"/>
            <a:ext cx="5226050" cy="4064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628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2625" y="2524125"/>
            <a:ext cx="4551363" cy="31638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629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1938" y="3527425"/>
            <a:ext cx="4959350" cy="30210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4819" name="Text Box 2"/>
          <p:cNvSpPr txBox="1"/>
          <p:nvPr/>
        </p:nvSpPr>
        <p:spPr>
          <a:xfrm>
            <a:off x="3962400" y="762000"/>
            <a:ext cx="4648200" cy="7016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zh-CN" sz="4000" b="1" dirty="0">
              <a:solidFill>
                <a:schemeClr val="folHlink"/>
              </a:solidFill>
            </a:endParaRPr>
          </a:p>
        </p:txBody>
      </p:sp>
      <p:sp>
        <p:nvSpPr>
          <p:cNvPr id="34820" name="Text Box 3"/>
          <p:cNvSpPr txBox="1"/>
          <p:nvPr/>
        </p:nvSpPr>
        <p:spPr>
          <a:xfrm>
            <a:off x="323850" y="260350"/>
            <a:ext cx="8820150" cy="169862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FF0000"/>
                </a:solidFill>
                <a:ea typeface="黑体" panose="02010609060101010101" pitchFamily="2" charset="-122"/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  <a:ea typeface="黑体" panose="02010609060101010101" pitchFamily="2" charset="-122"/>
              </a:rPr>
              <a:t>3</a:t>
            </a:r>
            <a:r>
              <a:rPr lang="en-US" altLang="zh-CN" sz="2400" b="1" dirty="0">
                <a:solidFill>
                  <a:srgbClr val="CC0000"/>
                </a:solidFill>
              </a:rPr>
              <a:t>  </a:t>
            </a:r>
            <a:r>
              <a:rPr lang="zh-CN" altLang="en-US" sz="2400" b="1" dirty="0"/>
              <a:t>设主动脉半径</a:t>
            </a:r>
            <a:r>
              <a:rPr lang="en-US" altLang="zh-CN" sz="2400" b="1" i="1" dirty="0">
                <a:solidFill>
                  <a:srgbClr val="333399"/>
                </a:solidFill>
              </a:rPr>
              <a:t>R</a:t>
            </a:r>
            <a:r>
              <a:rPr lang="en-US" altLang="zh-CN" sz="2400" b="1" dirty="0">
                <a:solidFill>
                  <a:srgbClr val="333399"/>
                </a:solidFill>
              </a:rPr>
              <a:t>=1.30×10</a:t>
            </a:r>
            <a:r>
              <a:rPr lang="en-US" altLang="zh-CN" sz="2400" b="1" baseline="30000" dirty="0">
                <a:solidFill>
                  <a:srgbClr val="333399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400" b="1" baseline="30000" dirty="0">
                <a:solidFill>
                  <a:srgbClr val="333399"/>
                </a:solidFill>
              </a:rPr>
              <a:t>2</a:t>
            </a:r>
            <a:r>
              <a:rPr lang="en-US" altLang="zh-CN" sz="2400" b="1" dirty="0">
                <a:solidFill>
                  <a:srgbClr val="333399"/>
                </a:solidFill>
              </a:rPr>
              <a:t> m</a:t>
            </a:r>
            <a:r>
              <a:rPr lang="zh-CN" altLang="en-US" sz="2400" b="1" dirty="0"/>
              <a:t>，其中血液流量</a:t>
            </a:r>
            <a:r>
              <a:rPr lang="en-US" altLang="zh-CN" sz="2400" b="1" i="1" dirty="0">
                <a:solidFill>
                  <a:srgbClr val="333399"/>
                </a:solidFill>
              </a:rPr>
              <a:t>Q</a:t>
            </a:r>
            <a:r>
              <a:rPr lang="en-US" altLang="zh-CN" sz="2400" b="1" dirty="0">
                <a:solidFill>
                  <a:srgbClr val="333399"/>
                </a:solidFill>
              </a:rPr>
              <a:t>=1.00×10</a:t>
            </a:r>
            <a:r>
              <a:rPr lang="en-US" altLang="zh-CN" sz="2400" b="1" baseline="30000" dirty="0">
                <a:solidFill>
                  <a:srgbClr val="333399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400" b="1" baseline="30000" dirty="0">
                <a:solidFill>
                  <a:srgbClr val="333399"/>
                </a:solidFill>
              </a:rPr>
              <a:t>4</a:t>
            </a:r>
            <a:r>
              <a:rPr lang="en-US" altLang="zh-CN" sz="2400" b="1" dirty="0">
                <a:solidFill>
                  <a:srgbClr val="333399"/>
                </a:solidFill>
              </a:rPr>
              <a:t> m</a:t>
            </a:r>
            <a:r>
              <a:rPr lang="en-US" altLang="zh-CN" sz="2400" b="1" baseline="30000" dirty="0">
                <a:solidFill>
                  <a:srgbClr val="333399"/>
                </a:solidFill>
              </a:rPr>
              <a:t>3</a:t>
            </a:r>
            <a:r>
              <a:rPr lang="en-US" altLang="zh-CN" sz="2400" b="1" dirty="0">
                <a:solidFill>
                  <a:srgbClr val="333399"/>
                </a:solidFill>
              </a:rPr>
              <a:t>/s</a:t>
            </a:r>
            <a:r>
              <a:rPr lang="zh-CN" altLang="en-US" sz="2400" b="1" dirty="0"/>
              <a:t>；某一支小动脉半径为主动脉的</a:t>
            </a:r>
            <a:r>
              <a:rPr lang="zh-CN" altLang="en-US" sz="2400" b="1" dirty="0">
                <a:solidFill>
                  <a:srgbClr val="333399"/>
                </a:solidFill>
              </a:rPr>
              <a:t>一半</a:t>
            </a:r>
            <a:r>
              <a:rPr lang="zh-CN" altLang="en-US" sz="2400" b="1" dirty="0"/>
              <a:t>，其中血液流量为主动脉流量的</a:t>
            </a:r>
            <a:r>
              <a:rPr lang="zh-CN" altLang="en-US" sz="2400" b="1" dirty="0">
                <a:solidFill>
                  <a:srgbClr val="333399"/>
                </a:solidFill>
              </a:rPr>
              <a:t>五分之一</a:t>
            </a:r>
            <a:r>
              <a:rPr lang="zh-CN" altLang="en-US" sz="2400" b="1" dirty="0"/>
              <a:t>；已知血液黏度</a:t>
            </a:r>
            <a:r>
              <a:rPr lang="el-GR" altLang="zh-CN" sz="2400" b="1" i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</a:t>
            </a:r>
            <a:r>
              <a:rPr lang="en-US" altLang="zh-CN" sz="2400" b="1" dirty="0">
                <a:solidFill>
                  <a:srgbClr val="333399"/>
                </a:solidFill>
              </a:rPr>
              <a:t>=3.00×10</a:t>
            </a:r>
            <a:r>
              <a:rPr lang="en-US" altLang="zh-CN" sz="2400" b="1" baseline="30000" dirty="0">
                <a:solidFill>
                  <a:srgbClr val="333399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400" b="1" baseline="30000" dirty="0">
                <a:solidFill>
                  <a:srgbClr val="333399"/>
                </a:solidFill>
              </a:rPr>
              <a:t>3</a:t>
            </a:r>
            <a:r>
              <a:rPr lang="en-US" altLang="zh-CN" sz="2400" dirty="0">
                <a:solidFill>
                  <a:srgbClr val="333399"/>
                </a:solidFill>
              </a:rPr>
              <a:t> </a:t>
            </a:r>
            <a:r>
              <a:rPr lang="en-US" altLang="zh-CN" sz="2400" b="1" dirty="0">
                <a:solidFill>
                  <a:srgbClr val="333399"/>
                </a:solidFill>
              </a:rPr>
              <a:t>Pa·s</a:t>
            </a:r>
            <a:r>
              <a:rPr lang="zh-CN" altLang="en-US" sz="2400" b="1" dirty="0"/>
              <a:t>。 分别求主动脉和小动脉在</a:t>
            </a:r>
            <a:r>
              <a:rPr lang="en-US" altLang="zh-CN" sz="2400" b="1" i="1" dirty="0">
                <a:solidFill>
                  <a:srgbClr val="333399"/>
                </a:solidFill>
              </a:rPr>
              <a:t>L</a:t>
            </a:r>
            <a:r>
              <a:rPr lang="en-US" altLang="zh-CN" sz="2400" b="1" dirty="0">
                <a:solidFill>
                  <a:srgbClr val="333399"/>
                </a:solidFill>
              </a:rPr>
              <a:t>=0.10 m</a:t>
            </a:r>
            <a:r>
              <a:rPr lang="zh-CN" altLang="en-US" sz="2400" b="1" dirty="0"/>
              <a:t>一段长度上的流阻和压强降落。</a:t>
            </a:r>
            <a:r>
              <a:rPr lang="zh-CN" altLang="en-US" sz="2400" dirty="0"/>
              <a:t> </a:t>
            </a:r>
            <a:endParaRPr lang="zh-CN" altLang="en-US" sz="2400" dirty="0"/>
          </a:p>
        </p:txBody>
      </p:sp>
      <p:sp>
        <p:nvSpPr>
          <p:cNvPr id="253956" name="Text Box 4"/>
          <p:cNvSpPr txBox="1"/>
          <p:nvPr/>
        </p:nvSpPr>
        <p:spPr>
          <a:xfrm>
            <a:off x="323850" y="1989138"/>
            <a:ext cx="8496300" cy="8953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FF0000"/>
                </a:solidFill>
                <a:ea typeface="黑体" panose="02010609060101010101" pitchFamily="2" charset="-122"/>
              </a:rPr>
              <a:t>解</a:t>
            </a:r>
            <a:r>
              <a:rPr lang="zh-CN" altLang="en-US" sz="2400" b="1" dirty="0">
                <a:solidFill>
                  <a:srgbClr val="CC0000"/>
                </a:solidFill>
                <a:ea typeface="黑体" panose="02010609060101010101" pitchFamily="2" charset="-122"/>
              </a:rPr>
              <a:t> 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）根据流阻定义和泊肃叶定律，主动脉的流阻和压强降落分别为</a:t>
            </a:r>
            <a:r>
              <a:rPr lang="zh-CN" altLang="en-US" sz="2400" dirty="0"/>
              <a:t> </a:t>
            </a:r>
            <a:endParaRPr lang="zh-CN" altLang="en-US" sz="2400" dirty="0"/>
          </a:p>
        </p:txBody>
      </p:sp>
      <p:sp>
        <p:nvSpPr>
          <p:cNvPr id="34822" name="Rectangle 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253964" name="Text Box 12"/>
          <p:cNvSpPr txBox="1"/>
          <p:nvPr/>
        </p:nvSpPr>
        <p:spPr>
          <a:xfrm>
            <a:off x="684213" y="4292600"/>
            <a:ext cx="5238750" cy="45720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）小动脉的流阻和压强降落分别为</a:t>
            </a:r>
            <a:endParaRPr lang="zh-CN" altLang="en-US" sz="2400" b="1" dirty="0"/>
          </a:p>
        </p:txBody>
      </p:sp>
      <p:graphicFrame>
        <p:nvGraphicFramePr>
          <p:cNvPr id="253965" name="Object 13"/>
          <p:cNvGraphicFramePr>
            <a:graphicFrameLocks noChangeAspect="1"/>
          </p:cNvGraphicFramePr>
          <p:nvPr/>
        </p:nvGraphicFramePr>
        <p:xfrm>
          <a:off x="827088" y="2805113"/>
          <a:ext cx="7908925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5159375" imgH="553720" progId="Equation.3">
                  <p:embed/>
                </p:oleObj>
              </mc:Choice>
              <mc:Fallback>
                <p:oleObj name="" r:id="rId1" imgW="5159375" imgH="55372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2805113"/>
                        <a:ext cx="7908925" cy="892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7" name="Object 15"/>
          <p:cNvGraphicFramePr>
            <a:graphicFrameLocks noChangeAspect="1"/>
          </p:cNvGraphicFramePr>
          <p:nvPr/>
        </p:nvGraphicFramePr>
        <p:xfrm>
          <a:off x="900113" y="3716338"/>
          <a:ext cx="6048375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3" imgW="4026535" imgH="302260" progId="Equation.3">
                  <p:embed/>
                </p:oleObj>
              </mc:Choice>
              <mc:Fallback>
                <p:oleObj name="" r:id="rId3" imgW="4026535" imgH="30226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00113" y="3716338"/>
                        <a:ext cx="6048375" cy="506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9" name="Object 17"/>
          <p:cNvGraphicFramePr>
            <a:graphicFrameLocks noChangeAspect="1"/>
          </p:cNvGraphicFramePr>
          <p:nvPr/>
        </p:nvGraphicFramePr>
        <p:xfrm>
          <a:off x="900113" y="4724400"/>
          <a:ext cx="76581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5" imgW="5301615" imgH="763270" progId="Equation.3">
                  <p:embed/>
                </p:oleObj>
              </mc:Choice>
              <mc:Fallback>
                <p:oleObj name="" r:id="rId5" imgW="5301615" imgH="76327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00113" y="4724400"/>
                        <a:ext cx="7658100" cy="1155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71" name="Object 19"/>
          <p:cNvGraphicFramePr>
            <a:graphicFrameLocks noChangeAspect="1"/>
          </p:cNvGraphicFramePr>
          <p:nvPr/>
        </p:nvGraphicFramePr>
        <p:xfrm>
          <a:off x="971550" y="5795963"/>
          <a:ext cx="6840538" cy="84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7" imgW="4295140" imgH="503555" progId="Equation.3">
                  <p:embed/>
                </p:oleObj>
              </mc:Choice>
              <mc:Fallback>
                <p:oleObj name="" r:id="rId7" imgW="4295140" imgH="503555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1550" y="5795963"/>
                        <a:ext cx="6840538" cy="842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3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3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3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3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3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3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6" grpId="0"/>
      <p:bldP spid="25396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53602" name="Rectangle 2"/>
          <p:cNvSpPr>
            <a:spLocks noGrp="1"/>
          </p:cNvSpPr>
          <p:nvPr>
            <p:ph idx="1"/>
          </p:nvPr>
        </p:nvSpPr>
        <p:spPr>
          <a:xfrm>
            <a:off x="323850" y="2997200"/>
            <a:ext cx="6804025" cy="2263775"/>
          </a:xfrm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333399"/>
                </a:solidFill>
              </a:rPr>
              <a:t>(2) </a:t>
            </a:r>
            <a:r>
              <a:rPr lang="zh-CN" altLang="en-US" sz="2800" b="1" dirty="0">
                <a:solidFill>
                  <a:srgbClr val="333399"/>
                </a:solidFill>
              </a:rPr>
              <a:t>小球在黏性流体中的运动：</a:t>
            </a:r>
            <a:endParaRPr lang="zh-CN" altLang="en-US" sz="2800" b="1" dirty="0">
              <a:solidFill>
                <a:srgbClr val="333399"/>
              </a:solidFill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   受力分析</a:t>
            </a:r>
            <a:r>
              <a:rPr lang="en-US" altLang="zh-CN" sz="2800" b="1" dirty="0"/>
              <a:t>: </a:t>
            </a:r>
            <a:r>
              <a:rPr lang="zh-CN" altLang="en-US" sz="2800" b="1" dirty="0"/>
              <a:t>重力</a:t>
            </a:r>
            <a:r>
              <a:rPr lang="en-US" altLang="zh-CN" sz="2800" b="1" i="1" dirty="0">
                <a:solidFill>
                  <a:srgbClr val="333399"/>
                </a:solidFill>
              </a:rPr>
              <a:t>mg</a:t>
            </a:r>
            <a:r>
              <a:rPr lang="zh-CN" altLang="en-US" sz="2800" b="1" dirty="0"/>
              <a:t>、浮力</a:t>
            </a:r>
            <a:r>
              <a:rPr lang="en-US" altLang="zh-CN" sz="2800" b="1" i="1" dirty="0">
                <a:solidFill>
                  <a:srgbClr val="333399"/>
                </a:solidFill>
              </a:rPr>
              <a:t>F</a:t>
            </a:r>
            <a:r>
              <a:rPr lang="zh-CN" altLang="en-US" sz="2800" b="1" dirty="0"/>
              <a:t>、黏性阻力</a:t>
            </a:r>
            <a:r>
              <a:rPr lang="en-US" altLang="zh-CN" sz="2800" b="1" i="1" dirty="0">
                <a:solidFill>
                  <a:srgbClr val="333399"/>
                </a:solidFill>
              </a:rPr>
              <a:t>f</a:t>
            </a:r>
            <a:endParaRPr lang="en-US" altLang="zh-CN" sz="2800" b="1" i="1" dirty="0">
              <a:solidFill>
                <a:srgbClr val="333399"/>
              </a:solidFill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   </a:t>
            </a:r>
            <a:r>
              <a:rPr lang="zh-CN" altLang="en-US" sz="2800" b="1" dirty="0"/>
              <a:t>开        始</a:t>
            </a:r>
            <a:r>
              <a:rPr lang="en-US" altLang="zh-CN" sz="2800" b="1" dirty="0"/>
              <a:t>:  </a:t>
            </a:r>
            <a:r>
              <a:rPr lang="en-US" altLang="zh-CN" sz="2800" b="1" i="1" dirty="0">
                <a:solidFill>
                  <a:srgbClr val="333399"/>
                </a:solidFill>
              </a:rPr>
              <a:t>mg</a:t>
            </a:r>
            <a:r>
              <a:rPr lang="en-US" altLang="zh-CN" sz="2800" b="1" dirty="0">
                <a:solidFill>
                  <a:srgbClr val="333399"/>
                </a:solidFill>
              </a:rPr>
              <a:t>&gt;</a:t>
            </a:r>
            <a:r>
              <a:rPr lang="en-US" altLang="zh-CN" sz="2800" b="1" i="1" dirty="0">
                <a:solidFill>
                  <a:srgbClr val="333399"/>
                </a:solidFill>
              </a:rPr>
              <a:t>F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加速下降</a:t>
            </a:r>
            <a:endParaRPr lang="zh-CN" altLang="en-US" sz="2800" b="1" dirty="0"/>
          </a:p>
          <a:p>
            <a:pPr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ym typeface="Symbol" panose="05050102010706020507" pitchFamily="18" charset="2"/>
              </a:rPr>
              <a:t>   后        来</a:t>
            </a:r>
            <a:r>
              <a:rPr lang="en-US" altLang="zh-CN" sz="2800" b="1" dirty="0">
                <a:sym typeface="Symbol" panose="05050102010706020507" pitchFamily="18" charset="2"/>
              </a:rPr>
              <a:t>: </a:t>
            </a:r>
            <a:r>
              <a:rPr lang="en-US" altLang="zh-CN" sz="2800" b="1" dirty="0">
                <a:latin typeface="Book Antiqua" panose="0204060205030503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rgbClr val="333399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800" b="1" dirty="0">
                <a:solidFill>
                  <a:srgbClr val="333399"/>
                </a:solidFill>
                <a:cs typeface="Times New Roman" panose="02020603050405020304" pitchFamily="18" charset="0"/>
              </a:rPr>
              <a:t>↑</a:t>
            </a:r>
            <a:r>
              <a:rPr lang="en-US" altLang="zh-CN" sz="2800" b="1" dirty="0">
                <a:solidFill>
                  <a:srgbClr val="333399"/>
                </a:solidFill>
              </a:rPr>
              <a:t>,  </a:t>
            </a:r>
            <a:r>
              <a:rPr lang="en-US" altLang="zh-CN" sz="2800" b="1" i="1" dirty="0">
                <a:solidFill>
                  <a:srgbClr val="333399"/>
                </a:solidFill>
              </a:rPr>
              <a:t>f</a:t>
            </a:r>
            <a:r>
              <a:rPr lang="en-US" altLang="zh-CN" sz="2800" b="1" dirty="0">
                <a:solidFill>
                  <a:srgbClr val="333399"/>
                </a:solidFill>
              </a:rPr>
              <a:t> </a:t>
            </a:r>
            <a:r>
              <a:rPr lang="en-US" altLang="zh-CN" sz="2800" b="1" dirty="0">
                <a:solidFill>
                  <a:srgbClr val="333399"/>
                </a:solidFill>
                <a:cs typeface="Times New Roman" panose="02020603050405020304" pitchFamily="18" charset="0"/>
              </a:rPr>
              <a:t>↑</a:t>
            </a:r>
            <a:r>
              <a:rPr lang="en-US" altLang="zh-CN" sz="28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             </a:t>
            </a:r>
            <a:r>
              <a:rPr lang="zh-CN" altLang="en-US" sz="2800" b="1" dirty="0"/>
              <a:t>匀速运动</a:t>
            </a:r>
            <a:endParaRPr lang="zh-CN" altLang="en-US" sz="2800" b="1" dirty="0"/>
          </a:p>
          <a:p>
            <a:pPr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   因        此</a:t>
            </a:r>
            <a:r>
              <a:rPr lang="en-US" altLang="zh-CN" sz="2800" b="1" dirty="0"/>
              <a:t>:  </a:t>
            </a:r>
            <a:r>
              <a:rPr lang="en-US" altLang="zh-CN" sz="2800" b="1" i="1" dirty="0">
                <a:solidFill>
                  <a:srgbClr val="333399"/>
                </a:solidFill>
              </a:rPr>
              <a:t>mg </a:t>
            </a:r>
            <a:r>
              <a:rPr lang="en-US" altLang="zh-CN" sz="2800" b="1" dirty="0">
                <a:solidFill>
                  <a:srgbClr val="333399"/>
                </a:solidFill>
              </a:rPr>
              <a:t>= </a:t>
            </a:r>
            <a:r>
              <a:rPr lang="en-US" altLang="zh-CN" sz="2800" b="1" i="1" dirty="0">
                <a:solidFill>
                  <a:srgbClr val="333399"/>
                </a:solidFill>
              </a:rPr>
              <a:t>F+ f</a:t>
            </a:r>
            <a:endParaRPr lang="en-US" altLang="zh-CN" sz="2800" b="1" i="1" dirty="0">
              <a:solidFill>
                <a:srgbClr val="333399"/>
              </a:solidFill>
            </a:endParaRPr>
          </a:p>
        </p:txBody>
      </p:sp>
      <p:sp>
        <p:nvSpPr>
          <p:cNvPr id="153604" name="Rectangle 4"/>
          <p:cNvSpPr/>
          <p:nvPr/>
        </p:nvSpPr>
        <p:spPr>
          <a:xfrm>
            <a:off x="1116013" y="6021388"/>
            <a:ext cx="5472112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333399"/>
                </a:solidFill>
              </a:rPr>
              <a:t>重力              浮力           黏性阻力               </a:t>
            </a:r>
            <a:r>
              <a:rPr lang="zh-CN" altLang="en-US" sz="2800" b="1" baseline="40000" dirty="0">
                <a:solidFill>
                  <a:srgbClr val="333399"/>
                </a:solidFill>
              </a:rPr>
              <a:t> </a:t>
            </a:r>
            <a:endParaRPr lang="zh-CN" altLang="en-US" sz="2800" b="1" dirty="0">
              <a:solidFill>
                <a:srgbClr val="333399"/>
              </a:solidFill>
              <a:sym typeface="Symbol" panose="05050102010706020507" pitchFamily="18" charset="2"/>
            </a:endParaRPr>
          </a:p>
        </p:txBody>
      </p:sp>
      <p:sp>
        <p:nvSpPr>
          <p:cNvPr id="153605" name="AutoShape 5"/>
          <p:cNvSpPr/>
          <p:nvPr/>
        </p:nvSpPr>
        <p:spPr>
          <a:xfrm>
            <a:off x="3924300" y="4292600"/>
            <a:ext cx="976313" cy="431800"/>
          </a:xfrm>
          <a:custGeom>
            <a:avLst/>
            <a:gdLst>
              <a:gd name="txL" fmla="*/ 3375 w 21600"/>
              <a:gd name="txT" fmla="*/ 5400 h 21600"/>
              <a:gd name="txR" fmla="*/ 18900 w 21600"/>
              <a:gd name="txB" fmla="*/ 16200 h 21600"/>
            </a:gdLst>
            <a:ahLst/>
            <a:cxnLst>
              <a:cxn ang="17694720">
                <a:pos x="2147483646" y="0"/>
              </a:cxn>
              <a:cxn ang="11796480">
                <a:pos x="0" y="1724802251"/>
              </a:cxn>
              <a:cxn ang="5898240">
                <a:pos x="2147483646" y="2147483646"/>
              </a:cxn>
              <a:cxn ang="0">
                <a:pos x="2147483646" y="1724802251"/>
              </a:cxn>
            </a:cxnLst>
            <a:rect l="txL" t="txT" r="txR" b="txB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chemeClr val="hlink">
              <a:alpha val="100000"/>
            </a:schemeClr>
          </a:solidFill>
          <a:ln w="12700" cap="sq" cmpd="sng">
            <a:solidFill>
              <a:schemeClr val="tx1">
                <a:alpha val="10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153606" name="Object 6"/>
          <p:cNvGraphicFramePr>
            <a:graphicFrameLocks noChangeAspect="1"/>
          </p:cNvGraphicFramePr>
          <p:nvPr/>
        </p:nvGraphicFramePr>
        <p:xfrm>
          <a:off x="973138" y="5129213"/>
          <a:ext cx="5335587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" imgW="1892300" imgH="419100" progId="Equation.3">
                  <p:embed/>
                </p:oleObj>
              </mc:Choice>
              <mc:Fallback>
                <p:oleObj name="" r:id="rId1" imgW="1892300" imgH="4191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73138" y="5129213"/>
                        <a:ext cx="5335587" cy="1036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622" name="Group 22"/>
          <p:cNvGrpSpPr/>
          <p:nvPr/>
        </p:nvGrpSpPr>
        <p:grpSpPr>
          <a:xfrm>
            <a:off x="7019925" y="3789363"/>
            <a:ext cx="1582738" cy="2743200"/>
            <a:chOff x="158" y="2432"/>
            <a:chExt cx="1451" cy="1728"/>
          </a:xfrm>
        </p:grpSpPr>
        <p:sp>
          <p:nvSpPr>
            <p:cNvPr id="35853" name="Line 9"/>
            <p:cNvSpPr/>
            <p:nvPr/>
          </p:nvSpPr>
          <p:spPr>
            <a:xfrm>
              <a:off x="158" y="2432"/>
              <a:ext cx="0" cy="1728"/>
            </a:xfrm>
            <a:prstGeom prst="line">
              <a:avLst/>
            </a:prstGeom>
            <a:ln w="444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54" name="Line 10"/>
            <p:cNvSpPr/>
            <p:nvPr/>
          </p:nvSpPr>
          <p:spPr>
            <a:xfrm>
              <a:off x="158" y="4160"/>
              <a:ext cx="1440" cy="0"/>
            </a:xfrm>
            <a:prstGeom prst="line">
              <a:avLst/>
            </a:prstGeom>
            <a:ln w="444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55" name="Line 11"/>
            <p:cNvSpPr/>
            <p:nvPr/>
          </p:nvSpPr>
          <p:spPr>
            <a:xfrm>
              <a:off x="1598" y="2432"/>
              <a:ext cx="11" cy="1728"/>
            </a:xfrm>
            <a:prstGeom prst="line">
              <a:avLst/>
            </a:prstGeom>
            <a:ln w="444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56" name="Line 13"/>
            <p:cNvSpPr/>
            <p:nvPr/>
          </p:nvSpPr>
          <p:spPr>
            <a:xfrm>
              <a:off x="158" y="2720"/>
              <a:ext cx="1440" cy="0"/>
            </a:xfrm>
            <a:prstGeom prst="line">
              <a:avLst/>
            </a:prstGeom>
            <a:ln w="952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57" name="Rectangle 16" descr="80%"/>
            <p:cNvSpPr/>
            <p:nvPr/>
          </p:nvSpPr>
          <p:spPr>
            <a:xfrm>
              <a:off x="158" y="2720"/>
              <a:ext cx="1440" cy="1440"/>
            </a:xfrm>
            <a:prstGeom prst="rect">
              <a:avLst/>
            </a:prstGeom>
            <a:pattFill prst="pct80">
              <a:fgClr>
                <a:schemeClr val="hlink">
                  <a:alpha val="50195"/>
                </a:schemeClr>
              </a:fgClr>
              <a:bgClr>
                <a:srgbClr val="FFFFFF">
                  <a:alpha val="50195"/>
                </a:srgbClr>
              </a:bgClr>
            </a:patt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</p:grpSp>
      <p:sp>
        <p:nvSpPr>
          <p:cNvPr id="153623" name="Rectangle 23"/>
          <p:cNvSpPr/>
          <p:nvPr/>
        </p:nvSpPr>
        <p:spPr>
          <a:xfrm>
            <a:off x="395288" y="836613"/>
            <a:ext cx="8353425" cy="22320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333399"/>
                </a:solidFill>
              </a:rPr>
              <a:t>(1) </a:t>
            </a:r>
            <a:r>
              <a:rPr lang="zh-CN" altLang="en-US" sz="2800" b="1" dirty="0">
                <a:solidFill>
                  <a:srgbClr val="333399"/>
                </a:solidFill>
              </a:rPr>
              <a:t>定律</a:t>
            </a:r>
            <a:r>
              <a:rPr lang="en-US" altLang="zh-CN" sz="2800" b="1" dirty="0">
                <a:solidFill>
                  <a:srgbClr val="333399"/>
                </a:solidFill>
              </a:rPr>
              <a:t>: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固体在黏性流体中运动受到的黏性阻力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实验表明</a:t>
            </a:r>
            <a:r>
              <a:rPr lang="en-US" altLang="zh-CN" sz="2800" b="1" dirty="0"/>
              <a:t>:</a:t>
            </a:r>
            <a:endParaRPr lang="en-US" altLang="zh-CN" sz="2800" b="1" dirty="0"/>
          </a:p>
          <a:p>
            <a:pPr marL="342900" lvl="0" indent="-342900" eaLnBrk="1" hangingPunct="1"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b="1" dirty="0"/>
              <a:t>   </a:t>
            </a:r>
            <a:r>
              <a:rPr lang="en-US" altLang="zh-CN" sz="2800" b="1" dirty="0">
                <a:latin typeface="宋体" panose="02010600030101010101" pitchFamily="2" charset="-122"/>
              </a:rPr>
              <a:t>①</a:t>
            </a:r>
            <a:r>
              <a:rPr lang="en-US" altLang="zh-CN" sz="2800" b="1" dirty="0"/>
              <a:t> </a:t>
            </a:r>
            <a:r>
              <a:rPr lang="en-US" altLang="zh-CN" sz="2800" b="1" i="1" dirty="0">
                <a:solidFill>
                  <a:srgbClr val="333399"/>
                </a:solidFill>
                <a:latin typeface="Book Antiqua" panose="02040602050305030304" pitchFamily="18" charset="0"/>
              </a:rPr>
              <a:t>v</a:t>
            </a:r>
            <a:r>
              <a:rPr lang="en-US" altLang="zh-CN" sz="2800" b="1" i="1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zh-CN" altLang="en-US" sz="2800" b="1" dirty="0"/>
              <a:t>较小</a:t>
            </a:r>
            <a:r>
              <a:rPr lang="en-US" altLang="zh-CN" sz="2800" b="1" dirty="0"/>
              <a:t>, </a:t>
            </a:r>
            <a:r>
              <a:rPr lang="en-US" altLang="zh-CN" sz="2800" b="1" i="1" dirty="0">
                <a:solidFill>
                  <a:srgbClr val="333399"/>
                </a:solidFill>
              </a:rPr>
              <a:t>Re</a:t>
            </a:r>
            <a:r>
              <a:rPr lang="en-US" altLang="zh-CN" sz="2800" b="1" dirty="0">
                <a:solidFill>
                  <a:srgbClr val="333399"/>
                </a:solidFill>
              </a:rPr>
              <a:t>&lt;1, </a:t>
            </a:r>
            <a:r>
              <a:rPr lang="en-US" altLang="zh-CN" sz="2800" b="1" i="1" dirty="0">
                <a:solidFill>
                  <a:srgbClr val="333399"/>
                </a:solidFill>
              </a:rPr>
              <a:t>f</a:t>
            </a:r>
            <a:r>
              <a:rPr lang="en-US" altLang="zh-CN" sz="2800" b="1" dirty="0">
                <a:solidFill>
                  <a:srgbClr val="333399"/>
                </a:solidFill>
              </a:rPr>
              <a:t>∝</a:t>
            </a:r>
            <a:r>
              <a:rPr lang="en-US" altLang="zh-CN" sz="2800" b="1" i="1" dirty="0">
                <a:solidFill>
                  <a:srgbClr val="333399"/>
                </a:solidFill>
              </a:rPr>
              <a:t>l</a:t>
            </a:r>
            <a:r>
              <a:rPr lang="en-US" altLang="zh-CN" sz="2800" b="1" dirty="0">
                <a:solidFill>
                  <a:srgbClr val="333399"/>
                </a:solidFill>
              </a:rPr>
              <a:t>(</a:t>
            </a:r>
            <a:r>
              <a:rPr lang="zh-CN" altLang="en-US" sz="2800" b="1" dirty="0">
                <a:solidFill>
                  <a:srgbClr val="333399"/>
                </a:solidFill>
              </a:rPr>
              <a:t>线度</a:t>
            </a:r>
            <a:r>
              <a:rPr lang="en-US" altLang="zh-CN" sz="2800" b="1" dirty="0">
                <a:solidFill>
                  <a:srgbClr val="333399"/>
                </a:solidFill>
              </a:rPr>
              <a:t>)</a:t>
            </a:r>
            <a:r>
              <a:rPr lang="zh-CN" altLang="en-US" sz="2800" b="1" dirty="0">
                <a:solidFill>
                  <a:srgbClr val="333399"/>
                </a:solidFill>
              </a:rPr>
              <a:t>、</a:t>
            </a:r>
            <a:r>
              <a:rPr lang="en-US" altLang="zh-CN" sz="2800" b="1" i="1" dirty="0">
                <a:solidFill>
                  <a:srgbClr val="333399"/>
                </a:solidFill>
                <a:latin typeface="Book Antiqua" panose="02040602050305030304" pitchFamily="18" charset="0"/>
              </a:rPr>
              <a:t>v</a:t>
            </a:r>
            <a:r>
              <a:rPr lang="zh-CN" altLang="en-US" sz="2800" b="1" dirty="0">
                <a:solidFill>
                  <a:srgbClr val="333399"/>
                </a:solidFill>
              </a:rPr>
              <a:t>、 </a:t>
            </a:r>
            <a:r>
              <a:rPr lang="zh-CN" altLang="en-US" sz="2800" b="1" i="1" dirty="0">
                <a:solidFill>
                  <a:srgbClr val="333399"/>
                </a:solidFill>
                <a:sym typeface="Symbol" panose="05050102010706020507" pitchFamily="18" charset="2"/>
              </a:rPr>
              <a:t></a:t>
            </a:r>
            <a:r>
              <a:rPr lang="zh-CN" altLang="en-US" sz="2800" b="1" i="1" dirty="0">
                <a:solidFill>
                  <a:srgbClr val="333399"/>
                </a:solidFill>
              </a:rPr>
              <a:t> </a:t>
            </a:r>
            <a:r>
              <a:rPr lang="zh-CN" altLang="en-US" sz="2800" b="1" dirty="0">
                <a:solidFill>
                  <a:srgbClr val="333399"/>
                </a:solidFill>
              </a:rPr>
              <a:t>；</a:t>
            </a:r>
            <a:endParaRPr lang="zh-CN" altLang="en-US" sz="2800" b="1" dirty="0">
              <a:solidFill>
                <a:srgbClr val="333399"/>
              </a:solidFill>
            </a:endParaRPr>
          </a:p>
          <a:p>
            <a:pPr marL="342900" lvl="0" indent="-342900" eaLnBrk="1" hangingPunct="1"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b="1" dirty="0"/>
              <a:t>   </a:t>
            </a:r>
            <a:r>
              <a:rPr lang="zh-CN" altLang="en-US" sz="2800" b="1" dirty="0">
                <a:latin typeface="宋体" panose="02010600030101010101" pitchFamily="2" charset="-122"/>
              </a:rPr>
              <a:t>②</a:t>
            </a:r>
            <a:r>
              <a:rPr lang="zh-CN" altLang="en-US" sz="2800" b="1" dirty="0"/>
              <a:t> 比例系数与固体的形状有关；</a:t>
            </a:r>
            <a:endParaRPr lang="zh-CN" altLang="en-US" sz="2800" b="1" dirty="0"/>
          </a:p>
          <a:p>
            <a:pPr marL="342900" lvl="0" indent="-342900" eaLnBrk="1" hangingPunct="1"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b="1" dirty="0"/>
              <a:t>   </a:t>
            </a:r>
            <a:r>
              <a:rPr lang="zh-CN" altLang="en-US" sz="2800" b="1" dirty="0">
                <a:latin typeface="宋体" panose="02010600030101010101" pitchFamily="2" charset="-122"/>
              </a:rPr>
              <a:t>③</a:t>
            </a:r>
            <a:r>
              <a:rPr lang="zh-CN" altLang="en-US" sz="2800" b="1" dirty="0"/>
              <a:t> 球体在沉降过程中所受阻力</a:t>
            </a:r>
            <a:r>
              <a:rPr lang="en-US" altLang="zh-CN" sz="2800" b="1" dirty="0"/>
              <a:t>:  </a:t>
            </a:r>
            <a:r>
              <a:rPr lang="en-US" altLang="zh-CN" sz="2800" b="1" i="1" dirty="0">
                <a:solidFill>
                  <a:srgbClr val="333399"/>
                </a:solidFill>
              </a:rPr>
              <a:t>f </a:t>
            </a:r>
            <a:r>
              <a:rPr lang="en-US" altLang="zh-CN" sz="2800" b="1" dirty="0">
                <a:solidFill>
                  <a:srgbClr val="333399"/>
                </a:solidFill>
              </a:rPr>
              <a:t>= 6</a:t>
            </a:r>
            <a:r>
              <a:rPr lang="en-US" altLang="zh-CN" sz="2800" b="1" dirty="0">
                <a:solidFill>
                  <a:srgbClr val="333399"/>
                </a:solidFill>
                <a:sym typeface="Symbol" panose="05050102010706020507" pitchFamily="18" charset="2"/>
              </a:rPr>
              <a:t></a:t>
            </a:r>
            <a:r>
              <a:rPr lang="en-US" altLang="zh-CN" sz="2800" b="1" i="1" dirty="0">
                <a:solidFill>
                  <a:srgbClr val="333399"/>
                </a:solidFill>
                <a:sym typeface="Symbol" panose="05050102010706020507" pitchFamily="18" charset="2"/>
              </a:rPr>
              <a:t>r</a:t>
            </a:r>
            <a:r>
              <a:rPr lang="en-US" altLang="zh-CN" sz="2800" b="1" i="1" dirty="0">
                <a:solidFill>
                  <a:srgbClr val="333399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v</a:t>
            </a:r>
            <a:endParaRPr lang="en-US" altLang="zh-CN" sz="2800" b="1" i="1" dirty="0">
              <a:solidFill>
                <a:srgbClr val="333399"/>
              </a:solidFill>
              <a:latin typeface="Book Antiqua" panose="02040602050305030304" pitchFamily="18" charset="0"/>
              <a:sym typeface="Symbol" panose="05050102010706020507" pitchFamily="18" charset="2"/>
            </a:endParaRPr>
          </a:p>
        </p:txBody>
      </p:sp>
      <p:sp>
        <p:nvSpPr>
          <p:cNvPr id="35849" name="Text Box 25"/>
          <p:cNvSpPr txBox="1"/>
          <p:nvPr/>
        </p:nvSpPr>
        <p:spPr>
          <a:xfrm>
            <a:off x="250825" y="260350"/>
            <a:ext cx="5408613" cy="579438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1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333399"/>
                </a:solidFill>
                <a:ea typeface="黑体" panose="02010609060101010101" pitchFamily="2" charset="-122"/>
              </a:rPr>
              <a:t>3.  </a:t>
            </a:r>
            <a:r>
              <a:rPr lang="zh-CN" altLang="en-US" b="1" dirty="0">
                <a:solidFill>
                  <a:srgbClr val="333399"/>
                </a:solidFill>
                <a:ea typeface="黑体" panose="02010609060101010101" pitchFamily="2" charset="-122"/>
              </a:rPr>
              <a:t>斯托克司定律</a:t>
            </a:r>
            <a:r>
              <a:rPr lang="en-US" altLang="zh-CN" b="1" dirty="0">
                <a:solidFill>
                  <a:srgbClr val="333399"/>
                </a:solidFill>
                <a:ea typeface="黑体" panose="02010609060101010101" pitchFamily="2" charset="-122"/>
              </a:rPr>
              <a:t>(Stokes Law)</a:t>
            </a:r>
            <a:endParaRPr lang="en-US" altLang="zh-CN" dirty="0">
              <a:solidFill>
                <a:srgbClr val="333399"/>
              </a:solidFill>
              <a:ea typeface="黑体" panose="02010609060101010101" pitchFamily="2" charset="-122"/>
            </a:endParaRPr>
          </a:p>
        </p:txBody>
      </p:sp>
      <p:grpSp>
        <p:nvGrpSpPr>
          <p:cNvPr id="153627" name="Group 27"/>
          <p:cNvGrpSpPr/>
          <p:nvPr/>
        </p:nvGrpSpPr>
        <p:grpSpPr>
          <a:xfrm>
            <a:off x="7667625" y="4221163"/>
            <a:ext cx="288925" cy="790575"/>
            <a:chOff x="5420" y="1752"/>
            <a:chExt cx="182" cy="498"/>
          </a:xfrm>
        </p:grpSpPr>
        <p:sp>
          <p:nvSpPr>
            <p:cNvPr id="35851" name="Oval 28"/>
            <p:cNvSpPr/>
            <p:nvPr/>
          </p:nvSpPr>
          <p:spPr>
            <a:xfrm>
              <a:off x="5420" y="1752"/>
              <a:ext cx="182" cy="181"/>
            </a:xfrm>
            <a:prstGeom prst="ellipse">
              <a:avLst/>
            </a:prstGeom>
            <a:gradFill rotWithShape="1">
              <a:gsLst>
                <a:gs pos="0">
                  <a:srgbClr val="FFCC66"/>
                </a:gs>
                <a:gs pos="100000">
                  <a:srgbClr val="CC9900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35852" name="Line 29"/>
            <p:cNvSpPr/>
            <p:nvPr/>
          </p:nvSpPr>
          <p:spPr>
            <a:xfrm>
              <a:off x="5511" y="1933"/>
              <a:ext cx="0" cy="317"/>
            </a:xfrm>
            <a:prstGeom prst="line">
              <a:avLst/>
            </a:prstGeom>
            <a:ln w="57150" cap="flat" cmpd="sng">
              <a:solidFill>
                <a:srgbClr val="CC9900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3602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>
                                            <p:txEl>
                                              <p:charRg st="17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3602">
                                            <p:txEl>
                                              <p:charRg st="17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>
                                            <p:txEl>
                                              <p:charRg st="41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3602">
                                            <p:txEl>
                                              <p:charRg st="41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>
                                            <p:txEl>
                                              <p:charRg st="68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3602">
                                            <p:txEl>
                                              <p:charRg st="68" end="1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>
                                            <p:txEl>
                                              <p:charRg st="110" end="1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3602">
                                            <p:txEl>
                                              <p:charRg st="110" end="1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3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3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1.85185E-6 L -2.77778E-7 0.12083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1536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3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53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2" grpId="0" build="p"/>
      <p:bldP spid="15360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54626" name="Rectangle 2"/>
          <p:cNvSpPr>
            <a:spLocks noGrp="1"/>
          </p:cNvSpPr>
          <p:nvPr>
            <p:ph idx="1"/>
          </p:nvPr>
        </p:nvSpPr>
        <p:spPr>
          <a:xfrm>
            <a:off x="250825" y="404813"/>
            <a:ext cx="8305800" cy="1112837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b="1" dirty="0"/>
              <a:t>(3)  </a:t>
            </a:r>
            <a:r>
              <a:rPr lang="zh-CN" altLang="en-US" sz="2800" b="1" dirty="0"/>
              <a:t>收尾速度</a:t>
            </a:r>
            <a:r>
              <a:rPr lang="en-US" altLang="zh-CN" sz="2800" b="1" dirty="0">
                <a:solidFill>
                  <a:srgbClr val="333399"/>
                </a:solidFill>
              </a:rPr>
              <a:t>(terminal velocity)</a:t>
            </a:r>
            <a:endParaRPr lang="en-US" altLang="zh-CN" sz="2800" b="1" dirty="0">
              <a:solidFill>
                <a:srgbClr val="333399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b="1" dirty="0"/>
              <a:t>      </a:t>
            </a:r>
            <a:r>
              <a:rPr lang="zh-CN" altLang="en-US" sz="2800" b="1" dirty="0"/>
              <a:t>或沉降速度</a:t>
            </a:r>
            <a:r>
              <a:rPr lang="en-US" altLang="zh-CN" sz="2800" b="1" dirty="0">
                <a:solidFill>
                  <a:srgbClr val="333399"/>
                </a:solidFill>
              </a:rPr>
              <a:t>(sedimentary velocity)</a:t>
            </a:r>
            <a:endParaRPr lang="en-US" altLang="zh-CN" sz="2800" b="1" dirty="0">
              <a:solidFill>
                <a:srgbClr val="333399"/>
              </a:solidFill>
            </a:endParaRPr>
          </a:p>
        </p:txBody>
      </p:sp>
      <p:graphicFrame>
        <p:nvGraphicFramePr>
          <p:cNvPr id="154641" name="Object 17"/>
          <p:cNvGraphicFramePr>
            <a:graphicFrameLocks noChangeAspect="1"/>
          </p:cNvGraphicFramePr>
          <p:nvPr/>
        </p:nvGraphicFramePr>
        <p:xfrm>
          <a:off x="2474913" y="1412875"/>
          <a:ext cx="3027362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1" imgW="1526540" imgH="553720" progId="Equation.3">
                  <p:embed/>
                </p:oleObj>
              </mc:Choice>
              <mc:Fallback>
                <p:oleObj name="" r:id="rId1" imgW="1526540" imgH="55372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74913" y="1412875"/>
                        <a:ext cx="3027362" cy="1023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643" name="Rectangle 19"/>
          <p:cNvSpPr/>
          <p:nvPr/>
        </p:nvSpPr>
        <p:spPr>
          <a:xfrm>
            <a:off x="250825" y="2492375"/>
            <a:ext cx="8569325" cy="374491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1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333399"/>
                </a:solidFill>
              </a:rPr>
              <a:t>(4) </a:t>
            </a:r>
            <a:r>
              <a:rPr lang="zh-CN" altLang="en-US" sz="2800" b="1" dirty="0">
                <a:solidFill>
                  <a:srgbClr val="333399"/>
                </a:solidFill>
              </a:rPr>
              <a:t>应用</a:t>
            </a:r>
            <a:r>
              <a:rPr lang="en-US" altLang="zh-CN" sz="2800" b="1" dirty="0">
                <a:solidFill>
                  <a:srgbClr val="333399"/>
                </a:solidFill>
              </a:rPr>
              <a:t>:</a:t>
            </a:r>
            <a:endParaRPr lang="en-US" altLang="zh-CN" sz="2800" b="1" dirty="0">
              <a:solidFill>
                <a:srgbClr val="333399"/>
              </a:solidFill>
            </a:endParaRPr>
          </a:p>
          <a:p>
            <a:pPr marL="342900" lvl="0" indent="-342900" eaLnBrk="1" hangingPunct="1">
              <a:lnSpc>
                <a:spcPct val="11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b="1" dirty="0"/>
              <a:t> </a:t>
            </a:r>
            <a:r>
              <a:rPr lang="en-US" altLang="zh-CN" sz="2800" b="1" dirty="0">
                <a:latin typeface="宋体" panose="02010600030101010101" pitchFamily="2" charset="-122"/>
              </a:rPr>
              <a:t>①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沉降法测量流体的黏度；</a:t>
            </a:r>
            <a:r>
              <a:rPr lang="zh-CN" altLang="en-US" sz="2800" b="1" i="1" dirty="0">
                <a:solidFill>
                  <a:srgbClr val="333399"/>
                </a:solidFill>
                <a:sym typeface="Symbol" panose="05050102010706020507" pitchFamily="18" charset="2"/>
              </a:rPr>
              <a:t></a:t>
            </a:r>
            <a:r>
              <a:rPr lang="en-US" altLang="zh-CN" sz="2800" b="1" dirty="0">
                <a:solidFill>
                  <a:srgbClr val="333399"/>
                </a:solidFill>
                <a:sym typeface="Symbol" panose="05050102010706020507" pitchFamily="18" charset="2"/>
              </a:rPr>
              <a:t>=2</a:t>
            </a:r>
            <a:r>
              <a:rPr lang="en-US" altLang="zh-CN" sz="2800" b="1" i="1" dirty="0">
                <a:solidFill>
                  <a:srgbClr val="333399"/>
                </a:solidFill>
                <a:sym typeface="Symbol" panose="05050102010706020507" pitchFamily="18" charset="2"/>
              </a:rPr>
              <a:t>gr</a:t>
            </a:r>
            <a:r>
              <a:rPr lang="en-US" altLang="zh-CN" sz="2800" b="1" baseline="50000" dirty="0">
                <a:solidFill>
                  <a:srgbClr val="333399"/>
                </a:solidFill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solidFill>
                  <a:srgbClr val="333399"/>
                </a:solidFill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solidFill>
                  <a:srgbClr val="333399"/>
                </a:solidFill>
                <a:sym typeface="Symbol" panose="05050102010706020507" pitchFamily="18" charset="2"/>
              </a:rPr>
              <a:t> </a:t>
            </a:r>
            <a:r>
              <a:rPr lang="en-US" altLang="zh-CN" sz="2800" b="1" dirty="0">
                <a:solidFill>
                  <a:srgbClr val="333399"/>
                </a:solidFill>
                <a:sym typeface="Symbol" panose="05050102010706020507" pitchFamily="18" charset="2"/>
              </a:rPr>
              <a:t> </a:t>
            </a:r>
            <a:r>
              <a:rPr lang="en-US" altLang="zh-CN" sz="2800" b="1" i="1" dirty="0">
                <a:solidFill>
                  <a:srgbClr val="333399"/>
                </a:solidFill>
                <a:sym typeface="Symbol" panose="05050102010706020507" pitchFamily="18" charset="2"/>
              </a:rPr>
              <a:t> </a:t>
            </a:r>
            <a:r>
              <a:rPr lang="en-US" altLang="zh-CN" sz="2800" b="1" dirty="0">
                <a:solidFill>
                  <a:srgbClr val="333399"/>
                </a:solidFill>
                <a:sym typeface="Symbol" panose="05050102010706020507" pitchFamily="18" charset="2"/>
              </a:rPr>
              <a:t>)</a:t>
            </a:r>
            <a:r>
              <a:rPr lang="en-US" altLang="zh-CN" sz="2800" b="1" i="1" dirty="0">
                <a:solidFill>
                  <a:srgbClr val="333399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rgbClr val="333399"/>
                </a:solidFill>
                <a:sym typeface="Symbol" panose="05050102010706020507" pitchFamily="18" charset="2"/>
              </a:rPr>
              <a:t>/9</a:t>
            </a:r>
            <a:r>
              <a:rPr lang="en-US" altLang="zh-CN" sz="2800" b="1" i="1" dirty="0">
                <a:solidFill>
                  <a:srgbClr val="333399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v</a:t>
            </a:r>
            <a:endParaRPr lang="en-US" altLang="zh-CN" sz="2800" b="1" i="1" dirty="0">
              <a:solidFill>
                <a:srgbClr val="333399"/>
              </a:solidFill>
              <a:latin typeface="Book Antiqua" panose="02040602050305030304" pitchFamily="18" charset="0"/>
              <a:sym typeface="Symbol" panose="05050102010706020507" pitchFamily="18" charset="2"/>
            </a:endParaRPr>
          </a:p>
          <a:p>
            <a:pPr marL="342900" lvl="0" indent="-342900" eaLnBrk="1" hangingPunct="1">
              <a:lnSpc>
                <a:spcPct val="11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800" b="1" dirty="0"/>
              <a:t> </a:t>
            </a:r>
            <a:r>
              <a:rPr lang="en-US" altLang="zh-CN" sz="2800" b="1" dirty="0">
                <a:latin typeface="宋体" panose="02010600030101010101" pitchFamily="2" charset="-122"/>
              </a:rPr>
              <a:t>②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测量小球的半径（密立根油滴实验）；</a:t>
            </a:r>
            <a:endParaRPr lang="zh-CN" altLang="en-US" sz="2800" b="1" dirty="0"/>
          </a:p>
          <a:p>
            <a:pPr marL="342900" lvl="0" indent="-342900" eaLnBrk="1" hangingPunct="1">
              <a:lnSpc>
                <a:spcPct val="11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b="1" dirty="0"/>
              <a:t> </a:t>
            </a:r>
            <a:r>
              <a:rPr lang="zh-CN" altLang="en-US" sz="2800" b="1" dirty="0">
                <a:latin typeface="宋体" panose="02010600030101010101" pitchFamily="2" charset="-122"/>
              </a:rPr>
              <a:t>③</a:t>
            </a:r>
            <a:r>
              <a:rPr lang="zh-CN" altLang="en-US" sz="2800" b="1" dirty="0"/>
              <a:t> 离心机的原理；</a:t>
            </a:r>
            <a:endParaRPr lang="zh-CN" altLang="en-US" sz="2800" b="1" dirty="0"/>
          </a:p>
          <a:p>
            <a:pPr marL="342900" lvl="0" indent="-342900" eaLnBrk="1" hangingPunct="1">
              <a:lnSpc>
                <a:spcPct val="11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b="1" dirty="0"/>
              <a:t> </a:t>
            </a:r>
            <a:r>
              <a:rPr lang="zh-CN" altLang="en-US" sz="2800" b="1" dirty="0">
                <a:latin typeface="宋体" panose="02010600030101010101" pitchFamily="2" charset="-122"/>
              </a:rPr>
              <a:t>④</a:t>
            </a:r>
            <a:r>
              <a:rPr lang="zh-CN" altLang="en-US" sz="2800" b="1" dirty="0"/>
              <a:t> 制造混悬液类的药物时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可以增加悬浮介质的黏度、密度和减小药物颗粒的半径来提高药液的稳定性</a:t>
            </a:r>
            <a:r>
              <a:rPr lang="en-US" altLang="zh-CN" sz="2800" b="1" dirty="0"/>
              <a:t>.</a:t>
            </a:r>
            <a:r>
              <a:rPr lang="en-US" altLang="zh-CN" sz="2800" b="1" dirty="0">
                <a:solidFill>
                  <a:srgbClr val="FFFF00"/>
                </a:solidFill>
              </a:rPr>
              <a:t>  </a:t>
            </a:r>
            <a:r>
              <a:rPr lang="en-US" altLang="zh-CN" sz="2800" b="1" i="1" dirty="0">
                <a:solidFill>
                  <a:srgbClr val="333399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b="1" dirty="0">
                <a:solidFill>
                  <a:srgbClr val="333399"/>
                </a:solidFill>
                <a:sym typeface="Symbol" panose="05050102010706020507" pitchFamily="18" charset="2"/>
              </a:rPr>
              <a:t>=2</a:t>
            </a:r>
            <a:r>
              <a:rPr lang="en-US" altLang="zh-CN" sz="2800" b="1" i="1" dirty="0">
                <a:solidFill>
                  <a:srgbClr val="333399"/>
                </a:solidFill>
                <a:sym typeface="Symbol" panose="05050102010706020507" pitchFamily="18" charset="2"/>
              </a:rPr>
              <a:t>gr</a:t>
            </a:r>
            <a:r>
              <a:rPr lang="en-US" altLang="zh-CN" sz="2800" b="1" baseline="50000" dirty="0">
                <a:solidFill>
                  <a:srgbClr val="333399"/>
                </a:solidFill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solidFill>
                  <a:srgbClr val="333399"/>
                </a:solidFill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solidFill>
                  <a:srgbClr val="333399"/>
                </a:solidFill>
                <a:sym typeface="Symbol" panose="05050102010706020507" pitchFamily="18" charset="2"/>
              </a:rPr>
              <a:t> </a:t>
            </a:r>
            <a:r>
              <a:rPr lang="en-US" altLang="zh-CN" sz="2800" b="1" dirty="0">
                <a:solidFill>
                  <a:srgbClr val="333399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800" b="1" i="1" dirty="0">
                <a:solidFill>
                  <a:srgbClr val="333399"/>
                </a:solidFill>
                <a:sym typeface="Symbol" panose="05050102010706020507" pitchFamily="18" charset="2"/>
              </a:rPr>
              <a:t> </a:t>
            </a:r>
            <a:r>
              <a:rPr lang="en-US" altLang="zh-CN" sz="2800" b="1" dirty="0">
                <a:solidFill>
                  <a:srgbClr val="333399"/>
                </a:solidFill>
                <a:sym typeface="Symbol" panose="05050102010706020507" pitchFamily="18" charset="2"/>
              </a:rPr>
              <a:t>)/9</a:t>
            </a:r>
            <a:r>
              <a:rPr lang="en-US" altLang="zh-CN" sz="2800" b="1" i="1" dirty="0">
                <a:solidFill>
                  <a:srgbClr val="333399"/>
                </a:solidFill>
                <a:sym typeface="Symbol" panose="05050102010706020507" pitchFamily="18" charset="2"/>
              </a:rPr>
              <a:t></a:t>
            </a:r>
            <a:r>
              <a:rPr lang="en-US" altLang="zh-CN" sz="2800" b="1" dirty="0">
                <a:solidFill>
                  <a:srgbClr val="333399"/>
                </a:solidFill>
              </a:rPr>
              <a:t> </a:t>
            </a:r>
            <a:endParaRPr lang="en-US" altLang="zh-CN" sz="2800" b="1" dirty="0">
              <a:solidFill>
                <a:srgbClr val="333399"/>
              </a:solidFill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6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4626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6">
                                            <p:txEl>
                                              <p:charRg st="29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4626">
                                            <p:txEl>
                                              <p:charRg st="29" end="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4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4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6" grpId="0" build="p"/>
      <p:bldP spid="154643" grpId="0"/>
    </p:bldLst>
  </p:timing>
</p:sld>
</file>

<file path=ppt/tags/tag1.xml><?xml version="1.0" encoding="utf-8"?>
<p:tagLst xmlns:p="http://schemas.openxmlformats.org/presentationml/2006/main">
  <p:tag name="commondata" val="eyJoZGlkIjoiNTRmMGEyNDZlNzIxMzE3MDI5ZTUxZWVjOTU5NmZhZTYifQ==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FF3300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rgbClr val="FF0000"/>
          </a:solidFill>
          <a:prstDash val="solid"/>
          <a:round/>
          <a:headEnd type="none" w="med" len="med"/>
          <a:tailEnd type="triangl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rgbClr val="FF0000"/>
          </a:solidFill>
          <a:prstDash val="solid"/>
          <a:round/>
          <a:headEnd type="none" w="med" len="med"/>
          <a:tailEnd type="triangl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3780</Words>
  <Application>WPS 演示</Application>
  <PresentationFormat>全屏显示(4:3)</PresentationFormat>
  <Paragraphs>486</Paragraphs>
  <Slides>32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71</vt:i4>
      </vt:variant>
      <vt:variant>
        <vt:lpstr>幻灯片标题</vt:lpstr>
      </vt:variant>
      <vt:variant>
        <vt:i4>32</vt:i4>
      </vt:variant>
    </vt:vector>
  </HeadingPairs>
  <TitlesOfParts>
    <vt:vector size="117" baseType="lpstr">
      <vt:lpstr>Arial</vt:lpstr>
      <vt:lpstr>宋体</vt:lpstr>
      <vt:lpstr>Wingdings</vt:lpstr>
      <vt:lpstr>Times New Roman</vt:lpstr>
      <vt:lpstr>黑体</vt:lpstr>
      <vt:lpstr>Calibri</vt:lpstr>
      <vt:lpstr>Book Antiqua</vt:lpstr>
      <vt:lpstr>Symbol</vt:lpstr>
      <vt:lpstr>微软雅黑</vt:lpstr>
      <vt:lpstr>Arial Unicode MS</vt:lpstr>
      <vt:lpstr>Bookman Old Style</vt:lpstr>
      <vt:lpstr>华文隶书</vt:lpstr>
      <vt:lpstr>Calibri</vt:lpstr>
      <vt:lpstr>默认设计模板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伯努利方程的应用</vt:lpstr>
      <vt:lpstr>PowerPoint 演示文稿</vt:lpstr>
      <vt:lpstr>     一个很大的开口容器,  器壁上有一小孔,  当容器内注入液体后,  液体从小孔流出.  设小孔距液面的高度是h,  求液体从小孔流出的速度.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几种流体的黏度系数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wzj</dc:title>
  <dc:creator>cl</dc:creator>
  <cp:keywords>光的干涉、杨氏双缝干涉</cp:keywords>
  <cp:lastModifiedBy>WPS_1631981099</cp:lastModifiedBy>
  <cp:revision>670</cp:revision>
  <cp:lastPrinted>2018-04-03T02:44:00Z</cp:lastPrinted>
  <dcterms:created xsi:type="dcterms:W3CDTF">2000-10-06T07:52:00Z</dcterms:created>
  <dcterms:modified xsi:type="dcterms:W3CDTF">2024-03-26T08:23:34Z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BD1E0E5584A0489FA01936864C6000B6_13</vt:lpwstr>
  </property>
  <property fmtid="{D5CDD505-2E9C-101B-9397-08002B2CF9AE}" pid="3" name="KSOProductBuildVer">
    <vt:lpwstr>2052-12.1.0.16388</vt:lpwstr>
  </property>
</Properties>
</file>