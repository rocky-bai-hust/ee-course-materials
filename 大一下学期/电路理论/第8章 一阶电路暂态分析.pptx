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330" r:id="rId2"/>
    <p:sldId id="516" r:id="rId3"/>
    <p:sldId id="560" r:id="rId4"/>
    <p:sldId id="379" r:id="rId5"/>
    <p:sldId id="518" r:id="rId6"/>
    <p:sldId id="519" r:id="rId7"/>
    <p:sldId id="520" r:id="rId8"/>
    <p:sldId id="521" r:id="rId9"/>
    <p:sldId id="522" r:id="rId10"/>
    <p:sldId id="555" r:id="rId11"/>
    <p:sldId id="387" r:id="rId12"/>
    <p:sldId id="496" r:id="rId13"/>
    <p:sldId id="523" r:id="rId14"/>
    <p:sldId id="524" r:id="rId15"/>
    <p:sldId id="497" r:id="rId16"/>
    <p:sldId id="525" r:id="rId17"/>
    <p:sldId id="526" r:id="rId18"/>
    <p:sldId id="527" r:id="rId19"/>
    <p:sldId id="561" r:id="rId20"/>
    <p:sldId id="564" r:id="rId21"/>
    <p:sldId id="565" r:id="rId22"/>
    <p:sldId id="575" r:id="rId23"/>
    <p:sldId id="573" r:id="rId24"/>
    <p:sldId id="574" r:id="rId25"/>
    <p:sldId id="530" r:id="rId26"/>
    <p:sldId id="539" r:id="rId27"/>
    <p:sldId id="535" r:id="rId28"/>
    <p:sldId id="536" r:id="rId29"/>
    <p:sldId id="571" r:id="rId30"/>
    <p:sldId id="572" r:id="rId31"/>
    <p:sldId id="579" r:id="rId32"/>
    <p:sldId id="540" r:id="rId33"/>
    <p:sldId id="542" r:id="rId34"/>
    <p:sldId id="543" r:id="rId35"/>
    <p:sldId id="544" r:id="rId36"/>
    <p:sldId id="576" r:id="rId37"/>
    <p:sldId id="485" r:id="rId38"/>
    <p:sldId id="529" r:id="rId39"/>
    <p:sldId id="586" r:id="rId40"/>
    <p:sldId id="546" r:id="rId41"/>
    <p:sldId id="550" r:id="rId42"/>
    <p:sldId id="547" r:id="rId43"/>
    <p:sldId id="548" r:id="rId44"/>
    <p:sldId id="549" r:id="rId45"/>
    <p:sldId id="580" r:id="rId46"/>
    <p:sldId id="506" r:id="rId47"/>
    <p:sldId id="581" r:id="rId48"/>
    <p:sldId id="556" r:id="rId49"/>
    <p:sldId id="558" r:id="rId50"/>
    <p:sldId id="582" r:id="rId51"/>
    <p:sldId id="585" r:id="rId52"/>
    <p:sldId id="551" r:id="rId53"/>
    <p:sldId id="583" r:id="rId54"/>
    <p:sldId id="552" r:id="rId55"/>
    <p:sldId id="467" r:id="rId56"/>
    <p:sldId id="553" r:id="rId57"/>
    <p:sldId id="469" r:id="rId58"/>
    <p:sldId id="510" r:id="rId59"/>
    <p:sldId id="587" r:id="rId60"/>
    <p:sldId id="515" r:id="rId61"/>
    <p:sldId id="559" r:id="rId62"/>
    <p:sldId id="554" r:id="rId63"/>
  </p:sldIdLst>
  <p:sldSz cx="9144000" cy="6858000" type="screen4x3"/>
  <p:notesSz cx="6272213" cy="90614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4">
          <p15:clr>
            <a:srgbClr val="A4A3A4"/>
          </p15:clr>
        </p15:guide>
        <p15:guide id="2" pos="197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6600"/>
    <a:srgbClr val="FF6600"/>
    <a:srgbClr val="336600"/>
    <a:srgbClr val="003300"/>
    <a:srgbClr val="FF9900"/>
    <a:srgbClr val="CC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6" autoAdjust="0"/>
    <p:restoredTop sz="94683" autoAdjust="0"/>
  </p:normalViewPr>
  <p:slideViewPr>
    <p:cSldViewPr>
      <p:cViewPr varScale="1">
        <p:scale>
          <a:sx n="109" d="100"/>
          <a:sy n="109" d="100"/>
        </p:scale>
        <p:origin x="1884" y="78"/>
      </p:cViewPr>
      <p:guideLst>
        <p:guide orient="horz" pos="22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2854"/>
        <p:guide pos="19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emf"/><Relationship Id="rId1" Type="http://schemas.openxmlformats.org/officeDocument/2006/relationships/image" Target="../media/image46.wmf"/><Relationship Id="rId6" Type="http://schemas.openxmlformats.org/officeDocument/2006/relationships/image" Target="../media/image51.e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0" Type="http://schemas.openxmlformats.org/officeDocument/2006/relationships/image" Target="../media/image55.emf"/><Relationship Id="rId4" Type="http://schemas.openxmlformats.org/officeDocument/2006/relationships/image" Target="../media/image49.wmf"/><Relationship Id="rId9" Type="http://schemas.openxmlformats.org/officeDocument/2006/relationships/image" Target="../media/image5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98.wmf"/><Relationship Id="rId7" Type="http://schemas.openxmlformats.org/officeDocument/2006/relationships/image" Target="../media/image102.e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4" Type="http://schemas.openxmlformats.org/officeDocument/2006/relationships/image" Target="../media/image11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emf"/><Relationship Id="rId1" Type="http://schemas.openxmlformats.org/officeDocument/2006/relationships/image" Target="../media/image119.wmf"/><Relationship Id="rId5" Type="http://schemas.openxmlformats.org/officeDocument/2006/relationships/image" Target="../media/image123.wmf"/><Relationship Id="rId4" Type="http://schemas.openxmlformats.org/officeDocument/2006/relationships/image" Target="../media/image122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5" Type="http://schemas.openxmlformats.org/officeDocument/2006/relationships/image" Target="../media/image137.emf"/><Relationship Id="rId4" Type="http://schemas.openxmlformats.org/officeDocument/2006/relationships/image" Target="../media/image11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7" Type="http://schemas.openxmlformats.org/officeDocument/2006/relationships/image" Target="../media/image148.e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e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image" Target="../media/image159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4" Type="http://schemas.openxmlformats.org/officeDocument/2006/relationships/image" Target="../media/image16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4" Type="http://schemas.openxmlformats.org/officeDocument/2006/relationships/image" Target="../media/image168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image" Target="../media/image180.wmf"/><Relationship Id="rId7" Type="http://schemas.openxmlformats.org/officeDocument/2006/relationships/image" Target="../media/image183.e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2.emf"/><Relationship Id="rId11" Type="http://schemas.openxmlformats.org/officeDocument/2006/relationships/image" Target="../media/image179.wmf"/><Relationship Id="rId5" Type="http://schemas.openxmlformats.org/officeDocument/2006/relationships/image" Target="../media/image181.emf"/><Relationship Id="rId10" Type="http://schemas.openxmlformats.org/officeDocument/2006/relationships/image" Target="../media/image178.wmf"/><Relationship Id="rId4" Type="http://schemas.openxmlformats.org/officeDocument/2006/relationships/image" Target="../media/image177.wmf"/><Relationship Id="rId9" Type="http://schemas.openxmlformats.org/officeDocument/2006/relationships/image" Target="../media/image185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wmf"/><Relationship Id="rId1" Type="http://schemas.openxmlformats.org/officeDocument/2006/relationships/image" Target="../media/image190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8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8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emf"/><Relationship Id="rId2" Type="http://schemas.openxmlformats.org/officeDocument/2006/relationships/image" Target="../media/image21.jpeg"/><Relationship Id="rId1" Type="http://schemas.openxmlformats.org/officeDocument/2006/relationships/image" Target="../media/image192.e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emf"/><Relationship Id="rId9" Type="http://schemas.openxmlformats.org/officeDocument/2006/relationships/image" Target="../media/image199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212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211.wmf"/><Relationship Id="rId2" Type="http://schemas.openxmlformats.org/officeDocument/2006/relationships/image" Target="../media/image201.wmf"/><Relationship Id="rId1" Type="http://schemas.openxmlformats.org/officeDocument/2006/relationships/image" Target="../media/image200.e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4.wmf"/><Relationship Id="rId2" Type="http://schemas.openxmlformats.org/officeDocument/2006/relationships/image" Target="../media/image219.emf"/><Relationship Id="rId1" Type="http://schemas.openxmlformats.org/officeDocument/2006/relationships/image" Target="../media/image218.e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9" Type="http://schemas.openxmlformats.org/officeDocument/2006/relationships/image" Target="../media/image226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image" Target="../media/image229.emf"/><Relationship Id="rId7" Type="http://schemas.openxmlformats.org/officeDocument/2006/relationships/image" Target="../media/image233.w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Relationship Id="rId6" Type="http://schemas.openxmlformats.org/officeDocument/2006/relationships/image" Target="../media/image232.wmf"/><Relationship Id="rId11" Type="http://schemas.openxmlformats.org/officeDocument/2006/relationships/image" Target="../media/image237.wmf"/><Relationship Id="rId5" Type="http://schemas.openxmlformats.org/officeDocument/2006/relationships/image" Target="../media/image231.wmf"/><Relationship Id="rId10" Type="http://schemas.openxmlformats.org/officeDocument/2006/relationships/image" Target="../media/image236.wmf"/><Relationship Id="rId4" Type="http://schemas.openxmlformats.org/officeDocument/2006/relationships/image" Target="../media/image230.emf"/><Relationship Id="rId9" Type="http://schemas.openxmlformats.org/officeDocument/2006/relationships/image" Target="../media/image235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image" Target="../media/image250.wmf"/><Relationship Id="rId18" Type="http://schemas.openxmlformats.org/officeDocument/2006/relationships/image" Target="../media/image255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12" Type="http://schemas.openxmlformats.org/officeDocument/2006/relationships/image" Target="../media/image249.wmf"/><Relationship Id="rId17" Type="http://schemas.openxmlformats.org/officeDocument/2006/relationships/image" Target="../media/image254.wmf"/><Relationship Id="rId2" Type="http://schemas.openxmlformats.org/officeDocument/2006/relationships/image" Target="../media/image239.emf"/><Relationship Id="rId16" Type="http://schemas.openxmlformats.org/officeDocument/2006/relationships/image" Target="../media/image253.wmf"/><Relationship Id="rId20" Type="http://schemas.openxmlformats.org/officeDocument/2006/relationships/image" Target="../media/image257.wmf"/><Relationship Id="rId1" Type="http://schemas.openxmlformats.org/officeDocument/2006/relationships/image" Target="../media/image238.emf"/><Relationship Id="rId6" Type="http://schemas.openxmlformats.org/officeDocument/2006/relationships/image" Target="../media/image243.emf"/><Relationship Id="rId11" Type="http://schemas.openxmlformats.org/officeDocument/2006/relationships/image" Target="../media/image248.wmf"/><Relationship Id="rId5" Type="http://schemas.openxmlformats.org/officeDocument/2006/relationships/image" Target="../media/image242.wmf"/><Relationship Id="rId15" Type="http://schemas.openxmlformats.org/officeDocument/2006/relationships/image" Target="../media/image252.wmf"/><Relationship Id="rId10" Type="http://schemas.openxmlformats.org/officeDocument/2006/relationships/image" Target="../media/image247.wmf"/><Relationship Id="rId19" Type="http://schemas.openxmlformats.org/officeDocument/2006/relationships/image" Target="../media/image256.wmf"/><Relationship Id="rId4" Type="http://schemas.openxmlformats.org/officeDocument/2006/relationships/image" Target="../media/image241.wmf"/><Relationship Id="rId9" Type="http://schemas.openxmlformats.org/officeDocument/2006/relationships/image" Target="../media/image246.emf"/><Relationship Id="rId14" Type="http://schemas.openxmlformats.org/officeDocument/2006/relationships/image" Target="../media/image25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emf"/><Relationship Id="rId6" Type="http://schemas.openxmlformats.org/officeDocument/2006/relationships/image" Target="../media/image267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3" Type="http://schemas.openxmlformats.org/officeDocument/2006/relationships/image" Target="../media/image270.wmf"/><Relationship Id="rId7" Type="http://schemas.openxmlformats.org/officeDocument/2006/relationships/image" Target="../media/image274.wmf"/><Relationship Id="rId2" Type="http://schemas.openxmlformats.org/officeDocument/2006/relationships/image" Target="../media/image269.wmf"/><Relationship Id="rId1" Type="http://schemas.openxmlformats.org/officeDocument/2006/relationships/image" Target="../media/image268.emf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10" Type="http://schemas.openxmlformats.org/officeDocument/2006/relationships/image" Target="../media/image277.wmf"/><Relationship Id="rId4" Type="http://schemas.openxmlformats.org/officeDocument/2006/relationships/image" Target="../media/image271.wmf"/><Relationship Id="rId9" Type="http://schemas.openxmlformats.org/officeDocument/2006/relationships/image" Target="../media/image27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554413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54413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10E1857-5779-4F62-AA3B-7C310BFA72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52825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677863"/>
            <a:ext cx="4532312" cy="3398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8650" y="4303713"/>
            <a:ext cx="50165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52825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E3B2DC5-A1A2-4225-BE57-C36A74EFC8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70DF88-275C-44B3-80B0-63CBD68F46EA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599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C93CC8-259F-489A-AEC6-412AB28AECA5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09813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C93CC8-259F-489A-AEC6-412AB28AECA5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4246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F9C5A6-EF90-48A8-9215-D02BB0B03860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170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C03BB-DFBB-45BC-89B2-B61E73C6AB3F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6944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9F36F-896E-4FD9-866B-4094CEB61218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FBEB8-A1F3-4840-B5E6-E959B2E9E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64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52EAC-F32A-41E3-AA42-767AFD0E1305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B57A5-A3A8-4322-83D4-7F78BCCCB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9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13F9F-641B-4B71-B492-7151667A3E6D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B97A2-F73E-420F-88E8-EBA2688FEE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3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0012B-5404-4280-826E-554E8057C12D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17A06-AC60-4E15-8AA1-D8A398FEAC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204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D368-5971-42A6-9381-0509B45CD0D9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C3E63-1E87-4383-9B60-D54F72748D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839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BF001-F40F-4D9B-9A2C-E5BAE36F2975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BC757-DDB3-4C2F-A3FB-393366C1C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46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7AB18-34C9-4D5A-875D-BD1CAECB51F7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61F96-7CCE-4CED-9590-79D24BD4E8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164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2EFDE-F9BF-482B-86C0-5E7289734172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3D561-357C-49D7-8075-847413AD14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91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8EF19-1BFD-41F2-8634-57157BE0A3FF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FDAB3-6E0F-4876-A872-5FA0C93925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21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14B08-4FC9-4E72-8ADC-C634F06953E7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1F408-911F-4CA7-84C2-AF8F6BCA8E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78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188913"/>
            <a:ext cx="2114550" cy="59070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88913"/>
            <a:ext cx="6191250" cy="59070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2B49A-28CA-47BF-B653-097029490C8E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D6873-5AC2-484B-9B8E-4E8032FD95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699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88913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A9001-BB6E-4EA3-A0C9-8B9E3EE42744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61FAF-7FDC-4E57-AC1F-3F35BC18FE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343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81000" y="188913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810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D0464-DF08-4ACC-B998-7D2F9B2693CD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BE93B-745C-4F40-9ABB-EC25772D01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73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188913"/>
            <a:ext cx="8458200" cy="5907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A4F76-848B-4C37-9317-8328A6B027AC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EE8E7-9F40-43A1-9BCA-BB09EF38DE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572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371600"/>
            <a:ext cx="4305300" cy="4724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305300" cy="2286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810000"/>
            <a:ext cx="4305300" cy="22860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4EA1D17-822F-417F-8E04-B194E9AC705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504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1CB4159-F7CA-47A6-897F-D283308CB586}" type="datetime1">
              <a:rPr lang="zh-CN" altLang="en-US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smtClean="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F0F8B45-B58C-4316-BCB4-E4AEF03CC0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7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8.wmf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4.wmf"/><Relationship Id="rId22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jpeg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e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56.wmf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51.emf"/><Relationship Id="rId22" Type="http://schemas.openxmlformats.org/officeDocument/2006/relationships/image" Target="../media/image5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7.w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2.wmf"/><Relationship Id="rId9" Type="http://schemas.openxmlformats.org/officeDocument/2006/relationships/image" Target="../media/image7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88.png"/><Relationship Id="rId7" Type="http://schemas.openxmlformats.org/officeDocument/2006/relationships/image" Target="../media/image12.wmf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8.bin"/><Relationship Id="rId11" Type="http://schemas.openxmlformats.org/officeDocument/2006/relationships/oleObject" Target="../embeddings/oleObject69.bin"/><Relationship Id="rId5" Type="http://schemas.openxmlformats.org/officeDocument/2006/relationships/image" Target="../media/image90.png"/><Relationship Id="rId10" Type="http://schemas.openxmlformats.org/officeDocument/2006/relationships/image" Target="../media/image91.png"/><Relationship Id="rId4" Type="http://schemas.openxmlformats.org/officeDocument/2006/relationships/image" Target="../media/image89.png"/><Relationship Id="rId9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7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103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2.emf"/><Relationship Id="rId20" Type="http://schemas.openxmlformats.org/officeDocument/2006/relationships/image" Target="../media/image104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106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101.wmf"/><Relationship Id="rId22" Type="http://schemas.openxmlformats.org/officeDocument/2006/relationships/image" Target="../media/image10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9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7" Type="http://schemas.openxmlformats.org/officeDocument/2006/relationships/image" Target="../media/image10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21.jpeg"/><Relationship Id="rId4" Type="http://schemas.openxmlformats.org/officeDocument/2006/relationships/image" Target="../media/image10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1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9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0.e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22.e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0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89.png"/><Relationship Id="rId7" Type="http://schemas.openxmlformats.org/officeDocument/2006/relationships/image" Target="../media/image124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4.png"/><Relationship Id="rId9" Type="http://schemas.openxmlformats.org/officeDocument/2006/relationships/image" Target="../media/image1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131.png"/><Relationship Id="rId2" Type="http://schemas.openxmlformats.org/officeDocument/2006/relationships/image" Target="../media/image77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129.png"/><Relationship Id="rId10" Type="http://schemas.openxmlformats.org/officeDocument/2006/relationships/image" Target="../media/image85.png"/><Relationship Id="rId19" Type="http://schemas.openxmlformats.org/officeDocument/2006/relationships/image" Target="../media/image133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1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21.jpeg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112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0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3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40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8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47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5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59.emf"/><Relationship Id="rId4" Type="http://schemas.openxmlformats.org/officeDocument/2006/relationships/oleObject" Target="../embeddings/oleObject123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6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67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73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72.wmf"/><Relationship Id="rId5" Type="http://schemas.openxmlformats.org/officeDocument/2006/relationships/image" Target="../media/image169.wmf"/><Relationship Id="rId15" Type="http://schemas.openxmlformats.org/officeDocument/2006/relationships/image" Target="../media/image174.w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13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78.wmf"/><Relationship Id="rId18" Type="http://schemas.openxmlformats.org/officeDocument/2006/relationships/image" Target="../media/image182.png"/><Relationship Id="rId26" Type="http://schemas.openxmlformats.org/officeDocument/2006/relationships/image" Target="../media/image188.png"/><Relationship Id="rId3" Type="http://schemas.openxmlformats.org/officeDocument/2006/relationships/oleObject" Target="../embeddings/oleObject139.bin"/><Relationship Id="rId21" Type="http://schemas.openxmlformats.org/officeDocument/2006/relationships/image" Target="../media/image185.png"/><Relationship Id="rId7" Type="http://schemas.openxmlformats.org/officeDocument/2006/relationships/oleObject" Target="../embeddings/oleObject141.bin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79.wmf"/><Relationship Id="rId25" Type="http://schemas.openxmlformats.org/officeDocument/2006/relationships/image" Target="../media/image187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3.bin"/><Relationship Id="rId20" Type="http://schemas.openxmlformats.org/officeDocument/2006/relationships/image" Target="../media/image184.png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76.wmf"/><Relationship Id="rId11" Type="http://schemas.openxmlformats.org/officeDocument/2006/relationships/image" Target="../media/image178.wmf"/><Relationship Id="rId24" Type="http://schemas.openxmlformats.org/officeDocument/2006/relationships/image" Target="../media/image180.wmf"/><Relationship Id="rId5" Type="http://schemas.openxmlformats.org/officeDocument/2006/relationships/oleObject" Target="../embeddings/oleObject140.bin"/><Relationship Id="rId15" Type="http://schemas.openxmlformats.org/officeDocument/2006/relationships/image" Target="../media/image179.wmf"/><Relationship Id="rId23" Type="http://schemas.openxmlformats.org/officeDocument/2006/relationships/oleObject" Target="../embeddings/oleObject144.bin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83.png"/><Relationship Id="rId4" Type="http://schemas.openxmlformats.org/officeDocument/2006/relationships/image" Target="../media/image175.wmf"/><Relationship Id="rId9" Type="http://schemas.openxmlformats.org/officeDocument/2006/relationships/image" Target="../media/image181.png"/><Relationship Id="rId14" Type="http://schemas.openxmlformats.org/officeDocument/2006/relationships/oleObject" Target="../embeddings/oleObject143.bin"/><Relationship Id="rId22" Type="http://schemas.openxmlformats.org/officeDocument/2006/relationships/image" Target="../media/image18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84.emf"/><Relationship Id="rId26" Type="http://schemas.openxmlformats.org/officeDocument/2006/relationships/oleObject" Target="../embeddings/oleObject143.bin"/><Relationship Id="rId3" Type="http://schemas.openxmlformats.org/officeDocument/2006/relationships/oleObject" Target="../embeddings/oleObject139.bin"/><Relationship Id="rId21" Type="http://schemas.openxmlformats.org/officeDocument/2006/relationships/image" Target="../media/image181.png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81.emf"/><Relationship Id="rId17" Type="http://schemas.openxmlformats.org/officeDocument/2006/relationships/oleObject" Target="../embeddings/oleObject150.bin"/><Relationship Id="rId25" Type="http://schemas.openxmlformats.org/officeDocument/2006/relationships/image" Target="../media/image17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3.emf"/><Relationship Id="rId20" Type="http://schemas.openxmlformats.org/officeDocument/2006/relationships/image" Target="../media/image185.wmf"/><Relationship Id="rId29" Type="http://schemas.openxmlformats.org/officeDocument/2006/relationships/image" Target="../media/image179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47.bin"/><Relationship Id="rId24" Type="http://schemas.openxmlformats.org/officeDocument/2006/relationships/oleObject" Target="../embeddings/oleObject142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9.bin"/><Relationship Id="rId23" Type="http://schemas.openxmlformats.org/officeDocument/2006/relationships/image" Target="../media/image178.wmf"/><Relationship Id="rId28" Type="http://schemas.openxmlformats.org/officeDocument/2006/relationships/oleObject" Target="../embeddings/oleObject143.bin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151.bin"/><Relationship Id="rId31" Type="http://schemas.openxmlformats.org/officeDocument/2006/relationships/image" Target="../media/image194.png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82.emf"/><Relationship Id="rId22" Type="http://schemas.openxmlformats.org/officeDocument/2006/relationships/oleObject" Target="../embeddings/oleObject142.bin"/><Relationship Id="rId27" Type="http://schemas.openxmlformats.org/officeDocument/2006/relationships/image" Target="../media/image179.wmf"/><Relationship Id="rId30" Type="http://schemas.openxmlformats.org/officeDocument/2006/relationships/image" Target="../media/image18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png"/><Relationship Id="rId4" Type="http://schemas.openxmlformats.org/officeDocument/2006/relationships/image" Target="../media/image19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202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oleObject" Target="../embeddings/oleObject152.bin"/><Relationship Id="rId7" Type="http://schemas.openxmlformats.org/officeDocument/2006/relationships/image" Target="../media/image20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90.emf"/><Relationship Id="rId9" Type="http://schemas.openxmlformats.org/officeDocument/2006/relationships/image" Target="../media/image20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image" Target="../media/image208.png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79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20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image" Target="../media/image210.png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2.bin"/><Relationship Id="rId15" Type="http://schemas.openxmlformats.org/officeDocument/2006/relationships/image" Target="../media/image141.png"/><Relationship Id="rId10" Type="http://schemas.openxmlformats.org/officeDocument/2006/relationships/image" Target="../media/image179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21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96.wmf"/><Relationship Id="rId18" Type="http://schemas.openxmlformats.org/officeDocument/2006/relationships/oleObject" Target="../embeddings/oleObject163.bin"/><Relationship Id="rId3" Type="http://schemas.openxmlformats.org/officeDocument/2006/relationships/oleObject" Target="../embeddings/oleObject156.bin"/><Relationship Id="rId7" Type="http://schemas.openxmlformats.org/officeDocument/2006/relationships/image" Target="../media/image21.jpeg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2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93.wmf"/><Relationship Id="rId11" Type="http://schemas.openxmlformats.org/officeDocument/2006/relationships/image" Target="../media/image195.wmf"/><Relationship Id="rId5" Type="http://schemas.openxmlformats.org/officeDocument/2006/relationships/oleObject" Target="../embeddings/oleObject157.bin"/><Relationship Id="rId15" Type="http://schemas.openxmlformats.org/officeDocument/2006/relationships/image" Target="../media/image197.emf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99.wmf"/><Relationship Id="rId4" Type="http://schemas.openxmlformats.org/officeDocument/2006/relationships/image" Target="../media/image192.emf"/><Relationship Id="rId9" Type="http://schemas.openxmlformats.org/officeDocument/2006/relationships/image" Target="../media/image194.emf"/><Relationship Id="rId14" Type="http://schemas.openxmlformats.org/officeDocument/2006/relationships/oleObject" Target="../embeddings/oleObject161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207.wmf"/><Relationship Id="rId26" Type="http://schemas.openxmlformats.org/officeDocument/2006/relationships/image" Target="../media/image211.wmf"/><Relationship Id="rId3" Type="http://schemas.openxmlformats.org/officeDocument/2006/relationships/oleObject" Target="../embeddings/oleObject164.bin"/><Relationship Id="rId21" Type="http://schemas.openxmlformats.org/officeDocument/2006/relationships/oleObject" Target="../embeddings/oleObject173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171.bin"/><Relationship Id="rId25" Type="http://schemas.openxmlformats.org/officeDocument/2006/relationships/oleObject" Target="../embeddings/oleObject17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168.bin"/><Relationship Id="rId24" Type="http://schemas.openxmlformats.org/officeDocument/2006/relationships/image" Target="../media/image210.wmf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23" Type="http://schemas.openxmlformats.org/officeDocument/2006/relationships/oleObject" Target="../embeddings/oleObject174.bin"/><Relationship Id="rId28" Type="http://schemas.openxmlformats.org/officeDocument/2006/relationships/image" Target="../media/image212.wmf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172.bin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Relationship Id="rId27" Type="http://schemas.openxmlformats.org/officeDocument/2006/relationships/oleObject" Target="../embeddings/oleObject17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2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216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180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225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222.wmf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4.wmf"/><Relationship Id="rId20" Type="http://schemas.openxmlformats.org/officeDocument/2006/relationships/image" Target="../media/image226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19.e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221.wmf"/><Relationship Id="rId19" Type="http://schemas.openxmlformats.org/officeDocument/2006/relationships/oleObject" Target="../embeddings/oleObject190.bin"/><Relationship Id="rId4" Type="http://schemas.openxmlformats.org/officeDocument/2006/relationships/image" Target="../media/image218.e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223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234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0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231.wmf"/><Relationship Id="rId17" Type="http://schemas.openxmlformats.org/officeDocument/2006/relationships/oleObject" Target="../embeddings/oleObject198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33.wmf"/><Relationship Id="rId20" Type="http://schemas.openxmlformats.org/officeDocument/2006/relationships/image" Target="../media/image235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28.emf"/><Relationship Id="rId11" Type="http://schemas.openxmlformats.org/officeDocument/2006/relationships/oleObject" Target="../embeddings/oleObject195.bin"/><Relationship Id="rId24" Type="http://schemas.openxmlformats.org/officeDocument/2006/relationships/image" Target="../media/image237.wmf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1.bin"/><Relationship Id="rId10" Type="http://schemas.openxmlformats.org/officeDocument/2006/relationships/image" Target="../media/image230.emf"/><Relationship Id="rId19" Type="http://schemas.openxmlformats.org/officeDocument/2006/relationships/oleObject" Target="../embeddings/oleObject199.bin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232.wmf"/><Relationship Id="rId22" Type="http://schemas.openxmlformats.org/officeDocument/2006/relationships/image" Target="../media/image236.wmf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245.wmf"/><Relationship Id="rId26" Type="http://schemas.openxmlformats.org/officeDocument/2006/relationships/image" Target="../media/image249.wmf"/><Relationship Id="rId39" Type="http://schemas.openxmlformats.org/officeDocument/2006/relationships/oleObject" Target="../embeddings/oleObject220.bin"/><Relationship Id="rId21" Type="http://schemas.openxmlformats.org/officeDocument/2006/relationships/oleObject" Target="../embeddings/oleObject211.bin"/><Relationship Id="rId34" Type="http://schemas.openxmlformats.org/officeDocument/2006/relationships/image" Target="../media/image253.wmf"/><Relationship Id="rId42" Type="http://schemas.openxmlformats.org/officeDocument/2006/relationships/image" Target="../media/image259.emf"/><Relationship Id="rId7" Type="http://schemas.openxmlformats.org/officeDocument/2006/relationships/oleObject" Target="../embeddings/oleObject2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4.wmf"/><Relationship Id="rId29" Type="http://schemas.openxmlformats.org/officeDocument/2006/relationships/oleObject" Target="../embeddings/oleObject215.bin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39.e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248.wmf"/><Relationship Id="rId32" Type="http://schemas.openxmlformats.org/officeDocument/2006/relationships/image" Target="../media/image252.wmf"/><Relationship Id="rId37" Type="http://schemas.openxmlformats.org/officeDocument/2006/relationships/oleObject" Target="../embeddings/oleObject219.bin"/><Relationship Id="rId40" Type="http://schemas.openxmlformats.org/officeDocument/2006/relationships/image" Target="../media/image256.wmf"/><Relationship Id="rId45" Type="http://schemas.openxmlformats.org/officeDocument/2006/relationships/oleObject" Target="../embeddings/oleObject221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250.wmf"/><Relationship Id="rId36" Type="http://schemas.openxmlformats.org/officeDocument/2006/relationships/image" Target="../media/image254.wmf"/><Relationship Id="rId10" Type="http://schemas.openxmlformats.org/officeDocument/2006/relationships/image" Target="../media/image241.wmf"/><Relationship Id="rId19" Type="http://schemas.openxmlformats.org/officeDocument/2006/relationships/oleObject" Target="../embeddings/oleObject210.bin"/><Relationship Id="rId31" Type="http://schemas.openxmlformats.org/officeDocument/2006/relationships/oleObject" Target="../embeddings/oleObject216.bin"/><Relationship Id="rId44" Type="http://schemas.openxmlformats.org/officeDocument/2006/relationships/image" Target="../media/image261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43.emf"/><Relationship Id="rId22" Type="http://schemas.openxmlformats.org/officeDocument/2006/relationships/image" Target="../media/image247.wmf"/><Relationship Id="rId27" Type="http://schemas.openxmlformats.org/officeDocument/2006/relationships/oleObject" Target="../embeddings/oleObject214.bin"/><Relationship Id="rId30" Type="http://schemas.openxmlformats.org/officeDocument/2006/relationships/image" Target="../media/image251.wmf"/><Relationship Id="rId35" Type="http://schemas.openxmlformats.org/officeDocument/2006/relationships/oleObject" Target="../embeddings/oleObject218.bin"/><Relationship Id="rId43" Type="http://schemas.openxmlformats.org/officeDocument/2006/relationships/image" Target="../media/image260.emf"/><Relationship Id="rId8" Type="http://schemas.openxmlformats.org/officeDocument/2006/relationships/image" Target="../media/image240.wmf"/><Relationship Id="rId3" Type="http://schemas.openxmlformats.org/officeDocument/2006/relationships/oleObject" Target="../embeddings/oleObject202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33" Type="http://schemas.openxmlformats.org/officeDocument/2006/relationships/oleObject" Target="../embeddings/oleObject217.bin"/><Relationship Id="rId38" Type="http://schemas.openxmlformats.org/officeDocument/2006/relationships/image" Target="../media/image255.wmf"/><Relationship Id="rId46" Type="http://schemas.openxmlformats.org/officeDocument/2006/relationships/image" Target="../media/image257.wmf"/><Relationship Id="rId20" Type="http://schemas.openxmlformats.org/officeDocument/2006/relationships/image" Target="../media/image246.emf"/><Relationship Id="rId41" Type="http://schemas.openxmlformats.org/officeDocument/2006/relationships/image" Target="../media/image258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oleObject" Target="../embeddings/oleObject227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6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0" Type="http://schemas.openxmlformats.org/officeDocument/2006/relationships/image" Target="../media/image265.wmf"/><Relationship Id="rId4" Type="http://schemas.openxmlformats.org/officeDocument/2006/relationships/image" Target="../media/image262.e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67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75.emf"/><Relationship Id="rId3" Type="http://schemas.openxmlformats.org/officeDocument/2006/relationships/oleObject" Target="../embeddings/oleObject228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wmf"/><Relationship Id="rId20" Type="http://schemas.openxmlformats.org/officeDocument/2006/relationships/image" Target="../media/image276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71.wmf"/><Relationship Id="rId19" Type="http://schemas.openxmlformats.org/officeDocument/2006/relationships/oleObject" Target="../embeddings/oleObject236.bin"/><Relationship Id="rId4" Type="http://schemas.openxmlformats.org/officeDocument/2006/relationships/image" Target="../media/image268.e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73.wmf"/><Relationship Id="rId22" Type="http://schemas.openxmlformats.org/officeDocument/2006/relationships/image" Target="../media/image277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xfrm>
            <a:off x="107950" y="64389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5D6553-C3F9-4B30-89A1-13C67E4E6FA2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51150" y="64389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4950" y="64389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B2A27B-222B-4C6E-B2F5-7C89E31CB858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9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1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2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60" name="Text Box 1060"/>
          <p:cNvSpPr txBox="1">
            <a:spLocks noChangeArrowheads="1"/>
          </p:cNvSpPr>
          <p:nvPr/>
        </p:nvSpPr>
        <p:spPr bwMode="auto">
          <a:xfrm>
            <a:off x="1873250" y="-111125"/>
            <a:ext cx="5867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一阶电路的暂态分析</a:t>
            </a:r>
          </a:p>
        </p:txBody>
      </p:sp>
      <p:sp>
        <p:nvSpPr>
          <p:cNvPr id="77862" name="Text Box 1062"/>
          <p:cNvSpPr txBox="1">
            <a:spLocks noChangeArrowheads="1"/>
          </p:cNvSpPr>
          <p:nvPr/>
        </p:nvSpPr>
        <p:spPr bwMode="auto">
          <a:xfrm>
            <a:off x="1331913" y="1619250"/>
            <a:ext cx="4960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8.2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零输入响应　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Zero-input response</a:t>
            </a:r>
          </a:p>
        </p:txBody>
      </p:sp>
      <p:sp>
        <p:nvSpPr>
          <p:cNvPr id="77874" name="Text Box 1074"/>
          <p:cNvSpPr txBox="1">
            <a:spLocks noChangeArrowheads="1"/>
          </p:cNvSpPr>
          <p:nvPr/>
        </p:nvSpPr>
        <p:spPr bwMode="auto">
          <a:xfrm>
            <a:off x="1417638" y="3954463"/>
            <a:ext cx="6883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8.4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正弦电源激励下的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RC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电路</a:t>
            </a:r>
          </a:p>
        </p:txBody>
      </p:sp>
      <p:sp>
        <p:nvSpPr>
          <p:cNvPr id="77880" name="Text Box 1080"/>
          <p:cNvSpPr txBox="1">
            <a:spLocks noChangeArrowheads="1"/>
          </p:cNvSpPr>
          <p:nvPr/>
        </p:nvSpPr>
        <p:spPr bwMode="auto">
          <a:xfrm>
            <a:off x="1325563" y="2205038"/>
            <a:ext cx="6472237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8.3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直流电源激励下的响应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8.3.1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直流电源激励的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RC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电路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8.3.2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直流电源激励的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RL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电路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8.3.3  RC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电路的方波响应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Text Box 1074"/>
          <p:cNvSpPr txBox="1">
            <a:spLocks noChangeArrowheads="1"/>
          </p:cNvSpPr>
          <p:nvPr/>
        </p:nvSpPr>
        <p:spPr bwMode="auto">
          <a:xfrm>
            <a:off x="1417638" y="4576763"/>
            <a:ext cx="6883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8.6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线性非时变特性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63888" y="3742698"/>
            <a:ext cx="540060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动态元件初始能量为零，由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&gt;0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电路中外加激励作用所产生的响应。</a:t>
            </a:r>
          </a:p>
        </p:txBody>
      </p:sp>
      <p:sp>
        <p:nvSpPr>
          <p:cNvPr id="7" name="Text Box 57"/>
          <p:cNvSpPr txBox="1">
            <a:spLocks noChangeArrowheads="1"/>
          </p:cNvSpPr>
          <p:nvPr/>
        </p:nvSpPr>
        <p:spPr bwMode="auto">
          <a:xfrm>
            <a:off x="251791" y="3887161"/>
            <a:ext cx="2303463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零状态响应</a:t>
            </a:r>
          </a:p>
        </p:txBody>
      </p:sp>
      <p:sp>
        <p:nvSpPr>
          <p:cNvPr id="8" name="AutoShape 58"/>
          <p:cNvSpPr>
            <a:spLocks noChangeArrowheads="1"/>
          </p:cNvSpPr>
          <p:nvPr/>
        </p:nvSpPr>
        <p:spPr bwMode="auto">
          <a:xfrm>
            <a:off x="2822702" y="4073148"/>
            <a:ext cx="576263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491880" y="2446554"/>
            <a:ext cx="534732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换路后外加激励为零，仅由动态元件初始储能产生的电压和电流。</a:t>
            </a:r>
          </a:p>
        </p:txBody>
      </p:sp>
      <p:sp>
        <p:nvSpPr>
          <p:cNvPr id="10" name="Text Box 60"/>
          <p:cNvSpPr txBox="1">
            <a:spLocks noChangeArrowheads="1"/>
          </p:cNvSpPr>
          <p:nvPr/>
        </p:nvSpPr>
        <p:spPr bwMode="auto">
          <a:xfrm>
            <a:off x="251792" y="2662454"/>
            <a:ext cx="2303463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98000" rIns="19800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零输入响应</a:t>
            </a:r>
          </a:p>
        </p:txBody>
      </p:sp>
      <p:sp>
        <p:nvSpPr>
          <p:cNvPr id="11" name="AutoShape 61"/>
          <p:cNvSpPr>
            <a:spLocks noChangeArrowheads="1"/>
          </p:cNvSpPr>
          <p:nvPr/>
        </p:nvSpPr>
        <p:spPr bwMode="auto">
          <a:xfrm>
            <a:off x="2793095" y="2856097"/>
            <a:ext cx="576262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896" y="4953825"/>
            <a:ext cx="5508104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电路的初始状态不为零，同时又有外加激励源作用时电路中产生的响应。</a:t>
            </a:r>
          </a:p>
        </p:txBody>
      </p:sp>
      <p:sp>
        <p:nvSpPr>
          <p:cNvPr id="13" name="Text Box 66"/>
          <p:cNvSpPr txBox="1">
            <a:spLocks noChangeArrowheads="1"/>
          </p:cNvSpPr>
          <p:nvPr/>
        </p:nvSpPr>
        <p:spPr bwMode="auto">
          <a:xfrm>
            <a:off x="256547" y="5241162"/>
            <a:ext cx="2298707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全响应</a:t>
            </a:r>
          </a:p>
        </p:txBody>
      </p:sp>
      <p:sp>
        <p:nvSpPr>
          <p:cNvPr id="14" name="AutoShape 67"/>
          <p:cNvSpPr>
            <a:spLocks noChangeArrowheads="1"/>
          </p:cNvSpPr>
          <p:nvPr/>
        </p:nvSpPr>
        <p:spPr bwMode="auto">
          <a:xfrm>
            <a:off x="2844180" y="5527251"/>
            <a:ext cx="576263" cy="173981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b="45046"/>
          <a:stretch/>
        </p:blipFill>
        <p:spPr>
          <a:xfrm>
            <a:off x="251791" y="391066"/>
            <a:ext cx="7706164" cy="94970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t="62138"/>
          <a:stretch/>
        </p:blipFill>
        <p:spPr>
          <a:xfrm>
            <a:off x="251791" y="1325577"/>
            <a:ext cx="7706164" cy="65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2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76672"/>
            <a:ext cx="7001718" cy="432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2962250" cy="318077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1" y="1124744"/>
            <a:ext cx="3134342" cy="31807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298" y="4797152"/>
            <a:ext cx="60293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4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4450"/>
            <a:ext cx="84582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8.2 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零输入响应</a:t>
            </a:r>
            <a:endParaRPr lang="en-US" altLang="zh-CN" sz="2800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82774" name="Object 502"/>
          <p:cNvGraphicFramePr>
            <a:graphicFrameLocks noChangeAspect="1"/>
          </p:cNvGraphicFramePr>
          <p:nvPr/>
        </p:nvGraphicFramePr>
        <p:xfrm>
          <a:off x="312738" y="1341438"/>
          <a:ext cx="3460750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" name="VISIO" r:id="rId3" imgW="1756012" imgH="937146" progId="Visio.Drawing.5">
                  <p:embed/>
                </p:oleObj>
              </mc:Choice>
              <mc:Fallback>
                <p:oleObj name="VISIO" r:id="rId3" imgW="1756012" imgH="937146" progId="Visio.Drawing.5">
                  <p:embed/>
                  <p:pic>
                    <p:nvPicPr>
                      <p:cNvPr id="0" name="Object 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" y="1341438"/>
                        <a:ext cx="3460750" cy="191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75" name="Object 503"/>
          <p:cNvGraphicFramePr>
            <a:graphicFrameLocks noChangeAspect="1"/>
          </p:cNvGraphicFramePr>
          <p:nvPr/>
        </p:nvGraphicFramePr>
        <p:xfrm>
          <a:off x="4378325" y="863600"/>
          <a:ext cx="30972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" name="Equation" r:id="rId5" imgW="1548728" imgH="393529" progId="Equation.3">
                  <p:embed/>
                </p:oleObj>
              </mc:Choice>
              <mc:Fallback>
                <p:oleObj name="Equation" r:id="rId5" imgW="1548728" imgH="393529" progId="Equation.3">
                  <p:embed/>
                  <p:pic>
                    <p:nvPicPr>
                      <p:cNvPr id="0" name="Object 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863600"/>
                        <a:ext cx="30972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77" name="Object 5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739645"/>
              </p:ext>
            </p:extLst>
          </p:nvPr>
        </p:nvGraphicFramePr>
        <p:xfrm>
          <a:off x="1043608" y="4005064"/>
          <a:ext cx="14462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0" name="Equation" r:id="rId7" imgW="723586" imgH="342751" progId="Equation.3">
                  <p:embed/>
                </p:oleObj>
              </mc:Choice>
              <mc:Fallback>
                <p:oleObj name="Equation" r:id="rId7" imgW="723586" imgH="342751" progId="Equation.3">
                  <p:embed/>
                  <p:pic>
                    <p:nvPicPr>
                      <p:cNvPr id="0" name="Object 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005064"/>
                        <a:ext cx="14462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78" name="Object 5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208296"/>
              </p:ext>
            </p:extLst>
          </p:nvPr>
        </p:nvGraphicFramePr>
        <p:xfrm>
          <a:off x="2347556" y="5157192"/>
          <a:ext cx="15700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1" name="Equation" r:id="rId9" imgW="787320" imgH="342720" progId="Equation.DSMT4">
                  <p:embed/>
                </p:oleObj>
              </mc:Choice>
              <mc:Fallback>
                <p:oleObj name="Equation" r:id="rId9" imgW="787320" imgH="342720" progId="Equation.DSMT4">
                  <p:embed/>
                  <p:pic>
                    <p:nvPicPr>
                      <p:cNvPr id="0" name="Object 5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556" y="5157192"/>
                        <a:ext cx="1570038" cy="6858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79" name="Object 5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95524"/>
              </p:ext>
            </p:extLst>
          </p:nvPr>
        </p:nvGraphicFramePr>
        <p:xfrm>
          <a:off x="5730939" y="3304659"/>
          <a:ext cx="121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" name="Equation" r:id="rId11" imgW="609336" imgH="393529" progId="Equation.3">
                  <p:embed/>
                </p:oleObj>
              </mc:Choice>
              <mc:Fallback>
                <p:oleObj name="Equation" r:id="rId11" imgW="609336" imgH="393529" progId="Equation.3">
                  <p:embed/>
                  <p:pic>
                    <p:nvPicPr>
                      <p:cNvPr id="0" name="Object 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939" y="3304659"/>
                        <a:ext cx="1219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781" name="Group 509"/>
          <p:cNvGrpSpPr>
            <a:grpSpLocks/>
          </p:cNvGrpSpPr>
          <p:nvPr/>
        </p:nvGrpSpPr>
        <p:grpSpPr bwMode="auto">
          <a:xfrm>
            <a:off x="4149725" y="1168400"/>
            <a:ext cx="2970213" cy="990600"/>
            <a:chOff x="2609" y="864"/>
            <a:chExt cx="1871" cy="624"/>
          </a:xfrm>
        </p:grpSpPr>
        <p:graphicFrame>
          <p:nvGraphicFramePr>
            <p:cNvPr id="5155" name="Object 5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8316469"/>
                </p:ext>
              </p:extLst>
            </p:nvPr>
          </p:nvGraphicFramePr>
          <p:xfrm>
            <a:off x="2801" y="1200"/>
            <a:ext cx="167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3" name="Equation" r:id="rId13" imgW="1333500" imgH="228600" progId="Equation.DSMT4">
                    <p:embed/>
                  </p:oleObj>
                </mc:Choice>
                <mc:Fallback>
                  <p:oleObj name="Equation" r:id="rId13" imgW="1333500" imgH="228600" progId="Equation.DSMT4">
                    <p:embed/>
                    <p:pic>
                      <p:nvPicPr>
                        <p:cNvPr id="0" name="Object 5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" y="1200"/>
                          <a:ext cx="167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6" name="AutoShape 508"/>
            <p:cNvSpPr>
              <a:spLocks/>
            </p:cNvSpPr>
            <p:nvPr/>
          </p:nvSpPr>
          <p:spPr bwMode="auto">
            <a:xfrm>
              <a:off x="2609" y="864"/>
              <a:ext cx="144" cy="528"/>
            </a:xfrm>
            <a:prstGeom prst="leftBrace">
              <a:avLst>
                <a:gd name="adj1" fmla="val 30556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ea typeface="隶书" panose="02010509060101010101" pitchFamily="49" charset="-122"/>
              </a:endParaRPr>
            </a:p>
          </p:txBody>
        </p:sp>
      </p:grpSp>
      <p:sp>
        <p:nvSpPr>
          <p:cNvPr id="182785" name="Rectangle 513"/>
          <p:cNvSpPr>
            <a:spLocks noChangeArrowheads="1"/>
          </p:cNvSpPr>
          <p:nvPr/>
        </p:nvSpPr>
        <p:spPr bwMode="auto">
          <a:xfrm>
            <a:off x="228600" y="69215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 RC 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电路</a:t>
            </a:r>
          </a:p>
        </p:txBody>
      </p:sp>
      <p:graphicFrame>
        <p:nvGraphicFramePr>
          <p:cNvPr id="38" name="Object 5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654415"/>
              </p:ext>
            </p:extLst>
          </p:nvPr>
        </p:nvGraphicFramePr>
        <p:xfrm>
          <a:off x="5172139" y="2204864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" name="Equation" r:id="rId15" imgW="558720" imgH="241200" progId="Equation.DSMT4">
                  <p:embed/>
                </p:oleObj>
              </mc:Choice>
              <mc:Fallback>
                <p:oleObj name="Equation" r:id="rId15" imgW="558720" imgH="241200" progId="Equation.DSMT4">
                  <p:embed/>
                  <p:pic>
                    <p:nvPicPr>
                      <p:cNvPr id="182777" name="Object 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139" y="2204864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513"/>
          <p:cNvSpPr>
            <a:spLocks noChangeArrowheads="1"/>
          </p:cNvSpPr>
          <p:nvPr/>
        </p:nvSpPr>
        <p:spPr bwMode="auto">
          <a:xfrm>
            <a:off x="4057600" y="2215332"/>
            <a:ext cx="11049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通解：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0" name="Object 5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209111"/>
              </p:ext>
            </p:extLst>
          </p:nvPr>
        </p:nvGraphicFramePr>
        <p:xfrm>
          <a:off x="5622925" y="2822575"/>
          <a:ext cx="1320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" name="Equation" r:id="rId17" imgW="660240" imgH="177480" progId="Equation.DSMT4">
                  <p:embed/>
                </p:oleObj>
              </mc:Choice>
              <mc:Fallback>
                <p:oleObj name="Equation" r:id="rId17" imgW="660240" imgH="177480" progId="Equation.DSMT4">
                  <p:embed/>
                  <p:pic>
                    <p:nvPicPr>
                      <p:cNvPr id="38" name="Object 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2822575"/>
                        <a:ext cx="1320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513"/>
          <p:cNvSpPr>
            <a:spLocks noChangeArrowheads="1"/>
          </p:cNvSpPr>
          <p:nvPr/>
        </p:nvSpPr>
        <p:spPr bwMode="auto">
          <a:xfrm>
            <a:off x="4048060" y="2769433"/>
            <a:ext cx="1604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特征方程：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" name="Rectangle 513"/>
          <p:cNvSpPr>
            <a:spLocks noChangeArrowheads="1"/>
          </p:cNvSpPr>
          <p:nvPr/>
        </p:nvSpPr>
        <p:spPr bwMode="auto">
          <a:xfrm>
            <a:off x="4057600" y="3387739"/>
            <a:ext cx="1604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特征根：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3" name="Object 5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010112"/>
              </p:ext>
            </p:extLst>
          </p:nvPr>
        </p:nvGraphicFramePr>
        <p:xfrm>
          <a:off x="2339752" y="4708297"/>
          <a:ext cx="2665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6" name="Equation" r:id="rId19" imgW="1333500" imgH="228600" progId="Equation.DSMT4">
                  <p:embed/>
                </p:oleObj>
              </mc:Choice>
              <mc:Fallback>
                <p:oleObj name="Equation" r:id="rId19" imgW="1333500" imgH="228600" progId="Equation.DSMT4">
                  <p:embed/>
                  <p:pic>
                    <p:nvPicPr>
                      <p:cNvPr id="5155" name="Object 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708297"/>
                        <a:ext cx="26654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513"/>
          <p:cNvSpPr>
            <a:spLocks noChangeArrowheads="1"/>
          </p:cNvSpPr>
          <p:nvPr/>
        </p:nvSpPr>
        <p:spPr bwMode="auto">
          <a:xfrm>
            <a:off x="381000" y="4229199"/>
            <a:ext cx="4995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则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" name="Rectangle 513"/>
          <p:cNvSpPr>
            <a:spLocks noChangeArrowheads="1"/>
          </p:cNvSpPr>
          <p:nvPr/>
        </p:nvSpPr>
        <p:spPr bwMode="auto">
          <a:xfrm>
            <a:off x="390017" y="4690840"/>
            <a:ext cx="2170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代入初始值：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" name="Rectangle 513"/>
          <p:cNvSpPr>
            <a:spLocks noChangeArrowheads="1"/>
          </p:cNvSpPr>
          <p:nvPr/>
        </p:nvSpPr>
        <p:spPr bwMode="auto">
          <a:xfrm>
            <a:off x="5255448" y="4690839"/>
            <a:ext cx="10342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可得：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7" name="Object 5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364715"/>
              </p:ext>
            </p:extLst>
          </p:nvPr>
        </p:nvGraphicFramePr>
        <p:xfrm>
          <a:off x="6282928" y="4722288"/>
          <a:ext cx="86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" name="Equation" r:id="rId20" imgW="431640" imgH="228600" progId="Equation.DSMT4">
                  <p:embed/>
                </p:oleObj>
              </mc:Choice>
              <mc:Fallback>
                <p:oleObj name="Equation" r:id="rId20" imgW="431640" imgH="228600" progId="Equation.DSMT4">
                  <p:embed/>
                  <p:pic>
                    <p:nvPicPr>
                      <p:cNvPr id="43" name="Object 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2928" y="4722288"/>
                        <a:ext cx="86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513"/>
          <p:cNvSpPr>
            <a:spLocks noChangeArrowheads="1"/>
          </p:cNvSpPr>
          <p:nvPr/>
        </p:nvSpPr>
        <p:spPr bwMode="auto">
          <a:xfrm>
            <a:off x="374662" y="5329636"/>
            <a:ext cx="2170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最终可得：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9" name="Object 5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977734"/>
              </p:ext>
            </p:extLst>
          </p:nvPr>
        </p:nvGraphicFramePr>
        <p:xfrm>
          <a:off x="3794418" y="5344568"/>
          <a:ext cx="1065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8" name="Equation" r:id="rId22" imgW="533160" imgH="215640" progId="Equation.DSMT4">
                  <p:embed/>
                </p:oleObj>
              </mc:Choice>
              <mc:Fallback>
                <p:oleObj name="Equation" r:id="rId22" imgW="533160" imgH="215640" progId="Equation.DSMT4">
                  <p:embed/>
                  <p:pic>
                    <p:nvPicPr>
                      <p:cNvPr id="182775" name="Object 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418" y="5344568"/>
                        <a:ext cx="1065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429959"/>
              </p:ext>
            </p:extLst>
          </p:nvPr>
        </p:nvGraphicFramePr>
        <p:xfrm>
          <a:off x="2349988" y="5936578"/>
          <a:ext cx="3230124" cy="80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9" name="Equation" r:id="rId24" imgW="1663560" imgH="419040" progId="Equation.DSMT4">
                  <p:embed/>
                </p:oleObj>
              </mc:Choice>
              <mc:Fallback>
                <p:oleObj name="Equation" r:id="rId24" imgW="1663560" imgH="419040" progId="Equation.DSMT4">
                  <p:embed/>
                  <p:pic>
                    <p:nvPicPr>
                      <p:cNvPr id="798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988" y="5936578"/>
                        <a:ext cx="3230124" cy="8052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475538" y="34800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固有频率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424141" y="153493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体现电路自身固有特性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4" grpId="0"/>
      <p:bldP spid="45" grpId="0"/>
      <p:bldP spid="46" grpId="0"/>
      <p:bldP spid="48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42988" y="1773238"/>
            <a:ext cx="3263900" cy="2097087"/>
            <a:chOff x="3768" y="730"/>
            <a:chExt cx="1534" cy="1084"/>
          </a:xfrm>
        </p:grpSpPr>
        <p:sp>
          <p:nvSpPr>
            <p:cNvPr id="24607" name="Text Box 5"/>
            <p:cNvSpPr txBox="1">
              <a:spLocks noChangeArrowheads="1"/>
            </p:cNvSpPr>
            <p:nvPr/>
          </p:nvSpPr>
          <p:spPr bwMode="auto">
            <a:xfrm>
              <a:off x="5169" y="1545"/>
              <a:ext cx="13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8" name="Line 6"/>
            <p:cNvSpPr>
              <a:spLocks noChangeShapeType="1"/>
            </p:cNvSpPr>
            <p:nvPr/>
          </p:nvSpPr>
          <p:spPr bwMode="auto">
            <a:xfrm>
              <a:off x="3951" y="1536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9" name="Line 7"/>
            <p:cNvSpPr>
              <a:spLocks noChangeShapeType="1"/>
            </p:cNvSpPr>
            <p:nvPr/>
          </p:nvSpPr>
          <p:spPr bwMode="auto">
            <a:xfrm flipV="1">
              <a:off x="4143" y="816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Freeform 8"/>
            <p:cNvSpPr>
              <a:spLocks/>
            </p:cNvSpPr>
            <p:nvPr/>
          </p:nvSpPr>
          <p:spPr bwMode="auto">
            <a:xfrm>
              <a:off x="4143" y="1056"/>
              <a:ext cx="100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432"/>
                <a:gd name="T14" fmla="*/ 1008 w 100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1" name="Text Box 9"/>
            <p:cNvSpPr txBox="1">
              <a:spLocks noChangeArrowheads="1"/>
            </p:cNvSpPr>
            <p:nvPr/>
          </p:nvSpPr>
          <p:spPr bwMode="auto">
            <a:xfrm>
              <a:off x="3768" y="779"/>
              <a:ext cx="354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2" name="Text Box 10"/>
            <p:cNvSpPr txBox="1">
              <a:spLocks noChangeArrowheads="1"/>
            </p:cNvSpPr>
            <p:nvPr/>
          </p:nvSpPr>
          <p:spPr bwMode="auto">
            <a:xfrm>
              <a:off x="4202" y="730"/>
              <a:ext cx="24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3" name="Text Box 11"/>
            <p:cNvSpPr txBox="1">
              <a:spLocks noChangeArrowheads="1"/>
            </p:cNvSpPr>
            <p:nvPr/>
          </p:nvSpPr>
          <p:spPr bwMode="auto">
            <a:xfrm>
              <a:off x="3972" y="1499"/>
              <a:ext cx="17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4614" name="Line 12"/>
            <p:cNvSpPr>
              <a:spLocks noChangeShapeType="1"/>
            </p:cNvSpPr>
            <p:nvPr/>
          </p:nvSpPr>
          <p:spPr bwMode="auto">
            <a:xfrm>
              <a:off x="3871" y="1056"/>
              <a:ext cx="30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932363" y="1916113"/>
            <a:ext cx="3092450" cy="1908175"/>
            <a:chOff x="3918" y="1623"/>
            <a:chExt cx="1398" cy="1122"/>
          </a:xfrm>
        </p:grpSpPr>
        <p:sp>
          <p:nvSpPr>
            <p:cNvPr id="24598" name="Line 14"/>
            <p:cNvSpPr>
              <a:spLocks noChangeShapeType="1"/>
            </p:cNvSpPr>
            <p:nvPr/>
          </p:nvSpPr>
          <p:spPr bwMode="auto">
            <a:xfrm>
              <a:off x="3967" y="2448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9" name="Line 15"/>
            <p:cNvSpPr>
              <a:spLocks noChangeShapeType="1"/>
            </p:cNvSpPr>
            <p:nvPr/>
          </p:nvSpPr>
          <p:spPr bwMode="auto">
            <a:xfrm flipV="1">
              <a:off x="4159" y="172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0" name="Freeform 16"/>
            <p:cNvSpPr>
              <a:spLocks/>
            </p:cNvSpPr>
            <p:nvPr/>
          </p:nvSpPr>
          <p:spPr bwMode="auto">
            <a:xfrm>
              <a:off x="4159" y="1968"/>
              <a:ext cx="100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432"/>
                <a:gd name="T14" fmla="*/ 1008 w 100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1" name="Text Box 17"/>
            <p:cNvSpPr txBox="1">
              <a:spLocks noChangeArrowheads="1"/>
            </p:cNvSpPr>
            <p:nvPr/>
          </p:nvSpPr>
          <p:spPr bwMode="auto">
            <a:xfrm>
              <a:off x="3919" y="1791"/>
              <a:ext cx="192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2" name="Text Box 18"/>
            <p:cNvSpPr txBox="1">
              <a:spLocks noChangeArrowheads="1"/>
            </p:cNvSpPr>
            <p:nvPr/>
          </p:nvSpPr>
          <p:spPr bwMode="auto">
            <a:xfrm>
              <a:off x="5188" y="2440"/>
              <a:ext cx="12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3" name="Text Box 19"/>
            <p:cNvSpPr txBox="1">
              <a:spLocks noChangeArrowheads="1"/>
            </p:cNvSpPr>
            <p:nvPr/>
          </p:nvSpPr>
          <p:spPr bwMode="auto">
            <a:xfrm>
              <a:off x="4277" y="1623"/>
              <a:ext cx="12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b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4" name="Text Box 20"/>
            <p:cNvSpPr txBox="1">
              <a:spLocks noChangeArrowheads="1"/>
            </p:cNvSpPr>
            <p:nvPr/>
          </p:nvSpPr>
          <p:spPr bwMode="auto">
            <a:xfrm>
              <a:off x="3991" y="2392"/>
              <a:ext cx="164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4605" name="Line 21"/>
            <p:cNvSpPr>
              <a:spLocks noChangeShapeType="1"/>
            </p:cNvSpPr>
            <p:nvPr/>
          </p:nvSpPr>
          <p:spPr bwMode="auto">
            <a:xfrm flipV="1">
              <a:off x="4144" y="1968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6" name="Line 22"/>
            <p:cNvSpPr>
              <a:spLocks noChangeShapeType="1"/>
            </p:cNvSpPr>
            <p:nvPr/>
          </p:nvSpPr>
          <p:spPr bwMode="auto">
            <a:xfrm flipH="1" flipV="1">
              <a:off x="3918" y="2427"/>
              <a:ext cx="218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971550" y="4581525"/>
            <a:ext cx="7272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令</a:t>
            </a:r>
            <a:r>
              <a:rPr kumimoji="1" lang="zh-CN" altLang="en-US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 </a:t>
            </a:r>
            <a:r>
              <a:rPr kumimoji="1"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b="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RC</a:t>
            </a:r>
            <a:r>
              <a:rPr kumimoji="1" lang="en-US" altLang="zh-CN" dirty="0" smtClean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称</a:t>
            </a:r>
            <a:r>
              <a:rPr kumimoji="1"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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为一阶电路的时间常数</a:t>
            </a:r>
          </a:p>
        </p:txBody>
      </p:sp>
      <p:graphicFrame>
        <p:nvGraphicFramePr>
          <p:cNvPr id="788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28859"/>
              </p:ext>
            </p:extLst>
          </p:nvPr>
        </p:nvGraphicFramePr>
        <p:xfrm>
          <a:off x="531813" y="5297488"/>
          <a:ext cx="81899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7" name="Equation" r:id="rId3" imgW="3720960" imgH="457200" progId="Equation.DSMT4">
                  <p:embed/>
                </p:oleObj>
              </mc:Choice>
              <mc:Fallback>
                <p:oleObj name="Equation" r:id="rId3" imgW="3720960" imgH="457200" progId="Equation.DSMT4">
                  <p:embed/>
                  <p:pic>
                    <p:nvPicPr>
                      <p:cNvPr id="7887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5297488"/>
                        <a:ext cx="818991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323850" y="1125538"/>
            <a:ext cx="8496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电压、电流是随时间按同一指数规律衰减的函数；</a:t>
            </a:r>
          </a:p>
        </p:txBody>
      </p:sp>
      <p:sp>
        <p:nvSpPr>
          <p:cNvPr id="78875" name="AutoShape 27" descr="羊皮纸"/>
          <p:cNvSpPr>
            <a:spLocks noChangeArrowheads="1"/>
          </p:cNvSpPr>
          <p:nvPr/>
        </p:nvSpPr>
        <p:spPr bwMode="auto">
          <a:xfrm>
            <a:off x="3348038" y="1916113"/>
            <a:ext cx="1152525" cy="1081087"/>
          </a:xfrm>
          <a:prstGeom prst="wedgeRoundRectCallout">
            <a:avLst>
              <a:gd name="adj1" fmla="val -168319"/>
              <a:gd name="adj2" fmla="val 806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78876" name="AutoShape 28" descr="羊皮纸"/>
          <p:cNvSpPr>
            <a:spLocks noChangeArrowheads="1"/>
          </p:cNvSpPr>
          <p:nvPr/>
        </p:nvSpPr>
        <p:spPr bwMode="auto">
          <a:xfrm>
            <a:off x="6588125" y="2060575"/>
            <a:ext cx="1223963" cy="576263"/>
          </a:xfrm>
          <a:prstGeom prst="wedgeRoundRectCallout">
            <a:avLst>
              <a:gd name="adj1" fmla="val -115889"/>
              <a:gd name="adj2" fmla="val 38704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78877" name="Text Box 29"/>
          <p:cNvSpPr txBox="1">
            <a:spLocks noChangeArrowheads="1"/>
          </p:cNvSpPr>
          <p:nvPr/>
        </p:nvSpPr>
        <p:spPr bwMode="auto">
          <a:xfrm>
            <a:off x="250825" y="3933825"/>
            <a:ext cx="8748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响应与初始状态成线性关系，其衰减快慢与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有关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;</a:t>
            </a:r>
          </a:p>
        </p:txBody>
      </p:sp>
      <p:sp>
        <p:nvSpPr>
          <p:cNvPr id="24593" name="Text Box 44"/>
          <p:cNvSpPr txBox="1">
            <a:spLocks noChangeArrowheads="1"/>
          </p:cNvSpPr>
          <p:nvPr/>
        </p:nvSpPr>
        <p:spPr bwMode="auto">
          <a:xfrm>
            <a:off x="358399" y="512308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</a:rPr>
              <a:t>表明</a:t>
            </a:r>
          </a:p>
        </p:txBody>
      </p:sp>
    </p:spTree>
    <p:extLst>
      <p:ext uri="{BB962C8B-B14F-4D97-AF65-F5344CB8AC3E}">
        <p14:creationId xmlns:p14="http://schemas.microsoft.com/office/powerpoint/2010/main" val="91916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1" grpId="0" autoUpdateAnimBg="0"/>
      <p:bldP spid="78873" grpId="0" autoUpdateAnimBg="0"/>
      <p:bldP spid="78875" grpId="0" animBg="1"/>
      <p:bldP spid="78876" grpId="0" animBg="1"/>
      <p:bldP spid="7887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572536" y="1627219"/>
            <a:ext cx="809418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时间常数</a:t>
            </a:r>
            <a:r>
              <a:rPr kumimoji="1" lang="zh-CN" altLang="en-US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 的大小反映了电路过渡过程时间的长短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900113" y="620713"/>
            <a:ext cx="1728787" cy="641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kumimoji="1"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= </a:t>
            </a:r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RC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827088" y="2317781"/>
            <a:ext cx="367470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大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过渡过程时间长</a:t>
            </a: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827088" y="2922619"/>
            <a:ext cx="376607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小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过渡过程时间短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3203575" y="3643344"/>
            <a:ext cx="302418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电压初值一定：</a:t>
            </a: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490538" y="5154028"/>
            <a:ext cx="6374159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kumimoji="1"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大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 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一定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   </a:t>
            </a:r>
            <a:r>
              <a: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i=u/R</a:t>
            </a:r>
            <a:r>
              <a:rPr kumimoji="1"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放电电流小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711401" y="4766996"/>
            <a:ext cx="2138139" cy="612668"/>
            <a:chOff x="4259" y="2829"/>
            <a:chExt cx="1312" cy="306"/>
          </a:xfrm>
        </p:grpSpPr>
        <p:sp>
          <p:nvSpPr>
            <p:cNvPr id="25634" name="AutoShape 12"/>
            <p:cNvSpPr>
              <a:spLocks/>
            </p:cNvSpPr>
            <p:nvPr/>
          </p:nvSpPr>
          <p:spPr bwMode="auto">
            <a:xfrm>
              <a:off x="4259" y="2829"/>
              <a:ext cx="101" cy="306"/>
            </a:xfrm>
            <a:prstGeom prst="rightBrace">
              <a:avLst>
                <a:gd name="adj1" fmla="val 108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635" name="Text Box 13"/>
            <p:cNvSpPr txBox="1">
              <a:spLocks noChangeArrowheads="1"/>
            </p:cNvSpPr>
            <p:nvPr/>
          </p:nvSpPr>
          <p:spPr bwMode="auto">
            <a:xfrm>
              <a:off x="4353" y="2845"/>
              <a:ext cx="121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放电时间长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578048" y="2062163"/>
            <a:ext cx="2913488" cy="2216150"/>
            <a:chOff x="3667" y="1123"/>
            <a:chExt cx="1447" cy="1066"/>
          </a:xfrm>
        </p:grpSpPr>
        <p:sp>
          <p:nvSpPr>
            <p:cNvPr id="25623" name="Line 15"/>
            <p:cNvSpPr>
              <a:spLocks noChangeShapeType="1"/>
            </p:cNvSpPr>
            <p:nvPr/>
          </p:nvSpPr>
          <p:spPr bwMode="auto">
            <a:xfrm>
              <a:off x="3759" y="1920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4" name="Line 16"/>
            <p:cNvSpPr>
              <a:spLocks noChangeShapeType="1"/>
            </p:cNvSpPr>
            <p:nvPr/>
          </p:nvSpPr>
          <p:spPr bwMode="auto">
            <a:xfrm flipV="1">
              <a:off x="3951" y="120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Freeform 17"/>
            <p:cNvSpPr>
              <a:spLocks/>
            </p:cNvSpPr>
            <p:nvPr/>
          </p:nvSpPr>
          <p:spPr bwMode="auto">
            <a:xfrm>
              <a:off x="3936" y="1440"/>
              <a:ext cx="1041" cy="288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432"/>
                <a:gd name="T14" fmla="*/ 1008 w 100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6" name="Text Box 18"/>
            <p:cNvSpPr txBox="1">
              <a:spLocks noChangeArrowheads="1"/>
            </p:cNvSpPr>
            <p:nvPr/>
          </p:nvSpPr>
          <p:spPr bwMode="auto">
            <a:xfrm>
              <a:off x="3667" y="1363"/>
              <a:ext cx="2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7" name="Text Box 19"/>
            <p:cNvSpPr txBox="1">
              <a:spLocks noChangeArrowheads="1"/>
            </p:cNvSpPr>
            <p:nvPr/>
          </p:nvSpPr>
          <p:spPr bwMode="auto">
            <a:xfrm>
              <a:off x="4974" y="1939"/>
              <a:ext cx="1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8" name="Text Box 20"/>
            <p:cNvSpPr txBox="1">
              <a:spLocks noChangeArrowheads="1"/>
            </p:cNvSpPr>
            <p:nvPr/>
          </p:nvSpPr>
          <p:spPr bwMode="auto">
            <a:xfrm>
              <a:off x="4018" y="1123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Text Box 21"/>
            <p:cNvSpPr txBox="1">
              <a:spLocks noChangeArrowheads="1"/>
            </p:cNvSpPr>
            <p:nvPr/>
          </p:nvSpPr>
          <p:spPr bwMode="auto">
            <a:xfrm>
              <a:off x="3774" y="1891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5630" name="Line 22"/>
            <p:cNvSpPr>
              <a:spLocks noChangeShapeType="1"/>
            </p:cNvSpPr>
            <p:nvPr/>
          </p:nvSpPr>
          <p:spPr bwMode="auto">
            <a:xfrm>
              <a:off x="3888" y="1440"/>
              <a:ext cx="96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Freeform 23"/>
            <p:cNvSpPr>
              <a:spLocks/>
            </p:cNvSpPr>
            <p:nvPr/>
          </p:nvSpPr>
          <p:spPr bwMode="auto">
            <a:xfrm>
              <a:off x="3936" y="1440"/>
              <a:ext cx="76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432"/>
                <a:gd name="T14" fmla="*/ 1008 w 100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32" name="Text Box 24"/>
            <p:cNvSpPr txBox="1">
              <a:spLocks noChangeArrowheads="1"/>
            </p:cNvSpPr>
            <p:nvPr/>
          </p:nvSpPr>
          <p:spPr bwMode="auto">
            <a:xfrm>
              <a:off x="4249" y="1890"/>
              <a:ext cx="39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小</a:t>
              </a:r>
            </a:p>
          </p:txBody>
        </p:sp>
        <p:sp>
          <p:nvSpPr>
            <p:cNvPr id="25633" name="Text Box 25"/>
            <p:cNvSpPr txBox="1">
              <a:spLocks noChangeArrowheads="1"/>
            </p:cNvSpPr>
            <p:nvPr/>
          </p:nvSpPr>
          <p:spPr bwMode="auto">
            <a:xfrm>
              <a:off x="4633" y="1410"/>
              <a:ext cx="39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大</a:t>
              </a:r>
            </a:p>
          </p:txBody>
        </p:sp>
      </p:grp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450444" y="4433303"/>
            <a:ext cx="5930126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kumimoji="1"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大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一定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    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Cu</a:t>
            </a:r>
            <a:r>
              <a:rPr kumimoji="1" lang="en-US" altLang="zh-CN" sz="3200" b="0" baseline="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/2</a:t>
            </a: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储能大</a:t>
            </a:r>
          </a:p>
        </p:txBody>
      </p:sp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3276600" y="476250"/>
          <a:ext cx="257651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1" name="公式" r:id="rId3" imgW="1143000" imgH="444240" progId="Equation.3">
                  <p:embed/>
                </p:oleObj>
              </mc:Choice>
              <mc:Fallback>
                <p:oleObj name="公式" r:id="rId3" imgW="1143000" imgH="444240" progId="Equation.3">
                  <p:embed/>
                  <p:pic>
                    <p:nvPicPr>
                      <p:cNvPr id="7785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6250"/>
                        <a:ext cx="2576513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611188" y="3717925"/>
            <a:ext cx="1871662" cy="5191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物理含义</a:t>
            </a:r>
          </a:p>
        </p:txBody>
      </p:sp>
      <p:sp>
        <p:nvSpPr>
          <p:cNvPr id="77853" name="AutoShape 29"/>
          <p:cNvSpPr>
            <a:spLocks noChangeArrowheads="1"/>
          </p:cNvSpPr>
          <p:nvPr/>
        </p:nvSpPr>
        <p:spPr bwMode="auto">
          <a:xfrm>
            <a:off x="2627313" y="3862388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65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 autoUpdateAnimBg="0"/>
      <p:bldP spid="77827" grpId="0" animBg="1"/>
      <p:bldP spid="77829" grpId="0"/>
      <p:bldP spid="77830" grpId="0"/>
      <p:bldP spid="77833" grpId="0" build="p" autoUpdateAnimBg="0"/>
      <p:bldP spid="77834" grpId="0" build="p" autoUpdateAnimBg="0"/>
      <p:bldP spid="77850" grpId="0" build="p" autoUpdateAnimBg="0"/>
      <p:bldP spid="77852" grpId="0" animBg="1"/>
      <p:bldP spid="778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684213" y="4005263"/>
            <a:ext cx="80645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kumimoji="1"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kumimoji="1"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r>
              <a:rPr kumimoji="1" lang="en-US" altLang="zh-CN" i="1" dirty="0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</a:t>
            </a:r>
            <a:r>
              <a:rPr kumimoji="1" lang="en-US" altLang="zh-CN" i="1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:</a:t>
            </a:r>
            <a:r>
              <a:rPr kumimoji="1"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电容电压衰减到原来电压</a:t>
            </a:r>
            <a:r>
              <a:rPr kumimoji="1" lang="en-US" altLang="zh-CN" b="0" dirty="0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36.8%</a:t>
            </a:r>
            <a:r>
              <a:rPr kumimoji="1"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所需的时间。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工程上认为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经过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－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过渡过程结束。</a:t>
            </a:r>
          </a:p>
        </p:txBody>
      </p:sp>
      <p:sp>
        <p:nvSpPr>
          <p:cNvPr id="110625" name="Text Box 33"/>
          <p:cNvSpPr txBox="1">
            <a:spLocks noChangeArrowheads="1"/>
          </p:cNvSpPr>
          <p:nvPr/>
        </p:nvSpPr>
        <p:spPr bwMode="auto">
          <a:xfrm>
            <a:off x="2339975" y="2405063"/>
            <a:ext cx="6391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0.368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0.135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0.05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0.007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468313" y="677863"/>
            <a:ext cx="8297862" cy="2290762"/>
            <a:chOff x="340" y="572"/>
            <a:chExt cx="5227" cy="1443"/>
          </a:xfrm>
        </p:grpSpPr>
        <p:sp>
          <p:nvSpPr>
            <p:cNvPr id="26643" name="Line 34"/>
            <p:cNvSpPr>
              <a:spLocks noChangeShapeType="1"/>
            </p:cNvSpPr>
            <p:nvPr/>
          </p:nvSpPr>
          <p:spPr bwMode="auto">
            <a:xfrm>
              <a:off x="340" y="1026"/>
              <a:ext cx="5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4" name="Line 35"/>
            <p:cNvSpPr>
              <a:spLocks noChangeShapeType="1"/>
            </p:cNvSpPr>
            <p:nvPr/>
          </p:nvSpPr>
          <p:spPr bwMode="auto">
            <a:xfrm>
              <a:off x="1429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5" name="Text Box 36"/>
            <p:cNvSpPr txBox="1">
              <a:spLocks noChangeArrowheads="1"/>
            </p:cNvSpPr>
            <p:nvPr/>
          </p:nvSpPr>
          <p:spPr bwMode="auto">
            <a:xfrm>
              <a:off x="930" y="572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Text Box 37"/>
            <p:cNvSpPr txBox="1">
              <a:spLocks noChangeArrowheads="1"/>
            </p:cNvSpPr>
            <p:nvPr/>
          </p:nvSpPr>
          <p:spPr bwMode="auto">
            <a:xfrm>
              <a:off x="1610" y="616"/>
              <a:ext cx="367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2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5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662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847237"/>
                </p:ext>
              </p:extLst>
            </p:nvPr>
          </p:nvGraphicFramePr>
          <p:xfrm>
            <a:off x="428" y="1078"/>
            <a:ext cx="95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6" name="Equation" r:id="rId3" imgW="698400" imgH="342720" progId="Equation.DSMT4">
                    <p:embed/>
                  </p:oleObj>
                </mc:Choice>
                <mc:Fallback>
                  <p:oleObj name="Equation" r:id="rId3" imgW="698400" imgH="342720" progId="Equation.DSMT4">
                    <p:embed/>
                    <p:pic>
                      <p:nvPicPr>
                        <p:cNvPr id="2662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" y="1078"/>
                          <a:ext cx="956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FF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7" name="Line 39"/>
            <p:cNvSpPr>
              <a:spLocks noChangeShapeType="1"/>
            </p:cNvSpPr>
            <p:nvPr/>
          </p:nvSpPr>
          <p:spPr bwMode="auto">
            <a:xfrm flipV="1">
              <a:off x="340" y="1570"/>
              <a:ext cx="5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632" name="Text Box 40"/>
          <p:cNvSpPr txBox="1">
            <a:spLocks noChangeArrowheads="1"/>
          </p:cNvSpPr>
          <p:nvPr/>
        </p:nvSpPr>
        <p:spPr bwMode="auto">
          <a:xfrm>
            <a:off x="2484438" y="1580069"/>
            <a:ext cx="62953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-2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-5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6638" name="Text Box 54"/>
          <p:cNvSpPr txBox="1">
            <a:spLocks noChangeArrowheads="1"/>
          </p:cNvSpPr>
          <p:nvPr/>
        </p:nvSpPr>
        <p:spPr bwMode="auto">
          <a:xfrm>
            <a:off x="690563" y="332343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38328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 autoUpdateAnimBg="0"/>
      <p:bldP spid="110625" grpId="0"/>
      <p:bldP spid="1106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2916238" y="4030078"/>
            <a:ext cx="2092537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kumimoji="1"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＝</a:t>
            </a:r>
            <a:r>
              <a:rPr kumimoji="1" lang="zh-CN" altLang="en-US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611188" y="2017713"/>
            <a:ext cx="439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时刻曲线的斜率等于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5153"/>
              </p:ext>
            </p:extLst>
          </p:nvPr>
        </p:nvGraphicFramePr>
        <p:xfrm>
          <a:off x="1158875" y="2643188"/>
          <a:ext cx="7075488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5" name="Equation" r:id="rId3" imgW="2654280" imgH="457200" progId="Equation.DSMT4">
                  <p:embed/>
                </p:oleObj>
              </mc:Choice>
              <mc:Fallback>
                <p:oleObj name="Equation" r:id="rId3" imgW="2654280" imgH="457200" progId="Equation.DSMT4">
                  <p:embed/>
                  <p:pic>
                    <p:nvPicPr>
                      <p:cNvPr id="768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2643188"/>
                        <a:ext cx="7075488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479425" y="3817939"/>
            <a:ext cx="3394075" cy="2699063"/>
            <a:chOff x="393" y="2142"/>
            <a:chExt cx="1587" cy="1416"/>
          </a:xfrm>
        </p:grpSpPr>
        <p:sp>
          <p:nvSpPr>
            <p:cNvPr id="27670" name="Line 14"/>
            <p:cNvSpPr>
              <a:spLocks noChangeShapeType="1"/>
            </p:cNvSpPr>
            <p:nvPr/>
          </p:nvSpPr>
          <p:spPr bwMode="auto">
            <a:xfrm>
              <a:off x="759" y="2677"/>
              <a:ext cx="0" cy="3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1" name="Line 15"/>
            <p:cNvSpPr>
              <a:spLocks noChangeShapeType="1"/>
            </p:cNvSpPr>
            <p:nvPr/>
          </p:nvSpPr>
          <p:spPr bwMode="auto">
            <a:xfrm>
              <a:off x="470" y="3036"/>
              <a:ext cx="15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2" name="Line 16"/>
            <p:cNvSpPr>
              <a:spLocks noChangeShapeType="1"/>
            </p:cNvSpPr>
            <p:nvPr/>
          </p:nvSpPr>
          <p:spPr bwMode="auto">
            <a:xfrm flipV="1">
              <a:off x="686" y="2223"/>
              <a:ext cx="0" cy="1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Freeform 17"/>
            <p:cNvSpPr>
              <a:spLocks/>
            </p:cNvSpPr>
            <p:nvPr/>
          </p:nvSpPr>
          <p:spPr bwMode="auto">
            <a:xfrm>
              <a:off x="686" y="2494"/>
              <a:ext cx="1151" cy="474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432"/>
                <a:gd name="T14" fmla="*/ 1008 w 100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4" name="Text Box 18"/>
            <p:cNvSpPr txBox="1">
              <a:spLocks noChangeArrowheads="1"/>
            </p:cNvSpPr>
            <p:nvPr/>
          </p:nvSpPr>
          <p:spPr bwMode="auto">
            <a:xfrm>
              <a:off x="393" y="2412"/>
              <a:ext cx="263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5" name="Text Box 19"/>
            <p:cNvSpPr txBox="1">
              <a:spLocks noChangeArrowheads="1"/>
            </p:cNvSpPr>
            <p:nvPr/>
          </p:nvSpPr>
          <p:spPr bwMode="auto">
            <a:xfrm>
              <a:off x="1848" y="3063"/>
              <a:ext cx="13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6" name="Text Box 20"/>
            <p:cNvSpPr txBox="1">
              <a:spLocks noChangeArrowheads="1"/>
            </p:cNvSpPr>
            <p:nvPr/>
          </p:nvSpPr>
          <p:spPr bwMode="auto">
            <a:xfrm>
              <a:off x="781" y="2142"/>
              <a:ext cx="2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7" name="Text Box 21"/>
            <p:cNvSpPr txBox="1">
              <a:spLocks noChangeArrowheads="1"/>
            </p:cNvSpPr>
            <p:nvPr/>
          </p:nvSpPr>
          <p:spPr bwMode="auto">
            <a:xfrm>
              <a:off x="504" y="3008"/>
              <a:ext cx="16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7678" name="Line 22"/>
            <p:cNvSpPr>
              <a:spLocks noChangeShapeType="1"/>
            </p:cNvSpPr>
            <p:nvPr/>
          </p:nvSpPr>
          <p:spPr bwMode="auto">
            <a:xfrm>
              <a:off x="651" y="2494"/>
              <a:ext cx="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9" name="Oval 23"/>
            <p:cNvSpPr>
              <a:spLocks noChangeArrowheads="1"/>
            </p:cNvSpPr>
            <p:nvPr/>
          </p:nvSpPr>
          <p:spPr bwMode="auto">
            <a:xfrm>
              <a:off x="725" y="2569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0" name="Line 24"/>
            <p:cNvSpPr>
              <a:spLocks noChangeShapeType="1"/>
            </p:cNvSpPr>
            <p:nvPr/>
          </p:nvSpPr>
          <p:spPr bwMode="auto">
            <a:xfrm>
              <a:off x="1305" y="2880"/>
              <a:ext cx="0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1" name="Oval 25"/>
            <p:cNvSpPr>
              <a:spLocks noChangeArrowheads="1"/>
            </p:cNvSpPr>
            <p:nvPr/>
          </p:nvSpPr>
          <p:spPr bwMode="auto">
            <a:xfrm>
              <a:off x="1265" y="2840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7682" name="Group 26"/>
            <p:cNvGrpSpPr>
              <a:grpSpLocks/>
            </p:cNvGrpSpPr>
            <p:nvPr/>
          </p:nvGrpSpPr>
          <p:grpSpPr bwMode="auto">
            <a:xfrm>
              <a:off x="745" y="3283"/>
              <a:ext cx="580" cy="275"/>
              <a:chOff x="1031" y="2909"/>
              <a:chExt cx="516" cy="244"/>
            </a:xfrm>
          </p:grpSpPr>
          <p:sp>
            <p:nvSpPr>
              <p:cNvPr id="27687" name="Line 27"/>
              <p:cNvSpPr>
                <a:spLocks noChangeShapeType="1"/>
              </p:cNvSpPr>
              <p:nvPr/>
            </p:nvSpPr>
            <p:spPr bwMode="auto">
              <a:xfrm>
                <a:off x="1031" y="2977"/>
                <a:ext cx="0" cy="15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8" name="Line 28"/>
              <p:cNvSpPr>
                <a:spLocks noChangeShapeType="1"/>
              </p:cNvSpPr>
              <p:nvPr/>
            </p:nvSpPr>
            <p:spPr bwMode="auto">
              <a:xfrm>
                <a:off x="1541" y="2989"/>
                <a:ext cx="6" cy="144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89" name="Line 29"/>
              <p:cNvSpPr>
                <a:spLocks noChangeShapeType="1"/>
              </p:cNvSpPr>
              <p:nvPr/>
            </p:nvSpPr>
            <p:spPr bwMode="auto">
              <a:xfrm>
                <a:off x="1049" y="3067"/>
                <a:ext cx="10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90" name="Line 30"/>
              <p:cNvSpPr>
                <a:spLocks noChangeShapeType="1"/>
              </p:cNvSpPr>
              <p:nvPr/>
            </p:nvSpPr>
            <p:spPr bwMode="auto">
              <a:xfrm>
                <a:off x="1451" y="3073"/>
                <a:ext cx="96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91" name="Text Box 31"/>
              <p:cNvSpPr txBox="1">
                <a:spLocks noChangeArrowheads="1"/>
              </p:cNvSpPr>
              <p:nvPr/>
            </p:nvSpPr>
            <p:spPr bwMode="auto">
              <a:xfrm>
                <a:off x="1219" y="2909"/>
                <a:ext cx="141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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7683" name="Oval 32"/>
            <p:cNvSpPr>
              <a:spLocks noChangeArrowheads="1"/>
            </p:cNvSpPr>
            <p:nvPr/>
          </p:nvSpPr>
          <p:spPr bwMode="auto">
            <a:xfrm>
              <a:off x="739" y="3002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4" name="Oval 33"/>
            <p:cNvSpPr>
              <a:spLocks noChangeArrowheads="1"/>
            </p:cNvSpPr>
            <p:nvPr/>
          </p:nvSpPr>
          <p:spPr bwMode="auto">
            <a:xfrm>
              <a:off x="1264" y="3009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5" name="Text Box 34"/>
            <p:cNvSpPr txBox="1">
              <a:spLocks noChangeArrowheads="1"/>
            </p:cNvSpPr>
            <p:nvPr/>
          </p:nvSpPr>
          <p:spPr bwMode="auto">
            <a:xfrm>
              <a:off x="692" y="3008"/>
              <a:ext cx="18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7686" name="Text Box 35"/>
            <p:cNvSpPr txBox="1">
              <a:spLocks noChangeArrowheads="1"/>
            </p:cNvSpPr>
            <p:nvPr/>
          </p:nvSpPr>
          <p:spPr bwMode="auto">
            <a:xfrm>
              <a:off x="1191" y="3008"/>
              <a:ext cx="28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27656" name="Text Box 45"/>
          <p:cNvSpPr txBox="1">
            <a:spLocks noChangeArrowheads="1"/>
          </p:cNvSpPr>
          <p:nvPr/>
        </p:nvSpPr>
        <p:spPr bwMode="auto">
          <a:xfrm>
            <a:off x="2492375" y="4344988"/>
            <a:ext cx="18097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684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951982"/>
              </p:ext>
            </p:extLst>
          </p:nvPr>
        </p:nvGraphicFramePr>
        <p:xfrm>
          <a:off x="4778375" y="4913313"/>
          <a:ext cx="31146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6" name="Equation" r:id="rId5" imgW="1244520" imgH="228600" progId="Equation.DSMT4">
                  <p:embed/>
                </p:oleObj>
              </mc:Choice>
              <mc:Fallback>
                <p:oleObj name="Equation" r:id="rId5" imgW="1244520" imgH="228600" progId="Equation.DSMT4">
                  <p:embed/>
                  <p:pic>
                    <p:nvPicPr>
                      <p:cNvPr id="7684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913313"/>
                        <a:ext cx="31146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8" name="Rectangle 48"/>
          <p:cNvSpPr>
            <a:spLocks noChangeArrowheads="1"/>
          </p:cNvSpPr>
          <p:nvPr/>
        </p:nvSpPr>
        <p:spPr bwMode="auto">
          <a:xfrm>
            <a:off x="5795963" y="4090988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rgbClr val="FF0000"/>
                </a:solidFill>
              </a:rPr>
              <a:t>次切距</a:t>
            </a:r>
            <a:r>
              <a:rPr kumimoji="1" lang="zh-CN" altLang="en-US" dirty="0">
                <a:solidFill>
                  <a:schemeClr val="tx1"/>
                </a:solidFill>
              </a:rPr>
              <a:t>的长度</a:t>
            </a:r>
          </a:p>
        </p:txBody>
      </p:sp>
      <p:sp>
        <p:nvSpPr>
          <p:cNvPr id="76849" name="AutoShape 49"/>
          <p:cNvSpPr>
            <a:spLocks noChangeArrowheads="1"/>
          </p:cNvSpPr>
          <p:nvPr/>
        </p:nvSpPr>
        <p:spPr bwMode="auto">
          <a:xfrm>
            <a:off x="5003800" y="4249738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1258888" y="4681538"/>
            <a:ext cx="1152525" cy="8651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6864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868124"/>
              </p:ext>
            </p:extLst>
          </p:nvPr>
        </p:nvGraphicFramePr>
        <p:xfrm>
          <a:off x="3611563" y="954088"/>
          <a:ext cx="2024062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7" name="Equation" r:id="rId7" imgW="799920" imgH="342720" progId="Equation.DSMT4">
                  <p:embed/>
                </p:oleObj>
              </mc:Choice>
              <mc:Fallback>
                <p:oleObj name="Equation" r:id="rId7" imgW="799920" imgH="342720" progId="Equation.DSMT4">
                  <p:embed/>
                  <p:pic>
                    <p:nvPicPr>
                      <p:cNvPr id="7686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954088"/>
                        <a:ext cx="2024062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72" name="Text Box 72"/>
          <p:cNvSpPr txBox="1">
            <a:spLocks noChangeArrowheads="1"/>
          </p:cNvSpPr>
          <p:nvPr/>
        </p:nvSpPr>
        <p:spPr bwMode="auto">
          <a:xfrm>
            <a:off x="468313" y="549275"/>
            <a:ext cx="7848600" cy="55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kumimoji="1" lang="en-US" altLang="zh-CN" b="0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b</a:t>
            </a:r>
            <a:r>
              <a:rPr kumimoji="1" lang="en-US" altLang="zh-CN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. </a:t>
            </a:r>
            <a:r>
              <a:rPr kumimoji="1"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时间常数</a:t>
            </a:r>
            <a:r>
              <a:rPr kumimoji="1" lang="zh-CN" altLang="en-US" i="1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 </a:t>
            </a:r>
            <a:r>
              <a:rPr kumimoji="1"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的几何意义：</a:t>
            </a:r>
            <a:endParaRPr kumimoji="1" lang="zh-CN" altLang="en-US" dirty="0">
              <a:solidFill>
                <a:schemeClr val="tx1"/>
              </a:solidFill>
              <a:latin typeface="楷体_GB2312" pitchFamily="49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4723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7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  <p:bldP spid="76810" grpId="0" build="p" autoUpdateAnimBg="0"/>
      <p:bldP spid="76848" grpId="0"/>
      <p:bldP spid="76849" grpId="0" animBg="1"/>
      <p:bldP spid="7687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684213" y="620713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AutoNum type="circleNumDbPlain" startAt="3"/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991838"/>
              </p:ext>
            </p:extLst>
          </p:nvPr>
        </p:nvGraphicFramePr>
        <p:xfrm>
          <a:off x="1003300" y="3933825"/>
          <a:ext cx="23844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8" name="Equation" r:id="rId3" imgW="876240" imgH="330120" progId="Equation.DSMT4">
                  <p:embed/>
                </p:oleObj>
              </mc:Choice>
              <mc:Fallback>
                <p:oleObj name="Equation" r:id="rId3" imgW="876240" imgH="330120" progId="Equation.DSMT4">
                  <p:embed/>
                  <p:pic>
                    <p:nvPicPr>
                      <p:cNvPr id="75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933825"/>
                        <a:ext cx="23844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3563938" y="404813"/>
            <a:ext cx="4967287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电容不断释放能量被电阻吸收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,   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直到全部消耗完毕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.</a:t>
            </a:r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3851275" y="1625016"/>
            <a:ext cx="3960813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3200" b="0" i="1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3635375" y="2417794"/>
            <a:ext cx="324008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电容放出能量：             </a:t>
            </a:r>
          </a:p>
        </p:txBody>
      </p:sp>
      <p:graphicFrame>
        <p:nvGraphicFramePr>
          <p:cNvPr id="757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41004"/>
              </p:ext>
            </p:extLst>
          </p:nvPr>
        </p:nvGraphicFramePr>
        <p:xfrm>
          <a:off x="7153275" y="2332038"/>
          <a:ext cx="110013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9" name="Equation" r:id="rId5" imgW="444240" imgH="393480" progId="Equation.DSMT4">
                  <p:embed/>
                </p:oleObj>
              </mc:Choice>
              <mc:Fallback>
                <p:oleObj name="Equation" r:id="rId5" imgW="444240" imgH="393480" progId="Equation.DSMT4">
                  <p:embed/>
                  <p:pic>
                    <p:nvPicPr>
                      <p:cNvPr id="757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275" y="2332038"/>
                        <a:ext cx="110013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900113" y="3281394"/>
            <a:ext cx="439261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电阻吸收（消耗）能量：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300094"/>
              </p:ext>
            </p:extLst>
          </p:nvPr>
        </p:nvGraphicFramePr>
        <p:xfrm>
          <a:off x="3689350" y="3889375"/>
          <a:ext cx="30908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0" name="Equation" r:id="rId7" imgW="1218960" imgH="419040" progId="Equation.DSMT4">
                  <p:embed/>
                </p:oleObj>
              </mc:Choice>
              <mc:Fallback>
                <p:oleObj name="Equation" r:id="rId7" imgW="1218960" imgH="419040" progId="Equation.DSMT4">
                  <p:embed/>
                  <p:pic>
                    <p:nvPicPr>
                      <p:cNvPr id="757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3889375"/>
                        <a:ext cx="30908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33735"/>
              </p:ext>
            </p:extLst>
          </p:nvPr>
        </p:nvGraphicFramePr>
        <p:xfrm>
          <a:off x="7112000" y="4930775"/>
          <a:ext cx="14668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1" name="Equation" r:id="rId9" imgW="596880" imgH="393480" progId="Equation.DSMT4">
                  <p:embed/>
                </p:oleObj>
              </mc:Choice>
              <mc:Fallback>
                <p:oleObj name="Equation" r:id="rId9" imgW="596880" imgH="393480" progId="Equation.DSMT4">
                  <p:embed/>
                  <p:pic>
                    <p:nvPicPr>
                      <p:cNvPr id="757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4930775"/>
                        <a:ext cx="14668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818837"/>
              </p:ext>
            </p:extLst>
          </p:nvPr>
        </p:nvGraphicFramePr>
        <p:xfrm>
          <a:off x="892175" y="4986338"/>
          <a:ext cx="2646363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2" name="Equation" r:id="rId11" imgW="1041120" imgH="419040" progId="Equation.DSMT4">
                  <p:embed/>
                </p:oleObj>
              </mc:Choice>
              <mc:Fallback>
                <p:oleObj name="Equation" r:id="rId11" imgW="1041120" imgH="419040" progId="Equation.DSMT4">
                  <p:embed/>
                  <p:pic>
                    <p:nvPicPr>
                      <p:cNvPr id="7580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4986338"/>
                        <a:ext cx="2646363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961310"/>
              </p:ext>
            </p:extLst>
          </p:nvPr>
        </p:nvGraphicFramePr>
        <p:xfrm>
          <a:off x="3844925" y="4987925"/>
          <a:ext cx="30765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3" name="Equation" r:id="rId13" imgW="1282680" imgH="419040" progId="Equation.DSMT4">
                  <p:embed/>
                </p:oleObj>
              </mc:Choice>
              <mc:Fallback>
                <p:oleObj name="Equation" r:id="rId13" imgW="1282680" imgH="419040" progId="Equation.DSMT4">
                  <p:embed/>
                  <p:pic>
                    <p:nvPicPr>
                      <p:cNvPr id="7580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5" y="4987925"/>
                        <a:ext cx="307657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1" name="AutoShape 35"/>
          <p:cNvSpPr>
            <a:spLocks noChangeArrowheads="1"/>
          </p:cNvSpPr>
          <p:nvPr/>
        </p:nvSpPr>
        <p:spPr bwMode="auto">
          <a:xfrm>
            <a:off x="2916238" y="836613"/>
            <a:ext cx="649287" cy="144462"/>
          </a:xfrm>
          <a:prstGeom prst="rightArrow">
            <a:avLst>
              <a:gd name="adj1" fmla="val 50000"/>
              <a:gd name="adj2" fmla="val 112363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812" name="AutoShape 36"/>
          <p:cNvSpPr>
            <a:spLocks noChangeArrowheads="1"/>
          </p:cNvSpPr>
          <p:nvPr/>
        </p:nvSpPr>
        <p:spPr bwMode="auto">
          <a:xfrm>
            <a:off x="6154738" y="2636838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813" name="AutoShape 37"/>
          <p:cNvSpPr>
            <a:spLocks noChangeArrowheads="1"/>
          </p:cNvSpPr>
          <p:nvPr/>
        </p:nvSpPr>
        <p:spPr bwMode="auto">
          <a:xfrm>
            <a:off x="4859338" y="3500438"/>
            <a:ext cx="792162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84213" y="1341438"/>
            <a:ext cx="2303462" cy="1655762"/>
            <a:chOff x="1111" y="2341"/>
            <a:chExt cx="1451" cy="1043"/>
          </a:xfrm>
        </p:grpSpPr>
        <p:sp>
          <p:nvSpPr>
            <p:cNvPr id="28694" name="Line 52"/>
            <p:cNvSpPr>
              <a:spLocks noChangeShapeType="1"/>
            </p:cNvSpPr>
            <p:nvPr/>
          </p:nvSpPr>
          <p:spPr bwMode="auto">
            <a:xfrm>
              <a:off x="1973" y="2432"/>
              <a:ext cx="288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53"/>
            <p:cNvSpPr>
              <a:spLocks noChangeShapeType="1"/>
            </p:cNvSpPr>
            <p:nvPr/>
          </p:nvSpPr>
          <p:spPr bwMode="auto">
            <a:xfrm flipV="1">
              <a:off x="1648" y="2341"/>
              <a:ext cx="0" cy="4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54"/>
            <p:cNvSpPr>
              <a:spLocks noChangeShapeType="1"/>
            </p:cNvSpPr>
            <p:nvPr/>
          </p:nvSpPr>
          <p:spPr bwMode="auto">
            <a:xfrm flipH="1">
              <a:off x="1648" y="2886"/>
              <a:ext cx="7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55"/>
            <p:cNvSpPr>
              <a:spLocks noChangeShapeType="1"/>
            </p:cNvSpPr>
            <p:nvPr/>
          </p:nvSpPr>
          <p:spPr bwMode="auto">
            <a:xfrm>
              <a:off x="1648" y="2341"/>
              <a:ext cx="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56"/>
            <p:cNvSpPr>
              <a:spLocks noChangeShapeType="1"/>
            </p:cNvSpPr>
            <p:nvPr/>
          </p:nvSpPr>
          <p:spPr bwMode="auto">
            <a:xfrm>
              <a:off x="1648" y="3384"/>
              <a:ext cx="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57"/>
            <p:cNvSpPr>
              <a:spLocks noChangeShapeType="1"/>
            </p:cNvSpPr>
            <p:nvPr/>
          </p:nvSpPr>
          <p:spPr bwMode="auto">
            <a:xfrm>
              <a:off x="2516" y="2341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Text Box 58"/>
            <p:cNvSpPr txBox="1">
              <a:spLocks noChangeArrowheads="1"/>
            </p:cNvSpPr>
            <p:nvPr/>
          </p:nvSpPr>
          <p:spPr bwMode="auto">
            <a:xfrm>
              <a:off x="1111" y="2704"/>
              <a:ext cx="3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59"/>
            <p:cNvSpPr txBox="1">
              <a:spLocks noChangeArrowheads="1"/>
            </p:cNvSpPr>
            <p:nvPr/>
          </p:nvSpPr>
          <p:spPr bwMode="auto">
            <a:xfrm>
              <a:off x="2153" y="2658"/>
              <a:ext cx="2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60"/>
            <p:cNvSpPr txBox="1">
              <a:spLocks noChangeArrowheads="1"/>
            </p:cNvSpPr>
            <p:nvPr/>
          </p:nvSpPr>
          <p:spPr bwMode="auto">
            <a:xfrm>
              <a:off x="1373" y="2456"/>
              <a:ext cx="24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8703" name="Text Box 61"/>
            <p:cNvSpPr txBox="1">
              <a:spLocks noChangeArrowheads="1"/>
            </p:cNvSpPr>
            <p:nvPr/>
          </p:nvSpPr>
          <p:spPr bwMode="auto">
            <a:xfrm>
              <a:off x="1338" y="2948"/>
              <a:ext cx="31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28704" name="Text Box 62"/>
            <p:cNvSpPr txBox="1">
              <a:spLocks noChangeArrowheads="1"/>
            </p:cNvSpPr>
            <p:nvPr/>
          </p:nvSpPr>
          <p:spPr bwMode="auto">
            <a:xfrm>
              <a:off x="1654" y="2522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8705" name="Group 63"/>
            <p:cNvGrpSpPr>
              <a:grpSpLocks/>
            </p:cNvGrpSpPr>
            <p:nvPr/>
          </p:nvGrpSpPr>
          <p:grpSpPr bwMode="auto">
            <a:xfrm>
              <a:off x="1519" y="2795"/>
              <a:ext cx="240" cy="93"/>
              <a:chOff x="3787" y="2478"/>
              <a:chExt cx="240" cy="93"/>
            </a:xfrm>
          </p:grpSpPr>
          <p:sp>
            <p:nvSpPr>
              <p:cNvPr id="28707" name="Line 64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8" name="Line 65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06" name="Rectangle 66"/>
            <p:cNvSpPr>
              <a:spLocks noChangeArrowheads="1"/>
            </p:cNvSpPr>
            <p:nvPr/>
          </p:nvSpPr>
          <p:spPr bwMode="auto">
            <a:xfrm>
              <a:off x="2435" y="265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361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5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30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utoUpdateAnimBg="0"/>
      <p:bldP spid="75783" grpId="0"/>
      <p:bldP spid="75785" grpId="0" build="p" autoUpdateAnimBg="0"/>
      <p:bldP spid="75787" grpId="0"/>
      <p:bldP spid="75789" grpId="0" build="p" autoUpdateAnimBg="0"/>
      <p:bldP spid="75811" grpId="0" animBg="1"/>
      <p:bldP spid="75812" grpId="0" animBg="1"/>
      <p:bldP spid="758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32016" y="816374"/>
            <a:ext cx="8020050" cy="1193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一组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40μF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的电容器，从高压电网上切除，切除瞬间，电容器两端的电压为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3.5kV</a:t>
            </a:r>
            <a:r>
              <a:rPr lang="zh-CN" altLang="en-US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切除后，电容经本身漏电电阻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放电。今测得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100MΩ</a:t>
            </a:r>
            <a:r>
              <a:rPr lang="zh-CN" altLang="en-US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试求电容器电压下降到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1kV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所需的时间。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468313" y="2781300"/>
            <a:ext cx="496728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000" b="1"/>
              <a:t>    </a:t>
            </a:r>
            <a:r>
              <a:rPr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电容从高压电网切除的等效电路如右图，电容器经漏电电阻器</a:t>
            </a:r>
            <a:r>
              <a:rPr lang="en-US" altLang="zh-CN" sz="200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放电，其电压逐步降低</a:t>
            </a:r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25989" name="Object 5"/>
          <p:cNvGraphicFramePr>
            <a:graphicFrameLocks noChangeAspect="1"/>
          </p:cNvGraphicFramePr>
          <p:nvPr/>
        </p:nvGraphicFramePr>
        <p:xfrm>
          <a:off x="1187450" y="3860800"/>
          <a:ext cx="18208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8" name="Equation" r:id="rId3" imgW="1028520" imgH="342720" progId="Equation.DSMT4">
                  <p:embed/>
                </p:oleObj>
              </mc:Choice>
              <mc:Fallback>
                <p:oleObj name="Equation" r:id="rId3" imgW="1028520" imgH="342720" progId="Equation.DSMT4">
                  <p:embed/>
                  <p:pic>
                    <p:nvPicPr>
                      <p:cNvPr id="425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60800"/>
                        <a:ext cx="1820863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3563938" y="4078288"/>
            <a:ext cx="46799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 </a:t>
            </a:r>
            <a:r>
              <a:rPr lang="zh-CN" altLang="en-US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=RsC =100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000" baseline="30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000" baseline="30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-6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=4000s </a:t>
            </a:r>
            <a:endParaRPr lang="zh-CN" altLang="en-US" sz="200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827088" y="4581525"/>
            <a:ext cx="504031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如果在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t=t</a:t>
            </a:r>
            <a:r>
              <a:rPr lang="en-US" altLang="zh-CN" sz="2000" baseline="-25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baseline="-25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下降到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1000V</a:t>
            </a:r>
            <a:r>
              <a:rPr lang="zh-CN" altLang="en-US" sz="200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 </a:t>
            </a:r>
          </a:p>
        </p:txBody>
      </p:sp>
      <p:sp>
        <p:nvSpPr>
          <p:cNvPr id="425994" name="Rectangle 10"/>
          <p:cNvSpPr>
            <a:spLocks noChangeArrowheads="1"/>
          </p:cNvSpPr>
          <p:nvPr/>
        </p:nvSpPr>
        <p:spPr bwMode="auto">
          <a:xfrm>
            <a:off x="684213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25993" name="Object 9"/>
          <p:cNvGraphicFramePr>
            <a:graphicFrameLocks noChangeAspect="1"/>
          </p:cNvGraphicFramePr>
          <p:nvPr/>
        </p:nvGraphicFramePr>
        <p:xfrm>
          <a:off x="5219700" y="4437063"/>
          <a:ext cx="22542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9" name="Equation" r:id="rId5" imgW="1307880" imgH="304560" progId="Equation.DSMT4">
                  <p:embed/>
                </p:oleObj>
              </mc:Choice>
              <mc:Fallback>
                <p:oleObj name="Equation" r:id="rId5" imgW="1307880" imgH="304560" progId="Equation.DSMT4">
                  <p:embed/>
                  <p:pic>
                    <p:nvPicPr>
                      <p:cNvPr id="425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437063"/>
                        <a:ext cx="225425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95" name="Rectangle 11"/>
          <p:cNvSpPr>
            <a:spLocks noChangeArrowheads="1"/>
          </p:cNvSpPr>
          <p:nvPr/>
        </p:nvSpPr>
        <p:spPr bwMode="auto">
          <a:xfrm>
            <a:off x="827088" y="5083175"/>
            <a:ext cx="630872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0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000" dirty="0" smtClean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ln3.5×4000=1.2528×4000=5011s </a:t>
            </a:r>
            <a:endParaRPr lang="zh-CN" altLang="en-US" sz="20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468313" y="5445125"/>
            <a:ext cx="78486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可见，电容虽与电源断开已逾</a:t>
            </a: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小时，但还保持高达</a:t>
            </a:r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1000V</a:t>
            </a:r>
            <a:r>
              <a:rPr lang="zh-CN" altLang="en-US" sz="20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电压。这样高的电压足以造成人身安全事故。  </a:t>
            </a:r>
          </a:p>
        </p:txBody>
      </p:sp>
      <p:sp>
        <p:nvSpPr>
          <p:cNvPr id="425998" name="Rectangle 14"/>
          <p:cNvSpPr>
            <a:spLocks noChangeArrowheads="1"/>
          </p:cNvSpPr>
          <p:nvPr/>
        </p:nvSpPr>
        <p:spPr bwMode="auto">
          <a:xfrm>
            <a:off x="0" y="2890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26002" name="Object 1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795963" y="2565400"/>
          <a:ext cx="2447925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0" name="Visio" r:id="rId7" imgW="1454506" imgH="888492" progId="Visio.Drawing.6">
                  <p:embed/>
                </p:oleObj>
              </mc:Choice>
              <mc:Fallback>
                <p:oleObj name="Visio" r:id="rId7" imgW="1454506" imgH="888492" progId="Visio.Drawing.6">
                  <p:embed/>
                  <p:pic>
                    <p:nvPicPr>
                      <p:cNvPr id="4260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565400"/>
                        <a:ext cx="2447925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83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build="p"/>
      <p:bldP spid="425988" grpId="0"/>
      <p:bldP spid="425991" grpId="0"/>
      <p:bldP spid="425992" grpId="0"/>
      <p:bldP spid="425995" grpId="0"/>
      <p:bldP spid="4259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3395C9-3DD6-4579-A12D-7E3E98DD230B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559390-A55D-426A-8CEA-9A19B027C40F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596900"/>
            <a:ext cx="1524000" cy="45720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chemeClr val="hlink"/>
                </a:solidFill>
                <a:ea typeface="隶书" panose="02010509060101010101" pitchFamily="49" charset="-122"/>
              </a:rPr>
              <a:t>Example:</a:t>
            </a:r>
            <a:endParaRPr lang="en-US" altLang="zh-CN" sz="2800" smtClean="0">
              <a:solidFill>
                <a:schemeClr val="tx1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6150" name="Object 54"/>
          <p:cNvGraphicFramePr>
            <a:graphicFrameLocks noChangeAspect="1"/>
          </p:cNvGraphicFramePr>
          <p:nvPr/>
        </p:nvGraphicFramePr>
        <p:xfrm>
          <a:off x="533400" y="981075"/>
          <a:ext cx="4348163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5" name="Visio" r:id="rId3" imgW="2202275" imgH="1065562" progId="Visio.Drawing.11">
                  <p:embed/>
                </p:oleObj>
              </mc:Choice>
              <mc:Fallback>
                <p:oleObj name="Visio" r:id="rId3" imgW="2202275" imgH="1065562" progId="Visio.Drawing.11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981075"/>
                        <a:ext cx="4348163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9" name="Object 55"/>
          <p:cNvGraphicFramePr>
            <a:graphicFrameLocks noChangeAspect="1"/>
          </p:cNvGraphicFramePr>
          <p:nvPr/>
        </p:nvGraphicFramePr>
        <p:xfrm>
          <a:off x="5645150" y="1047750"/>
          <a:ext cx="2598738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6" name="Visio" r:id="rId5" imgW="1326594" imgH="1062561" progId="Visio.Drawing.11">
                  <p:embed/>
                </p:oleObj>
              </mc:Choice>
              <mc:Fallback>
                <p:oleObj name="Visio" r:id="rId5" imgW="1326594" imgH="1062561" progId="Visio.Drawing.11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1047750"/>
                        <a:ext cx="2598738" cy="206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40" name="Object 56"/>
          <p:cNvGraphicFramePr>
            <a:graphicFrameLocks noChangeAspect="1"/>
          </p:cNvGraphicFramePr>
          <p:nvPr/>
        </p:nvGraphicFramePr>
        <p:xfrm>
          <a:off x="323850" y="4491038"/>
          <a:ext cx="3740150" cy="160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7" name="VISIO" r:id="rId7" imgW="1887648" imgH="778598" progId="Visio.Drawing.5">
                  <p:embed/>
                </p:oleObj>
              </mc:Choice>
              <mc:Fallback>
                <p:oleObj name="VISIO" r:id="rId7" imgW="1887648" imgH="778598" progId="Visio.Drawing.5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491038"/>
                        <a:ext cx="3740150" cy="160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41" name="Object 57"/>
          <p:cNvGraphicFramePr>
            <a:graphicFrameLocks noChangeAspect="1"/>
          </p:cNvGraphicFramePr>
          <p:nvPr/>
        </p:nvGraphicFramePr>
        <p:xfrm>
          <a:off x="4643438" y="4743450"/>
          <a:ext cx="20320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" name="VISIO" r:id="rId9" imgW="1032681" imgH="609600" progId="Visio.Drawing.5">
                  <p:embed/>
                </p:oleObj>
              </mc:Choice>
              <mc:Fallback>
                <p:oleObj name="VISIO" r:id="rId9" imgW="1032681" imgH="609600" progId="Visio.Drawing.5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743450"/>
                        <a:ext cx="20320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42" name="Object 58"/>
          <p:cNvGraphicFramePr>
            <a:graphicFrameLocks noChangeAspect="1"/>
          </p:cNvGraphicFramePr>
          <p:nvPr/>
        </p:nvGraphicFramePr>
        <p:xfrm>
          <a:off x="4872038" y="6038850"/>
          <a:ext cx="15224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" name="Equation" r:id="rId11" imgW="761669" imgH="165028" progId="Equation.3">
                  <p:embed/>
                </p:oleObj>
              </mc:Choice>
              <mc:Fallback>
                <p:oleObj name="Equation" r:id="rId11" imgW="761669" imgH="165028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6038850"/>
                        <a:ext cx="15224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44" name="Object 60"/>
          <p:cNvGraphicFramePr>
            <a:graphicFrameLocks noChangeAspect="1"/>
          </p:cNvGraphicFramePr>
          <p:nvPr/>
        </p:nvGraphicFramePr>
        <p:xfrm>
          <a:off x="6994525" y="4624388"/>
          <a:ext cx="1754188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" name="VISIO" r:id="rId13" imgW="891654" imgH="577755" progId="Visio.Drawing.5">
                  <p:embed/>
                </p:oleObj>
              </mc:Choice>
              <mc:Fallback>
                <p:oleObj name="VISIO" r:id="rId13" imgW="891654" imgH="577755" progId="Visio.Drawing.5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4624388"/>
                        <a:ext cx="1754188" cy="1187450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46" name="Object 62"/>
          <p:cNvGraphicFramePr>
            <a:graphicFrameLocks noChangeAspect="1"/>
          </p:cNvGraphicFramePr>
          <p:nvPr/>
        </p:nvGraphicFramePr>
        <p:xfrm>
          <a:off x="7019925" y="5822950"/>
          <a:ext cx="17287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1" name="Equation" r:id="rId15" imgW="609600" imgH="228600" progId="Equation.3">
                  <p:embed/>
                </p:oleObj>
              </mc:Choice>
              <mc:Fallback>
                <p:oleObj name="Equation" r:id="rId15" imgW="609600" imgH="2286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822950"/>
                        <a:ext cx="1728788" cy="647700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Rectangle 64"/>
          <p:cNvSpPr>
            <a:spLocks noChangeArrowheads="1"/>
          </p:cNvSpPr>
          <p:nvPr/>
        </p:nvSpPr>
        <p:spPr bwMode="auto">
          <a:xfrm>
            <a:off x="1905000" y="593725"/>
            <a:ext cx="550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Assume </a:t>
            </a:r>
            <a:r>
              <a:rPr lang="en-US" altLang="zh-CN" sz="2800" i="1">
                <a:ea typeface="隶书" panose="02010509060101010101" pitchFamily="49" charset="-122"/>
              </a:rPr>
              <a:t>u</a:t>
            </a:r>
            <a:r>
              <a:rPr lang="en-US" altLang="zh-CN" sz="2800" baseline="-25000">
                <a:ea typeface="隶书" panose="02010509060101010101" pitchFamily="49" charset="-122"/>
              </a:rPr>
              <a:t>c</a:t>
            </a:r>
            <a:r>
              <a:rPr lang="en-US" altLang="zh-CN" sz="2800">
                <a:ea typeface="隶书" panose="02010509060101010101" pitchFamily="49" charset="-122"/>
              </a:rPr>
              <a:t>(0-)=10V.  Find </a:t>
            </a:r>
            <a:r>
              <a:rPr lang="en-US" altLang="zh-CN" sz="2800" i="1">
                <a:ea typeface="隶书" panose="02010509060101010101" pitchFamily="49" charset="-122"/>
              </a:rPr>
              <a:t>u</a:t>
            </a:r>
            <a:r>
              <a:rPr lang="en-US" altLang="zh-CN" sz="2800" baseline="-25000">
                <a:ea typeface="隶书" panose="02010509060101010101" pitchFamily="49" charset="-122"/>
              </a:rPr>
              <a:t>c</a:t>
            </a:r>
            <a:r>
              <a:rPr lang="en-US" altLang="zh-CN" sz="2800">
                <a:ea typeface="隶书" panose="02010509060101010101" pitchFamily="49" charset="-122"/>
              </a:rPr>
              <a:t> for </a:t>
            </a:r>
            <a:r>
              <a:rPr lang="en-US" altLang="zh-CN" sz="2800" i="1">
                <a:ea typeface="隶书" panose="02010509060101010101" pitchFamily="49" charset="-122"/>
              </a:rPr>
              <a:t>t</a:t>
            </a:r>
            <a:r>
              <a:rPr lang="en-US" altLang="zh-CN" sz="2800">
                <a:ea typeface="隶书" panose="02010509060101010101" pitchFamily="49" charset="-122"/>
              </a:rPr>
              <a:t>&gt;0.</a:t>
            </a:r>
          </a:p>
        </p:txBody>
      </p:sp>
      <p:graphicFrame>
        <p:nvGraphicFramePr>
          <p:cNvPr id="195650" name="Object 66"/>
          <p:cNvGraphicFramePr>
            <a:graphicFrameLocks noChangeAspect="1"/>
          </p:cNvGraphicFramePr>
          <p:nvPr/>
        </p:nvGraphicFramePr>
        <p:xfrm>
          <a:off x="649288" y="3175000"/>
          <a:ext cx="281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2" name="公式" r:id="rId17" imgW="1409700" imgH="228600" progId="Equation.3">
                  <p:embed/>
                </p:oleObj>
              </mc:Choice>
              <mc:Fallback>
                <p:oleObj name="公式" r:id="rId17" imgW="1409700" imgH="2286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3175000"/>
                        <a:ext cx="281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51" name="Object 67"/>
          <p:cNvGraphicFramePr>
            <a:graphicFrameLocks noChangeAspect="1"/>
          </p:cNvGraphicFramePr>
          <p:nvPr/>
        </p:nvGraphicFramePr>
        <p:xfrm>
          <a:off x="4140200" y="3286125"/>
          <a:ext cx="368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3" name="公式" r:id="rId19" imgW="1841500" imgH="342900" progId="Equation.3">
                  <p:embed/>
                </p:oleObj>
              </mc:Choice>
              <mc:Fallback>
                <p:oleObj name="公式" r:id="rId19" imgW="1841500" imgH="3429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286125"/>
                        <a:ext cx="368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52" name="Object 68"/>
          <p:cNvGraphicFramePr>
            <a:graphicFrameLocks noChangeAspect="1"/>
          </p:cNvGraphicFramePr>
          <p:nvPr/>
        </p:nvGraphicFramePr>
        <p:xfrm>
          <a:off x="755650" y="3573463"/>
          <a:ext cx="193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4" name="公式" r:id="rId21" imgW="965200" imgH="393700" progId="Equation.3">
                  <p:embed/>
                </p:oleObj>
              </mc:Choice>
              <mc:Fallback>
                <p:oleObj name="公式" r:id="rId21" imgW="965200" imgH="3937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573463"/>
                        <a:ext cx="1930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53" name="Line 69"/>
          <p:cNvSpPr>
            <a:spLocks noChangeShapeType="1"/>
          </p:cNvSpPr>
          <p:nvPr/>
        </p:nvSpPr>
        <p:spPr bwMode="auto">
          <a:xfrm>
            <a:off x="0" y="4365625"/>
            <a:ext cx="91440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54" name="Line 70"/>
          <p:cNvSpPr>
            <a:spLocks noChangeShapeType="1"/>
          </p:cNvSpPr>
          <p:nvPr/>
        </p:nvSpPr>
        <p:spPr bwMode="auto">
          <a:xfrm>
            <a:off x="4716463" y="2205038"/>
            <a:ext cx="719137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55" name="Line 71"/>
          <p:cNvSpPr>
            <a:spLocks noChangeShapeType="1"/>
          </p:cNvSpPr>
          <p:nvPr/>
        </p:nvSpPr>
        <p:spPr bwMode="auto">
          <a:xfrm>
            <a:off x="4140200" y="5391150"/>
            <a:ext cx="431800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57" name="Rectangle 73"/>
          <p:cNvSpPr>
            <a:spLocks noChangeArrowheads="1"/>
          </p:cNvSpPr>
          <p:nvPr/>
        </p:nvSpPr>
        <p:spPr bwMode="auto">
          <a:xfrm>
            <a:off x="381000" y="44450"/>
            <a:ext cx="8458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8.2 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零输入响应　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Zero-input 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FCABD1-E80F-4C9D-8338-C62A2A249F83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8F223D-8EF7-422C-9802-6F4EE77450A6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8458200" cy="609600"/>
          </a:xfrm>
        </p:spPr>
        <p:txBody>
          <a:bodyPr/>
          <a:lstStyle/>
          <a:p>
            <a:pPr algn="l" eaLnBrk="1" hangingPunct="1"/>
            <a:r>
              <a:rPr lang="en-US" altLang="zh-CN" sz="2400" smtClean="0">
                <a:solidFill>
                  <a:srgbClr val="CC3300"/>
                </a:solidFill>
                <a:ea typeface="隶书" panose="02010509060101010101" pitchFamily="49" charset="-122"/>
              </a:rPr>
              <a:t>2. RL </a:t>
            </a:r>
            <a:r>
              <a:rPr lang="zh-CN" altLang="en-US" sz="2400" smtClean="0">
                <a:solidFill>
                  <a:srgbClr val="CC3300"/>
                </a:solidFill>
                <a:ea typeface="隶书" panose="02010509060101010101" pitchFamily="49" charset="-122"/>
              </a:rPr>
              <a:t>电路</a:t>
            </a:r>
          </a:p>
        </p:txBody>
      </p:sp>
      <p:graphicFrame>
        <p:nvGraphicFramePr>
          <p:cNvPr id="249867" name="Object 11"/>
          <p:cNvGraphicFramePr>
            <a:graphicFrameLocks noChangeAspect="1"/>
          </p:cNvGraphicFramePr>
          <p:nvPr/>
        </p:nvGraphicFramePr>
        <p:xfrm>
          <a:off x="4495800" y="2271713"/>
          <a:ext cx="195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1" name="Equation" r:id="rId3" imgW="977476" imgH="393529" progId="Equation.3">
                  <p:embed/>
                </p:oleObj>
              </mc:Choice>
              <mc:Fallback>
                <p:oleObj name="Equation" r:id="rId3" imgW="977476" imgH="3935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71713"/>
                        <a:ext cx="1955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98" name="Object 42"/>
          <p:cNvGraphicFramePr>
            <a:graphicFrameLocks noChangeAspect="1"/>
          </p:cNvGraphicFramePr>
          <p:nvPr/>
        </p:nvGraphicFramePr>
        <p:xfrm>
          <a:off x="250825" y="1341438"/>
          <a:ext cx="313055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2" name="Visio" r:id="rId5" imgW="1594056" imgH="948118" progId="Visio.Drawing.11">
                  <p:embed/>
                </p:oleObj>
              </mc:Choice>
              <mc:Fallback>
                <p:oleObj name="Visio" r:id="rId5" imgW="1594056" imgH="948118" progId="Visio.Drawing.11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341438"/>
                        <a:ext cx="313055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00" name="Object 44"/>
          <p:cNvGraphicFramePr>
            <a:graphicFrameLocks noChangeAspect="1"/>
          </p:cNvGraphicFramePr>
          <p:nvPr/>
        </p:nvGraphicFramePr>
        <p:xfrm>
          <a:off x="4572000" y="3200400"/>
          <a:ext cx="259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" name="Equation" r:id="rId7" imgW="1295400" imgH="342900" progId="Equation.3">
                  <p:embed/>
                </p:oleObj>
              </mc:Choice>
              <mc:Fallback>
                <p:oleObj name="Equation" r:id="rId7" imgW="1295400" imgH="3429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2590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01" name="Object 45"/>
          <p:cNvGraphicFramePr>
            <a:graphicFrameLocks noChangeAspect="1"/>
          </p:cNvGraphicFramePr>
          <p:nvPr/>
        </p:nvGraphicFramePr>
        <p:xfrm>
          <a:off x="4495800" y="1052513"/>
          <a:ext cx="309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" name="Equation" r:id="rId9" imgW="1548728" imgH="393529" progId="Equation.3">
                  <p:embed/>
                </p:oleObj>
              </mc:Choice>
              <mc:Fallback>
                <p:oleObj name="Equation" r:id="rId9" imgW="1548728" imgH="39352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052513"/>
                        <a:ext cx="3098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905" name="Group 49"/>
          <p:cNvGrpSpPr>
            <a:grpSpLocks/>
          </p:cNvGrpSpPr>
          <p:nvPr/>
        </p:nvGrpSpPr>
        <p:grpSpPr bwMode="auto">
          <a:xfrm>
            <a:off x="4149725" y="1306513"/>
            <a:ext cx="2733675" cy="965200"/>
            <a:chOff x="2614" y="832"/>
            <a:chExt cx="1722" cy="608"/>
          </a:xfrm>
        </p:grpSpPr>
        <p:sp>
          <p:nvSpPr>
            <p:cNvPr id="7188" name="AutoShape 14"/>
            <p:cNvSpPr>
              <a:spLocks/>
            </p:cNvSpPr>
            <p:nvPr/>
          </p:nvSpPr>
          <p:spPr bwMode="auto">
            <a:xfrm>
              <a:off x="2614" y="832"/>
              <a:ext cx="144" cy="528"/>
            </a:xfrm>
            <a:prstGeom prst="leftBrace">
              <a:avLst>
                <a:gd name="adj1" fmla="val 30556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ea typeface="隶书" panose="02010509060101010101" pitchFamily="49" charset="-122"/>
              </a:endParaRPr>
            </a:p>
          </p:txBody>
        </p:sp>
        <p:graphicFrame>
          <p:nvGraphicFramePr>
            <p:cNvPr id="7189" name="Object 46"/>
            <p:cNvGraphicFramePr>
              <a:graphicFrameLocks noChangeAspect="1"/>
            </p:cNvGraphicFramePr>
            <p:nvPr/>
          </p:nvGraphicFramePr>
          <p:xfrm>
            <a:off x="2832" y="1152"/>
            <a:ext cx="150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5" name="Equation" r:id="rId11" imgW="1193800" imgH="228600" progId="Equation.3">
                    <p:embed/>
                  </p:oleObj>
                </mc:Choice>
                <mc:Fallback>
                  <p:oleObj name="Equation" r:id="rId11" imgW="1193800" imgH="2286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152"/>
                          <a:ext cx="150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9906" name="Group 50"/>
          <p:cNvGrpSpPr>
            <a:grpSpLocks/>
          </p:cNvGrpSpPr>
          <p:nvPr/>
        </p:nvGrpSpPr>
        <p:grpSpPr bwMode="auto">
          <a:xfrm>
            <a:off x="6502400" y="2414588"/>
            <a:ext cx="1524000" cy="457200"/>
            <a:chOff x="4096" y="1521"/>
            <a:chExt cx="960" cy="288"/>
          </a:xfrm>
        </p:grpSpPr>
        <p:graphicFrame>
          <p:nvGraphicFramePr>
            <p:cNvPr id="7186" name="Object 47"/>
            <p:cNvGraphicFramePr>
              <a:graphicFrameLocks noChangeAspect="1"/>
            </p:cNvGraphicFramePr>
            <p:nvPr/>
          </p:nvGraphicFramePr>
          <p:xfrm>
            <a:off x="4464" y="1560"/>
            <a:ext cx="59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6" name="Equation" r:id="rId13" imgW="438079" imgH="148466" progId="Equation.3">
                    <p:embed/>
                  </p:oleObj>
                </mc:Choice>
                <mc:Fallback>
                  <p:oleObj name="Equation" r:id="rId13" imgW="438079" imgH="148466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560"/>
                          <a:ext cx="59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7" name="Rectangle 48"/>
            <p:cNvSpPr>
              <a:spLocks noChangeArrowheads="1"/>
            </p:cNvSpPr>
            <p:nvPr/>
          </p:nvSpPr>
          <p:spPr bwMode="auto">
            <a:xfrm>
              <a:off x="4096" y="152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aphicFrame>
        <p:nvGraphicFramePr>
          <p:cNvPr id="249908" name="Object 52"/>
          <p:cNvGraphicFramePr>
            <a:graphicFrameLocks noChangeAspect="1"/>
          </p:cNvGraphicFramePr>
          <p:nvPr/>
        </p:nvGraphicFramePr>
        <p:xfrm>
          <a:off x="419100" y="2914650"/>
          <a:ext cx="1836738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7" name="VISIO" r:id="rId15" imgW="937260" imgH="877824" progId="Visio.Drawing.5">
                  <p:embed/>
                </p:oleObj>
              </mc:Choice>
              <mc:Fallback>
                <p:oleObj name="VISIO" r:id="rId15" imgW="937260" imgH="877824" progId="Visio.Drawing.5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914650"/>
                        <a:ext cx="1836738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09" name="Object 53"/>
          <p:cNvGraphicFramePr>
            <a:graphicFrameLocks noChangeAspect="1"/>
          </p:cNvGraphicFramePr>
          <p:nvPr/>
        </p:nvGraphicFramePr>
        <p:xfrm>
          <a:off x="2255838" y="3551238"/>
          <a:ext cx="121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8" name="Equation" r:id="rId17" imgW="609600" imgH="228600" progId="Equation.3">
                  <p:embed/>
                </p:oleObj>
              </mc:Choice>
              <mc:Fallback>
                <p:oleObj name="Equation" r:id="rId17" imgW="6096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551238"/>
                        <a:ext cx="1219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54"/>
          <p:cNvSpPr>
            <a:spLocks noChangeArrowheads="1"/>
          </p:cNvSpPr>
          <p:nvPr/>
        </p:nvSpPr>
        <p:spPr bwMode="auto">
          <a:xfrm>
            <a:off x="381000" y="44450"/>
            <a:ext cx="8458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8.2 </a:t>
            </a:r>
            <a:r>
              <a:rPr lang="zh-CN" altLang="en-US" sz="2800">
                <a:ea typeface="隶书" panose="02010509060101010101" pitchFamily="49" charset="-122"/>
              </a:rPr>
              <a:t>零输入响应　</a:t>
            </a:r>
            <a:r>
              <a:rPr lang="en-US" altLang="zh-CN" sz="2800">
                <a:ea typeface="隶书" panose="02010509060101010101" pitchFamily="49" charset="-122"/>
              </a:rPr>
              <a:t>Zero-input response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51050" y="4338638"/>
          <a:ext cx="3089275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9" name="Visio" r:id="rId19" imgW="1544336" imgH="1216866" progId="Visio.Drawing.11">
                  <p:embed/>
                </p:oleObj>
              </mc:Choice>
              <mc:Fallback>
                <p:oleObj name="Visio" r:id="rId19" imgW="1544336" imgH="1216866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338638"/>
                        <a:ext cx="3089275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Rectangle 7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73700" y="4389438"/>
          <a:ext cx="3270250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" name="Visio" r:id="rId21" imgW="1634607" imgH="1183839" progId="Visio.Drawing.11">
                  <p:embed/>
                </p:oleObj>
              </mc:Choice>
              <mc:Fallback>
                <p:oleObj name="Visio" r:id="rId21" imgW="1634607" imgH="1183839" progId="Visio.Drawing.11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4389438"/>
                        <a:ext cx="3270250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452268"/>
              </p:ext>
            </p:extLst>
          </p:nvPr>
        </p:nvGraphicFramePr>
        <p:xfrm>
          <a:off x="4576768" y="3884613"/>
          <a:ext cx="3081717" cy="703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" name="Equation" r:id="rId23" imgW="1752480" imgH="419040" progId="Equation.DSMT4">
                  <p:embed/>
                </p:oleObj>
              </mc:Choice>
              <mc:Fallback>
                <p:oleObj name="Equation" r:id="rId23" imgW="1752480" imgH="419040" progId="Equation.DSMT4">
                  <p:embed/>
                  <p:pic>
                    <p:nvPicPr>
                      <p:cNvPr id="1136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8" y="3884613"/>
                        <a:ext cx="3081717" cy="703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4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61" name="Text Box 57"/>
          <p:cNvSpPr txBox="1">
            <a:spLocks noChangeArrowheads="1"/>
          </p:cNvSpPr>
          <p:nvPr/>
        </p:nvSpPr>
        <p:spPr bwMode="auto">
          <a:xfrm>
            <a:off x="250825" y="549275"/>
            <a:ext cx="889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响应与初始状态成线性关系，其衰减快慢与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L/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有关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</a:rPr>
              <a:t>;</a:t>
            </a:r>
          </a:p>
        </p:txBody>
      </p:sp>
      <p:graphicFrame>
        <p:nvGraphicFramePr>
          <p:cNvPr id="72778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083353"/>
              </p:ext>
            </p:extLst>
          </p:nvPr>
        </p:nvGraphicFramePr>
        <p:xfrm>
          <a:off x="1296988" y="1992313"/>
          <a:ext cx="61880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3" imgW="2679480" imgH="419040" progId="Equation.DSMT4">
                  <p:embed/>
                </p:oleObj>
              </mc:Choice>
              <mc:Fallback>
                <p:oleObj name="Equation" r:id="rId3" imgW="2679480" imgH="419040" progId="Equation.DSMT4">
                  <p:embed/>
                  <p:pic>
                    <p:nvPicPr>
                      <p:cNvPr id="72778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1992313"/>
                        <a:ext cx="61880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846138" y="1108076"/>
            <a:ext cx="7399337" cy="709613"/>
            <a:chOff x="533" y="569"/>
            <a:chExt cx="4661" cy="447"/>
          </a:xfrm>
        </p:grpSpPr>
        <p:sp>
          <p:nvSpPr>
            <p:cNvPr id="36884" name="Text Box 73"/>
            <p:cNvSpPr txBox="1">
              <a:spLocks noChangeArrowheads="1"/>
            </p:cNvSpPr>
            <p:nvPr/>
          </p:nvSpPr>
          <p:spPr bwMode="auto">
            <a:xfrm>
              <a:off x="533" y="618"/>
              <a:ext cx="46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tx1"/>
                  </a:solidFill>
                  <a:latin typeface="楷体_GB2312" pitchFamily="49" charset="-122"/>
                </a:rPr>
                <a:t>令        </a:t>
              </a:r>
              <a:r>
                <a:rPr kumimoji="1" lang="zh-CN" altLang="en-US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</a:rPr>
                <a:t>        </a:t>
              </a:r>
              <a:r>
                <a:rPr kumimoji="1" lang="zh-CN" altLang="en-US">
                  <a:solidFill>
                    <a:schemeClr val="tx1"/>
                  </a:solidFill>
                  <a:latin typeface="楷体_GB2312" pitchFamily="49" charset="-122"/>
                </a:rPr>
                <a:t>称为一阶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RL</a:t>
              </a:r>
              <a:r>
                <a:rPr kumimoji="1" lang="zh-CN" altLang="en-US">
                  <a:solidFill>
                    <a:schemeClr val="tx1"/>
                  </a:solidFill>
                  <a:latin typeface="楷体_GB2312" pitchFamily="49" charset="-122"/>
                </a:rPr>
                <a:t>电路时间常数</a:t>
              </a:r>
            </a:p>
          </p:txBody>
        </p:sp>
        <p:sp>
          <p:nvSpPr>
            <p:cNvPr id="36885" name="Rectangle 75"/>
            <p:cNvSpPr>
              <a:spLocks noChangeArrowheads="1"/>
            </p:cNvSpPr>
            <p:nvPr/>
          </p:nvSpPr>
          <p:spPr bwMode="auto">
            <a:xfrm>
              <a:off x="930" y="569"/>
              <a:ext cx="1587" cy="447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4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sz="4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= </a:t>
              </a:r>
              <a:r>
                <a:rPr kumimoji="1" lang="en-US" altLang="zh-CN" sz="4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L/R</a:t>
              </a:r>
            </a:p>
          </p:txBody>
        </p:sp>
      </p:grpSp>
      <p:sp>
        <p:nvSpPr>
          <p:cNvPr id="72781" name="Rectangle 77"/>
          <p:cNvSpPr>
            <a:spLocks noChangeArrowheads="1"/>
          </p:cNvSpPr>
          <p:nvPr/>
        </p:nvSpPr>
        <p:spPr bwMode="auto">
          <a:xfrm>
            <a:off x="468313" y="3125819"/>
            <a:ext cx="828198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时间常数</a:t>
            </a:r>
            <a:r>
              <a:rPr kumimoji="1"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1" lang="zh-CN" altLang="en-US" b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的大小反映了电路过渡过程时间的长短</a:t>
            </a:r>
          </a:p>
        </p:txBody>
      </p:sp>
      <p:sp>
        <p:nvSpPr>
          <p:cNvPr id="72782" name="Text Box 78"/>
          <p:cNvSpPr txBox="1">
            <a:spLocks noChangeArrowheads="1"/>
          </p:cNvSpPr>
          <p:nvPr/>
        </p:nvSpPr>
        <p:spPr bwMode="auto">
          <a:xfrm>
            <a:off x="611188" y="5022318"/>
            <a:ext cx="6048375" cy="1042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大</a:t>
            </a:r>
            <a:r>
              <a:rPr kumimoji="1" lang="zh-CN" altLang="en-US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W=Li</a:t>
            </a:r>
            <a:r>
              <a:rPr kumimoji="1"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kumimoji="1" lang="en-US" altLang="zh-CN" b="0" baseline="30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/2</a:t>
            </a: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   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起始能量大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小</a:t>
            </a:r>
            <a:r>
              <a:rPr kumimoji="1" lang="zh-CN" altLang="en-US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P=Ri</a:t>
            </a:r>
            <a:r>
              <a:rPr kumimoji="1" lang="en-US" altLang="zh-CN" b="0" baseline="3000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1" lang="en-US" altLang="zh-CN" baseline="3000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  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放电过程消耗能量小</a:t>
            </a:r>
            <a:endParaRPr kumimoji="1" lang="zh-CN" altLang="en-US" i="1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6444208" y="5156362"/>
            <a:ext cx="2493962" cy="560388"/>
            <a:chOff x="3833" y="3226"/>
            <a:chExt cx="1571" cy="353"/>
          </a:xfrm>
        </p:grpSpPr>
        <p:sp>
          <p:nvSpPr>
            <p:cNvPr id="36882" name="AutoShape 80"/>
            <p:cNvSpPr>
              <a:spLocks/>
            </p:cNvSpPr>
            <p:nvPr/>
          </p:nvSpPr>
          <p:spPr bwMode="auto">
            <a:xfrm>
              <a:off x="3833" y="3226"/>
              <a:ext cx="82" cy="353"/>
            </a:xfrm>
            <a:prstGeom prst="rightBrace">
              <a:avLst>
                <a:gd name="adj1" fmla="val 4979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883" name="Text Box 81"/>
            <p:cNvSpPr txBox="1">
              <a:spLocks noChangeArrowheads="1"/>
            </p:cNvSpPr>
            <p:nvPr/>
          </p:nvSpPr>
          <p:spPr bwMode="auto">
            <a:xfrm>
              <a:off x="3923" y="3247"/>
              <a:ext cx="1481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放电慢，</a:t>
              </a:r>
              <a:r>
                <a:rPr kumimoji="1" lang="zh-CN" altLang="en-US" b="0" i="1" dirty="0">
                  <a:solidFill>
                    <a:schemeClr val="tx1"/>
                  </a:solidFill>
                  <a:latin typeface="楷体_GB2312" pitchFamily="49" charset="-122"/>
                  <a:sym typeface="Symbol" panose="05050102010706020507" pitchFamily="18" charset="2"/>
                </a:rPr>
                <a:t></a:t>
              </a:r>
              <a:r>
                <a:rPr kumimoji="1" lang="zh-CN" altLang="en-US" i="1" dirty="0">
                  <a:solidFill>
                    <a:schemeClr val="tx1"/>
                  </a:solidFill>
                  <a:latin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  <a:latin typeface="楷体_GB2312" pitchFamily="49" charset="-122"/>
                  <a:sym typeface="Symbol" panose="05050102010706020507" pitchFamily="18" charset="2"/>
                </a:rPr>
                <a:t>大</a:t>
              </a:r>
            </a:p>
          </p:txBody>
        </p:sp>
      </p:grpSp>
      <p:sp>
        <p:nvSpPr>
          <p:cNvPr id="72786" name="Text Box 82"/>
          <p:cNvSpPr txBox="1">
            <a:spLocks noChangeArrowheads="1"/>
          </p:cNvSpPr>
          <p:nvPr/>
        </p:nvSpPr>
        <p:spPr bwMode="auto">
          <a:xfrm>
            <a:off x="468313" y="3702081"/>
            <a:ext cx="374491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b="0" i="1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大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过渡过程时间长</a:t>
            </a:r>
          </a:p>
        </p:txBody>
      </p:sp>
      <p:sp>
        <p:nvSpPr>
          <p:cNvPr id="72787" name="Text Box 83"/>
          <p:cNvSpPr txBox="1">
            <a:spLocks noChangeArrowheads="1"/>
          </p:cNvSpPr>
          <p:nvPr/>
        </p:nvSpPr>
        <p:spPr bwMode="auto">
          <a:xfrm>
            <a:off x="4572000" y="3702081"/>
            <a:ext cx="417671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b="0" i="1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小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过渡过程时间短</a:t>
            </a:r>
          </a:p>
        </p:txBody>
      </p:sp>
      <p:sp>
        <p:nvSpPr>
          <p:cNvPr id="72788" name="Text Box 84"/>
          <p:cNvSpPr txBox="1">
            <a:spLocks noChangeArrowheads="1"/>
          </p:cNvSpPr>
          <p:nvPr/>
        </p:nvSpPr>
        <p:spPr bwMode="auto">
          <a:xfrm>
            <a:off x="539750" y="4354513"/>
            <a:ext cx="1871663" cy="51911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物理含义</a:t>
            </a:r>
          </a:p>
        </p:txBody>
      </p:sp>
      <p:sp>
        <p:nvSpPr>
          <p:cNvPr id="72789" name="AutoShape 85"/>
          <p:cNvSpPr>
            <a:spLocks noChangeArrowheads="1"/>
          </p:cNvSpPr>
          <p:nvPr/>
        </p:nvSpPr>
        <p:spPr bwMode="auto">
          <a:xfrm>
            <a:off x="2627313" y="4570413"/>
            <a:ext cx="647700" cy="153987"/>
          </a:xfrm>
          <a:prstGeom prst="rightArrow">
            <a:avLst>
              <a:gd name="adj1" fmla="val 50000"/>
              <a:gd name="adj2" fmla="val 105155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790" name="Rectangle 86"/>
          <p:cNvSpPr>
            <a:spLocks noChangeArrowheads="1"/>
          </p:cNvSpPr>
          <p:nvPr/>
        </p:nvSpPr>
        <p:spPr bwMode="auto">
          <a:xfrm>
            <a:off x="3419475" y="4425950"/>
            <a:ext cx="334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电流初值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</a:rPr>
              <a:t>(0)</a:t>
            </a:r>
            <a:r>
              <a:rPr kumimoji="1" lang="zh-CN" altLang="zh-CN">
                <a:solidFill>
                  <a:schemeClr val="tx1"/>
                </a:solidFill>
                <a:latin typeface="楷体_GB2312" pitchFamily="49" charset="-122"/>
              </a:rPr>
              <a:t>一定：</a:t>
            </a:r>
            <a:endParaRPr kumimoji="1" lang="zh-CN" altLang="en-US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516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7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7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61" grpId="0" autoUpdateAnimBg="0"/>
      <p:bldP spid="72781" grpId="0" build="p" autoUpdateAnimBg="0"/>
      <p:bldP spid="72782" grpId="0" build="p" autoUpdateAnimBg="0"/>
      <p:bldP spid="72786" grpId="0"/>
      <p:bldP spid="72787" grpId="0"/>
      <p:bldP spid="72788" grpId="0" animBg="1"/>
      <p:bldP spid="72789" grpId="0" animBg="1"/>
      <p:bldP spid="727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684213" y="620713"/>
            <a:ext cx="266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07435"/>
              </p:ext>
            </p:extLst>
          </p:nvPr>
        </p:nvGraphicFramePr>
        <p:xfrm>
          <a:off x="900113" y="3543300"/>
          <a:ext cx="24479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" name="Equation" r:id="rId3" imgW="863280" imgH="330120" progId="Equation.DSMT4">
                  <p:embed/>
                </p:oleObj>
              </mc:Choice>
              <mc:Fallback>
                <p:oleObj name="Equation" r:id="rId3" imgW="863280" imgH="330120" progId="Equation.DSMT4">
                  <p:embed/>
                  <p:pic>
                    <p:nvPicPr>
                      <p:cNvPr id="706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43300"/>
                        <a:ext cx="244792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3635375" y="549275"/>
            <a:ext cx="5113338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电感不断释放能量被电阻吸收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,   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直到全部消耗完毕。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995738" y="1625016"/>
            <a:ext cx="3240087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3200" b="0" i="1" baseline="-250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3563938" y="2333656"/>
            <a:ext cx="302418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电感放出能量：             </a:t>
            </a:r>
          </a:p>
        </p:txBody>
      </p:sp>
      <p:graphicFrame>
        <p:nvGraphicFramePr>
          <p:cNvPr id="706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292026"/>
              </p:ext>
            </p:extLst>
          </p:nvPr>
        </p:nvGraphicFramePr>
        <p:xfrm>
          <a:off x="6859588" y="2181225"/>
          <a:ext cx="111283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5" name="Equation" r:id="rId5" imgW="380880" imgH="393480" progId="Equation.DSMT4">
                  <p:embed/>
                </p:oleObj>
              </mc:Choice>
              <mc:Fallback>
                <p:oleObj name="Equation" r:id="rId5" imgW="380880" imgH="393480" progId="Equation.DSMT4">
                  <p:embed/>
                  <p:pic>
                    <p:nvPicPr>
                      <p:cNvPr id="706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588" y="2181225"/>
                        <a:ext cx="111283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755650" y="3052794"/>
            <a:ext cx="460851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电阻吸收（消耗）能量：</a:t>
            </a:r>
          </a:p>
        </p:txBody>
      </p:sp>
      <p:graphicFrame>
        <p:nvGraphicFramePr>
          <p:cNvPr id="70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289085"/>
              </p:ext>
            </p:extLst>
          </p:nvPr>
        </p:nvGraphicFramePr>
        <p:xfrm>
          <a:off x="3689350" y="3487738"/>
          <a:ext cx="29178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6" name="Equation" r:id="rId7" imgW="1180800" imgH="380880" progId="Equation.DSMT4">
                  <p:embed/>
                </p:oleObj>
              </mc:Choice>
              <mc:Fallback>
                <p:oleObj name="Equation" r:id="rId7" imgW="1180800" imgH="380880" progId="Equation.DSMT4">
                  <p:embed/>
                  <p:pic>
                    <p:nvPicPr>
                      <p:cNvPr id="706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3487738"/>
                        <a:ext cx="29178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761761"/>
              </p:ext>
            </p:extLst>
          </p:nvPr>
        </p:nvGraphicFramePr>
        <p:xfrm>
          <a:off x="7243763" y="4645025"/>
          <a:ext cx="13509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7" name="Equation" r:id="rId9" imgW="533160" imgH="393480" progId="Equation.DSMT4">
                  <p:embed/>
                </p:oleObj>
              </mc:Choice>
              <mc:Fallback>
                <p:oleObj name="Equation" r:id="rId9" imgW="533160" imgH="393480" progId="Equation.DSMT4">
                  <p:embed/>
                  <p:pic>
                    <p:nvPicPr>
                      <p:cNvPr id="706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763" y="4645025"/>
                        <a:ext cx="13509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740190"/>
              </p:ext>
            </p:extLst>
          </p:nvPr>
        </p:nvGraphicFramePr>
        <p:xfrm>
          <a:off x="635000" y="4652963"/>
          <a:ext cx="27082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8" name="Equation" r:id="rId11" imgW="1079280" imgH="380880" progId="Equation.DSMT4">
                  <p:embed/>
                </p:oleObj>
              </mc:Choice>
              <mc:Fallback>
                <p:oleObj name="Equation" r:id="rId11" imgW="1079280" imgH="380880" progId="Equation.DSMT4">
                  <p:embed/>
                  <p:pic>
                    <p:nvPicPr>
                      <p:cNvPr id="7068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652963"/>
                        <a:ext cx="27082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28668"/>
              </p:ext>
            </p:extLst>
          </p:nvPr>
        </p:nvGraphicFramePr>
        <p:xfrm>
          <a:off x="3644900" y="4683125"/>
          <a:ext cx="32893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" name="Equation" r:id="rId13" imgW="1371600" imgH="419040" progId="Equation.DSMT4">
                  <p:embed/>
                </p:oleObj>
              </mc:Choice>
              <mc:Fallback>
                <p:oleObj name="Equation" r:id="rId13" imgW="1371600" imgH="419040" progId="Equation.DSMT4">
                  <p:embed/>
                  <p:pic>
                    <p:nvPicPr>
                      <p:cNvPr id="7068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4683125"/>
                        <a:ext cx="32893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90" name="AutoShape 34"/>
          <p:cNvSpPr>
            <a:spLocks noChangeArrowheads="1"/>
          </p:cNvSpPr>
          <p:nvPr/>
        </p:nvSpPr>
        <p:spPr bwMode="auto">
          <a:xfrm>
            <a:off x="2771775" y="836613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91" name="AutoShape 35"/>
          <p:cNvSpPr>
            <a:spLocks noChangeArrowheads="1"/>
          </p:cNvSpPr>
          <p:nvPr/>
        </p:nvSpPr>
        <p:spPr bwMode="auto">
          <a:xfrm>
            <a:off x="6084888" y="2552700"/>
            <a:ext cx="647700" cy="155575"/>
          </a:xfrm>
          <a:prstGeom prst="rightArrow">
            <a:avLst>
              <a:gd name="adj1" fmla="val 50000"/>
              <a:gd name="adj2" fmla="val 104082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92" name="AutoShape 36"/>
          <p:cNvSpPr>
            <a:spLocks noChangeArrowheads="1"/>
          </p:cNvSpPr>
          <p:nvPr/>
        </p:nvSpPr>
        <p:spPr bwMode="auto">
          <a:xfrm>
            <a:off x="4643438" y="3271838"/>
            <a:ext cx="720725" cy="157162"/>
          </a:xfrm>
          <a:prstGeom prst="rightArrow">
            <a:avLst>
              <a:gd name="adj1" fmla="val 50000"/>
              <a:gd name="adj2" fmla="val 114647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827087" y="1122363"/>
            <a:ext cx="2495549" cy="1879600"/>
            <a:chOff x="3969" y="2158"/>
            <a:chExt cx="1572" cy="1184"/>
          </a:xfrm>
        </p:grpSpPr>
        <p:grpSp>
          <p:nvGrpSpPr>
            <p:cNvPr id="37910" name="Group 95"/>
            <p:cNvGrpSpPr>
              <a:grpSpLocks/>
            </p:cNvGrpSpPr>
            <p:nvPr/>
          </p:nvGrpSpPr>
          <p:grpSpPr bwMode="auto">
            <a:xfrm>
              <a:off x="4740" y="2158"/>
              <a:ext cx="272" cy="410"/>
              <a:chOff x="1872" y="490"/>
              <a:chExt cx="240" cy="278"/>
            </a:xfrm>
          </p:grpSpPr>
          <p:sp>
            <p:nvSpPr>
              <p:cNvPr id="37928" name="Line 96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9" name="Text Box 97"/>
              <p:cNvSpPr txBox="1">
                <a:spLocks noChangeArrowheads="1"/>
              </p:cNvSpPr>
              <p:nvPr/>
            </p:nvSpPr>
            <p:spPr bwMode="auto">
              <a:xfrm>
                <a:off x="1882" y="490"/>
                <a:ext cx="166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32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911" name="Text Box 98"/>
            <p:cNvSpPr txBox="1">
              <a:spLocks noChangeArrowheads="1"/>
            </p:cNvSpPr>
            <p:nvPr/>
          </p:nvSpPr>
          <p:spPr bwMode="auto">
            <a:xfrm>
              <a:off x="4921" y="2806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7912" name="Group 99"/>
            <p:cNvGrpSpPr>
              <a:grpSpLocks/>
            </p:cNvGrpSpPr>
            <p:nvPr/>
          </p:nvGrpSpPr>
          <p:grpSpPr bwMode="auto">
            <a:xfrm>
              <a:off x="5200" y="2578"/>
              <a:ext cx="341" cy="764"/>
              <a:chOff x="1965" y="748"/>
              <a:chExt cx="331" cy="616"/>
            </a:xfrm>
          </p:grpSpPr>
          <p:grpSp>
            <p:nvGrpSpPr>
              <p:cNvPr id="37924" name="Group 100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37926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37927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638" y="1658"/>
                  <a:ext cx="207" cy="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37925" name="Text Box 103"/>
              <p:cNvSpPr txBox="1">
                <a:spLocks noChangeArrowheads="1"/>
              </p:cNvSpPr>
              <p:nvPr/>
            </p:nvSpPr>
            <p:spPr bwMode="auto">
              <a:xfrm>
                <a:off x="1965" y="899"/>
                <a:ext cx="331" cy="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32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sz="3200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913" name="Line 104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Text Box 105"/>
            <p:cNvSpPr txBox="1">
              <a:spLocks noChangeArrowheads="1"/>
            </p:cNvSpPr>
            <p:nvPr/>
          </p:nvSpPr>
          <p:spPr bwMode="auto">
            <a:xfrm>
              <a:off x="4246" y="2625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5" name="Line 106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107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108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109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9" name="Group 110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37921" name="Arc 111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5 h 43200"/>
                  <a:gd name="T6" fmla="*/ 0 60000 65536"/>
                  <a:gd name="T7" fmla="*/ 0 60000 65536"/>
                  <a:gd name="T8" fmla="*/ 0 60000 65536"/>
                  <a:gd name="T9" fmla="*/ 0 w 22723"/>
                  <a:gd name="T10" fmla="*/ 0 h 43200"/>
                  <a:gd name="T11" fmla="*/ 22723 w 2272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922" name="Arc 112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5 h 43200"/>
                  <a:gd name="T6" fmla="*/ 0 60000 65536"/>
                  <a:gd name="T7" fmla="*/ 0 60000 65536"/>
                  <a:gd name="T8" fmla="*/ 0 60000 65536"/>
                  <a:gd name="T9" fmla="*/ 0 w 22723"/>
                  <a:gd name="T10" fmla="*/ 0 h 43200"/>
                  <a:gd name="T11" fmla="*/ 22723 w 2272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923" name="Arc 113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5 h 43200"/>
                  <a:gd name="T6" fmla="*/ 0 60000 65536"/>
                  <a:gd name="T7" fmla="*/ 0 60000 65536"/>
                  <a:gd name="T8" fmla="*/ 0 60000 65536"/>
                  <a:gd name="T9" fmla="*/ 0 w 22723"/>
                  <a:gd name="T10" fmla="*/ 0 h 43200"/>
                  <a:gd name="T11" fmla="*/ 22723 w 2272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7920" name="Rectangle 114"/>
            <p:cNvSpPr>
              <a:spLocks noChangeArrowheads="1"/>
            </p:cNvSpPr>
            <p:nvPr/>
          </p:nvSpPr>
          <p:spPr bwMode="auto">
            <a:xfrm>
              <a:off x="4241" y="2478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353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autoUpdateAnimBg="0"/>
      <p:bldP spid="70664" grpId="0"/>
      <p:bldP spid="70665" grpId="0" build="p" autoUpdateAnimBg="0"/>
      <p:bldP spid="70666" grpId="0"/>
      <p:bldP spid="70668" grpId="0" build="p" autoUpdateAnimBg="0"/>
      <p:bldP spid="70690" grpId="0" animBg="1"/>
      <p:bldP spid="70691" grpId="0" animBg="1"/>
      <p:bldP spid="7069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2735263" cy="609600"/>
          </a:xfrm>
        </p:spPr>
        <p:txBody>
          <a:bodyPr/>
          <a:lstStyle/>
          <a:p>
            <a:pPr algn="l" eaLnBrk="1" hangingPunct="1"/>
            <a:r>
              <a:rPr lang="en-US" altLang="zh-CN" sz="2400" smtClean="0">
                <a:solidFill>
                  <a:srgbClr val="CC3300"/>
                </a:solidFill>
                <a:ea typeface="隶书" panose="02010509060101010101" pitchFamily="49" charset="-122"/>
              </a:rPr>
              <a:t>2. RL </a:t>
            </a:r>
            <a:r>
              <a:rPr lang="zh-CN" altLang="en-US" sz="2400" smtClean="0">
                <a:solidFill>
                  <a:srgbClr val="CC3300"/>
                </a:solidFill>
                <a:ea typeface="隶书" panose="02010509060101010101" pitchFamily="49" charset="-122"/>
              </a:rPr>
              <a:t>电路</a:t>
            </a:r>
          </a:p>
        </p:txBody>
      </p:sp>
      <p:sp>
        <p:nvSpPr>
          <p:cNvPr id="8195" name="Rectangle 54"/>
          <p:cNvSpPr>
            <a:spLocks noChangeArrowheads="1"/>
          </p:cNvSpPr>
          <p:nvPr/>
        </p:nvSpPr>
        <p:spPr bwMode="auto">
          <a:xfrm>
            <a:off x="381000" y="44450"/>
            <a:ext cx="8458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8.2 </a:t>
            </a:r>
            <a:r>
              <a:rPr lang="zh-CN" altLang="en-US" sz="2800">
                <a:ea typeface="隶书" panose="02010509060101010101" pitchFamily="49" charset="-122"/>
              </a:rPr>
              <a:t>零输入响应　</a:t>
            </a:r>
            <a:r>
              <a:rPr lang="en-US" altLang="zh-CN" sz="2800">
                <a:ea typeface="隶书" panose="02010509060101010101" pitchFamily="49" charset="-122"/>
              </a:rPr>
              <a:t>Zero-input response</a:t>
            </a:r>
          </a:p>
        </p:txBody>
      </p:sp>
      <p:sp>
        <p:nvSpPr>
          <p:cNvPr id="8196" name="Rectangle 7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8197" name="Rectangle 8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3850" y="1042988"/>
          <a:ext cx="4897438" cy="196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6" name="Visio" r:id="rId3" imgW="2448579" imgH="983173" progId="Visio.Drawing.11">
                  <p:embed/>
                </p:oleObj>
              </mc:Choice>
              <mc:Fallback>
                <p:oleObj name="Visio" r:id="rId3" imgW="2448579" imgH="983173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42988"/>
                        <a:ext cx="4897438" cy="196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9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803900" y="1052513"/>
          <a:ext cx="3330575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7" name="Visio" r:id="rId5" imgW="1665637" imgH="973836" progId="Visio.Drawing.11">
                  <p:embed/>
                </p:oleObj>
              </mc:Choice>
              <mc:Fallback>
                <p:oleObj name="Visio" r:id="rId5" imgW="1665637" imgH="973836" progId="Visio.Drawing.11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1052513"/>
                        <a:ext cx="3330575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9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62175" y="3290888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8" name="Equation" r:id="rId7" imgW="558558" imgH="203112" progId="Equation.DSMT4">
                  <p:embed/>
                </p:oleObj>
              </mc:Choice>
              <mc:Fallback>
                <p:oleObj name="Equation" r:id="rId7" imgW="558558" imgH="203112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3290888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9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508625" y="3081338"/>
          <a:ext cx="31734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9" name="Equation" r:id="rId9" imgW="1269449" imgH="393529" progId="Equation.DSMT4">
                  <p:embed/>
                </p:oleObj>
              </mc:Choice>
              <mc:Fallback>
                <p:oleObj name="Equation" r:id="rId9" imgW="1269449" imgH="393529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081338"/>
                        <a:ext cx="317341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051050" y="4156075"/>
          <a:ext cx="18097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" name="Equation" r:id="rId11" imgW="723586" imgH="190417" progId="Equation.DSMT4">
                  <p:embed/>
                </p:oleObj>
              </mc:Choice>
              <mc:Fallback>
                <p:oleObj name="Equation" r:id="rId11" imgW="723586" imgH="190417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156075"/>
                        <a:ext cx="18097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Rectangle 9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527675" y="4289425"/>
          <a:ext cx="28892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1" name="Equation" r:id="rId13" imgW="1155700" imgH="190500" progId="Equation.DSMT4">
                  <p:embed/>
                </p:oleObj>
              </mc:Choice>
              <mc:Fallback>
                <p:oleObj name="Equation" r:id="rId13" imgW="1155700" imgH="1905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675" y="4289425"/>
                        <a:ext cx="28892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Rectangle 10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979613" y="4983163"/>
          <a:ext cx="55848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2" name="Equation" r:id="rId15" imgW="2234230" imgH="355446" progId="Equation.DSMT4">
                  <p:embed/>
                </p:oleObj>
              </mc:Choice>
              <mc:Fallback>
                <p:oleObj name="Equation" r:id="rId15" imgW="2234230" imgH="355446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983163"/>
                        <a:ext cx="55848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0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398713" y="5946775"/>
          <a:ext cx="47307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3" name="Equation" r:id="rId17" imgW="1892300" imgH="292100" progId="Equation.DSMT4">
                  <p:embed/>
                </p:oleObj>
              </mc:Choice>
              <mc:Fallback>
                <p:oleObj name="Equation" r:id="rId17" imgW="1892300" imgH="2921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5946775"/>
                        <a:ext cx="47307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2860675" y="557213"/>
            <a:ext cx="28797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>
                <a:solidFill>
                  <a:srgbClr val="CC3300"/>
                </a:solidFill>
                <a:ea typeface="隶书" panose="02010509060101010101" pitchFamily="49" charset="-122"/>
              </a:rPr>
              <a:t>8-2-3</a:t>
            </a:r>
            <a:endParaRPr lang="zh-CN" altLang="en-US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076825" y="1268413"/>
            <a:ext cx="3851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</a:t>
            </a:r>
            <a:r>
              <a:rPr kumimoji="1" lang="zh-CN" altLang="en-US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1 A</a:t>
            </a:r>
          </a:p>
        </p:txBody>
      </p:sp>
      <p:sp>
        <p:nvSpPr>
          <p:cNvPr id="38987" name="Text Box 6"/>
          <p:cNvSpPr txBox="1">
            <a:spLocks noChangeArrowheads="1"/>
          </p:cNvSpPr>
          <p:nvPr/>
        </p:nvSpPr>
        <p:spPr bwMode="auto">
          <a:xfrm>
            <a:off x="1050432" y="4869160"/>
            <a:ext cx="3111749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10000V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395288" y="476250"/>
            <a:ext cx="900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9677" name="Text Box 45"/>
          <p:cNvSpPr txBox="1">
            <a:spLocks noChangeArrowheads="1"/>
          </p:cNvSpPr>
          <p:nvPr/>
        </p:nvSpPr>
        <p:spPr bwMode="auto">
          <a:xfrm>
            <a:off x="1258888" y="476250"/>
            <a:ext cx="4968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zh-CN">
                <a:solidFill>
                  <a:schemeClr val="tx1"/>
                </a:solidFill>
                <a:latin typeface="楷体_GB2312" pitchFamily="49" charset="-122"/>
              </a:rPr>
              <a:t>时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,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打开开关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zh-CN">
                <a:solidFill>
                  <a:schemeClr val="tx1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kumimoji="1" lang="en-US" altLang="zh-CN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7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111959"/>
              </p:ext>
            </p:extLst>
          </p:nvPr>
        </p:nvGraphicFramePr>
        <p:xfrm>
          <a:off x="5567363" y="2076450"/>
          <a:ext cx="2759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8" name="Equation" r:id="rId3" imgW="1054080" imgH="241200" progId="Equation.DSMT4">
                  <p:embed/>
                </p:oleObj>
              </mc:Choice>
              <mc:Fallback>
                <p:oleObj name="Equation" r:id="rId3" imgW="1054080" imgH="241200" progId="Equation.DSMT4">
                  <p:embed/>
                  <p:pic>
                    <p:nvPicPr>
                      <p:cNvPr id="69679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2076450"/>
                        <a:ext cx="27590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80" name="Text Box 48"/>
          <p:cNvSpPr txBox="1">
            <a:spLocks noChangeArrowheads="1"/>
          </p:cNvSpPr>
          <p:nvPr/>
        </p:nvSpPr>
        <p:spPr bwMode="auto">
          <a:xfrm>
            <a:off x="5076825" y="549275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。电压表量程：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</a:rPr>
              <a:t>50V</a:t>
            </a:r>
          </a:p>
        </p:txBody>
      </p:sp>
      <p:graphicFrame>
        <p:nvGraphicFramePr>
          <p:cNvPr id="6968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17221"/>
              </p:ext>
            </p:extLst>
          </p:nvPr>
        </p:nvGraphicFramePr>
        <p:xfrm>
          <a:off x="4724399" y="2905124"/>
          <a:ext cx="4085497" cy="88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9" name="Equation" r:id="rId5" imgW="1917360" imgH="393480" progId="Equation.DSMT4">
                  <p:embed/>
                </p:oleObj>
              </mc:Choice>
              <mc:Fallback>
                <p:oleObj name="Equation" r:id="rId5" imgW="1917360" imgH="393480" progId="Equation.DSMT4">
                  <p:embed/>
                  <p:pic>
                    <p:nvPicPr>
                      <p:cNvPr id="6968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399" y="2905124"/>
                        <a:ext cx="4085497" cy="883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8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417849"/>
              </p:ext>
            </p:extLst>
          </p:nvPr>
        </p:nvGraphicFramePr>
        <p:xfrm>
          <a:off x="1115616" y="4019550"/>
          <a:ext cx="50784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0" name="Equation" r:id="rId7" imgW="2082600" imgH="241200" progId="Equation.DSMT4">
                  <p:embed/>
                </p:oleObj>
              </mc:Choice>
              <mc:Fallback>
                <p:oleObj name="Equation" r:id="rId7" imgW="2082600" imgH="241200" progId="Equation.DSMT4">
                  <p:embed/>
                  <p:pic>
                    <p:nvPicPr>
                      <p:cNvPr id="69682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019550"/>
                        <a:ext cx="50784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83" name="Text Box 51"/>
          <p:cNvSpPr txBox="1">
            <a:spLocks noChangeArrowheads="1"/>
          </p:cNvSpPr>
          <p:nvPr/>
        </p:nvSpPr>
        <p:spPr bwMode="auto">
          <a:xfrm>
            <a:off x="4284663" y="1341438"/>
            <a:ext cx="576262" cy="519112"/>
          </a:xfrm>
          <a:prstGeom prst="rect">
            <a:avLst/>
          </a:prstGeom>
          <a:solidFill>
            <a:srgbClr val="990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kumimoji="1" lang="zh-CN" altLang="en-US" i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64"/>
          <p:cNvGrpSpPr>
            <a:grpSpLocks/>
          </p:cNvGrpSpPr>
          <p:nvPr/>
        </p:nvGrpSpPr>
        <p:grpSpPr bwMode="auto">
          <a:xfrm>
            <a:off x="576263" y="1196975"/>
            <a:ext cx="4329112" cy="2190750"/>
            <a:chOff x="363" y="754"/>
            <a:chExt cx="2727" cy="1380"/>
          </a:xfrm>
        </p:grpSpPr>
        <p:sp>
          <p:nvSpPr>
            <p:cNvPr id="38955" name="Oval 101"/>
            <p:cNvSpPr>
              <a:spLocks noChangeArrowheads="1"/>
            </p:cNvSpPr>
            <p:nvPr/>
          </p:nvSpPr>
          <p:spPr bwMode="auto">
            <a:xfrm>
              <a:off x="363" y="1453"/>
              <a:ext cx="362" cy="36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56" name="Line 102"/>
            <p:cNvSpPr>
              <a:spLocks noChangeShapeType="1"/>
            </p:cNvSpPr>
            <p:nvPr/>
          </p:nvSpPr>
          <p:spPr bwMode="auto">
            <a:xfrm>
              <a:off x="1950" y="1272"/>
              <a:ext cx="31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7" name="Text Box 103"/>
            <p:cNvSpPr txBox="1">
              <a:spLocks noChangeArrowheads="1"/>
            </p:cNvSpPr>
            <p:nvPr/>
          </p:nvSpPr>
          <p:spPr bwMode="auto">
            <a:xfrm>
              <a:off x="1631" y="1043"/>
              <a:ext cx="28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8" name="Text Box 104"/>
            <p:cNvSpPr txBox="1">
              <a:spLocks noChangeArrowheads="1"/>
            </p:cNvSpPr>
            <p:nvPr/>
          </p:nvSpPr>
          <p:spPr bwMode="auto">
            <a:xfrm>
              <a:off x="385" y="754"/>
              <a:ext cx="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S(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=0)</a:t>
              </a:r>
            </a:p>
          </p:txBody>
        </p:sp>
        <p:sp>
          <p:nvSpPr>
            <p:cNvPr id="38959" name="Text Box 106"/>
            <p:cNvSpPr txBox="1">
              <a:spLocks noChangeArrowheads="1"/>
            </p:cNvSpPr>
            <p:nvPr/>
          </p:nvSpPr>
          <p:spPr bwMode="auto">
            <a:xfrm>
              <a:off x="612" y="1117"/>
              <a:ext cx="25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8960" name="Text Box 107"/>
            <p:cNvSpPr txBox="1">
              <a:spLocks noChangeArrowheads="1"/>
            </p:cNvSpPr>
            <p:nvPr/>
          </p:nvSpPr>
          <p:spPr bwMode="auto">
            <a:xfrm>
              <a:off x="567" y="1752"/>
              <a:ext cx="2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38961" name="Text Box 108"/>
            <p:cNvSpPr txBox="1">
              <a:spLocks noChangeArrowheads="1"/>
            </p:cNvSpPr>
            <p:nvPr/>
          </p:nvSpPr>
          <p:spPr bwMode="auto">
            <a:xfrm>
              <a:off x="1020" y="1253"/>
              <a:ext cx="3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38962" name="Text Box 109"/>
            <p:cNvSpPr txBox="1">
              <a:spLocks noChangeArrowheads="1"/>
            </p:cNvSpPr>
            <p:nvPr/>
          </p:nvSpPr>
          <p:spPr bwMode="auto">
            <a:xfrm>
              <a:off x="2449" y="1499"/>
              <a:ext cx="6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=4H</a:t>
              </a:r>
            </a:p>
          </p:txBody>
        </p:sp>
        <p:sp>
          <p:nvSpPr>
            <p:cNvPr id="38963" name="Text Box 110"/>
            <p:cNvSpPr txBox="1">
              <a:spLocks noChangeArrowheads="1"/>
            </p:cNvSpPr>
            <p:nvPr/>
          </p:nvSpPr>
          <p:spPr bwMode="auto">
            <a:xfrm>
              <a:off x="1587" y="773"/>
              <a:ext cx="7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64" name="Line 111"/>
            <p:cNvSpPr>
              <a:spLocks noChangeShapeType="1"/>
            </p:cNvSpPr>
            <p:nvPr/>
          </p:nvSpPr>
          <p:spPr bwMode="auto">
            <a:xfrm flipH="1">
              <a:off x="1300" y="1090"/>
              <a:ext cx="110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5" name="Line 112"/>
            <p:cNvSpPr>
              <a:spLocks noChangeShapeType="1"/>
            </p:cNvSpPr>
            <p:nvPr/>
          </p:nvSpPr>
          <p:spPr bwMode="auto">
            <a:xfrm flipH="1">
              <a:off x="544" y="1090"/>
              <a:ext cx="5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6" name="Line 113"/>
            <p:cNvSpPr>
              <a:spLocks noChangeShapeType="1"/>
            </p:cNvSpPr>
            <p:nvPr/>
          </p:nvSpPr>
          <p:spPr bwMode="auto">
            <a:xfrm>
              <a:off x="544" y="2134"/>
              <a:ext cx="187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7" name="Line 114"/>
            <p:cNvSpPr>
              <a:spLocks noChangeShapeType="1"/>
            </p:cNvSpPr>
            <p:nvPr/>
          </p:nvSpPr>
          <p:spPr bwMode="auto">
            <a:xfrm flipV="1">
              <a:off x="2404" y="1861"/>
              <a:ext cx="0" cy="2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8" name="Line 115"/>
            <p:cNvSpPr>
              <a:spLocks noChangeShapeType="1"/>
            </p:cNvSpPr>
            <p:nvPr/>
          </p:nvSpPr>
          <p:spPr bwMode="auto">
            <a:xfrm>
              <a:off x="2404" y="1090"/>
              <a:ext cx="0" cy="3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9" name="Line 116"/>
            <p:cNvSpPr>
              <a:spLocks noChangeShapeType="1"/>
            </p:cNvSpPr>
            <p:nvPr/>
          </p:nvSpPr>
          <p:spPr bwMode="auto">
            <a:xfrm flipV="1">
              <a:off x="544" y="109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0" name="Line 117"/>
            <p:cNvSpPr>
              <a:spLocks noChangeShapeType="1"/>
            </p:cNvSpPr>
            <p:nvPr/>
          </p:nvSpPr>
          <p:spPr bwMode="auto">
            <a:xfrm>
              <a:off x="1496" y="109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71" name="Group 118"/>
            <p:cNvGrpSpPr>
              <a:grpSpLocks/>
            </p:cNvGrpSpPr>
            <p:nvPr/>
          </p:nvGrpSpPr>
          <p:grpSpPr bwMode="auto">
            <a:xfrm>
              <a:off x="1315" y="1408"/>
              <a:ext cx="363" cy="303"/>
              <a:chOff x="2160" y="2400"/>
              <a:chExt cx="255" cy="240"/>
            </a:xfrm>
          </p:grpSpPr>
          <p:sp>
            <p:nvSpPr>
              <p:cNvPr id="38981" name="Oval 119" descr="花束"/>
              <p:cNvSpPr>
                <a:spLocks noChangeArrowheads="1"/>
              </p:cNvSpPr>
              <p:nvPr/>
            </p:nvSpPr>
            <p:spPr bwMode="auto">
              <a:xfrm>
                <a:off x="2160" y="2400"/>
                <a:ext cx="240" cy="240"/>
              </a:xfrm>
              <a:prstGeom prst="ellipse">
                <a:avLst/>
              </a:prstGeom>
              <a:blipFill dpi="0" rotWithShape="1">
                <a:blip r:embed="rId9"/>
                <a:srcRect/>
                <a:tile tx="0" ty="0" sx="100000" sy="100000" flip="none" algn="tl"/>
              </a:blip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240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8982" name="Text Box 120"/>
              <p:cNvSpPr txBox="1">
                <a:spLocks noChangeArrowheads="1"/>
              </p:cNvSpPr>
              <p:nvPr/>
            </p:nvSpPr>
            <p:spPr bwMode="auto">
              <a:xfrm>
                <a:off x="2160" y="2405"/>
                <a:ext cx="255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</a:p>
            </p:txBody>
          </p:sp>
        </p:grpSp>
        <p:sp>
          <p:nvSpPr>
            <p:cNvPr id="38972" name="Text Box 121"/>
            <p:cNvSpPr txBox="1">
              <a:spLocks noChangeArrowheads="1"/>
            </p:cNvSpPr>
            <p:nvPr/>
          </p:nvSpPr>
          <p:spPr bwMode="auto">
            <a:xfrm>
              <a:off x="1542" y="1429"/>
              <a:ext cx="624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10k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73" name="Text Box 122"/>
            <p:cNvSpPr txBox="1">
              <a:spLocks noChangeArrowheads="1"/>
            </p:cNvSpPr>
            <p:nvPr/>
          </p:nvSpPr>
          <p:spPr bwMode="auto">
            <a:xfrm>
              <a:off x="657" y="1480"/>
              <a:ext cx="5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10V</a:t>
              </a:r>
            </a:p>
          </p:txBody>
        </p:sp>
        <p:sp>
          <p:nvSpPr>
            <p:cNvPr id="38974" name="Line 123"/>
            <p:cNvSpPr>
              <a:spLocks noChangeShapeType="1"/>
            </p:cNvSpPr>
            <p:nvPr/>
          </p:nvSpPr>
          <p:spPr bwMode="auto">
            <a:xfrm flipV="1">
              <a:off x="1066" y="1026"/>
              <a:ext cx="363" cy="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5" name="Line 124"/>
            <p:cNvSpPr>
              <a:spLocks noChangeShapeType="1"/>
            </p:cNvSpPr>
            <p:nvPr/>
          </p:nvSpPr>
          <p:spPr bwMode="auto">
            <a:xfrm flipH="1" flipV="1">
              <a:off x="1111" y="890"/>
              <a:ext cx="91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76" name="Group 125"/>
            <p:cNvGrpSpPr>
              <a:grpSpLocks/>
            </p:cNvGrpSpPr>
            <p:nvPr/>
          </p:nvGrpSpPr>
          <p:grpSpPr bwMode="auto">
            <a:xfrm rot="5400000">
              <a:off x="1950" y="1363"/>
              <a:ext cx="499" cy="590"/>
              <a:chOff x="476" y="663"/>
              <a:chExt cx="771" cy="862"/>
            </a:xfrm>
          </p:grpSpPr>
          <p:sp>
            <p:nvSpPr>
              <p:cNvPr id="38978" name="AutoShape 126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79" name="AutoShape 127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980" name="AutoShape 128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8977" name="Rectangle 129"/>
            <p:cNvSpPr>
              <a:spLocks noChangeArrowheads="1"/>
            </p:cNvSpPr>
            <p:nvPr/>
          </p:nvSpPr>
          <p:spPr bwMode="auto">
            <a:xfrm>
              <a:off x="1814" y="1045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5" name="Group 156"/>
          <p:cNvGrpSpPr>
            <a:grpSpLocks/>
          </p:cNvGrpSpPr>
          <p:nvPr/>
        </p:nvGrpSpPr>
        <p:grpSpPr bwMode="auto">
          <a:xfrm>
            <a:off x="1001714" y="5661248"/>
            <a:ext cx="2886074" cy="592138"/>
            <a:chOff x="465" y="2863"/>
            <a:chExt cx="1818" cy="373"/>
          </a:xfrm>
        </p:grpSpPr>
        <p:sp>
          <p:nvSpPr>
            <p:cNvPr id="46" name="Text Box 6"/>
            <p:cNvSpPr txBox="1">
              <a:spLocks noChangeArrowheads="1"/>
            </p:cNvSpPr>
            <p:nvPr/>
          </p:nvSpPr>
          <p:spPr bwMode="auto">
            <a:xfrm>
              <a:off x="465" y="2863"/>
              <a:ext cx="571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1" lang="zh-CN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造成</a:t>
              </a:r>
              <a:endPara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7" name="Group 7"/>
            <p:cNvGrpSpPr>
              <a:grpSpLocks/>
            </p:cNvGrpSpPr>
            <p:nvPr/>
          </p:nvGrpSpPr>
          <p:grpSpPr bwMode="auto">
            <a:xfrm>
              <a:off x="1066" y="2931"/>
              <a:ext cx="363" cy="303"/>
              <a:chOff x="3264" y="3840"/>
              <a:chExt cx="255" cy="240"/>
            </a:xfrm>
          </p:grpSpPr>
          <p:sp>
            <p:nvSpPr>
              <p:cNvPr id="49" name="Oval 8" descr="花束"/>
              <p:cNvSpPr>
                <a:spLocks noChangeArrowheads="1"/>
              </p:cNvSpPr>
              <p:nvPr/>
            </p:nvSpPr>
            <p:spPr bwMode="auto">
              <a:xfrm>
                <a:off x="3264" y="3840"/>
                <a:ext cx="240" cy="240"/>
              </a:xfrm>
              <a:prstGeom prst="ellipse">
                <a:avLst/>
              </a:prstGeom>
              <a:blipFill dpi="0" rotWithShape="1">
                <a:blip r:embed="rId9"/>
                <a:srcRect/>
                <a:tile tx="0" ty="0" sx="100000" sy="100000" flip="none" algn="tl"/>
              </a:blip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240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0" name="Text Box 9"/>
              <p:cNvSpPr txBox="1">
                <a:spLocks noChangeArrowheads="1"/>
              </p:cNvSpPr>
              <p:nvPr/>
            </p:nvSpPr>
            <p:spPr bwMode="auto">
              <a:xfrm>
                <a:off x="3264" y="3845"/>
                <a:ext cx="255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</a:p>
            </p:txBody>
          </p:sp>
        </p:grp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1474" y="2931"/>
              <a:ext cx="8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损坏。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882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6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build="p" autoUpdateAnimBg="0"/>
      <p:bldP spid="38987" grpId="0"/>
      <p:bldP spid="69644" grpId="0"/>
      <p:bldP spid="69677" grpId="0" autoUpdateAnimBg="0"/>
      <p:bldP spid="69680" grpId="0" autoUpdateAnimBg="0"/>
      <p:bldP spid="6968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611188" y="1125538"/>
            <a:ext cx="771525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一阶电路的零输入响应是由储能元件的初值引起的响应</a:t>
            </a: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都是由初始值衰减为零的指数衰减函数；</a:t>
            </a:r>
          </a:p>
        </p:txBody>
      </p:sp>
      <p:sp>
        <p:nvSpPr>
          <p:cNvPr id="41988" name="Text Box 11"/>
          <p:cNvSpPr txBox="1">
            <a:spLocks noChangeArrowheads="1"/>
          </p:cNvSpPr>
          <p:nvPr/>
        </p:nvSpPr>
        <p:spPr bwMode="auto">
          <a:xfrm>
            <a:off x="2374900" y="2352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kumimoji="1" lang="zh-CN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75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086844"/>
              </p:ext>
            </p:extLst>
          </p:nvPr>
        </p:nvGraphicFramePr>
        <p:xfrm>
          <a:off x="2267744" y="2781300"/>
          <a:ext cx="3671887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" name="公式" r:id="rId3" imgW="1104840" imgH="355320" progId="Equation.3">
                  <p:embed/>
                </p:oleObj>
              </mc:Choice>
              <mc:Fallback>
                <p:oleObj name="公式" r:id="rId3" imgW="1104840" imgH="355320" progId="Equation.3">
                  <p:embed/>
                  <p:pic>
                    <p:nvPicPr>
                      <p:cNvPr id="675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781300"/>
                        <a:ext cx="3671887" cy="11747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979613" y="4217988"/>
            <a:ext cx="4660927" cy="1314450"/>
            <a:chOff x="2880" y="1205"/>
            <a:chExt cx="2481" cy="828"/>
          </a:xfrm>
        </p:grpSpPr>
        <p:sp>
          <p:nvSpPr>
            <p:cNvPr id="42002" name="Text Box 15"/>
            <p:cNvSpPr txBox="1">
              <a:spLocks noChangeArrowheads="1"/>
            </p:cNvSpPr>
            <p:nvPr/>
          </p:nvSpPr>
          <p:spPr bwMode="auto">
            <a:xfrm>
              <a:off x="3696" y="1615"/>
              <a:ext cx="149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 </a:t>
              </a: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42003" name="Text Box 19"/>
            <p:cNvSpPr txBox="1">
              <a:spLocks noChangeArrowheads="1"/>
            </p:cNvSpPr>
            <p:nvPr/>
          </p:nvSpPr>
          <p:spPr bwMode="auto">
            <a:xfrm>
              <a:off x="3808" y="1205"/>
              <a:ext cx="155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= </a:t>
              </a: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42004" name="Text Box 23"/>
            <p:cNvSpPr txBox="1">
              <a:spLocks noChangeArrowheads="1"/>
            </p:cNvSpPr>
            <p:nvPr/>
          </p:nvSpPr>
          <p:spPr bwMode="auto">
            <a:xfrm>
              <a:off x="2925" y="1344"/>
              <a:ext cx="8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RC</a:t>
              </a:r>
              <a:r>
                <a:rPr lang="zh-CN" altLang="en-US">
                  <a:solidFill>
                    <a:schemeClr val="tx1"/>
                  </a:solidFill>
                  <a:latin typeface="楷体_GB2312" pitchFamily="49" charset="-122"/>
                </a:rPr>
                <a:t>电路</a:t>
              </a:r>
            </a:p>
          </p:txBody>
        </p:sp>
        <p:sp>
          <p:nvSpPr>
            <p:cNvPr id="42005" name="Text Box 24"/>
            <p:cNvSpPr txBox="1">
              <a:spLocks noChangeArrowheads="1"/>
            </p:cNvSpPr>
            <p:nvPr/>
          </p:nvSpPr>
          <p:spPr bwMode="auto">
            <a:xfrm>
              <a:off x="2880" y="1706"/>
              <a:ext cx="8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RL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</a:rPr>
                <a:t>电路</a:t>
              </a:r>
            </a:p>
          </p:txBody>
        </p:sp>
      </p:grpSp>
      <p:sp>
        <p:nvSpPr>
          <p:cNvPr id="41997" name="Text Box 40"/>
          <p:cNvSpPr txBox="1">
            <a:spLocks noChangeArrowheads="1"/>
          </p:cNvSpPr>
          <p:nvPr/>
        </p:nvSpPr>
        <p:spPr bwMode="auto">
          <a:xfrm>
            <a:off x="611188" y="561071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117182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900113" y="4573330"/>
            <a:ext cx="7099300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4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一阶电路的零输入响应和初始值成正比，称为零输入线性。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900113" y="1303338"/>
            <a:ext cx="532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zh-CN">
                <a:solidFill>
                  <a:schemeClr val="tx1"/>
                </a:solidFill>
                <a:latin typeface="楷体_GB2312" pitchFamily="49" charset="-122"/>
              </a:rPr>
              <a:t>衰减快慢取决于时间常数</a:t>
            </a:r>
            <a:r>
              <a:rPr kumimoji="1" lang="zh-CN" altLang="en-US" i="1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</a:t>
            </a:r>
            <a:r>
              <a:rPr kumimoji="1" lang="zh-CN" altLang="en-US" b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；</a:t>
            </a:r>
            <a:endParaRPr kumimoji="1" lang="zh-CN" altLang="en-US" b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900113" y="3937000"/>
            <a:ext cx="732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同一电路中所有响应具有相同的时间常数；</a:t>
            </a:r>
          </a:p>
        </p:txBody>
      </p:sp>
      <p:sp>
        <p:nvSpPr>
          <p:cNvPr id="167941" name="Text Box 6"/>
          <p:cNvSpPr txBox="1">
            <a:spLocks noChangeArrowheads="1"/>
          </p:cNvSpPr>
          <p:nvPr/>
        </p:nvSpPr>
        <p:spPr bwMode="auto">
          <a:xfrm>
            <a:off x="2374900" y="25304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kumimoji="1" lang="zh-CN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54" name="Text Box 21"/>
          <p:cNvSpPr txBox="1">
            <a:spLocks noChangeArrowheads="1"/>
          </p:cNvSpPr>
          <p:nvPr/>
        </p:nvSpPr>
        <p:spPr bwMode="auto">
          <a:xfrm>
            <a:off x="755576" y="639767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小结</a:t>
            </a:r>
          </a:p>
        </p:txBody>
      </p:sp>
      <p:sp>
        <p:nvSpPr>
          <p:cNvPr id="115734" name="Rectangle 22"/>
          <p:cNvSpPr>
            <a:spLocks noChangeArrowheads="1"/>
          </p:cNvSpPr>
          <p:nvPr/>
        </p:nvSpPr>
        <p:spPr bwMode="auto">
          <a:xfrm>
            <a:off x="2051050" y="1951038"/>
            <a:ext cx="2160588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kumimoji="1"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= </a:t>
            </a:r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 C</a:t>
            </a: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4500563" y="1951038"/>
            <a:ext cx="2303462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kumimoji="1"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= </a:t>
            </a:r>
            <a:r>
              <a:rPr kumimoji="1"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L/R</a:t>
            </a:r>
          </a:p>
        </p:txBody>
      </p:sp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684213" y="3175000"/>
            <a:ext cx="718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为与动态元件相连的一端口电路的等效电阻</a:t>
            </a:r>
          </a:p>
        </p:txBody>
      </p:sp>
      <p:sp>
        <p:nvSpPr>
          <p:cNvPr id="115737" name="AutoShape 25"/>
          <p:cNvSpPr>
            <a:spLocks noChangeArrowheads="1"/>
          </p:cNvSpPr>
          <p:nvPr/>
        </p:nvSpPr>
        <p:spPr bwMode="auto">
          <a:xfrm>
            <a:off x="468313" y="1878013"/>
            <a:ext cx="1079500" cy="1008062"/>
          </a:xfrm>
          <a:prstGeom prst="wedgeRoundRectCallout">
            <a:avLst>
              <a:gd name="adj1" fmla="val 108972"/>
              <a:gd name="adj2" fmla="val -5435"/>
              <a:gd name="adj3" fmla="val 16667"/>
            </a:avLst>
          </a:pr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b="0" i="1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RC</a:t>
            </a:r>
          </a:p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sp>
        <p:nvSpPr>
          <p:cNvPr id="115738" name="AutoShape 26"/>
          <p:cNvSpPr>
            <a:spLocks noChangeArrowheads="1"/>
          </p:cNvSpPr>
          <p:nvPr/>
        </p:nvSpPr>
        <p:spPr bwMode="auto">
          <a:xfrm>
            <a:off x="7451725" y="2022475"/>
            <a:ext cx="1079500" cy="1008063"/>
          </a:xfrm>
          <a:prstGeom prst="wedgeRoundRectCallout">
            <a:avLst>
              <a:gd name="adj1" fmla="val -132500"/>
              <a:gd name="adj2" fmla="val -21023"/>
              <a:gd name="adj3" fmla="val 16667"/>
            </a:avLst>
          </a:prstGeom>
          <a:solidFill>
            <a:srgbClr val="00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b="0" i="1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RL</a:t>
            </a:r>
          </a:p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</p:spTree>
    <p:extLst>
      <p:ext uri="{BB962C8B-B14F-4D97-AF65-F5344CB8AC3E}">
        <p14:creationId xmlns:p14="http://schemas.microsoft.com/office/powerpoint/2010/main" val="179799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utoUpdateAnimBg="0"/>
      <p:bldP spid="115716" grpId="0" autoUpdateAnimBg="0"/>
      <p:bldP spid="115717" grpId="0" autoUpdateAnimBg="0"/>
      <p:bldP spid="115734" grpId="0" animBg="1"/>
      <p:bldP spid="115735" grpId="0" animBg="1"/>
      <p:bldP spid="115736" grpId="0"/>
      <p:bldP spid="115737" grpId="0" animBg="1"/>
      <p:bldP spid="1157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63888" y="3742698"/>
            <a:ext cx="540060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动态元件初始能量为零，由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&gt;0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电路中外加激励作用所产生的响应。</a:t>
            </a:r>
          </a:p>
        </p:txBody>
      </p:sp>
      <p:sp>
        <p:nvSpPr>
          <p:cNvPr id="7" name="Text Box 57"/>
          <p:cNvSpPr txBox="1">
            <a:spLocks noChangeArrowheads="1"/>
          </p:cNvSpPr>
          <p:nvPr/>
        </p:nvSpPr>
        <p:spPr bwMode="auto">
          <a:xfrm>
            <a:off x="251791" y="3887161"/>
            <a:ext cx="2303463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零状态响应</a:t>
            </a:r>
          </a:p>
        </p:txBody>
      </p:sp>
      <p:sp>
        <p:nvSpPr>
          <p:cNvPr id="8" name="AutoShape 58"/>
          <p:cNvSpPr>
            <a:spLocks noChangeArrowheads="1"/>
          </p:cNvSpPr>
          <p:nvPr/>
        </p:nvSpPr>
        <p:spPr bwMode="auto">
          <a:xfrm>
            <a:off x="2822702" y="4073148"/>
            <a:ext cx="576263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491880" y="2446554"/>
            <a:ext cx="534732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换路后外加激励为零，仅由动态元件初始储能产生的电压和电流。</a:t>
            </a:r>
          </a:p>
        </p:txBody>
      </p:sp>
      <p:sp>
        <p:nvSpPr>
          <p:cNvPr id="10" name="Text Box 60"/>
          <p:cNvSpPr txBox="1">
            <a:spLocks noChangeArrowheads="1"/>
          </p:cNvSpPr>
          <p:nvPr/>
        </p:nvSpPr>
        <p:spPr bwMode="auto">
          <a:xfrm>
            <a:off x="251792" y="2662454"/>
            <a:ext cx="2303463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98000" rIns="19800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零输入响应</a:t>
            </a:r>
          </a:p>
        </p:txBody>
      </p:sp>
      <p:sp>
        <p:nvSpPr>
          <p:cNvPr id="11" name="AutoShape 61"/>
          <p:cNvSpPr>
            <a:spLocks noChangeArrowheads="1"/>
          </p:cNvSpPr>
          <p:nvPr/>
        </p:nvSpPr>
        <p:spPr bwMode="auto">
          <a:xfrm>
            <a:off x="2793095" y="2856097"/>
            <a:ext cx="576262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896" y="4953825"/>
            <a:ext cx="5508104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电路的初始状态不为零，同时又有外加激励源作用时电路中产生的响应。</a:t>
            </a:r>
          </a:p>
        </p:txBody>
      </p:sp>
      <p:sp>
        <p:nvSpPr>
          <p:cNvPr id="13" name="Text Box 66"/>
          <p:cNvSpPr txBox="1">
            <a:spLocks noChangeArrowheads="1"/>
          </p:cNvSpPr>
          <p:nvPr/>
        </p:nvSpPr>
        <p:spPr bwMode="auto">
          <a:xfrm>
            <a:off x="256547" y="5241162"/>
            <a:ext cx="2298707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全响应</a:t>
            </a:r>
          </a:p>
        </p:txBody>
      </p:sp>
      <p:sp>
        <p:nvSpPr>
          <p:cNvPr id="14" name="AutoShape 67"/>
          <p:cNvSpPr>
            <a:spLocks noChangeArrowheads="1"/>
          </p:cNvSpPr>
          <p:nvPr/>
        </p:nvSpPr>
        <p:spPr bwMode="auto">
          <a:xfrm>
            <a:off x="2844180" y="5527251"/>
            <a:ext cx="576263" cy="173981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1" y="391066"/>
            <a:ext cx="770616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0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908721"/>
            <a:ext cx="3182888" cy="18810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9" y="898368"/>
            <a:ext cx="3661697" cy="18723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57459"/>
            <a:ext cx="3705225" cy="504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993" y="2756836"/>
            <a:ext cx="3171825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243620"/>
            <a:ext cx="4362450" cy="514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33" y="4263988"/>
            <a:ext cx="4552950" cy="4667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147265" y="38001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通解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00735" y="37788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特解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683" y="3607772"/>
            <a:ext cx="3312368" cy="1467894"/>
          </a:xfrm>
          <a:prstGeom prst="rect">
            <a:avLst/>
          </a:prstGeom>
        </p:spPr>
      </p:pic>
      <p:sp>
        <p:nvSpPr>
          <p:cNvPr id="14" name="Rectangle 50"/>
          <p:cNvSpPr>
            <a:spLocks noChangeArrowheads="1"/>
          </p:cNvSpPr>
          <p:nvPr/>
        </p:nvSpPr>
        <p:spPr bwMode="auto">
          <a:xfrm>
            <a:off x="107156" y="203706"/>
            <a:ext cx="7056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.1 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一阶电路的零状态响应         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33" y="4731488"/>
            <a:ext cx="3552825" cy="800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3" y="5532363"/>
            <a:ext cx="5974467" cy="5266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297" y="6076564"/>
            <a:ext cx="2420629" cy="47618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5061" y="6059038"/>
            <a:ext cx="3103612" cy="65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2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764704"/>
            <a:ext cx="3960440" cy="24696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764704"/>
            <a:ext cx="3344905" cy="2469603"/>
          </a:xfrm>
          <a:prstGeom prst="rect">
            <a:avLst/>
          </a:prstGeom>
        </p:spPr>
      </p:pic>
      <p:sp>
        <p:nvSpPr>
          <p:cNvPr id="7" name="Rectangle 50"/>
          <p:cNvSpPr>
            <a:spLocks noChangeArrowheads="1"/>
          </p:cNvSpPr>
          <p:nvPr/>
        </p:nvSpPr>
        <p:spPr bwMode="auto">
          <a:xfrm>
            <a:off x="107156" y="203706"/>
            <a:ext cx="7056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.1 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一阶电路的零状态响应        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60" y="3993259"/>
            <a:ext cx="2324340" cy="1451965"/>
          </a:xfrm>
          <a:prstGeom prst="rect">
            <a:avLst/>
          </a:prstGeom>
        </p:spPr>
      </p:pic>
      <p:graphicFrame>
        <p:nvGraphicFramePr>
          <p:cNvPr id="9" name="Object 5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05114"/>
              </p:ext>
            </p:extLst>
          </p:nvPr>
        </p:nvGraphicFramePr>
        <p:xfrm>
          <a:off x="548481" y="3396391"/>
          <a:ext cx="15700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2" name="Equation" r:id="rId6" imgW="787320" imgH="342720" progId="Equation.DSMT4">
                  <p:embed/>
                </p:oleObj>
              </mc:Choice>
              <mc:Fallback>
                <p:oleObj name="Equation" r:id="rId6" imgW="787320" imgH="342720" progId="Equation.DSMT4">
                  <p:embed/>
                  <p:pic>
                    <p:nvPicPr>
                      <p:cNvPr id="182778" name="Object 5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" y="3396391"/>
                        <a:ext cx="15700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55532"/>
              </p:ext>
            </p:extLst>
          </p:nvPr>
        </p:nvGraphicFramePr>
        <p:xfrm>
          <a:off x="1979712" y="3531151"/>
          <a:ext cx="1065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3" name="Equation" r:id="rId8" imgW="533160" imgH="215640" progId="Equation.DSMT4">
                  <p:embed/>
                </p:oleObj>
              </mc:Choice>
              <mc:Fallback>
                <p:oleObj name="Equation" r:id="rId8" imgW="533160" imgH="215640" progId="Equation.DSMT4">
                  <p:embed/>
                  <p:pic>
                    <p:nvPicPr>
                      <p:cNvPr id="49" name="Object 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531151"/>
                        <a:ext cx="1065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39552" y="31682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零输入响应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2635" y="3950283"/>
            <a:ext cx="2748422" cy="1710129"/>
          </a:xfrm>
          <a:prstGeom prst="rect">
            <a:avLst/>
          </a:prstGeom>
        </p:spPr>
      </p:pic>
      <p:graphicFrame>
        <p:nvGraphicFramePr>
          <p:cNvPr id="1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595085"/>
              </p:ext>
            </p:extLst>
          </p:nvPr>
        </p:nvGraphicFramePr>
        <p:xfrm>
          <a:off x="4649498" y="3212976"/>
          <a:ext cx="3230124" cy="80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4" name="Equation" r:id="rId11" imgW="1663560" imgH="419040" progId="Equation.DSMT4">
                  <p:embed/>
                </p:oleObj>
              </mc:Choice>
              <mc:Fallback>
                <p:oleObj name="Equation" r:id="rId11" imgW="1663560" imgH="419040" progId="Equation.DSMT4">
                  <p:embed/>
                  <p:pic>
                    <p:nvPicPr>
                      <p:cNvPr id="5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498" y="3212976"/>
                        <a:ext cx="3230124" cy="805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3406" y="5548669"/>
            <a:ext cx="90905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 </a:t>
            </a:r>
            <a:r>
              <a:rPr lang="zh-CN" altLang="en-US" dirty="0"/>
              <a:t>电路暂态过程的长短与电源激励、初始储能无关，取决于时间常数 </a:t>
            </a:r>
            <a:r>
              <a:rPr lang="en-US" altLang="zh-CN" dirty="0" smtClean="0"/>
              <a:t>τ</a:t>
            </a:r>
            <a:r>
              <a:rPr lang="zh-CN" altLang="en-US" dirty="0" smtClean="0"/>
              <a:t> 。换</a:t>
            </a:r>
            <a:r>
              <a:rPr lang="zh-CN" altLang="en-US" dirty="0"/>
              <a:t>路后，电路经过 </a:t>
            </a:r>
            <a:r>
              <a:rPr lang="en-US" altLang="zh-CN" dirty="0" smtClean="0"/>
              <a:t>3τ~5τ </a:t>
            </a:r>
            <a:r>
              <a:rPr lang="zh-CN" altLang="en-US" dirty="0"/>
              <a:t>过渡过程结束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零状态</a:t>
            </a:r>
            <a:r>
              <a:rPr lang="zh-CN" altLang="en-US" dirty="0"/>
              <a:t>响应与</a:t>
            </a:r>
            <a:r>
              <a:rPr lang="zh-CN" altLang="en-US" dirty="0">
                <a:solidFill>
                  <a:srgbClr val="FF0000"/>
                </a:solidFill>
              </a:rPr>
              <a:t>独立电源</a:t>
            </a:r>
            <a:r>
              <a:rPr lang="zh-CN" altLang="en-US" dirty="0"/>
              <a:t>的输出量呈</a:t>
            </a:r>
            <a:r>
              <a:rPr lang="zh-CN" altLang="en-US" dirty="0" smtClean="0"/>
              <a:t>线性关系；</a:t>
            </a:r>
            <a:r>
              <a:rPr lang="zh-CN" altLang="en-US" dirty="0" smtClean="0">
                <a:solidFill>
                  <a:srgbClr val="FF0000"/>
                </a:solidFill>
              </a:rPr>
              <a:t>零输入响应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FF0000"/>
                </a:solidFill>
              </a:rPr>
              <a:t>储能元件初始状态</a:t>
            </a:r>
            <a:r>
              <a:rPr lang="zh-CN" altLang="en-US" dirty="0" smtClean="0"/>
              <a:t>呈线性关系。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85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z="1200" smtClean="0"/>
              <a:pPr>
                <a:defRPr/>
              </a:pPr>
              <a:t>2022/4/11</a:t>
            </a:fld>
            <a:endParaRPr lang="en-US" altLang="zh-CN" sz="120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200" smtClean="0"/>
              <a:t>电路理论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z="1200" smtClean="0"/>
              <a:pPr>
                <a:defRPr/>
              </a:pPr>
              <a:t>22</a:t>
            </a:fld>
            <a:endParaRPr lang="en-US" altLang="zh-CN" sz="12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6923" y="696699"/>
            <a:ext cx="83185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响应变化的快慢，由时间常数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＝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决定；</a:t>
            </a:r>
            <a:r>
              <a:rPr kumimoji="1" lang="zh-CN" altLang="en-US" sz="2400" i="1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大，充电慢，</a:t>
            </a:r>
            <a:r>
              <a:rPr kumimoji="1" lang="zh-CN" altLang="en-US" sz="2400" i="1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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小充电就快；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95288" y="1586061"/>
            <a:ext cx="55070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响应与外加激励成线性关系；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95288" y="2233761"/>
            <a:ext cx="2449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4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468313" y="4422774"/>
            <a:ext cx="3775075" cy="895350"/>
            <a:chOff x="295" y="1878"/>
            <a:chExt cx="2378" cy="564"/>
          </a:xfrm>
        </p:grpSpPr>
        <p:graphicFrame>
          <p:nvGraphicFramePr>
            <p:cNvPr id="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0688656"/>
                </p:ext>
              </p:extLst>
            </p:nvPr>
          </p:nvGraphicFramePr>
          <p:xfrm>
            <a:off x="1963" y="1878"/>
            <a:ext cx="710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0" name="Equation" r:id="rId3" imgW="495000" imgH="393480" progId="Equation.DSMT4">
                    <p:embed/>
                  </p:oleObj>
                </mc:Choice>
                <mc:Fallback>
                  <p:oleObj name="Equation" r:id="rId3" imgW="495000" imgH="393480" progId="Equation.DSMT4">
                    <p:embed/>
                    <p:pic>
                      <p:nvPicPr>
                        <p:cNvPr id="4710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3" y="1878"/>
                          <a:ext cx="710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95" y="1997"/>
              <a:ext cx="18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电容储存能量：</a:t>
              </a:r>
            </a:p>
          </p:txBody>
        </p:sp>
      </p:grp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468313" y="2767013"/>
            <a:ext cx="5994400" cy="809625"/>
            <a:chOff x="340" y="2469"/>
            <a:chExt cx="3776" cy="510"/>
          </a:xfrm>
        </p:grpSpPr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340" y="2526"/>
              <a:ext cx="14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电源提供能量：</a:t>
              </a:r>
            </a:p>
          </p:txBody>
        </p:sp>
        <p:graphicFrame>
          <p:nvGraphicFramePr>
            <p:cNvPr id="13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1711964"/>
                </p:ext>
              </p:extLst>
            </p:nvPr>
          </p:nvGraphicFramePr>
          <p:xfrm>
            <a:off x="2064" y="2469"/>
            <a:ext cx="2052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1" name="Equation" r:id="rId5" imgW="1422360" imgH="355320" progId="Equation.DSMT4">
                    <p:embed/>
                  </p:oleObj>
                </mc:Choice>
                <mc:Fallback>
                  <p:oleObj name="Equation" r:id="rId5" imgW="1422360" imgH="355320" progId="Equation.DSMT4">
                    <p:embed/>
                    <p:pic>
                      <p:nvPicPr>
                        <p:cNvPr id="4710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469"/>
                          <a:ext cx="2052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863153"/>
              </p:ext>
            </p:extLst>
          </p:nvPr>
        </p:nvGraphicFramePr>
        <p:xfrm>
          <a:off x="7189788" y="4306888"/>
          <a:ext cx="14160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2" name="Equation" r:id="rId7" imgW="558720" imgH="393480" progId="Equation.DSMT4">
                  <p:embed/>
                </p:oleObj>
              </mc:Choice>
              <mc:Fallback>
                <p:oleObj name="Equation" r:id="rId7" imgW="558720" imgH="393480" progId="Equation.DSMT4">
                  <p:embed/>
                  <p:pic>
                    <p:nvPicPr>
                      <p:cNvPr id="634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788" y="4306888"/>
                        <a:ext cx="14160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54"/>
          <p:cNvGrpSpPr>
            <a:grpSpLocks/>
          </p:cNvGrpSpPr>
          <p:nvPr/>
        </p:nvGrpSpPr>
        <p:grpSpPr bwMode="auto">
          <a:xfrm>
            <a:off x="468313" y="3543303"/>
            <a:ext cx="7107237" cy="958850"/>
            <a:chOff x="249" y="3049"/>
            <a:chExt cx="4477" cy="604"/>
          </a:xfrm>
        </p:grpSpPr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249" y="3176"/>
              <a:ext cx="17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电阻消耗能量：</a:t>
              </a:r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2768809"/>
                </p:ext>
              </p:extLst>
            </p:nvPr>
          </p:nvGraphicFramePr>
          <p:xfrm>
            <a:off x="1974" y="3049"/>
            <a:ext cx="2752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3" name="Equation" r:id="rId9" imgW="1904760" imgH="419040" progId="Equation.DSMT4">
                    <p:embed/>
                  </p:oleObj>
                </mc:Choice>
                <mc:Fallback>
                  <p:oleObj name="Equation" r:id="rId9" imgW="1904760" imgH="419040" progId="Equation.DSMT4">
                    <p:embed/>
                    <p:pic>
                      <p:nvPicPr>
                        <p:cNvPr id="4710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3049"/>
                          <a:ext cx="2752" cy="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38" descr="新闻纸"/>
          <p:cNvSpPr txBox="1">
            <a:spLocks noChangeArrowheads="1"/>
          </p:cNvSpPr>
          <p:nvPr/>
        </p:nvSpPr>
        <p:spPr bwMode="auto">
          <a:xfrm>
            <a:off x="611561" y="5370098"/>
            <a:ext cx="821017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电源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提供的能量一半消耗在电阻上，一半转换成电场能量储存在电容中。</a:t>
            </a:r>
          </a:p>
        </p:txBody>
      </p:sp>
      <p:grpSp>
        <p:nvGrpSpPr>
          <p:cNvPr id="19" name="Group 79"/>
          <p:cNvGrpSpPr>
            <a:grpSpLocks/>
          </p:cNvGrpSpPr>
          <p:nvPr/>
        </p:nvGrpSpPr>
        <p:grpSpPr bwMode="auto">
          <a:xfrm>
            <a:off x="5383215" y="1225550"/>
            <a:ext cx="3195638" cy="1585913"/>
            <a:chOff x="3391" y="772"/>
            <a:chExt cx="2013" cy="999"/>
          </a:xfrm>
        </p:grpSpPr>
        <p:sp>
          <p:nvSpPr>
            <p:cNvPr id="20" name="Oval 56"/>
            <p:cNvSpPr>
              <a:spLocks noChangeArrowheads="1"/>
            </p:cNvSpPr>
            <p:nvPr/>
          </p:nvSpPr>
          <p:spPr bwMode="auto">
            <a:xfrm>
              <a:off x="3710" y="1045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1" name="Line 57"/>
            <p:cNvSpPr>
              <a:spLocks noChangeShapeType="1"/>
            </p:cNvSpPr>
            <p:nvPr/>
          </p:nvSpPr>
          <p:spPr bwMode="auto">
            <a:xfrm flipV="1">
              <a:off x="3878" y="890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2" name="Line 58"/>
            <p:cNvSpPr>
              <a:spLocks noChangeShapeType="1"/>
            </p:cNvSpPr>
            <p:nvPr/>
          </p:nvSpPr>
          <p:spPr bwMode="auto">
            <a:xfrm>
              <a:off x="5057" y="89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3" name="Line 59"/>
            <p:cNvSpPr>
              <a:spLocks noChangeShapeType="1"/>
            </p:cNvSpPr>
            <p:nvPr/>
          </p:nvSpPr>
          <p:spPr bwMode="auto">
            <a:xfrm flipH="1">
              <a:off x="5057" y="134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4" name="Rectangle 60"/>
            <p:cNvSpPr>
              <a:spLocks noChangeArrowheads="1"/>
            </p:cNvSpPr>
            <p:nvPr/>
          </p:nvSpPr>
          <p:spPr bwMode="auto">
            <a:xfrm>
              <a:off x="4436" y="818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5" name="Line 61"/>
            <p:cNvSpPr>
              <a:spLocks noChangeShapeType="1"/>
            </p:cNvSpPr>
            <p:nvPr/>
          </p:nvSpPr>
          <p:spPr bwMode="auto">
            <a:xfrm flipH="1" flipV="1">
              <a:off x="3878" y="890"/>
              <a:ext cx="13" cy="8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6" name="Line 65"/>
            <p:cNvSpPr>
              <a:spLocks noChangeShapeType="1"/>
            </p:cNvSpPr>
            <p:nvPr/>
          </p:nvSpPr>
          <p:spPr bwMode="auto">
            <a:xfrm flipV="1">
              <a:off x="3878" y="1752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7" name="Text Box 66"/>
            <p:cNvSpPr txBox="1">
              <a:spLocks noChangeArrowheads="1"/>
            </p:cNvSpPr>
            <p:nvPr/>
          </p:nvSpPr>
          <p:spPr bwMode="auto">
            <a:xfrm>
              <a:off x="4566" y="908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67"/>
            <p:cNvSpPr txBox="1">
              <a:spLocks noChangeArrowheads="1"/>
            </p:cNvSpPr>
            <p:nvPr/>
          </p:nvSpPr>
          <p:spPr bwMode="auto">
            <a:xfrm>
              <a:off x="5158" y="1135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AutoShape 68"/>
            <p:cNvSpPr>
              <a:spLocks noChangeArrowheads="1"/>
            </p:cNvSpPr>
            <p:nvPr/>
          </p:nvSpPr>
          <p:spPr bwMode="auto">
            <a:xfrm>
              <a:off x="4195" y="1117"/>
              <a:ext cx="384" cy="177"/>
            </a:xfrm>
            <a:custGeom>
              <a:avLst/>
              <a:gdLst>
                <a:gd name="T0" fmla="*/ 297 w 21600"/>
                <a:gd name="T1" fmla="*/ 0 h 21600"/>
                <a:gd name="T2" fmla="*/ 210 w 21600"/>
                <a:gd name="T3" fmla="*/ 59 h 21600"/>
                <a:gd name="T4" fmla="*/ 0 w 21600"/>
                <a:gd name="T5" fmla="*/ 160 h 21600"/>
                <a:gd name="T6" fmla="*/ 165 w 21600"/>
                <a:gd name="T7" fmla="*/ 177 h 21600"/>
                <a:gd name="T8" fmla="*/ 329 w 21600"/>
                <a:gd name="T9" fmla="*/ 123 h 21600"/>
                <a:gd name="T10" fmla="*/ 384 w 21600"/>
                <a:gd name="T11" fmla="*/ 59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7329 h 21600"/>
                <a:gd name="T20" fmla="*/ 18506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707" y="0"/>
                  </a:moveTo>
                  <a:lnTo>
                    <a:pt x="11813" y="7200"/>
                  </a:lnTo>
                  <a:lnTo>
                    <a:pt x="14899" y="7200"/>
                  </a:lnTo>
                  <a:lnTo>
                    <a:pt x="14899" y="17382"/>
                  </a:lnTo>
                  <a:lnTo>
                    <a:pt x="0" y="17382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0" name="AutoShape 69"/>
            <p:cNvSpPr>
              <a:spLocks noChangeArrowheads="1"/>
            </p:cNvSpPr>
            <p:nvPr/>
          </p:nvSpPr>
          <p:spPr bwMode="auto">
            <a:xfrm>
              <a:off x="4195" y="1344"/>
              <a:ext cx="576" cy="90"/>
            </a:xfrm>
            <a:prstGeom prst="rightArrow">
              <a:avLst>
                <a:gd name="adj1" fmla="val 50000"/>
                <a:gd name="adj2" fmla="val 160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1" name="Text Box 70"/>
            <p:cNvSpPr txBox="1">
              <a:spLocks noChangeArrowheads="1"/>
            </p:cNvSpPr>
            <p:nvPr/>
          </p:nvSpPr>
          <p:spPr bwMode="auto">
            <a:xfrm>
              <a:off x="3573" y="772"/>
              <a:ext cx="2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3573" y="1452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" name="Text Box 72"/>
            <p:cNvSpPr txBox="1">
              <a:spLocks noChangeArrowheads="1"/>
            </p:cNvSpPr>
            <p:nvPr/>
          </p:nvSpPr>
          <p:spPr bwMode="auto">
            <a:xfrm>
              <a:off x="3391" y="1090"/>
              <a:ext cx="3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4" name="Group 76"/>
            <p:cNvGrpSpPr>
              <a:grpSpLocks/>
            </p:cNvGrpSpPr>
            <p:nvPr/>
          </p:nvGrpSpPr>
          <p:grpSpPr bwMode="auto">
            <a:xfrm>
              <a:off x="4921" y="1253"/>
              <a:ext cx="240" cy="93"/>
              <a:chOff x="3787" y="2478"/>
              <a:chExt cx="240" cy="93"/>
            </a:xfrm>
          </p:grpSpPr>
          <p:sp>
            <p:nvSpPr>
              <p:cNvPr id="35" name="Line 77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36" name="Line 78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376923" y="156348"/>
            <a:ext cx="766834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电压、电流是随时间按同一指数规律变化的函数：</a:t>
            </a:r>
          </a:p>
        </p:txBody>
      </p:sp>
    </p:spTree>
    <p:extLst>
      <p:ext uri="{BB962C8B-B14F-4D97-AF65-F5344CB8AC3E}">
        <p14:creationId xmlns:p14="http://schemas.microsoft.com/office/powerpoint/2010/main" val="43202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92EECF-7008-4B57-908F-9BE96135F5A3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24417A-152F-4D72-94DA-3CB7CC1E6015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484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294361"/>
              </p:ext>
            </p:extLst>
          </p:nvPr>
        </p:nvGraphicFramePr>
        <p:xfrm>
          <a:off x="2771775" y="1888207"/>
          <a:ext cx="2565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8" name="公式" r:id="rId3" imgW="1282700" imgH="444500" progId="Equation.3">
                  <p:embed/>
                </p:oleObj>
              </mc:Choice>
              <mc:Fallback>
                <p:oleObj name="公式" r:id="rId3" imgW="1282700" imgH="444500" progId="Equation.3">
                  <p:embed/>
                  <p:pic>
                    <p:nvPicPr>
                      <p:cNvPr id="20484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888207"/>
                        <a:ext cx="25654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496683"/>
              </p:ext>
            </p:extLst>
          </p:nvPr>
        </p:nvGraphicFramePr>
        <p:xfrm>
          <a:off x="2699792" y="3207097"/>
          <a:ext cx="42132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9" name="Equation" r:id="rId5" imgW="2108160" imgH="253800" progId="Equation.DSMT4">
                  <p:embed/>
                </p:oleObj>
              </mc:Choice>
              <mc:Fallback>
                <p:oleObj name="Equation" r:id="rId5" imgW="2108160" imgH="253800" progId="Equation.DSMT4">
                  <p:embed/>
                  <p:pic>
                    <p:nvPicPr>
                      <p:cNvPr id="20484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207097"/>
                        <a:ext cx="42132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279290"/>
              </p:ext>
            </p:extLst>
          </p:nvPr>
        </p:nvGraphicFramePr>
        <p:xfrm>
          <a:off x="2819400" y="4447257"/>
          <a:ext cx="41386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0" name="公式" r:id="rId7" imgW="2070100" imgH="406400" progId="Equation.3">
                  <p:embed/>
                </p:oleObj>
              </mc:Choice>
              <mc:Fallback>
                <p:oleObj name="公式" r:id="rId7" imgW="2070100" imgH="406400" progId="Equation.3">
                  <p:embed/>
                  <p:pic>
                    <p:nvPicPr>
                      <p:cNvPr id="20485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447257"/>
                        <a:ext cx="4138613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679469"/>
              </p:ext>
            </p:extLst>
          </p:nvPr>
        </p:nvGraphicFramePr>
        <p:xfrm>
          <a:off x="4800600" y="3981598"/>
          <a:ext cx="31988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1" name="Equation" r:id="rId9" imgW="1600200" imgH="241300" progId="Equation.3">
                  <p:embed/>
                </p:oleObj>
              </mc:Choice>
              <mc:Fallback>
                <p:oleObj name="Equation" r:id="rId9" imgW="1600200" imgH="241300" progId="Equation.3">
                  <p:embed/>
                  <p:pic>
                    <p:nvPicPr>
                      <p:cNvPr id="20485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981598"/>
                        <a:ext cx="31988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493496"/>
              </p:ext>
            </p:extLst>
          </p:nvPr>
        </p:nvGraphicFramePr>
        <p:xfrm>
          <a:off x="8001000" y="3981598"/>
          <a:ext cx="939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2" name="Equation" r:id="rId11" imgW="469696" imgH="203112" progId="Equation.3">
                  <p:embed/>
                </p:oleObj>
              </mc:Choice>
              <mc:Fallback>
                <p:oleObj name="Equation" r:id="rId11" imgW="469696" imgH="203112" progId="Equation.3">
                  <p:embed/>
                  <p:pic>
                    <p:nvPicPr>
                      <p:cNvPr id="20485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81598"/>
                        <a:ext cx="939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55" name="Group 55"/>
          <p:cNvGrpSpPr>
            <a:grpSpLocks/>
          </p:cNvGrpSpPr>
          <p:nvPr/>
        </p:nvGrpSpPr>
        <p:grpSpPr bwMode="auto">
          <a:xfrm>
            <a:off x="2903538" y="938882"/>
            <a:ext cx="1014412" cy="1116013"/>
            <a:chOff x="144" y="672"/>
            <a:chExt cx="639" cy="703"/>
          </a:xfrm>
        </p:grpSpPr>
        <p:graphicFrame>
          <p:nvGraphicFramePr>
            <p:cNvPr id="10265" name="Object 48"/>
            <p:cNvGraphicFramePr>
              <a:graphicFrameLocks noChangeAspect="1"/>
            </p:cNvGraphicFramePr>
            <p:nvPr/>
          </p:nvGraphicFramePr>
          <p:xfrm>
            <a:off x="288" y="1104"/>
            <a:ext cx="495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3" name="Equation" r:id="rId13" imgW="393359" imgH="215713" progId="Equation.3">
                    <p:embed/>
                  </p:oleObj>
                </mc:Choice>
                <mc:Fallback>
                  <p:oleObj name="Equation" r:id="rId13" imgW="393359" imgH="215713" progId="Equation.3">
                    <p:embed/>
                    <p:pic>
                      <p:nvPicPr>
                        <p:cNvPr id="10265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104"/>
                          <a:ext cx="495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6" name="AutoShape 54"/>
            <p:cNvSpPr>
              <a:spLocks/>
            </p:cNvSpPr>
            <p:nvPr/>
          </p:nvSpPr>
          <p:spPr bwMode="auto">
            <a:xfrm>
              <a:off x="144" y="672"/>
              <a:ext cx="96" cy="624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ea typeface="隶书" panose="02010509060101010101" pitchFamily="49" charset="-122"/>
              </a:endParaRPr>
            </a:p>
          </p:txBody>
        </p:sp>
      </p:grpSp>
      <p:grpSp>
        <p:nvGrpSpPr>
          <p:cNvPr id="204865" name="Group 65"/>
          <p:cNvGrpSpPr>
            <a:grpSpLocks/>
          </p:cNvGrpSpPr>
          <p:nvPr/>
        </p:nvGrpSpPr>
        <p:grpSpPr bwMode="auto">
          <a:xfrm>
            <a:off x="2235200" y="3783161"/>
            <a:ext cx="2336800" cy="914400"/>
            <a:chOff x="1408" y="2659"/>
            <a:chExt cx="1472" cy="576"/>
          </a:xfrm>
        </p:grpSpPr>
        <p:graphicFrame>
          <p:nvGraphicFramePr>
            <p:cNvPr id="10263" name="Object 30"/>
            <p:cNvGraphicFramePr>
              <a:graphicFrameLocks noChangeAspect="1"/>
            </p:cNvGraphicFramePr>
            <p:nvPr/>
          </p:nvGraphicFramePr>
          <p:xfrm>
            <a:off x="1408" y="2832"/>
            <a:ext cx="14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4" name="Equation" r:id="rId15" imgW="1101028" imgH="171543" progId="Equation.3">
                    <p:embed/>
                  </p:oleObj>
                </mc:Choice>
                <mc:Fallback>
                  <p:oleObj name="Equation" r:id="rId15" imgW="1101028" imgH="171543" progId="Equation.3">
                    <p:embed/>
                    <p:pic>
                      <p:nvPicPr>
                        <p:cNvPr id="1026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" y="2832"/>
                          <a:ext cx="14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4" name="Line 56"/>
            <p:cNvSpPr>
              <a:spLocks noChangeShapeType="1"/>
            </p:cNvSpPr>
            <p:nvPr/>
          </p:nvSpPr>
          <p:spPr bwMode="auto">
            <a:xfrm>
              <a:off x="2880" y="2659"/>
              <a:ext cx="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66" name="Group 66"/>
          <p:cNvGrpSpPr>
            <a:grpSpLocks/>
          </p:cNvGrpSpPr>
          <p:nvPr/>
        </p:nvGrpSpPr>
        <p:grpSpPr bwMode="auto">
          <a:xfrm>
            <a:off x="236538" y="908720"/>
            <a:ext cx="6423025" cy="785812"/>
            <a:chOff x="0" y="528"/>
            <a:chExt cx="4046" cy="495"/>
          </a:xfrm>
        </p:grpSpPr>
        <p:graphicFrame>
          <p:nvGraphicFramePr>
            <p:cNvPr id="10261" name="Object 47"/>
            <p:cNvGraphicFramePr>
              <a:graphicFrameLocks noChangeAspect="1"/>
            </p:cNvGraphicFramePr>
            <p:nvPr/>
          </p:nvGraphicFramePr>
          <p:xfrm>
            <a:off x="1824" y="528"/>
            <a:ext cx="2222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5" name="Equation" r:id="rId17" imgW="1765300" imgH="393700" progId="Equation.3">
                    <p:embed/>
                  </p:oleObj>
                </mc:Choice>
                <mc:Fallback>
                  <p:oleObj name="Equation" r:id="rId17" imgW="1765300" imgH="393700" progId="Equation.3">
                    <p:embed/>
                    <p:pic>
                      <p:nvPicPr>
                        <p:cNvPr id="10261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528"/>
                          <a:ext cx="2222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57"/>
            <p:cNvGraphicFramePr>
              <a:graphicFrameLocks noChangeAspect="1"/>
            </p:cNvGraphicFramePr>
            <p:nvPr/>
          </p:nvGraphicFramePr>
          <p:xfrm>
            <a:off x="0" y="624"/>
            <a:ext cx="161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6" name="Equation" r:id="rId19" imgW="1253439" imgH="148466" progId="Equation.DSMT4">
                    <p:embed/>
                  </p:oleObj>
                </mc:Choice>
                <mc:Fallback>
                  <p:oleObj name="Equation" r:id="rId19" imgW="1253439" imgH="148466" progId="Equation.DSMT4">
                    <p:embed/>
                    <p:pic>
                      <p:nvPicPr>
                        <p:cNvPr id="10262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24"/>
                          <a:ext cx="161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>
                                  <a:alpha val="50195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163815" y="164058"/>
            <a:ext cx="85153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三要素法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79512" y="2288257"/>
            <a:ext cx="2505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其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解的一般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形式为：</a:t>
            </a: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1142064" y="2721942"/>
            <a:ext cx="13659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令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graphicFrame>
        <p:nvGraphicFramePr>
          <p:cNvPr id="3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027820"/>
              </p:ext>
            </p:extLst>
          </p:nvPr>
        </p:nvGraphicFramePr>
        <p:xfrm>
          <a:off x="2739256" y="2727995"/>
          <a:ext cx="233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7" name="Equation" r:id="rId21" imgW="1168200" imgH="241200" progId="Equation.DSMT4">
                  <p:embed/>
                </p:oleObj>
              </mc:Choice>
              <mc:Fallback>
                <p:oleObj name="Equation" r:id="rId21" imgW="1168200" imgH="241200" progId="Equation.DSMT4">
                  <p:embed/>
                  <p:pic>
                    <p:nvPicPr>
                      <p:cNvPr id="3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256" y="2727995"/>
                        <a:ext cx="2336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56"/>
          <p:cNvSpPr>
            <a:spLocks noChangeShapeType="1"/>
          </p:cNvSpPr>
          <p:nvPr/>
        </p:nvSpPr>
        <p:spPr bwMode="auto">
          <a:xfrm flipV="1">
            <a:off x="5160052" y="2910433"/>
            <a:ext cx="423664" cy="773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073030"/>
              </p:ext>
            </p:extLst>
          </p:nvPr>
        </p:nvGraphicFramePr>
        <p:xfrm>
          <a:off x="5789613" y="2710532"/>
          <a:ext cx="233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8" name="Equation" r:id="rId23" imgW="1168200" imgH="241200" progId="Equation.DSMT4">
                  <p:embed/>
                </p:oleObj>
              </mc:Choice>
              <mc:Fallback>
                <p:oleObj name="Equation" r:id="rId23" imgW="1168200" imgH="241200" progId="Equation.DSMT4">
                  <p:embed/>
                  <p:pic>
                    <p:nvPicPr>
                      <p:cNvPr id="3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2710532"/>
                        <a:ext cx="2336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56"/>
          <p:cNvSpPr>
            <a:spLocks noChangeShapeType="1"/>
          </p:cNvSpPr>
          <p:nvPr/>
        </p:nvSpPr>
        <p:spPr bwMode="auto">
          <a:xfrm flipV="1">
            <a:off x="8165140" y="2918316"/>
            <a:ext cx="423664" cy="773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0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utoUpdateAnimBg="0"/>
      <p:bldP spid="31" grpId="0" build="p" autoUpdateAnimBg="0"/>
      <p:bldP spid="33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B52EAC-F32A-41E3-AA42-767AFD0E1305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7B57A5-A3A8-4322-83D4-7F78BCCCB6EA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graphicFrame>
        <p:nvGraphicFramePr>
          <p:cNvPr id="7" name="Object 50"/>
          <p:cNvGraphicFramePr>
            <a:graphicFrameLocks noChangeAspect="1"/>
          </p:cNvGraphicFramePr>
          <p:nvPr>
            <p:extLst/>
          </p:nvPr>
        </p:nvGraphicFramePr>
        <p:xfrm>
          <a:off x="1907704" y="1152003"/>
          <a:ext cx="5004075" cy="980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8" name="公式" r:id="rId3" imgW="2070100" imgH="406400" progId="Equation.3">
                  <p:embed/>
                </p:oleObj>
              </mc:Choice>
              <mc:Fallback>
                <p:oleObj name="公式" r:id="rId3" imgW="2070100" imgH="406400" progId="Equation.3">
                  <p:embed/>
                  <p:pic>
                    <p:nvPicPr>
                      <p:cNvPr id="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152003"/>
                        <a:ext cx="5004075" cy="980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23837" y="244897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8.3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直流电源激励下的响应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3837" y="752897"/>
            <a:ext cx="85153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直流电源激励下的一阶电路通解：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/>
          </p:nvPr>
        </p:nvGraphicFramePr>
        <p:xfrm>
          <a:off x="740544" y="3849216"/>
          <a:ext cx="362902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9" name="Equation" r:id="rId5" imgW="1752480" imgH="736560" progId="Equation.DSMT4">
                  <p:embed/>
                </p:oleObj>
              </mc:Choice>
              <mc:Fallback>
                <p:oleObj name="Equation" r:id="rId5" imgW="1752480" imgH="73656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44" y="3849216"/>
                        <a:ext cx="362902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 descr="绿色大理石"/>
          <p:cNvSpPr txBox="1">
            <a:spLocks noChangeArrowheads="1"/>
          </p:cNvSpPr>
          <p:nvPr/>
        </p:nvSpPr>
        <p:spPr bwMode="auto">
          <a:xfrm>
            <a:off x="301117" y="2909293"/>
            <a:ext cx="813690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分析</a:t>
            </a:r>
            <a:r>
              <a:rPr lang="zh-CN" altLang="en-US" dirty="0">
                <a:solidFill>
                  <a:schemeClr val="tx1"/>
                </a:solidFill>
              </a:rPr>
              <a:t>一阶电路问题转为求解电路的三个要素的问题。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4896619" y="4398491"/>
            <a:ext cx="3455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用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等效电路求解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896619" y="3822229"/>
            <a:ext cx="3779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用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的稳态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电路求解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4248919" y="4109566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4320356" y="4614391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76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3348038" y="1196975"/>
            <a:ext cx="5545137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动态元件初始能量为零，由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</a:rPr>
              <a:t>&gt;0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电路中外加激励作用所产生的响应。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63284"/>
              </p:ext>
            </p:extLst>
          </p:nvPr>
        </p:nvGraphicFramePr>
        <p:xfrm>
          <a:off x="5481638" y="3290888"/>
          <a:ext cx="25558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8" name="Equation" r:id="rId3" imgW="1117440" imgH="393480" progId="Equation.DSMT4">
                  <p:embed/>
                </p:oleObj>
              </mc:Choice>
              <mc:Fallback>
                <p:oleObj name="Equation" r:id="rId3" imgW="1117440" imgH="393480" progId="Equation.DSMT4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3290888"/>
                        <a:ext cx="25558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4067175" y="3429000"/>
            <a:ext cx="2303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方程：</a:t>
            </a:r>
          </a:p>
        </p:txBody>
      </p:sp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107156" y="203706"/>
            <a:ext cx="7056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.1 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一阶电路的零状态响应         </a:t>
            </a:r>
          </a:p>
        </p:txBody>
      </p:sp>
      <p:sp>
        <p:nvSpPr>
          <p:cNvPr id="66612" name="Text Box 52"/>
          <p:cNvSpPr txBox="1">
            <a:spLocks noChangeArrowheads="1"/>
          </p:cNvSpPr>
          <p:nvPr/>
        </p:nvSpPr>
        <p:spPr bwMode="auto">
          <a:xfrm>
            <a:off x="4716463" y="450850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解答形式为：</a:t>
            </a:r>
          </a:p>
        </p:txBody>
      </p:sp>
      <p:sp>
        <p:nvSpPr>
          <p:cNvPr id="66616" name="Text Box 56"/>
          <p:cNvSpPr txBox="1">
            <a:spLocks noChangeArrowheads="1"/>
          </p:cNvSpPr>
          <p:nvPr/>
        </p:nvSpPr>
        <p:spPr bwMode="auto">
          <a:xfrm>
            <a:off x="539750" y="2751138"/>
            <a:ext cx="43767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chemeClr val="tx1"/>
                </a:solidFill>
                <a:latin typeface="楷体_GB2312" pitchFamily="49" charset="-122"/>
              </a:rPr>
              <a:t>1.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zh-CN" sz="3200" dirty="0">
                <a:solidFill>
                  <a:schemeClr val="tx1"/>
                </a:solidFill>
                <a:latin typeface="楷体_GB2312" pitchFamily="49" charset="-122"/>
              </a:rPr>
              <a:t>电路的零状态响应</a:t>
            </a:r>
            <a:endParaRPr kumimoji="1" lang="zh-CN" altLang="en-US" sz="32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66617" name="Text Box 57"/>
          <p:cNvSpPr txBox="1">
            <a:spLocks noChangeArrowheads="1"/>
          </p:cNvSpPr>
          <p:nvPr/>
        </p:nvSpPr>
        <p:spPr bwMode="auto">
          <a:xfrm>
            <a:off x="539750" y="1341438"/>
            <a:ext cx="2089150" cy="523220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零状态响应</a:t>
            </a:r>
          </a:p>
        </p:txBody>
      </p:sp>
      <p:sp>
        <p:nvSpPr>
          <p:cNvPr id="66618" name="AutoShape 58"/>
          <p:cNvSpPr>
            <a:spLocks noChangeArrowheads="1"/>
          </p:cNvSpPr>
          <p:nvPr/>
        </p:nvSpPr>
        <p:spPr bwMode="auto">
          <a:xfrm>
            <a:off x="2771775" y="1557338"/>
            <a:ext cx="576263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498475" y="3429000"/>
            <a:ext cx="3630613" cy="2462213"/>
            <a:chOff x="2990" y="2251"/>
            <a:chExt cx="2287" cy="1551"/>
          </a:xfrm>
        </p:grpSpPr>
        <p:sp>
          <p:nvSpPr>
            <p:cNvPr id="43028" name="Line 76"/>
            <p:cNvSpPr>
              <a:spLocks noChangeShapeType="1"/>
            </p:cNvSpPr>
            <p:nvPr/>
          </p:nvSpPr>
          <p:spPr bwMode="auto">
            <a:xfrm flipH="1" flipV="1">
              <a:off x="4966" y="3158"/>
              <a:ext cx="1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9" name="Line 77"/>
            <p:cNvSpPr>
              <a:spLocks noChangeShapeType="1"/>
            </p:cNvSpPr>
            <p:nvPr/>
          </p:nvSpPr>
          <p:spPr bwMode="auto">
            <a:xfrm flipV="1">
              <a:off x="4966" y="2705"/>
              <a:ext cx="0" cy="32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0" name="Oval 78"/>
            <p:cNvSpPr>
              <a:spLocks noChangeArrowheads="1"/>
            </p:cNvSpPr>
            <p:nvPr/>
          </p:nvSpPr>
          <p:spPr bwMode="auto">
            <a:xfrm>
              <a:off x="3061" y="288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3031" name="Group 79"/>
            <p:cNvGrpSpPr>
              <a:grpSpLocks/>
            </p:cNvGrpSpPr>
            <p:nvPr/>
          </p:nvGrpSpPr>
          <p:grpSpPr bwMode="auto">
            <a:xfrm>
              <a:off x="3969" y="3067"/>
              <a:ext cx="263" cy="354"/>
              <a:chOff x="1872" y="482"/>
              <a:chExt cx="240" cy="286"/>
            </a:xfrm>
          </p:grpSpPr>
          <p:sp>
            <p:nvSpPr>
              <p:cNvPr id="43060" name="Line 8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1" name="Text Box 81"/>
              <p:cNvSpPr txBox="1">
                <a:spLocks noChangeArrowheads="1"/>
              </p:cNvSpPr>
              <p:nvPr/>
            </p:nvSpPr>
            <p:spPr bwMode="auto">
              <a:xfrm>
                <a:off x="1884" y="482"/>
                <a:ext cx="162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032" name="Line 82"/>
            <p:cNvSpPr>
              <a:spLocks noChangeShapeType="1"/>
            </p:cNvSpPr>
            <p:nvPr/>
          </p:nvSpPr>
          <p:spPr bwMode="auto">
            <a:xfrm flipH="1">
              <a:off x="3814" y="2456"/>
              <a:ext cx="158" cy="17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3" name="Text Box 83"/>
            <p:cNvSpPr txBox="1">
              <a:spLocks noChangeArrowheads="1"/>
            </p:cNvSpPr>
            <p:nvPr/>
          </p:nvSpPr>
          <p:spPr bwMode="auto">
            <a:xfrm>
              <a:off x="2990" y="2341"/>
              <a:ext cx="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S(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=0)</a:t>
              </a:r>
            </a:p>
          </p:txBody>
        </p:sp>
        <p:sp>
          <p:nvSpPr>
            <p:cNvPr id="43034" name="Text Box 84"/>
            <p:cNvSpPr txBox="1">
              <a:spLocks noChangeArrowheads="1"/>
            </p:cNvSpPr>
            <p:nvPr/>
          </p:nvSpPr>
          <p:spPr bwMode="auto">
            <a:xfrm>
              <a:off x="3470" y="2886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35" name="Group 85"/>
            <p:cNvGrpSpPr>
              <a:grpSpLocks/>
            </p:cNvGrpSpPr>
            <p:nvPr/>
          </p:nvGrpSpPr>
          <p:grpSpPr bwMode="auto">
            <a:xfrm>
              <a:off x="3969" y="2659"/>
              <a:ext cx="649" cy="375"/>
              <a:chOff x="818" y="780"/>
              <a:chExt cx="592" cy="302"/>
            </a:xfrm>
          </p:grpSpPr>
          <p:grpSp>
            <p:nvGrpSpPr>
              <p:cNvPr id="43056" name="Group 86"/>
              <p:cNvGrpSpPr>
                <a:grpSpLocks/>
              </p:cNvGrpSpPr>
              <p:nvPr/>
            </p:nvGrpSpPr>
            <p:grpSpPr bwMode="auto">
              <a:xfrm>
                <a:off x="818" y="780"/>
                <a:ext cx="592" cy="263"/>
                <a:chOff x="818" y="780"/>
                <a:chExt cx="592" cy="263"/>
              </a:xfrm>
            </p:grpSpPr>
            <p:sp>
              <p:nvSpPr>
                <p:cNvPr id="43058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818" y="780"/>
                  <a:ext cx="223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3059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202" y="780"/>
                  <a:ext cx="208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3057" name="Text Box 89"/>
              <p:cNvSpPr txBox="1">
                <a:spLocks noChangeArrowheads="1"/>
              </p:cNvSpPr>
              <p:nvPr/>
            </p:nvSpPr>
            <p:spPr bwMode="auto">
              <a:xfrm>
                <a:off x="974" y="819"/>
                <a:ext cx="30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</a:p>
            </p:txBody>
          </p:sp>
        </p:grpSp>
        <p:sp>
          <p:nvSpPr>
            <p:cNvPr id="43036" name="Line 90"/>
            <p:cNvSpPr>
              <a:spLocks noChangeShapeType="1"/>
            </p:cNvSpPr>
            <p:nvPr/>
          </p:nvSpPr>
          <p:spPr bwMode="auto">
            <a:xfrm>
              <a:off x="3969" y="2704"/>
              <a:ext cx="10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Line 91"/>
            <p:cNvSpPr>
              <a:spLocks noChangeShapeType="1"/>
            </p:cNvSpPr>
            <p:nvPr/>
          </p:nvSpPr>
          <p:spPr bwMode="auto">
            <a:xfrm>
              <a:off x="3243" y="2704"/>
              <a:ext cx="3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Line 92"/>
            <p:cNvSpPr>
              <a:spLocks noChangeShapeType="1"/>
            </p:cNvSpPr>
            <p:nvPr/>
          </p:nvSpPr>
          <p:spPr bwMode="auto">
            <a:xfrm>
              <a:off x="3243" y="2704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Text Box 93"/>
            <p:cNvSpPr txBox="1">
              <a:spLocks noChangeArrowheads="1"/>
            </p:cNvSpPr>
            <p:nvPr/>
          </p:nvSpPr>
          <p:spPr bwMode="auto">
            <a:xfrm>
              <a:off x="5012" y="265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40" name="Group 94"/>
            <p:cNvGrpSpPr>
              <a:grpSpLocks/>
            </p:cNvGrpSpPr>
            <p:nvPr/>
          </p:nvGrpSpPr>
          <p:grpSpPr bwMode="auto">
            <a:xfrm>
              <a:off x="4513" y="2704"/>
              <a:ext cx="335" cy="802"/>
              <a:chOff x="1982" y="732"/>
              <a:chExt cx="305" cy="647"/>
            </a:xfrm>
          </p:grpSpPr>
          <p:grpSp>
            <p:nvGrpSpPr>
              <p:cNvPr id="43052" name="Group 95"/>
              <p:cNvGrpSpPr>
                <a:grpSpLocks/>
              </p:cNvGrpSpPr>
              <p:nvPr/>
            </p:nvGrpSpPr>
            <p:grpSpPr bwMode="auto">
              <a:xfrm>
                <a:off x="2065" y="732"/>
                <a:ext cx="222" cy="647"/>
                <a:chOff x="1633" y="1260"/>
                <a:chExt cx="222" cy="647"/>
              </a:xfrm>
            </p:grpSpPr>
            <p:sp>
              <p:nvSpPr>
                <p:cNvPr id="43054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633" y="1260"/>
                  <a:ext cx="222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3055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634" y="1643"/>
                  <a:ext cx="20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3053" name="Text Box 98"/>
              <p:cNvSpPr txBox="1">
                <a:spLocks noChangeArrowheads="1"/>
              </p:cNvSpPr>
              <p:nvPr/>
            </p:nvSpPr>
            <p:spPr bwMode="auto">
              <a:xfrm>
                <a:off x="1982" y="914"/>
                <a:ext cx="301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041" name="Group 99"/>
            <p:cNvGrpSpPr>
              <a:grpSpLocks/>
            </p:cNvGrpSpPr>
            <p:nvPr/>
          </p:nvGrpSpPr>
          <p:grpSpPr bwMode="auto">
            <a:xfrm>
              <a:off x="4830" y="3022"/>
              <a:ext cx="317" cy="136"/>
              <a:chOff x="1824" y="1680"/>
              <a:chExt cx="192" cy="96"/>
            </a:xfrm>
          </p:grpSpPr>
          <p:sp>
            <p:nvSpPr>
              <p:cNvPr id="43050" name="Line 10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1" name="Line 10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2" name="Line 102"/>
            <p:cNvSpPr>
              <a:spLocks noChangeShapeType="1"/>
            </p:cNvSpPr>
            <p:nvPr/>
          </p:nvSpPr>
          <p:spPr bwMode="auto">
            <a:xfrm flipH="1" flipV="1">
              <a:off x="3651" y="2568"/>
              <a:ext cx="293" cy="11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Line 103"/>
            <p:cNvSpPr>
              <a:spLocks noChangeShapeType="1"/>
            </p:cNvSpPr>
            <p:nvPr/>
          </p:nvSpPr>
          <p:spPr bwMode="auto">
            <a:xfrm>
              <a:off x="3243" y="3475"/>
              <a:ext cx="17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Text Box 104"/>
            <p:cNvSpPr txBox="1">
              <a:spLocks noChangeArrowheads="1"/>
            </p:cNvSpPr>
            <p:nvPr/>
          </p:nvSpPr>
          <p:spPr bwMode="auto">
            <a:xfrm>
              <a:off x="4195" y="2251"/>
              <a:ext cx="25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5" name="Text Box 105"/>
            <p:cNvSpPr txBox="1">
              <a:spLocks noChangeArrowheads="1"/>
            </p:cNvSpPr>
            <p:nvPr/>
          </p:nvSpPr>
          <p:spPr bwMode="auto">
            <a:xfrm>
              <a:off x="3334" y="3475"/>
              <a:ext cx="1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)=0</a:t>
              </a:r>
            </a:p>
          </p:txBody>
        </p:sp>
        <p:sp>
          <p:nvSpPr>
            <p:cNvPr id="43046" name="Rectangle 106"/>
            <p:cNvSpPr>
              <a:spLocks noChangeArrowheads="1"/>
            </p:cNvSpPr>
            <p:nvPr/>
          </p:nvSpPr>
          <p:spPr bwMode="auto">
            <a:xfrm>
              <a:off x="4150" y="2614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3047" name="Group 107"/>
            <p:cNvGrpSpPr>
              <a:grpSpLocks/>
            </p:cNvGrpSpPr>
            <p:nvPr/>
          </p:nvGrpSpPr>
          <p:grpSpPr bwMode="auto">
            <a:xfrm>
              <a:off x="3379" y="2659"/>
              <a:ext cx="244" cy="802"/>
              <a:chOff x="1633" y="1260"/>
              <a:chExt cx="222" cy="647"/>
            </a:xfrm>
          </p:grpSpPr>
          <p:sp>
            <p:nvSpPr>
              <p:cNvPr id="43048" name="Text Box 108"/>
              <p:cNvSpPr txBox="1">
                <a:spLocks noChangeArrowheads="1"/>
              </p:cNvSpPr>
              <p:nvPr/>
            </p:nvSpPr>
            <p:spPr bwMode="auto">
              <a:xfrm>
                <a:off x="1633" y="1260"/>
                <a:ext cx="222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49" name="Text Box 109"/>
              <p:cNvSpPr txBox="1">
                <a:spLocks noChangeArrowheads="1"/>
              </p:cNvSpPr>
              <p:nvPr/>
            </p:nvSpPr>
            <p:spPr bwMode="auto">
              <a:xfrm>
                <a:off x="1634" y="1643"/>
                <a:ext cx="20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</a:p>
            </p:txBody>
          </p:sp>
        </p:grpSp>
      </p:grpSp>
      <p:sp>
        <p:nvSpPr>
          <p:cNvPr id="66670" name="AutoShape 110" descr="羊皮纸"/>
          <p:cNvSpPr>
            <a:spLocks noChangeArrowheads="1"/>
          </p:cNvSpPr>
          <p:nvPr/>
        </p:nvSpPr>
        <p:spPr bwMode="auto">
          <a:xfrm>
            <a:off x="4787900" y="2420938"/>
            <a:ext cx="4140200" cy="576262"/>
          </a:xfrm>
          <a:prstGeom prst="wedgeRoundRectCallout">
            <a:avLst>
              <a:gd name="adj1" fmla="val 1148"/>
              <a:gd name="adj2" fmla="val 146144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tx1"/>
                </a:solidFill>
              </a:rPr>
              <a:t>非齐次线性常微分方程</a:t>
            </a:r>
          </a:p>
        </p:txBody>
      </p:sp>
      <p:graphicFrame>
        <p:nvGraphicFramePr>
          <p:cNvPr id="5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801142"/>
              </p:ext>
            </p:extLst>
          </p:nvPr>
        </p:nvGraphicFramePr>
        <p:xfrm>
          <a:off x="3875686" y="5348046"/>
          <a:ext cx="51879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9" name="Equation" r:id="rId6" imgW="2145960" imgH="342720" progId="Equation.DSMT4">
                  <p:embed/>
                </p:oleObj>
              </mc:Choice>
              <mc:Fallback>
                <p:oleObj name="Equation" r:id="rId6" imgW="2145960" imgH="342720" progId="Equation.DSMT4">
                  <p:embed/>
                  <p:pic>
                    <p:nvPicPr>
                      <p:cNvPr id="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686" y="5348046"/>
                        <a:ext cx="51879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91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75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6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utoUpdateAnimBg="0"/>
      <p:bldP spid="66566" grpId="0" autoUpdateAnimBg="0"/>
      <p:bldP spid="66610" grpId="0" autoUpdateAnimBg="0"/>
      <p:bldP spid="66612" grpId="0" autoUpdateAnimBg="0"/>
      <p:bldP spid="66616" grpId="0"/>
      <p:bldP spid="66617" grpId="0" animBg="1"/>
      <p:bldP spid="66618" grpId="0" animBg="1"/>
      <p:bldP spid="6667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107156" y="203706"/>
            <a:ext cx="7056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.1 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一阶电路的零状态响应         </a:t>
            </a:r>
          </a:p>
        </p:txBody>
      </p: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186677" y="933890"/>
            <a:ext cx="3630613" cy="2462213"/>
            <a:chOff x="2990" y="2251"/>
            <a:chExt cx="2287" cy="1551"/>
          </a:xfrm>
        </p:grpSpPr>
        <p:sp>
          <p:nvSpPr>
            <p:cNvPr id="43028" name="Line 76"/>
            <p:cNvSpPr>
              <a:spLocks noChangeShapeType="1"/>
            </p:cNvSpPr>
            <p:nvPr/>
          </p:nvSpPr>
          <p:spPr bwMode="auto">
            <a:xfrm flipH="1" flipV="1">
              <a:off x="4966" y="3158"/>
              <a:ext cx="1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9" name="Line 77"/>
            <p:cNvSpPr>
              <a:spLocks noChangeShapeType="1"/>
            </p:cNvSpPr>
            <p:nvPr/>
          </p:nvSpPr>
          <p:spPr bwMode="auto">
            <a:xfrm flipV="1">
              <a:off x="4966" y="2705"/>
              <a:ext cx="0" cy="32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0" name="Oval 78"/>
            <p:cNvSpPr>
              <a:spLocks noChangeArrowheads="1"/>
            </p:cNvSpPr>
            <p:nvPr/>
          </p:nvSpPr>
          <p:spPr bwMode="auto">
            <a:xfrm>
              <a:off x="3061" y="288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3031" name="Group 79"/>
            <p:cNvGrpSpPr>
              <a:grpSpLocks/>
            </p:cNvGrpSpPr>
            <p:nvPr/>
          </p:nvGrpSpPr>
          <p:grpSpPr bwMode="auto">
            <a:xfrm>
              <a:off x="3969" y="3067"/>
              <a:ext cx="263" cy="354"/>
              <a:chOff x="1872" y="482"/>
              <a:chExt cx="240" cy="286"/>
            </a:xfrm>
          </p:grpSpPr>
          <p:sp>
            <p:nvSpPr>
              <p:cNvPr id="43060" name="Line 8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1" name="Text Box 81"/>
              <p:cNvSpPr txBox="1">
                <a:spLocks noChangeArrowheads="1"/>
              </p:cNvSpPr>
              <p:nvPr/>
            </p:nvSpPr>
            <p:spPr bwMode="auto">
              <a:xfrm>
                <a:off x="1884" y="482"/>
                <a:ext cx="162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032" name="Line 82"/>
            <p:cNvSpPr>
              <a:spLocks noChangeShapeType="1"/>
            </p:cNvSpPr>
            <p:nvPr/>
          </p:nvSpPr>
          <p:spPr bwMode="auto">
            <a:xfrm flipH="1">
              <a:off x="3814" y="2456"/>
              <a:ext cx="158" cy="17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3" name="Text Box 83"/>
            <p:cNvSpPr txBox="1">
              <a:spLocks noChangeArrowheads="1"/>
            </p:cNvSpPr>
            <p:nvPr/>
          </p:nvSpPr>
          <p:spPr bwMode="auto">
            <a:xfrm>
              <a:off x="2990" y="2341"/>
              <a:ext cx="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S(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=0)</a:t>
              </a:r>
            </a:p>
          </p:txBody>
        </p:sp>
        <p:sp>
          <p:nvSpPr>
            <p:cNvPr id="43034" name="Text Box 84"/>
            <p:cNvSpPr txBox="1">
              <a:spLocks noChangeArrowheads="1"/>
            </p:cNvSpPr>
            <p:nvPr/>
          </p:nvSpPr>
          <p:spPr bwMode="auto">
            <a:xfrm>
              <a:off x="3470" y="2886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35" name="Group 85"/>
            <p:cNvGrpSpPr>
              <a:grpSpLocks/>
            </p:cNvGrpSpPr>
            <p:nvPr/>
          </p:nvGrpSpPr>
          <p:grpSpPr bwMode="auto">
            <a:xfrm>
              <a:off x="3969" y="2659"/>
              <a:ext cx="649" cy="375"/>
              <a:chOff x="818" y="780"/>
              <a:chExt cx="592" cy="302"/>
            </a:xfrm>
          </p:grpSpPr>
          <p:grpSp>
            <p:nvGrpSpPr>
              <p:cNvPr id="43056" name="Group 86"/>
              <p:cNvGrpSpPr>
                <a:grpSpLocks/>
              </p:cNvGrpSpPr>
              <p:nvPr/>
            </p:nvGrpSpPr>
            <p:grpSpPr bwMode="auto">
              <a:xfrm>
                <a:off x="818" y="780"/>
                <a:ext cx="592" cy="263"/>
                <a:chOff x="818" y="780"/>
                <a:chExt cx="592" cy="263"/>
              </a:xfrm>
            </p:grpSpPr>
            <p:sp>
              <p:nvSpPr>
                <p:cNvPr id="43058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818" y="780"/>
                  <a:ext cx="223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3059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202" y="780"/>
                  <a:ext cx="208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3057" name="Text Box 89"/>
              <p:cNvSpPr txBox="1">
                <a:spLocks noChangeArrowheads="1"/>
              </p:cNvSpPr>
              <p:nvPr/>
            </p:nvSpPr>
            <p:spPr bwMode="auto">
              <a:xfrm>
                <a:off x="974" y="819"/>
                <a:ext cx="30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</a:p>
            </p:txBody>
          </p:sp>
        </p:grpSp>
        <p:sp>
          <p:nvSpPr>
            <p:cNvPr id="43036" name="Line 90"/>
            <p:cNvSpPr>
              <a:spLocks noChangeShapeType="1"/>
            </p:cNvSpPr>
            <p:nvPr/>
          </p:nvSpPr>
          <p:spPr bwMode="auto">
            <a:xfrm>
              <a:off x="3969" y="2704"/>
              <a:ext cx="10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Line 91"/>
            <p:cNvSpPr>
              <a:spLocks noChangeShapeType="1"/>
            </p:cNvSpPr>
            <p:nvPr/>
          </p:nvSpPr>
          <p:spPr bwMode="auto">
            <a:xfrm>
              <a:off x="3243" y="2704"/>
              <a:ext cx="3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Line 92"/>
            <p:cNvSpPr>
              <a:spLocks noChangeShapeType="1"/>
            </p:cNvSpPr>
            <p:nvPr/>
          </p:nvSpPr>
          <p:spPr bwMode="auto">
            <a:xfrm>
              <a:off x="3243" y="2704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Text Box 93"/>
            <p:cNvSpPr txBox="1">
              <a:spLocks noChangeArrowheads="1"/>
            </p:cNvSpPr>
            <p:nvPr/>
          </p:nvSpPr>
          <p:spPr bwMode="auto">
            <a:xfrm>
              <a:off x="5012" y="265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40" name="Group 94"/>
            <p:cNvGrpSpPr>
              <a:grpSpLocks/>
            </p:cNvGrpSpPr>
            <p:nvPr/>
          </p:nvGrpSpPr>
          <p:grpSpPr bwMode="auto">
            <a:xfrm>
              <a:off x="4513" y="2704"/>
              <a:ext cx="335" cy="802"/>
              <a:chOff x="1982" y="732"/>
              <a:chExt cx="305" cy="647"/>
            </a:xfrm>
          </p:grpSpPr>
          <p:grpSp>
            <p:nvGrpSpPr>
              <p:cNvPr id="43052" name="Group 95"/>
              <p:cNvGrpSpPr>
                <a:grpSpLocks/>
              </p:cNvGrpSpPr>
              <p:nvPr/>
            </p:nvGrpSpPr>
            <p:grpSpPr bwMode="auto">
              <a:xfrm>
                <a:off x="2065" y="732"/>
                <a:ext cx="222" cy="647"/>
                <a:chOff x="1633" y="1260"/>
                <a:chExt cx="222" cy="647"/>
              </a:xfrm>
            </p:grpSpPr>
            <p:sp>
              <p:nvSpPr>
                <p:cNvPr id="43054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633" y="1260"/>
                  <a:ext cx="222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3055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634" y="1643"/>
                  <a:ext cx="20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3053" name="Text Box 98"/>
              <p:cNvSpPr txBox="1">
                <a:spLocks noChangeArrowheads="1"/>
              </p:cNvSpPr>
              <p:nvPr/>
            </p:nvSpPr>
            <p:spPr bwMode="auto">
              <a:xfrm>
                <a:off x="1982" y="914"/>
                <a:ext cx="301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041" name="Group 99"/>
            <p:cNvGrpSpPr>
              <a:grpSpLocks/>
            </p:cNvGrpSpPr>
            <p:nvPr/>
          </p:nvGrpSpPr>
          <p:grpSpPr bwMode="auto">
            <a:xfrm>
              <a:off x="4830" y="3022"/>
              <a:ext cx="317" cy="136"/>
              <a:chOff x="1824" y="1680"/>
              <a:chExt cx="192" cy="96"/>
            </a:xfrm>
          </p:grpSpPr>
          <p:sp>
            <p:nvSpPr>
              <p:cNvPr id="43050" name="Line 10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1" name="Line 10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2" name="Line 102"/>
            <p:cNvSpPr>
              <a:spLocks noChangeShapeType="1"/>
            </p:cNvSpPr>
            <p:nvPr/>
          </p:nvSpPr>
          <p:spPr bwMode="auto">
            <a:xfrm flipH="1" flipV="1">
              <a:off x="3651" y="2568"/>
              <a:ext cx="293" cy="11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Line 103"/>
            <p:cNvSpPr>
              <a:spLocks noChangeShapeType="1"/>
            </p:cNvSpPr>
            <p:nvPr/>
          </p:nvSpPr>
          <p:spPr bwMode="auto">
            <a:xfrm>
              <a:off x="3243" y="3475"/>
              <a:ext cx="17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Text Box 104"/>
            <p:cNvSpPr txBox="1">
              <a:spLocks noChangeArrowheads="1"/>
            </p:cNvSpPr>
            <p:nvPr/>
          </p:nvSpPr>
          <p:spPr bwMode="auto">
            <a:xfrm>
              <a:off x="4195" y="2251"/>
              <a:ext cx="25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5" name="Text Box 105"/>
            <p:cNvSpPr txBox="1">
              <a:spLocks noChangeArrowheads="1"/>
            </p:cNvSpPr>
            <p:nvPr/>
          </p:nvSpPr>
          <p:spPr bwMode="auto">
            <a:xfrm>
              <a:off x="3334" y="3475"/>
              <a:ext cx="1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)=0</a:t>
              </a:r>
            </a:p>
          </p:txBody>
        </p:sp>
        <p:sp>
          <p:nvSpPr>
            <p:cNvPr id="43046" name="Rectangle 106"/>
            <p:cNvSpPr>
              <a:spLocks noChangeArrowheads="1"/>
            </p:cNvSpPr>
            <p:nvPr/>
          </p:nvSpPr>
          <p:spPr bwMode="auto">
            <a:xfrm>
              <a:off x="4150" y="2614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3047" name="Group 107"/>
            <p:cNvGrpSpPr>
              <a:grpSpLocks/>
            </p:cNvGrpSpPr>
            <p:nvPr/>
          </p:nvGrpSpPr>
          <p:grpSpPr bwMode="auto">
            <a:xfrm>
              <a:off x="3379" y="2659"/>
              <a:ext cx="244" cy="802"/>
              <a:chOff x="1633" y="1260"/>
              <a:chExt cx="222" cy="647"/>
            </a:xfrm>
          </p:grpSpPr>
          <p:sp>
            <p:nvSpPr>
              <p:cNvPr id="43048" name="Text Box 108"/>
              <p:cNvSpPr txBox="1">
                <a:spLocks noChangeArrowheads="1"/>
              </p:cNvSpPr>
              <p:nvPr/>
            </p:nvSpPr>
            <p:spPr bwMode="auto">
              <a:xfrm>
                <a:off x="1633" y="1260"/>
                <a:ext cx="222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49" name="Text Box 109"/>
              <p:cNvSpPr txBox="1">
                <a:spLocks noChangeArrowheads="1"/>
              </p:cNvSpPr>
              <p:nvPr/>
            </p:nvSpPr>
            <p:spPr bwMode="auto">
              <a:xfrm>
                <a:off x="1634" y="1643"/>
                <a:ext cx="20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</a:p>
            </p:txBody>
          </p:sp>
        </p:grpSp>
      </p:grpSp>
      <p:graphicFrame>
        <p:nvGraphicFramePr>
          <p:cNvPr id="5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144761"/>
              </p:ext>
            </p:extLst>
          </p:nvPr>
        </p:nvGraphicFramePr>
        <p:xfrm>
          <a:off x="3863472" y="1677098"/>
          <a:ext cx="51879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0" name="Equation" r:id="rId3" imgW="2145960" imgH="342720" progId="Equation.DSMT4">
                  <p:embed/>
                </p:oleObj>
              </mc:Choice>
              <mc:Fallback>
                <p:oleObj name="Equation" r:id="rId3" imgW="2145960" imgH="342720" progId="Equation.DSMT4">
                  <p:embed/>
                  <p:pic>
                    <p:nvPicPr>
                      <p:cNvPr id="5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472" y="1677098"/>
                        <a:ext cx="51879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030899"/>
              </p:ext>
            </p:extLst>
          </p:nvPr>
        </p:nvGraphicFramePr>
        <p:xfrm>
          <a:off x="4757738" y="3275013"/>
          <a:ext cx="2884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1" name="Equation" r:id="rId5" imgW="1193760" imgH="228600" progId="Equation.DSMT4">
                  <p:embed/>
                </p:oleObj>
              </mc:Choice>
              <mc:Fallback>
                <p:oleObj name="Equation" r:id="rId5" imgW="1193760" imgH="228600" progId="Equation.DSMT4">
                  <p:embed/>
                  <p:pic>
                    <p:nvPicPr>
                      <p:cNvPr id="5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3275013"/>
                        <a:ext cx="28844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3758175" y="2755327"/>
            <a:ext cx="2303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三要素：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16833"/>
              </p:ext>
            </p:extLst>
          </p:nvPr>
        </p:nvGraphicFramePr>
        <p:xfrm>
          <a:off x="4768347" y="3827463"/>
          <a:ext cx="168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2" name="Equation" r:id="rId7" imgW="698400" imgH="228600" progId="Equation.DSMT4">
                  <p:embed/>
                </p:oleObj>
              </mc:Choice>
              <mc:Fallback>
                <p:oleObj name="Equation" r:id="rId7" imgW="698400" imgH="228600" progId="Equation.DSMT4">
                  <p:embed/>
                  <p:pic>
                    <p:nvPicPr>
                      <p:cNvPr id="5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347" y="3827463"/>
                        <a:ext cx="168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898675"/>
              </p:ext>
            </p:extLst>
          </p:nvPr>
        </p:nvGraphicFramePr>
        <p:xfrm>
          <a:off x="4757738" y="4472619"/>
          <a:ext cx="11668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3" name="Equation" r:id="rId9" imgW="482400" imgH="177480" progId="Equation.DSMT4">
                  <p:embed/>
                </p:oleObj>
              </mc:Choice>
              <mc:Fallback>
                <p:oleObj name="Equation" r:id="rId9" imgW="482400" imgH="177480" progId="Equation.DSMT4">
                  <p:embed/>
                  <p:pic>
                    <p:nvPicPr>
                      <p:cNvPr id="49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4472619"/>
                        <a:ext cx="11668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115014"/>
              </p:ext>
            </p:extLst>
          </p:nvPr>
        </p:nvGraphicFramePr>
        <p:xfrm>
          <a:off x="1460500" y="4945063"/>
          <a:ext cx="52212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4" name="Equation" r:id="rId11" imgW="2603160" imgH="342720" progId="Equation.DSMT4">
                  <p:embed/>
                </p:oleObj>
              </mc:Choice>
              <mc:Fallback>
                <p:oleObj name="Equation" r:id="rId11" imgW="2603160" imgH="342720" progId="Equation.DSMT4">
                  <p:embed/>
                  <p:pic>
                    <p:nvPicPr>
                      <p:cNvPr id="6558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4945063"/>
                        <a:ext cx="5221288" cy="750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585137" y="6030375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从以上式子可以得出：</a:t>
            </a:r>
          </a:p>
        </p:txBody>
      </p:sp>
      <p:graphicFrame>
        <p:nvGraphicFramePr>
          <p:cNvPr id="5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937660"/>
              </p:ext>
            </p:extLst>
          </p:nvPr>
        </p:nvGraphicFramePr>
        <p:xfrm>
          <a:off x="4586288" y="5773738"/>
          <a:ext cx="28289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5" name="Equation" r:id="rId13" imgW="1269720" imgH="419040" progId="Equation.DSMT4">
                  <p:embed/>
                </p:oleObj>
              </mc:Choice>
              <mc:Fallback>
                <p:oleObj name="Equation" r:id="rId13" imgW="1269720" imgH="419040" progId="Equation.DSMT4">
                  <p:embed/>
                  <p:pic>
                    <p:nvPicPr>
                      <p:cNvPr id="6558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5773738"/>
                        <a:ext cx="28289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008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10" grpId="0" autoUpdateAnimBg="0"/>
      <p:bldP spid="48" grpId="0" autoUpdateAnimBg="0"/>
      <p:bldP spid="5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97" name="Text Box 33"/>
          <p:cNvSpPr txBox="1">
            <a:spLocks noChangeArrowheads="1"/>
          </p:cNvSpPr>
          <p:nvPr/>
        </p:nvSpPr>
        <p:spPr bwMode="auto">
          <a:xfrm>
            <a:off x="395288" y="476250"/>
            <a:ext cx="649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62498" name="Text Box 34"/>
          <p:cNvSpPr txBox="1">
            <a:spLocks noChangeArrowheads="1"/>
          </p:cNvSpPr>
          <p:nvPr/>
        </p:nvSpPr>
        <p:spPr bwMode="auto">
          <a:xfrm>
            <a:off x="1258888" y="404813"/>
            <a:ext cx="74898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zh-CN" dirty="0">
                <a:solidFill>
                  <a:schemeClr val="tx1"/>
                </a:solidFill>
                <a:latin typeface="楷体_GB2312" pitchFamily="49" charset="-122"/>
              </a:rPr>
              <a:t>时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,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开关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闭合，已知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(0</a:t>
            </a:r>
            <a:r>
              <a:rPr kumimoji="1" lang="zh-CN" altLang="en-US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－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)=0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kumimoji="1" lang="zh-CN" altLang="zh-CN" dirty="0">
                <a:solidFill>
                  <a:schemeClr val="tx1"/>
                </a:solidFill>
                <a:latin typeface="楷体_GB2312" pitchFamily="49" charset="-122"/>
              </a:rPr>
              <a:t>求</a:t>
            </a:r>
            <a:r>
              <a:rPr kumimoji="1" lang="en-US" altLang="zh-CN" b="0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en-US" altLang="zh-CN" b="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1)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电容电压和电流</a:t>
            </a:r>
            <a:r>
              <a:rPr kumimoji="1" lang="en-US" altLang="zh-CN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,</a:t>
            </a:r>
            <a:r>
              <a:rPr kumimoji="1" lang="en-US" altLang="zh-CN" b="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2) </a:t>
            </a:r>
            <a:r>
              <a:rPr kumimoji="1" lang="en-US" altLang="zh-CN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80V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时的充电时间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2499" name="Text Box 35"/>
          <p:cNvSpPr txBox="1">
            <a:spLocks noChangeArrowheads="1"/>
          </p:cNvSpPr>
          <p:nvPr/>
        </p:nvSpPr>
        <p:spPr bwMode="auto">
          <a:xfrm>
            <a:off x="395288" y="1484313"/>
            <a:ext cx="576262" cy="519112"/>
          </a:xfrm>
          <a:prstGeom prst="rect">
            <a:avLst/>
          </a:prstGeom>
          <a:solidFill>
            <a:srgbClr val="990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kumimoji="1" lang="zh-CN" altLang="en-US" i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529" name="Text Box 65"/>
          <p:cNvSpPr txBox="1">
            <a:spLocks noChangeArrowheads="1"/>
          </p:cNvSpPr>
          <p:nvPr/>
        </p:nvSpPr>
        <p:spPr bwMode="auto">
          <a:xfrm>
            <a:off x="1042988" y="1412875"/>
            <a:ext cx="3887787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楷体_GB2312" pitchFamily="49" charset="-122"/>
              </a:rPr>
              <a:t>(1)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这是一个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RC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电路零状态响应问题，有：</a:t>
            </a:r>
          </a:p>
        </p:txBody>
      </p:sp>
      <p:graphicFrame>
        <p:nvGraphicFramePr>
          <p:cNvPr id="62530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10367"/>
              </p:ext>
            </p:extLst>
          </p:nvPr>
        </p:nvGraphicFramePr>
        <p:xfrm>
          <a:off x="842963" y="3298825"/>
          <a:ext cx="63627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8" name="Equation" r:id="rId3" imgW="2628720" imgH="342720" progId="Equation.DSMT4">
                  <p:embed/>
                </p:oleObj>
              </mc:Choice>
              <mc:Fallback>
                <p:oleObj name="Equation" r:id="rId3" imgW="2628720" imgH="342720" progId="Equation.DSMT4">
                  <p:embed/>
                  <p:pic>
                    <p:nvPicPr>
                      <p:cNvPr id="6253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3298825"/>
                        <a:ext cx="63627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FF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2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959338"/>
              </p:ext>
            </p:extLst>
          </p:nvPr>
        </p:nvGraphicFramePr>
        <p:xfrm>
          <a:off x="873125" y="2651125"/>
          <a:ext cx="39385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9" name="Equation" r:id="rId5" imgW="1866600" imgH="203040" progId="Equation.DSMT4">
                  <p:embed/>
                </p:oleObj>
              </mc:Choice>
              <mc:Fallback>
                <p:oleObj name="Equation" r:id="rId5" imgW="1866600" imgH="203040" progId="Equation.DSMT4">
                  <p:embed/>
                  <p:pic>
                    <p:nvPicPr>
                      <p:cNvPr id="62532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651125"/>
                        <a:ext cx="393858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FF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864983"/>
              </p:ext>
            </p:extLst>
          </p:nvPr>
        </p:nvGraphicFramePr>
        <p:xfrm>
          <a:off x="865188" y="4192588"/>
          <a:ext cx="45180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0" name="Equation" r:id="rId7" imgW="2031840" imgH="419040" progId="Equation.DSMT4">
                  <p:embed/>
                </p:oleObj>
              </mc:Choice>
              <mc:Fallback>
                <p:oleObj name="Equation" r:id="rId7" imgW="2031840" imgH="419040" progId="Equation.DSMT4">
                  <p:embed/>
                  <p:pic>
                    <p:nvPicPr>
                      <p:cNvPr id="62533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4192588"/>
                        <a:ext cx="45180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34" name="Text Box 70"/>
          <p:cNvSpPr txBox="1">
            <a:spLocks noChangeArrowheads="1"/>
          </p:cNvSpPr>
          <p:nvPr/>
        </p:nvSpPr>
        <p:spPr bwMode="auto">
          <a:xfrm>
            <a:off x="539750" y="5157788"/>
            <a:ext cx="698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tx1"/>
                </a:solidFill>
                <a:latin typeface="楷体_GB2312" pitchFamily="49" charset="-122"/>
              </a:rPr>
              <a:t>(2)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设经过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t</a:t>
            </a:r>
            <a:r>
              <a:rPr kumimoji="1"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秒</a:t>
            </a:r>
            <a:r>
              <a:rPr kumimoji="1" lang="zh-CN" altLang="en-US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80V</a:t>
            </a:r>
          </a:p>
        </p:txBody>
      </p:sp>
      <p:graphicFrame>
        <p:nvGraphicFramePr>
          <p:cNvPr id="62535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854203"/>
              </p:ext>
            </p:extLst>
          </p:nvPr>
        </p:nvGraphicFramePr>
        <p:xfrm>
          <a:off x="1136650" y="5819775"/>
          <a:ext cx="52101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1" name="Equation" r:id="rId9" imgW="2120760" imgH="241200" progId="Equation.DSMT4">
                  <p:embed/>
                </p:oleObj>
              </mc:Choice>
              <mc:Fallback>
                <p:oleObj name="Equation" r:id="rId9" imgW="2120760" imgH="241200" progId="Equation.DSMT4">
                  <p:embed/>
                  <p:pic>
                    <p:nvPicPr>
                      <p:cNvPr id="62535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5819775"/>
                        <a:ext cx="52101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FF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09"/>
          <p:cNvGrpSpPr>
            <a:grpSpLocks/>
          </p:cNvGrpSpPr>
          <p:nvPr/>
        </p:nvGrpSpPr>
        <p:grpSpPr bwMode="auto">
          <a:xfrm>
            <a:off x="5364163" y="1412875"/>
            <a:ext cx="3544887" cy="1958975"/>
            <a:chOff x="3368" y="845"/>
            <a:chExt cx="2233" cy="1234"/>
          </a:xfrm>
        </p:grpSpPr>
        <p:sp>
          <p:nvSpPr>
            <p:cNvPr id="48145" name="Oval 85"/>
            <p:cNvSpPr>
              <a:spLocks noChangeArrowheads="1"/>
            </p:cNvSpPr>
            <p:nvPr/>
          </p:nvSpPr>
          <p:spPr bwMode="auto">
            <a:xfrm>
              <a:off x="3368" y="1363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146" name="Line 86"/>
            <p:cNvSpPr>
              <a:spLocks noChangeShapeType="1"/>
            </p:cNvSpPr>
            <p:nvPr/>
          </p:nvSpPr>
          <p:spPr bwMode="auto">
            <a:xfrm>
              <a:off x="5057" y="1181"/>
              <a:ext cx="0" cy="3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87"/>
            <p:cNvSpPr>
              <a:spLocks noChangeShapeType="1"/>
            </p:cNvSpPr>
            <p:nvPr/>
          </p:nvSpPr>
          <p:spPr bwMode="auto">
            <a:xfrm>
              <a:off x="5057" y="16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88"/>
            <p:cNvSpPr>
              <a:spLocks noChangeShapeType="1"/>
            </p:cNvSpPr>
            <p:nvPr/>
          </p:nvSpPr>
          <p:spPr bwMode="auto">
            <a:xfrm flipV="1">
              <a:off x="3550" y="1181"/>
              <a:ext cx="0" cy="8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49" name="Group 89"/>
            <p:cNvGrpSpPr>
              <a:grpSpLocks/>
            </p:cNvGrpSpPr>
            <p:nvPr/>
          </p:nvGrpSpPr>
          <p:grpSpPr bwMode="auto">
            <a:xfrm>
              <a:off x="4921" y="1589"/>
              <a:ext cx="272" cy="91"/>
              <a:chOff x="1296" y="2112"/>
              <a:chExt cx="192" cy="48"/>
            </a:xfrm>
          </p:grpSpPr>
          <p:sp>
            <p:nvSpPr>
              <p:cNvPr id="48167" name="Line 90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8" name="Line 91"/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150" name="Line 92"/>
            <p:cNvSpPr>
              <a:spLocks noChangeShapeType="1"/>
            </p:cNvSpPr>
            <p:nvPr/>
          </p:nvSpPr>
          <p:spPr bwMode="auto">
            <a:xfrm>
              <a:off x="3560" y="2043"/>
              <a:ext cx="150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1" name="Text Box 93"/>
            <p:cNvSpPr txBox="1">
              <a:spLocks noChangeArrowheads="1"/>
            </p:cNvSpPr>
            <p:nvPr/>
          </p:nvSpPr>
          <p:spPr bwMode="auto">
            <a:xfrm>
              <a:off x="4296" y="845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500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8152" name="Text Box 94"/>
            <p:cNvSpPr txBox="1">
              <a:spLocks noChangeArrowheads="1"/>
            </p:cNvSpPr>
            <p:nvPr/>
          </p:nvSpPr>
          <p:spPr bwMode="auto">
            <a:xfrm>
              <a:off x="4332" y="1453"/>
              <a:ext cx="5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8153" name="Text Box 95"/>
            <p:cNvSpPr txBox="1">
              <a:spLocks noChangeArrowheads="1"/>
            </p:cNvSpPr>
            <p:nvPr/>
          </p:nvSpPr>
          <p:spPr bwMode="auto">
            <a:xfrm>
              <a:off x="5103" y="1227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4" name="Text Box 96"/>
            <p:cNvSpPr txBox="1">
              <a:spLocks noChangeArrowheads="1"/>
            </p:cNvSpPr>
            <p:nvPr/>
          </p:nvSpPr>
          <p:spPr bwMode="auto">
            <a:xfrm>
              <a:off x="5079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48155" name="Text Box 97"/>
            <p:cNvSpPr txBox="1">
              <a:spLocks noChangeArrowheads="1"/>
            </p:cNvSpPr>
            <p:nvPr/>
          </p:nvSpPr>
          <p:spPr bwMode="auto">
            <a:xfrm>
              <a:off x="3696" y="1434"/>
              <a:ext cx="6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100V</a:t>
              </a:r>
            </a:p>
          </p:txBody>
        </p:sp>
        <p:sp>
          <p:nvSpPr>
            <p:cNvPr id="48156" name="Line 98"/>
            <p:cNvSpPr>
              <a:spLocks noChangeShapeType="1"/>
            </p:cNvSpPr>
            <p:nvPr/>
          </p:nvSpPr>
          <p:spPr bwMode="auto">
            <a:xfrm>
              <a:off x="3560" y="1181"/>
              <a:ext cx="3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7" name="Line 99"/>
            <p:cNvSpPr>
              <a:spLocks noChangeShapeType="1"/>
            </p:cNvSpPr>
            <p:nvPr/>
          </p:nvSpPr>
          <p:spPr bwMode="auto">
            <a:xfrm>
              <a:off x="4150" y="1181"/>
              <a:ext cx="9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8" name="Line 100"/>
            <p:cNvSpPr>
              <a:spLocks noChangeShapeType="1"/>
            </p:cNvSpPr>
            <p:nvPr/>
          </p:nvSpPr>
          <p:spPr bwMode="auto">
            <a:xfrm flipV="1">
              <a:off x="3878" y="1045"/>
              <a:ext cx="317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Line 101"/>
            <p:cNvSpPr>
              <a:spLocks noChangeShapeType="1"/>
            </p:cNvSpPr>
            <p:nvPr/>
          </p:nvSpPr>
          <p:spPr bwMode="auto">
            <a:xfrm>
              <a:off x="3833" y="909"/>
              <a:ext cx="182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Text Box 102"/>
            <p:cNvSpPr txBox="1">
              <a:spLocks noChangeArrowheads="1"/>
            </p:cNvSpPr>
            <p:nvPr/>
          </p:nvSpPr>
          <p:spPr bwMode="auto">
            <a:xfrm>
              <a:off x="3619" y="864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8161" name="Text Box 103"/>
            <p:cNvSpPr txBox="1">
              <a:spLocks noChangeArrowheads="1"/>
            </p:cNvSpPr>
            <p:nvPr/>
          </p:nvSpPr>
          <p:spPr bwMode="auto">
            <a:xfrm>
              <a:off x="3651" y="1162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62" name="Text Box 104"/>
            <p:cNvSpPr txBox="1">
              <a:spLocks noChangeArrowheads="1"/>
            </p:cNvSpPr>
            <p:nvPr/>
          </p:nvSpPr>
          <p:spPr bwMode="auto">
            <a:xfrm>
              <a:off x="3560" y="170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63" name="Text Box 105"/>
            <p:cNvSpPr txBox="1">
              <a:spLocks noChangeArrowheads="1"/>
            </p:cNvSpPr>
            <p:nvPr/>
          </p:nvSpPr>
          <p:spPr bwMode="auto">
            <a:xfrm>
              <a:off x="5193" y="1453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48164" name="Line 106"/>
            <p:cNvSpPr>
              <a:spLocks noChangeShapeType="1"/>
            </p:cNvSpPr>
            <p:nvPr/>
          </p:nvSpPr>
          <p:spPr bwMode="auto">
            <a:xfrm>
              <a:off x="4195" y="1272"/>
              <a:ext cx="22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5" name="Text Box 107"/>
            <p:cNvSpPr txBox="1">
              <a:spLocks noChangeArrowheads="1"/>
            </p:cNvSpPr>
            <p:nvPr/>
          </p:nvSpPr>
          <p:spPr bwMode="auto">
            <a:xfrm>
              <a:off x="3969" y="1136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48166" name="Rectangle 108"/>
            <p:cNvSpPr>
              <a:spLocks noChangeArrowheads="1"/>
            </p:cNvSpPr>
            <p:nvPr/>
          </p:nvSpPr>
          <p:spPr bwMode="auto">
            <a:xfrm>
              <a:off x="4468" y="1136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09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6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6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6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6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7" grpId="0"/>
      <p:bldP spid="62498" grpId="0" autoUpdateAnimBg="0"/>
      <p:bldP spid="62499" grpId="0" animBg="1" autoUpdateAnimBg="0"/>
      <p:bldP spid="62529" grpId="0"/>
      <p:bldP spid="6253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46085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dirty="0">
                <a:solidFill>
                  <a:schemeClr val="tx1"/>
                </a:solidFill>
                <a:latin typeface="楷体_GB2312" pitchFamily="49" charset="-122"/>
              </a:rPr>
              <a:t>2. </a:t>
            </a:r>
            <a:r>
              <a:rPr kumimoji="1"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RL</a:t>
            </a:r>
            <a:r>
              <a:rPr kumimoji="1" lang="zh-CN" altLang="zh-CN" sz="3200" dirty="0">
                <a:solidFill>
                  <a:schemeClr val="tx1"/>
                </a:solidFill>
                <a:latin typeface="楷体_GB2312" pitchFamily="49" charset="-122"/>
              </a:rPr>
              <a:t>电路的零状态响应</a:t>
            </a:r>
            <a:endParaRPr kumimoji="1" lang="zh-CN" altLang="en-US" sz="32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667349"/>
              </p:ext>
            </p:extLst>
          </p:nvPr>
        </p:nvGraphicFramePr>
        <p:xfrm>
          <a:off x="780908" y="1873250"/>
          <a:ext cx="2610136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8" name="Equation" r:id="rId3" imgW="1015920" imgH="431640" progId="Equation.DSMT4">
                  <p:embed/>
                </p:oleObj>
              </mc:Choice>
              <mc:Fallback>
                <p:oleObj name="Equation" r:id="rId3" imgW="1015920" imgH="431640" progId="Equation.DSMT4">
                  <p:embed/>
                  <p:pic>
                    <p:nvPicPr>
                      <p:cNvPr id="165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908" y="1873250"/>
                        <a:ext cx="2610136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637701"/>
              </p:ext>
            </p:extLst>
          </p:nvPr>
        </p:nvGraphicFramePr>
        <p:xfrm>
          <a:off x="718611" y="3351341"/>
          <a:ext cx="2838978" cy="1097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9" name="公式" r:id="rId5" imgW="1143000" imgH="444240" progId="Equation.3">
                  <p:embed/>
                </p:oleObj>
              </mc:Choice>
              <mc:Fallback>
                <p:oleObj name="公式" r:id="rId5" imgW="1143000" imgH="444240" progId="Equation.3">
                  <p:embed/>
                  <p:pic>
                    <p:nvPicPr>
                      <p:cNvPr id="165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11" y="3351341"/>
                        <a:ext cx="2838978" cy="109762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677863" y="1196975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已知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</a:rPr>
              <a:t>(0</a:t>
            </a:r>
            <a:r>
              <a:rPr kumimoji="1" lang="zh-CN" altLang="en-US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，电路方程为：</a:t>
            </a: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5299398" y="2492896"/>
            <a:ext cx="3011488" cy="2093913"/>
            <a:chOff x="3394" y="2364"/>
            <a:chExt cx="1897" cy="1319"/>
          </a:xfrm>
        </p:grpSpPr>
        <p:sp>
          <p:nvSpPr>
            <p:cNvPr id="49206" name="Line 9"/>
            <p:cNvSpPr>
              <a:spLocks noChangeShapeType="1"/>
            </p:cNvSpPr>
            <p:nvPr/>
          </p:nvSpPr>
          <p:spPr bwMode="auto">
            <a:xfrm>
              <a:off x="3470" y="3203"/>
              <a:ext cx="15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07" name="Line 10"/>
            <p:cNvSpPr>
              <a:spLocks noChangeShapeType="1"/>
            </p:cNvSpPr>
            <p:nvPr/>
          </p:nvSpPr>
          <p:spPr bwMode="auto">
            <a:xfrm flipV="1">
              <a:off x="3710" y="2579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08" name="Freeform 11"/>
            <p:cNvSpPr>
              <a:spLocks/>
            </p:cNvSpPr>
            <p:nvPr/>
          </p:nvSpPr>
          <p:spPr bwMode="auto">
            <a:xfrm>
              <a:off x="3710" y="2867"/>
              <a:ext cx="1344" cy="344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344"/>
                <a:gd name="T17" fmla="*/ 1344 w 1344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209" name="Text Box 12"/>
            <p:cNvSpPr txBox="1">
              <a:spLocks noChangeArrowheads="1"/>
            </p:cNvSpPr>
            <p:nvPr/>
          </p:nvSpPr>
          <p:spPr bwMode="auto">
            <a:xfrm>
              <a:off x="5113" y="3040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10" name="Line 15"/>
            <p:cNvSpPr>
              <a:spLocks noChangeShapeType="1"/>
            </p:cNvSpPr>
            <p:nvPr/>
          </p:nvSpPr>
          <p:spPr bwMode="auto">
            <a:xfrm>
              <a:off x="3438" y="3194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11" name="Text Box 20"/>
            <p:cNvSpPr txBox="1">
              <a:spLocks noChangeArrowheads="1"/>
            </p:cNvSpPr>
            <p:nvPr/>
          </p:nvSpPr>
          <p:spPr bwMode="auto">
            <a:xfrm>
              <a:off x="3622" y="2364"/>
              <a:ext cx="4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915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245162"/>
                </p:ext>
              </p:extLst>
            </p:nvPr>
          </p:nvGraphicFramePr>
          <p:xfrm>
            <a:off x="3394" y="2549"/>
            <a:ext cx="244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0" name="Equation" r:id="rId7" imgW="241200" imgH="393480" progId="Equation.DSMT4">
                    <p:embed/>
                  </p:oleObj>
                </mc:Choice>
                <mc:Fallback>
                  <p:oleObj name="Equation" r:id="rId7" imgW="241200" imgH="393480" progId="Equation.DSMT4">
                    <p:embed/>
                    <p:pic>
                      <p:nvPicPr>
                        <p:cNvPr id="4915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" y="2549"/>
                          <a:ext cx="244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12" name="Text Box 25"/>
            <p:cNvSpPr txBox="1">
              <a:spLocks noChangeArrowheads="1"/>
            </p:cNvSpPr>
            <p:nvPr/>
          </p:nvSpPr>
          <p:spPr bwMode="auto">
            <a:xfrm>
              <a:off x="3459" y="318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9213" name="Line 27"/>
            <p:cNvSpPr>
              <a:spLocks noChangeShapeType="1"/>
            </p:cNvSpPr>
            <p:nvPr/>
          </p:nvSpPr>
          <p:spPr bwMode="auto">
            <a:xfrm flipH="1">
              <a:off x="3710" y="2848"/>
              <a:ext cx="1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5917" name="Object 29"/>
          <p:cNvGraphicFramePr>
            <a:graphicFrameLocks noChangeAspect="1"/>
          </p:cNvGraphicFramePr>
          <p:nvPr/>
        </p:nvGraphicFramePr>
        <p:xfrm>
          <a:off x="3087688" y="2708275"/>
          <a:ext cx="210185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1" name="公式" r:id="rId9" imgW="927000" imgH="444240" progId="Equation.3">
                  <p:embed/>
                </p:oleObj>
              </mc:Choice>
              <mc:Fallback>
                <p:oleObj name="公式" r:id="rId9" imgW="927000" imgH="444240" progId="Equation.3">
                  <p:embed/>
                  <p:pic>
                    <p:nvPicPr>
                      <p:cNvPr id="16591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2708275"/>
                        <a:ext cx="210185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5490856" y="337441"/>
            <a:ext cx="2940050" cy="2133600"/>
            <a:chOff x="3034" y="2096"/>
            <a:chExt cx="1852" cy="1344"/>
          </a:xfrm>
        </p:grpSpPr>
        <p:sp>
          <p:nvSpPr>
            <p:cNvPr id="49169" name="Oval 37"/>
            <p:cNvSpPr>
              <a:spLocks noChangeArrowheads="1"/>
            </p:cNvSpPr>
            <p:nvPr/>
          </p:nvSpPr>
          <p:spPr bwMode="auto">
            <a:xfrm>
              <a:off x="3061" y="2704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49170" name="Group 38"/>
            <p:cNvGrpSpPr>
              <a:grpSpLocks/>
            </p:cNvGrpSpPr>
            <p:nvPr/>
          </p:nvGrpSpPr>
          <p:grpSpPr bwMode="auto">
            <a:xfrm>
              <a:off x="4238" y="2134"/>
              <a:ext cx="278" cy="350"/>
              <a:chOff x="1827" y="480"/>
              <a:chExt cx="285" cy="288"/>
            </a:xfrm>
          </p:grpSpPr>
          <p:sp>
            <p:nvSpPr>
              <p:cNvPr id="49200" name="Line 3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201" name="Text Box 40"/>
              <p:cNvSpPr txBox="1">
                <a:spLocks noChangeArrowheads="1"/>
              </p:cNvSpPr>
              <p:nvPr/>
            </p:nvSpPr>
            <p:spPr bwMode="auto">
              <a:xfrm>
                <a:off x="1827" y="480"/>
                <a:ext cx="27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9171" name="Text Box 41"/>
            <p:cNvSpPr txBox="1">
              <a:spLocks noChangeArrowheads="1"/>
            </p:cNvSpPr>
            <p:nvPr/>
          </p:nvSpPr>
          <p:spPr bwMode="auto">
            <a:xfrm>
              <a:off x="3034" y="2096"/>
              <a:ext cx="7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S(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t=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0)</a:t>
              </a:r>
            </a:p>
          </p:txBody>
        </p:sp>
        <p:sp>
          <p:nvSpPr>
            <p:cNvPr id="49172" name="Text Box 42"/>
            <p:cNvSpPr txBox="1">
              <a:spLocks noChangeArrowheads="1"/>
            </p:cNvSpPr>
            <p:nvPr/>
          </p:nvSpPr>
          <p:spPr bwMode="auto">
            <a:xfrm>
              <a:off x="3420" y="2750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9173" name="Group 43"/>
            <p:cNvGrpSpPr>
              <a:grpSpLocks/>
            </p:cNvGrpSpPr>
            <p:nvPr/>
          </p:nvGrpSpPr>
          <p:grpSpPr bwMode="auto">
            <a:xfrm>
              <a:off x="3778" y="2459"/>
              <a:ext cx="603" cy="374"/>
              <a:chOff x="804" y="777"/>
              <a:chExt cx="619" cy="308"/>
            </a:xfrm>
          </p:grpSpPr>
          <p:grpSp>
            <p:nvGrpSpPr>
              <p:cNvPr id="49196" name="Group 44"/>
              <p:cNvGrpSpPr>
                <a:grpSpLocks/>
              </p:cNvGrpSpPr>
              <p:nvPr/>
            </p:nvGrpSpPr>
            <p:grpSpPr bwMode="auto">
              <a:xfrm>
                <a:off x="804" y="777"/>
                <a:ext cx="619" cy="269"/>
                <a:chOff x="804" y="777"/>
                <a:chExt cx="619" cy="269"/>
              </a:xfrm>
            </p:grpSpPr>
            <p:sp>
              <p:nvSpPr>
                <p:cNvPr id="49198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804" y="777"/>
                  <a:ext cx="2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919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189" y="777"/>
                  <a:ext cx="23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9197" name="Text Box 47"/>
              <p:cNvSpPr txBox="1">
                <a:spLocks noChangeArrowheads="1"/>
              </p:cNvSpPr>
              <p:nvPr/>
            </p:nvSpPr>
            <p:spPr bwMode="auto">
              <a:xfrm>
                <a:off x="955" y="816"/>
                <a:ext cx="33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</a:p>
            </p:txBody>
          </p:sp>
        </p:grpSp>
        <p:sp>
          <p:nvSpPr>
            <p:cNvPr id="49174" name="Text Box 48"/>
            <p:cNvSpPr txBox="1">
              <a:spLocks noChangeArrowheads="1"/>
            </p:cNvSpPr>
            <p:nvPr/>
          </p:nvSpPr>
          <p:spPr bwMode="auto">
            <a:xfrm>
              <a:off x="4645" y="2776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9175" name="Group 49"/>
            <p:cNvGrpSpPr>
              <a:grpSpLocks/>
            </p:cNvGrpSpPr>
            <p:nvPr/>
          </p:nvGrpSpPr>
          <p:grpSpPr bwMode="auto">
            <a:xfrm>
              <a:off x="4237" y="2523"/>
              <a:ext cx="326" cy="794"/>
              <a:chOff x="1967" y="730"/>
              <a:chExt cx="335" cy="655"/>
            </a:xfrm>
          </p:grpSpPr>
          <p:grpSp>
            <p:nvGrpSpPr>
              <p:cNvPr id="49192" name="Group 50"/>
              <p:cNvGrpSpPr>
                <a:grpSpLocks/>
              </p:cNvGrpSpPr>
              <p:nvPr/>
            </p:nvGrpSpPr>
            <p:grpSpPr bwMode="auto">
              <a:xfrm>
                <a:off x="2052" y="730"/>
                <a:ext cx="250" cy="655"/>
                <a:chOff x="1620" y="1258"/>
                <a:chExt cx="250" cy="655"/>
              </a:xfrm>
            </p:grpSpPr>
            <p:sp>
              <p:nvSpPr>
                <p:cNvPr id="4919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620" y="1258"/>
                  <a:ext cx="250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9195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620" y="1641"/>
                  <a:ext cx="236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49193" name="Text Box 53"/>
              <p:cNvSpPr txBox="1">
                <a:spLocks noChangeArrowheads="1"/>
              </p:cNvSpPr>
              <p:nvPr/>
            </p:nvSpPr>
            <p:spPr bwMode="auto">
              <a:xfrm>
                <a:off x="1967" y="911"/>
                <a:ext cx="330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9176" name="Line 54"/>
            <p:cNvSpPr>
              <a:spLocks noChangeShapeType="1"/>
            </p:cNvSpPr>
            <p:nvPr/>
          </p:nvSpPr>
          <p:spPr bwMode="auto">
            <a:xfrm>
              <a:off x="3833" y="2523"/>
              <a:ext cx="7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Line 55"/>
            <p:cNvSpPr>
              <a:spLocks noChangeShapeType="1"/>
            </p:cNvSpPr>
            <p:nvPr/>
          </p:nvSpPr>
          <p:spPr bwMode="auto">
            <a:xfrm>
              <a:off x="3243" y="2523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8" name="Line 56"/>
            <p:cNvSpPr>
              <a:spLocks noChangeShapeType="1"/>
            </p:cNvSpPr>
            <p:nvPr/>
          </p:nvSpPr>
          <p:spPr bwMode="auto">
            <a:xfrm>
              <a:off x="4558" y="3113"/>
              <a:ext cx="0" cy="2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Line 57"/>
            <p:cNvSpPr>
              <a:spLocks noChangeShapeType="1"/>
            </p:cNvSpPr>
            <p:nvPr/>
          </p:nvSpPr>
          <p:spPr bwMode="auto">
            <a:xfrm>
              <a:off x="3243" y="2523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Line 58"/>
            <p:cNvSpPr>
              <a:spLocks noChangeShapeType="1"/>
            </p:cNvSpPr>
            <p:nvPr/>
          </p:nvSpPr>
          <p:spPr bwMode="auto">
            <a:xfrm>
              <a:off x="3243" y="3385"/>
              <a:ext cx="13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1" name="Line 59"/>
            <p:cNvSpPr>
              <a:spLocks noChangeShapeType="1"/>
            </p:cNvSpPr>
            <p:nvPr/>
          </p:nvSpPr>
          <p:spPr bwMode="auto">
            <a:xfrm>
              <a:off x="4558" y="2523"/>
              <a:ext cx="0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2" name="Text Box 60"/>
            <p:cNvSpPr txBox="1">
              <a:spLocks noChangeArrowheads="1"/>
            </p:cNvSpPr>
            <p:nvPr/>
          </p:nvSpPr>
          <p:spPr bwMode="auto">
            <a:xfrm>
              <a:off x="3964" y="2141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3" name="Line 61"/>
            <p:cNvSpPr>
              <a:spLocks noChangeShapeType="1"/>
            </p:cNvSpPr>
            <p:nvPr/>
          </p:nvSpPr>
          <p:spPr bwMode="auto">
            <a:xfrm flipH="1" flipV="1">
              <a:off x="3560" y="2432"/>
              <a:ext cx="278" cy="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4" name="Line 62"/>
            <p:cNvSpPr>
              <a:spLocks noChangeShapeType="1"/>
            </p:cNvSpPr>
            <p:nvPr/>
          </p:nvSpPr>
          <p:spPr bwMode="auto">
            <a:xfrm flipH="1">
              <a:off x="3742" y="2251"/>
              <a:ext cx="140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5" name="Rectangle 63"/>
            <p:cNvSpPr>
              <a:spLocks noChangeArrowheads="1"/>
            </p:cNvSpPr>
            <p:nvPr/>
          </p:nvSpPr>
          <p:spPr bwMode="auto">
            <a:xfrm>
              <a:off x="3923" y="2432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49186" name="Group 64"/>
            <p:cNvGrpSpPr>
              <a:grpSpLocks/>
            </p:cNvGrpSpPr>
            <p:nvPr/>
          </p:nvGrpSpPr>
          <p:grpSpPr bwMode="auto">
            <a:xfrm rot="5400000">
              <a:off x="4104" y="2614"/>
              <a:ext cx="499" cy="590"/>
              <a:chOff x="476" y="663"/>
              <a:chExt cx="771" cy="862"/>
            </a:xfrm>
          </p:grpSpPr>
          <p:sp>
            <p:nvSpPr>
              <p:cNvPr id="49189" name="AutoShape 65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190" name="AutoShape 66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191" name="AutoShape 67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187" name="Text Box 68"/>
            <p:cNvSpPr txBox="1">
              <a:spLocks noChangeArrowheads="1"/>
            </p:cNvSpPr>
            <p:nvPr/>
          </p:nvSpPr>
          <p:spPr bwMode="auto">
            <a:xfrm>
              <a:off x="3288" y="2478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49188" name="Text Box 69"/>
            <p:cNvSpPr txBox="1">
              <a:spLocks noChangeArrowheads="1"/>
            </p:cNvSpPr>
            <p:nvPr/>
          </p:nvSpPr>
          <p:spPr bwMode="auto">
            <a:xfrm>
              <a:off x="3334" y="3113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</a:p>
          </p:txBody>
        </p:sp>
      </p:grpSp>
      <p:graphicFrame>
        <p:nvGraphicFramePr>
          <p:cNvPr id="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545652"/>
              </p:ext>
            </p:extLst>
          </p:nvPr>
        </p:nvGraphicFramePr>
        <p:xfrm>
          <a:off x="720976" y="4912692"/>
          <a:ext cx="31194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2" name="Equation" r:id="rId11" imgW="1206360" imgH="419040" progId="Equation.DSMT4">
                  <p:embed/>
                </p:oleObj>
              </mc:Choice>
              <mc:Fallback>
                <p:oleObj name="Equation" r:id="rId11" imgW="1206360" imgH="419040" progId="Equation.DSMT4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976" y="4912692"/>
                        <a:ext cx="311943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Group 122"/>
          <p:cNvGrpSpPr>
            <a:grpSpLocks/>
          </p:cNvGrpSpPr>
          <p:nvPr/>
        </p:nvGrpSpPr>
        <p:grpSpPr bwMode="auto">
          <a:xfrm>
            <a:off x="5075252" y="4572220"/>
            <a:ext cx="3162300" cy="1998663"/>
            <a:chOff x="3424" y="1808"/>
            <a:chExt cx="1992" cy="1259"/>
          </a:xfrm>
        </p:grpSpPr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3927" y="1808"/>
              <a:ext cx="3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3550" y="2019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66" name="Line 62"/>
            <p:cNvSpPr>
              <a:spLocks noChangeShapeType="1"/>
            </p:cNvSpPr>
            <p:nvPr/>
          </p:nvSpPr>
          <p:spPr bwMode="auto">
            <a:xfrm>
              <a:off x="3424" y="2659"/>
              <a:ext cx="18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3"/>
            <p:cNvSpPr>
              <a:spLocks noChangeShapeType="1"/>
            </p:cNvSpPr>
            <p:nvPr/>
          </p:nvSpPr>
          <p:spPr bwMode="auto">
            <a:xfrm flipV="1">
              <a:off x="3878" y="1987"/>
              <a:ext cx="8" cy="10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64"/>
            <p:cNvSpPr>
              <a:spLocks/>
            </p:cNvSpPr>
            <p:nvPr/>
          </p:nvSpPr>
          <p:spPr bwMode="auto">
            <a:xfrm>
              <a:off x="3886" y="2179"/>
              <a:ext cx="1200" cy="450"/>
            </a:xfrm>
            <a:custGeom>
              <a:avLst/>
              <a:gdLst>
                <a:gd name="T0" fmla="*/ 0 w 1200"/>
                <a:gd name="T1" fmla="*/ 0 h 450"/>
                <a:gd name="T2" fmla="*/ 144 w 1200"/>
                <a:gd name="T3" fmla="*/ 192 h 450"/>
                <a:gd name="T4" fmla="*/ 384 w 1200"/>
                <a:gd name="T5" fmla="*/ 336 h 450"/>
                <a:gd name="T6" fmla="*/ 912 w 1200"/>
                <a:gd name="T7" fmla="*/ 432 h 450"/>
                <a:gd name="T8" fmla="*/ 1200 w 1200"/>
                <a:gd name="T9" fmla="*/ 442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0"/>
                <a:gd name="T16" fmla="*/ 0 h 450"/>
                <a:gd name="T17" fmla="*/ 1200 w 1200"/>
                <a:gd name="T18" fmla="*/ 450 h 4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5238" y="2544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Text Box 68"/>
            <p:cNvSpPr txBox="1">
              <a:spLocks noChangeArrowheads="1"/>
            </p:cNvSpPr>
            <p:nvPr/>
          </p:nvSpPr>
          <p:spPr bwMode="auto">
            <a:xfrm>
              <a:off x="3638" y="259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1" name="Line 69"/>
            <p:cNvSpPr>
              <a:spLocks noChangeShapeType="1"/>
            </p:cNvSpPr>
            <p:nvPr/>
          </p:nvSpPr>
          <p:spPr bwMode="auto">
            <a:xfrm flipH="1">
              <a:off x="3667" y="2647"/>
              <a:ext cx="21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/>
            <p:cNvSpPr>
              <a:spLocks noChangeShapeType="1"/>
            </p:cNvSpPr>
            <p:nvPr/>
          </p:nvSpPr>
          <p:spPr bwMode="auto">
            <a:xfrm flipV="1">
              <a:off x="3877" y="2192"/>
              <a:ext cx="0" cy="45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2"/>
            <p:cNvSpPr>
              <a:spLocks noChangeShapeType="1"/>
            </p:cNvSpPr>
            <p:nvPr/>
          </p:nvSpPr>
          <p:spPr bwMode="auto">
            <a:xfrm rot="-2533965">
              <a:off x="3875" y="2167"/>
              <a:ext cx="37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514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  <p:bldP spid="1658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86" y="2177720"/>
            <a:ext cx="3960440" cy="24696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64" y="2207340"/>
            <a:ext cx="3344905" cy="24696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86" y="181555"/>
            <a:ext cx="6848872" cy="1535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32074"/>
          <a:stretch/>
        </p:blipFill>
        <p:spPr>
          <a:xfrm>
            <a:off x="165786" y="4676903"/>
            <a:ext cx="1614110" cy="14043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9896" y="4663735"/>
            <a:ext cx="2772318" cy="1417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3923928" y="5804281"/>
                <a:ext cx="309636" cy="27699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5804281"/>
                <a:ext cx="309636" cy="276999"/>
              </a:xfrm>
              <a:prstGeom prst="rect">
                <a:avLst/>
              </a:prstGeom>
              <a:blipFill>
                <a:blip r:embed="rId7"/>
                <a:stretch>
                  <a:fillRect l="-18000" r="-8000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214" y="4663735"/>
            <a:ext cx="2808312" cy="14767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2576" y="5717110"/>
            <a:ext cx="2647950" cy="42862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 bwMode="auto">
          <a:xfrm>
            <a:off x="3513484" y="932936"/>
            <a:ext cx="1440160" cy="91440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4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908721"/>
            <a:ext cx="3182888" cy="18810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9" y="898368"/>
            <a:ext cx="3661697" cy="18723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57459"/>
            <a:ext cx="3705225" cy="504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993" y="2756836"/>
            <a:ext cx="3171825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243620"/>
            <a:ext cx="4362450" cy="514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33" y="4263988"/>
            <a:ext cx="4552950" cy="4667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147265" y="38001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通解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00735" y="37788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特解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683" y="3607772"/>
            <a:ext cx="3312368" cy="1467894"/>
          </a:xfrm>
          <a:prstGeom prst="rect">
            <a:avLst/>
          </a:prstGeom>
        </p:spPr>
      </p:pic>
      <p:sp>
        <p:nvSpPr>
          <p:cNvPr id="14" name="Rectangle 50"/>
          <p:cNvSpPr>
            <a:spLocks noChangeArrowheads="1"/>
          </p:cNvSpPr>
          <p:nvPr/>
        </p:nvSpPr>
        <p:spPr bwMode="auto">
          <a:xfrm>
            <a:off x="107156" y="203706"/>
            <a:ext cx="7056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.1 </a:t>
            </a:r>
            <a:r>
              <a:rPr kumimoji="1"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</a:t>
            </a:r>
            <a:r>
              <a:rPr kumimoji="1" lang="zh-CN" altLang="en-US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</a:t>
            </a:r>
            <a:r>
              <a:rPr lang="zh-CN" altLang="en-US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全</a:t>
            </a:r>
            <a:r>
              <a:rPr kumimoji="1" lang="zh-CN" altLang="en-US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响应         </a:t>
            </a:r>
            <a:endParaRPr kumimoji="1" lang="zh-CN" altLang="en-US" sz="32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33" y="4731488"/>
            <a:ext cx="3552825" cy="800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3" y="5532363"/>
            <a:ext cx="5974467" cy="5266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297" y="6076564"/>
            <a:ext cx="2420629" cy="47618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5061" y="6059038"/>
            <a:ext cx="3103612" cy="655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4517258" y="3362295"/>
                <a:ext cx="309636" cy="27699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258" y="3362295"/>
                <a:ext cx="309636" cy="276999"/>
              </a:xfrm>
              <a:prstGeom prst="rect">
                <a:avLst/>
              </a:prstGeom>
              <a:blipFill>
                <a:blip r:embed="rId13"/>
                <a:stretch>
                  <a:fillRect l="-15686" r="-7843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606867" y="4730713"/>
                <a:ext cx="309636" cy="27699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867" y="4730713"/>
                <a:ext cx="309636" cy="276999"/>
              </a:xfrm>
              <a:prstGeom prst="rect">
                <a:avLst/>
              </a:prstGeom>
              <a:blipFill>
                <a:blip r:embed="rId14"/>
                <a:stretch>
                  <a:fillRect l="-17647" r="-5882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4324730" y="5657200"/>
                <a:ext cx="309636" cy="27699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730" y="5657200"/>
                <a:ext cx="309636" cy="276999"/>
              </a:xfrm>
              <a:prstGeom prst="rect">
                <a:avLst/>
              </a:prstGeom>
              <a:blipFill>
                <a:blip r:embed="rId15"/>
                <a:stretch>
                  <a:fillRect l="-15686" r="-784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8275" y="5526612"/>
            <a:ext cx="1543050" cy="561975"/>
          </a:xfrm>
          <a:prstGeom prst="rect">
            <a:avLst/>
          </a:prstGeom>
          <a:ln cmpd="sng">
            <a:solidFill>
              <a:srgbClr val="FF0000"/>
            </a:solidFill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2431" y="6094250"/>
            <a:ext cx="3099587" cy="44845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8675" y="6093875"/>
            <a:ext cx="3456383" cy="561409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7269113" y="1474647"/>
                <a:ext cx="1853026" cy="1592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快速计算零状态响应的步骤？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113" y="1474647"/>
                <a:ext cx="1853026" cy="1592167"/>
              </a:xfrm>
              <a:prstGeom prst="rect">
                <a:avLst/>
              </a:prstGeom>
              <a:blipFill>
                <a:blip r:embed="rId19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7373843" y="29751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应用三要素法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040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6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8664928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0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-341855" y="185737"/>
            <a:ext cx="597693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32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8.3 </a:t>
            </a: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一阶电路的全响应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771775" y="692696"/>
            <a:ext cx="604996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电路的初始状态不为零，同时又有外加激励源作用时电路中产生的响应。</a:t>
            </a: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737487"/>
              </p:ext>
            </p:extLst>
          </p:nvPr>
        </p:nvGraphicFramePr>
        <p:xfrm>
          <a:off x="4778375" y="2348086"/>
          <a:ext cx="282733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1" name="Equation" r:id="rId3" imgW="1130040" imgH="393480" progId="Equation.DSMT4">
                  <p:embed/>
                </p:oleObj>
              </mc:Choice>
              <mc:Fallback>
                <p:oleObj name="Equation" r:id="rId3" imgW="1130040" imgH="393480" progId="Equation.DSMT4">
                  <p:embed/>
                  <p:pic>
                    <p:nvPicPr>
                      <p:cNvPr id="5841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2348086"/>
                        <a:ext cx="282733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20" name="Text Box 52"/>
          <p:cNvSpPr txBox="1">
            <a:spLocks noChangeArrowheads="1"/>
          </p:cNvSpPr>
          <p:nvPr/>
        </p:nvSpPr>
        <p:spPr bwMode="auto">
          <a:xfrm>
            <a:off x="2843213" y="1843633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以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</a:rPr>
              <a:t>RC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电路为例，电路微分方程：</a:t>
            </a:r>
          </a:p>
        </p:txBody>
      </p:sp>
      <p:sp>
        <p:nvSpPr>
          <p:cNvPr id="58428" name="Text Box 60"/>
          <p:cNvSpPr txBox="1">
            <a:spLocks noChangeArrowheads="1"/>
          </p:cNvSpPr>
          <p:nvPr/>
        </p:nvSpPr>
        <p:spPr bwMode="auto">
          <a:xfrm>
            <a:off x="539750" y="1772196"/>
            <a:ext cx="2160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</a:rPr>
              <a:t>1. 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全响应</a:t>
            </a:r>
          </a:p>
        </p:txBody>
      </p:sp>
      <p:sp>
        <p:nvSpPr>
          <p:cNvPr id="58434" name="Text Box 66"/>
          <p:cNvSpPr txBox="1">
            <a:spLocks noChangeArrowheads="1"/>
          </p:cNvSpPr>
          <p:nvPr/>
        </p:nvSpPr>
        <p:spPr bwMode="auto">
          <a:xfrm>
            <a:off x="539750" y="980033"/>
            <a:ext cx="1439863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全响应</a:t>
            </a:r>
          </a:p>
        </p:txBody>
      </p:sp>
      <p:sp>
        <p:nvSpPr>
          <p:cNvPr id="58435" name="AutoShape 67"/>
          <p:cNvSpPr>
            <a:spLocks noChangeArrowheads="1"/>
          </p:cNvSpPr>
          <p:nvPr/>
        </p:nvSpPr>
        <p:spPr bwMode="auto">
          <a:xfrm>
            <a:off x="2124075" y="1195933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85"/>
          <p:cNvGrpSpPr>
            <a:grpSpLocks/>
          </p:cNvGrpSpPr>
          <p:nvPr/>
        </p:nvGrpSpPr>
        <p:grpSpPr bwMode="auto">
          <a:xfrm>
            <a:off x="468313" y="2491333"/>
            <a:ext cx="3560762" cy="2117725"/>
            <a:chOff x="2789" y="2096"/>
            <a:chExt cx="2243" cy="1334"/>
          </a:xfrm>
        </p:grpSpPr>
        <p:sp>
          <p:nvSpPr>
            <p:cNvPr id="53271" name="Line 86"/>
            <p:cNvSpPr>
              <a:spLocks noChangeShapeType="1"/>
            </p:cNvSpPr>
            <p:nvPr/>
          </p:nvSpPr>
          <p:spPr bwMode="auto">
            <a:xfrm flipV="1">
              <a:off x="4513" y="3067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2" name="Oval 87"/>
            <p:cNvSpPr>
              <a:spLocks noChangeArrowheads="1"/>
            </p:cNvSpPr>
            <p:nvPr/>
          </p:nvSpPr>
          <p:spPr bwMode="auto">
            <a:xfrm>
              <a:off x="2789" y="2795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3273" name="Group 88"/>
            <p:cNvGrpSpPr>
              <a:grpSpLocks/>
            </p:cNvGrpSpPr>
            <p:nvPr/>
          </p:nvGrpSpPr>
          <p:grpSpPr bwMode="auto">
            <a:xfrm>
              <a:off x="3561" y="3041"/>
              <a:ext cx="237" cy="327"/>
              <a:chOff x="1872" y="456"/>
              <a:chExt cx="240" cy="317"/>
            </a:xfrm>
          </p:grpSpPr>
          <p:sp>
            <p:nvSpPr>
              <p:cNvPr id="53300" name="Line 8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1" name="Text Box 90"/>
              <p:cNvSpPr txBox="1">
                <a:spLocks noChangeArrowheads="1"/>
              </p:cNvSpPr>
              <p:nvPr/>
            </p:nvSpPr>
            <p:spPr bwMode="auto">
              <a:xfrm>
                <a:off x="1875" y="456"/>
                <a:ext cx="180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3274" name="Group 91"/>
            <p:cNvGrpSpPr>
              <a:grpSpLocks/>
            </p:cNvGrpSpPr>
            <p:nvPr/>
          </p:nvGrpSpPr>
          <p:grpSpPr bwMode="auto">
            <a:xfrm>
              <a:off x="3269" y="2096"/>
              <a:ext cx="691" cy="362"/>
              <a:chOff x="1122" y="899"/>
              <a:chExt cx="701" cy="349"/>
            </a:xfrm>
          </p:grpSpPr>
          <p:sp>
            <p:nvSpPr>
              <p:cNvPr id="53298" name="Line 92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9" name="Text Box 93"/>
              <p:cNvSpPr txBox="1">
                <a:spLocks noChangeArrowheads="1"/>
              </p:cNvSpPr>
              <p:nvPr/>
            </p:nvSpPr>
            <p:spPr bwMode="auto">
              <a:xfrm>
                <a:off x="1122" y="899"/>
                <a:ext cx="701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S(</a:t>
                </a: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=0)</a:t>
                </a:r>
              </a:p>
            </p:txBody>
          </p:sp>
        </p:grpSp>
        <p:sp>
          <p:nvSpPr>
            <p:cNvPr id="53275" name="Text Box 94"/>
            <p:cNvSpPr txBox="1">
              <a:spLocks noChangeArrowheads="1"/>
            </p:cNvSpPr>
            <p:nvPr/>
          </p:nvSpPr>
          <p:spPr bwMode="auto">
            <a:xfrm>
              <a:off x="3134" y="2821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3276" name="Group 95"/>
            <p:cNvGrpSpPr>
              <a:grpSpLocks/>
            </p:cNvGrpSpPr>
            <p:nvPr/>
          </p:nvGrpSpPr>
          <p:grpSpPr bwMode="auto">
            <a:xfrm>
              <a:off x="3733" y="2549"/>
              <a:ext cx="608" cy="366"/>
              <a:chOff x="806" y="755"/>
              <a:chExt cx="615" cy="353"/>
            </a:xfrm>
          </p:grpSpPr>
          <p:grpSp>
            <p:nvGrpSpPr>
              <p:cNvPr id="53294" name="Group 96"/>
              <p:cNvGrpSpPr>
                <a:grpSpLocks/>
              </p:cNvGrpSpPr>
              <p:nvPr/>
            </p:nvGrpSpPr>
            <p:grpSpPr bwMode="auto">
              <a:xfrm>
                <a:off x="806" y="755"/>
                <a:ext cx="615" cy="315"/>
                <a:chOff x="806" y="755"/>
                <a:chExt cx="615" cy="315"/>
              </a:xfrm>
            </p:grpSpPr>
            <p:sp>
              <p:nvSpPr>
                <p:cNvPr id="53296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06" y="755"/>
                  <a:ext cx="247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53297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190" y="755"/>
                  <a:ext cx="231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3295" name="Text Box 99"/>
              <p:cNvSpPr txBox="1">
                <a:spLocks noChangeArrowheads="1"/>
              </p:cNvSpPr>
              <p:nvPr/>
            </p:nvSpPr>
            <p:spPr bwMode="auto">
              <a:xfrm>
                <a:off x="961" y="793"/>
                <a:ext cx="324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3277" name="Line 100"/>
            <p:cNvSpPr>
              <a:spLocks noChangeShapeType="1"/>
            </p:cNvSpPr>
            <p:nvPr/>
          </p:nvSpPr>
          <p:spPr bwMode="auto">
            <a:xfrm>
              <a:off x="3515" y="2568"/>
              <a:ext cx="9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8" name="Line 101"/>
            <p:cNvSpPr>
              <a:spLocks noChangeShapeType="1"/>
            </p:cNvSpPr>
            <p:nvPr/>
          </p:nvSpPr>
          <p:spPr bwMode="auto">
            <a:xfrm>
              <a:off x="2971" y="2568"/>
              <a:ext cx="3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9" name="Line 102"/>
            <p:cNvSpPr>
              <a:spLocks noChangeShapeType="1"/>
            </p:cNvSpPr>
            <p:nvPr/>
          </p:nvSpPr>
          <p:spPr bwMode="auto">
            <a:xfrm>
              <a:off x="2971" y="2568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0" name="Text Box 103"/>
            <p:cNvSpPr txBox="1">
              <a:spLocks noChangeArrowheads="1"/>
            </p:cNvSpPr>
            <p:nvPr/>
          </p:nvSpPr>
          <p:spPr bwMode="auto">
            <a:xfrm>
              <a:off x="4105" y="2886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grpSp>
          <p:nvGrpSpPr>
            <p:cNvPr id="53281" name="Group 104"/>
            <p:cNvGrpSpPr>
              <a:grpSpLocks/>
            </p:cNvGrpSpPr>
            <p:nvPr/>
          </p:nvGrpSpPr>
          <p:grpSpPr bwMode="auto">
            <a:xfrm>
              <a:off x="4700" y="2640"/>
              <a:ext cx="332" cy="724"/>
              <a:chOff x="1965" y="707"/>
              <a:chExt cx="336" cy="699"/>
            </a:xfrm>
          </p:grpSpPr>
          <p:grpSp>
            <p:nvGrpSpPr>
              <p:cNvPr id="53290" name="Group 105"/>
              <p:cNvGrpSpPr>
                <a:grpSpLocks/>
              </p:cNvGrpSpPr>
              <p:nvPr/>
            </p:nvGrpSpPr>
            <p:grpSpPr bwMode="auto">
              <a:xfrm>
                <a:off x="2054" y="707"/>
                <a:ext cx="247" cy="699"/>
                <a:chOff x="1622" y="1235"/>
                <a:chExt cx="247" cy="699"/>
              </a:xfrm>
            </p:grpSpPr>
            <p:sp>
              <p:nvSpPr>
                <p:cNvPr id="53292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622" y="1235"/>
                  <a:ext cx="247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53293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1623" y="1618"/>
                  <a:ext cx="231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3291" name="Text Box 108"/>
              <p:cNvSpPr txBox="1">
                <a:spLocks noChangeArrowheads="1"/>
              </p:cNvSpPr>
              <p:nvPr/>
            </p:nvSpPr>
            <p:spPr bwMode="auto">
              <a:xfrm>
                <a:off x="1965" y="888"/>
                <a:ext cx="333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3282" name="Group 109"/>
            <p:cNvGrpSpPr>
              <a:grpSpLocks/>
            </p:cNvGrpSpPr>
            <p:nvPr/>
          </p:nvGrpSpPr>
          <p:grpSpPr bwMode="auto">
            <a:xfrm>
              <a:off x="4377" y="2976"/>
              <a:ext cx="318" cy="91"/>
              <a:chOff x="1824" y="1680"/>
              <a:chExt cx="192" cy="96"/>
            </a:xfrm>
          </p:grpSpPr>
          <p:sp>
            <p:nvSpPr>
              <p:cNvPr id="53288" name="Line 11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89" name="Line 11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283" name="Line 112"/>
            <p:cNvSpPr>
              <a:spLocks noChangeShapeType="1"/>
            </p:cNvSpPr>
            <p:nvPr/>
          </p:nvSpPr>
          <p:spPr bwMode="auto">
            <a:xfrm flipV="1">
              <a:off x="4513" y="2568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4" name="Line 113"/>
            <p:cNvSpPr>
              <a:spLocks noChangeShapeType="1"/>
            </p:cNvSpPr>
            <p:nvPr/>
          </p:nvSpPr>
          <p:spPr bwMode="auto">
            <a:xfrm flipH="1" flipV="1">
              <a:off x="3288" y="2432"/>
              <a:ext cx="227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5" name="Line 114"/>
            <p:cNvSpPr>
              <a:spLocks noChangeShapeType="1"/>
            </p:cNvSpPr>
            <p:nvPr/>
          </p:nvSpPr>
          <p:spPr bwMode="auto">
            <a:xfrm>
              <a:off x="2971" y="3430"/>
              <a:ext cx="156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6" name="Text Box 115"/>
            <p:cNvSpPr txBox="1">
              <a:spLocks noChangeArrowheads="1"/>
            </p:cNvSpPr>
            <p:nvPr/>
          </p:nvSpPr>
          <p:spPr bwMode="auto">
            <a:xfrm>
              <a:off x="3919" y="2232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7" name="Rectangle 116"/>
            <p:cNvSpPr>
              <a:spLocks noChangeArrowheads="1"/>
            </p:cNvSpPr>
            <p:nvPr/>
          </p:nvSpPr>
          <p:spPr bwMode="auto">
            <a:xfrm>
              <a:off x="3878" y="2522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643172"/>
              </p:ext>
            </p:extLst>
          </p:nvPr>
        </p:nvGraphicFramePr>
        <p:xfrm>
          <a:off x="5411788" y="3731171"/>
          <a:ext cx="30686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2" name="Equation" r:id="rId5" imgW="1269720" imgH="228600" progId="Equation.DSMT4">
                  <p:embed/>
                </p:oleObj>
              </mc:Choice>
              <mc:Fallback>
                <p:oleObj name="Equation" r:id="rId5" imgW="1269720" imgH="228600" progId="Equation.DSMT4">
                  <p:embed/>
                  <p:pic>
                    <p:nvPicPr>
                      <p:cNvPr id="4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8" y="3731171"/>
                        <a:ext cx="30686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4504374" y="3212182"/>
            <a:ext cx="2303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三要素：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261402"/>
              </p:ext>
            </p:extLst>
          </p:nvPr>
        </p:nvGraphicFramePr>
        <p:xfrm>
          <a:off x="5514546" y="4284318"/>
          <a:ext cx="168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3" name="Equation" r:id="rId7" imgW="698400" imgH="228600" progId="Equation.DSMT4">
                  <p:embed/>
                </p:oleObj>
              </mc:Choice>
              <mc:Fallback>
                <p:oleObj name="Equation" r:id="rId7" imgW="698400" imgH="228600" progId="Equation.DSMT4">
                  <p:embed/>
                  <p:pic>
                    <p:nvPicPr>
                      <p:cNvPr id="49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546" y="4284318"/>
                        <a:ext cx="168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03215"/>
              </p:ext>
            </p:extLst>
          </p:nvPr>
        </p:nvGraphicFramePr>
        <p:xfrm>
          <a:off x="5503937" y="4929474"/>
          <a:ext cx="11668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4" name="Equation" r:id="rId9" imgW="482400" imgH="177480" progId="Equation.DSMT4">
                  <p:embed/>
                </p:oleObj>
              </mc:Choice>
              <mc:Fallback>
                <p:oleObj name="Equation" r:id="rId9" imgW="482400" imgH="177480" progId="Equation.DSMT4">
                  <p:embed/>
                  <p:pic>
                    <p:nvPicPr>
                      <p:cNvPr id="5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937" y="4929474"/>
                        <a:ext cx="11668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581833"/>
              </p:ext>
            </p:extLst>
          </p:nvPr>
        </p:nvGraphicFramePr>
        <p:xfrm>
          <a:off x="1534464" y="5301208"/>
          <a:ext cx="5939820" cy="751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5" name="公式" r:id="rId11" imgW="3060360" imgH="355320" progId="Equation.3">
                  <p:embed/>
                </p:oleObj>
              </mc:Choice>
              <mc:Fallback>
                <p:oleObj name="公式" r:id="rId11" imgW="3060360" imgH="355320" progId="Equation.3">
                  <p:embed/>
                  <p:pic>
                    <p:nvPicPr>
                      <p:cNvPr id="120901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464" y="5301208"/>
                        <a:ext cx="5939820" cy="7517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AutoShape 70" descr="羊皮纸"/>
          <p:cNvSpPr>
            <a:spLocks noChangeArrowheads="1"/>
          </p:cNvSpPr>
          <p:nvPr/>
        </p:nvSpPr>
        <p:spPr bwMode="auto">
          <a:xfrm>
            <a:off x="973931" y="6221173"/>
            <a:ext cx="3167063" cy="576262"/>
          </a:xfrm>
          <a:prstGeom prst="wedgeRectCallout">
            <a:avLst>
              <a:gd name="adj1" fmla="val 46843"/>
              <a:gd name="adj2" fmla="val -95752"/>
            </a:avLst>
          </a:prstGeom>
          <a:blipFill dpi="0" rotWithShape="1">
            <a:blip r:embed="rId1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强制分量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稳态分量</a:t>
            </a:r>
            <a:r>
              <a:rPr kumimoji="1" lang="en-US" altLang="zh-CN" dirty="0" smtClean="0">
                <a:solidFill>
                  <a:schemeClr val="tx1"/>
                </a:solidFill>
                <a:latin typeface="楷体_GB2312" pitchFamily="49" charset="-122"/>
              </a:rPr>
              <a:t>)</a:t>
            </a:r>
            <a:endParaRPr kumimoji="1" lang="en-US" altLang="zh-CN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64" name="AutoShape 71" descr="羊皮纸"/>
          <p:cNvSpPr>
            <a:spLocks noChangeArrowheads="1"/>
          </p:cNvSpPr>
          <p:nvPr/>
        </p:nvSpPr>
        <p:spPr bwMode="auto">
          <a:xfrm>
            <a:off x="5383212" y="6236342"/>
            <a:ext cx="3097213" cy="504825"/>
          </a:xfrm>
          <a:prstGeom prst="wedgeRectCallout">
            <a:avLst>
              <a:gd name="adj1" fmla="val -41262"/>
              <a:gd name="adj2" fmla="val -93138"/>
            </a:avLst>
          </a:prstGeom>
          <a:blipFill dpi="0" rotWithShape="1">
            <a:blip r:embed="rId1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自由分量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暂态分量</a:t>
            </a:r>
            <a:r>
              <a:rPr kumimoji="1" lang="en-US" altLang="zh-CN" dirty="0" smtClean="0">
                <a:solidFill>
                  <a:schemeClr val="tx1"/>
                </a:solidFill>
                <a:latin typeface="楷体_GB2312" pitchFamily="49" charset="-122"/>
              </a:rPr>
              <a:t>)</a:t>
            </a:r>
            <a:endParaRPr kumimoji="1" lang="en-US" altLang="zh-CN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7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/>
      <p:bldP spid="58420" grpId="0" build="p" autoUpdateAnimBg="0" advAuto="1000"/>
      <p:bldP spid="58428" grpId="0"/>
      <p:bldP spid="59" grpId="0" autoUpdateAnimBg="0"/>
      <p:bldP spid="63" grpId="0" animBg="1" autoUpdateAnimBg="0"/>
      <p:bldP spid="6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684213" y="59055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</a:rPr>
              <a:t>2. 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全响应的两种分解方式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412432" y="4359804"/>
            <a:ext cx="4392612" cy="1116013"/>
            <a:chOff x="1694" y="3104"/>
            <a:chExt cx="2637" cy="702"/>
          </a:xfrm>
        </p:grpSpPr>
        <p:sp>
          <p:nvSpPr>
            <p:cNvPr id="169002" name="Freeform 15"/>
            <p:cNvSpPr>
              <a:spLocks/>
            </p:cNvSpPr>
            <p:nvPr/>
          </p:nvSpPr>
          <p:spPr bwMode="auto">
            <a:xfrm>
              <a:off x="2318" y="3104"/>
              <a:ext cx="1347" cy="632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344"/>
                <a:gd name="T17" fmla="*/ 1344 w 1344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68998" name="Group 17"/>
            <p:cNvGrpSpPr>
              <a:grpSpLocks/>
            </p:cNvGrpSpPr>
            <p:nvPr/>
          </p:nvGrpSpPr>
          <p:grpSpPr bwMode="auto">
            <a:xfrm>
              <a:off x="1694" y="3478"/>
              <a:ext cx="640" cy="326"/>
              <a:chOff x="1152" y="3486"/>
              <a:chExt cx="640" cy="326"/>
            </a:xfrm>
          </p:grpSpPr>
          <p:sp>
            <p:nvSpPr>
              <p:cNvPr id="169000" name="Text Box 18"/>
              <p:cNvSpPr txBox="1">
                <a:spLocks noChangeArrowheads="1"/>
              </p:cNvSpPr>
              <p:nvPr/>
            </p:nvSpPr>
            <p:spPr bwMode="auto">
              <a:xfrm>
                <a:off x="1382" y="3486"/>
                <a:ext cx="410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 dirty="0">
                    <a:solidFill>
                      <a:schemeClr val="tx1"/>
                    </a:solidFill>
                    <a:latin typeface="楷体_GB2312" pitchFamily="49" charset="-122"/>
                  </a:rPr>
                  <a:t>-</a:t>
                </a:r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69001" name="Text Box 19"/>
              <p:cNvSpPr txBox="1">
                <a:spLocks noChangeArrowheads="1"/>
              </p:cNvSpPr>
              <p:nvPr/>
            </p:nvSpPr>
            <p:spPr bwMode="auto">
              <a:xfrm>
                <a:off x="1152" y="3502"/>
                <a:ext cx="319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en-US" altLang="zh-CN" sz="24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8999" name="AutoShape 20" descr="蓝色面巾纸"/>
            <p:cNvSpPr>
              <a:spLocks noChangeArrowheads="1"/>
            </p:cNvSpPr>
            <p:nvPr/>
          </p:nvSpPr>
          <p:spPr bwMode="auto">
            <a:xfrm>
              <a:off x="3515" y="3566"/>
              <a:ext cx="816" cy="240"/>
            </a:xfrm>
            <a:prstGeom prst="wedgeRectCallout">
              <a:avLst>
                <a:gd name="adj1" fmla="val -30148"/>
                <a:gd name="adj2" fmla="val -191667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dirty="0" smtClean="0">
                  <a:solidFill>
                    <a:schemeClr val="tx1"/>
                  </a:solidFill>
                  <a:latin typeface="楷体_GB2312" pitchFamily="49" charset="-122"/>
                </a:rPr>
                <a:t>暂态分量</a:t>
              </a:r>
              <a:endParaRPr kumimoji="1" lang="zh-CN" altLang="en-US" dirty="0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2873375" y="2543175"/>
            <a:ext cx="3489325" cy="1077913"/>
            <a:chOff x="1985" y="1888"/>
            <a:chExt cx="2132" cy="679"/>
          </a:xfrm>
        </p:grpSpPr>
        <p:sp>
          <p:nvSpPr>
            <p:cNvPr id="168993" name="Line 23"/>
            <p:cNvSpPr>
              <a:spLocks noChangeShapeType="1"/>
            </p:cNvSpPr>
            <p:nvPr/>
          </p:nvSpPr>
          <p:spPr bwMode="auto">
            <a:xfrm>
              <a:off x="2316" y="2394"/>
              <a:ext cx="13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994" name="Rectangle 24"/>
            <p:cNvSpPr>
              <a:spLocks noChangeArrowheads="1"/>
            </p:cNvSpPr>
            <p:nvPr/>
          </p:nvSpPr>
          <p:spPr bwMode="auto">
            <a:xfrm>
              <a:off x="3772" y="2202"/>
              <a:ext cx="34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2400" b="0" i="1" baseline="3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</a:p>
          </p:txBody>
        </p:sp>
        <p:sp>
          <p:nvSpPr>
            <p:cNvPr id="168995" name="Text Box 25"/>
            <p:cNvSpPr txBox="1">
              <a:spLocks noChangeArrowheads="1"/>
            </p:cNvSpPr>
            <p:nvPr/>
          </p:nvSpPr>
          <p:spPr bwMode="auto">
            <a:xfrm>
              <a:off x="1985" y="2250"/>
              <a:ext cx="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68996" name="AutoShape 26" descr="羊皮纸"/>
            <p:cNvSpPr>
              <a:spLocks noChangeArrowheads="1"/>
            </p:cNvSpPr>
            <p:nvPr/>
          </p:nvSpPr>
          <p:spPr bwMode="auto">
            <a:xfrm>
              <a:off x="3107" y="1888"/>
              <a:ext cx="816" cy="240"/>
            </a:xfrm>
            <a:prstGeom prst="wedgeRectCallout">
              <a:avLst>
                <a:gd name="adj1" fmla="val -76347"/>
                <a:gd name="adj2" fmla="val 145833"/>
              </a:avLst>
            </a:prstGeom>
            <a:blipFill dpi="0" rotWithShape="1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稳态分量</a:t>
              </a:r>
              <a:endPara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2851150" y="3406775"/>
            <a:ext cx="4168775" cy="885825"/>
            <a:chOff x="1970" y="2432"/>
            <a:chExt cx="2406" cy="480"/>
          </a:xfrm>
        </p:grpSpPr>
        <p:grpSp>
          <p:nvGrpSpPr>
            <p:cNvPr id="168986" name="Group 28"/>
            <p:cNvGrpSpPr>
              <a:grpSpLocks/>
            </p:cNvGrpSpPr>
            <p:nvPr/>
          </p:nvGrpSpPr>
          <p:grpSpPr bwMode="auto">
            <a:xfrm>
              <a:off x="1970" y="2432"/>
              <a:ext cx="1683" cy="480"/>
              <a:chOff x="1437" y="2688"/>
              <a:chExt cx="1683" cy="480"/>
            </a:xfrm>
          </p:grpSpPr>
          <p:grpSp>
            <p:nvGrpSpPr>
              <p:cNvPr id="168988" name="Group 29"/>
              <p:cNvGrpSpPr>
                <a:grpSpLocks/>
              </p:cNvGrpSpPr>
              <p:nvPr/>
            </p:nvGrpSpPr>
            <p:grpSpPr bwMode="auto">
              <a:xfrm>
                <a:off x="1488" y="2688"/>
                <a:ext cx="1632" cy="480"/>
                <a:chOff x="1488" y="2688"/>
                <a:chExt cx="1632" cy="480"/>
              </a:xfrm>
            </p:grpSpPr>
            <p:sp>
              <p:nvSpPr>
                <p:cNvPr id="168991" name="Freeform 30"/>
                <p:cNvSpPr>
                  <a:spLocks/>
                </p:cNvSpPr>
                <p:nvPr/>
              </p:nvSpPr>
              <p:spPr bwMode="auto">
                <a:xfrm>
                  <a:off x="1776" y="2688"/>
                  <a:ext cx="1344" cy="480"/>
                </a:xfrm>
                <a:custGeom>
                  <a:avLst/>
                  <a:gdLst>
                    <a:gd name="T0" fmla="*/ 0 w 1344"/>
                    <a:gd name="T1" fmla="*/ 344 h 344"/>
                    <a:gd name="T2" fmla="*/ 288 w 1344"/>
                    <a:gd name="T3" fmla="*/ 152 h 344"/>
                    <a:gd name="T4" fmla="*/ 624 w 1344"/>
                    <a:gd name="T5" fmla="*/ 56 h 344"/>
                    <a:gd name="T6" fmla="*/ 1104 w 1344"/>
                    <a:gd name="T7" fmla="*/ 8 h 344"/>
                    <a:gd name="T8" fmla="*/ 1344 w 1344"/>
                    <a:gd name="T9" fmla="*/ 8 h 3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4"/>
                    <a:gd name="T16" fmla="*/ 0 h 344"/>
                    <a:gd name="T17" fmla="*/ 1344 w 1344"/>
                    <a:gd name="T18" fmla="*/ 344 h 3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4" h="344">
                      <a:moveTo>
                        <a:pt x="0" y="344"/>
                      </a:moveTo>
                      <a:cubicBezTo>
                        <a:pt x="92" y="272"/>
                        <a:pt x="184" y="200"/>
                        <a:pt x="288" y="152"/>
                      </a:cubicBezTo>
                      <a:cubicBezTo>
                        <a:pt x="392" y="104"/>
                        <a:pt x="488" y="80"/>
                        <a:pt x="624" y="56"/>
                      </a:cubicBezTo>
                      <a:cubicBezTo>
                        <a:pt x="760" y="32"/>
                        <a:pt x="984" y="16"/>
                        <a:pt x="1104" y="8"/>
                      </a:cubicBezTo>
                      <a:cubicBezTo>
                        <a:pt x="1224" y="0"/>
                        <a:pt x="1304" y="8"/>
                        <a:pt x="1344" y="8"/>
                      </a:cubicBezTo>
                    </a:path>
                  </a:pathLst>
                </a:cu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8992" name="Line 31"/>
                <p:cNvSpPr>
                  <a:spLocks noChangeShapeType="1"/>
                </p:cNvSpPr>
                <p:nvPr/>
              </p:nvSpPr>
              <p:spPr bwMode="auto">
                <a:xfrm>
                  <a:off x="1488" y="3168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68989" name="Text Box 32"/>
              <p:cNvSpPr txBox="1">
                <a:spLocks noChangeArrowheads="1"/>
              </p:cNvSpPr>
              <p:nvPr/>
            </p:nvSpPr>
            <p:spPr bwMode="auto">
              <a:xfrm>
                <a:off x="1437" y="2836"/>
                <a:ext cx="325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b="0" baseline="-2500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en-US" altLang="zh-CN" b="0" i="1" baseline="-250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0" name="Text Box 33"/>
              <p:cNvSpPr txBox="1">
                <a:spLocks noChangeArrowheads="1"/>
              </p:cNvSpPr>
              <p:nvPr/>
            </p:nvSpPr>
            <p:spPr bwMode="auto">
              <a:xfrm>
                <a:off x="2165" y="2788"/>
                <a:ext cx="270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  <a:endPara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8987" name="AutoShape 34"/>
            <p:cNvSpPr>
              <a:spLocks noChangeArrowheads="1"/>
            </p:cNvSpPr>
            <p:nvPr/>
          </p:nvSpPr>
          <p:spPr bwMode="auto">
            <a:xfrm>
              <a:off x="3560" y="2659"/>
              <a:ext cx="816" cy="240"/>
            </a:xfrm>
            <a:prstGeom prst="wedgeRectCallout">
              <a:avLst>
                <a:gd name="adj1" fmla="val -78556"/>
                <a:gd name="adj2" fmla="val -122083"/>
              </a:avLst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tx1"/>
                  </a:solidFill>
                  <a:latin typeface="楷体_GB2312" pitchFamily="49" charset="-122"/>
                </a:rPr>
                <a:t>全解</a:t>
              </a:r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2987675" y="2492375"/>
            <a:ext cx="3800674" cy="3673475"/>
            <a:chOff x="1575" y="1726"/>
            <a:chExt cx="2128" cy="2066"/>
          </a:xfrm>
        </p:grpSpPr>
        <p:grpSp>
          <p:nvGrpSpPr>
            <p:cNvPr id="168980" name="Group 36"/>
            <p:cNvGrpSpPr>
              <a:grpSpLocks/>
            </p:cNvGrpSpPr>
            <p:nvPr/>
          </p:nvGrpSpPr>
          <p:grpSpPr bwMode="auto">
            <a:xfrm>
              <a:off x="1575" y="1726"/>
              <a:ext cx="2128" cy="2066"/>
              <a:chOff x="1539" y="2110"/>
              <a:chExt cx="2128" cy="2066"/>
            </a:xfrm>
          </p:grpSpPr>
          <p:sp>
            <p:nvSpPr>
              <p:cNvPr id="168982" name="Line 37"/>
              <p:cNvSpPr>
                <a:spLocks noChangeShapeType="1"/>
              </p:cNvSpPr>
              <p:nvPr/>
            </p:nvSpPr>
            <p:spPr bwMode="auto">
              <a:xfrm>
                <a:off x="1539" y="3312"/>
                <a:ext cx="19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983" name="Line 38"/>
              <p:cNvSpPr>
                <a:spLocks noChangeShapeType="1"/>
              </p:cNvSpPr>
              <p:nvPr/>
            </p:nvSpPr>
            <p:spPr bwMode="auto">
              <a:xfrm flipV="1">
                <a:off x="1776" y="2256"/>
                <a:ext cx="0" cy="19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984" name="Text Box 39"/>
              <p:cNvSpPr txBox="1">
                <a:spLocks noChangeArrowheads="1"/>
              </p:cNvSpPr>
              <p:nvPr/>
            </p:nvSpPr>
            <p:spPr bwMode="auto">
              <a:xfrm>
                <a:off x="3516" y="3182"/>
                <a:ext cx="151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kumimoji="1"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985" name="Text Box 40"/>
              <p:cNvSpPr txBox="1">
                <a:spLocks noChangeArrowheads="1"/>
              </p:cNvSpPr>
              <p:nvPr/>
            </p:nvSpPr>
            <p:spPr bwMode="auto">
              <a:xfrm>
                <a:off x="1832" y="2110"/>
                <a:ext cx="263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8981" name="Text Box 41"/>
            <p:cNvSpPr txBox="1">
              <a:spLocks noChangeArrowheads="1"/>
            </p:cNvSpPr>
            <p:nvPr/>
          </p:nvSpPr>
          <p:spPr bwMode="auto">
            <a:xfrm>
              <a:off x="1601" y="2950"/>
              <a:ext cx="19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539749" y="1842007"/>
            <a:ext cx="85693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全响应 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强制分量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稳态分量</a:t>
            </a:r>
            <a:r>
              <a:rPr kumimoji="1" lang="en-US" altLang="zh-CN" dirty="0" smtClean="0">
                <a:solidFill>
                  <a:schemeClr val="tx1"/>
                </a:solidFill>
                <a:latin typeface="楷体_GB2312" pitchFamily="49" charset="-122"/>
              </a:rPr>
              <a:t>)</a:t>
            </a:r>
            <a:r>
              <a:rPr kumimoji="1" lang="en-US" altLang="zh-CN" sz="3200" dirty="0" smtClean="0">
                <a:solidFill>
                  <a:schemeClr val="tx1"/>
                </a:solidFill>
                <a:latin typeface="楷体_GB2312" pitchFamily="49" charset="-122"/>
              </a:rPr>
              <a:t>+</a:t>
            </a: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自由分量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暂态分量</a:t>
            </a:r>
            <a:r>
              <a:rPr kumimoji="1" lang="en-US" altLang="zh-CN" dirty="0" smtClean="0">
                <a:solidFill>
                  <a:schemeClr val="tx1"/>
                </a:solidFill>
                <a:latin typeface="楷体_GB2312" pitchFamily="49" charset="-122"/>
              </a:rPr>
              <a:t>)</a:t>
            </a:r>
            <a:endParaRPr kumimoji="1" lang="en-US" altLang="zh-CN" b="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7390" name="Text Box 46"/>
          <p:cNvSpPr txBox="1">
            <a:spLocks noChangeArrowheads="1"/>
          </p:cNvSpPr>
          <p:nvPr/>
        </p:nvSpPr>
        <p:spPr bwMode="auto">
          <a:xfrm>
            <a:off x="539750" y="1268413"/>
            <a:ext cx="611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着眼于电路的两种工作状态</a:t>
            </a: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6011863" y="1341438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物理概念清晰</a:t>
            </a:r>
          </a:p>
        </p:txBody>
      </p:sp>
      <p:sp>
        <p:nvSpPr>
          <p:cNvPr id="57404" name="Line 60"/>
          <p:cNvSpPr>
            <a:spLocks noChangeShapeType="1"/>
          </p:cNvSpPr>
          <p:nvPr/>
        </p:nvSpPr>
        <p:spPr bwMode="auto">
          <a:xfrm>
            <a:off x="5508625" y="1628775"/>
            <a:ext cx="50323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31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86" grpId="0" build="p" autoUpdateAnimBg="0"/>
      <p:bldP spid="57390" grpId="0"/>
      <p:bldP spid="5739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54" name="Text Box 134"/>
          <p:cNvSpPr txBox="1">
            <a:spLocks noChangeArrowheads="1"/>
          </p:cNvSpPr>
          <p:nvPr/>
        </p:nvSpPr>
        <p:spPr bwMode="auto">
          <a:xfrm>
            <a:off x="1116013" y="2997200"/>
            <a:ext cx="68183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全响应 </a:t>
            </a:r>
            <a:r>
              <a:rPr kumimoji="1"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32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零状态响应 </a:t>
            </a:r>
            <a:r>
              <a:rPr kumimoji="1" lang="en-US" altLang="zh-CN" sz="4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en-US" altLang="zh-CN" sz="32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零输入响应</a:t>
            </a:r>
          </a:p>
        </p:txBody>
      </p:sp>
      <p:graphicFrame>
        <p:nvGraphicFramePr>
          <p:cNvPr id="56457" name="Object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543127"/>
              </p:ext>
            </p:extLst>
          </p:nvPr>
        </p:nvGraphicFramePr>
        <p:xfrm>
          <a:off x="900113" y="1125538"/>
          <a:ext cx="72453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" name="公式" r:id="rId3" imgW="2501640" imgH="355320" progId="Equation.3">
                  <p:embed/>
                </p:oleObj>
              </mc:Choice>
              <mc:Fallback>
                <p:oleObj name="公式" r:id="rId3" imgW="2501640" imgH="355320" progId="Equation.3">
                  <p:embed/>
                  <p:pic>
                    <p:nvPicPr>
                      <p:cNvPr id="56457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25538"/>
                        <a:ext cx="7245350" cy="1025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01" name="Text Box 181"/>
          <p:cNvSpPr txBox="1">
            <a:spLocks noChangeArrowheads="1"/>
          </p:cNvSpPr>
          <p:nvPr/>
        </p:nvSpPr>
        <p:spPr bwMode="auto">
          <a:xfrm>
            <a:off x="539750" y="476250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着眼于因果关系</a:t>
            </a:r>
          </a:p>
        </p:txBody>
      </p:sp>
      <p:sp>
        <p:nvSpPr>
          <p:cNvPr id="56503" name="Text Box 183"/>
          <p:cNvSpPr txBox="1">
            <a:spLocks noChangeArrowheads="1"/>
          </p:cNvSpPr>
          <p:nvPr/>
        </p:nvSpPr>
        <p:spPr bwMode="auto">
          <a:xfrm>
            <a:off x="4572000" y="47625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便于叠加计算</a:t>
            </a:r>
          </a:p>
        </p:txBody>
      </p:sp>
      <p:sp>
        <p:nvSpPr>
          <p:cNvPr id="56516" name="Line 196"/>
          <p:cNvSpPr>
            <a:spLocks noChangeShapeType="1"/>
          </p:cNvSpPr>
          <p:nvPr/>
        </p:nvSpPr>
        <p:spPr bwMode="auto">
          <a:xfrm>
            <a:off x="3851275" y="7651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456" name="AutoShape 136"/>
          <p:cNvSpPr>
            <a:spLocks noChangeArrowheads="1"/>
          </p:cNvSpPr>
          <p:nvPr/>
        </p:nvSpPr>
        <p:spPr bwMode="auto">
          <a:xfrm>
            <a:off x="6443663" y="2420938"/>
            <a:ext cx="2016125" cy="647700"/>
          </a:xfrm>
          <a:prstGeom prst="wedgeRectCallout">
            <a:avLst>
              <a:gd name="adj1" fmla="val -98741"/>
              <a:gd name="adj2" fmla="val -140685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零输入响应</a:t>
            </a:r>
          </a:p>
        </p:txBody>
      </p:sp>
      <p:sp>
        <p:nvSpPr>
          <p:cNvPr id="56455" name="AutoShape 135"/>
          <p:cNvSpPr>
            <a:spLocks noChangeArrowheads="1"/>
          </p:cNvSpPr>
          <p:nvPr/>
        </p:nvSpPr>
        <p:spPr bwMode="auto">
          <a:xfrm>
            <a:off x="971550" y="2349500"/>
            <a:ext cx="2016125" cy="576263"/>
          </a:xfrm>
          <a:prstGeom prst="wedgeRectCallout">
            <a:avLst>
              <a:gd name="adj1" fmla="val 55120"/>
              <a:gd name="adj2" fmla="val -13843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零状态响应</a:t>
            </a:r>
          </a:p>
        </p:txBody>
      </p:sp>
      <p:grpSp>
        <p:nvGrpSpPr>
          <p:cNvPr id="4" name="Group 197"/>
          <p:cNvGrpSpPr>
            <a:grpSpLocks/>
          </p:cNvGrpSpPr>
          <p:nvPr/>
        </p:nvGrpSpPr>
        <p:grpSpPr bwMode="auto">
          <a:xfrm>
            <a:off x="395288" y="3789363"/>
            <a:ext cx="2592387" cy="2306637"/>
            <a:chOff x="2653" y="2096"/>
            <a:chExt cx="1633" cy="1453"/>
          </a:xfrm>
        </p:grpSpPr>
        <p:sp>
          <p:nvSpPr>
            <p:cNvPr id="55360" name="Oval 198"/>
            <p:cNvSpPr>
              <a:spLocks noChangeArrowheads="1"/>
            </p:cNvSpPr>
            <p:nvPr/>
          </p:nvSpPr>
          <p:spPr bwMode="auto">
            <a:xfrm>
              <a:off x="2653" y="265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361" name="Line 199"/>
            <p:cNvSpPr>
              <a:spLocks noChangeShapeType="1"/>
            </p:cNvSpPr>
            <p:nvPr/>
          </p:nvSpPr>
          <p:spPr bwMode="auto">
            <a:xfrm>
              <a:off x="2835" y="2523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2" name="Line 200"/>
            <p:cNvSpPr>
              <a:spLocks noChangeShapeType="1"/>
            </p:cNvSpPr>
            <p:nvPr/>
          </p:nvSpPr>
          <p:spPr bwMode="auto">
            <a:xfrm flipV="1">
              <a:off x="4105" y="2519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3" name="Line 201"/>
            <p:cNvSpPr>
              <a:spLocks noChangeShapeType="1"/>
            </p:cNvSpPr>
            <p:nvPr/>
          </p:nvSpPr>
          <p:spPr bwMode="auto">
            <a:xfrm flipV="1">
              <a:off x="4105" y="2870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64" name="Group 202"/>
            <p:cNvGrpSpPr>
              <a:grpSpLocks/>
            </p:cNvGrpSpPr>
            <p:nvPr/>
          </p:nvGrpSpPr>
          <p:grpSpPr bwMode="auto">
            <a:xfrm>
              <a:off x="3042" y="2096"/>
              <a:ext cx="691" cy="395"/>
              <a:chOff x="983" y="919"/>
              <a:chExt cx="980" cy="329"/>
            </a:xfrm>
          </p:grpSpPr>
          <p:sp>
            <p:nvSpPr>
              <p:cNvPr id="55380" name="Line 203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81" name="Text Box 204"/>
              <p:cNvSpPr txBox="1">
                <a:spLocks noChangeArrowheads="1"/>
              </p:cNvSpPr>
              <p:nvPr/>
            </p:nvSpPr>
            <p:spPr bwMode="auto">
              <a:xfrm>
                <a:off x="983" y="919"/>
                <a:ext cx="98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S(</a:t>
                </a: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=0)</a:t>
                </a:r>
              </a:p>
            </p:txBody>
          </p:sp>
        </p:grpSp>
        <p:sp>
          <p:nvSpPr>
            <p:cNvPr id="55365" name="Text Box 205"/>
            <p:cNvSpPr txBox="1">
              <a:spLocks noChangeArrowheads="1"/>
            </p:cNvSpPr>
            <p:nvPr/>
          </p:nvSpPr>
          <p:spPr bwMode="auto">
            <a:xfrm>
              <a:off x="3002" y="2685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66" name="Line 206"/>
            <p:cNvSpPr>
              <a:spLocks noChangeShapeType="1"/>
            </p:cNvSpPr>
            <p:nvPr/>
          </p:nvSpPr>
          <p:spPr bwMode="auto">
            <a:xfrm>
              <a:off x="3288" y="2523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7" name="Line 207"/>
            <p:cNvSpPr>
              <a:spLocks noChangeShapeType="1"/>
            </p:cNvSpPr>
            <p:nvPr/>
          </p:nvSpPr>
          <p:spPr bwMode="auto">
            <a:xfrm>
              <a:off x="2835" y="2523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8" name="Text Box 208"/>
            <p:cNvSpPr txBox="1">
              <a:spLocks noChangeArrowheads="1"/>
            </p:cNvSpPr>
            <p:nvPr/>
          </p:nvSpPr>
          <p:spPr bwMode="auto">
            <a:xfrm>
              <a:off x="3696" y="2731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5369" name="Group 209"/>
            <p:cNvGrpSpPr>
              <a:grpSpLocks/>
            </p:cNvGrpSpPr>
            <p:nvPr/>
          </p:nvGrpSpPr>
          <p:grpSpPr bwMode="auto">
            <a:xfrm>
              <a:off x="2916" y="2481"/>
              <a:ext cx="244" cy="788"/>
              <a:chOff x="1572" y="1256"/>
              <a:chExt cx="345" cy="657"/>
            </a:xfrm>
          </p:grpSpPr>
          <p:sp>
            <p:nvSpPr>
              <p:cNvPr id="55378" name="Text Box 210"/>
              <p:cNvSpPr txBox="1">
                <a:spLocks noChangeArrowheads="1"/>
              </p:cNvSpPr>
              <p:nvPr/>
            </p:nvSpPr>
            <p:spPr bwMode="auto">
              <a:xfrm>
                <a:off x="1572" y="1256"/>
                <a:ext cx="345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55379" name="Text Box 211"/>
              <p:cNvSpPr txBox="1">
                <a:spLocks noChangeArrowheads="1"/>
              </p:cNvSpPr>
              <p:nvPr/>
            </p:nvSpPr>
            <p:spPr bwMode="auto">
              <a:xfrm>
                <a:off x="1573" y="1640"/>
                <a:ext cx="32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</a:p>
            </p:txBody>
          </p:sp>
        </p:grpSp>
        <p:grpSp>
          <p:nvGrpSpPr>
            <p:cNvPr id="55370" name="Group 212"/>
            <p:cNvGrpSpPr>
              <a:grpSpLocks/>
            </p:cNvGrpSpPr>
            <p:nvPr/>
          </p:nvGrpSpPr>
          <p:grpSpPr bwMode="auto">
            <a:xfrm>
              <a:off x="3969" y="2750"/>
              <a:ext cx="317" cy="136"/>
              <a:chOff x="1824" y="1680"/>
              <a:chExt cx="192" cy="96"/>
            </a:xfrm>
          </p:grpSpPr>
          <p:sp>
            <p:nvSpPr>
              <p:cNvPr id="55376" name="Line 213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77" name="Line 214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71" name="Line 215"/>
            <p:cNvSpPr>
              <a:spLocks noChangeShapeType="1"/>
            </p:cNvSpPr>
            <p:nvPr/>
          </p:nvSpPr>
          <p:spPr bwMode="auto">
            <a:xfrm flipH="1" flipV="1">
              <a:off x="3016" y="2387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72" name="Line 216"/>
            <p:cNvSpPr>
              <a:spLocks noChangeShapeType="1"/>
            </p:cNvSpPr>
            <p:nvPr/>
          </p:nvSpPr>
          <p:spPr bwMode="auto">
            <a:xfrm>
              <a:off x="2835" y="3249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73" name="Text Box 217"/>
            <p:cNvSpPr txBox="1">
              <a:spLocks noChangeArrowheads="1"/>
            </p:cNvSpPr>
            <p:nvPr/>
          </p:nvSpPr>
          <p:spPr bwMode="auto">
            <a:xfrm>
              <a:off x="3651" y="220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74" name="Text Box 218"/>
            <p:cNvSpPr txBox="1">
              <a:spLocks noChangeArrowheads="1"/>
            </p:cNvSpPr>
            <p:nvPr/>
          </p:nvSpPr>
          <p:spPr bwMode="auto">
            <a:xfrm>
              <a:off x="2919" y="3222"/>
              <a:ext cx="11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75" name="Rectangle 219"/>
            <p:cNvSpPr>
              <a:spLocks noChangeArrowheads="1"/>
            </p:cNvSpPr>
            <p:nvPr/>
          </p:nvSpPr>
          <p:spPr bwMode="auto">
            <a:xfrm>
              <a:off x="3560" y="2478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243"/>
          <p:cNvGrpSpPr>
            <a:grpSpLocks/>
          </p:cNvGrpSpPr>
          <p:nvPr/>
        </p:nvGrpSpPr>
        <p:grpSpPr bwMode="auto">
          <a:xfrm>
            <a:off x="6084888" y="3716338"/>
            <a:ext cx="2776537" cy="2306637"/>
            <a:chOff x="2900" y="2115"/>
            <a:chExt cx="1749" cy="1453"/>
          </a:xfrm>
        </p:grpSpPr>
        <p:sp>
          <p:nvSpPr>
            <p:cNvPr id="55338" name="Text Box 244"/>
            <p:cNvSpPr txBox="1">
              <a:spLocks noChangeArrowheads="1"/>
            </p:cNvSpPr>
            <p:nvPr/>
          </p:nvSpPr>
          <p:spPr bwMode="auto">
            <a:xfrm>
              <a:off x="2900" y="2659"/>
              <a:ext cx="29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4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5339" name="Line 245"/>
            <p:cNvSpPr>
              <a:spLocks noChangeShapeType="1"/>
            </p:cNvSpPr>
            <p:nvPr/>
          </p:nvSpPr>
          <p:spPr bwMode="auto">
            <a:xfrm>
              <a:off x="3198" y="2542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0" name="Line 246"/>
            <p:cNvSpPr>
              <a:spLocks noChangeShapeType="1"/>
            </p:cNvSpPr>
            <p:nvPr/>
          </p:nvSpPr>
          <p:spPr bwMode="auto">
            <a:xfrm flipV="1">
              <a:off x="4468" y="2538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1" name="Line 247"/>
            <p:cNvSpPr>
              <a:spLocks noChangeShapeType="1"/>
            </p:cNvSpPr>
            <p:nvPr/>
          </p:nvSpPr>
          <p:spPr bwMode="auto">
            <a:xfrm flipV="1">
              <a:off x="4468" y="2889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42" name="Group 248"/>
            <p:cNvGrpSpPr>
              <a:grpSpLocks/>
            </p:cNvGrpSpPr>
            <p:nvPr/>
          </p:nvGrpSpPr>
          <p:grpSpPr bwMode="auto">
            <a:xfrm>
              <a:off x="3405" y="2115"/>
              <a:ext cx="691" cy="395"/>
              <a:chOff x="983" y="919"/>
              <a:chExt cx="980" cy="329"/>
            </a:xfrm>
          </p:grpSpPr>
          <p:sp>
            <p:nvSpPr>
              <p:cNvPr id="55358" name="Line 249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9" name="Text Box 250"/>
              <p:cNvSpPr txBox="1">
                <a:spLocks noChangeArrowheads="1"/>
              </p:cNvSpPr>
              <p:nvPr/>
            </p:nvSpPr>
            <p:spPr bwMode="auto">
              <a:xfrm>
                <a:off x="983" y="919"/>
                <a:ext cx="98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S(</a:t>
                </a: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=0)</a:t>
                </a:r>
              </a:p>
            </p:txBody>
          </p:sp>
        </p:grpSp>
        <p:sp>
          <p:nvSpPr>
            <p:cNvPr id="55343" name="Text Box 251"/>
            <p:cNvSpPr txBox="1">
              <a:spLocks noChangeArrowheads="1"/>
            </p:cNvSpPr>
            <p:nvPr/>
          </p:nvSpPr>
          <p:spPr bwMode="auto">
            <a:xfrm>
              <a:off x="3365" y="2704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44" name="Line 252"/>
            <p:cNvSpPr>
              <a:spLocks noChangeShapeType="1"/>
            </p:cNvSpPr>
            <p:nvPr/>
          </p:nvSpPr>
          <p:spPr bwMode="auto">
            <a:xfrm>
              <a:off x="3651" y="2542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5" name="Line 253"/>
            <p:cNvSpPr>
              <a:spLocks noChangeShapeType="1"/>
            </p:cNvSpPr>
            <p:nvPr/>
          </p:nvSpPr>
          <p:spPr bwMode="auto">
            <a:xfrm>
              <a:off x="3198" y="2542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6" name="Text Box 254"/>
            <p:cNvSpPr txBox="1">
              <a:spLocks noChangeArrowheads="1"/>
            </p:cNvSpPr>
            <p:nvPr/>
          </p:nvSpPr>
          <p:spPr bwMode="auto">
            <a:xfrm>
              <a:off x="4059" y="2750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5347" name="Group 255"/>
            <p:cNvGrpSpPr>
              <a:grpSpLocks/>
            </p:cNvGrpSpPr>
            <p:nvPr/>
          </p:nvGrpSpPr>
          <p:grpSpPr bwMode="auto">
            <a:xfrm>
              <a:off x="3279" y="2500"/>
              <a:ext cx="244" cy="788"/>
              <a:chOff x="1572" y="1256"/>
              <a:chExt cx="345" cy="657"/>
            </a:xfrm>
          </p:grpSpPr>
          <p:sp>
            <p:nvSpPr>
              <p:cNvPr id="55356" name="Text Box 256"/>
              <p:cNvSpPr txBox="1">
                <a:spLocks noChangeArrowheads="1"/>
              </p:cNvSpPr>
              <p:nvPr/>
            </p:nvSpPr>
            <p:spPr bwMode="auto">
              <a:xfrm>
                <a:off x="1572" y="1256"/>
                <a:ext cx="345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55357" name="Text Box 257"/>
              <p:cNvSpPr txBox="1">
                <a:spLocks noChangeArrowheads="1"/>
              </p:cNvSpPr>
              <p:nvPr/>
            </p:nvSpPr>
            <p:spPr bwMode="auto">
              <a:xfrm>
                <a:off x="1573" y="1640"/>
                <a:ext cx="32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</a:p>
            </p:txBody>
          </p:sp>
        </p:grpSp>
        <p:grpSp>
          <p:nvGrpSpPr>
            <p:cNvPr id="55348" name="Group 258"/>
            <p:cNvGrpSpPr>
              <a:grpSpLocks/>
            </p:cNvGrpSpPr>
            <p:nvPr/>
          </p:nvGrpSpPr>
          <p:grpSpPr bwMode="auto">
            <a:xfrm>
              <a:off x="4332" y="2769"/>
              <a:ext cx="317" cy="136"/>
              <a:chOff x="1824" y="1680"/>
              <a:chExt cx="192" cy="96"/>
            </a:xfrm>
          </p:grpSpPr>
          <p:sp>
            <p:nvSpPr>
              <p:cNvPr id="55354" name="Line 259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5" name="Line 260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49" name="Line 261"/>
            <p:cNvSpPr>
              <a:spLocks noChangeShapeType="1"/>
            </p:cNvSpPr>
            <p:nvPr/>
          </p:nvSpPr>
          <p:spPr bwMode="auto">
            <a:xfrm flipH="1" flipV="1">
              <a:off x="3379" y="2406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0" name="Line 262"/>
            <p:cNvSpPr>
              <a:spLocks noChangeShapeType="1"/>
            </p:cNvSpPr>
            <p:nvPr/>
          </p:nvSpPr>
          <p:spPr bwMode="auto">
            <a:xfrm>
              <a:off x="3198" y="3268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1" name="Text Box 263"/>
            <p:cNvSpPr txBox="1">
              <a:spLocks noChangeArrowheads="1"/>
            </p:cNvSpPr>
            <p:nvPr/>
          </p:nvSpPr>
          <p:spPr bwMode="auto">
            <a:xfrm>
              <a:off x="4014" y="2224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52" name="Text Box 264"/>
            <p:cNvSpPr txBox="1">
              <a:spLocks noChangeArrowheads="1"/>
            </p:cNvSpPr>
            <p:nvPr/>
          </p:nvSpPr>
          <p:spPr bwMode="auto">
            <a:xfrm>
              <a:off x="3282" y="3241"/>
              <a:ext cx="11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53" name="Rectangle 265"/>
            <p:cNvSpPr>
              <a:spLocks noChangeArrowheads="1"/>
            </p:cNvSpPr>
            <p:nvPr/>
          </p:nvSpPr>
          <p:spPr bwMode="auto">
            <a:xfrm>
              <a:off x="3923" y="2497"/>
              <a:ext cx="297" cy="1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268"/>
          <p:cNvGrpSpPr>
            <a:grpSpLocks/>
          </p:cNvGrpSpPr>
          <p:nvPr/>
        </p:nvGrpSpPr>
        <p:grpSpPr bwMode="auto">
          <a:xfrm>
            <a:off x="3059113" y="3789363"/>
            <a:ext cx="2952750" cy="2306637"/>
            <a:chOff x="1927" y="2387"/>
            <a:chExt cx="1860" cy="1453"/>
          </a:xfrm>
        </p:grpSpPr>
        <p:grpSp>
          <p:nvGrpSpPr>
            <p:cNvPr id="55313" name="Group 220"/>
            <p:cNvGrpSpPr>
              <a:grpSpLocks/>
            </p:cNvGrpSpPr>
            <p:nvPr/>
          </p:nvGrpSpPr>
          <p:grpSpPr bwMode="auto">
            <a:xfrm>
              <a:off x="2154" y="2387"/>
              <a:ext cx="1633" cy="1453"/>
              <a:chOff x="2653" y="2096"/>
              <a:chExt cx="1633" cy="1453"/>
            </a:xfrm>
          </p:grpSpPr>
          <p:sp>
            <p:nvSpPr>
              <p:cNvPr id="55316" name="Oval 221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317" name="Line 222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0" cy="72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8" name="Line 223"/>
              <p:cNvSpPr>
                <a:spLocks noChangeShapeType="1"/>
              </p:cNvSpPr>
              <p:nvPr/>
            </p:nvSpPr>
            <p:spPr bwMode="auto">
              <a:xfrm flipV="1">
                <a:off x="4105" y="2519"/>
                <a:ext cx="0" cy="231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9" name="Line 224"/>
              <p:cNvSpPr>
                <a:spLocks noChangeShapeType="1"/>
              </p:cNvSpPr>
              <p:nvPr/>
            </p:nvSpPr>
            <p:spPr bwMode="auto">
              <a:xfrm flipV="1">
                <a:off x="4105" y="2870"/>
                <a:ext cx="0" cy="37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5320" name="Group 225"/>
              <p:cNvGrpSpPr>
                <a:grpSpLocks/>
              </p:cNvGrpSpPr>
              <p:nvPr/>
            </p:nvGrpSpPr>
            <p:grpSpPr bwMode="auto">
              <a:xfrm>
                <a:off x="3042" y="2096"/>
                <a:ext cx="691" cy="395"/>
                <a:chOff x="983" y="919"/>
                <a:chExt cx="980" cy="329"/>
              </a:xfrm>
            </p:grpSpPr>
            <p:sp>
              <p:nvSpPr>
                <p:cNvPr id="55336" name="Line 226"/>
                <p:cNvSpPr>
                  <a:spLocks noChangeShapeType="1"/>
                </p:cNvSpPr>
                <p:nvPr/>
              </p:nvSpPr>
              <p:spPr bwMode="auto">
                <a:xfrm flipH="1">
                  <a:off x="1200" y="110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37" name="Text Box 227"/>
                <p:cNvSpPr txBox="1">
                  <a:spLocks noChangeArrowheads="1"/>
                </p:cNvSpPr>
                <p:nvPr/>
              </p:nvSpPr>
              <p:spPr bwMode="auto">
                <a:xfrm>
                  <a:off x="983" y="919"/>
                  <a:ext cx="98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S(</a:t>
                  </a:r>
                  <a:r>
                    <a:rPr kumimoji="1" lang="en-US" altLang="zh-CN" b="0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=0)</a:t>
                  </a:r>
                </a:p>
              </p:txBody>
            </p:sp>
          </p:grpSp>
          <p:sp>
            <p:nvSpPr>
              <p:cNvPr id="55321" name="Text Box 228"/>
              <p:cNvSpPr txBox="1">
                <a:spLocks noChangeArrowheads="1"/>
              </p:cNvSpPr>
              <p:nvPr/>
            </p:nvSpPr>
            <p:spPr bwMode="auto">
              <a:xfrm>
                <a:off x="3002" y="2685"/>
                <a:ext cx="35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22" name="Line 229"/>
              <p:cNvSpPr>
                <a:spLocks noChangeShapeType="1"/>
              </p:cNvSpPr>
              <p:nvPr/>
            </p:nvSpPr>
            <p:spPr bwMode="auto">
              <a:xfrm>
                <a:off x="3288" y="2523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230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23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Text Box 231"/>
              <p:cNvSpPr txBox="1">
                <a:spLocks noChangeArrowheads="1"/>
              </p:cNvSpPr>
              <p:nvPr/>
            </p:nvSpPr>
            <p:spPr bwMode="auto">
              <a:xfrm>
                <a:off x="3696" y="2731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55325" name="Group 232"/>
              <p:cNvGrpSpPr>
                <a:grpSpLocks/>
              </p:cNvGrpSpPr>
              <p:nvPr/>
            </p:nvGrpSpPr>
            <p:grpSpPr bwMode="auto">
              <a:xfrm>
                <a:off x="2916" y="2481"/>
                <a:ext cx="244" cy="788"/>
                <a:chOff x="1572" y="1256"/>
                <a:chExt cx="345" cy="657"/>
              </a:xfrm>
            </p:grpSpPr>
            <p:sp>
              <p:nvSpPr>
                <p:cNvPr id="55334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572" y="1256"/>
                  <a:ext cx="345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55335" name="Text Box 234"/>
                <p:cNvSpPr txBox="1">
                  <a:spLocks noChangeArrowheads="1"/>
                </p:cNvSpPr>
                <p:nvPr/>
              </p:nvSpPr>
              <p:spPr bwMode="auto">
                <a:xfrm>
                  <a:off x="1573" y="1640"/>
                  <a:ext cx="323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grpSp>
            <p:nvGrpSpPr>
              <p:cNvPr id="55326" name="Group 235"/>
              <p:cNvGrpSpPr>
                <a:grpSpLocks/>
              </p:cNvGrpSpPr>
              <p:nvPr/>
            </p:nvGrpSpPr>
            <p:grpSpPr bwMode="auto">
              <a:xfrm>
                <a:off x="3969" y="2750"/>
                <a:ext cx="317" cy="136"/>
                <a:chOff x="1824" y="1680"/>
                <a:chExt cx="192" cy="96"/>
              </a:xfrm>
            </p:grpSpPr>
            <p:sp>
              <p:nvSpPr>
                <p:cNvPr id="55332" name="Line 236"/>
                <p:cNvSpPr>
                  <a:spLocks noChangeShapeType="1"/>
                </p:cNvSpPr>
                <p:nvPr/>
              </p:nvSpPr>
              <p:spPr bwMode="auto">
                <a:xfrm>
                  <a:off x="1824" y="168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33" name="Line 237"/>
                <p:cNvSpPr>
                  <a:spLocks noChangeShapeType="1"/>
                </p:cNvSpPr>
                <p:nvPr/>
              </p:nvSpPr>
              <p:spPr bwMode="auto">
                <a:xfrm>
                  <a:off x="1824" y="1776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5327" name="Line 238"/>
              <p:cNvSpPr>
                <a:spLocks noChangeShapeType="1"/>
              </p:cNvSpPr>
              <p:nvPr/>
            </p:nvSpPr>
            <p:spPr bwMode="auto">
              <a:xfrm flipH="1" flipV="1">
                <a:off x="3016" y="2387"/>
                <a:ext cx="272" cy="13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239"/>
              <p:cNvSpPr>
                <a:spLocks noChangeShapeType="1"/>
              </p:cNvSpPr>
              <p:nvPr/>
            </p:nvSpPr>
            <p:spPr bwMode="auto">
              <a:xfrm>
                <a:off x="2835" y="3249"/>
                <a:ext cx="1270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9" name="Text Box 240"/>
              <p:cNvSpPr txBox="1">
                <a:spLocks noChangeArrowheads="1"/>
              </p:cNvSpPr>
              <p:nvPr/>
            </p:nvSpPr>
            <p:spPr bwMode="auto">
              <a:xfrm>
                <a:off x="3651" y="2205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0" name="Text Box 241"/>
              <p:cNvSpPr txBox="1">
                <a:spLocks noChangeArrowheads="1"/>
              </p:cNvSpPr>
              <p:nvPr/>
            </p:nvSpPr>
            <p:spPr bwMode="auto">
              <a:xfrm>
                <a:off x="2954" y="3222"/>
                <a:ext cx="107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en-US" altLang="zh-CN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(0</a:t>
                </a:r>
                <a:r>
                  <a:rPr kumimoji="1" lang="zh-CN" altLang="en-US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kumimoji="1"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)= 0</a:t>
                </a:r>
              </a:p>
            </p:txBody>
          </p:sp>
          <p:sp>
            <p:nvSpPr>
              <p:cNvPr id="55331" name="Rectangle 242"/>
              <p:cNvSpPr>
                <a:spLocks noChangeArrowheads="1"/>
              </p:cNvSpPr>
              <p:nvPr/>
            </p:nvSpPr>
            <p:spPr bwMode="auto">
              <a:xfrm>
                <a:off x="3560" y="2478"/>
                <a:ext cx="297" cy="13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314" name="Line 266"/>
            <p:cNvSpPr>
              <a:spLocks noChangeShapeType="1"/>
            </p:cNvSpPr>
            <p:nvPr/>
          </p:nvSpPr>
          <p:spPr bwMode="auto">
            <a:xfrm>
              <a:off x="1927" y="3067"/>
              <a:ext cx="18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267"/>
            <p:cNvSpPr>
              <a:spLocks noChangeShapeType="1"/>
            </p:cNvSpPr>
            <p:nvPr/>
          </p:nvSpPr>
          <p:spPr bwMode="auto">
            <a:xfrm>
              <a:off x="1927" y="3158"/>
              <a:ext cx="18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724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54" grpId="0" build="p" autoUpdateAnimBg="0"/>
      <p:bldP spid="56501" grpId="0" build="p" autoUpdateAnimBg="0"/>
      <p:bldP spid="56503" grpId="0"/>
      <p:bldP spid="56456" grpId="0" animBg="1" autoUpdateAnimBg="0"/>
      <p:bldP spid="5645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68313" y="692150"/>
            <a:ext cx="7993062" cy="1916113"/>
            <a:chOff x="249" y="182"/>
            <a:chExt cx="5035" cy="1207"/>
          </a:xfrm>
        </p:grpSpPr>
        <p:graphicFrame>
          <p:nvGraphicFramePr>
            <p:cNvPr id="5632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0481896"/>
                </p:ext>
              </p:extLst>
            </p:nvPr>
          </p:nvGraphicFramePr>
          <p:xfrm>
            <a:off x="656" y="182"/>
            <a:ext cx="4342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0" name="公式" r:id="rId3" imgW="2501640" imgH="355320" progId="Equation.3">
                    <p:embed/>
                  </p:oleObj>
                </mc:Choice>
                <mc:Fallback>
                  <p:oleObj name="公式" r:id="rId3" imgW="2501640" imgH="355320" progId="Equation.3">
                    <p:embed/>
                    <p:pic>
                      <p:nvPicPr>
                        <p:cNvPr id="5632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" y="182"/>
                          <a:ext cx="4342" cy="6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54" name="AutoShape 4"/>
            <p:cNvSpPr>
              <a:spLocks noChangeArrowheads="1"/>
            </p:cNvSpPr>
            <p:nvPr/>
          </p:nvSpPr>
          <p:spPr bwMode="auto">
            <a:xfrm>
              <a:off x="249" y="1071"/>
              <a:ext cx="1452" cy="318"/>
            </a:xfrm>
            <a:prstGeom prst="wedgeRectCallout">
              <a:avLst>
                <a:gd name="adj1" fmla="val 69421"/>
                <a:gd name="adj2" fmla="val -17861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bg1"/>
                  </a:solidFill>
                  <a:latin typeface="Times New Roman" panose="02020603050405020304" pitchFamily="18" charset="0"/>
                </a:rPr>
                <a:t>零状态响应</a:t>
              </a:r>
            </a:p>
          </p:txBody>
        </p:sp>
        <p:sp>
          <p:nvSpPr>
            <p:cNvPr id="56355" name="AutoShape 5"/>
            <p:cNvSpPr>
              <a:spLocks noChangeArrowheads="1"/>
            </p:cNvSpPr>
            <p:nvPr/>
          </p:nvSpPr>
          <p:spPr bwMode="auto">
            <a:xfrm>
              <a:off x="3923" y="981"/>
              <a:ext cx="1361" cy="363"/>
            </a:xfrm>
            <a:prstGeom prst="wedgeRectCallout">
              <a:avLst>
                <a:gd name="adj1" fmla="val -74245"/>
                <a:gd name="adj2" fmla="val -123278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bg1"/>
                  </a:solidFill>
                  <a:latin typeface="Times New Roman" panose="02020603050405020304" pitchFamily="18" charset="0"/>
                </a:rPr>
                <a:t>零输入响应</a:t>
              </a:r>
            </a:p>
          </p:txBody>
        </p:sp>
      </p:grpSp>
      <p:sp>
        <p:nvSpPr>
          <p:cNvPr id="55304" name="Line 8"/>
          <p:cNvSpPr>
            <a:spLocks noChangeShapeType="1"/>
          </p:cNvSpPr>
          <p:nvPr/>
        </p:nvSpPr>
        <p:spPr bwMode="auto">
          <a:xfrm flipV="1">
            <a:off x="3211513" y="2482850"/>
            <a:ext cx="0" cy="3611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2820988" y="2171700"/>
            <a:ext cx="4921250" cy="3575050"/>
            <a:chOff x="1777" y="1368"/>
            <a:chExt cx="3100" cy="2252"/>
          </a:xfrm>
        </p:grpSpPr>
        <p:sp>
          <p:nvSpPr>
            <p:cNvPr id="56350" name="Line 7"/>
            <p:cNvSpPr>
              <a:spLocks noChangeShapeType="1"/>
            </p:cNvSpPr>
            <p:nvPr/>
          </p:nvSpPr>
          <p:spPr bwMode="auto">
            <a:xfrm>
              <a:off x="1786" y="3330"/>
              <a:ext cx="2908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1" name="Text Box 9"/>
            <p:cNvSpPr txBox="1">
              <a:spLocks noChangeArrowheads="1"/>
            </p:cNvSpPr>
            <p:nvPr/>
          </p:nvSpPr>
          <p:spPr bwMode="auto">
            <a:xfrm>
              <a:off x="4690" y="3094"/>
              <a:ext cx="1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2" name="Text Box 10"/>
            <p:cNvSpPr txBox="1">
              <a:spLocks noChangeArrowheads="1"/>
            </p:cNvSpPr>
            <p:nvPr/>
          </p:nvSpPr>
          <p:spPr bwMode="auto">
            <a:xfrm>
              <a:off x="2050" y="1368"/>
              <a:ext cx="32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Text Box 11"/>
            <p:cNvSpPr txBox="1">
              <a:spLocks noChangeArrowheads="1"/>
            </p:cNvSpPr>
            <p:nvPr/>
          </p:nvSpPr>
          <p:spPr bwMode="auto">
            <a:xfrm>
              <a:off x="1777" y="329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2555875" y="3068638"/>
            <a:ext cx="4537075" cy="2168525"/>
            <a:chOff x="1610" y="1933"/>
            <a:chExt cx="2858" cy="1366"/>
          </a:xfrm>
        </p:grpSpPr>
        <p:sp>
          <p:nvSpPr>
            <p:cNvPr id="56346" name="Line 13"/>
            <p:cNvSpPr>
              <a:spLocks noChangeShapeType="1"/>
            </p:cNvSpPr>
            <p:nvPr/>
          </p:nvSpPr>
          <p:spPr bwMode="auto">
            <a:xfrm>
              <a:off x="2018" y="2115"/>
              <a:ext cx="195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7" name="Text Box 14"/>
            <p:cNvSpPr txBox="1">
              <a:spLocks noChangeArrowheads="1"/>
            </p:cNvSpPr>
            <p:nvPr/>
          </p:nvSpPr>
          <p:spPr bwMode="auto">
            <a:xfrm>
              <a:off x="1610" y="1933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56348" name="Freeform 16"/>
            <p:cNvSpPr>
              <a:spLocks/>
            </p:cNvSpPr>
            <p:nvPr/>
          </p:nvSpPr>
          <p:spPr bwMode="auto">
            <a:xfrm>
              <a:off x="2033" y="2160"/>
              <a:ext cx="1890" cy="1139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344"/>
                <a:gd name="T17" fmla="*/ 1344 w 1344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349" name="AutoShape 17" descr="羊皮纸"/>
            <p:cNvSpPr>
              <a:spLocks noChangeArrowheads="1"/>
            </p:cNvSpPr>
            <p:nvPr/>
          </p:nvSpPr>
          <p:spPr bwMode="auto">
            <a:xfrm>
              <a:off x="3243" y="2614"/>
              <a:ext cx="1225" cy="342"/>
            </a:xfrm>
            <a:prstGeom prst="wedgeRectCallout">
              <a:avLst>
                <a:gd name="adj1" fmla="val -74083"/>
                <a:gd name="adj2" fmla="val -126606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零状态响应</a:t>
              </a: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2771775" y="2643187"/>
            <a:ext cx="3424238" cy="1812925"/>
            <a:chOff x="1746" y="1665"/>
            <a:chExt cx="2157" cy="1142"/>
          </a:xfrm>
        </p:grpSpPr>
        <p:grpSp>
          <p:nvGrpSpPr>
            <p:cNvPr id="56342" name="Group 46"/>
            <p:cNvGrpSpPr>
              <a:grpSpLocks/>
            </p:cNvGrpSpPr>
            <p:nvPr/>
          </p:nvGrpSpPr>
          <p:grpSpPr bwMode="auto">
            <a:xfrm>
              <a:off x="2018" y="1665"/>
              <a:ext cx="1885" cy="1142"/>
              <a:chOff x="2038" y="1665"/>
              <a:chExt cx="1885" cy="1142"/>
            </a:xfrm>
          </p:grpSpPr>
          <p:sp>
            <p:nvSpPr>
              <p:cNvPr id="56344" name="Freeform 19"/>
              <p:cNvSpPr>
                <a:spLocks/>
              </p:cNvSpPr>
              <p:nvPr/>
            </p:nvSpPr>
            <p:spPr bwMode="auto">
              <a:xfrm>
                <a:off x="2038" y="2160"/>
                <a:ext cx="1885" cy="647"/>
              </a:xfrm>
              <a:custGeom>
                <a:avLst/>
                <a:gdLst>
                  <a:gd name="T0" fmla="*/ 0 w 1344"/>
                  <a:gd name="T1" fmla="*/ 344 h 344"/>
                  <a:gd name="T2" fmla="*/ 288 w 1344"/>
                  <a:gd name="T3" fmla="*/ 152 h 344"/>
                  <a:gd name="T4" fmla="*/ 624 w 1344"/>
                  <a:gd name="T5" fmla="*/ 56 h 344"/>
                  <a:gd name="T6" fmla="*/ 1104 w 1344"/>
                  <a:gd name="T7" fmla="*/ 8 h 344"/>
                  <a:gd name="T8" fmla="*/ 1344 w 1344"/>
                  <a:gd name="T9" fmla="*/ 8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344"/>
                  <a:gd name="T17" fmla="*/ 1344 w 1344"/>
                  <a:gd name="T18" fmla="*/ 344 h 3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6345" name="AutoShape 21"/>
              <p:cNvSpPr>
                <a:spLocks noChangeArrowheads="1"/>
              </p:cNvSpPr>
              <p:nvPr/>
            </p:nvSpPr>
            <p:spPr bwMode="auto">
              <a:xfrm>
                <a:off x="2408" y="1665"/>
                <a:ext cx="1096" cy="330"/>
              </a:xfrm>
              <a:prstGeom prst="wedgeRectCallout">
                <a:avLst>
                  <a:gd name="adj1" fmla="val -51458"/>
                  <a:gd name="adj2" fmla="val 186366"/>
                </a:avLst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全响应</a:t>
                </a:r>
              </a:p>
            </p:txBody>
          </p:sp>
        </p:grpSp>
        <p:sp>
          <p:nvSpPr>
            <p:cNvPr id="56343" name="Line 20"/>
            <p:cNvSpPr>
              <a:spLocks noChangeShapeType="1"/>
            </p:cNvSpPr>
            <p:nvPr/>
          </p:nvSpPr>
          <p:spPr bwMode="auto">
            <a:xfrm>
              <a:off x="1746" y="2795"/>
              <a:ext cx="2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2555875" y="3846513"/>
            <a:ext cx="5762625" cy="2317750"/>
            <a:chOff x="1610" y="2423"/>
            <a:chExt cx="3630" cy="1460"/>
          </a:xfrm>
        </p:grpSpPr>
        <p:sp>
          <p:nvSpPr>
            <p:cNvPr id="56338" name="Freeform 26"/>
            <p:cNvSpPr>
              <a:spLocks/>
            </p:cNvSpPr>
            <p:nvPr/>
          </p:nvSpPr>
          <p:spPr bwMode="auto">
            <a:xfrm flipV="1">
              <a:off x="2018" y="2795"/>
              <a:ext cx="1957" cy="474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344"/>
                <a:gd name="T17" fmla="*/ 1344 w 1344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339" name="AutoShape 27" descr="花束"/>
            <p:cNvSpPr>
              <a:spLocks noChangeArrowheads="1"/>
            </p:cNvSpPr>
            <p:nvPr/>
          </p:nvSpPr>
          <p:spPr bwMode="auto">
            <a:xfrm>
              <a:off x="3696" y="3521"/>
              <a:ext cx="1544" cy="362"/>
            </a:xfrm>
            <a:prstGeom prst="wedgeRectCallout">
              <a:avLst>
                <a:gd name="adj1" fmla="val -87370"/>
                <a:gd name="adj2" fmla="val -130111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零输入响应</a:t>
              </a:r>
            </a:p>
          </p:txBody>
        </p:sp>
        <p:sp>
          <p:nvSpPr>
            <p:cNvPr id="56340" name="Text Box 28"/>
            <p:cNvSpPr txBox="1">
              <a:spLocks noChangeArrowheads="1"/>
            </p:cNvSpPr>
            <p:nvPr/>
          </p:nvSpPr>
          <p:spPr bwMode="auto">
            <a:xfrm>
              <a:off x="1610" y="2423"/>
              <a:ext cx="35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1" name="Line 29"/>
            <p:cNvSpPr>
              <a:spLocks noChangeShapeType="1"/>
            </p:cNvSpPr>
            <p:nvPr/>
          </p:nvSpPr>
          <p:spPr bwMode="auto">
            <a:xfrm>
              <a:off x="1722" y="2795"/>
              <a:ext cx="296" cy="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503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7761511" cy="477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55340E-6AFA-4689-9F7B-03B2F2E81630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F52D6-98A5-40C0-88DF-E4B31B78EAE6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52400"/>
            <a:ext cx="8458200" cy="5334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Practice</a:t>
            </a:r>
          </a:p>
        </p:txBody>
      </p:sp>
      <p:sp>
        <p:nvSpPr>
          <p:cNvPr id="230407" name="Rectangle 7"/>
          <p:cNvSpPr>
            <a:spLocks noChangeArrowheads="1"/>
          </p:cNvSpPr>
          <p:nvPr/>
        </p:nvSpPr>
        <p:spPr bwMode="auto">
          <a:xfrm>
            <a:off x="2133600" y="228600"/>
            <a:ext cx="372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Find </a:t>
            </a:r>
            <a:r>
              <a:rPr lang="en-US" altLang="zh-CN" sz="2400" i="1"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 for </a:t>
            </a:r>
            <a:r>
              <a:rPr lang="en-US" altLang="zh-CN" sz="2400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&gt;0.</a:t>
            </a:r>
          </a:p>
        </p:txBody>
      </p:sp>
      <p:graphicFrame>
        <p:nvGraphicFramePr>
          <p:cNvPr id="11271" name="Object 22"/>
          <p:cNvGraphicFramePr>
            <a:graphicFrameLocks noChangeAspect="1"/>
          </p:cNvGraphicFramePr>
          <p:nvPr/>
        </p:nvGraphicFramePr>
        <p:xfrm>
          <a:off x="4572000" y="381000"/>
          <a:ext cx="4340225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7" name="VISIO" r:id="rId3" imgW="2190939" imgH="941560" progId="Visio.Drawing.5">
                  <p:embed/>
                </p:oleObj>
              </mc:Choice>
              <mc:Fallback>
                <p:oleObj name="VISIO" r:id="rId3" imgW="2190939" imgH="941560" progId="Visio.Drawing.5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1000"/>
                        <a:ext cx="4340225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5" name="Rectangle 25"/>
          <p:cNvSpPr>
            <a:spLocks noChangeArrowheads="1"/>
          </p:cNvSpPr>
          <p:nvPr/>
        </p:nvSpPr>
        <p:spPr bwMode="auto">
          <a:xfrm>
            <a:off x="457200" y="1341438"/>
            <a:ext cx="274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三要素法：</a:t>
            </a:r>
          </a:p>
        </p:txBody>
      </p:sp>
      <p:graphicFrame>
        <p:nvGraphicFramePr>
          <p:cNvPr id="230432" name="Object 32"/>
          <p:cNvGraphicFramePr>
            <a:graphicFrameLocks noChangeAspect="1"/>
          </p:cNvGraphicFramePr>
          <p:nvPr/>
        </p:nvGraphicFramePr>
        <p:xfrm>
          <a:off x="347663" y="1951038"/>
          <a:ext cx="1724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8" name="Equation" r:id="rId5" imgW="863225" imgH="228501" progId="Equation.3">
                  <p:embed/>
                </p:oleObj>
              </mc:Choice>
              <mc:Fallback>
                <p:oleObj name="Equation" r:id="rId5" imgW="863225" imgH="228501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1951038"/>
                        <a:ext cx="17240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33" name="Object 33"/>
          <p:cNvGraphicFramePr>
            <a:graphicFrameLocks noChangeAspect="1"/>
          </p:cNvGraphicFramePr>
          <p:nvPr/>
        </p:nvGraphicFramePr>
        <p:xfrm>
          <a:off x="2501900" y="1917700"/>
          <a:ext cx="1622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9" name="Equation" r:id="rId7" imgW="812447" imgH="228501" progId="Equation.3">
                  <p:embed/>
                </p:oleObj>
              </mc:Choice>
              <mc:Fallback>
                <p:oleObj name="Equation" r:id="rId7" imgW="812447" imgH="22850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1917700"/>
                        <a:ext cx="1622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34" name="Object 34"/>
          <p:cNvGraphicFramePr>
            <a:graphicFrameLocks noChangeAspect="1"/>
          </p:cNvGraphicFramePr>
          <p:nvPr/>
        </p:nvGraphicFramePr>
        <p:xfrm>
          <a:off x="395288" y="2493963"/>
          <a:ext cx="14954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0" name="Equation" r:id="rId9" imgW="748975" imgH="177723" progId="Equation.3">
                  <p:embed/>
                </p:oleObj>
              </mc:Choice>
              <mc:Fallback>
                <p:oleObj name="Equation" r:id="rId9" imgW="748975" imgH="17772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493963"/>
                        <a:ext cx="14954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36" name="Object 36"/>
          <p:cNvGraphicFramePr>
            <a:graphicFrameLocks noChangeAspect="1"/>
          </p:cNvGraphicFramePr>
          <p:nvPr/>
        </p:nvGraphicFramePr>
        <p:xfrm>
          <a:off x="323850" y="2782888"/>
          <a:ext cx="43164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1" name="公式" r:id="rId11" imgW="2159000" imgH="342900" progId="Equation.3">
                  <p:embed/>
                </p:oleObj>
              </mc:Choice>
              <mc:Fallback>
                <p:oleObj name="公式" r:id="rId11" imgW="2159000" imgH="3429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782888"/>
                        <a:ext cx="431641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37" name="Object 37"/>
          <p:cNvGraphicFramePr>
            <a:graphicFrameLocks noChangeAspect="1"/>
          </p:cNvGraphicFramePr>
          <p:nvPr/>
        </p:nvGraphicFramePr>
        <p:xfrm>
          <a:off x="4572000" y="4652963"/>
          <a:ext cx="4340225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2" name="Visio" r:id="rId13" imgW="2197560" imgH="997839" progId="Visio.Drawing.11">
                  <p:embed/>
                </p:oleObj>
              </mc:Choice>
              <mc:Fallback>
                <p:oleObj name="Visio" r:id="rId13" imgW="2197560" imgH="997839" progId="Visio.Drawing.11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652963"/>
                        <a:ext cx="4340225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39" name="Object 39"/>
          <p:cNvGraphicFramePr>
            <a:graphicFrameLocks noChangeAspect="1"/>
          </p:cNvGraphicFramePr>
          <p:nvPr/>
        </p:nvGraphicFramePr>
        <p:xfrm>
          <a:off x="4572000" y="2492375"/>
          <a:ext cx="4340225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" name="Visio" r:id="rId15" imgW="2197560" imgH="997839" progId="Visio.Drawing.11">
                  <p:embed/>
                </p:oleObj>
              </mc:Choice>
              <mc:Fallback>
                <p:oleObj name="Visio" r:id="rId15" imgW="2197560" imgH="997839" progId="Visio.Drawing.11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92375"/>
                        <a:ext cx="4340225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2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468313" y="476250"/>
            <a:ext cx="901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kumimoji="1"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1476375" y="404813"/>
            <a:ext cx="7343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已知：</a:t>
            </a:r>
            <a:r>
              <a:rPr kumimoji="1"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t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=0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时开关由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1→2</a:t>
            </a:r>
            <a:r>
              <a:rPr kumimoji="1" lang="zh-CN" altLang="en-US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求换路后的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kumimoji="1" lang="en-US" altLang="zh-CN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kumimoji="1"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t</a:t>
            </a:r>
            <a:r>
              <a: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)</a:t>
            </a:r>
            <a:endParaRPr kumimoji="1" lang="en-US" altLang="zh-CN">
              <a:solidFill>
                <a:schemeClr val="tx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25998" name="Text Box 46"/>
          <p:cNvSpPr txBox="1">
            <a:spLocks noChangeArrowheads="1"/>
          </p:cNvSpPr>
          <p:nvPr/>
        </p:nvSpPr>
        <p:spPr bwMode="auto">
          <a:xfrm>
            <a:off x="539750" y="3601096"/>
            <a:ext cx="576263" cy="463846"/>
          </a:xfrm>
          <a:prstGeom prst="rect">
            <a:avLst/>
          </a:prstGeom>
          <a:solidFill>
            <a:srgbClr val="990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kumimoji="1" lang="zh-CN" altLang="en-US" sz="24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99" name="Text Box 47"/>
          <p:cNvSpPr txBox="1">
            <a:spLocks noChangeArrowheads="1"/>
          </p:cNvSpPr>
          <p:nvPr/>
        </p:nvSpPr>
        <p:spPr bwMode="auto">
          <a:xfrm>
            <a:off x="1476375" y="3644900"/>
            <a:ext cx="21605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三要素为：</a:t>
            </a:r>
          </a:p>
        </p:txBody>
      </p:sp>
      <p:graphicFrame>
        <p:nvGraphicFramePr>
          <p:cNvPr id="12600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975768"/>
              </p:ext>
            </p:extLst>
          </p:nvPr>
        </p:nvGraphicFramePr>
        <p:xfrm>
          <a:off x="1547664" y="4653136"/>
          <a:ext cx="3913237" cy="482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0" name="Equation" r:id="rId3" imgW="1726920" imgH="228600" progId="Equation.DSMT4">
                  <p:embed/>
                </p:oleObj>
              </mc:Choice>
              <mc:Fallback>
                <p:oleObj name="Equation" r:id="rId3" imgW="1726920" imgH="228600" progId="Equation.DSMT4">
                  <p:embed/>
                  <p:pic>
                    <p:nvPicPr>
                      <p:cNvPr id="12600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653136"/>
                        <a:ext cx="3913237" cy="482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21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557659"/>
              </p:ext>
            </p:extLst>
          </p:nvPr>
        </p:nvGraphicFramePr>
        <p:xfrm>
          <a:off x="1557338" y="4149081"/>
          <a:ext cx="3086670" cy="51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1" name="Equation" r:id="rId5" imgW="1434960" imgH="241200" progId="Equation.DSMT4">
                  <p:embed/>
                </p:oleObj>
              </mc:Choice>
              <mc:Fallback>
                <p:oleObj name="Equation" r:id="rId5" imgW="1434960" imgH="241200" progId="Equation.DSMT4">
                  <p:embed/>
                  <p:pic>
                    <p:nvPicPr>
                      <p:cNvPr id="126021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4149081"/>
                        <a:ext cx="3086670" cy="512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3"/>
          <p:cNvGrpSpPr>
            <a:grpSpLocks/>
          </p:cNvGrpSpPr>
          <p:nvPr/>
        </p:nvGrpSpPr>
        <p:grpSpPr bwMode="auto">
          <a:xfrm>
            <a:off x="5794376" y="1268413"/>
            <a:ext cx="3022600" cy="2160587"/>
            <a:chOff x="3650" y="799"/>
            <a:chExt cx="1904" cy="1361"/>
          </a:xfrm>
        </p:grpSpPr>
        <p:sp>
          <p:nvSpPr>
            <p:cNvPr id="65592" name="Oval 123"/>
            <p:cNvSpPr>
              <a:spLocks noChangeArrowheads="1"/>
            </p:cNvSpPr>
            <p:nvPr/>
          </p:nvSpPr>
          <p:spPr bwMode="auto">
            <a:xfrm>
              <a:off x="4967" y="116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93" name="AutoShape 124"/>
            <p:cNvSpPr>
              <a:spLocks noChangeArrowheads="1"/>
            </p:cNvSpPr>
            <p:nvPr/>
          </p:nvSpPr>
          <p:spPr bwMode="auto">
            <a:xfrm>
              <a:off x="4286" y="1797"/>
              <a:ext cx="453" cy="363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94" name="Line 125"/>
            <p:cNvSpPr>
              <a:spLocks noChangeShapeType="1"/>
            </p:cNvSpPr>
            <p:nvPr/>
          </p:nvSpPr>
          <p:spPr bwMode="auto">
            <a:xfrm>
              <a:off x="3923" y="889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5" name="Line 126"/>
            <p:cNvSpPr>
              <a:spLocks noChangeShapeType="1"/>
            </p:cNvSpPr>
            <p:nvPr/>
          </p:nvSpPr>
          <p:spPr bwMode="auto">
            <a:xfrm>
              <a:off x="3923" y="1978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6" name="Text Box 127"/>
            <p:cNvSpPr txBox="1">
              <a:spLocks noChangeArrowheads="1"/>
            </p:cNvSpPr>
            <p:nvPr/>
          </p:nvSpPr>
          <p:spPr bwMode="auto">
            <a:xfrm>
              <a:off x="4221" y="870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597" name="Line 128"/>
            <p:cNvSpPr>
              <a:spLocks noChangeShapeType="1"/>
            </p:cNvSpPr>
            <p:nvPr/>
          </p:nvSpPr>
          <p:spPr bwMode="auto">
            <a:xfrm>
              <a:off x="5148" y="889"/>
              <a:ext cx="1" cy="10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8" name="Text Box 129"/>
            <p:cNvSpPr txBox="1">
              <a:spLocks noChangeArrowheads="1"/>
            </p:cNvSpPr>
            <p:nvPr/>
          </p:nvSpPr>
          <p:spPr bwMode="auto">
            <a:xfrm>
              <a:off x="4014" y="1661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599" name="Line 130"/>
            <p:cNvSpPr>
              <a:spLocks noChangeShapeType="1"/>
            </p:cNvSpPr>
            <p:nvPr/>
          </p:nvSpPr>
          <p:spPr bwMode="auto">
            <a:xfrm flipV="1">
              <a:off x="3923" y="889"/>
              <a:ext cx="12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0" name="Text Box 131"/>
            <p:cNvSpPr txBox="1">
              <a:spLocks noChangeArrowheads="1"/>
            </p:cNvSpPr>
            <p:nvPr/>
          </p:nvSpPr>
          <p:spPr bwMode="auto">
            <a:xfrm>
              <a:off x="4663" y="1724"/>
              <a:ext cx="3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1" name="Text Box 132"/>
            <p:cNvSpPr txBox="1">
              <a:spLocks noChangeArrowheads="1"/>
            </p:cNvSpPr>
            <p:nvPr/>
          </p:nvSpPr>
          <p:spPr bwMode="auto">
            <a:xfrm>
              <a:off x="3969" y="1253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2" name="Line 133"/>
            <p:cNvSpPr>
              <a:spLocks noChangeShapeType="1"/>
            </p:cNvSpPr>
            <p:nvPr/>
          </p:nvSpPr>
          <p:spPr bwMode="auto">
            <a:xfrm>
              <a:off x="4014" y="935"/>
              <a:ext cx="0" cy="2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3" name="Text Box 134"/>
            <p:cNvSpPr txBox="1">
              <a:spLocks noChangeArrowheads="1"/>
            </p:cNvSpPr>
            <p:nvPr/>
          </p:nvSpPr>
          <p:spPr bwMode="auto">
            <a:xfrm>
              <a:off x="3650" y="890"/>
              <a:ext cx="3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4" name="Text Box 135"/>
            <p:cNvSpPr txBox="1">
              <a:spLocks noChangeArrowheads="1"/>
            </p:cNvSpPr>
            <p:nvPr/>
          </p:nvSpPr>
          <p:spPr bwMode="auto">
            <a:xfrm>
              <a:off x="4286" y="1480"/>
              <a:ext cx="5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5" name="Text Box 136"/>
            <p:cNvSpPr txBox="1">
              <a:spLocks noChangeArrowheads="1"/>
            </p:cNvSpPr>
            <p:nvPr/>
          </p:nvSpPr>
          <p:spPr bwMode="auto">
            <a:xfrm>
              <a:off x="5326" y="118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6" name="Text Box 137"/>
            <p:cNvSpPr txBox="1">
              <a:spLocks noChangeArrowheads="1"/>
            </p:cNvSpPr>
            <p:nvPr/>
          </p:nvSpPr>
          <p:spPr bwMode="auto">
            <a:xfrm>
              <a:off x="5139" y="870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7" name="Text Box 138"/>
            <p:cNvSpPr txBox="1">
              <a:spLocks noChangeArrowheads="1"/>
            </p:cNvSpPr>
            <p:nvPr/>
          </p:nvSpPr>
          <p:spPr bwMode="auto">
            <a:xfrm>
              <a:off x="5071" y="1532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65608" name="Rectangle 139"/>
            <p:cNvSpPr>
              <a:spLocks noChangeArrowheads="1"/>
            </p:cNvSpPr>
            <p:nvPr/>
          </p:nvSpPr>
          <p:spPr bwMode="auto">
            <a:xfrm>
              <a:off x="4286" y="79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609" name="Rectangle 140"/>
            <p:cNvSpPr>
              <a:spLocks noChangeArrowheads="1"/>
            </p:cNvSpPr>
            <p:nvPr/>
          </p:nvSpPr>
          <p:spPr bwMode="auto">
            <a:xfrm>
              <a:off x="3878" y="125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26093" name="Object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147639"/>
              </p:ext>
            </p:extLst>
          </p:nvPr>
        </p:nvGraphicFramePr>
        <p:xfrm>
          <a:off x="349070" y="5197447"/>
          <a:ext cx="3981809" cy="515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2" name="Equation" r:id="rId7" imgW="1726920" imgH="241200" progId="Equation.DSMT4">
                  <p:embed/>
                </p:oleObj>
              </mc:Choice>
              <mc:Fallback>
                <p:oleObj name="Equation" r:id="rId7" imgW="1726920" imgH="241200" progId="Equation.DSMT4">
                  <p:embed/>
                  <p:pic>
                    <p:nvPicPr>
                      <p:cNvPr id="126093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70" y="5197447"/>
                        <a:ext cx="3981809" cy="515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8"/>
          <p:cNvGrpSpPr>
            <a:grpSpLocks/>
          </p:cNvGrpSpPr>
          <p:nvPr/>
        </p:nvGrpSpPr>
        <p:grpSpPr bwMode="auto">
          <a:xfrm>
            <a:off x="684213" y="1125538"/>
            <a:ext cx="4773612" cy="2447925"/>
            <a:chOff x="431" y="709"/>
            <a:chExt cx="3007" cy="1542"/>
          </a:xfrm>
        </p:grpSpPr>
        <p:sp>
          <p:nvSpPr>
            <p:cNvPr id="65552" name="Line 144"/>
            <p:cNvSpPr>
              <a:spLocks noChangeShapeType="1"/>
            </p:cNvSpPr>
            <p:nvPr/>
          </p:nvSpPr>
          <p:spPr bwMode="auto">
            <a:xfrm flipV="1">
              <a:off x="612" y="755"/>
              <a:ext cx="0" cy="13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3" name="Oval 146"/>
            <p:cNvSpPr>
              <a:spLocks noChangeArrowheads="1"/>
            </p:cNvSpPr>
            <p:nvPr/>
          </p:nvSpPr>
          <p:spPr bwMode="auto">
            <a:xfrm>
              <a:off x="2245" y="15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54" name="Line 147"/>
            <p:cNvSpPr>
              <a:spLocks noChangeShapeType="1"/>
            </p:cNvSpPr>
            <p:nvPr/>
          </p:nvSpPr>
          <p:spPr bwMode="auto">
            <a:xfrm>
              <a:off x="3334" y="755"/>
              <a:ext cx="0" cy="68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5" name="AutoShape 148"/>
            <p:cNvSpPr>
              <a:spLocks noChangeArrowheads="1"/>
            </p:cNvSpPr>
            <p:nvPr/>
          </p:nvSpPr>
          <p:spPr bwMode="auto">
            <a:xfrm>
              <a:off x="1429" y="1888"/>
              <a:ext cx="454" cy="363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56" name="Line 149"/>
            <p:cNvSpPr>
              <a:spLocks noChangeShapeType="1"/>
            </p:cNvSpPr>
            <p:nvPr/>
          </p:nvSpPr>
          <p:spPr bwMode="auto">
            <a:xfrm>
              <a:off x="1111" y="755"/>
              <a:ext cx="0" cy="13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150"/>
            <p:cNvSpPr>
              <a:spLocks noChangeShapeType="1"/>
            </p:cNvSpPr>
            <p:nvPr/>
          </p:nvSpPr>
          <p:spPr bwMode="auto">
            <a:xfrm flipH="1" flipV="1">
              <a:off x="612" y="890"/>
              <a:ext cx="5" cy="4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8" name="Line 151"/>
            <p:cNvSpPr>
              <a:spLocks noChangeShapeType="1"/>
            </p:cNvSpPr>
            <p:nvPr/>
          </p:nvSpPr>
          <p:spPr bwMode="auto">
            <a:xfrm flipV="1">
              <a:off x="612" y="2069"/>
              <a:ext cx="272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9" name="Text Box 152"/>
            <p:cNvSpPr txBox="1">
              <a:spLocks noChangeArrowheads="1"/>
            </p:cNvSpPr>
            <p:nvPr/>
          </p:nvSpPr>
          <p:spPr bwMode="auto">
            <a:xfrm>
              <a:off x="630" y="926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5560" name="Text Box 153"/>
            <p:cNvSpPr txBox="1">
              <a:spLocks noChangeArrowheads="1"/>
            </p:cNvSpPr>
            <p:nvPr/>
          </p:nvSpPr>
          <p:spPr bwMode="auto">
            <a:xfrm>
              <a:off x="1429" y="799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5561" name="Group 187"/>
            <p:cNvGrpSpPr>
              <a:grpSpLocks/>
            </p:cNvGrpSpPr>
            <p:nvPr/>
          </p:nvGrpSpPr>
          <p:grpSpPr bwMode="auto">
            <a:xfrm>
              <a:off x="431" y="1298"/>
              <a:ext cx="363" cy="363"/>
              <a:chOff x="431" y="1253"/>
              <a:chExt cx="363" cy="363"/>
            </a:xfrm>
          </p:grpSpPr>
          <p:sp>
            <p:nvSpPr>
              <p:cNvPr id="65590" name="Oval 145"/>
              <p:cNvSpPr>
                <a:spLocks noChangeArrowheads="1"/>
              </p:cNvSpPr>
              <p:nvPr/>
            </p:nvSpPr>
            <p:spPr bwMode="auto">
              <a:xfrm>
                <a:off x="431" y="1253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591" name="Line 154"/>
              <p:cNvSpPr>
                <a:spLocks noChangeShapeType="1"/>
              </p:cNvSpPr>
              <p:nvPr/>
            </p:nvSpPr>
            <p:spPr bwMode="auto">
              <a:xfrm>
                <a:off x="431" y="1435"/>
                <a:ext cx="36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562" name="Line 155"/>
            <p:cNvSpPr>
              <a:spLocks noChangeShapeType="1"/>
            </p:cNvSpPr>
            <p:nvPr/>
          </p:nvSpPr>
          <p:spPr bwMode="auto">
            <a:xfrm flipV="1">
              <a:off x="2427" y="755"/>
              <a:ext cx="363" cy="13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3" name="Line 156"/>
            <p:cNvSpPr>
              <a:spLocks noChangeShapeType="1"/>
            </p:cNvSpPr>
            <p:nvPr/>
          </p:nvSpPr>
          <p:spPr bwMode="auto">
            <a:xfrm>
              <a:off x="2427" y="891"/>
              <a:ext cx="0" cy="11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4" name="Line 157"/>
            <p:cNvSpPr>
              <a:spLocks noChangeShapeType="1"/>
            </p:cNvSpPr>
            <p:nvPr/>
          </p:nvSpPr>
          <p:spPr bwMode="auto">
            <a:xfrm>
              <a:off x="2290" y="709"/>
              <a:ext cx="409" cy="22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5" name="Text Box 158"/>
            <p:cNvSpPr txBox="1">
              <a:spLocks noChangeArrowheads="1"/>
            </p:cNvSpPr>
            <p:nvPr/>
          </p:nvSpPr>
          <p:spPr bwMode="auto">
            <a:xfrm>
              <a:off x="1973" y="1026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5566" name="Text Box 159"/>
            <p:cNvSpPr txBox="1">
              <a:spLocks noChangeArrowheads="1"/>
            </p:cNvSpPr>
            <p:nvPr/>
          </p:nvSpPr>
          <p:spPr bwMode="auto">
            <a:xfrm>
              <a:off x="2835" y="935"/>
              <a:ext cx="5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0.1F</a:t>
              </a:r>
            </a:p>
          </p:txBody>
        </p:sp>
        <p:sp>
          <p:nvSpPr>
            <p:cNvPr id="65567" name="Text Box 160"/>
            <p:cNvSpPr txBox="1">
              <a:spLocks noChangeArrowheads="1"/>
            </p:cNvSpPr>
            <p:nvPr/>
          </p:nvSpPr>
          <p:spPr bwMode="auto">
            <a:xfrm>
              <a:off x="1202" y="1752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65568" name="Text Box 161"/>
            <p:cNvSpPr txBox="1">
              <a:spLocks noChangeArrowheads="1"/>
            </p:cNvSpPr>
            <p:nvPr/>
          </p:nvSpPr>
          <p:spPr bwMode="auto">
            <a:xfrm>
              <a:off x="2880" y="1253"/>
              <a:ext cx="3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69" name="Line 162"/>
            <p:cNvSpPr>
              <a:spLocks noChangeShapeType="1"/>
            </p:cNvSpPr>
            <p:nvPr/>
          </p:nvSpPr>
          <p:spPr bwMode="auto">
            <a:xfrm flipV="1">
              <a:off x="612" y="754"/>
              <a:ext cx="163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0" name="Line 163"/>
            <p:cNvSpPr>
              <a:spLocks noChangeShapeType="1"/>
            </p:cNvSpPr>
            <p:nvPr/>
          </p:nvSpPr>
          <p:spPr bwMode="auto">
            <a:xfrm>
              <a:off x="2790" y="755"/>
              <a:ext cx="54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1" name="Line 164"/>
            <p:cNvSpPr>
              <a:spLocks noChangeShapeType="1"/>
            </p:cNvSpPr>
            <p:nvPr/>
          </p:nvSpPr>
          <p:spPr bwMode="auto">
            <a:xfrm>
              <a:off x="3334" y="1526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2" name="Text Box 165"/>
            <p:cNvSpPr txBox="1">
              <a:spLocks noChangeArrowheads="1"/>
            </p:cNvSpPr>
            <p:nvPr/>
          </p:nvSpPr>
          <p:spPr bwMode="auto">
            <a:xfrm>
              <a:off x="1928" y="175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65573" name="Text Box 166"/>
            <p:cNvSpPr txBox="1">
              <a:spLocks noChangeArrowheads="1"/>
            </p:cNvSpPr>
            <p:nvPr/>
          </p:nvSpPr>
          <p:spPr bwMode="auto">
            <a:xfrm>
              <a:off x="3062" y="1117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65574" name="Text Box 167"/>
            <p:cNvSpPr txBox="1">
              <a:spLocks noChangeArrowheads="1"/>
            </p:cNvSpPr>
            <p:nvPr/>
          </p:nvSpPr>
          <p:spPr bwMode="auto">
            <a:xfrm>
              <a:off x="3017" y="161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65575" name="Text Box 168"/>
            <p:cNvSpPr txBox="1">
              <a:spLocks noChangeArrowheads="1"/>
            </p:cNvSpPr>
            <p:nvPr/>
          </p:nvSpPr>
          <p:spPr bwMode="auto">
            <a:xfrm>
              <a:off x="1182" y="1280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76" name="Line 169"/>
            <p:cNvSpPr>
              <a:spLocks noChangeShapeType="1"/>
            </p:cNvSpPr>
            <p:nvPr/>
          </p:nvSpPr>
          <p:spPr bwMode="auto">
            <a:xfrm>
              <a:off x="1202" y="936"/>
              <a:ext cx="0" cy="2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7" name="Text Box 170"/>
            <p:cNvSpPr txBox="1">
              <a:spLocks noChangeArrowheads="1"/>
            </p:cNvSpPr>
            <p:nvPr/>
          </p:nvSpPr>
          <p:spPr bwMode="auto">
            <a:xfrm>
              <a:off x="1156" y="845"/>
              <a:ext cx="3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5578" name="Text Box 171"/>
            <p:cNvSpPr txBox="1">
              <a:spLocks noChangeArrowheads="1"/>
            </p:cNvSpPr>
            <p:nvPr/>
          </p:nvSpPr>
          <p:spPr bwMode="auto">
            <a:xfrm>
              <a:off x="1474" y="1570"/>
              <a:ext cx="5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5579" name="Text Box 172"/>
            <p:cNvSpPr txBox="1">
              <a:spLocks noChangeArrowheads="1"/>
            </p:cNvSpPr>
            <p:nvPr/>
          </p:nvSpPr>
          <p:spPr bwMode="auto">
            <a:xfrm>
              <a:off x="2589" y="1507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8V</a:t>
              </a:r>
            </a:p>
          </p:txBody>
        </p:sp>
        <p:sp>
          <p:nvSpPr>
            <p:cNvPr id="65580" name="Text Box 173"/>
            <p:cNvSpPr txBox="1">
              <a:spLocks noChangeArrowheads="1"/>
            </p:cNvSpPr>
            <p:nvPr/>
          </p:nvSpPr>
          <p:spPr bwMode="auto">
            <a:xfrm>
              <a:off x="2509" y="1779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65581" name="Text Box 174"/>
            <p:cNvSpPr txBox="1">
              <a:spLocks noChangeArrowheads="1"/>
            </p:cNvSpPr>
            <p:nvPr/>
          </p:nvSpPr>
          <p:spPr bwMode="auto">
            <a:xfrm>
              <a:off x="2440" y="126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</a:p>
          </p:txBody>
        </p:sp>
        <p:sp>
          <p:nvSpPr>
            <p:cNvPr id="65582" name="Text Box 175"/>
            <p:cNvSpPr txBox="1">
              <a:spLocks noChangeArrowheads="1"/>
            </p:cNvSpPr>
            <p:nvPr/>
          </p:nvSpPr>
          <p:spPr bwMode="auto">
            <a:xfrm>
              <a:off x="2472" y="845"/>
              <a:ext cx="2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65583" name="Text Box 176"/>
            <p:cNvSpPr txBox="1">
              <a:spLocks noChangeArrowheads="1"/>
            </p:cNvSpPr>
            <p:nvPr/>
          </p:nvSpPr>
          <p:spPr bwMode="auto">
            <a:xfrm>
              <a:off x="2064" y="709"/>
              <a:ext cx="2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65584" name="Rectangle 177"/>
            <p:cNvSpPr>
              <a:spLocks noChangeArrowheads="1"/>
            </p:cNvSpPr>
            <p:nvPr/>
          </p:nvSpPr>
          <p:spPr bwMode="auto">
            <a:xfrm>
              <a:off x="1429" y="709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85" name="Rectangle 178"/>
            <p:cNvSpPr>
              <a:spLocks noChangeArrowheads="1"/>
            </p:cNvSpPr>
            <p:nvPr/>
          </p:nvSpPr>
          <p:spPr bwMode="auto">
            <a:xfrm>
              <a:off x="2381" y="10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586" name="Rectangle 179"/>
            <p:cNvSpPr>
              <a:spLocks noChangeArrowheads="1"/>
            </p:cNvSpPr>
            <p:nvPr/>
          </p:nvSpPr>
          <p:spPr bwMode="auto">
            <a:xfrm>
              <a:off x="1066" y="12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65587" name="Group 180"/>
            <p:cNvGrpSpPr>
              <a:grpSpLocks/>
            </p:cNvGrpSpPr>
            <p:nvPr/>
          </p:nvGrpSpPr>
          <p:grpSpPr bwMode="auto">
            <a:xfrm>
              <a:off x="3198" y="1435"/>
              <a:ext cx="240" cy="90"/>
              <a:chOff x="4604" y="2478"/>
              <a:chExt cx="240" cy="90"/>
            </a:xfrm>
          </p:grpSpPr>
          <p:sp>
            <p:nvSpPr>
              <p:cNvPr id="65588" name="Line 18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89" name="Line 18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0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27558"/>
              </p:ext>
            </p:extLst>
          </p:nvPr>
        </p:nvGraphicFramePr>
        <p:xfrm>
          <a:off x="5307013" y="5157192"/>
          <a:ext cx="3238501" cy="515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3" name="Equation" r:id="rId9" imgW="1409400" imgH="241200" progId="Equation.DSMT4">
                  <p:embed/>
                </p:oleObj>
              </mc:Choice>
              <mc:Fallback>
                <p:oleObj name="Equation" r:id="rId9" imgW="1409400" imgH="241200" progId="Equation.DSMT4">
                  <p:embed/>
                  <p:pic>
                    <p:nvPicPr>
                      <p:cNvPr id="48252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5157192"/>
                        <a:ext cx="3238501" cy="515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AutoShape 125"/>
          <p:cNvSpPr>
            <a:spLocks noChangeArrowheads="1"/>
          </p:cNvSpPr>
          <p:nvPr/>
        </p:nvSpPr>
        <p:spPr bwMode="auto">
          <a:xfrm>
            <a:off x="4370873" y="5357019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00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" name="Objec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400012"/>
              </p:ext>
            </p:extLst>
          </p:nvPr>
        </p:nvGraphicFramePr>
        <p:xfrm>
          <a:off x="1559199" y="5641128"/>
          <a:ext cx="4741590" cy="512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4" name="Equation" r:id="rId11" imgW="2222280" imgH="241200" progId="Equation.DSMT4">
                  <p:embed/>
                </p:oleObj>
              </mc:Choice>
              <mc:Fallback>
                <p:oleObj name="Equation" r:id="rId11" imgW="2222280" imgH="241200" progId="Equation.DSMT4">
                  <p:embed/>
                  <p:pic>
                    <p:nvPicPr>
                      <p:cNvPr id="4823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199" y="5641128"/>
                        <a:ext cx="4741590" cy="512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763643"/>
              </p:ext>
            </p:extLst>
          </p:nvPr>
        </p:nvGraphicFramePr>
        <p:xfrm>
          <a:off x="1543832" y="6172480"/>
          <a:ext cx="5215744" cy="54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5" name="Equation" r:id="rId13" imgW="2311200" imgH="241200" progId="Equation.DSMT4">
                  <p:embed/>
                </p:oleObj>
              </mc:Choice>
              <mc:Fallback>
                <p:oleObj name="Equation" r:id="rId13" imgW="2311200" imgH="241200" progId="Equation.DSMT4">
                  <p:embed/>
                  <p:pic>
                    <p:nvPicPr>
                      <p:cNvPr id="48238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832" y="6172480"/>
                        <a:ext cx="5215744" cy="540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686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3000"/>
                                        <p:tgtEl>
                                          <p:spTgt spid="12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/>
      <p:bldP spid="125955" grpId="0"/>
      <p:bldP spid="125998" grpId="0" animBg="1" autoUpdateAnimBg="0"/>
      <p:bldP spid="125999" grpId="0"/>
      <p:bldP spid="8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7AB18-34C9-4D5A-875D-BD1CAECB51F7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461F96-7CCE-4CED-9590-79D24BD4E88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45046"/>
          <a:stretch/>
        </p:blipFill>
        <p:spPr>
          <a:xfrm>
            <a:off x="71390" y="44624"/>
            <a:ext cx="7706164" cy="9497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62138"/>
          <a:stretch/>
        </p:blipFill>
        <p:spPr>
          <a:xfrm>
            <a:off x="71390" y="994326"/>
            <a:ext cx="7706164" cy="65432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3438" y="1656222"/>
            <a:ext cx="8573018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动态电路的指数衰减系数（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时间常数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）是由电路结构、参数决定的，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电路的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初始储能及独立电源无关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一阶电路的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零输入响应与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初始状态变量成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线性关系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一阶电路的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零状态响应与独立电源输出量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成正比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一阶电路的三要素法是分析一阶电路的有效方法。其核心内容是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用电路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分析方法求取：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时间常数、初始值和稳态解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这三个关键要素。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47" y="4780085"/>
            <a:ext cx="6517602" cy="7478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46" y="5514243"/>
            <a:ext cx="3044533" cy="5892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5532434"/>
            <a:ext cx="3473070" cy="5524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663" y="6084843"/>
            <a:ext cx="6527285" cy="6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8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453" name="Group 69"/>
          <p:cNvGrpSpPr>
            <a:grpSpLocks/>
          </p:cNvGrpSpPr>
          <p:nvPr/>
        </p:nvGrpSpPr>
        <p:grpSpPr bwMode="auto">
          <a:xfrm>
            <a:off x="1439863" y="912813"/>
            <a:ext cx="3109912" cy="1793875"/>
            <a:chOff x="907" y="575"/>
            <a:chExt cx="1959" cy="1130"/>
          </a:xfrm>
        </p:grpSpPr>
        <p:sp>
          <p:nvSpPr>
            <p:cNvPr id="272388" name="Oval 4"/>
            <p:cNvSpPr>
              <a:spLocks noChangeArrowheads="1"/>
            </p:cNvSpPr>
            <p:nvPr/>
          </p:nvSpPr>
          <p:spPr bwMode="auto">
            <a:xfrm>
              <a:off x="1161" y="930"/>
              <a:ext cx="266" cy="236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89" name="Rectangle 5"/>
            <p:cNvSpPr>
              <a:spLocks noChangeArrowheads="1"/>
            </p:cNvSpPr>
            <p:nvPr/>
          </p:nvSpPr>
          <p:spPr bwMode="auto">
            <a:xfrm>
              <a:off x="2491" y="969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0" name="Line 6"/>
            <p:cNvSpPr>
              <a:spLocks noChangeShapeType="1"/>
            </p:cNvSpPr>
            <p:nvPr/>
          </p:nvSpPr>
          <p:spPr bwMode="auto">
            <a:xfrm>
              <a:off x="1294" y="693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1" name="Line 7"/>
            <p:cNvSpPr>
              <a:spLocks noChangeShapeType="1"/>
            </p:cNvSpPr>
            <p:nvPr/>
          </p:nvSpPr>
          <p:spPr bwMode="auto">
            <a:xfrm>
              <a:off x="1294" y="693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2" name="Line 8"/>
            <p:cNvSpPr>
              <a:spLocks noChangeShapeType="1"/>
            </p:cNvSpPr>
            <p:nvPr/>
          </p:nvSpPr>
          <p:spPr bwMode="auto">
            <a:xfrm>
              <a:off x="1870" y="693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3" name="Line 9"/>
            <p:cNvSpPr>
              <a:spLocks noChangeShapeType="1"/>
            </p:cNvSpPr>
            <p:nvPr/>
          </p:nvSpPr>
          <p:spPr bwMode="auto">
            <a:xfrm>
              <a:off x="2535" y="693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4" name="Line 10"/>
            <p:cNvSpPr>
              <a:spLocks noChangeShapeType="1"/>
            </p:cNvSpPr>
            <p:nvPr/>
          </p:nvSpPr>
          <p:spPr bwMode="auto">
            <a:xfrm>
              <a:off x="1294" y="1442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5" name="Text Box 11"/>
            <p:cNvSpPr txBox="1">
              <a:spLocks noChangeArrowheads="1"/>
            </p:cNvSpPr>
            <p:nvPr/>
          </p:nvSpPr>
          <p:spPr bwMode="auto">
            <a:xfrm>
              <a:off x="907" y="913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396" name="Text Box 12"/>
            <p:cNvSpPr txBox="1">
              <a:spLocks noChangeArrowheads="1"/>
            </p:cNvSpPr>
            <p:nvPr/>
          </p:nvSpPr>
          <p:spPr bwMode="auto">
            <a:xfrm>
              <a:off x="1064" y="659"/>
              <a:ext cx="225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397" name="Text Box 13"/>
            <p:cNvSpPr txBox="1">
              <a:spLocks noChangeArrowheads="1"/>
            </p:cNvSpPr>
            <p:nvPr/>
          </p:nvSpPr>
          <p:spPr bwMode="auto">
            <a:xfrm>
              <a:off x="1511" y="1417"/>
              <a:ext cx="7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3200" b="1" baseline="30000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272398" name="Line 14"/>
            <p:cNvSpPr>
              <a:spLocks noChangeShapeType="1"/>
            </p:cNvSpPr>
            <p:nvPr/>
          </p:nvSpPr>
          <p:spPr bwMode="auto">
            <a:xfrm>
              <a:off x="1870" y="575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399" name="Line 15"/>
            <p:cNvSpPr>
              <a:spLocks noChangeShapeType="1"/>
            </p:cNvSpPr>
            <p:nvPr/>
          </p:nvSpPr>
          <p:spPr bwMode="auto">
            <a:xfrm>
              <a:off x="1782" y="575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00" name="Line 16"/>
            <p:cNvSpPr>
              <a:spLocks noChangeShapeType="1"/>
            </p:cNvSpPr>
            <p:nvPr/>
          </p:nvSpPr>
          <p:spPr bwMode="auto">
            <a:xfrm>
              <a:off x="2535" y="1166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01" name="Text Box 17"/>
            <p:cNvSpPr txBox="1">
              <a:spLocks noChangeArrowheads="1"/>
            </p:cNvSpPr>
            <p:nvPr/>
          </p:nvSpPr>
          <p:spPr bwMode="auto">
            <a:xfrm>
              <a:off x="2237" y="94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72402" name="Text Box 18"/>
            <p:cNvSpPr txBox="1">
              <a:spLocks noChangeArrowheads="1"/>
            </p:cNvSpPr>
            <p:nvPr/>
          </p:nvSpPr>
          <p:spPr bwMode="auto">
            <a:xfrm>
              <a:off x="1564" y="622"/>
              <a:ext cx="5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03" name="Text Box 19"/>
            <p:cNvSpPr txBox="1">
              <a:spLocks noChangeArrowheads="1"/>
            </p:cNvSpPr>
            <p:nvPr/>
          </p:nvSpPr>
          <p:spPr bwMode="auto">
            <a:xfrm>
              <a:off x="2558" y="702"/>
              <a:ext cx="308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2404" name="Group 20"/>
          <p:cNvGrpSpPr>
            <a:grpSpLocks/>
          </p:cNvGrpSpPr>
          <p:nvPr/>
        </p:nvGrpSpPr>
        <p:grpSpPr bwMode="auto">
          <a:xfrm>
            <a:off x="4706938" y="701675"/>
            <a:ext cx="4138612" cy="2087563"/>
            <a:chOff x="2965" y="442"/>
            <a:chExt cx="2607" cy="1315"/>
          </a:xfrm>
        </p:grpSpPr>
        <p:sp>
          <p:nvSpPr>
            <p:cNvPr id="272405" name="Text Box 21"/>
            <p:cNvSpPr txBox="1">
              <a:spLocks noChangeArrowheads="1"/>
            </p:cNvSpPr>
            <p:nvPr/>
          </p:nvSpPr>
          <p:spPr bwMode="auto">
            <a:xfrm>
              <a:off x="3512" y="442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72406" name="Line 22"/>
            <p:cNvSpPr>
              <a:spLocks noChangeShapeType="1"/>
            </p:cNvSpPr>
            <p:nvPr/>
          </p:nvSpPr>
          <p:spPr bwMode="auto">
            <a:xfrm>
              <a:off x="3435" y="1469"/>
              <a:ext cx="1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07" name="Line 23"/>
            <p:cNvSpPr>
              <a:spLocks noChangeShapeType="1"/>
            </p:cNvSpPr>
            <p:nvPr/>
          </p:nvSpPr>
          <p:spPr bwMode="auto">
            <a:xfrm flipV="1">
              <a:off x="3531" y="603"/>
              <a:ext cx="0" cy="1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08" name="Text Box 24"/>
            <p:cNvSpPr txBox="1">
              <a:spLocks noChangeArrowheads="1"/>
            </p:cNvSpPr>
            <p:nvPr/>
          </p:nvSpPr>
          <p:spPr bwMode="auto">
            <a:xfrm>
              <a:off x="5403" y="1421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09" name="Line 25"/>
            <p:cNvSpPr>
              <a:spLocks noChangeShapeType="1"/>
            </p:cNvSpPr>
            <p:nvPr/>
          </p:nvSpPr>
          <p:spPr bwMode="auto">
            <a:xfrm>
              <a:off x="3531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10" name="Line 26"/>
            <p:cNvSpPr>
              <a:spLocks noChangeShapeType="1"/>
            </p:cNvSpPr>
            <p:nvPr/>
          </p:nvSpPr>
          <p:spPr bwMode="auto">
            <a:xfrm>
              <a:off x="3963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11" name="Line 27"/>
            <p:cNvSpPr>
              <a:spLocks noChangeShapeType="1"/>
            </p:cNvSpPr>
            <p:nvPr/>
          </p:nvSpPr>
          <p:spPr bwMode="auto">
            <a:xfrm>
              <a:off x="4395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12" name="Line 28"/>
            <p:cNvSpPr>
              <a:spLocks noChangeShapeType="1"/>
            </p:cNvSpPr>
            <p:nvPr/>
          </p:nvSpPr>
          <p:spPr bwMode="auto">
            <a:xfrm>
              <a:off x="4395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13" name="Line 29"/>
            <p:cNvSpPr>
              <a:spLocks noChangeShapeType="1"/>
            </p:cNvSpPr>
            <p:nvPr/>
          </p:nvSpPr>
          <p:spPr bwMode="auto">
            <a:xfrm>
              <a:off x="4827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14" name="Text Box 30"/>
            <p:cNvSpPr txBox="1">
              <a:spLocks noChangeArrowheads="1"/>
            </p:cNvSpPr>
            <p:nvPr/>
          </p:nvSpPr>
          <p:spPr bwMode="auto">
            <a:xfrm>
              <a:off x="3799" y="14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15" name="Text Box 31"/>
            <p:cNvSpPr txBox="1">
              <a:spLocks noChangeArrowheads="1"/>
            </p:cNvSpPr>
            <p:nvPr/>
          </p:nvSpPr>
          <p:spPr bwMode="auto">
            <a:xfrm>
              <a:off x="4203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16" name="Text Box 32"/>
            <p:cNvSpPr txBox="1">
              <a:spLocks noChangeArrowheads="1"/>
            </p:cNvSpPr>
            <p:nvPr/>
          </p:nvSpPr>
          <p:spPr bwMode="auto">
            <a:xfrm>
              <a:off x="4635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17" name="Text Box 33"/>
            <p:cNvSpPr txBox="1">
              <a:spLocks noChangeArrowheads="1"/>
            </p:cNvSpPr>
            <p:nvPr/>
          </p:nvSpPr>
          <p:spPr bwMode="auto">
            <a:xfrm>
              <a:off x="2965" y="767"/>
              <a:ext cx="5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100V</a:t>
              </a:r>
            </a:p>
          </p:txBody>
        </p:sp>
        <p:sp>
          <p:nvSpPr>
            <p:cNvPr id="272418" name="Text Box 34"/>
            <p:cNvSpPr txBox="1">
              <a:spLocks noChangeArrowheads="1"/>
            </p:cNvSpPr>
            <p:nvPr/>
          </p:nvSpPr>
          <p:spPr bwMode="auto">
            <a:xfrm>
              <a:off x="3300" y="14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72419" name="Text Box 35"/>
          <p:cNvSpPr txBox="1">
            <a:spLocks noChangeArrowheads="1"/>
          </p:cNvSpPr>
          <p:nvPr/>
        </p:nvSpPr>
        <p:spPr bwMode="auto">
          <a:xfrm>
            <a:off x="566738" y="3384550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 &lt;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 t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&lt;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2420" name="Text Box 36"/>
          <p:cNvSpPr txBox="1">
            <a:spLocks noChangeArrowheads="1"/>
          </p:cNvSpPr>
          <p:nvPr/>
        </p:nvSpPr>
        <p:spPr bwMode="auto">
          <a:xfrm>
            <a:off x="2811196" y="3191818"/>
            <a:ext cx="13356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(0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)=0</a:t>
            </a:r>
          </a:p>
        </p:txBody>
      </p:sp>
      <p:sp>
        <p:nvSpPr>
          <p:cNvPr id="272421" name="Text Box 37"/>
          <p:cNvSpPr txBox="1">
            <a:spLocks noChangeArrowheads="1"/>
          </p:cNvSpPr>
          <p:nvPr/>
        </p:nvSpPr>
        <p:spPr bwMode="auto">
          <a:xfrm>
            <a:off x="2811463" y="3671888"/>
            <a:ext cx="176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)=100V</a:t>
            </a:r>
          </a:p>
        </p:txBody>
      </p:sp>
      <p:sp>
        <p:nvSpPr>
          <p:cNvPr id="272422" name="Freeform 38"/>
          <p:cNvSpPr>
            <a:spLocks/>
          </p:cNvSpPr>
          <p:nvPr/>
        </p:nvSpPr>
        <p:spPr bwMode="auto">
          <a:xfrm>
            <a:off x="5662613" y="3446463"/>
            <a:ext cx="536575" cy="860425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3" name="Freeform 39"/>
          <p:cNvSpPr>
            <a:spLocks/>
          </p:cNvSpPr>
          <p:nvPr/>
        </p:nvSpPr>
        <p:spPr bwMode="auto">
          <a:xfrm>
            <a:off x="7034213" y="3454400"/>
            <a:ext cx="508000" cy="858838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4" name="Freeform 40"/>
          <p:cNvSpPr>
            <a:spLocks/>
          </p:cNvSpPr>
          <p:nvPr/>
        </p:nvSpPr>
        <p:spPr bwMode="auto">
          <a:xfrm flipV="1">
            <a:off x="6348413" y="3468688"/>
            <a:ext cx="698500" cy="844550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5" name="Freeform 41"/>
          <p:cNvSpPr>
            <a:spLocks/>
          </p:cNvSpPr>
          <p:nvPr/>
        </p:nvSpPr>
        <p:spPr bwMode="auto">
          <a:xfrm flipV="1">
            <a:off x="7720013" y="3468688"/>
            <a:ext cx="609600" cy="844550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6" name="Line 42"/>
          <p:cNvSpPr>
            <a:spLocks noChangeShapeType="1"/>
          </p:cNvSpPr>
          <p:nvPr/>
        </p:nvSpPr>
        <p:spPr bwMode="auto">
          <a:xfrm>
            <a:off x="6119813" y="3448050"/>
            <a:ext cx="207962" cy="1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7" name="Line 43"/>
          <p:cNvSpPr>
            <a:spLocks noChangeShapeType="1"/>
          </p:cNvSpPr>
          <p:nvPr/>
        </p:nvSpPr>
        <p:spPr bwMode="auto">
          <a:xfrm>
            <a:off x="7504113" y="3463925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8" name="Line 44"/>
          <p:cNvSpPr>
            <a:spLocks noChangeShapeType="1"/>
          </p:cNvSpPr>
          <p:nvPr/>
        </p:nvSpPr>
        <p:spPr bwMode="auto">
          <a:xfrm>
            <a:off x="5662613" y="3468688"/>
            <a:ext cx="685800" cy="1587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29" name="Line 45"/>
          <p:cNvSpPr>
            <a:spLocks noChangeShapeType="1"/>
          </p:cNvSpPr>
          <p:nvPr/>
        </p:nvSpPr>
        <p:spPr bwMode="auto">
          <a:xfrm>
            <a:off x="6348413" y="3468688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30" name="Line 46"/>
          <p:cNvSpPr>
            <a:spLocks noChangeShapeType="1"/>
          </p:cNvSpPr>
          <p:nvPr/>
        </p:nvSpPr>
        <p:spPr bwMode="auto">
          <a:xfrm>
            <a:off x="7034213" y="3468688"/>
            <a:ext cx="685800" cy="1587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31" name="Line 47"/>
          <p:cNvSpPr>
            <a:spLocks noChangeShapeType="1"/>
          </p:cNvSpPr>
          <p:nvPr/>
        </p:nvSpPr>
        <p:spPr bwMode="auto">
          <a:xfrm>
            <a:off x="7046913" y="3473450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32" name="Line 48"/>
          <p:cNvSpPr>
            <a:spLocks noChangeShapeType="1"/>
          </p:cNvSpPr>
          <p:nvPr/>
        </p:nvSpPr>
        <p:spPr bwMode="auto">
          <a:xfrm>
            <a:off x="7720013" y="3468688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33" name="Text Box 49"/>
          <p:cNvSpPr txBox="1">
            <a:spLocks noChangeArrowheads="1"/>
          </p:cNvSpPr>
          <p:nvPr/>
        </p:nvSpPr>
        <p:spPr bwMode="auto">
          <a:xfrm>
            <a:off x="6088063" y="4306888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2434" name="Text Box 50"/>
          <p:cNvSpPr txBox="1">
            <a:spLocks noChangeArrowheads="1"/>
          </p:cNvSpPr>
          <p:nvPr/>
        </p:nvSpPr>
        <p:spPr bwMode="auto">
          <a:xfrm>
            <a:off x="6729413" y="4306888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2435" name="Text Box 51"/>
          <p:cNvSpPr txBox="1">
            <a:spLocks noChangeArrowheads="1"/>
          </p:cNvSpPr>
          <p:nvPr/>
        </p:nvSpPr>
        <p:spPr bwMode="auto">
          <a:xfrm>
            <a:off x="7415213" y="4306888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2436" name="Group 52"/>
          <p:cNvGrpSpPr>
            <a:grpSpLocks/>
          </p:cNvGrpSpPr>
          <p:nvPr/>
        </p:nvGrpSpPr>
        <p:grpSpPr bwMode="auto">
          <a:xfrm>
            <a:off x="5316538" y="2847975"/>
            <a:ext cx="3586162" cy="1941513"/>
            <a:chOff x="3349" y="1794"/>
            <a:chExt cx="2259" cy="1223"/>
          </a:xfrm>
        </p:grpSpPr>
        <p:sp>
          <p:nvSpPr>
            <p:cNvPr id="272437" name="Line 53"/>
            <p:cNvSpPr>
              <a:spLocks noChangeShapeType="1"/>
            </p:cNvSpPr>
            <p:nvPr/>
          </p:nvSpPr>
          <p:spPr bwMode="auto">
            <a:xfrm>
              <a:off x="3471" y="2713"/>
              <a:ext cx="1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38" name="Line 54"/>
            <p:cNvSpPr>
              <a:spLocks noChangeShapeType="1"/>
            </p:cNvSpPr>
            <p:nvPr/>
          </p:nvSpPr>
          <p:spPr bwMode="auto">
            <a:xfrm flipV="1">
              <a:off x="3567" y="1993"/>
              <a:ext cx="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439" name="Text Box 55"/>
            <p:cNvSpPr txBox="1">
              <a:spLocks noChangeArrowheads="1"/>
            </p:cNvSpPr>
            <p:nvPr/>
          </p:nvSpPr>
          <p:spPr bwMode="auto">
            <a:xfrm>
              <a:off x="5439" y="2665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40" name="Text Box 56"/>
            <p:cNvSpPr txBox="1">
              <a:spLocks noChangeArrowheads="1"/>
            </p:cNvSpPr>
            <p:nvPr/>
          </p:nvSpPr>
          <p:spPr bwMode="auto">
            <a:xfrm>
              <a:off x="3623" y="179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2441" name="Text Box 57"/>
            <p:cNvSpPr txBox="1">
              <a:spLocks noChangeArrowheads="1"/>
            </p:cNvSpPr>
            <p:nvPr/>
          </p:nvSpPr>
          <p:spPr bwMode="auto">
            <a:xfrm>
              <a:off x="3349" y="27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72442" name="Text Box 58"/>
          <p:cNvSpPr txBox="1">
            <a:spLocks noChangeArrowheads="1"/>
          </p:cNvSpPr>
          <p:nvPr/>
        </p:nvSpPr>
        <p:spPr bwMode="auto">
          <a:xfrm>
            <a:off x="4706938" y="3286125"/>
            <a:ext cx="91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100V</a:t>
            </a:r>
          </a:p>
        </p:txBody>
      </p:sp>
      <p:sp>
        <p:nvSpPr>
          <p:cNvPr id="272443" name="Text Box 59"/>
          <p:cNvSpPr txBox="1">
            <a:spLocks noChangeArrowheads="1"/>
          </p:cNvSpPr>
          <p:nvPr/>
        </p:nvSpPr>
        <p:spPr bwMode="auto">
          <a:xfrm>
            <a:off x="2933700" y="4149725"/>
            <a:ext cx="1125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  = RC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272444" name="Object 60"/>
          <p:cNvGraphicFramePr>
            <a:graphicFrameLocks noChangeAspect="1"/>
          </p:cNvGraphicFramePr>
          <p:nvPr/>
        </p:nvGraphicFramePr>
        <p:xfrm>
          <a:off x="0" y="3962400"/>
          <a:ext cx="27749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8" name="Equation" r:id="rId4" imgW="1333440" imgH="355320" progId="Equation.3">
                  <p:embed/>
                </p:oleObj>
              </mc:Choice>
              <mc:Fallback>
                <p:oleObj name="Equation" r:id="rId4" imgW="1333440" imgH="355320" progId="Equation.3">
                  <p:embed/>
                  <p:pic>
                    <p:nvPicPr>
                      <p:cNvPr id="272444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62400"/>
                        <a:ext cx="2774950" cy="736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45" name="Text Box 61"/>
          <p:cNvSpPr txBox="1">
            <a:spLocks noChangeArrowheads="1"/>
          </p:cNvSpPr>
          <p:nvPr/>
        </p:nvSpPr>
        <p:spPr bwMode="auto">
          <a:xfrm>
            <a:off x="522288" y="5184775"/>
            <a:ext cx="154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&lt;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 t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&lt; 2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72446" name="Text Box 62"/>
          <p:cNvSpPr txBox="1">
            <a:spLocks noChangeArrowheads="1"/>
          </p:cNvSpPr>
          <p:nvPr/>
        </p:nvSpPr>
        <p:spPr bwMode="auto">
          <a:xfrm>
            <a:off x="2495730" y="5057131"/>
            <a:ext cx="18998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)=100V</a:t>
            </a:r>
          </a:p>
        </p:txBody>
      </p:sp>
      <p:sp>
        <p:nvSpPr>
          <p:cNvPr id="272447" name="Text Box 63"/>
          <p:cNvSpPr txBox="1">
            <a:spLocks noChangeArrowheads="1"/>
          </p:cNvSpPr>
          <p:nvPr/>
        </p:nvSpPr>
        <p:spPr bwMode="auto">
          <a:xfrm>
            <a:off x="4432300" y="5032375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)=0</a:t>
            </a:r>
          </a:p>
        </p:txBody>
      </p:sp>
      <p:sp>
        <p:nvSpPr>
          <p:cNvPr id="272448" name="Text Box 64"/>
          <p:cNvSpPr txBox="1">
            <a:spLocks noChangeArrowheads="1"/>
          </p:cNvSpPr>
          <p:nvPr/>
        </p:nvSpPr>
        <p:spPr bwMode="auto">
          <a:xfrm>
            <a:off x="5859463" y="5003800"/>
            <a:ext cx="1125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  = RC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272449" name="Object 65"/>
          <p:cNvGraphicFramePr>
            <a:graphicFrameLocks noChangeAspect="1"/>
          </p:cNvGraphicFramePr>
          <p:nvPr/>
        </p:nvGraphicFramePr>
        <p:xfrm>
          <a:off x="417513" y="5626100"/>
          <a:ext cx="21907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9" name="Equation" r:id="rId6" imgW="1054080" imgH="355320" progId="Equation.3">
                  <p:embed/>
                </p:oleObj>
              </mc:Choice>
              <mc:Fallback>
                <p:oleObj name="Equation" r:id="rId6" imgW="1054080" imgH="355320" progId="Equation.3">
                  <p:embed/>
                  <p:pic>
                    <p:nvPicPr>
                      <p:cNvPr id="27244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5626100"/>
                        <a:ext cx="2190750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50" name="Oval 66"/>
          <p:cNvSpPr>
            <a:spLocks noChangeArrowheads="1"/>
          </p:cNvSpPr>
          <p:nvPr/>
        </p:nvSpPr>
        <p:spPr bwMode="auto">
          <a:xfrm>
            <a:off x="1784350" y="5664200"/>
            <a:ext cx="501650" cy="239713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2452" name="Text Box 68"/>
          <p:cNvSpPr txBox="1">
            <a:spLocks noChangeArrowheads="1"/>
          </p:cNvSpPr>
          <p:nvPr/>
        </p:nvSpPr>
        <p:spPr bwMode="auto">
          <a:xfrm>
            <a:off x="206375" y="2663825"/>
            <a:ext cx="2160588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）  </a:t>
            </a:r>
            <a:r>
              <a:rPr kumimoji="1" lang="zh-CN" altLang="en-US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&gt;&gt; </a:t>
            </a: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</a:p>
        </p:txBody>
      </p:sp>
      <p:sp>
        <p:nvSpPr>
          <p:cNvPr id="72" name="Rectangle 2"/>
          <p:cNvSpPr txBox="1">
            <a:spLocks noChangeArrowheads="1"/>
          </p:cNvSpPr>
          <p:nvPr/>
        </p:nvSpPr>
        <p:spPr>
          <a:xfrm>
            <a:off x="179388" y="188913"/>
            <a:ext cx="8515350" cy="4699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8.3.3 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电路的方波响应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53699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7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7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2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2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2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72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2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8" dur="1000" fill="hold"/>
                                        <p:tgtEl>
                                          <p:spTgt spid="2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7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7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19" grpId="0" build="p" autoUpdateAnimBg="0"/>
      <p:bldP spid="272420" grpId="0" build="p" autoUpdateAnimBg="0"/>
      <p:bldP spid="272421" grpId="0" build="p" autoUpdateAnimBg="0"/>
      <p:bldP spid="272433" grpId="0"/>
      <p:bldP spid="272434" grpId="0"/>
      <p:bldP spid="272435" grpId="0"/>
      <p:bldP spid="272442" grpId="0"/>
      <p:bldP spid="272443" grpId="0" build="p" autoUpdateAnimBg="0"/>
      <p:bldP spid="272445" grpId="0" build="p" autoUpdateAnimBg="0"/>
      <p:bldP spid="272446" grpId="0" build="p" autoUpdateAnimBg="0"/>
      <p:bldP spid="272447" grpId="0" build="p" autoUpdateAnimBg="0"/>
      <p:bldP spid="272448" grpId="0" build="p" autoUpdateAnimBg="0"/>
      <p:bldP spid="27245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342596" y="2727440"/>
            <a:ext cx="173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 dirty="0" smtClean="0">
                <a:latin typeface="Times New Roman" panose="02020603050405020304" pitchFamily="18" charset="0"/>
              </a:rPr>
              <a:t>暂态过程：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74448" name="Group 16"/>
          <p:cNvGrpSpPr>
            <a:grpSpLocks/>
          </p:cNvGrpSpPr>
          <p:nvPr/>
        </p:nvGrpSpPr>
        <p:grpSpPr bwMode="auto">
          <a:xfrm>
            <a:off x="1062038" y="593725"/>
            <a:ext cx="3135312" cy="1793875"/>
            <a:chOff x="810" y="374"/>
            <a:chExt cx="1975" cy="1130"/>
          </a:xfrm>
        </p:grpSpPr>
        <p:sp>
          <p:nvSpPr>
            <p:cNvPr id="274449" name="Oval 17"/>
            <p:cNvSpPr>
              <a:spLocks noChangeArrowheads="1"/>
            </p:cNvSpPr>
            <p:nvPr/>
          </p:nvSpPr>
          <p:spPr bwMode="auto">
            <a:xfrm>
              <a:off x="1078" y="729"/>
              <a:ext cx="266" cy="236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0" name="Rectangle 18"/>
            <p:cNvSpPr>
              <a:spLocks noChangeArrowheads="1"/>
            </p:cNvSpPr>
            <p:nvPr/>
          </p:nvSpPr>
          <p:spPr bwMode="auto">
            <a:xfrm>
              <a:off x="2408" y="768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1" name="Line 19"/>
            <p:cNvSpPr>
              <a:spLocks noChangeShapeType="1"/>
            </p:cNvSpPr>
            <p:nvPr/>
          </p:nvSpPr>
          <p:spPr bwMode="auto">
            <a:xfrm>
              <a:off x="1211" y="492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2" name="Line 20"/>
            <p:cNvSpPr>
              <a:spLocks noChangeShapeType="1"/>
            </p:cNvSpPr>
            <p:nvPr/>
          </p:nvSpPr>
          <p:spPr bwMode="auto">
            <a:xfrm>
              <a:off x="1211" y="492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3" name="Line 21"/>
            <p:cNvSpPr>
              <a:spLocks noChangeShapeType="1"/>
            </p:cNvSpPr>
            <p:nvPr/>
          </p:nvSpPr>
          <p:spPr bwMode="auto">
            <a:xfrm>
              <a:off x="1787" y="492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4" name="Line 22"/>
            <p:cNvSpPr>
              <a:spLocks noChangeShapeType="1"/>
            </p:cNvSpPr>
            <p:nvPr/>
          </p:nvSpPr>
          <p:spPr bwMode="auto">
            <a:xfrm>
              <a:off x="2452" y="492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5" name="Line 23"/>
            <p:cNvSpPr>
              <a:spLocks noChangeShapeType="1"/>
            </p:cNvSpPr>
            <p:nvPr/>
          </p:nvSpPr>
          <p:spPr bwMode="auto">
            <a:xfrm>
              <a:off x="1211" y="1241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6" name="Text Box 24"/>
            <p:cNvSpPr txBox="1">
              <a:spLocks noChangeArrowheads="1"/>
            </p:cNvSpPr>
            <p:nvPr/>
          </p:nvSpPr>
          <p:spPr bwMode="auto">
            <a:xfrm>
              <a:off x="810" y="686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57" name="Text Box 25"/>
            <p:cNvSpPr txBox="1">
              <a:spLocks noChangeArrowheads="1"/>
            </p:cNvSpPr>
            <p:nvPr/>
          </p:nvSpPr>
          <p:spPr bwMode="auto">
            <a:xfrm>
              <a:off x="981" y="458"/>
              <a:ext cx="225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58" name="Text Box 26"/>
            <p:cNvSpPr txBox="1">
              <a:spLocks noChangeArrowheads="1"/>
            </p:cNvSpPr>
            <p:nvPr/>
          </p:nvSpPr>
          <p:spPr bwMode="auto">
            <a:xfrm>
              <a:off x="1428" y="1216"/>
              <a:ext cx="7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3200" b="1" baseline="30000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274459" name="Line 27"/>
            <p:cNvSpPr>
              <a:spLocks noChangeShapeType="1"/>
            </p:cNvSpPr>
            <p:nvPr/>
          </p:nvSpPr>
          <p:spPr bwMode="auto">
            <a:xfrm>
              <a:off x="1787" y="37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0" name="Line 28"/>
            <p:cNvSpPr>
              <a:spLocks noChangeShapeType="1"/>
            </p:cNvSpPr>
            <p:nvPr/>
          </p:nvSpPr>
          <p:spPr bwMode="auto">
            <a:xfrm>
              <a:off x="1699" y="37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1" name="Line 29"/>
            <p:cNvSpPr>
              <a:spLocks noChangeShapeType="1"/>
            </p:cNvSpPr>
            <p:nvPr/>
          </p:nvSpPr>
          <p:spPr bwMode="auto">
            <a:xfrm>
              <a:off x="2452" y="965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2" name="Text Box 30"/>
            <p:cNvSpPr txBox="1">
              <a:spLocks noChangeArrowheads="1"/>
            </p:cNvSpPr>
            <p:nvPr/>
          </p:nvSpPr>
          <p:spPr bwMode="auto">
            <a:xfrm>
              <a:off x="2154" y="74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63" name="Text Box 31"/>
            <p:cNvSpPr txBox="1">
              <a:spLocks noChangeArrowheads="1"/>
            </p:cNvSpPr>
            <p:nvPr/>
          </p:nvSpPr>
          <p:spPr bwMode="auto">
            <a:xfrm>
              <a:off x="1481" y="421"/>
              <a:ext cx="5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64" name="Text Box 32"/>
            <p:cNvSpPr txBox="1">
              <a:spLocks noChangeArrowheads="1"/>
            </p:cNvSpPr>
            <p:nvPr/>
          </p:nvSpPr>
          <p:spPr bwMode="auto">
            <a:xfrm>
              <a:off x="2476" y="501"/>
              <a:ext cx="309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74484" name="Rectangle 52"/>
          <p:cNvSpPr>
            <a:spLocks noChangeArrowheads="1"/>
          </p:cNvSpPr>
          <p:nvPr/>
        </p:nvSpPr>
        <p:spPr bwMode="auto">
          <a:xfrm>
            <a:off x="88900" y="92075"/>
            <a:ext cx="2592388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与</a:t>
            </a:r>
            <a:r>
              <a:rPr kumimoji="1" lang="zh-CN" altLang="en-US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接近</a:t>
            </a:r>
            <a:endParaRPr kumimoji="1"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74507" name="Group 75"/>
          <p:cNvGrpSpPr>
            <a:grpSpLocks/>
          </p:cNvGrpSpPr>
          <p:nvPr/>
        </p:nvGrpSpPr>
        <p:grpSpPr bwMode="auto">
          <a:xfrm>
            <a:off x="4572000" y="188913"/>
            <a:ext cx="4138613" cy="2087562"/>
            <a:chOff x="2965" y="442"/>
            <a:chExt cx="2607" cy="1315"/>
          </a:xfrm>
        </p:grpSpPr>
        <p:sp>
          <p:nvSpPr>
            <p:cNvPr id="274508" name="Text Box 76"/>
            <p:cNvSpPr txBox="1">
              <a:spLocks noChangeArrowheads="1"/>
            </p:cNvSpPr>
            <p:nvPr/>
          </p:nvSpPr>
          <p:spPr bwMode="auto">
            <a:xfrm>
              <a:off x="3512" y="442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74509" name="Line 77"/>
            <p:cNvSpPr>
              <a:spLocks noChangeShapeType="1"/>
            </p:cNvSpPr>
            <p:nvPr/>
          </p:nvSpPr>
          <p:spPr bwMode="auto">
            <a:xfrm>
              <a:off x="3435" y="1469"/>
              <a:ext cx="1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0" name="Line 78"/>
            <p:cNvSpPr>
              <a:spLocks noChangeShapeType="1"/>
            </p:cNvSpPr>
            <p:nvPr/>
          </p:nvSpPr>
          <p:spPr bwMode="auto">
            <a:xfrm flipV="1">
              <a:off x="3531" y="603"/>
              <a:ext cx="0" cy="1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1" name="Text Box 79"/>
            <p:cNvSpPr txBox="1">
              <a:spLocks noChangeArrowheads="1"/>
            </p:cNvSpPr>
            <p:nvPr/>
          </p:nvSpPr>
          <p:spPr bwMode="auto">
            <a:xfrm>
              <a:off x="5403" y="1421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2" name="Line 80"/>
            <p:cNvSpPr>
              <a:spLocks noChangeShapeType="1"/>
            </p:cNvSpPr>
            <p:nvPr/>
          </p:nvSpPr>
          <p:spPr bwMode="auto">
            <a:xfrm>
              <a:off x="3531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3" name="Line 81"/>
            <p:cNvSpPr>
              <a:spLocks noChangeShapeType="1"/>
            </p:cNvSpPr>
            <p:nvPr/>
          </p:nvSpPr>
          <p:spPr bwMode="auto">
            <a:xfrm>
              <a:off x="3963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4" name="Line 82"/>
            <p:cNvSpPr>
              <a:spLocks noChangeShapeType="1"/>
            </p:cNvSpPr>
            <p:nvPr/>
          </p:nvSpPr>
          <p:spPr bwMode="auto">
            <a:xfrm>
              <a:off x="4395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5" name="Line 83"/>
            <p:cNvSpPr>
              <a:spLocks noChangeShapeType="1"/>
            </p:cNvSpPr>
            <p:nvPr/>
          </p:nvSpPr>
          <p:spPr bwMode="auto">
            <a:xfrm>
              <a:off x="4395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6" name="Line 84"/>
            <p:cNvSpPr>
              <a:spLocks noChangeShapeType="1"/>
            </p:cNvSpPr>
            <p:nvPr/>
          </p:nvSpPr>
          <p:spPr bwMode="auto">
            <a:xfrm>
              <a:off x="4827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7" name="Text Box 85"/>
            <p:cNvSpPr txBox="1">
              <a:spLocks noChangeArrowheads="1"/>
            </p:cNvSpPr>
            <p:nvPr/>
          </p:nvSpPr>
          <p:spPr bwMode="auto">
            <a:xfrm>
              <a:off x="3799" y="14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8" name="Text Box 86"/>
            <p:cNvSpPr txBox="1">
              <a:spLocks noChangeArrowheads="1"/>
            </p:cNvSpPr>
            <p:nvPr/>
          </p:nvSpPr>
          <p:spPr bwMode="auto">
            <a:xfrm>
              <a:off x="4203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9" name="Text Box 87"/>
            <p:cNvSpPr txBox="1">
              <a:spLocks noChangeArrowheads="1"/>
            </p:cNvSpPr>
            <p:nvPr/>
          </p:nvSpPr>
          <p:spPr bwMode="auto">
            <a:xfrm>
              <a:off x="4635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20" name="Text Box 88"/>
            <p:cNvSpPr txBox="1">
              <a:spLocks noChangeArrowheads="1"/>
            </p:cNvSpPr>
            <p:nvPr/>
          </p:nvSpPr>
          <p:spPr bwMode="auto">
            <a:xfrm>
              <a:off x="2965" y="767"/>
              <a:ext cx="5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100V</a:t>
              </a:r>
            </a:p>
          </p:txBody>
        </p:sp>
        <p:sp>
          <p:nvSpPr>
            <p:cNvPr id="274521" name="Text Box 89"/>
            <p:cNvSpPr txBox="1">
              <a:spLocks noChangeArrowheads="1"/>
            </p:cNvSpPr>
            <p:nvPr/>
          </p:nvSpPr>
          <p:spPr bwMode="auto">
            <a:xfrm>
              <a:off x="3300" y="14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92" name="Freeform 38"/>
          <p:cNvSpPr>
            <a:spLocks/>
          </p:cNvSpPr>
          <p:nvPr/>
        </p:nvSpPr>
        <p:spPr bwMode="auto">
          <a:xfrm>
            <a:off x="3025776" y="4412697"/>
            <a:ext cx="674687" cy="457199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Freeform 39"/>
          <p:cNvSpPr>
            <a:spLocks/>
          </p:cNvSpPr>
          <p:nvPr/>
        </p:nvSpPr>
        <p:spPr bwMode="auto">
          <a:xfrm>
            <a:off x="4397376" y="4306333"/>
            <a:ext cx="674686" cy="487363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Freeform 40"/>
          <p:cNvSpPr>
            <a:spLocks/>
          </p:cNvSpPr>
          <p:nvPr/>
        </p:nvSpPr>
        <p:spPr bwMode="auto">
          <a:xfrm flipV="1">
            <a:off x="3711576" y="4412697"/>
            <a:ext cx="698500" cy="381000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Freeform 41"/>
          <p:cNvSpPr>
            <a:spLocks/>
          </p:cNvSpPr>
          <p:nvPr/>
        </p:nvSpPr>
        <p:spPr bwMode="auto">
          <a:xfrm flipV="1">
            <a:off x="5083176" y="4306333"/>
            <a:ext cx="609600" cy="382590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Line 44"/>
          <p:cNvSpPr>
            <a:spLocks noChangeShapeType="1"/>
          </p:cNvSpPr>
          <p:nvPr/>
        </p:nvSpPr>
        <p:spPr bwMode="auto">
          <a:xfrm>
            <a:off x="3025776" y="4031697"/>
            <a:ext cx="685800" cy="1587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Line 45"/>
          <p:cNvSpPr>
            <a:spLocks noChangeShapeType="1"/>
          </p:cNvSpPr>
          <p:nvPr/>
        </p:nvSpPr>
        <p:spPr bwMode="auto">
          <a:xfrm>
            <a:off x="3711576" y="4031697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Line 46"/>
          <p:cNvSpPr>
            <a:spLocks noChangeShapeType="1"/>
          </p:cNvSpPr>
          <p:nvPr/>
        </p:nvSpPr>
        <p:spPr bwMode="auto">
          <a:xfrm>
            <a:off x="4397376" y="4031697"/>
            <a:ext cx="685800" cy="1587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Line 47"/>
          <p:cNvSpPr>
            <a:spLocks noChangeShapeType="1"/>
          </p:cNvSpPr>
          <p:nvPr/>
        </p:nvSpPr>
        <p:spPr bwMode="auto">
          <a:xfrm>
            <a:off x="4410076" y="4036459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Line 48"/>
          <p:cNvSpPr>
            <a:spLocks noChangeShapeType="1"/>
          </p:cNvSpPr>
          <p:nvPr/>
        </p:nvSpPr>
        <p:spPr bwMode="auto">
          <a:xfrm>
            <a:off x="5083176" y="4031697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Text Box 49"/>
          <p:cNvSpPr txBox="1">
            <a:spLocks noChangeArrowheads="1"/>
          </p:cNvSpPr>
          <p:nvPr/>
        </p:nvSpPr>
        <p:spPr bwMode="auto">
          <a:xfrm>
            <a:off x="3451226" y="4869897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05" name="Text Box 50"/>
          <p:cNvSpPr txBox="1">
            <a:spLocks noChangeArrowheads="1"/>
          </p:cNvSpPr>
          <p:nvPr/>
        </p:nvSpPr>
        <p:spPr bwMode="auto">
          <a:xfrm>
            <a:off x="4092576" y="4869897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06" name="Text Box 51"/>
          <p:cNvSpPr txBox="1">
            <a:spLocks noChangeArrowheads="1"/>
          </p:cNvSpPr>
          <p:nvPr/>
        </p:nvSpPr>
        <p:spPr bwMode="auto">
          <a:xfrm>
            <a:off x="4778376" y="4869897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T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07" name="Group 52"/>
          <p:cNvGrpSpPr>
            <a:grpSpLocks/>
          </p:cNvGrpSpPr>
          <p:nvPr/>
        </p:nvGrpSpPr>
        <p:grpSpPr bwMode="auto">
          <a:xfrm>
            <a:off x="2679701" y="3410984"/>
            <a:ext cx="4648199" cy="1941513"/>
            <a:chOff x="3349" y="1794"/>
            <a:chExt cx="2928" cy="1223"/>
          </a:xfrm>
        </p:grpSpPr>
        <p:sp>
          <p:nvSpPr>
            <p:cNvPr id="108" name="Line 53"/>
            <p:cNvSpPr>
              <a:spLocks noChangeShapeType="1"/>
            </p:cNvSpPr>
            <p:nvPr/>
          </p:nvSpPr>
          <p:spPr bwMode="auto">
            <a:xfrm>
              <a:off x="3471" y="2713"/>
              <a:ext cx="2658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54"/>
            <p:cNvSpPr>
              <a:spLocks noChangeShapeType="1"/>
            </p:cNvSpPr>
            <p:nvPr/>
          </p:nvSpPr>
          <p:spPr bwMode="auto">
            <a:xfrm flipV="1">
              <a:off x="3567" y="1993"/>
              <a:ext cx="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Text Box 55"/>
            <p:cNvSpPr txBox="1">
              <a:spLocks noChangeArrowheads="1"/>
            </p:cNvSpPr>
            <p:nvPr/>
          </p:nvSpPr>
          <p:spPr bwMode="auto">
            <a:xfrm>
              <a:off x="6108" y="2665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t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1" name="Text Box 56"/>
            <p:cNvSpPr txBox="1">
              <a:spLocks noChangeArrowheads="1"/>
            </p:cNvSpPr>
            <p:nvPr/>
          </p:nvSpPr>
          <p:spPr bwMode="auto">
            <a:xfrm>
              <a:off x="3623" y="179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12" name="Text Box 57"/>
            <p:cNvSpPr txBox="1">
              <a:spLocks noChangeArrowheads="1"/>
            </p:cNvSpPr>
            <p:nvPr/>
          </p:nvSpPr>
          <p:spPr bwMode="auto">
            <a:xfrm>
              <a:off x="3349" y="27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13" name="Text Box 58"/>
          <p:cNvSpPr txBox="1">
            <a:spLocks noChangeArrowheads="1"/>
          </p:cNvSpPr>
          <p:nvPr/>
        </p:nvSpPr>
        <p:spPr bwMode="auto">
          <a:xfrm>
            <a:off x="2070101" y="3849134"/>
            <a:ext cx="91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100V</a:t>
            </a:r>
          </a:p>
        </p:txBody>
      </p:sp>
      <p:sp>
        <p:nvSpPr>
          <p:cNvPr id="114" name="Line 46"/>
          <p:cNvSpPr>
            <a:spLocks noChangeShapeType="1"/>
          </p:cNvSpPr>
          <p:nvPr/>
        </p:nvSpPr>
        <p:spPr bwMode="auto">
          <a:xfrm>
            <a:off x="5675830" y="4005064"/>
            <a:ext cx="685800" cy="1587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Line 47"/>
          <p:cNvSpPr>
            <a:spLocks noChangeShapeType="1"/>
          </p:cNvSpPr>
          <p:nvPr/>
        </p:nvSpPr>
        <p:spPr bwMode="auto">
          <a:xfrm>
            <a:off x="5688530" y="4009826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Line 48"/>
          <p:cNvSpPr>
            <a:spLocks noChangeShapeType="1"/>
          </p:cNvSpPr>
          <p:nvPr/>
        </p:nvSpPr>
        <p:spPr bwMode="auto">
          <a:xfrm>
            <a:off x="6361630" y="4005064"/>
            <a:ext cx="0" cy="8382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Freeform 39"/>
          <p:cNvSpPr>
            <a:spLocks/>
          </p:cNvSpPr>
          <p:nvPr/>
        </p:nvSpPr>
        <p:spPr bwMode="auto">
          <a:xfrm>
            <a:off x="5699795" y="4194592"/>
            <a:ext cx="674686" cy="487363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Freeform 41"/>
          <p:cNvSpPr>
            <a:spLocks/>
          </p:cNvSpPr>
          <p:nvPr/>
        </p:nvSpPr>
        <p:spPr bwMode="auto">
          <a:xfrm flipV="1">
            <a:off x="6385595" y="4194592"/>
            <a:ext cx="609600" cy="382590"/>
          </a:xfrm>
          <a:custGeom>
            <a:avLst/>
            <a:gdLst>
              <a:gd name="T0" fmla="*/ 0 w 384"/>
              <a:gd name="T1" fmla="*/ 532 h 532"/>
              <a:gd name="T2" fmla="*/ 48 w 384"/>
              <a:gd name="T3" fmla="*/ 272 h 532"/>
              <a:gd name="T4" fmla="*/ 144 w 384"/>
              <a:gd name="T5" fmla="*/ 90 h 532"/>
              <a:gd name="T6" fmla="*/ 288 w 384"/>
              <a:gd name="T7" fmla="*/ 13 h 532"/>
              <a:gd name="T8" fmla="*/ 384 w 384"/>
              <a:gd name="T9" fmla="*/ 13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532">
                <a:moveTo>
                  <a:pt x="0" y="532"/>
                </a:moveTo>
                <a:cubicBezTo>
                  <a:pt x="12" y="441"/>
                  <a:pt x="24" y="346"/>
                  <a:pt x="48" y="272"/>
                </a:cubicBezTo>
                <a:cubicBezTo>
                  <a:pt x="72" y="198"/>
                  <a:pt x="104" y="133"/>
                  <a:pt x="144" y="90"/>
                </a:cubicBezTo>
                <a:cubicBezTo>
                  <a:pt x="184" y="47"/>
                  <a:pt x="248" y="26"/>
                  <a:pt x="288" y="13"/>
                </a:cubicBezTo>
                <a:cubicBezTo>
                  <a:pt x="328" y="0"/>
                  <a:pt x="368" y="13"/>
                  <a:pt x="384" y="13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Text Box 51"/>
          <p:cNvSpPr txBox="1">
            <a:spLocks noChangeArrowheads="1"/>
          </p:cNvSpPr>
          <p:nvPr/>
        </p:nvSpPr>
        <p:spPr bwMode="auto">
          <a:xfrm>
            <a:off x="5412581" y="4872872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i="1" dirty="0" smtClean="0">
                <a:latin typeface="Times New Roman" panose="02020603050405020304" pitchFamily="18" charset="0"/>
              </a:rPr>
              <a:t>T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0" name="Text Box 51"/>
          <p:cNvSpPr txBox="1">
            <a:spLocks noChangeArrowheads="1"/>
          </p:cNvSpPr>
          <p:nvPr/>
        </p:nvSpPr>
        <p:spPr bwMode="auto">
          <a:xfrm>
            <a:off x="6100486" y="4869896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dirty="0" smtClean="0">
                <a:latin typeface="Times New Roman" panose="02020603050405020304" pitchFamily="18" charset="0"/>
              </a:rPr>
              <a:t>5</a:t>
            </a:r>
            <a:r>
              <a:rPr kumimoji="1" lang="en-US" altLang="zh-CN" sz="2400" b="1" i="1" dirty="0" smtClean="0">
                <a:latin typeface="Times New Roman" panose="02020603050405020304" pitchFamily="18" charset="0"/>
              </a:rPr>
              <a:t>T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0619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104" grpId="0"/>
      <p:bldP spid="105" grpId="0"/>
      <p:bldP spid="106" grpId="0"/>
      <p:bldP spid="113" grpId="0"/>
      <p:bldP spid="119" grpId="0"/>
      <p:bldP spid="1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ChangeArrowheads="1"/>
          </p:cNvSpPr>
          <p:nvPr/>
        </p:nvSpPr>
        <p:spPr bwMode="auto">
          <a:xfrm>
            <a:off x="4349750" y="2420938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 &lt;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 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4435" name="Object 3"/>
          <p:cNvGraphicFramePr>
            <a:graphicFrameLocks noChangeAspect="1"/>
          </p:cNvGraphicFramePr>
          <p:nvPr/>
        </p:nvGraphicFramePr>
        <p:xfrm>
          <a:off x="4365625" y="5035550"/>
          <a:ext cx="43275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6" name="公式" r:id="rId4" imgW="1841400" imgH="355320" progId="Equation.3">
                  <p:embed/>
                </p:oleObj>
              </mc:Choice>
              <mc:Fallback>
                <p:oleObj name="公式" r:id="rId4" imgW="1841400" imgH="355320" progId="Equation.3">
                  <p:embed/>
                  <p:pic>
                    <p:nvPicPr>
                      <p:cNvPr id="274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5035550"/>
                        <a:ext cx="43275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328613" y="192563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稳态解：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885825" y="32972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4438" name="Text Box 6"/>
          <p:cNvSpPr txBox="1">
            <a:spLocks noChangeArrowheads="1"/>
          </p:cNvSpPr>
          <p:nvPr/>
        </p:nvSpPr>
        <p:spPr bwMode="auto">
          <a:xfrm>
            <a:off x="1571625" y="26876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4439" name="Text Box 7"/>
          <p:cNvSpPr txBox="1">
            <a:spLocks noChangeArrowheads="1"/>
          </p:cNvSpPr>
          <p:nvPr/>
        </p:nvSpPr>
        <p:spPr bwMode="auto">
          <a:xfrm>
            <a:off x="2257425" y="32210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4440" name="Text Box 8"/>
          <p:cNvSpPr txBox="1">
            <a:spLocks noChangeArrowheads="1"/>
          </p:cNvSpPr>
          <p:nvPr/>
        </p:nvSpPr>
        <p:spPr bwMode="auto">
          <a:xfrm>
            <a:off x="3019425" y="26876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4441" name="Freeform 9"/>
          <p:cNvSpPr>
            <a:spLocks/>
          </p:cNvSpPr>
          <p:nvPr/>
        </p:nvSpPr>
        <p:spPr bwMode="auto">
          <a:xfrm>
            <a:off x="804863" y="2916238"/>
            <a:ext cx="714375" cy="465137"/>
          </a:xfrm>
          <a:custGeom>
            <a:avLst/>
            <a:gdLst>
              <a:gd name="T0" fmla="*/ 0 w 450"/>
              <a:gd name="T1" fmla="*/ 293 h 293"/>
              <a:gd name="T2" fmla="*/ 87 w 450"/>
              <a:gd name="T3" fmla="*/ 192 h 293"/>
              <a:gd name="T4" fmla="*/ 173 w 450"/>
              <a:gd name="T5" fmla="*/ 106 h 293"/>
              <a:gd name="T6" fmla="*/ 250 w 450"/>
              <a:gd name="T7" fmla="*/ 43 h 293"/>
              <a:gd name="T8" fmla="*/ 332 w 450"/>
              <a:gd name="T9" fmla="*/ 14 h 293"/>
              <a:gd name="T10" fmla="*/ 432 w 450"/>
              <a:gd name="T11" fmla="*/ 10 h 293"/>
              <a:gd name="T12" fmla="*/ 442 w 450"/>
              <a:gd name="T13" fmla="*/ 0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0" h="293">
                <a:moveTo>
                  <a:pt x="0" y="293"/>
                </a:moveTo>
                <a:cubicBezTo>
                  <a:pt x="15" y="275"/>
                  <a:pt x="58" y="223"/>
                  <a:pt x="87" y="192"/>
                </a:cubicBezTo>
                <a:cubicBezTo>
                  <a:pt x="116" y="161"/>
                  <a:pt x="146" y="131"/>
                  <a:pt x="173" y="106"/>
                </a:cubicBezTo>
                <a:cubicBezTo>
                  <a:pt x="200" y="81"/>
                  <a:pt x="224" y="58"/>
                  <a:pt x="250" y="43"/>
                </a:cubicBezTo>
                <a:cubicBezTo>
                  <a:pt x="276" y="28"/>
                  <a:pt x="302" y="19"/>
                  <a:pt x="332" y="14"/>
                </a:cubicBezTo>
                <a:cubicBezTo>
                  <a:pt x="362" y="9"/>
                  <a:pt x="414" y="12"/>
                  <a:pt x="432" y="10"/>
                </a:cubicBezTo>
                <a:cubicBezTo>
                  <a:pt x="450" y="8"/>
                  <a:pt x="440" y="2"/>
                  <a:pt x="442" y="0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2" name="Freeform 10"/>
          <p:cNvSpPr>
            <a:spLocks/>
          </p:cNvSpPr>
          <p:nvPr/>
        </p:nvSpPr>
        <p:spPr bwMode="auto">
          <a:xfrm>
            <a:off x="1498600" y="2916238"/>
            <a:ext cx="693738" cy="457200"/>
          </a:xfrm>
          <a:custGeom>
            <a:avLst/>
            <a:gdLst>
              <a:gd name="T0" fmla="*/ 0 w 437"/>
              <a:gd name="T1" fmla="*/ 0 h 288"/>
              <a:gd name="T2" fmla="*/ 38 w 437"/>
              <a:gd name="T3" fmla="*/ 48 h 288"/>
              <a:gd name="T4" fmla="*/ 182 w 437"/>
              <a:gd name="T5" fmla="*/ 168 h 288"/>
              <a:gd name="T6" fmla="*/ 437 w 437"/>
              <a:gd name="T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7" h="288">
                <a:moveTo>
                  <a:pt x="0" y="0"/>
                </a:moveTo>
                <a:cubicBezTo>
                  <a:pt x="6" y="8"/>
                  <a:pt x="8" y="20"/>
                  <a:pt x="38" y="48"/>
                </a:cubicBezTo>
                <a:cubicBezTo>
                  <a:pt x="68" y="76"/>
                  <a:pt x="116" y="128"/>
                  <a:pt x="182" y="168"/>
                </a:cubicBezTo>
                <a:cubicBezTo>
                  <a:pt x="248" y="208"/>
                  <a:pt x="384" y="263"/>
                  <a:pt x="437" y="28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3" name="Freeform 11"/>
          <p:cNvSpPr>
            <a:spLocks/>
          </p:cNvSpPr>
          <p:nvPr/>
        </p:nvSpPr>
        <p:spPr bwMode="auto">
          <a:xfrm>
            <a:off x="2184400" y="2916238"/>
            <a:ext cx="714375" cy="434975"/>
          </a:xfrm>
          <a:custGeom>
            <a:avLst/>
            <a:gdLst>
              <a:gd name="T0" fmla="*/ 0 w 450"/>
              <a:gd name="T1" fmla="*/ 274 h 274"/>
              <a:gd name="T2" fmla="*/ 87 w 450"/>
              <a:gd name="T3" fmla="*/ 192 h 274"/>
              <a:gd name="T4" fmla="*/ 173 w 450"/>
              <a:gd name="T5" fmla="*/ 106 h 274"/>
              <a:gd name="T6" fmla="*/ 250 w 450"/>
              <a:gd name="T7" fmla="*/ 43 h 274"/>
              <a:gd name="T8" fmla="*/ 332 w 450"/>
              <a:gd name="T9" fmla="*/ 14 h 274"/>
              <a:gd name="T10" fmla="*/ 432 w 450"/>
              <a:gd name="T11" fmla="*/ 10 h 274"/>
              <a:gd name="T12" fmla="*/ 442 w 450"/>
              <a:gd name="T13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0" h="274">
                <a:moveTo>
                  <a:pt x="0" y="274"/>
                </a:moveTo>
                <a:cubicBezTo>
                  <a:pt x="14" y="261"/>
                  <a:pt x="58" y="220"/>
                  <a:pt x="87" y="192"/>
                </a:cubicBezTo>
                <a:cubicBezTo>
                  <a:pt x="116" y="164"/>
                  <a:pt x="146" y="131"/>
                  <a:pt x="173" y="106"/>
                </a:cubicBezTo>
                <a:cubicBezTo>
                  <a:pt x="200" y="81"/>
                  <a:pt x="224" y="58"/>
                  <a:pt x="250" y="43"/>
                </a:cubicBezTo>
                <a:cubicBezTo>
                  <a:pt x="276" y="28"/>
                  <a:pt x="302" y="19"/>
                  <a:pt x="332" y="14"/>
                </a:cubicBezTo>
                <a:cubicBezTo>
                  <a:pt x="362" y="9"/>
                  <a:pt x="414" y="12"/>
                  <a:pt x="432" y="10"/>
                </a:cubicBezTo>
                <a:cubicBezTo>
                  <a:pt x="450" y="8"/>
                  <a:pt x="440" y="2"/>
                  <a:pt x="442" y="0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4" name="Line 12"/>
          <p:cNvSpPr>
            <a:spLocks noChangeShapeType="1"/>
          </p:cNvSpPr>
          <p:nvPr/>
        </p:nvSpPr>
        <p:spPr bwMode="auto">
          <a:xfrm>
            <a:off x="812800" y="2916238"/>
            <a:ext cx="2514600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5" name="Line 13"/>
          <p:cNvSpPr>
            <a:spLocks noChangeShapeType="1"/>
          </p:cNvSpPr>
          <p:nvPr/>
        </p:nvSpPr>
        <p:spPr bwMode="auto">
          <a:xfrm>
            <a:off x="804863" y="3373438"/>
            <a:ext cx="2590800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6" name="Text Box 14"/>
          <p:cNvSpPr txBox="1">
            <a:spLocks noChangeArrowheads="1"/>
          </p:cNvSpPr>
          <p:nvPr/>
        </p:nvSpPr>
        <p:spPr bwMode="auto">
          <a:xfrm>
            <a:off x="3148013" y="2687638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4447" name="Text Box 15"/>
          <p:cNvSpPr txBox="1">
            <a:spLocks noChangeArrowheads="1"/>
          </p:cNvSpPr>
          <p:nvPr/>
        </p:nvSpPr>
        <p:spPr bwMode="auto">
          <a:xfrm>
            <a:off x="3171825" y="3144838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4448" name="Group 16"/>
          <p:cNvGrpSpPr>
            <a:grpSpLocks/>
          </p:cNvGrpSpPr>
          <p:nvPr/>
        </p:nvGrpSpPr>
        <p:grpSpPr bwMode="auto">
          <a:xfrm>
            <a:off x="1062038" y="593725"/>
            <a:ext cx="3135312" cy="1793875"/>
            <a:chOff x="810" y="374"/>
            <a:chExt cx="1975" cy="1130"/>
          </a:xfrm>
        </p:grpSpPr>
        <p:sp>
          <p:nvSpPr>
            <p:cNvPr id="274449" name="Oval 17"/>
            <p:cNvSpPr>
              <a:spLocks noChangeArrowheads="1"/>
            </p:cNvSpPr>
            <p:nvPr/>
          </p:nvSpPr>
          <p:spPr bwMode="auto">
            <a:xfrm>
              <a:off x="1078" y="729"/>
              <a:ext cx="266" cy="236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0" name="Rectangle 18"/>
            <p:cNvSpPr>
              <a:spLocks noChangeArrowheads="1"/>
            </p:cNvSpPr>
            <p:nvPr/>
          </p:nvSpPr>
          <p:spPr bwMode="auto">
            <a:xfrm>
              <a:off x="2408" y="768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1" name="Line 19"/>
            <p:cNvSpPr>
              <a:spLocks noChangeShapeType="1"/>
            </p:cNvSpPr>
            <p:nvPr/>
          </p:nvSpPr>
          <p:spPr bwMode="auto">
            <a:xfrm>
              <a:off x="1211" y="492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2" name="Line 20"/>
            <p:cNvSpPr>
              <a:spLocks noChangeShapeType="1"/>
            </p:cNvSpPr>
            <p:nvPr/>
          </p:nvSpPr>
          <p:spPr bwMode="auto">
            <a:xfrm>
              <a:off x="1211" y="492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3" name="Line 21"/>
            <p:cNvSpPr>
              <a:spLocks noChangeShapeType="1"/>
            </p:cNvSpPr>
            <p:nvPr/>
          </p:nvSpPr>
          <p:spPr bwMode="auto">
            <a:xfrm>
              <a:off x="1787" y="492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4" name="Line 22"/>
            <p:cNvSpPr>
              <a:spLocks noChangeShapeType="1"/>
            </p:cNvSpPr>
            <p:nvPr/>
          </p:nvSpPr>
          <p:spPr bwMode="auto">
            <a:xfrm>
              <a:off x="2452" y="492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5" name="Line 23"/>
            <p:cNvSpPr>
              <a:spLocks noChangeShapeType="1"/>
            </p:cNvSpPr>
            <p:nvPr/>
          </p:nvSpPr>
          <p:spPr bwMode="auto">
            <a:xfrm>
              <a:off x="1211" y="1241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56" name="Text Box 24"/>
            <p:cNvSpPr txBox="1">
              <a:spLocks noChangeArrowheads="1"/>
            </p:cNvSpPr>
            <p:nvPr/>
          </p:nvSpPr>
          <p:spPr bwMode="auto">
            <a:xfrm>
              <a:off x="810" y="686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57" name="Text Box 25"/>
            <p:cNvSpPr txBox="1">
              <a:spLocks noChangeArrowheads="1"/>
            </p:cNvSpPr>
            <p:nvPr/>
          </p:nvSpPr>
          <p:spPr bwMode="auto">
            <a:xfrm>
              <a:off x="981" y="458"/>
              <a:ext cx="225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58" name="Text Box 26"/>
            <p:cNvSpPr txBox="1">
              <a:spLocks noChangeArrowheads="1"/>
            </p:cNvSpPr>
            <p:nvPr/>
          </p:nvSpPr>
          <p:spPr bwMode="auto">
            <a:xfrm>
              <a:off x="1428" y="1216"/>
              <a:ext cx="7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3200" b="1" baseline="30000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274459" name="Line 27"/>
            <p:cNvSpPr>
              <a:spLocks noChangeShapeType="1"/>
            </p:cNvSpPr>
            <p:nvPr/>
          </p:nvSpPr>
          <p:spPr bwMode="auto">
            <a:xfrm>
              <a:off x="1787" y="37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0" name="Line 28"/>
            <p:cNvSpPr>
              <a:spLocks noChangeShapeType="1"/>
            </p:cNvSpPr>
            <p:nvPr/>
          </p:nvSpPr>
          <p:spPr bwMode="auto">
            <a:xfrm>
              <a:off x="1699" y="37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1" name="Line 29"/>
            <p:cNvSpPr>
              <a:spLocks noChangeShapeType="1"/>
            </p:cNvSpPr>
            <p:nvPr/>
          </p:nvSpPr>
          <p:spPr bwMode="auto">
            <a:xfrm>
              <a:off x="2452" y="965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62" name="Text Box 30"/>
            <p:cNvSpPr txBox="1">
              <a:spLocks noChangeArrowheads="1"/>
            </p:cNvSpPr>
            <p:nvPr/>
          </p:nvSpPr>
          <p:spPr bwMode="auto">
            <a:xfrm>
              <a:off x="2154" y="74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63" name="Text Box 31"/>
            <p:cNvSpPr txBox="1">
              <a:spLocks noChangeArrowheads="1"/>
            </p:cNvSpPr>
            <p:nvPr/>
          </p:nvSpPr>
          <p:spPr bwMode="auto">
            <a:xfrm>
              <a:off x="1481" y="421"/>
              <a:ext cx="5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64" name="Text Box 32"/>
            <p:cNvSpPr txBox="1">
              <a:spLocks noChangeArrowheads="1"/>
            </p:cNvSpPr>
            <p:nvPr/>
          </p:nvSpPr>
          <p:spPr bwMode="auto">
            <a:xfrm>
              <a:off x="2476" y="501"/>
              <a:ext cx="309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4465" name="Group 33"/>
          <p:cNvGrpSpPr>
            <a:grpSpLocks/>
          </p:cNvGrpSpPr>
          <p:nvPr/>
        </p:nvGrpSpPr>
        <p:grpSpPr bwMode="auto">
          <a:xfrm>
            <a:off x="0" y="2259013"/>
            <a:ext cx="4049713" cy="1800225"/>
            <a:chOff x="0" y="1423"/>
            <a:chExt cx="2551" cy="1134"/>
          </a:xfrm>
        </p:grpSpPr>
        <p:grpSp>
          <p:nvGrpSpPr>
            <p:cNvPr id="274466" name="Group 34"/>
            <p:cNvGrpSpPr>
              <a:grpSpLocks/>
            </p:cNvGrpSpPr>
            <p:nvPr/>
          </p:nvGrpSpPr>
          <p:grpSpPr bwMode="auto">
            <a:xfrm>
              <a:off x="0" y="1423"/>
              <a:ext cx="2551" cy="1114"/>
              <a:chOff x="0" y="1423"/>
              <a:chExt cx="2551" cy="1114"/>
            </a:xfrm>
          </p:grpSpPr>
          <p:grpSp>
            <p:nvGrpSpPr>
              <p:cNvPr id="274467" name="Group 35"/>
              <p:cNvGrpSpPr>
                <a:grpSpLocks/>
              </p:cNvGrpSpPr>
              <p:nvPr/>
            </p:nvGrpSpPr>
            <p:grpSpPr bwMode="auto">
              <a:xfrm>
                <a:off x="414" y="1423"/>
                <a:ext cx="2137" cy="1114"/>
                <a:chOff x="2544" y="326"/>
                <a:chExt cx="2137" cy="1114"/>
              </a:xfrm>
            </p:grpSpPr>
            <p:sp>
              <p:nvSpPr>
                <p:cNvPr id="27446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718" y="326"/>
                  <a:ext cx="1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endParaRPr kumimoji="1" lang="zh-CN" altLang="zh-CN" sz="2400" b="1" i="1" baseline="-250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74469" name="Group 37"/>
                <p:cNvGrpSpPr>
                  <a:grpSpLocks/>
                </p:cNvGrpSpPr>
                <p:nvPr/>
              </p:nvGrpSpPr>
              <p:grpSpPr bwMode="auto">
                <a:xfrm>
                  <a:off x="2544" y="432"/>
                  <a:ext cx="2137" cy="1008"/>
                  <a:chOff x="2544" y="624"/>
                  <a:chExt cx="2137" cy="1008"/>
                </a:xfrm>
              </p:grpSpPr>
              <p:sp>
                <p:nvSpPr>
                  <p:cNvPr id="27447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344"/>
                    <a:ext cx="1968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1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40" y="624"/>
                    <a:ext cx="0" cy="100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2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12" y="1296"/>
                    <a:ext cx="16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kumimoji="1" lang="en-US" altLang="zh-CN" sz="2400" b="1" i="1">
                        <a:latin typeface="Times New Roman" panose="02020603050405020304" pitchFamily="18" charset="0"/>
                      </a:rPr>
                      <a:t>t</a:t>
                    </a:r>
                    <a:endParaRPr kumimoji="1" lang="en-US" altLang="zh-CN" sz="2400" b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447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640" y="816"/>
                    <a:ext cx="43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816"/>
                    <a:ext cx="0" cy="52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5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3504" y="816"/>
                    <a:ext cx="43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6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3504" y="816"/>
                    <a:ext cx="0" cy="52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7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3936" y="816"/>
                    <a:ext cx="0" cy="52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478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03" y="1344"/>
                    <a:ext cx="24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kumimoji="1" lang="en-US" altLang="zh-CN" sz="2400" b="1">
                        <a:latin typeface="Times New Roman" panose="02020603050405020304" pitchFamily="18" charset="0"/>
                      </a:rPr>
                      <a:t>T</a:t>
                    </a:r>
                  </a:p>
                </p:txBody>
              </p:sp>
              <p:sp>
                <p:nvSpPr>
                  <p:cNvPr id="274479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07" y="1344"/>
                    <a:ext cx="3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kumimoji="1" lang="en-US" altLang="zh-CN" sz="2400" b="1">
                        <a:latin typeface="Times New Roman" panose="02020603050405020304" pitchFamily="18" charset="0"/>
                      </a:rPr>
                      <a:t>2T</a:t>
                    </a:r>
                  </a:p>
                </p:txBody>
              </p:sp>
              <p:sp>
                <p:nvSpPr>
                  <p:cNvPr id="274480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39" y="1344"/>
                    <a:ext cx="3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kumimoji="1" lang="en-US" altLang="zh-CN" sz="2400" b="1">
                        <a:latin typeface="Times New Roman" panose="02020603050405020304" pitchFamily="18" charset="0"/>
                      </a:rPr>
                      <a:t>3T</a:t>
                    </a:r>
                  </a:p>
                </p:txBody>
              </p:sp>
            </p:grpSp>
          </p:grpSp>
          <p:sp>
            <p:nvSpPr>
              <p:cNvPr id="274481" name="Text Box 49"/>
              <p:cNvSpPr txBox="1">
                <a:spLocks noChangeArrowheads="1"/>
              </p:cNvSpPr>
              <p:nvPr/>
            </p:nvSpPr>
            <p:spPr bwMode="auto">
              <a:xfrm>
                <a:off x="0" y="1568"/>
                <a:ext cx="55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200" b="1">
                    <a:latin typeface="Times New Roman" panose="02020603050405020304" pitchFamily="18" charset="0"/>
                  </a:rPr>
                  <a:t>100</a:t>
                </a:r>
                <a:r>
                  <a:rPr kumimoji="1" lang="en-US" altLang="zh-CN" sz="2200" b="1" i="1"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2200" b="1">
                    <a:latin typeface="Times New Roman" panose="02020603050405020304" pitchFamily="18" charset="0"/>
                  </a:rPr>
                  <a:t>V</a:t>
                </a:r>
              </a:p>
            </p:txBody>
          </p:sp>
        </p:grpSp>
        <p:sp>
          <p:nvSpPr>
            <p:cNvPr id="274482" name="Text Box 50"/>
            <p:cNvSpPr txBox="1">
              <a:spLocks noChangeArrowheads="1"/>
            </p:cNvSpPr>
            <p:nvPr/>
          </p:nvSpPr>
          <p:spPr bwMode="auto">
            <a:xfrm>
              <a:off x="452" y="22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4483" name="Text Box 51"/>
            <p:cNvSpPr txBox="1">
              <a:spLocks noChangeArrowheads="1"/>
            </p:cNvSpPr>
            <p:nvPr/>
          </p:nvSpPr>
          <p:spPr bwMode="auto">
            <a:xfrm>
              <a:off x="555" y="1423"/>
              <a:ext cx="5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74484" name="Rectangle 52"/>
          <p:cNvSpPr>
            <a:spLocks noChangeArrowheads="1"/>
          </p:cNvSpPr>
          <p:nvPr/>
        </p:nvSpPr>
        <p:spPr bwMode="auto">
          <a:xfrm>
            <a:off x="88900" y="92075"/>
            <a:ext cx="2592388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与</a:t>
            </a:r>
            <a:r>
              <a:rPr kumimoji="1" lang="zh-CN" altLang="en-US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接近</a:t>
            </a:r>
            <a:endParaRPr kumimoji="1"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4485" name="Text Box 53"/>
          <p:cNvSpPr txBox="1">
            <a:spLocks noChangeArrowheads="1"/>
          </p:cNvSpPr>
          <p:nvPr/>
        </p:nvSpPr>
        <p:spPr bwMode="auto">
          <a:xfrm>
            <a:off x="5965825" y="2471738"/>
            <a:ext cx="1335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等效电路图</a:t>
            </a:r>
          </a:p>
        </p:txBody>
      </p:sp>
      <p:grpSp>
        <p:nvGrpSpPr>
          <p:cNvPr id="274486" name="Group 54"/>
          <p:cNvGrpSpPr>
            <a:grpSpLocks/>
          </p:cNvGrpSpPr>
          <p:nvPr/>
        </p:nvGrpSpPr>
        <p:grpSpPr bwMode="auto">
          <a:xfrm>
            <a:off x="4481513" y="3159125"/>
            <a:ext cx="3494087" cy="1450975"/>
            <a:chOff x="2823" y="1990"/>
            <a:chExt cx="2201" cy="914"/>
          </a:xfrm>
        </p:grpSpPr>
        <p:sp>
          <p:nvSpPr>
            <p:cNvPr id="274487" name="Oval 55"/>
            <p:cNvSpPr>
              <a:spLocks noChangeArrowheads="1"/>
            </p:cNvSpPr>
            <p:nvPr/>
          </p:nvSpPr>
          <p:spPr bwMode="auto">
            <a:xfrm>
              <a:off x="3317" y="2345"/>
              <a:ext cx="266" cy="236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88" name="Rectangle 56"/>
            <p:cNvSpPr>
              <a:spLocks noChangeArrowheads="1"/>
            </p:cNvSpPr>
            <p:nvPr/>
          </p:nvSpPr>
          <p:spPr bwMode="auto">
            <a:xfrm>
              <a:off x="4647" y="2384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89" name="Line 57"/>
            <p:cNvSpPr>
              <a:spLocks noChangeShapeType="1"/>
            </p:cNvSpPr>
            <p:nvPr/>
          </p:nvSpPr>
          <p:spPr bwMode="auto">
            <a:xfrm>
              <a:off x="3450" y="2108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0" name="Line 58"/>
            <p:cNvSpPr>
              <a:spLocks noChangeShapeType="1"/>
            </p:cNvSpPr>
            <p:nvPr/>
          </p:nvSpPr>
          <p:spPr bwMode="auto">
            <a:xfrm>
              <a:off x="3450" y="2108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1" name="Line 59"/>
            <p:cNvSpPr>
              <a:spLocks noChangeShapeType="1"/>
            </p:cNvSpPr>
            <p:nvPr/>
          </p:nvSpPr>
          <p:spPr bwMode="auto">
            <a:xfrm>
              <a:off x="4026" y="2108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2" name="Line 60"/>
            <p:cNvSpPr>
              <a:spLocks noChangeShapeType="1"/>
            </p:cNvSpPr>
            <p:nvPr/>
          </p:nvSpPr>
          <p:spPr bwMode="auto">
            <a:xfrm>
              <a:off x="4691" y="2108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3" name="Line 61"/>
            <p:cNvSpPr>
              <a:spLocks noChangeShapeType="1"/>
            </p:cNvSpPr>
            <p:nvPr/>
          </p:nvSpPr>
          <p:spPr bwMode="auto">
            <a:xfrm>
              <a:off x="3450" y="2857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4" name="Text Box 62"/>
            <p:cNvSpPr txBox="1">
              <a:spLocks noChangeArrowheads="1"/>
            </p:cNvSpPr>
            <p:nvPr/>
          </p:nvSpPr>
          <p:spPr bwMode="auto">
            <a:xfrm>
              <a:off x="2823" y="2330"/>
              <a:ext cx="5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100V</a:t>
              </a:r>
            </a:p>
          </p:txBody>
        </p:sp>
        <p:sp>
          <p:nvSpPr>
            <p:cNvPr id="274495" name="Text Box 63"/>
            <p:cNvSpPr txBox="1">
              <a:spLocks noChangeArrowheads="1"/>
            </p:cNvSpPr>
            <p:nvPr/>
          </p:nvSpPr>
          <p:spPr bwMode="auto">
            <a:xfrm>
              <a:off x="3220" y="2074"/>
              <a:ext cx="225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496" name="Line 64"/>
            <p:cNvSpPr>
              <a:spLocks noChangeShapeType="1"/>
            </p:cNvSpPr>
            <p:nvPr/>
          </p:nvSpPr>
          <p:spPr bwMode="auto">
            <a:xfrm>
              <a:off x="4026" y="1990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7" name="Line 65"/>
            <p:cNvSpPr>
              <a:spLocks noChangeShapeType="1"/>
            </p:cNvSpPr>
            <p:nvPr/>
          </p:nvSpPr>
          <p:spPr bwMode="auto">
            <a:xfrm>
              <a:off x="3938" y="1990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8" name="Line 66"/>
            <p:cNvSpPr>
              <a:spLocks noChangeShapeType="1"/>
            </p:cNvSpPr>
            <p:nvPr/>
          </p:nvSpPr>
          <p:spPr bwMode="auto">
            <a:xfrm>
              <a:off x="4691" y="2581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499" name="Text Box 67"/>
            <p:cNvSpPr txBox="1">
              <a:spLocks noChangeArrowheads="1"/>
            </p:cNvSpPr>
            <p:nvPr/>
          </p:nvSpPr>
          <p:spPr bwMode="auto">
            <a:xfrm>
              <a:off x="4393" y="2359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00" name="Text Box 68"/>
            <p:cNvSpPr txBox="1">
              <a:spLocks noChangeArrowheads="1"/>
            </p:cNvSpPr>
            <p:nvPr/>
          </p:nvSpPr>
          <p:spPr bwMode="auto">
            <a:xfrm>
              <a:off x="3710" y="2075"/>
              <a:ext cx="6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400" b="1" i="1">
                  <a:latin typeface="Symbol" panose="05050102010706020507" pitchFamily="18" charset="2"/>
                </a:rPr>
                <a:t>-</a:t>
              </a:r>
              <a:endParaRPr kumimoji="1" lang="en-US" altLang="zh-CN" sz="2400" b="1">
                <a:latin typeface="Symbol" panose="05050102010706020507" pitchFamily="18" charset="2"/>
              </a:endParaRPr>
            </a:p>
          </p:txBody>
        </p:sp>
        <p:sp>
          <p:nvSpPr>
            <p:cNvPr id="274501" name="Text Box 69"/>
            <p:cNvSpPr txBox="1">
              <a:spLocks noChangeArrowheads="1"/>
            </p:cNvSpPr>
            <p:nvPr/>
          </p:nvSpPr>
          <p:spPr bwMode="auto">
            <a:xfrm>
              <a:off x="4715" y="2117"/>
              <a:ext cx="309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74502" name="Object 70"/>
          <p:cNvGraphicFramePr>
            <a:graphicFrameLocks noChangeAspect="1"/>
          </p:cNvGraphicFramePr>
          <p:nvPr/>
        </p:nvGraphicFramePr>
        <p:xfrm>
          <a:off x="1676400" y="4572000"/>
          <a:ext cx="139223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7" name="Equation" r:id="rId6" imgW="761760" imgH="241200" progId="Equation.3">
                  <p:embed/>
                </p:oleObj>
              </mc:Choice>
              <mc:Fallback>
                <p:oleObj name="Equation" r:id="rId6" imgW="761760" imgH="241200" progId="Equation.3">
                  <p:embed/>
                  <p:pic>
                    <p:nvPicPr>
                      <p:cNvPr id="274502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572000"/>
                        <a:ext cx="139223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03" name="Object 71"/>
          <p:cNvGraphicFramePr>
            <a:graphicFrameLocks noChangeAspect="1"/>
          </p:cNvGraphicFramePr>
          <p:nvPr/>
        </p:nvGraphicFramePr>
        <p:xfrm>
          <a:off x="1676400" y="5334000"/>
          <a:ext cx="17303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8" name="Equation" r:id="rId8" imgW="952200" imgH="228600" progId="Equation.3">
                  <p:embed/>
                </p:oleObj>
              </mc:Choice>
              <mc:Fallback>
                <p:oleObj name="Equation" r:id="rId8" imgW="952200" imgH="228600" progId="Equation.3">
                  <p:embed/>
                  <p:pic>
                    <p:nvPicPr>
                      <p:cNvPr id="274503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334000"/>
                        <a:ext cx="173037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504" name="Object 72"/>
          <p:cNvGraphicFramePr>
            <a:graphicFrameLocks noChangeAspect="1"/>
          </p:cNvGraphicFramePr>
          <p:nvPr/>
        </p:nvGraphicFramePr>
        <p:xfrm>
          <a:off x="1676400" y="6019800"/>
          <a:ext cx="11604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9" name="Equation" r:id="rId10" imgW="507960" imgH="177480" progId="Equation.3">
                  <p:embed/>
                </p:oleObj>
              </mc:Choice>
              <mc:Fallback>
                <p:oleObj name="Equation" r:id="rId10" imgW="507960" imgH="177480" progId="Equation.3">
                  <p:embed/>
                  <p:pic>
                    <p:nvPicPr>
                      <p:cNvPr id="274504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019800"/>
                        <a:ext cx="11604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505" name="AutoShape 73"/>
          <p:cNvSpPr>
            <a:spLocks noChangeArrowheads="1"/>
          </p:cNvSpPr>
          <p:nvPr/>
        </p:nvSpPr>
        <p:spPr bwMode="auto">
          <a:xfrm>
            <a:off x="3671888" y="5319713"/>
            <a:ext cx="539750" cy="404812"/>
          </a:xfrm>
          <a:prstGeom prst="rightArrow">
            <a:avLst>
              <a:gd name="adj1" fmla="val 45102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4507" name="Group 75"/>
          <p:cNvGrpSpPr>
            <a:grpSpLocks/>
          </p:cNvGrpSpPr>
          <p:nvPr/>
        </p:nvGrpSpPr>
        <p:grpSpPr bwMode="auto">
          <a:xfrm>
            <a:off x="4572000" y="188913"/>
            <a:ext cx="4138613" cy="2087562"/>
            <a:chOff x="2965" y="442"/>
            <a:chExt cx="2607" cy="1315"/>
          </a:xfrm>
        </p:grpSpPr>
        <p:sp>
          <p:nvSpPr>
            <p:cNvPr id="274508" name="Text Box 76"/>
            <p:cNvSpPr txBox="1">
              <a:spLocks noChangeArrowheads="1"/>
            </p:cNvSpPr>
            <p:nvPr/>
          </p:nvSpPr>
          <p:spPr bwMode="auto">
            <a:xfrm>
              <a:off x="3512" y="442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74509" name="Line 77"/>
            <p:cNvSpPr>
              <a:spLocks noChangeShapeType="1"/>
            </p:cNvSpPr>
            <p:nvPr/>
          </p:nvSpPr>
          <p:spPr bwMode="auto">
            <a:xfrm>
              <a:off x="3435" y="1469"/>
              <a:ext cx="1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0" name="Line 78"/>
            <p:cNvSpPr>
              <a:spLocks noChangeShapeType="1"/>
            </p:cNvSpPr>
            <p:nvPr/>
          </p:nvSpPr>
          <p:spPr bwMode="auto">
            <a:xfrm flipV="1">
              <a:off x="3531" y="603"/>
              <a:ext cx="0" cy="1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1" name="Text Box 79"/>
            <p:cNvSpPr txBox="1">
              <a:spLocks noChangeArrowheads="1"/>
            </p:cNvSpPr>
            <p:nvPr/>
          </p:nvSpPr>
          <p:spPr bwMode="auto">
            <a:xfrm>
              <a:off x="5403" y="1421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2" name="Line 80"/>
            <p:cNvSpPr>
              <a:spLocks noChangeShapeType="1"/>
            </p:cNvSpPr>
            <p:nvPr/>
          </p:nvSpPr>
          <p:spPr bwMode="auto">
            <a:xfrm>
              <a:off x="3531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3" name="Line 81"/>
            <p:cNvSpPr>
              <a:spLocks noChangeShapeType="1"/>
            </p:cNvSpPr>
            <p:nvPr/>
          </p:nvSpPr>
          <p:spPr bwMode="auto">
            <a:xfrm>
              <a:off x="3963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4" name="Line 82"/>
            <p:cNvSpPr>
              <a:spLocks noChangeShapeType="1"/>
            </p:cNvSpPr>
            <p:nvPr/>
          </p:nvSpPr>
          <p:spPr bwMode="auto">
            <a:xfrm>
              <a:off x="4395" y="9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5" name="Line 83"/>
            <p:cNvSpPr>
              <a:spLocks noChangeShapeType="1"/>
            </p:cNvSpPr>
            <p:nvPr/>
          </p:nvSpPr>
          <p:spPr bwMode="auto">
            <a:xfrm>
              <a:off x="4395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6" name="Line 84"/>
            <p:cNvSpPr>
              <a:spLocks noChangeShapeType="1"/>
            </p:cNvSpPr>
            <p:nvPr/>
          </p:nvSpPr>
          <p:spPr bwMode="auto">
            <a:xfrm>
              <a:off x="4827" y="941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517" name="Text Box 85"/>
            <p:cNvSpPr txBox="1">
              <a:spLocks noChangeArrowheads="1"/>
            </p:cNvSpPr>
            <p:nvPr/>
          </p:nvSpPr>
          <p:spPr bwMode="auto">
            <a:xfrm>
              <a:off x="3799" y="146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8" name="Text Box 86"/>
            <p:cNvSpPr txBox="1">
              <a:spLocks noChangeArrowheads="1"/>
            </p:cNvSpPr>
            <p:nvPr/>
          </p:nvSpPr>
          <p:spPr bwMode="auto">
            <a:xfrm>
              <a:off x="4203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19" name="Text Box 87"/>
            <p:cNvSpPr txBox="1">
              <a:spLocks noChangeArrowheads="1"/>
            </p:cNvSpPr>
            <p:nvPr/>
          </p:nvSpPr>
          <p:spPr bwMode="auto">
            <a:xfrm>
              <a:off x="4635" y="146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4520" name="Text Box 88"/>
            <p:cNvSpPr txBox="1">
              <a:spLocks noChangeArrowheads="1"/>
            </p:cNvSpPr>
            <p:nvPr/>
          </p:nvSpPr>
          <p:spPr bwMode="auto">
            <a:xfrm>
              <a:off x="2965" y="767"/>
              <a:ext cx="5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100V</a:t>
              </a:r>
            </a:p>
          </p:txBody>
        </p:sp>
        <p:sp>
          <p:nvSpPr>
            <p:cNvPr id="274521" name="Text Box 89"/>
            <p:cNvSpPr txBox="1">
              <a:spLocks noChangeArrowheads="1"/>
            </p:cNvSpPr>
            <p:nvPr/>
          </p:nvSpPr>
          <p:spPr bwMode="auto">
            <a:xfrm>
              <a:off x="3300" y="14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417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74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7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7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 build="p" autoUpdateAnimBg="0"/>
      <p:bldP spid="274436" grpId="0"/>
      <p:bldP spid="274446" grpId="0"/>
      <p:bldP spid="274447" grpId="0"/>
      <p:bldP spid="27448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ChangeArrowheads="1"/>
          </p:cNvSpPr>
          <p:nvPr/>
        </p:nvSpPr>
        <p:spPr bwMode="auto">
          <a:xfrm>
            <a:off x="1033463" y="2663825"/>
            <a:ext cx="149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&lt;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&lt; 2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483" name="Object 3"/>
          <p:cNvGraphicFramePr>
            <a:graphicFrameLocks noChangeAspect="1"/>
          </p:cNvGraphicFramePr>
          <p:nvPr/>
        </p:nvGraphicFramePr>
        <p:xfrm>
          <a:off x="3921125" y="4405313"/>
          <a:ext cx="24193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0" name="公式" r:id="rId4" imgW="1041120" imgH="355320" progId="Equation.3">
                  <p:embed/>
                </p:oleObj>
              </mc:Choice>
              <mc:Fallback>
                <p:oleObj name="公式" r:id="rId4" imgW="1041120" imgH="355320" progId="Equation.3">
                  <p:embed/>
                  <p:pic>
                    <p:nvPicPr>
                      <p:cNvPr id="276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4405313"/>
                        <a:ext cx="24193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4" name="Object 4"/>
          <p:cNvGraphicFramePr>
            <a:graphicFrameLocks noChangeAspect="1"/>
          </p:cNvGraphicFramePr>
          <p:nvPr/>
        </p:nvGraphicFramePr>
        <p:xfrm>
          <a:off x="1371600" y="4017963"/>
          <a:ext cx="14795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1" name="Equation" r:id="rId6" imgW="799920" imgH="241200" progId="Equation.3">
                  <p:embed/>
                </p:oleObj>
              </mc:Choice>
              <mc:Fallback>
                <p:oleObj name="Equation" r:id="rId6" imgW="799920" imgH="241200" progId="Equation.3">
                  <p:embed/>
                  <p:pic>
                    <p:nvPicPr>
                      <p:cNvPr id="276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17963"/>
                        <a:ext cx="14795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5" name="Object 5"/>
          <p:cNvGraphicFramePr>
            <a:graphicFrameLocks noChangeAspect="1"/>
          </p:cNvGraphicFramePr>
          <p:nvPr/>
        </p:nvGraphicFramePr>
        <p:xfrm>
          <a:off x="1371600" y="4703763"/>
          <a:ext cx="13382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2" name="Equation" r:id="rId8" imgW="647640" imgH="228600" progId="Equation.3">
                  <p:embed/>
                </p:oleObj>
              </mc:Choice>
              <mc:Fallback>
                <p:oleObj name="Equation" r:id="rId8" imgW="647640" imgH="228600" progId="Equation.3">
                  <p:embed/>
                  <p:pic>
                    <p:nvPicPr>
                      <p:cNvPr id="276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03763"/>
                        <a:ext cx="13382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6" name="Object 6"/>
          <p:cNvGraphicFramePr>
            <a:graphicFrameLocks noChangeAspect="1"/>
          </p:cNvGraphicFramePr>
          <p:nvPr/>
        </p:nvGraphicFramePr>
        <p:xfrm>
          <a:off x="1371600" y="5340350"/>
          <a:ext cx="12446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3" name="Equation" r:id="rId10" imgW="507960" imgH="177480" progId="Equation.3">
                  <p:embed/>
                </p:oleObj>
              </mc:Choice>
              <mc:Fallback>
                <p:oleObj name="Equation" r:id="rId10" imgW="507960" imgH="177480" progId="Equation.3">
                  <p:embed/>
                  <p:pic>
                    <p:nvPicPr>
                      <p:cNvPr id="276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40350"/>
                        <a:ext cx="12446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7" name="AutoShape 7"/>
          <p:cNvSpPr>
            <a:spLocks noChangeArrowheads="1"/>
          </p:cNvSpPr>
          <p:nvPr/>
        </p:nvSpPr>
        <p:spPr bwMode="auto">
          <a:xfrm>
            <a:off x="3282950" y="4824413"/>
            <a:ext cx="539750" cy="404812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88" name="Text Box 8"/>
          <p:cNvSpPr txBox="1">
            <a:spLocks noChangeArrowheads="1"/>
          </p:cNvSpPr>
          <p:nvPr/>
        </p:nvSpPr>
        <p:spPr bwMode="auto">
          <a:xfrm>
            <a:off x="2609850" y="2754313"/>
            <a:ext cx="1335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等效电路图</a:t>
            </a:r>
          </a:p>
        </p:txBody>
      </p:sp>
      <p:grpSp>
        <p:nvGrpSpPr>
          <p:cNvPr id="276489" name="Group 9"/>
          <p:cNvGrpSpPr>
            <a:grpSpLocks/>
          </p:cNvGrpSpPr>
          <p:nvPr/>
        </p:nvGrpSpPr>
        <p:grpSpPr bwMode="auto">
          <a:xfrm>
            <a:off x="4319588" y="2349500"/>
            <a:ext cx="2498725" cy="1450975"/>
            <a:chOff x="4186" y="1054"/>
            <a:chExt cx="1574" cy="914"/>
          </a:xfrm>
        </p:grpSpPr>
        <p:sp>
          <p:nvSpPr>
            <p:cNvPr id="276490" name="Rectangle 10"/>
            <p:cNvSpPr>
              <a:spLocks noChangeArrowheads="1"/>
            </p:cNvSpPr>
            <p:nvPr/>
          </p:nvSpPr>
          <p:spPr bwMode="auto">
            <a:xfrm>
              <a:off x="5383" y="1448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1" name="Line 11"/>
            <p:cNvSpPr>
              <a:spLocks noChangeShapeType="1"/>
            </p:cNvSpPr>
            <p:nvPr/>
          </p:nvSpPr>
          <p:spPr bwMode="auto">
            <a:xfrm>
              <a:off x="4186" y="1172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2" name="Line 12"/>
            <p:cNvSpPr>
              <a:spLocks noChangeShapeType="1"/>
            </p:cNvSpPr>
            <p:nvPr/>
          </p:nvSpPr>
          <p:spPr bwMode="auto">
            <a:xfrm>
              <a:off x="4186" y="1172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3" name="Line 13"/>
            <p:cNvSpPr>
              <a:spLocks noChangeShapeType="1"/>
            </p:cNvSpPr>
            <p:nvPr/>
          </p:nvSpPr>
          <p:spPr bwMode="auto">
            <a:xfrm>
              <a:off x="4762" y="1172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4" name="Line 14"/>
            <p:cNvSpPr>
              <a:spLocks noChangeShapeType="1"/>
            </p:cNvSpPr>
            <p:nvPr/>
          </p:nvSpPr>
          <p:spPr bwMode="auto">
            <a:xfrm>
              <a:off x="5427" y="1172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5" name="Line 15"/>
            <p:cNvSpPr>
              <a:spLocks noChangeShapeType="1"/>
            </p:cNvSpPr>
            <p:nvPr/>
          </p:nvSpPr>
          <p:spPr bwMode="auto">
            <a:xfrm>
              <a:off x="4186" y="1921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6" name="Line 16"/>
            <p:cNvSpPr>
              <a:spLocks noChangeShapeType="1"/>
            </p:cNvSpPr>
            <p:nvPr/>
          </p:nvSpPr>
          <p:spPr bwMode="auto">
            <a:xfrm>
              <a:off x="4762" y="105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7" name="Line 17"/>
            <p:cNvSpPr>
              <a:spLocks noChangeShapeType="1"/>
            </p:cNvSpPr>
            <p:nvPr/>
          </p:nvSpPr>
          <p:spPr bwMode="auto">
            <a:xfrm>
              <a:off x="4674" y="1054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8" name="Line 18"/>
            <p:cNvSpPr>
              <a:spLocks noChangeShapeType="1"/>
            </p:cNvSpPr>
            <p:nvPr/>
          </p:nvSpPr>
          <p:spPr bwMode="auto">
            <a:xfrm>
              <a:off x="5427" y="1645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499" name="Text Box 19"/>
            <p:cNvSpPr txBox="1">
              <a:spLocks noChangeArrowheads="1"/>
            </p:cNvSpPr>
            <p:nvPr/>
          </p:nvSpPr>
          <p:spPr bwMode="auto">
            <a:xfrm>
              <a:off x="5129" y="142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00" name="Text Box 20"/>
            <p:cNvSpPr txBox="1">
              <a:spLocks noChangeArrowheads="1"/>
            </p:cNvSpPr>
            <p:nvPr/>
          </p:nvSpPr>
          <p:spPr bwMode="auto">
            <a:xfrm>
              <a:off x="4456" y="1101"/>
              <a:ext cx="5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01" name="Text Box 21"/>
            <p:cNvSpPr txBox="1">
              <a:spLocks noChangeArrowheads="1"/>
            </p:cNvSpPr>
            <p:nvPr/>
          </p:nvSpPr>
          <p:spPr bwMode="auto">
            <a:xfrm>
              <a:off x="5451" y="1181"/>
              <a:ext cx="309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76502" name="Text Box 22"/>
          <p:cNvSpPr txBox="1">
            <a:spLocks noChangeArrowheads="1"/>
          </p:cNvSpPr>
          <p:nvPr/>
        </p:nvSpPr>
        <p:spPr bwMode="auto">
          <a:xfrm>
            <a:off x="4597400" y="13509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6503" name="Text Box 23"/>
          <p:cNvSpPr txBox="1">
            <a:spLocks noChangeArrowheads="1"/>
          </p:cNvSpPr>
          <p:nvPr/>
        </p:nvSpPr>
        <p:spPr bwMode="auto">
          <a:xfrm>
            <a:off x="5283200" y="7413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6504" name="Text Box 24"/>
          <p:cNvSpPr txBox="1">
            <a:spLocks noChangeArrowheads="1"/>
          </p:cNvSpPr>
          <p:nvPr/>
        </p:nvSpPr>
        <p:spPr bwMode="auto">
          <a:xfrm>
            <a:off x="5969000" y="12747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6505" name="Text Box 25"/>
          <p:cNvSpPr txBox="1">
            <a:spLocks noChangeArrowheads="1"/>
          </p:cNvSpPr>
          <p:nvPr/>
        </p:nvSpPr>
        <p:spPr bwMode="auto">
          <a:xfrm>
            <a:off x="6731000" y="7413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6506" name="Group 26"/>
          <p:cNvGrpSpPr>
            <a:grpSpLocks/>
          </p:cNvGrpSpPr>
          <p:nvPr/>
        </p:nvGrpSpPr>
        <p:grpSpPr bwMode="auto">
          <a:xfrm>
            <a:off x="4368800" y="360363"/>
            <a:ext cx="3392488" cy="1768475"/>
            <a:chOff x="2544" y="326"/>
            <a:chExt cx="2137" cy="1114"/>
          </a:xfrm>
        </p:grpSpPr>
        <p:sp>
          <p:nvSpPr>
            <p:cNvPr id="276507" name="Text Box 27"/>
            <p:cNvSpPr txBox="1">
              <a:spLocks noChangeArrowheads="1"/>
            </p:cNvSpPr>
            <p:nvPr/>
          </p:nvSpPr>
          <p:spPr bwMode="auto">
            <a:xfrm>
              <a:off x="2718" y="326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sz="2400" b="1" i="1" baseline="-25000">
                <a:latin typeface="Times New Roman" panose="02020603050405020304" pitchFamily="18" charset="0"/>
              </a:endParaRPr>
            </a:p>
          </p:txBody>
        </p:sp>
        <p:grpSp>
          <p:nvGrpSpPr>
            <p:cNvPr id="276508" name="Group 28"/>
            <p:cNvGrpSpPr>
              <a:grpSpLocks/>
            </p:cNvGrpSpPr>
            <p:nvPr/>
          </p:nvGrpSpPr>
          <p:grpSpPr bwMode="auto">
            <a:xfrm>
              <a:off x="2544" y="432"/>
              <a:ext cx="2137" cy="1008"/>
              <a:chOff x="2544" y="624"/>
              <a:chExt cx="2137" cy="1008"/>
            </a:xfrm>
          </p:grpSpPr>
          <p:sp>
            <p:nvSpPr>
              <p:cNvPr id="276509" name="Line 29"/>
              <p:cNvSpPr>
                <a:spLocks noChangeShapeType="1"/>
              </p:cNvSpPr>
              <p:nvPr/>
            </p:nvSpPr>
            <p:spPr bwMode="auto">
              <a:xfrm>
                <a:off x="2544" y="1344"/>
                <a:ext cx="1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0" name="Line 30"/>
              <p:cNvSpPr>
                <a:spLocks noChangeShapeType="1"/>
              </p:cNvSpPr>
              <p:nvPr/>
            </p:nvSpPr>
            <p:spPr bwMode="auto">
              <a:xfrm flipV="1">
                <a:off x="2640" y="624"/>
                <a:ext cx="0" cy="10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1" name="Text Box 31"/>
              <p:cNvSpPr txBox="1">
                <a:spLocks noChangeArrowheads="1"/>
              </p:cNvSpPr>
              <p:nvPr/>
            </p:nvSpPr>
            <p:spPr bwMode="auto">
              <a:xfrm>
                <a:off x="4512" y="1296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12" name="Line 32"/>
              <p:cNvSpPr>
                <a:spLocks noChangeShapeType="1"/>
              </p:cNvSpPr>
              <p:nvPr/>
            </p:nvSpPr>
            <p:spPr bwMode="auto">
              <a:xfrm>
                <a:off x="2640" y="81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3" name="Line 33"/>
              <p:cNvSpPr>
                <a:spLocks noChangeShapeType="1"/>
              </p:cNvSpPr>
              <p:nvPr/>
            </p:nvSpPr>
            <p:spPr bwMode="auto">
              <a:xfrm>
                <a:off x="3072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4" name="Line 34"/>
              <p:cNvSpPr>
                <a:spLocks noChangeShapeType="1"/>
              </p:cNvSpPr>
              <p:nvPr/>
            </p:nvSpPr>
            <p:spPr bwMode="auto">
              <a:xfrm>
                <a:off x="3504" y="81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5" name="Line 35"/>
              <p:cNvSpPr>
                <a:spLocks noChangeShapeType="1"/>
              </p:cNvSpPr>
              <p:nvPr/>
            </p:nvSpPr>
            <p:spPr bwMode="auto">
              <a:xfrm>
                <a:off x="3504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6" name="Line 36"/>
              <p:cNvSpPr>
                <a:spLocks noChangeShapeType="1"/>
              </p:cNvSpPr>
              <p:nvPr/>
            </p:nvSpPr>
            <p:spPr bwMode="auto">
              <a:xfrm>
                <a:off x="3936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517" name="Text Box 37"/>
              <p:cNvSpPr txBox="1">
                <a:spLocks noChangeArrowheads="1"/>
              </p:cNvSpPr>
              <p:nvPr/>
            </p:nvSpPr>
            <p:spPr bwMode="auto">
              <a:xfrm>
                <a:off x="2903" y="134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76518" name="Text Box 38"/>
              <p:cNvSpPr txBox="1">
                <a:spLocks noChangeArrowheads="1"/>
              </p:cNvSpPr>
              <p:nvPr/>
            </p:nvSpPr>
            <p:spPr bwMode="auto">
              <a:xfrm>
                <a:off x="3307" y="1344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2T</a:t>
                </a:r>
              </a:p>
            </p:txBody>
          </p:sp>
          <p:sp>
            <p:nvSpPr>
              <p:cNvPr id="276519" name="Text Box 39"/>
              <p:cNvSpPr txBox="1">
                <a:spLocks noChangeArrowheads="1"/>
              </p:cNvSpPr>
              <p:nvPr/>
            </p:nvSpPr>
            <p:spPr bwMode="auto">
              <a:xfrm>
                <a:off x="3739" y="1344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3T</a:t>
                </a:r>
              </a:p>
            </p:txBody>
          </p:sp>
        </p:grpSp>
      </p:grpSp>
      <p:sp>
        <p:nvSpPr>
          <p:cNvPr id="276520" name="Text Box 40"/>
          <p:cNvSpPr txBox="1">
            <a:spLocks noChangeArrowheads="1"/>
          </p:cNvSpPr>
          <p:nvPr/>
        </p:nvSpPr>
        <p:spPr bwMode="auto">
          <a:xfrm>
            <a:off x="3624263" y="549275"/>
            <a:ext cx="93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100V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6521" name="Group 41"/>
          <p:cNvGrpSpPr>
            <a:grpSpLocks/>
          </p:cNvGrpSpPr>
          <p:nvPr/>
        </p:nvGrpSpPr>
        <p:grpSpPr bwMode="auto">
          <a:xfrm>
            <a:off x="4516438" y="969963"/>
            <a:ext cx="2522537" cy="465137"/>
            <a:chOff x="430" y="576"/>
            <a:chExt cx="1589" cy="293"/>
          </a:xfrm>
        </p:grpSpPr>
        <p:sp>
          <p:nvSpPr>
            <p:cNvPr id="276522" name="Freeform 42"/>
            <p:cNvSpPr>
              <a:spLocks/>
            </p:cNvSpPr>
            <p:nvPr/>
          </p:nvSpPr>
          <p:spPr bwMode="auto">
            <a:xfrm>
              <a:off x="430" y="576"/>
              <a:ext cx="450" cy="293"/>
            </a:xfrm>
            <a:custGeom>
              <a:avLst/>
              <a:gdLst>
                <a:gd name="T0" fmla="*/ 0 w 450"/>
                <a:gd name="T1" fmla="*/ 293 h 293"/>
                <a:gd name="T2" fmla="*/ 87 w 450"/>
                <a:gd name="T3" fmla="*/ 192 h 293"/>
                <a:gd name="T4" fmla="*/ 173 w 450"/>
                <a:gd name="T5" fmla="*/ 106 h 293"/>
                <a:gd name="T6" fmla="*/ 250 w 450"/>
                <a:gd name="T7" fmla="*/ 43 h 293"/>
                <a:gd name="T8" fmla="*/ 332 w 450"/>
                <a:gd name="T9" fmla="*/ 14 h 293"/>
                <a:gd name="T10" fmla="*/ 432 w 450"/>
                <a:gd name="T11" fmla="*/ 10 h 293"/>
                <a:gd name="T12" fmla="*/ 442 w 450"/>
                <a:gd name="T1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0" h="293">
                  <a:moveTo>
                    <a:pt x="0" y="293"/>
                  </a:moveTo>
                  <a:cubicBezTo>
                    <a:pt x="15" y="275"/>
                    <a:pt x="58" y="223"/>
                    <a:pt x="87" y="192"/>
                  </a:cubicBezTo>
                  <a:cubicBezTo>
                    <a:pt x="116" y="161"/>
                    <a:pt x="146" y="131"/>
                    <a:pt x="173" y="106"/>
                  </a:cubicBezTo>
                  <a:cubicBezTo>
                    <a:pt x="200" y="81"/>
                    <a:pt x="224" y="58"/>
                    <a:pt x="250" y="43"/>
                  </a:cubicBezTo>
                  <a:cubicBezTo>
                    <a:pt x="276" y="28"/>
                    <a:pt x="302" y="19"/>
                    <a:pt x="332" y="14"/>
                  </a:cubicBezTo>
                  <a:cubicBezTo>
                    <a:pt x="362" y="9"/>
                    <a:pt x="414" y="12"/>
                    <a:pt x="432" y="10"/>
                  </a:cubicBezTo>
                  <a:cubicBezTo>
                    <a:pt x="450" y="8"/>
                    <a:pt x="440" y="2"/>
                    <a:pt x="442" y="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23" name="Freeform 43"/>
            <p:cNvSpPr>
              <a:spLocks/>
            </p:cNvSpPr>
            <p:nvPr/>
          </p:nvSpPr>
          <p:spPr bwMode="auto">
            <a:xfrm>
              <a:off x="867" y="576"/>
              <a:ext cx="437" cy="288"/>
            </a:xfrm>
            <a:custGeom>
              <a:avLst/>
              <a:gdLst>
                <a:gd name="T0" fmla="*/ 0 w 437"/>
                <a:gd name="T1" fmla="*/ 0 h 288"/>
                <a:gd name="T2" fmla="*/ 38 w 437"/>
                <a:gd name="T3" fmla="*/ 48 h 288"/>
                <a:gd name="T4" fmla="*/ 182 w 437"/>
                <a:gd name="T5" fmla="*/ 168 h 288"/>
                <a:gd name="T6" fmla="*/ 437 w 437"/>
                <a:gd name="T7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7" h="288">
                  <a:moveTo>
                    <a:pt x="0" y="0"/>
                  </a:moveTo>
                  <a:cubicBezTo>
                    <a:pt x="6" y="8"/>
                    <a:pt x="8" y="20"/>
                    <a:pt x="38" y="48"/>
                  </a:cubicBezTo>
                  <a:cubicBezTo>
                    <a:pt x="68" y="76"/>
                    <a:pt x="116" y="128"/>
                    <a:pt x="182" y="168"/>
                  </a:cubicBezTo>
                  <a:cubicBezTo>
                    <a:pt x="248" y="208"/>
                    <a:pt x="384" y="263"/>
                    <a:pt x="437" y="288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24" name="Freeform 44"/>
            <p:cNvSpPr>
              <a:spLocks/>
            </p:cNvSpPr>
            <p:nvPr/>
          </p:nvSpPr>
          <p:spPr bwMode="auto">
            <a:xfrm>
              <a:off x="1299" y="576"/>
              <a:ext cx="450" cy="274"/>
            </a:xfrm>
            <a:custGeom>
              <a:avLst/>
              <a:gdLst>
                <a:gd name="T0" fmla="*/ 0 w 450"/>
                <a:gd name="T1" fmla="*/ 274 h 274"/>
                <a:gd name="T2" fmla="*/ 87 w 450"/>
                <a:gd name="T3" fmla="*/ 192 h 274"/>
                <a:gd name="T4" fmla="*/ 173 w 450"/>
                <a:gd name="T5" fmla="*/ 106 h 274"/>
                <a:gd name="T6" fmla="*/ 250 w 450"/>
                <a:gd name="T7" fmla="*/ 43 h 274"/>
                <a:gd name="T8" fmla="*/ 332 w 450"/>
                <a:gd name="T9" fmla="*/ 14 h 274"/>
                <a:gd name="T10" fmla="*/ 432 w 450"/>
                <a:gd name="T11" fmla="*/ 10 h 274"/>
                <a:gd name="T12" fmla="*/ 442 w 450"/>
                <a:gd name="T13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0" h="274">
                  <a:moveTo>
                    <a:pt x="0" y="274"/>
                  </a:moveTo>
                  <a:cubicBezTo>
                    <a:pt x="14" y="261"/>
                    <a:pt x="58" y="220"/>
                    <a:pt x="87" y="192"/>
                  </a:cubicBezTo>
                  <a:cubicBezTo>
                    <a:pt x="116" y="164"/>
                    <a:pt x="146" y="131"/>
                    <a:pt x="173" y="106"/>
                  </a:cubicBezTo>
                  <a:cubicBezTo>
                    <a:pt x="200" y="81"/>
                    <a:pt x="224" y="58"/>
                    <a:pt x="250" y="43"/>
                  </a:cubicBezTo>
                  <a:cubicBezTo>
                    <a:pt x="276" y="28"/>
                    <a:pt x="302" y="19"/>
                    <a:pt x="332" y="14"/>
                  </a:cubicBezTo>
                  <a:cubicBezTo>
                    <a:pt x="362" y="9"/>
                    <a:pt x="414" y="12"/>
                    <a:pt x="432" y="10"/>
                  </a:cubicBezTo>
                  <a:cubicBezTo>
                    <a:pt x="450" y="8"/>
                    <a:pt x="440" y="2"/>
                    <a:pt x="442" y="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25" name="Line 45"/>
            <p:cNvSpPr>
              <a:spLocks noChangeShapeType="1"/>
            </p:cNvSpPr>
            <p:nvPr/>
          </p:nvSpPr>
          <p:spPr bwMode="auto">
            <a:xfrm>
              <a:off x="435" y="576"/>
              <a:ext cx="15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526" name="Line 46"/>
          <p:cNvSpPr>
            <a:spLocks noChangeShapeType="1"/>
          </p:cNvSpPr>
          <p:nvPr/>
        </p:nvSpPr>
        <p:spPr bwMode="auto">
          <a:xfrm>
            <a:off x="4516438" y="1427163"/>
            <a:ext cx="2590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27" name="Text Box 47"/>
          <p:cNvSpPr txBox="1">
            <a:spLocks noChangeArrowheads="1"/>
          </p:cNvSpPr>
          <p:nvPr/>
        </p:nvSpPr>
        <p:spPr bwMode="auto">
          <a:xfrm>
            <a:off x="6859588" y="741363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6528" name="Text Box 48"/>
          <p:cNvSpPr txBox="1">
            <a:spLocks noChangeArrowheads="1"/>
          </p:cNvSpPr>
          <p:nvPr/>
        </p:nvSpPr>
        <p:spPr bwMode="auto">
          <a:xfrm>
            <a:off x="6883400" y="1198563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6529" name="Text Box 49"/>
          <p:cNvSpPr txBox="1">
            <a:spLocks noChangeArrowheads="1"/>
          </p:cNvSpPr>
          <p:nvPr/>
        </p:nvSpPr>
        <p:spPr bwMode="auto">
          <a:xfrm>
            <a:off x="4429125" y="16557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276530" name="Group 50"/>
          <p:cNvGrpSpPr>
            <a:grpSpLocks/>
          </p:cNvGrpSpPr>
          <p:nvPr/>
        </p:nvGrpSpPr>
        <p:grpSpPr bwMode="auto">
          <a:xfrm>
            <a:off x="692150" y="693738"/>
            <a:ext cx="2863850" cy="1793875"/>
            <a:chOff x="327" y="576"/>
            <a:chExt cx="1953" cy="1376"/>
          </a:xfrm>
        </p:grpSpPr>
        <p:sp>
          <p:nvSpPr>
            <p:cNvPr id="276531" name="Oval 51"/>
            <p:cNvSpPr>
              <a:spLocks noChangeArrowheads="1"/>
            </p:cNvSpPr>
            <p:nvPr/>
          </p:nvSpPr>
          <p:spPr bwMode="auto">
            <a:xfrm>
              <a:off x="432" y="1008"/>
              <a:ext cx="288" cy="288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2" name="Rectangle 52"/>
            <p:cNvSpPr>
              <a:spLocks noChangeArrowheads="1"/>
            </p:cNvSpPr>
            <p:nvPr/>
          </p:nvSpPr>
          <p:spPr bwMode="auto">
            <a:xfrm>
              <a:off x="1872" y="1056"/>
              <a:ext cx="96" cy="24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3" name="Line 53"/>
            <p:cNvSpPr>
              <a:spLocks noChangeShapeType="1"/>
            </p:cNvSpPr>
            <p:nvPr/>
          </p:nvSpPr>
          <p:spPr bwMode="auto">
            <a:xfrm>
              <a:off x="576" y="720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4" name="Line 54"/>
            <p:cNvSpPr>
              <a:spLocks noChangeShapeType="1"/>
            </p:cNvSpPr>
            <p:nvPr/>
          </p:nvSpPr>
          <p:spPr bwMode="auto">
            <a:xfrm>
              <a:off x="576" y="72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5" name="Line 55"/>
            <p:cNvSpPr>
              <a:spLocks noChangeShapeType="1"/>
            </p:cNvSpPr>
            <p:nvPr/>
          </p:nvSpPr>
          <p:spPr bwMode="auto">
            <a:xfrm>
              <a:off x="1200" y="720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6" name="Line 56"/>
            <p:cNvSpPr>
              <a:spLocks noChangeShapeType="1"/>
            </p:cNvSpPr>
            <p:nvPr/>
          </p:nvSpPr>
          <p:spPr bwMode="auto">
            <a:xfrm>
              <a:off x="1920" y="720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7" name="Line 57"/>
            <p:cNvSpPr>
              <a:spLocks noChangeShapeType="1"/>
            </p:cNvSpPr>
            <p:nvPr/>
          </p:nvSpPr>
          <p:spPr bwMode="auto">
            <a:xfrm>
              <a:off x="576" y="1632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38" name="Text Box 58"/>
            <p:cNvSpPr txBox="1">
              <a:spLocks noChangeArrowheads="1"/>
            </p:cNvSpPr>
            <p:nvPr/>
          </p:nvSpPr>
          <p:spPr bwMode="auto">
            <a:xfrm>
              <a:off x="598" y="1218"/>
              <a:ext cx="318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39" name="Text Box 59"/>
            <p:cNvSpPr txBox="1">
              <a:spLocks noChangeArrowheads="1"/>
            </p:cNvSpPr>
            <p:nvPr/>
          </p:nvSpPr>
          <p:spPr bwMode="auto">
            <a:xfrm>
              <a:off x="327" y="678"/>
              <a:ext cx="244" cy="10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40" name="Text Box 60"/>
            <p:cNvSpPr txBox="1">
              <a:spLocks noChangeArrowheads="1"/>
            </p:cNvSpPr>
            <p:nvPr/>
          </p:nvSpPr>
          <p:spPr bwMode="auto">
            <a:xfrm>
              <a:off x="811" y="1601"/>
              <a:ext cx="858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3200" b="1" baseline="30000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276541" name="Line 61"/>
            <p:cNvSpPr>
              <a:spLocks noChangeShapeType="1"/>
            </p:cNvSpPr>
            <p:nvPr/>
          </p:nvSpPr>
          <p:spPr bwMode="auto">
            <a:xfrm>
              <a:off x="1200" y="57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42" name="Line 62"/>
            <p:cNvSpPr>
              <a:spLocks noChangeShapeType="1"/>
            </p:cNvSpPr>
            <p:nvPr/>
          </p:nvSpPr>
          <p:spPr bwMode="auto">
            <a:xfrm>
              <a:off x="1104" y="57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43" name="Line 63"/>
            <p:cNvSpPr>
              <a:spLocks noChangeShapeType="1"/>
            </p:cNvSpPr>
            <p:nvPr/>
          </p:nvSpPr>
          <p:spPr bwMode="auto">
            <a:xfrm>
              <a:off x="1920" y="1296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44" name="Text Box 64"/>
            <p:cNvSpPr txBox="1">
              <a:spLocks noChangeArrowheads="1"/>
            </p:cNvSpPr>
            <p:nvPr/>
          </p:nvSpPr>
          <p:spPr bwMode="auto">
            <a:xfrm>
              <a:off x="1597" y="1025"/>
              <a:ext cx="264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45" name="Text Box 65"/>
            <p:cNvSpPr txBox="1">
              <a:spLocks noChangeArrowheads="1"/>
            </p:cNvSpPr>
            <p:nvPr/>
          </p:nvSpPr>
          <p:spPr bwMode="auto">
            <a:xfrm>
              <a:off x="868" y="633"/>
              <a:ext cx="630" cy="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6546" name="Text Box 66"/>
            <p:cNvSpPr txBox="1">
              <a:spLocks noChangeArrowheads="1"/>
            </p:cNvSpPr>
            <p:nvPr/>
          </p:nvSpPr>
          <p:spPr bwMode="auto">
            <a:xfrm>
              <a:off x="1946" y="731"/>
              <a:ext cx="334" cy="9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76547" name="Oval 67"/>
          <p:cNvSpPr>
            <a:spLocks noChangeArrowheads="1"/>
          </p:cNvSpPr>
          <p:nvPr/>
        </p:nvSpPr>
        <p:spPr bwMode="auto">
          <a:xfrm>
            <a:off x="5264150" y="4464050"/>
            <a:ext cx="603250" cy="225425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87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 build="p" autoUpdateAnimBg="0"/>
      <p:bldP spid="27648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Text Box 2"/>
          <p:cNvSpPr txBox="1">
            <a:spLocks noChangeArrowheads="1"/>
          </p:cNvSpPr>
          <p:nvPr/>
        </p:nvSpPr>
        <p:spPr bwMode="auto">
          <a:xfrm>
            <a:off x="4976813" y="12334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5662613" y="6238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6348413" y="11572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7110413" y="6238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8534" name="Group 6"/>
          <p:cNvGrpSpPr>
            <a:grpSpLocks/>
          </p:cNvGrpSpPr>
          <p:nvPr/>
        </p:nvGrpSpPr>
        <p:grpSpPr bwMode="auto">
          <a:xfrm>
            <a:off x="4748213" y="242888"/>
            <a:ext cx="3392487" cy="1768475"/>
            <a:chOff x="2544" y="326"/>
            <a:chExt cx="2137" cy="1114"/>
          </a:xfrm>
        </p:grpSpPr>
        <p:sp>
          <p:nvSpPr>
            <p:cNvPr id="278535" name="Text Box 7"/>
            <p:cNvSpPr txBox="1">
              <a:spLocks noChangeArrowheads="1"/>
            </p:cNvSpPr>
            <p:nvPr/>
          </p:nvSpPr>
          <p:spPr bwMode="auto">
            <a:xfrm>
              <a:off x="2718" y="326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sz="2400" b="1" i="1" baseline="-25000">
                <a:latin typeface="Times New Roman" panose="02020603050405020304" pitchFamily="18" charset="0"/>
              </a:endParaRPr>
            </a:p>
          </p:txBody>
        </p:sp>
        <p:grpSp>
          <p:nvGrpSpPr>
            <p:cNvPr id="278536" name="Group 8"/>
            <p:cNvGrpSpPr>
              <a:grpSpLocks/>
            </p:cNvGrpSpPr>
            <p:nvPr/>
          </p:nvGrpSpPr>
          <p:grpSpPr bwMode="auto">
            <a:xfrm>
              <a:off x="2544" y="432"/>
              <a:ext cx="2137" cy="1008"/>
              <a:chOff x="2544" y="624"/>
              <a:chExt cx="2137" cy="1008"/>
            </a:xfrm>
          </p:grpSpPr>
          <p:sp>
            <p:nvSpPr>
              <p:cNvPr id="278537" name="Line 9"/>
              <p:cNvSpPr>
                <a:spLocks noChangeShapeType="1"/>
              </p:cNvSpPr>
              <p:nvPr/>
            </p:nvSpPr>
            <p:spPr bwMode="auto">
              <a:xfrm>
                <a:off x="2544" y="1344"/>
                <a:ext cx="1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38" name="Line 10"/>
              <p:cNvSpPr>
                <a:spLocks noChangeShapeType="1"/>
              </p:cNvSpPr>
              <p:nvPr/>
            </p:nvSpPr>
            <p:spPr bwMode="auto">
              <a:xfrm flipV="1">
                <a:off x="2640" y="624"/>
                <a:ext cx="0" cy="10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39" name="Text Box 11"/>
              <p:cNvSpPr txBox="1">
                <a:spLocks noChangeArrowheads="1"/>
              </p:cNvSpPr>
              <p:nvPr/>
            </p:nvSpPr>
            <p:spPr bwMode="auto">
              <a:xfrm>
                <a:off x="4512" y="1296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540" name="Line 12"/>
              <p:cNvSpPr>
                <a:spLocks noChangeShapeType="1"/>
              </p:cNvSpPr>
              <p:nvPr/>
            </p:nvSpPr>
            <p:spPr bwMode="auto">
              <a:xfrm>
                <a:off x="2640" y="81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41" name="Line 13"/>
              <p:cNvSpPr>
                <a:spLocks noChangeShapeType="1"/>
              </p:cNvSpPr>
              <p:nvPr/>
            </p:nvSpPr>
            <p:spPr bwMode="auto">
              <a:xfrm>
                <a:off x="3072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42" name="Line 14"/>
              <p:cNvSpPr>
                <a:spLocks noChangeShapeType="1"/>
              </p:cNvSpPr>
              <p:nvPr/>
            </p:nvSpPr>
            <p:spPr bwMode="auto">
              <a:xfrm>
                <a:off x="3504" y="81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43" name="Line 15"/>
              <p:cNvSpPr>
                <a:spLocks noChangeShapeType="1"/>
              </p:cNvSpPr>
              <p:nvPr/>
            </p:nvSpPr>
            <p:spPr bwMode="auto">
              <a:xfrm>
                <a:off x="3504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44" name="Line 16"/>
              <p:cNvSpPr>
                <a:spLocks noChangeShapeType="1"/>
              </p:cNvSpPr>
              <p:nvPr/>
            </p:nvSpPr>
            <p:spPr bwMode="auto">
              <a:xfrm>
                <a:off x="3936" y="816"/>
                <a:ext cx="0" cy="5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545" name="Text Box 17"/>
              <p:cNvSpPr txBox="1">
                <a:spLocks noChangeArrowheads="1"/>
              </p:cNvSpPr>
              <p:nvPr/>
            </p:nvSpPr>
            <p:spPr bwMode="auto">
              <a:xfrm>
                <a:off x="2903" y="134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78546" name="Text Box 18"/>
              <p:cNvSpPr txBox="1">
                <a:spLocks noChangeArrowheads="1"/>
              </p:cNvSpPr>
              <p:nvPr/>
            </p:nvSpPr>
            <p:spPr bwMode="auto">
              <a:xfrm>
                <a:off x="3307" y="1344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2T</a:t>
                </a:r>
              </a:p>
            </p:txBody>
          </p:sp>
          <p:sp>
            <p:nvSpPr>
              <p:cNvPr id="278547" name="Text Box 19"/>
              <p:cNvSpPr txBox="1">
                <a:spLocks noChangeArrowheads="1"/>
              </p:cNvSpPr>
              <p:nvPr/>
            </p:nvSpPr>
            <p:spPr bwMode="auto">
              <a:xfrm>
                <a:off x="3739" y="1344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3T</a:t>
                </a:r>
              </a:p>
            </p:txBody>
          </p:sp>
        </p:grpSp>
      </p:grpSp>
      <p:sp>
        <p:nvSpPr>
          <p:cNvPr id="278548" name="Text Box 20"/>
          <p:cNvSpPr txBox="1">
            <a:spLocks noChangeArrowheads="1"/>
          </p:cNvSpPr>
          <p:nvPr/>
        </p:nvSpPr>
        <p:spPr bwMode="auto">
          <a:xfrm>
            <a:off x="3959225" y="476250"/>
            <a:ext cx="938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100V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278549" name="Group 21"/>
          <p:cNvGrpSpPr>
            <a:grpSpLocks/>
          </p:cNvGrpSpPr>
          <p:nvPr/>
        </p:nvGrpSpPr>
        <p:grpSpPr bwMode="auto">
          <a:xfrm>
            <a:off x="4895850" y="852488"/>
            <a:ext cx="2522538" cy="465137"/>
            <a:chOff x="430" y="576"/>
            <a:chExt cx="1589" cy="293"/>
          </a:xfrm>
        </p:grpSpPr>
        <p:sp>
          <p:nvSpPr>
            <p:cNvPr id="278550" name="Freeform 22"/>
            <p:cNvSpPr>
              <a:spLocks/>
            </p:cNvSpPr>
            <p:nvPr/>
          </p:nvSpPr>
          <p:spPr bwMode="auto">
            <a:xfrm>
              <a:off x="430" y="576"/>
              <a:ext cx="450" cy="293"/>
            </a:xfrm>
            <a:custGeom>
              <a:avLst/>
              <a:gdLst>
                <a:gd name="T0" fmla="*/ 0 w 450"/>
                <a:gd name="T1" fmla="*/ 293 h 293"/>
                <a:gd name="T2" fmla="*/ 87 w 450"/>
                <a:gd name="T3" fmla="*/ 192 h 293"/>
                <a:gd name="T4" fmla="*/ 173 w 450"/>
                <a:gd name="T5" fmla="*/ 106 h 293"/>
                <a:gd name="T6" fmla="*/ 250 w 450"/>
                <a:gd name="T7" fmla="*/ 43 h 293"/>
                <a:gd name="T8" fmla="*/ 332 w 450"/>
                <a:gd name="T9" fmla="*/ 14 h 293"/>
                <a:gd name="T10" fmla="*/ 432 w 450"/>
                <a:gd name="T11" fmla="*/ 10 h 293"/>
                <a:gd name="T12" fmla="*/ 442 w 450"/>
                <a:gd name="T1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0" h="293">
                  <a:moveTo>
                    <a:pt x="0" y="293"/>
                  </a:moveTo>
                  <a:cubicBezTo>
                    <a:pt x="15" y="275"/>
                    <a:pt x="58" y="223"/>
                    <a:pt x="87" y="192"/>
                  </a:cubicBezTo>
                  <a:cubicBezTo>
                    <a:pt x="116" y="161"/>
                    <a:pt x="146" y="131"/>
                    <a:pt x="173" y="106"/>
                  </a:cubicBezTo>
                  <a:cubicBezTo>
                    <a:pt x="200" y="81"/>
                    <a:pt x="224" y="58"/>
                    <a:pt x="250" y="43"/>
                  </a:cubicBezTo>
                  <a:cubicBezTo>
                    <a:pt x="276" y="28"/>
                    <a:pt x="302" y="19"/>
                    <a:pt x="332" y="14"/>
                  </a:cubicBezTo>
                  <a:cubicBezTo>
                    <a:pt x="362" y="9"/>
                    <a:pt x="414" y="12"/>
                    <a:pt x="432" y="10"/>
                  </a:cubicBezTo>
                  <a:cubicBezTo>
                    <a:pt x="450" y="8"/>
                    <a:pt x="440" y="2"/>
                    <a:pt x="442" y="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51" name="Freeform 23"/>
            <p:cNvSpPr>
              <a:spLocks/>
            </p:cNvSpPr>
            <p:nvPr/>
          </p:nvSpPr>
          <p:spPr bwMode="auto">
            <a:xfrm>
              <a:off x="867" y="576"/>
              <a:ext cx="437" cy="288"/>
            </a:xfrm>
            <a:custGeom>
              <a:avLst/>
              <a:gdLst>
                <a:gd name="T0" fmla="*/ 0 w 437"/>
                <a:gd name="T1" fmla="*/ 0 h 288"/>
                <a:gd name="T2" fmla="*/ 38 w 437"/>
                <a:gd name="T3" fmla="*/ 48 h 288"/>
                <a:gd name="T4" fmla="*/ 182 w 437"/>
                <a:gd name="T5" fmla="*/ 168 h 288"/>
                <a:gd name="T6" fmla="*/ 437 w 437"/>
                <a:gd name="T7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7" h="288">
                  <a:moveTo>
                    <a:pt x="0" y="0"/>
                  </a:moveTo>
                  <a:cubicBezTo>
                    <a:pt x="6" y="8"/>
                    <a:pt x="8" y="20"/>
                    <a:pt x="38" y="48"/>
                  </a:cubicBezTo>
                  <a:cubicBezTo>
                    <a:pt x="68" y="76"/>
                    <a:pt x="116" y="128"/>
                    <a:pt x="182" y="168"/>
                  </a:cubicBezTo>
                  <a:cubicBezTo>
                    <a:pt x="248" y="208"/>
                    <a:pt x="384" y="263"/>
                    <a:pt x="437" y="288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52" name="Freeform 24"/>
            <p:cNvSpPr>
              <a:spLocks/>
            </p:cNvSpPr>
            <p:nvPr/>
          </p:nvSpPr>
          <p:spPr bwMode="auto">
            <a:xfrm>
              <a:off x="1299" y="576"/>
              <a:ext cx="450" cy="274"/>
            </a:xfrm>
            <a:custGeom>
              <a:avLst/>
              <a:gdLst>
                <a:gd name="T0" fmla="*/ 0 w 450"/>
                <a:gd name="T1" fmla="*/ 274 h 274"/>
                <a:gd name="T2" fmla="*/ 87 w 450"/>
                <a:gd name="T3" fmla="*/ 192 h 274"/>
                <a:gd name="T4" fmla="*/ 173 w 450"/>
                <a:gd name="T5" fmla="*/ 106 h 274"/>
                <a:gd name="T6" fmla="*/ 250 w 450"/>
                <a:gd name="T7" fmla="*/ 43 h 274"/>
                <a:gd name="T8" fmla="*/ 332 w 450"/>
                <a:gd name="T9" fmla="*/ 14 h 274"/>
                <a:gd name="T10" fmla="*/ 432 w 450"/>
                <a:gd name="T11" fmla="*/ 10 h 274"/>
                <a:gd name="T12" fmla="*/ 442 w 450"/>
                <a:gd name="T13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0" h="274">
                  <a:moveTo>
                    <a:pt x="0" y="274"/>
                  </a:moveTo>
                  <a:cubicBezTo>
                    <a:pt x="14" y="261"/>
                    <a:pt x="58" y="220"/>
                    <a:pt x="87" y="192"/>
                  </a:cubicBezTo>
                  <a:cubicBezTo>
                    <a:pt x="116" y="164"/>
                    <a:pt x="146" y="131"/>
                    <a:pt x="173" y="106"/>
                  </a:cubicBezTo>
                  <a:cubicBezTo>
                    <a:pt x="200" y="81"/>
                    <a:pt x="224" y="58"/>
                    <a:pt x="250" y="43"/>
                  </a:cubicBezTo>
                  <a:cubicBezTo>
                    <a:pt x="276" y="28"/>
                    <a:pt x="302" y="19"/>
                    <a:pt x="332" y="14"/>
                  </a:cubicBezTo>
                  <a:cubicBezTo>
                    <a:pt x="362" y="9"/>
                    <a:pt x="414" y="12"/>
                    <a:pt x="432" y="10"/>
                  </a:cubicBezTo>
                  <a:cubicBezTo>
                    <a:pt x="450" y="8"/>
                    <a:pt x="440" y="2"/>
                    <a:pt x="442" y="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53" name="Line 25"/>
            <p:cNvSpPr>
              <a:spLocks noChangeShapeType="1"/>
            </p:cNvSpPr>
            <p:nvPr/>
          </p:nvSpPr>
          <p:spPr bwMode="auto">
            <a:xfrm>
              <a:off x="435" y="576"/>
              <a:ext cx="15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8554" name="Line 26"/>
          <p:cNvSpPr>
            <a:spLocks noChangeShapeType="1"/>
          </p:cNvSpPr>
          <p:nvPr/>
        </p:nvSpPr>
        <p:spPr bwMode="auto">
          <a:xfrm>
            <a:off x="4895850" y="1309688"/>
            <a:ext cx="2590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55" name="Text Box 27"/>
          <p:cNvSpPr txBox="1">
            <a:spLocks noChangeArrowheads="1"/>
          </p:cNvSpPr>
          <p:nvPr/>
        </p:nvSpPr>
        <p:spPr bwMode="auto">
          <a:xfrm>
            <a:off x="7239000" y="623888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8556" name="Text Box 28"/>
          <p:cNvSpPr txBox="1">
            <a:spLocks noChangeArrowheads="1"/>
          </p:cNvSpPr>
          <p:nvPr/>
        </p:nvSpPr>
        <p:spPr bwMode="auto">
          <a:xfrm>
            <a:off x="7262813" y="1081088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78557" name="Text Box 29"/>
          <p:cNvSpPr txBox="1">
            <a:spLocks noChangeArrowheads="1"/>
          </p:cNvSpPr>
          <p:nvPr/>
        </p:nvSpPr>
        <p:spPr bwMode="auto">
          <a:xfrm>
            <a:off x="4808538" y="1538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575" name="Rectangle 47"/>
          <p:cNvSpPr>
            <a:spLocks noChangeArrowheads="1"/>
          </p:cNvSpPr>
          <p:nvPr/>
        </p:nvSpPr>
        <p:spPr bwMode="auto">
          <a:xfrm>
            <a:off x="215900" y="2168525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 &lt;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 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8576" name="Object 48"/>
          <p:cNvGraphicFramePr>
            <a:graphicFrameLocks noChangeAspect="1"/>
          </p:cNvGraphicFramePr>
          <p:nvPr/>
        </p:nvGraphicFramePr>
        <p:xfrm>
          <a:off x="503238" y="2565400"/>
          <a:ext cx="38496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4" name="公式" r:id="rId4" imgW="1638000" imgH="355320" progId="Equation.3">
                  <p:embed/>
                </p:oleObj>
              </mc:Choice>
              <mc:Fallback>
                <p:oleObj name="公式" r:id="rId4" imgW="1638000" imgH="355320" progId="Equation.3">
                  <p:embed/>
                  <p:pic>
                    <p:nvPicPr>
                      <p:cNvPr id="27857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565400"/>
                        <a:ext cx="38496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77" name="Rectangle 49"/>
          <p:cNvSpPr>
            <a:spLocks noChangeArrowheads="1"/>
          </p:cNvSpPr>
          <p:nvPr/>
        </p:nvSpPr>
        <p:spPr bwMode="auto">
          <a:xfrm>
            <a:off x="5543550" y="2133600"/>
            <a:ext cx="149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&lt;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&lt; 2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8578" name="Object 50"/>
          <p:cNvGraphicFramePr>
            <a:graphicFrameLocks noChangeAspect="1"/>
          </p:cNvGraphicFramePr>
          <p:nvPr/>
        </p:nvGraphicFramePr>
        <p:xfrm>
          <a:off x="6099175" y="2500313"/>
          <a:ext cx="19478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5" name="公式" r:id="rId6" imgW="838080" imgH="355320" progId="Equation.3">
                  <p:embed/>
                </p:oleObj>
              </mc:Choice>
              <mc:Fallback>
                <p:oleObj name="公式" r:id="rId6" imgW="838080" imgH="355320" progId="Equation.3">
                  <p:embed/>
                  <p:pic>
                    <p:nvPicPr>
                      <p:cNvPr id="27857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2500313"/>
                        <a:ext cx="19478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79" name="Rectangle 51"/>
          <p:cNvSpPr>
            <a:spLocks noChangeArrowheads="1"/>
          </p:cNvSpPr>
          <p:nvPr/>
        </p:nvSpPr>
        <p:spPr bwMode="auto">
          <a:xfrm>
            <a:off x="250825" y="3500438"/>
            <a:ext cx="77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580" name="Rectangle 52"/>
          <p:cNvSpPr>
            <a:spLocks noChangeArrowheads="1"/>
          </p:cNvSpPr>
          <p:nvPr/>
        </p:nvSpPr>
        <p:spPr bwMode="auto">
          <a:xfrm>
            <a:off x="5715000" y="3429000"/>
            <a:ext cx="93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= 2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8581" name="Object 53"/>
          <p:cNvGraphicFramePr>
            <a:graphicFrameLocks noChangeAspect="1"/>
          </p:cNvGraphicFramePr>
          <p:nvPr/>
        </p:nvGraphicFramePr>
        <p:xfrm>
          <a:off x="5791200" y="3795713"/>
          <a:ext cx="298608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6" name="公式" r:id="rId8" imgW="1244520" imgH="355320" progId="Equation.3">
                  <p:embed/>
                </p:oleObj>
              </mc:Choice>
              <mc:Fallback>
                <p:oleObj name="公式" r:id="rId8" imgW="1244520" imgH="355320" progId="Equation.3">
                  <p:embed/>
                  <p:pic>
                    <p:nvPicPr>
                      <p:cNvPr id="27858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795713"/>
                        <a:ext cx="298608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82" name="Object 54"/>
          <p:cNvGraphicFramePr>
            <a:graphicFrameLocks noChangeAspect="1"/>
          </p:cNvGraphicFramePr>
          <p:nvPr/>
        </p:nvGraphicFramePr>
        <p:xfrm>
          <a:off x="280988" y="3871913"/>
          <a:ext cx="44815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7" name="公式" r:id="rId10" imgW="1981080" imgH="355320" progId="Equation.3">
                  <p:embed/>
                </p:oleObj>
              </mc:Choice>
              <mc:Fallback>
                <p:oleObj name="公式" r:id="rId10" imgW="1981080" imgH="355320" progId="Equation.3">
                  <p:embed/>
                  <p:pic>
                    <p:nvPicPr>
                      <p:cNvPr id="27858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871913"/>
                        <a:ext cx="44815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8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863375"/>
              </p:ext>
            </p:extLst>
          </p:nvPr>
        </p:nvGraphicFramePr>
        <p:xfrm>
          <a:off x="6804248" y="5488000"/>
          <a:ext cx="184150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8" name="Equation" r:id="rId12" imgW="888840" imgH="495000" progId="Equation.DSMT4">
                  <p:embed/>
                </p:oleObj>
              </mc:Choice>
              <mc:Fallback>
                <p:oleObj name="Equation" r:id="rId12" imgW="888840" imgH="495000" progId="Equation.DSMT4">
                  <p:embed/>
                  <p:pic>
                    <p:nvPicPr>
                      <p:cNvPr id="278583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5488000"/>
                        <a:ext cx="1841500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8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08049"/>
              </p:ext>
            </p:extLst>
          </p:nvPr>
        </p:nvGraphicFramePr>
        <p:xfrm>
          <a:off x="3141663" y="5283489"/>
          <a:ext cx="3019425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9" name="Equation" r:id="rId14" imgW="1460160" imgH="622080" progId="Equation.DSMT4">
                  <p:embed/>
                </p:oleObj>
              </mc:Choice>
              <mc:Fallback>
                <p:oleObj name="Equation" r:id="rId14" imgW="1460160" imgH="622080" progId="Equation.DSMT4">
                  <p:embed/>
                  <p:pic>
                    <p:nvPicPr>
                      <p:cNvPr id="278584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5283489"/>
                        <a:ext cx="3019425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85" name="AutoShape 57"/>
          <p:cNvSpPr>
            <a:spLocks/>
          </p:cNvSpPr>
          <p:nvPr/>
        </p:nvSpPr>
        <p:spPr bwMode="auto">
          <a:xfrm rot="-5400000">
            <a:off x="5430838" y="2798762"/>
            <a:ext cx="406400" cy="4410075"/>
          </a:xfrm>
          <a:prstGeom prst="leftBrace">
            <a:avLst>
              <a:gd name="adj1" fmla="val 90430"/>
              <a:gd name="adj2" fmla="val 50000"/>
            </a:avLst>
          </a:prstGeom>
          <a:noFill/>
          <a:ln w="57150">
            <a:solidFill>
              <a:srgbClr val="99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86" name="Text Box 58"/>
          <p:cNvSpPr txBox="1">
            <a:spLocks noChangeArrowheads="1"/>
          </p:cNvSpPr>
          <p:nvPr/>
        </p:nvSpPr>
        <p:spPr bwMode="auto">
          <a:xfrm>
            <a:off x="28575" y="5364163"/>
            <a:ext cx="2878138" cy="1500187"/>
          </a:xfrm>
          <a:prstGeom prst="rect">
            <a:avLst/>
          </a:prstGeom>
          <a:noFill/>
          <a:ln w="34925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这类问题的分析特点：</a:t>
            </a:r>
          </a:p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）设</a:t>
            </a:r>
            <a:r>
              <a:rPr lang="zh-CN" altLang="en-US" b="1">
                <a:solidFill>
                  <a:srgbClr val="0000FF"/>
                </a:solidFill>
              </a:rPr>
              <a:t>电路已经进入稳态</a:t>
            </a:r>
          </a:p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）画</a:t>
            </a:r>
            <a:r>
              <a:rPr lang="zh-CN" altLang="en-US" b="1">
                <a:solidFill>
                  <a:srgbClr val="FF0000"/>
                </a:solidFill>
              </a:rPr>
              <a:t>电路图，求解电路</a:t>
            </a:r>
          </a:p>
          <a:p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）利用边界条件求出</a:t>
            </a:r>
          </a:p>
          <a:p>
            <a:r>
              <a:rPr lang="zh-CN" altLang="en-US" b="1"/>
              <a:t>            </a:t>
            </a:r>
            <a:r>
              <a:rPr lang="zh-CN" altLang="en-US" b="1">
                <a:solidFill>
                  <a:srgbClr val="FF0000"/>
                </a:solidFill>
              </a:rPr>
              <a:t>关键点电压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电流</a:t>
            </a:r>
          </a:p>
        </p:txBody>
      </p:sp>
      <p:sp>
        <p:nvSpPr>
          <p:cNvPr id="278587" name="Oval 59"/>
          <p:cNvSpPr>
            <a:spLocks noChangeArrowheads="1"/>
          </p:cNvSpPr>
          <p:nvPr/>
        </p:nvSpPr>
        <p:spPr bwMode="auto">
          <a:xfrm>
            <a:off x="990600" y="3810000"/>
            <a:ext cx="3914775" cy="1081088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88" name="Oval 60"/>
          <p:cNvSpPr>
            <a:spLocks noChangeArrowheads="1"/>
          </p:cNvSpPr>
          <p:nvPr/>
        </p:nvSpPr>
        <p:spPr bwMode="auto">
          <a:xfrm>
            <a:off x="6477000" y="3733800"/>
            <a:ext cx="2519363" cy="990600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89" name="Oval 61"/>
          <p:cNvSpPr>
            <a:spLocks noChangeArrowheads="1"/>
          </p:cNvSpPr>
          <p:nvPr/>
        </p:nvSpPr>
        <p:spPr bwMode="auto">
          <a:xfrm>
            <a:off x="161925" y="4103688"/>
            <a:ext cx="1349375" cy="630237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90" name="Oval 62"/>
          <p:cNvSpPr>
            <a:spLocks noChangeArrowheads="1"/>
          </p:cNvSpPr>
          <p:nvPr/>
        </p:nvSpPr>
        <p:spPr bwMode="auto">
          <a:xfrm>
            <a:off x="5697538" y="4103688"/>
            <a:ext cx="1349375" cy="630237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8592" name="Group 64"/>
          <p:cNvGrpSpPr>
            <a:grpSpLocks/>
          </p:cNvGrpSpPr>
          <p:nvPr/>
        </p:nvGrpSpPr>
        <p:grpSpPr bwMode="auto">
          <a:xfrm>
            <a:off x="827088" y="0"/>
            <a:ext cx="3108325" cy="2165350"/>
            <a:chOff x="-27" y="-54"/>
            <a:chExt cx="1958" cy="1364"/>
          </a:xfrm>
        </p:grpSpPr>
        <p:sp>
          <p:nvSpPr>
            <p:cNvPr id="278559" name="Oval 31"/>
            <p:cNvSpPr>
              <a:spLocks noChangeArrowheads="1"/>
            </p:cNvSpPr>
            <p:nvPr/>
          </p:nvSpPr>
          <p:spPr bwMode="auto">
            <a:xfrm>
              <a:off x="224" y="535"/>
              <a:ext cx="266" cy="236"/>
            </a:xfrm>
            <a:prstGeom prst="ellipse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0" name="Rectangle 32"/>
            <p:cNvSpPr>
              <a:spLocks noChangeArrowheads="1"/>
            </p:cNvSpPr>
            <p:nvPr/>
          </p:nvSpPr>
          <p:spPr bwMode="auto">
            <a:xfrm>
              <a:off x="1554" y="574"/>
              <a:ext cx="89" cy="197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1" name="Line 33"/>
            <p:cNvSpPr>
              <a:spLocks noChangeShapeType="1"/>
            </p:cNvSpPr>
            <p:nvPr/>
          </p:nvSpPr>
          <p:spPr bwMode="auto">
            <a:xfrm>
              <a:off x="357" y="298"/>
              <a:ext cx="0" cy="7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2" name="Line 34"/>
            <p:cNvSpPr>
              <a:spLocks noChangeShapeType="1"/>
            </p:cNvSpPr>
            <p:nvPr/>
          </p:nvSpPr>
          <p:spPr bwMode="auto">
            <a:xfrm>
              <a:off x="357" y="298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3" name="Line 35"/>
            <p:cNvSpPr>
              <a:spLocks noChangeShapeType="1"/>
            </p:cNvSpPr>
            <p:nvPr/>
          </p:nvSpPr>
          <p:spPr bwMode="auto">
            <a:xfrm>
              <a:off x="933" y="298"/>
              <a:ext cx="6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4" name="Line 36"/>
            <p:cNvSpPr>
              <a:spLocks noChangeShapeType="1"/>
            </p:cNvSpPr>
            <p:nvPr/>
          </p:nvSpPr>
          <p:spPr bwMode="auto">
            <a:xfrm>
              <a:off x="1598" y="298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5" name="Line 37"/>
            <p:cNvSpPr>
              <a:spLocks noChangeShapeType="1"/>
            </p:cNvSpPr>
            <p:nvPr/>
          </p:nvSpPr>
          <p:spPr bwMode="auto">
            <a:xfrm>
              <a:off x="357" y="1047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66" name="Text Box 38"/>
            <p:cNvSpPr txBox="1">
              <a:spLocks noChangeArrowheads="1"/>
            </p:cNvSpPr>
            <p:nvPr/>
          </p:nvSpPr>
          <p:spPr bwMode="auto">
            <a:xfrm>
              <a:off x="-27" y="478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8567" name="Text Box 39"/>
            <p:cNvSpPr txBox="1">
              <a:spLocks noChangeArrowheads="1"/>
            </p:cNvSpPr>
            <p:nvPr/>
          </p:nvSpPr>
          <p:spPr bwMode="auto">
            <a:xfrm>
              <a:off x="127" y="264"/>
              <a:ext cx="225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8568" name="Text Box 40"/>
            <p:cNvSpPr txBox="1">
              <a:spLocks noChangeArrowheads="1"/>
            </p:cNvSpPr>
            <p:nvPr/>
          </p:nvSpPr>
          <p:spPr bwMode="auto">
            <a:xfrm>
              <a:off x="574" y="1022"/>
              <a:ext cx="7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3200" b="1" baseline="30000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278569" name="Line 41"/>
            <p:cNvSpPr>
              <a:spLocks noChangeShapeType="1"/>
            </p:cNvSpPr>
            <p:nvPr/>
          </p:nvSpPr>
          <p:spPr bwMode="auto">
            <a:xfrm>
              <a:off x="933" y="180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70" name="Line 42"/>
            <p:cNvSpPr>
              <a:spLocks noChangeShapeType="1"/>
            </p:cNvSpPr>
            <p:nvPr/>
          </p:nvSpPr>
          <p:spPr bwMode="auto">
            <a:xfrm>
              <a:off x="845" y="180"/>
              <a:ext cx="0" cy="1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71" name="Line 43"/>
            <p:cNvSpPr>
              <a:spLocks noChangeShapeType="1"/>
            </p:cNvSpPr>
            <p:nvPr/>
          </p:nvSpPr>
          <p:spPr bwMode="auto">
            <a:xfrm>
              <a:off x="1598" y="771"/>
              <a:ext cx="0" cy="2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572" name="Text Box 44"/>
            <p:cNvSpPr txBox="1">
              <a:spLocks noChangeArrowheads="1"/>
            </p:cNvSpPr>
            <p:nvPr/>
          </p:nvSpPr>
          <p:spPr bwMode="auto">
            <a:xfrm>
              <a:off x="1300" y="549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8573" name="Text Box 45"/>
            <p:cNvSpPr txBox="1">
              <a:spLocks noChangeArrowheads="1"/>
            </p:cNvSpPr>
            <p:nvPr/>
          </p:nvSpPr>
          <p:spPr bwMode="auto">
            <a:xfrm>
              <a:off x="627" y="227"/>
              <a:ext cx="5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i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8574" name="Text Box 46"/>
            <p:cNvSpPr txBox="1">
              <a:spLocks noChangeArrowheads="1"/>
            </p:cNvSpPr>
            <p:nvPr/>
          </p:nvSpPr>
          <p:spPr bwMode="auto">
            <a:xfrm>
              <a:off x="1622" y="307"/>
              <a:ext cx="309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78591" name="Text Box 63"/>
            <p:cNvSpPr txBox="1">
              <a:spLocks noChangeArrowheads="1"/>
            </p:cNvSpPr>
            <p:nvPr/>
          </p:nvSpPr>
          <p:spPr bwMode="auto">
            <a:xfrm>
              <a:off x="771" y="-5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45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8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278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8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75" grpId="0" build="p" autoUpdateAnimBg="0"/>
      <p:bldP spid="278577" grpId="0" build="p" autoUpdateAnimBg="0"/>
      <p:bldP spid="278579" grpId="0" autoUpdateAnimBg="0"/>
      <p:bldP spid="278580" grpId="0" build="p" autoUpdateAnimBg="0"/>
      <p:bldP spid="27858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B52EAC-F32A-41E3-AA42-767AFD0E1305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电路理论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7B57A5-A3A8-4322-83D4-7F78BCCCB6EA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516090"/>
              </p:ext>
            </p:extLst>
          </p:nvPr>
        </p:nvGraphicFramePr>
        <p:xfrm>
          <a:off x="4597389" y="648098"/>
          <a:ext cx="32242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0" name="公式" r:id="rId3" imgW="1612900" imgH="393700" progId="Equation.3">
                  <p:embed/>
                </p:oleObj>
              </mc:Choice>
              <mc:Fallback>
                <p:oleObj name="公式" r:id="rId3" imgW="1612900" imgH="393700" progId="Equation.3">
                  <p:embed/>
                  <p:pic>
                    <p:nvPicPr>
                      <p:cNvPr id="2508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389" y="648098"/>
                        <a:ext cx="322421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289392"/>
              </p:ext>
            </p:extLst>
          </p:nvPr>
        </p:nvGraphicFramePr>
        <p:xfrm>
          <a:off x="4609336" y="1465661"/>
          <a:ext cx="2259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1" name="Equation" r:id="rId5" imgW="1129810" imgH="190417" progId="Equation.DSMT4">
                  <p:embed/>
                </p:oleObj>
              </mc:Choice>
              <mc:Fallback>
                <p:oleObj name="Equation" r:id="rId5" imgW="1129810" imgH="190417" progId="Equation.DSMT4">
                  <p:embed/>
                  <p:pic>
                    <p:nvPicPr>
                      <p:cNvPr id="2508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336" y="1465661"/>
                        <a:ext cx="2259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64492"/>
              </p:ext>
            </p:extLst>
          </p:nvPr>
        </p:nvGraphicFramePr>
        <p:xfrm>
          <a:off x="4614863" y="1965325"/>
          <a:ext cx="1803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2" name="Equation" r:id="rId7" imgW="901440" imgH="291960" progId="Equation.DSMT4">
                  <p:embed/>
                </p:oleObj>
              </mc:Choice>
              <mc:Fallback>
                <p:oleObj name="Equation" r:id="rId7" imgW="901440" imgH="291960" progId="Equation.DSMT4">
                  <p:embed/>
                  <p:pic>
                    <p:nvPicPr>
                      <p:cNvPr id="25091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1965325"/>
                        <a:ext cx="1803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79388" y="188913"/>
            <a:ext cx="8515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8.4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正弦电源激励下的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607494" y="2848010"/>
                <a:ext cx="223817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94" y="2848010"/>
                <a:ext cx="2238177" cy="298415"/>
              </a:xfrm>
              <a:prstGeom prst="rect">
                <a:avLst/>
              </a:prstGeom>
              <a:blipFill>
                <a:blip r:embed="rId9"/>
                <a:stretch>
                  <a:fillRect l="-1090" b="-20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304800" y="765175"/>
            <a:ext cx="3152775" cy="2933700"/>
            <a:chOff x="304800" y="765175"/>
            <a:chExt cx="3152775" cy="2933700"/>
          </a:xfrm>
        </p:grpSpPr>
        <p:grpSp>
          <p:nvGrpSpPr>
            <p:cNvPr id="13" name="Group 29"/>
            <p:cNvGrpSpPr>
              <a:grpSpLocks/>
            </p:cNvGrpSpPr>
            <p:nvPr/>
          </p:nvGrpSpPr>
          <p:grpSpPr bwMode="auto">
            <a:xfrm>
              <a:off x="304800" y="765175"/>
              <a:ext cx="3152775" cy="2933700"/>
              <a:chOff x="192" y="864"/>
              <a:chExt cx="1986" cy="184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4623" name="VISIO" r:id="rId10" imgW="1601337" imgH="946245" progId="Visio.Drawing.5">
                          <p:embed/>
                        </p:oleObj>
                      </mc:Choice>
                      <mc:Fallback>
                        <p:oleObj name="VISIO" r:id="rId10" imgW="1601337" imgH="946245" progId="Visio.Drawing.5">
                          <p:embed/>
                          <p:pic>
                            <p:nvPicPr>
                              <p:cNvPr id="15383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4617" name="VISIO" r:id="rId12" imgW="1601337" imgH="946245" progId="Visio.Drawing.5">
                          <p:embed/>
                        </p:oleObj>
                      </mc:Choice>
                      <mc:Fallback>
                        <p:oleObj name="VISIO" r:id="rId12" imgW="1601337" imgH="946245" progId="Visio.Drawing.5">
                          <p:embed/>
                          <p:pic>
                            <p:nvPicPr>
                              <p:cNvPr id="15383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6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4624" name="Equation" r:id="rId14" imgW="647700" imgH="190500" progId="Equation.DSMT4">
                          <p:embed/>
                        </p:oleObj>
                      </mc:Choice>
                      <mc:Fallback>
                        <p:oleObj name="Equation" r:id="rId14" imgW="647700" imgH="190500" progId="Equation.DSMT4">
                          <p:embed/>
                          <p:pic>
                            <p:nvPicPr>
                              <p:cNvPr id="15384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6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4618" name="Equation" r:id="rId16" imgW="647700" imgH="190500" progId="Equation.DSMT4">
                          <p:embed/>
                        </p:oleObj>
                      </mc:Choice>
                      <mc:Fallback>
                        <p:oleObj name="Equation" r:id="rId16" imgW="647700" imgH="190500" progId="Equation.DSMT4">
                          <p:embed/>
                          <p:pic>
                            <p:nvPicPr>
                              <p:cNvPr id="15384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+∅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14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2788021" y="3484234"/>
                <a:ext cx="58771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𝑅𝐶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+∅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21" y="3484234"/>
                <a:ext cx="5877122" cy="276999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755576" y="3886397"/>
                <a:ext cx="7632848" cy="6510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4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1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en-US" altLang="zh-CN" sz="1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𝑅𝐶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fName>
                        <m:e>
                          <m:func>
                            <m:func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+∅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886397"/>
                <a:ext cx="7632848" cy="6510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1005841" y="4695242"/>
                <a:ext cx="5357108" cy="403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CN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rgbClr val="FF0000"/>
                    </a:solidFill>
                  </a:rPr>
                  <a:t>;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en-US" altLang="zh-CN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𝑅𝐶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            </m:t>
                        </m:r>
                        <m:func>
                          <m:func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zh-CN" alt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</m:e>
                    </m:func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lang="zh-CN" altLang="en-US" sz="1600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1" y="4695242"/>
                <a:ext cx="5357108" cy="403637"/>
              </a:xfrm>
              <a:prstGeom prst="rect">
                <a:avLst/>
              </a:prstGeom>
              <a:blipFill>
                <a:blip r:embed="rId21"/>
                <a:stretch>
                  <a:fillRect l="-910" t="-3030"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7020272" y="28125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正弦激励特解形式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650893" y="5316004"/>
                <a:ext cx="4274256" cy="586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+∅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93" y="5316004"/>
                <a:ext cx="4274256" cy="58605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椭圆 21"/>
          <p:cNvSpPr/>
          <p:nvPr/>
        </p:nvSpPr>
        <p:spPr bwMode="auto">
          <a:xfrm>
            <a:off x="879329" y="5336462"/>
            <a:ext cx="327575" cy="48085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2706029" y="5314771"/>
            <a:ext cx="1043284" cy="6886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2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874606"/>
              </p:ext>
            </p:extLst>
          </p:nvPr>
        </p:nvGraphicFramePr>
        <p:xfrm>
          <a:off x="6732587" y="4672082"/>
          <a:ext cx="21558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5" name="Equation" r:id="rId23" imgW="1079032" imgH="622030" progId="Equation.DSMT4">
                  <p:embed/>
                </p:oleObj>
              </mc:Choice>
              <mc:Fallback>
                <p:oleObj name="Equation" r:id="rId23" imgW="1079032" imgH="622030" progId="Equation.DSMT4">
                  <p:embed/>
                  <p:pic>
                    <p:nvPicPr>
                      <p:cNvPr id="25091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7" y="4672082"/>
                        <a:ext cx="21558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381000" y="6092278"/>
                <a:ext cx="355135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6092278"/>
                <a:ext cx="3551357" cy="246221"/>
              </a:xfrm>
              <a:prstGeom prst="rect">
                <a:avLst/>
              </a:prstGeom>
              <a:blipFill>
                <a:blip r:embed="rId25"/>
                <a:stretch>
                  <a:fillRect l="-344"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4406110" y="6134249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110" y="6134249"/>
                <a:ext cx="4879121" cy="422744"/>
              </a:xfrm>
              <a:prstGeom prst="rect">
                <a:avLst/>
              </a:prstGeom>
              <a:blipFill>
                <a:blip r:embed="rId26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椭圆 30"/>
          <p:cNvSpPr/>
          <p:nvPr/>
        </p:nvSpPr>
        <p:spPr bwMode="auto">
          <a:xfrm>
            <a:off x="5076056" y="2078848"/>
            <a:ext cx="287967" cy="57001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569034" y="3181883"/>
            <a:ext cx="1410678" cy="6886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869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  <p:bldP spid="20" grpId="0"/>
      <p:bldP spid="21" grpId="0"/>
      <p:bldP spid="24" grpId="0"/>
      <p:bldP spid="22" grpId="0" animBg="1"/>
      <p:bldP spid="23" grpId="0" animBg="1"/>
      <p:bldP spid="27" grpId="0"/>
      <p:bldP spid="29" grpId="0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1E6347-A8E2-4F0C-B9BB-78D4430BE910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D4BC67-1AC7-41E6-9439-D448F1A86D7D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08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441897"/>
              </p:ext>
            </p:extLst>
          </p:nvPr>
        </p:nvGraphicFramePr>
        <p:xfrm>
          <a:off x="4597389" y="648098"/>
          <a:ext cx="32242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5" name="公式" r:id="rId3" imgW="1612900" imgH="393700" progId="Equation.3">
                  <p:embed/>
                </p:oleObj>
              </mc:Choice>
              <mc:Fallback>
                <p:oleObj name="公式" r:id="rId3" imgW="16129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389" y="648098"/>
                        <a:ext cx="322421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059800"/>
              </p:ext>
            </p:extLst>
          </p:nvPr>
        </p:nvGraphicFramePr>
        <p:xfrm>
          <a:off x="4609336" y="1465661"/>
          <a:ext cx="2259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6" name="Equation" r:id="rId5" imgW="1129810" imgH="190417" progId="Equation.DSMT4">
                  <p:embed/>
                </p:oleObj>
              </mc:Choice>
              <mc:Fallback>
                <p:oleObj name="Equation" r:id="rId5" imgW="1129810" imgH="1904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336" y="1465661"/>
                        <a:ext cx="2259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798031"/>
              </p:ext>
            </p:extLst>
          </p:nvPr>
        </p:nvGraphicFramePr>
        <p:xfrm>
          <a:off x="4633913" y="3341291"/>
          <a:ext cx="21558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7" name="Equation" r:id="rId7" imgW="1079032" imgH="622030" progId="Equation.DSMT4">
                  <p:embed/>
                </p:oleObj>
              </mc:Choice>
              <mc:Fallback>
                <p:oleObj name="Equation" r:id="rId7" imgW="1079032" imgH="62203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3341291"/>
                        <a:ext cx="21558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33325"/>
              </p:ext>
            </p:extLst>
          </p:nvPr>
        </p:nvGraphicFramePr>
        <p:xfrm>
          <a:off x="4614863" y="1965325"/>
          <a:ext cx="1803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" name="Equation" r:id="rId9" imgW="901440" imgH="291960" progId="Equation.DSMT4">
                  <p:embed/>
                </p:oleObj>
              </mc:Choice>
              <mc:Fallback>
                <p:oleObj name="Equation" r:id="rId9" imgW="901440" imgH="29196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1965325"/>
                        <a:ext cx="1803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5" name="Object 35"/>
          <p:cNvGraphicFramePr>
            <a:graphicFrameLocks noChangeAspect="1"/>
          </p:cNvGraphicFramePr>
          <p:nvPr/>
        </p:nvGraphicFramePr>
        <p:xfrm>
          <a:off x="476250" y="4530725"/>
          <a:ext cx="21336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9" name="Visio" r:id="rId11" imgW="1095994" imgH="716661" progId="Visio.Drawing.11">
                  <p:embed/>
                </p:oleObj>
              </mc:Choice>
              <mc:Fallback>
                <p:oleObj name="Visio" r:id="rId11" imgW="1095994" imgH="716661" progId="Visio.Drawing.11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4530725"/>
                        <a:ext cx="2133600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6" name="Object 36"/>
          <p:cNvGraphicFramePr>
            <a:graphicFrameLocks noChangeAspect="1"/>
          </p:cNvGraphicFramePr>
          <p:nvPr/>
        </p:nvGraphicFramePr>
        <p:xfrm>
          <a:off x="558800" y="5087938"/>
          <a:ext cx="20891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0" name="Visio" r:id="rId13" imgW="1073277" imgH="321469" progId="Visio.Drawing.11">
                  <p:embed/>
                </p:oleObj>
              </mc:Choice>
              <mc:Fallback>
                <p:oleObj name="Visio" r:id="rId13" imgW="1073277" imgH="321469" progId="Visio.Drawing.11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5087938"/>
                        <a:ext cx="208915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7" name="Object 37"/>
          <p:cNvGraphicFramePr>
            <a:graphicFrameLocks noChangeAspect="1"/>
          </p:cNvGraphicFramePr>
          <p:nvPr/>
        </p:nvGraphicFramePr>
        <p:xfrm>
          <a:off x="595313" y="4540250"/>
          <a:ext cx="200977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1" name="Visio" r:id="rId15" imgW="1001919" imgH="712583" progId="Visio.Drawing.11">
                  <p:embed/>
                </p:oleObj>
              </mc:Choice>
              <mc:Fallback>
                <p:oleObj name="Visio" r:id="rId15" imgW="1001919" imgH="712583" progId="Visio.Drawing.11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540250"/>
                        <a:ext cx="2009775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0919" name="Group 39"/>
          <p:cNvGrpSpPr>
            <a:grpSpLocks/>
          </p:cNvGrpSpPr>
          <p:nvPr/>
        </p:nvGrpSpPr>
        <p:grpSpPr bwMode="auto">
          <a:xfrm>
            <a:off x="5133975" y="5541963"/>
            <a:ext cx="3902075" cy="890587"/>
            <a:chOff x="3456" y="3645"/>
            <a:chExt cx="2074" cy="561"/>
          </a:xfrm>
        </p:grpSpPr>
        <p:sp>
          <p:nvSpPr>
            <p:cNvPr id="250896" name="Rectangle 16"/>
            <p:cNvSpPr>
              <a:spLocks noChangeArrowheads="1"/>
            </p:cNvSpPr>
            <p:nvPr/>
          </p:nvSpPr>
          <p:spPr bwMode="auto">
            <a:xfrm>
              <a:off x="3456" y="3688"/>
              <a:ext cx="84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Transient</a:t>
              </a: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  <p:sp>
          <p:nvSpPr>
            <p:cNvPr id="250918" name="Rectangle 38"/>
            <p:cNvSpPr>
              <a:spLocks noChangeArrowheads="1"/>
            </p:cNvSpPr>
            <p:nvPr/>
          </p:nvSpPr>
          <p:spPr bwMode="auto">
            <a:xfrm>
              <a:off x="4641" y="3645"/>
              <a:ext cx="88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Steady-state</a:t>
              </a:r>
            </a:p>
            <a:p>
              <a:pPr algn="ctr" eaLnBrk="1" hangingPunct="1">
                <a:defRPr/>
              </a:pPr>
              <a:r>
                <a:rPr lang="en-US" altLang="zh-CN" sz="24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</p:grpSp>
      <p:sp>
        <p:nvSpPr>
          <p:cNvPr id="250920" name="Rectangle 40"/>
          <p:cNvSpPr>
            <a:spLocks noChangeArrowheads="1"/>
          </p:cNvSpPr>
          <p:nvPr/>
        </p:nvSpPr>
        <p:spPr bwMode="auto">
          <a:xfrm>
            <a:off x="2452688" y="4473575"/>
            <a:ext cx="298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Sinusoidal steady-state</a:t>
            </a:r>
          </a:p>
        </p:txBody>
      </p:sp>
      <p:graphicFrame>
        <p:nvGraphicFramePr>
          <p:cNvPr id="25091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989958"/>
              </p:ext>
            </p:extLst>
          </p:nvPr>
        </p:nvGraphicFramePr>
        <p:xfrm>
          <a:off x="0" y="3716338"/>
          <a:ext cx="3413125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2" name="Visio" r:id="rId17" imgW="1724069" imgH="1276547" progId="Visio.Drawing.11">
                  <p:embed/>
                </p:oleObj>
              </mc:Choice>
              <mc:Fallback>
                <p:oleObj name="Visio" r:id="rId17" imgW="1724069" imgH="1276547" progId="Visio.Drawing.11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16338"/>
                        <a:ext cx="3413125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8.4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正弦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电源激励下的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28" name="Object 26"/>
          <p:cNvGraphicFramePr>
            <a:graphicFrameLocks noChangeAspect="1"/>
          </p:cNvGraphicFramePr>
          <p:nvPr/>
        </p:nvGraphicFramePr>
        <p:xfrm>
          <a:off x="942975" y="4108450"/>
          <a:ext cx="11668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3" name="Equation" r:id="rId19" imgW="583947" imgH="190417" progId="Equation.DSMT4">
                  <p:embed/>
                </p:oleObj>
              </mc:Choice>
              <mc:Fallback>
                <p:oleObj name="Equation" r:id="rId19" imgW="583947" imgH="190417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4108450"/>
                        <a:ext cx="11668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Rectangle 38"/>
          <p:cNvSpPr>
            <a:spLocks noChangeArrowheads="1"/>
          </p:cNvSpPr>
          <p:nvPr/>
        </p:nvSpPr>
        <p:spPr bwMode="auto">
          <a:xfrm>
            <a:off x="6719888" y="1325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6029" y="27907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合闸角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607494" y="2848010"/>
                <a:ext cx="223817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94" y="2848010"/>
                <a:ext cx="2238177" cy="298415"/>
              </a:xfrm>
              <a:prstGeom prst="rect">
                <a:avLst/>
              </a:prstGeom>
              <a:blipFill>
                <a:blip r:embed="rId21"/>
                <a:stretch>
                  <a:fillRect l="-1090" b="-20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304800" y="765175"/>
            <a:ext cx="3152775" cy="2933700"/>
            <a:chOff x="304800" y="765175"/>
            <a:chExt cx="3152775" cy="2933700"/>
          </a:xfrm>
        </p:grpSpPr>
        <p:grpSp>
          <p:nvGrpSpPr>
            <p:cNvPr id="250909" name="Group 29"/>
            <p:cNvGrpSpPr>
              <a:grpSpLocks/>
            </p:cNvGrpSpPr>
            <p:nvPr/>
          </p:nvGrpSpPr>
          <p:grpSpPr bwMode="auto">
            <a:xfrm>
              <a:off x="304800" y="765175"/>
              <a:ext cx="3152775" cy="2933700"/>
              <a:chOff x="192" y="864"/>
              <a:chExt cx="1986" cy="184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383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224" name="VISIO" r:id="rId22" imgW="1601337" imgH="946245" progId="Visio.Drawing.5">
                          <p:embed/>
                        </p:oleObj>
                      </mc:Choice>
                      <mc:Fallback>
                        <p:oleObj name="VISIO" r:id="rId22" imgW="1601337" imgH="946245" progId="Visio.Drawing.5">
                          <p:embed/>
                          <p:pic>
                            <p:nvPicPr>
                              <p:cNvPr id="0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383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213" name="VISIO" r:id="rId24" imgW="1601337" imgH="946245" progId="Visio.Drawing.5">
                          <p:embed/>
                        </p:oleObj>
                      </mc:Choice>
                      <mc:Fallback>
                        <p:oleObj name="VISIO" r:id="rId24" imgW="1601337" imgH="946245" progId="Visio.Drawing.5">
                          <p:embed/>
                          <p:pic>
                            <p:nvPicPr>
                              <p:cNvPr id="0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384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225" name="Equation" r:id="rId26" imgW="647700" imgH="190500" progId="Equation.DSMT4">
                          <p:embed/>
                        </p:oleObj>
                      </mc:Choice>
                      <mc:Fallback>
                        <p:oleObj name="Equation" r:id="rId26" imgW="647700" imgH="190500" progId="Equation.DSMT4">
                          <p:embed/>
                          <p:pic>
                            <p:nvPicPr>
                              <p:cNvPr id="0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384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6214" name="Equation" r:id="rId28" imgW="647700" imgH="190500" progId="Equation.DSMT4">
                          <p:embed/>
                        </p:oleObj>
                      </mc:Choice>
                      <mc:Fallback>
                        <p:oleObj name="Equation" r:id="rId28" imgW="647700" imgH="190500" progId="Equation.DSMT4">
                          <p:embed/>
                          <p:pic>
                            <p:nvPicPr>
                              <p:cNvPr id="0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+∅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114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350177" y="5030127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177" y="5030127"/>
                <a:ext cx="4879121" cy="422744"/>
              </a:xfrm>
              <a:prstGeom prst="rect">
                <a:avLst/>
              </a:prstGeom>
              <a:blipFill>
                <a:blip r:embed="rId31"/>
                <a:stretch>
                  <a:fillRect b="-37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2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B52EAC-F32A-41E3-AA42-767AFD0E1305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7B57A5-A3A8-4322-83D4-7F78BCCCB6EA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1677219" y="1167607"/>
            <a:ext cx="3902075" cy="890587"/>
            <a:chOff x="3456" y="3645"/>
            <a:chExt cx="2074" cy="561"/>
          </a:xfrm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456" y="3688"/>
              <a:ext cx="84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Transient</a:t>
              </a: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  <p:sp>
          <p:nvSpPr>
            <p:cNvPr id="9" name="Rectangle 38"/>
            <p:cNvSpPr>
              <a:spLocks noChangeArrowheads="1"/>
            </p:cNvSpPr>
            <p:nvPr/>
          </p:nvSpPr>
          <p:spPr bwMode="auto">
            <a:xfrm>
              <a:off x="4641" y="3645"/>
              <a:ext cx="88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Steady-state</a:t>
              </a: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</p:grpSp>
      <p:sp>
        <p:nvSpPr>
          <p:cNvPr id="10" name="Rectangle 40"/>
          <p:cNvSpPr>
            <a:spLocks noChangeArrowheads="1"/>
          </p:cNvSpPr>
          <p:nvPr/>
        </p:nvSpPr>
        <p:spPr bwMode="auto">
          <a:xfrm>
            <a:off x="376436" y="2305254"/>
            <a:ext cx="4552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在零状态响应分析下，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400" b="1" baseline="-25000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endParaRPr lang="en-US" altLang="zh-CN" sz="2400" b="1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898443" y="781995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43" y="781995"/>
                <a:ext cx="4879121" cy="422744"/>
              </a:xfrm>
              <a:prstGeom prst="rect">
                <a:avLst/>
              </a:prstGeom>
              <a:blipFill>
                <a:blip r:embed="rId2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2132439" y="2906952"/>
                <a:ext cx="4879121" cy="427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39" y="2906952"/>
                <a:ext cx="4879121" cy="427425"/>
              </a:xfrm>
              <a:prstGeom prst="rect">
                <a:avLst/>
              </a:prstGeom>
              <a:blipFill>
                <a:blip r:embed="rId3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8.4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正弦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电源激励下的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零状态响应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72442" y="3928231"/>
                <a:ext cx="444357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    当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-π/2&lt;θ&lt;0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且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5τ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接近正弦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电源的周期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T=2π/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𝝎</m:t>
                    </m:r>
                  </m:oMath>
                </a14:m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）时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，电路经过一个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周期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后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，趋于稳态。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42" y="3928231"/>
                <a:ext cx="4443573" cy="1477328"/>
              </a:xfrm>
              <a:prstGeom prst="rect">
                <a:avLst/>
              </a:prstGeom>
              <a:blipFill>
                <a:blip r:embed="rId4"/>
                <a:stretch>
                  <a:fillRect l="-1509"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6" y="3411819"/>
            <a:ext cx="3904260" cy="320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1E6347-A8E2-4F0C-B9BB-78D4430BE910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D4BC67-1AC7-41E6-9439-D448F1A86D7D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pSp>
        <p:nvGrpSpPr>
          <p:cNvPr id="250919" name="Group 39"/>
          <p:cNvGrpSpPr>
            <a:grpSpLocks/>
          </p:cNvGrpSpPr>
          <p:nvPr/>
        </p:nvGrpSpPr>
        <p:grpSpPr bwMode="auto">
          <a:xfrm>
            <a:off x="1677219" y="1167607"/>
            <a:ext cx="3902075" cy="890587"/>
            <a:chOff x="3456" y="3645"/>
            <a:chExt cx="2074" cy="561"/>
          </a:xfrm>
        </p:grpSpPr>
        <p:sp>
          <p:nvSpPr>
            <p:cNvPr id="250896" name="Rectangle 16"/>
            <p:cNvSpPr>
              <a:spLocks noChangeArrowheads="1"/>
            </p:cNvSpPr>
            <p:nvPr/>
          </p:nvSpPr>
          <p:spPr bwMode="auto">
            <a:xfrm>
              <a:off x="3456" y="3688"/>
              <a:ext cx="84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Transient</a:t>
              </a: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  <p:sp>
          <p:nvSpPr>
            <p:cNvPr id="250918" name="Rectangle 38"/>
            <p:cNvSpPr>
              <a:spLocks noChangeArrowheads="1"/>
            </p:cNvSpPr>
            <p:nvPr/>
          </p:nvSpPr>
          <p:spPr bwMode="auto">
            <a:xfrm>
              <a:off x="4641" y="3645"/>
              <a:ext cx="88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Steady-state</a:t>
              </a:r>
            </a:p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</p:grpSp>
      <p:sp>
        <p:nvSpPr>
          <p:cNvPr id="250920" name="Rectangle 40"/>
          <p:cNvSpPr>
            <a:spLocks noChangeArrowheads="1"/>
          </p:cNvSpPr>
          <p:nvPr/>
        </p:nvSpPr>
        <p:spPr bwMode="auto">
          <a:xfrm>
            <a:off x="376436" y="2305254"/>
            <a:ext cx="4051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在零状态响应分析下，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400" b="1" baseline="-25000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endParaRPr lang="en-US" altLang="zh-CN" sz="2400" b="1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8.4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正弦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电源激励下的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5380" name="Rectangle 38"/>
          <p:cNvSpPr>
            <a:spLocks noChangeArrowheads="1"/>
          </p:cNvSpPr>
          <p:nvPr/>
        </p:nvSpPr>
        <p:spPr bwMode="auto">
          <a:xfrm>
            <a:off x="6719888" y="1325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201872" y="4829749"/>
            <a:ext cx="8498718" cy="1207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 algn="just"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    </a:t>
            </a:r>
            <a:r>
              <a:rPr lang="zh-CN" altLang="en-US" sz="2400" b="1" dirty="0" smtClean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zh-CN" altLang="en-US" sz="2400" b="1" dirty="0" smtClean="0">
                <a:solidFill>
                  <a:srgbClr val="000066"/>
                </a:solidFill>
                <a:ea typeface="宋体" panose="02010600030101010101" pitchFamily="2" charset="-122"/>
              </a:rPr>
              <a:t>暂态分量的值为</a:t>
            </a:r>
            <a:r>
              <a:rPr lang="zh-CN" altLang="en-US" sz="2400" b="1" dirty="0">
                <a:solidFill>
                  <a:srgbClr val="000066"/>
                </a:solidFill>
                <a:ea typeface="宋体" panose="02010600030101010101" pitchFamily="2" charset="-122"/>
              </a:rPr>
              <a:t>零，说明电压响应中没有暂态分量，也就没有过渡过程，电路从换路一开始，就直接进入稳态。这是一种特殊情况。</a:t>
            </a:r>
            <a:endParaRPr lang="zh-CN" altLang="en-US" sz="2400" dirty="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898443" y="781995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43" y="781995"/>
                <a:ext cx="4879121" cy="422744"/>
              </a:xfrm>
              <a:prstGeom prst="rect">
                <a:avLst/>
              </a:prstGeom>
              <a:blipFill>
                <a:blip r:embed="rId2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2132439" y="2906952"/>
                <a:ext cx="4879121" cy="427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39" y="2906952"/>
                <a:ext cx="4879121" cy="427425"/>
              </a:xfrm>
              <a:prstGeom prst="rect">
                <a:avLst/>
              </a:prstGeom>
              <a:blipFill>
                <a:blip r:embed="rId3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61000" y="3729851"/>
                <a:ext cx="5014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当暂态分量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𝑅𝐶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00" y="3729851"/>
                <a:ext cx="5014450" cy="276999"/>
              </a:xfrm>
              <a:prstGeom prst="rect">
                <a:avLst/>
              </a:prstGeom>
              <a:blipFill>
                <a:blip r:embed="rId4"/>
                <a:stretch>
                  <a:fillRect l="-608" t="-8889" r="-1217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140680" y="4102350"/>
                <a:ext cx="4460764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80" y="4102350"/>
                <a:ext cx="4460764" cy="422744"/>
              </a:xfrm>
              <a:prstGeom prst="rect">
                <a:avLst/>
              </a:prstGeom>
              <a:blipFill>
                <a:blip r:embed="rId5"/>
                <a:stretch>
                  <a:fillRect b="-36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601443" y="4171332"/>
                <a:ext cx="20424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443" y="4171332"/>
                <a:ext cx="20424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 bwMode="auto">
          <a:xfrm flipV="1">
            <a:off x="1677219" y="4349410"/>
            <a:ext cx="1958677" cy="6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文本框 6"/>
          <p:cNvSpPr txBox="1"/>
          <p:nvPr/>
        </p:nvSpPr>
        <p:spPr>
          <a:xfrm>
            <a:off x="741964" y="328082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情形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5076057" y="2114963"/>
                <a:ext cx="36230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(5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zh-CN" dirty="0" smtClean="0"/>
                  <a:t>&gt;&gt;T</a:t>
                </a:r>
                <a:r>
                  <a:rPr lang="zh-CN" altLang="en-US" dirty="0" smtClean="0"/>
                  <a:t>，电路的暂态分量最大，衰减慢，需要多个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才能达到稳态</a:t>
                </a:r>
                <a:r>
                  <a:rPr lang="en-US" altLang="zh-CN" dirty="0" smtClean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7" y="2114963"/>
                <a:ext cx="3623028" cy="553998"/>
              </a:xfrm>
              <a:prstGeom prst="rect">
                <a:avLst/>
              </a:prstGeom>
              <a:blipFill>
                <a:blip r:embed="rId7"/>
                <a:stretch>
                  <a:fillRect l="-4040" t="-16484" r="-168" b="-25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4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20" grpId="0" autoUpdateAnimBg="0"/>
      <p:bldP spid="29" grpId="0"/>
      <p:bldP spid="17" grpId="0"/>
      <p:bldP spid="2" grpId="0"/>
      <p:bldP spid="19" grpId="0"/>
      <p:bldP spid="3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8.4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正弦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电源激励下的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RC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6399" name="Rectangle 38"/>
          <p:cNvSpPr>
            <a:spLocks noChangeArrowheads="1"/>
          </p:cNvSpPr>
          <p:nvPr/>
        </p:nvSpPr>
        <p:spPr bwMode="auto">
          <a:xfrm>
            <a:off x="6719888" y="1325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29163" y="279400"/>
          <a:ext cx="3890962" cy="477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6" name="Visio" r:id="rId3" imgW="1945476" imgH="2390415" progId="Visio.Drawing.11">
                  <p:embed/>
                </p:oleObj>
              </mc:Choice>
              <mc:Fallback>
                <p:oleObj name="Visio" r:id="rId3" imgW="1945476" imgH="2390415" progId="Visio.Drawing.11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3" y="279400"/>
                        <a:ext cx="3890962" cy="477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40"/>
          <p:cNvSpPr>
            <a:spLocks noChangeArrowheads="1"/>
          </p:cNvSpPr>
          <p:nvPr/>
        </p:nvSpPr>
        <p:spPr bwMode="auto">
          <a:xfrm>
            <a:off x="107504" y="1032619"/>
            <a:ext cx="25955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在零状态下，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400" b="1" baseline="-25000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 smtClean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endParaRPr lang="en-US" altLang="zh-CN" sz="2400" b="1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166267" y="2933039"/>
            <a:ext cx="4562895" cy="173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 marL="0" indent="0" algn="just">
              <a:buFontTx/>
              <a:buNone/>
            </a:pPr>
            <a:r>
              <a:rPr lang="zh-CN" altLang="en-US" sz="2400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电路经过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半个周期左右的</a:t>
            </a:r>
            <a:r>
              <a:rPr lang="zh-CN" altLang="en-US" sz="2400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时间，电压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的暂态分量衰减极为有限，暂态分量于稳态分量的叠加结果为</a:t>
            </a: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257665"/>
              </p:ext>
            </p:extLst>
          </p:nvPr>
        </p:nvGraphicFramePr>
        <p:xfrm>
          <a:off x="812783" y="4645172"/>
          <a:ext cx="33813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7" name="Equation" r:id="rId5" imgW="1942920" imgH="228600" progId="Equation.DSMT4">
                  <p:embed/>
                </p:oleObj>
              </mc:Choice>
              <mc:Fallback>
                <p:oleObj name="Equation" r:id="rId5" imgW="1942920" imgH="228600" progId="Equation.DSMT4">
                  <p:embed/>
                  <p:pic>
                    <p:nvPicPr>
                      <p:cNvPr id="4475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783" y="4645172"/>
                        <a:ext cx="3381375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23850" y="5312665"/>
            <a:ext cx="8640960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 algn="just">
              <a:buNone/>
            </a:pPr>
            <a:r>
              <a:rPr lang="zh-CN" altLang="en-US" sz="2100" b="1" dirty="0">
                <a:solidFill>
                  <a:schemeClr val="tx2"/>
                </a:solidFill>
                <a:ea typeface="楷体_GB2312" pitchFamily="49" charset="-122"/>
              </a:rPr>
              <a:t>    </a:t>
            </a:r>
            <a:r>
              <a:rPr lang="zh-CN" altLang="en-US" sz="2100" b="1" dirty="0" smtClean="0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zh-CN" altLang="en-US" sz="2400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说明如果当电压的稳态分量经过极大值时换路，而电路的时间常数又大，则换路后电压的最大瞬时绝对值接近于稳态电压振幅的</a:t>
            </a:r>
            <a:r>
              <a:rPr lang="en-US" altLang="zh-CN" sz="2400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倍</a:t>
            </a:r>
            <a:r>
              <a:rPr lang="zh-CN" altLang="en-US" sz="2400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在工程中要注意电容器的耐压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algn="just">
              <a:buFontTx/>
              <a:buNone/>
            </a:pPr>
            <a:r>
              <a:rPr lang="zh-CN" altLang="en-US" sz="2400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77777" y="1675024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77" y="1675024"/>
                <a:ext cx="4879121" cy="422744"/>
              </a:xfrm>
              <a:prstGeom prst="rect">
                <a:avLst/>
              </a:prstGeom>
              <a:blipFill>
                <a:blip r:embed="rId7"/>
                <a:stretch>
                  <a:fillRect b="-36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1150" y="1175682"/>
                <a:ext cx="8127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(5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zh-CN" dirty="0" smtClean="0"/>
                  <a:t>&gt;&gt;T)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150" y="1175682"/>
                <a:ext cx="812723" cy="276999"/>
              </a:xfrm>
              <a:prstGeom prst="rect">
                <a:avLst/>
              </a:prstGeom>
              <a:blipFill>
                <a:blip r:embed="rId8"/>
                <a:stretch>
                  <a:fillRect l="-13534" t="-28889" r="-16541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66267" y="2238404"/>
                <a:ext cx="301537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当暂态分量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最大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𝑅𝐶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7" y="2238404"/>
                <a:ext cx="3015377" cy="553998"/>
              </a:xfrm>
              <a:prstGeom prst="rect">
                <a:avLst/>
              </a:prstGeom>
              <a:blipFill>
                <a:blip r:embed="rId9"/>
                <a:stretch>
                  <a:fillRect l="-1010" r="-2222" b="-12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35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6" grpId="0"/>
      <p:bldP spid="28" grpId="0"/>
      <p:bldP spid="11" grpId="0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正弦电源激励下的</a:t>
            </a:r>
            <a:r>
              <a:rPr lang="en-US" altLang="zh-CN" dirty="0" smtClean="0"/>
              <a:t>RC</a:t>
            </a:r>
            <a:r>
              <a:rPr lang="zh-CN" altLang="en-US" dirty="0" smtClean="0"/>
              <a:t>电路小结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076" y="3155801"/>
            <a:ext cx="8771404" cy="3282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➢ 正弦激励下的全响应是由</a:t>
            </a:r>
            <a:r>
              <a:rPr lang="zh-CN" altLang="en-US" sz="1800" dirty="0">
                <a:solidFill>
                  <a:srgbClr val="FF0000"/>
                </a:solidFill>
              </a:rPr>
              <a:t>暂态响应</a:t>
            </a:r>
            <a:r>
              <a:rPr lang="zh-CN" altLang="en-US" sz="1800" dirty="0"/>
              <a:t>与</a:t>
            </a:r>
            <a:r>
              <a:rPr lang="zh-CN" altLang="en-US" sz="1800" dirty="0">
                <a:solidFill>
                  <a:srgbClr val="FF0000"/>
                </a:solidFill>
              </a:rPr>
              <a:t>稳态响应</a:t>
            </a:r>
            <a:r>
              <a:rPr lang="zh-CN" altLang="en-US" sz="1800" dirty="0"/>
              <a:t>构成的，</a:t>
            </a:r>
            <a:r>
              <a:rPr lang="zh-CN" altLang="en-US" sz="1800" dirty="0" smtClean="0"/>
              <a:t>稳态响应</a:t>
            </a:r>
            <a:r>
              <a:rPr lang="zh-CN" altLang="en-US" sz="1800" dirty="0"/>
              <a:t>用微分方程求解，求解是复杂的，今后会学习更有效</a:t>
            </a:r>
            <a:r>
              <a:rPr lang="zh-CN" altLang="en-US" sz="1800" dirty="0" smtClean="0"/>
              <a:t>的正弦</a:t>
            </a:r>
            <a:r>
              <a:rPr lang="zh-CN" altLang="en-US" sz="1800" dirty="0"/>
              <a:t>稳态响应的分析方法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零状态响应分析（</a:t>
            </a:r>
            <a:r>
              <a:rPr lang="zh-CN" altLang="en-US" sz="1800" dirty="0" smtClean="0">
                <a:solidFill>
                  <a:srgbClr val="FF0000"/>
                </a:solidFill>
              </a:rPr>
              <a:t>比较激励的周期</a:t>
            </a:r>
            <a:r>
              <a:rPr lang="en-US" altLang="zh-CN" sz="1800" dirty="0" smtClean="0">
                <a:solidFill>
                  <a:srgbClr val="FF0000"/>
                </a:solidFill>
              </a:rPr>
              <a:t>T</a:t>
            </a:r>
            <a:r>
              <a:rPr lang="zh-CN" altLang="en-US" sz="1800" dirty="0" smtClean="0">
                <a:solidFill>
                  <a:srgbClr val="FF0000"/>
                </a:solidFill>
              </a:rPr>
              <a:t>和电路的时间常数</a:t>
            </a:r>
            <a:r>
              <a:rPr lang="en-US" altLang="zh-CN" sz="1800" dirty="0" smtClean="0">
                <a:solidFill>
                  <a:srgbClr val="FF0000"/>
                </a:solidFill>
              </a:rPr>
              <a:t>5τ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 </a:t>
            </a:r>
            <a:r>
              <a:rPr lang="zh-CN" altLang="en-US" sz="1800" dirty="0"/>
              <a:t>➢ 正弦激励下的</a:t>
            </a:r>
            <a:r>
              <a:rPr lang="zh-CN" altLang="en-US" sz="1800" dirty="0">
                <a:solidFill>
                  <a:srgbClr val="FF0000"/>
                </a:solidFill>
              </a:rPr>
              <a:t>暂态过程</a:t>
            </a:r>
            <a:r>
              <a:rPr lang="zh-CN" altLang="en-US" sz="1800" dirty="0"/>
              <a:t>不仅与</a:t>
            </a:r>
            <a:r>
              <a:rPr lang="zh-CN" altLang="en-US" sz="1800" dirty="0">
                <a:solidFill>
                  <a:srgbClr val="FF0000"/>
                </a:solidFill>
              </a:rPr>
              <a:t>电源及电路参数</a:t>
            </a:r>
            <a:r>
              <a:rPr lang="zh-CN" altLang="en-US" sz="1800" dirty="0"/>
              <a:t>有关，还与</a:t>
            </a:r>
            <a:r>
              <a:rPr lang="zh-CN" altLang="en-US" sz="1800" dirty="0" smtClean="0">
                <a:solidFill>
                  <a:srgbClr val="FF0000"/>
                </a:solidFill>
              </a:rPr>
              <a:t>电源</a:t>
            </a:r>
            <a:r>
              <a:rPr lang="zh-CN" altLang="en-US" sz="1800" dirty="0">
                <a:solidFill>
                  <a:srgbClr val="FF0000"/>
                </a:solidFill>
              </a:rPr>
              <a:t>的合闸角</a:t>
            </a:r>
            <a:r>
              <a:rPr lang="zh-CN" altLang="en-US" sz="1800" dirty="0"/>
              <a:t>有关，选择适当的合闸角，电路会直接进入稳态。 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➢ </a:t>
            </a:r>
            <a:r>
              <a:rPr lang="zh-CN" altLang="en-US" sz="1800" dirty="0"/>
              <a:t>正弦激励下的暂态过程，由于合闸时间的不确定，会在电路 中产生“过电压”或“过电流”的现象，在选择元器件容量 时要充分考虑电路这种工作状态。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B52EAC-F32A-41E3-AA42-767AFD0E1305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7B57A5-A3A8-4322-83D4-7F78BCCCB6EA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graphicFrame>
        <p:nvGraphicFramePr>
          <p:cNvPr id="7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812953"/>
              </p:ext>
            </p:extLst>
          </p:nvPr>
        </p:nvGraphicFramePr>
        <p:xfrm>
          <a:off x="3272263" y="861805"/>
          <a:ext cx="21558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8" name="Equation" r:id="rId3" imgW="1079032" imgH="622030" progId="Equation.DSMT4">
                  <p:embed/>
                </p:oleObj>
              </mc:Choice>
              <mc:Fallback>
                <p:oleObj name="Equation" r:id="rId3" imgW="1079032" imgH="622030" progId="Equation.DSMT4">
                  <p:embed/>
                  <p:pic>
                    <p:nvPicPr>
                      <p:cNvPr id="25091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2263" y="861805"/>
                        <a:ext cx="21558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04800" y="765175"/>
            <a:ext cx="2539008" cy="2303785"/>
            <a:chOff x="304800" y="765175"/>
            <a:chExt cx="3152775" cy="2933700"/>
          </a:xfrm>
        </p:grpSpPr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304800" y="765175"/>
              <a:ext cx="3152775" cy="2933700"/>
              <a:chOff x="192" y="864"/>
              <a:chExt cx="1986" cy="184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1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5569" name="VISIO" r:id="rId5" imgW="1601337" imgH="946245" progId="Visio.Drawing.5">
                          <p:embed/>
                        </p:oleObj>
                      </mc:Choice>
                      <mc:Fallback>
                        <p:oleObj name="VISIO" r:id="rId5" imgW="1601337" imgH="946245" progId="Visio.Drawing.5">
                          <p:embed/>
                          <p:pic>
                            <p:nvPicPr>
                              <p:cNvPr id="15383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1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5566" name="VISIO" r:id="rId7" imgW="1601337" imgH="946245" progId="Visio.Drawing.5">
                          <p:embed/>
                        </p:oleObj>
                      </mc:Choice>
                      <mc:Fallback>
                        <p:oleObj name="VISIO" r:id="rId7" imgW="1601337" imgH="946245" progId="Visio.Drawing.5">
                          <p:embed/>
                          <p:pic>
                            <p:nvPicPr>
                              <p:cNvPr id="15383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5570" name="Equation" r:id="rId9" imgW="647700" imgH="190500" progId="Equation.DSMT4">
                          <p:embed/>
                        </p:oleObj>
                      </mc:Choice>
                      <mc:Fallback>
                        <p:oleObj name="Equation" r:id="rId9" imgW="647700" imgH="190500" progId="Equation.DSMT4">
                          <p:embed/>
                          <p:pic>
                            <p:nvPicPr>
                              <p:cNvPr id="15384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5567" name="Equation" r:id="rId11" imgW="647700" imgH="190500" progId="Equation.DSMT4">
                          <p:embed/>
                        </p:oleObj>
                      </mc:Choice>
                      <mc:Fallback>
                        <p:oleObj name="Equation" r:id="rId11" imgW="647700" imgH="190500" progId="Equation.DSMT4">
                          <p:embed/>
                          <p:pic>
                            <p:nvPicPr>
                              <p:cNvPr id="15384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+∅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546" r="-19858" b="-5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3240328" y="2317334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328" y="2317334"/>
                <a:ext cx="4879121" cy="422744"/>
              </a:xfrm>
              <a:prstGeom prst="rect">
                <a:avLst/>
              </a:prstGeom>
              <a:blipFill>
                <a:blip r:embed="rId14"/>
                <a:stretch>
                  <a:fillRect b="-37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61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B52EAC-F32A-41E3-AA42-767AFD0E1305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7B57A5-A3A8-4322-83D4-7F78BCCCB6EA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graphicFrame>
        <p:nvGraphicFramePr>
          <p:cNvPr id="1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011007"/>
              </p:ext>
            </p:extLst>
          </p:nvPr>
        </p:nvGraphicFramePr>
        <p:xfrm>
          <a:off x="3348462" y="3752310"/>
          <a:ext cx="21558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Equation" r:id="rId3" imgW="1079032" imgH="622030" progId="Equation.DSMT4">
                  <p:embed/>
                </p:oleObj>
              </mc:Choice>
              <mc:Fallback>
                <p:oleObj name="Equation" r:id="rId3" imgW="1079032" imgH="622030" progId="Equation.DSMT4">
                  <p:embed/>
                  <p:pic>
                    <p:nvPicPr>
                      <p:cNvPr id="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462" y="3752310"/>
                        <a:ext cx="21558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80999" y="3655680"/>
            <a:ext cx="2539008" cy="2303785"/>
            <a:chOff x="304800" y="765175"/>
            <a:chExt cx="3152775" cy="2933700"/>
          </a:xfrm>
        </p:grpSpPr>
        <p:grpSp>
          <p:nvGrpSpPr>
            <p:cNvPr id="14" name="Group 29"/>
            <p:cNvGrpSpPr>
              <a:grpSpLocks/>
            </p:cNvGrpSpPr>
            <p:nvPr/>
          </p:nvGrpSpPr>
          <p:grpSpPr bwMode="auto">
            <a:xfrm>
              <a:off x="304800" y="765175"/>
              <a:ext cx="3152775" cy="2933700"/>
              <a:chOff x="192" y="864"/>
              <a:chExt cx="1986" cy="184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6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7602" name="VISIO" r:id="rId5" imgW="1601337" imgH="946245" progId="Visio.Drawing.5">
                          <p:embed/>
                        </p:oleObj>
                      </mc:Choice>
                      <mc:Fallback>
                        <p:oleObj name="VISIO" r:id="rId5" imgW="1601337" imgH="946245" progId="Visio.Drawing.5">
                          <p:embed/>
                          <p:pic>
                            <p:nvPicPr>
                              <p:cNvPr id="11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6" name="Object 25"/>
                  <p:cNvGraphicFramePr>
                    <a:graphicFrameLocks noChangeAspect="1"/>
                  </p:cNvGraphicFramePr>
                  <p:nvPr/>
                </p:nvGraphicFramePr>
                <p:xfrm>
                  <a:off x="192" y="864"/>
                  <a:ext cx="1986" cy="122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7599" name="VISIO" r:id="rId7" imgW="1601337" imgH="946245" progId="Visio.Drawing.5">
                          <p:embed/>
                        </p:oleObj>
                      </mc:Choice>
                      <mc:Fallback>
                        <p:oleObj name="VISIO" r:id="rId7" imgW="1601337" imgH="946245" progId="Visio.Drawing.5">
                          <p:embed/>
                          <p:pic>
                            <p:nvPicPr>
                              <p:cNvPr id="11" name="Object 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2" y="864"/>
                                <a:ext cx="1986" cy="12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7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7603" name="Equation" r:id="rId9" imgW="647700" imgH="190500" progId="Equation.DSMT4">
                          <p:embed/>
                        </p:oleObj>
                      </mc:Choice>
                      <mc:Fallback>
                        <p:oleObj name="Equation" r:id="rId9" imgW="647700" imgH="190500" progId="Equation.DSMT4">
                          <p:embed/>
                          <p:pic>
                            <p:nvPicPr>
                              <p:cNvPr id="12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7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08" y="2472"/>
                  <a:ext cx="815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7600" name="Equation" r:id="rId11" imgW="647700" imgH="190500" progId="Equation.DSMT4">
                          <p:embed/>
                        </p:oleObj>
                      </mc:Choice>
                      <mc:Fallback>
                        <p:oleObj name="Equation" r:id="rId11" imgW="647700" imgH="190500" progId="Equation.DSMT4">
                          <p:embed/>
                          <p:pic>
                            <p:nvPicPr>
                              <p:cNvPr id="12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" y="2472"/>
                                <a:ext cx="81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+∅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34" y="2832100"/>
                  <a:ext cx="213699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534" r="-19788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3316527" y="5207839"/>
                <a:ext cx="4879121" cy="422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527" y="5207839"/>
                <a:ext cx="4879121" cy="422744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657145" y="40466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一阶电路直流电源下的响应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5"/>
          <a:srcRect t="9039" b="44260"/>
          <a:stretch/>
        </p:blipFill>
        <p:spPr>
          <a:xfrm>
            <a:off x="425898" y="858551"/>
            <a:ext cx="7761511" cy="223224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29652" y="32043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一阶电路正弦电源激励下的响应</a:t>
            </a:r>
            <a:endParaRPr lang="zh-CN" altLang="en-US" dirty="0"/>
          </a:p>
        </p:txBody>
      </p:sp>
      <p:grpSp>
        <p:nvGrpSpPr>
          <p:cNvPr id="22" name="Group 39"/>
          <p:cNvGrpSpPr>
            <a:grpSpLocks/>
          </p:cNvGrpSpPr>
          <p:nvPr/>
        </p:nvGrpSpPr>
        <p:grpSpPr bwMode="auto">
          <a:xfrm>
            <a:off x="4128027" y="5632479"/>
            <a:ext cx="3783545" cy="776288"/>
            <a:chOff x="3456" y="3645"/>
            <a:chExt cx="2011" cy="489"/>
          </a:xfrm>
        </p:grpSpPr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456" y="3688"/>
              <a:ext cx="840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Transient</a:t>
              </a:r>
            </a:p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4704" y="3645"/>
              <a:ext cx="763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Steady-state</a:t>
              </a:r>
            </a:p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component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927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0162A3-F0ED-4EDE-913F-9D2966857E0C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页脚占位符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2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C91F7D-15DC-4C31-B0A6-61677C37E43A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8.6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线性非时变特性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7421" name="Rectangle 5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17422" name="Rectangle 6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467544" y="764704"/>
            <a:ext cx="7776864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线性非时变电路：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除独立电源外，元件是线性、非时变元件。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线性非时变动态电路的微分方程是常系数线性微分方程。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67544" y="2420888"/>
            <a:ext cx="172819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线性特性：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2"/>
          <p:cNvSpPr txBox="1">
            <a:spLocks noChangeArrowheads="1"/>
          </p:cNvSpPr>
          <p:nvPr/>
        </p:nvSpPr>
        <p:spPr bwMode="auto">
          <a:xfrm>
            <a:off x="451304" y="2997326"/>
            <a:ext cx="172819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齐次性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410346" y="3645024"/>
            <a:ext cx="8053434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若激励变为原来的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倍，则响应也相应的变为原来的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2"/>
              <p:cNvSpPr txBox="1">
                <a:spLocks noChangeArrowheads="1"/>
              </p:cNvSpPr>
              <p:nvPr/>
            </p:nvSpPr>
            <p:spPr bwMode="auto">
              <a:xfrm>
                <a:off x="443834" y="4421560"/>
                <a:ext cx="8295456" cy="1521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algn="l" eaLnBrk="1" hangingPunct="1">
                  <a:lnSpc>
                    <a:spcPct val="150000"/>
                  </a:lnSpc>
                  <a:defRPr/>
                </a:pPr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如：</a:t>
                </a:r>
                <a:endParaRPr lang="en-US" altLang="zh-CN" sz="2400" b="1" dirty="0" smtClean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l" eaLnBrk="1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零输入响应，激励初始电压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U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与响应分量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U</m:t>
                        </m:r>
                      </m:e>
                      <m:sub>
                        <m: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p>
                        <m: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  <m: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RC</m:t>
                        </m:r>
                      </m:sup>
                    </m:sSup>
                  </m:oMath>
                </a14:m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成正比</a:t>
                </a:r>
                <a:endParaRPr lang="en-US" altLang="zh-CN" sz="2400" b="1" dirty="0" smtClean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l" eaLnBrk="1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零状态响应，激励</a:t>
                </a:r>
                <a:r>
                  <a:rPr lang="en-US" altLang="zh-CN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en-US" altLang="zh-CN" sz="2400" b="1" baseline="-25000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与响应分量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sub>
                    </m:sSub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1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p>
                        <m: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𝐑𝐂</m:t>
                        </m:r>
                      </m:sup>
                    </m:sSup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b="1" dirty="0" smtClean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成正比</a:t>
                </a:r>
                <a:endParaRPr lang="en-US" altLang="zh-CN" sz="2400" b="1" dirty="0" smtClean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834" y="4421560"/>
                <a:ext cx="8295456" cy="1521939"/>
              </a:xfrm>
              <a:prstGeom prst="rect">
                <a:avLst/>
              </a:prstGeom>
              <a:blipFill>
                <a:blip r:embed="rId2"/>
                <a:stretch>
                  <a:fillRect l="-1176" t="-3600" b="-128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06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DA9001-BB6E-4EA3-A0C9-8B9E3EE42744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361FAF-7FDC-4E57-AC1F-3F35BC18FE62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94538" y="332656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线性元件</a:t>
            </a:r>
            <a:endParaRPr lang="zh-CN" altLang="en-US" sz="280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284027"/>
              </p:ext>
            </p:extLst>
          </p:nvPr>
        </p:nvGraphicFramePr>
        <p:xfrm>
          <a:off x="397024" y="1052736"/>
          <a:ext cx="322421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8" name="Visio" r:id="rId3" imgW="1640434" imgH="540410" progId="Visio.Drawing.11">
                  <p:embed/>
                </p:oleObj>
              </mc:Choice>
              <mc:Fallback>
                <p:oleObj name="Visio" r:id="rId3" imgW="1640434" imgH="540410" progId="Visio.Drawing.11">
                  <p:embed/>
                  <p:pic>
                    <p:nvPicPr>
                      <p:cNvPr id="2252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24" y="1052736"/>
                        <a:ext cx="3224213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27"/>
          <p:cNvGrpSpPr>
            <a:grpSpLocks/>
          </p:cNvGrpSpPr>
          <p:nvPr/>
        </p:nvGrpSpPr>
        <p:grpSpPr bwMode="auto">
          <a:xfrm>
            <a:off x="711367" y="1949190"/>
            <a:ext cx="1738312" cy="803275"/>
            <a:chOff x="3371" y="1104"/>
            <a:chExt cx="1919" cy="1035"/>
          </a:xfrm>
        </p:grpSpPr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168" y="1104"/>
              <a:ext cx="293" cy="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 flipV="1">
              <a:off x="3462" y="1877"/>
              <a:ext cx="77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4379" y="1877"/>
              <a:ext cx="8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3371" y="1836"/>
              <a:ext cx="91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auto">
            <a:xfrm>
              <a:off x="5199" y="1836"/>
              <a:ext cx="91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7" name="Group 22"/>
            <p:cNvGrpSpPr>
              <a:grpSpLocks/>
            </p:cNvGrpSpPr>
            <p:nvPr/>
          </p:nvGrpSpPr>
          <p:grpSpPr bwMode="auto">
            <a:xfrm>
              <a:off x="4235" y="1600"/>
              <a:ext cx="144" cy="539"/>
              <a:chOff x="3053" y="3083"/>
              <a:chExt cx="211" cy="576"/>
            </a:xfrm>
          </p:grpSpPr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>
                <a:off x="3053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24"/>
              <p:cNvSpPr>
                <a:spLocks noChangeShapeType="1"/>
              </p:cNvSpPr>
              <p:nvPr/>
            </p:nvSpPr>
            <p:spPr bwMode="auto">
              <a:xfrm>
                <a:off x="3264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0" name="Object 73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641447"/>
              </p:ext>
            </p:extLst>
          </p:nvPr>
        </p:nvGraphicFramePr>
        <p:xfrm>
          <a:off x="2713993" y="2276053"/>
          <a:ext cx="792088" cy="724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9" name="公式" r:id="rId5" imgW="444240" imgH="406080" progId="Equation.3">
                  <p:embed/>
                </p:oleObj>
              </mc:Choice>
              <mc:Fallback>
                <p:oleObj name="公式" r:id="rId5" imgW="444240" imgH="406080" progId="Equation.3">
                  <p:embed/>
                  <p:pic>
                    <p:nvPicPr>
                      <p:cNvPr id="18505" name="Object 73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993" y="2276053"/>
                        <a:ext cx="792088" cy="724569"/>
                      </a:xfrm>
                      <a:prstGeom prst="rect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24281"/>
              </p:ext>
            </p:extLst>
          </p:nvPr>
        </p:nvGraphicFramePr>
        <p:xfrm>
          <a:off x="711367" y="3242933"/>
          <a:ext cx="1238250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0" name="Visio" r:id="rId8" imgW="664584" imgH="1187607" progId="Visio.Drawing.11">
                  <p:embed/>
                </p:oleObj>
              </mc:Choice>
              <mc:Fallback>
                <p:oleObj name="Visio" r:id="rId8" imgW="664584" imgH="1187607" progId="Visio.Drawing.11">
                  <p:embed/>
                  <p:pic>
                    <p:nvPicPr>
                      <p:cNvPr id="3113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67" y="3242933"/>
                        <a:ext cx="1238250" cy="221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4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214697"/>
              </p:ext>
            </p:extLst>
          </p:nvPr>
        </p:nvGraphicFramePr>
        <p:xfrm>
          <a:off x="2752512" y="4077072"/>
          <a:ext cx="753678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1" name="Equation" r:id="rId10" imgW="469800" imgH="406080" progId="Equation.DSMT4">
                  <p:embed/>
                </p:oleObj>
              </mc:Choice>
              <mc:Fallback>
                <p:oleObj name="Equation" r:id="rId10" imgW="469800" imgH="406080" progId="Equation.DSMT4">
                  <p:embed/>
                  <p:pic>
                    <p:nvPicPr>
                      <p:cNvPr id="14" name="Object 54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512" y="4077072"/>
                        <a:ext cx="753678" cy="648072"/>
                      </a:xfrm>
                      <a:prstGeom prst="rect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24"/>
          <p:cNvGrpSpPr>
            <a:grpSpLocks/>
          </p:cNvGrpSpPr>
          <p:nvPr/>
        </p:nvGrpSpPr>
        <p:grpSpPr bwMode="auto">
          <a:xfrm>
            <a:off x="4499992" y="3723859"/>
            <a:ext cx="2567136" cy="1116505"/>
            <a:chOff x="3168" y="3151"/>
            <a:chExt cx="2120" cy="1024"/>
          </a:xfrm>
        </p:grpSpPr>
        <p:graphicFrame>
          <p:nvGraphicFramePr>
            <p:cNvPr id="24" name="Object 111"/>
            <p:cNvGraphicFramePr>
              <a:graphicFrameLocks noChangeAspect="1"/>
            </p:cNvGraphicFramePr>
            <p:nvPr/>
          </p:nvGraphicFramePr>
          <p:xfrm>
            <a:off x="3792" y="3151"/>
            <a:ext cx="1496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2" name="VISIO" r:id="rId12" imgW="1189785" imgH="812462" progId="Visio.Drawing.5">
                    <p:embed/>
                  </p:oleObj>
                </mc:Choice>
                <mc:Fallback>
                  <p:oleObj name="VISIO" r:id="rId12" imgW="1189785" imgH="812462" progId="Visio.Drawing.5">
                    <p:embed/>
                    <p:pic>
                      <p:nvPicPr>
                        <p:cNvPr id="15387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151"/>
                          <a:ext cx="1496" cy="10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13"/>
            <p:cNvSpPr>
              <a:spLocks noChangeArrowheads="1"/>
            </p:cNvSpPr>
            <p:nvPr/>
          </p:nvSpPr>
          <p:spPr bwMode="auto">
            <a:xfrm>
              <a:off x="3168" y="3583"/>
              <a:ext cx="4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ea typeface="隶书" panose="02010509060101010101" pitchFamily="49" charset="-122"/>
                </a:rPr>
                <a:t>VCVS</a:t>
              </a:r>
            </a:p>
          </p:txBody>
        </p:sp>
      </p:grpSp>
      <p:grpSp>
        <p:nvGrpSpPr>
          <p:cNvPr id="26" name="Group 121"/>
          <p:cNvGrpSpPr>
            <a:grpSpLocks/>
          </p:cNvGrpSpPr>
          <p:nvPr/>
        </p:nvGrpSpPr>
        <p:grpSpPr bwMode="auto">
          <a:xfrm>
            <a:off x="4308976" y="2276053"/>
            <a:ext cx="2614136" cy="1368971"/>
            <a:chOff x="451" y="1999"/>
            <a:chExt cx="2048" cy="1112"/>
          </a:xfrm>
        </p:grpSpPr>
        <p:graphicFrame>
          <p:nvGraphicFramePr>
            <p:cNvPr id="27" name="Object 108"/>
            <p:cNvGraphicFramePr>
              <a:graphicFrameLocks noChangeAspect="1"/>
            </p:cNvGraphicFramePr>
            <p:nvPr/>
          </p:nvGraphicFramePr>
          <p:xfrm>
            <a:off x="1075" y="1999"/>
            <a:ext cx="1424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3" name="Visio" r:id="rId14" imgW="1158804" imgH="910953" progId="Visio.Drawing.11">
                    <p:embed/>
                  </p:oleObj>
                </mc:Choice>
                <mc:Fallback>
                  <p:oleObj name="Visio" r:id="rId14" imgW="1158804" imgH="910953" progId="Visio.Drawing.11">
                    <p:embed/>
                    <p:pic>
                      <p:nvPicPr>
                        <p:cNvPr id="15385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1999"/>
                          <a:ext cx="1424" cy="1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114"/>
            <p:cNvSpPr>
              <a:spLocks noChangeArrowheads="1"/>
            </p:cNvSpPr>
            <p:nvPr/>
          </p:nvSpPr>
          <p:spPr bwMode="auto">
            <a:xfrm>
              <a:off x="451" y="2431"/>
              <a:ext cx="60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ea typeface="隶书" panose="02010509060101010101" pitchFamily="49" charset="-122"/>
                </a:rPr>
                <a:t>CCCS</a:t>
              </a:r>
            </a:p>
          </p:txBody>
        </p:sp>
      </p:grpSp>
      <p:grpSp>
        <p:nvGrpSpPr>
          <p:cNvPr id="29" name="Group 122"/>
          <p:cNvGrpSpPr>
            <a:grpSpLocks/>
          </p:cNvGrpSpPr>
          <p:nvPr/>
        </p:nvGrpSpPr>
        <p:grpSpPr bwMode="auto">
          <a:xfrm>
            <a:off x="4355976" y="813923"/>
            <a:ext cx="2567136" cy="1339899"/>
            <a:chOff x="3168" y="1951"/>
            <a:chExt cx="2048" cy="1112"/>
          </a:xfrm>
        </p:grpSpPr>
        <p:graphicFrame>
          <p:nvGraphicFramePr>
            <p:cNvPr id="30" name="Object 109"/>
            <p:cNvGraphicFramePr>
              <a:graphicFrameLocks noChangeAspect="1"/>
            </p:cNvGraphicFramePr>
            <p:nvPr/>
          </p:nvGraphicFramePr>
          <p:xfrm>
            <a:off x="3792" y="1951"/>
            <a:ext cx="1424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4" name="VISIO" r:id="rId16" imgW="1132332" imgH="880872" progId="Visio.Drawing.5">
                    <p:embed/>
                  </p:oleObj>
                </mc:Choice>
                <mc:Fallback>
                  <p:oleObj name="VISIO" r:id="rId16" imgW="1132332" imgH="880872" progId="Visio.Drawing.5">
                    <p:embed/>
                    <p:pic>
                      <p:nvPicPr>
                        <p:cNvPr id="15383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951"/>
                          <a:ext cx="1424" cy="1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115"/>
            <p:cNvSpPr>
              <a:spLocks noChangeArrowheads="1"/>
            </p:cNvSpPr>
            <p:nvPr/>
          </p:nvSpPr>
          <p:spPr bwMode="auto">
            <a:xfrm>
              <a:off x="3168" y="2383"/>
              <a:ext cx="522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dirty="0">
                  <a:ea typeface="隶书" panose="02010509060101010101" pitchFamily="49" charset="-122"/>
                </a:rPr>
                <a:t>VCCS</a:t>
              </a:r>
            </a:p>
          </p:txBody>
        </p:sp>
      </p:grpSp>
      <p:grpSp>
        <p:nvGrpSpPr>
          <p:cNvPr id="32" name="Group 123"/>
          <p:cNvGrpSpPr>
            <a:grpSpLocks/>
          </p:cNvGrpSpPr>
          <p:nvPr/>
        </p:nvGrpSpPr>
        <p:grpSpPr bwMode="auto">
          <a:xfrm>
            <a:off x="4353210" y="5004337"/>
            <a:ext cx="2713918" cy="1288721"/>
            <a:chOff x="499" y="3151"/>
            <a:chExt cx="2045" cy="1025"/>
          </a:xfrm>
        </p:grpSpPr>
        <p:graphicFrame>
          <p:nvGraphicFramePr>
            <p:cNvPr id="33" name="Object 110"/>
            <p:cNvGraphicFramePr>
              <a:graphicFrameLocks noChangeAspect="1"/>
            </p:cNvGraphicFramePr>
            <p:nvPr/>
          </p:nvGraphicFramePr>
          <p:xfrm>
            <a:off x="1075" y="3151"/>
            <a:ext cx="1469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5" name="VISIO" r:id="rId18" imgW="1166963" imgH="812462" progId="Visio.Drawing.5">
                    <p:embed/>
                  </p:oleObj>
                </mc:Choice>
                <mc:Fallback>
                  <p:oleObj name="VISIO" r:id="rId18" imgW="1166963" imgH="812462" progId="Visio.Drawing.5">
                    <p:embed/>
                    <p:pic>
                      <p:nvPicPr>
                        <p:cNvPr id="15381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3151"/>
                          <a:ext cx="1469" cy="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116"/>
            <p:cNvSpPr>
              <a:spLocks noChangeArrowheads="1"/>
            </p:cNvSpPr>
            <p:nvPr/>
          </p:nvSpPr>
          <p:spPr bwMode="auto">
            <a:xfrm>
              <a:off x="499" y="3583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ea typeface="隶书" panose="02010509060101010101" pitchFamily="49" charset="-122"/>
                </a:rPr>
                <a:t>CCVS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032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DA9001-BB6E-4EA3-A0C9-8B9E3EE42744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361FAF-7FDC-4E57-AC1F-3F35BC18FE62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95920" y="678186"/>
            <a:ext cx="172819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线性特性：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051720" y="697559"/>
            <a:ext cx="172819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可加性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8.6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线性非时变特性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81000" y="1182908"/>
            <a:ext cx="8053434" cy="805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，则激励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，如：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353832" y="2071116"/>
            <a:ext cx="8295456" cy="78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全响应中电容初始电压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和直流电压源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共同激励的响应，等于各自单独激励的响应之叠加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12352" y="2876551"/>
            <a:ext cx="8053434" cy="157511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综合上述两点，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线性非时变电路的线性特性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体现为：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(t)+k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(t)+k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33421" y="4557675"/>
            <a:ext cx="172819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非时变特性：</a:t>
            </a:r>
            <a:endParaRPr lang="en-US" altLang="zh-CN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44410" y="5168094"/>
            <a:ext cx="8338900" cy="10801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线性非时变电路零状态响应的非时变特性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体现为：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(t)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，则激励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(t-t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的响应为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(t-t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149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0162A3-F0ED-4EDE-913F-9D2966857E0C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页脚占位符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2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C91F7D-15DC-4C31-B0A6-61677C37E43A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2870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371680494"/>
              </p:ext>
            </p:extLst>
          </p:nvPr>
        </p:nvGraphicFramePr>
        <p:xfrm>
          <a:off x="2206626" y="995363"/>
          <a:ext cx="5184775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82" name="Visio" r:id="rId3" imgW="2303431" imgH="910828" progId="Visio.Drawing.11">
                  <p:embed/>
                </p:oleObj>
              </mc:Choice>
              <mc:Fallback>
                <p:oleObj name="Visio" r:id="rId3" imgW="2303431" imgH="91082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6" y="995363"/>
                        <a:ext cx="5184775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711" name="Group 7"/>
          <p:cNvGrpSpPr>
            <a:grpSpLocks/>
          </p:cNvGrpSpPr>
          <p:nvPr/>
        </p:nvGrpSpPr>
        <p:grpSpPr bwMode="auto">
          <a:xfrm>
            <a:off x="3402013" y="2852738"/>
            <a:ext cx="4016375" cy="935037"/>
            <a:chOff x="1492" y="2206"/>
            <a:chExt cx="2530" cy="589"/>
          </a:xfrm>
        </p:grpSpPr>
        <p:graphicFrame>
          <p:nvGraphicFramePr>
            <p:cNvPr id="17435" name="Object 8"/>
            <p:cNvGraphicFramePr>
              <a:graphicFrameLocks noChangeAspect="1"/>
            </p:cNvGraphicFramePr>
            <p:nvPr/>
          </p:nvGraphicFramePr>
          <p:xfrm>
            <a:off x="1506" y="2251"/>
            <a:ext cx="43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3" name="公式" r:id="rId5" imgW="317087" imgH="215619" progId="Equation.3">
                    <p:embed/>
                  </p:oleObj>
                </mc:Choice>
                <mc:Fallback>
                  <p:oleObj name="公式" r:id="rId5" imgW="317087" imgH="21561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251"/>
                          <a:ext cx="43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9"/>
            <p:cNvGraphicFramePr>
              <a:graphicFrameLocks noChangeAspect="1"/>
            </p:cNvGraphicFramePr>
            <p:nvPr/>
          </p:nvGraphicFramePr>
          <p:xfrm>
            <a:off x="3553" y="2206"/>
            <a:ext cx="45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4" name="公式" r:id="rId7" imgW="330057" imgH="215806" progId="Equation.3">
                    <p:embed/>
                  </p:oleObj>
                </mc:Choice>
                <mc:Fallback>
                  <p:oleObj name="公式" r:id="rId7" imgW="330057" imgH="21580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2206"/>
                          <a:ext cx="45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0"/>
            <p:cNvGraphicFramePr>
              <a:graphicFrameLocks noChangeAspect="1"/>
            </p:cNvGraphicFramePr>
            <p:nvPr/>
          </p:nvGraphicFramePr>
          <p:xfrm>
            <a:off x="1492" y="2523"/>
            <a:ext cx="46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5" name="公式" r:id="rId9" imgW="342603" imgH="215713" progId="Equation.3">
                    <p:embed/>
                  </p:oleObj>
                </mc:Choice>
                <mc:Fallback>
                  <p:oleObj name="公式" r:id="rId9" imgW="342603" imgH="215713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" y="2523"/>
                          <a:ext cx="469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11"/>
            <p:cNvGraphicFramePr>
              <a:graphicFrameLocks noChangeAspect="1"/>
            </p:cNvGraphicFramePr>
            <p:nvPr/>
          </p:nvGraphicFramePr>
          <p:xfrm>
            <a:off x="3553" y="2432"/>
            <a:ext cx="46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6" name="公式" r:id="rId11" imgW="342603" imgH="215713" progId="Equation.3">
                    <p:embed/>
                  </p:oleObj>
                </mc:Choice>
                <mc:Fallback>
                  <p:oleObj name="公式" r:id="rId11" imgW="342603" imgH="215713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2432"/>
                          <a:ext cx="46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Line 12"/>
            <p:cNvSpPr>
              <a:spLocks noChangeShapeType="1"/>
            </p:cNvSpPr>
            <p:nvPr/>
          </p:nvSpPr>
          <p:spPr bwMode="auto">
            <a:xfrm>
              <a:off x="1882" y="2387"/>
              <a:ext cx="15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0" name="Line 13"/>
            <p:cNvSpPr>
              <a:spLocks noChangeShapeType="1"/>
            </p:cNvSpPr>
            <p:nvPr/>
          </p:nvSpPr>
          <p:spPr bwMode="auto">
            <a:xfrm>
              <a:off x="1882" y="2614"/>
              <a:ext cx="15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718" name="Group 14"/>
          <p:cNvGrpSpPr>
            <a:grpSpLocks/>
          </p:cNvGrpSpPr>
          <p:nvPr/>
        </p:nvGrpSpPr>
        <p:grpSpPr bwMode="auto">
          <a:xfrm>
            <a:off x="2732088" y="3924300"/>
            <a:ext cx="5800725" cy="431800"/>
            <a:chOff x="1143" y="2795"/>
            <a:chExt cx="3654" cy="272"/>
          </a:xfrm>
        </p:grpSpPr>
        <p:graphicFrame>
          <p:nvGraphicFramePr>
            <p:cNvPr id="17432" name="Object 15"/>
            <p:cNvGraphicFramePr>
              <a:graphicFrameLocks noChangeAspect="1"/>
            </p:cNvGraphicFramePr>
            <p:nvPr/>
          </p:nvGraphicFramePr>
          <p:xfrm>
            <a:off x="1143" y="2795"/>
            <a:ext cx="13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7" name="公式" r:id="rId13" imgW="990170" imgH="215806" progId="Equation.3">
                    <p:embed/>
                  </p:oleObj>
                </mc:Choice>
                <mc:Fallback>
                  <p:oleObj name="公式" r:id="rId13" imgW="990170" imgH="215806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3" y="2795"/>
                          <a:ext cx="13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16"/>
            <p:cNvGraphicFramePr>
              <a:graphicFrameLocks noChangeAspect="1"/>
            </p:cNvGraphicFramePr>
            <p:nvPr/>
          </p:nvGraphicFramePr>
          <p:xfrm>
            <a:off x="3424" y="2795"/>
            <a:ext cx="137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8" name="公式" r:id="rId15" imgW="1002865" imgH="215806" progId="Equation.3">
                    <p:embed/>
                  </p:oleObj>
                </mc:Choice>
                <mc:Fallback>
                  <p:oleObj name="公式" r:id="rId15" imgW="1002865" imgH="21580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2795"/>
                          <a:ext cx="137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Line 17"/>
            <p:cNvSpPr>
              <a:spLocks noChangeShapeType="1"/>
            </p:cNvSpPr>
            <p:nvPr/>
          </p:nvSpPr>
          <p:spPr bwMode="auto">
            <a:xfrm>
              <a:off x="2472" y="2931"/>
              <a:ext cx="953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722" name="Group 18"/>
          <p:cNvGrpSpPr>
            <a:grpSpLocks/>
          </p:cNvGrpSpPr>
          <p:nvPr/>
        </p:nvGrpSpPr>
        <p:grpSpPr bwMode="auto">
          <a:xfrm>
            <a:off x="2932113" y="4640824"/>
            <a:ext cx="4699000" cy="458788"/>
            <a:chOff x="1336" y="3067"/>
            <a:chExt cx="2960" cy="289"/>
          </a:xfrm>
        </p:grpSpPr>
        <p:graphicFrame>
          <p:nvGraphicFramePr>
            <p:cNvPr id="17429" name="Object 19"/>
            <p:cNvGraphicFramePr>
              <a:graphicFrameLocks noChangeAspect="1"/>
            </p:cNvGraphicFramePr>
            <p:nvPr/>
          </p:nvGraphicFramePr>
          <p:xfrm>
            <a:off x="3515" y="3067"/>
            <a:ext cx="7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89" name="公式" r:id="rId17" imgW="571252" imgH="228501" progId="Equation.3">
                    <p:embed/>
                  </p:oleObj>
                </mc:Choice>
                <mc:Fallback>
                  <p:oleObj name="公式" r:id="rId17" imgW="571252" imgH="228501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067"/>
                          <a:ext cx="781" cy="288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20"/>
            <p:cNvGraphicFramePr>
              <a:graphicFrameLocks noChangeAspect="1"/>
            </p:cNvGraphicFramePr>
            <p:nvPr/>
          </p:nvGraphicFramePr>
          <p:xfrm>
            <a:off x="1336" y="3068"/>
            <a:ext cx="7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90" name="公式" r:id="rId19" imgW="558800" imgH="228600" progId="Equation.3">
                    <p:embed/>
                  </p:oleObj>
                </mc:Choice>
                <mc:Fallback>
                  <p:oleObj name="公式" r:id="rId19" imgW="5588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3068"/>
                          <a:ext cx="764" cy="288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Line 21"/>
            <p:cNvSpPr>
              <a:spLocks noChangeShapeType="1"/>
            </p:cNvSpPr>
            <p:nvPr/>
          </p:nvSpPr>
          <p:spPr bwMode="auto">
            <a:xfrm>
              <a:off x="2109" y="3249"/>
              <a:ext cx="1497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726" name="Group 22"/>
          <p:cNvGrpSpPr>
            <a:grpSpLocks/>
          </p:cNvGrpSpPr>
          <p:nvPr/>
        </p:nvGrpSpPr>
        <p:grpSpPr bwMode="auto">
          <a:xfrm>
            <a:off x="3025411" y="5202849"/>
            <a:ext cx="4444999" cy="798513"/>
            <a:chOff x="1340" y="3344"/>
            <a:chExt cx="2800" cy="503"/>
          </a:xfrm>
        </p:grpSpPr>
        <p:graphicFrame>
          <p:nvGraphicFramePr>
            <p:cNvPr id="17426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0918209"/>
                </p:ext>
              </p:extLst>
            </p:nvPr>
          </p:nvGraphicFramePr>
          <p:xfrm>
            <a:off x="1340" y="3350"/>
            <a:ext cx="62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91" name="公式" r:id="rId21" imgW="457002" imgH="393529" progId="Equation.3">
                    <p:embed/>
                  </p:oleObj>
                </mc:Choice>
                <mc:Fallback>
                  <p:oleObj name="公式" r:id="rId21" imgW="457002" imgH="393529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0" y="3350"/>
                          <a:ext cx="625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24"/>
            <p:cNvGraphicFramePr>
              <a:graphicFrameLocks noChangeAspect="1"/>
            </p:cNvGraphicFramePr>
            <p:nvPr/>
          </p:nvGraphicFramePr>
          <p:xfrm>
            <a:off x="3515" y="3344"/>
            <a:ext cx="625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92" name="公式" r:id="rId23" imgW="457002" imgH="393529" progId="Equation.3">
                    <p:embed/>
                  </p:oleObj>
                </mc:Choice>
                <mc:Fallback>
                  <p:oleObj name="公式" r:id="rId23" imgW="457002" imgH="39352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344"/>
                          <a:ext cx="625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Line 25"/>
            <p:cNvSpPr>
              <a:spLocks noChangeShapeType="1"/>
            </p:cNvSpPr>
            <p:nvPr/>
          </p:nvSpPr>
          <p:spPr bwMode="auto">
            <a:xfrm>
              <a:off x="1927" y="3566"/>
              <a:ext cx="15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730" name="Group 26"/>
          <p:cNvGrpSpPr>
            <a:grpSpLocks/>
          </p:cNvGrpSpPr>
          <p:nvPr/>
        </p:nvGrpSpPr>
        <p:grpSpPr bwMode="auto">
          <a:xfrm>
            <a:off x="2840039" y="5801219"/>
            <a:ext cx="4921250" cy="671512"/>
            <a:chOff x="1206" y="3831"/>
            <a:chExt cx="3100" cy="423"/>
          </a:xfrm>
        </p:grpSpPr>
        <p:graphicFrame>
          <p:nvGraphicFramePr>
            <p:cNvPr id="17423" name="Object 27"/>
            <p:cNvGraphicFramePr>
              <a:graphicFrameLocks noChangeAspect="1"/>
            </p:cNvGraphicFramePr>
            <p:nvPr/>
          </p:nvGraphicFramePr>
          <p:xfrm>
            <a:off x="1206" y="3838"/>
            <a:ext cx="920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93" name="公式" r:id="rId25" imgW="672808" imgH="330057" progId="Equation.3">
                    <p:embed/>
                  </p:oleObj>
                </mc:Choice>
                <mc:Fallback>
                  <p:oleObj name="公式" r:id="rId25" imgW="672808" imgH="330057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6" y="3838"/>
                          <a:ext cx="920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4" name="Object 28"/>
            <p:cNvGraphicFramePr>
              <a:graphicFrameLocks noChangeAspect="1"/>
            </p:cNvGraphicFramePr>
            <p:nvPr/>
          </p:nvGraphicFramePr>
          <p:xfrm>
            <a:off x="3368" y="3831"/>
            <a:ext cx="938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94" name="公式" r:id="rId27" imgW="685800" imgH="330200" progId="Equation.3">
                    <p:embed/>
                  </p:oleObj>
                </mc:Choice>
                <mc:Fallback>
                  <p:oleObj name="公式" r:id="rId27" imgW="685800" imgH="330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" y="3831"/>
                          <a:ext cx="938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Line 29"/>
            <p:cNvSpPr>
              <a:spLocks noChangeShapeType="1"/>
            </p:cNvSpPr>
            <p:nvPr/>
          </p:nvSpPr>
          <p:spPr bwMode="auto">
            <a:xfrm>
              <a:off x="2200" y="4065"/>
              <a:ext cx="10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515350" cy="4699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8.6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线性非时变特性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auto">
          <a:xfrm>
            <a:off x="1169988" y="561975"/>
            <a:ext cx="765016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零状态响应与激励间的</a:t>
            </a: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关系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7421" name="Rectangle 5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17422" name="Rectangle 6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2020" y="309578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线性特性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齐次性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778829" y="464091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非时变特性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551939" y="387678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线性特性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可加性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33253" y="562345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线性非时变特性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027156"/>
              </p:ext>
            </p:extLst>
          </p:nvPr>
        </p:nvGraphicFramePr>
        <p:xfrm>
          <a:off x="933450" y="2365375"/>
          <a:ext cx="35321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5" name="Equation" r:id="rId3" imgW="1384200" imgH="342720" progId="Equation.DSMT4">
                  <p:embed/>
                </p:oleObj>
              </mc:Choice>
              <mc:Fallback>
                <p:oleObj name="Equation" r:id="rId3" imgW="1384200" imgH="342720" progId="Equation.DSMT4">
                  <p:embed/>
                  <p:pic>
                    <p:nvPicPr>
                      <p:cNvPr id="2211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2365375"/>
                        <a:ext cx="353218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305576"/>
              </p:ext>
            </p:extLst>
          </p:nvPr>
        </p:nvGraphicFramePr>
        <p:xfrm>
          <a:off x="933450" y="3521077"/>
          <a:ext cx="29019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6" name="Equation" r:id="rId5" imgW="1143000" imgH="419040" progId="Equation.DSMT4">
                  <p:embed/>
                </p:oleObj>
              </mc:Choice>
              <mc:Fallback>
                <p:oleObj name="Equation" r:id="rId5" imgW="1143000" imgH="419040" progId="Equation.DSMT4">
                  <p:embed/>
                  <p:pic>
                    <p:nvPicPr>
                      <p:cNvPr id="2211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3521077"/>
                        <a:ext cx="29019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1549" y="5245100"/>
            <a:ext cx="7617627" cy="920750"/>
            <a:chOff x="1184" y="3077"/>
            <a:chExt cx="4266" cy="580"/>
          </a:xfrm>
        </p:grpSpPr>
        <p:graphicFrame>
          <p:nvGraphicFramePr>
            <p:cNvPr id="10752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979719"/>
                </p:ext>
              </p:extLst>
            </p:nvPr>
          </p:nvGraphicFramePr>
          <p:xfrm>
            <a:off x="1184" y="3132"/>
            <a:ext cx="123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67" name="Equation" r:id="rId7" imgW="825480" imgH="330120" progId="Equation.DSMT4">
                    <p:embed/>
                  </p:oleObj>
                </mc:Choice>
                <mc:Fallback>
                  <p:oleObj name="Equation" r:id="rId7" imgW="825480" imgH="330120" progId="Equation.DSMT4">
                    <p:embed/>
                    <p:pic>
                      <p:nvPicPr>
                        <p:cNvPr id="10752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4" y="3132"/>
                          <a:ext cx="123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69" name="Text Box 6"/>
            <p:cNvSpPr txBox="1">
              <a:spLocks noChangeArrowheads="1"/>
            </p:cNvSpPr>
            <p:nvPr/>
          </p:nvSpPr>
          <p:spPr bwMode="auto">
            <a:xfrm>
              <a:off x="2536" y="3294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和</a:t>
              </a:r>
              <a:endPara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752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7629808"/>
                </p:ext>
              </p:extLst>
            </p:nvPr>
          </p:nvGraphicFramePr>
          <p:xfrm>
            <a:off x="2971" y="3077"/>
            <a:ext cx="167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68" name="Equation" r:id="rId9" imgW="914400" imgH="304560" progId="Equation.DSMT4">
                    <p:embed/>
                  </p:oleObj>
                </mc:Choice>
                <mc:Fallback>
                  <p:oleObj name="Equation" r:id="rId9" imgW="914400" imgH="304560" progId="Equation.DSMT4">
                    <p:embed/>
                    <p:pic>
                      <p:nvPicPr>
                        <p:cNvPr id="10752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3077"/>
                          <a:ext cx="1676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70" name="Text Box 8"/>
            <p:cNvSpPr txBox="1">
              <a:spLocks noChangeArrowheads="1"/>
            </p:cNvSpPr>
            <p:nvPr/>
          </p:nvSpPr>
          <p:spPr bwMode="auto">
            <a:xfrm>
              <a:off x="4728" y="3249"/>
              <a:ext cx="7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的区别</a:t>
              </a:r>
              <a:endParaRPr kumimoji="1" lang="zh-CN" altLang="en-US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571" name="Line 9"/>
            <p:cNvSpPr>
              <a:spLocks noChangeShapeType="1"/>
            </p:cNvSpPr>
            <p:nvPr/>
          </p:nvSpPr>
          <p:spPr bwMode="auto">
            <a:xfrm>
              <a:off x="1973" y="3657"/>
              <a:ext cx="4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2" name="Line 10"/>
            <p:cNvSpPr>
              <a:spLocks noChangeShapeType="1"/>
            </p:cNvSpPr>
            <p:nvPr/>
          </p:nvSpPr>
          <p:spPr bwMode="auto">
            <a:xfrm>
              <a:off x="3379" y="3657"/>
              <a:ext cx="12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195" name="Text Box 11"/>
          <p:cNvSpPr txBox="1">
            <a:spLocks noChangeArrowheads="1"/>
          </p:cNvSpPr>
          <p:nvPr/>
        </p:nvSpPr>
        <p:spPr bwMode="auto">
          <a:xfrm>
            <a:off x="252703" y="361990"/>
            <a:ext cx="53882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3200" dirty="0" smtClean="0">
                <a:solidFill>
                  <a:schemeClr val="tx1"/>
                </a:solidFill>
                <a:latin typeface="楷体_GB2312" pitchFamily="49" charset="-122"/>
              </a:rPr>
              <a:t>零状态响应的阶跃函数表示</a:t>
            </a:r>
            <a:endParaRPr kumimoji="1" lang="zh-CN" altLang="en-US" sz="32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221196" name="Text Box 12"/>
          <p:cNvSpPr txBox="1">
            <a:spLocks noChangeArrowheads="1"/>
          </p:cNvSpPr>
          <p:nvPr/>
        </p:nvSpPr>
        <p:spPr bwMode="auto">
          <a:xfrm>
            <a:off x="3492500" y="1194975"/>
            <a:ext cx="496728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激励为单位阶跃函数时，电路中产生的零状态响应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。用是</a:t>
            </a:r>
            <a:r>
              <a:rPr kumimoji="1" lang="en-US" altLang="zh-CN" sz="24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表示。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1197" name="Text Box 13"/>
          <p:cNvSpPr txBox="1">
            <a:spLocks noChangeArrowheads="1"/>
          </p:cNvSpPr>
          <p:nvPr/>
        </p:nvSpPr>
        <p:spPr bwMode="auto">
          <a:xfrm>
            <a:off x="683420" y="1505892"/>
            <a:ext cx="1871662" cy="523220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阶跃响应</a:t>
            </a:r>
          </a:p>
        </p:txBody>
      </p:sp>
      <p:sp>
        <p:nvSpPr>
          <p:cNvPr id="221198" name="Line 14"/>
          <p:cNvSpPr>
            <a:spLocks noChangeShapeType="1"/>
          </p:cNvSpPr>
          <p:nvPr/>
        </p:nvSpPr>
        <p:spPr bwMode="auto">
          <a:xfrm>
            <a:off x="2627313" y="1773238"/>
            <a:ext cx="720725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076825" y="2276476"/>
            <a:ext cx="3490913" cy="2597151"/>
            <a:chOff x="2880" y="1979"/>
            <a:chExt cx="2199" cy="1636"/>
          </a:xfrm>
        </p:grpSpPr>
        <p:sp>
          <p:nvSpPr>
            <p:cNvPr id="107541" name="Oval 22"/>
            <p:cNvSpPr>
              <a:spLocks noChangeArrowheads="1"/>
            </p:cNvSpPr>
            <p:nvPr/>
          </p:nvSpPr>
          <p:spPr bwMode="auto">
            <a:xfrm>
              <a:off x="2880" y="2614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7542" name="Line 23"/>
            <p:cNvSpPr>
              <a:spLocks noChangeShapeType="1"/>
            </p:cNvSpPr>
            <p:nvPr/>
          </p:nvSpPr>
          <p:spPr bwMode="auto">
            <a:xfrm>
              <a:off x="3152" y="3113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7543" name="Group 24"/>
            <p:cNvGrpSpPr>
              <a:grpSpLocks/>
            </p:cNvGrpSpPr>
            <p:nvPr/>
          </p:nvGrpSpPr>
          <p:grpSpPr bwMode="auto">
            <a:xfrm>
              <a:off x="3152" y="2478"/>
              <a:ext cx="128" cy="136"/>
              <a:chOff x="648" y="2472"/>
              <a:chExt cx="128" cy="136"/>
            </a:xfrm>
          </p:grpSpPr>
          <p:sp>
            <p:nvSpPr>
              <p:cNvPr id="107563" name="Line 25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64" name="Line 26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7544" name="Line 27"/>
            <p:cNvSpPr>
              <a:spLocks noChangeShapeType="1"/>
            </p:cNvSpPr>
            <p:nvPr/>
          </p:nvSpPr>
          <p:spPr bwMode="auto">
            <a:xfrm>
              <a:off x="3061" y="2341"/>
              <a:ext cx="160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5" name="Line 28"/>
            <p:cNvSpPr>
              <a:spLocks noChangeShapeType="1"/>
            </p:cNvSpPr>
            <p:nvPr/>
          </p:nvSpPr>
          <p:spPr bwMode="auto">
            <a:xfrm>
              <a:off x="4150" y="2432"/>
              <a:ext cx="2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6" name="Text Box 29"/>
            <p:cNvSpPr txBox="1">
              <a:spLocks noChangeArrowheads="1"/>
            </p:cNvSpPr>
            <p:nvPr/>
          </p:nvSpPr>
          <p:spPr bwMode="auto">
            <a:xfrm>
              <a:off x="4195" y="1979"/>
              <a:ext cx="1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47" name="Line 30"/>
            <p:cNvSpPr>
              <a:spLocks noChangeShapeType="1"/>
            </p:cNvSpPr>
            <p:nvPr/>
          </p:nvSpPr>
          <p:spPr bwMode="auto">
            <a:xfrm flipH="1">
              <a:off x="3061" y="2341"/>
              <a:ext cx="0" cy="9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8" name="Text Box 31"/>
            <p:cNvSpPr txBox="1">
              <a:spLocks noChangeArrowheads="1"/>
            </p:cNvSpPr>
            <p:nvPr/>
          </p:nvSpPr>
          <p:spPr bwMode="auto">
            <a:xfrm>
              <a:off x="4177" y="2640"/>
              <a:ext cx="3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7549" name="Group 32"/>
            <p:cNvGrpSpPr>
              <a:grpSpLocks/>
            </p:cNvGrpSpPr>
            <p:nvPr/>
          </p:nvGrpSpPr>
          <p:grpSpPr bwMode="auto">
            <a:xfrm>
              <a:off x="4745" y="2413"/>
              <a:ext cx="334" cy="748"/>
              <a:chOff x="1982" y="715"/>
              <a:chExt cx="305" cy="682"/>
            </a:xfrm>
          </p:grpSpPr>
          <p:grpSp>
            <p:nvGrpSpPr>
              <p:cNvPr id="107559" name="Group 33"/>
              <p:cNvGrpSpPr>
                <a:grpSpLocks/>
              </p:cNvGrpSpPr>
              <p:nvPr/>
            </p:nvGrpSpPr>
            <p:grpSpPr bwMode="auto">
              <a:xfrm>
                <a:off x="2065" y="715"/>
                <a:ext cx="222" cy="682"/>
                <a:chOff x="1633" y="1243"/>
                <a:chExt cx="222" cy="682"/>
              </a:xfrm>
            </p:grpSpPr>
            <p:sp>
              <p:nvSpPr>
                <p:cNvPr id="107561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633" y="1243"/>
                  <a:ext cx="222" cy="2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107562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634" y="1627"/>
                  <a:ext cx="208" cy="2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07560" name="Text Box 36"/>
              <p:cNvSpPr txBox="1">
                <a:spLocks noChangeArrowheads="1"/>
              </p:cNvSpPr>
              <p:nvPr/>
            </p:nvSpPr>
            <p:spPr bwMode="auto">
              <a:xfrm>
                <a:off x="1982" y="897"/>
                <a:ext cx="302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b="0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7550" name="Line 37"/>
            <p:cNvSpPr>
              <a:spLocks noChangeShapeType="1"/>
            </p:cNvSpPr>
            <p:nvPr/>
          </p:nvSpPr>
          <p:spPr bwMode="auto">
            <a:xfrm flipV="1">
              <a:off x="4649" y="2840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1" name="Line 38"/>
            <p:cNvSpPr>
              <a:spLocks noChangeShapeType="1"/>
            </p:cNvSpPr>
            <p:nvPr/>
          </p:nvSpPr>
          <p:spPr bwMode="auto">
            <a:xfrm flipV="1">
              <a:off x="4649" y="2341"/>
              <a:ext cx="0" cy="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2" name="Line 39"/>
            <p:cNvSpPr>
              <a:spLocks noChangeShapeType="1"/>
            </p:cNvSpPr>
            <p:nvPr/>
          </p:nvSpPr>
          <p:spPr bwMode="auto">
            <a:xfrm>
              <a:off x="3061" y="3249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3" name="Text Box 40"/>
            <p:cNvSpPr txBox="1">
              <a:spLocks noChangeArrowheads="1"/>
            </p:cNvSpPr>
            <p:nvPr/>
          </p:nvSpPr>
          <p:spPr bwMode="auto">
            <a:xfrm>
              <a:off x="3738" y="236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54" name="Text Box 41"/>
            <p:cNvSpPr txBox="1">
              <a:spLocks noChangeArrowheads="1"/>
            </p:cNvSpPr>
            <p:nvPr/>
          </p:nvSpPr>
          <p:spPr bwMode="auto">
            <a:xfrm>
              <a:off x="3235" y="3247"/>
              <a:ext cx="115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32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3200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)=0</a:t>
              </a:r>
            </a:p>
          </p:txBody>
        </p:sp>
        <p:graphicFrame>
          <p:nvGraphicFramePr>
            <p:cNvPr id="107524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066036"/>
                </p:ext>
              </p:extLst>
            </p:nvPr>
          </p:nvGraphicFramePr>
          <p:xfrm>
            <a:off x="3306" y="2677"/>
            <a:ext cx="47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69" name="Equation" r:id="rId11" imgW="330120" imgH="203040" progId="Equation.DSMT4">
                    <p:embed/>
                  </p:oleObj>
                </mc:Choice>
                <mc:Fallback>
                  <p:oleObj name="Equation" r:id="rId11" imgW="330120" imgH="203040" progId="Equation.DSMT4">
                    <p:embed/>
                    <p:pic>
                      <p:nvPicPr>
                        <p:cNvPr id="107524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2677"/>
                          <a:ext cx="474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55" name="Rectangle 43"/>
            <p:cNvSpPr>
              <a:spLocks noChangeArrowheads="1"/>
            </p:cNvSpPr>
            <p:nvPr/>
          </p:nvSpPr>
          <p:spPr bwMode="auto">
            <a:xfrm>
              <a:off x="3696" y="2251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07556" name="Group 44"/>
            <p:cNvGrpSpPr>
              <a:grpSpLocks/>
            </p:cNvGrpSpPr>
            <p:nvPr/>
          </p:nvGrpSpPr>
          <p:grpSpPr bwMode="auto">
            <a:xfrm>
              <a:off x="4513" y="2750"/>
              <a:ext cx="240" cy="90"/>
              <a:chOff x="4604" y="2478"/>
              <a:chExt cx="240" cy="90"/>
            </a:xfrm>
          </p:grpSpPr>
          <p:sp>
            <p:nvSpPr>
              <p:cNvPr id="107557" name="Line 45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58" name="Line 46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7540" name="Text Box 49"/>
          <p:cNvSpPr txBox="1">
            <a:spLocks noChangeArrowheads="1"/>
          </p:cNvSpPr>
          <p:nvPr/>
        </p:nvSpPr>
        <p:spPr bwMode="auto">
          <a:xfrm>
            <a:off x="650965" y="4706938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79856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5" grpId="0"/>
      <p:bldP spid="221196" grpId="0"/>
      <p:bldP spid="22119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6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750A13-8195-446C-87FD-4E9CB3968A07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8435" name="页脚占位符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8436" name="灯片编号占位符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78D7A5-3ABF-46CD-8BDB-F8BA317470BE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381000" y="655638"/>
            <a:ext cx="8458200" cy="457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Practice :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Find the zero-state response </a:t>
            </a:r>
            <a:r>
              <a:rPr lang="en-US" altLang="zh-CN" sz="2400" i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u</a:t>
            </a:r>
            <a:r>
              <a:rPr lang="en-US" altLang="zh-CN" sz="2400" i="1" baseline="-25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c</a:t>
            </a:r>
            <a:r>
              <a:rPr lang="en-US" altLang="zh-CN" sz="2400" i="1" baseline="-25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.</a:t>
            </a:r>
            <a:endParaRPr lang="en-US" altLang="zh-CN" sz="2400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8438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563938" y="1112838"/>
          <a:ext cx="27686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7" name="Visio" r:id="rId3" imgW="1538264" imgH="933165" progId="Visio.Drawing.11">
                  <p:embed/>
                </p:oleObj>
              </mc:Choice>
              <mc:Fallback>
                <p:oleObj name="Visio" r:id="rId3" imgW="1538264" imgH="93316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112838"/>
                        <a:ext cx="2768600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877050" y="1060450"/>
          <a:ext cx="1773238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8" name="Visio" r:id="rId5" imgW="1054943" imgH="1051498" progId="Visio.Drawing.11">
                  <p:embed/>
                </p:oleObj>
              </mc:Choice>
              <mc:Fallback>
                <p:oleObj name="Visio" r:id="rId5" imgW="1054943" imgH="105149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1060450"/>
                        <a:ext cx="1773238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7" name="Object 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55625" y="1200150"/>
          <a:ext cx="29924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9" name="Equation" r:id="rId7" imgW="1460500" imgH="228600" progId="Equation.DSMT4">
                  <p:embed/>
                </p:oleObj>
              </mc:Choice>
              <mc:Fallback>
                <p:oleObj name="Equation" r:id="rId7" imgW="14605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1200150"/>
                        <a:ext cx="29924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/>
          <p:cNvGraphicFramePr>
            <a:graphicFrameLocks noChangeAspect="1"/>
          </p:cNvGraphicFramePr>
          <p:nvPr/>
        </p:nvGraphicFramePr>
        <p:xfrm>
          <a:off x="812800" y="1958975"/>
          <a:ext cx="22113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0" name="Equation" r:id="rId9" imgW="1079032" imgH="190417" progId="Equation.DSMT4">
                  <p:embed/>
                </p:oleObj>
              </mc:Choice>
              <mc:Fallback>
                <p:oleObj name="Equation" r:id="rId9" imgW="1079032" imgH="19041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1958975"/>
                        <a:ext cx="22113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9" name="Object 7"/>
          <p:cNvGraphicFramePr>
            <a:graphicFrameLocks noChangeAspect="1"/>
          </p:cNvGraphicFramePr>
          <p:nvPr/>
        </p:nvGraphicFramePr>
        <p:xfrm>
          <a:off x="642938" y="2520950"/>
          <a:ext cx="267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1" name="Equation" r:id="rId11" imgW="1307532" imgH="291973" progId="Equation.DSMT4">
                  <p:embed/>
                </p:oleObj>
              </mc:Choice>
              <mc:Fallback>
                <p:oleObj name="Equation" r:id="rId11" imgW="1307532" imgH="29197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520950"/>
                        <a:ext cx="2679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0" name="Object 8"/>
          <p:cNvGraphicFramePr>
            <a:graphicFrameLocks noChangeAspect="1"/>
          </p:cNvGraphicFramePr>
          <p:nvPr/>
        </p:nvGraphicFramePr>
        <p:xfrm>
          <a:off x="663575" y="3308350"/>
          <a:ext cx="48926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2" name="Equation" r:id="rId13" imgW="2387600" imgH="304800" progId="Equation.DSMT4">
                  <p:embed/>
                </p:oleObj>
              </mc:Choice>
              <mc:Fallback>
                <p:oleObj name="Equation" r:id="rId13" imgW="2387600" imgH="304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3308350"/>
                        <a:ext cx="48926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1" name="Rectangle 9"/>
          <p:cNvSpPr>
            <a:spLocks noChangeArrowheads="1"/>
          </p:cNvSpPr>
          <p:nvPr/>
        </p:nvSpPr>
        <p:spPr bwMode="auto">
          <a:xfrm>
            <a:off x="862013" y="5233988"/>
            <a:ext cx="319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&gt;5: Zero-input response</a:t>
            </a:r>
          </a:p>
        </p:txBody>
      </p:sp>
      <p:sp>
        <p:nvSpPr>
          <p:cNvPr id="330762" name="Rectangle 10"/>
          <p:cNvSpPr>
            <a:spLocks noChangeArrowheads="1"/>
          </p:cNvSpPr>
          <p:nvPr/>
        </p:nvSpPr>
        <p:spPr bwMode="auto">
          <a:xfrm>
            <a:off x="739775" y="4370388"/>
            <a:ext cx="345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0&lt;</a:t>
            </a:r>
            <a:r>
              <a:rPr lang="en-US" altLang="zh-CN" sz="2400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&lt;5: Zero-state response</a:t>
            </a:r>
          </a:p>
        </p:txBody>
      </p:sp>
      <p:graphicFrame>
        <p:nvGraphicFramePr>
          <p:cNvPr id="330763" name="Object 11"/>
          <p:cNvGraphicFramePr>
            <a:graphicFrameLocks noChangeAspect="1"/>
          </p:cNvGraphicFramePr>
          <p:nvPr/>
        </p:nvGraphicFramePr>
        <p:xfrm>
          <a:off x="4716463" y="4095750"/>
          <a:ext cx="22129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3" name="公式" r:id="rId15" imgW="1079032" imgH="342751" progId="Equation.3">
                  <p:embed/>
                </p:oleObj>
              </mc:Choice>
              <mc:Fallback>
                <p:oleObj name="公式" r:id="rId15" imgW="1079032" imgH="34275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095750"/>
                        <a:ext cx="22129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4" name="Object 12"/>
          <p:cNvGraphicFramePr>
            <a:graphicFrameLocks noChangeAspect="1"/>
          </p:cNvGraphicFramePr>
          <p:nvPr/>
        </p:nvGraphicFramePr>
        <p:xfrm>
          <a:off x="4716463" y="5032375"/>
          <a:ext cx="36464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4" name="公式" r:id="rId17" imgW="1777229" imgH="342751" progId="Equation.3">
                  <p:embed/>
                </p:oleObj>
              </mc:Choice>
              <mc:Fallback>
                <p:oleObj name="公式" r:id="rId17" imgW="1777229" imgH="34275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5032375"/>
                        <a:ext cx="364648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5" name="Object 13"/>
          <p:cNvGraphicFramePr>
            <a:graphicFrameLocks noChangeAspect="1"/>
          </p:cNvGraphicFramePr>
          <p:nvPr/>
        </p:nvGraphicFramePr>
        <p:xfrm>
          <a:off x="4787900" y="5895975"/>
          <a:ext cx="31527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5" name="公式" r:id="rId19" imgW="1536700" imgH="342900" progId="Equation.3">
                  <p:embed/>
                </p:oleObj>
              </mc:Choice>
              <mc:Fallback>
                <p:oleObj name="公式" r:id="rId19" imgW="1536700" imgH="342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895975"/>
                        <a:ext cx="31527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6" name="Line 14"/>
          <p:cNvSpPr>
            <a:spLocks noChangeShapeType="1"/>
          </p:cNvSpPr>
          <p:nvPr/>
        </p:nvSpPr>
        <p:spPr bwMode="auto">
          <a:xfrm>
            <a:off x="250825" y="4005263"/>
            <a:ext cx="86423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179388" y="188913"/>
            <a:ext cx="8515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8.6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线性非时变特性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61" grpId="0"/>
      <p:bldP spid="33076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A9C67D-2086-4D20-8F45-C1D01488BC3F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946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084883-01CE-4071-BE89-8E22E70B82EE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34925" y="696913"/>
            <a:ext cx="85153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单位阶跃响应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与单位</a:t>
            </a:r>
            <a:r>
              <a:rPr lang="zh-CN" altLang="en-US" sz="24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冲激响应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-107950" y="1255713"/>
          <a:ext cx="34671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1" name="Visio" r:id="rId3" imgW="1733994" imgH="865220" progId="Visio.Drawing.11">
                  <p:embed/>
                </p:oleObj>
              </mc:Choice>
              <mc:Fallback>
                <p:oleObj name="Visio" r:id="rId3" imgW="1733994" imgH="865220" progId="Visio.Drawing.11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7950" y="1255713"/>
                        <a:ext cx="3467100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588125" y="1082675"/>
          <a:ext cx="2633663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" name="Visio" r:id="rId5" imgW="1316736" imgH="1233884" progId="Visio.Drawing.11">
                  <p:embed/>
                </p:oleObj>
              </mc:Choice>
              <mc:Fallback>
                <p:oleObj name="Visio" r:id="rId5" imgW="1316736" imgH="1233884" progId="Visio.Drawing.11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1082675"/>
                        <a:ext cx="2633663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19465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-49213" y="4030663"/>
          <a:ext cx="3441701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" name="Visio" r:id="rId7" imgW="1720391" imgH="865220" progId="Visio.Drawing.11">
                  <p:embed/>
                </p:oleObj>
              </mc:Choice>
              <mc:Fallback>
                <p:oleObj name="Visio" r:id="rId7" imgW="1720391" imgH="865220" progId="Visio.Drawing.11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9213" y="4030663"/>
                        <a:ext cx="3441701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61138" y="3679825"/>
          <a:ext cx="2643187" cy="253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4" name="Visio" r:id="rId9" imgW="1321178" imgH="1268359" progId="Visio.Drawing.11">
                  <p:embed/>
                </p:oleObj>
              </mc:Choice>
              <mc:Fallback>
                <p:oleObj name="Visio" r:id="rId9" imgW="1321178" imgH="1268359" progId="Visio.Drawing.11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138" y="3679825"/>
                        <a:ext cx="2643187" cy="253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3895725" y="1774825"/>
          <a:ext cx="250666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5" name="Equation" r:id="rId11" imgW="1002865" imgH="291973" progId="Equation.DSMT4">
                  <p:embed/>
                </p:oleObj>
              </mc:Choice>
              <mc:Fallback>
                <p:oleObj name="Equation" r:id="rId11" imgW="1002865" imgH="29197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1774825"/>
                        <a:ext cx="2506663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3479800" y="4846638"/>
          <a:ext cx="26654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6" name="Equation" r:id="rId13" imgW="1066800" imgH="368300" progId="Equation.DSMT4">
                  <p:embed/>
                </p:oleObj>
              </mc:Choice>
              <mc:Fallback>
                <p:oleObj name="Equation" r:id="rId13" imgW="1066800" imgH="368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4846638"/>
                        <a:ext cx="26654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150813" y="3200400"/>
          <a:ext cx="16827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7" name="Equation" r:id="rId15" imgW="672808" imgH="355446" progId="Equation.DSMT4">
                  <p:embed/>
                </p:oleObj>
              </mc:Choice>
              <mc:Fallback>
                <p:oleObj name="Equation" r:id="rId15" imgW="672808" imgH="3554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3" y="3200400"/>
                        <a:ext cx="16827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/>
        </p:nvGraphicFramePr>
        <p:xfrm>
          <a:off x="3795713" y="1484313"/>
          <a:ext cx="8572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8" name="Equation" r:id="rId17" imgW="342751" imgH="190417" progId="Equation.DSMT4">
                  <p:embed/>
                </p:oleObj>
              </mc:Choice>
              <mc:Fallback>
                <p:oleObj name="Equation" r:id="rId17" imgW="342751" imgH="19041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1484313"/>
                        <a:ext cx="8572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/>
        </p:nvGraphicFramePr>
        <p:xfrm>
          <a:off x="3763963" y="4403725"/>
          <a:ext cx="9207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" name="Equation" r:id="rId19" imgW="368300" imgH="190500" progId="Equation.DSMT4">
                  <p:embed/>
                </p:oleObj>
              </mc:Choice>
              <mc:Fallback>
                <p:oleObj name="Equation" r:id="rId19" imgW="368300" imgH="190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4403725"/>
                        <a:ext cx="9207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3851275" y="2405063"/>
          <a:ext cx="2222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0" name="Equation" r:id="rId21" imgW="888614" imgH="355446" progId="Equation.DSMT4">
                  <p:embed/>
                </p:oleObj>
              </mc:Choice>
              <mc:Fallback>
                <p:oleObj name="Equation" r:id="rId21" imgW="888614" imgH="3554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405063"/>
                        <a:ext cx="2222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2992438" y="5649913"/>
          <a:ext cx="38719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1" name="Equation" r:id="rId23" imgW="1549400" imgH="368300" progId="Equation.DSMT4">
                  <p:embed/>
                </p:oleObj>
              </mc:Choice>
              <mc:Fallback>
                <p:oleObj name="Equation" r:id="rId23" imgW="1549400" imgH="368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5649913"/>
                        <a:ext cx="387191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193675" y="188913"/>
            <a:ext cx="8515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8.7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冲激响应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计算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807923" y="23698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广义函数</a:t>
            </a:r>
            <a:endParaRPr lang="zh-CN" altLang="en-US" dirty="0"/>
          </a:p>
        </p:txBody>
      </p:sp>
      <p:grpSp>
        <p:nvGrpSpPr>
          <p:cNvPr id="18" name="Group 46"/>
          <p:cNvGrpSpPr>
            <a:grpSpLocks/>
          </p:cNvGrpSpPr>
          <p:nvPr/>
        </p:nvGrpSpPr>
        <p:grpSpPr bwMode="auto">
          <a:xfrm>
            <a:off x="252923" y="163737"/>
            <a:ext cx="2102768" cy="1179686"/>
            <a:chOff x="3320" y="844"/>
            <a:chExt cx="1951" cy="905"/>
          </a:xfrm>
        </p:grpSpPr>
        <p:sp>
          <p:nvSpPr>
            <p:cNvPr id="19" name="Line 47"/>
            <p:cNvSpPr>
              <a:spLocks noChangeShapeType="1"/>
            </p:cNvSpPr>
            <p:nvPr/>
          </p:nvSpPr>
          <p:spPr bwMode="auto">
            <a:xfrm>
              <a:off x="3560" y="1536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0" name="Line 48"/>
            <p:cNvSpPr>
              <a:spLocks noChangeShapeType="1"/>
            </p:cNvSpPr>
            <p:nvPr/>
          </p:nvSpPr>
          <p:spPr bwMode="auto">
            <a:xfrm flipV="1">
              <a:off x="3656" y="960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1" name="Line 49"/>
            <p:cNvSpPr>
              <a:spLocks noChangeShapeType="1"/>
            </p:cNvSpPr>
            <p:nvPr/>
          </p:nvSpPr>
          <p:spPr bwMode="auto">
            <a:xfrm>
              <a:off x="3656" y="1152"/>
              <a:ext cx="105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2" name="Text Box 50"/>
            <p:cNvSpPr txBox="1">
              <a:spLocks noChangeArrowheads="1"/>
            </p:cNvSpPr>
            <p:nvPr/>
          </p:nvSpPr>
          <p:spPr bwMode="auto">
            <a:xfrm>
              <a:off x="5114" y="1420"/>
              <a:ext cx="1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</a:rPr>
                <a:t>t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51"/>
            <p:cNvSpPr txBox="1">
              <a:spLocks noChangeArrowheads="1"/>
            </p:cNvSpPr>
            <p:nvPr/>
          </p:nvSpPr>
          <p:spPr bwMode="auto">
            <a:xfrm>
              <a:off x="3735" y="844"/>
              <a:ext cx="3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52"/>
            <p:cNvSpPr>
              <a:spLocks noChangeShapeType="1"/>
            </p:cNvSpPr>
            <p:nvPr/>
          </p:nvSpPr>
          <p:spPr bwMode="auto">
            <a:xfrm flipH="1">
              <a:off x="3320" y="1536"/>
              <a:ext cx="33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5" name="Line 53"/>
            <p:cNvSpPr>
              <a:spLocks noChangeShapeType="1"/>
            </p:cNvSpPr>
            <p:nvPr/>
          </p:nvSpPr>
          <p:spPr bwMode="auto">
            <a:xfrm>
              <a:off x="3656" y="1152"/>
              <a:ext cx="0" cy="38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6" name="Text Box 54"/>
            <p:cNvSpPr txBox="1">
              <a:spLocks noChangeArrowheads="1"/>
            </p:cNvSpPr>
            <p:nvPr/>
          </p:nvSpPr>
          <p:spPr bwMode="auto">
            <a:xfrm>
              <a:off x="3649" y="1516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Text Box 55"/>
            <p:cNvSpPr txBox="1">
              <a:spLocks noChangeArrowheads="1"/>
            </p:cNvSpPr>
            <p:nvPr/>
          </p:nvSpPr>
          <p:spPr bwMode="auto">
            <a:xfrm>
              <a:off x="3446" y="1091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8" name="Object 56"/>
          <p:cNvGraphicFramePr>
            <a:graphicFrameLocks noChangeAspect="1"/>
          </p:cNvGraphicFramePr>
          <p:nvPr>
            <p:extLst/>
          </p:nvPr>
        </p:nvGraphicFramePr>
        <p:xfrm>
          <a:off x="2537276" y="79281"/>
          <a:ext cx="2164681" cy="14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4" name="Visio" r:id="rId3" imgW="1641634" imgH="1068991" progId="Visio.Drawing.11">
                  <p:embed/>
                </p:oleObj>
              </mc:Choice>
              <mc:Fallback>
                <p:oleObj name="Visio" r:id="rId3" imgW="1641634" imgH="1068991" progId="Visio.Drawing.11">
                  <p:embed/>
                  <p:pic>
                    <p:nvPicPr>
                      <p:cNvPr id="2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276" y="79281"/>
                        <a:ext cx="2164681" cy="140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5"/>
          <p:cNvGraphicFramePr>
            <a:graphicFrameLocks noChangeAspect="1"/>
          </p:cNvGraphicFramePr>
          <p:nvPr>
            <p:extLst/>
          </p:nvPr>
        </p:nvGraphicFramePr>
        <p:xfrm>
          <a:off x="4874621" y="532957"/>
          <a:ext cx="1833364" cy="1399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5" name="Visio" r:id="rId5" imgW="1240869" imgH="947261" progId="Visio.Drawing.11">
                  <p:embed/>
                </p:oleObj>
              </mc:Choice>
              <mc:Fallback>
                <p:oleObj name="Visio" r:id="rId5" imgW="1240869" imgH="947261" progId="Visio.Drawing.11">
                  <p:embed/>
                  <p:pic>
                    <p:nvPicPr>
                      <p:cNvPr id="2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4621" y="532957"/>
                        <a:ext cx="1833364" cy="1399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>
            <p:extLst/>
          </p:nvPr>
        </p:nvGraphicFramePr>
        <p:xfrm>
          <a:off x="381000" y="1448895"/>
          <a:ext cx="1524269" cy="63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6" name="公式" r:id="rId7" imgW="1130040" imgH="469800" progId="Equation.3">
                  <p:embed/>
                </p:oleObj>
              </mc:Choice>
              <mc:Fallback>
                <p:oleObj name="公式" r:id="rId7" imgW="1130040" imgH="469800" progId="Equation.3">
                  <p:embed/>
                  <p:pic>
                    <p:nvPicPr>
                      <p:cNvPr id="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48895"/>
                        <a:ext cx="1524269" cy="633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/>
          </p:nvPr>
        </p:nvGraphicFramePr>
        <p:xfrm>
          <a:off x="2443859" y="1484124"/>
          <a:ext cx="1904768" cy="68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7" name="Equation" r:id="rId9" imgW="1346040" imgH="482400" progId="Equation.DSMT4">
                  <p:embed/>
                </p:oleObj>
              </mc:Choice>
              <mc:Fallback>
                <p:oleObj name="Equation" r:id="rId9" imgW="1346040" imgH="482400" progId="Equation.DSMT4">
                  <p:embed/>
                  <p:pic>
                    <p:nvPicPr>
                      <p:cNvPr id="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59" y="1484124"/>
                        <a:ext cx="1904768" cy="68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/>
          </p:nvPr>
        </p:nvGraphicFramePr>
        <p:xfrm>
          <a:off x="6918588" y="1190558"/>
          <a:ext cx="1674410" cy="556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8" name="Equation" r:id="rId11" imgW="1371600" imgH="457200" progId="Equation.DSMT4">
                  <p:embed/>
                </p:oleObj>
              </mc:Choice>
              <mc:Fallback>
                <p:oleObj name="Equation" r:id="rId11" imgW="1371600" imgH="457200" progId="Equation.DSMT4">
                  <p:embed/>
                  <p:pic>
                    <p:nvPicPr>
                      <p:cNvPr id="3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588" y="1190558"/>
                        <a:ext cx="1674410" cy="556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6"/>
          <p:cNvGraphicFramePr>
            <a:graphicFrameLocks noChangeAspect="1"/>
          </p:cNvGraphicFramePr>
          <p:nvPr>
            <p:extLst/>
          </p:nvPr>
        </p:nvGraphicFramePr>
        <p:xfrm>
          <a:off x="400136" y="2061152"/>
          <a:ext cx="1584951" cy="166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9" name="Visio" r:id="rId13" imgW="1165860" imgH="1222438" progId="Visio.Drawing.11">
                  <p:embed/>
                </p:oleObj>
              </mc:Choice>
              <mc:Fallback>
                <p:oleObj name="Visio" r:id="rId13" imgW="1165860" imgH="1222438" progId="Visio.Drawing.11">
                  <p:embed/>
                  <p:pic>
                    <p:nvPicPr>
                      <p:cNvPr id="3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36" y="2061152"/>
                        <a:ext cx="1584951" cy="1662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8"/>
          <p:cNvGraphicFramePr>
            <a:graphicFrameLocks noChangeAspect="1"/>
          </p:cNvGraphicFramePr>
          <p:nvPr>
            <p:extLst/>
          </p:nvPr>
        </p:nvGraphicFramePr>
        <p:xfrm>
          <a:off x="162046" y="3740613"/>
          <a:ext cx="2047627" cy="27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0" name="Equation" r:id="rId15" imgW="1714500" imgH="228600" progId="Equation.DSMT4">
                  <p:embed/>
                </p:oleObj>
              </mc:Choice>
              <mc:Fallback>
                <p:oleObj name="Equation" r:id="rId15" imgW="1714500" imgH="228600" progId="Equation.DSMT4">
                  <p:embed/>
                  <p:pic>
                    <p:nvPicPr>
                      <p:cNvPr id="3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6" y="3740613"/>
                        <a:ext cx="2047627" cy="277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4"/>
          <p:cNvGraphicFramePr>
            <a:graphicFrameLocks noChangeAspect="1"/>
          </p:cNvGraphicFramePr>
          <p:nvPr>
            <p:extLst/>
          </p:nvPr>
        </p:nvGraphicFramePr>
        <p:xfrm>
          <a:off x="723401" y="4112666"/>
          <a:ext cx="1495411" cy="28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1" name="Equation" r:id="rId17" imgW="1206500" imgH="228600" progId="Equation.DSMT4">
                  <p:embed/>
                </p:oleObj>
              </mc:Choice>
              <mc:Fallback>
                <p:oleObj name="Equation" r:id="rId17" imgW="1206500" imgH="228600" progId="Equation.DSMT4">
                  <p:embed/>
                  <p:pic>
                    <p:nvPicPr>
                      <p:cNvPr id="3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401" y="4112666"/>
                        <a:ext cx="1495411" cy="283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0"/>
          <p:cNvGraphicFramePr>
            <a:graphicFrameLocks noChangeAspect="1"/>
          </p:cNvGraphicFramePr>
          <p:nvPr>
            <p:extLst/>
          </p:nvPr>
        </p:nvGraphicFramePr>
        <p:xfrm>
          <a:off x="2642144" y="2304126"/>
          <a:ext cx="1628651" cy="138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2" name="Visio" r:id="rId19" imgW="1703784" imgH="1452610" progId="Visio.Drawing.11">
                  <p:embed/>
                </p:oleObj>
              </mc:Choice>
              <mc:Fallback>
                <p:oleObj name="Visio" r:id="rId19" imgW="1703784" imgH="1452610" progId="Visio.Drawing.11">
                  <p:embed/>
                  <p:pic>
                    <p:nvPicPr>
                      <p:cNvPr id="36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144" y="2304126"/>
                        <a:ext cx="1628651" cy="1382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1"/>
          <p:cNvGraphicFramePr>
            <a:graphicFrameLocks noChangeAspect="1"/>
          </p:cNvGraphicFramePr>
          <p:nvPr>
            <p:extLst/>
          </p:nvPr>
        </p:nvGraphicFramePr>
        <p:xfrm>
          <a:off x="2728709" y="3751128"/>
          <a:ext cx="1355591" cy="262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3" name="Equation" r:id="rId21" imgW="1181100" imgH="228600" progId="Equation.DSMT4">
                  <p:embed/>
                </p:oleObj>
              </mc:Choice>
              <mc:Fallback>
                <p:oleObj name="Equation" r:id="rId21" imgW="1181100" imgH="228600" progId="Equation.DSMT4">
                  <p:embed/>
                  <p:pic>
                    <p:nvPicPr>
                      <p:cNvPr id="3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709" y="3751128"/>
                        <a:ext cx="1355591" cy="262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0"/>
          <p:cNvGraphicFramePr>
            <a:graphicFrameLocks noChangeAspect="1"/>
          </p:cNvGraphicFramePr>
          <p:nvPr>
            <p:extLst/>
          </p:nvPr>
        </p:nvGraphicFramePr>
        <p:xfrm>
          <a:off x="2535571" y="4163456"/>
          <a:ext cx="1976697" cy="2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4" name="Equation" r:id="rId23" imgW="1612900" imgH="228600" progId="Equation.DSMT4">
                  <p:embed/>
                </p:oleObj>
              </mc:Choice>
              <mc:Fallback>
                <p:oleObj name="Equation" r:id="rId23" imgW="1612900" imgH="228600" progId="Equation.DSMT4">
                  <p:embed/>
                  <p:pic>
                    <p:nvPicPr>
                      <p:cNvPr id="3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571" y="4163456"/>
                        <a:ext cx="1976697" cy="2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89759" y="4487394"/>
            <a:ext cx="1663447" cy="1486025"/>
            <a:chOff x="451" y="1922"/>
            <a:chExt cx="1506" cy="1673"/>
          </a:xfrm>
        </p:grpSpPr>
        <p:grpSp>
          <p:nvGrpSpPr>
            <p:cNvPr id="40" name="Group 7"/>
            <p:cNvGrpSpPr>
              <a:grpSpLocks/>
            </p:cNvGrpSpPr>
            <p:nvPr/>
          </p:nvGrpSpPr>
          <p:grpSpPr bwMode="auto">
            <a:xfrm>
              <a:off x="451" y="1922"/>
              <a:ext cx="1506" cy="1664"/>
              <a:chOff x="275" y="1712"/>
              <a:chExt cx="1506" cy="1664"/>
            </a:xfrm>
          </p:grpSpPr>
          <p:sp>
            <p:nvSpPr>
              <p:cNvPr id="42" name="Line 8"/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3" name="Line 9"/>
              <p:cNvSpPr>
                <a:spLocks noChangeShapeType="1"/>
              </p:cNvSpPr>
              <p:nvPr/>
            </p:nvSpPr>
            <p:spPr bwMode="auto">
              <a:xfrm flipV="1">
                <a:off x="720" y="1872"/>
                <a:ext cx="0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720" y="254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>
                <a:off x="1152" y="25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977" y="2960"/>
                <a:ext cx="29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endParaRPr kumimoji="1" lang="en-US" altLang="zh-CN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275" y="2336"/>
                <a:ext cx="457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1/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</a:p>
            </p:txBody>
          </p:sp>
          <p:sp>
            <p:nvSpPr>
              <p:cNvPr id="48" name="Text Box 14"/>
              <p:cNvSpPr txBox="1">
                <a:spLocks noChangeArrowheads="1"/>
              </p:cNvSpPr>
              <p:nvPr/>
            </p:nvSpPr>
            <p:spPr bwMode="auto">
              <a:xfrm>
                <a:off x="1556" y="2912"/>
                <a:ext cx="22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Text Box 15"/>
              <p:cNvSpPr txBox="1">
                <a:spLocks noChangeArrowheads="1"/>
              </p:cNvSpPr>
              <p:nvPr/>
            </p:nvSpPr>
            <p:spPr bwMode="auto">
              <a:xfrm>
                <a:off x="756" y="1712"/>
                <a:ext cx="469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41" name="Text Box 16"/>
            <p:cNvSpPr txBox="1">
              <a:spLocks noChangeArrowheads="1"/>
            </p:cNvSpPr>
            <p:nvPr/>
          </p:nvSpPr>
          <p:spPr bwMode="auto">
            <a:xfrm>
              <a:off x="596" y="3179"/>
              <a:ext cx="272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50" name="Object 4"/>
          <p:cNvGraphicFramePr>
            <a:graphicFrameLocks noChangeAspect="1"/>
          </p:cNvGraphicFramePr>
          <p:nvPr>
            <p:extLst/>
          </p:nvPr>
        </p:nvGraphicFramePr>
        <p:xfrm>
          <a:off x="235887" y="5814113"/>
          <a:ext cx="1511796" cy="39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5" name="Equation" r:id="rId25" imgW="1562040" imgH="406080" progId="Equation.DSMT4">
                  <p:embed/>
                </p:oleObj>
              </mc:Choice>
              <mc:Fallback>
                <p:oleObj name="Equation" r:id="rId25" imgW="1562040" imgH="406080" progId="Equation.DSMT4">
                  <p:embed/>
                  <p:pic>
                    <p:nvPicPr>
                      <p:cNvPr id="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87" y="5814113"/>
                        <a:ext cx="1511796" cy="39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"/>
          <p:cNvGraphicFramePr>
            <a:graphicFrameLocks noChangeAspect="1"/>
          </p:cNvGraphicFramePr>
          <p:nvPr>
            <p:extLst/>
          </p:nvPr>
        </p:nvGraphicFramePr>
        <p:xfrm>
          <a:off x="351628" y="6204251"/>
          <a:ext cx="1042394" cy="39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6" name="公式" r:id="rId27" imgW="888840" imgH="342720" progId="Equation.3">
                  <p:embed/>
                </p:oleObj>
              </mc:Choice>
              <mc:Fallback>
                <p:oleObj name="公式" r:id="rId27" imgW="888840" imgH="34272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28" y="6204251"/>
                        <a:ext cx="1042394" cy="39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20"/>
          <p:cNvGrpSpPr>
            <a:grpSpLocks/>
          </p:cNvGrpSpPr>
          <p:nvPr/>
        </p:nvGrpSpPr>
        <p:grpSpPr bwMode="auto">
          <a:xfrm>
            <a:off x="2420740" y="4713771"/>
            <a:ext cx="1850055" cy="1132664"/>
            <a:chOff x="2857" y="2522"/>
            <a:chExt cx="1885" cy="1095"/>
          </a:xfrm>
        </p:grpSpPr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5" name="Text Box 23"/>
            <p:cNvSpPr txBox="1">
              <a:spLocks noChangeArrowheads="1"/>
            </p:cNvSpPr>
            <p:nvPr/>
          </p:nvSpPr>
          <p:spPr bwMode="auto">
            <a:xfrm>
              <a:off x="4489" y="3186"/>
              <a:ext cx="25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24"/>
            <p:cNvSpPr txBox="1">
              <a:spLocks noChangeArrowheads="1"/>
            </p:cNvSpPr>
            <p:nvPr/>
          </p:nvSpPr>
          <p:spPr bwMode="auto">
            <a:xfrm>
              <a:off x="3205" y="2522"/>
              <a:ext cx="52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2857" y="2742"/>
              <a:ext cx="46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974" y="3260"/>
              <a:ext cx="30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60" name="Object 18"/>
          <p:cNvGraphicFramePr>
            <a:graphicFrameLocks noChangeAspect="1"/>
          </p:cNvGraphicFramePr>
          <p:nvPr>
            <p:extLst/>
          </p:nvPr>
        </p:nvGraphicFramePr>
        <p:xfrm>
          <a:off x="2432243" y="5770461"/>
          <a:ext cx="1401360" cy="4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7" name="公式" r:id="rId29" imgW="2717640" imgH="965160" progId="Equation.3">
                  <p:embed/>
                </p:oleObj>
              </mc:Choice>
              <mc:Fallback>
                <p:oleObj name="公式" r:id="rId29" imgW="2717640" imgH="965160" progId="Equation.3">
                  <p:embed/>
                  <p:pic>
                    <p:nvPicPr>
                      <p:cNvPr id="6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243" y="5770461"/>
                        <a:ext cx="1401360" cy="4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9"/>
          <p:cNvGraphicFramePr>
            <a:graphicFrameLocks noChangeAspect="1"/>
          </p:cNvGraphicFramePr>
          <p:nvPr>
            <p:extLst/>
          </p:nvPr>
        </p:nvGraphicFramePr>
        <p:xfrm>
          <a:off x="2455655" y="6282763"/>
          <a:ext cx="1219896" cy="46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8" name="公式" r:id="rId31" imgW="863280" imgH="330120" progId="Equation.3">
                  <p:embed/>
                </p:oleObj>
              </mc:Choice>
              <mc:Fallback>
                <p:oleObj name="公式" r:id="rId31" imgW="863280" imgH="330120" progId="Equation.3">
                  <p:embed/>
                  <p:pic>
                    <p:nvPicPr>
                      <p:cNvPr id="6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55" y="6282763"/>
                        <a:ext cx="1219896" cy="46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44"/>
          <p:cNvGrpSpPr>
            <a:grpSpLocks/>
          </p:cNvGrpSpPr>
          <p:nvPr/>
        </p:nvGrpSpPr>
        <p:grpSpPr bwMode="auto">
          <a:xfrm>
            <a:off x="4611798" y="4672148"/>
            <a:ext cx="2124091" cy="1183763"/>
            <a:chOff x="3195" y="1842"/>
            <a:chExt cx="2271" cy="1233"/>
          </a:xfrm>
        </p:grpSpPr>
        <p:sp>
          <p:nvSpPr>
            <p:cNvPr id="63" name="Line 45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4" name="Line 46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5" name="Text Box 47"/>
            <p:cNvSpPr txBox="1">
              <a:spLocks noChangeArrowheads="1"/>
            </p:cNvSpPr>
            <p:nvPr/>
          </p:nvSpPr>
          <p:spPr bwMode="auto">
            <a:xfrm>
              <a:off x="5200" y="2544"/>
              <a:ext cx="266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3278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4500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51"/>
            <p:cNvSpPr txBox="1">
              <a:spLocks noChangeArrowheads="1"/>
            </p:cNvSpPr>
            <p:nvPr/>
          </p:nvSpPr>
          <p:spPr bwMode="auto">
            <a:xfrm>
              <a:off x="3423" y="1842"/>
              <a:ext cx="847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70" name="Text Box 52"/>
            <p:cNvSpPr txBox="1">
              <a:spLocks noChangeArrowheads="1"/>
            </p:cNvSpPr>
            <p:nvPr/>
          </p:nvSpPr>
          <p:spPr bwMode="auto">
            <a:xfrm>
              <a:off x="3790" y="2656"/>
              <a:ext cx="34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53"/>
            <p:cNvSpPr txBox="1">
              <a:spLocks noChangeArrowheads="1"/>
            </p:cNvSpPr>
            <p:nvPr/>
          </p:nvSpPr>
          <p:spPr bwMode="auto">
            <a:xfrm>
              <a:off x="3195" y="2690"/>
              <a:ext cx="32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" name="Text Box 54"/>
            <p:cNvSpPr txBox="1">
              <a:spLocks noChangeArrowheads="1"/>
            </p:cNvSpPr>
            <p:nvPr/>
          </p:nvSpPr>
          <p:spPr bwMode="auto">
            <a:xfrm>
              <a:off x="3937" y="2199"/>
              <a:ext cx="48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(1)</a:t>
              </a:r>
              <a:endParaRPr kumimoji="1" lang="en-US" altLang="zh-CN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" name="Object 30"/>
          <p:cNvGraphicFramePr>
            <a:graphicFrameLocks noChangeAspect="1"/>
          </p:cNvGraphicFramePr>
          <p:nvPr>
            <p:extLst/>
          </p:nvPr>
        </p:nvGraphicFramePr>
        <p:xfrm>
          <a:off x="4690107" y="5858338"/>
          <a:ext cx="1748793" cy="72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9" name="公式" r:id="rId33" imgW="1396800" imgH="583920" progId="Equation.3">
                  <p:embed/>
                </p:oleObj>
              </mc:Choice>
              <mc:Fallback>
                <p:oleObj name="公式" r:id="rId33" imgW="1396800" imgH="583920" progId="Equation.3">
                  <p:embed/>
                  <p:pic>
                    <p:nvPicPr>
                      <p:cNvPr id="7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0107" y="5858338"/>
                        <a:ext cx="1748793" cy="729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2"/>
          <p:cNvGraphicFramePr>
            <a:graphicFrameLocks noChangeAspect="1"/>
          </p:cNvGraphicFramePr>
          <p:nvPr>
            <p:extLst/>
          </p:nvPr>
        </p:nvGraphicFramePr>
        <p:xfrm>
          <a:off x="4221421" y="3208424"/>
          <a:ext cx="1489520" cy="66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0" name="公式" r:id="rId35" imgW="901440" imgH="406080" progId="Equation.3">
                  <p:embed/>
                </p:oleObj>
              </mc:Choice>
              <mc:Fallback>
                <p:oleObj name="公式" r:id="rId35" imgW="901440" imgH="406080" progId="Equation.3">
                  <p:embed/>
                  <p:pic>
                    <p:nvPicPr>
                      <p:cNvPr id="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421" y="3208424"/>
                        <a:ext cx="1489520" cy="668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4"/>
          <p:cNvGraphicFramePr>
            <a:graphicFrameLocks noChangeAspect="1"/>
          </p:cNvGraphicFramePr>
          <p:nvPr>
            <p:extLst/>
          </p:nvPr>
        </p:nvGraphicFramePr>
        <p:xfrm>
          <a:off x="4190852" y="2541639"/>
          <a:ext cx="1551683" cy="51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1" name="公式" r:id="rId37" imgW="990360" imgH="330120" progId="Equation.3">
                  <p:embed/>
                </p:oleObj>
              </mc:Choice>
              <mc:Fallback>
                <p:oleObj name="公式" r:id="rId37" imgW="990360" imgH="330120" progId="Equation.3">
                  <p:embed/>
                  <p:pic>
                    <p:nvPicPr>
                      <p:cNvPr id="7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852" y="2541639"/>
                        <a:ext cx="1551683" cy="517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矩形 75"/>
          <p:cNvSpPr/>
          <p:nvPr/>
        </p:nvSpPr>
        <p:spPr bwMode="auto">
          <a:xfrm>
            <a:off x="4221421" y="2446878"/>
            <a:ext cx="1610958" cy="15123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467579"/>
              </p:ext>
            </p:extLst>
          </p:nvPr>
        </p:nvGraphicFramePr>
        <p:xfrm>
          <a:off x="6643688" y="5942013"/>
          <a:ext cx="2112962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2" name="公式" r:id="rId39" imgW="1968480" imgH="583920" progId="Equation.3">
                  <p:embed/>
                </p:oleObj>
              </mc:Choice>
              <mc:Fallback>
                <p:oleObj name="公式" r:id="rId39" imgW="1968480" imgH="583920" progId="Equation.3">
                  <p:embed/>
                  <p:pic>
                    <p:nvPicPr>
                      <p:cNvPr id="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5942013"/>
                        <a:ext cx="2112962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" name="组合 85"/>
          <p:cNvGrpSpPr/>
          <p:nvPr/>
        </p:nvGrpSpPr>
        <p:grpSpPr>
          <a:xfrm>
            <a:off x="6749811" y="4877206"/>
            <a:ext cx="2121378" cy="1244435"/>
            <a:chOff x="5697537" y="2944813"/>
            <a:chExt cx="2908299" cy="1666875"/>
          </a:xfrm>
        </p:grpSpPr>
        <p:grpSp>
          <p:nvGrpSpPr>
            <p:cNvPr id="87" name="Group 12"/>
            <p:cNvGrpSpPr>
              <a:grpSpLocks/>
            </p:cNvGrpSpPr>
            <p:nvPr/>
          </p:nvGrpSpPr>
          <p:grpSpPr bwMode="auto">
            <a:xfrm>
              <a:off x="5697537" y="2944813"/>
              <a:ext cx="2908299" cy="1666875"/>
              <a:chOff x="2892" y="2544"/>
              <a:chExt cx="1832" cy="1050"/>
            </a:xfrm>
          </p:grpSpPr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>
                <a:off x="3048" y="3292"/>
                <a:ext cx="14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V="1">
                <a:off x="3240" y="2680"/>
                <a:ext cx="0" cy="8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6" name="Text Box 15"/>
              <p:cNvSpPr txBox="1">
                <a:spLocks noChangeArrowheads="1"/>
              </p:cNvSpPr>
              <p:nvPr/>
            </p:nvSpPr>
            <p:spPr bwMode="auto">
              <a:xfrm>
                <a:off x="4509" y="3208"/>
                <a:ext cx="215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" name="Text Box 16"/>
              <p:cNvSpPr txBox="1">
                <a:spLocks noChangeArrowheads="1"/>
              </p:cNvSpPr>
              <p:nvPr/>
            </p:nvSpPr>
            <p:spPr bwMode="auto">
              <a:xfrm>
                <a:off x="3245" y="2544"/>
                <a:ext cx="446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</p:txBody>
          </p:sp>
          <p:sp>
            <p:nvSpPr>
              <p:cNvPr id="98" name="Line 17"/>
              <p:cNvSpPr>
                <a:spLocks noChangeShapeType="1"/>
              </p:cNvSpPr>
              <p:nvPr/>
            </p:nvSpPr>
            <p:spPr bwMode="auto">
              <a:xfrm flipV="1">
                <a:off x="3240" y="2896"/>
                <a:ext cx="0" cy="396"/>
              </a:xfrm>
              <a:prstGeom prst="line">
                <a:avLst/>
              </a:prstGeom>
              <a:noFill/>
              <a:ln w="25400">
                <a:solidFill>
                  <a:srgbClr val="FF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9" name="Text Box 18"/>
              <p:cNvSpPr txBox="1">
                <a:spLocks noChangeArrowheads="1"/>
              </p:cNvSpPr>
              <p:nvPr/>
            </p:nvSpPr>
            <p:spPr bwMode="auto">
              <a:xfrm>
                <a:off x="2892" y="2764"/>
                <a:ext cx="392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(1)</a:t>
                </a:r>
              </a:p>
            </p:txBody>
          </p:sp>
          <p:sp>
            <p:nvSpPr>
              <p:cNvPr id="100" name="Text Box 19"/>
              <p:cNvSpPr txBox="1">
                <a:spLocks noChangeArrowheads="1"/>
              </p:cNvSpPr>
              <p:nvPr/>
            </p:nvSpPr>
            <p:spPr bwMode="auto">
              <a:xfrm>
                <a:off x="2996" y="3282"/>
                <a:ext cx="259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88" name="Group 20"/>
            <p:cNvGrpSpPr>
              <a:grpSpLocks/>
            </p:cNvGrpSpPr>
            <p:nvPr/>
          </p:nvGrpSpPr>
          <p:grpSpPr bwMode="auto">
            <a:xfrm>
              <a:off x="5976938" y="3194050"/>
              <a:ext cx="2112962" cy="749300"/>
              <a:chOff x="3930" y="1771"/>
              <a:chExt cx="1331" cy="472"/>
            </a:xfrm>
          </p:grpSpPr>
          <p:sp>
            <p:nvSpPr>
              <p:cNvPr id="92" name="Freeform 21"/>
              <p:cNvSpPr>
                <a:spLocks/>
              </p:cNvSpPr>
              <p:nvPr/>
            </p:nvSpPr>
            <p:spPr bwMode="auto">
              <a:xfrm>
                <a:off x="3930" y="1920"/>
                <a:ext cx="975" cy="323"/>
              </a:xfrm>
              <a:custGeom>
                <a:avLst/>
                <a:gdLst>
                  <a:gd name="T0" fmla="*/ 0 w 975"/>
                  <a:gd name="T1" fmla="*/ 323 h 323"/>
                  <a:gd name="T2" fmla="*/ 164 w 975"/>
                  <a:gd name="T3" fmla="*/ 203 h 323"/>
                  <a:gd name="T4" fmla="*/ 342 w 975"/>
                  <a:gd name="T5" fmla="*/ 150 h 323"/>
                  <a:gd name="T6" fmla="*/ 606 w 975"/>
                  <a:gd name="T7" fmla="*/ 188 h 323"/>
                  <a:gd name="T8" fmla="*/ 975 w 975"/>
                  <a:gd name="T9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5" h="323">
                    <a:moveTo>
                      <a:pt x="0" y="323"/>
                    </a:moveTo>
                    <a:cubicBezTo>
                      <a:pt x="53" y="277"/>
                      <a:pt x="107" y="232"/>
                      <a:pt x="164" y="203"/>
                    </a:cubicBezTo>
                    <a:cubicBezTo>
                      <a:pt x="221" y="174"/>
                      <a:pt x="268" y="152"/>
                      <a:pt x="342" y="150"/>
                    </a:cubicBezTo>
                    <a:cubicBezTo>
                      <a:pt x="416" y="148"/>
                      <a:pt x="500" y="213"/>
                      <a:pt x="606" y="188"/>
                    </a:cubicBezTo>
                    <a:cubicBezTo>
                      <a:pt x="712" y="163"/>
                      <a:pt x="898" y="39"/>
                      <a:pt x="97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3" name="Text Box 22"/>
              <p:cNvSpPr txBox="1">
                <a:spLocks noChangeArrowheads="1"/>
              </p:cNvSpPr>
              <p:nvPr/>
            </p:nvSpPr>
            <p:spPr bwMode="auto">
              <a:xfrm>
                <a:off x="4847" y="1771"/>
                <a:ext cx="414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89" name="Group 23"/>
            <p:cNvGrpSpPr>
              <a:grpSpLocks/>
            </p:cNvGrpSpPr>
            <p:nvPr/>
          </p:nvGrpSpPr>
          <p:grpSpPr bwMode="auto">
            <a:xfrm>
              <a:off x="6216654" y="3643314"/>
              <a:ext cx="846138" cy="495300"/>
              <a:chOff x="4081" y="2054"/>
              <a:chExt cx="533" cy="312"/>
            </a:xfrm>
          </p:grpSpPr>
          <p:sp>
            <p:nvSpPr>
              <p:cNvPr id="90" name="Text Box 24"/>
              <p:cNvSpPr txBox="1">
                <a:spLocks noChangeArrowheads="1"/>
              </p:cNvSpPr>
              <p:nvPr/>
            </p:nvSpPr>
            <p:spPr bwMode="auto">
              <a:xfrm>
                <a:off x="4156" y="2054"/>
                <a:ext cx="458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(0)</a:t>
                </a:r>
              </a:p>
            </p:txBody>
          </p:sp>
          <p:sp>
            <p:nvSpPr>
              <p:cNvPr id="91" name="Oval 25"/>
              <p:cNvSpPr>
                <a:spLocks noChangeArrowheads="1"/>
              </p:cNvSpPr>
              <p:nvPr/>
            </p:nvSpPr>
            <p:spPr bwMode="auto">
              <a:xfrm>
                <a:off x="4081" y="2100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kumimoji="1" lang="zh-CN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pic>
        <p:nvPicPr>
          <p:cNvPr id="103" name="图片 102"/>
          <p:cNvPicPr>
            <a:picLocks noChangeAspect="1"/>
          </p:cNvPicPr>
          <p:nvPr/>
        </p:nvPicPr>
        <p:blipFill rotWithShape="1">
          <a:blip r:embed="rId41"/>
          <a:srcRect r="47129"/>
          <a:stretch/>
        </p:blipFill>
        <p:spPr>
          <a:xfrm>
            <a:off x="5864828" y="2489931"/>
            <a:ext cx="3209011" cy="572567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42"/>
          <a:srcRect l="52132"/>
          <a:stretch/>
        </p:blipFill>
        <p:spPr>
          <a:xfrm>
            <a:off x="6097515" y="2944036"/>
            <a:ext cx="2905298" cy="572567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43"/>
          <a:srcRect r="42701"/>
          <a:stretch/>
        </p:blipFill>
        <p:spPr>
          <a:xfrm>
            <a:off x="5904300" y="3447242"/>
            <a:ext cx="2771835" cy="579000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 rotWithShape="1">
          <a:blip r:embed="rId44"/>
          <a:srcRect l="57069"/>
          <a:stretch/>
        </p:blipFill>
        <p:spPr>
          <a:xfrm>
            <a:off x="6735889" y="4056868"/>
            <a:ext cx="2076782" cy="5790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1028071" y="13783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单位阶跃函数</a:t>
            </a:r>
            <a:endParaRPr lang="zh-CN" altLang="en-US" sz="1400" dirty="0"/>
          </a:p>
        </p:txBody>
      </p:sp>
      <p:sp>
        <p:nvSpPr>
          <p:cNvPr id="110" name="文本框 109"/>
          <p:cNvSpPr txBox="1"/>
          <p:nvPr/>
        </p:nvSpPr>
        <p:spPr>
          <a:xfrm>
            <a:off x="3275832" y="13783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单位阶跃函数延迟</a:t>
            </a:r>
            <a:endParaRPr lang="zh-CN" altLang="en-US" sz="1400" dirty="0"/>
          </a:p>
        </p:txBody>
      </p:sp>
      <p:sp>
        <p:nvSpPr>
          <p:cNvPr id="111" name="文本框 110"/>
          <p:cNvSpPr txBox="1"/>
          <p:nvPr/>
        </p:nvSpPr>
        <p:spPr>
          <a:xfrm>
            <a:off x="5041877" y="10473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单位阶跃函数反转</a:t>
            </a:r>
            <a:endParaRPr lang="zh-CN" altLang="en-US" sz="1400" dirty="0"/>
          </a:p>
        </p:txBody>
      </p:sp>
      <p:sp>
        <p:nvSpPr>
          <p:cNvPr id="112" name="文本框 111"/>
          <p:cNvSpPr txBox="1"/>
          <p:nvPr/>
        </p:nvSpPr>
        <p:spPr>
          <a:xfrm>
            <a:off x="984135" y="21022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闸门函数</a:t>
            </a:r>
            <a:endParaRPr lang="zh-CN" altLang="en-US" sz="1400" dirty="0"/>
          </a:p>
        </p:txBody>
      </p:sp>
      <p:sp>
        <p:nvSpPr>
          <p:cNvPr id="113" name="文本框 112"/>
          <p:cNvSpPr txBox="1"/>
          <p:nvPr/>
        </p:nvSpPr>
        <p:spPr>
          <a:xfrm>
            <a:off x="2960108" y="2075655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闸门函数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截取</a:t>
            </a:r>
            <a:endParaRPr lang="zh-CN" altLang="en-US" sz="1400" dirty="0"/>
          </a:p>
        </p:txBody>
      </p:sp>
      <p:sp>
        <p:nvSpPr>
          <p:cNvPr id="114" name="文本框 113"/>
          <p:cNvSpPr txBox="1"/>
          <p:nvPr/>
        </p:nvSpPr>
        <p:spPr>
          <a:xfrm>
            <a:off x="1089237" y="447923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</a:t>
            </a:r>
            <a:r>
              <a:rPr lang="zh-CN" altLang="en-US" sz="1400" dirty="0" smtClean="0"/>
              <a:t>脉冲函数</a:t>
            </a:r>
            <a:endParaRPr lang="zh-CN" altLang="en-US" sz="1400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877416" y="450338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单位冲激函数</a:t>
            </a:r>
            <a:endParaRPr lang="zh-CN" altLang="en-US" sz="1400" dirty="0"/>
          </a:p>
        </p:txBody>
      </p:sp>
      <p:sp>
        <p:nvSpPr>
          <p:cNvPr id="116" name="文本框 115"/>
          <p:cNvSpPr txBox="1"/>
          <p:nvPr/>
        </p:nvSpPr>
        <p:spPr>
          <a:xfrm>
            <a:off x="4841060" y="448930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单位冲激函数</a:t>
            </a:r>
            <a:r>
              <a:rPr lang="zh-CN" altLang="en-US" sz="1400" dirty="0"/>
              <a:t>延迟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6868198" y="459805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单位冲激函数筛分</a:t>
            </a:r>
            <a:endParaRPr lang="zh-CN" altLang="en-US" sz="1400" dirty="0"/>
          </a:p>
        </p:txBody>
      </p:sp>
      <p:graphicFrame>
        <p:nvGraphicFramePr>
          <p:cNvPr id="118" name="Object 77"/>
          <p:cNvGraphicFramePr>
            <a:graphicFrameLocks noChangeAspect="1"/>
          </p:cNvGraphicFramePr>
          <p:nvPr>
            <p:extLst/>
          </p:nvPr>
        </p:nvGraphicFramePr>
        <p:xfrm>
          <a:off x="6175691" y="1903353"/>
          <a:ext cx="1736816" cy="52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3" name="Equation" r:id="rId45" imgW="1397000" imgH="431800" progId="Equation.DSMT4">
                  <p:embed/>
                </p:oleObj>
              </mc:Choice>
              <mc:Fallback>
                <p:oleObj name="Equation" r:id="rId45" imgW="1397000" imgH="431800" progId="Equation.DSMT4">
                  <p:embed/>
                  <p:pic>
                    <p:nvPicPr>
                      <p:cNvPr id="118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691" y="1903353"/>
                        <a:ext cx="1736816" cy="528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文本框 118"/>
          <p:cNvSpPr txBox="1"/>
          <p:nvPr/>
        </p:nvSpPr>
        <p:spPr>
          <a:xfrm>
            <a:off x="4527025" y="199705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分段波形广义函数</a:t>
            </a:r>
            <a:endParaRPr lang="zh-CN" altLang="en-US" sz="1400" dirty="0"/>
          </a:p>
        </p:txBody>
      </p:sp>
      <p:sp>
        <p:nvSpPr>
          <p:cNvPr id="6" name="椭圆 5"/>
          <p:cNvSpPr/>
          <p:nvPr/>
        </p:nvSpPr>
        <p:spPr bwMode="auto">
          <a:xfrm>
            <a:off x="6479160" y="5783593"/>
            <a:ext cx="2594679" cy="9144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546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937601-E9F4-4EF9-8FCC-988363EA4EE7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048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CAAA4F-E01C-41DC-872E-1B2394CEB48C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27113"/>
            <a:ext cx="6638925" cy="457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Practice 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: Find the impulse response       .</a:t>
            </a:r>
          </a:p>
        </p:txBody>
      </p:sp>
      <p:graphicFrame>
        <p:nvGraphicFramePr>
          <p:cNvPr id="20486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6048375" y="1746250"/>
          <a:ext cx="2767013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8" name="Visio" r:id="rId3" imgW="1630061" imgH="948976" progId="Visio.Drawing.11">
                  <p:embed/>
                </p:oleObj>
              </mc:Choice>
              <mc:Fallback>
                <p:oleObj name="Visio" r:id="rId3" imgW="1630061" imgH="948976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1746250"/>
                        <a:ext cx="2767013" cy="161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5795963" y="979488"/>
          <a:ext cx="3746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9" name="公式" r:id="rId5" imgW="139579" imgH="215713" progId="Equation.3">
                  <p:embed/>
                </p:oleObj>
              </mc:Choice>
              <mc:Fallback>
                <p:oleObj name="公式" r:id="rId5" imgW="139579" imgH="2157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979488"/>
                        <a:ext cx="3746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8" name="Rectangle 14"/>
          <p:cNvSpPr>
            <a:spLocks noChangeArrowheads="1"/>
          </p:cNvSpPr>
          <p:nvPr/>
        </p:nvSpPr>
        <p:spPr bwMode="auto">
          <a:xfrm>
            <a:off x="395288" y="1612900"/>
            <a:ext cx="5761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由阶跃响应获得冲激响应</a:t>
            </a:r>
          </a:p>
        </p:txBody>
      </p:sp>
      <p:graphicFrame>
        <p:nvGraphicFramePr>
          <p:cNvPr id="272411" name="Object 27"/>
          <p:cNvGraphicFramePr>
            <a:graphicFrameLocks noChangeAspect="1"/>
          </p:cNvGraphicFramePr>
          <p:nvPr/>
        </p:nvGraphicFramePr>
        <p:xfrm>
          <a:off x="417513" y="2260600"/>
          <a:ext cx="4251325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0" name="公式" r:id="rId7" imgW="1866900" imgH="685800" progId="Equation.3">
                  <p:embed/>
                </p:oleObj>
              </mc:Choice>
              <mc:Fallback>
                <p:oleObj name="公式" r:id="rId7" imgW="1866900" imgH="6858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2260600"/>
                        <a:ext cx="4251325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12" name="Object 28"/>
          <p:cNvGraphicFramePr>
            <a:graphicFrameLocks noChangeAspect="1"/>
          </p:cNvGraphicFramePr>
          <p:nvPr/>
        </p:nvGraphicFramePr>
        <p:xfrm>
          <a:off x="417513" y="3989388"/>
          <a:ext cx="52339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1" name="公式" r:id="rId9" imgW="2298700" imgH="419100" progId="Equation.3">
                  <p:embed/>
                </p:oleObj>
              </mc:Choice>
              <mc:Fallback>
                <p:oleObj name="公式" r:id="rId9" imgW="2298700" imgH="4191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3989388"/>
                        <a:ext cx="52339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13" name="Object 29"/>
          <p:cNvGraphicFramePr>
            <a:graphicFrameLocks noChangeAspect="1"/>
          </p:cNvGraphicFramePr>
          <p:nvPr/>
        </p:nvGraphicFramePr>
        <p:xfrm>
          <a:off x="2139950" y="4997450"/>
          <a:ext cx="15906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2" name="公式" r:id="rId11" imgW="698500" imgH="419100" progId="Equation.3">
                  <p:embed/>
                </p:oleObj>
              </mc:Choice>
              <mc:Fallback>
                <p:oleObj name="公式" r:id="rId11" imgW="698500" imgH="4191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4997450"/>
                        <a:ext cx="15906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14" name="Object 30"/>
          <p:cNvGraphicFramePr>
            <a:graphicFrameLocks noChangeAspect="1"/>
          </p:cNvGraphicFramePr>
          <p:nvPr/>
        </p:nvGraphicFramePr>
        <p:xfrm>
          <a:off x="7092950" y="3500438"/>
          <a:ext cx="8953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3" name="Equation" r:id="rId13" imgW="393529" imgH="393529" progId="Equation.DSMT4">
                  <p:embed/>
                </p:oleObj>
              </mc:Choice>
              <mc:Fallback>
                <p:oleObj name="Equation" r:id="rId13" imgW="393529" imgH="39352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500438"/>
                        <a:ext cx="8953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93675" y="188913"/>
            <a:ext cx="8515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8.7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冲激响应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计算</a:t>
            </a:r>
            <a:endParaRPr lang="en-US" altLang="zh-CN" sz="24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1394B7-D343-485F-B046-D888FE62D601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2022/4/11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DC8E6F-1AD8-4672-89EB-2C5A72C5169E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 smtClean="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3573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1950" y="333375"/>
            <a:ext cx="8458200" cy="1150938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Practice :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不含独立电源的线性时不变网络</a:t>
            </a:r>
            <a:r>
              <a:rPr lang="en-US" altLang="zh-C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N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的零输入响应为　　　 ；原始储能不变，电压源</a:t>
            </a:r>
            <a:r>
              <a:rPr lang="zh-CN" altLang="en-US" sz="24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　　　　　　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激励下的全响应为　　　 。试确定</a:t>
            </a:r>
            <a:r>
              <a:rPr lang="zh-CN" altLang="en-US" sz="24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　　　　　　　　　 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下的零状态响应。</a:t>
            </a:r>
            <a:endParaRPr lang="zh-CN" altLang="en-US" sz="2800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357391" name="Object 1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932363" y="3284538"/>
          <a:ext cx="3805237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0" name="Visio" r:id="rId3" imgW="2118265" imgH="757809" progId="Visio.Drawing.11">
                  <p:embed/>
                </p:oleObj>
              </mc:Choice>
              <mc:Fallback>
                <p:oleObj name="Visio" r:id="rId3" imgW="2118265" imgH="757809" progId="Visio.Drawing.11">
                  <p:embed/>
                  <p:pic>
                    <p:nvPicPr>
                      <p:cNvPr id="3573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284538"/>
                        <a:ext cx="3805237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1" name="Object 5"/>
          <p:cNvGraphicFramePr>
            <a:graphicFrameLocks noChangeAspect="1"/>
          </p:cNvGraphicFramePr>
          <p:nvPr/>
        </p:nvGraphicFramePr>
        <p:xfrm>
          <a:off x="323850" y="4797425"/>
          <a:ext cx="7904163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1" name="Equation" r:id="rId5" imgW="3886200" imgH="330200" progId="Equation.DSMT4">
                  <p:embed/>
                </p:oleObj>
              </mc:Choice>
              <mc:Fallback>
                <p:oleObj name="Equation" r:id="rId5" imgW="3886200" imgH="330200" progId="Equation.DSMT4">
                  <p:embed/>
                  <p:pic>
                    <p:nvPicPr>
                      <p:cNvPr id="3573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97425"/>
                        <a:ext cx="7904163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2" name="Object 6"/>
          <p:cNvGraphicFramePr>
            <a:graphicFrameLocks noChangeAspect="1"/>
          </p:cNvGraphicFramePr>
          <p:nvPr/>
        </p:nvGraphicFramePr>
        <p:xfrm>
          <a:off x="395288" y="5876925"/>
          <a:ext cx="51911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2" name="Equation" r:id="rId7" imgW="2552700" imgH="241300" progId="Equation.DSMT4">
                  <p:embed/>
                </p:oleObj>
              </mc:Choice>
              <mc:Fallback>
                <p:oleObj name="Equation" r:id="rId7" imgW="2552700" imgH="241300" progId="Equation.DSMT4">
                  <p:embed/>
                  <p:pic>
                    <p:nvPicPr>
                      <p:cNvPr id="3573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876925"/>
                        <a:ext cx="51911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8"/>
          <p:cNvGraphicFramePr>
            <a:graphicFrameLocks noChangeAspect="1"/>
          </p:cNvGraphicFramePr>
          <p:nvPr/>
        </p:nvGraphicFramePr>
        <p:xfrm>
          <a:off x="3563938" y="1052513"/>
          <a:ext cx="28146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3" name="Equation" r:id="rId9" imgW="1384300" imgH="228600" progId="Equation.DSMT4">
                  <p:embed/>
                </p:oleObj>
              </mc:Choice>
              <mc:Fallback>
                <p:oleObj name="Equation" r:id="rId9" imgW="1384300" imgH="228600" progId="Equation.DSMT4">
                  <p:embed/>
                  <p:pic>
                    <p:nvPicPr>
                      <p:cNvPr id="215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052513"/>
                        <a:ext cx="28146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9"/>
          <p:cNvGraphicFramePr>
            <a:graphicFrameLocks noChangeAspect="1"/>
          </p:cNvGraphicFramePr>
          <p:nvPr/>
        </p:nvGraphicFramePr>
        <p:xfrm>
          <a:off x="5172075" y="693738"/>
          <a:ext cx="1704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4" name="Equation" r:id="rId11" imgW="838200" imgH="228600" progId="Equation.DSMT4">
                  <p:embed/>
                </p:oleObj>
              </mc:Choice>
              <mc:Fallback>
                <p:oleObj name="Equation" r:id="rId11" imgW="838200" imgH="228600" progId="Equation.DSMT4">
                  <p:embed/>
                  <p:pic>
                    <p:nvPicPr>
                      <p:cNvPr id="215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693738"/>
                        <a:ext cx="17049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0"/>
          <p:cNvGraphicFramePr>
            <a:graphicFrameLocks noChangeAspect="1"/>
          </p:cNvGraphicFramePr>
          <p:nvPr/>
        </p:nvGraphicFramePr>
        <p:xfrm>
          <a:off x="827088" y="641350"/>
          <a:ext cx="67151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5" name="Equation" r:id="rId13" imgW="330057" imgH="203112" progId="Equation.DSMT4">
                  <p:embed/>
                </p:oleObj>
              </mc:Choice>
              <mc:Fallback>
                <p:oleObj name="Equation" r:id="rId13" imgW="330057" imgH="203112" progId="Equation.DSMT4">
                  <p:embed/>
                  <p:pic>
                    <p:nvPicPr>
                      <p:cNvPr id="215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641350"/>
                        <a:ext cx="67151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1"/>
          <p:cNvGraphicFramePr>
            <a:graphicFrameLocks noChangeAspect="1"/>
          </p:cNvGraphicFramePr>
          <p:nvPr/>
        </p:nvGraphicFramePr>
        <p:xfrm>
          <a:off x="1363663" y="1052513"/>
          <a:ext cx="9048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6" name="Equation" r:id="rId15" imgW="444307" imgH="203112" progId="Equation.DSMT4">
                  <p:embed/>
                </p:oleObj>
              </mc:Choice>
              <mc:Fallback>
                <p:oleObj name="Equation" r:id="rId15" imgW="444307" imgH="203112" progId="Equation.DSMT4">
                  <p:embed/>
                  <p:pic>
                    <p:nvPicPr>
                      <p:cNvPr id="2151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1052513"/>
                        <a:ext cx="9048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2"/>
          <p:cNvGraphicFramePr>
            <a:graphicFrameLocks noChangeAspect="1"/>
          </p:cNvGraphicFramePr>
          <p:nvPr/>
        </p:nvGraphicFramePr>
        <p:xfrm>
          <a:off x="250825" y="1700213"/>
          <a:ext cx="3168650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7" name="Visio" r:id="rId17" imgW="1738436" imgH="757600" progId="Visio.Drawing.11">
                  <p:embed/>
                </p:oleObj>
              </mc:Choice>
              <mc:Fallback>
                <p:oleObj name="Visio" r:id="rId17" imgW="1738436" imgH="757600" progId="Visio.Drawing.11">
                  <p:embed/>
                  <p:pic>
                    <p:nvPicPr>
                      <p:cNvPr id="215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3168650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3" name="Object 1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930775" y="1700213"/>
          <a:ext cx="3817938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8" name="Visio" r:id="rId19" imgW="2124266" imgH="757809" progId="Visio.Drawing.11">
                  <p:embed/>
                </p:oleObj>
              </mc:Choice>
              <mc:Fallback>
                <p:oleObj name="Visio" r:id="rId19" imgW="2124266" imgH="757809" progId="Visio.Drawing.11">
                  <p:embed/>
                  <p:pic>
                    <p:nvPicPr>
                      <p:cNvPr id="35739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1700213"/>
                        <a:ext cx="3817938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5" name="Object 19"/>
          <p:cNvGraphicFramePr>
            <a:graphicFrameLocks noChangeAspect="1"/>
          </p:cNvGraphicFramePr>
          <p:nvPr/>
        </p:nvGraphicFramePr>
        <p:xfrm>
          <a:off x="539750" y="3933825"/>
          <a:ext cx="39782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29" name="Equation" r:id="rId21" imgW="1955800" imgH="228600" progId="Equation.DSMT4">
                  <p:embed/>
                </p:oleObj>
              </mc:Choice>
              <mc:Fallback>
                <p:oleObj name="Equation" r:id="rId21" imgW="1955800" imgH="228600" progId="Equation.DSMT4">
                  <p:embed/>
                  <p:pic>
                    <p:nvPicPr>
                      <p:cNvPr id="35739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933825"/>
                        <a:ext cx="39782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14577" y="3130885"/>
            <a:ext cx="5125244" cy="697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电压源</a:t>
            </a:r>
            <a:r>
              <a:rPr lang="zh-CN" altLang="en-US" sz="24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　　　　　　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激励下的零状态响应为：</a:t>
            </a:r>
            <a:endParaRPr lang="zh-CN" altLang="en-US" sz="2800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01153"/>
              </p:ext>
            </p:extLst>
          </p:nvPr>
        </p:nvGraphicFramePr>
        <p:xfrm>
          <a:off x="1115616" y="3115901"/>
          <a:ext cx="1704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30" name="Equation" r:id="rId11" imgW="838200" imgH="228600" progId="Equation.DSMT4">
                  <p:embed/>
                </p:oleObj>
              </mc:Choice>
              <mc:Fallback>
                <p:oleObj name="Equation" r:id="rId11" imgW="838200" imgH="228600" progId="Equation.DSMT4">
                  <p:embed/>
                  <p:pic>
                    <p:nvPicPr>
                      <p:cNvPr id="215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115901"/>
                        <a:ext cx="17049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678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5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8.2</a:t>
            </a:r>
            <a:r>
              <a:rPr lang="zh-CN" altLang="en-US" dirty="0"/>
              <a:t>节：</a:t>
            </a:r>
            <a:r>
              <a:rPr lang="en-US" altLang="zh-CN" dirty="0"/>
              <a:t>8-2</a:t>
            </a:r>
            <a:r>
              <a:rPr lang="zh-CN" altLang="en-US" dirty="0"/>
              <a:t>、</a:t>
            </a:r>
            <a:r>
              <a:rPr lang="en-US" altLang="zh-CN" dirty="0"/>
              <a:t>8-4</a:t>
            </a:r>
          </a:p>
          <a:p>
            <a:r>
              <a:rPr lang="en-US" altLang="zh-CN" dirty="0"/>
              <a:t>8.3</a:t>
            </a:r>
            <a:r>
              <a:rPr lang="zh-CN" altLang="en-US" dirty="0"/>
              <a:t>节：</a:t>
            </a:r>
            <a:r>
              <a:rPr lang="en-US" altLang="zh-CN" dirty="0"/>
              <a:t>8-13</a:t>
            </a:r>
            <a:r>
              <a:rPr lang="zh-CN" altLang="en-US" dirty="0"/>
              <a:t>、</a:t>
            </a:r>
            <a:r>
              <a:rPr lang="en-US" altLang="zh-CN" dirty="0"/>
              <a:t>8-18</a:t>
            </a:r>
            <a:r>
              <a:rPr lang="zh-CN" altLang="en-US" dirty="0"/>
              <a:t>，</a:t>
            </a:r>
            <a:r>
              <a:rPr lang="en-US" altLang="zh-CN" dirty="0"/>
              <a:t>8-31</a:t>
            </a:r>
          </a:p>
          <a:p>
            <a:r>
              <a:rPr lang="en-US" altLang="zh-CN" dirty="0"/>
              <a:t>8.5</a:t>
            </a:r>
            <a:r>
              <a:rPr lang="zh-CN" altLang="en-US" dirty="0"/>
              <a:t>节：</a:t>
            </a:r>
            <a:r>
              <a:rPr lang="en-US" altLang="zh-CN" dirty="0"/>
              <a:t>8-37</a:t>
            </a:r>
          </a:p>
          <a:p>
            <a:r>
              <a:rPr lang="en-US" altLang="zh-CN" dirty="0"/>
              <a:t>8.6</a:t>
            </a:r>
            <a:r>
              <a:rPr lang="zh-CN" altLang="en-US" dirty="0"/>
              <a:t>节：</a:t>
            </a:r>
            <a:r>
              <a:rPr lang="en-US" altLang="zh-CN" dirty="0"/>
              <a:t>8-41</a:t>
            </a:r>
          </a:p>
          <a:p>
            <a:r>
              <a:rPr lang="en-US" altLang="zh-CN" dirty="0"/>
              <a:t>8.7</a:t>
            </a:r>
            <a:r>
              <a:rPr lang="zh-CN" altLang="en-US" dirty="0"/>
              <a:t>节：</a:t>
            </a:r>
            <a:r>
              <a:rPr lang="en-US" altLang="zh-CN" dirty="0"/>
              <a:t>8-48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2022/4/11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99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新魏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14554</TotalTime>
  <Words>2936</Words>
  <Application>Microsoft Office PowerPoint</Application>
  <PresentationFormat>全屏显示(4:3)</PresentationFormat>
  <Paragraphs>807</Paragraphs>
  <Slides>62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62</vt:i4>
      </vt:variant>
    </vt:vector>
  </HeadingPairs>
  <TitlesOfParts>
    <vt:vector size="81" baseType="lpstr">
      <vt:lpstr>仿宋_GB2312</vt:lpstr>
      <vt:lpstr>黑体</vt:lpstr>
      <vt:lpstr>华文新魏</vt:lpstr>
      <vt:lpstr>华文中宋</vt:lpstr>
      <vt:lpstr>楷体_GB2312</vt:lpstr>
      <vt:lpstr>隶书</vt:lpstr>
      <vt:lpstr>宋体</vt:lpstr>
      <vt:lpstr>微软雅黑</vt:lpstr>
      <vt:lpstr>-윤고딕120</vt:lpstr>
      <vt:lpstr>Arial</vt:lpstr>
      <vt:lpstr>Cambria Math</vt:lpstr>
      <vt:lpstr>Symbol</vt:lpstr>
      <vt:lpstr>Times New Roman</vt:lpstr>
      <vt:lpstr>Wingdings</vt:lpstr>
      <vt:lpstr>默认设计模板</vt:lpstr>
      <vt:lpstr>VISIO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8.2 零输入响应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Example:</vt:lpstr>
      <vt:lpstr>2. RL 电路</vt:lpstr>
      <vt:lpstr>PowerPoint 演示文稿</vt:lpstr>
      <vt:lpstr>PowerPoint 演示文稿</vt:lpstr>
      <vt:lpstr>2. RL 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8.3直流电源激励下的响应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Practice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8.4正弦电源激励下的RC电路</vt:lpstr>
      <vt:lpstr>8.4正弦电源激励下的RC电路——零状态响应</vt:lpstr>
      <vt:lpstr>8.4正弦电源激励下的RC电路</vt:lpstr>
      <vt:lpstr>8.4正弦电源激励下的RC电路</vt:lpstr>
      <vt:lpstr>正弦电源激励下的RC电路小结</vt:lpstr>
      <vt:lpstr>PowerPoint 演示文稿</vt:lpstr>
      <vt:lpstr>8.6线性非时变特性</vt:lpstr>
      <vt:lpstr>PowerPoint 演示文稿</vt:lpstr>
      <vt:lpstr>8.6线性非时变特性</vt:lpstr>
      <vt:lpstr>8.6线性非时变特性</vt:lpstr>
      <vt:lpstr>PowerPoint 演示文稿</vt:lpstr>
      <vt:lpstr>Practice : Find the zero-state response uc .</vt:lpstr>
      <vt:lpstr>PowerPoint 演示文稿</vt:lpstr>
      <vt:lpstr>PowerPoint 演示文稿</vt:lpstr>
      <vt:lpstr>Practice : Find the impulse response       .</vt:lpstr>
      <vt:lpstr>Practice : 不含独立电源的线性时不变网络N的零输入响应为　　　 ；原始储能不变，电压源　　　　　　激励下的全响应为　　　 。试确定　　　　　　　　　 下的零状态响应。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circuits</dc:title>
  <dc:creator>wry</dc:creator>
  <cp:lastModifiedBy>王 健</cp:lastModifiedBy>
  <cp:revision>845</cp:revision>
  <cp:lastPrinted>2004-03-17T08:18:10Z</cp:lastPrinted>
  <dcterms:created xsi:type="dcterms:W3CDTF">2001-01-13T02:14:45Z</dcterms:created>
  <dcterms:modified xsi:type="dcterms:W3CDTF">2022-04-11T01:07:58Z</dcterms:modified>
</cp:coreProperties>
</file>