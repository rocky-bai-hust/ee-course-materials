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30" r:id="rId2"/>
    <p:sldId id="406" r:id="rId3"/>
    <p:sldId id="422" r:id="rId4"/>
    <p:sldId id="379" r:id="rId5"/>
    <p:sldId id="417" r:id="rId6"/>
    <p:sldId id="407" r:id="rId7"/>
    <p:sldId id="418" r:id="rId8"/>
    <p:sldId id="400" r:id="rId9"/>
    <p:sldId id="259" r:id="rId10"/>
    <p:sldId id="405" r:id="rId11"/>
    <p:sldId id="414" r:id="rId12"/>
    <p:sldId id="359" r:id="rId13"/>
    <p:sldId id="416" r:id="rId14"/>
    <p:sldId id="419" r:id="rId15"/>
    <p:sldId id="413" r:id="rId16"/>
    <p:sldId id="390" r:id="rId17"/>
    <p:sldId id="401" r:id="rId18"/>
    <p:sldId id="402" r:id="rId19"/>
    <p:sldId id="426" r:id="rId20"/>
    <p:sldId id="403" r:id="rId21"/>
    <p:sldId id="404" r:id="rId22"/>
    <p:sldId id="423" r:id="rId23"/>
    <p:sldId id="425" r:id="rId24"/>
    <p:sldId id="427" r:id="rId25"/>
    <p:sldId id="429" r:id="rId26"/>
    <p:sldId id="421" r:id="rId27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  <a:srgbClr val="FF0000"/>
    <a:srgbClr val="336600"/>
    <a:srgbClr val="003300"/>
    <a:srgbClr val="006600"/>
    <a:srgbClr val="CC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3" autoAdjust="0"/>
  </p:normalViewPr>
  <p:slideViewPr>
    <p:cSldViewPr>
      <p:cViewPr varScale="1">
        <p:scale>
          <a:sx n="62" d="100"/>
          <a:sy n="62" d="100"/>
        </p:scale>
        <p:origin x="1400" y="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08"/>
    </p:cViewPr>
  </p:sorterViewPr>
  <p:notesViewPr>
    <p:cSldViewPr>
      <p:cViewPr varScale="1">
        <p:scale>
          <a:sx n="58" d="100"/>
          <a:sy n="58" d="100"/>
        </p:scale>
        <p:origin x="-1920" y="-84"/>
      </p:cViewPr>
      <p:guideLst>
        <p:guide orient="horz" pos="3224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5.emf"/><Relationship Id="rId1" Type="http://schemas.openxmlformats.org/officeDocument/2006/relationships/image" Target="../media/image30.emf"/><Relationship Id="rId4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e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4" Type="http://schemas.openxmlformats.org/officeDocument/2006/relationships/image" Target="../media/image4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4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5.e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e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55.emf"/><Relationship Id="rId7" Type="http://schemas.openxmlformats.org/officeDocument/2006/relationships/image" Target="../media/image50.wmf"/><Relationship Id="rId2" Type="http://schemas.openxmlformats.org/officeDocument/2006/relationships/image" Target="../media/image34.wmf"/><Relationship Id="rId1" Type="http://schemas.openxmlformats.org/officeDocument/2006/relationships/image" Target="../media/image54.emf"/><Relationship Id="rId6" Type="http://schemas.openxmlformats.org/officeDocument/2006/relationships/image" Target="../media/image47.emf"/><Relationship Id="rId5" Type="http://schemas.openxmlformats.org/officeDocument/2006/relationships/image" Target="../media/image65.emf"/><Relationship Id="rId10" Type="http://schemas.openxmlformats.org/officeDocument/2006/relationships/image" Target="../media/image64.wmf"/><Relationship Id="rId4" Type="http://schemas.openxmlformats.org/officeDocument/2006/relationships/image" Target="../media/image59.emf"/><Relationship Id="rId9" Type="http://schemas.openxmlformats.org/officeDocument/2006/relationships/image" Target="../media/image5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ADDFEF7-6D13-4E6E-8B20-F04E5DCBD0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5175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78488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2425080-6A55-420A-938B-9B552D69FC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307B70-B9CF-442F-A5DC-EF2C45DEFB46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7727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E0C373-F252-4CF2-A4CD-FEF69500601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5387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25080-6A55-420A-938B-9B552D69FC10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1118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25080-6A55-420A-938B-9B552D69FC10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847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3027B-6138-4AE3-9A96-12DEAEA559B2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2F16B-A68A-4A2A-8991-DE404DDED5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62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359004-5A36-4E12-A9D4-26D4B8541FA1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F7543-4188-4031-B4FD-D19B9DB5C1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79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1C765-7D0C-4F95-9C2E-968375B900D0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3DF3A-D999-4D3F-AC6F-C2CADAA268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770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E51B4B-F828-445F-A12C-768D514C80A4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E5C4D-68EF-4E10-A91F-7483611B7A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050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47E25-4CAA-4F40-BE0E-DA617A2DA9AE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38925-00D4-4B92-A028-122469872E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027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FAC33-3A6D-4C49-A772-3DA8E4DDD736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80A5A-996C-46A1-81BD-4FD0EB1418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459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0F756-27B3-495B-A805-E7AC3C5CE3B9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34FBA-0597-43B6-B0EE-70CE2D337E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03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36DC6D-789A-488B-BAF1-69ACA73D9937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D804E-1028-4512-A3FF-170936AF92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14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CDCB14-683C-46BF-ADC1-1C1FEC10198D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AD3CB-9032-4302-9288-E70FC539A3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663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0369AB-F26C-4272-9C4E-954773F9A3FD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E23D0-E088-4984-A500-0612BC1125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84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211455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1912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497AA-0807-4C07-9F85-C9397456655E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0DC3E-4745-47A8-934A-F9D2EB8082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86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56D6C2-D932-4C7D-B066-588C1FBB9FF9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dirty="0" smtClean="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26740C-8886-4FF7-8D94-1FB78E0ABB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logo1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9.emf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image" Target="../media/image28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emf"/><Relationship Id="rId11" Type="http://schemas.openxmlformats.org/officeDocument/2006/relationships/image" Target="../media/image17.png"/><Relationship Id="rId5" Type="http://schemas.openxmlformats.org/officeDocument/2006/relationships/oleObject" Target="../embeddings/oleObject9.bin"/><Relationship Id="rId15" Type="http://schemas.microsoft.com/office/2007/relationships/hdphoto" Target="../media/hdphoto1.wdp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microsoft.com/office/2007/relationships/hdphoto" Target="../media/hdphoto1.wdp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11" Type="http://schemas.openxmlformats.org/officeDocument/2006/relationships/image" Target="../media/image29.png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32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17.bin"/><Relationship Id="rId21" Type="http://schemas.microsoft.com/office/2007/relationships/hdphoto" Target="../media/hdphoto2.wdp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33.e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32.bin"/><Relationship Id="rId10" Type="http://schemas.microsoft.com/office/2007/relationships/hdphoto" Target="../media/hdphoto2.wdp"/><Relationship Id="rId4" Type="http://schemas.openxmlformats.org/officeDocument/2006/relationships/image" Target="../media/image47.emf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40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38.bin"/><Relationship Id="rId17" Type="http://schemas.microsoft.com/office/2007/relationships/hdphoto" Target="../media/hdphoto3.wdp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png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emf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55.e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3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2.bin"/><Relationship Id="rId10" Type="http://schemas.microsoft.com/office/2007/relationships/hdphoto" Target="../media/hdphoto4.wdp"/><Relationship Id="rId4" Type="http://schemas.openxmlformats.org/officeDocument/2006/relationships/image" Target="../media/image57.wmf"/><Relationship Id="rId9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oleObject" Target="../embeddings/oleObject44.bin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microsoft.com/office/2007/relationships/hdphoto" Target="../media/hdphoto4.wdp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61.emf"/><Relationship Id="rId9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6.bin"/><Relationship Id="rId10" Type="http://schemas.microsoft.com/office/2007/relationships/hdphoto" Target="../media/hdphoto3.wdp"/><Relationship Id="rId4" Type="http://schemas.openxmlformats.org/officeDocument/2006/relationships/image" Target="../media/image63.wmf"/><Relationship Id="rId9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53.bin"/><Relationship Id="rId18" Type="http://schemas.microsoft.com/office/2007/relationships/hdphoto" Target="../media/hdphoto3.wdp"/><Relationship Id="rId3" Type="http://schemas.openxmlformats.org/officeDocument/2006/relationships/oleObject" Target="../embeddings/oleObject48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70.wmf"/><Relationship Id="rId17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20" Type="http://schemas.microsoft.com/office/2007/relationships/hdphoto" Target="../media/hdphoto4.wdp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69.emf"/><Relationship Id="rId19" Type="http://schemas.openxmlformats.org/officeDocument/2006/relationships/image" Target="../media/image60.png"/><Relationship Id="rId4" Type="http://schemas.openxmlformats.org/officeDocument/2006/relationships/image" Target="../media/image66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71.wmf"/><Relationship Id="rId22" Type="http://schemas.openxmlformats.org/officeDocument/2006/relationships/image" Target="../media/image7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58.bin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42.bin"/><Relationship Id="rId3" Type="http://schemas.openxmlformats.org/officeDocument/2006/relationships/oleObject" Target="../embeddings/oleObject39.bin"/><Relationship Id="rId21" Type="http://schemas.openxmlformats.org/officeDocument/2006/relationships/image" Target="../media/image47.emf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5.emf"/><Relationship Id="rId17" Type="http://schemas.openxmlformats.org/officeDocument/2006/relationships/image" Target="../media/image74.png"/><Relationship Id="rId25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6" Type="http://schemas.microsoft.com/office/2007/relationships/hdphoto" Target="../media/hdphoto4.wdp"/><Relationship Id="rId20" Type="http://schemas.openxmlformats.org/officeDocument/2006/relationships/oleObject" Target="../embeddings/oleObject60.bin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15.vml"/><Relationship Id="rId6" Type="http://schemas.microsoft.com/office/2007/relationships/hdphoto" Target="../media/hdphoto3.wdp"/><Relationship Id="rId11" Type="http://schemas.openxmlformats.org/officeDocument/2006/relationships/oleObject" Target="../embeddings/oleObject57.bin"/><Relationship Id="rId24" Type="http://schemas.openxmlformats.org/officeDocument/2006/relationships/oleObject" Target="../embeddings/oleObject62.bin"/><Relationship Id="rId5" Type="http://schemas.openxmlformats.org/officeDocument/2006/relationships/image" Target="../media/image56.png"/><Relationship Id="rId15" Type="http://schemas.openxmlformats.org/officeDocument/2006/relationships/image" Target="../media/image60.png"/><Relationship Id="rId23" Type="http://schemas.openxmlformats.org/officeDocument/2006/relationships/image" Target="../media/image50.wmf"/><Relationship Id="rId28" Type="http://schemas.openxmlformats.org/officeDocument/2006/relationships/image" Target="../media/image79.png"/><Relationship Id="rId10" Type="http://schemas.microsoft.com/office/2007/relationships/hdphoto" Target="../media/hdphoto2.wdp"/><Relationship Id="rId19" Type="http://schemas.openxmlformats.org/officeDocument/2006/relationships/image" Target="../media/image65.emf"/><Relationship Id="rId4" Type="http://schemas.openxmlformats.org/officeDocument/2006/relationships/image" Target="../media/image54.emf"/><Relationship Id="rId9" Type="http://schemas.openxmlformats.org/officeDocument/2006/relationships/image" Target="../media/image41.png"/><Relationship Id="rId14" Type="http://schemas.openxmlformats.org/officeDocument/2006/relationships/image" Target="../media/image59.emf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58.wmf"/><Relationship Id="rId30" Type="http://schemas.openxmlformats.org/officeDocument/2006/relationships/image" Target="../media/image6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6024E0-7539-4887-8EB3-B20218A61B86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5D964D-9E61-4397-AEFD-D16844EDF99C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grpSp>
        <p:nvGrpSpPr>
          <p:cNvPr id="4101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07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8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9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0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Picture 1042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3" name="Text Box 1060"/>
          <p:cNvSpPr txBox="1">
            <a:spLocks noChangeArrowheads="1"/>
          </p:cNvSpPr>
          <p:nvPr/>
        </p:nvSpPr>
        <p:spPr bwMode="auto">
          <a:xfrm>
            <a:off x="1616075" y="69850"/>
            <a:ext cx="59753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含运算放大器的电路</a:t>
            </a:r>
          </a:p>
        </p:txBody>
      </p:sp>
      <p:sp>
        <p:nvSpPr>
          <p:cNvPr id="77861" name="Text Box 1061"/>
          <p:cNvSpPr txBox="1">
            <a:spLocks noChangeArrowheads="1"/>
          </p:cNvSpPr>
          <p:nvPr/>
        </p:nvSpPr>
        <p:spPr bwMode="auto">
          <a:xfrm>
            <a:off x="900113" y="2222500"/>
            <a:ext cx="7559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5.1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Operational amplifier </a:t>
            </a:r>
          </a:p>
        </p:txBody>
      </p:sp>
      <p:sp>
        <p:nvSpPr>
          <p:cNvPr id="77862" name="Text Box 1062"/>
          <p:cNvSpPr txBox="1">
            <a:spLocks noChangeArrowheads="1"/>
          </p:cNvSpPr>
          <p:nvPr/>
        </p:nvSpPr>
        <p:spPr bwMode="auto">
          <a:xfrm>
            <a:off x="900113" y="3087688"/>
            <a:ext cx="5862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5.2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理想运算放大器 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Ideal op amp</a:t>
            </a:r>
          </a:p>
        </p:txBody>
      </p:sp>
      <p:sp>
        <p:nvSpPr>
          <p:cNvPr id="77878" name="Text Box 1078"/>
          <p:cNvSpPr txBox="1">
            <a:spLocks noChangeArrowheads="1"/>
          </p:cNvSpPr>
          <p:nvPr/>
        </p:nvSpPr>
        <p:spPr bwMode="auto">
          <a:xfrm>
            <a:off x="900113" y="4057650"/>
            <a:ext cx="59880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5.3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运算放大电路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Op amp circuits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670D944-1FA4-491B-85D0-DEF7032E5E90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8EEDFD-1C66-4916-B21F-C53178D37636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grpSp>
        <p:nvGrpSpPr>
          <p:cNvPr id="5125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5134" name="Picture 3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5" name="Picture 4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6" name="Picture 5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7" name="Picture 6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6" name="Picture 7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1616075" y="69850"/>
            <a:ext cx="59753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含运算放大器的电路</a:t>
            </a:r>
          </a:p>
        </p:txBody>
      </p:sp>
      <p:sp>
        <p:nvSpPr>
          <p:cNvPr id="220174" name="Text Box 14"/>
          <p:cNvSpPr txBox="1">
            <a:spLocks noChangeArrowheads="1"/>
          </p:cNvSpPr>
          <p:nvPr/>
        </p:nvSpPr>
        <p:spPr bwMode="auto">
          <a:xfrm>
            <a:off x="755650" y="1773238"/>
            <a:ext cx="1441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目标：</a:t>
            </a:r>
          </a:p>
        </p:txBody>
      </p:sp>
      <p:sp>
        <p:nvSpPr>
          <p:cNvPr id="220175" name="Text Box 15"/>
          <p:cNvSpPr txBox="1">
            <a:spLocks noChangeArrowheads="1"/>
          </p:cNvSpPr>
          <p:nvPr/>
        </p:nvSpPr>
        <p:spPr bwMode="auto">
          <a:xfrm>
            <a:off x="827088" y="5127625"/>
            <a:ext cx="272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讲授学时：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1.5</a:t>
            </a:r>
          </a:p>
        </p:txBody>
      </p:sp>
      <p:sp>
        <p:nvSpPr>
          <p:cNvPr id="220176" name="Text Box 16"/>
          <p:cNvSpPr txBox="1">
            <a:spLocks noChangeArrowheads="1"/>
          </p:cNvSpPr>
          <p:nvPr/>
        </p:nvSpPr>
        <p:spPr bwMode="auto">
          <a:xfrm>
            <a:off x="779463" y="3789363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难点：</a:t>
            </a:r>
          </a:p>
        </p:txBody>
      </p:sp>
      <p:sp>
        <p:nvSpPr>
          <p:cNvPr id="5131" name="Rectangle 17"/>
          <p:cNvSpPr>
            <a:spLocks noChangeArrowheads="1"/>
          </p:cNvSpPr>
          <p:nvPr/>
        </p:nvSpPr>
        <p:spPr bwMode="auto">
          <a:xfrm>
            <a:off x="1979613" y="3933825"/>
            <a:ext cx="6624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9144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3716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8288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2860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运算电路设计。</a:t>
            </a:r>
          </a:p>
        </p:txBody>
      </p:sp>
      <p:sp>
        <p:nvSpPr>
          <p:cNvPr id="220178" name="Text Box 18"/>
          <p:cNvSpPr txBox="1">
            <a:spLocks noChangeArrowheads="1"/>
          </p:cNvSpPr>
          <p:nvPr/>
        </p:nvSpPr>
        <p:spPr bwMode="auto">
          <a:xfrm>
            <a:off x="4787900" y="5176838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讨论学时：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0.5 </a:t>
            </a:r>
          </a:p>
        </p:txBody>
      </p:sp>
      <p:sp>
        <p:nvSpPr>
          <p:cNvPr id="5133" name="Rectangle 19"/>
          <p:cNvSpPr>
            <a:spLocks noChangeArrowheads="1"/>
          </p:cNvSpPr>
          <p:nvPr/>
        </p:nvSpPr>
        <p:spPr bwMode="auto">
          <a:xfrm>
            <a:off x="1042988" y="1876425"/>
            <a:ext cx="7489825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9144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3716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8288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2860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了解实际运算放大器特性和电路模型。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理解理想运放特性。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3.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熟练分析含理想运放的电路。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4.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掌握基本运算电路的设计。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19"/>
            <a:ext cx="9110173" cy="5328592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70F756-27B3-495B-A805-E7AC3C5CE3B9}" type="datetime1">
              <a:rPr lang="zh-CN" altLang="en-US" smtClean="0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534FBA-0597-43B6-B0EE-70CE2D337E2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31249"/>
            <a:ext cx="4246402" cy="221036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020" y="1412775"/>
            <a:ext cx="3343404" cy="2210361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467545" y="4138624"/>
            <a:ext cx="7992887" cy="2098687"/>
            <a:chOff x="467545" y="4138624"/>
            <a:chExt cx="7992887" cy="2098687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545" y="4138624"/>
              <a:ext cx="7934572" cy="209868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0782" y="4138624"/>
              <a:ext cx="1009650" cy="59055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433253" y="37191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集成运算放大器</a:t>
            </a:r>
          </a:p>
        </p:txBody>
      </p:sp>
    </p:spTree>
    <p:extLst>
      <p:ext uri="{BB962C8B-B14F-4D97-AF65-F5344CB8AC3E}">
        <p14:creationId xmlns:p14="http://schemas.microsoft.com/office/powerpoint/2010/main" val="367258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6BAACE7-4E18-4519-9686-2B3586496752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44CA53-64FD-4678-A3E4-C688A54D3DC7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149" name="Rectangle 440"/>
          <p:cNvSpPr>
            <a:spLocks noChangeArrowheads="1"/>
          </p:cNvSpPr>
          <p:nvPr/>
        </p:nvSpPr>
        <p:spPr bwMode="auto">
          <a:xfrm>
            <a:off x="-36512" y="692696"/>
            <a:ext cx="64087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342900" indent="-342900" eaLnBrk="1" hangingPunct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隶书" panose="02010509060101010101" pitchFamily="49" charset="-122"/>
              </a:rPr>
              <a:t>是一种广泛用途的电子器件，最早始于</a:t>
            </a:r>
            <a:r>
              <a:rPr lang="en-US" altLang="zh-CN" dirty="0">
                <a:ea typeface="隶书" panose="02010509060101010101" pitchFamily="49" charset="-122"/>
              </a:rPr>
              <a:t>1940</a:t>
            </a:r>
            <a:r>
              <a:rPr lang="zh-CN" altLang="en-US" dirty="0">
                <a:ea typeface="隶书" panose="02010509060101010101" pitchFamily="49" charset="-122"/>
              </a:rPr>
              <a:t>年。</a:t>
            </a:r>
            <a:r>
              <a:rPr lang="en-US" altLang="zh-CN" dirty="0">
                <a:ea typeface="隶书" panose="02010509060101010101" pitchFamily="49" charset="-122"/>
              </a:rPr>
              <a:t>1960</a:t>
            </a:r>
            <a:r>
              <a:rPr lang="zh-CN" altLang="en-US" dirty="0">
                <a:ea typeface="隶书" panose="02010509060101010101" pitchFamily="49" charset="-122"/>
              </a:rPr>
              <a:t>年后，随着集成电路的发展，运算放大器逐步集成化，大大降低了成本，获得了越来越广泛的应用</a:t>
            </a:r>
            <a:endParaRPr lang="en-US" altLang="zh-CN" dirty="0">
              <a:ea typeface="隶书" panose="02010509060101010101" pitchFamily="49" charset="-122"/>
            </a:endParaRPr>
          </a:p>
          <a:p>
            <a:pPr marL="342900" indent="-342900" eaLnBrk="1" hangingPunct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隶书" panose="02010509060101010101" pitchFamily="49" charset="-122"/>
              </a:rPr>
              <a:t>有源电子器件，由电阻、电容、三极管实现</a:t>
            </a:r>
          </a:p>
          <a:p>
            <a:pPr marL="342900" indent="-342900" eaLnBrk="1" hangingPunct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隶书" panose="02010509060101010101" pitchFamily="49" charset="-122"/>
              </a:rPr>
              <a:t>掌握其端口特性</a:t>
            </a:r>
          </a:p>
        </p:txBody>
      </p:sp>
      <p:sp>
        <p:nvSpPr>
          <p:cNvPr id="6150" name="Rectangle 48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50000"/>
              </a:spcBef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spcBef>
                <a:spcPct val="50000"/>
              </a:spcBef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spcBef>
                <a:spcPct val="50000"/>
              </a:spcBef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spcBef>
                <a:spcPct val="50000"/>
              </a:spcBef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spcBef>
                <a:spcPct val="50000"/>
              </a:spcBef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5.1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运算放大器 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operational amplifiers</a:t>
            </a:r>
          </a:p>
        </p:txBody>
      </p:sp>
      <p:pic>
        <p:nvPicPr>
          <p:cNvPr id="6151" name="Picture 487" descr="运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9" t="6160" b="12389"/>
          <a:stretch>
            <a:fillRect/>
          </a:stretch>
        </p:blipFill>
        <p:spPr bwMode="auto">
          <a:xfrm>
            <a:off x="6372225" y="819150"/>
            <a:ext cx="2592388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488" descr="电路板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094038"/>
            <a:ext cx="5256212" cy="350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490" descr="运放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8" t="7086" r="16684" b="10709"/>
          <a:stretch>
            <a:fillRect/>
          </a:stretch>
        </p:blipFill>
        <p:spPr bwMode="auto">
          <a:xfrm>
            <a:off x="7019925" y="4724400"/>
            <a:ext cx="1871663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491" descr="运放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2"/>
          <a:stretch>
            <a:fillRect/>
          </a:stretch>
        </p:blipFill>
        <p:spPr bwMode="auto">
          <a:xfrm>
            <a:off x="7885113" y="3213100"/>
            <a:ext cx="1008062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49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2781300"/>
            <a:ext cx="2376488" cy="188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10174" y="548680"/>
            <a:ext cx="1439863" cy="557212"/>
          </a:xfrm>
          <a:prstGeom prst="rect">
            <a:avLst/>
          </a:prstGeom>
          <a:noFill/>
          <a:ln w="38100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en-US" altLang="zh-CN" sz="280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应用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539750" y="1268413"/>
            <a:ext cx="324008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信号的运算电路</a:t>
            </a: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4356100" y="1196975"/>
            <a:ext cx="4392613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>
                <a:ea typeface="楷体_GB2312" pitchFamily="49" charset="-122"/>
              </a:rPr>
              <a:t>比例、加、减、对数、指数、积分、微分等运算。</a:t>
            </a:r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4284663" y="4149725"/>
            <a:ext cx="44640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>
                <a:ea typeface="楷体_GB2312" pitchFamily="49" charset="-122"/>
              </a:rPr>
              <a:t>产生方波、锯齿波等波形</a:t>
            </a:r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3708400" y="1628775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1" name="Text Box 17"/>
          <p:cNvSpPr txBox="1">
            <a:spLocks noChangeArrowheads="1"/>
          </p:cNvSpPr>
          <p:nvPr/>
        </p:nvSpPr>
        <p:spPr bwMode="auto">
          <a:xfrm>
            <a:off x="539750" y="2492375"/>
            <a:ext cx="324008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信号的处理电路</a:t>
            </a:r>
          </a:p>
        </p:txBody>
      </p: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611188" y="4149725"/>
            <a:ext cx="3240087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AutoNum type="circleNumDbPlain" startAt="3"/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信号的发生电路</a:t>
            </a:r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3708400" y="4508500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>
            <a:off x="3708400" y="2852738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4284663" y="2420938"/>
            <a:ext cx="453548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>
                <a:ea typeface="楷体_GB2312" pitchFamily="49" charset="-122"/>
              </a:rPr>
              <a:t>有源滤波器、精密整流电路、电压比较器、采样</a:t>
            </a:r>
            <a:r>
              <a:rPr kumimoji="1" lang="en-US" altLang="zh-CN" sz="2800" b="0">
                <a:ea typeface="楷体_GB2312" pitchFamily="49" charset="-122"/>
              </a:rPr>
              <a:t>—</a:t>
            </a:r>
            <a:r>
              <a:rPr kumimoji="1" lang="zh-CN" altLang="en-US" sz="2800">
                <a:ea typeface="楷体_GB2312" pitchFamily="49" charset="-122"/>
              </a:rPr>
              <a:t>保持电路。</a:t>
            </a:r>
          </a:p>
        </p:txBody>
      </p:sp>
    </p:spTree>
    <p:extLst>
      <p:ext uri="{BB962C8B-B14F-4D97-AF65-F5344CB8AC3E}">
        <p14:creationId xmlns:p14="http://schemas.microsoft.com/office/powerpoint/2010/main" val="204250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nimBg="1" autoUpdateAnimBg="0"/>
      <p:bldP spid="26631" grpId="0"/>
      <p:bldP spid="26638" grpId="0"/>
      <p:bldP spid="26639" grpId="0"/>
      <p:bldP spid="26641" grpId="0"/>
      <p:bldP spid="26642" grpId="0"/>
      <p:bldP spid="266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4534D8D-C469-4C51-884F-800AC73194A5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8A286-A67E-4C5B-B584-2F0D8B6B9B5F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graphicFrame>
        <p:nvGraphicFramePr>
          <p:cNvPr id="221186" name="Object 2"/>
          <p:cNvGraphicFramePr>
            <a:graphicFrameLocks noChangeAspect="1"/>
          </p:cNvGraphicFramePr>
          <p:nvPr/>
        </p:nvGraphicFramePr>
        <p:xfrm>
          <a:off x="2339975" y="692150"/>
          <a:ext cx="6572250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Visio" r:id="rId3" imgW="3314128" imgH="1145286" progId="Visio.Drawing.11">
                  <p:embed/>
                </p:oleObj>
              </mc:Choice>
              <mc:Fallback>
                <p:oleObj name="Visio" r:id="rId3" imgW="3314128" imgH="1145286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692150"/>
                        <a:ext cx="6572250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1187450" y="180022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同相输入</a:t>
            </a:r>
          </a:p>
        </p:txBody>
      </p:sp>
      <p:sp>
        <p:nvSpPr>
          <p:cNvPr id="221188" name="Rectangle 4"/>
          <p:cNvSpPr>
            <a:spLocks noChangeArrowheads="1"/>
          </p:cNvSpPr>
          <p:nvPr/>
        </p:nvSpPr>
        <p:spPr bwMode="auto">
          <a:xfrm>
            <a:off x="1568450" y="127635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反相输入</a:t>
            </a:r>
          </a:p>
        </p:txBody>
      </p:sp>
      <p:sp>
        <p:nvSpPr>
          <p:cNvPr id="221191" name="Rectangle 7"/>
          <p:cNvSpPr>
            <a:spLocks noChangeArrowheads="1"/>
          </p:cNvSpPr>
          <p:nvPr/>
        </p:nvSpPr>
        <p:spPr bwMode="auto">
          <a:xfrm>
            <a:off x="323850" y="2492375"/>
            <a:ext cx="324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2.Circuit symbol</a:t>
            </a:r>
          </a:p>
        </p:txBody>
      </p:sp>
      <p:sp>
        <p:nvSpPr>
          <p:cNvPr id="221195" name="Rectangle 11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operational amplifiers</a:t>
            </a:r>
          </a:p>
        </p:txBody>
      </p:sp>
      <p:sp>
        <p:nvSpPr>
          <p:cNvPr id="221206" name="Rectangle 22"/>
          <p:cNvSpPr>
            <a:spLocks noChangeArrowheads="1"/>
          </p:cNvSpPr>
          <p:nvPr/>
        </p:nvSpPr>
        <p:spPr bwMode="auto">
          <a:xfrm>
            <a:off x="323850" y="836613"/>
            <a:ext cx="1798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1. Terminals </a:t>
            </a:r>
          </a:p>
        </p:txBody>
      </p:sp>
      <p:sp>
        <p:nvSpPr>
          <p:cNvPr id="221209" name="Rectangle 25"/>
          <p:cNvSpPr>
            <a:spLocks noChangeArrowheads="1"/>
          </p:cNvSpPr>
          <p:nvPr/>
        </p:nvSpPr>
        <p:spPr bwMode="auto">
          <a:xfrm>
            <a:off x="323850" y="5229225"/>
            <a:ext cx="324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3.Voltage and current</a:t>
            </a:r>
          </a:p>
        </p:txBody>
      </p:sp>
      <p:graphicFrame>
        <p:nvGraphicFramePr>
          <p:cNvPr id="221214" name="Object 30"/>
          <p:cNvGraphicFramePr>
            <a:graphicFrameLocks noChangeAspect="1"/>
          </p:cNvGraphicFramePr>
          <p:nvPr/>
        </p:nvGraphicFramePr>
        <p:xfrm>
          <a:off x="468313" y="5778500"/>
          <a:ext cx="31321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Equation" r:id="rId5" imgW="1367817" imgH="239937" progId="Equation.DSMT4">
                  <p:embed/>
                </p:oleObj>
              </mc:Choice>
              <mc:Fallback>
                <p:oleObj name="Equation" r:id="rId5" imgW="1367817" imgH="239937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778500"/>
                        <a:ext cx="3132137" cy="530225"/>
                      </a:xfrm>
                      <a:prstGeom prst="rect">
                        <a:avLst/>
                      </a:prstGeom>
                      <a:noFill/>
                      <a:ln w="9525" algn="ctr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885113" y="1828800"/>
            <a:ext cx="8001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输出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7581900" y="1339850"/>
            <a:ext cx="1108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正电源</a:t>
            </a: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3227388" y="2371725"/>
            <a:ext cx="1108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负电源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504" y="3286045"/>
            <a:ext cx="2493728" cy="169907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392" y="3009000"/>
            <a:ext cx="3531215" cy="3431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2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autoUpdateAnimBg="0"/>
      <p:bldP spid="221188" grpId="0" autoUpdateAnimBg="0"/>
      <p:bldP spid="221191" grpId="0"/>
      <p:bldP spid="221209" grpId="0"/>
      <p:bldP spid="16" grpId="0" autoUpdateAnimBg="0"/>
      <p:bldP spid="17" grpId="0" autoUpdateAnimBg="0"/>
      <p:bldP spid="1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8" name="Text Box 4"/>
          <p:cNvSpPr txBox="1">
            <a:spLocks noChangeArrowheads="1"/>
          </p:cNvSpPr>
          <p:nvPr/>
        </p:nvSpPr>
        <p:spPr bwMode="auto">
          <a:xfrm>
            <a:off x="311782" y="741790"/>
            <a:ext cx="817277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当放大器工作在线性区时，端电压关系式中不出现直流电源电压。在电路符号中去掉电源端，以简化符号。  </a:t>
            </a:r>
          </a:p>
        </p:txBody>
      </p:sp>
      <p:sp>
        <p:nvSpPr>
          <p:cNvPr id="513058" name="Rectangle 34"/>
          <p:cNvSpPr>
            <a:spLocks noChangeArrowheads="1"/>
          </p:cNvSpPr>
          <p:nvPr/>
        </p:nvSpPr>
        <p:spPr bwMode="auto">
          <a:xfrm>
            <a:off x="1852613" y="4387850"/>
            <a:ext cx="6386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端电流仍是     </a:t>
            </a:r>
            <a:r>
              <a:rPr kumimoji="1"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3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kumimoji="1"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6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3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s+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6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3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s-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panose="02020603050405020304" pitchFamily="18" charset="0"/>
              </a:rPr>
              <a:t>= 0   </a:t>
            </a:r>
          </a:p>
        </p:txBody>
      </p:sp>
      <p:sp>
        <p:nvSpPr>
          <p:cNvPr id="513059" name="Text Box 35"/>
          <p:cNvSpPr txBox="1">
            <a:spLocks noChangeArrowheads="1"/>
          </p:cNvSpPr>
          <p:nvPr/>
        </p:nvSpPr>
        <p:spPr bwMode="auto">
          <a:xfrm>
            <a:off x="808038" y="4508500"/>
            <a:ext cx="1255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注意：  </a:t>
            </a:r>
          </a:p>
        </p:txBody>
      </p:sp>
      <p:grpSp>
        <p:nvGrpSpPr>
          <p:cNvPr id="513060" name="Group 36"/>
          <p:cNvGrpSpPr>
            <a:grpSpLocks/>
          </p:cNvGrpSpPr>
          <p:nvPr/>
        </p:nvGrpSpPr>
        <p:grpSpPr bwMode="auto">
          <a:xfrm>
            <a:off x="1997075" y="5297488"/>
            <a:ext cx="3505200" cy="701675"/>
            <a:chOff x="1258" y="3337"/>
            <a:chExt cx="2208" cy="442"/>
          </a:xfrm>
        </p:grpSpPr>
        <p:sp>
          <p:nvSpPr>
            <p:cNvPr id="513061" name="Rectangle 37"/>
            <p:cNvSpPr>
              <a:spLocks noChangeArrowheads="1"/>
            </p:cNvSpPr>
            <p:nvPr/>
          </p:nvSpPr>
          <p:spPr bwMode="auto">
            <a:xfrm>
              <a:off x="1258" y="3337"/>
              <a:ext cx="220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0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4000" b="1" baseline="-25000">
                  <a:latin typeface="Times New Roman" panose="02020603050405020304" pitchFamily="18" charset="0"/>
                </a:rPr>
                <a:t>+</a:t>
              </a:r>
              <a:r>
                <a:rPr kumimoji="1" lang="en-US" altLang="zh-CN" sz="40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40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4000" baseline="-25000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4000">
                  <a:latin typeface="黑体" panose="02010609060101010101" pitchFamily="49" charset="-122"/>
                  <a:ea typeface="黑体" panose="02010609060101010101" pitchFamily="49" charset="-122"/>
                </a:rPr>
                <a:t>+ </a:t>
              </a:r>
              <a:r>
                <a:rPr kumimoji="1" lang="en-US" altLang="zh-CN" sz="40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4000" b="1" baseline="-25000">
                  <a:latin typeface="Times New Roman" panose="02020603050405020304" pitchFamily="18" charset="0"/>
                </a:rPr>
                <a:t>o   </a:t>
              </a:r>
              <a:r>
                <a:rPr kumimoji="1" lang="en-US" altLang="zh-CN" sz="4000" b="1">
                  <a:latin typeface="Times New Roman" panose="02020603050405020304" pitchFamily="18" charset="0"/>
                </a:rPr>
                <a:t>=   0  </a:t>
              </a:r>
            </a:p>
          </p:txBody>
        </p:sp>
        <p:sp>
          <p:nvSpPr>
            <p:cNvPr id="513062" name="Line 38"/>
            <p:cNvSpPr>
              <a:spLocks noChangeShapeType="1"/>
            </p:cNvSpPr>
            <p:nvPr/>
          </p:nvSpPr>
          <p:spPr bwMode="auto">
            <a:xfrm flipH="1">
              <a:off x="2670" y="3374"/>
              <a:ext cx="183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63" name="Line 39"/>
            <p:cNvSpPr>
              <a:spLocks noChangeShapeType="1"/>
            </p:cNvSpPr>
            <p:nvPr/>
          </p:nvSpPr>
          <p:spPr bwMode="auto">
            <a:xfrm>
              <a:off x="2661" y="3374"/>
              <a:ext cx="219" cy="37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916832"/>
            <a:ext cx="2181225" cy="18288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220072" y="1916832"/>
            <a:ext cx="2181225" cy="1828800"/>
            <a:chOff x="5220072" y="1916832"/>
            <a:chExt cx="2181225" cy="182880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20072" y="1916832"/>
              <a:ext cx="2181225" cy="1828800"/>
            </a:xfrm>
            <a:prstGeom prst="rect">
              <a:avLst/>
            </a:prstGeom>
          </p:spPr>
        </p:pic>
        <p:grpSp>
          <p:nvGrpSpPr>
            <p:cNvPr id="6" name="组合 5"/>
            <p:cNvGrpSpPr/>
            <p:nvPr/>
          </p:nvGrpSpPr>
          <p:grpSpPr>
            <a:xfrm>
              <a:off x="5991598" y="2105816"/>
              <a:ext cx="743228" cy="1493579"/>
              <a:chOff x="5991598" y="2105816"/>
              <a:chExt cx="743228" cy="1493579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33839">
                <a:off x="6096651" y="2105816"/>
                <a:ext cx="638175" cy="523875"/>
              </a:xfrm>
              <a:prstGeom prst="rect">
                <a:avLst/>
              </a:prstGeom>
            </p:spPr>
          </p:pic>
          <p:pic>
            <p:nvPicPr>
              <p:cNvPr id="41" name="图片 4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9952246">
                <a:off x="5991598" y="3075520"/>
                <a:ext cx="638175" cy="523875"/>
              </a:xfrm>
              <a:prstGeom prst="rect">
                <a:avLst/>
              </a:prstGeom>
            </p:spPr>
          </p:pic>
        </p:grpSp>
      </p:grpSp>
      <p:sp>
        <p:nvSpPr>
          <p:cNvPr id="4" name="文本框 3"/>
          <p:cNvSpPr txBox="1"/>
          <p:nvPr/>
        </p:nvSpPr>
        <p:spPr>
          <a:xfrm>
            <a:off x="1997075" y="39581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完整符号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861740" y="39348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简化符号</a:t>
            </a:r>
          </a:p>
        </p:txBody>
      </p:sp>
    </p:spTree>
    <p:extLst>
      <p:ext uri="{BB962C8B-B14F-4D97-AF65-F5344CB8AC3E}">
        <p14:creationId xmlns:p14="http://schemas.microsoft.com/office/powerpoint/2010/main" val="323080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3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58" grpId="0" build="p" autoUpdateAnimBg="0"/>
      <p:bldP spid="513059" grpId="0" autoUpdateAnimBg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A19C787-010D-487A-8236-6032179068A9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D6522-D768-4D89-AAD7-05C923944EEF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graphicFrame>
        <p:nvGraphicFramePr>
          <p:cNvPr id="211978" name="Object 10"/>
          <p:cNvGraphicFramePr>
            <a:graphicFrameLocks noChangeAspect="1"/>
          </p:cNvGraphicFramePr>
          <p:nvPr/>
        </p:nvGraphicFramePr>
        <p:xfrm>
          <a:off x="5003800" y="2708275"/>
          <a:ext cx="3721100" cy="390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1" name="Visio" r:id="rId3" imgW="1887236" imgH="1977676" progId="Visio.Drawing.11">
                  <p:embed/>
                </p:oleObj>
              </mc:Choice>
              <mc:Fallback>
                <p:oleObj name="Visio" r:id="rId3" imgW="1887236" imgH="1977676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708275"/>
                        <a:ext cx="3721100" cy="390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1979" name="Group 11"/>
          <p:cNvGrpSpPr>
            <a:grpSpLocks/>
          </p:cNvGrpSpPr>
          <p:nvPr/>
        </p:nvGrpSpPr>
        <p:grpSpPr bwMode="auto">
          <a:xfrm>
            <a:off x="4662488" y="3789363"/>
            <a:ext cx="2286000" cy="457200"/>
            <a:chOff x="3072" y="1536"/>
            <a:chExt cx="1440" cy="288"/>
          </a:xfrm>
        </p:grpSpPr>
        <p:sp>
          <p:nvSpPr>
            <p:cNvPr id="211980" name="Rectangle 12"/>
            <p:cNvSpPr>
              <a:spLocks noChangeArrowheads="1"/>
            </p:cNvSpPr>
            <p:nvPr/>
          </p:nvSpPr>
          <p:spPr bwMode="auto">
            <a:xfrm>
              <a:off x="3072" y="1536"/>
              <a:ext cx="11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隶书" panose="02010509060101010101" pitchFamily="49" charset="-122"/>
                </a:rPr>
                <a:t>Linear region</a:t>
              </a:r>
            </a:p>
          </p:txBody>
        </p:sp>
        <p:sp>
          <p:nvSpPr>
            <p:cNvPr id="8210" name="Line 13"/>
            <p:cNvSpPr>
              <a:spLocks noChangeShapeType="1"/>
            </p:cNvSpPr>
            <p:nvPr/>
          </p:nvSpPr>
          <p:spPr bwMode="auto">
            <a:xfrm>
              <a:off x="4176" y="1728"/>
              <a:ext cx="33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1982" name="Rectangle 1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operational amplifiers</a:t>
            </a:r>
          </a:p>
        </p:txBody>
      </p:sp>
      <p:graphicFrame>
        <p:nvGraphicFramePr>
          <p:cNvPr id="211988" name="Object 20"/>
          <p:cNvGraphicFramePr>
            <a:graphicFrameLocks noChangeAspect="1"/>
          </p:cNvGraphicFramePr>
          <p:nvPr/>
        </p:nvGraphicFramePr>
        <p:xfrm>
          <a:off x="250825" y="1484313"/>
          <a:ext cx="5976938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Equation" r:id="rId5" imgW="2625143" imgH="773471" progId="Equation.DSMT4">
                  <p:embed/>
                </p:oleObj>
              </mc:Choice>
              <mc:Fallback>
                <p:oleObj name="Equation" r:id="rId5" imgW="2625143" imgH="773471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484313"/>
                        <a:ext cx="5976938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9" name="Rectangle 21"/>
          <p:cNvSpPr>
            <a:spLocks noChangeArrowheads="1"/>
          </p:cNvSpPr>
          <p:nvPr/>
        </p:nvSpPr>
        <p:spPr bwMode="auto">
          <a:xfrm>
            <a:off x="395288" y="765175"/>
            <a:ext cx="568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4. Characteristic (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输入输出特性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</a:p>
        </p:txBody>
      </p:sp>
      <p:grpSp>
        <p:nvGrpSpPr>
          <p:cNvPr id="211996" name="Group 28"/>
          <p:cNvGrpSpPr>
            <a:grpSpLocks/>
          </p:cNvGrpSpPr>
          <p:nvPr/>
        </p:nvGrpSpPr>
        <p:grpSpPr bwMode="auto">
          <a:xfrm>
            <a:off x="323850" y="4581525"/>
            <a:ext cx="4419600" cy="914400"/>
            <a:chOff x="249" y="2024"/>
            <a:chExt cx="2784" cy="576"/>
          </a:xfrm>
        </p:grpSpPr>
        <p:sp>
          <p:nvSpPr>
            <p:cNvPr id="8207" name="Rectangle 6"/>
            <p:cNvSpPr>
              <a:spLocks noChangeArrowheads="1"/>
            </p:cNvSpPr>
            <p:nvPr/>
          </p:nvSpPr>
          <p:spPr bwMode="auto">
            <a:xfrm>
              <a:off x="249" y="2024"/>
              <a:ext cx="2784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ea typeface="隶书" panose="02010509060101010101" pitchFamily="49" charset="-122"/>
                </a:rPr>
                <a:t>A——</a:t>
              </a:r>
              <a:r>
                <a:rPr lang="zh-CN" altLang="en-US" sz="2000" dirty="0">
                  <a:ea typeface="隶书" panose="02010509060101010101" pitchFamily="49" charset="-122"/>
                </a:rPr>
                <a:t>电压增益</a:t>
              </a:r>
            </a:p>
            <a:p>
              <a:pPr eaLnBrk="1" hangingPunct="1"/>
              <a:r>
                <a:rPr lang="zh-CN" altLang="en-US" sz="2000" dirty="0">
                  <a:ea typeface="隶书" panose="02010509060101010101" pitchFamily="49" charset="-122"/>
                </a:rPr>
                <a:t>                            </a:t>
              </a:r>
              <a:r>
                <a:rPr lang="en-US" altLang="zh-CN" sz="2000" dirty="0">
                  <a:ea typeface="隶书" panose="02010509060101010101" pitchFamily="49" charset="-122"/>
                </a:rPr>
                <a:t>——</a:t>
              </a:r>
              <a:r>
                <a:rPr lang="zh-CN" altLang="en-US" sz="2000" dirty="0">
                  <a:ea typeface="隶书" panose="02010509060101010101" pitchFamily="49" charset="-122"/>
                </a:rPr>
                <a:t>差分输入电压</a:t>
              </a:r>
            </a:p>
          </p:txBody>
        </p:sp>
        <p:graphicFrame>
          <p:nvGraphicFramePr>
            <p:cNvPr id="8208" name="Object 27"/>
            <p:cNvGraphicFramePr>
              <a:graphicFrameLocks noChangeAspect="1"/>
            </p:cNvGraphicFramePr>
            <p:nvPr/>
          </p:nvGraphicFramePr>
          <p:xfrm>
            <a:off x="476" y="2205"/>
            <a:ext cx="1032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93" name="Equation" r:id="rId7" imgW="708755" imgH="224924" progId="Equation.DSMT4">
                    <p:embed/>
                  </p:oleObj>
                </mc:Choice>
                <mc:Fallback>
                  <p:oleObj name="Equation" r:id="rId7" imgW="708755" imgH="224924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2205"/>
                          <a:ext cx="1032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164388" y="2997200"/>
            <a:ext cx="1295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正饱和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391150" y="6419850"/>
            <a:ext cx="12969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负饱和</a:t>
            </a: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3529013" y="3813175"/>
            <a:ext cx="1295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线性区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20410" y="1067778"/>
            <a:ext cx="2181225" cy="1828800"/>
            <a:chOff x="6520410" y="1067778"/>
            <a:chExt cx="2181225" cy="1828800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20410" y="1067778"/>
              <a:ext cx="2181225" cy="1828800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7611022" y="1307897"/>
              <a:ext cx="360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603237" y="2522456"/>
              <a:ext cx="360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5E9C8CC-5B7E-4633-AAE8-1AD3E39037D0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B417CD-6BF0-49E3-B275-11281D4668AF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326" name="Rectangle 206"/>
          <p:cNvSpPr>
            <a:spLocks noChangeArrowheads="1"/>
          </p:cNvSpPr>
          <p:nvPr/>
        </p:nvSpPr>
        <p:spPr bwMode="auto">
          <a:xfrm>
            <a:off x="323850" y="836613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5. Circuit model </a:t>
            </a:r>
            <a:r>
              <a:rPr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(linear region)</a:t>
            </a:r>
          </a:p>
        </p:txBody>
      </p:sp>
      <p:graphicFrame>
        <p:nvGraphicFramePr>
          <p:cNvPr id="9222" name="Object 2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355561"/>
              </p:ext>
            </p:extLst>
          </p:nvPr>
        </p:nvGraphicFramePr>
        <p:xfrm>
          <a:off x="827088" y="1844824"/>
          <a:ext cx="6384925" cy="382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name="Visio" r:id="rId3" imgW="3219521" imgH="1939239" progId="Visio.Drawing.11">
                  <p:embed/>
                </p:oleObj>
              </mc:Choice>
              <mc:Fallback>
                <p:oleObj name="Visio" r:id="rId3" imgW="3219521" imgH="1939239" progId="Visio.Drawing.11">
                  <p:embed/>
                  <p:pic>
                    <p:nvPicPr>
                      <p:cNvPr id="0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44824"/>
                        <a:ext cx="6384925" cy="382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0" name="Rectangle 220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operational amplifiers</a:t>
            </a:r>
          </a:p>
        </p:txBody>
      </p:sp>
      <p:graphicFrame>
        <p:nvGraphicFramePr>
          <p:cNvPr id="9224" name="Object 2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421105"/>
              </p:ext>
            </p:extLst>
          </p:nvPr>
        </p:nvGraphicFramePr>
        <p:xfrm>
          <a:off x="339725" y="1340768"/>
          <a:ext cx="59483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name="Equation" r:id="rId5" imgW="2613761" imgH="224924" progId="Equation.DSMT4">
                  <p:embed/>
                </p:oleObj>
              </mc:Choice>
              <mc:Fallback>
                <p:oleObj name="Equation" r:id="rId5" imgW="2613761" imgH="224924" progId="Equation.DSMT4">
                  <p:embed/>
                  <p:pic>
                    <p:nvPicPr>
                      <p:cNvPr id="0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1340768"/>
                        <a:ext cx="59483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88032" y="5636096"/>
            <a:ext cx="879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：运算放大器两输入端间的输入电阻，通常为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10</a:t>
            </a:r>
            <a:r>
              <a:rPr kumimoji="1" lang="en-US" altLang="zh-CN" sz="2400" b="1" baseline="30000" dirty="0">
                <a:latin typeface="Times New Roman" panose="02020603050405020304" pitchFamily="18" charset="0"/>
              </a:rPr>
              <a:t>6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-10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13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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51520" y="6140152"/>
            <a:ext cx="7234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：运算放大器的输出电阻，通常为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10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-100 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6520410" y="1067778"/>
            <a:ext cx="2181225" cy="1828800"/>
            <a:chOff x="6520410" y="1067778"/>
            <a:chExt cx="2181225" cy="1828800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20410" y="1067778"/>
              <a:ext cx="2181225" cy="182880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7611022" y="1307897"/>
              <a:ext cx="360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603237" y="2522456"/>
              <a:ext cx="360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058C157-EA8E-4ACB-A564-45739925C606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7C172-71E1-4C7E-8B74-5541D64DAF2E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graphicFrame>
        <p:nvGraphicFramePr>
          <p:cNvPr id="219149" name="Object 13"/>
          <p:cNvGraphicFramePr>
            <a:graphicFrameLocks noChangeAspect="1"/>
          </p:cNvGraphicFramePr>
          <p:nvPr/>
        </p:nvGraphicFramePr>
        <p:xfrm>
          <a:off x="323850" y="3241675"/>
          <a:ext cx="4392613" cy="350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1" name="Visio" r:id="rId3" imgW="1980676" imgH="1593628" progId="Visio.Drawing.11">
                  <p:embed/>
                </p:oleObj>
              </mc:Choice>
              <mc:Fallback>
                <p:oleObj name="Visio" r:id="rId3" imgW="1980676" imgH="1593628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241675"/>
                        <a:ext cx="4392613" cy="350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operational amplifiers</a:t>
            </a: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323850" y="765175"/>
            <a:ext cx="7808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6.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开环工作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工作于饱和区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过零比较器 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Comparator</a:t>
            </a:r>
          </a:p>
        </p:txBody>
      </p:sp>
      <p:graphicFrame>
        <p:nvGraphicFramePr>
          <p:cNvPr id="10249" name="Object 15"/>
          <p:cNvGraphicFramePr>
            <a:graphicFrameLocks noChangeAspect="1"/>
          </p:cNvGraphicFramePr>
          <p:nvPr/>
        </p:nvGraphicFramePr>
        <p:xfrm>
          <a:off x="5422900" y="2840038"/>
          <a:ext cx="3721100" cy="390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2" name="Visio" r:id="rId5" imgW="1887236" imgH="1977676" progId="Visio.Drawing.11">
                  <p:embed/>
                </p:oleObj>
              </mc:Choice>
              <mc:Fallback>
                <p:oleObj name="Visio" r:id="rId5" imgW="1887236" imgH="1977676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2840038"/>
                        <a:ext cx="3721100" cy="390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53" name="Object 17"/>
          <p:cNvGraphicFramePr>
            <a:graphicFrameLocks noChangeAspect="1"/>
          </p:cNvGraphicFramePr>
          <p:nvPr/>
        </p:nvGraphicFramePr>
        <p:xfrm>
          <a:off x="3851275" y="1717675"/>
          <a:ext cx="178117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" name="Equation" r:id="rId7" imgW="773440" imgH="415372" progId="Equation.DSMT4">
                  <p:embed/>
                </p:oleObj>
              </mc:Choice>
              <mc:Fallback>
                <p:oleObj name="Equation" r:id="rId7" imgW="773440" imgH="415372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717675"/>
                        <a:ext cx="178117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54" name="Object 18"/>
          <p:cNvGraphicFramePr>
            <a:graphicFrameLocks noChangeAspect="1"/>
          </p:cNvGraphicFramePr>
          <p:nvPr/>
        </p:nvGraphicFramePr>
        <p:xfrm>
          <a:off x="1100138" y="3565525"/>
          <a:ext cx="2684462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4" name="Visio" r:id="rId9" imgW="1146835" imgH="1562234" progId="Visio.Drawing.11">
                  <p:embed/>
                </p:oleObj>
              </mc:Choice>
              <mc:Fallback>
                <p:oleObj name="Visio" r:id="rId9" imgW="1146835" imgH="1562234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565525"/>
                        <a:ext cx="2684462" cy="254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6858000" y="1222375"/>
            <a:ext cx="2181225" cy="1828800"/>
            <a:chOff x="6520410" y="1067778"/>
            <a:chExt cx="2181225" cy="1828800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20410" y="1067778"/>
              <a:ext cx="2181225" cy="1828800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7611022" y="1307897"/>
              <a:ext cx="360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603237" y="2522456"/>
              <a:ext cx="360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6529" y="1089422"/>
            <a:ext cx="3118592" cy="2188766"/>
            <a:chOff x="596634" y="1299023"/>
            <a:chExt cx="3118592" cy="2188766"/>
          </a:xfrm>
        </p:grpSpPr>
        <p:graphicFrame>
          <p:nvGraphicFramePr>
            <p:cNvPr id="21914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2193278"/>
                </p:ext>
              </p:extLst>
            </p:nvPr>
          </p:nvGraphicFramePr>
          <p:xfrm>
            <a:off x="596634" y="1866316"/>
            <a:ext cx="2812478" cy="1621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5" name="Visio" r:id="rId12" imgW="1638477" imgH="885855" progId="Visio.Drawing.11">
                    <p:embed/>
                  </p:oleObj>
                </mc:Choice>
                <mc:Fallback>
                  <p:oleObj name="Visio" r:id="rId12" imgW="1638477" imgH="885855" progId="Visio.Drawing.11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634" y="1866316"/>
                          <a:ext cx="2812478" cy="1621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组合 16"/>
            <p:cNvGrpSpPr/>
            <p:nvPr/>
          </p:nvGrpSpPr>
          <p:grpSpPr>
            <a:xfrm>
              <a:off x="2265185" y="1299023"/>
              <a:ext cx="1450041" cy="1942652"/>
              <a:chOff x="7072314" y="1067778"/>
              <a:chExt cx="1629321" cy="1828800"/>
            </a:xfrm>
          </p:grpSpPr>
          <p:pic>
            <p:nvPicPr>
              <p:cNvPr id="18" name="图片 17"/>
              <p:cNvPicPr>
                <a:picLocks noChangeAspect="1"/>
              </p:cNvPicPr>
              <p:nvPr/>
            </p:nvPicPr>
            <p:blipFill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rcRect l="25303"/>
              <a:stretch/>
            </p:blipFill>
            <p:spPr>
              <a:xfrm>
                <a:off x="7072314" y="1067778"/>
                <a:ext cx="1629321" cy="1828800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7611022" y="1307897"/>
                <a:ext cx="426632" cy="260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i="1" dirty="0"/>
                  <a:t>cc</a:t>
                </a:r>
                <a:endParaRPr lang="zh-CN" altLang="en-US" sz="1200" i="1" dirty="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7603237" y="2522456"/>
                <a:ext cx="434416" cy="260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i="1" dirty="0"/>
                  <a:t>cc</a:t>
                </a:r>
                <a:endParaRPr lang="zh-CN" altLang="en-US" sz="1200" i="1" dirty="0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681686" y="3051175"/>
            <a:ext cx="2742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开环：输出端与输入端之间无连接支路或路径。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1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6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3EA39A-250C-46E1-9AE5-4B967E18F84D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151D4C-02B4-442A-B798-35E1413B530F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232451" name="Rectangle 3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operational amplifiers</a:t>
            </a:r>
          </a:p>
        </p:txBody>
      </p:sp>
      <p:graphicFrame>
        <p:nvGraphicFramePr>
          <p:cNvPr id="232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541072"/>
              </p:ext>
            </p:extLst>
          </p:nvPr>
        </p:nvGraphicFramePr>
        <p:xfrm>
          <a:off x="539750" y="1590906"/>
          <a:ext cx="3246438" cy="1622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" name="Visio" r:id="rId3" imgW="1652349" imgH="896684" progId="Visio.Drawing.11">
                  <p:embed/>
                </p:oleObj>
              </mc:Choice>
              <mc:Fallback>
                <p:oleObj name="Visio" r:id="rId3" imgW="1652349" imgH="89668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590906"/>
                        <a:ext cx="3246438" cy="1622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53" name="Rectangle 5"/>
          <p:cNvSpPr>
            <a:spLocks noChangeArrowheads="1"/>
          </p:cNvSpPr>
          <p:nvPr/>
        </p:nvSpPr>
        <p:spPr bwMode="auto">
          <a:xfrm>
            <a:off x="323850" y="765175"/>
            <a:ext cx="712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6.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开环工作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工作于饱和区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比较器 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Comparator</a:t>
            </a:r>
          </a:p>
        </p:txBody>
      </p:sp>
      <p:graphicFrame>
        <p:nvGraphicFramePr>
          <p:cNvPr id="11272" name="Object 6"/>
          <p:cNvGraphicFramePr>
            <a:graphicFrameLocks noChangeAspect="1"/>
          </p:cNvGraphicFramePr>
          <p:nvPr/>
        </p:nvGraphicFramePr>
        <p:xfrm>
          <a:off x="5422900" y="2840038"/>
          <a:ext cx="3721100" cy="390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Visio" r:id="rId5" imgW="1887236" imgH="1977676" progId="Visio.Drawing.11">
                  <p:embed/>
                </p:oleObj>
              </mc:Choice>
              <mc:Fallback>
                <p:oleObj name="Visio" r:id="rId5" imgW="1887236" imgH="197767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2840038"/>
                        <a:ext cx="3721100" cy="390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6" name="Object 8"/>
          <p:cNvGraphicFramePr>
            <a:graphicFrameLocks noChangeAspect="1"/>
          </p:cNvGraphicFramePr>
          <p:nvPr/>
        </p:nvGraphicFramePr>
        <p:xfrm>
          <a:off x="3851275" y="1717675"/>
          <a:ext cx="178117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Equation" r:id="rId7" imgW="773440" imgH="415372" progId="Equation.DSMT4">
                  <p:embed/>
                </p:oleObj>
              </mc:Choice>
              <mc:Fallback>
                <p:oleObj name="Equation" r:id="rId7" imgW="773440" imgH="41537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717675"/>
                        <a:ext cx="178117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8" name="Object 10"/>
          <p:cNvGraphicFramePr>
            <a:graphicFrameLocks noChangeAspect="1"/>
          </p:cNvGraphicFramePr>
          <p:nvPr/>
        </p:nvGraphicFramePr>
        <p:xfrm>
          <a:off x="395288" y="3302000"/>
          <a:ext cx="4464050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Visio" r:id="rId9" imgW="2134124" imgH="1486900" progId="Visio.Drawing.11">
                  <p:embed/>
                </p:oleObj>
              </mc:Choice>
              <mc:Fallback>
                <p:oleObj name="Visio" r:id="rId9" imgW="2134124" imgH="1486900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302000"/>
                        <a:ext cx="4464050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162969" y="1103386"/>
            <a:ext cx="1512167" cy="1800200"/>
            <a:chOff x="6928349" y="1046081"/>
            <a:chExt cx="1765754" cy="1828800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19048"/>
            <a:stretch/>
          </p:blipFill>
          <p:spPr>
            <a:xfrm>
              <a:off x="6928349" y="1046081"/>
              <a:ext cx="1765754" cy="182880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7611021" y="1307897"/>
              <a:ext cx="439754" cy="281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603237" y="2522456"/>
              <a:ext cx="540544" cy="281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175066" y="1088976"/>
            <a:ext cx="1512167" cy="1800200"/>
            <a:chOff x="6928349" y="1046081"/>
            <a:chExt cx="1765754" cy="1828800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19048"/>
            <a:stretch/>
          </p:blipFill>
          <p:spPr>
            <a:xfrm>
              <a:off x="6928349" y="1046081"/>
              <a:ext cx="1765754" cy="1828800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7611021" y="1307897"/>
              <a:ext cx="439754" cy="281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603236" y="2522456"/>
              <a:ext cx="447538" cy="281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/>
                <a:t>cc</a:t>
              </a:r>
              <a:endParaRPr lang="zh-CN" altLang="en-US" sz="1200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A52211-35A6-441B-9AD2-09CF366EE6D1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2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2CA0AF-0806-4766-BB79-56FA39945E67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grpSp>
        <p:nvGrpSpPr>
          <p:cNvPr id="110810" name="Group 218"/>
          <p:cNvGrpSpPr>
            <a:grpSpLocks/>
          </p:cNvGrpSpPr>
          <p:nvPr/>
        </p:nvGrpSpPr>
        <p:grpSpPr bwMode="auto">
          <a:xfrm>
            <a:off x="5486400" y="549275"/>
            <a:ext cx="3614738" cy="2286000"/>
            <a:chOff x="3456" y="1008"/>
            <a:chExt cx="2317" cy="1615"/>
          </a:xfrm>
        </p:grpSpPr>
        <p:graphicFrame>
          <p:nvGraphicFramePr>
            <p:cNvPr id="12308" name="Object 210"/>
            <p:cNvGraphicFramePr>
              <a:graphicFrameLocks noChangeAspect="1"/>
            </p:cNvGraphicFramePr>
            <p:nvPr/>
          </p:nvGraphicFramePr>
          <p:xfrm>
            <a:off x="3456" y="1008"/>
            <a:ext cx="1741" cy="16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64" name="Visio" r:id="rId3" imgW="1410605" imgH="1311592" progId="Visio.Drawing.11">
                    <p:embed/>
                  </p:oleObj>
                </mc:Choice>
                <mc:Fallback>
                  <p:oleObj name="Visio" r:id="rId3" imgW="1410605" imgH="1311592" progId="Visio.Drawing.11">
                    <p:embed/>
                    <p:pic>
                      <p:nvPicPr>
                        <p:cNvPr id="0" name="Object 2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008"/>
                          <a:ext cx="1741" cy="16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09" name="Group 214"/>
            <p:cNvGrpSpPr>
              <a:grpSpLocks/>
            </p:cNvGrpSpPr>
            <p:nvPr/>
          </p:nvGrpSpPr>
          <p:grpSpPr bwMode="auto">
            <a:xfrm>
              <a:off x="5101" y="1908"/>
              <a:ext cx="672" cy="591"/>
              <a:chOff x="2077" y="1821"/>
              <a:chExt cx="672" cy="591"/>
            </a:xfrm>
          </p:grpSpPr>
          <p:graphicFrame>
            <p:nvGraphicFramePr>
              <p:cNvPr id="12310" name="Object 215"/>
              <p:cNvGraphicFramePr>
                <a:graphicFrameLocks noChangeAspect="1"/>
              </p:cNvGraphicFramePr>
              <p:nvPr/>
            </p:nvGraphicFramePr>
            <p:xfrm>
              <a:off x="2077" y="1821"/>
              <a:ext cx="672" cy="5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65" name="Flash Movie" r:id="rId5" imgW="799560" imgH="703440" progId="Flash.Movie">
                      <p:embed/>
                    </p:oleObj>
                  </mc:Choice>
                  <mc:Fallback>
                    <p:oleObj name="Flash Movie" r:id="rId5" imgW="799560" imgH="703440" progId="Flash.Movie">
                      <p:embed/>
                      <p:pic>
                        <p:nvPicPr>
                          <p:cNvPr id="0" name="Object 2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7" y="1821"/>
                            <a:ext cx="672" cy="5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11" name="Line 216"/>
              <p:cNvSpPr>
                <a:spLocks noChangeShapeType="1"/>
              </p:cNvSpPr>
              <p:nvPr/>
            </p:nvSpPr>
            <p:spPr bwMode="auto">
              <a:xfrm flipV="1">
                <a:off x="2406" y="1857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10811" name="Object 219"/>
          <p:cNvGraphicFramePr>
            <a:graphicFrameLocks noChangeAspect="1"/>
          </p:cNvGraphicFramePr>
          <p:nvPr/>
        </p:nvGraphicFramePr>
        <p:xfrm>
          <a:off x="174625" y="3284538"/>
          <a:ext cx="4183063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6" name="公式" r:id="rId7" imgW="2413000" imgH="914400" progId="Equation.3">
                  <p:embed/>
                </p:oleObj>
              </mc:Choice>
              <mc:Fallback>
                <p:oleObj name="公式" r:id="rId7" imgW="2413000" imgH="914400" progId="Equation.3">
                  <p:embed/>
                  <p:pic>
                    <p:nvPicPr>
                      <p:cNvPr id="0" name="Object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" y="3284538"/>
                        <a:ext cx="4183063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812" name="Object 220"/>
          <p:cNvGraphicFramePr>
            <a:graphicFrameLocks noChangeAspect="1"/>
          </p:cNvGraphicFramePr>
          <p:nvPr/>
        </p:nvGraphicFramePr>
        <p:xfrm>
          <a:off x="93663" y="5059363"/>
          <a:ext cx="6078537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7" name="Equation" r:id="rId9" imgW="3505200" imgH="838200" progId="Equation.3">
                  <p:embed/>
                </p:oleObj>
              </mc:Choice>
              <mc:Fallback>
                <p:oleObj name="Equation" r:id="rId9" imgW="3505200" imgH="838200" progId="Equation.3">
                  <p:embed/>
                  <p:pic>
                    <p:nvPicPr>
                      <p:cNvPr id="0" name="Object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3" y="5059363"/>
                        <a:ext cx="6078537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813" name="Object 221"/>
          <p:cNvGraphicFramePr>
            <a:graphicFrameLocks noChangeAspect="1"/>
          </p:cNvGraphicFramePr>
          <p:nvPr/>
        </p:nvGraphicFramePr>
        <p:xfrm>
          <a:off x="5724525" y="4579938"/>
          <a:ext cx="839788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8" name="Equation" r:id="rId11" imgW="482181" imgH="177646" progId="Equation.3">
                  <p:embed/>
                </p:oleObj>
              </mc:Choice>
              <mc:Fallback>
                <p:oleObj name="Equation" r:id="rId11" imgW="482181" imgH="177646" progId="Equation.3">
                  <p:embed/>
                  <p:pic>
                    <p:nvPicPr>
                      <p:cNvPr id="0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579938"/>
                        <a:ext cx="839788" cy="309562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814" name="Object 222"/>
          <p:cNvGraphicFramePr>
            <a:graphicFrameLocks noChangeAspect="1"/>
          </p:cNvGraphicFramePr>
          <p:nvPr/>
        </p:nvGraphicFramePr>
        <p:xfrm>
          <a:off x="6732588" y="4335463"/>
          <a:ext cx="22002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9" name="Equation" r:id="rId13" imgW="1269449" imgH="431613" progId="Equation.3">
                  <p:embed/>
                </p:oleObj>
              </mc:Choice>
              <mc:Fallback>
                <p:oleObj name="Equation" r:id="rId13" imgW="1269449" imgH="431613" progId="Equation.3">
                  <p:embed/>
                  <p:pic>
                    <p:nvPicPr>
                      <p:cNvPr id="0" name="Object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335463"/>
                        <a:ext cx="22002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815" name="Object 223"/>
          <p:cNvGraphicFramePr>
            <a:graphicFrameLocks noChangeAspect="1"/>
          </p:cNvGraphicFramePr>
          <p:nvPr/>
        </p:nvGraphicFramePr>
        <p:xfrm>
          <a:off x="6459538" y="2997200"/>
          <a:ext cx="207010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0" name="Equation" r:id="rId15" imgW="1193800" imgH="698500" progId="Equation.DSMT4">
                  <p:embed/>
                </p:oleObj>
              </mc:Choice>
              <mc:Fallback>
                <p:oleObj name="Equation" r:id="rId15" imgW="1193800" imgH="698500" progId="Equation.DSMT4">
                  <p:embed/>
                  <p:pic>
                    <p:nvPicPr>
                      <p:cNvPr id="0" name="Object 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2997200"/>
                        <a:ext cx="2070100" cy="12112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820" name="Group 228"/>
          <p:cNvGrpSpPr>
            <a:grpSpLocks/>
          </p:cNvGrpSpPr>
          <p:nvPr/>
        </p:nvGrpSpPr>
        <p:grpSpPr bwMode="auto">
          <a:xfrm>
            <a:off x="685800" y="4951413"/>
            <a:ext cx="5181600" cy="1638300"/>
            <a:chOff x="432" y="3192"/>
            <a:chExt cx="3264" cy="1032"/>
          </a:xfrm>
        </p:grpSpPr>
        <p:sp>
          <p:nvSpPr>
            <p:cNvPr id="12306" name="Rectangle 225"/>
            <p:cNvSpPr>
              <a:spLocks noChangeArrowheads="1"/>
            </p:cNvSpPr>
            <p:nvPr/>
          </p:nvSpPr>
          <p:spPr bwMode="auto">
            <a:xfrm>
              <a:off x="2400" y="3192"/>
              <a:ext cx="9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hlink"/>
                  </a:solidFill>
                  <a:latin typeface="华文中宋" panose="02010600040101010101" pitchFamily="2" charset="-122"/>
                </a:rPr>
                <a:t>闭环增益 </a:t>
              </a:r>
              <a:r>
                <a:rPr lang="en-US" altLang="zh-CN" sz="2000" i="1">
                  <a:solidFill>
                    <a:schemeClr val="hlink"/>
                  </a:solidFill>
                  <a:latin typeface="华文中宋" panose="02010600040101010101" pitchFamily="2" charset="-122"/>
                </a:rPr>
                <a:t>G</a:t>
              </a:r>
            </a:p>
          </p:txBody>
        </p:sp>
        <p:sp>
          <p:nvSpPr>
            <p:cNvPr id="12307" name="Rectangle 226"/>
            <p:cNvSpPr>
              <a:spLocks noChangeArrowheads="1"/>
            </p:cNvSpPr>
            <p:nvPr/>
          </p:nvSpPr>
          <p:spPr bwMode="auto">
            <a:xfrm>
              <a:off x="432" y="3264"/>
              <a:ext cx="3264" cy="960"/>
            </a:xfrm>
            <a:prstGeom prst="rect">
              <a:avLst/>
            </a:prstGeom>
            <a:noFill/>
            <a:ln w="952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aphicFrame>
        <p:nvGraphicFramePr>
          <p:cNvPr id="110822" name="Object 2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170016"/>
              </p:ext>
            </p:extLst>
          </p:nvPr>
        </p:nvGraphicFramePr>
        <p:xfrm>
          <a:off x="6764337" y="5389563"/>
          <a:ext cx="94456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1" name="Equation" r:id="rId17" imgW="545760" imgH="457200" progId="Equation.DSMT4">
                  <p:embed/>
                </p:oleObj>
              </mc:Choice>
              <mc:Fallback>
                <p:oleObj name="Equation" r:id="rId17" imgW="545760" imgH="457200" progId="Equation.DSMT4">
                  <p:embed/>
                  <p:pic>
                    <p:nvPicPr>
                      <p:cNvPr id="0" name="Object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4337" y="5389563"/>
                        <a:ext cx="944563" cy="793750"/>
                      </a:xfrm>
                      <a:prstGeom prst="rect">
                        <a:avLst/>
                      </a:prstGeom>
                      <a:noFill/>
                      <a:ln w="9525" algn="ctr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823" name="Rectangle 231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5.1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operational amplifiers</a:t>
            </a:r>
          </a:p>
        </p:txBody>
      </p:sp>
      <p:sp>
        <p:nvSpPr>
          <p:cNvPr id="110824" name="Rectangle 232"/>
          <p:cNvSpPr>
            <a:spLocks noChangeArrowheads="1"/>
          </p:cNvSpPr>
          <p:nvPr/>
        </p:nvSpPr>
        <p:spPr bwMode="auto">
          <a:xfrm>
            <a:off x="4140200" y="995363"/>
            <a:ext cx="1368425" cy="279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  <a:ea typeface="隶书" panose="02010509060101010101" pitchFamily="49" charset="-122"/>
              </a:rPr>
              <a:t>A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=50000</a:t>
            </a:r>
            <a:r>
              <a:rPr lang="en-US" altLang="zh-CN" i="1" dirty="0">
                <a:solidFill>
                  <a:schemeClr val="accent2"/>
                </a:solidFill>
                <a:ea typeface="隶书" panose="02010509060101010101" pitchFamily="49" charset="-122"/>
              </a:rPr>
              <a:t>R</a:t>
            </a:r>
            <a:r>
              <a:rPr lang="en-US" altLang="zh-CN" baseline="-25000" dirty="0">
                <a:solidFill>
                  <a:schemeClr val="accent2"/>
                </a:solidFill>
                <a:ea typeface="隶书" panose="02010509060101010101" pitchFamily="49" charset="-122"/>
              </a:rPr>
              <a:t>i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=2M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  <a:sym typeface="Symbol" panose="05050102010706020507" pitchFamily="18" charset="2"/>
              </a:rPr>
              <a:t></a:t>
            </a:r>
            <a:r>
              <a:rPr lang="en-US" altLang="zh-CN" i="1" dirty="0">
                <a:solidFill>
                  <a:schemeClr val="accent2"/>
                </a:solidFill>
                <a:ea typeface="隶书" panose="020105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chemeClr val="accent2"/>
                </a:solidFill>
                <a:ea typeface="隶书" panose="02010509060101010101" pitchFamily="49" charset="-122"/>
              </a:rPr>
              <a:t>o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=100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  <a:sym typeface="Symbol" panose="05050102010706020507" pitchFamily="18" charset="2"/>
              </a:rPr>
              <a:t>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  <a:ea typeface="隶书" panose="02010509060101010101" pitchFamily="49" charset="-122"/>
              </a:rPr>
              <a:t>u</a:t>
            </a:r>
            <a:r>
              <a:rPr lang="en-US" altLang="zh-CN" baseline="-25000" dirty="0">
                <a:solidFill>
                  <a:schemeClr val="accent2"/>
                </a:solidFill>
                <a:ea typeface="隶书" panose="02010509060101010101" pitchFamily="49" charset="-122"/>
              </a:rPr>
              <a:t>s 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=5V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  <a:ea typeface="隶书" panose="02010509060101010101" pitchFamily="49" charset="-122"/>
              </a:rPr>
              <a:t>R</a:t>
            </a:r>
            <a:r>
              <a:rPr lang="en-US" altLang="zh-CN" baseline="-25000" dirty="0">
                <a:solidFill>
                  <a:schemeClr val="accent2"/>
                </a:solidFill>
                <a:ea typeface="隶书" panose="02010509060101010101" pitchFamily="49" charset="-122"/>
              </a:rPr>
              <a:t>1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=100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  <a:sym typeface="Symbol" panose="05050102010706020507" pitchFamily="18" charset="2"/>
              </a:rPr>
              <a:t></a:t>
            </a:r>
            <a:r>
              <a:rPr lang="en-US" altLang="zh-CN" i="1" dirty="0">
                <a:solidFill>
                  <a:schemeClr val="accent2"/>
                </a:solidFill>
                <a:ea typeface="隶书" panose="02010509060101010101" pitchFamily="49" charset="-122"/>
              </a:rPr>
              <a:t>R</a:t>
            </a:r>
            <a:r>
              <a:rPr lang="en-US" altLang="zh-CN" baseline="-25000" dirty="0">
                <a:solidFill>
                  <a:schemeClr val="accent2"/>
                </a:solidFill>
                <a:ea typeface="隶书" panose="02010509060101010101" pitchFamily="49" charset="-122"/>
              </a:rPr>
              <a:t>2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=200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  <a:sym typeface="Symbol" panose="05050102010706020507" pitchFamily="18" charset="2"/>
              </a:rPr>
              <a:t></a:t>
            </a:r>
            <a:r>
              <a:rPr lang="en-US" altLang="zh-CN" i="1" dirty="0">
                <a:solidFill>
                  <a:schemeClr val="accent2"/>
                </a:solidFill>
                <a:ea typeface="隶书" panose="02010509060101010101" pitchFamily="49" charset="-122"/>
              </a:rPr>
              <a:t>R</a:t>
            </a:r>
            <a:r>
              <a:rPr lang="en-US" altLang="zh-CN" baseline="-25000" dirty="0">
                <a:solidFill>
                  <a:schemeClr val="accent2"/>
                </a:solidFill>
                <a:ea typeface="隶书" panose="02010509060101010101" pitchFamily="49" charset="-122"/>
              </a:rPr>
              <a:t>L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=200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  <a:sym typeface="Symbol" panose="05050102010706020507" pitchFamily="18" charset="2"/>
              </a:rPr>
              <a:t></a:t>
            </a:r>
          </a:p>
        </p:txBody>
      </p:sp>
      <p:sp>
        <p:nvSpPr>
          <p:cNvPr id="110825" name="Rectangle 233"/>
          <p:cNvSpPr>
            <a:spLocks noChangeArrowheads="1"/>
          </p:cNvSpPr>
          <p:nvPr/>
        </p:nvSpPr>
        <p:spPr bwMode="auto">
          <a:xfrm>
            <a:off x="323850" y="620713"/>
            <a:ext cx="7777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6.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闭环工作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工作于线性区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放大器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8992" y="1044635"/>
            <a:ext cx="3829595" cy="2145446"/>
            <a:chOff x="108992" y="1044635"/>
            <a:chExt cx="3829595" cy="2145446"/>
          </a:xfrm>
        </p:grpSpPr>
        <p:grpSp>
          <p:nvGrpSpPr>
            <p:cNvPr id="5" name="组合 4"/>
            <p:cNvGrpSpPr/>
            <p:nvPr/>
          </p:nvGrpSpPr>
          <p:grpSpPr>
            <a:xfrm>
              <a:off x="140404" y="1044635"/>
              <a:ext cx="3798183" cy="2145446"/>
              <a:chOff x="140404" y="1044635"/>
              <a:chExt cx="3798183" cy="2145446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40404" y="1123156"/>
                <a:ext cx="3798183" cy="2066925"/>
                <a:chOff x="140404" y="1123156"/>
                <a:chExt cx="3798183" cy="2066925"/>
              </a:xfrm>
            </p:grpSpPr>
            <p:grpSp>
              <p:nvGrpSpPr>
                <p:cNvPr id="12313" name="Group 213"/>
                <p:cNvGrpSpPr>
                  <a:grpSpLocks/>
                </p:cNvGrpSpPr>
                <p:nvPr/>
              </p:nvGrpSpPr>
              <p:grpSpPr bwMode="auto">
                <a:xfrm>
                  <a:off x="2890204" y="2186230"/>
                  <a:ext cx="1048383" cy="836549"/>
                  <a:chOff x="2077" y="1815"/>
                  <a:chExt cx="672" cy="591"/>
                </a:xfrm>
              </p:grpSpPr>
              <p:graphicFrame>
                <p:nvGraphicFramePr>
                  <p:cNvPr id="12314" name="Object 211"/>
                  <p:cNvGraphicFramePr>
                    <a:graphicFrameLocks noChangeAspect="1"/>
                  </p:cNvGraphicFramePr>
                  <p:nvPr/>
                </p:nvGraphicFramePr>
                <p:xfrm>
                  <a:off x="2077" y="1815"/>
                  <a:ext cx="672" cy="59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572" name="Flash Movie" r:id="rId19" imgW="799560" imgH="703440" progId="Flash.Movie">
                          <p:embed/>
                        </p:oleObj>
                      </mc:Choice>
                      <mc:Fallback>
                        <p:oleObj name="Flash Movie" r:id="rId19" imgW="799560" imgH="703440" progId="Flash.Movie">
                          <p:embed/>
                          <p:pic>
                            <p:nvPicPr>
                              <p:cNvPr id="0" name="Object 21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77" y="1815"/>
                                <a:ext cx="672" cy="59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2315" name="Line 2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6" y="1851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pic>
              <p:nvPicPr>
                <p:cNvPr id="2" name="图片 1"/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BEBA8EAE-BF5A-486C-A8C5-ECC9F3942E4B}">
                      <a14:imgProps xmlns:a14="http://schemas.microsoft.com/office/drawing/2010/main">
                        <a14:imgLayer r:embed="rId21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404" y="1123156"/>
                  <a:ext cx="3136196" cy="2066925"/>
                </a:xfrm>
                <a:prstGeom prst="rect">
                  <a:avLst/>
                </a:prstGeom>
              </p:spPr>
            </p:pic>
          </p:grpSp>
          <p:sp>
            <p:nvSpPr>
              <p:cNvPr id="3" name="文本框 2"/>
              <p:cNvSpPr txBox="1"/>
              <p:nvPr/>
            </p:nvSpPr>
            <p:spPr>
              <a:xfrm>
                <a:off x="854006" y="1772816"/>
                <a:ext cx="2616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</a:t>
                </a:r>
                <a:endParaRPr lang="zh-CN" altLang="en-US" sz="1200" dirty="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895641" y="1044635"/>
                <a:ext cx="35618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i="1" dirty="0"/>
                  <a:t>R</a:t>
                </a:r>
                <a:r>
                  <a:rPr lang="en-US" altLang="zh-CN" sz="1600" i="1" baseline="-25000" dirty="0"/>
                  <a:t>2</a:t>
                </a:r>
                <a:endParaRPr lang="zh-CN" altLang="en-US" sz="1600" i="1" baseline="-25000" dirty="0"/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08992" y="2358283"/>
              <a:ext cx="174626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i="1" dirty="0"/>
                <a:t>u</a:t>
              </a:r>
              <a:r>
                <a:rPr lang="en-US" altLang="zh-CN" sz="1600" i="1" baseline="-25000" dirty="0"/>
                <a:t>s</a:t>
              </a:r>
              <a:endParaRPr lang="zh-CN" altLang="en-US" sz="1600" i="1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0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0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0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0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1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1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1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C793AE-6D8F-4B74-A29F-03654DC56590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B815C-DC5A-4815-9C38-4B7A59D20E14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graphicFrame>
        <p:nvGraphicFramePr>
          <p:cNvPr id="13317" name="Object 10"/>
          <p:cNvGraphicFramePr>
            <a:graphicFrameLocks noChangeAspect="1"/>
          </p:cNvGraphicFramePr>
          <p:nvPr/>
        </p:nvGraphicFramePr>
        <p:xfrm>
          <a:off x="323850" y="1628775"/>
          <a:ext cx="4102100" cy="253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3" name="Visio" r:id="rId3" imgW="1741932" imgH="1078849" progId="Visio.Drawing.11">
                  <p:embed/>
                </p:oleObj>
              </mc:Choice>
              <mc:Fallback>
                <p:oleObj name="Visio" r:id="rId3" imgW="1741932" imgH="1078849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628775"/>
                        <a:ext cx="4102100" cy="253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11"/>
          <p:cNvSpPr>
            <a:spLocks noChangeArrowheads="1"/>
          </p:cNvSpPr>
          <p:nvPr/>
        </p:nvSpPr>
        <p:spPr bwMode="auto">
          <a:xfrm>
            <a:off x="611188" y="102711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负反馈：</a:t>
            </a:r>
          </a:p>
        </p:txBody>
      </p:sp>
      <p:grpSp>
        <p:nvGrpSpPr>
          <p:cNvPr id="13319" name="Group 14"/>
          <p:cNvGrpSpPr>
            <a:grpSpLocks/>
          </p:cNvGrpSpPr>
          <p:nvPr/>
        </p:nvGrpSpPr>
        <p:grpSpPr bwMode="auto">
          <a:xfrm>
            <a:off x="539750" y="4848225"/>
            <a:ext cx="7580313" cy="525463"/>
            <a:chOff x="0" y="2739"/>
            <a:chExt cx="4775" cy="331"/>
          </a:xfrm>
        </p:grpSpPr>
        <p:graphicFrame>
          <p:nvGraphicFramePr>
            <p:cNvPr id="13329" name="Object 12"/>
            <p:cNvGraphicFramePr>
              <a:graphicFrameLocks noChangeAspect="1"/>
            </p:cNvGraphicFramePr>
            <p:nvPr/>
          </p:nvGraphicFramePr>
          <p:xfrm>
            <a:off x="487" y="2750"/>
            <a:ext cx="428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4" name="Equation" r:id="rId5" imgW="3387201" imgH="239937" progId="Equation.DSMT4">
                    <p:embed/>
                  </p:oleObj>
                </mc:Choice>
                <mc:Fallback>
                  <p:oleObj name="Equation" r:id="rId5" imgW="3387201" imgH="239937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" y="2750"/>
                          <a:ext cx="428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0" name="Rectangle 13"/>
            <p:cNvSpPr>
              <a:spLocks noChangeArrowheads="1"/>
            </p:cNvSpPr>
            <p:nvPr/>
          </p:nvSpPr>
          <p:spPr bwMode="auto">
            <a:xfrm>
              <a:off x="0" y="2739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rgbClr val="CC33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扰动</a:t>
              </a:r>
            </a:p>
          </p:txBody>
        </p:sp>
      </p:grpSp>
      <p:graphicFrame>
        <p:nvGraphicFramePr>
          <p:cNvPr id="13320" name="Object 15"/>
          <p:cNvGraphicFramePr>
            <a:graphicFrameLocks noChangeAspect="1"/>
          </p:cNvGraphicFramePr>
          <p:nvPr/>
        </p:nvGraphicFramePr>
        <p:xfrm>
          <a:off x="4787900" y="1628775"/>
          <a:ext cx="4102100" cy="253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5" name="Visio" r:id="rId7" imgW="1741932" imgH="1078849" progId="Visio.Drawing.11">
                  <p:embed/>
                </p:oleObj>
              </mc:Choice>
              <mc:Fallback>
                <p:oleObj name="Visio" r:id="rId7" imgW="1741932" imgH="1078849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628775"/>
                        <a:ext cx="4102100" cy="253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16"/>
          <p:cNvSpPr>
            <a:spLocks noChangeArrowheads="1"/>
          </p:cNvSpPr>
          <p:nvPr/>
        </p:nvSpPr>
        <p:spPr bwMode="auto">
          <a:xfrm>
            <a:off x="5219700" y="102711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正反馈：</a:t>
            </a:r>
          </a:p>
        </p:txBody>
      </p:sp>
      <p:grpSp>
        <p:nvGrpSpPr>
          <p:cNvPr id="13322" name="Group 20"/>
          <p:cNvGrpSpPr>
            <a:grpSpLocks/>
          </p:cNvGrpSpPr>
          <p:nvPr/>
        </p:nvGrpSpPr>
        <p:grpSpPr bwMode="auto">
          <a:xfrm>
            <a:off x="539750" y="5711825"/>
            <a:ext cx="8305800" cy="525463"/>
            <a:chOff x="340" y="3339"/>
            <a:chExt cx="5232" cy="331"/>
          </a:xfrm>
        </p:grpSpPr>
        <p:graphicFrame>
          <p:nvGraphicFramePr>
            <p:cNvPr id="13327" name="Object 18"/>
            <p:cNvGraphicFramePr>
              <a:graphicFrameLocks noChangeAspect="1"/>
            </p:cNvGraphicFramePr>
            <p:nvPr/>
          </p:nvGraphicFramePr>
          <p:xfrm>
            <a:off x="948" y="3350"/>
            <a:ext cx="462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6" name="Equation" r:id="rId9" imgW="3653713" imgH="239937" progId="Equation.DSMT4">
                    <p:embed/>
                  </p:oleObj>
                </mc:Choice>
                <mc:Fallback>
                  <p:oleObj name="Equation" r:id="rId9" imgW="3653713" imgH="239937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8" y="3350"/>
                          <a:ext cx="4624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Rectangle 19"/>
            <p:cNvSpPr>
              <a:spLocks noChangeArrowheads="1"/>
            </p:cNvSpPr>
            <p:nvPr/>
          </p:nvSpPr>
          <p:spPr bwMode="auto">
            <a:xfrm>
              <a:off x="340" y="3339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rgbClr val="CC33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扰动</a:t>
              </a:r>
            </a:p>
          </p:txBody>
        </p:sp>
      </p:grpSp>
      <p:sp>
        <p:nvSpPr>
          <p:cNvPr id="13323" name="Rectangle 21"/>
          <p:cNvSpPr>
            <a:spLocks noChangeArrowheads="1"/>
          </p:cNvSpPr>
          <p:nvPr/>
        </p:nvSpPr>
        <p:spPr bwMode="auto">
          <a:xfrm>
            <a:off x="323850" y="5373688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正反馈：</a:t>
            </a:r>
          </a:p>
        </p:txBody>
      </p:sp>
      <p:sp>
        <p:nvSpPr>
          <p:cNvPr id="13324" name="Rectangle 22"/>
          <p:cNvSpPr>
            <a:spLocks noChangeArrowheads="1"/>
          </p:cNvSpPr>
          <p:nvPr/>
        </p:nvSpPr>
        <p:spPr bwMode="auto">
          <a:xfrm>
            <a:off x="250825" y="443706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负反馈：</a:t>
            </a:r>
          </a:p>
        </p:txBody>
      </p:sp>
      <p:sp>
        <p:nvSpPr>
          <p:cNvPr id="18" name="Rectangle 231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5.1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集成运算放大器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operational amplifiers</a:t>
            </a:r>
          </a:p>
        </p:txBody>
      </p:sp>
      <p:sp>
        <p:nvSpPr>
          <p:cNvPr id="19" name="Rectangle 233"/>
          <p:cNvSpPr>
            <a:spLocks noChangeArrowheads="1"/>
          </p:cNvSpPr>
          <p:nvPr/>
        </p:nvSpPr>
        <p:spPr bwMode="auto">
          <a:xfrm>
            <a:off x="323850" y="620713"/>
            <a:ext cx="7777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7.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正反馈与负反馈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2" name="Text Box 4"/>
          <p:cNvSpPr txBox="1">
            <a:spLocks noChangeArrowheads="1"/>
          </p:cNvSpPr>
          <p:nvPr/>
        </p:nvSpPr>
        <p:spPr bwMode="auto">
          <a:xfrm>
            <a:off x="612775" y="1022350"/>
            <a:ext cx="707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线性放大区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，将运放电路作如下的理想化处理：  </a:t>
            </a:r>
          </a:p>
        </p:txBody>
      </p:sp>
      <p:sp>
        <p:nvSpPr>
          <p:cNvPr id="519173" name="Text Box 5"/>
          <p:cNvSpPr txBox="1">
            <a:spLocks noChangeArrowheads="1"/>
          </p:cNvSpPr>
          <p:nvPr/>
        </p:nvSpPr>
        <p:spPr bwMode="auto">
          <a:xfrm>
            <a:off x="1579563" y="1308100"/>
            <a:ext cx="1628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(1)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  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19174" name="Rectangle 6"/>
          <p:cNvSpPr>
            <a:spLocks noChangeArrowheads="1"/>
          </p:cNvSpPr>
          <p:nvPr/>
        </p:nvSpPr>
        <p:spPr bwMode="auto">
          <a:xfrm>
            <a:off x="1003300" y="1744663"/>
            <a:ext cx="767870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        ∵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为有限值，则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=0 ,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即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sym typeface="Wingdings 3" panose="05040102010807070707" pitchFamily="18" charset="2"/>
              </a:rPr>
              <a:t>u</a:t>
            </a:r>
            <a:r>
              <a:rPr lang="en-US" altLang="zh-CN" sz="2400" b="1" baseline="-25000" dirty="0" err="1">
                <a:latin typeface="宋体" panose="02010600030101010101" pitchFamily="2" charset="-122"/>
                <a:sym typeface="Wingdings 3" panose="05040102010807070707" pitchFamily="18" charset="2"/>
              </a:rPr>
              <a:t>P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=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Wingdings 3" panose="05040102010807070707" pitchFamily="18" charset="2"/>
              </a:rPr>
              <a:t>u</a:t>
            </a:r>
            <a:r>
              <a:rPr lang="en-US" altLang="zh-CN" sz="2400" b="1" baseline="-25000" dirty="0">
                <a:latin typeface="宋体" panose="02010600030101010101" pitchFamily="2" charset="-122"/>
                <a:sym typeface="Wingdings 3" panose="05040102010807070707" pitchFamily="18" charset="2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，两个输入端之间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相当于短路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虚短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；  </a:t>
            </a:r>
          </a:p>
        </p:txBody>
      </p:sp>
      <p:sp>
        <p:nvSpPr>
          <p:cNvPr id="519175" name="Rectangle 7"/>
          <p:cNvSpPr>
            <a:spLocks noChangeArrowheads="1"/>
          </p:cNvSpPr>
          <p:nvPr/>
        </p:nvSpPr>
        <p:spPr bwMode="auto">
          <a:xfrm>
            <a:off x="974725" y="2689225"/>
            <a:ext cx="7623924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(2) 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 </a:t>
            </a:r>
            <a:r>
              <a:rPr kumimoji="1"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0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=0 , 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baseline="-25000" dirty="0">
                <a:latin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即从输入端看进去，元件相当于开路（虚断）。  </a:t>
            </a:r>
          </a:p>
        </p:txBody>
      </p:sp>
      <p:grpSp>
        <p:nvGrpSpPr>
          <p:cNvPr id="519176" name="Group 8"/>
          <p:cNvGrpSpPr>
            <a:grpSpLocks/>
          </p:cNvGrpSpPr>
          <p:nvPr/>
        </p:nvGrpSpPr>
        <p:grpSpPr bwMode="auto">
          <a:xfrm>
            <a:off x="5927154" y="3441700"/>
            <a:ext cx="2813050" cy="2568575"/>
            <a:chOff x="3036" y="2462"/>
            <a:chExt cx="1772" cy="1618"/>
          </a:xfrm>
        </p:grpSpPr>
        <p:sp>
          <p:nvSpPr>
            <p:cNvPr id="519177" name="Text Box 9"/>
            <p:cNvSpPr txBox="1">
              <a:spLocks noChangeArrowheads="1"/>
            </p:cNvSpPr>
            <p:nvPr/>
          </p:nvSpPr>
          <p:spPr bwMode="auto">
            <a:xfrm>
              <a:off x="3710" y="2462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9178" name="Line 10"/>
            <p:cNvSpPr>
              <a:spLocks noChangeShapeType="1"/>
            </p:cNvSpPr>
            <p:nvPr/>
          </p:nvSpPr>
          <p:spPr bwMode="auto">
            <a:xfrm>
              <a:off x="3036" y="339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179" name="Line 11"/>
            <p:cNvSpPr>
              <a:spLocks noChangeShapeType="1"/>
            </p:cNvSpPr>
            <p:nvPr/>
          </p:nvSpPr>
          <p:spPr bwMode="auto">
            <a:xfrm flipV="1">
              <a:off x="3732" y="2616"/>
              <a:ext cx="0" cy="1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180" name="Text Box 12"/>
            <p:cNvSpPr txBox="1">
              <a:spLocks noChangeArrowheads="1"/>
            </p:cNvSpPr>
            <p:nvPr/>
          </p:nvSpPr>
          <p:spPr bwMode="auto">
            <a:xfrm>
              <a:off x="4514" y="3146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d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9181" name="Text Box 13"/>
            <p:cNvSpPr txBox="1">
              <a:spLocks noChangeArrowheads="1"/>
            </p:cNvSpPr>
            <p:nvPr/>
          </p:nvSpPr>
          <p:spPr bwMode="auto">
            <a:xfrm>
              <a:off x="3722" y="337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9182" name="Text Box 14"/>
          <p:cNvSpPr txBox="1">
            <a:spLocks noChangeArrowheads="1"/>
          </p:cNvSpPr>
          <p:nvPr/>
        </p:nvSpPr>
        <p:spPr bwMode="auto">
          <a:xfrm>
            <a:off x="6406579" y="3917950"/>
            <a:ext cx="65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sat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19183" name="Text Box 15"/>
          <p:cNvSpPr txBox="1">
            <a:spLocks noChangeArrowheads="1"/>
          </p:cNvSpPr>
          <p:nvPr/>
        </p:nvSpPr>
        <p:spPr bwMode="auto">
          <a:xfrm>
            <a:off x="6997129" y="5365750"/>
            <a:ext cx="80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sat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19184" name="Text Box 16"/>
          <p:cNvSpPr txBox="1">
            <a:spLocks noChangeArrowheads="1"/>
          </p:cNvSpPr>
          <p:nvPr/>
        </p:nvSpPr>
        <p:spPr bwMode="auto">
          <a:xfrm>
            <a:off x="5984304" y="6200775"/>
            <a:ext cx="3094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理想运放的静态特性  </a:t>
            </a:r>
          </a:p>
        </p:txBody>
      </p:sp>
      <p:sp>
        <p:nvSpPr>
          <p:cNvPr id="519186" name="Freeform 18"/>
          <p:cNvSpPr>
            <a:spLocks/>
          </p:cNvSpPr>
          <p:nvPr/>
        </p:nvSpPr>
        <p:spPr bwMode="auto">
          <a:xfrm>
            <a:off x="6165279" y="4248150"/>
            <a:ext cx="1733550" cy="1333500"/>
          </a:xfrm>
          <a:custGeom>
            <a:avLst/>
            <a:gdLst>
              <a:gd name="T0" fmla="*/ 0 w 1092"/>
              <a:gd name="T1" fmla="*/ 840 h 840"/>
              <a:gd name="T2" fmla="*/ 552 w 1092"/>
              <a:gd name="T3" fmla="*/ 840 h 840"/>
              <a:gd name="T4" fmla="*/ 552 w 1092"/>
              <a:gd name="T5" fmla="*/ 0 h 840"/>
              <a:gd name="T6" fmla="*/ 1092 w 1092"/>
              <a:gd name="T7" fmla="*/ 0 h 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92" h="840">
                <a:moveTo>
                  <a:pt x="0" y="840"/>
                </a:moveTo>
                <a:lnTo>
                  <a:pt x="552" y="840"/>
                </a:lnTo>
                <a:lnTo>
                  <a:pt x="552" y="0"/>
                </a:lnTo>
                <a:lnTo>
                  <a:pt x="1092" y="0"/>
                </a:lnTo>
              </a:path>
            </a:pathLst>
          </a:custGeom>
          <a:noFill/>
          <a:ln w="3175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187" name="Text Box 19"/>
          <p:cNvSpPr txBox="1">
            <a:spLocks noChangeArrowheads="1"/>
          </p:cNvSpPr>
          <p:nvPr/>
        </p:nvSpPr>
        <p:spPr bwMode="auto">
          <a:xfrm>
            <a:off x="7527354" y="3609975"/>
            <a:ext cx="158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正向饱和区  </a:t>
            </a:r>
          </a:p>
          <a:p>
            <a:r>
              <a:rPr kumimoji="1" lang="zh-CN" altLang="en-US" sz="2000" b="1" dirty="0">
                <a:latin typeface="Times New Roman" panose="02020603050405020304" pitchFamily="18" charset="0"/>
              </a:rPr>
              <a:t>       </a:t>
            </a:r>
            <a:r>
              <a:rPr kumimoji="1" lang="en-US" altLang="zh-CN" sz="20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&gt;0  </a:t>
            </a:r>
          </a:p>
        </p:txBody>
      </p:sp>
      <p:sp>
        <p:nvSpPr>
          <p:cNvPr id="519188" name="Text Box 20"/>
          <p:cNvSpPr txBox="1">
            <a:spLocks noChangeArrowheads="1"/>
          </p:cNvSpPr>
          <p:nvPr/>
        </p:nvSpPr>
        <p:spPr bwMode="auto">
          <a:xfrm>
            <a:off x="5508054" y="5572125"/>
            <a:ext cx="158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</a:rPr>
              <a:t>反向饱和区  </a:t>
            </a:r>
          </a:p>
          <a:p>
            <a:r>
              <a:rPr kumimoji="1" lang="zh-CN" altLang="en-US" sz="2000" b="1">
                <a:latin typeface="Times New Roman" panose="02020603050405020304" pitchFamily="18" charset="0"/>
              </a:rPr>
              <a:t>      </a:t>
            </a:r>
            <a:r>
              <a:rPr kumimoji="1" lang="en-US" altLang="zh-CN" sz="20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>
                <a:latin typeface="Times New Roman" panose="02020603050405020304" pitchFamily="18" charset="0"/>
              </a:rPr>
              <a:t>d</a:t>
            </a:r>
            <a:r>
              <a:rPr kumimoji="1" lang="en-US" altLang="zh-CN" sz="2000" b="1">
                <a:latin typeface="Times New Roman" panose="02020603050405020304" pitchFamily="18" charset="0"/>
              </a:rPr>
              <a:t>&lt;0  </a:t>
            </a:r>
          </a:p>
        </p:txBody>
      </p:sp>
      <p:sp>
        <p:nvSpPr>
          <p:cNvPr id="56" name="Rectangle 2"/>
          <p:cNvSpPr txBox="1">
            <a:spLocks noChangeArrowheads="1"/>
          </p:cNvSpPr>
          <p:nvPr/>
        </p:nvSpPr>
        <p:spPr bwMode="auto">
          <a:xfrm>
            <a:off x="257175" y="171450"/>
            <a:ext cx="853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5.2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理想运放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ideal operational amplifiers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6" y="3667954"/>
            <a:ext cx="2684864" cy="3033406"/>
          </a:xfrm>
          <a:prstGeom prst="rect">
            <a:avLst/>
          </a:prstGeom>
        </p:spPr>
      </p:pic>
      <p:graphicFrame>
        <p:nvGraphicFramePr>
          <p:cNvPr id="5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909153"/>
              </p:ext>
            </p:extLst>
          </p:nvPr>
        </p:nvGraphicFramePr>
        <p:xfrm>
          <a:off x="2738187" y="3730726"/>
          <a:ext cx="2558116" cy="2682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Visio" r:id="rId5" imgW="1887236" imgH="1977676" progId="Visio.Drawing.11">
                  <p:embed/>
                </p:oleObj>
              </mc:Choice>
              <mc:Fallback>
                <p:oleObj name="Visio" r:id="rId5" imgW="1887236" imgH="1977676" progId="Visio.Drawing.11">
                  <p:embed/>
                  <p:pic>
                    <p:nvPicPr>
                      <p:cNvPr id="2119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187" y="3730726"/>
                        <a:ext cx="2558116" cy="2682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07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1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1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2" grpId="0" autoUpdateAnimBg="0"/>
      <p:bldP spid="519173" grpId="0" autoUpdateAnimBg="0"/>
      <p:bldP spid="519174" grpId="0" autoUpdateAnimBg="0"/>
      <p:bldP spid="519175" grpId="0" autoUpdateAnimBg="0"/>
      <p:bldP spid="519182" grpId="0" autoUpdateAnimBg="0"/>
      <p:bldP spid="519183" grpId="0" autoUpdateAnimBg="0"/>
      <p:bldP spid="519184" grpId="0" autoUpdateAnimBg="0"/>
      <p:bldP spid="519187" grpId="0" autoUpdateAnimBg="0"/>
      <p:bldP spid="51918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00F286F-63F8-45B0-9A9F-00E0326360C3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3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CEC1F0-2F1C-446D-BD8A-42CABE65A74D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158750"/>
            <a:ext cx="8534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5.2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理想运放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ideal operational amplifiers</a:t>
            </a:r>
          </a:p>
        </p:txBody>
      </p:sp>
      <p:sp>
        <p:nvSpPr>
          <p:cNvPr id="231443" name="Rectangle 19"/>
          <p:cNvSpPr>
            <a:spLocks noChangeArrowheads="1"/>
          </p:cNvSpPr>
          <p:nvPr/>
        </p:nvSpPr>
        <p:spPr bwMode="auto">
          <a:xfrm>
            <a:off x="381000" y="764704"/>
            <a:ext cx="40575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再求</a:t>
            </a:r>
            <a:r>
              <a:rPr lang="zh-CN" altLang="en-US" i="1" dirty="0">
                <a:solidFill>
                  <a:srgbClr val="FF0000"/>
                </a:solidFill>
                <a:ea typeface="隶书" panose="02010509060101010101" pitchFamily="49" charset="-122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ea typeface="隶书" panose="02010509060101010101" pitchFamily="49" charset="-122"/>
              </a:rPr>
              <a:t>u</a:t>
            </a:r>
            <a:r>
              <a:rPr lang="en-US" altLang="zh-CN" baseline="-25000" dirty="0" err="1">
                <a:solidFill>
                  <a:srgbClr val="FF0000"/>
                </a:solidFill>
                <a:ea typeface="隶书" panose="02010509060101010101" pitchFamily="49" charset="-122"/>
              </a:rPr>
              <a:t>o</a:t>
            </a:r>
            <a:r>
              <a:rPr lang="en-US" altLang="zh-CN" baseline="-25000" dirty="0">
                <a:solidFill>
                  <a:srgbClr val="FF0000"/>
                </a:solidFill>
                <a:ea typeface="隶书" panose="02010509060101010101" pitchFamily="49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，运放视为理想的。</a:t>
            </a:r>
          </a:p>
        </p:txBody>
      </p:sp>
      <p:sp>
        <p:nvSpPr>
          <p:cNvPr id="231444" name="Rectangle 20"/>
          <p:cNvSpPr>
            <a:spLocks noChangeArrowheads="1"/>
          </p:cNvSpPr>
          <p:nvPr/>
        </p:nvSpPr>
        <p:spPr bwMode="auto">
          <a:xfrm>
            <a:off x="444500" y="3849700"/>
            <a:ext cx="551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ea typeface="隶书" panose="02010509060101010101" pitchFamily="49" charset="-122"/>
              </a:rPr>
              <a:t>反相放大器 </a:t>
            </a:r>
            <a:r>
              <a:rPr lang="en-US" altLang="zh-CN" dirty="0">
                <a:solidFill>
                  <a:schemeClr val="hlink"/>
                </a:solidFill>
                <a:ea typeface="隶书" panose="02010509060101010101" pitchFamily="49" charset="-122"/>
              </a:rPr>
              <a:t>Inverting amplifier——VCVS</a:t>
            </a:r>
          </a:p>
        </p:txBody>
      </p:sp>
      <p:graphicFrame>
        <p:nvGraphicFramePr>
          <p:cNvPr id="2314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823691"/>
              </p:ext>
            </p:extLst>
          </p:nvPr>
        </p:nvGraphicFramePr>
        <p:xfrm>
          <a:off x="1331913" y="2445866"/>
          <a:ext cx="14414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3" name="Equation" r:id="rId3" imgW="628524" imgH="373390" progId="Equation.DSMT4">
                  <p:embed/>
                </p:oleObj>
              </mc:Choice>
              <mc:Fallback>
                <p:oleObj name="Equation" r:id="rId3" imgW="628524" imgH="37339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45866"/>
                        <a:ext cx="14414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46" name="Group 22"/>
          <p:cNvGrpSpPr>
            <a:grpSpLocks/>
          </p:cNvGrpSpPr>
          <p:nvPr/>
        </p:nvGrpSpPr>
        <p:grpSpPr bwMode="auto">
          <a:xfrm>
            <a:off x="1143000" y="2453804"/>
            <a:ext cx="2570163" cy="1295400"/>
            <a:chOff x="720" y="2544"/>
            <a:chExt cx="1619" cy="816"/>
          </a:xfrm>
        </p:grpSpPr>
        <p:sp>
          <p:nvSpPr>
            <p:cNvPr id="14358" name="Rectangle 23"/>
            <p:cNvSpPr>
              <a:spLocks noChangeArrowheads="1"/>
            </p:cNvSpPr>
            <p:nvPr/>
          </p:nvSpPr>
          <p:spPr bwMode="auto">
            <a:xfrm>
              <a:off x="720" y="3072"/>
              <a:ext cx="16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Closed-loop gain </a:t>
              </a: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G</a:t>
              </a:r>
            </a:p>
          </p:txBody>
        </p:sp>
        <p:sp>
          <p:nvSpPr>
            <p:cNvPr id="14359" name="Rectangle 24"/>
            <p:cNvSpPr>
              <a:spLocks noChangeArrowheads="1"/>
            </p:cNvSpPr>
            <p:nvPr/>
          </p:nvSpPr>
          <p:spPr bwMode="auto">
            <a:xfrm>
              <a:off x="1202" y="2544"/>
              <a:ext cx="382" cy="528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zh-CN">
                <a:solidFill>
                  <a:schemeClr val="hlink"/>
                </a:solidFill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2314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017770"/>
              </p:ext>
            </p:extLst>
          </p:nvPr>
        </p:nvGraphicFramePr>
        <p:xfrm>
          <a:off x="960438" y="1439391"/>
          <a:ext cx="22415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4" name="Equation" r:id="rId5" imgW="1108801" imgH="422879" progId="Equation.DSMT4">
                  <p:embed/>
                </p:oleObj>
              </mc:Choice>
              <mc:Fallback>
                <p:oleObj name="Equation" r:id="rId5" imgW="1108801" imgH="42287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1439391"/>
                        <a:ext cx="22415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79512" y="4849955"/>
            <a:ext cx="87501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00113" indent="-9001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79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88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38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sym typeface="Wingdings 2" panose="05020102010507070707" pitchFamily="18" charset="2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sym typeface="Wingdings 2" panose="05020102010507070707" pitchFamily="18" charset="2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sym typeface="Wingdings 2" panose="05020102010507070707" pitchFamily="18" charset="2"/>
              </a:rPr>
              <a:t>） 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当 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1 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和 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 i="1" baseline="-250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确定后，为使 </a:t>
            </a:r>
            <a:r>
              <a:rPr kumimoji="1" lang="en-US" altLang="zh-CN" sz="20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 err="1">
                <a:latin typeface="Times New Roman" panose="02020603050405020304" pitchFamily="18" charset="0"/>
              </a:rPr>
              <a:t>o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不超过饱和电压（即保证工作在线性区），对</a:t>
            </a:r>
            <a:r>
              <a:rPr kumimoji="1" lang="en-US" altLang="zh-CN" sz="20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有一定限制。  </a:t>
            </a: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179512" y="5732267"/>
            <a:ext cx="876631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809625" indent="-809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79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88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38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000" b="1" dirty="0">
                <a:latin typeface="Times New Roman" panose="02020603050405020304" pitchFamily="18" charset="0"/>
                <a:sym typeface="Wingdings 2" panose="05020102010507070707" pitchFamily="18" charset="2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sym typeface="Wingdings 2" panose="05020102010507070707" pitchFamily="18" charset="2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sym typeface="Wingdings 2" panose="05020102010507070707" pitchFamily="18" charset="2"/>
              </a:rPr>
              <a:t>）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运放不能工作在开环状态（极不稳定，振荡在饱和），一般工作在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闭环状态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，输出电压由外电路决定。 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476672" y="4293096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注意：  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661054" y="827268"/>
            <a:ext cx="4284776" cy="2145446"/>
            <a:chOff x="140404" y="1044635"/>
            <a:chExt cx="3798183" cy="2145446"/>
          </a:xfrm>
        </p:grpSpPr>
        <p:grpSp>
          <p:nvGrpSpPr>
            <p:cNvPr id="28" name="组合 27"/>
            <p:cNvGrpSpPr/>
            <p:nvPr/>
          </p:nvGrpSpPr>
          <p:grpSpPr>
            <a:xfrm>
              <a:off x="140404" y="1123156"/>
              <a:ext cx="3798183" cy="2066925"/>
              <a:chOff x="140404" y="1123156"/>
              <a:chExt cx="3798183" cy="2066925"/>
            </a:xfrm>
          </p:grpSpPr>
          <p:grpSp>
            <p:nvGrpSpPr>
              <p:cNvPr id="37" name="Group 213"/>
              <p:cNvGrpSpPr>
                <a:grpSpLocks/>
              </p:cNvGrpSpPr>
              <p:nvPr/>
            </p:nvGrpSpPr>
            <p:grpSpPr bwMode="auto">
              <a:xfrm>
                <a:off x="2890204" y="2186230"/>
                <a:ext cx="1048383" cy="836549"/>
                <a:chOff x="2077" y="1815"/>
                <a:chExt cx="672" cy="591"/>
              </a:xfrm>
            </p:grpSpPr>
            <p:graphicFrame>
              <p:nvGraphicFramePr>
                <p:cNvPr id="39" name="Object 211"/>
                <p:cNvGraphicFramePr>
                  <a:graphicFrameLocks noChangeAspect="1"/>
                </p:cNvGraphicFramePr>
                <p:nvPr/>
              </p:nvGraphicFramePr>
              <p:xfrm>
                <a:off x="2077" y="1815"/>
                <a:ext cx="672" cy="59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495" name="Flash Movie" r:id="rId7" imgW="799560" imgH="703440" progId="Flash.Movie">
                        <p:embed/>
                      </p:oleObj>
                    </mc:Choice>
                    <mc:Fallback>
                      <p:oleObj name="Flash Movie" r:id="rId7" imgW="799560" imgH="703440" progId="Flash.Movie">
                        <p:embed/>
                        <p:pic>
                          <p:nvPicPr>
                            <p:cNvPr id="12314" name="Object 2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77" y="1815"/>
                              <a:ext cx="672" cy="5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0" name="Line 212"/>
                <p:cNvSpPr>
                  <a:spLocks noChangeShapeType="1"/>
                </p:cNvSpPr>
                <p:nvPr/>
              </p:nvSpPr>
              <p:spPr bwMode="auto">
                <a:xfrm flipV="1">
                  <a:off x="2406" y="1851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pic>
            <p:nvPicPr>
              <p:cNvPr id="38" name="图片 37"/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40404" y="1123156"/>
                <a:ext cx="3136196" cy="2066925"/>
              </a:xfrm>
              <a:prstGeom prst="rect">
                <a:avLst/>
              </a:prstGeom>
            </p:spPr>
          </p:pic>
        </p:grpSp>
        <p:sp>
          <p:nvSpPr>
            <p:cNvPr id="29" name="文本框 28"/>
            <p:cNvSpPr txBox="1"/>
            <p:nvPr/>
          </p:nvSpPr>
          <p:spPr>
            <a:xfrm>
              <a:off x="854006" y="177281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1</a:t>
              </a:r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895641" y="1044635"/>
              <a:ext cx="35618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 i="1" dirty="0"/>
                <a:t>R</a:t>
              </a:r>
              <a:r>
                <a:rPr lang="en-US" altLang="zh-CN" sz="1600" i="1" baseline="-25000" dirty="0"/>
                <a:t>2</a:t>
              </a:r>
              <a:endParaRPr lang="zh-CN" altLang="en-US" sz="1600" i="1" baseline="-25000" dirty="0"/>
            </a:p>
          </p:txBody>
        </p:sp>
      </p:grpSp>
      <p:graphicFrame>
        <p:nvGraphicFramePr>
          <p:cNvPr id="41" name="Object 2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06444"/>
              </p:ext>
            </p:extLst>
          </p:nvPr>
        </p:nvGraphicFramePr>
        <p:xfrm>
          <a:off x="5177074" y="2993434"/>
          <a:ext cx="3731807" cy="892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6" name="Equation" r:id="rId11" imgW="3505200" imgH="838200" progId="Equation.3">
                  <p:embed/>
                </p:oleObj>
              </mc:Choice>
              <mc:Fallback>
                <p:oleObj name="Equation" r:id="rId11" imgW="3505200" imgH="838200" progId="Equation.3">
                  <p:embed/>
                  <p:pic>
                    <p:nvPicPr>
                      <p:cNvPr id="110812" name="Object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074" y="2993434"/>
                        <a:ext cx="3731807" cy="892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3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43" grpId="0" autoUpdateAnimBg="0"/>
      <p:bldP spid="231444" grpId="0" autoUpdateAnimBg="0"/>
      <p:bldP spid="34" grpId="0" autoUpdateAnimBg="0"/>
      <p:bldP spid="35" grpId="0" autoUpdateAnimBg="0"/>
      <p:bldP spid="3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105E2E8-4E3D-4952-889C-1252CA9274F0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A6C85B-84E9-4F39-A72E-A27C3FB99EAD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grpSp>
        <p:nvGrpSpPr>
          <p:cNvPr id="198684" name="Group 28"/>
          <p:cNvGrpSpPr>
            <a:grpSpLocks/>
          </p:cNvGrpSpPr>
          <p:nvPr/>
        </p:nvGrpSpPr>
        <p:grpSpPr bwMode="auto">
          <a:xfrm>
            <a:off x="1066800" y="4851400"/>
            <a:ext cx="4876800" cy="1004888"/>
            <a:chOff x="3120" y="3456"/>
            <a:chExt cx="3072" cy="633"/>
          </a:xfrm>
        </p:grpSpPr>
        <p:sp>
          <p:nvSpPr>
            <p:cNvPr id="15372" name="Text Box 22"/>
            <p:cNvSpPr txBox="1">
              <a:spLocks noChangeArrowheads="1"/>
            </p:cNvSpPr>
            <p:nvPr/>
          </p:nvSpPr>
          <p:spPr bwMode="auto">
            <a:xfrm>
              <a:off x="3120" y="355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?</a:t>
              </a:r>
            </a:p>
          </p:txBody>
        </p:sp>
        <p:sp>
          <p:nvSpPr>
            <p:cNvPr id="15373" name="Text Box 23"/>
            <p:cNvSpPr txBox="1">
              <a:spLocks noChangeArrowheads="1"/>
            </p:cNvSpPr>
            <p:nvPr/>
          </p:nvSpPr>
          <p:spPr bwMode="auto">
            <a:xfrm>
              <a:off x="3408" y="3456"/>
              <a:ext cx="2784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CC3300"/>
                  </a:solidFill>
                  <a:ea typeface="隶书" panose="02010509060101010101" pitchFamily="49" charset="-122"/>
                </a:rPr>
                <a:t>如何分析</a:t>
              </a:r>
              <a:r>
                <a:rPr lang="en-US" altLang="zh-CN">
                  <a:solidFill>
                    <a:srgbClr val="CC3300"/>
                  </a:solidFill>
                  <a:ea typeface="隶书" panose="02010509060101010101" pitchFamily="49" charset="-122"/>
                </a:rPr>
                <a:t>?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CC3300"/>
                  </a:solidFill>
                  <a:ea typeface="隶书" panose="02010509060101010101" pitchFamily="49" charset="-122"/>
                </a:rPr>
                <a:t>如何应用</a:t>
              </a:r>
              <a:r>
                <a:rPr lang="en-US" altLang="zh-CN">
                  <a:solidFill>
                    <a:srgbClr val="CC3300"/>
                  </a:solidFill>
                  <a:ea typeface="隶书" panose="02010509060101010101" pitchFamily="49" charset="-122"/>
                </a:rPr>
                <a:t>?</a:t>
              </a:r>
            </a:p>
          </p:txBody>
        </p:sp>
      </p:grpSp>
      <p:sp>
        <p:nvSpPr>
          <p:cNvPr id="15366" name="Rectangle 32"/>
          <p:cNvSpPr>
            <a:spLocks noChangeArrowheads="1"/>
          </p:cNvSpPr>
          <p:nvPr/>
        </p:nvSpPr>
        <p:spPr bwMode="auto">
          <a:xfrm>
            <a:off x="609600" y="1019175"/>
            <a:ext cx="439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1. </a:t>
            </a:r>
            <a:r>
              <a:rPr lang="zh-CN" altLang="en-US">
                <a:ea typeface="隶书" panose="02010509060101010101" pitchFamily="49" charset="-122"/>
              </a:rPr>
              <a:t>反向放大器 </a:t>
            </a:r>
            <a:r>
              <a:rPr lang="en-US" altLang="zh-CN">
                <a:ea typeface="隶书" panose="02010509060101010101" pitchFamily="49" charset="-122"/>
              </a:rPr>
              <a:t>Inverting amplifier</a:t>
            </a:r>
          </a:p>
        </p:txBody>
      </p:sp>
      <p:sp>
        <p:nvSpPr>
          <p:cNvPr id="15367" name="Rectangle 33"/>
          <p:cNvSpPr>
            <a:spLocks noChangeArrowheads="1"/>
          </p:cNvSpPr>
          <p:nvPr/>
        </p:nvSpPr>
        <p:spPr bwMode="auto">
          <a:xfrm>
            <a:off x="609600" y="1704975"/>
            <a:ext cx="4903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ea typeface="隶书" panose="02010509060101010101" pitchFamily="49" charset="-122"/>
              </a:rPr>
              <a:t>2. </a:t>
            </a:r>
            <a:r>
              <a:rPr lang="zh-CN" altLang="en-US" dirty="0">
                <a:ea typeface="隶书" panose="02010509060101010101" pitchFamily="49" charset="-122"/>
              </a:rPr>
              <a:t>同向放大器 </a:t>
            </a:r>
            <a:r>
              <a:rPr lang="en-US" altLang="zh-CN" dirty="0">
                <a:ea typeface="隶书" panose="02010509060101010101" pitchFamily="49" charset="-122"/>
              </a:rPr>
              <a:t>Noninverting amplifier</a:t>
            </a:r>
          </a:p>
        </p:txBody>
      </p:sp>
      <p:sp>
        <p:nvSpPr>
          <p:cNvPr id="15368" name="Rectangle 34"/>
          <p:cNvSpPr>
            <a:spLocks noChangeArrowheads="1"/>
          </p:cNvSpPr>
          <p:nvPr/>
        </p:nvSpPr>
        <p:spPr bwMode="auto">
          <a:xfrm>
            <a:off x="609600" y="2466975"/>
            <a:ext cx="416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3. </a:t>
            </a:r>
            <a:r>
              <a:rPr lang="zh-CN" altLang="en-US">
                <a:ea typeface="隶书" panose="02010509060101010101" pitchFamily="49" charset="-122"/>
              </a:rPr>
              <a:t>电压跟随器 </a:t>
            </a:r>
            <a:r>
              <a:rPr lang="en-US" altLang="zh-CN">
                <a:ea typeface="隶书" panose="02010509060101010101" pitchFamily="49" charset="-122"/>
              </a:rPr>
              <a:t>Voltage follower</a:t>
            </a:r>
          </a:p>
        </p:txBody>
      </p:sp>
      <p:sp>
        <p:nvSpPr>
          <p:cNvPr id="15369" name="Rectangle 35"/>
          <p:cNvSpPr>
            <a:spLocks noChangeArrowheads="1"/>
          </p:cNvSpPr>
          <p:nvPr/>
        </p:nvSpPr>
        <p:spPr bwMode="auto">
          <a:xfrm>
            <a:off x="609600" y="3124200"/>
            <a:ext cx="385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4. </a:t>
            </a:r>
            <a:r>
              <a:rPr lang="zh-CN" altLang="en-US">
                <a:ea typeface="隶书" panose="02010509060101010101" pitchFamily="49" charset="-122"/>
              </a:rPr>
              <a:t>加法器 </a:t>
            </a:r>
            <a:r>
              <a:rPr lang="en-US" altLang="zh-CN">
                <a:ea typeface="隶书" panose="02010509060101010101" pitchFamily="49" charset="-122"/>
              </a:rPr>
              <a:t>Summing amplifier</a:t>
            </a:r>
          </a:p>
        </p:txBody>
      </p:sp>
      <p:sp>
        <p:nvSpPr>
          <p:cNvPr id="15370" name="Rectangle 36"/>
          <p:cNvSpPr>
            <a:spLocks noChangeArrowheads="1"/>
          </p:cNvSpPr>
          <p:nvPr/>
        </p:nvSpPr>
        <p:spPr bwMode="auto">
          <a:xfrm>
            <a:off x="609600" y="3860800"/>
            <a:ext cx="739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5. </a:t>
            </a:r>
            <a:r>
              <a:rPr lang="zh-CN" altLang="en-US">
                <a:ea typeface="隶书" panose="02010509060101010101" pitchFamily="49" charset="-122"/>
              </a:rPr>
              <a:t>差分放大器 </a:t>
            </a:r>
            <a:r>
              <a:rPr lang="en-US" altLang="zh-CN">
                <a:ea typeface="隶书" panose="02010509060101010101" pitchFamily="49" charset="-122"/>
              </a:rPr>
              <a:t>Difference amplifier——</a:t>
            </a:r>
            <a:r>
              <a:rPr lang="zh-CN" altLang="en-US">
                <a:ea typeface="隶书" panose="02010509060101010101" pitchFamily="49" charset="-122"/>
              </a:rPr>
              <a:t>减法器 </a:t>
            </a:r>
            <a:r>
              <a:rPr lang="en-US" altLang="zh-CN">
                <a:ea typeface="隶书" panose="02010509060101010101" pitchFamily="49" charset="-122"/>
              </a:rPr>
              <a:t>subtractor</a:t>
            </a:r>
          </a:p>
        </p:txBody>
      </p:sp>
      <p:sp>
        <p:nvSpPr>
          <p:cNvPr id="14" name="Rectangle 6"/>
          <p:cNvSpPr txBox="1">
            <a:spLocks noChangeArrowheads="1"/>
          </p:cNvSpPr>
          <p:nvPr/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5.3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运算放大电路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10"/>
          <p:cNvSpPr>
            <a:spLocks noChangeArrowheads="1"/>
          </p:cNvSpPr>
          <p:nvPr/>
        </p:nvSpPr>
        <p:spPr bwMode="auto">
          <a:xfrm>
            <a:off x="609600" y="762000"/>
            <a:ext cx="5156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1.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反相比例放大器</a:t>
            </a: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Inverting amplifier</a:t>
            </a:r>
          </a:p>
        </p:txBody>
      </p:sp>
      <p:sp>
        <p:nvSpPr>
          <p:cNvPr id="16390" name="Rectangle 11"/>
          <p:cNvSpPr>
            <a:spLocks noChangeArrowheads="1"/>
          </p:cNvSpPr>
          <p:nvPr/>
        </p:nvSpPr>
        <p:spPr bwMode="auto">
          <a:xfrm>
            <a:off x="609600" y="1447800"/>
            <a:ext cx="55324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2.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同相比例放大器</a:t>
            </a: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Noninverting amplifier</a:t>
            </a:r>
          </a:p>
        </p:txBody>
      </p:sp>
      <p:sp>
        <p:nvSpPr>
          <p:cNvPr id="213004" name="Rectangle 12"/>
          <p:cNvSpPr>
            <a:spLocks noChangeArrowheads="1"/>
          </p:cNvSpPr>
          <p:nvPr/>
        </p:nvSpPr>
        <p:spPr bwMode="auto">
          <a:xfrm>
            <a:off x="609600" y="3116263"/>
            <a:ext cx="40830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3.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电压跟随器</a:t>
            </a: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Voltage follower</a:t>
            </a:r>
          </a:p>
        </p:txBody>
      </p:sp>
      <p:graphicFrame>
        <p:nvGraphicFramePr>
          <p:cNvPr id="213008" name="Object 16"/>
          <p:cNvGraphicFramePr>
            <a:graphicFrameLocks noChangeAspect="1"/>
          </p:cNvGraphicFramePr>
          <p:nvPr/>
        </p:nvGraphicFramePr>
        <p:xfrm>
          <a:off x="900113" y="1989138"/>
          <a:ext cx="230981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6" name="Equation" r:id="rId4" imgW="1155700" imgH="431800" progId="Equation.DSMT4">
                  <p:embed/>
                </p:oleObj>
              </mc:Choice>
              <mc:Fallback>
                <p:oleObj name="Equation" r:id="rId4" imgW="11557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89138"/>
                        <a:ext cx="230981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9" name="Object 17"/>
          <p:cNvGraphicFramePr>
            <a:graphicFrameLocks noChangeAspect="1"/>
          </p:cNvGraphicFramePr>
          <p:nvPr/>
        </p:nvGraphicFramePr>
        <p:xfrm>
          <a:off x="3563938" y="1990725"/>
          <a:ext cx="17780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7" name="Equation" r:id="rId6" imgW="888614" imgH="431613" progId="Equation.DSMT4">
                  <p:embed/>
                </p:oleObj>
              </mc:Choice>
              <mc:Fallback>
                <p:oleObj name="Equation" r:id="rId6" imgW="888614" imgH="43161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990725"/>
                        <a:ext cx="17780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0" name="Object 18"/>
          <p:cNvGraphicFramePr>
            <a:graphicFrameLocks noChangeAspect="1"/>
          </p:cNvGraphicFramePr>
          <p:nvPr/>
        </p:nvGraphicFramePr>
        <p:xfrm>
          <a:off x="1476375" y="6165850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8" name="Equation" r:id="rId8" imgW="419100" imgH="228600" progId="Equation.DSMT4">
                  <p:embed/>
                </p:oleObj>
              </mc:Choice>
              <mc:Fallback>
                <p:oleObj name="Equation" r:id="rId8" imgW="4191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6165850"/>
                        <a:ext cx="83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481475"/>
              </p:ext>
            </p:extLst>
          </p:nvPr>
        </p:nvGraphicFramePr>
        <p:xfrm>
          <a:off x="4965700" y="2689719"/>
          <a:ext cx="38131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9" name="Visio" r:id="rId10" imgW="1907916" imgH="1192828" progId="Visio.Drawing.11">
                  <p:embed/>
                </p:oleObj>
              </mc:Choice>
              <mc:Fallback>
                <p:oleObj name="Visio" r:id="rId10" imgW="1907916" imgH="1192828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2689719"/>
                        <a:ext cx="381317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09324"/>
              </p:ext>
            </p:extLst>
          </p:nvPr>
        </p:nvGraphicFramePr>
        <p:xfrm>
          <a:off x="5983287" y="4962772"/>
          <a:ext cx="1778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0" name="Equation" r:id="rId12" imgW="888614" imgH="431613" progId="Equation.DSMT4">
                  <p:embed/>
                </p:oleObj>
              </mc:Choice>
              <mc:Fallback>
                <p:oleObj name="Equation" r:id="rId12" imgW="888614" imgH="431613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287" y="4962772"/>
                        <a:ext cx="1778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 txBox="1">
            <a:spLocks noChangeArrowheads="1"/>
          </p:cNvSpPr>
          <p:nvPr/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5.3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运算放大电路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4699547" y="5764600"/>
            <a:ext cx="33794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</a:rPr>
              <a:t>①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输入电阻无穷大（虚断）；  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4699547" y="6118186"/>
            <a:ext cx="2217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</a:rPr>
              <a:t>②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输出电阻为零；  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4032626" y="6438770"/>
            <a:ext cx="49487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</a:rPr>
              <a:t>应用：在电路中起隔离前后两级电路的作用。 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038850" y="492125"/>
            <a:ext cx="2976563" cy="2390775"/>
            <a:chOff x="6038850" y="492125"/>
            <a:chExt cx="2976563" cy="2390775"/>
          </a:xfrm>
        </p:grpSpPr>
        <p:graphicFrame>
          <p:nvGraphicFramePr>
            <p:cNvPr id="21300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9386320"/>
                </p:ext>
              </p:extLst>
            </p:nvPr>
          </p:nvGraphicFramePr>
          <p:xfrm>
            <a:off x="6038850" y="492125"/>
            <a:ext cx="2976563" cy="2390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01" name="Visio" r:id="rId14" imgW="1517332" imgH="1224582" progId="Visio.Drawing.11">
                    <p:embed/>
                  </p:oleObj>
                </mc:Choice>
                <mc:Fallback>
                  <p:oleObj name="Visio" r:id="rId14" imgW="1517332" imgH="1224582" progId="Visio.Drawing.11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8850" y="492125"/>
                          <a:ext cx="2976563" cy="2390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232110" y="712432"/>
              <a:ext cx="1178780" cy="1110018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381000" y="3733800"/>
            <a:ext cx="3813175" cy="2390775"/>
            <a:chOff x="381000" y="3733800"/>
            <a:chExt cx="3813175" cy="2390775"/>
          </a:xfrm>
        </p:grpSpPr>
        <p:graphicFrame>
          <p:nvGraphicFramePr>
            <p:cNvPr id="21301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274485"/>
                </p:ext>
              </p:extLst>
            </p:nvPr>
          </p:nvGraphicFramePr>
          <p:xfrm>
            <a:off x="381000" y="3733800"/>
            <a:ext cx="3813175" cy="2390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02" name="Visio" r:id="rId18" imgW="1923961" imgH="1209922" progId="Visio.Drawing.11">
                    <p:embed/>
                  </p:oleObj>
                </mc:Choice>
                <mc:Fallback>
                  <p:oleObj name="Visio" r:id="rId18" imgW="1923961" imgH="1209922" progId="Visio.Drawing.11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" y="3733800"/>
                          <a:ext cx="3813175" cy="2390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19672" y="3977693"/>
              <a:ext cx="1152128" cy="10849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1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1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1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04" grpId="0" autoUpdateAnimBg="0"/>
      <p:bldP spid="17" grpId="0" autoUpdateAnimBg="0"/>
      <p:bldP spid="18" grpId="0" autoUpdateAnimBg="0"/>
      <p:bldP spid="1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39521E1-B33E-42A2-802D-7732B52BB211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217837-6D5F-4BB7-A170-65F37BB85753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7413" name="Rectangle 13"/>
          <p:cNvSpPr>
            <a:spLocks noChangeArrowheads="1"/>
          </p:cNvSpPr>
          <p:nvPr/>
        </p:nvSpPr>
        <p:spPr bwMode="auto">
          <a:xfrm>
            <a:off x="609600" y="990600"/>
            <a:ext cx="50449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4.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反相求和放大器</a:t>
            </a: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Summing amplifier</a:t>
            </a:r>
          </a:p>
        </p:txBody>
      </p:sp>
      <p:graphicFrame>
        <p:nvGraphicFramePr>
          <p:cNvPr id="214038" name="Object 22"/>
          <p:cNvGraphicFramePr>
            <a:graphicFrameLocks noChangeAspect="1"/>
          </p:cNvGraphicFramePr>
          <p:nvPr/>
        </p:nvGraphicFramePr>
        <p:xfrm>
          <a:off x="755650" y="4029075"/>
          <a:ext cx="42386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3" name="Equation" r:id="rId3" imgW="2120900" imgH="444500" progId="Equation.DSMT4">
                  <p:embed/>
                </p:oleObj>
              </mc:Choice>
              <mc:Fallback>
                <p:oleObj name="Equation" r:id="rId3" imgW="2120900" imgH="4445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029075"/>
                        <a:ext cx="42386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40" name="Object 24"/>
          <p:cNvGraphicFramePr>
            <a:graphicFrameLocks noChangeAspect="1"/>
          </p:cNvGraphicFramePr>
          <p:nvPr/>
        </p:nvGraphicFramePr>
        <p:xfrm>
          <a:off x="755650" y="5324475"/>
          <a:ext cx="37052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4" name="公式" r:id="rId5" imgW="1854200" imgH="457200" progId="Equation.3">
                  <p:embed/>
                </p:oleObj>
              </mc:Choice>
              <mc:Fallback>
                <p:oleObj name="公式" r:id="rId5" imgW="1854200" imgH="457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324475"/>
                        <a:ext cx="37052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 txBox="1">
            <a:spLocks noChangeArrowheads="1"/>
          </p:cNvSpPr>
          <p:nvPr/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5.3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运算放大电路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86300" y="1395413"/>
            <a:ext cx="4076700" cy="2606675"/>
            <a:chOff x="4686300" y="1395413"/>
            <a:chExt cx="4076700" cy="2606675"/>
          </a:xfrm>
        </p:grpSpPr>
        <p:graphicFrame>
          <p:nvGraphicFramePr>
            <p:cNvPr id="17414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5666865"/>
                </p:ext>
              </p:extLst>
            </p:nvPr>
          </p:nvGraphicFramePr>
          <p:xfrm>
            <a:off x="4686300" y="1395413"/>
            <a:ext cx="4076700" cy="2606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5" name="Visio" r:id="rId7" imgW="2067258" imgH="1332595" progId="Visio.Drawing.11">
                    <p:embed/>
                  </p:oleObj>
                </mc:Choice>
                <mc:Fallback>
                  <p:oleObj name="Visio" r:id="rId7" imgW="2067258" imgH="1332595" progId="Visio.Drawing.11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6300" y="1395413"/>
                          <a:ext cx="4076700" cy="2606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48264" y="2132856"/>
              <a:ext cx="1114559" cy="10801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1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39521E1-B33E-42A2-802D-7732B52BB211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217837-6D5F-4BB7-A170-65F37BB85753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17413" name="Rectangle 13"/>
          <p:cNvSpPr>
            <a:spLocks noChangeArrowheads="1"/>
          </p:cNvSpPr>
          <p:nvPr/>
        </p:nvSpPr>
        <p:spPr bwMode="auto">
          <a:xfrm>
            <a:off x="609600" y="990600"/>
            <a:ext cx="65838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5.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同相求和放大器</a:t>
            </a: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Summing amplifier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（加法器）</a:t>
            </a:r>
            <a:endParaRPr lang="en-US" altLang="zh-CN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0" name="Rectangle 6"/>
          <p:cNvSpPr txBox="1">
            <a:spLocks noChangeArrowheads="1"/>
          </p:cNvSpPr>
          <p:nvPr/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5.3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运算放大电路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85977" y="1448204"/>
            <a:ext cx="4076700" cy="2606675"/>
            <a:chOff x="4686300" y="1395413"/>
            <a:chExt cx="4076700" cy="2606675"/>
          </a:xfrm>
        </p:grpSpPr>
        <p:graphicFrame>
          <p:nvGraphicFramePr>
            <p:cNvPr id="17414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1048561"/>
                </p:ext>
              </p:extLst>
            </p:nvPr>
          </p:nvGraphicFramePr>
          <p:xfrm>
            <a:off x="4686300" y="1395413"/>
            <a:ext cx="4076700" cy="2606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" name="Visio" r:id="rId3" imgW="2057400" imgH="1314391" progId="Visio.Drawing.11">
                    <p:embed/>
                  </p:oleObj>
                </mc:Choice>
                <mc:Fallback>
                  <p:oleObj name="Visio" r:id="rId3" imgW="2057400" imgH="1314391" progId="Visio.Drawing.11">
                    <p:embed/>
                    <p:pic>
                      <p:nvPicPr>
                        <p:cNvPr id="17414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6300" y="1395413"/>
                          <a:ext cx="4076700" cy="2606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48264" y="2132856"/>
              <a:ext cx="1114559" cy="1080120"/>
            </a:xfrm>
            <a:prstGeom prst="rect">
              <a:avLst/>
            </a:prstGeom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7"/>
          <a:srcRect r="3414"/>
          <a:stretch/>
        </p:blipFill>
        <p:spPr>
          <a:xfrm>
            <a:off x="5103519" y="2240226"/>
            <a:ext cx="1426881" cy="12252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96136" y="144820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R</a:t>
            </a:r>
            <a:r>
              <a:rPr lang="en-US" altLang="zh-CN" i="1" baseline="-25000" dirty="0"/>
              <a:t>4</a:t>
            </a:r>
            <a:endParaRPr lang="zh-CN" altLang="en-US" i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7411997" y="139541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/>
              <a:t>R</a:t>
            </a:r>
            <a:r>
              <a:rPr lang="en-US" altLang="zh-CN" i="1" baseline="-25000" dirty="0" err="1"/>
              <a:t>f</a:t>
            </a:r>
            <a:endParaRPr lang="zh-CN" alt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331640" y="2132856"/>
                <a:ext cx="2376264" cy="5791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/>
                  <a:t>=0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2132856"/>
                <a:ext cx="2376264" cy="579198"/>
              </a:xfrm>
              <a:prstGeom prst="rect">
                <a:avLst/>
              </a:prstGeom>
              <a:blipFill>
                <a:blip r:embed="rId8"/>
                <a:stretch>
                  <a:fillRect t="-1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232263" y="3044993"/>
                <a:ext cx="3239013" cy="561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/>
                  <a:t>0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263" y="3044993"/>
                <a:ext cx="3239013" cy="561436"/>
              </a:xfrm>
              <a:prstGeom prst="rect">
                <a:avLst/>
              </a:prstGeom>
              <a:blipFill>
                <a:blip r:embed="rId9"/>
                <a:stretch>
                  <a:fillRect t="-10870" r="-1507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/>
          <p:cNvCxnSpPr/>
          <p:nvPr/>
        </p:nvCxnSpPr>
        <p:spPr bwMode="auto">
          <a:xfrm flipV="1">
            <a:off x="6173162" y="2924944"/>
            <a:ext cx="775102" cy="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1049288" y="3801451"/>
                <a:ext cx="3604961" cy="820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88" y="3801451"/>
                <a:ext cx="3604961" cy="8204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899592" y="5085184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i="1" dirty="0"/>
              <a:t>R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=R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=R</a:t>
            </a:r>
            <a:r>
              <a:rPr lang="en-US" altLang="zh-CN" i="1" baseline="-25000" dirty="0"/>
              <a:t>3</a:t>
            </a:r>
            <a:r>
              <a:rPr lang="zh-CN" altLang="en-US" dirty="0"/>
              <a:t>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2891721" y="4992370"/>
                <a:ext cx="3849324" cy="571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721" y="4992370"/>
                <a:ext cx="3849324" cy="5717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6973415" y="512889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加法器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502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27" grpId="0"/>
      <p:bldP spid="28" grpId="0"/>
      <p:bldP spid="33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37D8820-99A1-4858-BABF-257A046B9807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492B38-D5C0-4052-9A06-598CF591E4AA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5.3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运算放大电路</a:t>
            </a:r>
          </a:p>
        </p:txBody>
      </p:sp>
      <p:sp>
        <p:nvSpPr>
          <p:cNvPr id="18438" name="Rectangle 14"/>
          <p:cNvSpPr>
            <a:spLocks noChangeArrowheads="1"/>
          </p:cNvSpPr>
          <p:nvPr/>
        </p:nvSpPr>
        <p:spPr bwMode="auto">
          <a:xfrm>
            <a:off x="381000" y="990600"/>
            <a:ext cx="500221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6.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差分放大器（减法器）</a:t>
            </a:r>
            <a:endParaRPr lang="en-US" altLang="zh-CN" dirty="0">
              <a:solidFill>
                <a:srgbClr val="FF0000"/>
              </a:solidFill>
              <a:ea typeface="隶书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      Difference amplifier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（</a:t>
            </a:r>
            <a:r>
              <a:rPr lang="en-US" altLang="zh-CN" dirty="0" err="1">
                <a:solidFill>
                  <a:srgbClr val="FF0000"/>
                </a:solidFill>
                <a:ea typeface="隶书" panose="02010509060101010101" pitchFamily="49" charset="-122"/>
              </a:rPr>
              <a:t>subtractor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）</a:t>
            </a:r>
            <a:endParaRPr lang="en-US" altLang="zh-CN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215069" name="Object 29"/>
          <p:cNvGraphicFramePr>
            <a:graphicFrameLocks noChangeAspect="1"/>
          </p:cNvGraphicFramePr>
          <p:nvPr/>
        </p:nvGraphicFramePr>
        <p:xfrm>
          <a:off x="611188" y="2420938"/>
          <a:ext cx="271621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0" name="Equation" r:id="rId3" imgW="1358310" imgH="431613" progId="Equation.DSMT4">
                  <p:embed/>
                </p:oleObj>
              </mc:Choice>
              <mc:Fallback>
                <p:oleObj name="Equation" r:id="rId3" imgW="1358310" imgH="431613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20938"/>
                        <a:ext cx="271621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0" name="Object 30"/>
          <p:cNvGraphicFramePr>
            <a:graphicFrameLocks noChangeAspect="1"/>
          </p:cNvGraphicFramePr>
          <p:nvPr/>
        </p:nvGraphicFramePr>
        <p:xfrm>
          <a:off x="798513" y="3430588"/>
          <a:ext cx="274161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1" name="Equation" r:id="rId5" imgW="1371600" imgH="431800" progId="Equation.DSMT4">
                  <p:embed/>
                </p:oleObj>
              </mc:Choice>
              <mc:Fallback>
                <p:oleObj name="Equation" r:id="rId5" imgW="1371600" imgH="4318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3430588"/>
                        <a:ext cx="274161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220072" y="1559199"/>
            <a:ext cx="2979738" cy="3300412"/>
            <a:chOff x="5651500" y="1497013"/>
            <a:chExt cx="2979738" cy="3300412"/>
          </a:xfrm>
        </p:grpSpPr>
        <p:graphicFrame>
          <p:nvGraphicFramePr>
            <p:cNvPr id="215062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0020920"/>
                </p:ext>
              </p:extLst>
            </p:nvPr>
          </p:nvGraphicFramePr>
          <p:xfrm>
            <a:off x="5651500" y="1497013"/>
            <a:ext cx="2979738" cy="3300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22" name="Visio" r:id="rId7" imgW="1517332" imgH="1677638" progId="Visio.Drawing.11">
                    <p:embed/>
                  </p:oleObj>
                </mc:Choice>
                <mc:Fallback>
                  <p:oleObj name="Visio" r:id="rId7" imgW="1517332" imgH="1677638" progId="Visio.Drawing.11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1500" y="1497013"/>
                          <a:ext cx="2979738" cy="3300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51352" y="1766665"/>
              <a:ext cx="1086471" cy="102309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EF4DC99-40EF-4BFA-BA3F-145FFF795468}" type="datetime1">
              <a:rPr lang="zh-CN" altLang="en-US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699F6-18E3-4508-A80F-6BADCB6C883E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9461" name="Rectangle 10"/>
          <p:cNvSpPr>
            <a:spLocks noChangeArrowheads="1"/>
          </p:cNvSpPr>
          <p:nvPr/>
        </p:nvSpPr>
        <p:spPr bwMode="auto">
          <a:xfrm>
            <a:off x="395288" y="260350"/>
            <a:ext cx="1428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目标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3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</a:p>
        </p:txBody>
      </p:sp>
      <p:sp>
        <p:nvSpPr>
          <p:cNvPr id="19462" name="Rectangle 11"/>
          <p:cNvSpPr>
            <a:spLocks noChangeArrowheads="1"/>
          </p:cNvSpPr>
          <p:nvPr/>
        </p:nvSpPr>
        <p:spPr bwMode="auto">
          <a:xfrm>
            <a:off x="1843088" y="336550"/>
            <a:ext cx="239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ea typeface="隶书" panose="02010509060101010101" pitchFamily="49" charset="-122"/>
              </a:rPr>
              <a:t>确定输出电压。 </a:t>
            </a:r>
          </a:p>
        </p:txBody>
      </p:sp>
      <p:graphicFrame>
        <p:nvGraphicFramePr>
          <p:cNvPr id="216081" name="Object 17"/>
          <p:cNvGraphicFramePr>
            <a:graphicFrameLocks noChangeAspect="1"/>
          </p:cNvGraphicFramePr>
          <p:nvPr/>
        </p:nvGraphicFramePr>
        <p:xfrm>
          <a:off x="263525" y="908050"/>
          <a:ext cx="3402013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4" name="Equation" r:id="rId3" imgW="1701800" imgH="914400" progId="Equation.DSMT4">
                  <p:embed/>
                </p:oleObj>
              </mc:Choice>
              <mc:Fallback>
                <p:oleObj name="Equation" r:id="rId3" imgW="1701800" imgH="914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" y="908050"/>
                        <a:ext cx="3402013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82" name="Object 18"/>
          <p:cNvGraphicFramePr>
            <a:graphicFrameLocks noChangeAspect="1"/>
          </p:cNvGraphicFramePr>
          <p:nvPr/>
        </p:nvGraphicFramePr>
        <p:xfrm>
          <a:off x="395288" y="2852738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" name="Equation" r:id="rId5" imgW="469900" imgH="228600" progId="Equation.3">
                  <p:embed/>
                </p:oleObj>
              </mc:Choice>
              <mc:Fallback>
                <p:oleObj name="Equation" r:id="rId5" imgW="4699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852738"/>
                        <a:ext cx="939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83" name="Object 19"/>
          <p:cNvGraphicFramePr>
            <a:graphicFrameLocks noChangeAspect="1"/>
          </p:cNvGraphicFramePr>
          <p:nvPr/>
        </p:nvGraphicFramePr>
        <p:xfrm>
          <a:off x="212725" y="3357563"/>
          <a:ext cx="37830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6" name="Equation" r:id="rId7" imgW="1892300" imgH="444500" progId="Equation.DSMT4">
                  <p:embed/>
                </p:oleObj>
              </mc:Choice>
              <mc:Fallback>
                <p:oleObj name="Equation" r:id="rId7" imgW="1892300" imgH="4445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3357563"/>
                        <a:ext cx="37830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22"/>
          <p:cNvGraphicFramePr>
            <a:graphicFrameLocks noChangeAspect="1"/>
          </p:cNvGraphicFramePr>
          <p:nvPr/>
        </p:nvGraphicFramePr>
        <p:xfrm>
          <a:off x="4572000" y="152400"/>
          <a:ext cx="4608513" cy="342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7" name="Visio" r:id="rId9" imgW="2639901" imgH="1856804" progId="Visio.Drawing.11">
                  <p:embed/>
                </p:oleObj>
              </mc:Choice>
              <mc:Fallback>
                <p:oleObj name="Visio" r:id="rId9" imgW="2639901" imgH="1856804" progId="Visio.Drawing.11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52400"/>
                        <a:ext cx="4608513" cy="342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89" name="Object 25"/>
          <p:cNvGraphicFramePr>
            <a:graphicFrameLocks noChangeAspect="1"/>
          </p:cNvGraphicFramePr>
          <p:nvPr/>
        </p:nvGraphicFramePr>
        <p:xfrm>
          <a:off x="250825" y="4581525"/>
          <a:ext cx="14716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8" name="Equation" r:id="rId11" imgW="736600" imgH="431800" progId="Equation.DSMT4">
                  <p:embed/>
                </p:oleObj>
              </mc:Choice>
              <mc:Fallback>
                <p:oleObj name="Equation" r:id="rId11" imgW="736600" imgH="431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581525"/>
                        <a:ext cx="14716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0" name="Object 26"/>
          <p:cNvGraphicFramePr>
            <a:graphicFrameLocks noChangeAspect="1"/>
          </p:cNvGraphicFramePr>
          <p:nvPr/>
        </p:nvGraphicFramePr>
        <p:xfrm>
          <a:off x="2195513" y="4581525"/>
          <a:ext cx="18526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9" name="Equation" r:id="rId13" imgW="927100" imgH="431800" progId="Equation.DSMT4">
                  <p:embed/>
                </p:oleObj>
              </mc:Choice>
              <mc:Fallback>
                <p:oleObj name="Equation" r:id="rId13" imgW="927100" imgH="431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581525"/>
                        <a:ext cx="18526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1" name="Object 27"/>
          <p:cNvGraphicFramePr>
            <a:graphicFrameLocks noChangeAspect="1"/>
          </p:cNvGraphicFramePr>
          <p:nvPr/>
        </p:nvGraphicFramePr>
        <p:xfrm>
          <a:off x="755650" y="5661025"/>
          <a:ext cx="24098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0" name="Equation" r:id="rId15" imgW="1206500" imgH="431800" progId="Equation.DSMT4">
                  <p:embed/>
                </p:oleObj>
              </mc:Choice>
              <mc:Fallback>
                <p:oleObj name="Equation" r:id="rId15" imgW="1206500" imgH="4318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661025"/>
                        <a:ext cx="24098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92" name="Line 28"/>
          <p:cNvSpPr>
            <a:spLocks noChangeShapeType="1"/>
          </p:cNvSpPr>
          <p:nvPr/>
        </p:nvSpPr>
        <p:spPr bwMode="auto">
          <a:xfrm>
            <a:off x="0" y="4437063"/>
            <a:ext cx="41402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Photocopy trans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288" y="1196752"/>
            <a:ext cx="833510" cy="93610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81573" y="980728"/>
            <a:ext cx="920877" cy="991392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500563" y="3521075"/>
            <a:ext cx="4608512" cy="3221038"/>
            <a:chOff x="4500563" y="3521075"/>
            <a:chExt cx="4608512" cy="3221038"/>
          </a:xfrm>
        </p:grpSpPr>
        <p:graphicFrame>
          <p:nvGraphicFramePr>
            <p:cNvPr id="21608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8596222"/>
                </p:ext>
              </p:extLst>
            </p:nvPr>
          </p:nvGraphicFramePr>
          <p:xfrm>
            <a:off x="4500563" y="3521075"/>
            <a:ext cx="4608512" cy="322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1" name="Visio" r:id="rId21" imgW="2639901" imgH="1759077" progId="Visio.Drawing.11">
                    <p:embed/>
                  </p:oleObj>
                </mc:Choice>
                <mc:Fallback>
                  <p:oleObj name="Visio" r:id="rId21" imgW="2639901" imgH="1759077" progId="Visio.Drawing.11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563" y="3521075"/>
                          <a:ext cx="4608512" cy="3221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9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937123" y="4166396"/>
              <a:ext cx="920877" cy="991392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092280" y="4393617"/>
              <a:ext cx="833510" cy="93610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1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70F756-27B3-495B-A805-E7AC3C5CE3B9}" type="datetime1">
              <a:rPr lang="zh-CN" altLang="en-US" smtClean="0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534FBA-0597-43B6-B0EE-70CE2D337E26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75856" y="476672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本章小结（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1000" y="1340768"/>
            <a:ext cx="851148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集成运算放大器的</a:t>
            </a:r>
            <a:r>
              <a:rPr lang="zh-CN" altLang="en-US" sz="2000" dirty="0">
                <a:solidFill>
                  <a:srgbClr val="FF0000"/>
                </a:solidFill>
              </a:rPr>
              <a:t>输入</a:t>
            </a:r>
            <a:r>
              <a:rPr lang="en-US" altLang="zh-CN" sz="20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输出特性是非线性的，是非线性器件。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然而，集成运算放大器特性上有一段</a:t>
            </a:r>
            <a:r>
              <a:rPr lang="zh-CN" altLang="en-US" sz="2000" dirty="0">
                <a:solidFill>
                  <a:srgbClr val="FF0000"/>
                </a:solidFill>
              </a:rPr>
              <a:t>线性区，</a:t>
            </a:r>
            <a:r>
              <a:rPr lang="zh-CN" altLang="en-US" sz="2000" dirty="0"/>
              <a:t>线性区对应的</a:t>
            </a:r>
            <a:r>
              <a:rPr lang="zh-CN" altLang="en-US" sz="2000" dirty="0">
                <a:solidFill>
                  <a:srgbClr val="FF3300"/>
                </a:solidFill>
              </a:rPr>
              <a:t>输入电压</a:t>
            </a:r>
            <a:r>
              <a:rPr lang="zh-CN" altLang="en-US" sz="2000" dirty="0"/>
              <a:t>范围为</a:t>
            </a:r>
            <a:r>
              <a:rPr lang="zh-CN" altLang="en-US" sz="2000" dirty="0">
                <a:solidFill>
                  <a:srgbClr val="FF0000"/>
                </a:solidFill>
              </a:rPr>
              <a:t>毫伏级。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集成运算放大器必须有</a:t>
            </a:r>
            <a:r>
              <a:rPr lang="zh-CN" altLang="en-US" sz="2000" dirty="0">
                <a:solidFill>
                  <a:srgbClr val="FF0000"/>
                </a:solidFill>
              </a:rPr>
              <a:t>负反馈</a:t>
            </a:r>
            <a:r>
              <a:rPr lang="zh-CN" altLang="en-US" sz="2000" dirty="0"/>
              <a:t>支路</a:t>
            </a:r>
            <a:r>
              <a:rPr lang="zh-CN" altLang="en-US" sz="2000" dirty="0">
                <a:solidFill>
                  <a:srgbClr val="FF0000"/>
                </a:solidFill>
              </a:rPr>
              <a:t>， </a:t>
            </a:r>
            <a:r>
              <a:rPr lang="zh-CN" altLang="en-US" sz="2000" dirty="0"/>
              <a:t>才可能</a:t>
            </a:r>
            <a:r>
              <a:rPr lang="zh-CN" altLang="en-US" sz="2000" dirty="0">
                <a:solidFill>
                  <a:srgbClr val="FF0000"/>
                </a:solidFill>
              </a:rPr>
              <a:t>稳定工作在线性区。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有负反馈支路的运算放大器是否工作在线性区，取决于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个参数：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电路的放大倍数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输入信号 </a:t>
            </a:r>
            <a:r>
              <a:rPr lang="en-US" altLang="zh-CN" sz="2000" dirty="0" err="1">
                <a:solidFill>
                  <a:srgbClr val="FF0000"/>
                </a:solidFill>
              </a:rPr>
              <a:t>u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的幅值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工作电源 </a:t>
            </a:r>
            <a:r>
              <a:rPr lang="en-US" altLang="zh-CN" sz="2000" dirty="0" err="1">
                <a:solidFill>
                  <a:srgbClr val="FF0000"/>
                </a:solidFill>
              </a:rPr>
              <a:t>U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cc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的大小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集成运算放大器的电路模型，是</a:t>
            </a:r>
            <a:r>
              <a:rPr lang="zh-CN" altLang="en-US" sz="2000" b="1" dirty="0">
                <a:solidFill>
                  <a:srgbClr val="FF0000"/>
                </a:solidFill>
              </a:rPr>
              <a:t>线性区</a:t>
            </a:r>
            <a:r>
              <a:rPr lang="zh-CN" altLang="en-US" sz="2000" dirty="0"/>
              <a:t>的近似模型。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运算放大器只有工作在线性区，才可近似为虚短路、虚断路。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818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70F756-27B3-495B-A805-E7AC3C5CE3B9}" type="datetime1">
              <a:rPr lang="zh-CN" altLang="en-US" smtClean="0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534FBA-0597-43B6-B0EE-70CE2D337E26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110236" y="176089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本章小结（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282773" y="1023652"/>
            <a:ext cx="2067149" cy="1653220"/>
            <a:chOff x="6038850" y="492126"/>
            <a:chExt cx="2976563" cy="2390776"/>
          </a:xfrm>
        </p:grpSpPr>
        <p:graphicFrame>
          <p:nvGraphicFramePr>
            <p:cNvPr id="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0465745"/>
                </p:ext>
              </p:extLst>
            </p:nvPr>
          </p:nvGraphicFramePr>
          <p:xfrm>
            <a:off x="6038850" y="492126"/>
            <a:ext cx="2976563" cy="2390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8" name="Visio" r:id="rId3" imgW="1517332" imgH="1224582" progId="Visio.Drawing.11">
                    <p:embed/>
                  </p:oleObj>
                </mc:Choice>
                <mc:Fallback>
                  <p:oleObj name="Visio" r:id="rId3" imgW="1517332" imgH="1224582" progId="Visio.Drawing.11">
                    <p:embed/>
                    <p:pic>
                      <p:nvPicPr>
                        <p:cNvPr id="21300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8850" y="492126"/>
                          <a:ext cx="2976563" cy="2390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232110" y="712432"/>
              <a:ext cx="1178780" cy="1110018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282451" y="983233"/>
            <a:ext cx="2853907" cy="1681358"/>
            <a:chOff x="-34316" y="1022626"/>
            <a:chExt cx="3972903" cy="2167455"/>
          </a:xfrm>
        </p:grpSpPr>
        <p:grpSp>
          <p:nvGrpSpPr>
            <p:cNvPr id="11" name="组合 10"/>
            <p:cNvGrpSpPr/>
            <p:nvPr/>
          </p:nvGrpSpPr>
          <p:grpSpPr>
            <a:xfrm>
              <a:off x="140404" y="1022626"/>
              <a:ext cx="3798183" cy="2167455"/>
              <a:chOff x="140404" y="1022626"/>
              <a:chExt cx="3798183" cy="2167455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40404" y="1123156"/>
                <a:ext cx="3798183" cy="2066925"/>
                <a:chOff x="140404" y="1123156"/>
                <a:chExt cx="3798183" cy="2066925"/>
              </a:xfrm>
            </p:grpSpPr>
            <p:grpSp>
              <p:nvGrpSpPr>
                <p:cNvPr id="16" name="Group 213"/>
                <p:cNvGrpSpPr>
                  <a:grpSpLocks/>
                </p:cNvGrpSpPr>
                <p:nvPr/>
              </p:nvGrpSpPr>
              <p:grpSpPr bwMode="auto">
                <a:xfrm>
                  <a:off x="2890204" y="2186230"/>
                  <a:ext cx="1048383" cy="836549"/>
                  <a:chOff x="2077" y="1815"/>
                  <a:chExt cx="672" cy="591"/>
                </a:xfrm>
              </p:grpSpPr>
              <p:graphicFrame>
                <p:nvGraphicFramePr>
                  <p:cNvPr id="18" name="Object 211"/>
                  <p:cNvGraphicFramePr>
                    <a:graphicFrameLocks noChangeAspect="1"/>
                  </p:cNvGraphicFramePr>
                  <p:nvPr/>
                </p:nvGraphicFramePr>
                <p:xfrm>
                  <a:off x="2077" y="1815"/>
                  <a:ext cx="672" cy="59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09" name="Flash Movie" r:id="rId7" imgW="799560" imgH="703440" progId="Flash.Movie">
                          <p:embed/>
                        </p:oleObj>
                      </mc:Choice>
                      <mc:Fallback>
                        <p:oleObj name="Flash Movie" r:id="rId7" imgW="799560" imgH="703440" progId="Flash.Movie">
                          <p:embed/>
                          <p:pic>
                            <p:nvPicPr>
                              <p:cNvPr id="12314" name="Object 21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77" y="1815"/>
                                <a:ext cx="672" cy="59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9" name="Line 2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6" y="1851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pic>
              <p:nvPicPr>
                <p:cNvPr id="17" name="图片 16"/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404" y="1123156"/>
                  <a:ext cx="3136196" cy="2066925"/>
                </a:xfrm>
                <a:prstGeom prst="rect">
                  <a:avLst/>
                </a:prstGeom>
              </p:spPr>
            </p:pic>
          </p:grpSp>
          <p:sp>
            <p:nvSpPr>
              <p:cNvPr id="14" name="文本框 13"/>
              <p:cNvSpPr txBox="1"/>
              <p:nvPr/>
            </p:nvSpPr>
            <p:spPr>
              <a:xfrm>
                <a:off x="854006" y="1772816"/>
                <a:ext cx="2616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</a:t>
                </a:r>
                <a:endParaRPr lang="zh-CN" altLang="en-US" sz="1200" dirty="0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944386" y="1022626"/>
                <a:ext cx="35618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i="1" dirty="0"/>
                  <a:t>R</a:t>
                </a:r>
                <a:r>
                  <a:rPr lang="en-US" altLang="zh-CN" sz="1600" i="1" baseline="-25000" dirty="0"/>
                  <a:t>2</a:t>
                </a:r>
                <a:endParaRPr lang="zh-CN" altLang="en-US" sz="1600" i="1" baseline="-25000" dirty="0"/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-34316" y="2280302"/>
              <a:ext cx="349439" cy="31740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i="1" dirty="0"/>
                <a:t>u</a:t>
              </a:r>
              <a:r>
                <a:rPr lang="en-US" altLang="zh-CN" sz="1600" i="1" baseline="-25000" dirty="0"/>
                <a:t>s</a:t>
              </a:r>
              <a:endParaRPr lang="zh-CN" altLang="en-US" sz="1600" i="1" baseline="-250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874799" y="975886"/>
            <a:ext cx="2259006" cy="1653220"/>
            <a:chOff x="381000" y="3733800"/>
            <a:chExt cx="3813175" cy="2390775"/>
          </a:xfrm>
        </p:grpSpPr>
        <p:graphicFrame>
          <p:nvGraphicFramePr>
            <p:cNvPr id="2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1329896"/>
                </p:ext>
              </p:extLst>
            </p:nvPr>
          </p:nvGraphicFramePr>
          <p:xfrm>
            <a:off x="381000" y="3733800"/>
            <a:ext cx="3813175" cy="2390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0" name="Visio" r:id="rId11" imgW="1923961" imgH="1209922" progId="Visio.Drawing.11">
                    <p:embed/>
                  </p:oleObj>
                </mc:Choice>
                <mc:Fallback>
                  <p:oleObj name="Visio" r:id="rId11" imgW="1923961" imgH="1209922" progId="Visio.Drawing.11">
                    <p:embed/>
                    <p:pic>
                      <p:nvPicPr>
                        <p:cNvPr id="21301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" y="3733800"/>
                          <a:ext cx="3813175" cy="2390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41654" y="3933251"/>
              <a:ext cx="1115919" cy="1050823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243360" y="3918510"/>
            <a:ext cx="2569510" cy="1592267"/>
            <a:chOff x="4686300" y="1395413"/>
            <a:chExt cx="4076700" cy="2606675"/>
          </a:xfrm>
        </p:grpSpPr>
        <p:graphicFrame>
          <p:nvGraphicFramePr>
            <p:cNvPr id="25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5687640"/>
                </p:ext>
              </p:extLst>
            </p:nvPr>
          </p:nvGraphicFramePr>
          <p:xfrm>
            <a:off x="4686300" y="1395413"/>
            <a:ext cx="4076700" cy="2606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1" name="Visio" r:id="rId13" imgW="2067258" imgH="1332595" progId="Visio.Drawing.11">
                    <p:embed/>
                  </p:oleObj>
                </mc:Choice>
                <mc:Fallback>
                  <p:oleObj name="Visio" r:id="rId13" imgW="2067258" imgH="1332595" progId="Visio.Drawing.11">
                    <p:embed/>
                    <p:pic>
                      <p:nvPicPr>
                        <p:cNvPr id="17414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6300" y="1395413"/>
                          <a:ext cx="4076700" cy="2606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48264" y="2132856"/>
              <a:ext cx="1114559" cy="1080120"/>
            </a:xfrm>
            <a:prstGeom prst="rect">
              <a:avLst/>
            </a:prstGeom>
          </p:spPr>
        </p:pic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41399" y="4005080"/>
            <a:ext cx="2695859" cy="1434161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6156176" y="3611592"/>
            <a:ext cx="1944216" cy="2049656"/>
            <a:chOff x="5651500" y="1497013"/>
            <a:chExt cx="2979738" cy="3300412"/>
          </a:xfrm>
        </p:grpSpPr>
        <p:graphicFrame>
          <p:nvGraphicFramePr>
            <p:cNvPr id="32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414012"/>
                </p:ext>
              </p:extLst>
            </p:nvPr>
          </p:nvGraphicFramePr>
          <p:xfrm>
            <a:off x="5651500" y="1497013"/>
            <a:ext cx="2979738" cy="3300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2" name="Visio" r:id="rId18" imgW="1517332" imgH="1677638" progId="Visio.Drawing.11">
                    <p:embed/>
                  </p:oleObj>
                </mc:Choice>
                <mc:Fallback>
                  <p:oleObj name="Visio" r:id="rId18" imgW="1517332" imgH="1677638" progId="Visio.Drawing.11">
                    <p:embed/>
                    <p:pic>
                      <p:nvPicPr>
                        <p:cNvPr id="215062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1500" y="1497013"/>
                          <a:ext cx="2979738" cy="3300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51352" y="1766665"/>
              <a:ext cx="1086471" cy="1023093"/>
            </a:xfrm>
            <a:prstGeom prst="rect">
              <a:avLst/>
            </a:prstGeom>
          </p:spPr>
        </p:pic>
      </p:grpSp>
      <p:sp>
        <p:nvSpPr>
          <p:cNvPr id="34" name="矩形 33"/>
          <p:cNvSpPr/>
          <p:nvPr/>
        </p:nvSpPr>
        <p:spPr>
          <a:xfrm>
            <a:off x="767168" y="282006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反相比例放大器</a:t>
            </a:r>
            <a:endParaRPr lang="zh-CN" altLang="en-US" dirty="0"/>
          </a:p>
        </p:txBody>
      </p:sp>
      <p:graphicFrame>
        <p:nvGraphicFramePr>
          <p:cNvPr id="3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08438"/>
              </p:ext>
            </p:extLst>
          </p:nvPr>
        </p:nvGraphicFramePr>
        <p:xfrm>
          <a:off x="941456" y="3261771"/>
          <a:ext cx="1110264" cy="66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3" name="Equation" r:id="rId20" imgW="628524" imgH="373390" progId="Equation.DSMT4">
                  <p:embed/>
                </p:oleObj>
              </mc:Choice>
              <mc:Fallback>
                <p:oleObj name="Equation" r:id="rId20" imgW="628524" imgH="373390" progId="Equation.DSMT4">
                  <p:embed/>
                  <p:pic>
                    <p:nvPicPr>
                      <p:cNvPr id="23144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456" y="3261771"/>
                        <a:ext cx="1110264" cy="668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459353"/>
              </p:ext>
            </p:extLst>
          </p:nvPr>
        </p:nvGraphicFramePr>
        <p:xfrm>
          <a:off x="3704560" y="3365623"/>
          <a:ext cx="1223579" cy="593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4" name="Equation" r:id="rId22" imgW="888614" imgH="431613" progId="Equation.DSMT4">
                  <p:embed/>
                </p:oleObj>
              </mc:Choice>
              <mc:Fallback>
                <p:oleObj name="Equation" r:id="rId22" imgW="888614" imgH="431613" progId="Equation.DSMT4">
                  <p:embed/>
                  <p:pic>
                    <p:nvPicPr>
                      <p:cNvPr id="21300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4560" y="3365623"/>
                        <a:ext cx="1223579" cy="593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3358394" y="2869127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同向比例放大器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301475" y="289243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电压跟随器</a:t>
            </a:r>
            <a:endParaRPr lang="zh-CN" altLang="en-US" dirty="0"/>
          </a:p>
        </p:txBody>
      </p:sp>
      <p:graphicFrame>
        <p:nvGraphicFramePr>
          <p:cNvPr id="3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991191"/>
              </p:ext>
            </p:extLst>
          </p:nvPr>
        </p:nvGraphicFramePr>
        <p:xfrm>
          <a:off x="6751228" y="3138995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" name="Equation" r:id="rId24" imgW="419100" imgH="228600" progId="Equation.DSMT4">
                  <p:embed/>
                </p:oleObj>
              </mc:Choice>
              <mc:Fallback>
                <p:oleObj name="Equation" r:id="rId24" imgW="419100" imgH="228600" progId="Equation.DSMT4">
                  <p:embed/>
                  <p:pic>
                    <p:nvPicPr>
                      <p:cNvPr id="21301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1228" y="3138995"/>
                        <a:ext cx="83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/>
          <p:nvPr/>
        </p:nvSpPr>
        <p:spPr>
          <a:xfrm>
            <a:off x="621987" y="557507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反相求和放大器</a:t>
            </a:r>
            <a:endParaRPr lang="zh-CN" altLang="en-US" dirty="0"/>
          </a:p>
        </p:txBody>
      </p:sp>
      <p:graphicFrame>
        <p:nvGraphicFramePr>
          <p:cNvPr id="4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596056"/>
              </p:ext>
            </p:extLst>
          </p:nvPr>
        </p:nvGraphicFramePr>
        <p:xfrm>
          <a:off x="267664" y="5914644"/>
          <a:ext cx="2291774" cy="564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6" name="公式" r:id="rId26" imgW="1854200" imgH="457200" progId="Equation.3">
                  <p:embed/>
                </p:oleObj>
              </mc:Choice>
              <mc:Fallback>
                <p:oleObj name="公式" r:id="rId26" imgW="1854200" imgH="457200" progId="Equation.3">
                  <p:embed/>
                  <p:pic>
                    <p:nvPicPr>
                      <p:cNvPr id="21404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64" y="5914644"/>
                        <a:ext cx="2291774" cy="564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/>
              <p:cNvSpPr txBox="1"/>
              <p:nvPr/>
            </p:nvSpPr>
            <p:spPr>
              <a:xfrm>
                <a:off x="3068403" y="5932297"/>
                <a:ext cx="2374496" cy="54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403" y="5932297"/>
                <a:ext cx="2374496" cy="546945"/>
              </a:xfrm>
              <a:prstGeom prst="rect">
                <a:avLst/>
              </a:prstGeom>
              <a:blipFill>
                <a:blip r:embed="rId28"/>
                <a:stretch>
                  <a:fillRect t="-1111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/>
          <p:cNvSpPr/>
          <p:nvPr/>
        </p:nvSpPr>
        <p:spPr>
          <a:xfrm>
            <a:off x="3275856" y="551646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同相求和放大器</a:t>
            </a:r>
            <a:endParaRPr lang="zh-CN" altLang="en-US" dirty="0"/>
          </a:p>
        </p:txBody>
      </p:sp>
      <p:graphicFrame>
        <p:nvGraphicFramePr>
          <p:cNvPr id="4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009710"/>
              </p:ext>
            </p:extLst>
          </p:nvPr>
        </p:nvGraphicFramePr>
        <p:xfrm>
          <a:off x="6314770" y="5963330"/>
          <a:ext cx="1696463" cy="533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7" name="Equation" r:id="rId29" imgW="1371600" imgH="431800" progId="Equation.DSMT4">
                  <p:embed/>
                </p:oleObj>
              </mc:Choice>
              <mc:Fallback>
                <p:oleObj name="Equation" r:id="rId29" imgW="1371600" imgH="431800" progId="Equation.DSMT4">
                  <p:embed/>
                  <p:pic>
                    <p:nvPicPr>
                      <p:cNvPr id="21507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4770" y="5963330"/>
                        <a:ext cx="1696463" cy="533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5923833" y="559399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差分放大器（减法器）</a:t>
            </a:r>
            <a:endParaRPr lang="en-US" altLang="zh-CN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49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70F756-27B3-495B-A805-E7AC3C5CE3B9}" type="datetime1">
              <a:rPr lang="zh-CN" altLang="en-US" smtClean="0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534FBA-0597-43B6-B0EE-70CE2D337E26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" y="1196752"/>
            <a:ext cx="9002823" cy="45365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606" y="2132856"/>
            <a:ext cx="3214663" cy="338437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483" y="2291283"/>
            <a:ext cx="3293928" cy="32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70F756-27B3-495B-A805-E7AC3C5CE3B9}" type="datetime1">
              <a:rPr lang="zh-CN" altLang="en-US" smtClean="0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534FBA-0597-43B6-B0EE-70CE2D337E26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8" y="1196752"/>
            <a:ext cx="9002823" cy="45365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048460"/>
            <a:ext cx="3500017" cy="3684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2276872"/>
            <a:ext cx="2966928" cy="31683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856" y="2132856"/>
            <a:ext cx="864096" cy="74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6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dirty="0"/>
              <a:t>5.2</a:t>
            </a:r>
            <a:r>
              <a:rPr lang="zh-CN" altLang="en-US" dirty="0"/>
              <a:t>节：</a:t>
            </a:r>
            <a:r>
              <a:rPr lang="en-US" altLang="zh-CN" dirty="0"/>
              <a:t>5-2</a:t>
            </a:r>
          </a:p>
          <a:p>
            <a:r>
              <a:rPr lang="en-US" altLang="zh-CN" dirty="0"/>
              <a:t>5.3</a:t>
            </a:r>
            <a:r>
              <a:rPr lang="zh-CN" altLang="en-US" dirty="0"/>
              <a:t>节：</a:t>
            </a:r>
            <a:r>
              <a:rPr lang="en-US" altLang="zh-CN" dirty="0"/>
              <a:t>5-6</a:t>
            </a:r>
            <a:r>
              <a:rPr lang="zh-CN" altLang="en-US" dirty="0"/>
              <a:t>，</a:t>
            </a:r>
            <a:r>
              <a:rPr lang="en-US" altLang="zh-CN" dirty="0"/>
              <a:t>5-7</a:t>
            </a:r>
            <a:r>
              <a:rPr lang="zh-CN" altLang="en-US" dirty="0"/>
              <a:t>，</a:t>
            </a:r>
            <a:r>
              <a:rPr lang="en-US" altLang="zh-CN" dirty="0"/>
              <a:t>5-10</a:t>
            </a:r>
          </a:p>
          <a:p>
            <a:r>
              <a:rPr lang="en-US" altLang="zh-CN" dirty="0"/>
              <a:t>5.4</a:t>
            </a:r>
            <a:r>
              <a:rPr lang="zh-CN" altLang="en-US" dirty="0"/>
              <a:t>节：</a:t>
            </a:r>
            <a:r>
              <a:rPr lang="en-US" altLang="zh-CN" dirty="0"/>
              <a:t>5-13</a:t>
            </a:r>
          </a:p>
          <a:p>
            <a:r>
              <a:rPr lang="en-US" altLang="zh-CN" dirty="0"/>
              <a:t>5.5</a:t>
            </a:r>
            <a:r>
              <a:rPr lang="zh-CN" altLang="en-US" dirty="0"/>
              <a:t>节：</a:t>
            </a:r>
            <a:r>
              <a:rPr lang="en-US" altLang="zh-CN" dirty="0"/>
              <a:t>5-22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29</a:t>
            </a:r>
            <a:r>
              <a:rPr lang="zh-CN" altLang="en-US" dirty="0"/>
              <a:t>日周五提前</a:t>
            </a:r>
            <a:r>
              <a:rPr lang="en-US" altLang="zh-CN" dirty="0"/>
              <a:t>5</a:t>
            </a:r>
            <a:r>
              <a:rPr lang="zh-CN" altLang="en-US" dirty="0"/>
              <a:t>分钟到</a:t>
            </a:r>
            <a:r>
              <a:rPr lang="zh-CN" altLang="en-US"/>
              <a:t>课堂，准备</a:t>
            </a:r>
            <a:r>
              <a:rPr lang="zh-CN" altLang="en-US" dirty="0"/>
              <a:t>随堂练习。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2024/3/26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106621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隶书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11326</TotalTime>
  <Words>1139</Words>
  <Application>Microsoft Office PowerPoint</Application>
  <PresentationFormat>全屏显示(4:3)</PresentationFormat>
  <Paragraphs>244</Paragraphs>
  <Slides>26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黑体</vt:lpstr>
      <vt:lpstr>华文中宋</vt:lpstr>
      <vt:lpstr>楷体_GB2312</vt:lpstr>
      <vt:lpstr>隶书</vt:lpstr>
      <vt:lpstr>宋体</vt:lpstr>
      <vt:lpstr>幼圆</vt:lpstr>
      <vt:lpstr>Arial</vt:lpstr>
      <vt:lpstr>Cambria Math</vt:lpstr>
      <vt:lpstr>Times New Roman</vt:lpstr>
      <vt:lpstr>Wingdings</vt:lpstr>
      <vt:lpstr>默认设计模板</vt:lpstr>
      <vt:lpstr>Visio</vt:lpstr>
      <vt:lpstr>Equation</vt:lpstr>
      <vt:lpstr>Flash Movie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理想运放 ideal operational amplifiers</vt:lpstr>
      <vt:lpstr>PowerPoint 演示文稿</vt:lpstr>
      <vt:lpstr>PowerPoint 演示文稿</vt:lpstr>
      <vt:lpstr>PowerPoint 演示文稿</vt:lpstr>
      <vt:lpstr>PowerPoint 演示文稿</vt:lpstr>
      <vt:lpstr>5.3运算放大电路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运算放大器</dc:title>
  <dc:creator>qryan</dc:creator>
  <cp:lastModifiedBy>Administrator</cp:lastModifiedBy>
  <cp:revision>576</cp:revision>
  <cp:lastPrinted>2004-03-17T08:18:10Z</cp:lastPrinted>
  <dcterms:created xsi:type="dcterms:W3CDTF">2001-01-13T02:14:45Z</dcterms:created>
  <dcterms:modified xsi:type="dcterms:W3CDTF">2024-03-25T23:57:52Z</dcterms:modified>
</cp:coreProperties>
</file>