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5"/>
  </p:notesMasterIdLst>
  <p:handoutMasterIdLst>
    <p:handoutMasterId r:id="rId76"/>
  </p:handoutMasterIdLst>
  <p:sldIdLst>
    <p:sldId id="330" r:id="rId2"/>
    <p:sldId id="410" r:id="rId3"/>
    <p:sldId id="451" r:id="rId4"/>
    <p:sldId id="472" r:id="rId5"/>
    <p:sldId id="421" r:id="rId6"/>
    <p:sldId id="452" r:id="rId7"/>
    <p:sldId id="453" r:id="rId8"/>
    <p:sldId id="454" r:id="rId9"/>
    <p:sldId id="461" r:id="rId10"/>
    <p:sldId id="455" r:id="rId11"/>
    <p:sldId id="456" r:id="rId12"/>
    <p:sldId id="457" r:id="rId13"/>
    <p:sldId id="458" r:id="rId14"/>
    <p:sldId id="423" r:id="rId15"/>
    <p:sldId id="459" r:id="rId16"/>
    <p:sldId id="425" r:id="rId17"/>
    <p:sldId id="424" r:id="rId18"/>
    <p:sldId id="460" r:id="rId19"/>
    <p:sldId id="473" r:id="rId20"/>
    <p:sldId id="476" r:id="rId21"/>
    <p:sldId id="467" r:id="rId22"/>
    <p:sldId id="471" r:id="rId23"/>
    <p:sldId id="463" r:id="rId24"/>
    <p:sldId id="462" r:id="rId25"/>
    <p:sldId id="435" r:id="rId26"/>
    <p:sldId id="474" r:id="rId27"/>
    <p:sldId id="438" r:id="rId28"/>
    <p:sldId id="439" r:id="rId29"/>
    <p:sldId id="442" r:id="rId30"/>
    <p:sldId id="477" r:id="rId31"/>
    <p:sldId id="443" r:id="rId32"/>
    <p:sldId id="491" r:id="rId33"/>
    <p:sldId id="492" r:id="rId34"/>
    <p:sldId id="464" r:id="rId35"/>
    <p:sldId id="440" r:id="rId36"/>
    <p:sldId id="478" r:id="rId37"/>
    <p:sldId id="480" r:id="rId38"/>
    <p:sldId id="481" r:id="rId39"/>
    <p:sldId id="482" r:id="rId40"/>
    <p:sldId id="484" r:id="rId41"/>
    <p:sldId id="485" r:id="rId42"/>
    <p:sldId id="486" r:id="rId43"/>
    <p:sldId id="487" r:id="rId44"/>
    <p:sldId id="488" r:id="rId45"/>
    <p:sldId id="493" r:id="rId46"/>
    <p:sldId id="494" r:id="rId47"/>
    <p:sldId id="489" r:id="rId48"/>
    <p:sldId id="444" r:id="rId49"/>
    <p:sldId id="470" r:id="rId50"/>
    <p:sldId id="445" r:id="rId51"/>
    <p:sldId id="465" r:id="rId52"/>
    <p:sldId id="466" r:id="rId53"/>
    <p:sldId id="446" r:id="rId54"/>
    <p:sldId id="447" r:id="rId55"/>
    <p:sldId id="448" r:id="rId56"/>
    <p:sldId id="449" r:id="rId57"/>
    <p:sldId id="450" r:id="rId58"/>
    <p:sldId id="490" r:id="rId59"/>
    <p:sldId id="495" r:id="rId60"/>
    <p:sldId id="496" r:id="rId61"/>
    <p:sldId id="497" r:id="rId62"/>
    <p:sldId id="498" r:id="rId63"/>
    <p:sldId id="499" r:id="rId64"/>
    <p:sldId id="500" r:id="rId65"/>
    <p:sldId id="501" r:id="rId66"/>
    <p:sldId id="502" r:id="rId67"/>
    <p:sldId id="503" r:id="rId68"/>
    <p:sldId id="504" r:id="rId69"/>
    <p:sldId id="506" r:id="rId70"/>
    <p:sldId id="508" r:id="rId71"/>
    <p:sldId id="507" r:id="rId72"/>
    <p:sldId id="505" r:id="rId73"/>
    <p:sldId id="468" r:id="rId74"/>
  </p:sldIdLst>
  <p:sldSz cx="9144000" cy="6858000" type="screen4x3"/>
  <p:notesSz cx="10234613" cy="70993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幼圆" panose="02010509060101010101" pitchFamily="49" charset="-122"/>
        <a:ea typeface="幼圆" panose="02010509060101010101" pitchFamily="49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幼圆" panose="02010509060101010101" pitchFamily="49" charset="-122"/>
        <a:ea typeface="幼圆" panose="02010509060101010101" pitchFamily="49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幼圆" panose="02010509060101010101" pitchFamily="49" charset="-122"/>
        <a:ea typeface="幼圆" panose="02010509060101010101" pitchFamily="49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幼圆" panose="02010509060101010101" pitchFamily="49" charset="-122"/>
        <a:ea typeface="幼圆" panose="02010509060101010101" pitchFamily="49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幼圆" panose="02010509060101010101" pitchFamily="49" charset="-122"/>
        <a:ea typeface="幼圆" panose="02010509060101010101" pitchFamily="49" charset="-122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幼圆" panose="02010509060101010101" pitchFamily="49" charset="-122"/>
        <a:ea typeface="幼圆" panose="02010509060101010101" pitchFamily="49" charset="-122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幼圆" panose="02010509060101010101" pitchFamily="49" charset="-122"/>
        <a:ea typeface="幼圆" panose="02010509060101010101" pitchFamily="49" charset="-122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幼圆" panose="02010509060101010101" pitchFamily="49" charset="-122"/>
        <a:ea typeface="幼圆" panose="02010509060101010101" pitchFamily="49" charset="-122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幼圆" panose="02010509060101010101" pitchFamily="49" charset="-122"/>
        <a:ea typeface="幼圆" panose="020105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236">
          <p15:clr>
            <a:srgbClr val="A4A3A4"/>
          </p15:clr>
        </p15:guide>
        <p15:guide id="2" pos="322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FF0000"/>
    <a:srgbClr val="336600"/>
    <a:srgbClr val="003300"/>
    <a:srgbClr val="CCECFF"/>
    <a:srgbClr val="FFFFFF"/>
    <a:srgbClr val="CCFFFF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59" autoAdjust="0"/>
    <p:restoredTop sz="94737" autoAdjust="0"/>
  </p:normalViewPr>
  <p:slideViewPr>
    <p:cSldViewPr>
      <p:cViewPr varScale="1">
        <p:scale>
          <a:sx n="62" d="100"/>
          <a:sy n="62" d="100"/>
        </p:scale>
        <p:origin x="1408" y="2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5" d="100"/>
          <a:sy n="65" d="100"/>
        </p:scale>
        <p:origin x="-3042" y="-114"/>
      </p:cViewPr>
      <p:guideLst>
        <p:guide orient="horz" pos="2236"/>
        <p:guide pos="322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image" Target="../media/image8.emf"/><Relationship Id="rId7" Type="http://schemas.openxmlformats.org/officeDocument/2006/relationships/image" Target="../media/image5.emf"/><Relationship Id="rId2" Type="http://schemas.openxmlformats.org/officeDocument/2006/relationships/image" Target="../media/image7.wmf"/><Relationship Id="rId1" Type="http://schemas.openxmlformats.org/officeDocument/2006/relationships/image" Target="../media/image6.emf"/><Relationship Id="rId6" Type="http://schemas.openxmlformats.org/officeDocument/2006/relationships/image" Target="../media/image10.emf"/><Relationship Id="rId5" Type="http://schemas.openxmlformats.org/officeDocument/2006/relationships/image" Target="../media/image4.emf"/><Relationship Id="rId4" Type="http://schemas.openxmlformats.org/officeDocument/2006/relationships/image" Target="../media/image9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Relationship Id="rId4" Type="http://schemas.openxmlformats.org/officeDocument/2006/relationships/image" Target="../media/image25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27.wmf"/><Relationship Id="rId1" Type="http://schemas.openxmlformats.org/officeDocument/2006/relationships/image" Target="../media/image26.emf"/><Relationship Id="rId5" Type="http://schemas.openxmlformats.org/officeDocument/2006/relationships/image" Target="../media/image30.wmf"/><Relationship Id="rId4" Type="http://schemas.openxmlformats.org/officeDocument/2006/relationships/image" Target="../media/image29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33.wmf"/><Relationship Id="rId1" Type="http://schemas.openxmlformats.org/officeDocument/2006/relationships/image" Target="../media/image32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41.emf"/><Relationship Id="rId3" Type="http://schemas.openxmlformats.org/officeDocument/2006/relationships/image" Target="../media/image36.emf"/><Relationship Id="rId7" Type="http://schemas.openxmlformats.org/officeDocument/2006/relationships/image" Target="../media/image40.wmf"/><Relationship Id="rId2" Type="http://schemas.openxmlformats.org/officeDocument/2006/relationships/image" Target="../media/image35.emf"/><Relationship Id="rId1" Type="http://schemas.openxmlformats.org/officeDocument/2006/relationships/image" Target="../media/image34.emf"/><Relationship Id="rId6" Type="http://schemas.openxmlformats.org/officeDocument/2006/relationships/image" Target="../media/image39.wmf"/><Relationship Id="rId5" Type="http://schemas.openxmlformats.org/officeDocument/2006/relationships/image" Target="../media/image38.emf"/><Relationship Id="rId4" Type="http://schemas.openxmlformats.org/officeDocument/2006/relationships/image" Target="../media/image37.e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50.emf"/><Relationship Id="rId3" Type="http://schemas.openxmlformats.org/officeDocument/2006/relationships/image" Target="../media/image45.emf"/><Relationship Id="rId7" Type="http://schemas.openxmlformats.org/officeDocument/2006/relationships/image" Target="../media/image49.wmf"/><Relationship Id="rId2" Type="http://schemas.openxmlformats.org/officeDocument/2006/relationships/image" Target="../media/image44.emf"/><Relationship Id="rId1" Type="http://schemas.openxmlformats.org/officeDocument/2006/relationships/image" Target="../media/image43.emf"/><Relationship Id="rId6" Type="http://schemas.openxmlformats.org/officeDocument/2006/relationships/image" Target="../media/image48.wmf"/><Relationship Id="rId5" Type="http://schemas.openxmlformats.org/officeDocument/2006/relationships/image" Target="../media/image47.emf"/><Relationship Id="rId10" Type="http://schemas.openxmlformats.org/officeDocument/2006/relationships/image" Target="../media/image52.wmf"/><Relationship Id="rId4" Type="http://schemas.openxmlformats.org/officeDocument/2006/relationships/image" Target="../media/image46.emf"/><Relationship Id="rId9" Type="http://schemas.openxmlformats.org/officeDocument/2006/relationships/image" Target="../media/image51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4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5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5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58.emf"/><Relationship Id="rId2" Type="http://schemas.openxmlformats.org/officeDocument/2006/relationships/image" Target="../media/image57.emf"/><Relationship Id="rId1" Type="http://schemas.openxmlformats.org/officeDocument/2006/relationships/image" Target="../media/image56.emf"/><Relationship Id="rId4" Type="http://schemas.openxmlformats.org/officeDocument/2006/relationships/image" Target="../media/image59.e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62.emf"/><Relationship Id="rId7" Type="http://schemas.openxmlformats.org/officeDocument/2006/relationships/image" Target="../media/image66.wmf"/><Relationship Id="rId2" Type="http://schemas.openxmlformats.org/officeDocument/2006/relationships/image" Target="../media/image61.emf"/><Relationship Id="rId1" Type="http://schemas.openxmlformats.org/officeDocument/2006/relationships/image" Target="../media/image60.emf"/><Relationship Id="rId6" Type="http://schemas.openxmlformats.org/officeDocument/2006/relationships/image" Target="../media/image65.wmf"/><Relationship Id="rId5" Type="http://schemas.openxmlformats.org/officeDocument/2006/relationships/image" Target="../media/image64.wmf"/><Relationship Id="rId4" Type="http://schemas.openxmlformats.org/officeDocument/2006/relationships/image" Target="../media/image63.w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74.wmf"/><Relationship Id="rId3" Type="http://schemas.openxmlformats.org/officeDocument/2006/relationships/image" Target="../media/image69.wmf"/><Relationship Id="rId7" Type="http://schemas.openxmlformats.org/officeDocument/2006/relationships/image" Target="../media/image73.wmf"/><Relationship Id="rId2" Type="http://schemas.openxmlformats.org/officeDocument/2006/relationships/image" Target="../media/image68.wmf"/><Relationship Id="rId1" Type="http://schemas.openxmlformats.org/officeDocument/2006/relationships/image" Target="../media/image67.wmf"/><Relationship Id="rId6" Type="http://schemas.openxmlformats.org/officeDocument/2006/relationships/image" Target="../media/image72.wmf"/><Relationship Id="rId5" Type="http://schemas.openxmlformats.org/officeDocument/2006/relationships/image" Target="../media/image71.wmf"/><Relationship Id="rId4" Type="http://schemas.openxmlformats.org/officeDocument/2006/relationships/image" Target="../media/image70.wmf"/><Relationship Id="rId9" Type="http://schemas.openxmlformats.org/officeDocument/2006/relationships/image" Target="../media/image75.w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80.wmf"/><Relationship Id="rId3" Type="http://schemas.openxmlformats.org/officeDocument/2006/relationships/image" Target="../media/image75.wmf"/><Relationship Id="rId7" Type="http://schemas.openxmlformats.org/officeDocument/2006/relationships/image" Target="../media/image79.wmf"/><Relationship Id="rId2" Type="http://schemas.openxmlformats.org/officeDocument/2006/relationships/image" Target="../media/image73.wmf"/><Relationship Id="rId1" Type="http://schemas.openxmlformats.org/officeDocument/2006/relationships/image" Target="../media/image74.wmf"/><Relationship Id="rId6" Type="http://schemas.openxmlformats.org/officeDocument/2006/relationships/image" Target="../media/image78.wmf"/><Relationship Id="rId5" Type="http://schemas.openxmlformats.org/officeDocument/2006/relationships/image" Target="../media/image77.wmf"/><Relationship Id="rId4" Type="http://schemas.openxmlformats.org/officeDocument/2006/relationships/image" Target="../media/image76.wmf"/><Relationship Id="rId9" Type="http://schemas.openxmlformats.org/officeDocument/2006/relationships/image" Target="../media/image81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87.wmf"/><Relationship Id="rId3" Type="http://schemas.openxmlformats.org/officeDocument/2006/relationships/image" Target="../media/image82.wmf"/><Relationship Id="rId7" Type="http://schemas.openxmlformats.org/officeDocument/2006/relationships/image" Target="../media/image86.wmf"/><Relationship Id="rId2" Type="http://schemas.openxmlformats.org/officeDocument/2006/relationships/image" Target="../media/image74.wmf"/><Relationship Id="rId1" Type="http://schemas.openxmlformats.org/officeDocument/2006/relationships/image" Target="../media/image73.wmf"/><Relationship Id="rId6" Type="http://schemas.openxmlformats.org/officeDocument/2006/relationships/image" Target="../media/image85.wmf"/><Relationship Id="rId11" Type="http://schemas.openxmlformats.org/officeDocument/2006/relationships/image" Target="../media/image90.wmf"/><Relationship Id="rId5" Type="http://schemas.openxmlformats.org/officeDocument/2006/relationships/image" Target="../media/image84.wmf"/><Relationship Id="rId10" Type="http://schemas.openxmlformats.org/officeDocument/2006/relationships/image" Target="../media/image89.wmf"/><Relationship Id="rId4" Type="http://schemas.openxmlformats.org/officeDocument/2006/relationships/image" Target="../media/image83.wmf"/><Relationship Id="rId9" Type="http://schemas.openxmlformats.org/officeDocument/2006/relationships/image" Target="../media/image88.w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88.wmf"/><Relationship Id="rId3" Type="http://schemas.openxmlformats.org/officeDocument/2006/relationships/image" Target="../media/image77.wmf"/><Relationship Id="rId7" Type="http://schemas.openxmlformats.org/officeDocument/2006/relationships/image" Target="../media/image87.wmf"/><Relationship Id="rId12" Type="http://schemas.openxmlformats.org/officeDocument/2006/relationships/image" Target="../media/image85.wmf"/><Relationship Id="rId2" Type="http://schemas.openxmlformats.org/officeDocument/2006/relationships/image" Target="../media/image74.wmf"/><Relationship Id="rId1" Type="http://schemas.openxmlformats.org/officeDocument/2006/relationships/image" Target="../media/image73.wmf"/><Relationship Id="rId6" Type="http://schemas.openxmlformats.org/officeDocument/2006/relationships/image" Target="../media/image86.wmf"/><Relationship Id="rId11" Type="http://schemas.openxmlformats.org/officeDocument/2006/relationships/image" Target="../media/image80.wmf"/><Relationship Id="rId5" Type="http://schemas.openxmlformats.org/officeDocument/2006/relationships/image" Target="../media/image81.wmf"/><Relationship Id="rId10" Type="http://schemas.openxmlformats.org/officeDocument/2006/relationships/image" Target="../media/image89.wmf"/><Relationship Id="rId4" Type="http://schemas.openxmlformats.org/officeDocument/2006/relationships/image" Target="../media/image79.wmf"/><Relationship Id="rId9" Type="http://schemas.openxmlformats.org/officeDocument/2006/relationships/image" Target="../media/image90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85.wmf"/><Relationship Id="rId7" Type="http://schemas.openxmlformats.org/officeDocument/2006/relationships/image" Target="../media/image94.wmf"/><Relationship Id="rId2" Type="http://schemas.openxmlformats.org/officeDocument/2006/relationships/image" Target="../media/image74.wmf"/><Relationship Id="rId1" Type="http://schemas.openxmlformats.org/officeDocument/2006/relationships/image" Target="../media/image73.wmf"/><Relationship Id="rId6" Type="http://schemas.openxmlformats.org/officeDocument/2006/relationships/image" Target="../media/image93.wmf"/><Relationship Id="rId5" Type="http://schemas.openxmlformats.org/officeDocument/2006/relationships/image" Target="../media/image92.wmf"/><Relationship Id="rId4" Type="http://schemas.openxmlformats.org/officeDocument/2006/relationships/image" Target="../media/image91.wmf"/></Relationships>
</file>

<file path=ppt/drawings/_rels/vmlDrawing21.vml.rels><?xml version="1.0" encoding="UTF-8" standalone="yes"?>
<Relationships xmlns="http://schemas.openxmlformats.org/package/2006/relationships"><Relationship Id="rId2" Type="http://schemas.openxmlformats.org/officeDocument/2006/relationships/image" Target="../media/image74.wmf"/><Relationship Id="rId1" Type="http://schemas.openxmlformats.org/officeDocument/2006/relationships/image" Target="../media/image73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5.wmf"/><Relationship Id="rId2" Type="http://schemas.openxmlformats.org/officeDocument/2006/relationships/image" Target="../media/image74.wmf"/><Relationship Id="rId1" Type="http://schemas.openxmlformats.org/officeDocument/2006/relationships/image" Target="../media/image73.wmf"/><Relationship Id="rId5" Type="http://schemas.openxmlformats.org/officeDocument/2006/relationships/image" Target="../media/image94.wmf"/><Relationship Id="rId4" Type="http://schemas.openxmlformats.org/officeDocument/2006/relationships/image" Target="../media/image91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97.wmf"/><Relationship Id="rId2" Type="http://schemas.openxmlformats.org/officeDocument/2006/relationships/image" Target="../media/image96.emf"/><Relationship Id="rId1" Type="http://schemas.openxmlformats.org/officeDocument/2006/relationships/image" Target="../media/image95.emf"/><Relationship Id="rId4" Type="http://schemas.openxmlformats.org/officeDocument/2006/relationships/image" Target="../media/image98.wmf"/></Relationships>
</file>

<file path=ppt/drawings/_rels/vmlDrawing24.vml.rels><?xml version="1.0" encoding="UTF-8" standalone="yes"?>
<Relationships xmlns="http://schemas.openxmlformats.org/package/2006/relationships"><Relationship Id="rId2" Type="http://schemas.openxmlformats.org/officeDocument/2006/relationships/image" Target="../media/image99.emf"/><Relationship Id="rId1" Type="http://schemas.openxmlformats.org/officeDocument/2006/relationships/image" Target="../media/image95.e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wmf"/><Relationship Id="rId1" Type="http://schemas.openxmlformats.org/officeDocument/2006/relationships/image" Target="../media/image6.emf"/><Relationship Id="rId4" Type="http://schemas.openxmlformats.org/officeDocument/2006/relationships/image" Target="../media/image9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image" Target="../media/image35.emf"/><Relationship Id="rId1" Type="http://schemas.openxmlformats.org/officeDocument/2006/relationships/image" Target="../media/image38.emf"/><Relationship Id="rId6" Type="http://schemas.openxmlformats.org/officeDocument/2006/relationships/image" Target="../media/image37.emf"/><Relationship Id="rId5" Type="http://schemas.openxmlformats.org/officeDocument/2006/relationships/image" Target="../media/image41.emf"/><Relationship Id="rId4" Type="http://schemas.openxmlformats.org/officeDocument/2006/relationships/image" Target="../media/image36.emf"/></Relationships>
</file>

<file path=ppt/drawings/_rels/vmlDrawing27.vml.rels><?xml version="1.0" encoding="UTF-8" standalone="yes"?>
<Relationships xmlns="http://schemas.openxmlformats.org/package/2006/relationships"><Relationship Id="rId8" Type="http://schemas.openxmlformats.org/officeDocument/2006/relationships/image" Target="../media/image52.wmf"/><Relationship Id="rId3" Type="http://schemas.openxmlformats.org/officeDocument/2006/relationships/image" Target="../media/image45.emf"/><Relationship Id="rId7" Type="http://schemas.openxmlformats.org/officeDocument/2006/relationships/image" Target="../media/image51.emf"/><Relationship Id="rId2" Type="http://schemas.openxmlformats.org/officeDocument/2006/relationships/image" Target="../media/image43.emf"/><Relationship Id="rId1" Type="http://schemas.openxmlformats.org/officeDocument/2006/relationships/image" Target="../media/image44.emf"/><Relationship Id="rId6" Type="http://schemas.openxmlformats.org/officeDocument/2006/relationships/image" Target="../media/image50.emf"/><Relationship Id="rId5" Type="http://schemas.openxmlformats.org/officeDocument/2006/relationships/image" Target="../media/image47.emf"/><Relationship Id="rId4" Type="http://schemas.openxmlformats.org/officeDocument/2006/relationships/image" Target="../media/image46.e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59.e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55.wmf"/></Relationships>
</file>

<file path=ppt/drawings/_rels/vmlDrawing30.vml.rels><?xml version="1.0" encoding="UTF-8" standalone="yes"?>
<Relationships xmlns="http://schemas.openxmlformats.org/package/2006/relationships"><Relationship Id="rId8" Type="http://schemas.openxmlformats.org/officeDocument/2006/relationships/image" Target="../media/image94.wmf"/><Relationship Id="rId3" Type="http://schemas.openxmlformats.org/officeDocument/2006/relationships/image" Target="../media/image75.wmf"/><Relationship Id="rId7" Type="http://schemas.openxmlformats.org/officeDocument/2006/relationships/image" Target="../media/image93.wmf"/><Relationship Id="rId2" Type="http://schemas.openxmlformats.org/officeDocument/2006/relationships/image" Target="../media/image74.wmf"/><Relationship Id="rId1" Type="http://schemas.openxmlformats.org/officeDocument/2006/relationships/image" Target="../media/image73.wmf"/><Relationship Id="rId6" Type="http://schemas.openxmlformats.org/officeDocument/2006/relationships/image" Target="../media/image92.wmf"/><Relationship Id="rId5" Type="http://schemas.openxmlformats.org/officeDocument/2006/relationships/image" Target="../media/image91.wmf"/><Relationship Id="rId4" Type="http://schemas.openxmlformats.org/officeDocument/2006/relationships/image" Target="../media/image85.wmf"/></Relationships>
</file>

<file path=ppt/drawings/_rels/vmlDrawing31.vml.rels><?xml version="1.0" encoding="UTF-8" standalone="yes"?>
<Relationships xmlns="http://schemas.openxmlformats.org/package/2006/relationships"><Relationship Id="rId2" Type="http://schemas.openxmlformats.org/officeDocument/2006/relationships/image" Target="../media/image74.wmf"/><Relationship Id="rId1" Type="http://schemas.openxmlformats.org/officeDocument/2006/relationships/image" Target="../media/image73.w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5.wmf"/><Relationship Id="rId2" Type="http://schemas.openxmlformats.org/officeDocument/2006/relationships/image" Target="../media/image74.wmf"/><Relationship Id="rId1" Type="http://schemas.openxmlformats.org/officeDocument/2006/relationships/image" Target="../media/image73.wmf"/><Relationship Id="rId5" Type="http://schemas.openxmlformats.org/officeDocument/2006/relationships/image" Target="../media/image94.wmf"/><Relationship Id="rId4" Type="http://schemas.openxmlformats.org/officeDocument/2006/relationships/image" Target="../media/image91.wmf"/></Relationships>
</file>

<file path=ppt/drawings/_rels/vmlDrawing3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emf"/><Relationship Id="rId3" Type="http://schemas.openxmlformats.org/officeDocument/2006/relationships/image" Target="../media/image102.wmf"/><Relationship Id="rId7" Type="http://schemas.openxmlformats.org/officeDocument/2006/relationships/image" Target="../media/image106.emf"/><Relationship Id="rId2" Type="http://schemas.openxmlformats.org/officeDocument/2006/relationships/image" Target="../media/image101.emf"/><Relationship Id="rId1" Type="http://schemas.openxmlformats.org/officeDocument/2006/relationships/image" Target="../media/image100.emf"/><Relationship Id="rId6" Type="http://schemas.openxmlformats.org/officeDocument/2006/relationships/image" Target="../media/image105.emf"/><Relationship Id="rId11" Type="http://schemas.openxmlformats.org/officeDocument/2006/relationships/image" Target="../media/image110.wmf"/><Relationship Id="rId5" Type="http://schemas.openxmlformats.org/officeDocument/2006/relationships/image" Target="../media/image104.wmf"/><Relationship Id="rId10" Type="http://schemas.openxmlformats.org/officeDocument/2006/relationships/image" Target="../media/image109.emf"/><Relationship Id="rId4" Type="http://schemas.openxmlformats.org/officeDocument/2006/relationships/image" Target="../media/image103.wmf"/><Relationship Id="rId9" Type="http://schemas.openxmlformats.org/officeDocument/2006/relationships/image" Target="../media/image108.emf"/></Relationships>
</file>

<file path=ppt/drawings/_rels/vmlDrawing3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emf"/><Relationship Id="rId7" Type="http://schemas.openxmlformats.org/officeDocument/2006/relationships/image" Target="../media/image118.emf"/><Relationship Id="rId2" Type="http://schemas.openxmlformats.org/officeDocument/2006/relationships/image" Target="../media/image113.emf"/><Relationship Id="rId1" Type="http://schemas.openxmlformats.org/officeDocument/2006/relationships/image" Target="../media/image112.wmf"/><Relationship Id="rId6" Type="http://schemas.openxmlformats.org/officeDocument/2006/relationships/image" Target="../media/image117.emf"/><Relationship Id="rId5" Type="http://schemas.openxmlformats.org/officeDocument/2006/relationships/image" Target="../media/image116.emf"/><Relationship Id="rId4" Type="http://schemas.openxmlformats.org/officeDocument/2006/relationships/image" Target="../media/image115.emf"/></Relationships>
</file>

<file path=ppt/drawings/_rels/vmlDrawing3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emf"/><Relationship Id="rId3" Type="http://schemas.openxmlformats.org/officeDocument/2006/relationships/image" Target="../media/image121.emf"/><Relationship Id="rId7" Type="http://schemas.openxmlformats.org/officeDocument/2006/relationships/image" Target="../media/image125.emf"/><Relationship Id="rId2" Type="http://schemas.openxmlformats.org/officeDocument/2006/relationships/image" Target="../media/image120.emf"/><Relationship Id="rId1" Type="http://schemas.openxmlformats.org/officeDocument/2006/relationships/image" Target="../media/image119.emf"/><Relationship Id="rId6" Type="http://schemas.openxmlformats.org/officeDocument/2006/relationships/image" Target="../media/image124.emf"/><Relationship Id="rId5" Type="http://schemas.openxmlformats.org/officeDocument/2006/relationships/image" Target="../media/image123.emf"/><Relationship Id="rId10" Type="http://schemas.openxmlformats.org/officeDocument/2006/relationships/image" Target="../media/image128.emf"/><Relationship Id="rId4" Type="http://schemas.openxmlformats.org/officeDocument/2006/relationships/image" Target="../media/image122.emf"/><Relationship Id="rId9" Type="http://schemas.openxmlformats.org/officeDocument/2006/relationships/image" Target="../media/image127.emf"/></Relationships>
</file>

<file path=ppt/drawings/_rels/vmlDrawing3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emf"/><Relationship Id="rId2" Type="http://schemas.openxmlformats.org/officeDocument/2006/relationships/image" Target="../media/image119.emf"/><Relationship Id="rId1" Type="http://schemas.openxmlformats.org/officeDocument/2006/relationships/image" Target="../media/image129.emf"/><Relationship Id="rId4" Type="http://schemas.openxmlformats.org/officeDocument/2006/relationships/image" Target="../media/image131.emf"/></Relationships>
</file>

<file path=ppt/drawings/_rels/vmlDrawing3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wmf"/><Relationship Id="rId7" Type="http://schemas.openxmlformats.org/officeDocument/2006/relationships/image" Target="../media/image138.wmf"/><Relationship Id="rId2" Type="http://schemas.openxmlformats.org/officeDocument/2006/relationships/image" Target="../media/image133.wmf"/><Relationship Id="rId1" Type="http://schemas.openxmlformats.org/officeDocument/2006/relationships/image" Target="../media/image132.wmf"/><Relationship Id="rId6" Type="http://schemas.openxmlformats.org/officeDocument/2006/relationships/image" Target="../media/image137.wmf"/><Relationship Id="rId5" Type="http://schemas.openxmlformats.org/officeDocument/2006/relationships/image" Target="../media/image136.wmf"/><Relationship Id="rId4" Type="http://schemas.openxmlformats.org/officeDocument/2006/relationships/image" Target="../media/image135.wmf"/></Relationships>
</file>

<file path=ppt/drawings/_rels/vmlDrawing3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6.wmf"/><Relationship Id="rId3" Type="http://schemas.openxmlformats.org/officeDocument/2006/relationships/image" Target="../media/image141.emf"/><Relationship Id="rId7" Type="http://schemas.openxmlformats.org/officeDocument/2006/relationships/image" Target="../media/image145.wmf"/><Relationship Id="rId12" Type="http://schemas.openxmlformats.org/officeDocument/2006/relationships/image" Target="../media/image150.wmf"/><Relationship Id="rId2" Type="http://schemas.openxmlformats.org/officeDocument/2006/relationships/image" Target="../media/image140.emf"/><Relationship Id="rId1" Type="http://schemas.openxmlformats.org/officeDocument/2006/relationships/image" Target="../media/image139.emf"/><Relationship Id="rId6" Type="http://schemas.openxmlformats.org/officeDocument/2006/relationships/image" Target="../media/image144.emf"/><Relationship Id="rId11" Type="http://schemas.openxmlformats.org/officeDocument/2006/relationships/image" Target="../media/image149.wmf"/><Relationship Id="rId5" Type="http://schemas.openxmlformats.org/officeDocument/2006/relationships/image" Target="../media/image143.emf"/><Relationship Id="rId10" Type="http://schemas.openxmlformats.org/officeDocument/2006/relationships/image" Target="../media/image148.wmf"/><Relationship Id="rId4" Type="http://schemas.openxmlformats.org/officeDocument/2006/relationships/image" Target="../media/image142.emf"/><Relationship Id="rId9" Type="http://schemas.openxmlformats.org/officeDocument/2006/relationships/image" Target="../media/image147.wmf"/></Relationships>
</file>

<file path=ppt/drawings/_rels/vmlDrawing3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3.emf"/><Relationship Id="rId2" Type="http://schemas.openxmlformats.org/officeDocument/2006/relationships/image" Target="../media/image152.emf"/><Relationship Id="rId1" Type="http://schemas.openxmlformats.org/officeDocument/2006/relationships/image" Target="../media/image151.wmf"/><Relationship Id="rId4" Type="http://schemas.openxmlformats.org/officeDocument/2006/relationships/image" Target="../media/image154.wmf"/></Relationships>
</file>

<file path=ppt/drawings/_rels/vmlDrawing4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emf"/><Relationship Id="rId2" Type="http://schemas.openxmlformats.org/officeDocument/2006/relationships/image" Target="../media/image156.emf"/><Relationship Id="rId1" Type="http://schemas.openxmlformats.org/officeDocument/2006/relationships/image" Target="../media/image155.wmf"/><Relationship Id="rId4" Type="http://schemas.openxmlformats.org/officeDocument/2006/relationships/image" Target="../media/image158.emf"/></Relationships>
</file>

<file path=ppt/drawings/_rels/vmlDrawing4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emf"/><Relationship Id="rId2" Type="http://schemas.openxmlformats.org/officeDocument/2006/relationships/image" Target="../media/image160.emf"/><Relationship Id="rId1" Type="http://schemas.openxmlformats.org/officeDocument/2006/relationships/image" Target="../media/image159.emf"/><Relationship Id="rId5" Type="http://schemas.openxmlformats.org/officeDocument/2006/relationships/image" Target="../media/image163.emf"/><Relationship Id="rId4" Type="http://schemas.openxmlformats.org/officeDocument/2006/relationships/image" Target="../media/image162.emf"/></Relationships>
</file>

<file path=ppt/drawings/_rels/vmlDrawing4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wmf"/><Relationship Id="rId1" Type="http://schemas.openxmlformats.org/officeDocument/2006/relationships/image" Target="../media/image6.emf"/><Relationship Id="rId4" Type="http://schemas.openxmlformats.org/officeDocument/2006/relationships/image" Target="../media/image9.wmf"/></Relationships>
</file>

<file path=ppt/drawings/_rels/vmlDrawing4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image" Target="../media/image35.emf"/><Relationship Id="rId1" Type="http://schemas.openxmlformats.org/officeDocument/2006/relationships/image" Target="../media/image38.emf"/><Relationship Id="rId6" Type="http://schemas.openxmlformats.org/officeDocument/2006/relationships/image" Target="../media/image37.emf"/><Relationship Id="rId5" Type="http://schemas.openxmlformats.org/officeDocument/2006/relationships/image" Target="../media/image41.emf"/><Relationship Id="rId4" Type="http://schemas.openxmlformats.org/officeDocument/2006/relationships/image" Target="../media/image36.emf"/></Relationships>
</file>

<file path=ppt/drawings/_rels/vmlDrawing44.vml.rels><?xml version="1.0" encoding="UTF-8" standalone="yes"?>
<Relationships xmlns="http://schemas.openxmlformats.org/package/2006/relationships"><Relationship Id="rId8" Type="http://schemas.openxmlformats.org/officeDocument/2006/relationships/image" Target="../media/image52.wmf"/><Relationship Id="rId3" Type="http://schemas.openxmlformats.org/officeDocument/2006/relationships/image" Target="../media/image45.emf"/><Relationship Id="rId7" Type="http://schemas.openxmlformats.org/officeDocument/2006/relationships/image" Target="../media/image51.emf"/><Relationship Id="rId2" Type="http://schemas.openxmlformats.org/officeDocument/2006/relationships/image" Target="../media/image43.emf"/><Relationship Id="rId1" Type="http://schemas.openxmlformats.org/officeDocument/2006/relationships/image" Target="../media/image44.emf"/><Relationship Id="rId6" Type="http://schemas.openxmlformats.org/officeDocument/2006/relationships/image" Target="../media/image50.emf"/><Relationship Id="rId5" Type="http://schemas.openxmlformats.org/officeDocument/2006/relationships/image" Target="../media/image47.emf"/><Relationship Id="rId4" Type="http://schemas.openxmlformats.org/officeDocument/2006/relationships/image" Target="../media/image46.emf"/></Relationships>
</file>

<file path=ppt/drawings/_rels/vmlDrawing4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9.emf"/></Relationships>
</file>

<file path=ppt/drawings/_rels/vmlDrawing46.vml.rels><?xml version="1.0" encoding="UTF-8" standalone="yes"?>
<Relationships xmlns="http://schemas.openxmlformats.org/package/2006/relationships"><Relationship Id="rId1" Type="http://schemas.openxmlformats.org/officeDocument/2006/relationships/image" Target="../media/image55.wmf"/></Relationships>
</file>

<file path=ppt/drawings/_rels/vmlDrawing47.vml.rels><?xml version="1.0" encoding="UTF-8" standalone="yes"?>
<Relationships xmlns="http://schemas.openxmlformats.org/package/2006/relationships"><Relationship Id="rId8" Type="http://schemas.openxmlformats.org/officeDocument/2006/relationships/image" Target="../media/image94.wmf"/><Relationship Id="rId3" Type="http://schemas.openxmlformats.org/officeDocument/2006/relationships/image" Target="../media/image75.wmf"/><Relationship Id="rId7" Type="http://schemas.openxmlformats.org/officeDocument/2006/relationships/image" Target="../media/image93.wmf"/><Relationship Id="rId2" Type="http://schemas.openxmlformats.org/officeDocument/2006/relationships/image" Target="../media/image74.wmf"/><Relationship Id="rId1" Type="http://schemas.openxmlformats.org/officeDocument/2006/relationships/image" Target="../media/image73.wmf"/><Relationship Id="rId6" Type="http://schemas.openxmlformats.org/officeDocument/2006/relationships/image" Target="../media/image92.wmf"/><Relationship Id="rId5" Type="http://schemas.openxmlformats.org/officeDocument/2006/relationships/image" Target="../media/image91.wmf"/><Relationship Id="rId4" Type="http://schemas.openxmlformats.org/officeDocument/2006/relationships/image" Target="../media/image85.wmf"/></Relationships>
</file>

<file path=ppt/drawings/_rels/vmlDrawing48.vml.rels><?xml version="1.0" encoding="UTF-8" standalone="yes"?>
<Relationships xmlns="http://schemas.openxmlformats.org/package/2006/relationships"><Relationship Id="rId2" Type="http://schemas.openxmlformats.org/officeDocument/2006/relationships/image" Target="../media/image74.wmf"/><Relationship Id="rId1" Type="http://schemas.openxmlformats.org/officeDocument/2006/relationships/image" Target="../media/image73.wmf"/></Relationships>
</file>

<file path=ppt/drawings/_rels/vmlDrawing49.vml.rels><?xml version="1.0" encoding="UTF-8" standalone="yes"?>
<Relationships xmlns="http://schemas.openxmlformats.org/package/2006/relationships"><Relationship Id="rId3" Type="http://schemas.openxmlformats.org/officeDocument/2006/relationships/image" Target="../media/image85.wmf"/><Relationship Id="rId2" Type="http://schemas.openxmlformats.org/officeDocument/2006/relationships/image" Target="../media/image74.wmf"/><Relationship Id="rId1" Type="http://schemas.openxmlformats.org/officeDocument/2006/relationships/image" Target="../media/image73.wmf"/><Relationship Id="rId5" Type="http://schemas.openxmlformats.org/officeDocument/2006/relationships/image" Target="../media/image94.wmf"/><Relationship Id="rId4" Type="http://schemas.openxmlformats.org/officeDocument/2006/relationships/image" Target="../media/image91.wmf"/></Relationships>
</file>

<file path=ppt/drawings/_rels/vmlDrawing5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emf"/><Relationship Id="rId3" Type="http://schemas.openxmlformats.org/officeDocument/2006/relationships/image" Target="../media/image121.emf"/><Relationship Id="rId7" Type="http://schemas.openxmlformats.org/officeDocument/2006/relationships/image" Target="../media/image125.emf"/><Relationship Id="rId2" Type="http://schemas.openxmlformats.org/officeDocument/2006/relationships/image" Target="../media/image120.emf"/><Relationship Id="rId1" Type="http://schemas.openxmlformats.org/officeDocument/2006/relationships/image" Target="../media/image119.emf"/><Relationship Id="rId6" Type="http://schemas.openxmlformats.org/officeDocument/2006/relationships/image" Target="../media/image124.emf"/><Relationship Id="rId5" Type="http://schemas.openxmlformats.org/officeDocument/2006/relationships/image" Target="../media/image123.emf"/><Relationship Id="rId10" Type="http://schemas.openxmlformats.org/officeDocument/2006/relationships/image" Target="../media/image128.emf"/><Relationship Id="rId4" Type="http://schemas.openxmlformats.org/officeDocument/2006/relationships/image" Target="../media/image122.emf"/><Relationship Id="rId9" Type="http://schemas.openxmlformats.org/officeDocument/2006/relationships/image" Target="../media/image127.emf"/></Relationships>
</file>

<file path=ppt/drawings/_rels/vmlDrawing5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6.wmf"/><Relationship Id="rId3" Type="http://schemas.openxmlformats.org/officeDocument/2006/relationships/image" Target="../media/image141.emf"/><Relationship Id="rId7" Type="http://schemas.openxmlformats.org/officeDocument/2006/relationships/image" Target="../media/image145.wmf"/><Relationship Id="rId12" Type="http://schemas.openxmlformats.org/officeDocument/2006/relationships/image" Target="../media/image150.wmf"/><Relationship Id="rId2" Type="http://schemas.openxmlformats.org/officeDocument/2006/relationships/image" Target="../media/image140.emf"/><Relationship Id="rId1" Type="http://schemas.openxmlformats.org/officeDocument/2006/relationships/image" Target="../media/image139.emf"/><Relationship Id="rId6" Type="http://schemas.openxmlformats.org/officeDocument/2006/relationships/image" Target="../media/image144.emf"/><Relationship Id="rId11" Type="http://schemas.openxmlformats.org/officeDocument/2006/relationships/image" Target="../media/image149.wmf"/><Relationship Id="rId5" Type="http://schemas.openxmlformats.org/officeDocument/2006/relationships/image" Target="../media/image143.emf"/><Relationship Id="rId10" Type="http://schemas.openxmlformats.org/officeDocument/2006/relationships/image" Target="../media/image148.wmf"/><Relationship Id="rId4" Type="http://schemas.openxmlformats.org/officeDocument/2006/relationships/image" Target="../media/image142.emf"/><Relationship Id="rId9" Type="http://schemas.openxmlformats.org/officeDocument/2006/relationships/image" Target="../media/image14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435475" cy="354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32" tIns="49516" rIns="99032" bIns="49516" numCol="1" anchor="t" anchorCtr="0" compatLnSpc="1">
            <a:prstTxWarp prst="textNoShape">
              <a:avLst/>
            </a:prstTxWarp>
          </a:bodyPr>
          <a:lstStyle>
            <a:lvl1pPr defTabSz="990600" eaLnBrk="1" hangingPunct="1">
              <a:spcBef>
                <a:spcPct val="0"/>
              </a:spcBef>
              <a:defRPr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799138" y="0"/>
            <a:ext cx="4435475" cy="354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32" tIns="49516" rIns="99032" bIns="49516" numCol="1" anchor="t" anchorCtr="0" compatLnSpc="1">
            <a:prstTxWarp prst="textNoShape">
              <a:avLst/>
            </a:prstTxWarp>
          </a:bodyPr>
          <a:lstStyle>
            <a:lvl1pPr algn="r" defTabSz="990600" eaLnBrk="1" hangingPunct="1">
              <a:spcBef>
                <a:spcPct val="0"/>
              </a:spcBef>
              <a:defRPr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F0E1701C-9928-46A0-9B0D-7DFAA256756E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839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745288"/>
            <a:ext cx="4435475" cy="354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32" tIns="49516" rIns="99032" bIns="49516" numCol="1" anchor="b" anchorCtr="0" compatLnSpc="1">
            <a:prstTxWarp prst="textNoShape">
              <a:avLst/>
            </a:prstTxWarp>
          </a:bodyPr>
          <a:lstStyle>
            <a:lvl1pPr defTabSz="990600" eaLnBrk="1" hangingPunct="1">
              <a:spcBef>
                <a:spcPct val="0"/>
              </a:spcBef>
              <a:defRPr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39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799138" y="6745288"/>
            <a:ext cx="4435475" cy="354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32" tIns="49516" rIns="99032" bIns="49516" numCol="1" anchor="b" anchorCtr="0" compatLnSpc="1">
            <a:prstTxWarp prst="textNoShape">
              <a:avLst/>
            </a:prstTxWarp>
          </a:bodyPr>
          <a:lstStyle>
            <a:lvl1pPr algn="r" defTabSz="990600" eaLnBrk="1" hangingPunct="1">
              <a:spcBef>
                <a:spcPct val="0"/>
              </a:spcBef>
              <a:defRPr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10C5340A-41A0-4488-805F-1E834B357CA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435475" cy="354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32" tIns="49516" rIns="99032" bIns="49516" numCol="1" anchor="t" anchorCtr="0" compatLnSpc="1">
            <a:prstTxWarp prst="textNoShape">
              <a:avLst/>
            </a:prstTxWarp>
          </a:bodyPr>
          <a:lstStyle>
            <a:lvl1pPr defTabSz="990600" eaLnBrk="1" hangingPunct="1">
              <a:spcBef>
                <a:spcPct val="0"/>
              </a:spcBef>
              <a:defRPr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90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797550" y="0"/>
            <a:ext cx="4435475" cy="354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32" tIns="49516" rIns="99032" bIns="49516" numCol="1" anchor="t" anchorCtr="0" compatLnSpc="1">
            <a:prstTxWarp prst="textNoShape">
              <a:avLst/>
            </a:prstTxWarp>
          </a:bodyPr>
          <a:lstStyle>
            <a:lvl1pPr algn="r" defTabSz="990600" eaLnBrk="1" hangingPunct="1">
              <a:spcBef>
                <a:spcPct val="0"/>
              </a:spcBef>
              <a:defRPr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B089E169-7F91-4379-B76B-F28EE6B442FE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344863" y="530225"/>
            <a:ext cx="3551237" cy="26638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290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025525" y="3371850"/>
            <a:ext cx="8186738" cy="319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32" tIns="49516" rIns="99032" bIns="4951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290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743700"/>
            <a:ext cx="4435475" cy="354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32" tIns="49516" rIns="99032" bIns="49516" numCol="1" anchor="b" anchorCtr="0" compatLnSpc="1">
            <a:prstTxWarp prst="textNoShape">
              <a:avLst/>
            </a:prstTxWarp>
          </a:bodyPr>
          <a:lstStyle>
            <a:lvl1pPr defTabSz="990600" eaLnBrk="1" hangingPunct="1">
              <a:spcBef>
                <a:spcPct val="0"/>
              </a:spcBef>
              <a:defRPr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90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797550" y="6743700"/>
            <a:ext cx="4435475" cy="354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32" tIns="49516" rIns="99032" bIns="49516" numCol="1" anchor="b" anchorCtr="0" compatLnSpc="1">
            <a:prstTxWarp prst="textNoShape">
              <a:avLst/>
            </a:prstTxWarp>
          </a:bodyPr>
          <a:lstStyle>
            <a:lvl1pPr algn="r" defTabSz="990600" eaLnBrk="1" hangingPunct="1">
              <a:spcBef>
                <a:spcPct val="0"/>
              </a:spcBef>
              <a:defRPr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6295C842-5AA2-452A-B0A0-F3B7653E6A0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B089E169-7F91-4379-B76B-F28EE6B442FE}" type="datetime1">
              <a:rPr lang="zh-CN" altLang="en-US" smtClean="0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95C842-5AA2-452A-B0A0-F3B7653E6A06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253560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C26961A-68AD-461A-A7AF-13CAD81BAC0E}" type="slidenum">
              <a:rPr lang="en-US" altLang="zh-CN"/>
              <a:pPr/>
              <a:t>6</a:t>
            </a:fld>
            <a:endParaRPr lang="en-US" altLang="zh-CN"/>
          </a:p>
        </p:txBody>
      </p:sp>
      <p:sp>
        <p:nvSpPr>
          <p:cNvPr id="360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0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1303627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26DB4C7-9E79-4C85-B5C0-0B80528C64BF}" type="slidenum">
              <a:rPr lang="en-US" altLang="zh-CN"/>
              <a:pPr/>
              <a:t>7</a:t>
            </a:fld>
            <a:endParaRPr lang="en-US" altLang="zh-CN"/>
          </a:p>
        </p:txBody>
      </p:sp>
      <p:sp>
        <p:nvSpPr>
          <p:cNvPr id="440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5472957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69CFB6A-7EF6-4FFB-BFAB-ED58714A99C5}" type="slidenum">
              <a:rPr lang="en-US" altLang="zh-CN"/>
              <a:pPr/>
              <a:t>8</a:t>
            </a:fld>
            <a:endParaRPr lang="en-US" altLang="zh-CN"/>
          </a:p>
        </p:txBody>
      </p:sp>
      <p:sp>
        <p:nvSpPr>
          <p:cNvPr id="442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2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8833759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19AA54C-86C2-416B-B1DF-BF3821697620}" type="slidenum">
              <a:rPr lang="en-US" altLang="zh-CN"/>
              <a:pPr/>
              <a:t>10</a:t>
            </a:fld>
            <a:endParaRPr lang="en-US" altLang="zh-CN"/>
          </a:p>
        </p:txBody>
      </p:sp>
      <p:sp>
        <p:nvSpPr>
          <p:cNvPr id="444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4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013935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458FAB2-2D5B-40B9-91AB-548C5FC6EEEB}" type="slidenum">
              <a:rPr lang="en-US" altLang="zh-CN"/>
              <a:pPr/>
              <a:t>11</a:t>
            </a:fld>
            <a:endParaRPr lang="en-US" altLang="zh-CN"/>
          </a:p>
        </p:txBody>
      </p:sp>
      <p:sp>
        <p:nvSpPr>
          <p:cNvPr id="446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6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7487197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9D358CA-CBE3-41E9-ADAC-5CCED56D6057}" type="slidenum">
              <a:rPr lang="en-US" altLang="zh-CN"/>
              <a:pPr/>
              <a:t>12</a:t>
            </a:fld>
            <a:endParaRPr lang="en-US" altLang="zh-CN"/>
          </a:p>
        </p:txBody>
      </p:sp>
      <p:sp>
        <p:nvSpPr>
          <p:cNvPr id="448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8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2912026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6105935-0BE9-425E-975C-63DCD8A2CBE0}" type="slidenum">
              <a:rPr lang="en-US" altLang="zh-CN"/>
              <a:pPr/>
              <a:t>13</a:t>
            </a:fld>
            <a:endParaRPr lang="en-US" altLang="zh-CN"/>
          </a:p>
        </p:txBody>
      </p:sp>
      <p:sp>
        <p:nvSpPr>
          <p:cNvPr id="450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1782858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8CB5F30-F554-4A8B-A3D1-F9AC07315E58}" type="slidenum">
              <a:rPr lang="en-US" altLang="zh-CN"/>
              <a:pPr/>
              <a:t>34</a:t>
            </a:fld>
            <a:endParaRPr lang="en-US" altLang="zh-CN"/>
          </a:p>
        </p:txBody>
      </p:sp>
      <p:sp>
        <p:nvSpPr>
          <p:cNvPr id="475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51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9544751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4B6F25-3F02-4EE8-A648-E9E627DB2ABE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CBA1B7-6A93-43E9-AC74-1965458B19F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69108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C66AF1-24A0-446C-B0A8-326C494344F1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4CEB45-B7B4-4CEA-8E4A-DA539A38040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1786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3C9C19-3127-46F2-BB68-E49290F76237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87E8FE-535E-44B5-9A1B-3B0743EF165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8233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914400"/>
            <a:ext cx="4152900" cy="5181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6300" y="914400"/>
            <a:ext cx="4152900" cy="5181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52CE54-E453-4214-867B-4F3934E07162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CD8F40-41FB-4F93-A334-1D749DF7913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62780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3219AB-1BCA-4236-9DBC-014F97A74318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1BE71A-3908-42C5-8E5D-767192EA5C6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08032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247A0F-AF21-4FC5-A232-851C9E824097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0C7DC3-2E68-4C83-970B-D64B45FFE27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06105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CBFE92-4950-4839-A96A-5A927330549D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9DF94E-7D5D-4B62-90AF-0A54AC73554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17903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F3B295-C4C6-4D25-9090-8FD1A663D781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26BE29-3A86-49D1-8BF3-1A73662B9AD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3248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8D97A9-FBE7-4771-98EC-7F7C4AB57977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FCE19F-D7A1-47B5-85D4-B039459A0E4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19692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922C08-BD13-4FA5-B057-91723694189B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036C85-5F23-4F11-9A52-93D79CAC10C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523253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24650" y="234950"/>
            <a:ext cx="2114550" cy="586105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234950"/>
            <a:ext cx="6191250" cy="586105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6BBDFA-2E0B-4A41-9935-19DFE01A8815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F80EAA-5424-4BBB-8D97-0DFCB27A5F1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021044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381000" y="234950"/>
            <a:ext cx="8458200" cy="58610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B1EE9E-D627-4C2E-9833-9493423CBE08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A4F9ED-04EC-44D2-AA4A-E35A0BAC056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76987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2400" y="0"/>
            <a:ext cx="87630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52400" y="1371600"/>
            <a:ext cx="4305300" cy="47244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10100" y="1371600"/>
            <a:ext cx="4305300" cy="22860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10100" y="3810000"/>
            <a:ext cx="4305300" cy="22860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1524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70104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4DD36117-DC0C-4CDB-99C4-43960C9B82F9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18133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234950"/>
            <a:ext cx="845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914400"/>
            <a:ext cx="8458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81000" y="65722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sz="1400">
                <a:solidFill>
                  <a:srgbClr val="FF6600"/>
                </a:solidFill>
                <a:latin typeface="+mn-lt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14EEC7D9-988C-4EB4-9EFA-C1C60419A038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57225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0"/>
              </a:spcBef>
              <a:defRPr sz="1400" dirty="0" smtClean="0">
                <a:solidFill>
                  <a:srgbClr val="FF6600"/>
                </a:solidFill>
                <a:latin typeface="+mn-lt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5722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sz="1400">
                <a:solidFill>
                  <a:srgbClr val="FF6600"/>
                </a:solidFill>
                <a:latin typeface="+mn-lt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BBF0B9E8-48BF-46B3-B525-8B210EF14D1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1031" name="Picture 10" descr="logo1"/>
          <p:cNvPicPr>
            <a:picLocks noChangeAspect="1" noChangeArrowheads="1"/>
          </p:cNvPicPr>
          <p:nvPr userDrawn="1"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6550" y="85725"/>
            <a:ext cx="936625" cy="67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2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imes New Roman" panose="02020603050405020304" pitchFamily="18" charset="0"/>
          <a:ea typeface="华文新魏" panose="0201080004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imes New Roman" panose="02020603050405020304" pitchFamily="18" charset="0"/>
          <a:ea typeface="华文新魏" panose="0201080004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imes New Roman" panose="02020603050405020304" pitchFamily="18" charset="0"/>
          <a:ea typeface="华文新魏" panose="0201080004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imes New Roman" panose="02020603050405020304" pitchFamily="18" charset="0"/>
          <a:ea typeface="华文新魏" panose="0201080004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imes New Roman" panose="02020603050405020304" pitchFamily="18" charset="0"/>
          <a:ea typeface="华文新魏" panose="0201080004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imes New Roman" panose="02020603050405020304" pitchFamily="18" charset="0"/>
          <a:ea typeface="华文新魏" panose="0201080004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imes New Roman" panose="02020603050405020304" pitchFamily="18" charset="0"/>
          <a:ea typeface="华文新魏" panose="0201080004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imes New Roman" panose="02020603050405020304" pitchFamily="18" charset="0"/>
          <a:ea typeface="华文新魏" panose="0201080004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3" Type="http://schemas.openxmlformats.org/officeDocument/2006/relationships/oleObject" Target="../embeddings/oleObject1.bin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9.png"/><Relationship Id="rId4" Type="http://schemas.openxmlformats.org/officeDocument/2006/relationships/image" Target="../media/image4.emf"/><Relationship Id="rId9" Type="http://schemas.openxmlformats.org/officeDocument/2006/relationships/image" Target="../media/image5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13" Type="http://schemas.openxmlformats.org/officeDocument/2006/relationships/image" Target="../media/image4.emf"/><Relationship Id="rId18" Type="http://schemas.openxmlformats.org/officeDocument/2006/relationships/oleObject" Target="../embeddings/oleObject10.bin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7.wmf"/><Relationship Id="rId12" Type="http://schemas.openxmlformats.org/officeDocument/2006/relationships/oleObject" Target="../embeddings/oleObject7.bin"/><Relationship Id="rId17" Type="http://schemas.openxmlformats.org/officeDocument/2006/relationships/image" Target="../media/image5.e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9.bin"/><Relationship Id="rId20" Type="http://schemas.openxmlformats.org/officeDocument/2006/relationships/oleObject" Target="../embeddings/oleObject11.bin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4.bin"/><Relationship Id="rId11" Type="http://schemas.openxmlformats.org/officeDocument/2006/relationships/image" Target="../media/image9.wmf"/><Relationship Id="rId5" Type="http://schemas.openxmlformats.org/officeDocument/2006/relationships/image" Target="../media/image6.emf"/><Relationship Id="rId15" Type="http://schemas.openxmlformats.org/officeDocument/2006/relationships/image" Target="../media/image10.emf"/><Relationship Id="rId10" Type="http://schemas.openxmlformats.org/officeDocument/2006/relationships/oleObject" Target="../embeddings/oleObject6.bin"/><Relationship Id="rId19" Type="http://schemas.openxmlformats.org/officeDocument/2006/relationships/image" Target="../media/image11.wmf"/><Relationship Id="rId4" Type="http://schemas.openxmlformats.org/officeDocument/2006/relationships/oleObject" Target="../embeddings/oleObject3.bin"/><Relationship Id="rId9" Type="http://schemas.openxmlformats.org/officeDocument/2006/relationships/image" Target="../media/image8.emf"/><Relationship Id="rId14" Type="http://schemas.openxmlformats.org/officeDocument/2006/relationships/oleObject" Target="../embeddings/oleObject8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3.bin"/><Relationship Id="rId5" Type="http://schemas.openxmlformats.org/officeDocument/2006/relationships/image" Target="../media/image12.wmf"/><Relationship Id="rId4" Type="http://schemas.openxmlformats.org/officeDocument/2006/relationships/oleObject" Target="../embeddings/oleObject12.bin"/><Relationship Id="rId9" Type="http://schemas.openxmlformats.org/officeDocument/2006/relationships/image" Target="../media/image14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6.bin"/><Relationship Id="rId5" Type="http://schemas.openxmlformats.org/officeDocument/2006/relationships/image" Target="../media/image15.wmf"/><Relationship Id="rId4" Type="http://schemas.openxmlformats.org/officeDocument/2006/relationships/oleObject" Target="../embeddings/oleObject15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8.jpeg"/><Relationship Id="rId7" Type="http://schemas.openxmlformats.org/officeDocument/2006/relationships/image" Target="../media/image20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7.w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2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9.bin"/><Relationship Id="rId11" Type="http://schemas.openxmlformats.org/officeDocument/2006/relationships/image" Target="../media/image25.wmf"/><Relationship Id="rId5" Type="http://schemas.openxmlformats.org/officeDocument/2006/relationships/image" Target="../media/image22.wmf"/><Relationship Id="rId10" Type="http://schemas.openxmlformats.org/officeDocument/2006/relationships/oleObject" Target="../embeddings/oleObject21.bin"/><Relationship Id="rId4" Type="http://schemas.openxmlformats.org/officeDocument/2006/relationships/oleObject" Target="../embeddings/oleObject18.bin"/><Relationship Id="rId9" Type="http://schemas.openxmlformats.org/officeDocument/2006/relationships/image" Target="../media/image24.w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.bin"/><Relationship Id="rId13" Type="http://schemas.openxmlformats.org/officeDocument/2006/relationships/image" Target="../media/image40.png"/><Relationship Id="rId3" Type="http://schemas.openxmlformats.org/officeDocument/2006/relationships/oleObject" Target="../embeddings/oleObject22.bin"/><Relationship Id="rId7" Type="http://schemas.openxmlformats.org/officeDocument/2006/relationships/image" Target="../media/image31.emf"/><Relationship Id="rId12" Type="http://schemas.openxmlformats.org/officeDocument/2006/relationships/image" Target="../media/image39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7.wmf"/><Relationship Id="rId11" Type="http://schemas.openxmlformats.org/officeDocument/2006/relationships/image" Target="../media/image29.wmf"/><Relationship Id="rId5" Type="http://schemas.openxmlformats.org/officeDocument/2006/relationships/oleObject" Target="../embeddings/oleObject23.bin"/><Relationship Id="rId15" Type="http://schemas.openxmlformats.org/officeDocument/2006/relationships/image" Target="../media/image30.wmf"/><Relationship Id="rId10" Type="http://schemas.openxmlformats.org/officeDocument/2006/relationships/oleObject" Target="../embeddings/oleObject25.bin"/><Relationship Id="rId4" Type="http://schemas.openxmlformats.org/officeDocument/2006/relationships/image" Target="../media/image26.emf"/><Relationship Id="rId9" Type="http://schemas.openxmlformats.org/officeDocument/2006/relationships/image" Target="../media/image28.emf"/><Relationship Id="rId14" Type="http://schemas.openxmlformats.org/officeDocument/2006/relationships/oleObject" Target="../embeddings/oleObject26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3.wmf"/><Relationship Id="rId5" Type="http://schemas.openxmlformats.org/officeDocument/2006/relationships/oleObject" Target="../embeddings/oleObject28.bin"/><Relationship Id="rId4" Type="http://schemas.openxmlformats.org/officeDocument/2006/relationships/image" Target="../media/image32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emf"/><Relationship Id="rId13" Type="http://schemas.openxmlformats.org/officeDocument/2006/relationships/oleObject" Target="../embeddings/oleObject34.bin"/><Relationship Id="rId18" Type="http://schemas.openxmlformats.org/officeDocument/2006/relationships/image" Target="../media/image41.emf"/><Relationship Id="rId3" Type="http://schemas.openxmlformats.org/officeDocument/2006/relationships/oleObject" Target="../embeddings/oleObject29.bin"/><Relationship Id="rId21" Type="http://schemas.openxmlformats.org/officeDocument/2006/relationships/image" Target="../media/image42.gif"/><Relationship Id="rId7" Type="http://schemas.openxmlformats.org/officeDocument/2006/relationships/oleObject" Target="../embeddings/oleObject31.bin"/><Relationship Id="rId12" Type="http://schemas.openxmlformats.org/officeDocument/2006/relationships/image" Target="../media/image38.emf"/><Relationship Id="rId17" Type="http://schemas.openxmlformats.org/officeDocument/2006/relationships/oleObject" Target="../embeddings/oleObject36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0.wmf"/><Relationship Id="rId20" Type="http://schemas.openxmlformats.org/officeDocument/2006/relationships/oleObject" Target="../embeddings/oleObject38.bin"/><Relationship Id="rId1" Type="http://schemas.openxmlformats.org/officeDocument/2006/relationships/vmlDrawing" Target="../drawings/vmlDrawing9.vml"/><Relationship Id="rId6" Type="http://schemas.openxmlformats.org/officeDocument/2006/relationships/image" Target="../media/image35.emf"/><Relationship Id="rId11" Type="http://schemas.openxmlformats.org/officeDocument/2006/relationships/oleObject" Target="../embeddings/oleObject33.bin"/><Relationship Id="rId5" Type="http://schemas.openxmlformats.org/officeDocument/2006/relationships/oleObject" Target="../embeddings/oleObject30.bin"/><Relationship Id="rId15" Type="http://schemas.openxmlformats.org/officeDocument/2006/relationships/oleObject" Target="../embeddings/oleObject35.bin"/><Relationship Id="rId10" Type="http://schemas.openxmlformats.org/officeDocument/2006/relationships/image" Target="../media/image37.emf"/><Relationship Id="rId19" Type="http://schemas.openxmlformats.org/officeDocument/2006/relationships/oleObject" Target="../embeddings/oleObject37.bin"/><Relationship Id="rId4" Type="http://schemas.openxmlformats.org/officeDocument/2006/relationships/image" Target="../media/image34.emf"/><Relationship Id="rId9" Type="http://schemas.openxmlformats.org/officeDocument/2006/relationships/oleObject" Target="../embeddings/oleObject32.bin"/><Relationship Id="rId14" Type="http://schemas.openxmlformats.org/officeDocument/2006/relationships/image" Target="../media/image39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emf"/><Relationship Id="rId13" Type="http://schemas.openxmlformats.org/officeDocument/2006/relationships/oleObject" Target="../embeddings/oleObject44.bin"/><Relationship Id="rId18" Type="http://schemas.openxmlformats.org/officeDocument/2006/relationships/image" Target="../media/image50.emf"/><Relationship Id="rId3" Type="http://schemas.openxmlformats.org/officeDocument/2006/relationships/oleObject" Target="../embeddings/oleObject39.bin"/><Relationship Id="rId21" Type="http://schemas.openxmlformats.org/officeDocument/2006/relationships/oleObject" Target="../embeddings/oleObject48.bin"/><Relationship Id="rId7" Type="http://schemas.openxmlformats.org/officeDocument/2006/relationships/oleObject" Target="../embeddings/oleObject41.bin"/><Relationship Id="rId12" Type="http://schemas.openxmlformats.org/officeDocument/2006/relationships/image" Target="../media/image47.emf"/><Relationship Id="rId17" Type="http://schemas.openxmlformats.org/officeDocument/2006/relationships/oleObject" Target="../embeddings/oleObject46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9.wmf"/><Relationship Id="rId20" Type="http://schemas.openxmlformats.org/officeDocument/2006/relationships/image" Target="../media/image51.emf"/><Relationship Id="rId1" Type="http://schemas.openxmlformats.org/officeDocument/2006/relationships/vmlDrawing" Target="../drawings/vmlDrawing10.vml"/><Relationship Id="rId6" Type="http://schemas.openxmlformats.org/officeDocument/2006/relationships/image" Target="../media/image44.emf"/><Relationship Id="rId11" Type="http://schemas.openxmlformats.org/officeDocument/2006/relationships/oleObject" Target="../embeddings/oleObject43.bin"/><Relationship Id="rId24" Type="http://schemas.openxmlformats.org/officeDocument/2006/relationships/image" Target="../media/image53.gif"/><Relationship Id="rId5" Type="http://schemas.openxmlformats.org/officeDocument/2006/relationships/oleObject" Target="../embeddings/oleObject40.bin"/><Relationship Id="rId15" Type="http://schemas.openxmlformats.org/officeDocument/2006/relationships/oleObject" Target="../embeddings/oleObject45.bin"/><Relationship Id="rId23" Type="http://schemas.openxmlformats.org/officeDocument/2006/relationships/oleObject" Target="../embeddings/oleObject49.bin"/><Relationship Id="rId10" Type="http://schemas.openxmlformats.org/officeDocument/2006/relationships/image" Target="../media/image46.emf"/><Relationship Id="rId19" Type="http://schemas.openxmlformats.org/officeDocument/2006/relationships/oleObject" Target="../embeddings/oleObject47.bin"/><Relationship Id="rId4" Type="http://schemas.openxmlformats.org/officeDocument/2006/relationships/image" Target="../media/image43.emf"/><Relationship Id="rId9" Type="http://schemas.openxmlformats.org/officeDocument/2006/relationships/oleObject" Target="../embeddings/oleObject42.bin"/><Relationship Id="rId14" Type="http://schemas.openxmlformats.org/officeDocument/2006/relationships/image" Target="../media/image48.wmf"/><Relationship Id="rId22" Type="http://schemas.openxmlformats.org/officeDocument/2006/relationships/image" Target="../media/image52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54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55.wmf"/><Relationship Id="rId4" Type="http://schemas.openxmlformats.org/officeDocument/2006/relationships/oleObject" Target="../embeddings/oleObject51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55.wmf"/><Relationship Id="rId4" Type="http://schemas.openxmlformats.org/officeDocument/2006/relationships/oleObject" Target="../embeddings/oleObject52.bin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emf"/><Relationship Id="rId3" Type="http://schemas.openxmlformats.org/officeDocument/2006/relationships/oleObject" Target="../embeddings/oleObject53.bin"/><Relationship Id="rId7" Type="http://schemas.openxmlformats.org/officeDocument/2006/relationships/oleObject" Target="../embeddings/oleObject5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57.emf"/><Relationship Id="rId5" Type="http://schemas.openxmlformats.org/officeDocument/2006/relationships/oleObject" Target="../embeddings/oleObject54.bin"/><Relationship Id="rId10" Type="http://schemas.openxmlformats.org/officeDocument/2006/relationships/image" Target="../media/image59.emf"/><Relationship Id="rId4" Type="http://schemas.openxmlformats.org/officeDocument/2006/relationships/image" Target="../media/image56.emf"/><Relationship Id="rId9" Type="http://schemas.openxmlformats.org/officeDocument/2006/relationships/oleObject" Target="../embeddings/oleObject56.bin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emf"/><Relationship Id="rId13" Type="http://schemas.openxmlformats.org/officeDocument/2006/relationships/oleObject" Target="../embeddings/oleObject62.bin"/><Relationship Id="rId3" Type="http://schemas.openxmlformats.org/officeDocument/2006/relationships/oleObject" Target="../embeddings/oleObject57.bin"/><Relationship Id="rId7" Type="http://schemas.openxmlformats.org/officeDocument/2006/relationships/oleObject" Target="../embeddings/oleObject59.bin"/><Relationship Id="rId12" Type="http://schemas.openxmlformats.org/officeDocument/2006/relationships/image" Target="../media/image64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66.wmf"/><Relationship Id="rId1" Type="http://schemas.openxmlformats.org/officeDocument/2006/relationships/vmlDrawing" Target="../drawings/vmlDrawing15.vml"/><Relationship Id="rId6" Type="http://schemas.openxmlformats.org/officeDocument/2006/relationships/image" Target="../media/image61.emf"/><Relationship Id="rId11" Type="http://schemas.openxmlformats.org/officeDocument/2006/relationships/oleObject" Target="../embeddings/oleObject61.bin"/><Relationship Id="rId5" Type="http://schemas.openxmlformats.org/officeDocument/2006/relationships/oleObject" Target="../embeddings/oleObject58.bin"/><Relationship Id="rId15" Type="http://schemas.openxmlformats.org/officeDocument/2006/relationships/oleObject" Target="../embeddings/oleObject63.bin"/><Relationship Id="rId10" Type="http://schemas.openxmlformats.org/officeDocument/2006/relationships/image" Target="../media/image63.wmf"/><Relationship Id="rId4" Type="http://schemas.openxmlformats.org/officeDocument/2006/relationships/image" Target="../media/image60.emf"/><Relationship Id="rId9" Type="http://schemas.openxmlformats.org/officeDocument/2006/relationships/oleObject" Target="../embeddings/oleObject60.bin"/><Relationship Id="rId14" Type="http://schemas.openxmlformats.org/officeDocument/2006/relationships/image" Target="../media/image65.wm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wmf"/><Relationship Id="rId13" Type="http://schemas.openxmlformats.org/officeDocument/2006/relationships/oleObject" Target="../embeddings/oleObject69.bin"/><Relationship Id="rId18" Type="http://schemas.openxmlformats.org/officeDocument/2006/relationships/image" Target="../media/image74.wmf"/><Relationship Id="rId3" Type="http://schemas.openxmlformats.org/officeDocument/2006/relationships/oleObject" Target="../embeddings/oleObject64.bin"/><Relationship Id="rId7" Type="http://schemas.openxmlformats.org/officeDocument/2006/relationships/oleObject" Target="../embeddings/oleObject66.bin"/><Relationship Id="rId12" Type="http://schemas.openxmlformats.org/officeDocument/2006/relationships/image" Target="../media/image71.wmf"/><Relationship Id="rId17" Type="http://schemas.openxmlformats.org/officeDocument/2006/relationships/oleObject" Target="../embeddings/oleObject71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73.wmf"/><Relationship Id="rId20" Type="http://schemas.openxmlformats.org/officeDocument/2006/relationships/image" Target="../media/image75.wmf"/><Relationship Id="rId1" Type="http://schemas.openxmlformats.org/officeDocument/2006/relationships/vmlDrawing" Target="../drawings/vmlDrawing16.vml"/><Relationship Id="rId6" Type="http://schemas.openxmlformats.org/officeDocument/2006/relationships/image" Target="../media/image68.wmf"/><Relationship Id="rId11" Type="http://schemas.openxmlformats.org/officeDocument/2006/relationships/oleObject" Target="../embeddings/oleObject68.bin"/><Relationship Id="rId5" Type="http://schemas.openxmlformats.org/officeDocument/2006/relationships/oleObject" Target="../embeddings/oleObject65.bin"/><Relationship Id="rId15" Type="http://schemas.openxmlformats.org/officeDocument/2006/relationships/oleObject" Target="../embeddings/oleObject70.bin"/><Relationship Id="rId10" Type="http://schemas.openxmlformats.org/officeDocument/2006/relationships/image" Target="../media/image70.wmf"/><Relationship Id="rId19" Type="http://schemas.openxmlformats.org/officeDocument/2006/relationships/oleObject" Target="../embeddings/oleObject72.bin"/><Relationship Id="rId4" Type="http://schemas.openxmlformats.org/officeDocument/2006/relationships/image" Target="../media/image67.wmf"/><Relationship Id="rId9" Type="http://schemas.openxmlformats.org/officeDocument/2006/relationships/oleObject" Target="../embeddings/oleObject67.bin"/><Relationship Id="rId14" Type="http://schemas.openxmlformats.org/officeDocument/2006/relationships/image" Target="../media/image72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wmf"/><Relationship Id="rId13" Type="http://schemas.openxmlformats.org/officeDocument/2006/relationships/oleObject" Target="../embeddings/oleObject78.bin"/><Relationship Id="rId18" Type="http://schemas.openxmlformats.org/officeDocument/2006/relationships/image" Target="../media/image80.wmf"/><Relationship Id="rId3" Type="http://schemas.openxmlformats.org/officeDocument/2006/relationships/oleObject" Target="../embeddings/oleObject73.bin"/><Relationship Id="rId7" Type="http://schemas.openxmlformats.org/officeDocument/2006/relationships/oleObject" Target="../embeddings/oleObject75.bin"/><Relationship Id="rId12" Type="http://schemas.openxmlformats.org/officeDocument/2006/relationships/image" Target="../media/image77.wmf"/><Relationship Id="rId17" Type="http://schemas.openxmlformats.org/officeDocument/2006/relationships/oleObject" Target="../embeddings/oleObject8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9.wmf"/><Relationship Id="rId20" Type="http://schemas.openxmlformats.org/officeDocument/2006/relationships/image" Target="../media/image81.wmf"/><Relationship Id="rId1" Type="http://schemas.openxmlformats.org/officeDocument/2006/relationships/vmlDrawing" Target="../drawings/vmlDrawing17.vml"/><Relationship Id="rId6" Type="http://schemas.openxmlformats.org/officeDocument/2006/relationships/image" Target="../media/image73.wmf"/><Relationship Id="rId11" Type="http://schemas.openxmlformats.org/officeDocument/2006/relationships/oleObject" Target="../embeddings/oleObject77.bin"/><Relationship Id="rId5" Type="http://schemas.openxmlformats.org/officeDocument/2006/relationships/oleObject" Target="../embeddings/oleObject74.bin"/><Relationship Id="rId15" Type="http://schemas.openxmlformats.org/officeDocument/2006/relationships/oleObject" Target="../embeddings/oleObject79.bin"/><Relationship Id="rId10" Type="http://schemas.openxmlformats.org/officeDocument/2006/relationships/image" Target="../media/image76.wmf"/><Relationship Id="rId19" Type="http://schemas.openxmlformats.org/officeDocument/2006/relationships/oleObject" Target="../embeddings/oleObject81.bin"/><Relationship Id="rId4" Type="http://schemas.openxmlformats.org/officeDocument/2006/relationships/image" Target="../media/image74.wmf"/><Relationship Id="rId9" Type="http://schemas.openxmlformats.org/officeDocument/2006/relationships/oleObject" Target="../embeddings/oleObject76.bin"/><Relationship Id="rId14" Type="http://schemas.openxmlformats.org/officeDocument/2006/relationships/image" Target="../media/image78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wmf"/><Relationship Id="rId13" Type="http://schemas.openxmlformats.org/officeDocument/2006/relationships/oleObject" Target="../embeddings/oleObject87.bin"/><Relationship Id="rId18" Type="http://schemas.openxmlformats.org/officeDocument/2006/relationships/image" Target="../media/image87.wmf"/><Relationship Id="rId3" Type="http://schemas.openxmlformats.org/officeDocument/2006/relationships/oleObject" Target="../embeddings/oleObject82.bin"/><Relationship Id="rId21" Type="http://schemas.openxmlformats.org/officeDocument/2006/relationships/oleObject" Target="../embeddings/oleObject91.bin"/><Relationship Id="rId7" Type="http://schemas.openxmlformats.org/officeDocument/2006/relationships/oleObject" Target="../embeddings/oleObject84.bin"/><Relationship Id="rId12" Type="http://schemas.openxmlformats.org/officeDocument/2006/relationships/image" Target="../media/image84.wmf"/><Relationship Id="rId17" Type="http://schemas.openxmlformats.org/officeDocument/2006/relationships/oleObject" Target="../embeddings/oleObject89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86.wmf"/><Relationship Id="rId20" Type="http://schemas.openxmlformats.org/officeDocument/2006/relationships/image" Target="../media/image88.wmf"/><Relationship Id="rId1" Type="http://schemas.openxmlformats.org/officeDocument/2006/relationships/vmlDrawing" Target="../drawings/vmlDrawing18.vml"/><Relationship Id="rId6" Type="http://schemas.openxmlformats.org/officeDocument/2006/relationships/image" Target="../media/image74.wmf"/><Relationship Id="rId11" Type="http://schemas.openxmlformats.org/officeDocument/2006/relationships/oleObject" Target="../embeddings/oleObject86.bin"/><Relationship Id="rId24" Type="http://schemas.openxmlformats.org/officeDocument/2006/relationships/image" Target="../media/image90.wmf"/><Relationship Id="rId5" Type="http://schemas.openxmlformats.org/officeDocument/2006/relationships/oleObject" Target="../embeddings/oleObject83.bin"/><Relationship Id="rId15" Type="http://schemas.openxmlformats.org/officeDocument/2006/relationships/oleObject" Target="../embeddings/oleObject88.bin"/><Relationship Id="rId23" Type="http://schemas.openxmlformats.org/officeDocument/2006/relationships/oleObject" Target="../embeddings/oleObject92.bin"/><Relationship Id="rId10" Type="http://schemas.openxmlformats.org/officeDocument/2006/relationships/image" Target="../media/image83.wmf"/><Relationship Id="rId19" Type="http://schemas.openxmlformats.org/officeDocument/2006/relationships/oleObject" Target="../embeddings/oleObject90.bin"/><Relationship Id="rId4" Type="http://schemas.openxmlformats.org/officeDocument/2006/relationships/image" Target="../media/image73.wmf"/><Relationship Id="rId9" Type="http://schemas.openxmlformats.org/officeDocument/2006/relationships/oleObject" Target="../embeddings/oleObject85.bin"/><Relationship Id="rId14" Type="http://schemas.openxmlformats.org/officeDocument/2006/relationships/image" Target="../media/image85.wmf"/><Relationship Id="rId22" Type="http://schemas.openxmlformats.org/officeDocument/2006/relationships/image" Target="../media/image89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wmf"/><Relationship Id="rId13" Type="http://schemas.openxmlformats.org/officeDocument/2006/relationships/oleObject" Target="../embeddings/oleObject97.bin"/><Relationship Id="rId18" Type="http://schemas.openxmlformats.org/officeDocument/2006/relationships/image" Target="../media/image87.wmf"/><Relationship Id="rId26" Type="http://schemas.openxmlformats.org/officeDocument/2006/relationships/image" Target="../media/image80.wmf"/><Relationship Id="rId3" Type="http://schemas.openxmlformats.org/officeDocument/2006/relationships/oleObject" Target="../embeddings/oleObject74.bin"/><Relationship Id="rId21" Type="http://schemas.openxmlformats.org/officeDocument/2006/relationships/oleObject" Target="../embeddings/oleObject98.bin"/><Relationship Id="rId7" Type="http://schemas.openxmlformats.org/officeDocument/2006/relationships/oleObject" Target="../embeddings/oleObject94.bin"/><Relationship Id="rId12" Type="http://schemas.openxmlformats.org/officeDocument/2006/relationships/image" Target="../media/image81.wmf"/><Relationship Id="rId17" Type="http://schemas.openxmlformats.org/officeDocument/2006/relationships/oleObject" Target="../embeddings/oleObject89.bin"/><Relationship Id="rId25" Type="http://schemas.openxmlformats.org/officeDocument/2006/relationships/oleObject" Target="../embeddings/oleObject100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86.wmf"/><Relationship Id="rId20" Type="http://schemas.openxmlformats.org/officeDocument/2006/relationships/image" Target="../media/image88.wmf"/><Relationship Id="rId1" Type="http://schemas.openxmlformats.org/officeDocument/2006/relationships/vmlDrawing" Target="../drawings/vmlDrawing19.vml"/><Relationship Id="rId6" Type="http://schemas.openxmlformats.org/officeDocument/2006/relationships/image" Target="../media/image74.wmf"/><Relationship Id="rId11" Type="http://schemas.openxmlformats.org/officeDocument/2006/relationships/oleObject" Target="../embeddings/oleObject96.bin"/><Relationship Id="rId24" Type="http://schemas.openxmlformats.org/officeDocument/2006/relationships/image" Target="../media/image89.wmf"/><Relationship Id="rId5" Type="http://schemas.openxmlformats.org/officeDocument/2006/relationships/oleObject" Target="../embeddings/oleObject93.bin"/><Relationship Id="rId15" Type="http://schemas.openxmlformats.org/officeDocument/2006/relationships/oleObject" Target="../embeddings/oleObject88.bin"/><Relationship Id="rId23" Type="http://schemas.openxmlformats.org/officeDocument/2006/relationships/oleObject" Target="../embeddings/oleObject99.bin"/><Relationship Id="rId28" Type="http://schemas.openxmlformats.org/officeDocument/2006/relationships/image" Target="../media/image85.wmf"/><Relationship Id="rId10" Type="http://schemas.openxmlformats.org/officeDocument/2006/relationships/image" Target="../media/image79.wmf"/><Relationship Id="rId19" Type="http://schemas.openxmlformats.org/officeDocument/2006/relationships/oleObject" Target="../embeddings/oleObject90.bin"/><Relationship Id="rId4" Type="http://schemas.openxmlformats.org/officeDocument/2006/relationships/image" Target="../media/image73.wmf"/><Relationship Id="rId9" Type="http://schemas.openxmlformats.org/officeDocument/2006/relationships/oleObject" Target="../embeddings/oleObject95.bin"/><Relationship Id="rId14" Type="http://schemas.openxmlformats.org/officeDocument/2006/relationships/oleObject" Target="../embeddings/oleObject83.bin"/><Relationship Id="rId22" Type="http://schemas.openxmlformats.org/officeDocument/2006/relationships/image" Target="../media/image90.wmf"/><Relationship Id="rId27" Type="http://schemas.openxmlformats.org/officeDocument/2006/relationships/oleObject" Target="../embeddings/oleObject101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wmf"/><Relationship Id="rId13" Type="http://schemas.openxmlformats.org/officeDocument/2006/relationships/oleObject" Target="../embeddings/oleObject107.bin"/><Relationship Id="rId3" Type="http://schemas.openxmlformats.org/officeDocument/2006/relationships/oleObject" Target="../embeddings/oleObject102.bin"/><Relationship Id="rId7" Type="http://schemas.openxmlformats.org/officeDocument/2006/relationships/oleObject" Target="../embeddings/oleObject104.bin"/><Relationship Id="rId12" Type="http://schemas.openxmlformats.org/officeDocument/2006/relationships/image" Target="../media/image92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94.wmf"/><Relationship Id="rId1" Type="http://schemas.openxmlformats.org/officeDocument/2006/relationships/vmlDrawing" Target="../drawings/vmlDrawing20.vml"/><Relationship Id="rId6" Type="http://schemas.openxmlformats.org/officeDocument/2006/relationships/image" Target="../media/image74.wmf"/><Relationship Id="rId11" Type="http://schemas.openxmlformats.org/officeDocument/2006/relationships/oleObject" Target="../embeddings/oleObject106.bin"/><Relationship Id="rId5" Type="http://schemas.openxmlformats.org/officeDocument/2006/relationships/oleObject" Target="../embeddings/oleObject103.bin"/><Relationship Id="rId15" Type="http://schemas.openxmlformats.org/officeDocument/2006/relationships/oleObject" Target="../embeddings/oleObject108.bin"/><Relationship Id="rId10" Type="http://schemas.openxmlformats.org/officeDocument/2006/relationships/image" Target="../media/image91.wmf"/><Relationship Id="rId4" Type="http://schemas.openxmlformats.org/officeDocument/2006/relationships/image" Target="../media/image73.wmf"/><Relationship Id="rId9" Type="http://schemas.openxmlformats.org/officeDocument/2006/relationships/oleObject" Target="../embeddings/oleObject105.bin"/><Relationship Id="rId14" Type="http://schemas.openxmlformats.org/officeDocument/2006/relationships/image" Target="../media/image93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3" Type="http://schemas.openxmlformats.org/officeDocument/2006/relationships/image" Target="../media/image95.png"/><Relationship Id="rId7" Type="http://schemas.openxmlformats.org/officeDocument/2006/relationships/image" Target="../media/image7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110.bin"/><Relationship Id="rId5" Type="http://schemas.openxmlformats.org/officeDocument/2006/relationships/image" Target="../media/image73.wmf"/><Relationship Id="rId4" Type="http://schemas.openxmlformats.org/officeDocument/2006/relationships/oleObject" Target="../embeddings/oleObject109.bin"/><Relationship Id="rId9" Type="http://schemas.openxmlformats.org/officeDocument/2006/relationships/image" Target="../media/image97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1.bin"/><Relationship Id="rId13" Type="http://schemas.openxmlformats.org/officeDocument/2006/relationships/image" Target="../media/image94.wmf"/><Relationship Id="rId3" Type="http://schemas.openxmlformats.org/officeDocument/2006/relationships/oleObject" Target="../embeddings/oleObject109.bin"/><Relationship Id="rId7" Type="http://schemas.openxmlformats.org/officeDocument/2006/relationships/image" Target="../media/image98.png"/><Relationship Id="rId12" Type="http://schemas.openxmlformats.org/officeDocument/2006/relationships/oleObject" Target="../embeddings/oleObject11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74.wmf"/><Relationship Id="rId11" Type="http://schemas.openxmlformats.org/officeDocument/2006/relationships/image" Target="../media/image91.wmf"/><Relationship Id="rId5" Type="http://schemas.openxmlformats.org/officeDocument/2006/relationships/oleObject" Target="../embeddings/oleObject110.bin"/><Relationship Id="rId10" Type="http://schemas.openxmlformats.org/officeDocument/2006/relationships/oleObject" Target="../embeddings/oleObject112.bin"/><Relationship Id="rId4" Type="http://schemas.openxmlformats.org/officeDocument/2006/relationships/image" Target="../media/image73.wmf"/><Relationship Id="rId9" Type="http://schemas.openxmlformats.org/officeDocument/2006/relationships/image" Target="../media/image85.wmf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wmf"/><Relationship Id="rId3" Type="http://schemas.openxmlformats.org/officeDocument/2006/relationships/oleObject" Target="../embeddings/oleObject114.bin"/><Relationship Id="rId7" Type="http://schemas.openxmlformats.org/officeDocument/2006/relationships/oleObject" Target="../embeddings/oleObject11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96.emf"/><Relationship Id="rId5" Type="http://schemas.openxmlformats.org/officeDocument/2006/relationships/oleObject" Target="../embeddings/oleObject115.bin"/><Relationship Id="rId10" Type="http://schemas.openxmlformats.org/officeDocument/2006/relationships/image" Target="../media/image98.wmf"/><Relationship Id="rId4" Type="http://schemas.openxmlformats.org/officeDocument/2006/relationships/image" Target="../media/image95.emf"/><Relationship Id="rId9" Type="http://schemas.openxmlformats.org/officeDocument/2006/relationships/oleObject" Target="../embeddings/oleObject117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emf"/><Relationship Id="rId3" Type="http://schemas.openxmlformats.org/officeDocument/2006/relationships/oleObject" Target="../embeddings/oleObject118.bin"/><Relationship Id="rId7" Type="http://schemas.openxmlformats.org/officeDocument/2006/relationships/oleObject" Target="../embeddings/oleObject11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99.emf"/><Relationship Id="rId11" Type="http://schemas.openxmlformats.org/officeDocument/2006/relationships/image" Target="../media/image102.png"/><Relationship Id="rId5" Type="http://schemas.openxmlformats.org/officeDocument/2006/relationships/oleObject" Target="../embeddings/oleObject119.bin"/><Relationship Id="rId10" Type="http://schemas.openxmlformats.org/officeDocument/2006/relationships/image" Target="../media/image101.png"/><Relationship Id="rId4" Type="http://schemas.openxmlformats.org/officeDocument/2006/relationships/image" Target="../media/image95.emf"/><Relationship Id="rId9" Type="http://schemas.openxmlformats.org/officeDocument/2006/relationships/image" Target="../media/image100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12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4.bin"/><Relationship Id="rId10" Type="http://schemas.openxmlformats.org/officeDocument/2006/relationships/image" Target="../media/image9.wmf"/><Relationship Id="rId4" Type="http://schemas.openxmlformats.org/officeDocument/2006/relationships/image" Target="../media/image6.emf"/><Relationship Id="rId9" Type="http://schemas.openxmlformats.org/officeDocument/2006/relationships/oleObject" Target="../embeddings/oleObject6.bin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emf"/><Relationship Id="rId13" Type="http://schemas.openxmlformats.org/officeDocument/2006/relationships/oleObject" Target="../embeddings/oleObject32.bin"/><Relationship Id="rId3" Type="http://schemas.openxmlformats.org/officeDocument/2006/relationships/oleObject" Target="../embeddings/oleObject33.bin"/><Relationship Id="rId7" Type="http://schemas.openxmlformats.org/officeDocument/2006/relationships/oleObject" Target="../embeddings/oleObject29.bin"/><Relationship Id="rId12" Type="http://schemas.openxmlformats.org/officeDocument/2006/relationships/image" Target="../media/image41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35.emf"/><Relationship Id="rId11" Type="http://schemas.openxmlformats.org/officeDocument/2006/relationships/oleObject" Target="../embeddings/oleObject36.bin"/><Relationship Id="rId5" Type="http://schemas.openxmlformats.org/officeDocument/2006/relationships/oleObject" Target="../embeddings/oleObject30.bin"/><Relationship Id="rId15" Type="http://schemas.openxmlformats.org/officeDocument/2006/relationships/image" Target="../media/image42.gif"/><Relationship Id="rId10" Type="http://schemas.openxmlformats.org/officeDocument/2006/relationships/image" Target="../media/image36.emf"/><Relationship Id="rId4" Type="http://schemas.openxmlformats.org/officeDocument/2006/relationships/image" Target="../media/image38.emf"/><Relationship Id="rId9" Type="http://schemas.openxmlformats.org/officeDocument/2006/relationships/oleObject" Target="../embeddings/oleObject31.bin"/><Relationship Id="rId14" Type="http://schemas.openxmlformats.org/officeDocument/2006/relationships/image" Target="../media/image37.e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1.bin"/><Relationship Id="rId13" Type="http://schemas.openxmlformats.org/officeDocument/2006/relationships/image" Target="../media/image47.emf"/><Relationship Id="rId18" Type="http://schemas.openxmlformats.org/officeDocument/2006/relationships/oleObject" Target="../embeddings/oleObject49.bin"/><Relationship Id="rId3" Type="http://schemas.openxmlformats.org/officeDocument/2006/relationships/oleObject" Target="../embeddings/oleObject40.bin"/><Relationship Id="rId7" Type="http://schemas.openxmlformats.org/officeDocument/2006/relationships/image" Target="../media/image43.emf"/><Relationship Id="rId12" Type="http://schemas.openxmlformats.org/officeDocument/2006/relationships/oleObject" Target="../embeddings/oleObject43.bin"/><Relationship Id="rId17" Type="http://schemas.openxmlformats.org/officeDocument/2006/relationships/image" Target="../media/image51.e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47.bin"/><Relationship Id="rId1" Type="http://schemas.openxmlformats.org/officeDocument/2006/relationships/vmlDrawing" Target="../drawings/vmlDrawing27.vml"/><Relationship Id="rId6" Type="http://schemas.openxmlformats.org/officeDocument/2006/relationships/oleObject" Target="../embeddings/oleObject39.bin"/><Relationship Id="rId11" Type="http://schemas.openxmlformats.org/officeDocument/2006/relationships/image" Target="../media/image46.emf"/><Relationship Id="rId5" Type="http://schemas.openxmlformats.org/officeDocument/2006/relationships/image" Target="../media/image53.gif"/><Relationship Id="rId15" Type="http://schemas.openxmlformats.org/officeDocument/2006/relationships/image" Target="../media/image50.emf"/><Relationship Id="rId10" Type="http://schemas.openxmlformats.org/officeDocument/2006/relationships/oleObject" Target="../embeddings/oleObject42.bin"/><Relationship Id="rId19" Type="http://schemas.openxmlformats.org/officeDocument/2006/relationships/image" Target="../media/image52.wmf"/><Relationship Id="rId4" Type="http://schemas.openxmlformats.org/officeDocument/2006/relationships/image" Target="../media/image44.emf"/><Relationship Id="rId9" Type="http://schemas.openxmlformats.org/officeDocument/2006/relationships/image" Target="../media/image45.emf"/><Relationship Id="rId14" Type="http://schemas.openxmlformats.org/officeDocument/2006/relationships/oleObject" Target="../embeddings/oleObject46.bin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8.vml"/><Relationship Id="rId4" Type="http://schemas.openxmlformats.org/officeDocument/2006/relationships/image" Target="../media/image59.e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9.vml"/><Relationship Id="rId4" Type="http://schemas.openxmlformats.org/officeDocument/2006/relationships/image" Target="../media/image55.wmf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wmf"/><Relationship Id="rId13" Type="http://schemas.openxmlformats.org/officeDocument/2006/relationships/oleObject" Target="../embeddings/oleObject106.bin"/><Relationship Id="rId18" Type="http://schemas.openxmlformats.org/officeDocument/2006/relationships/image" Target="../media/image94.wmf"/><Relationship Id="rId3" Type="http://schemas.openxmlformats.org/officeDocument/2006/relationships/oleObject" Target="../embeddings/oleObject70.bin"/><Relationship Id="rId7" Type="http://schemas.openxmlformats.org/officeDocument/2006/relationships/oleObject" Target="../embeddings/oleObject72.bin"/><Relationship Id="rId12" Type="http://schemas.openxmlformats.org/officeDocument/2006/relationships/image" Target="../media/image91.wmf"/><Relationship Id="rId17" Type="http://schemas.openxmlformats.org/officeDocument/2006/relationships/oleObject" Target="../embeddings/oleObject108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93.wmf"/><Relationship Id="rId1" Type="http://schemas.openxmlformats.org/officeDocument/2006/relationships/vmlDrawing" Target="../drawings/vmlDrawing30.vml"/><Relationship Id="rId6" Type="http://schemas.openxmlformats.org/officeDocument/2006/relationships/image" Target="../media/image74.wmf"/><Relationship Id="rId11" Type="http://schemas.openxmlformats.org/officeDocument/2006/relationships/oleObject" Target="../embeddings/oleObject105.bin"/><Relationship Id="rId5" Type="http://schemas.openxmlformats.org/officeDocument/2006/relationships/oleObject" Target="../embeddings/oleObject71.bin"/><Relationship Id="rId15" Type="http://schemas.openxmlformats.org/officeDocument/2006/relationships/oleObject" Target="../embeddings/oleObject107.bin"/><Relationship Id="rId10" Type="http://schemas.openxmlformats.org/officeDocument/2006/relationships/image" Target="../media/image85.wmf"/><Relationship Id="rId4" Type="http://schemas.openxmlformats.org/officeDocument/2006/relationships/image" Target="../media/image73.wmf"/><Relationship Id="rId9" Type="http://schemas.openxmlformats.org/officeDocument/2006/relationships/oleObject" Target="../embeddings/oleObject104.bin"/><Relationship Id="rId14" Type="http://schemas.openxmlformats.org/officeDocument/2006/relationships/image" Target="../media/image92.wmf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3" Type="http://schemas.openxmlformats.org/officeDocument/2006/relationships/image" Target="../media/image95.png"/><Relationship Id="rId7" Type="http://schemas.openxmlformats.org/officeDocument/2006/relationships/image" Target="../media/image7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1.vml"/><Relationship Id="rId6" Type="http://schemas.openxmlformats.org/officeDocument/2006/relationships/oleObject" Target="../embeddings/oleObject110.bin"/><Relationship Id="rId5" Type="http://schemas.openxmlformats.org/officeDocument/2006/relationships/image" Target="../media/image73.wmf"/><Relationship Id="rId4" Type="http://schemas.openxmlformats.org/officeDocument/2006/relationships/oleObject" Target="../embeddings/oleObject109.bin"/><Relationship Id="rId9" Type="http://schemas.openxmlformats.org/officeDocument/2006/relationships/image" Target="../media/image97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1.bin"/><Relationship Id="rId13" Type="http://schemas.openxmlformats.org/officeDocument/2006/relationships/image" Target="../media/image94.wmf"/><Relationship Id="rId3" Type="http://schemas.openxmlformats.org/officeDocument/2006/relationships/oleObject" Target="../embeddings/oleObject109.bin"/><Relationship Id="rId7" Type="http://schemas.openxmlformats.org/officeDocument/2006/relationships/image" Target="../media/image98.png"/><Relationship Id="rId12" Type="http://schemas.openxmlformats.org/officeDocument/2006/relationships/oleObject" Target="../embeddings/oleObject11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2.vml"/><Relationship Id="rId6" Type="http://schemas.openxmlformats.org/officeDocument/2006/relationships/image" Target="../media/image74.wmf"/><Relationship Id="rId11" Type="http://schemas.openxmlformats.org/officeDocument/2006/relationships/image" Target="../media/image91.wmf"/><Relationship Id="rId5" Type="http://schemas.openxmlformats.org/officeDocument/2006/relationships/oleObject" Target="../embeddings/oleObject110.bin"/><Relationship Id="rId10" Type="http://schemas.openxmlformats.org/officeDocument/2006/relationships/oleObject" Target="../embeddings/oleObject112.bin"/><Relationship Id="rId4" Type="http://schemas.openxmlformats.org/officeDocument/2006/relationships/image" Target="../media/image73.wmf"/><Relationship Id="rId9" Type="http://schemas.openxmlformats.org/officeDocument/2006/relationships/image" Target="../media/image85.wmf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wmf"/><Relationship Id="rId13" Type="http://schemas.openxmlformats.org/officeDocument/2006/relationships/oleObject" Target="../embeddings/oleObject127.bin"/><Relationship Id="rId18" Type="http://schemas.openxmlformats.org/officeDocument/2006/relationships/image" Target="../media/image107.emf"/><Relationship Id="rId3" Type="http://schemas.openxmlformats.org/officeDocument/2006/relationships/oleObject" Target="../embeddings/oleObject122.bin"/><Relationship Id="rId21" Type="http://schemas.openxmlformats.org/officeDocument/2006/relationships/oleObject" Target="../embeddings/oleObject131.bin"/><Relationship Id="rId7" Type="http://schemas.openxmlformats.org/officeDocument/2006/relationships/oleObject" Target="../embeddings/oleObject124.bin"/><Relationship Id="rId12" Type="http://schemas.openxmlformats.org/officeDocument/2006/relationships/image" Target="../media/image104.wmf"/><Relationship Id="rId17" Type="http://schemas.openxmlformats.org/officeDocument/2006/relationships/oleObject" Target="../embeddings/oleObject129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06.emf"/><Relationship Id="rId20" Type="http://schemas.openxmlformats.org/officeDocument/2006/relationships/image" Target="../media/image108.emf"/><Relationship Id="rId1" Type="http://schemas.openxmlformats.org/officeDocument/2006/relationships/vmlDrawing" Target="../drawings/vmlDrawing33.vml"/><Relationship Id="rId6" Type="http://schemas.openxmlformats.org/officeDocument/2006/relationships/image" Target="../media/image101.emf"/><Relationship Id="rId11" Type="http://schemas.openxmlformats.org/officeDocument/2006/relationships/oleObject" Target="../embeddings/oleObject126.bin"/><Relationship Id="rId24" Type="http://schemas.openxmlformats.org/officeDocument/2006/relationships/image" Target="../media/image110.wmf"/><Relationship Id="rId5" Type="http://schemas.openxmlformats.org/officeDocument/2006/relationships/oleObject" Target="../embeddings/oleObject123.bin"/><Relationship Id="rId15" Type="http://schemas.openxmlformats.org/officeDocument/2006/relationships/oleObject" Target="../embeddings/oleObject128.bin"/><Relationship Id="rId23" Type="http://schemas.openxmlformats.org/officeDocument/2006/relationships/oleObject" Target="../embeddings/oleObject132.bin"/><Relationship Id="rId10" Type="http://schemas.openxmlformats.org/officeDocument/2006/relationships/image" Target="../media/image103.wmf"/><Relationship Id="rId19" Type="http://schemas.openxmlformats.org/officeDocument/2006/relationships/oleObject" Target="../embeddings/oleObject130.bin"/><Relationship Id="rId4" Type="http://schemas.openxmlformats.org/officeDocument/2006/relationships/image" Target="../media/image100.emf"/><Relationship Id="rId9" Type="http://schemas.openxmlformats.org/officeDocument/2006/relationships/oleObject" Target="../embeddings/oleObject125.bin"/><Relationship Id="rId14" Type="http://schemas.openxmlformats.org/officeDocument/2006/relationships/image" Target="../media/image105.emf"/><Relationship Id="rId22" Type="http://schemas.openxmlformats.org/officeDocument/2006/relationships/image" Target="../media/image109.emf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gif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emf"/><Relationship Id="rId13" Type="http://schemas.openxmlformats.org/officeDocument/2006/relationships/oleObject" Target="../embeddings/oleObject138.bin"/><Relationship Id="rId3" Type="http://schemas.openxmlformats.org/officeDocument/2006/relationships/oleObject" Target="../embeddings/oleObject133.bin"/><Relationship Id="rId7" Type="http://schemas.openxmlformats.org/officeDocument/2006/relationships/oleObject" Target="../embeddings/oleObject135.bin"/><Relationship Id="rId12" Type="http://schemas.openxmlformats.org/officeDocument/2006/relationships/image" Target="../media/image116.e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18.emf"/><Relationship Id="rId1" Type="http://schemas.openxmlformats.org/officeDocument/2006/relationships/vmlDrawing" Target="../drawings/vmlDrawing34.vml"/><Relationship Id="rId6" Type="http://schemas.openxmlformats.org/officeDocument/2006/relationships/image" Target="../media/image113.emf"/><Relationship Id="rId11" Type="http://schemas.openxmlformats.org/officeDocument/2006/relationships/oleObject" Target="../embeddings/oleObject137.bin"/><Relationship Id="rId5" Type="http://schemas.openxmlformats.org/officeDocument/2006/relationships/oleObject" Target="../embeddings/oleObject134.bin"/><Relationship Id="rId15" Type="http://schemas.openxmlformats.org/officeDocument/2006/relationships/oleObject" Target="../embeddings/oleObject139.bin"/><Relationship Id="rId10" Type="http://schemas.openxmlformats.org/officeDocument/2006/relationships/image" Target="../media/image115.emf"/><Relationship Id="rId4" Type="http://schemas.openxmlformats.org/officeDocument/2006/relationships/image" Target="../media/image112.wmf"/><Relationship Id="rId9" Type="http://schemas.openxmlformats.org/officeDocument/2006/relationships/oleObject" Target="../embeddings/oleObject136.bin"/><Relationship Id="rId14" Type="http://schemas.openxmlformats.org/officeDocument/2006/relationships/image" Target="../media/image117.emf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3.bin"/><Relationship Id="rId13" Type="http://schemas.openxmlformats.org/officeDocument/2006/relationships/oleObject" Target="../embeddings/oleObject146.bin"/><Relationship Id="rId18" Type="http://schemas.openxmlformats.org/officeDocument/2006/relationships/image" Target="../media/image125.emf"/><Relationship Id="rId3" Type="http://schemas.openxmlformats.org/officeDocument/2006/relationships/oleObject" Target="../embeddings/oleObject140.bin"/><Relationship Id="rId21" Type="http://schemas.openxmlformats.org/officeDocument/2006/relationships/oleObject" Target="../embeddings/oleObject150.bin"/><Relationship Id="rId7" Type="http://schemas.openxmlformats.org/officeDocument/2006/relationships/image" Target="../media/image120.emf"/><Relationship Id="rId12" Type="http://schemas.openxmlformats.org/officeDocument/2006/relationships/image" Target="../media/image122.emf"/><Relationship Id="rId17" Type="http://schemas.openxmlformats.org/officeDocument/2006/relationships/oleObject" Target="../embeddings/oleObject148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24.emf"/><Relationship Id="rId20" Type="http://schemas.openxmlformats.org/officeDocument/2006/relationships/image" Target="../media/image126.emf"/><Relationship Id="rId1" Type="http://schemas.openxmlformats.org/officeDocument/2006/relationships/vmlDrawing" Target="../drawings/vmlDrawing35.vml"/><Relationship Id="rId6" Type="http://schemas.openxmlformats.org/officeDocument/2006/relationships/oleObject" Target="../embeddings/oleObject142.bin"/><Relationship Id="rId11" Type="http://schemas.openxmlformats.org/officeDocument/2006/relationships/oleObject" Target="../embeddings/oleObject145.bin"/><Relationship Id="rId24" Type="http://schemas.openxmlformats.org/officeDocument/2006/relationships/image" Target="../media/image128.emf"/><Relationship Id="rId5" Type="http://schemas.openxmlformats.org/officeDocument/2006/relationships/oleObject" Target="../embeddings/oleObject141.bin"/><Relationship Id="rId15" Type="http://schemas.openxmlformats.org/officeDocument/2006/relationships/oleObject" Target="../embeddings/oleObject147.bin"/><Relationship Id="rId23" Type="http://schemas.openxmlformats.org/officeDocument/2006/relationships/oleObject" Target="../embeddings/oleObject151.bin"/><Relationship Id="rId10" Type="http://schemas.openxmlformats.org/officeDocument/2006/relationships/image" Target="../media/image121.emf"/><Relationship Id="rId19" Type="http://schemas.openxmlformats.org/officeDocument/2006/relationships/oleObject" Target="../embeddings/oleObject149.bin"/><Relationship Id="rId4" Type="http://schemas.openxmlformats.org/officeDocument/2006/relationships/image" Target="../media/image119.emf"/><Relationship Id="rId9" Type="http://schemas.openxmlformats.org/officeDocument/2006/relationships/oleObject" Target="../embeddings/oleObject144.bin"/><Relationship Id="rId14" Type="http://schemas.openxmlformats.org/officeDocument/2006/relationships/image" Target="../media/image123.emf"/><Relationship Id="rId22" Type="http://schemas.openxmlformats.org/officeDocument/2006/relationships/image" Target="../media/image127.emf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emf"/><Relationship Id="rId3" Type="http://schemas.openxmlformats.org/officeDocument/2006/relationships/oleObject" Target="../embeddings/oleObject152.bin"/><Relationship Id="rId7" Type="http://schemas.openxmlformats.org/officeDocument/2006/relationships/oleObject" Target="../embeddings/oleObject154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36.vml"/><Relationship Id="rId6" Type="http://schemas.openxmlformats.org/officeDocument/2006/relationships/image" Target="../media/image119.emf"/><Relationship Id="rId5" Type="http://schemas.openxmlformats.org/officeDocument/2006/relationships/oleObject" Target="../embeddings/oleObject153.bin"/><Relationship Id="rId10" Type="http://schemas.openxmlformats.org/officeDocument/2006/relationships/image" Target="../media/image131.emf"/><Relationship Id="rId4" Type="http://schemas.openxmlformats.org/officeDocument/2006/relationships/image" Target="../media/image129.emf"/><Relationship Id="rId9" Type="http://schemas.openxmlformats.org/officeDocument/2006/relationships/oleObject" Target="../embeddings/oleObject155.bin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wmf"/><Relationship Id="rId13" Type="http://schemas.openxmlformats.org/officeDocument/2006/relationships/oleObject" Target="../embeddings/oleObject161.bin"/><Relationship Id="rId3" Type="http://schemas.openxmlformats.org/officeDocument/2006/relationships/oleObject" Target="../embeddings/oleObject156.bin"/><Relationship Id="rId7" Type="http://schemas.openxmlformats.org/officeDocument/2006/relationships/oleObject" Target="../embeddings/oleObject158.bin"/><Relationship Id="rId12" Type="http://schemas.openxmlformats.org/officeDocument/2006/relationships/image" Target="../media/image136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38.wmf"/><Relationship Id="rId1" Type="http://schemas.openxmlformats.org/officeDocument/2006/relationships/vmlDrawing" Target="../drawings/vmlDrawing37.vml"/><Relationship Id="rId6" Type="http://schemas.openxmlformats.org/officeDocument/2006/relationships/image" Target="../media/image133.wmf"/><Relationship Id="rId11" Type="http://schemas.openxmlformats.org/officeDocument/2006/relationships/oleObject" Target="../embeddings/oleObject160.bin"/><Relationship Id="rId5" Type="http://schemas.openxmlformats.org/officeDocument/2006/relationships/oleObject" Target="../embeddings/oleObject157.bin"/><Relationship Id="rId15" Type="http://schemas.openxmlformats.org/officeDocument/2006/relationships/oleObject" Target="../embeddings/oleObject162.bin"/><Relationship Id="rId10" Type="http://schemas.openxmlformats.org/officeDocument/2006/relationships/image" Target="../media/image135.wmf"/><Relationship Id="rId4" Type="http://schemas.openxmlformats.org/officeDocument/2006/relationships/image" Target="../media/image132.wmf"/><Relationship Id="rId9" Type="http://schemas.openxmlformats.org/officeDocument/2006/relationships/oleObject" Target="../embeddings/oleObject159.bin"/><Relationship Id="rId14" Type="http://schemas.openxmlformats.org/officeDocument/2006/relationships/image" Target="../media/image137.wmf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1.emf"/><Relationship Id="rId13" Type="http://schemas.openxmlformats.org/officeDocument/2006/relationships/oleObject" Target="../embeddings/oleObject168.bin"/><Relationship Id="rId18" Type="http://schemas.openxmlformats.org/officeDocument/2006/relationships/image" Target="../media/image146.wmf"/><Relationship Id="rId26" Type="http://schemas.openxmlformats.org/officeDocument/2006/relationships/image" Target="../media/image150.wmf"/><Relationship Id="rId3" Type="http://schemas.openxmlformats.org/officeDocument/2006/relationships/oleObject" Target="../embeddings/oleObject163.bin"/><Relationship Id="rId21" Type="http://schemas.openxmlformats.org/officeDocument/2006/relationships/oleObject" Target="../embeddings/oleObject172.bin"/><Relationship Id="rId7" Type="http://schemas.openxmlformats.org/officeDocument/2006/relationships/oleObject" Target="../embeddings/oleObject165.bin"/><Relationship Id="rId12" Type="http://schemas.openxmlformats.org/officeDocument/2006/relationships/image" Target="../media/image143.emf"/><Relationship Id="rId17" Type="http://schemas.openxmlformats.org/officeDocument/2006/relationships/oleObject" Target="../embeddings/oleObject170.bin"/><Relationship Id="rId25" Type="http://schemas.openxmlformats.org/officeDocument/2006/relationships/oleObject" Target="../embeddings/oleObject174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45.wmf"/><Relationship Id="rId20" Type="http://schemas.openxmlformats.org/officeDocument/2006/relationships/image" Target="../media/image147.wmf"/><Relationship Id="rId1" Type="http://schemas.openxmlformats.org/officeDocument/2006/relationships/vmlDrawing" Target="../drawings/vmlDrawing38.vml"/><Relationship Id="rId6" Type="http://schemas.openxmlformats.org/officeDocument/2006/relationships/image" Target="../media/image140.emf"/><Relationship Id="rId11" Type="http://schemas.openxmlformats.org/officeDocument/2006/relationships/oleObject" Target="../embeddings/oleObject167.bin"/><Relationship Id="rId24" Type="http://schemas.openxmlformats.org/officeDocument/2006/relationships/image" Target="../media/image149.wmf"/><Relationship Id="rId5" Type="http://schemas.openxmlformats.org/officeDocument/2006/relationships/oleObject" Target="../embeddings/oleObject164.bin"/><Relationship Id="rId15" Type="http://schemas.openxmlformats.org/officeDocument/2006/relationships/oleObject" Target="../embeddings/oleObject169.bin"/><Relationship Id="rId23" Type="http://schemas.openxmlformats.org/officeDocument/2006/relationships/oleObject" Target="../embeddings/oleObject173.bin"/><Relationship Id="rId10" Type="http://schemas.openxmlformats.org/officeDocument/2006/relationships/image" Target="../media/image142.emf"/><Relationship Id="rId19" Type="http://schemas.openxmlformats.org/officeDocument/2006/relationships/oleObject" Target="../embeddings/oleObject171.bin"/><Relationship Id="rId4" Type="http://schemas.openxmlformats.org/officeDocument/2006/relationships/image" Target="../media/image139.emf"/><Relationship Id="rId9" Type="http://schemas.openxmlformats.org/officeDocument/2006/relationships/oleObject" Target="../embeddings/oleObject166.bin"/><Relationship Id="rId14" Type="http://schemas.openxmlformats.org/officeDocument/2006/relationships/image" Target="../media/image144.emf"/><Relationship Id="rId22" Type="http://schemas.openxmlformats.org/officeDocument/2006/relationships/image" Target="../media/image148.wmf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emf"/><Relationship Id="rId3" Type="http://schemas.openxmlformats.org/officeDocument/2006/relationships/oleObject" Target="../embeddings/oleObject175.bin"/><Relationship Id="rId7" Type="http://schemas.openxmlformats.org/officeDocument/2006/relationships/oleObject" Target="../embeddings/oleObject17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9.vml"/><Relationship Id="rId6" Type="http://schemas.openxmlformats.org/officeDocument/2006/relationships/image" Target="../media/image152.emf"/><Relationship Id="rId5" Type="http://schemas.openxmlformats.org/officeDocument/2006/relationships/oleObject" Target="../embeddings/oleObject176.bin"/><Relationship Id="rId10" Type="http://schemas.openxmlformats.org/officeDocument/2006/relationships/image" Target="../media/image154.wmf"/><Relationship Id="rId4" Type="http://schemas.openxmlformats.org/officeDocument/2006/relationships/image" Target="../media/image151.wmf"/><Relationship Id="rId9" Type="http://schemas.openxmlformats.org/officeDocument/2006/relationships/oleObject" Target="../embeddings/oleObject178.bin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7.emf"/><Relationship Id="rId3" Type="http://schemas.openxmlformats.org/officeDocument/2006/relationships/oleObject" Target="../embeddings/oleObject179.bin"/><Relationship Id="rId7" Type="http://schemas.openxmlformats.org/officeDocument/2006/relationships/oleObject" Target="../embeddings/oleObject18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0.vml"/><Relationship Id="rId6" Type="http://schemas.openxmlformats.org/officeDocument/2006/relationships/image" Target="../media/image156.emf"/><Relationship Id="rId5" Type="http://schemas.openxmlformats.org/officeDocument/2006/relationships/oleObject" Target="../embeddings/oleObject180.bin"/><Relationship Id="rId10" Type="http://schemas.openxmlformats.org/officeDocument/2006/relationships/image" Target="../media/image158.emf"/><Relationship Id="rId4" Type="http://schemas.openxmlformats.org/officeDocument/2006/relationships/image" Target="../media/image155.wmf"/><Relationship Id="rId9" Type="http://schemas.openxmlformats.org/officeDocument/2006/relationships/oleObject" Target="../embeddings/oleObject182.bin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1.emf"/><Relationship Id="rId3" Type="http://schemas.openxmlformats.org/officeDocument/2006/relationships/oleObject" Target="../embeddings/oleObject183.bin"/><Relationship Id="rId7" Type="http://schemas.openxmlformats.org/officeDocument/2006/relationships/oleObject" Target="../embeddings/oleObject185.bin"/><Relationship Id="rId12" Type="http://schemas.openxmlformats.org/officeDocument/2006/relationships/image" Target="../media/image163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1.vml"/><Relationship Id="rId6" Type="http://schemas.openxmlformats.org/officeDocument/2006/relationships/image" Target="../media/image160.emf"/><Relationship Id="rId11" Type="http://schemas.openxmlformats.org/officeDocument/2006/relationships/oleObject" Target="../embeddings/oleObject187.bin"/><Relationship Id="rId5" Type="http://schemas.openxmlformats.org/officeDocument/2006/relationships/oleObject" Target="../embeddings/oleObject184.bin"/><Relationship Id="rId10" Type="http://schemas.openxmlformats.org/officeDocument/2006/relationships/image" Target="../media/image162.emf"/><Relationship Id="rId4" Type="http://schemas.openxmlformats.org/officeDocument/2006/relationships/image" Target="../media/image159.emf"/><Relationship Id="rId9" Type="http://schemas.openxmlformats.org/officeDocument/2006/relationships/oleObject" Target="../embeddings/oleObject186.bin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5.png"/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7.png"/><Relationship Id="rId4" Type="http://schemas.openxmlformats.org/officeDocument/2006/relationships/image" Target="../media/image166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12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2.v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4.bin"/><Relationship Id="rId10" Type="http://schemas.openxmlformats.org/officeDocument/2006/relationships/image" Target="../media/image9.wmf"/><Relationship Id="rId4" Type="http://schemas.openxmlformats.org/officeDocument/2006/relationships/image" Target="../media/image6.emf"/><Relationship Id="rId9" Type="http://schemas.openxmlformats.org/officeDocument/2006/relationships/oleObject" Target="../embeddings/oleObject6.bin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emf"/><Relationship Id="rId13" Type="http://schemas.openxmlformats.org/officeDocument/2006/relationships/oleObject" Target="../embeddings/oleObject32.bin"/><Relationship Id="rId3" Type="http://schemas.openxmlformats.org/officeDocument/2006/relationships/oleObject" Target="../embeddings/oleObject33.bin"/><Relationship Id="rId7" Type="http://schemas.openxmlformats.org/officeDocument/2006/relationships/oleObject" Target="../embeddings/oleObject29.bin"/><Relationship Id="rId12" Type="http://schemas.openxmlformats.org/officeDocument/2006/relationships/image" Target="../media/image41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3.vml"/><Relationship Id="rId6" Type="http://schemas.openxmlformats.org/officeDocument/2006/relationships/image" Target="../media/image35.emf"/><Relationship Id="rId11" Type="http://schemas.openxmlformats.org/officeDocument/2006/relationships/oleObject" Target="../embeddings/oleObject36.bin"/><Relationship Id="rId5" Type="http://schemas.openxmlformats.org/officeDocument/2006/relationships/oleObject" Target="../embeddings/oleObject30.bin"/><Relationship Id="rId15" Type="http://schemas.openxmlformats.org/officeDocument/2006/relationships/image" Target="../media/image42.gif"/><Relationship Id="rId10" Type="http://schemas.openxmlformats.org/officeDocument/2006/relationships/image" Target="../media/image36.emf"/><Relationship Id="rId4" Type="http://schemas.openxmlformats.org/officeDocument/2006/relationships/image" Target="../media/image38.emf"/><Relationship Id="rId9" Type="http://schemas.openxmlformats.org/officeDocument/2006/relationships/oleObject" Target="../embeddings/oleObject31.bin"/><Relationship Id="rId14" Type="http://schemas.openxmlformats.org/officeDocument/2006/relationships/image" Target="../media/image37.emf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1.bin"/><Relationship Id="rId13" Type="http://schemas.openxmlformats.org/officeDocument/2006/relationships/image" Target="../media/image47.emf"/><Relationship Id="rId18" Type="http://schemas.openxmlformats.org/officeDocument/2006/relationships/oleObject" Target="../embeddings/oleObject49.bin"/><Relationship Id="rId3" Type="http://schemas.openxmlformats.org/officeDocument/2006/relationships/oleObject" Target="../embeddings/oleObject40.bin"/><Relationship Id="rId7" Type="http://schemas.openxmlformats.org/officeDocument/2006/relationships/image" Target="../media/image43.emf"/><Relationship Id="rId12" Type="http://schemas.openxmlformats.org/officeDocument/2006/relationships/oleObject" Target="../embeddings/oleObject43.bin"/><Relationship Id="rId17" Type="http://schemas.openxmlformats.org/officeDocument/2006/relationships/image" Target="../media/image51.e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47.bin"/><Relationship Id="rId1" Type="http://schemas.openxmlformats.org/officeDocument/2006/relationships/vmlDrawing" Target="../drawings/vmlDrawing44.vml"/><Relationship Id="rId6" Type="http://schemas.openxmlformats.org/officeDocument/2006/relationships/oleObject" Target="../embeddings/oleObject39.bin"/><Relationship Id="rId11" Type="http://schemas.openxmlformats.org/officeDocument/2006/relationships/image" Target="../media/image46.emf"/><Relationship Id="rId5" Type="http://schemas.openxmlformats.org/officeDocument/2006/relationships/image" Target="../media/image53.gif"/><Relationship Id="rId15" Type="http://schemas.openxmlformats.org/officeDocument/2006/relationships/image" Target="../media/image50.emf"/><Relationship Id="rId10" Type="http://schemas.openxmlformats.org/officeDocument/2006/relationships/oleObject" Target="../embeddings/oleObject42.bin"/><Relationship Id="rId19" Type="http://schemas.openxmlformats.org/officeDocument/2006/relationships/image" Target="../media/image52.wmf"/><Relationship Id="rId4" Type="http://schemas.openxmlformats.org/officeDocument/2006/relationships/image" Target="../media/image44.emf"/><Relationship Id="rId9" Type="http://schemas.openxmlformats.org/officeDocument/2006/relationships/image" Target="../media/image45.emf"/><Relationship Id="rId14" Type="http://schemas.openxmlformats.org/officeDocument/2006/relationships/oleObject" Target="../embeddings/oleObject46.bin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5.vml"/><Relationship Id="rId4" Type="http://schemas.openxmlformats.org/officeDocument/2006/relationships/image" Target="../media/image59.emf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6.vml"/><Relationship Id="rId4" Type="http://schemas.openxmlformats.org/officeDocument/2006/relationships/image" Target="../media/image55.wmf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wmf"/><Relationship Id="rId13" Type="http://schemas.openxmlformats.org/officeDocument/2006/relationships/oleObject" Target="../embeddings/oleObject106.bin"/><Relationship Id="rId18" Type="http://schemas.openxmlformats.org/officeDocument/2006/relationships/image" Target="../media/image94.wmf"/><Relationship Id="rId3" Type="http://schemas.openxmlformats.org/officeDocument/2006/relationships/oleObject" Target="../embeddings/oleObject70.bin"/><Relationship Id="rId7" Type="http://schemas.openxmlformats.org/officeDocument/2006/relationships/oleObject" Target="../embeddings/oleObject72.bin"/><Relationship Id="rId12" Type="http://schemas.openxmlformats.org/officeDocument/2006/relationships/image" Target="../media/image91.wmf"/><Relationship Id="rId17" Type="http://schemas.openxmlformats.org/officeDocument/2006/relationships/oleObject" Target="../embeddings/oleObject108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93.wmf"/><Relationship Id="rId1" Type="http://schemas.openxmlformats.org/officeDocument/2006/relationships/vmlDrawing" Target="../drawings/vmlDrawing47.vml"/><Relationship Id="rId6" Type="http://schemas.openxmlformats.org/officeDocument/2006/relationships/image" Target="../media/image74.wmf"/><Relationship Id="rId11" Type="http://schemas.openxmlformats.org/officeDocument/2006/relationships/oleObject" Target="../embeddings/oleObject105.bin"/><Relationship Id="rId5" Type="http://schemas.openxmlformats.org/officeDocument/2006/relationships/oleObject" Target="../embeddings/oleObject71.bin"/><Relationship Id="rId15" Type="http://schemas.openxmlformats.org/officeDocument/2006/relationships/oleObject" Target="../embeddings/oleObject107.bin"/><Relationship Id="rId10" Type="http://schemas.openxmlformats.org/officeDocument/2006/relationships/image" Target="../media/image85.wmf"/><Relationship Id="rId4" Type="http://schemas.openxmlformats.org/officeDocument/2006/relationships/image" Target="../media/image73.wmf"/><Relationship Id="rId9" Type="http://schemas.openxmlformats.org/officeDocument/2006/relationships/oleObject" Target="../embeddings/oleObject104.bin"/><Relationship Id="rId14" Type="http://schemas.openxmlformats.org/officeDocument/2006/relationships/image" Target="../media/image92.wmf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3" Type="http://schemas.openxmlformats.org/officeDocument/2006/relationships/image" Target="../media/image95.png"/><Relationship Id="rId7" Type="http://schemas.openxmlformats.org/officeDocument/2006/relationships/image" Target="../media/image7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8.vml"/><Relationship Id="rId6" Type="http://schemas.openxmlformats.org/officeDocument/2006/relationships/oleObject" Target="../embeddings/oleObject110.bin"/><Relationship Id="rId5" Type="http://schemas.openxmlformats.org/officeDocument/2006/relationships/image" Target="../media/image73.wmf"/><Relationship Id="rId4" Type="http://schemas.openxmlformats.org/officeDocument/2006/relationships/oleObject" Target="../embeddings/oleObject109.bin"/><Relationship Id="rId9" Type="http://schemas.openxmlformats.org/officeDocument/2006/relationships/image" Target="../media/image97.png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1.bin"/><Relationship Id="rId13" Type="http://schemas.openxmlformats.org/officeDocument/2006/relationships/image" Target="../media/image94.wmf"/><Relationship Id="rId3" Type="http://schemas.openxmlformats.org/officeDocument/2006/relationships/oleObject" Target="../embeddings/oleObject109.bin"/><Relationship Id="rId7" Type="http://schemas.openxmlformats.org/officeDocument/2006/relationships/image" Target="../media/image98.png"/><Relationship Id="rId12" Type="http://schemas.openxmlformats.org/officeDocument/2006/relationships/oleObject" Target="../embeddings/oleObject11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9.vml"/><Relationship Id="rId6" Type="http://schemas.openxmlformats.org/officeDocument/2006/relationships/image" Target="../media/image74.wmf"/><Relationship Id="rId11" Type="http://schemas.openxmlformats.org/officeDocument/2006/relationships/image" Target="../media/image91.wmf"/><Relationship Id="rId5" Type="http://schemas.openxmlformats.org/officeDocument/2006/relationships/oleObject" Target="../embeddings/oleObject110.bin"/><Relationship Id="rId10" Type="http://schemas.openxmlformats.org/officeDocument/2006/relationships/oleObject" Target="../embeddings/oleObject112.bin"/><Relationship Id="rId4" Type="http://schemas.openxmlformats.org/officeDocument/2006/relationships/image" Target="../media/image73.wmf"/><Relationship Id="rId9" Type="http://schemas.openxmlformats.org/officeDocument/2006/relationships/image" Target="../media/image85.wmf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gif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3.bin"/><Relationship Id="rId13" Type="http://schemas.openxmlformats.org/officeDocument/2006/relationships/oleObject" Target="../embeddings/oleObject146.bin"/><Relationship Id="rId18" Type="http://schemas.openxmlformats.org/officeDocument/2006/relationships/image" Target="../media/image125.emf"/><Relationship Id="rId3" Type="http://schemas.openxmlformats.org/officeDocument/2006/relationships/oleObject" Target="../embeddings/oleObject140.bin"/><Relationship Id="rId21" Type="http://schemas.openxmlformats.org/officeDocument/2006/relationships/oleObject" Target="../embeddings/oleObject150.bin"/><Relationship Id="rId7" Type="http://schemas.openxmlformats.org/officeDocument/2006/relationships/image" Target="../media/image120.emf"/><Relationship Id="rId12" Type="http://schemas.openxmlformats.org/officeDocument/2006/relationships/image" Target="../media/image122.emf"/><Relationship Id="rId17" Type="http://schemas.openxmlformats.org/officeDocument/2006/relationships/oleObject" Target="../embeddings/oleObject148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24.emf"/><Relationship Id="rId20" Type="http://schemas.openxmlformats.org/officeDocument/2006/relationships/image" Target="../media/image126.emf"/><Relationship Id="rId1" Type="http://schemas.openxmlformats.org/officeDocument/2006/relationships/vmlDrawing" Target="../drawings/vmlDrawing50.vml"/><Relationship Id="rId6" Type="http://schemas.openxmlformats.org/officeDocument/2006/relationships/oleObject" Target="../embeddings/oleObject142.bin"/><Relationship Id="rId11" Type="http://schemas.openxmlformats.org/officeDocument/2006/relationships/oleObject" Target="../embeddings/oleObject145.bin"/><Relationship Id="rId24" Type="http://schemas.openxmlformats.org/officeDocument/2006/relationships/image" Target="../media/image128.emf"/><Relationship Id="rId5" Type="http://schemas.openxmlformats.org/officeDocument/2006/relationships/oleObject" Target="../embeddings/oleObject141.bin"/><Relationship Id="rId15" Type="http://schemas.openxmlformats.org/officeDocument/2006/relationships/oleObject" Target="../embeddings/oleObject147.bin"/><Relationship Id="rId23" Type="http://schemas.openxmlformats.org/officeDocument/2006/relationships/oleObject" Target="../embeddings/oleObject151.bin"/><Relationship Id="rId10" Type="http://schemas.openxmlformats.org/officeDocument/2006/relationships/image" Target="../media/image121.emf"/><Relationship Id="rId19" Type="http://schemas.openxmlformats.org/officeDocument/2006/relationships/oleObject" Target="../embeddings/oleObject149.bin"/><Relationship Id="rId4" Type="http://schemas.openxmlformats.org/officeDocument/2006/relationships/image" Target="../media/image119.emf"/><Relationship Id="rId9" Type="http://schemas.openxmlformats.org/officeDocument/2006/relationships/oleObject" Target="../embeddings/oleObject144.bin"/><Relationship Id="rId14" Type="http://schemas.openxmlformats.org/officeDocument/2006/relationships/image" Target="../media/image123.emf"/><Relationship Id="rId22" Type="http://schemas.openxmlformats.org/officeDocument/2006/relationships/image" Target="../media/image127.emf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1.emf"/><Relationship Id="rId13" Type="http://schemas.openxmlformats.org/officeDocument/2006/relationships/oleObject" Target="../embeddings/oleObject168.bin"/><Relationship Id="rId18" Type="http://schemas.openxmlformats.org/officeDocument/2006/relationships/image" Target="../media/image146.wmf"/><Relationship Id="rId26" Type="http://schemas.openxmlformats.org/officeDocument/2006/relationships/image" Target="../media/image150.wmf"/><Relationship Id="rId3" Type="http://schemas.openxmlformats.org/officeDocument/2006/relationships/oleObject" Target="../embeddings/oleObject163.bin"/><Relationship Id="rId21" Type="http://schemas.openxmlformats.org/officeDocument/2006/relationships/oleObject" Target="../embeddings/oleObject172.bin"/><Relationship Id="rId7" Type="http://schemas.openxmlformats.org/officeDocument/2006/relationships/oleObject" Target="../embeddings/oleObject165.bin"/><Relationship Id="rId12" Type="http://schemas.openxmlformats.org/officeDocument/2006/relationships/image" Target="../media/image143.emf"/><Relationship Id="rId17" Type="http://schemas.openxmlformats.org/officeDocument/2006/relationships/oleObject" Target="../embeddings/oleObject170.bin"/><Relationship Id="rId25" Type="http://schemas.openxmlformats.org/officeDocument/2006/relationships/oleObject" Target="../embeddings/oleObject174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45.wmf"/><Relationship Id="rId20" Type="http://schemas.openxmlformats.org/officeDocument/2006/relationships/image" Target="../media/image147.wmf"/><Relationship Id="rId1" Type="http://schemas.openxmlformats.org/officeDocument/2006/relationships/vmlDrawing" Target="../drawings/vmlDrawing51.vml"/><Relationship Id="rId6" Type="http://schemas.openxmlformats.org/officeDocument/2006/relationships/image" Target="../media/image140.emf"/><Relationship Id="rId11" Type="http://schemas.openxmlformats.org/officeDocument/2006/relationships/oleObject" Target="../embeddings/oleObject167.bin"/><Relationship Id="rId24" Type="http://schemas.openxmlformats.org/officeDocument/2006/relationships/image" Target="../media/image149.wmf"/><Relationship Id="rId5" Type="http://schemas.openxmlformats.org/officeDocument/2006/relationships/oleObject" Target="../embeddings/oleObject188.bin"/><Relationship Id="rId15" Type="http://schemas.openxmlformats.org/officeDocument/2006/relationships/oleObject" Target="../embeddings/oleObject169.bin"/><Relationship Id="rId23" Type="http://schemas.openxmlformats.org/officeDocument/2006/relationships/oleObject" Target="../embeddings/oleObject173.bin"/><Relationship Id="rId10" Type="http://schemas.openxmlformats.org/officeDocument/2006/relationships/image" Target="../media/image142.emf"/><Relationship Id="rId19" Type="http://schemas.openxmlformats.org/officeDocument/2006/relationships/oleObject" Target="../embeddings/oleObject171.bin"/><Relationship Id="rId4" Type="http://schemas.openxmlformats.org/officeDocument/2006/relationships/image" Target="../media/image139.emf"/><Relationship Id="rId9" Type="http://schemas.openxmlformats.org/officeDocument/2006/relationships/oleObject" Target="../embeddings/oleObject166.bin"/><Relationship Id="rId14" Type="http://schemas.openxmlformats.org/officeDocument/2006/relationships/image" Target="../media/image144.emf"/><Relationship Id="rId22" Type="http://schemas.openxmlformats.org/officeDocument/2006/relationships/image" Target="../media/image148.wmf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1026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970" cy="4956"/>
          </a:xfrm>
        </p:grpSpPr>
        <p:pic>
          <p:nvPicPr>
            <p:cNvPr id="4107" name="Picture 1027" descr="beijing1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1506" cy="4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108" name="Picture 1028" descr="beijing1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88" y="0"/>
              <a:ext cx="1506" cy="4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109" name="Picture 1029" descr="beijing1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76" y="0"/>
              <a:ext cx="1506" cy="4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110" name="Picture 1030" descr="beijing1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64" y="0"/>
              <a:ext cx="1506" cy="4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4099" name="Picture 1042" descr="未命名1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113" y="762000"/>
            <a:ext cx="775335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73" name="Rectangle 1073"/>
          <p:cNvSpPr>
            <a:spLocks noChangeArrowheads="1"/>
          </p:cNvSpPr>
          <p:nvPr/>
        </p:nvSpPr>
        <p:spPr bwMode="auto">
          <a:xfrm>
            <a:off x="1898650" y="2754313"/>
            <a:ext cx="61293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2.</a:t>
            </a:r>
            <a:r>
              <a:rPr lang="zh-CN" altLang="en-US" sz="2400" dirty="0">
                <a:latin typeface="Times New Roman" panose="02020603050405020304" pitchFamily="18" charset="0"/>
                <a:ea typeface="隶书" panose="02010509060101010101" pitchFamily="49" charset="-122"/>
              </a:rPr>
              <a:t>串联与并联 </a:t>
            </a:r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Series and Parallel Connections</a:t>
            </a:r>
          </a:p>
        </p:txBody>
      </p:sp>
      <p:sp>
        <p:nvSpPr>
          <p:cNvPr id="4101" name="Rectangle 1075"/>
          <p:cNvSpPr>
            <a:spLocks noChangeArrowheads="1"/>
          </p:cNvSpPr>
          <p:nvPr/>
        </p:nvSpPr>
        <p:spPr bwMode="auto">
          <a:xfrm>
            <a:off x="1868488" y="4484688"/>
            <a:ext cx="56229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>
                <a:solidFill>
                  <a:schemeClr val="tx2"/>
                </a:solidFill>
                <a:ea typeface="隶书" panose="02010509060101010101" pitchFamily="49" charset="-122"/>
              </a:rPr>
              <a:t>5.</a:t>
            </a:r>
            <a:r>
              <a:rPr lang="zh-CN" altLang="en-US">
                <a:solidFill>
                  <a:schemeClr val="tx2"/>
                </a:solidFill>
                <a:ea typeface="隶书" panose="02010509060101010101" pitchFamily="49" charset="-122"/>
              </a:rPr>
              <a:t>星－三角互换 </a:t>
            </a:r>
            <a:r>
              <a:rPr lang="en-US" altLang="zh-CN">
                <a:solidFill>
                  <a:schemeClr val="tx2"/>
                </a:solidFill>
                <a:ea typeface="隶书" panose="02010509060101010101" pitchFamily="49" charset="-122"/>
              </a:rPr>
              <a:t>Wye-Delta Transformation</a:t>
            </a:r>
          </a:p>
        </p:txBody>
      </p:sp>
      <p:sp>
        <p:nvSpPr>
          <p:cNvPr id="4102" name="Rectangle 1076"/>
          <p:cNvSpPr>
            <a:spLocks noChangeArrowheads="1"/>
          </p:cNvSpPr>
          <p:nvPr/>
        </p:nvSpPr>
        <p:spPr bwMode="auto">
          <a:xfrm>
            <a:off x="1892300" y="3908425"/>
            <a:ext cx="29670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>
                <a:solidFill>
                  <a:schemeClr val="tx2"/>
                </a:solidFill>
                <a:ea typeface="隶书" panose="02010509060101010101" pitchFamily="49" charset="-122"/>
              </a:rPr>
              <a:t>4.</a:t>
            </a:r>
            <a:r>
              <a:rPr lang="zh-CN" altLang="en-US">
                <a:solidFill>
                  <a:schemeClr val="tx2"/>
                </a:solidFill>
                <a:ea typeface="隶书" panose="02010509060101010101" pitchFamily="49" charset="-122"/>
              </a:rPr>
              <a:t>电桥 </a:t>
            </a:r>
            <a:r>
              <a:rPr lang="en-US" altLang="zh-CN">
                <a:solidFill>
                  <a:schemeClr val="tx2"/>
                </a:solidFill>
                <a:ea typeface="隶书" panose="02010509060101010101" pitchFamily="49" charset="-122"/>
              </a:rPr>
              <a:t>Bridge Circuits</a:t>
            </a:r>
          </a:p>
        </p:txBody>
      </p:sp>
      <p:sp>
        <p:nvSpPr>
          <p:cNvPr id="77877" name="Text Box 1077"/>
          <p:cNvSpPr txBox="1">
            <a:spLocks noChangeArrowheads="1"/>
          </p:cNvSpPr>
          <p:nvPr/>
        </p:nvSpPr>
        <p:spPr bwMode="auto">
          <a:xfrm>
            <a:off x="1187450" y="246063"/>
            <a:ext cx="7239000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zh-CN" altLang="en-US" sz="40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第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2</a:t>
            </a:r>
            <a:r>
              <a:rPr lang="zh-CN" altLang="en-US" sz="40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章</a:t>
            </a:r>
          </a:p>
          <a:p>
            <a:pPr algn="ctr" eaLnBrk="1" hangingPunct="1">
              <a:defRPr/>
            </a:pPr>
            <a:r>
              <a:rPr lang="zh-CN" altLang="en-US" sz="40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电阻电路等效变换</a:t>
            </a:r>
          </a:p>
        </p:txBody>
      </p:sp>
      <p:sp>
        <p:nvSpPr>
          <p:cNvPr id="4104" name="Rectangle 1079"/>
          <p:cNvSpPr>
            <a:spLocks noChangeArrowheads="1"/>
          </p:cNvSpPr>
          <p:nvPr/>
        </p:nvSpPr>
        <p:spPr bwMode="auto">
          <a:xfrm>
            <a:off x="1908175" y="5059363"/>
            <a:ext cx="44227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>
                <a:solidFill>
                  <a:schemeClr val="tx2"/>
                </a:solidFill>
                <a:ea typeface="隶书" panose="02010509060101010101" pitchFamily="49" charset="-122"/>
              </a:rPr>
              <a:t>6.</a:t>
            </a:r>
            <a:r>
              <a:rPr lang="zh-CN" altLang="en-US">
                <a:solidFill>
                  <a:schemeClr val="tx2"/>
                </a:solidFill>
                <a:ea typeface="隶书" panose="02010509060101010101" pitchFamily="49" charset="-122"/>
              </a:rPr>
              <a:t>电源变换 </a:t>
            </a:r>
            <a:r>
              <a:rPr lang="en-US" altLang="zh-CN">
                <a:solidFill>
                  <a:schemeClr val="tx2"/>
                </a:solidFill>
                <a:ea typeface="隶书" panose="02010509060101010101" pitchFamily="49" charset="-122"/>
              </a:rPr>
              <a:t>Source transformation</a:t>
            </a:r>
          </a:p>
        </p:txBody>
      </p:sp>
      <p:sp>
        <p:nvSpPr>
          <p:cNvPr id="77881" name="Rectangle 1081"/>
          <p:cNvSpPr>
            <a:spLocks noChangeArrowheads="1"/>
          </p:cNvSpPr>
          <p:nvPr/>
        </p:nvSpPr>
        <p:spPr bwMode="auto">
          <a:xfrm>
            <a:off x="1908175" y="2276475"/>
            <a:ext cx="61293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1.</a:t>
            </a:r>
            <a:r>
              <a:rPr lang="zh-CN" alt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等效变换的概念 </a:t>
            </a:r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Concept of Equivalence</a:t>
            </a:r>
          </a:p>
        </p:txBody>
      </p:sp>
      <p:sp>
        <p:nvSpPr>
          <p:cNvPr id="4106" name="Rectangle 1083"/>
          <p:cNvSpPr>
            <a:spLocks noChangeArrowheads="1"/>
          </p:cNvSpPr>
          <p:nvPr/>
        </p:nvSpPr>
        <p:spPr bwMode="auto">
          <a:xfrm>
            <a:off x="1906588" y="3357563"/>
            <a:ext cx="4235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>
                <a:solidFill>
                  <a:schemeClr val="tx2"/>
                </a:solidFill>
                <a:ea typeface="隶书" panose="02010509060101010101" pitchFamily="49" charset="-122"/>
              </a:rPr>
              <a:t>3.</a:t>
            </a:r>
            <a:r>
              <a:rPr lang="zh-CN" altLang="en-US">
                <a:solidFill>
                  <a:schemeClr val="tx2"/>
                </a:solidFill>
                <a:ea typeface="隶书" panose="02010509060101010101" pitchFamily="49" charset="-122"/>
              </a:rPr>
              <a:t>对称电路 </a:t>
            </a:r>
            <a:r>
              <a:rPr lang="en-US" altLang="zh-CN">
                <a:solidFill>
                  <a:schemeClr val="tx2"/>
                </a:solidFill>
                <a:ea typeface="隶书" panose="02010509060101010101" pitchFamily="49" charset="-122"/>
              </a:rPr>
              <a:t>Symmetric Circuits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970" cy="4956"/>
          </a:xfrm>
        </p:grpSpPr>
        <p:pic>
          <p:nvPicPr>
            <p:cNvPr id="5131" name="Picture 3" descr="beijing1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1506" cy="4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132" name="Picture 4" descr="beijing1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88" y="0"/>
              <a:ext cx="1506" cy="4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133" name="Picture 5" descr="beijing1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76" y="0"/>
              <a:ext cx="1506" cy="4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134" name="Picture 6" descr="beijing1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64" y="0"/>
              <a:ext cx="1506" cy="4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5123" name="Picture 7" descr="未命名1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113" y="762000"/>
            <a:ext cx="775335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6563" name="Text Box 19"/>
          <p:cNvSpPr txBox="1">
            <a:spLocks noChangeArrowheads="1"/>
          </p:cNvSpPr>
          <p:nvPr/>
        </p:nvSpPr>
        <p:spPr bwMode="auto">
          <a:xfrm>
            <a:off x="755650" y="1773238"/>
            <a:ext cx="14414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目标：</a:t>
            </a:r>
          </a:p>
        </p:txBody>
      </p:sp>
      <p:sp>
        <p:nvSpPr>
          <p:cNvPr id="236564" name="Text Box 20"/>
          <p:cNvSpPr txBox="1">
            <a:spLocks noChangeArrowheads="1"/>
          </p:cNvSpPr>
          <p:nvPr/>
        </p:nvSpPr>
        <p:spPr bwMode="auto">
          <a:xfrm>
            <a:off x="827088" y="5127625"/>
            <a:ext cx="2419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讲授学时：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4</a:t>
            </a:r>
          </a:p>
        </p:txBody>
      </p:sp>
      <p:sp>
        <p:nvSpPr>
          <p:cNvPr id="236565" name="Text Box 21"/>
          <p:cNvSpPr txBox="1">
            <a:spLocks noChangeArrowheads="1"/>
          </p:cNvSpPr>
          <p:nvPr/>
        </p:nvSpPr>
        <p:spPr bwMode="auto">
          <a:xfrm>
            <a:off x="779463" y="3357563"/>
            <a:ext cx="14033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难点：</a:t>
            </a:r>
          </a:p>
        </p:txBody>
      </p:sp>
      <p:sp>
        <p:nvSpPr>
          <p:cNvPr id="5128" name="Rectangle 22"/>
          <p:cNvSpPr>
            <a:spLocks noChangeArrowheads="1"/>
          </p:cNvSpPr>
          <p:nvPr/>
        </p:nvSpPr>
        <p:spPr bwMode="auto">
          <a:xfrm>
            <a:off x="1979613" y="3471863"/>
            <a:ext cx="6624637" cy="85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457200" indent="-457200">
              <a:tabLst>
                <a:tab pos="228600" algn="l"/>
                <a:tab pos="252413" algn="l"/>
              </a:tabLs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1pPr>
            <a:lvl2pPr marL="914400" indent="-457200">
              <a:tabLst>
                <a:tab pos="228600" algn="l"/>
                <a:tab pos="252413" algn="l"/>
              </a:tabLs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2pPr>
            <a:lvl3pPr marL="1371600" indent="-457200">
              <a:tabLst>
                <a:tab pos="228600" algn="l"/>
                <a:tab pos="252413" algn="l"/>
              </a:tabLs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3pPr>
            <a:lvl4pPr marL="1828800" indent="-457200">
              <a:tabLst>
                <a:tab pos="228600" algn="l"/>
                <a:tab pos="252413" algn="l"/>
              </a:tabLs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4pPr>
            <a:lvl5pPr marL="2286000" indent="-457200">
              <a:tabLst>
                <a:tab pos="228600" algn="l"/>
                <a:tab pos="252413" algn="l"/>
              </a:tabLs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  <a:tab pos="252413" algn="l"/>
              </a:tabLs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  <a:tab pos="252413" algn="l"/>
              </a:tabLs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  <a:tab pos="252413" algn="l"/>
              </a:tabLs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  <a:tab pos="252413" algn="l"/>
              </a:tabLs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</a:rPr>
              <a:t>1.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</a:rPr>
              <a:t>含受控源电路的等效化简。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</a:rPr>
              <a:t>2.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</a:rPr>
              <a:t>综合应用多种等效变换方法化简复杂电路。 </a:t>
            </a:r>
          </a:p>
        </p:txBody>
      </p:sp>
      <p:sp>
        <p:nvSpPr>
          <p:cNvPr id="236567" name="Text Box 23"/>
          <p:cNvSpPr txBox="1">
            <a:spLocks noChangeArrowheads="1"/>
          </p:cNvSpPr>
          <p:nvPr/>
        </p:nvSpPr>
        <p:spPr bwMode="auto">
          <a:xfrm>
            <a:off x="4787900" y="5176838"/>
            <a:ext cx="25209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讨论学时：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1 </a:t>
            </a:r>
          </a:p>
        </p:txBody>
      </p:sp>
      <p:sp>
        <p:nvSpPr>
          <p:cNvPr id="5130" name="Rectangle 25"/>
          <p:cNvSpPr>
            <a:spLocks noChangeArrowheads="1"/>
          </p:cNvSpPr>
          <p:nvPr/>
        </p:nvSpPr>
        <p:spPr bwMode="auto">
          <a:xfrm>
            <a:off x="1042988" y="1916113"/>
            <a:ext cx="7489825" cy="85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457200" indent="-457200">
              <a:tabLst>
                <a:tab pos="228600" algn="l"/>
                <a:tab pos="252413" algn="l"/>
              </a:tabLs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1pPr>
            <a:lvl2pPr marL="914400" indent="-457200">
              <a:tabLst>
                <a:tab pos="228600" algn="l"/>
                <a:tab pos="252413" algn="l"/>
              </a:tabLs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2pPr>
            <a:lvl3pPr marL="1371600" indent="-457200">
              <a:tabLst>
                <a:tab pos="228600" algn="l"/>
                <a:tab pos="252413" algn="l"/>
              </a:tabLs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3pPr>
            <a:lvl4pPr marL="1828800" indent="-457200">
              <a:tabLst>
                <a:tab pos="228600" algn="l"/>
                <a:tab pos="252413" algn="l"/>
              </a:tabLs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4pPr>
            <a:lvl5pPr marL="2286000" indent="-457200">
              <a:tabLst>
                <a:tab pos="228600" algn="l"/>
                <a:tab pos="252413" algn="l"/>
              </a:tabLs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  <a:tab pos="252413" algn="l"/>
              </a:tabLs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  <a:tab pos="252413" algn="l"/>
              </a:tabLs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  <a:tab pos="252413" algn="l"/>
              </a:tabLs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  <a:tab pos="252413" algn="l"/>
              </a:tabLs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9pPr>
          </a:lstStyle>
          <a:p>
            <a:pPr lvl="2" eaLnBrk="1" hangingPunct="1">
              <a:spcBef>
                <a:spcPct val="50000"/>
              </a:spcBef>
            </a:pP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</a:rPr>
              <a:t>1.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</a:rPr>
              <a:t>熟练应用支路电流分析法分析简单电路。</a:t>
            </a:r>
          </a:p>
          <a:p>
            <a:pPr lvl="2" eaLnBrk="1" hangingPunct="1">
              <a:spcBef>
                <a:spcPct val="50000"/>
              </a:spcBef>
            </a:pP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</a:rPr>
              <a:t>2.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</a:rPr>
              <a:t>综合应用各种等效化简方法获得等效电路。 </a:t>
            </a:r>
          </a:p>
        </p:txBody>
      </p:sp>
      <p:sp>
        <p:nvSpPr>
          <p:cNvPr id="15" name="Text Box 1077"/>
          <p:cNvSpPr txBox="1">
            <a:spLocks noChangeArrowheads="1"/>
          </p:cNvSpPr>
          <p:nvPr/>
        </p:nvSpPr>
        <p:spPr bwMode="auto">
          <a:xfrm>
            <a:off x="1187450" y="246063"/>
            <a:ext cx="7239000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zh-CN" altLang="en-US" sz="40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第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2</a:t>
            </a:r>
            <a:r>
              <a:rPr lang="zh-CN" altLang="en-US" sz="40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章</a:t>
            </a:r>
          </a:p>
          <a:p>
            <a:pPr algn="ctr" eaLnBrk="1" hangingPunct="1">
              <a:defRPr/>
            </a:pPr>
            <a:r>
              <a:rPr lang="zh-CN" altLang="en-US" sz="40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电阻电路等效变换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Text Box 2"/>
          <p:cNvSpPr txBox="1">
            <a:spLocks noChangeArrowheads="1"/>
          </p:cNvSpPr>
          <p:nvPr/>
        </p:nvSpPr>
        <p:spPr bwMode="auto">
          <a:xfrm>
            <a:off x="519907" y="1688835"/>
            <a:ext cx="8208962" cy="14219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FFFF"/>
                    </a:gs>
                    <a:gs pos="100000">
                      <a:schemeClr val="accent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zh-CN" sz="2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任何一个复杂的电路</a:t>
            </a:r>
            <a:r>
              <a:rPr kumimoji="1"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, </a:t>
            </a:r>
            <a:r>
              <a:rPr kumimoji="1"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向外引出两个端钮，且从一个端子流入的电流等于从另一端子流出的电流，则称这一电路为二端网络 </a:t>
            </a:r>
            <a:r>
              <a:rPr kumimoji="1"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或一端口网络</a:t>
            </a:r>
            <a:r>
              <a:rPr kumimoji="1"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kumimoji="1"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kumimoji="1" lang="zh-CN" altLang="en-US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3123" name="Text Box 3"/>
          <p:cNvSpPr txBox="1">
            <a:spLocks noChangeArrowheads="1"/>
          </p:cNvSpPr>
          <p:nvPr/>
        </p:nvSpPr>
        <p:spPr bwMode="auto">
          <a:xfrm>
            <a:off x="323528" y="956599"/>
            <a:ext cx="482453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320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二端网络（一端口网络）</a:t>
            </a:r>
          </a:p>
        </p:txBody>
      </p:sp>
      <p:sp>
        <p:nvSpPr>
          <p:cNvPr id="133130" name="AutoShape 10" descr="羊皮纸"/>
          <p:cNvSpPr>
            <a:spLocks noChangeArrowheads="1"/>
          </p:cNvSpPr>
          <p:nvPr/>
        </p:nvSpPr>
        <p:spPr bwMode="auto">
          <a:xfrm>
            <a:off x="7236296" y="3860800"/>
            <a:ext cx="719137" cy="2016472"/>
          </a:xfrm>
          <a:prstGeom prst="wedgeRoundRectCallout">
            <a:avLst>
              <a:gd name="adj1" fmla="val -272519"/>
              <a:gd name="adj2" fmla="val -13773"/>
              <a:gd name="adj3" fmla="val 16667"/>
            </a:avLst>
          </a:prstGeom>
          <a:noFill/>
          <a:ln>
            <a:solidFill>
              <a:srgbClr val="FF0000"/>
            </a:solidFill>
          </a:ln>
          <a:effectLst/>
        </p:spPr>
        <p:txBody>
          <a:bodyPr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一端口网络</a:t>
            </a:r>
          </a:p>
        </p:txBody>
      </p:sp>
      <p:sp>
        <p:nvSpPr>
          <p:cNvPr id="133131" name="Line 11"/>
          <p:cNvSpPr>
            <a:spLocks noChangeShapeType="1"/>
          </p:cNvSpPr>
          <p:nvPr/>
        </p:nvSpPr>
        <p:spPr bwMode="auto">
          <a:xfrm>
            <a:off x="4716289" y="3860800"/>
            <a:ext cx="4318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33132" name="Group 12"/>
          <p:cNvGrpSpPr>
            <a:grpSpLocks/>
          </p:cNvGrpSpPr>
          <p:nvPr/>
        </p:nvGrpSpPr>
        <p:grpSpPr bwMode="auto">
          <a:xfrm>
            <a:off x="3347864" y="3860800"/>
            <a:ext cx="2376488" cy="1584325"/>
            <a:chOff x="612" y="2115"/>
            <a:chExt cx="1452" cy="771"/>
          </a:xfrm>
        </p:grpSpPr>
        <p:grpSp>
          <p:nvGrpSpPr>
            <p:cNvPr id="133133" name="Group 13"/>
            <p:cNvGrpSpPr>
              <a:grpSpLocks/>
            </p:cNvGrpSpPr>
            <p:nvPr/>
          </p:nvGrpSpPr>
          <p:grpSpPr bwMode="auto">
            <a:xfrm>
              <a:off x="612" y="2115"/>
              <a:ext cx="1270" cy="771"/>
              <a:chOff x="612" y="1979"/>
              <a:chExt cx="1270" cy="771"/>
            </a:xfrm>
          </p:grpSpPr>
          <p:sp>
            <p:nvSpPr>
              <p:cNvPr id="133134" name="Rectangle 14"/>
              <p:cNvSpPr>
                <a:spLocks noChangeArrowheads="1"/>
              </p:cNvSpPr>
              <p:nvPr/>
            </p:nvSpPr>
            <p:spPr bwMode="auto">
              <a:xfrm>
                <a:off x="612" y="1979"/>
                <a:ext cx="635" cy="77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135" name="Line 15"/>
              <p:cNvSpPr>
                <a:spLocks noChangeShapeType="1"/>
              </p:cNvSpPr>
              <p:nvPr/>
            </p:nvSpPr>
            <p:spPr bwMode="auto">
              <a:xfrm>
                <a:off x="1247" y="2115"/>
                <a:ext cx="635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oval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136" name="Line 16"/>
              <p:cNvSpPr>
                <a:spLocks noChangeShapeType="1"/>
              </p:cNvSpPr>
              <p:nvPr/>
            </p:nvSpPr>
            <p:spPr bwMode="auto">
              <a:xfrm>
                <a:off x="1247" y="2614"/>
                <a:ext cx="635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oval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33137" name="Line 17"/>
            <p:cNvSpPr>
              <a:spLocks noChangeShapeType="1"/>
            </p:cNvSpPr>
            <p:nvPr/>
          </p:nvSpPr>
          <p:spPr bwMode="auto">
            <a:xfrm flipH="1">
              <a:off x="1519" y="2341"/>
              <a:ext cx="408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138" name="Line 18"/>
            <p:cNvSpPr>
              <a:spLocks noChangeShapeType="1"/>
            </p:cNvSpPr>
            <p:nvPr/>
          </p:nvSpPr>
          <p:spPr bwMode="auto">
            <a:xfrm>
              <a:off x="1474" y="2659"/>
              <a:ext cx="363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139" name="Text Box 19"/>
            <p:cNvSpPr txBox="1">
              <a:spLocks noChangeArrowheads="1"/>
            </p:cNvSpPr>
            <p:nvPr/>
          </p:nvSpPr>
          <p:spPr bwMode="auto">
            <a:xfrm>
              <a:off x="1837" y="2551"/>
              <a:ext cx="227" cy="1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i="1" dirty="0" err="1">
                  <a:solidFill>
                    <a:srgbClr val="FF0000"/>
                  </a:solidFill>
                </a:rPr>
                <a:t>i</a:t>
              </a:r>
              <a:endParaRPr lang="en-US" altLang="zh-CN" i="1" dirty="0">
                <a:solidFill>
                  <a:srgbClr val="FF0000"/>
                </a:solidFill>
              </a:endParaRPr>
            </a:p>
          </p:txBody>
        </p:sp>
        <p:sp>
          <p:nvSpPr>
            <p:cNvPr id="133140" name="Text Box 20"/>
            <p:cNvSpPr txBox="1">
              <a:spLocks noChangeArrowheads="1"/>
            </p:cNvSpPr>
            <p:nvPr/>
          </p:nvSpPr>
          <p:spPr bwMode="auto">
            <a:xfrm>
              <a:off x="1359" y="2221"/>
              <a:ext cx="227" cy="1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i="1" dirty="0" err="1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</a:t>
              </a:r>
              <a:endParaRPr lang="en-US" altLang="zh-CN" i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31" name="Rectangle 21"/>
          <p:cNvSpPr>
            <a:spLocks noChangeArrowheads="1"/>
          </p:cNvSpPr>
          <p:nvPr/>
        </p:nvSpPr>
        <p:spPr bwMode="auto">
          <a:xfrm>
            <a:off x="395288" y="163513"/>
            <a:ext cx="845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3200" dirty="0">
                <a:solidFill>
                  <a:schemeClr val="tx2"/>
                </a:solidFill>
                <a:ea typeface="隶书" panose="02010509060101010101" pitchFamily="49" charset="-122"/>
              </a:rPr>
              <a:t>2.1</a:t>
            </a:r>
            <a:r>
              <a:rPr lang="zh-CN" altLang="en-US" sz="3200" dirty="0">
                <a:solidFill>
                  <a:schemeClr val="tx2"/>
                </a:solidFill>
                <a:ea typeface="隶书" panose="02010509060101010101" pitchFamily="49" charset="-122"/>
              </a:rPr>
              <a:t>等效变换的概念 </a:t>
            </a:r>
            <a:endParaRPr lang="en-US" altLang="zh-CN" sz="3200" dirty="0">
              <a:solidFill>
                <a:schemeClr val="tx2"/>
              </a:solidFill>
              <a:ea typeface="隶书" panose="02010509060101010101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19907" y="3717032"/>
            <a:ext cx="2723823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端、端钮、端子、接线端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Terminal</a:t>
            </a:r>
          </a:p>
          <a:p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端口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Port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35018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3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3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75"/>
                                        <p:tgtEl>
                                          <p:spTgt spid="133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4725"/>
                            </p:stCondLst>
                            <p:childTnLst>
                              <p:par>
                                <p:cTn id="1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2000"/>
                                        <p:tgtEl>
                                          <p:spTgt spid="133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6725"/>
                            </p:stCondLst>
                            <p:childTnLst>
                              <p:par>
                                <p:cTn id="19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1" dur="2000"/>
                                        <p:tgtEl>
                                          <p:spTgt spid="133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22" grpId="0" build="p" autoUpdateAnimBg="0"/>
      <p:bldP spid="133123" grpId="0"/>
      <p:bldP spid="133130" grpId="0" animBg="1"/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 bwMode="auto">
          <a:xfrm>
            <a:off x="6019800" y="831489"/>
            <a:ext cx="2944688" cy="2996920"/>
          </a:xfrm>
          <a:prstGeom prst="rect">
            <a:avLst/>
          </a:prstGeom>
          <a:solidFill>
            <a:schemeClr val="accent6">
              <a:lumMod val="20000"/>
              <a:lumOff val="80000"/>
              <a:alpha val="55000"/>
            </a:schemeClr>
          </a:solidFill>
          <a:ln w="25400" cap="flat" cmpd="sng" algn="ctr">
            <a:solidFill>
              <a:schemeClr val="accent6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FCBFE92-4950-4839-A96A-5A927330549D}" type="datetime1">
              <a:rPr lang="zh-CN" altLang="en-US" smtClean="0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C9DF94E-7D5D-4B62-90AF-0A54AC735541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  <p:graphicFrame>
        <p:nvGraphicFramePr>
          <p:cNvPr id="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1762434"/>
              </p:ext>
            </p:extLst>
          </p:nvPr>
        </p:nvGraphicFramePr>
        <p:xfrm>
          <a:off x="4450864" y="1147121"/>
          <a:ext cx="4362450" cy="2681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27" name="Visio" r:id="rId3" imgW="2200266" imgH="1362070" progId="Visio.Drawing.11">
                  <p:embed/>
                </p:oleObj>
              </mc:Choice>
              <mc:Fallback>
                <p:oleObj name="Visio" r:id="rId3" imgW="2200266" imgH="1362070" progId="Visio.Drawing.11">
                  <p:embed/>
                  <p:pic>
                    <p:nvPicPr>
                      <p:cNvPr id="26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0864" y="1147121"/>
                        <a:ext cx="4362450" cy="2681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21"/>
          <p:cNvSpPr>
            <a:spLocks noChangeArrowheads="1"/>
          </p:cNvSpPr>
          <p:nvPr/>
        </p:nvSpPr>
        <p:spPr bwMode="auto">
          <a:xfrm>
            <a:off x="395288" y="163513"/>
            <a:ext cx="845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3200" dirty="0">
                <a:solidFill>
                  <a:schemeClr val="tx2"/>
                </a:solidFill>
                <a:ea typeface="隶书" panose="02010509060101010101" pitchFamily="49" charset="-122"/>
              </a:rPr>
              <a:t>2.1</a:t>
            </a:r>
            <a:r>
              <a:rPr lang="zh-CN" altLang="en-US" sz="3200" dirty="0">
                <a:solidFill>
                  <a:schemeClr val="tx2"/>
                </a:solidFill>
                <a:ea typeface="隶书" panose="02010509060101010101" pitchFamily="49" charset="-122"/>
              </a:rPr>
              <a:t>等效变换的概念 </a:t>
            </a:r>
            <a:endParaRPr lang="en-US" altLang="zh-CN" sz="3200" dirty="0">
              <a:solidFill>
                <a:schemeClr val="tx2"/>
              </a:solidFill>
              <a:ea typeface="隶书" panose="02010509060101010101" pitchFamily="49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54387" y="831489"/>
            <a:ext cx="35317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求解电路中的独立电压源的电流</a:t>
            </a:r>
            <a:r>
              <a:rPr lang="en-US" altLang="zh-CN" dirty="0" err="1"/>
              <a:t>i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395288" y="1556792"/>
            <a:ext cx="3185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根据基尔霍夫定律列写方程组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6480974" y="832219"/>
            <a:ext cx="397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R</a:t>
            </a:r>
            <a:r>
              <a:rPr lang="en-US" altLang="zh-CN" sz="2000" b="1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448201" y="2096056"/>
            <a:ext cx="4010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R</a:t>
            </a:r>
            <a:r>
              <a:rPr lang="en-US" altLang="zh-CN" sz="2000" b="1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415346" y="2096056"/>
            <a:ext cx="397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R</a:t>
            </a:r>
            <a:r>
              <a:rPr lang="en-US" altLang="zh-CN" sz="2000" b="1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/>
              <p:cNvSpPr txBox="1"/>
              <p:nvPr/>
            </p:nvSpPr>
            <p:spPr>
              <a:xfrm>
                <a:off x="412800" y="2197462"/>
                <a:ext cx="3124380" cy="8842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800" y="2197462"/>
                <a:ext cx="3124380" cy="88428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直接箭头连接符 13"/>
          <p:cNvCxnSpPr/>
          <p:nvPr/>
        </p:nvCxnSpPr>
        <p:spPr bwMode="auto">
          <a:xfrm flipV="1">
            <a:off x="7308304" y="1628801"/>
            <a:ext cx="0" cy="568661"/>
          </a:xfrm>
          <a:prstGeom prst="straightConnector1">
            <a:avLst/>
          </a:prstGeom>
          <a:solidFill>
            <a:schemeClr val="accent1"/>
          </a:solidFill>
          <a:ln w="31750" cap="flat" cmpd="sng" algn="ctr">
            <a:solidFill>
              <a:schemeClr val="tx1"/>
            </a:solidFill>
            <a:prstDash val="solid"/>
            <a:round/>
            <a:headEnd type="stealth" w="lg" len="lg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" name="直接箭头连接符 26"/>
          <p:cNvCxnSpPr/>
          <p:nvPr/>
        </p:nvCxnSpPr>
        <p:spPr bwMode="auto">
          <a:xfrm flipV="1">
            <a:off x="8172400" y="1641793"/>
            <a:ext cx="0" cy="568661"/>
          </a:xfrm>
          <a:prstGeom prst="straightConnector1">
            <a:avLst/>
          </a:prstGeom>
          <a:solidFill>
            <a:schemeClr val="accent1"/>
          </a:solidFill>
          <a:ln w="31750" cap="flat" cmpd="sng" algn="ctr">
            <a:solidFill>
              <a:schemeClr val="tx1"/>
            </a:solidFill>
            <a:prstDash val="solid"/>
            <a:round/>
            <a:headEnd type="stealth" w="lg" len="lg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/>
              <p:cNvSpPr txBox="1"/>
              <p:nvPr/>
            </p:nvSpPr>
            <p:spPr>
              <a:xfrm>
                <a:off x="7448099" y="1741458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𝑖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28" name="文本框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8099" y="1741458"/>
                <a:ext cx="360040" cy="369332"/>
              </a:xfrm>
              <a:prstGeom prst="rect">
                <a:avLst/>
              </a:prstGeom>
              <a:blipFill>
                <a:blip r:embed="rId6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/>
              <p:cNvSpPr txBox="1"/>
              <p:nvPr/>
            </p:nvSpPr>
            <p:spPr>
              <a:xfrm>
                <a:off x="8254239" y="1728465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𝑖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29" name="文本框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4239" y="1728465"/>
                <a:ext cx="360040" cy="369332"/>
              </a:xfrm>
              <a:prstGeom prst="rect">
                <a:avLst/>
              </a:prstGeom>
              <a:blipFill>
                <a:blip r:embed="rId7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线形标注 1(无边框) 31"/>
          <p:cNvSpPr/>
          <p:nvPr/>
        </p:nvSpPr>
        <p:spPr bwMode="auto">
          <a:xfrm>
            <a:off x="2872820" y="3364554"/>
            <a:ext cx="2286000" cy="612648"/>
          </a:xfrm>
          <a:prstGeom prst="callout1">
            <a:avLst>
              <a:gd name="adj1" fmla="val 13559"/>
              <a:gd name="adj2" fmla="val 37928"/>
              <a:gd name="adj3" fmla="val -75689"/>
              <a:gd name="adj4" fmla="val 13493"/>
            </a:avLst>
          </a:prstGeom>
          <a:noFill/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dirty="0"/>
              <a:t>独立</a:t>
            </a:r>
            <a:r>
              <a:rPr lang="en-US" altLang="zh-CN" dirty="0" err="1"/>
              <a:t>kVL</a:t>
            </a:r>
            <a:r>
              <a:rPr lang="zh-CN" altLang="en-US" dirty="0"/>
              <a:t>方程为</a:t>
            </a:r>
            <a:r>
              <a:rPr lang="en-US" altLang="zh-CN" dirty="0"/>
              <a:t>2</a:t>
            </a:r>
            <a:r>
              <a:rPr lang="zh-CN" altLang="en-US" dirty="0"/>
              <a:t>个</a:t>
            </a:r>
            <a:endParaRPr kumimoji="1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251520" y="4111220"/>
            <a:ext cx="45483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   将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R</a:t>
            </a:r>
            <a:r>
              <a:rPr lang="en-US" altLang="zh-CN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R</a:t>
            </a:r>
            <a:r>
              <a:rPr lang="en-US" altLang="zh-CN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R</a:t>
            </a:r>
            <a:r>
              <a:rPr lang="en-US" altLang="zh-CN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的连接视为一个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一端口网络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再将一端口网络等效为电阻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R</a:t>
            </a:r>
            <a:r>
              <a:rPr lang="en-US" altLang="zh-CN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eq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求出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R</a:t>
            </a:r>
            <a:r>
              <a:rPr lang="en-US" altLang="zh-CN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eq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即可得出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3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1506811"/>
              </p:ext>
            </p:extLst>
          </p:nvPr>
        </p:nvGraphicFramePr>
        <p:xfrm>
          <a:off x="4799839" y="4150797"/>
          <a:ext cx="3454400" cy="191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28" name="Visio" r:id="rId8" imgW="1752525" imgH="980949" progId="Visio.Drawing.11">
                  <p:embed/>
                </p:oleObj>
              </mc:Choice>
              <mc:Fallback>
                <p:oleObj name="Visio" r:id="rId8" imgW="1752525" imgH="980949" progId="Visio.Drawing.11">
                  <p:embed/>
                  <p:pic>
                    <p:nvPicPr>
                      <p:cNvPr id="28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9839" y="4150797"/>
                        <a:ext cx="3454400" cy="1912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文本框 35"/>
          <p:cNvSpPr txBox="1"/>
          <p:nvPr/>
        </p:nvSpPr>
        <p:spPr>
          <a:xfrm>
            <a:off x="7849273" y="4581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sp>
        <p:nvSpPr>
          <p:cNvPr id="37" name="文本框 36"/>
          <p:cNvSpPr txBox="1"/>
          <p:nvPr/>
        </p:nvSpPr>
        <p:spPr>
          <a:xfrm>
            <a:off x="7692501" y="4443397"/>
            <a:ext cx="4876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en-US" altLang="zh-CN" sz="20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eq</a:t>
            </a:r>
            <a:endParaRPr lang="zh-CN" altLang="en-US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矩形 38"/>
              <p:cNvSpPr/>
              <p:nvPr/>
            </p:nvSpPr>
            <p:spPr>
              <a:xfrm>
                <a:off x="1839845" y="5006679"/>
                <a:ext cx="1032975" cy="64395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𝑢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𝑒𝑞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9" name="矩形 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9845" y="5006679"/>
                <a:ext cx="1032975" cy="64395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文本框 39"/>
          <p:cNvSpPr txBox="1"/>
          <p:nvPr/>
        </p:nvSpPr>
        <p:spPr>
          <a:xfrm>
            <a:off x="1263401" y="6092250"/>
            <a:ext cx="6417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等效变化将相对复杂的电路等效为简单电路，从而简化计算。</a:t>
            </a:r>
          </a:p>
        </p:txBody>
      </p:sp>
    </p:spTree>
    <p:extLst>
      <p:ext uri="{BB962C8B-B14F-4D97-AF65-F5344CB8AC3E}">
        <p14:creationId xmlns:p14="http://schemas.microsoft.com/office/powerpoint/2010/main" val="2186159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7" grpId="0"/>
      <p:bldP spid="8" grpId="0"/>
      <p:bldP spid="9" grpId="0"/>
      <p:bldP spid="10" grpId="0"/>
      <p:bldP spid="11" grpId="0"/>
      <p:bldP spid="12" grpId="0"/>
      <p:bldP spid="28" grpId="0"/>
      <p:bldP spid="29" grpId="0"/>
      <p:bldP spid="32" grpId="0" animBg="1"/>
      <p:bldP spid="33" grpId="0"/>
      <p:bldP spid="37" grpId="0"/>
      <p:bldP spid="39" grpId="0"/>
      <p:bldP spid="4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9" name="Rectangle 2"/>
          <p:cNvSpPr>
            <a:spLocks noChangeArrowheads="1"/>
          </p:cNvSpPr>
          <p:nvPr/>
        </p:nvSpPr>
        <p:spPr bwMode="auto">
          <a:xfrm>
            <a:off x="395288" y="620713"/>
            <a:ext cx="7862887" cy="687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dirty="0">
                <a:solidFill>
                  <a:srgbClr val="CC3300"/>
                </a:solidFill>
                <a:ea typeface="隶书" panose="02010509060101010101" pitchFamily="49" charset="-122"/>
              </a:rPr>
              <a:t>1.</a:t>
            </a:r>
            <a:r>
              <a:rPr lang="zh-CN" altLang="en-US" sz="2800" dirty="0">
                <a:solidFill>
                  <a:srgbClr val="CC3300"/>
                </a:solidFill>
                <a:ea typeface="隶书" panose="02010509060101010101" pitchFamily="49" charset="-122"/>
              </a:rPr>
              <a:t>等效的概念 </a:t>
            </a:r>
            <a:r>
              <a:rPr lang="en-US" altLang="zh-CN" sz="2800" dirty="0">
                <a:solidFill>
                  <a:srgbClr val="CC3300"/>
                </a:solidFill>
                <a:ea typeface="隶书" panose="02010509060101010101" pitchFamily="49" charset="-122"/>
              </a:rPr>
              <a:t>Concept of Equivalence</a:t>
            </a:r>
          </a:p>
        </p:txBody>
      </p:sp>
      <p:grpSp>
        <p:nvGrpSpPr>
          <p:cNvPr id="268295" name="Group 7"/>
          <p:cNvGrpSpPr>
            <a:grpSpLocks/>
          </p:cNvGrpSpPr>
          <p:nvPr/>
        </p:nvGrpSpPr>
        <p:grpSpPr bwMode="auto">
          <a:xfrm>
            <a:off x="609600" y="2225908"/>
            <a:ext cx="1730375" cy="1789113"/>
            <a:chOff x="720" y="3120"/>
            <a:chExt cx="1070" cy="1120"/>
          </a:xfrm>
        </p:grpSpPr>
        <p:graphicFrame>
          <p:nvGraphicFramePr>
            <p:cNvPr id="6167" name="Object 8"/>
            <p:cNvGraphicFramePr>
              <a:graphicFrameLocks noChangeAspect="1"/>
            </p:cNvGraphicFramePr>
            <p:nvPr/>
          </p:nvGraphicFramePr>
          <p:xfrm>
            <a:off x="720" y="3120"/>
            <a:ext cx="1048" cy="8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02" name="Visio" r:id="rId4" imgW="811387" imgH="681514" progId="Visio.Drawing.11">
                    <p:embed/>
                  </p:oleObj>
                </mc:Choice>
                <mc:Fallback>
                  <p:oleObj name="Visio" r:id="rId4" imgW="811387" imgH="681514" progId="Visio.Drawing.11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0" y="3120"/>
                          <a:ext cx="1048" cy="8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68" name="Object 9"/>
            <p:cNvGraphicFramePr>
              <a:graphicFrameLocks noChangeAspect="1"/>
            </p:cNvGraphicFramePr>
            <p:nvPr/>
          </p:nvGraphicFramePr>
          <p:xfrm>
            <a:off x="960" y="3984"/>
            <a:ext cx="830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03" name="公式" r:id="rId6" imgW="660113" imgH="203112" progId="Equation.3">
                    <p:embed/>
                  </p:oleObj>
                </mc:Choice>
                <mc:Fallback>
                  <p:oleObj name="公式" r:id="rId6" imgW="660113" imgH="203112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0" y="3984"/>
                          <a:ext cx="830" cy="2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68298" name="Group 10"/>
          <p:cNvGrpSpPr>
            <a:grpSpLocks/>
          </p:cNvGrpSpPr>
          <p:nvPr/>
        </p:nvGrpSpPr>
        <p:grpSpPr bwMode="auto">
          <a:xfrm>
            <a:off x="6659563" y="2152883"/>
            <a:ext cx="1927225" cy="1828800"/>
            <a:chOff x="3840" y="3072"/>
            <a:chExt cx="1214" cy="1152"/>
          </a:xfrm>
        </p:grpSpPr>
        <p:graphicFrame>
          <p:nvGraphicFramePr>
            <p:cNvPr id="6165" name="Object 11"/>
            <p:cNvGraphicFramePr>
              <a:graphicFrameLocks noChangeAspect="1"/>
            </p:cNvGraphicFramePr>
            <p:nvPr/>
          </p:nvGraphicFramePr>
          <p:xfrm>
            <a:off x="3840" y="3072"/>
            <a:ext cx="1097" cy="8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04" name="Visio" r:id="rId8" imgW="899255" imgH="681514" progId="Visio.Drawing.11">
                    <p:embed/>
                  </p:oleObj>
                </mc:Choice>
                <mc:Fallback>
                  <p:oleObj name="Visio" r:id="rId8" imgW="899255" imgH="681514" progId="Visio.Drawing.11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0" y="3072"/>
                          <a:ext cx="1097" cy="8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66" name="Object 12"/>
            <p:cNvGraphicFramePr>
              <a:graphicFrameLocks noChangeAspect="1"/>
            </p:cNvGraphicFramePr>
            <p:nvPr/>
          </p:nvGraphicFramePr>
          <p:xfrm>
            <a:off x="4224" y="3968"/>
            <a:ext cx="830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05" name="公式" r:id="rId10" imgW="660113" imgH="203112" progId="Equation.3">
                    <p:embed/>
                  </p:oleObj>
                </mc:Choice>
                <mc:Fallback>
                  <p:oleObj name="公式" r:id="rId10" imgW="660113" imgH="203112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24" y="3968"/>
                          <a:ext cx="830" cy="2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68301" name="Group 13"/>
          <p:cNvGrpSpPr>
            <a:grpSpLocks/>
          </p:cNvGrpSpPr>
          <p:nvPr/>
        </p:nvGrpSpPr>
        <p:grpSpPr bwMode="auto">
          <a:xfrm>
            <a:off x="3048000" y="2444983"/>
            <a:ext cx="3114675" cy="698500"/>
            <a:chOff x="1920" y="3160"/>
            <a:chExt cx="1962" cy="440"/>
          </a:xfrm>
        </p:grpSpPr>
        <p:sp>
          <p:nvSpPr>
            <p:cNvPr id="6163" name="Rectangle 14"/>
            <p:cNvSpPr>
              <a:spLocks noChangeArrowheads="1"/>
            </p:cNvSpPr>
            <p:nvPr/>
          </p:nvSpPr>
          <p:spPr bwMode="auto">
            <a:xfrm>
              <a:off x="1920" y="3160"/>
              <a:ext cx="196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 dirty="0">
                  <a:ea typeface="隶书" panose="02010509060101010101" pitchFamily="49" charset="-122"/>
                </a:rPr>
                <a:t>Equivalent networks</a:t>
              </a:r>
            </a:p>
          </p:txBody>
        </p:sp>
        <p:sp>
          <p:nvSpPr>
            <p:cNvPr id="6164" name="Line 15"/>
            <p:cNvSpPr>
              <a:spLocks noChangeShapeType="1"/>
            </p:cNvSpPr>
            <p:nvPr/>
          </p:nvSpPr>
          <p:spPr bwMode="auto">
            <a:xfrm>
              <a:off x="1968" y="3600"/>
              <a:ext cx="1824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68308" name="Rectangle 20"/>
          <p:cNvSpPr>
            <a:spLocks noChangeArrowheads="1"/>
          </p:cNvSpPr>
          <p:nvPr/>
        </p:nvSpPr>
        <p:spPr bwMode="auto">
          <a:xfrm>
            <a:off x="2555875" y="3233971"/>
            <a:ext cx="411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i="1">
                <a:solidFill>
                  <a:schemeClr val="hlink"/>
                </a:solidFill>
                <a:ea typeface="隶书" panose="02010509060101010101" pitchFamily="49" charset="-122"/>
              </a:rPr>
              <a:t>u-i</a:t>
            </a:r>
            <a:r>
              <a:rPr lang="en-US" altLang="zh-CN">
                <a:solidFill>
                  <a:schemeClr val="hlink"/>
                </a:solidFill>
                <a:ea typeface="隶书" panose="02010509060101010101" pitchFamily="49" charset="-122"/>
              </a:rPr>
              <a:t> </a:t>
            </a:r>
            <a:r>
              <a:rPr lang="zh-CN" altLang="en-US">
                <a:solidFill>
                  <a:schemeClr val="hlink"/>
                </a:solidFill>
                <a:ea typeface="隶书" panose="02010509060101010101" pitchFamily="49" charset="-122"/>
              </a:rPr>
              <a:t>关系相同</a:t>
            </a:r>
          </a:p>
        </p:txBody>
      </p:sp>
      <p:sp>
        <p:nvSpPr>
          <p:cNvPr id="6159" name="Rectangle 21"/>
          <p:cNvSpPr>
            <a:spLocks noChangeArrowheads="1"/>
          </p:cNvSpPr>
          <p:nvPr/>
        </p:nvSpPr>
        <p:spPr bwMode="auto">
          <a:xfrm>
            <a:off x="395288" y="163513"/>
            <a:ext cx="845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3200" dirty="0">
                <a:solidFill>
                  <a:schemeClr val="tx2"/>
                </a:solidFill>
                <a:ea typeface="隶书" panose="02010509060101010101" pitchFamily="49" charset="-122"/>
              </a:rPr>
              <a:t>2.1</a:t>
            </a:r>
            <a:r>
              <a:rPr lang="zh-CN" altLang="en-US" sz="3200" dirty="0">
                <a:solidFill>
                  <a:schemeClr val="tx2"/>
                </a:solidFill>
                <a:ea typeface="隶书" panose="02010509060101010101" pitchFamily="49" charset="-122"/>
              </a:rPr>
              <a:t>等效变换的概念 </a:t>
            </a:r>
            <a:endParaRPr lang="en-US" altLang="zh-CN" sz="3200" dirty="0">
              <a:solidFill>
                <a:schemeClr val="tx2"/>
              </a:solidFill>
              <a:ea typeface="隶书" panose="02010509060101010101" pitchFamily="49" charset="-122"/>
            </a:endParaRPr>
          </a:p>
        </p:txBody>
      </p:sp>
      <p:sp>
        <p:nvSpPr>
          <p:cNvPr id="25" name="Text Box 73"/>
          <p:cNvSpPr txBox="1">
            <a:spLocks noChangeArrowheads="1"/>
          </p:cNvSpPr>
          <p:nvPr/>
        </p:nvSpPr>
        <p:spPr bwMode="auto">
          <a:xfrm>
            <a:off x="467544" y="1308100"/>
            <a:ext cx="7848600" cy="978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FFFF"/>
                    </a:gs>
                    <a:gs pos="100000">
                      <a:schemeClr val="accent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两个</a:t>
            </a:r>
            <a:r>
              <a:rPr lang="zh-CN" altLang="en-US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一端口网络</a:t>
            </a:r>
            <a:r>
              <a:rPr kumimoji="1" lang="zh-CN" altLang="en-US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，端口具有相同的电压、电流关系</a:t>
            </a:r>
            <a:r>
              <a:rPr kumimoji="1" lang="en-US" altLang="zh-CN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,</a:t>
            </a:r>
            <a:r>
              <a:rPr kumimoji="1" lang="zh-CN" altLang="en-US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则称它们是等效的电路。</a:t>
            </a:r>
          </a:p>
        </p:txBody>
      </p:sp>
      <p:graphicFrame>
        <p:nvGraphicFramePr>
          <p:cNvPr id="2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4792304"/>
              </p:ext>
            </p:extLst>
          </p:nvPr>
        </p:nvGraphicFramePr>
        <p:xfrm>
          <a:off x="123172" y="4141223"/>
          <a:ext cx="4362450" cy="2681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06" name="Visio" r:id="rId12" imgW="2200266" imgH="1362070" progId="Visio.Drawing.11">
                  <p:embed/>
                </p:oleObj>
              </mc:Choice>
              <mc:Fallback>
                <p:oleObj name="Visio" r:id="rId12" imgW="2200266" imgH="1362070" progId="Visio.Drawing.11">
                  <p:embed/>
                  <p:pic>
                    <p:nvPicPr>
                      <p:cNvPr id="26829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172" y="4141223"/>
                        <a:ext cx="4362450" cy="2681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6598573"/>
              </p:ext>
            </p:extLst>
          </p:nvPr>
        </p:nvGraphicFramePr>
        <p:xfrm>
          <a:off x="1797985" y="4133285"/>
          <a:ext cx="2771775" cy="24470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07" name="VISIO" r:id="rId14" imgW="1367817" imgH="1329803" progId="Visio.Drawing.5">
                  <p:embed/>
                </p:oleObj>
              </mc:Choice>
              <mc:Fallback>
                <p:oleObj name="VISIO" r:id="rId14" imgW="1367817" imgH="1329803" progId="Visio.Drawing.5">
                  <p:embed/>
                  <p:pic>
                    <p:nvPicPr>
                      <p:cNvPr id="26829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7985" y="4133285"/>
                        <a:ext cx="2771775" cy="24470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9706921"/>
              </p:ext>
            </p:extLst>
          </p:nvPr>
        </p:nvGraphicFramePr>
        <p:xfrm>
          <a:off x="5292080" y="4522223"/>
          <a:ext cx="3454400" cy="191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08" name="Visio" r:id="rId16" imgW="1752525" imgH="980949" progId="Visio.Drawing.11">
                  <p:embed/>
                </p:oleObj>
              </mc:Choice>
              <mc:Fallback>
                <p:oleObj name="Visio" r:id="rId16" imgW="1752525" imgH="980949" progId="Visio.Drawing.11">
                  <p:embed/>
                  <p:pic>
                    <p:nvPicPr>
                      <p:cNvPr id="26829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080" y="4522223"/>
                        <a:ext cx="3454400" cy="1912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0328728"/>
              </p:ext>
            </p:extLst>
          </p:nvPr>
        </p:nvGraphicFramePr>
        <p:xfrm>
          <a:off x="1443662" y="5904907"/>
          <a:ext cx="785812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09" name="Equation" r:id="rId18" imgW="393480" imgH="177480" progId="Equation.DSMT4">
                  <p:embed/>
                </p:oleObj>
              </mc:Choice>
              <mc:Fallback>
                <p:oleObj name="Equation" r:id="rId18" imgW="393480" imgH="177480" progId="Equation.DSMT4">
                  <p:embed/>
                  <p:pic>
                    <p:nvPicPr>
                      <p:cNvPr id="31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3662" y="5904907"/>
                        <a:ext cx="785812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9080261"/>
              </p:ext>
            </p:extLst>
          </p:nvPr>
        </p:nvGraphicFramePr>
        <p:xfrm>
          <a:off x="6875471" y="4437112"/>
          <a:ext cx="1871009" cy="20982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10" name="VISIO" r:id="rId14" imgW="1367817" imgH="1329803" progId="Visio.Drawing.5">
                  <p:embed/>
                </p:oleObj>
              </mc:Choice>
              <mc:Fallback>
                <p:oleObj name="VISIO" r:id="rId14" imgW="1367817" imgH="1329803" progId="Visio.Drawing.5">
                  <p:embed/>
                  <p:pic>
                    <p:nvPicPr>
                      <p:cNvPr id="27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5471" y="4437112"/>
                        <a:ext cx="1871009" cy="20982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3000770"/>
              </p:ext>
            </p:extLst>
          </p:nvPr>
        </p:nvGraphicFramePr>
        <p:xfrm>
          <a:off x="6559892" y="5822478"/>
          <a:ext cx="785812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11" name="Equation" r:id="rId20" imgW="393480" imgH="177480" progId="Equation.DSMT4">
                  <p:embed/>
                </p:oleObj>
              </mc:Choice>
              <mc:Fallback>
                <p:oleObj name="Equation" r:id="rId20" imgW="393480" imgH="177480" progId="Equation.DSMT4">
                  <p:embed/>
                  <p:pic>
                    <p:nvPicPr>
                      <p:cNvPr id="33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9892" y="5822478"/>
                        <a:ext cx="785812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Line 15"/>
          <p:cNvSpPr>
            <a:spLocks noChangeShapeType="1"/>
          </p:cNvSpPr>
          <p:nvPr/>
        </p:nvSpPr>
        <p:spPr bwMode="auto">
          <a:xfrm>
            <a:off x="4716016" y="5517232"/>
            <a:ext cx="589235" cy="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" name="Rectangle 14"/>
          <p:cNvSpPr>
            <a:spLocks noChangeArrowheads="1"/>
          </p:cNvSpPr>
          <p:nvPr/>
        </p:nvSpPr>
        <p:spPr bwMode="auto">
          <a:xfrm>
            <a:off x="4572000" y="4938450"/>
            <a:ext cx="90281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solidFill>
                  <a:srgbClr val="FF0000"/>
                </a:solidFill>
                <a:ea typeface="隶书" panose="02010509060101010101" pitchFamily="49" charset="-122"/>
              </a:rPr>
              <a:t>等效</a:t>
            </a:r>
            <a:endParaRPr lang="en-US" altLang="zh-CN" sz="2800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8308" grpId="0"/>
      <p:bldP spid="25" grpId="0"/>
      <p:bldP spid="36" grpId="0" animBg="1"/>
      <p:bldP spid="3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430" name="Text Box 6"/>
          <p:cNvSpPr txBox="1">
            <a:spLocks noChangeArrowheads="1"/>
          </p:cNvSpPr>
          <p:nvPr/>
        </p:nvSpPr>
        <p:spPr bwMode="auto">
          <a:xfrm>
            <a:off x="371475" y="1508225"/>
            <a:ext cx="2057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>
                <a:solidFill>
                  <a:srgbClr val="008000"/>
                </a:solidFill>
                <a:latin typeface="宋体" panose="02010600030101010101" pitchFamily="2" charset="-122"/>
              </a:rPr>
              <a:t>(1) </a:t>
            </a:r>
            <a:r>
              <a:rPr kumimoji="1" lang="zh-CN" altLang="en-US" sz="2400" b="1">
                <a:solidFill>
                  <a:srgbClr val="008000"/>
                </a:solidFill>
                <a:latin typeface="宋体" panose="02010600030101010101" pitchFamily="2" charset="-122"/>
              </a:rPr>
              <a:t>电路特点</a:t>
            </a:r>
          </a:p>
        </p:txBody>
      </p:sp>
      <p:sp>
        <p:nvSpPr>
          <p:cNvPr id="359431" name="Text Box 7"/>
          <p:cNvSpPr txBox="1">
            <a:spLocks noChangeArrowheads="1"/>
          </p:cNvSpPr>
          <p:nvPr/>
        </p:nvSpPr>
        <p:spPr bwMode="auto">
          <a:xfrm>
            <a:off x="395288" y="836712"/>
            <a:ext cx="80962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1.</a:t>
            </a:r>
            <a:r>
              <a:rPr kumimoji="1"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电阻串联 </a:t>
            </a:r>
            <a:r>
              <a:rPr kumimoji="1"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(</a:t>
            </a:r>
            <a:r>
              <a:rPr kumimoji="1"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series connection</a:t>
            </a:r>
            <a:r>
              <a:rPr kumimoji="1"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)</a:t>
            </a:r>
          </a:p>
        </p:txBody>
      </p:sp>
      <p:grpSp>
        <p:nvGrpSpPr>
          <p:cNvPr id="359432" name="Group 8"/>
          <p:cNvGrpSpPr>
            <a:grpSpLocks/>
          </p:cNvGrpSpPr>
          <p:nvPr/>
        </p:nvGrpSpPr>
        <p:grpSpPr bwMode="auto">
          <a:xfrm>
            <a:off x="1628775" y="1641575"/>
            <a:ext cx="4800600" cy="1981200"/>
            <a:chOff x="1104" y="1104"/>
            <a:chExt cx="3024" cy="1248"/>
          </a:xfrm>
        </p:grpSpPr>
        <p:sp>
          <p:nvSpPr>
            <p:cNvPr id="359433" name="Rectangle 9"/>
            <p:cNvSpPr>
              <a:spLocks noChangeArrowheads="1"/>
            </p:cNvSpPr>
            <p:nvPr/>
          </p:nvSpPr>
          <p:spPr bwMode="auto">
            <a:xfrm rot="5400000">
              <a:off x="1845" y="1323"/>
              <a:ext cx="120" cy="258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59434" name="Text Box 10"/>
            <p:cNvSpPr txBox="1">
              <a:spLocks noChangeArrowheads="1"/>
            </p:cNvSpPr>
            <p:nvPr/>
          </p:nvSpPr>
          <p:spPr bwMode="auto">
            <a:xfrm>
              <a:off x="1344" y="2064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359435" name="Text Box 11"/>
            <p:cNvSpPr txBox="1">
              <a:spLocks noChangeArrowheads="1"/>
            </p:cNvSpPr>
            <p:nvPr/>
          </p:nvSpPr>
          <p:spPr bwMode="auto">
            <a:xfrm>
              <a:off x="3936" y="2016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_</a:t>
              </a:r>
            </a:p>
          </p:txBody>
        </p:sp>
        <p:sp>
          <p:nvSpPr>
            <p:cNvPr id="359436" name="Text Box 12"/>
            <p:cNvSpPr txBox="1">
              <a:spLocks noChangeArrowheads="1"/>
            </p:cNvSpPr>
            <p:nvPr/>
          </p:nvSpPr>
          <p:spPr bwMode="auto">
            <a:xfrm>
              <a:off x="1728" y="1104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R</a:t>
              </a:r>
              <a:r>
                <a:rPr kumimoji="1" lang="en-US" altLang="zh-CN" sz="2400" b="1" baseline="-25000">
                  <a:latin typeface="Times New Roman" panose="02020603050405020304" pitchFamily="18" charset="0"/>
                </a:rPr>
                <a:t>1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359437" name="Text Box 13"/>
            <p:cNvSpPr txBox="1">
              <a:spLocks noChangeArrowheads="1"/>
            </p:cNvSpPr>
            <p:nvPr/>
          </p:nvSpPr>
          <p:spPr bwMode="auto">
            <a:xfrm>
              <a:off x="3408" y="1104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R</a:t>
              </a:r>
              <a:r>
                <a:rPr kumimoji="1" lang="en-US" altLang="zh-CN" sz="2400" b="1" i="1" baseline="-25000">
                  <a:latin typeface="Times New Roman" panose="02020603050405020304" pitchFamily="18" charset="0"/>
                </a:rPr>
                <a:t>n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grpSp>
          <p:nvGrpSpPr>
            <p:cNvPr id="359438" name="Group 14"/>
            <p:cNvGrpSpPr>
              <a:grpSpLocks/>
            </p:cNvGrpSpPr>
            <p:nvPr/>
          </p:nvGrpSpPr>
          <p:grpSpPr bwMode="auto">
            <a:xfrm>
              <a:off x="2400" y="1536"/>
              <a:ext cx="768" cy="384"/>
              <a:chOff x="576" y="1152"/>
              <a:chExt cx="768" cy="384"/>
            </a:xfrm>
          </p:grpSpPr>
          <p:sp>
            <p:nvSpPr>
              <p:cNvPr id="359439" name="Text Box 15"/>
              <p:cNvSpPr txBox="1">
                <a:spLocks noChangeArrowheads="1"/>
              </p:cNvSpPr>
              <p:nvPr/>
            </p:nvSpPr>
            <p:spPr bwMode="auto">
              <a:xfrm>
                <a:off x="576" y="1248"/>
                <a:ext cx="19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sz="2400" b="1">
                    <a:latin typeface="Times New Roman" panose="02020603050405020304" pitchFamily="18" charset="0"/>
                  </a:rPr>
                  <a:t>+</a:t>
                </a:r>
              </a:p>
            </p:txBody>
          </p:sp>
          <p:sp>
            <p:nvSpPr>
              <p:cNvPr id="359440" name="Text Box 16"/>
              <p:cNvSpPr txBox="1">
                <a:spLocks noChangeArrowheads="1"/>
              </p:cNvSpPr>
              <p:nvPr/>
            </p:nvSpPr>
            <p:spPr bwMode="auto">
              <a:xfrm>
                <a:off x="1152" y="1152"/>
                <a:ext cx="19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sz="2400" b="1">
                    <a:latin typeface="Times New Roman" panose="02020603050405020304" pitchFamily="18" charset="0"/>
                  </a:rPr>
                  <a:t>_</a:t>
                </a:r>
              </a:p>
            </p:txBody>
          </p:sp>
          <p:sp>
            <p:nvSpPr>
              <p:cNvPr id="359441" name="Text Box 17"/>
              <p:cNvSpPr txBox="1">
                <a:spLocks noChangeArrowheads="1"/>
              </p:cNvSpPr>
              <p:nvPr/>
            </p:nvSpPr>
            <p:spPr bwMode="auto">
              <a:xfrm>
                <a:off x="816" y="1248"/>
                <a:ext cx="38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sz="2400" b="1" i="1">
                    <a:latin typeface="Times New Roman" panose="02020603050405020304" pitchFamily="18" charset="0"/>
                  </a:rPr>
                  <a:t>u</a:t>
                </a:r>
                <a:r>
                  <a:rPr kumimoji="1" lang="en-US" altLang="zh-CN" sz="2400" b="1" i="1" baseline="-25000">
                    <a:latin typeface="Times New Roman" panose="02020603050405020304" pitchFamily="18" charset="0"/>
                  </a:rPr>
                  <a:t>k</a:t>
                </a:r>
                <a:endParaRPr kumimoji="1" lang="en-US" altLang="zh-CN" sz="2400" b="1" i="1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59442" name="Text Box 18"/>
            <p:cNvSpPr txBox="1">
              <a:spLocks noChangeArrowheads="1"/>
            </p:cNvSpPr>
            <p:nvPr/>
          </p:nvSpPr>
          <p:spPr bwMode="auto">
            <a:xfrm>
              <a:off x="1104" y="1680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359443" name="Rectangle 19"/>
            <p:cNvSpPr>
              <a:spLocks noChangeArrowheads="1"/>
            </p:cNvSpPr>
            <p:nvPr/>
          </p:nvSpPr>
          <p:spPr bwMode="auto">
            <a:xfrm rot="5400000">
              <a:off x="3525" y="1323"/>
              <a:ext cx="120" cy="258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59444" name="Rectangle 20"/>
            <p:cNvSpPr>
              <a:spLocks noChangeArrowheads="1"/>
            </p:cNvSpPr>
            <p:nvPr/>
          </p:nvSpPr>
          <p:spPr bwMode="auto">
            <a:xfrm rot="5400000">
              <a:off x="2685" y="1323"/>
              <a:ext cx="120" cy="258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59445" name="Line 21"/>
            <p:cNvSpPr>
              <a:spLocks noChangeShapeType="1"/>
            </p:cNvSpPr>
            <p:nvPr/>
          </p:nvSpPr>
          <p:spPr bwMode="auto">
            <a:xfrm>
              <a:off x="1440" y="1440"/>
              <a:ext cx="336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9446" name="Line 22"/>
            <p:cNvSpPr>
              <a:spLocks noChangeShapeType="1"/>
            </p:cNvSpPr>
            <p:nvPr/>
          </p:nvSpPr>
          <p:spPr bwMode="auto">
            <a:xfrm>
              <a:off x="2036" y="1440"/>
              <a:ext cx="24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9447" name="Line 23"/>
            <p:cNvSpPr>
              <a:spLocks noChangeShapeType="1"/>
            </p:cNvSpPr>
            <p:nvPr/>
          </p:nvSpPr>
          <p:spPr bwMode="auto">
            <a:xfrm>
              <a:off x="3216" y="1440"/>
              <a:ext cx="24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9448" name="Line 24"/>
            <p:cNvSpPr>
              <a:spLocks noChangeShapeType="1"/>
            </p:cNvSpPr>
            <p:nvPr/>
          </p:nvSpPr>
          <p:spPr bwMode="auto">
            <a:xfrm>
              <a:off x="2256" y="1440"/>
              <a:ext cx="336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9449" name="Line 25"/>
            <p:cNvSpPr>
              <a:spLocks noChangeShapeType="1"/>
            </p:cNvSpPr>
            <p:nvPr/>
          </p:nvSpPr>
          <p:spPr bwMode="auto">
            <a:xfrm>
              <a:off x="2880" y="1440"/>
              <a:ext cx="336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359450" name="Group 26"/>
            <p:cNvGrpSpPr>
              <a:grpSpLocks/>
            </p:cNvGrpSpPr>
            <p:nvPr/>
          </p:nvGrpSpPr>
          <p:grpSpPr bwMode="auto">
            <a:xfrm>
              <a:off x="1584" y="1536"/>
              <a:ext cx="768" cy="384"/>
              <a:chOff x="576" y="1152"/>
              <a:chExt cx="768" cy="384"/>
            </a:xfrm>
          </p:grpSpPr>
          <p:sp>
            <p:nvSpPr>
              <p:cNvPr id="359451" name="Text Box 27"/>
              <p:cNvSpPr txBox="1">
                <a:spLocks noChangeArrowheads="1"/>
              </p:cNvSpPr>
              <p:nvPr/>
            </p:nvSpPr>
            <p:spPr bwMode="auto">
              <a:xfrm>
                <a:off x="576" y="1248"/>
                <a:ext cx="19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sz="2400" b="1">
                    <a:latin typeface="Times New Roman" panose="02020603050405020304" pitchFamily="18" charset="0"/>
                  </a:rPr>
                  <a:t>+</a:t>
                </a:r>
              </a:p>
            </p:txBody>
          </p:sp>
          <p:sp>
            <p:nvSpPr>
              <p:cNvPr id="359452" name="Text Box 28"/>
              <p:cNvSpPr txBox="1">
                <a:spLocks noChangeArrowheads="1"/>
              </p:cNvSpPr>
              <p:nvPr/>
            </p:nvSpPr>
            <p:spPr bwMode="auto">
              <a:xfrm>
                <a:off x="1152" y="1152"/>
                <a:ext cx="19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sz="2400" b="1">
                    <a:latin typeface="Times New Roman" panose="02020603050405020304" pitchFamily="18" charset="0"/>
                  </a:rPr>
                  <a:t>_</a:t>
                </a:r>
              </a:p>
            </p:txBody>
          </p:sp>
          <p:sp>
            <p:nvSpPr>
              <p:cNvPr id="359453" name="Text Box 29"/>
              <p:cNvSpPr txBox="1">
                <a:spLocks noChangeArrowheads="1"/>
              </p:cNvSpPr>
              <p:nvPr/>
            </p:nvSpPr>
            <p:spPr bwMode="auto">
              <a:xfrm>
                <a:off x="816" y="1248"/>
                <a:ext cx="38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sz="2400" b="1" i="1">
                    <a:latin typeface="Times New Roman" panose="02020603050405020304" pitchFamily="18" charset="0"/>
                  </a:rPr>
                  <a:t>u</a:t>
                </a:r>
                <a:r>
                  <a:rPr kumimoji="1" lang="en-US" altLang="zh-CN" sz="2400" b="1" baseline="-25000">
                    <a:latin typeface="Times New Roman" panose="02020603050405020304" pitchFamily="18" charset="0"/>
                  </a:rPr>
                  <a:t>1</a:t>
                </a:r>
                <a:endParaRPr kumimoji="1" lang="en-US" altLang="zh-CN" sz="2400" b="1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59454" name="Group 30"/>
            <p:cNvGrpSpPr>
              <a:grpSpLocks/>
            </p:cNvGrpSpPr>
            <p:nvPr/>
          </p:nvGrpSpPr>
          <p:grpSpPr bwMode="auto">
            <a:xfrm>
              <a:off x="3264" y="1536"/>
              <a:ext cx="768" cy="384"/>
              <a:chOff x="576" y="1152"/>
              <a:chExt cx="768" cy="384"/>
            </a:xfrm>
          </p:grpSpPr>
          <p:sp>
            <p:nvSpPr>
              <p:cNvPr id="359455" name="Text Box 31"/>
              <p:cNvSpPr txBox="1">
                <a:spLocks noChangeArrowheads="1"/>
              </p:cNvSpPr>
              <p:nvPr/>
            </p:nvSpPr>
            <p:spPr bwMode="auto">
              <a:xfrm>
                <a:off x="576" y="1248"/>
                <a:ext cx="19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sz="2400" b="1">
                    <a:latin typeface="Times New Roman" panose="02020603050405020304" pitchFamily="18" charset="0"/>
                  </a:rPr>
                  <a:t>+</a:t>
                </a:r>
              </a:p>
            </p:txBody>
          </p:sp>
          <p:sp>
            <p:nvSpPr>
              <p:cNvPr id="359456" name="Text Box 32"/>
              <p:cNvSpPr txBox="1">
                <a:spLocks noChangeArrowheads="1"/>
              </p:cNvSpPr>
              <p:nvPr/>
            </p:nvSpPr>
            <p:spPr bwMode="auto">
              <a:xfrm>
                <a:off x="1152" y="1152"/>
                <a:ext cx="19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sz="2400" b="1">
                    <a:latin typeface="Times New Roman" panose="02020603050405020304" pitchFamily="18" charset="0"/>
                  </a:rPr>
                  <a:t>_</a:t>
                </a:r>
              </a:p>
            </p:txBody>
          </p:sp>
          <p:sp>
            <p:nvSpPr>
              <p:cNvPr id="359457" name="Text Box 33"/>
              <p:cNvSpPr txBox="1">
                <a:spLocks noChangeArrowheads="1"/>
              </p:cNvSpPr>
              <p:nvPr/>
            </p:nvSpPr>
            <p:spPr bwMode="auto">
              <a:xfrm>
                <a:off x="816" y="1248"/>
                <a:ext cx="38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sz="2400" b="1" i="1">
                    <a:latin typeface="Times New Roman" panose="02020603050405020304" pitchFamily="18" charset="0"/>
                  </a:rPr>
                  <a:t>u</a:t>
                </a:r>
                <a:r>
                  <a:rPr kumimoji="1" lang="en-US" altLang="zh-CN" sz="2400" b="1" i="1" baseline="-25000">
                    <a:latin typeface="Times New Roman" panose="02020603050405020304" pitchFamily="18" charset="0"/>
                  </a:rPr>
                  <a:t>n</a:t>
                </a:r>
                <a:endParaRPr kumimoji="1" lang="en-US" altLang="zh-CN" sz="2400" b="1" i="1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59458" name="Line 34"/>
            <p:cNvSpPr>
              <a:spLocks noChangeShapeType="1"/>
            </p:cNvSpPr>
            <p:nvPr/>
          </p:nvSpPr>
          <p:spPr bwMode="auto">
            <a:xfrm>
              <a:off x="3716" y="1440"/>
              <a:ext cx="316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9459" name="Line 35"/>
            <p:cNvSpPr>
              <a:spLocks noChangeShapeType="1"/>
            </p:cNvSpPr>
            <p:nvPr/>
          </p:nvSpPr>
          <p:spPr bwMode="auto">
            <a:xfrm>
              <a:off x="4018" y="1440"/>
              <a:ext cx="0" cy="57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9460" name="Line 36"/>
            <p:cNvSpPr>
              <a:spLocks noChangeShapeType="1"/>
            </p:cNvSpPr>
            <p:nvPr/>
          </p:nvSpPr>
          <p:spPr bwMode="auto">
            <a:xfrm>
              <a:off x="1454" y="1440"/>
              <a:ext cx="0" cy="57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9461" name="Text Box 37"/>
            <p:cNvSpPr txBox="1">
              <a:spLocks noChangeArrowheads="1"/>
            </p:cNvSpPr>
            <p:nvPr/>
          </p:nvSpPr>
          <p:spPr bwMode="auto">
            <a:xfrm>
              <a:off x="2640" y="2064"/>
              <a:ext cx="32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u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359462" name="Text Box 38"/>
            <p:cNvSpPr txBox="1">
              <a:spLocks noChangeArrowheads="1"/>
            </p:cNvSpPr>
            <p:nvPr/>
          </p:nvSpPr>
          <p:spPr bwMode="auto">
            <a:xfrm>
              <a:off x="2544" y="1104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R</a:t>
              </a:r>
              <a:r>
                <a:rPr kumimoji="1" lang="en-US" altLang="zh-CN" sz="2400" b="1" i="1" baseline="-25000">
                  <a:latin typeface="Times New Roman" panose="02020603050405020304" pitchFamily="18" charset="0"/>
                </a:rPr>
                <a:t>k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359463" name="Line 39"/>
            <p:cNvSpPr>
              <a:spLocks noChangeShapeType="1"/>
            </p:cNvSpPr>
            <p:nvPr/>
          </p:nvSpPr>
          <p:spPr bwMode="auto">
            <a:xfrm flipV="1">
              <a:off x="1296" y="1632"/>
              <a:ext cx="0" cy="33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9464" name="Oval 40"/>
            <p:cNvSpPr>
              <a:spLocks noChangeArrowheads="1"/>
            </p:cNvSpPr>
            <p:nvPr/>
          </p:nvSpPr>
          <p:spPr bwMode="auto">
            <a:xfrm>
              <a:off x="3984" y="2016"/>
              <a:ext cx="68" cy="6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9465" name="Oval 41"/>
            <p:cNvSpPr>
              <a:spLocks noChangeArrowheads="1"/>
            </p:cNvSpPr>
            <p:nvPr/>
          </p:nvSpPr>
          <p:spPr bwMode="auto">
            <a:xfrm>
              <a:off x="1420" y="2016"/>
              <a:ext cx="68" cy="6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59466" name="Text Box 42"/>
          <p:cNvSpPr txBox="1">
            <a:spLocks noChangeArrowheads="1"/>
          </p:cNvSpPr>
          <p:nvPr/>
        </p:nvSpPr>
        <p:spPr bwMode="auto">
          <a:xfrm>
            <a:off x="866775" y="3668812"/>
            <a:ext cx="70897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anose="02020603050405020304" pitchFamily="18" charset="0"/>
              </a:rPr>
              <a:t>(a)</a:t>
            </a:r>
            <a:r>
              <a:rPr kumimoji="1" lang="en-US" altLang="zh-CN" sz="2400" b="1">
                <a:latin typeface="宋体" panose="02010600030101010101" pitchFamily="2" charset="-122"/>
              </a:rPr>
              <a:t> </a:t>
            </a:r>
            <a:r>
              <a:rPr kumimoji="1" lang="zh-CN" altLang="zh-CN" sz="2400" b="1">
                <a:latin typeface="宋体" panose="02010600030101010101" pitchFamily="2" charset="-122"/>
              </a:rPr>
              <a:t>各电阻顺序连接，流过同一电流 </a:t>
            </a:r>
            <a:r>
              <a:rPr kumimoji="1" lang="zh-CN" altLang="en-US" sz="2400" b="1">
                <a:latin typeface="Times New Roman" panose="02020603050405020304" pitchFamily="18" charset="0"/>
              </a:rPr>
              <a:t>（</a:t>
            </a:r>
            <a:r>
              <a:rPr kumimoji="1" lang="en-US" altLang="zh-CN" sz="2400" b="1">
                <a:latin typeface="Times New Roman" panose="02020603050405020304" pitchFamily="18" charset="0"/>
              </a:rPr>
              <a:t>KCL</a:t>
            </a:r>
            <a:r>
              <a:rPr kumimoji="1" lang="zh-CN" altLang="en-US" sz="2400" b="1">
                <a:latin typeface="Times New Roman" panose="02020603050405020304" pitchFamily="18" charset="0"/>
              </a:rPr>
              <a:t>）</a:t>
            </a:r>
            <a:r>
              <a:rPr kumimoji="1" lang="zh-CN" altLang="en-US" sz="2400" b="1">
                <a:latin typeface="宋体" panose="02010600030101010101" pitchFamily="2" charset="-122"/>
              </a:rPr>
              <a:t>；</a:t>
            </a:r>
          </a:p>
        </p:txBody>
      </p:sp>
      <p:sp>
        <p:nvSpPr>
          <p:cNvPr id="359467" name="Text Box 43"/>
          <p:cNvSpPr txBox="1">
            <a:spLocks noChangeArrowheads="1"/>
          </p:cNvSpPr>
          <p:nvPr/>
        </p:nvSpPr>
        <p:spPr bwMode="auto">
          <a:xfrm>
            <a:off x="866775" y="4405412"/>
            <a:ext cx="74326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anose="02020603050405020304" pitchFamily="18" charset="0"/>
              </a:rPr>
              <a:t>(b)</a:t>
            </a:r>
            <a:r>
              <a:rPr kumimoji="1" lang="en-US" altLang="zh-CN" sz="2400" b="1">
                <a:latin typeface="宋体" panose="02010600030101010101" pitchFamily="2" charset="-122"/>
              </a:rPr>
              <a:t> </a:t>
            </a:r>
            <a:r>
              <a:rPr kumimoji="1" lang="zh-CN" altLang="en-US" sz="2400" b="1">
                <a:latin typeface="宋体" panose="02010600030101010101" pitchFamily="2" charset="-122"/>
              </a:rPr>
              <a:t>总电压等于各串联电阻上的电压之和</a:t>
            </a:r>
            <a:r>
              <a:rPr kumimoji="1" lang="zh-CN" altLang="zh-CN" sz="2400" b="1">
                <a:latin typeface="宋体" panose="02010600030101010101" pitchFamily="2" charset="-122"/>
              </a:rPr>
              <a:t> </a:t>
            </a:r>
            <a:r>
              <a:rPr kumimoji="1" lang="zh-CN" altLang="en-US" sz="2400" b="1">
                <a:latin typeface="Times New Roman" panose="02020603050405020304" pitchFamily="18" charset="0"/>
              </a:rPr>
              <a:t>（</a:t>
            </a:r>
            <a:r>
              <a:rPr kumimoji="1" lang="en-US" altLang="zh-CN" sz="2400" b="1">
                <a:latin typeface="Times New Roman" panose="02020603050405020304" pitchFamily="18" charset="0"/>
              </a:rPr>
              <a:t>KVL</a:t>
            </a:r>
            <a:r>
              <a:rPr kumimoji="1" lang="zh-CN" altLang="en-US" sz="2400" b="1">
                <a:latin typeface="Times New Roman" panose="02020603050405020304" pitchFamily="18" charset="0"/>
              </a:rPr>
              <a:t>）</a:t>
            </a:r>
            <a:r>
              <a:rPr kumimoji="1" lang="zh-CN" altLang="en-US" sz="2400" b="1">
                <a:latin typeface="宋体" panose="02010600030101010101" pitchFamily="2" charset="-122"/>
              </a:rPr>
              <a:t>：</a:t>
            </a:r>
          </a:p>
        </p:txBody>
      </p:sp>
      <p:sp>
        <p:nvSpPr>
          <p:cNvPr id="47" name="Rectangle 21"/>
          <p:cNvSpPr>
            <a:spLocks noChangeArrowheads="1"/>
          </p:cNvSpPr>
          <p:nvPr/>
        </p:nvSpPr>
        <p:spPr bwMode="auto">
          <a:xfrm>
            <a:off x="395288" y="163513"/>
            <a:ext cx="845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3200" dirty="0">
                <a:solidFill>
                  <a:schemeClr val="tx2"/>
                </a:solidFill>
                <a:ea typeface="隶书" panose="02010509060101010101" pitchFamily="49" charset="-122"/>
              </a:rPr>
              <a:t>2.2 </a:t>
            </a:r>
            <a:r>
              <a:rPr lang="zh-CN" altLang="en-US" sz="3200" dirty="0">
                <a:solidFill>
                  <a:schemeClr val="tx2"/>
                </a:solidFill>
                <a:ea typeface="隶书" panose="02010509060101010101" pitchFamily="49" charset="-122"/>
              </a:rPr>
              <a:t>串联与并联</a:t>
            </a:r>
            <a:endParaRPr lang="en-US" altLang="zh-CN" sz="3200" dirty="0">
              <a:solidFill>
                <a:schemeClr val="tx2"/>
              </a:solidFill>
              <a:ea typeface="隶书" panose="020105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2308826" y="5051905"/>
                <a:ext cx="2333138" cy="7561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hr m:val="∑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8826" y="5051905"/>
                <a:ext cx="2333138" cy="75616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4526905" y="5010249"/>
                <a:ext cx="1564403" cy="8485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6905" y="5010249"/>
                <a:ext cx="1564403" cy="84850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7201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59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59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59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59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59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9430" grpId="0" autoUpdateAnimBg="0"/>
      <p:bldP spid="359431" grpId="0" autoUpdateAnimBg="0"/>
      <p:bldP spid="359466" grpId="0" autoUpdateAnimBg="0"/>
      <p:bldP spid="359467" grpId="0" autoUpdateAnimBg="0"/>
      <p:bldP spid="2" grpId="0"/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9300" name="Group 4"/>
          <p:cNvGrpSpPr>
            <a:grpSpLocks/>
          </p:cNvGrpSpPr>
          <p:nvPr/>
        </p:nvGrpSpPr>
        <p:grpSpPr bwMode="auto">
          <a:xfrm>
            <a:off x="5284788" y="1298575"/>
            <a:ext cx="1066800" cy="685800"/>
            <a:chOff x="1488" y="720"/>
            <a:chExt cx="672" cy="432"/>
          </a:xfrm>
        </p:grpSpPr>
        <p:sp>
          <p:nvSpPr>
            <p:cNvPr id="439301" name="AutoShape 5"/>
            <p:cNvSpPr>
              <a:spLocks noChangeArrowheads="1"/>
            </p:cNvSpPr>
            <p:nvPr/>
          </p:nvSpPr>
          <p:spPr bwMode="auto">
            <a:xfrm>
              <a:off x="1488" y="960"/>
              <a:ext cx="672" cy="192"/>
            </a:xfrm>
            <a:prstGeom prst="rightArrow">
              <a:avLst>
                <a:gd name="adj1" fmla="val 50000"/>
                <a:gd name="adj2" fmla="val 87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9302" name="Text Box 6"/>
            <p:cNvSpPr txBox="1">
              <a:spLocks noChangeArrowheads="1"/>
            </p:cNvSpPr>
            <p:nvPr/>
          </p:nvSpPr>
          <p:spPr bwMode="auto">
            <a:xfrm>
              <a:off x="1536" y="720"/>
              <a:ext cx="5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>
                  <a:latin typeface="Times New Roman" panose="02020603050405020304" pitchFamily="18" charset="0"/>
                </a:rPr>
                <a:t>等效</a:t>
              </a:r>
            </a:p>
          </p:txBody>
        </p:sp>
      </p:grpSp>
      <p:sp>
        <p:nvSpPr>
          <p:cNvPr id="439303" name="Text Box 7"/>
          <p:cNvSpPr txBox="1">
            <a:spLocks noChangeArrowheads="1"/>
          </p:cNvSpPr>
          <p:nvPr/>
        </p:nvSpPr>
        <p:spPr bwMode="auto">
          <a:xfrm>
            <a:off x="541338" y="269875"/>
            <a:ext cx="73707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solidFill>
                  <a:srgbClr val="008000"/>
                </a:solidFill>
                <a:latin typeface="Times New Roman" panose="02020603050405020304" pitchFamily="18" charset="0"/>
              </a:rPr>
              <a:t>(2) </a:t>
            </a:r>
            <a:r>
              <a:rPr kumimoji="1" lang="zh-CN" altLang="en-US" sz="2400" b="1" dirty="0">
                <a:solidFill>
                  <a:srgbClr val="008000"/>
                </a:solidFill>
                <a:latin typeface="Times New Roman" panose="02020603050405020304" pitchFamily="18" charset="0"/>
              </a:rPr>
              <a:t>等效电阻（</a:t>
            </a:r>
            <a:r>
              <a:rPr kumimoji="1" lang="en-US" altLang="zh-CN" sz="2400" b="1" i="1" dirty="0">
                <a:solidFill>
                  <a:srgbClr val="008000"/>
                </a:solidFill>
                <a:latin typeface="Times New Roman" panose="02020603050405020304" pitchFamily="18" charset="0"/>
              </a:rPr>
              <a:t>equivalent resistance</a:t>
            </a:r>
            <a:r>
              <a:rPr kumimoji="1" lang="zh-CN" altLang="en-US" sz="2400" b="1" dirty="0">
                <a:solidFill>
                  <a:srgbClr val="008000"/>
                </a:solidFill>
                <a:latin typeface="Times New Roman" panose="02020603050405020304" pitchFamily="18" charset="0"/>
              </a:rPr>
              <a:t>）</a:t>
            </a:r>
            <a:r>
              <a:rPr kumimoji="1" lang="en-US" altLang="zh-CN" sz="2400" b="1" i="1" dirty="0">
                <a:solidFill>
                  <a:srgbClr val="008000"/>
                </a:solidFill>
                <a:latin typeface="Times New Roman" panose="02020603050405020304" pitchFamily="18" charset="0"/>
              </a:rPr>
              <a:t>R</a:t>
            </a:r>
            <a:r>
              <a:rPr kumimoji="1" lang="en-US" altLang="zh-CN" sz="2400" b="1" baseline="-25000" dirty="0">
                <a:solidFill>
                  <a:srgbClr val="008000"/>
                </a:solidFill>
                <a:latin typeface="Times New Roman" panose="02020603050405020304" pitchFamily="18" charset="0"/>
              </a:rPr>
              <a:t>eq</a:t>
            </a:r>
            <a:endParaRPr kumimoji="1" lang="en-US" altLang="zh-CN" sz="2400" b="1" dirty="0">
              <a:solidFill>
                <a:srgbClr val="008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439304" name="Group 8"/>
          <p:cNvGrpSpPr>
            <a:grpSpLocks/>
          </p:cNvGrpSpPr>
          <p:nvPr/>
        </p:nvGrpSpPr>
        <p:grpSpPr bwMode="auto">
          <a:xfrm>
            <a:off x="446088" y="669925"/>
            <a:ext cx="4800600" cy="1981200"/>
            <a:chOff x="168" y="444"/>
            <a:chExt cx="3024" cy="1248"/>
          </a:xfrm>
        </p:grpSpPr>
        <p:sp>
          <p:nvSpPr>
            <p:cNvPr id="439305" name="Rectangle 9"/>
            <p:cNvSpPr>
              <a:spLocks noChangeArrowheads="1"/>
            </p:cNvSpPr>
            <p:nvPr/>
          </p:nvSpPr>
          <p:spPr bwMode="auto">
            <a:xfrm rot="5400000">
              <a:off x="909" y="663"/>
              <a:ext cx="120" cy="258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39306" name="Text Box 10"/>
            <p:cNvSpPr txBox="1">
              <a:spLocks noChangeArrowheads="1"/>
            </p:cNvSpPr>
            <p:nvPr/>
          </p:nvSpPr>
          <p:spPr bwMode="auto">
            <a:xfrm>
              <a:off x="408" y="1404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439307" name="Text Box 11"/>
            <p:cNvSpPr txBox="1">
              <a:spLocks noChangeArrowheads="1"/>
            </p:cNvSpPr>
            <p:nvPr/>
          </p:nvSpPr>
          <p:spPr bwMode="auto">
            <a:xfrm>
              <a:off x="3000" y="1356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_</a:t>
              </a:r>
            </a:p>
          </p:txBody>
        </p:sp>
        <p:sp>
          <p:nvSpPr>
            <p:cNvPr id="439308" name="Text Box 12"/>
            <p:cNvSpPr txBox="1">
              <a:spLocks noChangeArrowheads="1"/>
            </p:cNvSpPr>
            <p:nvPr/>
          </p:nvSpPr>
          <p:spPr bwMode="auto">
            <a:xfrm>
              <a:off x="792" y="444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R</a:t>
              </a:r>
              <a:r>
                <a:rPr kumimoji="1" lang="en-US" altLang="zh-CN" sz="2400" b="1" baseline="-25000">
                  <a:latin typeface="Times New Roman" panose="02020603050405020304" pitchFamily="18" charset="0"/>
                </a:rPr>
                <a:t>1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439309" name="Text Box 13"/>
            <p:cNvSpPr txBox="1">
              <a:spLocks noChangeArrowheads="1"/>
            </p:cNvSpPr>
            <p:nvPr/>
          </p:nvSpPr>
          <p:spPr bwMode="auto">
            <a:xfrm>
              <a:off x="2472" y="444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R</a:t>
              </a:r>
              <a:r>
                <a:rPr kumimoji="1" lang="en-US" altLang="zh-CN" sz="2400" b="1" i="1" baseline="-25000">
                  <a:latin typeface="Times New Roman" panose="02020603050405020304" pitchFamily="18" charset="0"/>
                </a:rPr>
                <a:t>n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439310" name="Text Box 14"/>
            <p:cNvSpPr txBox="1">
              <a:spLocks noChangeArrowheads="1"/>
            </p:cNvSpPr>
            <p:nvPr/>
          </p:nvSpPr>
          <p:spPr bwMode="auto">
            <a:xfrm>
              <a:off x="168" y="1020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439311" name="Rectangle 15"/>
            <p:cNvSpPr>
              <a:spLocks noChangeArrowheads="1"/>
            </p:cNvSpPr>
            <p:nvPr/>
          </p:nvSpPr>
          <p:spPr bwMode="auto">
            <a:xfrm rot="5400000">
              <a:off x="2589" y="663"/>
              <a:ext cx="120" cy="258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39312" name="Rectangle 16"/>
            <p:cNvSpPr>
              <a:spLocks noChangeArrowheads="1"/>
            </p:cNvSpPr>
            <p:nvPr/>
          </p:nvSpPr>
          <p:spPr bwMode="auto">
            <a:xfrm rot="5400000">
              <a:off x="1749" y="663"/>
              <a:ext cx="120" cy="258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39313" name="Line 17"/>
            <p:cNvSpPr>
              <a:spLocks noChangeShapeType="1"/>
            </p:cNvSpPr>
            <p:nvPr/>
          </p:nvSpPr>
          <p:spPr bwMode="auto">
            <a:xfrm>
              <a:off x="504" y="780"/>
              <a:ext cx="336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9314" name="Line 18"/>
            <p:cNvSpPr>
              <a:spLocks noChangeShapeType="1"/>
            </p:cNvSpPr>
            <p:nvPr/>
          </p:nvSpPr>
          <p:spPr bwMode="auto">
            <a:xfrm>
              <a:off x="1100" y="780"/>
              <a:ext cx="24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9315" name="Line 19"/>
            <p:cNvSpPr>
              <a:spLocks noChangeShapeType="1"/>
            </p:cNvSpPr>
            <p:nvPr/>
          </p:nvSpPr>
          <p:spPr bwMode="auto">
            <a:xfrm>
              <a:off x="2280" y="780"/>
              <a:ext cx="24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9316" name="Line 20"/>
            <p:cNvSpPr>
              <a:spLocks noChangeShapeType="1"/>
            </p:cNvSpPr>
            <p:nvPr/>
          </p:nvSpPr>
          <p:spPr bwMode="auto">
            <a:xfrm>
              <a:off x="1320" y="780"/>
              <a:ext cx="336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9317" name="Line 21"/>
            <p:cNvSpPr>
              <a:spLocks noChangeShapeType="1"/>
            </p:cNvSpPr>
            <p:nvPr/>
          </p:nvSpPr>
          <p:spPr bwMode="auto">
            <a:xfrm>
              <a:off x="1944" y="780"/>
              <a:ext cx="336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9318" name="Line 22"/>
            <p:cNvSpPr>
              <a:spLocks noChangeShapeType="1"/>
            </p:cNvSpPr>
            <p:nvPr/>
          </p:nvSpPr>
          <p:spPr bwMode="auto">
            <a:xfrm>
              <a:off x="2780" y="780"/>
              <a:ext cx="316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9319" name="Line 23"/>
            <p:cNvSpPr>
              <a:spLocks noChangeShapeType="1"/>
            </p:cNvSpPr>
            <p:nvPr/>
          </p:nvSpPr>
          <p:spPr bwMode="auto">
            <a:xfrm>
              <a:off x="3082" y="780"/>
              <a:ext cx="0" cy="57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9320" name="Line 24"/>
            <p:cNvSpPr>
              <a:spLocks noChangeShapeType="1"/>
            </p:cNvSpPr>
            <p:nvPr/>
          </p:nvSpPr>
          <p:spPr bwMode="auto">
            <a:xfrm>
              <a:off x="518" y="780"/>
              <a:ext cx="0" cy="57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9321" name="Text Box 25"/>
            <p:cNvSpPr txBox="1">
              <a:spLocks noChangeArrowheads="1"/>
            </p:cNvSpPr>
            <p:nvPr/>
          </p:nvSpPr>
          <p:spPr bwMode="auto">
            <a:xfrm>
              <a:off x="1704" y="1404"/>
              <a:ext cx="32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u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439322" name="Text Box 26"/>
            <p:cNvSpPr txBox="1">
              <a:spLocks noChangeArrowheads="1"/>
            </p:cNvSpPr>
            <p:nvPr/>
          </p:nvSpPr>
          <p:spPr bwMode="auto">
            <a:xfrm>
              <a:off x="1608" y="444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R</a:t>
              </a:r>
              <a:r>
                <a:rPr kumimoji="1" lang="en-US" altLang="zh-CN" sz="2400" b="1" i="1" baseline="-25000">
                  <a:latin typeface="Times New Roman" panose="02020603050405020304" pitchFamily="18" charset="0"/>
                </a:rPr>
                <a:t>k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439323" name="Line 27"/>
            <p:cNvSpPr>
              <a:spLocks noChangeShapeType="1"/>
            </p:cNvSpPr>
            <p:nvPr/>
          </p:nvSpPr>
          <p:spPr bwMode="auto">
            <a:xfrm flipV="1">
              <a:off x="360" y="972"/>
              <a:ext cx="0" cy="33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9324" name="Oval 28"/>
            <p:cNvSpPr>
              <a:spLocks noChangeArrowheads="1"/>
            </p:cNvSpPr>
            <p:nvPr/>
          </p:nvSpPr>
          <p:spPr bwMode="auto">
            <a:xfrm>
              <a:off x="3048" y="1356"/>
              <a:ext cx="68" cy="6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9325" name="Oval 29"/>
            <p:cNvSpPr>
              <a:spLocks noChangeArrowheads="1"/>
            </p:cNvSpPr>
            <p:nvPr/>
          </p:nvSpPr>
          <p:spPr bwMode="auto">
            <a:xfrm>
              <a:off x="484" y="1356"/>
              <a:ext cx="68" cy="6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39326" name="Group 30"/>
          <p:cNvGrpSpPr>
            <a:grpSpLocks/>
          </p:cNvGrpSpPr>
          <p:nvPr/>
        </p:nvGrpSpPr>
        <p:grpSpPr bwMode="auto">
          <a:xfrm>
            <a:off x="6408738" y="536575"/>
            <a:ext cx="2438400" cy="2057400"/>
            <a:chOff x="3924" y="360"/>
            <a:chExt cx="1536" cy="1296"/>
          </a:xfrm>
        </p:grpSpPr>
        <p:sp>
          <p:nvSpPr>
            <p:cNvPr id="439327" name="Text Box 31"/>
            <p:cNvSpPr txBox="1">
              <a:spLocks noChangeArrowheads="1"/>
            </p:cNvSpPr>
            <p:nvPr/>
          </p:nvSpPr>
          <p:spPr bwMode="auto">
            <a:xfrm>
              <a:off x="4692" y="1368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u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439328" name="Text Box 32"/>
            <p:cNvSpPr txBox="1">
              <a:spLocks noChangeArrowheads="1"/>
            </p:cNvSpPr>
            <p:nvPr/>
          </p:nvSpPr>
          <p:spPr bwMode="auto">
            <a:xfrm rot="-5400000">
              <a:off x="4140" y="1344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439329" name="Text Box 33"/>
            <p:cNvSpPr txBox="1">
              <a:spLocks noChangeArrowheads="1"/>
            </p:cNvSpPr>
            <p:nvPr/>
          </p:nvSpPr>
          <p:spPr bwMode="auto">
            <a:xfrm>
              <a:off x="5268" y="1272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_</a:t>
              </a:r>
            </a:p>
          </p:txBody>
        </p:sp>
        <p:sp>
          <p:nvSpPr>
            <p:cNvPr id="439330" name="Rectangle 34"/>
            <p:cNvSpPr>
              <a:spLocks noChangeArrowheads="1"/>
            </p:cNvSpPr>
            <p:nvPr/>
          </p:nvSpPr>
          <p:spPr bwMode="auto">
            <a:xfrm rot="-5400000">
              <a:off x="4731" y="662"/>
              <a:ext cx="120" cy="257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39331" name="Line 35"/>
            <p:cNvSpPr>
              <a:spLocks noChangeShapeType="1"/>
            </p:cNvSpPr>
            <p:nvPr/>
          </p:nvSpPr>
          <p:spPr bwMode="auto">
            <a:xfrm rot="-5400000">
              <a:off x="4010" y="1056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9332" name="Line 36"/>
            <p:cNvSpPr>
              <a:spLocks noChangeShapeType="1"/>
            </p:cNvSpPr>
            <p:nvPr/>
          </p:nvSpPr>
          <p:spPr bwMode="auto">
            <a:xfrm rot="-5400000">
              <a:off x="4460" y="591"/>
              <a:ext cx="1" cy="40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9333" name="Line 37"/>
            <p:cNvSpPr>
              <a:spLocks noChangeShapeType="1"/>
            </p:cNvSpPr>
            <p:nvPr/>
          </p:nvSpPr>
          <p:spPr bwMode="auto">
            <a:xfrm rot="5400000" flipV="1">
              <a:off x="5141" y="569"/>
              <a:ext cx="1" cy="44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9334" name="Text Box 38"/>
            <p:cNvSpPr txBox="1">
              <a:spLocks noChangeArrowheads="1"/>
            </p:cNvSpPr>
            <p:nvPr/>
          </p:nvSpPr>
          <p:spPr bwMode="auto">
            <a:xfrm>
              <a:off x="4644" y="360"/>
              <a:ext cx="67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latinLnBrk="1">
                <a:spcBef>
                  <a:spcPct val="50000"/>
                </a:spcBef>
              </a:pPr>
              <a:r>
                <a:rPr kumimoji="1" lang="en-US" altLang="zh-CN" sz="2400" b="1" i="1" dirty="0">
                  <a:latin typeface="Times New Roman" panose="02020603050405020304" pitchFamily="18" charset="0"/>
                </a:rPr>
                <a:t>R</a:t>
              </a:r>
              <a:r>
                <a:rPr kumimoji="1" lang="en-US" altLang="zh-CN" sz="2400" b="1" baseline="-25000" dirty="0">
                  <a:latin typeface="Times New Roman" panose="02020603050405020304" pitchFamily="18" charset="0"/>
                </a:rPr>
                <a:t>eq</a:t>
              </a:r>
              <a:endParaRPr kumimoji="1"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39335" name="Line 39"/>
            <p:cNvSpPr>
              <a:spLocks noChangeShapeType="1"/>
            </p:cNvSpPr>
            <p:nvPr/>
          </p:nvSpPr>
          <p:spPr bwMode="auto">
            <a:xfrm rot="-5400000">
              <a:off x="3972" y="1080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9336" name="Text Box 40"/>
            <p:cNvSpPr txBox="1">
              <a:spLocks noChangeArrowheads="1"/>
            </p:cNvSpPr>
            <p:nvPr/>
          </p:nvSpPr>
          <p:spPr bwMode="auto">
            <a:xfrm>
              <a:off x="3924" y="984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439337" name="Oval 41"/>
            <p:cNvSpPr>
              <a:spLocks noChangeArrowheads="1"/>
            </p:cNvSpPr>
            <p:nvPr/>
          </p:nvSpPr>
          <p:spPr bwMode="auto">
            <a:xfrm>
              <a:off x="4240" y="1320"/>
              <a:ext cx="68" cy="6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9338" name="Line 42"/>
            <p:cNvSpPr>
              <a:spLocks noChangeShapeType="1"/>
            </p:cNvSpPr>
            <p:nvPr/>
          </p:nvSpPr>
          <p:spPr bwMode="auto">
            <a:xfrm rot="-5400000">
              <a:off x="5100" y="1056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9339" name="Oval 43"/>
            <p:cNvSpPr>
              <a:spLocks noChangeArrowheads="1"/>
            </p:cNvSpPr>
            <p:nvPr/>
          </p:nvSpPr>
          <p:spPr bwMode="auto">
            <a:xfrm>
              <a:off x="5330" y="1320"/>
              <a:ext cx="68" cy="6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39341" name="Rectangle 45"/>
          <p:cNvSpPr>
            <a:spLocks noChangeArrowheads="1"/>
          </p:cNvSpPr>
          <p:nvPr/>
        </p:nvSpPr>
        <p:spPr bwMode="auto">
          <a:xfrm>
            <a:off x="2941638" y="3555752"/>
            <a:ext cx="4114800" cy="457200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50000">
                <a:srgbClr val="FFFFFF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  <a:effectLst>
            <a:outerShdw dist="35921" dir="2700000" algn="ctr" rotWithShape="0">
              <a:srgbClr val="808080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r"/>
            <a:r>
              <a:rPr kumimoji="1"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R</a:t>
            </a:r>
            <a:r>
              <a:rPr kumimoji="1" lang="en-US" altLang="zh-CN" sz="2400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eq</a:t>
            </a:r>
            <a:r>
              <a:rPr kumimoji="1"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=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sz="2400" b="1" i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R</a:t>
            </a:r>
            <a:r>
              <a:rPr kumimoji="1" lang="en-US" altLang="zh-CN" sz="2400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kumimoji="1"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+ R</a:t>
            </a:r>
            <a:r>
              <a:rPr kumimoji="1" lang="en-US" altLang="zh-CN" sz="2400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kumimoji="1"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 +…+R</a:t>
            </a:r>
            <a:r>
              <a:rPr kumimoji="1" lang="en-US" altLang="zh-CN" sz="2400" b="1" i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kumimoji="1"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 =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 </a:t>
            </a:r>
            <a:r>
              <a:rPr kumimoji="1" lang="en-US" altLang="zh-CN" sz="2400" b="1" i="1" dirty="0" err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kumimoji="1" lang="en-US" altLang="zh-CN" sz="2400" b="1" i="1" baseline="-25000" dirty="0" err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k</a:t>
            </a:r>
            <a:endParaRPr kumimoji="1" lang="en-US" altLang="zh-CN" sz="2400" b="1" i="1" dirty="0">
              <a:solidFill>
                <a:srgbClr val="FF000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439342" name="Text Box 46"/>
          <p:cNvSpPr txBox="1">
            <a:spLocks noChangeArrowheads="1"/>
          </p:cNvSpPr>
          <p:nvPr/>
        </p:nvSpPr>
        <p:spPr bwMode="auto">
          <a:xfrm>
            <a:off x="630238" y="4538414"/>
            <a:ext cx="38338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>
                <a:solidFill>
                  <a:srgbClr val="008000"/>
                </a:solidFill>
                <a:latin typeface="Times New Roman" panose="02020603050405020304" pitchFamily="18" charset="0"/>
              </a:rPr>
              <a:t>(3) </a:t>
            </a:r>
            <a:r>
              <a:rPr kumimoji="1" lang="zh-CN" altLang="en-US" sz="2400" b="1">
                <a:solidFill>
                  <a:srgbClr val="008000"/>
                </a:solidFill>
                <a:latin typeface="Times New Roman" panose="02020603050405020304" pitchFamily="18" charset="0"/>
              </a:rPr>
              <a:t>串联电阻上电压的分配</a:t>
            </a:r>
          </a:p>
        </p:txBody>
      </p:sp>
      <p:graphicFrame>
        <p:nvGraphicFramePr>
          <p:cNvPr id="439343" name="Object 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2249961"/>
              </p:ext>
            </p:extLst>
          </p:nvPr>
        </p:nvGraphicFramePr>
        <p:xfrm>
          <a:off x="5930900" y="5640139"/>
          <a:ext cx="1533525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85" name="Equation" r:id="rId4" imgW="698400" imgH="431640" progId="Equation.3">
                  <p:embed/>
                </p:oleObj>
              </mc:Choice>
              <mc:Fallback>
                <p:oleObj name="Equation" r:id="rId4" imgW="698400" imgH="431640" progId="Equation.3">
                  <p:embed/>
                  <p:pic>
                    <p:nvPicPr>
                      <p:cNvPr id="439343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0900" y="5640139"/>
                        <a:ext cx="1533525" cy="949325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accent1">
                              <a:gamma/>
                              <a:tint val="33333"/>
                              <a:invGamma/>
                            </a:schemeClr>
                          </a:gs>
                          <a:gs pos="100000">
                            <a:schemeClr val="accent1"/>
                          </a:gs>
                        </a:gsLst>
                        <a:path path="shape">
                          <a:fillToRect l="50000" t="50000" r="50000" b="50000"/>
                        </a:path>
                      </a:gradFill>
                      <a:ln>
                        <a:noFill/>
                      </a:ln>
                      <a:effectLst>
                        <a:outerShdw dist="107763" dir="2700000" algn="ctr" rotWithShape="0">
                          <a:srgbClr val="808080"/>
                        </a:outer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39344" name="Group 48"/>
          <p:cNvGrpSpPr>
            <a:grpSpLocks/>
          </p:cNvGrpSpPr>
          <p:nvPr/>
        </p:nvGrpSpPr>
        <p:grpSpPr bwMode="auto">
          <a:xfrm>
            <a:off x="371475" y="4873377"/>
            <a:ext cx="4800600" cy="1981200"/>
            <a:chOff x="104" y="2692"/>
            <a:chExt cx="3024" cy="1248"/>
          </a:xfrm>
        </p:grpSpPr>
        <p:sp>
          <p:nvSpPr>
            <p:cNvPr id="439345" name="Text Box 49"/>
            <p:cNvSpPr txBox="1">
              <a:spLocks noChangeArrowheads="1"/>
            </p:cNvSpPr>
            <p:nvPr/>
          </p:nvSpPr>
          <p:spPr bwMode="auto">
            <a:xfrm>
              <a:off x="2220" y="3054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439346" name="Text Box 50"/>
            <p:cNvSpPr txBox="1">
              <a:spLocks noChangeArrowheads="1"/>
            </p:cNvSpPr>
            <p:nvPr/>
          </p:nvSpPr>
          <p:spPr bwMode="auto">
            <a:xfrm>
              <a:off x="1044" y="2938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_</a:t>
              </a:r>
            </a:p>
          </p:txBody>
        </p:sp>
        <p:sp>
          <p:nvSpPr>
            <p:cNvPr id="439347" name="Text Box 51"/>
            <p:cNvSpPr txBox="1">
              <a:spLocks noChangeArrowheads="1"/>
            </p:cNvSpPr>
            <p:nvPr/>
          </p:nvSpPr>
          <p:spPr bwMode="auto">
            <a:xfrm>
              <a:off x="2468" y="3066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u</a:t>
              </a:r>
              <a:r>
                <a:rPr kumimoji="1" lang="en-US" altLang="zh-CN" sz="2400" b="1" i="1" baseline="-25000">
                  <a:latin typeface="Times New Roman" panose="02020603050405020304" pitchFamily="18" charset="0"/>
                </a:rPr>
                <a:t>n</a:t>
              </a:r>
              <a:endParaRPr kumimoji="1" lang="en-US" altLang="zh-CN" sz="2400" b="1" i="1">
                <a:latin typeface="Times New Roman" panose="02020603050405020304" pitchFamily="18" charset="0"/>
              </a:endParaRPr>
            </a:p>
          </p:txBody>
        </p:sp>
        <p:grpSp>
          <p:nvGrpSpPr>
            <p:cNvPr id="439348" name="Group 52"/>
            <p:cNvGrpSpPr>
              <a:grpSpLocks/>
            </p:cNvGrpSpPr>
            <p:nvPr/>
          </p:nvGrpSpPr>
          <p:grpSpPr bwMode="auto">
            <a:xfrm>
              <a:off x="104" y="2692"/>
              <a:ext cx="3024" cy="1248"/>
              <a:chOff x="168" y="444"/>
              <a:chExt cx="3024" cy="1248"/>
            </a:xfrm>
          </p:grpSpPr>
          <p:sp>
            <p:nvSpPr>
              <p:cNvPr id="439349" name="Rectangle 53"/>
              <p:cNvSpPr>
                <a:spLocks noChangeArrowheads="1"/>
              </p:cNvSpPr>
              <p:nvPr/>
            </p:nvSpPr>
            <p:spPr bwMode="auto">
              <a:xfrm rot="5400000">
                <a:off x="909" y="663"/>
                <a:ext cx="120" cy="258"/>
              </a:xfrm>
              <a:prstGeom prst="rect">
                <a:avLst/>
              </a:prstGeom>
              <a:solidFill>
                <a:schemeClr val="accent1"/>
              </a:solidFill>
              <a:ln w="31750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39350" name="Text Box 54"/>
              <p:cNvSpPr txBox="1">
                <a:spLocks noChangeArrowheads="1"/>
              </p:cNvSpPr>
              <p:nvPr/>
            </p:nvSpPr>
            <p:spPr bwMode="auto">
              <a:xfrm>
                <a:off x="408" y="1404"/>
                <a:ext cx="19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sz="2400" b="1">
                    <a:latin typeface="Times New Roman" panose="02020603050405020304" pitchFamily="18" charset="0"/>
                  </a:rPr>
                  <a:t>+</a:t>
                </a:r>
              </a:p>
            </p:txBody>
          </p:sp>
          <p:sp>
            <p:nvSpPr>
              <p:cNvPr id="439351" name="Text Box 55"/>
              <p:cNvSpPr txBox="1">
                <a:spLocks noChangeArrowheads="1"/>
              </p:cNvSpPr>
              <p:nvPr/>
            </p:nvSpPr>
            <p:spPr bwMode="auto">
              <a:xfrm>
                <a:off x="3000" y="1356"/>
                <a:ext cx="19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sz="2400" b="1">
                    <a:latin typeface="Times New Roman" panose="02020603050405020304" pitchFamily="18" charset="0"/>
                  </a:rPr>
                  <a:t>_</a:t>
                </a:r>
              </a:p>
            </p:txBody>
          </p:sp>
          <p:sp>
            <p:nvSpPr>
              <p:cNvPr id="439352" name="Text Box 56"/>
              <p:cNvSpPr txBox="1">
                <a:spLocks noChangeArrowheads="1"/>
              </p:cNvSpPr>
              <p:nvPr/>
            </p:nvSpPr>
            <p:spPr bwMode="auto">
              <a:xfrm>
                <a:off x="792" y="444"/>
                <a:ext cx="38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sz="2400" b="1" i="1">
                    <a:latin typeface="Times New Roman" panose="02020603050405020304" pitchFamily="18" charset="0"/>
                  </a:rPr>
                  <a:t>R</a:t>
                </a:r>
                <a:r>
                  <a:rPr kumimoji="1" lang="en-US" altLang="zh-CN" sz="2400" b="1" baseline="-25000">
                    <a:latin typeface="Times New Roman" panose="02020603050405020304" pitchFamily="18" charset="0"/>
                  </a:rPr>
                  <a:t>1</a:t>
                </a:r>
                <a:endParaRPr kumimoji="1" lang="en-US" altLang="zh-CN" sz="24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39353" name="Text Box 57"/>
              <p:cNvSpPr txBox="1">
                <a:spLocks noChangeArrowheads="1"/>
              </p:cNvSpPr>
              <p:nvPr/>
            </p:nvSpPr>
            <p:spPr bwMode="auto">
              <a:xfrm>
                <a:off x="2472" y="444"/>
                <a:ext cx="38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sz="2400" b="1" i="1">
                    <a:latin typeface="Times New Roman" panose="02020603050405020304" pitchFamily="18" charset="0"/>
                  </a:rPr>
                  <a:t>R</a:t>
                </a:r>
                <a:r>
                  <a:rPr kumimoji="1" lang="en-US" altLang="zh-CN" sz="2400" b="1" i="1" baseline="-25000">
                    <a:latin typeface="Times New Roman" panose="02020603050405020304" pitchFamily="18" charset="0"/>
                  </a:rPr>
                  <a:t>n</a:t>
                </a:r>
                <a:endParaRPr kumimoji="1" lang="en-US" altLang="zh-CN" sz="24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39354" name="Text Box 58"/>
              <p:cNvSpPr txBox="1">
                <a:spLocks noChangeArrowheads="1"/>
              </p:cNvSpPr>
              <p:nvPr/>
            </p:nvSpPr>
            <p:spPr bwMode="auto">
              <a:xfrm>
                <a:off x="168" y="1020"/>
                <a:ext cx="19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sz="2400" b="1" i="1">
                    <a:latin typeface="Times New Roman" panose="02020603050405020304" pitchFamily="18" charset="0"/>
                  </a:rPr>
                  <a:t>i</a:t>
                </a:r>
              </a:p>
            </p:txBody>
          </p:sp>
          <p:sp>
            <p:nvSpPr>
              <p:cNvPr id="439355" name="Rectangle 59"/>
              <p:cNvSpPr>
                <a:spLocks noChangeArrowheads="1"/>
              </p:cNvSpPr>
              <p:nvPr/>
            </p:nvSpPr>
            <p:spPr bwMode="auto">
              <a:xfrm rot="5400000">
                <a:off x="2589" y="663"/>
                <a:ext cx="120" cy="258"/>
              </a:xfrm>
              <a:prstGeom prst="rect">
                <a:avLst/>
              </a:prstGeom>
              <a:solidFill>
                <a:schemeClr val="accent1"/>
              </a:solidFill>
              <a:ln w="31750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39356" name="Rectangle 60"/>
              <p:cNvSpPr>
                <a:spLocks noChangeArrowheads="1"/>
              </p:cNvSpPr>
              <p:nvPr/>
            </p:nvSpPr>
            <p:spPr bwMode="auto">
              <a:xfrm rot="5400000">
                <a:off x="1749" y="663"/>
                <a:ext cx="120" cy="258"/>
              </a:xfrm>
              <a:prstGeom prst="rect">
                <a:avLst/>
              </a:prstGeom>
              <a:solidFill>
                <a:schemeClr val="accent1"/>
              </a:solidFill>
              <a:ln w="31750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39357" name="Line 61"/>
              <p:cNvSpPr>
                <a:spLocks noChangeShapeType="1"/>
              </p:cNvSpPr>
              <p:nvPr/>
            </p:nvSpPr>
            <p:spPr bwMode="auto">
              <a:xfrm>
                <a:off x="504" y="780"/>
                <a:ext cx="336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9358" name="Line 62"/>
              <p:cNvSpPr>
                <a:spLocks noChangeShapeType="1"/>
              </p:cNvSpPr>
              <p:nvPr/>
            </p:nvSpPr>
            <p:spPr bwMode="auto">
              <a:xfrm>
                <a:off x="1100" y="780"/>
                <a:ext cx="24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9359" name="Line 63"/>
              <p:cNvSpPr>
                <a:spLocks noChangeShapeType="1"/>
              </p:cNvSpPr>
              <p:nvPr/>
            </p:nvSpPr>
            <p:spPr bwMode="auto">
              <a:xfrm>
                <a:off x="2280" y="780"/>
                <a:ext cx="24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9360" name="Line 64"/>
              <p:cNvSpPr>
                <a:spLocks noChangeShapeType="1"/>
              </p:cNvSpPr>
              <p:nvPr/>
            </p:nvSpPr>
            <p:spPr bwMode="auto">
              <a:xfrm>
                <a:off x="1320" y="780"/>
                <a:ext cx="336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9361" name="Line 65"/>
              <p:cNvSpPr>
                <a:spLocks noChangeShapeType="1"/>
              </p:cNvSpPr>
              <p:nvPr/>
            </p:nvSpPr>
            <p:spPr bwMode="auto">
              <a:xfrm>
                <a:off x="1944" y="780"/>
                <a:ext cx="336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9362" name="Line 66"/>
              <p:cNvSpPr>
                <a:spLocks noChangeShapeType="1"/>
              </p:cNvSpPr>
              <p:nvPr/>
            </p:nvSpPr>
            <p:spPr bwMode="auto">
              <a:xfrm>
                <a:off x="2780" y="780"/>
                <a:ext cx="316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9363" name="Line 67"/>
              <p:cNvSpPr>
                <a:spLocks noChangeShapeType="1"/>
              </p:cNvSpPr>
              <p:nvPr/>
            </p:nvSpPr>
            <p:spPr bwMode="auto">
              <a:xfrm>
                <a:off x="3082" y="780"/>
                <a:ext cx="0" cy="57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9364" name="Line 68"/>
              <p:cNvSpPr>
                <a:spLocks noChangeShapeType="1"/>
              </p:cNvSpPr>
              <p:nvPr/>
            </p:nvSpPr>
            <p:spPr bwMode="auto">
              <a:xfrm>
                <a:off x="518" y="780"/>
                <a:ext cx="0" cy="57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9365" name="Text Box 69"/>
              <p:cNvSpPr txBox="1">
                <a:spLocks noChangeArrowheads="1"/>
              </p:cNvSpPr>
              <p:nvPr/>
            </p:nvSpPr>
            <p:spPr bwMode="auto">
              <a:xfrm>
                <a:off x="1704" y="1404"/>
                <a:ext cx="32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sz="2400" b="1" i="1">
                    <a:latin typeface="Times New Roman" panose="02020603050405020304" pitchFamily="18" charset="0"/>
                  </a:rPr>
                  <a:t>u</a:t>
                </a:r>
                <a:endParaRPr kumimoji="1" lang="en-US" altLang="zh-CN" sz="24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39366" name="Text Box 70"/>
              <p:cNvSpPr txBox="1">
                <a:spLocks noChangeArrowheads="1"/>
              </p:cNvSpPr>
              <p:nvPr/>
            </p:nvSpPr>
            <p:spPr bwMode="auto">
              <a:xfrm>
                <a:off x="1608" y="444"/>
                <a:ext cx="38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sz="2400" b="1" i="1">
                    <a:latin typeface="Times New Roman" panose="02020603050405020304" pitchFamily="18" charset="0"/>
                  </a:rPr>
                  <a:t>R</a:t>
                </a:r>
                <a:r>
                  <a:rPr kumimoji="1" lang="en-US" altLang="zh-CN" sz="2400" b="1" i="1" baseline="-25000">
                    <a:latin typeface="Times New Roman" panose="02020603050405020304" pitchFamily="18" charset="0"/>
                  </a:rPr>
                  <a:t>k</a:t>
                </a:r>
                <a:endParaRPr kumimoji="1" lang="en-US" altLang="zh-CN" sz="24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39367" name="Line 71"/>
              <p:cNvSpPr>
                <a:spLocks noChangeShapeType="1"/>
              </p:cNvSpPr>
              <p:nvPr/>
            </p:nvSpPr>
            <p:spPr bwMode="auto">
              <a:xfrm flipV="1">
                <a:off x="360" y="972"/>
                <a:ext cx="0" cy="33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stealth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9368" name="Oval 72"/>
              <p:cNvSpPr>
                <a:spLocks noChangeArrowheads="1"/>
              </p:cNvSpPr>
              <p:nvPr/>
            </p:nvSpPr>
            <p:spPr bwMode="auto">
              <a:xfrm>
                <a:off x="3048" y="1356"/>
                <a:ext cx="68" cy="68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9369" name="Oval 73"/>
              <p:cNvSpPr>
                <a:spLocks noChangeArrowheads="1"/>
              </p:cNvSpPr>
              <p:nvPr/>
            </p:nvSpPr>
            <p:spPr bwMode="auto">
              <a:xfrm>
                <a:off x="484" y="1356"/>
                <a:ext cx="68" cy="68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39370" name="Text Box 74"/>
            <p:cNvSpPr txBox="1">
              <a:spLocks noChangeArrowheads="1"/>
            </p:cNvSpPr>
            <p:nvPr/>
          </p:nvSpPr>
          <p:spPr bwMode="auto">
            <a:xfrm>
              <a:off x="540" y="3046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439371" name="Text Box 75"/>
            <p:cNvSpPr txBox="1">
              <a:spLocks noChangeArrowheads="1"/>
            </p:cNvSpPr>
            <p:nvPr/>
          </p:nvSpPr>
          <p:spPr bwMode="auto">
            <a:xfrm>
              <a:off x="1828" y="2954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_</a:t>
              </a:r>
            </a:p>
          </p:txBody>
        </p:sp>
        <p:sp>
          <p:nvSpPr>
            <p:cNvPr id="439372" name="Text Box 76"/>
            <p:cNvSpPr txBox="1">
              <a:spLocks noChangeArrowheads="1"/>
            </p:cNvSpPr>
            <p:nvPr/>
          </p:nvSpPr>
          <p:spPr bwMode="auto">
            <a:xfrm>
              <a:off x="1620" y="3082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u</a:t>
              </a:r>
              <a:r>
                <a:rPr kumimoji="1" lang="en-US" altLang="zh-CN" sz="2400" b="1" i="1" baseline="-25000">
                  <a:latin typeface="Times New Roman" panose="02020603050405020304" pitchFamily="18" charset="0"/>
                </a:rPr>
                <a:t>k</a:t>
              </a:r>
              <a:endParaRPr kumimoji="1" lang="en-US" altLang="zh-CN" sz="2400" b="1" i="1">
                <a:latin typeface="Times New Roman" panose="02020603050405020304" pitchFamily="18" charset="0"/>
              </a:endParaRPr>
            </a:p>
          </p:txBody>
        </p:sp>
        <p:sp>
          <p:nvSpPr>
            <p:cNvPr id="439373" name="Text Box 77"/>
            <p:cNvSpPr txBox="1">
              <a:spLocks noChangeArrowheads="1"/>
            </p:cNvSpPr>
            <p:nvPr/>
          </p:nvSpPr>
          <p:spPr bwMode="auto">
            <a:xfrm>
              <a:off x="1436" y="3046"/>
              <a:ext cx="2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439374" name="Text Box 78"/>
            <p:cNvSpPr txBox="1">
              <a:spLocks noChangeArrowheads="1"/>
            </p:cNvSpPr>
            <p:nvPr/>
          </p:nvSpPr>
          <p:spPr bwMode="auto">
            <a:xfrm>
              <a:off x="2732" y="2954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_</a:t>
              </a:r>
            </a:p>
          </p:txBody>
        </p:sp>
        <p:sp>
          <p:nvSpPr>
            <p:cNvPr id="439375" name="Text Box 79"/>
            <p:cNvSpPr txBox="1">
              <a:spLocks noChangeArrowheads="1"/>
            </p:cNvSpPr>
            <p:nvPr/>
          </p:nvSpPr>
          <p:spPr bwMode="auto">
            <a:xfrm>
              <a:off x="780" y="3074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u</a:t>
              </a:r>
              <a:r>
                <a:rPr kumimoji="1" lang="en-US" altLang="zh-CN" sz="2400" b="1" baseline="-25000">
                  <a:latin typeface="Times New Roman" panose="02020603050405020304" pitchFamily="18" charset="0"/>
                </a:rPr>
                <a:t>1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</p:grpSp>
      <p:sp>
        <p:nvSpPr>
          <p:cNvPr id="439376" name="Text Box 80"/>
          <p:cNvSpPr txBox="1">
            <a:spLocks noChangeArrowheads="1"/>
          </p:cNvSpPr>
          <p:nvPr/>
        </p:nvSpPr>
        <p:spPr bwMode="auto">
          <a:xfrm>
            <a:off x="611560" y="4082802"/>
            <a:ext cx="49228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等效电阻等于串联的各电阻之和</a:t>
            </a:r>
            <a:endParaRPr kumimoji="1" lang="zh-CN" altLang="en-US" sz="24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79" name="Object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6570684"/>
              </p:ext>
            </p:extLst>
          </p:nvPr>
        </p:nvGraphicFramePr>
        <p:xfrm>
          <a:off x="446088" y="2668340"/>
          <a:ext cx="4906963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86" name="Equation" r:id="rId6" imgW="1828800" imgH="228600" progId="Equation.DSMT4">
                  <p:embed/>
                </p:oleObj>
              </mc:Choice>
              <mc:Fallback>
                <p:oleObj name="Equation" r:id="rId6" imgW="1828800" imgH="228600" progId="Equation.DSMT4">
                  <p:embed/>
                  <p:pic>
                    <p:nvPicPr>
                      <p:cNvPr id="48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088" y="2668340"/>
                        <a:ext cx="4906963" cy="612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" name="Object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3624982"/>
              </p:ext>
            </p:extLst>
          </p:nvPr>
        </p:nvGraphicFramePr>
        <p:xfrm>
          <a:off x="7032729" y="2683478"/>
          <a:ext cx="14986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87" name="Equation" r:id="rId8" imgW="558720" imgH="241200" progId="Equation.DSMT4">
                  <p:embed/>
                </p:oleObj>
              </mc:Choice>
              <mc:Fallback>
                <p:oleObj name="Equation" r:id="rId8" imgW="558720" imgH="241200" progId="Equation.DSMT4">
                  <p:embed/>
                  <p:pic>
                    <p:nvPicPr>
                      <p:cNvPr id="79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2729" y="2683478"/>
                        <a:ext cx="1498600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61572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9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439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39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439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39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393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393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393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39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5" presetID="12" presetClass="entr" presetSubtype="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7" dur="500"/>
                                        <p:tgtEl>
                                          <p:spTgt spid="439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9303" grpId="0" autoUpdateAnimBg="0"/>
      <p:bldP spid="439341" grpId="0" animBg="1" autoUpdateAnimBg="0"/>
      <p:bldP spid="439342" grpId="0" autoUpdateAnimBg="0"/>
      <p:bldP spid="439376" grpId="0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348" name="Text Box 4"/>
          <p:cNvSpPr txBox="1">
            <a:spLocks noChangeArrowheads="1"/>
          </p:cNvSpPr>
          <p:nvPr/>
        </p:nvSpPr>
        <p:spPr bwMode="auto">
          <a:xfrm>
            <a:off x="358775" y="296863"/>
            <a:ext cx="7566025" cy="457200"/>
          </a:xfrm>
          <a:prstGeom prst="rect">
            <a:avLst/>
          </a:prstGeom>
          <a:solidFill>
            <a:srgbClr val="FFFF66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例      </a:t>
            </a:r>
            <a:r>
              <a:rPr kumimoji="1" lang="zh-CN" altLang="en-US" sz="2400" b="1">
                <a:latin typeface="Times New Roman" panose="02020603050405020304" pitchFamily="18" charset="0"/>
              </a:rPr>
              <a:t>两个电阻分压（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voltage division</a:t>
            </a:r>
            <a:r>
              <a:rPr kumimoji="1" lang="zh-CN" altLang="en-US" sz="2400" b="1">
                <a:latin typeface="Times New Roman" panose="02020603050405020304" pitchFamily="18" charset="0"/>
              </a:rPr>
              <a:t>）， 如下图所示。</a:t>
            </a:r>
          </a:p>
        </p:txBody>
      </p:sp>
      <p:graphicFrame>
        <p:nvGraphicFramePr>
          <p:cNvPr id="441349" name="Object 5"/>
          <p:cNvGraphicFramePr>
            <a:graphicFrameLocks noChangeAspect="1"/>
          </p:cNvGraphicFramePr>
          <p:nvPr/>
        </p:nvGraphicFramePr>
        <p:xfrm>
          <a:off x="3508375" y="1071563"/>
          <a:ext cx="2178050" cy="839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42" name="公式" r:id="rId4" imgW="939600" imgH="419040" progId="Equation.3">
                  <p:embed/>
                </p:oleObj>
              </mc:Choice>
              <mc:Fallback>
                <p:oleObj name="公式" r:id="rId4" imgW="939600" imgH="419040" progId="Equation.3">
                  <p:embed/>
                  <p:pic>
                    <p:nvPicPr>
                      <p:cNvPr id="44134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8375" y="1071563"/>
                        <a:ext cx="2178050" cy="839787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accent1">
                              <a:gamma/>
                              <a:tint val="11765"/>
                              <a:invGamma/>
                            </a:schemeClr>
                          </a:gs>
                          <a:gs pos="100000">
                            <a:schemeClr val="accent1"/>
                          </a:gs>
                        </a:gsLst>
                        <a:path path="shape">
                          <a:fillToRect l="50000" t="50000" r="50000" b="50000"/>
                        </a:path>
                      </a:gradFill>
                      <a:ln>
                        <a:noFill/>
                      </a:ln>
                      <a:effectLst>
                        <a:outerShdw dist="107763" dir="2700000" algn="ctr" rotWithShape="0">
                          <a:srgbClr val="808080"/>
                        </a:outer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1350" name="Object 6"/>
          <p:cNvGraphicFramePr>
            <a:graphicFrameLocks noChangeAspect="1"/>
          </p:cNvGraphicFramePr>
          <p:nvPr/>
        </p:nvGraphicFramePr>
        <p:xfrm>
          <a:off x="3581400" y="2024063"/>
          <a:ext cx="2105025" cy="808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43" name="公式" r:id="rId6" imgW="1091880" imgH="419040" progId="Equation.3">
                  <p:embed/>
                </p:oleObj>
              </mc:Choice>
              <mc:Fallback>
                <p:oleObj name="公式" r:id="rId6" imgW="1091880" imgH="419040" progId="Equation.3">
                  <p:embed/>
                  <p:pic>
                    <p:nvPicPr>
                      <p:cNvPr id="44135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2024063"/>
                        <a:ext cx="2105025" cy="808037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accent1">
                              <a:gamma/>
                              <a:tint val="13725"/>
                              <a:invGamma/>
                            </a:schemeClr>
                          </a:gs>
                          <a:gs pos="100000">
                            <a:schemeClr val="accent1"/>
                          </a:gs>
                        </a:gsLst>
                        <a:path path="shape">
                          <a:fillToRect l="50000" t="50000" r="50000" b="50000"/>
                        </a:path>
                      </a:gradFill>
                      <a:ln>
                        <a:noFill/>
                      </a:ln>
                      <a:effectLst>
                        <a:outerShdw dist="107763" dir="2700000" algn="ctr" rotWithShape="0">
                          <a:srgbClr val="808080"/>
                        </a:outer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bg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1351" name="Text Box 7"/>
          <p:cNvSpPr txBox="1">
            <a:spLocks noChangeArrowheads="1"/>
          </p:cNvSpPr>
          <p:nvPr/>
        </p:nvSpPr>
        <p:spPr bwMode="auto">
          <a:xfrm>
            <a:off x="3059832" y="3062288"/>
            <a:ext cx="237700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Times New Roman" panose="02020603050405020304" pitchFamily="18" charset="0"/>
              </a:rPr>
              <a:t>（</a:t>
            </a:r>
            <a:r>
              <a:rPr kumimoji="1" lang="zh-CN" altLang="en-US" sz="2400" b="1" dirty="0">
                <a:solidFill>
                  <a:srgbClr val="FF0066"/>
                </a:solidFill>
                <a:latin typeface="Times New Roman" panose="02020603050405020304" pitchFamily="18" charset="0"/>
              </a:rPr>
              <a:t>注意方向 </a:t>
            </a:r>
            <a:r>
              <a:rPr kumimoji="1" lang="en-US" altLang="zh-CN" sz="2400" b="1" dirty="0">
                <a:solidFill>
                  <a:srgbClr val="FF0066"/>
                </a:solidFill>
                <a:latin typeface="Times New Roman" panose="02020603050405020304" pitchFamily="18" charset="0"/>
              </a:rPr>
              <a:t>!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）</a:t>
            </a:r>
            <a:endParaRPr kumimoji="1"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441352" name="Text Box 8"/>
          <p:cNvSpPr txBox="1">
            <a:spLocks noChangeArrowheads="1"/>
          </p:cNvSpPr>
          <p:nvPr/>
        </p:nvSpPr>
        <p:spPr bwMode="auto">
          <a:xfrm>
            <a:off x="222250" y="3640138"/>
            <a:ext cx="23463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>
                <a:solidFill>
                  <a:srgbClr val="008000"/>
                </a:solidFill>
                <a:latin typeface="Times New Roman" panose="02020603050405020304" pitchFamily="18" charset="0"/>
              </a:rPr>
              <a:t>（</a:t>
            </a:r>
            <a:r>
              <a:rPr kumimoji="1" lang="en-US" altLang="zh-CN" sz="2400" b="1">
                <a:solidFill>
                  <a:srgbClr val="008000"/>
                </a:solidFill>
                <a:latin typeface="Times New Roman" panose="02020603050405020304" pitchFamily="18" charset="0"/>
              </a:rPr>
              <a:t>4</a:t>
            </a:r>
            <a:r>
              <a:rPr kumimoji="1" lang="zh-CN" altLang="en-US" sz="2400" b="1">
                <a:solidFill>
                  <a:srgbClr val="008000"/>
                </a:solidFill>
                <a:latin typeface="Times New Roman" panose="02020603050405020304" pitchFamily="18" charset="0"/>
              </a:rPr>
              <a:t>） 功率关系</a:t>
            </a:r>
          </a:p>
        </p:txBody>
      </p:sp>
      <p:sp>
        <p:nvSpPr>
          <p:cNvPr id="441353" name="Text Box 9"/>
          <p:cNvSpPr txBox="1">
            <a:spLocks noChangeArrowheads="1"/>
          </p:cNvSpPr>
          <p:nvPr/>
        </p:nvSpPr>
        <p:spPr bwMode="auto">
          <a:xfrm>
            <a:off x="2492375" y="3659188"/>
            <a:ext cx="6210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i="1">
                <a:latin typeface="Times New Roman" panose="02020603050405020304" pitchFamily="18" charset="0"/>
              </a:rPr>
              <a:t>p</a:t>
            </a:r>
            <a:r>
              <a:rPr kumimoji="1" lang="en-US" altLang="zh-CN" sz="2400" b="1" baseline="-25000">
                <a:latin typeface="Times New Roman" panose="02020603050405020304" pitchFamily="18" charset="0"/>
              </a:rPr>
              <a:t>1 </a:t>
            </a:r>
            <a:r>
              <a:rPr kumimoji="1" lang="en-US" altLang="zh-CN" sz="2400" b="1">
                <a:latin typeface="Times New Roman" panose="02020603050405020304" pitchFamily="18" charset="0"/>
              </a:rPr>
              <a:t>= 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R</a:t>
            </a:r>
            <a:r>
              <a:rPr kumimoji="1" lang="en-US" altLang="zh-CN" sz="2400" b="1" baseline="-25000">
                <a:latin typeface="Times New Roman" panose="02020603050405020304" pitchFamily="18" charset="0"/>
              </a:rPr>
              <a:t>1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i </a:t>
            </a:r>
            <a:r>
              <a:rPr kumimoji="1" lang="en-US" altLang="zh-CN" sz="2400" b="1" baseline="30000">
                <a:latin typeface="Times New Roman" panose="02020603050405020304" pitchFamily="18" charset="0"/>
              </a:rPr>
              <a:t>2   </a:t>
            </a:r>
            <a:r>
              <a:rPr kumimoji="1" lang="zh-CN" altLang="en-US" sz="2400" b="1">
                <a:latin typeface="Times New Roman" panose="02020603050405020304" pitchFamily="18" charset="0"/>
              </a:rPr>
              <a:t>， 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p</a:t>
            </a:r>
            <a:r>
              <a:rPr kumimoji="1" lang="en-US" altLang="zh-CN" sz="2400" b="1" baseline="-25000">
                <a:latin typeface="Times New Roman" panose="02020603050405020304" pitchFamily="18" charset="0"/>
              </a:rPr>
              <a:t>2 </a:t>
            </a:r>
            <a:r>
              <a:rPr kumimoji="1" lang="en-US" altLang="zh-CN" sz="2400" b="1">
                <a:latin typeface="Times New Roman" panose="02020603050405020304" pitchFamily="18" charset="0"/>
              </a:rPr>
              <a:t>= 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R</a:t>
            </a:r>
            <a:r>
              <a:rPr kumimoji="1" lang="en-US" altLang="zh-CN" sz="2400" b="1" baseline="-25000">
                <a:latin typeface="Times New Roman" panose="02020603050405020304" pitchFamily="18" charset="0"/>
              </a:rPr>
              <a:t>2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i </a:t>
            </a:r>
            <a:r>
              <a:rPr kumimoji="1" lang="en-US" altLang="zh-CN" sz="2400" b="1" baseline="30000">
                <a:latin typeface="Times New Roman" panose="02020603050405020304" pitchFamily="18" charset="0"/>
              </a:rPr>
              <a:t>2    </a:t>
            </a:r>
            <a:r>
              <a:rPr kumimoji="1" lang="zh-CN" altLang="en-US" sz="2400" b="1">
                <a:latin typeface="Times New Roman" panose="02020603050405020304" pitchFamily="18" charset="0"/>
              </a:rPr>
              <a:t>， </a:t>
            </a:r>
            <a:r>
              <a:rPr kumimoji="1" lang="zh-CN" altLang="en-US" sz="2400" b="1">
                <a:latin typeface="Times New Roman" panose="02020603050405020304" pitchFamily="18" charset="0"/>
                <a:sym typeface="MT Extra" panose="05050102010205020202" pitchFamily="18" charset="2"/>
              </a:rPr>
              <a:t></a:t>
            </a:r>
            <a:r>
              <a:rPr kumimoji="1"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 ， 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p</a:t>
            </a:r>
            <a:r>
              <a:rPr kumimoji="1" lang="en-US" altLang="zh-CN" sz="2400" b="1" i="1" baseline="-25000">
                <a:latin typeface="Times New Roman" panose="02020603050405020304" pitchFamily="18" charset="0"/>
              </a:rPr>
              <a:t>n </a:t>
            </a:r>
            <a:r>
              <a:rPr kumimoji="1" lang="en-US" altLang="zh-CN" sz="2400" b="1">
                <a:latin typeface="Times New Roman" panose="02020603050405020304" pitchFamily="18" charset="0"/>
              </a:rPr>
              <a:t>= 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R</a:t>
            </a:r>
            <a:r>
              <a:rPr kumimoji="1" lang="en-US" altLang="zh-CN" sz="2400" b="1" i="1" baseline="-25000">
                <a:latin typeface="Times New Roman" panose="02020603050405020304" pitchFamily="18" charset="0"/>
              </a:rPr>
              <a:t>n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i </a:t>
            </a:r>
            <a:r>
              <a:rPr kumimoji="1" lang="en-US" altLang="zh-CN" sz="2400" b="1" baseline="30000">
                <a:latin typeface="Times New Roman" panose="02020603050405020304" pitchFamily="18" charset="0"/>
              </a:rPr>
              <a:t>2 </a:t>
            </a:r>
          </a:p>
        </p:txBody>
      </p:sp>
      <p:sp>
        <p:nvSpPr>
          <p:cNvPr id="441354" name="Text Box 10"/>
          <p:cNvSpPr txBox="1">
            <a:spLocks noChangeArrowheads="1"/>
          </p:cNvSpPr>
          <p:nvPr/>
        </p:nvSpPr>
        <p:spPr bwMode="auto">
          <a:xfrm>
            <a:off x="2473325" y="4211638"/>
            <a:ext cx="5219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i="1">
                <a:latin typeface="Times New Roman" panose="02020603050405020304" pitchFamily="18" charset="0"/>
              </a:rPr>
              <a:t>p</a:t>
            </a:r>
            <a:r>
              <a:rPr kumimoji="1" lang="en-US" altLang="zh-CN" sz="2400" b="1" baseline="-25000">
                <a:latin typeface="Times New Roman" panose="02020603050405020304" pitchFamily="18" charset="0"/>
              </a:rPr>
              <a:t>1 </a:t>
            </a:r>
            <a:r>
              <a:rPr kumimoji="1" lang="en-US" altLang="zh-CN" sz="2400" b="1">
                <a:latin typeface="Times New Roman" panose="02020603050405020304" pitchFamily="18" charset="0"/>
              </a:rPr>
              <a:t>: 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p</a:t>
            </a:r>
            <a:r>
              <a:rPr kumimoji="1" lang="en-US" altLang="zh-CN" sz="2400" b="1" baseline="-25000">
                <a:latin typeface="Times New Roman" panose="02020603050405020304" pitchFamily="18" charset="0"/>
              </a:rPr>
              <a:t>2 </a:t>
            </a:r>
            <a:r>
              <a:rPr kumimoji="1" lang="en-US" altLang="zh-CN" sz="2400" b="1">
                <a:latin typeface="Times New Roman" panose="02020603050405020304" pitchFamily="18" charset="0"/>
              </a:rPr>
              <a:t>: </a:t>
            </a:r>
            <a:r>
              <a:rPr kumimoji="1" lang="en-US" altLang="zh-CN" sz="2400" b="1">
                <a:latin typeface="Times New Roman" panose="02020603050405020304" pitchFamily="18" charset="0"/>
                <a:sym typeface="MT Extra" panose="05050102010205020202" pitchFamily="18" charset="2"/>
              </a:rPr>
              <a:t></a:t>
            </a:r>
            <a:r>
              <a:rPr kumimoji="1"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: 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p</a:t>
            </a:r>
            <a:r>
              <a:rPr kumimoji="1" lang="en-US" altLang="zh-CN" sz="2400" b="1" i="1" baseline="-25000">
                <a:latin typeface="Times New Roman" panose="02020603050405020304" pitchFamily="18" charset="0"/>
              </a:rPr>
              <a:t>n</a:t>
            </a:r>
            <a:r>
              <a:rPr kumimoji="1" lang="en-US" altLang="zh-CN" sz="2400" b="1">
                <a:latin typeface="Times New Roman" panose="02020603050405020304" pitchFamily="18" charset="0"/>
              </a:rPr>
              <a:t>= 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R</a:t>
            </a:r>
            <a:r>
              <a:rPr kumimoji="1" lang="en-US" altLang="zh-CN" sz="2400" b="1" baseline="-25000">
                <a:latin typeface="Times New Roman" panose="02020603050405020304" pitchFamily="18" charset="0"/>
              </a:rPr>
              <a:t>1 </a:t>
            </a:r>
            <a:r>
              <a:rPr kumimoji="1" lang="en-US" altLang="zh-CN" sz="2400" b="1">
                <a:latin typeface="Times New Roman" panose="02020603050405020304" pitchFamily="18" charset="0"/>
              </a:rPr>
              <a:t>: 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R</a:t>
            </a:r>
            <a:r>
              <a:rPr kumimoji="1" lang="en-US" altLang="zh-CN" sz="2400" b="1" baseline="-25000">
                <a:latin typeface="Times New Roman" panose="02020603050405020304" pitchFamily="18" charset="0"/>
              </a:rPr>
              <a:t>2  </a:t>
            </a:r>
            <a:r>
              <a:rPr kumimoji="1" lang="en-US" altLang="zh-CN" sz="2400" b="1">
                <a:latin typeface="Times New Roman" panose="02020603050405020304" pitchFamily="18" charset="0"/>
              </a:rPr>
              <a:t>: </a:t>
            </a:r>
            <a:r>
              <a:rPr kumimoji="1" lang="en-US" altLang="zh-CN" sz="2400" b="1">
                <a:latin typeface="Times New Roman" panose="02020603050405020304" pitchFamily="18" charset="0"/>
                <a:sym typeface="MT Extra" panose="05050102010205020202" pitchFamily="18" charset="2"/>
              </a:rPr>
              <a:t></a:t>
            </a:r>
            <a:r>
              <a:rPr kumimoji="1"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: 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R</a:t>
            </a:r>
            <a:r>
              <a:rPr kumimoji="1" lang="en-US" altLang="zh-CN" sz="2400" b="1" i="1" baseline="-25000">
                <a:latin typeface="Times New Roman" panose="02020603050405020304" pitchFamily="18" charset="0"/>
              </a:rPr>
              <a:t>n</a:t>
            </a:r>
          </a:p>
        </p:txBody>
      </p:sp>
      <p:sp>
        <p:nvSpPr>
          <p:cNvPr id="441355" name="Text Box 11"/>
          <p:cNvSpPr txBox="1">
            <a:spLocks noChangeArrowheads="1"/>
          </p:cNvSpPr>
          <p:nvPr/>
        </p:nvSpPr>
        <p:spPr bwMode="auto">
          <a:xfrm>
            <a:off x="1044575" y="4745038"/>
            <a:ext cx="664845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>
                <a:latin typeface="Times New Roman" panose="02020603050405020304" pitchFamily="18" charset="0"/>
              </a:rPr>
              <a:t>总功率     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p </a:t>
            </a:r>
            <a:r>
              <a:rPr kumimoji="1" lang="en-US" altLang="zh-CN" sz="2400" b="1">
                <a:latin typeface="Times New Roman" panose="02020603050405020304" pitchFamily="18" charset="0"/>
              </a:rPr>
              <a:t>= 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R</a:t>
            </a:r>
            <a:r>
              <a:rPr kumimoji="1" lang="en-US" altLang="zh-CN" sz="2400" b="1" baseline="-25000">
                <a:latin typeface="Times New Roman" panose="02020603050405020304" pitchFamily="18" charset="0"/>
              </a:rPr>
              <a:t>eq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i </a:t>
            </a:r>
            <a:r>
              <a:rPr kumimoji="1" lang="en-US" altLang="zh-CN" sz="2400" b="1" baseline="30000">
                <a:latin typeface="Times New Roman" panose="02020603050405020304" pitchFamily="18" charset="0"/>
              </a:rPr>
              <a:t>2 </a:t>
            </a:r>
            <a:r>
              <a:rPr kumimoji="1" lang="en-US" altLang="zh-CN" sz="2400" b="1">
                <a:latin typeface="Times New Roman" panose="02020603050405020304" pitchFamily="18" charset="0"/>
              </a:rPr>
              <a:t>= (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R</a:t>
            </a:r>
            <a:r>
              <a:rPr kumimoji="1" lang="en-US" altLang="zh-CN" sz="2400" b="1" baseline="-25000">
                <a:latin typeface="Times New Roman" panose="02020603050405020304" pitchFamily="18" charset="0"/>
              </a:rPr>
              <a:t>1</a:t>
            </a:r>
            <a:r>
              <a:rPr kumimoji="1" lang="en-US" altLang="zh-CN" sz="2400" b="1">
                <a:latin typeface="Times New Roman" panose="02020603050405020304" pitchFamily="18" charset="0"/>
              </a:rPr>
              <a:t>+ 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R</a:t>
            </a:r>
            <a:r>
              <a:rPr kumimoji="1" lang="en-US" altLang="zh-CN" sz="2400" b="1" baseline="-25000">
                <a:latin typeface="Times New Roman" panose="02020603050405020304" pitchFamily="18" charset="0"/>
              </a:rPr>
              <a:t>2</a:t>
            </a:r>
            <a:r>
              <a:rPr kumimoji="1" lang="en-US" altLang="zh-CN" sz="2400" b="1">
                <a:latin typeface="Times New Roman" panose="02020603050405020304" pitchFamily="18" charset="0"/>
              </a:rPr>
              <a:t>+ </a:t>
            </a:r>
            <a:r>
              <a:rPr kumimoji="1" lang="en-US" altLang="zh-CN" sz="2400" b="1">
                <a:latin typeface="Times New Roman" panose="02020603050405020304" pitchFamily="18" charset="0"/>
                <a:sym typeface="MT Extra" panose="05050102010205020202" pitchFamily="18" charset="2"/>
              </a:rPr>
              <a:t></a:t>
            </a:r>
            <a:r>
              <a:rPr kumimoji="1" lang="en-US" altLang="zh-CN" sz="2400" b="1">
                <a:latin typeface="Times New Roman" panose="02020603050405020304" pitchFamily="18" charset="0"/>
              </a:rPr>
              <a:t> +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R</a:t>
            </a:r>
            <a:r>
              <a:rPr kumimoji="1" lang="en-US" altLang="zh-CN" sz="2400" b="1" i="1" baseline="-25000">
                <a:latin typeface="Times New Roman" panose="02020603050405020304" pitchFamily="18" charset="0"/>
              </a:rPr>
              <a:t>n </a:t>
            </a:r>
            <a:r>
              <a:rPr kumimoji="1" lang="en-US" altLang="zh-CN" sz="2400" b="1">
                <a:latin typeface="Times New Roman" panose="02020603050405020304" pitchFamily="18" charset="0"/>
              </a:rPr>
              <a:t>) 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i </a:t>
            </a:r>
            <a:r>
              <a:rPr kumimoji="1" lang="en-US" altLang="zh-CN" sz="2400" b="1" baseline="30000">
                <a:latin typeface="Times New Roman" panose="02020603050405020304" pitchFamily="18" charset="0"/>
              </a:rPr>
              <a:t>2</a:t>
            </a:r>
          </a:p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anose="02020603050405020304" pitchFamily="18" charset="0"/>
              </a:rPr>
              <a:t>                   = 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R</a:t>
            </a:r>
            <a:r>
              <a:rPr kumimoji="1" lang="en-US" altLang="zh-CN" sz="2400" b="1" baseline="-25000">
                <a:latin typeface="Times New Roman" panose="02020603050405020304" pitchFamily="18" charset="0"/>
              </a:rPr>
              <a:t>1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i </a:t>
            </a:r>
            <a:r>
              <a:rPr kumimoji="1" lang="en-US" altLang="zh-CN" sz="2400" b="1" baseline="30000">
                <a:latin typeface="Times New Roman" panose="02020603050405020304" pitchFamily="18" charset="0"/>
              </a:rPr>
              <a:t>2 </a:t>
            </a:r>
            <a:r>
              <a:rPr kumimoji="1" lang="en-US" altLang="zh-CN" sz="2400" b="1">
                <a:latin typeface="Times New Roman" panose="02020603050405020304" pitchFamily="18" charset="0"/>
              </a:rPr>
              <a:t>+ 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R</a:t>
            </a:r>
            <a:r>
              <a:rPr kumimoji="1" lang="en-US" altLang="zh-CN" sz="2400" b="1" baseline="-25000">
                <a:latin typeface="Times New Roman" panose="02020603050405020304" pitchFamily="18" charset="0"/>
              </a:rPr>
              <a:t>2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i </a:t>
            </a:r>
            <a:r>
              <a:rPr kumimoji="1" lang="en-US" altLang="zh-CN" sz="2400" b="1" baseline="30000">
                <a:latin typeface="Times New Roman" panose="02020603050405020304" pitchFamily="18" charset="0"/>
              </a:rPr>
              <a:t>2 </a:t>
            </a:r>
            <a:r>
              <a:rPr kumimoji="1" lang="en-US" altLang="zh-CN" sz="2400" b="1">
                <a:latin typeface="Times New Roman" panose="02020603050405020304" pitchFamily="18" charset="0"/>
              </a:rPr>
              <a:t>+ </a:t>
            </a:r>
            <a:r>
              <a:rPr kumimoji="1" lang="en-US" altLang="zh-CN" sz="2400" b="1">
                <a:latin typeface="Times New Roman" panose="02020603050405020304" pitchFamily="18" charset="0"/>
                <a:sym typeface="MT Extra" panose="05050102010205020202" pitchFamily="18" charset="2"/>
              </a:rPr>
              <a:t></a:t>
            </a:r>
            <a:r>
              <a:rPr kumimoji="1"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2400" b="1">
                <a:latin typeface="Times New Roman" panose="02020603050405020304" pitchFamily="18" charset="0"/>
              </a:rPr>
              <a:t>+ 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R</a:t>
            </a:r>
            <a:r>
              <a:rPr kumimoji="1" lang="en-US" altLang="zh-CN" sz="2400" b="1" i="1" baseline="-25000">
                <a:latin typeface="Times New Roman" panose="02020603050405020304" pitchFamily="18" charset="0"/>
              </a:rPr>
              <a:t>n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i </a:t>
            </a:r>
            <a:r>
              <a:rPr kumimoji="1" lang="en-US" altLang="zh-CN" sz="2400" b="1" baseline="30000">
                <a:latin typeface="Times New Roman" panose="02020603050405020304" pitchFamily="18" charset="0"/>
              </a:rPr>
              <a:t>2</a:t>
            </a:r>
          </a:p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anose="02020603050405020304" pitchFamily="18" charset="0"/>
              </a:rPr>
              <a:t>                   = 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p</a:t>
            </a:r>
            <a:r>
              <a:rPr kumimoji="1" lang="en-US" altLang="zh-CN" sz="2400" b="1" baseline="-25000">
                <a:latin typeface="Times New Roman" panose="02020603050405020304" pitchFamily="18" charset="0"/>
              </a:rPr>
              <a:t>1 </a:t>
            </a:r>
            <a:r>
              <a:rPr kumimoji="1" lang="en-US" altLang="zh-CN" sz="2400" b="1">
                <a:latin typeface="Times New Roman" panose="02020603050405020304" pitchFamily="18" charset="0"/>
              </a:rPr>
              <a:t>+  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p</a:t>
            </a:r>
            <a:r>
              <a:rPr kumimoji="1" lang="en-US" altLang="zh-CN" sz="2400" b="1" baseline="-25000">
                <a:latin typeface="Times New Roman" panose="02020603050405020304" pitchFamily="18" charset="0"/>
              </a:rPr>
              <a:t>2 </a:t>
            </a:r>
            <a:r>
              <a:rPr kumimoji="1" lang="en-US" altLang="zh-CN" sz="2400" b="1">
                <a:latin typeface="Times New Roman" panose="02020603050405020304" pitchFamily="18" charset="0"/>
              </a:rPr>
              <a:t>+ </a:t>
            </a:r>
            <a:r>
              <a:rPr kumimoji="1" lang="en-US" altLang="zh-CN" sz="2400" b="1">
                <a:latin typeface="Times New Roman" panose="02020603050405020304" pitchFamily="18" charset="0"/>
                <a:sym typeface="MT Extra" panose="05050102010205020202" pitchFamily="18" charset="2"/>
              </a:rPr>
              <a:t></a:t>
            </a:r>
            <a:r>
              <a:rPr kumimoji="1"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+  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p</a:t>
            </a:r>
            <a:r>
              <a:rPr kumimoji="1" lang="en-US" altLang="zh-CN" sz="2400" b="1" i="1" baseline="-25000">
                <a:latin typeface="Times New Roman" panose="02020603050405020304" pitchFamily="18" charset="0"/>
              </a:rPr>
              <a:t>n</a:t>
            </a:r>
            <a:endParaRPr kumimoji="1" lang="en-US" altLang="zh-CN" sz="2400" b="1" baseline="30000">
              <a:latin typeface="Times New Roman" panose="02020603050405020304" pitchFamily="18" charset="0"/>
            </a:endParaRPr>
          </a:p>
        </p:txBody>
      </p:sp>
      <p:grpSp>
        <p:nvGrpSpPr>
          <p:cNvPr id="441356" name="Group 12"/>
          <p:cNvGrpSpPr>
            <a:grpSpLocks/>
          </p:cNvGrpSpPr>
          <p:nvPr/>
        </p:nvGrpSpPr>
        <p:grpSpPr bwMode="auto">
          <a:xfrm>
            <a:off x="1114425" y="895350"/>
            <a:ext cx="1695450" cy="2552700"/>
            <a:chOff x="702" y="636"/>
            <a:chExt cx="1068" cy="1608"/>
          </a:xfrm>
        </p:grpSpPr>
        <p:sp>
          <p:nvSpPr>
            <p:cNvPr id="441357" name="Text Box 13"/>
            <p:cNvSpPr txBox="1">
              <a:spLocks noChangeArrowheads="1"/>
            </p:cNvSpPr>
            <p:nvPr/>
          </p:nvSpPr>
          <p:spPr bwMode="auto">
            <a:xfrm>
              <a:off x="906" y="636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i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441358" name="Rectangle 14"/>
            <p:cNvSpPr>
              <a:spLocks noChangeArrowheads="1"/>
            </p:cNvSpPr>
            <p:nvPr/>
          </p:nvSpPr>
          <p:spPr bwMode="auto">
            <a:xfrm>
              <a:off x="1242" y="1116"/>
              <a:ext cx="120" cy="288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1359" name="Line 15"/>
            <p:cNvSpPr>
              <a:spLocks noChangeShapeType="1"/>
            </p:cNvSpPr>
            <p:nvPr/>
          </p:nvSpPr>
          <p:spPr bwMode="auto">
            <a:xfrm>
              <a:off x="1302" y="1404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1360" name="Line 16"/>
            <p:cNvSpPr>
              <a:spLocks noChangeShapeType="1"/>
            </p:cNvSpPr>
            <p:nvPr/>
          </p:nvSpPr>
          <p:spPr bwMode="auto">
            <a:xfrm flipV="1">
              <a:off x="1302" y="876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1361" name="Line 17"/>
            <p:cNvSpPr>
              <a:spLocks noChangeShapeType="1"/>
            </p:cNvSpPr>
            <p:nvPr/>
          </p:nvSpPr>
          <p:spPr bwMode="auto">
            <a:xfrm>
              <a:off x="1302" y="1932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1362" name="Line 18"/>
            <p:cNvSpPr>
              <a:spLocks noChangeShapeType="1"/>
            </p:cNvSpPr>
            <p:nvPr/>
          </p:nvSpPr>
          <p:spPr bwMode="auto">
            <a:xfrm>
              <a:off x="786" y="2208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1363" name="Line 19"/>
            <p:cNvSpPr>
              <a:spLocks noChangeShapeType="1"/>
            </p:cNvSpPr>
            <p:nvPr/>
          </p:nvSpPr>
          <p:spPr bwMode="auto">
            <a:xfrm flipH="1">
              <a:off x="798" y="888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1364" name="Rectangle 20"/>
            <p:cNvSpPr>
              <a:spLocks noChangeArrowheads="1"/>
            </p:cNvSpPr>
            <p:nvPr/>
          </p:nvSpPr>
          <p:spPr bwMode="auto">
            <a:xfrm>
              <a:off x="1242" y="1644"/>
              <a:ext cx="120" cy="288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1365" name="Text Box 21"/>
            <p:cNvSpPr txBox="1">
              <a:spLocks noChangeArrowheads="1"/>
            </p:cNvSpPr>
            <p:nvPr/>
          </p:nvSpPr>
          <p:spPr bwMode="auto">
            <a:xfrm>
              <a:off x="714" y="960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441366" name="Text Box 22"/>
            <p:cNvSpPr txBox="1">
              <a:spLocks noChangeArrowheads="1"/>
            </p:cNvSpPr>
            <p:nvPr/>
          </p:nvSpPr>
          <p:spPr bwMode="auto">
            <a:xfrm>
              <a:off x="726" y="1836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_</a:t>
              </a:r>
            </a:p>
          </p:txBody>
        </p:sp>
        <p:sp>
          <p:nvSpPr>
            <p:cNvPr id="441367" name="Text Box 23"/>
            <p:cNvSpPr txBox="1">
              <a:spLocks noChangeArrowheads="1"/>
            </p:cNvSpPr>
            <p:nvPr/>
          </p:nvSpPr>
          <p:spPr bwMode="auto">
            <a:xfrm>
              <a:off x="702" y="1452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u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441368" name="Text Box 24"/>
            <p:cNvSpPr txBox="1">
              <a:spLocks noChangeArrowheads="1"/>
            </p:cNvSpPr>
            <p:nvPr/>
          </p:nvSpPr>
          <p:spPr bwMode="auto">
            <a:xfrm>
              <a:off x="1386" y="1116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R</a:t>
              </a:r>
              <a:r>
                <a:rPr kumimoji="1" lang="en-US" altLang="zh-CN" sz="2400" b="1" baseline="-25000">
                  <a:latin typeface="Times New Roman" panose="02020603050405020304" pitchFamily="18" charset="0"/>
                </a:rPr>
                <a:t>1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441369" name="Text Box 25"/>
            <p:cNvSpPr txBox="1">
              <a:spLocks noChangeArrowheads="1"/>
            </p:cNvSpPr>
            <p:nvPr/>
          </p:nvSpPr>
          <p:spPr bwMode="auto">
            <a:xfrm>
              <a:off x="1362" y="1656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R</a:t>
              </a:r>
              <a:r>
                <a:rPr kumimoji="1" lang="en-US" altLang="zh-CN" sz="2400" b="1" baseline="-25000">
                  <a:latin typeface="Times New Roman" panose="02020603050405020304" pitchFamily="18" charset="0"/>
                </a:rPr>
                <a:t>2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441370" name="Text Box 26"/>
            <p:cNvSpPr txBox="1">
              <a:spLocks noChangeArrowheads="1"/>
            </p:cNvSpPr>
            <p:nvPr/>
          </p:nvSpPr>
          <p:spPr bwMode="auto">
            <a:xfrm>
              <a:off x="1014" y="924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441371" name="Text Box 27"/>
            <p:cNvSpPr txBox="1">
              <a:spLocks noChangeArrowheads="1"/>
            </p:cNvSpPr>
            <p:nvPr/>
          </p:nvSpPr>
          <p:spPr bwMode="auto">
            <a:xfrm>
              <a:off x="1014" y="1260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>
                  <a:latin typeface="黑体" panose="02010609060101010101" pitchFamily="49" charset="-122"/>
                  <a:ea typeface="黑体" panose="02010609060101010101" pitchFamily="49" charset="-122"/>
                  <a:sym typeface="Symbol" panose="05050102010706020507" pitchFamily="18" charset="2"/>
                </a:rPr>
                <a:t>-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441372" name="Text Box 28"/>
            <p:cNvSpPr txBox="1">
              <a:spLocks noChangeArrowheads="1"/>
            </p:cNvSpPr>
            <p:nvPr/>
          </p:nvSpPr>
          <p:spPr bwMode="auto">
            <a:xfrm>
              <a:off x="942" y="1080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u</a:t>
              </a:r>
              <a:r>
                <a:rPr kumimoji="1" lang="en-US" altLang="zh-CN" sz="2400" b="1" baseline="-25000">
                  <a:latin typeface="Times New Roman" panose="02020603050405020304" pitchFamily="18" charset="0"/>
                </a:rPr>
                <a:t>1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441373" name="Text Box 29"/>
            <p:cNvSpPr txBox="1">
              <a:spLocks noChangeArrowheads="1"/>
            </p:cNvSpPr>
            <p:nvPr/>
          </p:nvSpPr>
          <p:spPr bwMode="auto">
            <a:xfrm>
              <a:off x="966" y="1464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>
                  <a:latin typeface="黑体" panose="02010609060101010101" pitchFamily="49" charset="-122"/>
                  <a:ea typeface="黑体" panose="02010609060101010101" pitchFamily="49" charset="-122"/>
                  <a:sym typeface="Symbol" panose="05050102010706020507" pitchFamily="18" charset="2"/>
                </a:rPr>
                <a:t>-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441374" name="Text Box 30"/>
            <p:cNvSpPr txBox="1">
              <a:spLocks noChangeArrowheads="1"/>
            </p:cNvSpPr>
            <p:nvPr/>
          </p:nvSpPr>
          <p:spPr bwMode="auto">
            <a:xfrm>
              <a:off x="966" y="1836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441375" name="Text Box 31"/>
            <p:cNvSpPr txBox="1">
              <a:spLocks noChangeArrowheads="1"/>
            </p:cNvSpPr>
            <p:nvPr/>
          </p:nvSpPr>
          <p:spPr bwMode="auto">
            <a:xfrm>
              <a:off x="930" y="1632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u</a:t>
              </a:r>
              <a:r>
                <a:rPr kumimoji="1" lang="en-US" altLang="zh-CN" sz="2400" b="1" baseline="-25000">
                  <a:latin typeface="Times New Roman" panose="02020603050405020304" pitchFamily="18" charset="0"/>
                </a:rPr>
                <a:t>2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441376" name="Line 32"/>
            <p:cNvSpPr>
              <a:spLocks noChangeShapeType="1"/>
            </p:cNvSpPr>
            <p:nvPr/>
          </p:nvSpPr>
          <p:spPr bwMode="auto">
            <a:xfrm>
              <a:off x="918" y="888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1377" name="Oval 33"/>
            <p:cNvSpPr>
              <a:spLocks noChangeArrowheads="1"/>
            </p:cNvSpPr>
            <p:nvPr/>
          </p:nvSpPr>
          <p:spPr bwMode="auto">
            <a:xfrm>
              <a:off x="732" y="2188"/>
              <a:ext cx="56" cy="56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1378" name="Oval 34"/>
            <p:cNvSpPr>
              <a:spLocks noChangeArrowheads="1"/>
            </p:cNvSpPr>
            <p:nvPr/>
          </p:nvSpPr>
          <p:spPr bwMode="auto">
            <a:xfrm>
              <a:off x="768" y="868"/>
              <a:ext cx="56" cy="56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6021770" y="1203524"/>
            <a:ext cx="294271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讨论：</a:t>
            </a:r>
            <a:endParaRPr lang="en-US" altLang="zh-CN" dirty="0"/>
          </a:p>
          <a:p>
            <a:r>
              <a:rPr lang="en-US" altLang="zh-CN" dirty="0"/>
              <a:t>1)R</a:t>
            </a:r>
            <a:r>
              <a:rPr lang="en-US" altLang="zh-CN" baseline="-25000" dirty="0"/>
              <a:t>2</a:t>
            </a:r>
            <a:r>
              <a:rPr lang="en-US" altLang="zh-CN" dirty="0">
                <a:sym typeface="Wingdings" panose="05000000000000000000" pitchFamily="2" charset="2"/>
              </a:rPr>
              <a:t></a:t>
            </a:r>
            <a:r>
              <a:rPr lang="zh-CN" altLang="en-US" dirty="0">
                <a:sym typeface="Wingdings" panose="05000000000000000000" pitchFamily="2" charset="2"/>
              </a:rPr>
              <a:t>∞时，</a:t>
            </a:r>
            <a:r>
              <a:rPr lang="en-US" altLang="zh-CN" dirty="0">
                <a:sym typeface="Wingdings" panose="05000000000000000000" pitchFamily="2" charset="2"/>
              </a:rPr>
              <a:t>R</a:t>
            </a:r>
            <a:r>
              <a:rPr lang="en-US" altLang="zh-CN" baseline="-25000" dirty="0">
                <a:sym typeface="Wingdings" panose="05000000000000000000" pitchFamily="2" charset="2"/>
              </a:rPr>
              <a:t>eq</a:t>
            </a:r>
            <a:r>
              <a:rPr lang="en-US" altLang="zh-CN" dirty="0">
                <a:sym typeface="Wingdings" panose="05000000000000000000" pitchFamily="2" charset="2"/>
              </a:rPr>
              <a:t></a:t>
            </a:r>
            <a:r>
              <a:rPr lang="zh-CN" altLang="en-US" dirty="0">
                <a:sym typeface="Wingdings" panose="05000000000000000000" pitchFamily="2" charset="2"/>
              </a:rPr>
              <a:t>∞；</a:t>
            </a:r>
            <a:endParaRPr lang="en-US" altLang="zh-CN" dirty="0">
              <a:sym typeface="Wingdings" panose="05000000000000000000" pitchFamily="2" charset="2"/>
            </a:endParaRPr>
          </a:p>
          <a:p>
            <a:r>
              <a:rPr lang="en-US" altLang="zh-CN" dirty="0"/>
              <a:t>    u</a:t>
            </a:r>
            <a:r>
              <a:rPr lang="en-US" altLang="zh-CN" baseline="-25000" dirty="0"/>
              <a:t>1</a:t>
            </a:r>
            <a:r>
              <a:rPr lang="en-US" altLang="zh-CN" dirty="0"/>
              <a:t>=0,    u</a:t>
            </a:r>
            <a:r>
              <a:rPr lang="en-US" altLang="zh-CN" baseline="-25000" dirty="0"/>
              <a:t>2</a:t>
            </a:r>
            <a:r>
              <a:rPr lang="en-US" altLang="zh-CN" dirty="0"/>
              <a:t>=u</a:t>
            </a:r>
          </a:p>
          <a:p>
            <a:endParaRPr lang="en-US" altLang="zh-CN" dirty="0"/>
          </a:p>
          <a:p>
            <a:r>
              <a:rPr lang="en-US" altLang="zh-CN" dirty="0"/>
              <a:t>2)R</a:t>
            </a:r>
            <a:r>
              <a:rPr lang="en-US" altLang="zh-CN" baseline="-25000" dirty="0"/>
              <a:t>2</a:t>
            </a:r>
            <a:r>
              <a:rPr lang="en-US" altLang="zh-CN" dirty="0">
                <a:sym typeface="Wingdings" panose="05000000000000000000" pitchFamily="2" charset="2"/>
              </a:rPr>
              <a:t>0 </a:t>
            </a:r>
            <a:r>
              <a:rPr lang="zh-CN" altLang="en-US" dirty="0">
                <a:sym typeface="Wingdings" panose="05000000000000000000" pitchFamily="2" charset="2"/>
              </a:rPr>
              <a:t>时，</a:t>
            </a:r>
            <a:r>
              <a:rPr lang="en-US" altLang="zh-CN" dirty="0">
                <a:sym typeface="Wingdings" panose="05000000000000000000" pitchFamily="2" charset="2"/>
              </a:rPr>
              <a:t> R</a:t>
            </a:r>
            <a:r>
              <a:rPr lang="en-US" altLang="zh-CN" baseline="-25000" dirty="0">
                <a:sym typeface="Wingdings" panose="05000000000000000000" pitchFamily="2" charset="2"/>
              </a:rPr>
              <a:t>eq</a:t>
            </a:r>
            <a:r>
              <a:rPr lang="en-US" altLang="zh-CN" dirty="0">
                <a:sym typeface="Wingdings" panose="05000000000000000000" pitchFamily="2" charset="2"/>
              </a:rPr>
              <a:t>=R</a:t>
            </a:r>
            <a:r>
              <a:rPr lang="en-US" altLang="zh-CN" baseline="-25000" dirty="0">
                <a:sym typeface="Wingdings" panose="05000000000000000000" pitchFamily="2" charset="2"/>
              </a:rPr>
              <a:t>1</a:t>
            </a:r>
          </a:p>
          <a:p>
            <a:r>
              <a:rPr lang="en-US" altLang="zh-CN" dirty="0"/>
              <a:t>    u</a:t>
            </a:r>
            <a:r>
              <a:rPr lang="en-US" altLang="zh-CN" baseline="-25000" dirty="0"/>
              <a:t>1</a:t>
            </a:r>
            <a:r>
              <a:rPr lang="en-US" altLang="zh-CN" dirty="0"/>
              <a:t>=u,    u</a:t>
            </a:r>
            <a:r>
              <a:rPr lang="en-US" altLang="zh-CN" baseline="-25000" dirty="0"/>
              <a:t>2</a:t>
            </a:r>
            <a:r>
              <a:rPr lang="en-US" altLang="zh-CN" dirty="0"/>
              <a:t>=0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99530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41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441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413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413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413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413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441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441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413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41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41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441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441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1348" grpId="0" animBg="1" autoUpdateAnimBg="0"/>
      <p:bldP spid="441351" grpId="0" autoUpdateAnimBg="0"/>
      <p:bldP spid="441352" grpId="0" autoUpdateAnimBg="0"/>
      <p:bldP spid="441353" grpId="0" build="p" autoUpdateAnimBg="0"/>
      <p:bldP spid="441354" grpId="0" build="p" autoUpdateAnimBg="0"/>
      <p:bldP spid="441355" grpId="0" uiExpand="1" build="p" autoUpdateAnimBg="0"/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FCBFE92-4950-4839-A96A-5A927330549D}" type="datetime1">
              <a:rPr lang="zh-CN" altLang="en-US" smtClean="0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C9DF94E-7D5D-4B62-90AF-0A54AC735541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  <p:pic>
        <p:nvPicPr>
          <p:cNvPr id="5" name="Picture 1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124744"/>
            <a:ext cx="1788504" cy="32491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4"/>
          <p:cNvSpPr txBox="1">
            <a:spLocks noChangeArrowheads="1"/>
          </p:cNvSpPr>
          <p:nvPr/>
        </p:nvSpPr>
        <p:spPr bwMode="auto">
          <a:xfrm>
            <a:off x="179512" y="260648"/>
            <a:ext cx="7848872" cy="792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hangingPunct="1">
              <a:buFont typeface="Wingdings" panose="05000000000000000000" pitchFamily="2" charset="2"/>
              <a:buNone/>
            </a:pPr>
            <a:r>
              <a:rPr lang="zh-CN" altLang="en-US" sz="3200" b="1" dirty="0">
                <a:solidFill>
                  <a:srgbClr val="FF6600"/>
                </a:solidFill>
                <a:latin typeface="仿宋_GB2312" pitchFamily="1" charset="-122"/>
                <a:ea typeface="仿宋_GB2312" pitchFamily="1" charset="-122"/>
              </a:rPr>
              <a:t>直流分压器</a:t>
            </a:r>
            <a:r>
              <a:rPr lang="en-US" altLang="zh-CN" sz="3200" b="1" dirty="0">
                <a:solidFill>
                  <a:srgbClr val="FF6600"/>
                </a:solidFill>
                <a:latin typeface="仿宋_GB2312" pitchFamily="1" charset="-122"/>
                <a:ea typeface="仿宋_GB2312" pitchFamily="1" charset="-122"/>
              </a:rPr>
              <a:t>——</a:t>
            </a:r>
            <a:r>
              <a:rPr lang="zh-CN" altLang="en-US" sz="2000" b="1" dirty="0">
                <a:solidFill>
                  <a:srgbClr val="FF6600"/>
                </a:solidFill>
                <a:latin typeface="仿宋_GB2312" pitchFamily="1" charset="-122"/>
                <a:ea typeface="仿宋_GB2312" pitchFamily="1" charset="-122"/>
              </a:rPr>
              <a:t>用于电力系统及电气、电子设备制造部门测量直流高电压</a:t>
            </a:r>
            <a:endParaRPr lang="en-US" altLang="zh-CN" sz="1800" b="1" dirty="0">
              <a:solidFill>
                <a:srgbClr val="FF6600"/>
              </a:solidFill>
              <a:latin typeface="仿宋_GB2312" pitchFamily="1" charset="-122"/>
              <a:ea typeface="仿宋_GB2312" pitchFamily="1" charset="-122"/>
            </a:endParaRPr>
          </a:p>
        </p:txBody>
      </p:sp>
      <p:pic>
        <p:nvPicPr>
          <p:cNvPr id="7" name="Picture 3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2440" y="1333499"/>
            <a:ext cx="2914650" cy="3943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42"/>
          <p:cNvSpPr>
            <a:spLocks noChangeArrowheads="1"/>
          </p:cNvSpPr>
          <p:nvPr/>
        </p:nvSpPr>
        <p:spPr bwMode="auto">
          <a:xfrm>
            <a:off x="4628538" y="5018010"/>
            <a:ext cx="1944216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69900" indent="-469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FF6600"/>
                </a:solidFill>
                <a:latin typeface="仿宋_GB2312" pitchFamily="1" charset="-122"/>
                <a:ea typeface="仿宋_GB2312" pitchFamily="1" charset="-122"/>
              </a:rPr>
              <a:t>取样电压：</a:t>
            </a:r>
          </a:p>
        </p:txBody>
      </p:sp>
      <p:graphicFrame>
        <p:nvGraphicFramePr>
          <p:cNvPr id="9" name="Object 5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6053594"/>
              </p:ext>
            </p:extLst>
          </p:nvPr>
        </p:nvGraphicFramePr>
        <p:xfrm>
          <a:off x="5220072" y="5449093"/>
          <a:ext cx="3816350" cy="950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58" name="公式" r:id="rId5" imgW="1803240" imgH="444240" progId="Equation.3">
                  <p:embed/>
                </p:oleObj>
              </mc:Choice>
              <mc:Fallback>
                <p:oleObj name="公式" r:id="rId5" imgW="1803240" imgH="444240" progId="Equation.3">
                  <p:embed/>
                  <p:pic>
                    <p:nvPicPr>
                      <p:cNvPr id="2051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0072" y="5449093"/>
                        <a:ext cx="3816350" cy="950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图片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963" y="5430622"/>
            <a:ext cx="4314021" cy="1004248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74908" y="1082606"/>
            <a:ext cx="1513667" cy="3291254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-28267" y="4440969"/>
            <a:ext cx="495205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FF6600"/>
                </a:solidFill>
                <a:latin typeface="仿宋_GB2312" pitchFamily="1" charset="-122"/>
                <a:ea typeface="仿宋_GB2312" pitchFamily="1" charset="-122"/>
              </a:rPr>
              <a:t>    由高压测量部分和低压显示仪表构成。工作时高压部分和低压仪表分开，工作安全可靠。</a:t>
            </a:r>
          </a:p>
        </p:txBody>
      </p:sp>
    </p:spTree>
    <p:extLst>
      <p:ext uri="{BB962C8B-B14F-4D97-AF65-F5344CB8AC3E}">
        <p14:creationId xmlns:p14="http://schemas.microsoft.com/office/powerpoint/2010/main" val="38497015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396" name="Text Box 4"/>
          <p:cNvSpPr txBox="1">
            <a:spLocks noChangeArrowheads="1"/>
          </p:cNvSpPr>
          <p:nvPr/>
        </p:nvSpPr>
        <p:spPr bwMode="auto">
          <a:xfrm>
            <a:off x="176213" y="457200"/>
            <a:ext cx="6553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2.  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电阻并联 （</a:t>
            </a:r>
            <a:r>
              <a:rPr kumimoji="1"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</a:rPr>
              <a:t>parallel connection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）</a:t>
            </a:r>
            <a:endParaRPr kumimoji="1" lang="zh-CN" altLang="en-US" sz="28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443397" name="Group 5"/>
          <p:cNvGrpSpPr>
            <a:grpSpLocks/>
          </p:cNvGrpSpPr>
          <p:nvPr/>
        </p:nvGrpSpPr>
        <p:grpSpPr bwMode="auto">
          <a:xfrm>
            <a:off x="1701800" y="914400"/>
            <a:ext cx="5060950" cy="2187575"/>
            <a:chOff x="1072" y="576"/>
            <a:chExt cx="3188" cy="1378"/>
          </a:xfrm>
        </p:grpSpPr>
        <p:sp>
          <p:nvSpPr>
            <p:cNvPr id="443398" name="Text Box 6"/>
            <p:cNvSpPr txBox="1">
              <a:spLocks noChangeArrowheads="1"/>
            </p:cNvSpPr>
            <p:nvPr/>
          </p:nvSpPr>
          <p:spPr bwMode="auto">
            <a:xfrm>
              <a:off x="3936" y="960"/>
              <a:ext cx="3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2400" b="1" i="1" baseline="-25000">
                  <a:latin typeface="Times New Roman" panose="02020603050405020304" pitchFamily="18" charset="0"/>
                </a:rPr>
                <a:t>n</a:t>
              </a:r>
              <a:endParaRPr kumimoji="1" lang="en-US" altLang="zh-CN" sz="2400" b="1" i="1">
                <a:latin typeface="Times New Roman" panose="02020603050405020304" pitchFamily="18" charset="0"/>
              </a:endParaRPr>
            </a:p>
          </p:txBody>
        </p:sp>
        <p:sp>
          <p:nvSpPr>
            <p:cNvPr id="443399" name="Line 7"/>
            <p:cNvSpPr>
              <a:spLocks noChangeShapeType="1"/>
            </p:cNvSpPr>
            <p:nvPr/>
          </p:nvSpPr>
          <p:spPr bwMode="auto">
            <a:xfrm>
              <a:off x="1296" y="960"/>
              <a:ext cx="110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3400" name="Line 8"/>
            <p:cNvSpPr>
              <a:spLocks noChangeShapeType="1"/>
            </p:cNvSpPr>
            <p:nvPr/>
          </p:nvSpPr>
          <p:spPr bwMode="auto">
            <a:xfrm rot="-5400000">
              <a:off x="1354" y="1440"/>
              <a:ext cx="96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3401" name="Line 9"/>
            <p:cNvSpPr>
              <a:spLocks noChangeShapeType="1"/>
            </p:cNvSpPr>
            <p:nvPr/>
          </p:nvSpPr>
          <p:spPr bwMode="auto">
            <a:xfrm rot="-5400000">
              <a:off x="1790" y="1440"/>
              <a:ext cx="96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3402" name="Line 10"/>
            <p:cNvSpPr>
              <a:spLocks noChangeShapeType="1"/>
            </p:cNvSpPr>
            <p:nvPr/>
          </p:nvSpPr>
          <p:spPr bwMode="auto">
            <a:xfrm>
              <a:off x="1296" y="1920"/>
              <a:ext cx="110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3403" name="Line 11"/>
            <p:cNvSpPr>
              <a:spLocks noChangeShapeType="1"/>
            </p:cNvSpPr>
            <p:nvPr/>
          </p:nvSpPr>
          <p:spPr bwMode="auto">
            <a:xfrm>
              <a:off x="2400" y="960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3404" name="Line 12"/>
            <p:cNvSpPr>
              <a:spLocks noChangeShapeType="1"/>
            </p:cNvSpPr>
            <p:nvPr/>
          </p:nvSpPr>
          <p:spPr bwMode="auto">
            <a:xfrm>
              <a:off x="2414" y="1920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3405" name="Line 13"/>
            <p:cNvSpPr>
              <a:spLocks noChangeShapeType="1"/>
            </p:cNvSpPr>
            <p:nvPr/>
          </p:nvSpPr>
          <p:spPr bwMode="auto">
            <a:xfrm>
              <a:off x="2798" y="960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3406" name="Line 14"/>
            <p:cNvSpPr>
              <a:spLocks noChangeShapeType="1"/>
            </p:cNvSpPr>
            <p:nvPr/>
          </p:nvSpPr>
          <p:spPr bwMode="auto">
            <a:xfrm rot="-5400000">
              <a:off x="2506" y="1440"/>
              <a:ext cx="96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3407" name="Line 15"/>
            <p:cNvSpPr>
              <a:spLocks noChangeShapeType="1"/>
            </p:cNvSpPr>
            <p:nvPr/>
          </p:nvSpPr>
          <p:spPr bwMode="auto">
            <a:xfrm>
              <a:off x="2798" y="1920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3408" name="Line 16"/>
            <p:cNvSpPr>
              <a:spLocks noChangeShapeType="1"/>
            </p:cNvSpPr>
            <p:nvPr/>
          </p:nvSpPr>
          <p:spPr bwMode="auto">
            <a:xfrm>
              <a:off x="3134" y="960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3409" name="Line 17"/>
            <p:cNvSpPr>
              <a:spLocks noChangeShapeType="1"/>
            </p:cNvSpPr>
            <p:nvPr/>
          </p:nvSpPr>
          <p:spPr bwMode="auto">
            <a:xfrm>
              <a:off x="3182" y="1920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3410" name="Line 18"/>
            <p:cNvSpPr>
              <a:spLocks noChangeShapeType="1"/>
            </p:cNvSpPr>
            <p:nvPr/>
          </p:nvSpPr>
          <p:spPr bwMode="auto">
            <a:xfrm>
              <a:off x="3518" y="960"/>
              <a:ext cx="3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3411" name="Line 19"/>
            <p:cNvSpPr>
              <a:spLocks noChangeShapeType="1"/>
            </p:cNvSpPr>
            <p:nvPr/>
          </p:nvSpPr>
          <p:spPr bwMode="auto">
            <a:xfrm>
              <a:off x="3518" y="1920"/>
              <a:ext cx="3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3412" name="Line 20"/>
            <p:cNvSpPr>
              <a:spLocks noChangeShapeType="1"/>
            </p:cNvSpPr>
            <p:nvPr/>
          </p:nvSpPr>
          <p:spPr bwMode="auto">
            <a:xfrm rot="-5400000">
              <a:off x="3374" y="1440"/>
              <a:ext cx="96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3413" name="Rectangle 21"/>
            <p:cNvSpPr>
              <a:spLocks noChangeArrowheads="1"/>
            </p:cNvSpPr>
            <p:nvPr/>
          </p:nvSpPr>
          <p:spPr bwMode="auto">
            <a:xfrm>
              <a:off x="1476" y="1248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b="1" i="1">
                  <a:latin typeface="Times New Roman" panose="02020603050405020304" pitchFamily="18" charset="0"/>
                </a:rPr>
                <a:t>R</a:t>
              </a:r>
              <a:r>
                <a:rPr kumimoji="1" lang="en-US" altLang="zh-CN" sz="2400" b="1" baseline="-25000">
                  <a:latin typeface="Times New Roman" panose="02020603050405020304" pitchFamily="18" charset="0"/>
                </a:rPr>
                <a:t>1</a:t>
              </a:r>
              <a:endParaRPr kumimoji="1" lang="en-US" altLang="zh-CN" sz="2400" b="1" i="1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443414" name="Rectangle 22"/>
            <p:cNvSpPr>
              <a:spLocks noChangeArrowheads="1"/>
            </p:cNvSpPr>
            <p:nvPr/>
          </p:nvSpPr>
          <p:spPr bwMode="auto">
            <a:xfrm>
              <a:off x="1915" y="1248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b="1" i="1">
                  <a:latin typeface="Times New Roman" panose="02020603050405020304" pitchFamily="18" charset="0"/>
                </a:rPr>
                <a:t>R</a:t>
              </a:r>
              <a:r>
                <a:rPr kumimoji="1" lang="en-US" altLang="zh-CN" sz="2400" b="1" baseline="-25000">
                  <a:latin typeface="Times New Roman" panose="02020603050405020304" pitchFamily="18" charset="0"/>
                </a:rPr>
                <a:t>2</a:t>
              </a:r>
              <a:endParaRPr kumimoji="1" lang="en-US" altLang="zh-CN" sz="2400" b="1" i="1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443415" name="Rectangle 23"/>
            <p:cNvSpPr>
              <a:spLocks noChangeArrowheads="1"/>
            </p:cNvSpPr>
            <p:nvPr/>
          </p:nvSpPr>
          <p:spPr bwMode="auto">
            <a:xfrm>
              <a:off x="2634" y="1248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b="1" i="1">
                  <a:latin typeface="Times New Roman" panose="02020603050405020304" pitchFamily="18" charset="0"/>
                </a:rPr>
                <a:t>R</a:t>
              </a:r>
              <a:r>
                <a:rPr kumimoji="1" lang="en-US" altLang="zh-CN" sz="2400" b="1" i="1" baseline="-25000">
                  <a:latin typeface="Times New Roman" panose="02020603050405020304" pitchFamily="18" charset="0"/>
                </a:rPr>
                <a:t>k</a:t>
              </a:r>
            </a:p>
          </p:txBody>
        </p:sp>
        <p:sp>
          <p:nvSpPr>
            <p:cNvPr id="443416" name="Rectangle 24"/>
            <p:cNvSpPr>
              <a:spLocks noChangeArrowheads="1"/>
            </p:cNvSpPr>
            <p:nvPr/>
          </p:nvSpPr>
          <p:spPr bwMode="auto">
            <a:xfrm>
              <a:off x="3509" y="1248"/>
              <a:ext cx="31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b="1" i="1">
                  <a:latin typeface="Times New Roman" panose="02020603050405020304" pitchFamily="18" charset="0"/>
                </a:rPr>
                <a:t>R</a:t>
              </a:r>
              <a:r>
                <a:rPr kumimoji="1" lang="en-US" altLang="zh-CN" sz="2400" b="1" i="1" baseline="-25000">
                  <a:latin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443417" name="Line 25"/>
            <p:cNvSpPr>
              <a:spLocks noChangeShapeType="1"/>
            </p:cNvSpPr>
            <p:nvPr/>
          </p:nvSpPr>
          <p:spPr bwMode="auto">
            <a:xfrm>
              <a:off x="1296" y="878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3418" name="Text Box 26"/>
            <p:cNvSpPr txBox="1">
              <a:spLocks noChangeArrowheads="1"/>
            </p:cNvSpPr>
            <p:nvPr/>
          </p:nvSpPr>
          <p:spPr bwMode="auto">
            <a:xfrm>
              <a:off x="1366" y="576"/>
              <a:ext cx="1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800" b="1" i="1">
                  <a:latin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443419" name="Rectangle 27"/>
            <p:cNvSpPr>
              <a:spLocks noChangeArrowheads="1"/>
            </p:cNvSpPr>
            <p:nvPr/>
          </p:nvSpPr>
          <p:spPr bwMode="auto">
            <a:xfrm>
              <a:off x="1104" y="912"/>
              <a:ext cx="2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sym typeface="CommonBullets" pitchFamily="34" charset="2"/>
                </a:rPr>
                <a:t>+</a:t>
              </a:r>
              <a:endParaRPr kumimoji="1" lang="en-US" altLang="zh-CN" sz="4400" b="1">
                <a:solidFill>
                  <a:srgbClr val="FF0000"/>
                </a:solidFill>
                <a:latin typeface="Times New Roman" panose="02020603050405020304" pitchFamily="18" charset="0"/>
                <a:sym typeface="CommonBullets" pitchFamily="34" charset="2"/>
              </a:endParaRPr>
            </a:p>
          </p:txBody>
        </p:sp>
        <p:sp>
          <p:nvSpPr>
            <p:cNvPr id="443420" name="Text Box 28"/>
            <p:cNvSpPr txBox="1">
              <a:spLocks noChangeArrowheads="1"/>
            </p:cNvSpPr>
            <p:nvPr/>
          </p:nvSpPr>
          <p:spPr bwMode="auto">
            <a:xfrm>
              <a:off x="1072" y="1324"/>
              <a:ext cx="2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b="1" i="1">
                  <a:latin typeface="Times New Roman" panose="02020603050405020304" pitchFamily="18" charset="0"/>
                </a:rPr>
                <a:t>u</a:t>
              </a:r>
            </a:p>
          </p:txBody>
        </p:sp>
        <p:sp>
          <p:nvSpPr>
            <p:cNvPr id="443421" name="Rectangle 29"/>
            <p:cNvSpPr>
              <a:spLocks noChangeArrowheads="1"/>
            </p:cNvSpPr>
            <p:nvPr/>
          </p:nvSpPr>
          <p:spPr bwMode="auto">
            <a:xfrm>
              <a:off x="2206" y="1287"/>
              <a:ext cx="120" cy="288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3422" name="Rectangle 30"/>
            <p:cNvSpPr>
              <a:spLocks noChangeArrowheads="1"/>
            </p:cNvSpPr>
            <p:nvPr/>
          </p:nvSpPr>
          <p:spPr bwMode="auto">
            <a:xfrm>
              <a:off x="1778" y="1287"/>
              <a:ext cx="120" cy="288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3423" name="Rectangle 31"/>
            <p:cNvSpPr>
              <a:spLocks noChangeArrowheads="1"/>
            </p:cNvSpPr>
            <p:nvPr/>
          </p:nvSpPr>
          <p:spPr bwMode="auto">
            <a:xfrm>
              <a:off x="2926" y="1287"/>
              <a:ext cx="120" cy="288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3424" name="Rectangle 32"/>
            <p:cNvSpPr>
              <a:spLocks noChangeArrowheads="1"/>
            </p:cNvSpPr>
            <p:nvPr/>
          </p:nvSpPr>
          <p:spPr bwMode="auto">
            <a:xfrm>
              <a:off x="3794" y="1287"/>
              <a:ext cx="120" cy="288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3425" name="Line 33"/>
            <p:cNvSpPr>
              <a:spLocks noChangeShapeType="1"/>
            </p:cNvSpPr>
            <p:nvPr/>
          </p:nvSpPr>
          <p:spPr bwMode="auto">
            <a:xfrm>
              <a:off x="1920" y="1008"/>
              <a:ext cx="0" cy="25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3426" name="Text Box 34"/>
            <p:cNvSpPr txBox="1">
              <a:spLocks noChangeArrowheads="1"/>
            </p:cNvSpPr>
            <p:nvPr/>
          </p:nvSpPr>
          <p:spPr bwMode="auto">
            <a:xfrm>
              <a:off x="1920" y="960"/>
              <a:ext cx="3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2400" b="1" baseline="-25000">
                  <a:latin typeface="Times New Roman" panose="02020603050405020304" pitchFamily="18" charset="0"/>
                </a:rPr>
                <a:t>1</a:t>
              </a:r>
              <a:endParaRPr kumimoji="1" lang="en-US" altLang="zh-CN" sz="2400" b="1" i="1">
                <a:latin typeface="Times New Roman" panose="02020603050405020304" pitchFamily="18" charset="0"/>
              </a:endParaRPr>
            </a:p>
          </p:txBody>
        </p:sp>
        <p:sp>
          <p:nvSpPr>
            <p:cNvPr id="443427" name="Text Box 35"/>
            <p:cNvSpPr txBox="1">
              <a:spLocks noChangeArrowheads="1"/>
            </p:cNvSpPr>
            <p:nvPr/>
          </p:nvSpPr>
          <p:spPr bwMode="auto">
            <a:xfrm>
              <a:off x="2352" y="960"/>
              <a:ext cx="3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2400" b="1" baseline="-25000">
                  <a:latin typeface="Times New Roman" panose="02020603050405020304" pitchFamily="18" charset="0"/>
                </a:rPr>
                <a:t>2</a:t>
              </a:r>
              <a:endParaRPr kumimoji="1" lang="en-US" altLang="zh-CN" sz="2400" b="1" i="1">
                <a:latin typeface="Times New Roman" panose="02020603050405020304" pitchFamily="18" charset="0"/>
              </a:endParaRPr>
            </a:p>
          </p:txBody>
        </p:sp>
        <p:sp>
          <p:nvSpPr>
            <p:cNvPr id="443428" name="Text Box 36"/>
            <p:cNvSpPr txBox="1">
              <a:spLocks noChangeArrowheads="1"/>
            </p:cNvSpPr>
            <p:nvPr/>
          </p:nvSpPr>
          <p:spPr bwMode="auto">
            <a:xfrm>
              <a:off x="3120" y="960"/>
              <a:ext cx="3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2400" b="1" i="1" baseline="-25000">
                  <a:latin typeface="Times New Roman" panose="02020603050405020304" pitchFamily="18" charset="0"/>
                </a:rPr>
                <a:t>k</a:t>
              </a:r>
              <a:endParaRPr kumimoji="1" lang="en-US" altLang="zh-CN" sz="2400" b="1" i="1">
                <a:latin typeface="Times New Roman" panose="02020603050405020304" pitchFamily="18" charset="0"/>
              </a:endParaRPr>
            </a:p>
          </p:txBody>
        </p:sp>
        <p:sp>
          <p:nvSpPr>
            <p:cNvPr id="443429" name="Text Box 37"/>
            <p:cNvSpPr txBox="1">
              <a:spLocks noChangeArrowheads="1"/>
            </p:cNvSpPr>
            <p:nvPr/>
          </p:nvSpPr>
          <p:spPr bwMode="auto">
            <a:xfrm>
              <a:off x="1108" y="1610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_</a:t>
              </a:r>
            </a:p>
          </p:txBody>
        </p:sp>
        <p:sp>
          <p:nvSpPr>
            <p:cNvPr id="443430" name="Line 38"/>
            <p:cNvSpPr>
              <a:spLocks noChangeShapeType="1"/>
            </p:cNvSpPr>
            <p:nvPr/>
          </p:nvSpPr>
          <p:spPr bwMode="auto">
            <a:xfrm>
              <a:off x="2352" y="1008"/>
              <a:ext cx="0" cy="25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3431" name="Line 39"/>
            <p:cNvSpPr>
              <a:spLocks noChangeShapeType="1"/>
            </p:cNvSpPr>
            <p:nvPr/>
          </p:nvSpPr>
          <p:spPr bwMode="auto">
            <a:xfrm>
              <a:off x="3072" y="1008"/>
              <a:ext cx="0" cy="25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3432" name="Line 40"/>
            <p:cNvSpPr>
              <a:spLocks noChangeShapeType="1"/>
            </p:cNvSpPr>
            <p:nvPr/>
          </p:nvSpPr>
          <p:spPr bwMode="auto">
            <a:xfrm>
              <a:off x="3936" y="960"/>
              <a:ext cx="0" cy="25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3433" name="Oval 41"/>
            <p:cNvSpPr>
              <a:spLocks noChangeArrowheads="1"/>
            </p:cNvSpPr>
            <p:nvPr/>
          </p:nvSpPr>
          <p:spPr bwMode="auto">
            <a:xfrm>
              <a:off x="1234" y="1886"/>
              <a:ext cx="68" cy="6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3434" name="Oval 42"/>
            <p:cNvSpPr>
              <a:spLocks noChangeArrowheads="1"/>
            </p:cNvSpPr>
            <p:nvPr/>
          </p:nvSpPr>
          <p:spPr bwMode="auto">
            <a:xfrm>
              <a:off x="1234" y="926"/>
              <a:ext cx="68" cy="6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43435" name="Text Box 43"/>
          <p:cNvSpPr txBox="1">
            <a:spLocks noChangeArrowheads="1"/>
          </p:cNvSpPr>
          <p:nvPr/>
        </p:nvSpPr>
        <p:spPr bwMode="auto">
          <a:xfrm>
            <a:off x="523875" y="3448050"/>
            <a:ext cx="25352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>
                <a:solidFill>
                  <a:srgbClr val="008000"/>
                </a:solidFill>
                <a:latin typeface="Times New Roman" panose="02020603050405020304" pitchFamily="18" charset="0"/>
              </a:rPr>
              <a:t>（</a:t>
            </a:r>
            <a:r>
              <a:rPr kumimoji="1" lang="en-US" altLang="zh-CN" sz="2400" b="1">
                <a:solidFill>
                  <a:srgbClr val="008000"/>
                </a:solidFill>
                <a:latin typeface="Times New Roman" panose="02020603050405020304" pitchFamily="18" charset="0"/>
              </a:rPr>
              <a:t>1</a:t>
            </a:r>
            <a:r>
              <a:rPr kumimoji="1" lang="zh-CN" altLang="en-US" sz="2400" b="1">
                <a:solidFill>
                  <a:srgbClr val="008000"/>
                </a:solidFill>
                <a:latin typeface="Times New Roman" panose="02020603050405020304" pitchFamily="18" charset="0"/>
              </a:rPr>
              <a:t>） </a:t>
            </a:r>
            <a:r>
              <a:rPr kumimoji="1" lang="zh-CN" altLang="en-US" sz="2400" b="1">
                <a:solidFill>
                  <a:srgbClr val="008000"/>
                </a:solidFill>
                <a:latin typeface="宋体" panose="02010600030101010101" pitchFamily="2" charset="-122"/>
              </a:rPr>
              <a:t>电路特点</a:t>
            </a:r>
          </a:p>
        </p:txBody>
      </p:sp>
      <p:sp>
        <p:nvSpPr>
          <p:cNvPr id="443436" name="Text Box 44"/>
          <p:cNvSpPr txBox="1">
            <a:spLocks noChangeArrowheads="1"/>
          </p:cNvSpPr>
          <p:nvPr/>
        </p:nvSpPr>
        <p:spPr bwMode="auto">
          <a:xfrm>
            <a:off x="723900" y="4114800"/>
            <a:ext cx="84407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anose="02020603050405020304" pitchFamily="18" charset="0"/>
              </a:rPr>
              <a:t>(a) </a:t>
            </a:r>
            <a:r>
              <a:rPr kumimoji="1" lang="zh-CN" altLang="zh-CN" sz="2400" b="1">
                <a:latin typeface="Times New Roman" panose="02020603050405020304" pitchFamily="18" charset="0"/>
              </a:rPr>
              <a:t>各电阻两端分别接在一起，端</a:t>
            </a:r>
            <a:r>
              <a:rPr kumimoji="1" lang="zh-CN" altLang="en-US" sz="2400" b="1">
                <a:latin typeface="Times New Roman" panose="02020603050405020304" pitchFamily="18" charset="0"/>
              </a:rPr>
              <a:t>电压</a:t>
            </a:r>
            <a:r>
              <a:rPr kumimoji="1" lang="zh-CN" altLang="zh-CN" sz="2400" b="1">
                <a:latin typeface="Times New Roman" panose="02020603050405020304" pitchFamily="18" charset="0"/>
              </a:rPr>
              <a:t>为同一电压 </a:t>
            </a:r>
            <a:r>
              <a:rPr kumimoji="1" lang="zh-CN" altLang="en-US" sz="2400" b="1">
                <a:latin typeface="Times New Roman" panose="02020603050405020304" pitchFamily="18" charset="0"/>
              </a:rPr>
              <a:t>（</a:t>
            </a:r>
            <a:r>
              <a:rPr kumimoji="1" lang="en-US" altLang="zh-CN" sz="2400" b="1">
                <a:latin typeface="Times New Roman" panose="02020603050405020304" pitchFamily="18" charset="0"/>
              </a:rPr>
              <a:t>KVL</a:t>
            </a:r>
            <a:r>
              <a:rPr kumimoji="1" lang="zh-CN" altLang="en-US" sz="2400" b="1">
                <a:latin typeface="Times New Roman" panose="02020603050405020304" pitchFamily="18" charset="0"/>
              </a:rPr>
              <a:t>）；</a:t>
            </a:r>
          </a:p>
        </p:txBody>
      </p:sp>
      <p:sp>
        <p:nvSpPr>
          <p:cNvPr id="443437" name="Text Box 45"/>
          <p:cNvSpPr txBox="1">
            <a:spLocks noChangeArrowheads="1"/>
          </p:cNvSpPr>
          <p:nvPr/>
        </p:nvSpPr>
        <p:spPr bwMode="auto">
          <a:xfrm>
            <a:off x="723900" y="4819650"/>
            <a:ext cx="7543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anose="02020603050405020304" pitchFamily="18" charset="0"/>
              </a:rPr>
              <a:t>(b) </a:t>
            </a:r>
            <a:r>
              <a:rPr kumimoji="1" lang="zh-CN" altLang="en-US" sz="2400" b="1">
                <a:latin typeface="Times New Roman" panose="02020603050405020304" pitchFamily="18" charset="0"/>
              </a:rPr>
              <a:t>总电流等于流过各并联电阻的电流之和</a:t>
            </a:r>
            <a:r>
              <a:rPr kumimoji="1" lang="zh-CN" altLang="zh-CN" sz="2400" b="1">
                <a:latin typeface="Times New Roman" panose="02020603050405020304" pitchFamily="18" charset="0"/>
              </a:rPr>
              <a:t> </a:t>
            </a:r>
            <a:r>
              <a:rPr kumimoji="1" lang="zh-CN" altLang="en-US" sz="2400" b="1">
                <a:latin typeface="Times New Roman" panose="02020603050405020304" pitchFamily="18" charset="0"/>
              </a:rPr>
              <a:t>（</a:t>
            </a:r>
            <a:r>
              <a:rPr kumimoji="1" lang="en-US" altLang="zh-CN" sz="2400" b="1">
                <a:latin typeface="Times New Roman" panose="02020603050405020304" pitchFamily="18" charset="0"/>
              </a:rPr>
              <a:t>KCL</a:t>
            </a:r>
            <a:r>
              <a:rPr kumimoji="1" lang="zh-CN" altLang="en-US" sz="2400" b="1">
                <a:latin typeface="Times New Roman" panose="02020603050405020304" pitchFamily="18" charset="0"/>
              </a:rPr>
              <a:t>）：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3438" name="Text Box 46"/>
              <p:cNvSpPr txBox="1">
                <a:spLocks noChangeArrowheads="1"/>
              </p:cNvSpPr>
              <p:nvPr/>
            </p:nvSpPr>
            <p:spPr bwMode="auto">
              <a:xfrm>
                <a:off x="959855" y="5445224"/>
                <a:ext cx="7560840" cy="10988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1" i="1" smtClean="0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kumimoji="1" lang="en-US" altLang="zh-CN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sz="24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kumimoji="1" lang="en-US" altLang="zh-CN" sz="24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kumimoji="1" lang="en-US" altLang="zh-CN" sz="2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kumimoji="1" lang="en-US" altLang="zh-CN" sz="24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sSub>
                            <m:sSubPr>
                              <m:ctrlPr>
                                <a:rPr kumimoji="1" lang="en-US" altLang="zh-CN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400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e>
                            <m:sub>
                              <m:r>
                                <a:rPr kumimoji="1" lang="en-US" altLang="zh-CN" sz="2400" b="1" i="1" smtClean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  <m:r>
                            <a:rPr kumimoji="1" lang="en-US" altLang="zh-CN" sz="24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hr m:val="∑"/>
                              <m:ctrlPr>
                                <a:rPr kumimoji="1" lang="en-US" altLang="zh-CN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kumimoji="1" lang="en-US" altLang="zh-CN" sz="2400" b="1" i="1" smtClean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  <m:r>
                                <a:rPr kumimoji="1" lang="en-US" altLang="zh-CN" sz="2400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kumimoji="1" lang="en-US" altLang="zh-CN" sz="24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kumimoji="1" lang="en-US" altLang="zh-CN" sz="24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p>
                            <m:e>
                              <m:f>
                                <m:fPr>
                                  <m:ctrlPr>
                                    <a:rPr kumimoji="1" lang="en-US" altLang="zh-CN" sz="2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zh-CN" sz="2400" b="1" i="1" smtClean="0">
                                      <a:latin typeface="Cambria Math" panose="02040503050406030204" pitchFamily="18" charset="0"/>
                                    </a:rPr>
                                    <m:t>𝒖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kumimoji="1" lang="en-US" altLang="zh-CN" sz="24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zh-CN" sz="2400" b="1" i="1" smtClean="0">
                                          <a:latin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kumimoji="1" lang="en-US" altLang="zh-CN" sz="2400" b="1" i="1" smtClean="0">
                                          <a:latin typeface="Cambria Math" panose="02040503050406030204" pitchFamily="18" charset="0"/>
                                        </a:rPr>
                                        <m:t>𝒌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kumimoji="1" lang="en-US" altLang="zh-CN" sz="2400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d>
                                <m:dPr>
                                  <m:ctrlPr>
                                    <a:rPr kumimoji="1" lang="en-US" altLang="zh-CN" sz="2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ctrlPr>
                                        <a:rPr kumimoji="1" lang="en-US" altLang="zh-CN" sz="24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23"/>
                                        </m:rPr>
                                        <a:rPr kumimoji="1" lang="en-US" altLang="zh-CN" sz="2400" b="1" i="1" smtClean="0">
                                          <a:latin typeface="Cambria Math" panose="02040503050406030204" pitchFamily="18" charset="0"/>
                                        </a:rPr>
                                        <m:t>𝒌</m:t>
                                      </m:r>
                                      <m:r>
                                        <a:rPr kumimoji="1" lang="en-US" altLang="zh-CN" sz="2400" b="1" i="1" smtClean="0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a:rPr kumimoji="1" lang="en-US" altLang="zh-CN" sz="2400" b="1" i="1" smtClean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  <m:sup>
                                      <m:r>
                                        <a:rPr kumimoji="1" lang="en-US" altLang="zh-CN" sz="2400" b="1" i="1" smtClean="0">
                                          <a:latin typeface="Cambria Math" panose="02040503050406030204" pitchFamily="18" charset="0"/>
                                        </a:rPr>
                                        <m:t>𝒏</m:t>
                                      </m:r>
                                    </m:sup>
                                    <m:e>
                                      <m:f>
                                        <m:fPr>
                                          <m:ctrlPr>
                                            <a:rPr kumimoji="1" lang="en-US" altLang="zh-CN" sz="2400" b="1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kumimoji="1" lang="en-US" altLang="zh-CN" sz="2400" b="1" i="1" smtClean="0"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kumimoji="1" lang="en-US" altLang="zh-CN" sz="2400" b="1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kumimoji="1" lang="en-US" altLang="zh-CN" sz="2400" b="1" i="1" smtClean="0">
                                                  <a:latin typeface="Cambria Math" panose="02040503050406030204" pitchFamily="18" charset="0"/>
                                                </a:rPr>
                                                <m:t>𝑹</m:t>
                                              </m:r>
                                            </m:e>
                                            <m:sub>
                                              <m:r>
                                                <a:rPr kumimoji="1" lang="en-US" altLang="zh-CN" sz="2400" b="1" i="1" smtClean="0">
                                                  <a:latin typeface="Cambria Math" panose="02040503050406030204" pitchFamily="18" charset="0"/>
                                                </a:rPr>
                                                <m:t>𝒌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nary>
                                </m:e>
                              </m:d>
                              <m:r>
                                <a:rPr kumimoji="1" lang="en-US" altLang="zh-CN" sz="2400" b="1" i="1" smtClean="0"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  <m:r>
                                <a:rPr kumimoji="1" lang="en-US" altLang="zh-CN" sz="2400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d>
                                <m:dPr>
                                  <m:ctrlPr>
                                    <a:rPr kumimoji="1" lang="en-US" altLang="zh-CN" sz="2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ctrlPr>
                                        <a:rPr kumimoji="1" lang="en-US" altLang="zh-CN" sz="24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23"/>
                                        </m:rPr>
                                        <a:rPr kumimoji="1" lang="en-US" altLang="zh-CN" sz="2400" b="1" i="1" smtClean="0">
                                          <a:latin typeface="Cambria Math" panose="02040503050406030204" pitchFamily="18" charset="0"/>
                                        </a:rPr>
                                        <m:t>𝒌</m:t>
                                      </m:r>
                                      <m:r>
                                        <a:rPr kumimoji="1" lang="en-US" altLang="zh-CN" sz="2400" b="1" i="1" smtClean="0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a:rPr kumimoji="1" lang="en-US" altLang="zh-CN" sz="2400" b="1" i="1" smtClean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  <m:sup>
                                      <m:r>
                                        <a:rPr kumimoji="1" lang="en-US" altLang="zh-CN" sz="2400" b="1" i="1" smtClean="0">
                                          <a:latin typeface="Cambria Math" panose="02040503050406030204" pitchFamily="18" charset="0"/>
                                        </a:rPr>
                                        <m:t>𝒏</m:t>
                                      </m:r>
                                    </m:sup>
                                    <m:e>
                                      <m:sSub>
                                        <m:sSubPr>
                                          <m:ctrlPr>
                                            <a:rPr kumimoji="1" lang="en-US" altLang="zh-CN" sz="2400" b="1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US" altLang="zh-CN" sz="2400" b="1" i="1" smtClean="0">
                                              <a:latin typeface="Cambria Math" panose="02040503050406030204" pitchFamily="18" charset="0"/>
                                            </a:rPr>
                                            <m:t>𝑮</m:t>
                                          </m:r>
                                        </m:e>
                                        <m:sub>
                                          <m:r>
                                            <a:rPr kumimoji="1" lang="en-US" altLang="zh-CN" sz="2400" b="1" i="1" smtClean="0">
                                              <a:latin typeface="Cambria Math" panose="02040503050406030204" pitchFamily="18" charset="0"/>
                                            </a:rPr>
                                            <m:t>𝒌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  <m:r>
                                <a:rPr kumimoji="1" lang="en-US" altLang="zh-CN" sz="2400" b="1" i="1" smtClean="0"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kumimoji="1" lang="en-US" altLang="zh-CN" sz="2400" b="1" i="1" baseline="-25000" dirty="0"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43438" name="Text 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59855" y="5445224"/>
                <a:ext cx="7560840" cy="109889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0133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33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33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443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434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434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43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434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434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434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12" presetClass="entr" presetSubtype="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5" dur="500"/>
                                        <p:tgtEl>
                                          <p:spTgt spid="443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3396" grpId="0" autoUpdateAnimBg="0"/>
      <p:bldP spid="443435" grpId="0" autoUpdateAnimBg="0"/>
      <p:bldP spid="443436" grpId="0" autoUpdateAnimBg="0"/>
      <p:bldP spid="443437" grpId="0" autoUpdateAnimBg="0"/>
      <p:bldP spid="443438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5444" name="Group 4"/>
          <p:cNvGrpSpPr>
            <a:grpSpLocks/>
          </p:cNvGrpSpPr>
          <p:nvPr/>
        </p:nvGrpSpPr>
        <p:grpSpPr bwMode="auto">
          <a:xfrm>
            <a:off x="5951538" y="2179638"/>
            <a:ext cx="990600" cy="762000"/>
            <a:chOff x="3648" y="1008"/>
            <a:chExt cx="624" cy="480"/>
          </a:xfrm>
        </p:grpSpPr>
        <p:sp>
          <p:nvSpPr>
            <p:cNvPr id="445445" name="AutoShape 5"/>
            <p:cNvSpPr>
              <a:spLocks noChangeArrowheads="1"/>
            </p:cNvSpPr>
            <p:nvPr/>
          </p:nvSpPr>
          <p:spPr bwMode="auto">
            <a:xfrm>
              <a:off x="3648" y="1200"/>
              <a:ext cx="624" cy="288"/>
            </a:xfrm>
            <a:prstGeom prst="rightArrow">
              <a:avLst>
                <a:gd name="adj1" fmla="val 50000"/>
                <a:gd name="adj2" fmla="val 541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5446" name="Text Box 6"/>
            <p:cNvSpPr txBox="1">
              <a:spLocks noChangeArrowheads="1"/>
            </p:cNvSpPr>
            <p:nvPr/>
          </p:nvSpPr>
          <p:spPr bwMode="auto">
            <a:xfrm>
              <a:off x="3648" y="1008"/>
              <a:ext cx="5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>
                  <a:latin typeface="Times New Roman" panose="02020603050405020304" pitchFamily="18" charset="0"/>
                </a:rPr>
                <a:t>等效</a:t>
              </a:r>
            </a:p>
          </p:txBody>
        </p:sp>
      </p:grpSp>
      <p:sp>
        <p:nvSpPr>
          <p:cNvPr id="445447" name="Text Box 7"/>
          <p:cNvSpPr txBox="1">
            <a:spLocks noChangeArrowheads="1"/>
          </p:cNvSpPr>
          <p:nvPr/>
        </p:nvSpPr>
        <p:spPr bwMode="auto">
          <a:xfrm>
            <a:off x="1398588" y="379888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>
                <a:latin typeface="Times New Roman" panose="02020603050405020304" pitchFamily="18" charset="0"/>
              </a:rPr>
              <a:t>由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KCL</a:t>
            </a:r>
          </a:p>
        </p:txBody>
      </p:sp>
      <p:sp>
        <p:nvSpPr>
          <p:cNvPr id="445448" name="Text Box 8"/>
          <p:cNvSpPr txBox="1">
            <a:spLocks noChangeArrowheads="1"/>
          </p:cNvSpPr>
          <p:nvPr/>
        </p:nvSpPr>
        <p:spPr bwMode="auto">
          <a:xfrm>
            <a:off x="3303588" y="3817938"/>
            <a:ext cx="464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i="1" dirty="0" err="1"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i="1" dirty="0">
                <a:latin typeface="Times New Roman" panose="02020603050405020304" pitchFamily="18" charset="0"/>
              </a:rPr>
              <a:t> = i</a:t>
            </a:r>
            <a:r>
              <a:rPr kumimoji="1" lang="en-US" altLang="zh-CN" sz="2400" b="1" baseline="-25000" dirty="0">
                <a:latin typeface="Times New Roman" panose="02020603050405020304" pitchFamily="18" charset="0"/>
              </a:rPr>
              <a:t>1</a:t>
            </a:r>
            <a:r>
              <a:rPr kumimoji="1" lang="en-US" altLang="zh-CN" sz="2400" b="1" i="1" dirty="0">
                <a:latin typeface="Times New Roman" panose="02020603050405020304" pitchFamily="18" charset="0"/>
              </a:rPr>
              <a:t>+ i</a:t>
            </a:r>
            <a:r>
              <a:rPr kumimoji="1" lang="en-US" altLang="zh-CN" sz="2400" b="1" baseline="-25000" dirty="0">
                <a:latin typeface="Times New Roman" panose="02020603050405020304" pitchFamily="18" charset="0"/>
              </a:rPr>
              <a:t>2</a:t>
            </a:r>
            <a:r>
              <a:rPr kumimoji="1" lang="en-US" altLang="zh-CN" sz="2400" b="1" i="1" dirty="0">
                <a:latin typeface="Times New Roman" panose="02020603050405020304" pitchFamily="18" charset="0"/>
              </a:rPr>
              <a:t>+</a:t>
            </a:r>
            <a:r>
              <a:rPr kumimoji="1" lang="en-US" altLang="zh-CN" sz="2400" b="1" i="1" dirty="0">
                <a:latin typeface="Times New Roman" panose="02020603050405020304" pitchFamily="18" charset="0"/>
                <a:sym typeface="Math4" pitchFamily="2" charset="2"/>
              </a:rPr>
              <a:t> </a:t>
            </a:r>
            <a:r>
              <a:rPr kumimoji="1" lang="en-US" altLang="zh-CN" sz="2400" b="1" dirty="0">
                <a:latin typeface="Times New Roman" panose="02020603050405020304" pitchFamily="18" charset="0"/>
                <a:sym typeface="MT Extra" panose="05050102010205020202" pitchFamily="18" charset="2"/>
              </a:rPr>
              <a:t></a:t>
            </a:r>
            <a:r>
              <a:rPr kumimoji="1" lang="en-US" altLang="zh-CN" sz="2400" b="1" i="1" dirty="0">
                <a:latin typeface="Times New Roman" panose="02020603050405020304" pitchFamily="18" charset="0"/>
                <a:sym typeface="Math4" pitchFamily="2" charset="2"/>
              </a:rPr>
              <a:t> </a:t>
            </a:r>
            <a:r>
              <a:rPr kumimoji="1" lang="en-US" altLang="zh-CN" sz="2400" b="1" i="1" dirty="0">
                <a:latin typeface="Times New Roman" panose="02020603050405020304" pitchFamily="18" charset="0"/>
              </a:rPr>
              <a:t>+ </a:t>
            </a:r>
            <a:r>
              <a:rPr kumimoji="1" lang="en-US" altLang="zh-CN" sz="2400" b="1" i="1" dirty="0" err="1"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i="1" baseline="-25000" dirty="0" err="1">
                <a:latin typeface="Times New Roman" panose="02020603050405020304" pitchFamily="18" charset="0"/>
              </a:rPr>
              <a:t>k</a:t>
            </a:r>
            <a:r>
              <a:rPr kumimoji="1" lang="en-US" altLang="zh-CN" sz="2400" b="1" i="1" dirty="0">
                <a:latin typeface="Times New Roman" panose="02020603050405020304" pitchFamily="18" charset="0"/>
              </a:rPr>
              <a:t>+ </a:t>
            </a:r>
            <a:r>
              <a:rPr kumimoji="1" lang="en-US" altLang="zh-CN" sz="2400" b="1" dirty="0">
                <a:latin typeface="Times New Roman" panose="02020603050405020304" pitchFamily="18" charset="0"/>
                <a:sym typeface="MT Extra" panose="05050102010205020202" pitchFamily="18" charset="2"/>
              </a:rPr>
              <a:t></a:t>
            </a:r>
            <a:r>
              <a:rPr kumimoji="1" lang="en-US" altLang="zh-CN" sz="2400" b="1" i="1" dirty="0">
                <a:latin typeface="Times New Roman" panose="02020603050405020304" pitchFamily="18" charset="0"/>
              </a:rPr>
              <a:t> +i</a:t>
            </a:r>
            <a:r>
              <a:rPr kumimoji="1" lang="en-US" altLang="zh-CN" sz="2400" b="1" i="1" baseline="-25000" dirty="0">
                <a:latin typeface="Times New Roman" panose="02020603050405020304" pitchFamily="18" charset="0"/>
              </a:rPr>
              <a:t>n</a:t>
            </a:r>
            <a:r>
              <a:rPr kumimoji="1" lang="en-US" altLang="zh-CN" sz="2400" b="1" i="1" dirty="0">
                <a:latin typeface="Times New Roman" panose="02020603050405020304" pitchFamily="18" charset="0"/>
              </a:rPr>
              <a:t>= u G</a:t>
            </a:r>
            <a:r>
              <a:rPr kumimoji="1" lang="en-US" altLang="zh-CN" sz="2400" b="1" baseline="-25000" dirty="0">
                <a:latin typeface="Times New Roman" panose="02020603050405020304" pitchFamily="18" charset="0"/>
              </a:rPr>
              <a:t>eq</a:t>
            </a:r>
          </a:p>
        </p:txBody>
      </p:sp>
      <p:sp>
        <p:nvSpPr>
          <p:cNvPr id="445449" name="Text Box 9"/>
          <p:cNvSpPr txBox="1">
            <a:spLocks noChangeArrowheads="1"/>
          </p:cNvSpPr>
          <p:nvPr/>
        </p:nvSpPr>
        <p:spPr bwMode="auto">
          <a:xfrm>
            <a:off x="722313" y="4332288"/>
            <a:ext cx="91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>
                <a:latin typeface="Times New Roman" panose="02020603050405020304" pitchFamily="18" charset="0"/>
              </a:rPr>
              <a:t>故有</a:t>
            </a:r>
          </a:p>
        </p:txBody>
      </p:sp>
      <p:sp>
        <p:nvSpPr>
          <p:cNvPr id="445450" name="Text Box 10"/>
          <p:cNvSpPr txBox="1">
            <a:spLocks noChangeArrowheads="1"/>
          </p:cNvSpPr>
          <p:nvPr/>
        </p:nvSpPr>
        <p:spPr bwMode="auto">
          <a:xfrm>
            <a:off x="1493838" y="4332288"/>
            <a:ext cx="7486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i="1">
                <a:latin typeface="Times New Roman" panose="02020603050405020304" pitchFamily="18" charset="0"/>
              </a:rPr>
              <a:t>uG</a:t>
            </a:r>
            <a:r>
              <a:rPr kumimoji="1" lang="en-US" altLang="zh-CN" sz="2400" b="1" baseline="-25000">
                <a:latin typeface="Times New Roman" panose="02020603050405020304" pitchFamily="18" charset="0"/>
              </a:rPr>
              <a:t>eq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= i = uG</a:t>
            </a:r>
            <a:r>
              <a:rPr kumimoji="1" lang="en-US" altLang="zh-CN" sz="2400" b="1" baseline="-25000">
                <a:latin typeface="Times New Roman" panose="02020603050405020304" pitchFamily="18" charset="0"/>
              </a:rPr>
              <a:t>1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 +uG</a:t>
            </a:r>
            <a:r>
              <a:rPr kumimoji="1" lang="en-US" altLang="zh-CN" sz="2400" b="1" baseline="-25000">
                <a:latin typeface="Times New Roman" panose="02020603050405020304" pitchFamily="18" charset="0"/>
              </a:rPr>
              <a:t>2</a:t>
            </a:r>
            <a:r>
              <a:rPr kumimoji="1" lang="en-US" altLang="zh-CN" sz="2400" b="1"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+</a:t>
            </a:r>
            <a:r>
              <a:rPr kumimoji="1" lang="en-US" altLang="zh-CN" sz="2400" b="1" i="1">
                <a:latin typeface="Times New Roman" panose="02020603050405020304" pitchFamily="18" charset="0"/>
                <a:sym typeface="Math4" pitchFamily="2" charset="2"/>
              </a:rPr>
              <a:t> </a:t>
            </a:r>
            <a:r>
              <a:rPr kumimoji="1" lang="en-US" altLang="zh-CN" sz="2400" b="1">
                <a:latin typeface="Times New Roman" panose="02020603050405020304" pitchFamily="18" charset="0"/>
                <a:sym typeface="MT Extra" panose="05050102010205020202" pitchFamily="18" charset="2"/>
              </a:rPr>
              <a:t></a:t>
            </a:r>
            <a:r>
              <a:rPr kumimoji="1" lang="en-US" altLang="zh-CN" sz="2400" b="1" i="1">
                <a:latin typeface="Times New Roman" panose="02020603050405020304" pitchFamily="18" charset="0"/>
                <a:sym typeface="Math4" pitchFamily="2" charset="2"/>
              </a:rPr>
              <a:t> 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+uG</a:t>
            </a:r>
            <a:r>
              <a:rPr kumimoji="1" lang="en-US" altLang="zh-CN" sz="2400" b="1" i="1" baseline="-25000">
                <a:latin typeface="Times New Roman" panose="02020603050405020304" pitchFamily="18" charset="0"/>
              </a:rPr>
              <a:t>n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=u</a:t>
            </a:r>
            <a:r>
              <a:rPr kumimoji="1" lang="zh-CN" altLang="en-US" sz="2400" b="1">
                <a:latin typeface="Times New Roman" panose="02020603050405020304" pitchFamily="18" charset="0"/>
              </a:rPr>
              <a:t>（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G</a:t>
            </a:r>
            <a:r>
              <a:rPr kumimoji="1" lang="en-US" altLang="zh-CN" sz="2400" b="1" baseline="-25000">
                <a:latin typeface="Times New Roman" panose="02020603050405020304" pitchFamily="18" charset="0"/>
              </a:rPr>
              <a:t>1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+G</a:t>
            </a:r>
            <a:r>
              <a:rPr kumimoji="1" lang="en-US" altLang="zh-CN" sz="2400" b="1" baseline="-25000">
                <a:latin typeface="Times New Roman" panose="02020603050405020304" pitchFamily="18" charset="0"/>
              </a:rPr>
              <a:t>2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+ </a:t>
            </a:r>
            <a:r>
              <a:rPr kumimoji="1" lang="en-US" altLang="zh-CN" sz="2400" b="1">
                <a:latin typeface="Times New Roman" panose="02020603050405020304" pitchFamily="18" charset="0"/>
                <a:sym typeface="MT Extra" panose="05050102010205020202" pitchFamily="18" charset="2"/>
              </a:rPr>
              <a:t></a:t>
            </a:r>
            <a:r>
              <a:rPr kumimoji="1" lang="en-US" altLang="zh-CN" sz="2400" b="1" i="1">
                <a:latin typeface="Times New Roman" panose="02020603050405020304" pitchFamily="18" charset="0"/>
                <a:sym typeface="Math4" pitchFamily="2" charset="2"/>
              </a:rPr>
              <a:t> 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+G</a:t>
            </a:r>
            <a:r>
              <a:rPr kumimoji="1" lang="en-US" altLang="zh-CN" sz="2400" b="1" i="1" baseline="-25000">
                <a:latin typeface="Times New Roman" panose="02020603050405020304" pitchFamily="18" charset="0"/>
              </a:rPr>
              <a:t>n</a:t>
            </a:r>
            <a:r>
              <a:rPr kumimoji="1" lang="zh-CN" altLang="en-US" sz="2400" b="1">
                <a:latin typeface="Times New Roman" panose="02020603050405020304" pitchFamily="18" charset="0"/>
              </a:rPr>
              <a:t>）</a:t>
            </a:r>
          </a:p>
        </p:txBody>
      </p:sp>
      <p:sp>
        <p:nvSpPr>
          <p:cNvPr id="445451" name="Text Box 11"/>
          <p:cNvSpPr txBox="1">
            <a:spLocks noChangeArrowheads="1"/>
          </p:cNvSpPr>
          <p:nvPr/>
        </p:nvSpPr>
        <p:spPr bwMode="auto">
          <a:xfrm>
            <a:off x="722313" y="5056188"/>
            <a:ext cx="5413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>
                <a:latin typeface="Times New Roman" panose="02020603050405020304" pitchFamily="18" charset="0"/>
              </a:rPr>
              <a:t>即</a:t>
            </a:r>
          </a:p>
        </p:txBody>
      </p:sp>
      <p:sp>
        <p:nvSpPr>
          <p:cNvPr id="445452" name="Text Box 12"/>
          <p:cNvSpPr txBox="1">
            <a:spLocks noChangeArrowheads="1"/>
          </p:cNvSpPr>
          <p:nvPr/>
        </p:nvSpPr>
        <p:spPr bwMode="auto">
          <a:xfrm>
            <a:off x="795337" y="987425"/>
            <a:ext cx="564886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Times New Roman" panose="02020603050405020304" pitchFamily="18" charset="0"/>
              </a:rPr>
              <a:t>设 </a:t>
            </a:r>
            <a:r>
              <a:rPr kumimoji="1" lang="en-US" altLang="zh-CN" sz="2400" b="1" i="1" dirty="0" err="1">
                <a:latin typeface="Times New Roman" panose="02020603050405020304" pitchFamily="18" charset="0"/>
              </a:rPr>
              <a:t>G</a:t>
            </a:r>
            <a:r>
              <a:rPr kumimoji="1" lang="en-US" altLang="zh-CN" sz="2400" b="1" i="1" baseline="-25000" dirty="0" err="1">
                <a:latin typeface="Times New Roman" panose="02020603050405020304" pitchFamily="18" charset="0"/>
              </a:rPr>
              <a:t>k</a:t>
            </a:r>
            <a:r>
              <a:rPr kumimoji="1" lang="en-US" altLang="zh-CN" sz="2400" b="1" i="1" dirty="0">
                <a:latin typeface="Times New Roman" panose="02020603050405020304" pitchFamily="18" charset="0"/>
              </a:rPr>
              <a:t> =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1 </a:t>
            </a:r>
            <a:r>
              <a:rPr kumimoji="1" lang="en-US" altLang="zh-CN" sz="2400" b="1" i="1" dirty="0">
                <a:latin typeface="Times New Roman" panose="02020603050405020304" pitchFamily="18" charset="0"/>
              </a:rPr>
              <a:t>/ </a:t>
            </a:r>
            <a:r>
              <a:rPr kumimoji="1" lang="en-US" altLang="zh-CN" sz="2400" b="1" i="1" dirty="0" err="1">
                <a:latin typeface="Times New Roman" panose="02020603050405020304" pitchFamily="18" charset="0"/>
              </a:rPr>
              <a:t>R</a:t>
            </a:r>
            <a:r>
              <a:rPr kumimoji="1" lang="en-US" altLang="zh-CN" sz="2400" b="1" i="1" baseline="-25000" dirty="0" err="1">
                <a:latin typeface="Times New Roman" panose="02020603050405020304" pitchFamily="18" charset="0"/>
              </a:rPr>
              <a:t>k</a:t>
            </a:r>
            <a:r>
              <a:rPr kumimoji="1" lang="en-US" altLang="zh-CN" sz="2400" b="1" i="1" dirty="0">
                <a:latin typeface="Times New Roman" panose="02020603050405020304" pitchFamily="18" charset="0"/>
              </a:rPr>
              <a:t>     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（</a:t>
            </a:r>
            <a:r>
              <a:rPr kumimoji="1" lang="en-US" altLang="zh-CN" sz="2400" b="1" i="1" dirty="0">
                <a:latin typeface="Times New Roman" panose="02020603050405020304" pitchFamily="18" charset="0"/>
              </a:rPr>
              <a:t>k 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= 1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， 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2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， </a:t>
            </a:r>
            <a:r>
              <a:rPr kumimoji="1" lang="en-US" altLang="zh-CN" sz="2400" b="1" dirty="0">
                <a:latin typeface="宋体" panose="02010600030101010101" pitchFamily="2" charset="-122"/>
                <a:sym typeface="Symbol" panose="05050102010706020507" pitchFamily="18" charset="2"/>
              </a:rPr>
              <a:t>…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，</a:t>
            </a: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）</a:t>
            </a:r>
          </a:p>
        </p:txBody>
      </p:sp>
      <p:sp>
        <p:nvSpPr>
          <p:cNvPr id="445453" name="Text Box 13"/>
          <p:cNvSpPr txBox="1">
            <a:spLocks noChangeArrowheads="1"/>
          </p:cNvSpPr>
          <p:nvPr/>
        </p:nvSpPr>
        <p:spPr bwMode="auto">
          <a:xfrm>
            <a:off x="1593850" y="5021263"/>
            <a:ext cx="6502400" cy="457200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50000">
                <a:srgbClr val="FFFFFF"/>
              </a:gs>
              <a:gs pos="100000">
                <a:schemeClr val="accent1"/>
              </a:gs>
            </a:gsLst>
            <a:lin ang="18900000" scaled="1"/>
          </a:gradFill>
          <a:ln>
            <a:noFill/>
          </a:ln>
          <a:effectLst>
            <a:outerShdw dist="107763" dir="135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G</a:t>
            </a:r>
            <a:r>
              <a:rPr kumimoji="1" lang="en-US" altLang="zh-CN" sz="2400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eq</a:t>
            </a:r>
            <a:r>
              <a:rPr kumimoji="1"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=G</a:t>
            </a:r>
            <a:r>
              <a:rPr kumimoji="1" lang="en-US" altLang="zh-CN" sz="2400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kumimoji="1"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+G</a:t>
            </a:r>
            <a:r>
              <a:rPr kumimoji="1" lang="en-US" altLang="zh-CN" sz="2400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kumimoji="1"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+ 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sym typeface="MT Extra" panose="05050102010205020202" pitchFamily="18" charset="2"/>
              </a:rPr>
              <a:t></a:t>
            </a:r>
            <a:r>
              <a:rPr kumimoji="1" lang="en-US" altLang="zh-CN" sz="2400" b="1" i="1" dirty="0">
                <a:latin typeface="Times New Roman" panose="02020603050405020304" pitchFamily="18" charset="0"/>
                <a:sym typeface="Math4" pitchFamily="2" charset="2"/>
              </a:rPr>
              <a:t> </a:t>
            </a:r>
            <a:r>
              <a:rPr kumimoji="1"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+</a:t>
            </a:r>
            <a:r>
              <a:rPr kumimoji="1" lang="en-US" altLang="zh-CN" sz="2400" b="1" i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G</a:t>
            </a:r>
            <a:r>
              <a:rPr kumimoji="1" lang="en-US" altLang="zh-CN" sz="2400" b="1" i="1" baseline="-25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k</a:t>
            </a:r>
            <a:r>
              <a:rPr kumimoji="1"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+ 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sym typeface="MT Extra" panose="05050102010205020202" pitchFamily="18" charset="2"/>
              </a:rPr>
              <a:t></a:t>
            </a:r>
            <a:r>
              <a:rPr kumimoji="1" lang="en-US" altLang="zh-CN" sz="2400" b="1" i="1" dirty="0">
                <a:latin typeface="Times New Roman" panose="02020603050405020304" pitchFamily="18" charset="0"/>
                <a:sym typeface="Math4" pitchFamily="2" charset="2"/>
              </a:rPr>
              <a:t> </a:t>
            </a:r>
            <a:r>
              <a:rPr kumimoji="1"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+</a:t>
            </a:r>
            <a:r>
              <a:rPr kumimoji="1" lang="en-US" altLang="zh-CN" sz="2400" b="1" i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G</a:t>
            </a:r>
            <a:r>
              <a:rPr kumimoji="1" lang="en-US" altLang="zh-CN" sz="2400" b="1" i="1" baseline="-25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= 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</a:t>
            </a:r>
            <a:r>
              <a:rPr kumimoji="1"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2400" b="1" i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G</a:t>
            </a:r>
            <a:r>
              <a:rPr kumimoji="1" lang="en-US" altLang="zh-CN" sz="2400" b="1" i="1" baseline="-25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k</a:t>
            </a:r>
            <a:r>
              <a:rPr kumimoji="1" lang="en-US" altLang="zh-CN" sz="2400" b="1" i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= 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 1</a:t>
            </a:r>
            <a:r>
              <a:rPr kumimoji="1"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/</a:t>
            </a:r>
            <a:r>
              <a:rPr kumimoji="1" lang="en-US" altLang="zh-CN" sz="2400" b="1" i="1" dirty="0" err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kumimoji="1" lang="en-US" altLang="zh-CN" sz="2400" b="1" i="1" baseline="-25000" dirty="0" err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k</a:t>
            </a:r>
            <a:endParaRPr kumimoji="1" lang="en-US" altLang="zh-CN" sz="2400" b="1" i="1" baseline="-25000" dirty="0">
              <a:solidFill>
                <a:srgbClr val="FF000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445454" name="Text Box 14"/>
          <p:cNvSpPr txBox="1">
            <a:spLocks noChangeArrowheads="1"/>
          </p:cNvSpPr>
          <p:nvPr/>
        </p:nvSpPr>
        <p:spPr bwMode="auto">
          <a:xfrm>
            <a:off x="431800" y="404813"/>
            <a:ext cx="65738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8000"/>
                </a:solidFill>
                <a:latin typeface="Times New Roman" panose="02020603050405020304" pitchFamily="18" charset="0"/>
              </a:rPr>
              <a:t>（</a:t>
            </a:r>
            <a:r>
              <a:rPr kumimoji="1" lang="en-US" altLang="zh-CN" sz="2400" b="1" dirty="0">
                <a:solidFill>
                  <a:srgbClr val="008000"/>
                </a:solidFill>
                <a:latin typeface="Times New Roman" panose="02020603050405020304" pitchFamily="18" charset="0"/>
              </a:rPr>
              <a:t>2</a:t>
            </a:r>
            <a:r>
              <a:rPr kumimoji="1" lang="zh-CN" altLang="en-US" sz="2400" b="1" dirty="0">
                <a:solidFill>
                  <a:srgbClr val="008000"/>
                </a:solidFill>
                <a:latin typeface="Times New Roman" panose="02020603050405020304" pitchFamily="18" charset="0"/>
              </a:rPr>
              <a:t>） 等效电导（</a:t>
            </a:r>
            <a:r>
              <a:rPr kumimoji="1" lang="en-US" altLang="zh-CN" sz="2400" b="1" i="1" dirty="0">
                <a:solidFill>
                  <a:srgbClr val="008000"/>
                </a:solidFill>
                <a:latin typeface="Times New Roman" panose="02020603050405020304" pitchFamily="18" charset="0"/>
              </a:rPr>
              <a:t>equivalent conductance</a:t>
            </a:r>
            <a:r>
              <a:rPr kumimoji="1" lang="zh-CN" altLang="en-US" sz="2400" b="1" dirty="0">
                <a:solidFill>
                  <a:srgbClr val="008000"/>
                </a:solidFill>
                <a:latin typeface="Times New Roman" panose="02020603050405020304" pitchFamily="18" charset="0"/>
              </a:rPr>
              <a:t>）</a:t>
            </a:r>
            <a:r>
              <a:rPr kumimoji="1" lang="en-US" altLang="zh-CN" sz="2400" b="1" i="1" dirty="0">
                <a:solidFill>
                  <a:srgbClr val="008000"/>
                </a:solidFill>
                <a:latin typeface="Times New Roman" panose="02020603050405020304" pitchFamily="18" charset="0"/>
              </a:rPr>
              <a:t>G</a:t>
            </a:r>
            <a:r>
              <a:rPr kumimoji="1" lang="en-US" altLang="zh-CN" sz="2400" b="1" baseline="-25000" dirty="0">
                <a:solidFill>
                  <a:srgbClr val="008000"/>
                </a:solidFill>
                <a:latin typeface="Times New Roman" panose="02020603050405020304" pitchFamily="18" charset="0"/>
              </a:rPr>
              <a:t>eq</a:t>
            </a:r>
          </a:p>
        </p:txBody>
      </p:sp>
      <p:grpSp>
        <p:nvGrpSpPr>
          <p:cNvPr id="445455" name="Group 15"/>
          <p:cNvGrpSpPr>
            <a:grpSpLocks/>
          </p:cNvGrpSpPr>
          <p:nvPr/>
        </p:nvGrpSpPr>
        <p:grpSpPr bwMode="auto">
          <a:xfrm>
            <a:off x="7018338" y="1231900"/>
            <a:ext cx="1981200" cy="2241550"/>
            <a:chOff x="4272" y="288"/>
            <a:chExt cx="1248" cy="1412"/>
          </a:xfrm>
        </p:grpSpPr>
        <p:sp>
          <p:nvSpPr>
            <p:cNvPr id="445456" name="Text Box 16"/>
            <p:cNvSpPr txBox="1">
              <a:spLocks noChangeArrowheads="1"/>
            </p:cNvSpPr>
            <p:nvPr/>
          </p:nvSpPr>
          <p:spPr bwMode="auto">
            <a:xfrm>
              <a:off x="5088" y="1008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i="1" dirty="0">
                  <a:latin typeface="Times New Roman" panose="02020603050405020304" pitchFamily="18" charset="0"/>
                </a:rPr>
                <a:t>G</a:t>
              </a:r>
              <a:r>
                <a:rPr kumimoji="1" lang="en-US" altLang="zh-CN" sz="2400" b="1" baseline="-25000" dirty="0">
                  <a:latin typeface="Times New Roman" panose="02020603050405020304" pitchFamily="18" charset="0"/>
                </a:rPr>
                <a:t>eq</a:t>
              </a:r>
            </a:p>
          </p:txBody>
        </p:sp>
        <p:sp>
          <p:nvSpPr>
            <p:cNvPr id="445457" name="Freeform 17"/>
            <p:cNvSpPr>
              <a:spLocks/>
            </p:cNvSpPr>
            <p:nvPr/>
          </p:nvSpPr>
          <p:spPr bwMode="auto">
            <a:xfrm>
              <a:off x="4443" y="705"/>
              <a:ext cx="597" cy="2"/>
            </a:xfrm>
            <a:custGeom>
              <a:avLst/>
              <a:gdLst>
                <a:gd name="T0" fmla="*/ 0 w 597"/>
                <a:gd name="T1" fmla="*/ 0 h 2"/>
                <a:gd name="T2" fmla="*/ 597 w 597"/>
                <a:gd name="T3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97" h="2">
                  <a:moveTo>
                    <a:pt x="0" y="0"/>
                  </a:moveTo>
                  <a:lnTo>
                    <a:pt x="597" y="2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5458" name="Freeform 18"/>
            <p:cNvSpPr>
              <a:spLocks/>
            </p:cNvSpPr>
            <p:nvPr/>
          </p:nvSpPr>
          <p:spPr bwMode="auto">
            <a:xfrm>
              <a:off x="4479" y="1667"/>
              <a:ext cx="561" cy="1"/>
            </a:xfrm>
            <a:custGeom>
              <a:avLst/>
              <a:gdLst>
                <a:gd name="T0" fmla="*/ 0 w 561"/>
                <a:gd name="T1" fmla="*/ 1 h 1"/>
                <a:gd name="T2" fmla="*/ 561 w 561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61" h="1">
                  <a:moveTo>
                    <a:pt x="0" y="1"/>
                  </a:moveTo>
                  <a:lnTo>
                    <a:pt x="561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5459" name="Freeform 19"/>
            <p:cNvSpPr>
              <a:spLocks/>
            </p:cNvSpPr>
            <p:nvPr/>
          </p:nvSpPr>
          <p:spPr bwMode="auto">
            <a:xfrm>
              <a:off x="5040" y="702"/>
              <a:ext cx="3" cy="966"/>
            </a:xfrm>
            <a:custGeom>
              <a:avLst/>
              <a:gdLst>
                <a:gd name="T0" fmla="*/ 0 w 3"/>
                <a:gd name="T1" fmla="*/ 0 h 966"/>
                <a:gd name="T2" fmla="*/ 3 w 3"/>
                <a:gd name="T3" fmla="*/ 966 h 9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" h="966">
                  <a:moveTo>
                    <a:pt x="0" y="0"/>
                  </a:moveTo>
                  <a:lnTo>
                    <a:pt x="3" y="966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5460" name="Line 20"/>
            <p:cNvSpPr>
              <a:spLocks noChangeShapeType="1"/>
            </p:cNvSpPr>
            <p:nvPr/>
          </p:nvSpPr>
          <p:spPr bwMode="auto">
            <a:xfrm>
              <a:off x="4416" y="624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5461" name="Text Box 21"/>
            <p:cNvSpPr txBox="1">
              <a:spLocks noChangeArrowheads="1"/>
            </p:cNvSpPr>
            <p:nvPr/>
          </p:nvSpPr>
          <p:spPr bwMode="auto">
            <a:xfrm>
              <a:off x="4272" y="768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445462" name="Text Box 22"/>
            <p:cNvSpPr txBox="1">
              <a:spLocks noChangeArrowheads="1"/>
            </p:cNvSpPr>
            <p:nvPr/>
          </p:nvSpPr>
          <p:spPr bwMode="auto">
            <a:xfrm>
              <a:off x="4272" y="1056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u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445463" name="Text Box 23"/>
            <p:cNvSpPr txBox="1">
              <a:spLocks noChangeArrowheads="1"/>
            </p:cNvSpPr>
            <p:nvPr/>
          </p:nvSpPr>
          <p:spPr bwMode="auto">
            <a:xfrm>
              <a:off x="4320" y="1296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_</a:t>
              </a:r>
            </a:p>
          </p:txBody>
        </p:sp>
        <p:sp>
          <p:nvSpPr>
            <p:cNvPr id="445464" name="Text Box 24"/>
            <p:cNvSpPr txBox="1">
              <a:spLocks noChangeArrowheads="1"/>
            </p:cNvSpPr>
            <p:nvPr/>
          </p:nvSpPr>
          <p:spPr bwMode="auto">
            <a:xfrm>
              <a:off x="4464" y="288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445465" name="Rectangle 25"/>
            <p:cNvSpPr>
              <a:spLocks noChangeArrowheads="1"/>
            </p:cNvSpPr>
            <p:nvPr/>
          </p:nvSpPr>
          <p:spPr bwMode="auto">
            <a:xfrm>
              <a:off x="4980" y="1008"/>
              <a:ext cx="120" cy="288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5466" name="Oval 26"/>
            <p:cNvSpPr>
              <a:spLocks noChangeArrowheads="1"/>
            </p:cNvSpPr>
            <p:nvPr/>
          </p:nvSpPr>
          <p:spPr bwMode="auto">
            <a:xfrm>
              <a:off x="4416" y="1632"/>
              <a:ext cx="68" cy="6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5467" name="Oval 27"/>
            <p:cNvSpPr>
              <a:spLocks noChangeArrowheads="1"/>
            </p:cNvSpPr>
            <p:nvPr/>
          </p:nvSpPr>
          <p:spPr bwMode="auto">
            <a:xfrm>
              <a:off x="4368" y="672"/>
              <a:ext cx="68" cy="6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45468" name="Text Box 28"/>
          <p:cNvSpPr txBox="1">
            <a:spLocks noChangeArrowheads="1"/>
          </p:cNvSpPr>
          <p:nvPr/>
        </p:nvSpPr>
        <p:spPr bwMode="auto">
          <a:xfrm>
            <a:off x="728663" y="5689600"/>
            <a:ext cx="48879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等效电导等于并联的各电导之和。</a:t>
            </a:r>
            <a:endParaRPr kumimoji="1" lang="zh-CN" altLang="en-US" sz="24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445469" name="Group 29"/>
          <p:cNvGrpSpPr>
            <a:grpSpLocks/>
          </p:cNvGrpSpPr>
          <p:nvPr/>
        </p:nvGrpSpPr>
        <p:grpSpPr bwMode="auto">
          <a:xfrm>
            <a:off x="900113" y="1322388"/>
            <a:ext cx="5060950" cy="2187575"/>
            <a:chOff x="1072" y="576"/>
            <a:chExt cx="3188" cy="1378"/>
          </a:xfrm>
        </p:grpSpPr>
        <p:sp>
          <p:nvSpPr>
            <p:cNvPr id="445470" name="Text Box 30"/>
            <p:cNvSpPr txBox="1">
              <a:spLocks noChangeArrowheads="1"/>
            </p:cNvSpPr>
            <p:nvPr/>
          </p:nvSpPr>
          <p:spPr bwMode="auto">
            <a:xfrm>
              <a:off x="3936" y="960"/>
              <a:ext cx="3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2400" b="1" i="1" baseline="-25000">
                  <a:latin typeface="Times New Roman" panose="02020603050405020304" pitchFamily="18" charset="0"/>
                </a:rPr>
                <a:t>n</a:t>
              </a:r>
              <a:endParaRPr kumimoji="1" lang="en-US" altLang="zh-CN" sz="2400" b="1" i="1">
                <a:latin typeface="Times New Roman" panose="02020603050405020304" pitchFamily="18" charset="0"/>
              </a:endParaRPr>
            </a:p>
          </p:txBody>
        </p:sp>
        <p:sp>
          <p:nvSpPr>
            <p:cNvPr id="445471" name="Line 31"/>
            <p:cNvSpPr>
              <a:spLocks noChangeShapeType="1"/>
            </p:cNvSpPr>
            <p:nvPr/>
          </p:nvSpPr>
          <p:spPr bwMode="auto">
            <a:xfrm>
              <a:off x="1296" y="960"/>
              <a:ext cx="110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5472" name="Line 32"/>
            <p:cNvSpPr>
              <a:spLocks noChangeShapeType="1"/>
            </p:cNvSpPr>
            <p:nvPr/>
          </p:nvSpPr>
          <p:spPr bwMode="auto">
            <a:xfrm rot="-5400000">
              <a:off x="1354" y="1440"/>
              <a:ext cx="96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5473" name="Line 33"/>
            <p:cNvSpPr>
              <a:spLocks noChangeShapeType="1"/>
            </p:cNvSpPr>
            <p:nvPr/>
          </p:nvSpPr>
          <p:spPr bwMode="auto">
            <a:xfrm rot="-5400000">
              <a:off x="1790" y="1440"/>
              <a:ext cx="96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5474" name="Line 34"/>
            <p:cNvSpPr>
              <a:spLocks noChangeShapeType="1"/>
            </p:cNvSpPr>
            <p:nvPr/>
          </p:nvSpPr>
          <p:spPr bwMode="auto">
            <a:xfrm>
              <a:off x="1296" y="1920"/>
              <a:ext cx="110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5475" name="Line 35"/>
            <p:cNvSpPr>
              <a:spLocks noChangeShapeType="1"/>
            </p:cNvSpPr>
            <p:nvPr/>
          </p:nvSpPr>
          <p:spPr bwMode="auto">
            <a:xfrm>
              <a:off x="2400" y="960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5476" name="Line 36"/>
            <p:cNvSpPr>
              <a:spLocks noChangeShapeType="1"/>
            </p:cNvSpPr>
            <p:nvPr/>
          </p:nvSpPr>
          <p:spPr bwMode="auto">
            <a:xfrm>
              <a:off x="2414" y="1920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5477" name="Line 37"/>
            <p:cNvSpPr>
              <a:spLocks noChangeShapeType="1"/>
            </p:cNvSpPr>
            <p:nvPr/>
          </p:nvSpPr>
          <p:spPr bwMode="auto">
            <a:xfrm>
              <a:off x="2798" y="960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5478" name="Line 38"/>
            <p:cNvSpPr>
              <a:spLocks noChangeShapeType="1"/>
            </p:cNvSpPr>
            <p:nvPr/>
          </p:nvSpPr>
          <p:spPr bwMode="auto">
            <a:xfrm rot="-5400000">
              <a:off x="2506" y="1440"/>
              <a:ext cx="96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5479" name="Line 39"/>
            <p:cNvSpPr>
              <a:spLocks noChangeShapeType="1"/>
            </p:cNvSpPr>
            <p:nvPr/>
          </p:nvSpPr>
          <p:spPr bwMode="auto">
            <a:xfrm>
              <a:off x="2798" y="1920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5480" name="Line 40"/>
            <p:cNvSpPr>
              <a:spLocks noChangeShapeType="1"/>
            </p:cNvSpPr>
            <p:nvPr/>
          </p:nvSpPr>
          <p:spPr bwMode="auto">
            <a:xfrm>
              <a:off x="3134" y="960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5481" name="Line 41"/>
            <p:cNvSpPr>
              <a:spLocks noChangeShapeType="1"/>
            </p:cNvSpPr>
            <p:nvPr/>
          </p:nvSpPr>
          <p:spPr bwMode="auto">
            <a:xfrm>
              <a:off x="3182" y="1920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5482" name="Line 42"/>
            <p:cNvSpPr>
              <a:spLocks noChangeShapeType="1"/>
            </p:cNvSpPr>
            <p:nvPr/>
          </p:nvSpPr>
          <p:spPr bwMode="auto">
            <a:xfrm>
              <a:off x="3518" y="960"/>
              <a:ext cx="3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5483" name="Line 43"/>
            <p:cNvSpPr>
              <a:spLocks noChangeShapeType="1"/>
            </p:cNvSpPr>
            <p:nvPr/>
          </p:nvSpPr>
          <p:spPr bwMode="auto">
            <a:xfrm>
              <a:off x="3518" y="1920"/>
              <a:ext cx="3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5484" name="Line 44"/>
            <p:cNvSpPr>
              <a:spLocks noChangeShapeType="1"/>
            </p:cNvSpPr>
            <p:nvPr/>
          </p:nvSpPr>
          <p:spPr bwMode="auto">
            <a:xfrm rot="-5400000">
              <a:off x="3374" y="1440"/>
              <a:ext cx="96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5485" name="Rectangle 45"/>
            <p:cNvSpPr>
              <a:spLocks noChangeArrowheads="1"/>
            </p:cNvSpPr>
            <p:nvPr/>
          </p:nvSpPr>
          <p:spPr bwMode="auto">
            <a:xfrm>
              <a:off x="1471" y="1248"/>
              <a:ext cx="31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b="1" i="1">
                  <a:latin typeface="Times New Roman" panose="02020603050405020304" pitchFamily="18" charset="0"/>
                </a:rPr>
                <a:t>G</a:t>
              </a:r>
              <a:r>
                <a:rPr kumimoji="1" lang="en-US" altLang="zh-CN" sz="2400" b="1" baseline="-25000">
                  <a:latin typeface="Times New Roman" panose="02020603050405020304" pitchFamily="18" charset="0"/>
                </a:rPr>
                <a:t>1</a:t>
              </a:r>
              <a:endParaRPr kumimoji="1" lang="en-US" altLang="zh-CN" sz="2400" b="1" i="1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445486" name="Rectangle 46"/>
            <p:cNvSpPr>
              <a:spLocks noChangeArrowheads="1"/>
            </p:cNvSpPr>
            <p:nvPr/>
          </p:nvSpPr>
          <p:spPr bwMode="auto">
            <a:xfrm>
              <a:off x="1910" y="1248"/>
              <a:ext cx="31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b="1" i="1">
                  <a:latin typeface="Times New Roman" panose="02020603050405020304" pitchFamily="18" charset="0"/>
                </a:rPr>
                <a:t>G</a:t>
              </a:r>
              <a:r>
                <a:rPr kumimoji="1" lang="en-US" altLang="zh-CN" sz="2400" b="1" baseline="-25000">
                  <a:latin typeface="Times New Roman" panose="02020603050405020304" pitchFamily="18" charset="0"/>
                </a:rPr>
                <a:t>2</a:t>
              </a:r>
              <a:endParaRPr kumimoji="1" lang="en-US" altLang="zh-CN" sz="2400" b="1" i="1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445487" name="Rectangle 47"/>
            <p:cNvSpPr>
              <a:spLocks noChangeArrowheads="1"/>
            </p:cNvSpPr>
            <p:nvPr/>
          </p:nvSpPr>
          <p:spPr bwMode="auto">
            <a:xfrm>
              <a:off x="2629" y="1248"/>
              <a:ext cx="31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b="1" i="1">
                  <a:latin typeface="Times New Roman" panose="02020603050405020304" pitchFamily="18" charset="0"/>
                </a:rPr>
                <a:t>G</a:t>
              </a:r>
              <a:r>
                <a:rPr kumimoji="1" lang="en-US" altLang="zh-CN" sz="2400" b="1" i="1" baseline="-25000">
                  <a:latin typeface="Times New Roman" panose="02020603050405020304" pitchFamily="18" charset="0"/>
                </a:rPr>
                <a:t>k</a:t>
              </a:r>
            </a:p>
          </p:txBody>
        </p:sp>
        <p:sp>
          <p:nvSpPr>
            <p:cNvPr id="445488" name="Rectangle 48"/>
            <p:cNvSpPr>
              <a:spLocks noChangeArrowheads="1"/>
            </p:cNvSpPr>
            <p:nvPr/>
          </p:nvSpPr>
          <p:spPr bwMode="auto">
            <a:xfrm>
              <a:off x="3504" y="1248"/>
              <a:ext cx="32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b="1" i="1">
                  <a:latin typeface="Times New Roman" panose="02020603050405020304" pitchFamily="18" charset="0"/>
                </a:rPr>
                <a:t>G</a:t>
              </a:r>
              <a:r>
                <a:rPr kumimoji="1" lang="en-US" altLang="zh-CN" sz="2400" b="1" i="1" baseline="-25000">
                  <a:latin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445489" name="Line 49"/>
            <p:cNvSpPr>
              <a:spLocks noChangeShapeType="1"/>
            </p:cNvSpPr>
            <p:nvPr/>
          </p:nvSpPr>
          <p:spPr bwMode="auto">
            <a:xfrm>
              <a:off x="1296" y="878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5490" name="Text Box 50"/>
            <p:cNvSpPr txBox="1">
              <a:spLocks noChangeArrowheads="1"/>
            </p:cNvSpPr>
            <p:nvPr/>
          </p:nvSpPr>
          <p:spPr bwMode="auto">
            <a:xfrm>
              <a:off x="1366" y="576"/>
              <a:ext cx="1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800" b="1" i="1">
                  <a:latin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445491" name="Rectangle 51"/>
            <p:cNvSpPr>
              <a:spLocks noChangeArrowheads="1"/>
            </p:cNvSpPr>
            <p:nvPr/>
          </p:nvSpPr>
          <p:spPr bwMode="auto">
            <a:xfrm>
              <a:off x="1104" y="912"/>
              <a:ext cx="2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sym typeface="CommonBullets" pitchFamily="34" charset="2"/>
                </a:rPr>
                <a:t>+</a:t>
              </a:r>
              <a:endParaRPr kumimoji="1" lang="en-US" altLang="zh-CN" sz="4400" b="1">
                <a:solidFill>
                  <a:srgbClr val="FF0000"/>
                </a:solidFill>
                <a:latin typeface="Times New Roman" panose="02020603050405020304" pitchFamily="18" charset="0"/>
                <a:sym typeface="CommonBullets" pitchFamily="34" charset="2"/>
              </a:endParaRPr>
            </a:p>
          </p:txBody>
        </p:sp>
        <p:sp>
          <p:nvSpPr>
            <p:cNvPr id="445492" name="Text Box 52"/>
            <p:cNvSpPr txBox="1">
              <a:spLocks noChangeArrowheads="1"/>
            </p:cNvSpPr>
            <p:nvPr/>
          </p:nvSpPr>
          <p:spPr bwMode="auto">
            <a:xfrm>
              <a:off x="1072" y="1324"/>
              <a:ext cx="2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b="1" i="1">
                  <a:latin typeface="Times New Roman" panose="02020603050405020304" pitchFamily="18" charset="0"/>
                </a:rPr>
                <a:t>u</a:t>
              </a:r>
            </a:p>
          </p:txBody>
        </p:sp>
        <p:sp>
          <p:nvSpPr>
            <p:cNvPr id="445493" name="Rectangle 53"/>
            <p:cNvSpPr>
              <a:spLocks noChangeArrowheads="1"/>
            </p:cNvSpPr>
            <p:nvPr/>
          </p:nvSpPr>
          <p:spPr bwMode="auto">
            <a:xfrm>
              <a:off x="2206" y="1287"/>
              <a:ext cx="120" cy="288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5494" name="Rectangle 54"/>
            <p:cNvSpPr>
              <a:spLocks noChangeArrowheads="1"/>
            </p:cNvSpPr>
            <p:nvPr/>
          </p:nvSpPr>
          <p:spPr bwMode="auto">
            <a:xfrm>
              <a:off x="1778" y="1287"/>
              <a:ext cx="120" cy="288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5495" name="Rectangle 55"/>
            <p:cNvSpPr>
              <a:spLocks noChangeArrowheads="1"/>
            </p:cNvSpPr>
            <p:nvPr/>
          </p:nvSpPr>
          <p:spPr bwMode="auto">
            <a:xfrm>
              <a:off x="2926" y="1287"/>
              <a:ext cx="120" cy="288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5496" name="Rectangle 56"/>
            <p:cNvSpPr>
              <a:spLocks noChangeArrowheads="1"/>
            </p:cNvSpPr>
            <p:nvPr/>
          </p:nvSpPr>
          <p:spPr bwMode="auto">
            <a:xfrm>
              <a:off x="3794" y="1287"/>
              <a:ext cx="120" cy="288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5497" name="Line 57"/>
            <p:cNvSpPr>
              <a:spLocks noChangeShapeType="1"/>
            </p:cNvSpPr>
            <p:nvPr/>
          </p:nvSpPr>
          <p:spPr bwMode="auto">
            <a:xfrm>
              <a:off x="1920" y="1008"/>
              <a:ext cx="0" cy="25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5498" name="Text Box 58"/>
            <p:cNvSpPr txBox="1">
              <a:spLocks noChangeArrowheads="1"/>
            </p:cNvSpPr>
            <p:nvPr/>
          </p:nvSpPr>
          <p:spPr bwMode="auto">
            <a:xfrm>
              <a:off x="1920" y="960"/>
              <a:ext cx="3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2400" b="1" baseline="-25000">
                  <a:latin typeface="Times New Roman" panose="02020603050405020304" pitchFamily="18" charset="0"/>
                </a:rPr>
                <a:t>1</a:t>
              </a:r>
              <a:endParaRPr kumimoji="1" lang="en-US" altLang="zh-CN" sz="2400" b="1" i="1">
                <a:latin typeface="Times New Roman" panose="02020603050405020304" pitchFamily="18" charset="0"/>
              </a:endParaRPr>
            </a:p>
          </p:txBody>
        </p:sp>
        <p:sp>
          <p:nvSpPr>
            <p:cNvPr id="445499" name="Text Box 59"/>
            <p:cNvSpPr txBox="1">
              <a:spLocks noChangeArrowheads="1"/>
            </p:cNvSpPr>
            <p:nvPr/>
          </p:nvSpPr>
          <p:spPr bwMode="auto">
            <a:xfrm>
              <a:off x="2352" y="960"/>
              <a:ext cx="3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2400" b="1" baseline="-25000">
                  <a:latin typeface="Times New Roman" panose="02020603050405020304" pitchFamily="18" charset="0"/>
                </a:rPr>
                <a:t>2</a:t>
              </a:r>
              <a:endParaRPr kumimoji="1" lang="en-US" altLang="zh-CN" sz="2400" b="1" i="1">
                <a:latin typeface="Times New Roman" panose="02020603050405020304" pitchFamily="18" charset="0"/>
              </a:endParaRPr>
            </a:p>
          </p:txBody>
        </p:sp>
        <p:sp>
          <p:nvSpPr>
            <p:cNvPr id="445500" name="Text Box 60"/>
            <p:cNvSpPr txBox="1">
              <a:spLocks noChangeArrowheads="1"/>
            </p:cNvSpPr>
            <p:nvPr/>
          </p:nvSpPr>
          <p:spPr bwMode="auto">
            <a:xfrm>
              <a:off x="3120" y="960"/>
              <a:ext cx="3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2400" b="1" i="1" baseline="-25000">
                  <a:latin typeface="Times New Roman" panose="02020603050405020304" pitchFamily="18" charset="0"/>
                </a:rPr>
                <a:t>k</a:t>
              </a:r>
              <a:endParaRPr kumimoji="1" lang="en-US" altLang="zh-CN" sz="2400" b="1" i="1">
                <a:latin typeface="Times New Roman" panose="02020603050405020304" pitchFamily="18" charset="0"/>
              </a:endParaRPr>
            </a:p>
          </p:txBody>
        </p:sp>
        <p:sp>
          <p:nvSpPr>
            <p:cNvPr id="445501" name="Text Box 61"/>
            <p:cNvSpPr txBox="1">
              <a:spLocks noChangeArrowheads="1"/>
            </p:cNvSpPr>
            <p:nvPr/>
          </p:nvSpPr>
          <p:spPr bwMode="auto">
            <a:xfrm>
              <a:off x="1108" y="1610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_</a:t>
              </a:r>
            </a:p>
          </p:txBody>
        </p:sp>
        <p:sp>
          <p:nvSpPr>
            <p:cNvPr id="445502" name="Line 62"/>
            <p:cNvSpPr>
              <a:spLocks noChangeShapeType="1"/>
            </p:cNvSpPr>
            <p:nvPr/>
          </p:nvSpPr>
          <p:spPr bwMode="auto">
            <a:xfrm>
              <a:off x="2352" y="1008"/>
              <a:ext cx="0" cy="25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5503" name="Line 63"/>
            <p:cNvSpPr>
              <a:spLocks noChangeShapeType="1"/>
            </p:cNvSpPr>
            <p:nvPr/>
          </p:nvSpPr>
          <p:spPr bwMode="auto">
            <a:xfrm>
              <a:off x="3072" y="1008"/>
              <a:ext cx="0" cy="25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5504" name="Line 64"/>
            <p:cNvSpPr>
              <a:spLocks noChangeShapeType="1"/>
            </p:cNvSpPr>
            <p:nvPr/>
          </p:nvSpPr>
          <p:spPr bwMode="auto">
            <a:xfrm>
              <a:off x="3936" y="960"/>
              <a:ext cx="0" cy="25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5505" name="Oval 65"/>
            <p:cNvSpPr>
              <a:spLocks noChangeArrowheads="1"/>
            </p:cNvSpPr>
            <p:nvPr/>
          </p:nvSpPr>
          <p:spPr bwMode="auto">
            <a:xfrm>
              <a:off x="1234" y="1886"/>
              <a:ext cx="68" cy="6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5506" name="Oval 66"/>
            <p:cNvSpPr>
              <a:spLocks noChangeArrowheads="1"/>
            </p:cNvSpPr>
            <p:nvPr/>
          </p:nvSpPr>
          <p:spPr bwMode="auto">
            <a:xfrm>
              <a:off x="1234" y="926"/>
              <a:ext cx="68" cy="6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465589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5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454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454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45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2" dur="500"/>
                                        <p:tgtEl>
                                          <p:spTgt spid="445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454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454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3" dur="500"/>
                                        <p:tgtEl>
                                          <p:spTgt spid="445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12" presetClass="entr" presetSubtype="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7" dur="500"/>
                                        <p:tgtEl>
                                          <p:spTgt spid="445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454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454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454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454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454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454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454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454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6" dur="500"/>
                                        <p:tgtEl>
                                          <p:spTgt spid="445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5447" grpId="0" autoUpdateAnimBg="0"/>
      <p:bldP spid="445448" grpId="0" autoUpdateAnimBg="0"/>
      <p:bldP spid="445449" grpId="0" autoUpdateAnimBg="0"/>
      <p:bldP spid="445450" grpId="0" autoUpdateAnimBg="0"/>
      <p:bldP spid="445451" grpId="0" autoUpdateAnimBg="0"/>
      <p:bldP spid="445452" grpId="0" autoUpdateAnimBg="0"/>
      <p:bldP spid="445453" grpId="0" animBg="1" autoUpdateAnimBg="0"/>
      <p:bldP spid="445454" grpId="0" autoUpdateAnimBg="0"/>
      <p:bldP spid="445468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492" name="Text Box 4"/>
          <p:cNvSpPr txBox="1">
            <a:spLocks noChangeArrowheads="1"/>
          </p:cNvSpPr>
          <p:nvPr/>
        </p:nvSpPr>
        <p:spPr bwMode="auto">
          <a:xfrm>
            <a:off x="358775" y="657225"/>
            <a:ext cx="6210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>
                <a:solidFill>
                  <a:srgbClr val="008000"/>
                </a:solidFill>
                <a:latin typeface="Times New Roman" panose="02020603050405020304" pitchFamily="18" charset="0"/>
              </a:rPr>
              <a:t>（</a:t>
            </a:r>
            <a:r>
              <a:rPr kumimoji="1" lang="en-US" altLang="zh-CN" sz="2400" b="1">
                <a:solidFill>
                  <a:srgbClr val="008000"/>
                </a:solidFill>
                <a:latin typeface="Times New Roman" panose="02020603050405020304" pitchFamily="18" charset="0"/>
              </a:rPr>
              <a:t>3</a:t>
            </a:r>
            <a:r>
              <a:rPr kumimoji="1" lang="zh-CN" altLang="en-US" sz="2400" b="1">
                <a:solidFill>
                  <a:srgbClr val="008000"/>
                </a:solidFill>
                <a:latin typeface="Times New Roman" panose="02020603050405020304" pitchFamily="18" charset="0"/>
              </a:rPr>
              <a:t>） 并联电阻的分流（</a:t>
            </a:r>
            <a:r>
              <a:rPr kumimoji="1" lang="en-US" altLang="zh-CN" sz="2400" b="1" i="1">
                <a:solidFill>
                  <a:srgbClr val="008000"/>
                </a:solidFill>
                <a:latin typeface="Times New Roman" panose="02020603050405020304" pitchFamily="18" charset="0"/>
              </a:rPr>
              <a:t>current division</a:t>
            </a:r>
            <a:r>
              <a:rPr kumimoji="1" lang="zh-CN" altLang="en-US" sz="2400" b="1">
                <a:solidFill>
                  <a:srgbClr val="008000"/>
                </a:solidFill>
                <a:latin typeface="Times New Roman" panose="02020603050405020304" pitchFamily="18" charset="0"/>
              </a:rPr>
              <a:t>）</a:t>
            </a:r>
          </a:p>
        </p:txBody>
      </p:sp>
      <p:grpSp>
        <p:nvGrpSpPr>
          <p:cNvPr id="447493" name="Group 5"/>
          <p:cNvGrpSpPr>
            <a:grpSpLocks/>
          </p:cNvGrpSpPr>
          <p:nvPr/>
        </p:nvGrpSpPr>
        <p:grpSpPr bwMode="auto">
          <a:xfrm>
            <a:off x="1130300" y="1404938"/>
            <a:ext cx="2733675" cy="817562"/>
            <a:chOff x="960" y="1013"/>
            <a:chExt cx="1722" cy="515"/>
          </a:xfrm>
        </p:grpSpPr>
        <p:graphicFrame>
          <p:nvGraphicFramePr>
            <p:cNvPr id="447494" name="Object 6"/>
            <p:cNvGraphicFramePr>
              <a:graphicFrameLocks noChangeAspect="1"/>
            </p:cNvGraphicFramePr>
            <p:nvPr/>
          </p:nvGraphicFramePr>
          <p:xfrm>
            <a:off x="1280" y="1013"/>
            <a:ext cx="1402" cy="5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322" name="公式" r:id="rId4" imgW="1206360" imgH="444240" progId="Equation.3">
                    <p:embed/>
                  </p:oleObj>
                </mc:Choice>
                <mc:Fallback>
                  <p:oleObj name="公式" r:id="rId4" imgW="1206360" imgH="444240" progId="Equation.3">
                    <p:embed/>
                    <p:pic>
                      <p:nvPicPr>
                        <p:cNvPr id="447494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80" y="1013"/>
                          <a:ext cx="1402" cy="5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7495" name="Text Box 7"/>
            <p:cNvSpPr txBox="1">
              <a:spLocks noChangeArrowheads="1"/>
            </p:cNvSpPr>
            <p:nvPr/>
          </p:nvSpPr>
          <p:spPr bwMode="auto">
            <a:xfrm>
              <a:off x="960" y="1104"/>
              <a:ext cx="36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>
                  <a:latin typeface="Times New Roman" panose="02020603050405020304" pitchFamily="18" charset="0"/>
                </a:rPr>
                <a:t>由</a:t>
              </a:r>
            </a:p>
          </p:txBody>
        </p:sp>
      </p:grpSp>
      <p:sp>
        <p:nvSpPr>
          <p:cNvPr id="447496" name="Text Box 8"/>
          <p:cNvSpPr txBox="1">
            <a:spLocks noChangeArrowheads="1"/>
          </p:cNvSpPr>
          <p:nvPr/>
        </p:nvSpPr>
        <p:spPr bwMode="auto">
          <a:xfrm>
            <a:off x="4445000" y="1638300"/>
            <a:ext cx="3733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电流分配与电导成正比</a:t>
            </a:r>
          </a:p>
        </p:txBody>
      </p:sp>
      <p:grpSp>
        <p:nvGrpSpPr>
          <p:cNvPr id="447497" name="Group 9"/>
          <p:cNvGrpSpPr>
            <a:grpSpLocks/>
          </p:cNvGrpSpPr>
          <p:nvPr/>
        </p:nvGrpSpPr>
        <p:grpSpPr bwMode="auto">
          <a:xfrm>
            <a:off x="1244600" y="2486025"/>
            <a:ext cx="2262188" cy="919163"/>
            <a:chOff x="784" y="1566"/>
            <a:chExt cx="1425" cy="579"/>
          </a:xfrm>
        </p:grpSpPr>
        <p:sp>
          <p:nvSpPr>
            <p:cNvPr id="447498" name="Text Box 10"/>
            <p:cNvSpPr txBox="1">
              <a:spLocks noChangeArrowheads="1"/>
            </p:cNvSpPr>
            <p:nvPr/>
          </p:nvSpPr>
          <p:spPr bwMode="auto">
            <a:xfrm>
              <a:off x="784" y="1652"/>
              <a:ext cx="7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>
                  <a:latin typeface="Times New Roman" panose="02020603050405020304" pitchFamily="18" charset="0"/>
                </a:rPr>
                <a:t>得 </a:t>
              </a:r>
            </a:p>
          </p:txBody>
        </p:sp>
        <p:graphicFrame>
          <p:nvGraphicFramePr>
            <p:cNvPr id="447499" name="Object 11"/>
            <p:cNvGraphicFramePr>
              <a:graphicFrameLocks noChangeAspect="1"/>
            </p:cNvGraphicFramePr>
            <p:nvPr/>
          </p:nvGraphicFramePr>
          <p:xfrm>
            <a:off x="1367" y="1566"/>
            <a:ext cx="842" cy="5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323" name="Equation" r:id="rId6" imgW="647640" imgH="444240" progId="Equation.3">
                    <p:embed/>
                  </p:oleObj>
                </mc:Choice>
                <mc:Fallback>
                  <p:oleObj name="Equation" r:id="rId6" imgW="647640" imgH="444240" progId="Equation.3">
                    <p:embed/>
                    <p:pic>
                      <p:nvPicPr>
                        <p:cNvPr id="447499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67" y="1566"/>
                          <a:ext cx="842" cy="579"/>
                        </a:xfrm>
                        <a:prstGeom prst="rect">
                          <a:avLst/>
                        </a:prstGeom>
                        <a:gradFill rotWithShape="0">
                          <a:gsLst>
                            <a:gs pos="0">
                              <a:srgbClr val="FFFFFF"/>
                            </a:gs>
                            <a:gs pos="100000">
                              <a:schemeClr val="accent1"/>
                            </a:gs>
                          </a:gsLst>
                          <a:path path="rect">
                            <a:fillToRect r="100000" b="100000"/>
                          </a:path>
                        </a:gradFill>
                        <a:ln>
                          <a:noFill/>
                        </a:ln>
                        <a:effectLst>
                          <a:prstShdw prst="shdw13" dist="53882" dir="13500000">
                            <a:srgbClr val="808080"/>
                          </a:prstShdw>
                        </a:effectLst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47500" name="Text Box 12"/>
          <p:cNvSpPr txBox="1">
            <a:spLocks noChangeArrowheads="1"/>
          </p:cNvSpPr>
          <p:nvPr/>
        </p:nvSpPr>
        <p:spPr bwMode="auto">
          <a:xfrm>
            <a:off x="704850" y="3714750"/>
            <a:ext cx="2667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>
                <a:latin typeface="Times New Roman" panose="02020603050405020304" pitchFamily="18" charset="0"/>
              </a:rPr>
              <a:t>对于两电阻并联，</a:t>
            </a:r>
          </a:p>
        </p:txBody>
      </p:sp>
      <p:graphicFrame>
        <p:nvGraphicFramePr>
          <p:cNvPr id="447501" name="Object 13"/>
          <p:cNvGraphicFramePr>
            <a:graphicFrameLocks noChangeAspect="1"/>
          </p:cNvGraphicFramePr>
          <p:nvPr/>
        </p:nvGraphicFramePr>
        <p:xfrm>
          <a:off x="4044950" y="3517900"/>
          <a:ext cx="4352925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324" name="公式" r:id="rId8" imgW="1904760" imgH="419040" progId="Equation.3">
                  <p:embed/>
                </p:oleObj>
              </mc:Choice>
              <mc:Fallback>
                <p:oleObj name="公式" r:id="rId8" imgW="1904760" imgH="419040" progId="Equation.3">
                  <p:embed/>
                  <p:pic>
                    <p:nvPicPr>
                      <p:cNvPr id="447501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4950" y="3517900"/>
                        <a:ext cx="4352925" cy="911225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FFFFFF"/>
                          </a:gs>
                          <a:gs pos="100000">
                            <a:schemeClr val="accent1"/>
                          </a:gs>
                        </a:gsLst>
                        <a:lin ang="2700000" scaled="1"/>
                      </a:gradFill>
                      <a:ln>
                        <a:noFill/>
                      </a:ln>
                      <a:effectLst>
                        <a:prstShdw prst="shdw13" dist="53882" dir="13500000">
                          <a:srgbClr val="808080"/>
                        </a:prst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7502" name="Rectangle 14"/>
          <p:cNvSpPr>
            <a:spLocks noChangeArrowheads="1"/>
          </p:cNvSpPr>
          <p:nvPr/>
        </p:nvSpPr>
        <p:spPr bwMode="auto">
          <a:xfrm>
            <a:off x="3276600" y="3733800"/>
            <a:ext cx="492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>
                <a:latin typeface="Times New Roman" panose="02020603050405020304" pitchFamily="18" charset="0"/>
              </a:rPr>
              <a:t>有</a:t>
            </a:r>
          </a:p>
        </p:txBody>
      </p:sp>
      <p:graphicFrame>
        <p:nvGraphicFramePr>
          <p:cNvPr id="447503" name="Object 15"/>
          <p:cNvGraphicFramePr>
            <a:graphicFrameLocks noChangeAspect="1"/>
          </p:cNvGraphicFramePr>
          <p:nvPr/>
        </p:nvGraphicFramePr>
        <p:xfrm>
          <a:off x="4041775" y="4733925"/>
          <a:ext cx="4316413" cy="893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325" name="公式" r:id="rId10" imgW="2019240" imgH="419040" progId="Equation.3">
                  <p:embed/>
                </p:oleObj>
              </mc:Choice>
              <mc:Fallback>
                <p:oleObj name="公式" r:id="rId10" imgW="2019240" imgH="419040" progId="Equation.3">
                  <p:embed/>
                  <p:pic>
                    <p:nvPicPr>
                      <p:cNvPr id="447503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1775" y="4733925"/>
                        <a:ext cx="4316413" cy="893763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FFFFFF"/>
                          </a:gs>
                          <a:gs pos="100000">
                            <a:schemeClr val="accent1"/>
                          </a:gs>
                        </a:gsLst>
                        <a:lin ang="2700000" scaled="1"/>
                      </a:gradFill>
                      <a:ln>
                        <a:noFill/>
                      </a:ln>
                      <a:effectLst>
                        <a:prstShdw prst="shdw13" dist="53882" dir="13500000">
                          <a:srgbClr val="808080"/>
                        </a:prst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47504" name="Group 16"/>
          <p:cNvGrpSpPr>
            <a:grpSpLocks/>
          </p:cNvGrpSpPr>
          <p:nvPr/>
        </p:nvGrpSpPr>
        <p:grpSpPr bwMode="auto">
          <a:xfrm>
            <a:off x="876300" y="4114800"/>
            <a:ext cx="2679700" cy="1503363"/>
            <a:chOff x="552" y="2592"/>
            <a:chExt cx="1688" cy="947"/>
          </a:xfrm>
        </p:grpSpPr>
        <p:sp>
          <p:nvSpPr>
            <p:cNvPr id="447505" name="Line 17"/>
            <p:cNvSpPr>
              <a:spLocks noChangeShapeType="1"/>
            </p:cNvSpPr>
            <p:nvPr/>
          </p:nvSpPr>
          <p:spPr bwMode="auto">
            <a:xfrm>
              <a:off x="620" y="3516"/>
              <a:ext cx="12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7506" name="Line 18"/>
            <p:cNvSpPr>
              <a:spLocks noChangeShapeType="1"/>
            </p:cNvSpPr>
            <p:nvPr/>
          </p:nvSpPr>
          <p:spPr bwMode="auto">
            <a:xfrm>
              <a:off x="608" y="2844"/>
              <a:ext cx="12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7507" name="Line 19"/>
            <p:cNvSpPr>
              <a:spLocks noChangeShapeType="1"/>
            </p:cNvSpPr>
            <p:nvPr/>
          </p:nvSpPr>
          <p:spPr bwMode="auto">
            <a:xfrm>
              <a:off x="1004" y="2844"/>
              <a:ext cx="0" cy="6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7508" name="Line 20"/>
            <p:cNvSpPr>
              <a:spLocks noChangeShapeType="1"/>
            </p:cNvSpPr>
            <p:nvPr/>
          </p:nvSpPr>
          <p:spPr bwMode="auto">
            <a:xfrm>
              <a:off x="1808" y="2844"/>
              <a:ext cx="0" cy="6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7509" name="Rectangle 21"/>
            <p:cNvSpPr>
              <a:spLocks noChangeArrowheads="1"/>
            </p:cNvSpPr>
            <p:nvPr/>
          </p:nvSpPr>
          <p:spPr bwMode="auto">
            <a:xfrm>
              <a:off x="944" y="3036"/>
              <a:ext cx="120" cy="288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7510" name="Rectangle 22"/>
            <p:cNvSpPr>
              <a:spLocks noChangeArrowheads="1"/>
            </p:cNvSpPr>
            <p:nvPr/>
          </p:nvSpPr>
          <p:spPr bwMode="auto">
            <a:xfrm>
              <a:off x="1748" y="3012"/>
              <a:ext cx="120" cy="288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7511" name="Text Box 23"/>
            <p:cNvSpPr txBox="1">
              <a:spLocks noChangeArrowheads="1"/>
            </p:cNvSpPr>
            <p:nvPr/>
          </p:nvSpPr>
          <p:spPr bwMode="auto">
            <a:xfrm>
              <a:off x="1040" y="3036"/>
              <a:ext cx="3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000" b="1" i="1">
                  <a:latin typeface="Times New Roman" panose="02020603050405020304" pitchFamily="18" charset="0"/>
                </a:rPr>
                <a:t>R</a:t>
              </a:r>
              <a:r>
                <a:rPr kumimoji="1" lang="en-US" altLang="zh-CN" sz="2400" b="1" baseline="-25000">
                  <a:latin typeface="Times New Roman" panose="02020603050405020304" pitchFamily="18" charset="0"/>
                </a:rPr>
                <a:t>1</a:t>
              </a:r>
              <a:endParaRPr kumimoji="1" lang="en-US" altLang="zh-CN" sz="2000" b="1" i="1">
                <a:latin typeface="Times New Roman" panose="02020603050405020304" pitchFamily="18" charset="0"/>
              </a:endParaRPr>
            </a:p>
          </p:txBody>
        </p:sp>
        <p:sp>
          <p:nvSpPr>
            <p:cNvPr id="447512" name="Text Box 24"/>
            <p:cNvSpPr txBox="1">
              <a:spLocks noChangeArrowheads="1"/>
            </p:cNvSpPr>
            <p:nvPr/>
          </p:nvSpPr>
          <p:spPr bwMode="auto">
            <a:xfrm>
              <a:off x="1904" y="3036"/>
              <a:ext cx="3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000" b="1" i="1">
                  <a:latin typeface="Times New Roman" panose="02020603050405020304" pitchFamily="18" charset="0"/>
                </a:rPr>
                <a:t>R</a:t>
              </a:r>
              <a:r>
                <a:rPr kumimoji="1" lang="en-US" altLang="zh-CN" sz="2400" b="1" baseline="-25000">
                  <a:latin typeface="Times New Roman" panose="02020603050405020304" pitchFamily="18" charset="0"/>
                </a:rPr>
                <a:t>2</a:t>
              </a:r>
              <a:endParaRPr kumimoji="1" lang="en-US" altLang="zh-CN" sz="2000" i="1">
                <a:latin typeface="Times New Roman" panose="02020603050405020304" pitchFamily="18" charset="0"/>
              </a:endParaRPr>
            </a:p>
          </p:txBody>
        </p:sp>
        <p:sp>
          <p:nvSpPr>
            <p:cNvPr id="447513" name="Line 25"/>
            <p:cNvSpPr>
              <a:spLocks noChangeShapeType="1"/>
            </p:cNvSpPr>
            <p:nvPr/>
          </p:nvSpPr>
          <p:spPr bwMode="auto">
            <a:xfrm>
              <a:off x="1004" y="2844"/>
              <a:ext cx="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7514" name="Line 26"/>
            <p:cNvSpPr>
              <a:spLocks noChangeShapeType="1"/>
            </p:cNvSpPr>
            <p:nvPr/>
          </p:nvSpPr>
          <p:spPr bwMode="auto">
            <a:xfrm rot="-10800000">
              <a:off x="1808" y="2844"/>
              <a:ext cx="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7515" name="Line 27"/>
            <p:cNvSpPr>
              <a:spLocks noChangeShapeType="1"/>
            </p:cNvSpPr>
            <p:nvPr/>
          </p:nvSpPr>
          <p:spPr bwMode="auto">
            <a:xfrm>
              <a:off x="656" y="2844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7516" name="Text Box 28"/>
            <p:cNvSpPr txBox="1">
              <a:spLocks noChangeArrowheads="1"/>
            </p:cNvSpPr>
            <p:nvPr/>
          </p:nvSpPr>
          <p:spPr bwMode="auto">
            <a:xfrm>
              <a:off x="992" y="279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2400" b="1" baseline="-25000">
                  <a:latin typeface="Times New Roman" panose="02020603050405020304" pitchFamily="18" charset="0"/>
                </a:rPr>
                <a:t>1</a:t>
              </a:r>
              <a:endParaRPr kumimoji="1" lang="en-US" altLang="zh-CN" sz="2400" b="1" i="1">
                <a:latin typeface="Times New Roman" panose="02020603050405020304" pitchFamily="18" charset="0"/>
              </a:endParaRPr>
            </a:p>
          </p:txBody>
        </p:sp>
        <p:sp>
          <p:nvSpPr>
            <p:cNvPr id="447517" name="Text Box 29"/>
            <p:cNvSpPr txBox="1">
              <a:spLocks noChangeArrowheads="1"/>
            </p:cNvSpPr>
            <p:nvPr/>
          </p:nvSpPr>
          <p:spPr bwMode="auto">
            <a:xfrm>
              <a:off x="1808" y="274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2400" b="1" baseline="-25000">
                  <a:latin typeface="Times New Roman" panose="02020603050405020304" pitchFamily="18" charset="0"/>
                </a:rPr>
                <a:t>2</a:t>
              </a:r>
              <a:endParaRPr kumimoji="1" lang="en-US" altLang="zh-CN" sz="2400" b="1" i="1">
                <a:latin typeface="Times New Roman" panose="02020603050405020304" pitchFamily="18" charset="0"/>
              </a:endParaRPr>
            </a:p>
          </p:txBody>
        </p:sp>
        <p:sp>
          <p:nvSpPr>
            <p:cNvPr id="447518" name="Text Box 30"/>
            <p:cNvSpPr txBox="1">
              <a:spLocks noChangeArrowheads="1"/>
            </p:cNvSpPr>
            <p:nvPr/>
          </p:nvSpPr>
          <p:spPr bwMode="auto">
            <a:xfrm>
              <a:off x="656" y="2592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447519" name="Oval 31"/>
            <p:cNvSpPr>
              <a:spLocks noChangeArrowheads="1"/>
            </p:cNvSpPr>
            <p:nvPr/>
          </p:nvSpPr>
          <p:spPr bwMode="auto">
            <a:xfrm>
              <a:off x="552" y="2814"/>
              <a:ext cx="47" cy="4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7520" name="Oval 32"/>
            <p:cNvSpPr>
              <a:spLocks noChangeArrowheads="1"/>
            </p:cNvSpPr>
            <p:nvPr/>
          </p:nvSpPr>
          <p:spPr bwMode="auto">
            <a:xfrm>
              <a:off x="564" y="3492"/>
              <a:ext cx="47" cy="4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1" name="文本框 30"/>
          <p:cNvSpPr txBox="1"/>
          <p:nvPr/>
        </p:nvSpPr>
        <p:spPr>
          <a:xfrm>
            <a:off x="3098800" y="5517674"/>
            <a:ext cx="57921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讨论：</a:t>
            </a:r>
            <a:endParaRPr lang="en-US" altLang="zh-CN" dirty="0"/>
          </a:p>
          <a:p>
            <a:r>
              <a:rPr lang="en-US" altLang="zh-CN" i="1" dirty="0"/>
              <a:t>1)R</a:t>
            </a:r>
            <a:r>
              <a:rPr lang="en-US" altLang="zh-CN" i="1" baseline="-25000" dirty="0"/>
              <a:t>2</a:t>
            </a:r>
            <a:r>
              <a:rPr lang="en-US" altLang="zh-CN" i="1" dirty="0">
                <a:sym typeface="Wingdings" panose="05000000000000000000" pitchFamily="2" charset="2"/>
              </a:rPr>
              <a:t></a:t>
            </a:r>
            <a:r>
              <a:rPr lang="zh-CN" altLang="en-US" i="1" dirty="0">
                <a:sym typeface="Wingdings" panose="05000000000000000000" pitchFamily="2" charset="2"/>
              </a:rPr>
              <a:t>∞</a:t>
            </a:r>
            <a:r>
              <a:rPr lang="en-US" altLang="zh-CN" i="1" dirty="0">
                <a:sym typeface="Wingdings" panose="05000000000000000000" pitchFamily="2" charset="2"/>
              </a:rPr>
              <a:t>(G</a:t>
            </a:r>
            <a:r>
              <a:rPr lang="en-US" altLang="zh-CN" i="1" baseline="-25000" dirty="0">
                <a:sym typeface="Wingdings" panose="05000000000000000000" pitchFamily="2" charset="2"/>
              </a:rPr>
              <a:t>2</a:t>
            </a:r>
            <a:r>
              <a:rPr lang="en-US" altLang="zh-CN" i="1" dirty="0">
                <a:sym typeface="Wingdings" panose="05000000000000000000" pitchFamily="2" charset="2"/>
              </a:rPr>
              <a:t>=0)</a:t>
            </a:r>
            <a:r>
              <a:rPr lang="zh-CN" altLang="en-US" i="1" dirty="0">
                <a:sym typeface="Wingdings" panose="05000000000000000000" pitchFamily="2" charset="2"/>
              </a:rPr>
              <a:t>时，</a:t>
            </a:r>
            <a:r>
              <a:rPr lang="en-US" altLang="zh-CN" i="1" dirty="0">
                <a:sym typeface="Wingdings" panose="05000000000000000000" pitchFamily="2" charset="2"/>
              </a:rPr>
              <a:t>G</a:t>
            </a:r>
            <a:r>
              <a:rPr lang="en-US" altLang="zh-CN" i="1" baseline="-25000" dirty="0">
                <a:sym typeface="Wingdings" panose="05000000000000000000" pitchFamily="2" charset="2"/>
              </a:rPr>
              <a:t>eq</a:t>
            </a:r>
            <a:r>
              <a:rPr lang="en-US" altLang="zh-CN" i="1" dirty="0">
                <a:sym typeface="Wingdings" panose="05000000000000000000" pitchFamily="2" charset="2"/>
              </a:rPr>
              <a:t>=G</a:t>
            </a:r>
            <a:r>
              <a:rPr lang="en-US" altLang="zh-CN" i="1" baseline="-25000" dirty="0">
                <a:sym typeface="Wingdings" panose="05000000000000000000" pitchFamily="2" charset="2"/>
              </a:rPr>
              <a:t>1</a:t>
            </a:r>
            <a:r>
              <a:rPr lang="en-US" altLang="zh-CN" i="1" dirty="0">
                <a:sym typeface="Wingdings" panose="05000000000000000000" pitchFamily="2" charset="2"/>
              </a:rPr>
              <a:t>,R</a:t>
            </a:r>
            <a:r>
              <a:rPr lang="en-US" altLang="zh-CN" i="1" baseline="-25000" dirty="0">
                <a:sym typeface="Wingdings" panose="05000000000000000000" pitchFamily="2" charset="2"/>
              </a:rPr>
              <a:t>eq</a:t>
            </a:r>
            <a:r>
              <a:rPr lang="en-US" altLang="zh-CN" i="1" dirty="0">
                <a:sym typeface="Wingdings" panose="05000000000000000000" pitchFamily="2" charset="2"/>
              </a:rPr>
              <a:t>=R</a:t>
            </a:r>
            <a:r>
              <a:rPr lang="en-US" altLang="zh-CN" i="1" baseline="-25000" dirty="0">
                <a:sym typeface="Wingdings" panose="05000000000000000000" pitchFamily="2" charset="2"/>
              </a:rPr>
              <a:t>1</a:t>
            </a:r>
            <a:r>
              <a:rPr lang="zh-CN" altLang="en-US" i="1" dirty="0">
                <a:sym typeface="Wingdings" panose="05000000000000000000" pitchFamily="2" charset="2"/>
              </a:rPr>
              <a:t>；</a:t>
            </a:r>
            <a:r>
              <a:rPr lang="en-US" altLang="zh-CN" i="1" dirty="0">
                <a:sym typeface="Wingdings" panose="05000000000000000000" pitchFamily="2" charset="2"/>
              </a:rPr>
              <a:t>i</a:t>
            </a:r>
            <a:r>
              <a:rPr lang="en-US" altLang="zh-CN" i="1" baseline="-25000" dirty="0"/>
              <a:t>1</a:t>
            </a:r>
            <a:r>
              <a:rPr lang="en-US" altLang="zh-CN" i="1" dirty="0"/>
              <a:t>=i,i</a:t>
            </a:r>
            <a:r>
              <a:rPr lang="en-US" altLang="zh-CN" i="1" baseline="-25000" dirty="0"/>
              <a:t>2</a:t>
            </a:r>
            <a:r>
              <a:rPr lang="en-US" altLang="zh-CN" i="1" dirty="0"/>
              <a:t>=0</a:t>
            </a:r>
          </a:p>
          <a:p>
            <a:endParaRPr lang="en-US" altLang="zh-CN" dirty="0"/>
          </a:p>
          <a:p>
            <a:r>
              <a:rPr lang="en-US" altLang="zh-CN" i="1" dirty="0"/>
              <a:t>2)R</a:t>
            </a:r>
            <a:r>
              <a:rPr lang="en-US" altLang="zh-CN" i="1" baseline="-25000" dirty="0"/>
              <a:t>2</a:t>
            </a:r>
            <a:r>
              <a:rPr lang="en-US" altLang="zh-CN" i="1" dirty="0">
                <a:sym typeface="Wingdings" panose="05000000000000000000" pitchFamily="2" charset="2"/>
              </a:rPr>
              <a:t>=0(G</a:t>
            </a:r>
            <a:r>
              <a:rPr lang="en-US" altLang="zh-CN" i="1" baseline="-25000" dirty="0">
                <a:sym typeface="Wingdings" panose="05000000000000000000" pitchFamily="2" charset="2"/>
              </a:rPr>
              <a:t>2</a:t>
            </a:r>
            <a:r>
              <a:rPr lang="en-US" altLang="zh-CN" i="1" dirty="0">
                <a:sym typeface="Wingdings" panose="05000000000000000000" pitchFamily="2" charset="2"/>
              </a:rPr>
              <a:t>∞) </a:t>
            </a:r>
            <a:r>
              <a:rPr lang="zh-CN" altLang="en-US" i="1" dirty="0">
                <a:sym typeface="Wingdings" panose="05000000000000000000" pitchFamily="2" charset="2"/>
              </a:rPr>
              <a:t>时，</a:t>
            </a:r>
            <a:r>
              <a:rPr lang="en-US" altLang="zh-CN" i="1" dirty="0">
                <a:sym typeface="Wingdings" panose="05000000000000000000" pitchFamily="2" charset="2"/>
              </a:rPr>
              <a:t> G</a:t>
            </a:r>
            <a:r>
              <a:rPr lang="en-US" altLang="zh-CN" i="1" baseline="-25000" dirty="0">
                <a:sym typeface="Wingdings" panose="05000000000000000000" pitchFamily="2" charset="2"/>
              </a:rPr>
              <a:t>eq</a:t>
            </a:r>
            <a:r>
              <a:rPr lang="en-US" altLang="zh-CN" i="1" dirty="0">
                <a:sym typeface="Wingdings" panose="05000000000000000000" pitchFamily="2" charset="2"/>
              </a:rPr>
              <a:t>=G2∞,R</a:t>
            </a:r>
            <a:r>
              <a:rPr lang="en-US" altLang="zh-CN" i="1" baseline="-25000" dirty="0">
                <a:sym typeface="Wingdings" panose="05000000000000000000" pitchFamily="2" charset="2"/>
              </a:rPr>
              <a:t>eq</a:t>
            </a:r>
            <a:r>
              <a:rPr lang="en-US" altLang="zh-CN" i="1" dirty="0">
                <a:sym typeface="Wingdings" panose="05000000000000000000" pitchFamily="2" charset="2"/>
              </a:rPr>
              <a:t>=0</a:t>
            </a:r>
            <a:r>
              <a:rPr lang="zh-CN" altLang="en-US" i="1" dirty="0">
                <a:sym typeface="Wingdings" panose="05000000000000000000" pitchFamily="2" charset="2"/>
              </a:rPr>
              <a:t>；</a:t>
            </a:r>
            <a:r>
              <a:rPr lang="en-US" altLang="zh-CN" i="1" dirty="0">
                <a:sym typeface="Wingdings" panose="05000000000000000000" pitchFamily="2" charset="2"/>
              </a:rPr>
              <a:t>i</a:t>
            </a:r>
            <a:r>
              <a:rPr lang="en-US" altLang="zh-CN" i="1" baseline="-25000" dirty="0"/>
              <a:t>1</a:t>
            </a:r>
            <a:r>
              <a:rPr lang="en-US" altLang="zh-CN" i="1" dirty="0"/>
              <a:t>=0,i</a:t>
            </a:r>
            <a:r>
              <a:rPr lang="en-US" altLang="zh-CN" i="1" baseline="-25000" dirty="0"/>
              <a:t>2</a:t>
            </a:r>
            <a:r>
              <a:rPr lang="en-US" altLang="zh-CN" i="1" dirty="0"/>
              <a:t>=</a:t>
            </a:r>
            <a:r>
              <a:rPr lang="en-US" altLang="zh-CN" i="1" dirty="0" err="1"/>
              <a:t>i</a:t>
            </a:r>
            <a:endParaRPr lang="en-US" altLang="zh-CN" i="1" dirty="0"/>
          </a:p>
        </p:txBody>
      </p:sp>
    </p:spTree>
    <p:extLst>
      <p:ext uri="{BB962C8B-B14F-4D97-AF65-F5344CB8AC3E}">
        <p14:creationId xmlns:p14="http://schemas.microsoft.com/office/powerpoint/2010/main" val="381881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74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74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47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8" dur="500"/>
                                        <p:tgtEl>
                                          <p:spTgt spid="447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47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475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475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47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447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475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475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475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475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7492" grpId="0" autoUpdateAnimBg="0"/>
      <p:bldP spid="447496" grpId="0" autoUpdateAnimBg="0"/>
      <p:bldP spid="447500" grpId="0" autoUpdateAnimBg="0"/>
      <p:bldP spid="447502" grpId="0" autoUpdateAnimBg="0"/>
      <p:bldP spid="3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540" name="Text Box 4"/>
          <p:cNvSpPr txBox="1">
            <a:spLocks noChangeArrowheads="1"/>
          </p:cNvSpPr>
          <p:nvPr/>
        </p:nvSpPr>
        <p:spPr bwMode="auto">
          <a:xfrm>
            <a:off x="533400" y="533400"/>
            <a:ext cx="24177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>
                <a:solidFill>
                  <a:srgbClr val="008000"/>
                </a:solidFill>
                <a:latin typeface="Times New Roman" panose="02020603050405020304" pitchFamily="18" charset="0"/>
              </a:rPr>
              <a:t>（</a:t>
            </a:r>
            <a:r>
              <a:rPr kumimoji="1" lang="en-US" altLang="zh-CN" sz="2400" b="1">
                <a:solidFill>
                  <a:srgbClr val="008000"/>
                </a:solidFill>
                <a:latin typeface="Times New Roman" panose="02020603050405020304" pitchFamily="18" charset="0"/>
              </a:rPr>
              <a:t>4</a:t>
            </a:r>
            <a:r>
              <a:rPr kumimoji="1" lang="zh-CN" altLang="en-US" sz="2400" b="1">
                <a:solidFill>
                  <a:srgbClr val="008000"/>
                </a:solidFill>
                <a:latin typeface="Times New Roman" panose="02020603050405020304" pitchFamily="18" charset="0"/>
              </a:rPr>
              <a:t>） 功率关系</a:t>
            </a:r>
          </a:p>
        </p:txBody>
      </p:sp>
      <p:sp>
        <p:nvSpPr>
          <p:cNvPr id="449541" name="Text Box 5"/>
          <p:cNvSpPr txBox="1">
            <a:spLocks noChangeArrowheads="1"/>
          </p:cNvSpPr>
          <p:nvPr/>
        </p:nvSpPr>
        <p:spPr bwMode="auto">
          <a:xfrm>
            <a:off x="2286000" y="1219200"/>
            <a:ext cx="5105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i="1">
                <a:latin typeface="Times New Roman" panose="02020603050405020304" pitchFamily="18" charset="0"/>
              </a:rPr>
              <a:t>p</a:t>
            </a:r>
            <a:r>
              <a:rPr kumimoji="1" lang="en-US" altLang="zh-CN" sz="2400" b="1" baseline="-25000">
                <a:latin typeface="Times New Roman" panose="02020603050405020304" pitchFamily="18" charset="0"/>
              </a:rPr>
              <a:t>1</a:t>
            </a:r>
            <a:r>
              <a:rPr kumimoji="1" lang="en-US" altLang="zh-CN" sz="2400" b="1">
                <a:latin typeface="Times New Roman" panose="02020603050405020304" pitchFamily="18" charset="0"/>
              </a:rPr>
              <a:t>=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G</a:t>
            </a:r>
            <a:r>
              <a:rPr kumimoji="1" lang="en-US" altLang="zh-CN" sz="2400" b="1" baseline="-25000">
                <a:latin typeface="Times New Roman" panose="02020603050405020304" pitchFamily="18" charset="0"/>
              </a:rPr>
              <a:t>1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u</a:t>
            </a:r>
            <a:r>
              <a:rPr kumimoji="1" lang="en-US" altLang="zh-CN" sz="2400" b="1" baseline="30000">
                <a:latin typeface="Times New Roman" panose="02020603050405020304" pitchFamily="18" charset="0"/>
              </a:rPr>
              <a:t>2</a:t>
            </a:r>
            <a:r>
              <a:rPr kumimoji="1" lang="zh-CN" altLang="en-US" sz="2400" b="1">
                <a:latin typeface="Times New Roman" panose="02020603050405020304" pitchFamily="18" charset="0"/>
              </a:rPr>
              <a:t>， 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p</a:t>
            </a:r>
            <a:r>
              <a:rPr kumimoji="1" lang="en-US" altLang="zh-CN" sz="2400" b="1" baseline="-25000">
                <a:latin typeface="Times New Roman" panose="02020603050405020304" pitchFamily="18" charset="0"/>
              </a:rPr>
              <a:t>2</a:t>
            </a:r>
            <a:r>
              <a:rPr kumimoji="1" lang="en-US" altLang="zh-CN" sz="2400" b="1">
                <a:latin typeface="Times New Roman" panose="02020603050405020304" pitchFamily="18" charset="0"/>
              </a:rPr>
              <a:t>=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G</a:t>
            </a:r>
            <a:r>
              <a:rPr kumimoji="1" lang="en-US" altLang="zh-CN" sz="2400" b="1" baseline="-25000">
                <a:latin typeface="Times New Roman" panose="02020603050405020304" pitchFamily="18" charset="0"/>
              </a:rPr>
              <a:t>2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u</a:t>
            </a:r>
            <a:r>
              <a:rPr kumimoji="1" lang="en-US" altLang="zh-CN" sz="2400" b="1" baseline="30000">
                <a:latin typeface="Times New Roman" panose="02020603050405020304" pitchFamily="18" charset="0"/>
              </a:rPr>
              <a:t>2</a:t>
            </a:r>
            <a:r>
              <a:rPr kumimoji="1" lang="zh-CN" altLang="en-US" sz="2400" b="1">
                <a:latin typeface="Times New Roman" panose="02020603050405020304" pitchFamily="18" charset="0"/>
              </a:rPr>
              <a:t>， </a:t>
            </a:r>
            <a:r>
              <a:rPr kumimoji="1" lang="zh-CN" altLang="en-US" sz="2400" b="1">
                <a:latin typeface="Times New Roman" panose="02020603050405020304" pitchFamily="18" charset="0"/>
                <a:sym typeface="MT Extra" panose="05050102010205020202" pitchFamily="18" charset="2"/>
              </a:rPr>
              <a:t></a:t>
            </a:r>
            <a:r>
              <a:rPr kumimoji="1"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 ， 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p</a:t>
            </a:r>
            <a:r>
              <a:rPr kumimoji="1" lang="en-US" altLang="zh-CN" sz="2400" b="1" i="1" baseline="-25000">
                <a:latin typeface="Times New Roman" panose="02020603050405020304" pitchFamily="18" charset="0"/>
              </a:rPr>
              <a:t>n</a:t>
            </a:r>
            <a:r>
              <a:rPr kumimoji="1" lang="en-US" altLang="zh-CN" sz="2400" b="1">
                <a:latin typeface="Times New Roman" panose="02020603050405020304" pitchFamily="18" charset="0"/>
              </a:rPr>
              <a:t>=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G</a:t>
            </a:r>
            <a:r>
              <a:rPr kumimoji="1" lang="en-US" altLang="zh-CN" sz="2400" b="1" i="1" baseline="-25000">
                <a:latin typeface="Times New Roman" panose="02020603050405020304" pitchFamily="18" charset="0"/>
              </a:rPr>
              <a:t>n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u</a:t>
            </a:r>
            <a:r>
              <a:rPr kumimoji="1" lang="en-US" altLang="zh-CN" sz="2400" b="1" baseline="30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449542" name="Text Box 6"/>
          <p:cNvSpPr txBox="1">
            <a:spLocks noChangeArrowheads="1"/>
          </p:cNvSpPr>
          <p:nvPr/>
        </p:nvSpPr>
        <p:spPr bwMode="auto">
          <a:xfrm>
            <a:off x="2286000" y="1981200"/>
            <a:ext cx="426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i="1">
                <a:latin typeface="Times New Roman" panose="02020603050405020304" pitchFamily="18" charset="0"/>
              </a:rPr>
              <a:t>p</a:t>
            </a:r>
            <a:r>
              <a:rPr kumimoji="1" lang="en-US" altLang="zh-CN" sz="2400" b="1" baseline="-25000">
                <a:latin typeface="Times New Roman" panose="02020603050405020304" pitchFamily="18" charset="0"/>
              </a:rPr>
              <a:t>1</a:t>
            </a:r>
            <a:r>
              <a:rPr kumimoji="1" lang="en-US" altLang="zh-CN" sz="2400" b="1">
                <a:latin typeface="Times New Roman" panose="02020603050405020304" pitchFamily="18" charset="0"/>
              </a:rPr>
              <a:t>: 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p</a:t>
            </a:r>
            <a:r>
              <a:rPr kumimoji="1" lang="en-US" altLang="zh-CN" sz="2400" b="1" baseline="-25000">
                <a:latin typeface="Times New Roman" panose="02020603050405020304" pitchFamily="18" charset="0"/>
              </a:rPr>
              <a:t>2 </a:t>
            </a:r>
            <a:r>
              <a:rPr kumimoji="1" lang="en-US" altLang="zh-CN" sz="2400" b="1">
                <a:latin typeface="Times New Roman" panose="02020603050405020304" pitchFamily="18" charset="0"/>
              </a:rPr>
              <a:t>: </a:t>
            </a:r>
            <a:r>
              <a:rPr kumimoji="1" lang="en-US" altLang="zh-CN" sz="2400" b="1">
                <a:latin typeface="Times New Roman" panose="02020603050405020304" pitchFamily="18" charset="0"/>
                <a:sym typeface="MT Extra" panose="05050102010205020202" pitchFamily="18" charset="2"/>
              </a:rPr>
              <a:t></a:t>
            </a:r>
            <a:r>
              <a:rPr kumimoji="1"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: 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p</a:t>
            </a:r>
            <a:r>
              <a:rPr kumimoji="1" lang="en-US" altLang="zh-CN" sz="2400" b="1" i="1" baseline="-25000">
                <a:latin typeface="Times New Roman" panose="02020603050405020304" pitchFamily="18" charset="0"/>
              </a:rPr>
              <a:t>n</a:t>
            </a:r>
            <a:r>
              <a:rPr kumimoji="1" lang="en-US" altLang="zh-CN" sz="2400" b="1">
                <a:latin typeface="Times New Roman" panose="02020603050405020304" pitchFamily="18" charset="0"/>
              </a:rPr>
              <a:t>= 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G</a:t>
            </a:r>
            <a:r>
              <a:rPr kumimoji="1" lang="en-US" altLang="zh-CN" sz="2400" b="1" baseline="-25000">
                <a:latin typeface="Times New Roman" panose="02020603050405020304" pitchFamily="18" charset="0"/>
              </a:rPr>
              <a:t>1 </a:t>
            </a:r>
            <a:r>
              <a:rPr kumimoji="1" lang="en-US" altLang="zh-CN" sz="2400" b="1">
                <a:latin typeface="Times New Roman" panose="02020603050405020304" pitchFamily="18" charset="0"/>
              </a:rPr>
              <a:t>: 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G</a:t>
            </a:r>
            <a:r>
              <a:rPr kumimoji="1" lang="en-US" altLang="zh-CN" sz="2400" b="1" baseline="-25000">
                <a:latin typeface="Times New Roman" panose="02020603050405020304" pitchFamily="18" charset="0"/>
              </a:rPr>
              <a:t>2  </a:t>
            </a:r>
            <a:r>
              <a:rPr kumimoji="1" lang="en-US" altLang="zh-CN" sz="2400" b="1">
                <a:latin typeface="Times New Roman" panose="02020603050405020304" pitchFamily="18" charset="0"/>
              </a:rPr>
              <a:t>: </a:t>
            </a:r>
            <a:r>
              <a:rPr kumimoji="1" lang="en-US" altLang="zh-CN" sz="2400" b="1">
                <a:latin typeface="Times New Roman" panose="02020603050405020304" pitchFamily="18" charset="0"/>
                <a:sym typeface="MT Extra" panose="05050102010205020202" pitchFamily="18" charset="2"/>
              </a:rPr>
              <a:t></a:t>
            </a:r>
            <a:r>
              <a:rPr kumimoji="1"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: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G</a:t>
            </a:r>
            <a:r>
              <a:rPr kumimoji="1" lang="en-US" altLang="zh-CN" sz="2400" b="1" i="1" baseline="-25000">
                <a:latin typeface="Times New Roman" panose="02020603050405020304" pitchFamily="18" charset="0"/>
              </a:rPr>
              <a:t>n</a:t>
            </a:r>
          </a:p>
        </p:txBody>
      </p:sp>
      <p:sp>
        <p:nvSpPr>
          <p:cNvPr id="449543" name="Text Box 7"/>
          <p:cNvSpPr txBox="1">
            <a:spLocks noChangeArrowheads="1"/>
          </p:cNvSpPr>
          <p:nvPr/>
        </p:nvSpPr>
        <p:spPr bwMode="auto">
          <a:xfrm>
            <a:off x="1066800" y="2971800"/>
            <a:ext cx="6959600" cy="2320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  <a:spcBef>
                <a:spcPct val="50000"/>
              </a:spcBef>
            </a:pPr>
            <a:r>
              <a:rPr kumimoji="1" lang="zh-CN" altLang="en-US" sz="2400" b="1">
                <a:latin typeface="Times New Roman" panose="02020603050405020304" pitchFamily="18" charset="0"/>
              </a:rPr>
              <a:t>总功率     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p </a:t>
            </a:r>
            <a:r>
              <a:rPr kumimoji="1" lang="en-US" altLang="zh-CN" sz="2400" b="1">
                <a:latin typeface="Times New Roman" panose="02020603050405020304" pitchFamily="18" charset="0"/>
              </a:rPr>
              <a:t>= 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G</a:t>
            </a:r>
            <a:r>
              <a:rPr kumimoji="1" lang="en-US" altLang="zh-CN" sz="2400" b="1" baseline="-25000">
                <a:latin typeface="Times New Roman" panose="02020603050405020304" pitchFamily="18" charset="0"/>
              </a:rPr>
              <a:t>eq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u</a:t>
            </a:r>
            <a:r>
              <a:rPr kumimoji="1" lang="en-US" altLang="zh-CN" sz="2400" b="1" baseline="30000">
                <a:latin typeface="Times New Roman" panose="02020603050405020304" pitchFamily="18" charset="0"/>
              </a:rPr>
              <a:t>2 </a:t>
            </a:r>
            <a:r>
              <a:rPr kumimoji="1" lang="en-US" altLang="zh-CN" sz="2400" b="1">
                <a:latin typeface="Times New Roman" panose="02020603050405020304" pitchFamily="18" charset="0"/>
              </a:rPr>
              <a:t>= (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G</a:t>
            </a:r>
            <a:r>
              <a:rPr kumimoji="1" lang="en-US" altLang="zh-CN" sz="2400" b="1" baseline="-25000">
                <a:latin typeface="Times New Roman" panose="02020603050405020304" pitchFamily="18" charset="0"/>
              </a:rPr>
              <a:t>1</a:t>
            </a:r>
            <a:r>
              <a:rPr kumimoji="1" lang="en-US" altLang="zh-CN" sz="2400" b="1">
                <a:latin typeface="Times New Roman" panose="02020603050405020304" pitchFamily="18" charset="0"/>
              </a:rPr>
              <a:t>+ 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G</a:t>
            </a:r>
            <a:r>
              <a:rPr kumimoji="1" lang="en-US" altLang="zh-CN" sz="2400" b="1" baseline="-25000">
                <a:latin typeface="Times New Roman" panose="02020603050405020304" pitchFamily="18" charset="0"/>
              </a:rPr>
              <a:t>2</a:t>
            </a:r>
            <a:r>
              <a:rPr kumimoji="1" lang="en-US" altLang="zh-CN" sz="2400" b="1">
                <a:latin typeface="Times New Roman" panose="02020603050405020304" pitchFamily="18" charset="0"/>
              </a:rPr>
              <a:t>+ </a:t>
            </a:r>
            <a:r>
              <a:rPr kumimoji="1" lang="en-US" altLang="zh-CN" sz="2400" b="1">
                <a:latin typeface="Times New Roman" panose="02020603050405020304" pitchFamily="18" charset="0"/>
                <a:sym typeface="MT Extra" panose="05050102010205020202" pitchFamily="18" charset="2"/>
              </a:rPr>
              <a:t></a:t>
            </a:r>
            <a:r>
              <a:rPr kumimoji="1" lang="en-US" altLang="zh-CN" sz="2400" b="1">
                <a:latin typeface="Times New Roman" panose="02020603050405020304" pitchFamily="18" charset="0"/>
              </a:rPr>
              <a:t> +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G</a:t>
            </a:r>
            <a:r>
              <a:rPr kumimoji="1" lang="en-US" altLang="zh-CN" sz="2400" b="1" i="1" baseline="-25000">
                <a:latin typeface="Times New Roman" panose="02020603050405020304" pitchFamily="18" charset="0"/>
              </a:rPr>
              <a:t>n </a:t>
            </a:r>
            <a:r>
              <a:rPr kumimoji="1" lang="en-US" altLang="zh-CN" sz="2400" b="1">
                <a:latin typeface="Times New Roman" panose="02020603050405020304" pitchFamily="18" charset="0"/>
              </a:rPr>
              <a:t>) 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u</a:t>
            </a:r>
            <a:r>
              <a:rPr kumimoji="1" lang="en-US" altLang="zh-CN" sz="2400" b="1" baseline="30000">
                <a:latin typeface="Times New Roman" panose="02020603050405020304" pitchFamily="18" charset="0"/>
              </a:rPr>
              <a:t>2</a:t>
            </a:r>
          </a:p>
          <a:p>
            <a:pPr>
              <a:lnSpc>
                <a:spcPct val="130000"/>
              </a:lnSpc>
              <a:spcBef>
                <a:spcPct val="50000"/>
              </a:spcBef>
            </a:pPr>
            <a:r>
              <a:rPr kumimoji="1" lang="en-US" altLang="zh-CN" sz="2400" b="1">
                <a:latin typeface="Times New Roman" panose="02020603050405020304" pitchFamily="18" charset="0"/>
              </a:rPr>
              <a:t>                   = 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G</a:t>
            </a:r>
            <a:r>
              <a:rPr kumimoji="1" lang="en-US" altLang="zh-CN" sz="2400" b="1" baseline="-25000">
                <a:latin typeface="Times New Roman" panose="02020603050405020304" pitchFamily="18" charset="0"/>
              </a:rPr>
              <a:t>1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u</a:t>
            </a:r>
            <a:r>
              <a:rPr kumimoji="1" lang="en-US" altLang="zh-CN" sz="2400" b="1" baseline="30000">
                <a:latin typeface="Times New Roman" panose="02020603050405020304" pitchFamily="18" charset="0"/>
              </a:rPr>
              <a:t>2 </a:t>
            </a:r>
            <a:r>
              <a:rPr kumimoji="1" lang="en-US" altLang="zh-CN" sz="2400" b="1">
                <a:latin typeface="Times New Roman" panose="02020603050405020304" pitchFamily="18" charset="0"/>
              </a:rPr>
              <a:t>+ 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G</a:t>
            </a:r>
            <a:r>
              <a:rPr kumimoji="1" lang="en-US" altLang="zh-CN" sz="2400" b="1" baseline="-25000">
                <a:latin typeface="Times New Roman" panose="02020603050405020304" pitchFamily="18" charset="0"/>
              </a:rPr>
              <a:t>2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u</a:t>
            </a:r>
            <a:r>
              <a:rPr kumimoji="1" lang="en-US" altLang="zh-CN" sz="2400" b="1" baseline="30000">
                <a:latin typeface="Times New Roman" panose="02020603050405020304" pitchFamily="18" charset="0"/>
              </a:rPr>
              <a:t>2 </a:t>
            </a:r>
            <a:r>
              <a:rPr kumimoji="1" lang="en-US" altLang="zh-CN" sz="2400" b="1">
                <a:latin typeface="Times New Roman" panose="02020603050405020304" pitchFamily="18" charset="0"/>
              </a:rPr>
              <a:t>+ </a:t>
            </a:r>
            <a:r>
              <a:rPr kumimoji="1" lang="en-US" altLang="zh-CN" sz="2400" b="1">
                <a:latin typeface="Times New Roman" panose="02020603050405020304" pitchFamily="18" charset="0"/>
                <a:sym typeface="MT Extra" panose="05050102010205020202" pitchFamily="18" charset="2"/>
              </a:rPr>
              <a:t></a:t>
            </a:r>
            <a:r>
              <a:rPr kumimoji="1"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2400" b="1">
                <a:latin typeface="Times New Roman" panose="02020603050405020304" pitchFamily="18" charset="0"/>
              </a:rPr>
              <a:t>+ 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G</a:t>
            </a:r>
            <a:r>
              <a:rPr kumimoji="1" lang="en-US" altLang="zh-CN" sz="2400" b="1" i="1" baseline="-25000">
                <a:latin typeface="Times New Roman" panose="02020603050405020304" pitchFamily="18" charset="0"/>
              </a:rPr>
              <a:t>n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u</a:t>
            </a:r>
            <a:r>
              <a:rPr kumimoji="1" lang="en-US" altLang="zh-CN" sz="2400" b="1" baseline="30000">
                <a:latin typeface="Times New Roman" panose="02020603050405020304" pitchFamily="18" charset="0"/>
              </a:rPr>
              <a:t>2</a:t>
            </a:r>
          </a:p>
          <a:p>
            <a:pPr>
              <a:lnSpc>
                <a:spcPct val="130000"/>
              </a:lnSpc>
              <a:spcBef>
                <a:spcPct val="50000"/>
              </a:spcBef>
            </a:pPr>
            <a:r>
              <a:rPr kumimoji="1" lang="en-US" altLang="zh-CN" sz="2400" b="1">
                <a:latin typeface="Times New Roman" panose="02020603050405020304" pitchFamily="18" charset="0"/>
              </a:rPr>
              <a:t>                   = 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p</a:t>
            </a:r>
            <a:r>
              <a:rPr kumimoji="1" lang="en-US" altLang="zh-CN" sz="2400" b="1" baseline="-25000">
                <a:latin typeface="Times New Roman" panose="02020603050405020304" pitchFamily="18" charset="0"/>
              </a:rPr>
              <a:t>1 </a:t>
            </a:r>
            <a:r>
              <a:rPr kumimoji="1" lang="en-US" altLang="zh-CN" sz="2400" b="1">
                <a:latin typeface="Times New Roman" panose="02020603050405020304" pitchFamily="18" charset="0"/>
              </a:rPr>
              <a:t>+  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p</a:t>
            </a:r>
            <a:r>
              <a:rPr kumimoji="1" lang="en-US" altLang="zh-CN" sz="2400" b="1" baseline="-25000">
                <a:latin typeface="Times New Roman" panose="02020603050405020304" pitchFamily="18" charset="0"/>
              </a:rPr>
              <a:t>2 </a:t>
            </a:r>
            <a:r>
              <a:rPr kumimoji="1" lang="en-US" altLang="zh-CN" sz="2400" b="1">
                <a:latin typeface="Times New Roman" panose="02020603050405020304" pitchFamily="18" charset="0"/>
              </a:rPr>
              <a:t>+ </a:t>
            </a:r>
            <a:r>
              <a:rPr kumimoji="1" lang="en-US" altLang="zh-CN" sz="2400" b="1">
                <a:latin typeface="Times New Roman" panose="02020603050405020304" pitchFamily="18" charset="0"/>
                <a:sym typeface="MT Extra" panose="05050102010205020202" pitchFamily="18" charset="2"/>
              </a:rPr>
              <a:t></a:t>
            </a:r>
            <a:r>
              <a:rPr kumimoji="1"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+  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p</a:t>
            </a:r>
            <a:r>
              <a:rPr kumimoji="1" lang="en-US" altLang="zh-CN" sz="2400" b="1" i="1" baseline="-25000">
                <a:latin typeface="Times New Roman" panose="02020603050405020304" pitchFamily="18" charset="0"/>
              </a:rPr>
              <a:t>n</a:t>
            </a:r>
            <a:endParaRPr kumimoji="1" lang="en-US" altLang="zh-CN" sz="2400" b="1">
              <a:latin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ct val="50000"/>
              </a:spcBef>
            </a:pPr>
            <a:endParaRPr kumimoji="1" lang="en-US" altLang="zh-CN" sz="2400" b="1" baseline="300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4128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49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49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49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49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9540" grpId="0" autoUpdateAnimBg="0"/>
      <p:bldP spid="449541" grpId="0" autoUpdateAnimBg="0"/>
      <p:bldP spid="449542" grpId="0" autoUpdateAnimBg="0"/>
      <p:bldP spid="449543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250D6D1F-3687-4EA8-AA43-140562B6DEF5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620B58-F3FC-4668-B68D-93CCA7A9A062}" type="slidenum">
              <a:rPr lang="en-US" altLang="zh-CN"/>
              <a:pPr>
                <a:defRPr/>
              </a:pPr>
              <a:t>14</a:t>
            </a:fld>
            <a:endParaRPr lang="en-US" altLang="zh-CN"/>
          </a:p>
        </p:txBody>
      </p:sp>
      <p:sp>
        <p:nvSpPr>
          <p:cNvPr id="8197" name="Rectangle 2"/>
          <p:cNvSpPr>
            <a:spLocks noChangeArrowheads="1"/>
          </p:cNvSpPr>
          <p:nvPr/>
        </p:nvSpPr>
        <p:spPr bwMode="auto">
          <a:xfrm>
            <a:off x="381000" y="668338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>
                <a:solidFill>
                  <a:srgbClr val="CC3300"/>
                </a:solidFill>
                <a:ea typeface="隶书" panose="02010509060101010101" pitchFamily="49" charset="-122"/>
              </a:rPr>
              <a:t>例</a:t>
            </a:r>
            <a:r>
              <a:rPr lang="en-US" altLang="zh-CN" sz="2800" dirty="0">
                <a:solidFill>
                  <a:srgbClr val="CC3300"/>
                </a:solidFill>
                <a:ea typeface="隶书" panose="02010509060101010101" pitchFamily="49" charset="-122"/>
              </a:rPr>
              <a:t>1: Find the equivalent resistance for the circuit.</a:t>
            </a:r>
          </a:p>
        </p:txBody>
      </p:sp>
      <p:graphicFrame>
        <p:nvGraphicFramePr>
          <p:cNvPr id="27034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4388120"/>
              </p:ext>
            </p:extLst>
          </p:nvPr>
        </p:nvGraphicFramePr>
        <p:xfrm>
          <a:off x="1475656" y="1196752"/>
          <a:ext cx="5111750" cy="172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6" name="Visio" r:id="rId3" imgW="2790947" imgH="957369" progId="Visio.Drawing.11">
                  <p:embed/>
                </p:oleObj>
              </mc:Choice>
              <mc:Fallback>
                <p:oleObj name="Visio" r:id="rId3" imgW="2790947" imgH="957369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5656" y="1196752"/>
                        <a:ext cx="5111750" cy="172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034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1862613"/>
              </p:ext>
            </p:extLst>
          </p:nvPr>
        </p:nvGraphicFramePr>
        <p:xfrm>
          <a:off x="928688" y="2078038"/>
          <a:ext cx="1093787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7" name="公式" r:id="rId5" imgW="545760" imgH="241200" progId="Equation.3">
                  <p:embed/>
                </p:oleObj>
              </mc:Choice>
              <mc:Fallback>
                <p:oleObj name="公式" r:id="rId5" imgW="545760" imgH="2412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8688" y="2078038"/>
                        <a:ext cx="1093787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>
                                <a:alpha val="50195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4" name="Rectangle 21"/>
          <p:cNvSpPr>
            <a:spLocks noChangeArrowheads="1"/>
          </p:cNvSpPr>
          <p:nvPr/>
        </p:nvSpPr>
        <p:spPr bwMode="auto">
          <a:xfrm>
            <a:off x="395288" y="163513"/>
            <a:ext cx="845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3200" dirty="0">
                <a:solidFill>
                  <a:schemeClr val="tx2"/>
                </a:solidFill>
                <a:ea typeface="隶书" panose="02010509060101010101" pitchFamily="49" charset="-122"/>
              </a:rPr>
              <a:t>2.2 </a:t>
            </a:r>
            <a:r>
              <a:rPr lang="zh-CN" altLang="en-US" sz="3200" dirty="0">
                <a:solidFill>
                  <a:schemeClr val="tx2"/>
                </a:solidFill>
                <a:ea typeface="隶书" panose="02010509060101010101" pitchFamily="49" charset="-122"/>
              </a:rPr>
              <a:t>串联与并联（例题）</a:t>
            </a:r>
            <a:endParaRPr lang="en-US" altLang="zh-CN" sz="3200" dirty="0">
              <a:solidFill>
                <a:schemeClr val="tx2"/>
              </a:solidFill>
              <a:ea typeface="隶书" panose="02010509060101010101" pitchFamily="49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47864" y="2920777"/>
            <a:ext cx="1042843" cy="440524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444208" y="1874098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无限网络等效电阻</a:t>
            </a:r>
          </a:p>
        </p:txBody>
      </p:sp>
      <p:sp>
        <p:nvSpPr>
          <p:cNvPr id="4" name="矩形 3"/>
          <p:cNvSpPr/>
          <p:nvPr/>
        </p:nvSpPr>
        <p:spPr bwMode="auto">
          <a:xfrm>
            <a:off x="3124200" y="1173163"/>
            <a:ext cx="3031976" cy="1818827"/>
          </a:xfrm>
          <a:prstGeom prst="rect">
            <a:avLst/>
          </a:prstGeom>
          <a:solidFill>
            <a:schemeClr val="accent6">
              <a:lumMod val="40000"/>
              <a:lumOff val="60000"/>
              <a:alpha val="44000"/>
            </a:schemeClr>
          </a:solidFill>
          <a:ln w="28575">
            <a:solidFill>
              <a:schemeClr val="accent6">
                <a:lumMod val="40000"/>
                <a:lumOff val="60000"/>
              </a:schemeClr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635375" y="3346170"/>
            <a:ext cx="72181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    可以等效为</a:t>
            </a:r>
            <a:r>
              <a:rPr lang="zh-CN" altLang="en-US" b="1" dirty="0"/>
              <a:t>局部的有限部分</a:t>
            </a:r>
            <a:r>
              <a:rPr lang="en-US" altLang="zh-CN" dirty="0"/>
              <a:t>+</a:t>
            </a:r>
            <a:r>
              <a:rPr lang="zh-CN" altLang="en-US" dirty="0"/>
              <a:t>无限部分（与整体联结规则相同），无限部分的等效电阻与整体的等效电阻相同。</a:t>
            </a:r>
          </a:p>
        </p:txBody>
      </p:sp>
      <p:graphicFrame>
        <p:nvGraphicFramePr>
          <p:cNvPr id="1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8133515"/>
              </p:ext>
            </p:extLst>
          </p:nvPr>
        </p:nvGraphicFramePr>
        <p:xfrm>
          <a:off x="1368553" y="3893314"/>
          <a:ext cx="5111750" cy="172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8" name="Visio" r:id="rId8" imgW="2781477" imgH="952480" progId="Visio.Drawing.11">
                  <p:embed/>
                </p:oleObj>
              </mc:Choice>
              <mc:Fallback>
                <p:oleObj name="Visio" r:id="rId8" imgW="2781477" imgH="952480" progId="Visio.Drawing.11">
                  <p:embed/>
                  <p:pic>
                    <p:nvPicPr>
                      <p:cNvPr id="27034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8553" y="3893314"/>
                        <a:ext cx="5111750" cy="172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2367752"/>
              </p:ext>
            </p:extLst>
          </p:nvPr>
        </p:nvGraphicFramePr>
        <p:xfrm>
          <a:off x="1017587" y="4775951"/>
          <a:ext cx="915987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9" name="公式" r:id="rId10" imgW="457200" imgH="241300" progId="Equation.3">
                  <p:embed/>
                </p:oleObj>
              </mc:Choice>
              <mc:Fallback>
                <p:oleObj name="公式" r:id="rId10" imgW="457200" imgH="241300" progId="Equation.3">
                  <p:embed/>
                  <p:pic>
                    <p:nvPicPr>
                      <p:cNvPr id="27034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7587" y="4775951"/>
                        <a:ext cx="915987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>
                                <a:alpha val="50195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4716016" y="4293096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运用串并联等效电阻的关系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4788024" y="5017251"/>
                <a:ext cx="2711768" cy="4104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𝑒𝑞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𝑒𝑞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dirty="0"/>
                  <a:t>//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8024" y="5017251"/>
                <a:ext cx="2711768" cy="410497"/>
              </a:xfrm>
              <a:prstGeom prst="rect">
                <a:avLst/>
              </a:prstGeom>
              <a:blipFill>
                <a:blip r:embed="rId12"/>
                <a:stretch>
                  <a:fillRect t="-7463" b="-134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4801716" y="5526022"/>
                <a:ext cx="2288447" cy="597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𝑒𝑞</m:t>
                              </m:r>
                            </m:sub>
                          </m:sSub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𝑒𝑞</m:t>
                              </m:r>
                            </m:sub>
                          </m:sSub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1716" y="5526022"/>
                <a:ext cx="2288447" cy="59766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5247448"/>
              </p:ext>
            </p:extLst>
          </p:nvPr>
        </p:nvGraphicFramePr>
        <p:xfrm>
          <a:off x="5173663" y="6149975"/>
          <a:ext cx="1093787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10" name="公式" r:id="rId14" imgW="545760" imgH="241200" progId="Equation.3">
                  <p:embed/>
                </p:oleObj>
              </mc:Choice>
              <mc:Fallback>
                <p:oleObj name="公式" r:id="rId14" imgW="545760" imgH="241200" progId="Equation.3">
                  <p:embed/>
                  <p:pic>
                    <p:nvPicPr>
                      <p:cNvPr id="1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3663" y="6149975"/>
                        <a:ext cx="1093787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>
                                <a:alpha val="50195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0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0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5" grpId="0"/>
      <p:bldP spid="7" grpId="0"/>
      <p:bldP spid="8" grpId="0"/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1C66AF1-24A0-446C-B0A8-326C494344F1}" type="datetime1">
              <a:rPr lang="zh-CN" altLang="en-US" smtClean="0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74CEB45-B7B4-4CEA-8E4A-DA539A380401}" type="slidenum">
              <a:rPr lang="en-US" altLang="zh-CN" smtClean="0"/>
              <a:pPr>
                <a:defRPr/>
              </a:pPr>
              <a:t>15</a:t>
            </a:fld>
            <a:endParaRPr lang="en-US" altLang="zh-CN"/>
          </a:p>
        </p:txBody>
      </p:sp>
      <p:graphicFrame>
        <p:nvGraphicFramePr>
          <p:cNvPr id="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9261571"/>
              </p:ext>
            </p:extLst>
          </p:nvPr>
        </p:nvGraphicFramePr>
        <p:xfrm>
          <a:off x="609600" y="1023938"/>
          <a:ext cx="4610100" cy="2836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96" name="VISIO" r:id="rId3" imgW="2522588" imgH="1545808" progId="Visio.Drawing.5">
                  <p:embed/>
                </p:oleObj>
              </mc:Choice>
              <mc:Fallback>
                <p:oleObj name="VISIO" r:id="rId3" imgW="2522588" imgH="1545808" progId="Visio.Drawing.5">
                  <p:embed/>
                  <p:pic>
                    <p:nvPicPr>
                      <p:cNvPr id="8199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1023938"/>
                        <a:ext cx="4610100" cy="2836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892396"/>
              </p:ext>
            </p:extLst>
          </p:nvPr>
        </p:nvGraphicFramePr>
        <p:xfrm>
          <a:off x="1907704" y="4187474"/>
          <a:ext cx="1423988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97" name="Equation" r:id="rId5" imgW="711200" imgH="228600" progId="Equation.3">
                  <p:embed/>
                </p:oleObj>
              </mc:Choice>
              <mc:Fallback>
                <p:oleObj name="Equation" r:id="rId5" imgW="711200" imgH="228600" progId="Equation.3">
                  <p:embed/>
                  <p:pic>
                    <p:nvPicPr>
                      <p:cNvPr id="8198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7704" y="4187474"/>
                        <a:ext cx="1423988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>
                                <a:alpha val="50195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381000" y="668338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>
                <a:solidFill>
                  <a:srgbClr val="CC3300"/>
                </a:solidFill>
                <a:ea typeface="隶书" panose="02010509060101010101" pitchFamily="49" charset="-122"/>
              </a:rPr>
              <a:t>例</a:t>
            </a:r>
            <a:r>
              <a:rPr lang="en-US" altLang="zh-CN" sz="2800" dirty="0">
                <a:solidFill>
                  <a:srgbClr val="CC3300"/>
                </a:solidFill>
                <a:ea typeface="隶书" panose="02010509060101010101" pitchFamily="49" charset="-122"/>
              </a:rPr>
              <a:t>2: Find the equivalent resistance for the circuit.</a:t>
            </a:r>
          </a:p>
        </p:txBody>
      </p:sp>
      <p:sp>
        <p:nvSpPr>
          <p:cNvPr id="10" name="矩形 9"/>
          <p:cNvSpPr/>
          <p:nvPr/>
        </p:nvSpPr>
        <p:spPr bwMode="auto">
          <a:xfrm>
            <a:off x="1727684" y="1268760"/>
            <a:ext cx="360040" cy="914400"/>
          </a:xfrm>
          <a:prstGeom prst="rect">
            <a:avLst/>
          </a:prstGeom>
          <a:solidFill>
            <a:schemeClr val="accent6">
              <a:lumMod val="40000"/>
              <a:lumOff val="60000"/>
              <a:alpha val="50000"/>
            </a:schemeClr>
          </a:solidFill>
          <a:ln w="22225">
            <a:solidFill>
              <a:schemeClr val="accent6">
                <a:lumMod val="40000"/>
                <a:lumOff val="60000"/>
              </a:schemeClr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1" name="矩形 10"/>
          <p:cNvSpPr/>
          <p:nvPr/>
        </p:nvSpPr>
        <p:spPr bwMode="auto">
          <a:xfrm>
            <a:off x="1727684" y="2922588"/>
            <a:ext cx="360040" cy="914400"/>
          </a:xfrm>
          <a:prstGeom prst="rect">
            <a:avLst/>
          </a:prstGeom>
          <a:solidFill>
            <a:schemeClr val="accent6">
              <a:lumMod val="40000"/>
              <a:lumOff val="60000"/>
              <a:alpha val="50000"/>
            </a:schemeClr>
          </a:solidFill>
          <a:ln w="22225">
            <a:solidFill>
              <a:schemeClr val="accent6">
                <a:lumMod val="40000"/>
                <a:lumOff val="60000"/>
              </a:schemeClr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2" name="L 形 11"/>
          <p:cNvSpPr/>
          <p:nvPr/>
        </p:nvSpPr>
        <p:spPr bwMode="auto">
          <a:xfrm rot="5400000">
            <a:off x="3240832" y="1881810"/>
            <a:ext cx="1296144" cy="1366191"/>
          </a:xfrm>
          <a:prstGeom prst="corner">
            <a:avLst>
              <a:gd name="adj1" fmla="val 24591"/>
              <a:gd name="adj2" fmla="val 32948"/>
            </a:avLst>
          </a:prstGeom>
          <a:solidFill>
            <a:schemeClr val="accent6">
              <a:lumMod val="40000"/>
              <a:lumOff val="60000"/>
              <a:alpha val="50000"/>
            </a:schemeClr>
          </a:solidFill>
          <a:ln w="19050">
            <a:solidFill>
              <a:schemeClr val="accent6">
                <a:lumMod val="40000"/>
                <a:lumOff val="60000"/>
              </a:schemeClr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35007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4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2274174"/>
              </p:ext>
            </p:extLst>
          </p:nvPr>
        </p:nvGraphicFramePr>
        <p:xfrm>
          <a:off x="165100" y="3552825"/>
          <a:ext cx="2357438" cy="168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86" name="Visio" r:id="rId3" imgW="1200281" imgH="866879" progId="Visio.Drawing.11">
                  <p:embed/>
                </p:oleObj>
              </mc:Choice>
              <mc:Fallback>
                <p:oleObj name="Visio" r:id="rId3" imgW="1200281" imgH="866879" progId="Visio.Drawing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100" y="3552825"/>
                        <a:ext cx="2357438" cy="168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38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3764807"/>
              </p:ext>
            </p:extLst>
          </p:nvPr>
        </p:nvGraphicFramePr>
        <p:xfrm>
          <a:off x="7205663" y="3645024"/>
          <a:ext cx="1528762" cy="168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87" name="Visio" r:id="rId5" imgW="793385" imgH="872252" progId="Visio.Drawing.11">
                  <p:embed/>
                </p:oleObj>
              </mc:Choice>
              <mc:Fallback>
                <p:oleObj name="Visio" r:id="rId5" imgW="793385" imgH="872252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05663" y="3645024"/>
                        <a:ext cx="1528762" cy="1685925"/>
                      </a:xfrm>
                      <a:prstGeom prst="rect">
                        <a:avLst/>
                      </a:prstGeom>
                      <a:solidFill>
                        <a:schemeClr val="accent1">
                          <a:alpha val="50195"/>
                        </a:schemeClr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0942891"/>
              </p:ext>
            </p:extLst>
          </p:nvPr>
        </p:nvGraphicFramePr>
        <p:xfrm>
          <a:off x="2370138" y="3552825"/>
          <a:ext cx="2463800" cy="168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88" name="Visio" r:id="rId7" imgW="1252533" imgH="866879" progId="Visio.Drawing.11">
                  <p:embed/>
                </p:oleObj>
              </mc:Choice>
              <mc:Fallback>
                <p:oleObj name="Visio" r:id="rId7" imgW="1252533" imgH="866879" progId="Visio.Drawing.11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0138" y="3552825"/>
                        <a:ext cx="2463800" cy="168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39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0408049"/>
              </p:ext>
            </p:extLst>
          </p:nvPr>
        </p:nvGraphicFramePr>
        <p:xfrm>
          <a:off x="5626100" y="584002"/>
          <a:ext cx="2463800" cy="168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89" name="Visio" r:id="rId9" imgW="1261443" imgH="872252" progId="Visio.Drawing.11">
                  <p:embed/>
                </p:oleObj>
              </mc:Choice>
              <mc:Fallback>
                <p:oleObj name="Visio" r:id="rId9" imgW="1261443" imgH="872252" progId="Visio.Drawing.11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26100" y="584002"/>
                        <a:ext cx="2463800" cy="168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2203657"/>
              </p:ext>
            </p:extLst>
          </p:nvPr>
        </p:nvGraphicFramePr>
        <p:xfrm>
          <a:off x="250825" y="620688"/>
          <a:ext cx="1585913" cy="227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90" name="Visio" r:id="rId11" imgW="822103" imgH="1167574" progId="Visio.Drawing.11">
                  <p:embed/>
                </p:oleObj>
              </mc:Choice>
              <mc:Fallback>
                <p:oleObj name="Visio" r:id="rId11" imgW="822103" imgH="1167574" progId="Visio.Drawing.11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620688"/>
                        <a:ext cx="1585913" cy="2278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39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7800"/>
              </p:ext>
            </p:extLst>
          </p:nvPr>
        </p:nvGraphicFramePr>
        <p:xfrm>
          <a:off x="527562" y="2979713"/>
          <a:ext cx="1627188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91" name="Equation" r:id="rId13" imgW="698500" imgH="228600" progId="Equation.DSMT4">
                  <p:embed/>
                </p:oleObj>
              </mc:Choice>
              <mc:Fallback>
                <p:oleObj name="Equation" r:id="rId13" imgW="698500" imgH="2286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7562" y="2979713"/>
                        <a:ext cx="1627188" cy="5334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99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399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5525681"/>
              </p:ext>
            </p:extLst>
          </p:nvPr>
        </p:nvGraphicFramePr>
        <p:xfrm>
          <a:off x="723900" y="5194300"/>
          <a:ext cx="917575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92" name="Equation" r:id="rId15" imgW="393480" imgH="228600" progId="Equation.DSMT4">
                  <p:embed/>
                </p:oleObj>
              </mc:Choice>
              <mc:Fallback>
                <p:oleObj name="Equation" r:id="rId15" imgW="393480" imgH="2286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" y="5194300"/>
                        <a:ext cx="917575" cy="5334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99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7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423924"/>
              </p:ext>
            </p:extLst>
          </p:nvPr>
        </p:nvGraphicFramePr>
        <p:xfrm>
          <a:off x="4887336" y="3834805"/>
          <a:ext cx="1584325" cy="1322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93" name="Visio" r:id="rId17" imgW="828532" imgH="692658" progId="Visio.Drawing.11">
                  <p:embed/>
                </p:oleObj>
              </mc:Choice>
              <mc:Fallback>
                <p:oleObj name="Visio" r:id="rId17" imgW="828532" imgH="692658" progId="Visio.Drawing.11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7336" y="3834805"/>
                        <a:ext cx="1584325" cy="1322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ectangle 14"/>
          <p:cNvSpPr>
            <a:spLocks noChangeArrowheads="1"/>
          </p:cNvSpPr>
          <p:nvPr/>
        </p:nvSpPr>
        <p:spPr bwMode="auto">
          <a:xfrm>
            <a:off x="251520" y="332656"/>
            <a:ext cx="8820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dirty="0">
                <a:solidFill>
                  <a:srgbClr val="CC3300"/>
                </a:solidFill>
                <a:ea typeface="隶书" panose="02010509060101010101" pitchFamily="49" charset="-122"/>
              </a:rPr>
              <a:t>3. </a:t>
            </a:r>
            <a:r>
              <a:rPr lang="zh-CN" altLang="en-US" sz="2800" dirty="0">
                <a:solidFill>
                  <a:srgbClr val="CC3300"/>
                </a:solidFill>
                <a:ea typeface="隶书" panose="02010509060101010101" pitchFamily="49" charset="-122"/>
              </a:rPr>
              <a:t>理想电压源的串联与并联</a:t>
            </a:r>
            <a:endParaRPr lang="en-US" altLang="zh-CN" sz="2800" dirty="0">
              <a:solidFill>
                <a:srgbClr val="CC3300"/>
              </a:solidFill>
              <a:ea typeface="隶书" panose="02010509060101010101" pitchFamily="49" charset="-122"/>
            </a:endParaRPr>
          </a:p>
        </p:txBody>
      </p:sp>
      <p:graphicFrame>
        <p:nvGraphicFramePr>
          <p:cNvPr id="2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2786788"/>
              </p:ext>
            </p:extLst>
          </p:nvPr>
        </p:nvGraphicFramePr>
        <p:xfrm>
          <a:off x="2747964" y="1031772"/>
          <a:ext cx="1528762" cy="168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94" name="Visio" r:id="rId5" imgW="793385" imgH="872252" progId="Visio.Drawing.11">
                  <p:embed/>
                </p:oleObj>
              </mc:Choice>
              <mc:Fallback>
                <p:oleObj name="Visio" r:id="rId5" imgW="793385" imgH="872252" progId="Visio.Drawing.11">
                  <p:embed/>
                  <p:pic>
                    <p:nvPicPr>
                      <p:cNvPr id="27238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7964" y="1031772"/>
                        <a:ext cx="1528762" cy="1685925"/>
                      </a:xfrm>
                      <a:prstGeom prst="rect">
                        <a:avLst/>
                      </a:prstGeom>
                      <a:solidFill>
                        <a:schemeClr val="accent1">
                          <a:alpha val="50195"/>
                        </a:schemeClr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7"/>
          <p:cNvSpPr>
            <a:spLocks noChangeArrowheads="1"/>
          </p:cNvSpPr>
          <p:nvPr/>
        </p:nvSpPr>
        <p:spPr bwMode="auto">
          <a:xfrm>
            <a:off x="1881345" y="1539361"/>
            <a:ext cx="8382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195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4400" b="1" dirty="0">
                <a:solidFill>
                  <a:schemeClr val="hlink"/>
                </a:solidFill>
                <a:ea typeface="隶书" panose="02010509060101010101" pitchFamily="49" charset="-122"/>
              </a:rPr>
              <a:t>→</a:t>
            </a:r>
          </a:p>
        </p:txBody>
      </p:sp>
      <p:sp>
        <p:nvSpPr>
          <p:cNvPr id="26" name="矩形 25"/>
          <p:cNvSpPr/>
          <p:nvPr/>
        </p:nvSpPr>
        <p:spPr>
          <a:xfrm>
            <a:off x="1865157" y="1429824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800" dirty="0">
                <a:solidFill>
                  <a:srgbClr val="CC3300"/>
                </a:solidFill>
                <a:ea typeface="隶书" panose="02010509060101010101" pitchFamily="49" charset="-122"/>
              </a:rPr>
              <a:t>等效</a:t>
            </a:r>
            <a:endParaRPr lang="zh-CN" altLang="en-US" dirty="0"/>
          </a:p>
        </p:txBody>
      </p:sp>
      <p:sp>
        <p:nvSpPr>
          <p:cNvPr id="27" name="Rectangle 7"/>
          <p:cNvSpPr>
            <a:spLocks noChangeArrowheads="1"/>
          </p:cNvSpPr>
          <p:nvPr/>
        </p:nvSpPr>
        <p:spPr bwMode="auto">
          <a:xfrm>
            <a:off x="6438900" y="4281339"/>
            <a:ext cx="8382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195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4400" b="1" dirty="0">
                <a:solidFill>
                  <a:schemeClr val="hlink"/>
                </a:solidFill>
                <a:ea typeface="隶书" panose="02010509060101010101" pitchFamily="49" charset="-122"/>
              </a:rPr>
              <a:t>→</a:t>
            </a:r>
          </a:p>
        </p:txBody>
      </p:sp>
      <p:sp>
        <p:nvSpPr>
          <p:cNvPr id="28" name="矩形 27"/>
          <p:cNvSpPr/>
          <p:nvPr/>
        </p:nvSpPr>
        <p:spPr>
          <a:xfrm>
            <a:off x="6422712" y="4171802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800" dirty="0">
                <a:solidFill>
                  <a:srgbClr val="CC3300"/>
                </a:solidFill>
                <a:ea typeface="隶书" panose="02010509060101010101" pitchFamily="49" charset="-122"/>
              </a:rPr>
              <a:t>等效</a:t>
            </a:r>
            <a:endParaRPr lang="zh-CN" altLang="en-US" dirty="0"/>
          </a:p>
        </p:txBody>
      </p:sp>
      <p:sp>
        <p:nvSpPr>
          <p:cNvPr id="2" name="矩形 1"/>
          <p:cNvSpPr/>
          <p:nvPr/>
        </p:nvSpPr>
        <p:spPr>
          <a:xfrm>
            <a:off x="2379022" y="3015580"/>
            <a:ext cx="38779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0" i="0" u="none" strike="noStrike" baseline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电压源串联等效为电压源。</a:t>
            </a:r>
            <a:endParaRPr lang="zh-CN" altLang="en-US" sz="240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65389" y="5845890"/>
            <a:ext cx="8494633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电压源并联任何元件、或并联一端口网络，均等效为电压源。</a:t>
            </a:r>
            <a:endParaRPr lang="en-US" altLang="zh-CN" sz="240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注意：对外等效（对内不等效）</a:t>
            </a:r>
          </a:p>
        </p:txBody>
      </p:sp>
      <p:graphicFrame>
        <p:nvGraphicFramePr>
          <p:cNvPr id="20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9286351"/>
              </p:ext>
            </p:extLst>
          </p:nvPr>
        </p:nvGraphicFramePr>
        <p:xfrm>
          <a:off x="2929082" y="5194300"/>
          <a:ext cx="917575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95" name="Equation" r:id="rId19" imgW="393480" imgH="228600" progId="Equation.DSMT4">
                  <p:embed/>
                </p:oleObj>
              </mc:Choice>
              <mc:Fallback>
                <p:oleObj name="Equation" r:id="rId19" imgW="393480" imgH="228600" progId="Equation.DSMT4">
                  <p:embed/>
                  <p:pic>
                    <p:nvPicPr>
                      <p:cNvPr id="272399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9082" y="5194300"/>
                        <a:ext cx="917575" cy="5334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99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8373517"/>
              </p:ext>
            </p:extLst>
          </p:nvPr>
        </p:nvGraphicFramePr>
        <p:xfrm>
          <a:off x="5339432" y="5169569"/>
          <a:ext cx="917575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96" name="Equation" r:id="rId20" imgW="393480" imgH="228600" progId="Equation.DSMT4">
                  <p:embed/>
                </p:oleObj>
              </mc:Choice>
              <mc:Fallback>
                <p:oleObj name="Equation" r:id="rId20" imgW="393480" imgH="228600" progId="Equation.DSMT4">
                  <p:embed/>
                  <p:pic>
                    <p:nvPicPr>
                      <p:cNvPr id="2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9432" y="5169569"/>
                        <a:ext cx="917575" cy="5334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99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382" name="Picture 142" descr="éé¦é¿èèå¤´ä¼¸ææç»GIFå¨æè¡¨æï¼ä¸è¡ ï¼ç»å¯¹ä¸è¡"/>
          <p:cNvPicPr>
            <a:picLocks noChangeAspect="1" noChangeArrowheads="1" noCrop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8344" y="1698101"/>
            <a:ext cx="1372790" cy="1372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  <p:bldP spid="28" grpId="0"/>
      <p:bldP spid="2" grpId="0"/>
      <p:bldP spid="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21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4807452"/>
              </p:ext>
            </p:extLst>
          </p:nvPr>
        </p:nvGraphicFramePr>
        <p:xfrm>
          <a:off x="2267744" y="3284984"/>
          <a:ext cx="1535113" cy="222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64" name="Visio" r:id="rId3" imgW="790678" imgH="1133339" progId="Visio.Drawing.11">
                  <p:embed/>
                </p:oleObj>
              </mc:Choice>
              <mc:Fallback>
                <p:oleObj name="Visio" r:id="rId3" imgW="790678" imgH="1133339" progId="Visio.Drawing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7744" y="3284984"/>
                        <a:ext cx="1535113" cy="2225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136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6934038"/>
              </p:ext>
            </p:extLst>
          </p:nvPr>
        </p:nvGraphicFramePr>
        <p:xfrm>
          <a:off x="6837576" y="824136"/>
          <a:ext cx="1535113" cy="222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65" name="Visio" r:id="rId5" imgW="796814" imgH="1142286" progId="Visio.Drawing.11">
                  <p:embed/>
                </p:oleObj>
              </mc:Choice>
              <mc:Fallback>
                <p:oleObj name="Visio" r:id="rId5" imgW="796814" imgH="1142286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7576" y="824136"/>
                        <a:ext cx="1535113" cy="2225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8145293"/>
              </p:ext>
            </p:extLst>
          </p:nvPr>
        </p:nvGraphicFramePr>
        <p:xfrm>
          <a:off x="467544" y="3252399"/>
          <a:ext cx="1484313" cy="222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66" name="Visio" r:id="rId7" imgW="762150" imgH="1133339" progId="Visio.Drawing.11">
                  <p:embed/>
                </p:oleObj>
              </mc:Choice>
              <mc:Fallback>
                <p:oleObj name="Visio" r:id="rId7" imgW="762150" imgH="1133339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544" y="3252399"/>
                        <a:ext cx="1484313" cy="2225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136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2815292"/>
              </p:ext>
            </p:extLst>
          </p:nvPr>
        </p:nvGraphicFramePr>
        <p:xfrm>
          <a:off x="4716016" y="620688"/>
          <a:ext cx="1484313" cy="222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67" name="Visio" r:id="rId9" imgW="771525" imgH="1142286" progId="Visio.Drawing.11">
                  <p:embed/>
                </p:oleObj>
              </mc:Choice>
              <mc:Fallback>
                <p:oleObj name="Visio" r:id="rId9" imgW="771525" imgH="1142286" progId="Visio.Drawing.11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016" y="620688"/>
                        <a:ext cx="1484313" cy="2225675"/>
                      </a:xfrm>
                      <a:prstGeom prst="rect">
                        <a:avLst/>
                      </a:prstGeom>
                      <a:solidFill>
                        <a:schemeClr val="accent1">
                          <a:alpha val="50195"/>
                        </a:schemeClr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1367" name="Rectangle 7"/>
          <p:cNvSpPr>
            <a:spLocks noChangeArrowheads="1"/>
          </p:cNvSpPr>
          <p:nvPr/>
        </p:nvSpPr>
        <p:spPr bwMode="auto">
          <a:xfrm>
            <a:off x="3695544" y="1535088"/>
            <a:ext cx="8382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195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4400" b="1" dirty="0">
                <a:solidFill>
                  <a:schemeClr val="hlink"/>
                </a:solidFill>
                <a:ea typeface="隶书" panose="02010509060101010101" pitchFamily="49" charset="-122"/>
              </a:rPr>
              <a:t>→</a:t>
            </a:r>
          </a:p>
        </p:txBody>
      </p:sp>
      <p:graphicFrame>
        <p:nvGraphicFramePr>
          <p:cNvPr id="9227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6540175"/>
              </p:ext>
            </p:extLst>
          </p:nvPr>
        </p:nvGraphicFramePr>
        <p:xfrm>
          <a:off x="304800" y="765151"/>
          <a:ext cx="3335338" cy="168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68" name="Visio" r:id="rId11" imgW="1696926" imgH="872252" progId="Visio.Drawing.11">
                  <p:embed/>
                </p:oleObj>
              </mc:Choice>
              <mc:Fallback>
                <p:oleObj name="Visio" r:id="rId11" imgW="1696926" imgH="872252" progId="Visio.Drawing.11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765151"/>
                        <a:ext cx="3335338" cy="1684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136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7198430"/>
              </p:ext>
            </p:extLst>
          </p:nvPr>
        </p:nvGraphicFramePr>
        <p:xfrm>
          <a:off x="914400" y="2754288"/>
          <a:ext cx="1895475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69" name="Equation" r:id="rId13" imgW="812447" imgH="228501" progId="Equation.3">
                  <p:embed/>
                </p:oleObj>
              </mc:Choice>
              <mc:Fallback>
                <p:oleObj name="Equation" r:id="rId13" imgW="812447" imgH="228501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754288"/>
                        <a:ext cx="1895475" cy="5334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99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137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0228775"/>
              </p:ext>
            </p:extLst>
          </p:nvPr>
        </p:nvGraphicFramePr>
        <p:xfrm>
          <a:off x="728663" y="5487988"/>
          <a:ext cx="74295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70" name="Equation" r:id="rId15" imgW="317160" imgH="228600" progId="Equation.DSMT4">
                  <p:embed/>
                </p:oleObj>
              </mc:Choice>
              <mc:Fallback>
                <p:oleObj name="Equation" r:id="rId15" imgW="317160" imgH="2286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8663" y="5487988"/>
                        <a:ext cx="742950" cy="5334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99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1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0900248"/>
              </p:ext>
            </p:extLst>
          </p:nvPr>
        </p:nvGraphicFramePr>
        <p:xfrm>
          <a:off x="4095030" y="3431563"/>
          <a:ext cx="1989138" cy="234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71" name="Visio" r:id="rId17" imgW="1057341" imgH="1276295" progId="Visio.Drawing.11">
                  <p:embed/>
                </p:oleObj>
              </mc:Choice>
              <mc:Fallback>
                <p:oleObj name="Visio" r:id="rId17" imgW="1057341" imgH="1276295" progId="Visio.Drawing.11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5030" y="3431563"/>
                        <a:ext cx="1989138" cy="234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32" name="Rectangle 14"/>
          <p:cNvSpPr>
            <a:spLocks noChangeArrowheads="1"/>
          </p:cNvSpPr>
          <p:nvPr/>
        </p:nvSpPr>
        <p:spPr bwMode="auto">
          <a:xfrm>
            <a:off x="323850" y="188640"/>
            <a:ext cx="8820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dirty="0">
                <a:solidFill>
                  <a:srgbClr val="CC3300"/>
                </a:solidFill>
                <a:ea typeface="隶书" panose="02010509060101010101" pitchFamily="49" charset="-122"/>
              </a:rPr>
              <a:t>3. </a:t>
            </a:r>
            <a:r>
              <a:rPr lang="zh-CN" altLang="en-US" sz="2800" dirty="0">
                <a:solidFill>
                  <a:srgbClr val="CC3300"/>
                </a:solidFill>
                <a:ea typeface="隶书" panose="02010509060101010101" pitchFamily="49" charset="-122"/>
              </a:rPr>
              <a:t>理想电流源的串联与并联</a:t>
            </a:r>
            <a:endParaRPr lang="en-US" altLang="zh-CN" sz="2800" dirty="0">
              <a:solidFill>
                <a:srgbClr val="CC3300"/>
              </a:solidFill>
              <a:ea typeface="隶书" panose="02010509060101010101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679356" y="1425551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800" dirty="0">
                <a:solidFill>
                  <a:srgbClr val="CC3300"/>
                </a:solidFill>
                <a:ea typeface="隶书" panose="02010509060101010101" pitchFamily="49" charset="-122"/>
              </a:rPr>
              <a:t>等效</a:t>
            </a:r>
            <a:endParaRPr lang="zh-CN" altLang="en-US" dirty="0"/>
          </a:p>
        </p:txBody>
      </p:sp>
      <p:graphicFrame>
        <p:nvGraphicFramePr>
          <p:cNvPr id="1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0746885"/>
              </p:ext>
            </p:extLst>
          </p:nvPr>
        </p:nvGraphicFramePr>
        <p:xfrm>
          <a:off x="7068343" y="3493475"/>
          <a:ext cx="1484313" cy="222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72" name="Visio" r:id="rId19" imgW="762150" imgH="1133339" progId="Visio.Drawing.11">
                  <p:embed/>
                </p:oleObj>
              </mc:Choice>
              <mc:Fallback>
                <p:oleObj name="Visio" r:id="rId19" imgW="762150" imgH="1133339" progId="Visio.Drawing.11">
                  <p:embed/>
                  <p:pic>
                    <p:nvPicPr>
                      <p:cNvPr id="27136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68343" y="3493475"/>
                        <a:ext cx="1484313" cy="2225675"/>
                      </a:xfrm>
                      <a:prstGeom prst="rect">
                        <a:avLst/>
                      </a:prstGeom>
                      <a:solidFill>
                        <a:schemeClr val="accent1">
                          <a:alpha val="50195"/>
                        </a:schemeClr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7"/>
          <p:cNvSpPr>
            <a:spLocks noChangeArrowheads="1"/>
          </p:cNvSpPr>
          <p:nvPr/>
        </p:nvSpPr>
        <p:spPr bwMode="auto">
          <a:xfrm>
            <a:off x="6191899" y="4313717"/>
            <a:ext cx="8382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195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4400" b="1" dirty="0">
                <a:solidFill>
                  <a:schemeClr val="hlink"/>
                </a:solidFill>
                <a:ea typeface="隶书" panose="02010509060101010101" pitchFamily="49" charset="-122"/>
              </a:rPr>
              <a:t>→</a:t>
            </a:r>
          </a:p>
        </p:txBody>
      </p:sp>
      <p:sp>
        <p:nvSpPr>
          <p:cNvPr id="21" name="矩形 20"/>
          <p:cNvSpPr/>
          <p:nvPr/>
        </p:nvSpPr>
        <p:spPr>
          <a:xfrm>
            <a:off x="6175711" y="4204180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800" dirty="0">
                <a:solidFill>
                  <a:srgbClr val="CC3300"/>
                </a:solidFill>
                <a:ea typeface="隶书" panose="02010509060101010101" pitchFamily="49" charset="-122"/>
              </a:rPr>
              <a:t>等效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3129513" y="2852936"/>
            <a:ext cx="38779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0" i="0" u="none" strike="noStrike" baseline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电流源并联等效为电流源。</a:t>
            </a:r>
            <a:endParaRPr lang="zh-CN" altLang="en-US" sz="240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97768" y="6021288"/>
            <a:ext cx="8494633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电流源串联任何元件、或串联一端口网络，均等效为电流源。</a:t>
            </a:r>
            <a:endParaRPr lang="en-US" altLang="zh-CN" sz="240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同样注意：只对外等效</a:t>
            </a:r>
          </a:p>
        </p:txBody>
      </p:sp>
      <p:graphicFrame>
        <p:nvGraphicFramePr>
          <p:cNvPr id="2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2172259"/>
              </p:ext>
            </p:extLst>
          </p:nvPr>
        </p:nvGraphicFramePr>
        <p:xfrm>
          <a:off x="2555776" y="5494784"/>
          <a:ext cx="74295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73" name="Equation" r:id="rId21" imgW="317160" imgH="228600" progId="Equation.DSMT4">
                  <p:embed/>
                </p:oleObj>
              </mc:Choice>
              <mc:Fallback>
                <p:oleObj name="Equation" r:id="rId21" imgW="317160" imgH="228600" progId="Equation.DSMT4">
                  <p:embed/>
                  <p:pic>
                    <p:nvPicPr>
                      <p:cNvPr id="27137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776" y="5494784"/>
                        <a:ext cx="742950" cy="5334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99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44002"/>
              </p:ext>
            </p:extLst>
          </p:nvPr>
        </p:nvGraphicFramePr>
        <p:xfrm>
          <a:off x="5252613" y="5522669"/>
          <a:ext cx="74295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74" name="Equation" r:id="rId23" imgW="317160" imgH="228600" progId="Equation.DSMT4">
                  <p:embed/>
                </p:oleObj>
              </mc:Choice>
              <mc:Fallback>
                <p:oleObj name="Equation" r:id="rId23" imgW="317160" imgH="228600" progId="Equation.DSMT4">
                  <p:embed/>
                  <p:pic>
                    <p:nvPicPr>
                      <p:cNvPr id="27137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2613" y="5522669"/>
                        <a:ext cx="742950" cy="5334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99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371" name="Picture 155" descr="http://ws2.sinaimg.cn/large/9150e4e5ly1flf5cbcpxzg206o06ot8n.gif"/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839" y="188640"/>
            <a:ext cx="1325959" cy="1325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1367" grpId="0"/>
      <p:bldP spid="2" grpId="0"/>
      <p:bldP spid="20" grpId="0"/>
      <p:bldP spid="21" grpId="0"/>
      <p:bldP spid="3" grpId="0"/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1C66AF1-24A0-446C-B0A8-326C494344F1}" type="datetime1">
              <a:rPr lang="zh-CN" altLang="en-US" smtClean="0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74CEB45-B7B4-4CEA-8E4A-DA539A380401}" type="slidenum">
              <a:rPr lang="en-US" altLang="zh-CN" smtClean="0"/>
              <a:pPr>
                <a:defRPr/>
              </a:pPr>
              <a:t>18</a:t>
            </a:fld>
            <a:endParaRPr lang="en-US" altLang="zh-CN"/>
          </a:p>
        </p:txBody>
      </p:sp>
      <p:grpSp>
        <p:nvGrpSpPr>
          <p:cNvPr id="7" name="Group 5"/>
          <p:cNvGrpSpPr>
            <a:grpSpLocks/>
          </p:cNvGrpSpPr>
          <p:nvPr/>
        </p:nvGrpSpPr>
        <p:grpSpPr bwMode="auto">
          <a:xfrm>
            <a:off x="327025" y="1052513"/>
            <a:ext cx="5487988" cy="2689225"/>
            <a:chOff x="192" y="667"/>
            <a:chExt cx="3457" cy="1694"/>
          </a:xfrm>
        </p:grpSpPr>
        <p:graphicFrame>
          <p:nvGraphicFramePr>
            <p:cNvPr id="8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54615531"/>
                </p:ext>
              </p:extLst>
            </p:nvPr>
          </p:nvGraphicFramePr>
          <p:xfrm>
            <a:off x="192" y="667"/>
            <a:ext cx="3457" cy="13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136" name="Visio" r:id="rId3" imgW="2773632" imgH="1084850" progId="Visio.Drawing.11">
                    <p:embed/>
                  </p:oleObj>
                </mc:Choice>
                <mc:Fallback>
                  <p:oleObj name="Visio" r:id="rId3" imgW="2773632" imgH="1084850" progId="Visio.Drawing.11">
                    <p:embed/>
                    <p:pic>
                      <p:nvPicPr>
                        <p:cNvPr id="1026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" y="667"/>
                          <a:ext cx="3457" cy="13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Rectangle 7"/>
            <p:cNvSpPr>
              <a:spLocks noChangeArrowheads="1"/>
            </p:cNvSpPr>
            <p:nvPr/>
          </p:nvSpPr>
          <p:spPr bwMode="auto">
            <a:xfrm>
              <a:off x="413" y="2073"/>
              <a:ext cx="149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dirty="0">
                  <a:solidFill>
                    <a:srgbClr val="CC3300"/>
                  </a:solidFill>
                  <a:ea typeface="隶书" panose="02010509060101010101" pitchFamily="49" charset="-122"/>
                </a:rPr>
                <a:t>Find the current </a:t>
              </a:r>
              <a:r>
                <a:rPr lang="en-US" altLang="zh-CN" i="1" dirty="0" err="1">
                  <a:solidFill>
                    <a:srgbClr val="CC3300"/>
                  </a:solidFill>
                  <a:ea typeface="隶书" panose="02010509060101010101" pitchFamily="49" charset="-122"/>
                </a:rPr>
                <a:t>i</a:t>
              </a:r>
              <a:r>
                <a:rPr lang="en-US" altLang="zh-CN" dirty="0">
                  <a:solidFill>
                    <a:srgbClr val="CC3300"/>
                  </a:solidFill>
                  <a:ea typeface="隶书" panose="02010509060101010101" pitchFamily="49" charset="-122"/>
                </a:rPr>
                <a:t>.</a:t>
              </a:r>
            </a:p>
          </p:txBody>
        </p:sp>
      </p:grp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6228184" y="2060848"/>
            <a:ext cx="9572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i="1" dirty="0" err="1">
                <a:solidFill>
                  <a:schemeClr val="tx2"/>
                </a:solidFill>
                <a:ea typeface="隶书" panose="02010509060101010101" pitchFamily="49" charset="-122"/>
              </a:rPr>
              <a:t>i</a:t>
            </a:r>
            <a:r>
              <a:rPr lang="en-US" altLang="zh-CN" sz="2800" i="1" dirty="0">
                <a:solidFill>
                  <a:schemeClr val="tx2"/>
                </a:solidFill>
                <a:ea typeface="隶书" panose="02010509060101010101" pitchFamily="49" charset="-122"/>
              </a:rPr>
              <a:t>=</a:t>
            </a:r>
            <a:r>
              <a:rPr lang="en-US" altLang="zh-CN" sz="2800" dirty="0">
                <a:solidFill>
                  <a:schemeClr val="tx2"/>
                </a:solidFill>
                <a:ea typeface="隶书" panose="02010509060101010101" pitchFamily="49" charset="-122"/>
              </a:rPr>
              <a:t>5A</a:t>
            </a:r>
          </a:p>
        </p:txBody>
      </p:sp>
    </p:spTree>
    <p:extLst>
      <p:ext uri="{BB962C8B-B14F-4D97-AF65-F5344CB8AC3E}">
        <p14:creationId xmlns:p14="http://schemas.microsoft.com/office/powerpoint/2010/main" val="340493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2.3</a:t>
            </a:r>
            <a:r>
              <a:rPr lang="zh-CN" altLang="en-US" dirty="0"/>
              <a:t>对称电路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380999" y="914400"/>
                <a:ext cx="4152901" cy="2784774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CN" dirty="0"/>
                  <a:t>1)</a:t>
                </a:r>
                <a:r>
                  <a:rPr lang="zh-CN" altLang="en-US" dirty="0"/>
                  <a:t>对称面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通过</a:t>
                </a:r>
                <a:r>
                  <a:rPr lang="zh-CN" altLang="en-US" dirty="0"/>
                  <a:t>端口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       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对称面两侧相同的电流分布，使得某些支路（</a:t>
                </a:r>
                <a:r>
                  <a:rPr lang="en-US" altLang="zh-CN" i="1" dirty="0"/>
                  <a:t>i</a:t>
                </a:r>
                <a:r>
                  <a:rPr lang="en-US" altLang="zh-CN" i="1" baseline="-25000" dirty="0"/>
                  <a:t>5</a:t>
                </a:r>
                <a:r>
                  <a:rPr lang="zh-CN" altLang="en-US" dirty="0"/>
                  <a:t>）电流为</a:t>
                </a:r>
                <a:r>
                  <a:rPr lang="en-US" altLang="zh-CN" dirty="0"/>
                  <a:t>0</a:t>
                </a:r>
                <a:r>
                  <a:rPr lang="zh-CN" altLang="en-US" dirty="0"/>
                  <a:t>，某些节点（</a:t>
                </a:r>
                <a:r>
                  <a:rPr lang="en-US" altLang="zh-CN" dirty="0"/>
                  <a:t>c</a:t>
                </a:r>
                <a:r>
                  <a:rPr lang="zh-CN" altLang="en-US" dirty="0"/>
                  <a:t>、</a:t>
                </a:r>
                <a:r>
                  <a:rPr lang="en-US" altLang="zh-CN" dirty="0"/>
                  <a:t>d</a:t>
                </a:r>
                <a:r>
                  <a:rPr lang="zh-CN" altLang="en-US" dirty="0"/>
                  <a:t>）等电位。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𝑒𝑞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0999" y="914400"/>
                <a:ext cx="4152901" cy="2784774"/>
              </a:xfrm>
              <a:blipFill>
                <a:blip r:embed="rId3"/>
                <a:stretch>
                  <a:fillRect l="-2199" t="-1751" r="-20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1C66AF1-24A0-446C-B0A8-326C494344F1}" type="datetime1">
              <a:rPr lang="zh-CN" altLang="en-US" smtClean="0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51526" y="6557237"/>
            <a:ext cx="2895600" cy="457200"/>
          </a:xfrm>
        </p:spPr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74CEB45-B7B4-4CEA-8E4A-DA539A380401}" type="slidenum">
              <a:rPr lang="en-US" altLang="zh-CN" smtClean="0"/>
              <a:pPr>
                <a:defRPr/>
              </a:pPr>
              <a:t>19</a:t>
            </a:fld>
            <a:endParaRPr lang="en-US" altLang="zh-CN"/>
          </a:p>
        </p:txBody>
      </p:sp>
      <p:grpSp>
        <p:nvGrpSpPr>
          <p:cNvPr id="7" name="Group 34"/>
          <p:cNvGrpSpPr>
            <a:grpSpLocks/>
          </p:cNvGrpSpPr>
          <p:nvPr/>
        </p:nvGrpSpPr>
        <p:grpSpPr bwMode="auto">
          <a:xfrm>
            <a:off x="4572000" y="1168400"/>
            <a:ext cx="3849688" cy="2209800"/>
            <a:chOff x="0" y="0"/>
            <a:chExt cx="2425" cy="1392"/>
          </a:xfrm>
        </p:grpSpPr>
        <p:sp>
          <p:nvSpPr>
            <p:cNvPr id="8" name="Rectangle 35"/>
            <p:cNvSpPr>
              <a:spLocks noChangeArrowheads="1"/>
            </p:cNvSpPr>
            <p:nvPr/>
          </p:nvSpPr>
          <p:spPr bwMode="auto">
            <a:xfrm rot="-7903512">
              <a:off x="1332" y="304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" name="Rectangle 36"/>
            <p:cNvSpPr>
              <a:spLocks noChangeArrowheads="1"/>
            </p:cNvSpPr>
            <p:nvPr/>
          </p:nvSpPr>
          <p:spPr bwMode="auto">
            <a:xfrm rot="-2919155">
              <a:off x="1854" y="310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" name="Rectangle 37"/>
            <p:cNvSpPr>
              <a:spLocks noChangeArrowheads="1"/>
            </p:cNvSpPr>
            <p:nvPr/>
          </p:nvSpPr>
          <p:spPr bwMode="auto">
            <a:xfrm rot="-5400000">
              <a:off x="1593" y="601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" name="Rectangle 38"/>
            <p:cNvSpPr>
              <a:spLocks noChangeArrowheads="1"/>
            </p:cNvSpPr>
            <p:nvPr/>
          </p:nvSpPr>
          <p:spPr bwMode="auto">
            <a:xfrm rot="-2874968">
              <a:off x="1299" y="880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" name="Rectangle 39"/>
            <p:cNvSpPr>
              <a:spLocks noChangeArrowheads="1"/>
            </p:cNvSpPr>
            <p:nvPr/>
          </p:nvSpPr>
          <p:spPr bwMode="auto">
            <a:xfrm rot="-7972038">
              <a:off x="1908" y="835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" name="Freeform 40"/>
            <p:cNvSpPr>
              <a:spLocks/>
            </p:cNvSpPr>
            <p:nvPr/>
          </p:nvSpPr>
          <p:spPr bwMode="auto">
            <a:xfrm>
              <a:off x="1465" y="196"/>
              <a:ext cx="176" cy="160"/>
            </a:xfrm>
            <a:custGeom>
              <a:avLst/>
              <a:gdLst>
                <a:gd name="T0" fmla="*/ 0 w 176"/>
                <a:gd name="T1" fmla="*/ 160 h 160"/>
                <a:gd name="T2" fmla="*/ 176 w 176"/>
                <a:gd name="T3" fmla="*/ 0 h 16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6" h="160">
                  <a:moveTo>
                    <a:pt x="0" y="160"/>
                  </a:moveTo>
                  <a:lnTo>
                    <a:pt x="176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41"/>
            <p:cNvSpPr>
              <a:spLocks/>
            </p:cNvSpPr>
            <p:nvPr/>
          </p:nvSpPr>
          <p:spPr bwMode="auto">
            <a:xfrm>
              <a:off x="1635" y="202"/>
              <a:ext cx="168" cy="141"/>
            </a:xfrm>
            <a:custGeom>
              <a:avLst/>
              <a:gdLst>
                <a:gd name="T0" fmla="*/ 168 w 168"/>
                <a:gd name="T1" fmla="*/ 141 h 141"/>
                <a:gd name="T2" fmla="*/ 0 w 168"/>
                <a:gd name="T3" fmla="*/ 0 h 14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68" h="141">
                  <a:moveTo>
                    <a:pt x="168" y="141"/>
                  </a:moveTo>
                  <a:lnTo>
                    <a:pt x="0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42"/>
            <p:cNvSpPr>
              <a:spLocks/>
            </p:cNvSpPr>
            <p:nvPr/>
          </p:nvSpPr>
          <p:spPr bwMode="auto">
            <a:xfrm>
              <a:off x="1057" y="508"/>
              <a:ext cx="233" cy="223"/>
            </a:xfrm>
            <a:custGeom>
              <a:avLst/>
              <a:gdLst>
                <a:gd name="T0" fmla="*/ 233 w 233"/>
                <a:gd name="T1" fmla="*/ 0 h 223"/>
                <a:gd name="T2" fmla="*/ 0 w 233"/>
                <a:gd name="T3" fmla="*/ 223 h 22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33" h="223">
                  <a:moveTo>
                    <a:pt x="233" y="0"/>
                  </a:moveTo>
                  <a:lnTo>
                    <a:pt x="0" y="223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Freeform 43"/>
            <p:cNvSpPr>
              <a:spLocks/>
            </p:cNvSpPr>
            <p:nvPr/>
          </p:nvSpPr>
          <p:spPr bwMode="auto">
            <a:xfrm>
              <a:off x="1989" y="511"/>
              <a:ext cx="225" cy="216"/>
            </a:xfrm>
            <a:custGeom>
              <a:avLst/>
              <a:gdLst>
                <a:gd name="T0" fmla="*/ 0 w 225"/>
                <a:gd name="T1" fmla="*/ 0 h 216"/>
                <a:gd name="T2" fmla="*/ 225 w 225"/>
                <a:gd name="T3" fmla="*/ 216 h 21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25" h="216">
                  <a:moveTo>
                    <a:pt x="0" y="0"/>
                  </a:moveTo>
                  <a:lnTo>
                    <a:pt x="225" y="216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Freeform 44"/>
            <p:cNvSpPr>
              <a:spLocks/>
            </p:cNvSpPr>
            <p:nvPr/>
          </p:nvSpPr>
          <p:spPr bwMode="auto">
            <a:xfrm>
              <a:off x="1075" y="731"/>
              <a:ext cx="183" cy="201"/>
            </a:xfrm>
            <a:custGeom>
              <a:avLst/>
              <a:gdLst>
                <a:gd name="T0" fmla="*/ 0 w 183"/>
                <a:gd name="T1" fmla="*/ 0 h 201"/>
                <a:gd name="T2" fmla="*/ 183 w 183"/>
                <a:gd name="T3" fmla="*/ 201 h 20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83" h="201">
                  <a:moveTo>
                    <a:pt x="0" y="0"/>
                  </a:moveTo>
                  <a:lnTo>
                    <a:pt x="183" y="201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Freeform 45"/>
            <p:cNvSpPr>
              <a:spLocks/>
            </p:cNvSpPr>
            <p:nvPr/>
          </p:nvSpPr>
          <p:spPr bwMode="auto">
            <a:xfrm>
              <a:off x="1422" y="1078"/>
              <a:ext cx="211" cy="183"/>
            </a:xfrm>
            <a:custGeom>
              <a:avLst/>
              <a:gdLst>
                <a:gd name="T0" fmla="*/ 0 w 211"/>
                <a:gd name="T1" fmla="*/ 0 h 183"/>
                <a:gd name="T2" fmla="*/ 211 w 211"/>
                <a:gd name="T3" fmla="*/ 183 h 18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11" h="183">
                  <a:moveTo>
                    <a:pt x="0" y="0"/>
                  </a:moveTo>
                  <a:lnTo>
                    <a:pt x="211" y="183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Freeform 46"/>
            <p:cNvSpPr>
              <a:spLocks/>
            </p:cNvSpPr>
            <p:nvPr/>
          </p:nvSpPr>
          <p:spPr bwMode="auto">
            <a:xfrm>
              <a:off x="1635" y="1030"/>
              <a:ext cx="243" cy="222"/>
            </a:xfrm>
            <a:custGeom>
              <a:avLst/>
              <a:gdLst>
                <a:gd name="T0" fmla="*/ 0 w 243"/>
                <a:gd name="T1" fmla="*/ 222 h 222"/>
                <a:gd name="T2" fmla="*/ 243 w 243"/>
                <a:gd name="T3" fmla="*/ 0 h 22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43" h="222">
                  <a:moveTo>
                    <a:pt x="0" y="222"/>
                  </a:moveTo>
                  <a:lnTo>
                    <a:pt x="243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Freeform 47"/>
            <p:cNvSpPr>
              <a:spLocks/>
            </p:cNvSpPr>
            <p:nvPr/>
          </p:nvSpPr>
          <p:spPr bwMode="auto">
            <a:xfrm>
              <a:off x="2053" y="724"/>
              <a:ext cx="158" cy="153"/>
            </a:xfrm>
            <a:custGeom>
              <a:avLst/>
              <a:gdLst>
                <a:gd name="T0" fmla="*/ 0 w 158"/>
                <a:gd name="T1" fmla="*/ 153 h 153"/>
                <a:gd name="T2" fmla="*/ 158 w 158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58" h="153">
                  <a:moveTo>
                    <a:pt x="0" y="153"/>
                  </a:moveTo>
                  <a:lnTo>
                    <a:pt x="158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Freeform 48"/>
            <p:cNvSpPr>
              <a:spLocks/>
            </p:cNvSpPr>
            <p:nvPr/>
          </p:nvSpPr>
          <p:spPr bwMode="auto">
            <a:xfrm>
              <a:off x="1059" y="724"/>
              <a:ext cx="462" cy="1"/>
            </a:xfrm>
            <a:custGeom>
              <a:avLst/>
              <a:gdLst>
                <a:gd name="T0" fmla="*/ 0 w 462"/>
                <a:gd name="T1" fmla="*/ 0 h 1"/>
                <a:gd name="T2" fmla="*/ 462 w 46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62" h="1">
                  <a:moveTo>
                    <a:pt x="0" y="0"/>
                  </a:moveTo>
                  <a:lnTo>
                    <a:pt x="462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Freeform 49"/>
            <p:cNvSpPr>
              <a:spLocks/>
            </p:cNvSpPr>
            <p:nvPr/>
          </p:nvSpPr>
          <p:spPr bwMode="auto">
            <a:xfrm>
              <a:off x="1764" y="724"/>
              <a:ext cx="447" cy="1"/>
            </a:xfrm>
            <a:custGeom>
              <a:avLst/>
              <a:gdLst>
                <a:gd name="T0" fmla="*/ 0 w 447"/>
                <a:gd name="T1" fmla="*/ 0 h 1"/>
                <a:gd name="T2" fmla="*/ 447 w 447"/>
                <a:gd name="T3" fmla="*/ 1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47" h="1">
                  <a:moveTo>
                    <a:pt x="0" y="0"/>
                  </a:moveTo>
                  <a:lnTo>
                    <a:pt x="447" y="1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50"/>
            <p:cNvSpPr>
              <a:spLocks noChangeShapeType="1"/>
            </p:cNvSpPr>
            <p:nvPr/>
          </p:nvSpPr>
          <p:spPr bwMode="auto">
            <a:xfrm>
              <a:off x="243" y="196"/>
              <a:ext cx="13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51"/>
            <p:cNvSpPr>
              <a:spLocks noChangeShapeType="1"/>
            </p:cNvSpPr>
            <p:nvPr/>
          </p:nvSpPr>
          <p:spPr bwMode="auto">
            <a:xfrm>
              <a:off x="237" y="1261"/>
              <a:ext cx="13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Oval 52"/>
            <p:cNvSpPr>
              <a:spLocks noChangeAspect="1" noChangeArrowheads="1"/>
            </p:cNvSpPr>
            <p:nvPr/>
          </p:nvSpPr>
          <p:spPr bwMode="auto">
            <a:xfrm>
              <a:off x="1596" y="184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6" name="Oval 53"/>
            <p:cNvSpPr>
              <a:spLocks noChangeAspect="1" noChangeArrowheads="1"/>
            </p:cNvSpPr>
            <p:nvPr/>
          </p:nvSpPr>
          <p:spPr bwMode="auto">
            <a:xfrm>
              <a:off x="1587" y="1213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7" name="Oval 54"/>
            <p:cNvSpPr>
              <a:spLocks noChangeAspect="1" noChangeArrowheads="1"/>
            </p:cNvSpPr>
            <p:nvPr/>
          </p:nvSpPr>
          <p:spPr bwMode="auto">
            <a:xfrm>
              <a:off x="1050" y="676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8" name="Oval 55"/>
            <p:cNvSpPr>
              <a:spLocks noChangeAspect="1" noChangeArrowheads="1"/>
            </p:cNvSpPr>
            <p:nvPr/>
          </p:nvSpPr>
          <p:spPr bwMode="auto">
            <a:xfrm>
              <a:off x="2169" y="676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9" name="Oval 56"/>
            <p:cNvSpPr>
              <a:spLocks noChangeAspect="1" noChangeArrowheads="1"/>
            </p:cNvSpPr>
            <p:nvPr/>
          </p:nvSpPr>
          <p:spPr bwMode="auto">
            <a:xfrm>
              <a:off x="195" y="148"/>
              <a:ext cx="68" cy="6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0" name="Oval 57"/>
            <p:cNvSpPr>
              <a:spLocks noChangeAspect="1" noChangeArrowheads="1"/>
            </p:cNvSpPr>
            <p:nvPr/>
          </p:nvSpPr>
          <p:spPr bwMode="auto">
            <a:xfrm>
              <a:off x="177" y="1222"/>
              <a:ext cx="68" cy="6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1" name="Text Box 58"/>
            <p:cNvSpPr txBox="1">
              <a:spLocks noChangeArrowheads="1"/>
            </p:cNvSpPr>
            <p:nvPr/>
          </p:nvSpPr>
          <p:spPr bwMode="auto">
            <a:xfrm>
              <a:off x="8" y="0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a</a:t>
              </a:r>
            </a:p>
          </p:txBody>
        </p:sp>
        <p:sp>
          <p:nvSpPr>
            <p:cNvPr id="32" name="Text Box 59"/>
            <p:cNvSpPr txBox="1">
              <a:spLocks noChangeArrowheads="1"/>
            </p:cNvSpPr>
            <p:nvPr/>
          </p:nvSpPr>
          <p:spPr bwMode="auto">
            <a:xfrm>
              <a:off x="869" y="549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c</a:t>
              </a:r>
            </a:p>
          </p:txBody>
        </p:sp>
        <p:sp>
          <p:nvSpPr>
            <p:cNvPr id="33" name="Text Box 60"/>
            <p:cNvSpPr txBox="1">
              <a:spLocks noChangeArrowheads="1"/>
            </p:cNvSpPr>
            <p:nvPr/>
          </p:nvSpPr>
          <p:spPr bwMode="auto">
            <a:xfrm>
              <a:off x="2213" y="55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d</a:t>
              </a:r>
            </a:p>
          </p:txBody>
        </p:sp>
        <p:sp>
          <p:nvSpPr>
            <p:cNvPr id="34" name="Text Box 61"/>
            <p:cNvSpPr txBox="1">
              <a:spLocks noChangeArrowheads="1"/>
            </p:cNvSpPr>
            <p:nvPr/>
          </p:nvSpPr>
          <p:spPr bwMode="auto">
            <a:xfrm>
              <a:off x="1011" y="227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 dirty="0"/>
                <a:t>R</a:t>
              </a:r>
              <a:r>
                <a:rPr lang="zh-CN" altLang="zh-CN" b="1" baseline="-25000" dirty="0"/>
                <a:t>1</a:t>
              </a:r>
              <a:endParaRPr lang="zh-CN" altLang="zh-CN" b="1" dirty="0"/>
            </a:p>
          </p:txBody>
        </p:sp>
        <p:sp>
          <p:nvSpPr>
            <p:cNvPr id="35" name="Text Box 62"/>
            <p:cNvSpPr txBox="1">
              <a:spLocks noChangeArrowheads="1"/>
            </p:cNvSpPr>
            <p:nvPr/>
          </p:nvSpPr>
          <p:spPr bwMode="auto">
            <a:xfrm>
              <a:off x="1011" y="916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4</a:t>
              </a:r>
              <a:endParaRPr lang="zh-CN" altLang="zh-CN" b="1"/>
            </a:p>
          </p:txBody>
        </p:sp>
        <p:sp>
          <p:nvSpPr>
            <p:cNvPr id="36" name="Text Box 63"/>
            <p:cNvSpPr txBox="1">
              <a:spLocks noChangeArrowheads="1"/>
            </p:cNvSpPr>
            <p:nvPr/>
          </p:nvSpPr>
          <p:spPr bwMode="auto">
            <a:xfrm>
              <a:off x="1947" y="952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3</a:t>
              </a:r>
              <a:endParaRPr lang="zh-CN" altLang="zh-CN" b="1"/>
            </a:p>
          </p:txBody>
        </p:sp>
        <p:sp>
          <p:nvSpPr>
            <p:cNvPr id="37" name="Text Box 64"/>
            <p:cNvSpPr txBox="1">
              <a:spLocks noChangeArrowheads="1"/>
            </p:cNvSpPr>
            <p:nvPr/>
          </p:nvSpPr>
          <p:spPr bwMode="auto">
            <a:xfrm>
              <a:off x="1923" y="196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2</a:t>
              </a:r>
              <a:endParaRPr lang="zh-CN" altLang="zh-CN" b="1"/>
            </a:p>
          </p:txBody>
        </p:sp>
        <p:sp>
          <p:nvSpPr>
            <p:cNvPr id="38" name="Text Box 65"/>
            <p:cNvSpPr txBox="1">
              <a:spLocks noChangeArrowheads="1"/>
            </p:cNvSpPr>
            <p:nvPr/>
          </p:nvSpPr>
          <p:spPr bwMode="auto">
            <a:xfrm>
              <a:off x="1491" y="436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5</a:t>
              </a:r>
              <a:endParaRPr lang="zh-CN" altLang="zh-CN" b="1"/>
            </a:p>
          </p:txBody>
        </p:sp>
        <p:sp>
          <p:nvSpPr>
            <p:cNvPr id="39" name="Text Box 66"/>
            <p:cNvSpPr txBox="1">
              <a:spLocks noChangeArrowheads="1"/>
            </p:cNvSpPr>
            <p:nvPr/>
          </p:nvSpPr>
          <p:spPr bwMode="auto">
            <a:xfrm>
              <a:off x="0" y="11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b</a:t>
              </a:r>
            </a:p>
          </p:txBody>
        </p:sp>
      </p:grpSp>
      <p:cxnSp>
        <p:nvCxnSpPr>
          <p:cNvPr id="107" name="直接连接符 106"/>
          <p:cNvCxnSpPr/>
          <p:nvPr/>
        </p:nvCxnSpPr>
        <p:spPr bwMode="auto">
          <a:xfrm>
            <a:off x="7164145" y="1094580"/>
            <a:ext cx="4762" cy="2509840"/>
          </a:xfrm>
          <a:prstGeom prst="line">
            <a:avLst/>
          </a:prstGeom>
          <a:solidFill>
            <a:schemeClr val="accent1"/>
          </a:solidFill>
          <a:ln w="31750" cap="flat" cmpd="sng" algn="ctr">
            <a:solidFill>
              <a:srgbClr val="FF0000"/>
            </a:solidFill>
            <a:prstDash val="dashDot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11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4300719"/>
              </p:ext>
            </p:extLst>
          </p:nvPr>
        </p:nvGraphicFramePr>
        <p:xfrm>
          <a:off x="4706938" y="1897063"/>
          <a:ext cx="1068387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91" name="公式" r:id="rId4" imgW="533160" imgH="241200" progId="Equation.3">
                  <p:embed/>
                </p:oleObj>
              </mc:Choice>
              <mc:Fallback>
                <p:oleObj name="公式" r:id="rId4" imgW="533160" imgH="241200" progId="Equation.3">
                  <p:embed/>
                  <p:pic>
                    <p:nvPicPr>
                      <p:cNvPr id="8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06938" y="1897063"/>
                        <a:ext cx="1068387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>
                                <a:alpha val="50195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7" name="组合 146"/>
          <p:cNvGrpSpPr/>
          <p:nvPr/>
        </p:nvGrpSpPr>
        <p:grpSpPr>
          <a:xfrm>
            <a:off x="487855" y="4089905"/>
            <a:ext cx="3368808" cy="2381918"/>
            <a:chOff x="2991389" y="4223532"/>
            <a:chExt cx="3368808" cy="2381918"/>
          </a:xfrm>
        </p:grpSpPr>
        <p:grpSp>
          <p:nvGrpSpPr>
            <p:cNvPr id="113" name="Group 34"/>
            <p:cNvGrpSpPr>
              <a:grpSpLocks/>
            </p:cNvGrpSpPr>
            <p:nvPr/>
          </p:nvGrpSpPr>
          <p:grpSpPr bwMode="auto">
            <a:xfrm>
              <a:off x="2991389" y="4223532"/>
              <a:ext cx="3368808" cy="2381918"/>
              <a:chOff x="342" y="32"/>
              <a:chExt cx="2083" cy="1392"/>
            </a:xfrm>
          </p:grpSpPr>
          <p:sp>
            <p:nvSpPr>
              <p:cNvPr id="114" name="Rectangle 35"/>
              <p:cNvSpPr>
                <a:spLocks noChangeArrowheads="1"/>
              </p:cNvSpPr>
              <p:nvPr/>
            </p:nvSpPr>
            <p:spPr bwMode="auto">
              <a:xfrm rot="-7903512">
                <a:off x="1332" y="304"/>
                <a:ext cx="96" cy="2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5" name="Rectangle 36"/>
              <p:cNvSpPr>
                <a:spLocks noChangeArrowheads="1"/>
              </p:cNvSpPr>
              <p:nvPr/>
            </p:nvSpPr>
            <p:spPr bwMode="auto">
              <a:xfrm rot="-2919155">
                <a:off x="1854" y="310"/>
                <a:ext cx="96" cy="2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7" name="Rectangle 38"/>
              <p:cNvSpPr>
                <a:spLocks noChangeArrowheads="1"/>
              </p:cNvSpPr>
              <p:nvPr/>
            </p:nvSpPr>
            <p:spPr bwMode="auto">
              <a:xfrm rot="-2874968">
                <a:off x="1299" y="880"/>
                <a:ext cx="96" cy="2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8" name="Rectangle 39"/>
              <p:cNvSpPr>
                <a:spLocks noChangeArrowheads="1"/>
              </p:cNvSpPr>
              <p:nvPr/>
            </p:nvSpPr>
            <p:spPr bwMode="auto">
              <a:xfrm rot="-7972038">
                <a:off x="1908" y="835"/>
                <a:ext cx="96" cy="2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9" name="Freeform 40"/>
              <p:cNvSpPr>
                <a:spLocks/>
              </p:cNvSpPr>
              <p:nvPr/>
            </p:nvSpPr>
            <p:spPr bwMode="auto">
              <a:xfrm>
                <a:off x="1465" y="196"/>
                <a:ext cx="176" cy="160"/>
              </a:xfrm>
              <a:custGeom>
                <a:avLst/>
                <a:gdLst>
                  <a:gd name="T0" fmla="*/ 0 w 176"/>
                  <a:gd name="T1" fmla="*/ 160 h 160"/>
                  <a:gd name="T2" fmla="*/ 176 w 176"/>
                  <a:gd name="T3" fmla="*/ 0 h 16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76" h="160">
                    <a:moveTo>
                      <a:pt x="0" y="160"/>
                    </a:moveTo>
                    <a:lnTo>
                      <a:pt x="176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0" name="Freeform 41"/>
              <p:cNvSpPr>
                <a:spLocks/>
              </p:cNvSpPr>
              <p:nvPr/>
            </p:nvSpPr>
            <p:spPr bwMode="auto">
              <a:xfrm>
                <a:off x="1635" y="202"/>
                <a:ext cx="168" cy="141"/>
              </a:xfrm>
              <a:custGeom>
                <a:avLst/>
                <a:gdLst>
                  <a:gd name="T0" fmla="*/ 168 w 168"/>
                  <a:gd name="T1" fmla="*/ 141 h 141"/>
                  <a:gd name="T2" fmla="*/ 0 w 168"/>
                  <a:gd name="T3" fmla="*/ 0 h 14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68" h="141">
                    <a:moveTo>
                      <a:pt x="168" y="141"/>
                    </a:moveTo>
                    <a:lnTo>
                      <a:pt x="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1" name="Freeform 42"/>
              <p:cNvSpPr>
                <a:spLocks/>
              </p:cNvSpPr>
              <p:nvPr/>
            </p:nvSpPr>
            <p:spPr bwMode="auto">
              <a:xfrm>
                <a:off x="1057" y="508"/>
                <a:ext cx="233" cy="223"/>
              </a:xfrm>
              <a:custGeom>
                <a:avLst/>
                <a:gdLst>
                  <a:gd name="T0" fmla="*/ 233 w 233"/>
                  <a:gd name="T1" fmla="*/ 0 h 223"/>
                  <a:gd name="T2" fmla="*/ 0 w 233"/>
                  <a:gd name="T3" fmla="*/ 223 h 22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33" h="223">
                    <a:moveTo>
                      <a:pt x="233" y="0"/>
                    </a:moveTo>
                    <a:lnTo>
                      <a:pt x="0" y="223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2" name="Freeform 43"/>
              <p:cNvSpPr>
                <a:spLocks/>
              </p:cNvSpPr>
              <p:nvPr/>
            </p:nvSpPr>
            <p:spPr bwMode="auto">
              <a:xfrm>
                <a:off x="1989" y="511"/>
                <a:ext cx="225" cy="216"/>
              </a:xfrm>
              <a:custGeom>
                <a:avLst/>
                <a:gdLst>
                  <a:gd name="T0" fmla="*/ 0 w 225"/>
                  <a:gd name="T1" fmla="*/ 0 h 216"/>
                  <a:gd name="T2" fmla="*/ 225 w 225"/>
                  <a:gd name="T3" fmla="*/ 216 h 21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25" h="216">
                    <a:moveTo>
                      <a:pt x="0" y="0"/>
                    </a:moveTo>
                    <a:lnTo>
                      <a:pt x="225" y="216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" name="Freeform 44"/>
              <p:cNvSpPr>
                <a:spLocks/>
              </p:cNvSpPr>
              <p:nvPr/>
            </p:nvSpPr>
            <p:spPr bwMode="auto">
              <a:xfrm>
                <a:off x="1075" y="731"/>
                <a:ext cx="183" cy="201"/>
              </a:xfrm>
              <a:custGeom>
                <a:avLst/>
                <a:gdLst>
                  <a:gd name="T0" fmla="*/ 0 w 183"/>
                  <a:gd name="T1" fmla="*/ 0 h 201"/>
                  <a:gd name="T2" fmla="*/ 183 w 183"/>
                  <a:gd name="T3" fmla="*/ 201 h 20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83" h="201">
                    <a:moveTo>
                      <a:pt x="0" y="0"/>
                    </a:moveTo>
                    <a:lnTo>
                      <a:pt x="183" y="201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" name="Freeform 45"/>
              <p:cNvSpPr>
                <a:spLocks/>
              </p:cNvSpPr>
              <p:nvPr/>
            </p:nvSpPr>
            <p:spPr bwMode="auto">
              <a:xfrm>
                <a:off x="1422" y="1078"/>
                <a:ext cx="211" cy="183"/>
              </a:xfrm>
              <a:custGeom>
                <a:avLst/>
                <a:gdLst>
                  <a:gd name="T0" fmla="*/ 0 w 211"/>
                  <a:gd name="T1" fmla="*/ 0 h 183"/>
                  <a:gd name="T2" fmla="*/ 211 w 211"/>
                  <a:gd name="T3" fmla="*/ 183 h 18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11" h="183">
                    <a:moveTo>
                      <a:pt x="0" y="0"/>
                    </a:moveTo>
                    <a:lnTo>
                      <a:pt x="211" y="183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" name="Freeform 46"/>
              <p:cNvSpPr>
                <a:spLocks/>
              </p:cNvSpPr>
              <p:nvPr/>
            </p:nvSpPr>
            <p:spPr bwMode="auto">
              <a:xfrm>
                <a:off x="1635" y="1030"/>
                <a:ext cx="243" cy="222"/>
              </a:xfrm>
              <a:custGeom>
                <a:avLst/>
                <a:gdLst>
                  <a:gd name="T0" fmla="*/ 0 w 243"/>
                  <a:gd name="T1" fmla="*/ 222 h 222"/>
                  <a:gd name="T2" fmla="*/ 243 w 243"/>
                  <a:gd name="T3" fmla="*/ 0 h 22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43" h="222">
                    <a:moveTo>
                      <a:pt x="0" y="222"/>
                    </a:moveTo>
                    <a:lnTo>
                      <a:pt x="243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6" name="Freeform 47"/>
              <p:cNvSpPr>
                <a:spLocks/>
              </p:cNvSpPr>
              <p:nvPr/>
            </p:nvSpPr>
            <p:spPr bwMode="auto">
              <a:xfrm>
                <a:off x="2053" y="724"/>
                <a:ext cx="158" cy="153"/>
              </a:xfrm>
              <a:custGeom>
                <a:avLst/>
                <a:gdLst>
                  <a:gd name="T0" fmla="*/ 0 w 158"/>
                  <a:gd name="T1" fmla="*/ 153 h 153"/>
                  <a:gd name="T2" fmla="*/ 158 w 158"/>
                  <a:gd name="T3" fmla="*/ 0 h 15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58" h="153">
                    <a:moveTo>
                      <a:pt x="0" y="153"/>
                    </a:moveTo>
                    <a:lnTo>
                      <a:pt x="158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" name="Freeform 48"/>
              <p:cNvSpPr>
                <a:spLocks/>
              </p:cNvSpPr>
              <p:nvPr/>
            </p:nvSpPr>
            <p:spPr bwMode="auto">
              <a:xfrm>
                <a:off x="1059" y="724"/>
                <a:ext cx="462" cy="1"/>
              </a:xfrm>
              <a:custGeom>
                <a:avLst/>
                <a:gdLst>
                  <a:gd name="T0" fmla="*/ 0 w 462"/>
                  <a:gd name="T1" fmla="*/ 0 h 1"/>
                  <a:gd name="T2" fmla="*/ 462 w 462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62" h="1">
                    <a:moveTo>
                      <a:pt x="0" y="0"/>
                    </a:moveTo>
                    <a:lnTo>
                      <a:pt x="462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8" name="Freeform 49"/>
              <p:cNvSpPr>
                <a:spLocks/>
              </p:cNvSpPr>
              <p:nvPr/>
            </p:nvSpPr>
            <p:spPr bwMode="auto">
              <a:xfrm>
                <a:off x="1764" y="724"/>
                <a:ext cx="447" cy="1"/>
              </a:xfrm>
              <a:custGeom>
                <a:avLst/>
                <a:gdLst>
                  <a:gd name="T0" fmla="*/ 0 w 447"/>
                  <a:gd name="T1" fmla="*/ 0 h 1"/>
                  <a:gd name="T2" fmla="*/ 447 w 447"/>
                  <a:gd name="T3" fmla="*/ 1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47" h="1">
                    <a:moveTo>
                      <a:pt x="0" y="0"/>
                    </a:moveTo>
                    <a:lnTo>
                      <a:pt x="447" y="1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" name="Line 50"/>
              <p:cNvSpPr>
                <a:spLocks noChangeShapeType="1"/>
              </p:cNvSpPr>
              <p:nvPr/>
            </p:nvSpPr>
            <p:spPr bwMode="auto">
              <a:xfrm flipV="1">
                <a:off x="622" y="196"/>
                <a:ext cx="1013" cy="1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0" name="Line 51"/>
              <p:cNvSpPr>
                <a:spLocks noChangeShapeType="1"/>
              </p:cNvSpPr>
              <p:nvPr/>
            </p:nvSpPr>
            <p:spPr bwMode="auto">
              <a:xfrm>
                <a:off x="626" y="1251"/>
                <a:ext cx="1003" cy="1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" name="Oval 52"/>
              <p:cNvSpPr>
                <a:spLocks noChangeAspect="1" noChangeArrowheads="1"/>
              </p:cNvSpPr>
              <p:nvPr/>
            </p:nvSpPr>
            <p:spPr bwMode="auto">
              <a:xfrm>
                <a:off x="1596" y="184"/>
                <a:ext cx="68" cy="68"/>
              </a:xfrm>
              <a:prstGeom prst="ellipse">
                <a:avLst/>
              </a:prstGeom>
              <a:solidFill>
                <a:schemeClr val="tx2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2" name="Oval 53"/>
              <p:cNvSpPr>
                <a:spLocks noChangeAspect="1" noChangeArrowheads="1"/>
              </p:cNvSpPr>
              <p:nvPr/>
            </p:nvSpPr>
            <p:spPr bwMode="auto">
              <a:xfrm>
                <a:off x="1587" y="1213"/>
                <a:ext cx="68" cy="68"/>
              </a:xfrm>
              <a:prstGeom prst="ellipse">
                <a:avLst/>
              </a:prstGeom>
              <a:solidFill>
                <a:schemeClr val="tx2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3" name="Oval 54"/>
              <p:cNvSpPr>
                <a:spLocks noChangeAspect="1" noChangeArrowheads="1"/>
              </p:cNvSpPr>
              <p:nvPr/>
            </p:nvSpPr>
            <p:spPr bwMode="auto">
              <a:xfrm>
                <a:off x="1050" y="676"/>
                <a:ext cx="68" cy="68"/>
              </a:xfrm>
              <a:prstGeom prst="ellipse">
                <a:avLst/>
              </a:prstGeom>
              <a:solidFill>
                <a:schemeClr val="tx2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4" name="Oval 55"/>
              <p:cNvSpPr>
                <a:spLocks noChangeAspect="1" noChangeArrowheads="1"/>
              </p:cNvSpPr>
              <p:nvPr/>
            </p:nvSpPr>
            <p:spPr bwMode="auto">
              <a:xfrm>
                <a:off x="2169" y="676"/>
                <a:ext cx="68" cy="68"/>
              </a:xfrm>
              <a:prstGeom prst="ellipse">
                <a:avLst/>
              </a:prstGeom>
              <a:solidFill>
                <a:schemeClr val="tx2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5" name="Oval 56"/>
              <p:cNvSpPr>
                <a:spLocks noChangeAspect="1" noChangeArrowheads="1"/>
              </p:cNvSpPr>
              <p:nvPr/>
            </p:nvSpPr>
            <p:spPr bwMode="auto">
              <a:xfrm>
                <a:off x="537" y="180"/>
                <a:ext cx="68" cy="68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6" name="Oval 57"/>
              <p:cNvSpPr>
                <a:spLocks noChangeAspect="1" noChangeArrowheads="1"/>
              </p:cNvSpPr>
              <p:nvPr/>
            </p:nvSpPr>
            <p:spPr bwMode="auto">
              <a:xfrm>
                <a:off x="519" y="1254"/>
                <a:ext cx="68" cy="68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7" name="Text Box 58"/>
              <p:cNvSpPr txBox="1">
                <a:spLocks noChangeArrowheads="1"/>
              </p:cNvSpPr>
              <p:nvPr/>
            </p:nvSpPr>
            <p:spPr bwMode="auto">
              <a:xfrm>
                <a:off x="350" y="32"/>
                <a:ext cx="20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sz="2400"/>
                  <a:t>a</a:t>
                </a:r>
              </a:p>
            </p:txBody>
          </p:sp>
          <p:sp>
            <p:nvSpPr>
              <p:cNvPr id="138" name="Text Box 59"/>
              <p:cNvSpPr txBox="1">
                <a:spLocks noChangeArrowheads="1"/>
              </p:cNvSpPr>
              <p:nvPr/>
            </p:nvSpPr>
            <p:spPr bwMode="auto">
              <a:xfrm>
                <a:off x="869" y="549"/>
                <a:ext cx="20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sz="2400"/>
                  <a:t>c</a:t>
                </a:r>
              </a:p>
            </p:txBody>
          </p:sp>
          <p:sp>
            <p:nvSpPr>
              <p:cNvPr id="139" name="Text Box 60"/>
              <p:cNvSpPr txBox="1">
                <a:spLocks noChangeArrowheads="1"/>
              </p:cNvSpPr>
              <p:nvPr/>
            </p:nvSpPr>
            <p:spPr bwMode="auto">
              <a:xfrm>
                <a:off x="2213" y="558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sz="2400"/>
                  <a:t>d</a:t>
                </a:r>
              </a:p>
            </p:txBody>
          </p:sp>
          <p:sp>
            <p:nvSpPr>
              <p:cNvPr id="140" name="Text Box 61"/>
              <p:cNvSpPr txBox="1">
                <a:spLocks noChangeArrowheads="1"/>
              </p:cNvSpPr>
              <p:nvPr/>
            </p:nvSpPr>
            <p:spPr bwMode="auto">
              <a:xfrm>
                <a:off x="1011" y="227"/>
                <a:ext cx="28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b="1" dirty="0"/>
                  <a:t>R</a:t>
                </a:r>
                <a:r>
                  <a:rPr lang="zh-CN" altLang="zh-CN" b="1" baseline="-25000" dirty="0"/>
                  <a:t>1</a:t>
                </a:r>
                <a:endParaRPr lang="zh-CN" altLang="zh-CN" b="1" dirty="0"/>
              </a:p>
            </p:txBody>
          </p:sp>
          <p:sp>
            <p:nvSpPr>
              <p:cNvPr id="141" name="Text Box 62"/>
              <p:cNvSpPr txBox="1">
                <a:spLocks noChangeArrowheads="1"/>
              </p:cNvSpPr>
              <p:nvPr/>
            </p:nvSpPr>
            <p:spPr bwMode="auto">
              <a:xfrm>
                <a:off x="1011" y="916"/>
                <a:ext cx="28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b="1" dirty="0"/>
                  <a:t>R</a:t>
                </a:r>
                <a:r>
                  <a:rPr lang="zh-CN" altLang="zh-CN" b="1" baseline="-25000" dirty="0"/>
                  <a:t>4</a:t>
                </a:r>
                <a:endParaRPr lang="zh-CN" altLang="zh-CN" b="1" dirty="0"/>
              </a:p>
            </p:txBody>
          </p:sp>
          <p:sp>
            <p:nvSpPr>
              <p:cNvPr id="142" name="Text Box 63"/>
              <p:cNvSpPr txBox="1">
                <a:spLocks noChangeArrowheads="1"/>
              </p:cNvSpPr>
              <p:nvPr/>
            </p:nvSpPr>
            <p:spPr bwMode="auto">
              <a:xfrm>
                <a:off x="1947" y="952"/>
                <a:ext cx="28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b="1"/>
                  <a:t>R</a:t>
                </a:r>
                <a:r>
                  <a:rPr lang="zh-CN" altLang="zh-CN" b="1" baseline="-25000"/>
                  <a:t>3</a:t>
                </a:r>
                <a:endParaRPr lang="zh-CN" altLang="zh-CN" b="1"/>
              </a:p>
            </p:txBody>
          </p:sp>
          <p:sp>
            <p:nvSpPr>
              <p:cNvPr id="143" name="Text Box 64"/>
              <p:cNvSpPr txBox="1">
                <a:spLocks noChangeArrowheads="1"/>
              </p:cNvSpPr>
              <p:nvPr/>
            </p:nvSpPr>
            <p:spPr bwMode="auto">
              <a:xfrm>
                <a:off x="1923" y="196"/>
                <a:ext cx="28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b="1"/>
                  <a:t>R</a:t>
                </a:r>
                <a:r>
                  <a:rPr lang="zh-CN" altLang="zh-CN" b="1" baseline="-25000"/>
                  <a:t>2</a:t>
                </a:r>
                <a:endParaRPr lang="zh-CN" altLang="zh-CN" b="1"/>
              </a:p>
            </p:txBody>
          </p:sp>
          <p:sp>
            <p:nvSpPr>
              <p:cNvPr id="145" name="Text Box 66"/>
              <p:cNvSpPr txBox="1">
                <a:spLocks noChangeArrowheads="1"/>
              </p:cNvSpPr>
              <p:nvPr/>
            </p:nvSpPr>
            <p:spPr bwMode="auto">
              <a:xfrm>
                <a:off x="342" y="113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sz="2400"/>
                  <a:t>b</a:t>
                </a:r>
              </a:p>
            </p:txBody>
          </p:sp>
        </p:grpSp>
        <p:sp>
          <p:nvSpPr>
            <p:cNvPr id="146" name="Text Box 61"/>
            <p:cNvSpPr txBox="1">
              <a:spLocks noChangeArrowheads="1"/>
            </p:cNvSpPr>
            <p:nvPr/>
          </p:nvSpPr>
          <p:spPr bwMode="auto">
            <a:xfrm>
              <a:off x="4977057" y="4969302"/>
              <a:ext cx="614271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dirty="0"/>
                <a:t>i</a:t>
              </a:r>
              <a:r>
                <a:rPr lang="en-US" altLang="zh-CN" b="1" baseline="-25000" dirty="0"/>
                <a:t>5</a:t>
              </a:r>
              <a:r>
                <a:rPr lang="en-US" altLang="zh-CN" b="1" dirty="0"/>
                <a:t>=0</a:t>
              </a:r>
              <a:endParaRPr lang="zh-CN" altLang="zh-CN" b="1" dirty="0"/>
            </a:p>
          </p:txBody>
        </p:sp>
      </p:grpSp>
      <p:grpSp>
        <p:nvGrpSpPr>
          <p:cNvPr id="181" name="组合 180"/>
          <p:cNvGrpSpPr/>
          <p:nvPr/>
        </p:nvGrpSpPr>
        <p:grpSpPr>
          <a:xfrm>
            <a:off x="3542570" y="4070350"/>
            <a:ext cx="3368808" cy="2381918"/>
            <a:chOff x="2991389" y="4223532"/>
            <a:chExt cx="3368808" cy="2381918"/>
          </a:xfrm>
        </p:grpSpPr>
        <p:grpSp>
          <p:nvGrpSpPr>
            <p:cNvPr id="182" name="Group 34"/>
            <p:cNvGrpSpPr>
              <a:grpSpLocks/>
            </p:cNvGrpSpPr>
            <p:nvPr/>
          </p:nvGrpSpPr>
          <p:grpSpPr bwMode="auto">
            <a:xfrm>
              <a:off x="2991389" y="4223532"/>
              <a:ext cx="3368808" cy="2381918"/>
              <a:chOff x="342" y="32"/>
              <a:chExt cx="2083" cy="1392"/>
            </a:xfrm>
          </p:grpSpPr>
          <p:sp>
            <p:nvSpPr>
              <p:cNvPr id="184" name="Rectangle 35"/>
              <p:cNvSpPr>
                <a:spLocks noChangeArrowheads="1"/>
              </p:cNvSpPr>
              <p:nvPr/>
            </p:nvSpPr>
            <p:spPr bwMode="auto">
              <a:xfrm rot="-7903512">
                <a:off x="1332" y="304"/>
                <a:ext cx="96" cy="2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5" name="Rectangle 36"/>
              <p:cNvSpPr>
                <a:spLocks noChangeArrowheads="1"/>
              </p:cNvSpPr>
              <p:nvPr/>
            </p:nvSpPr>
            <p:spPr bwMode="auto">
              <a:xfrm rot="-2919155">
                <a:off x="1854" y="310"/>
                <a:ext cx="96" cy="2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6" name="Rectangle 38"/>
              <p:cNvSpPr>
                <a:spLocks noChangeArrowheads="1"/>
              </p:cNvSpPr>
              <p:nvPr/>
            </p:nvSpPr>
            <p:spPr bwMode="auto">
              <a:xfrm rot="-2874968">
                <a:off x="1299" y="880"/>
                <a:ext cx="96" cy="2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7" name="Rectangle 39"/>
              <p:cNvSpPr>
                <a:spLocks noChangeArrowheads="1"/>
              </p:cNvSpPr>
              <p:nvPr/>
            </p:nvSpPr>
            <p:spPr bwMode="auto">
              <a:xfrm rot="-7972038">
                <a:off x="1908" y="835"/>
                <a:ext cx="96" cy="2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8" name="Freeform 40"/>
              <p:cNvSpPr>
                <a:spLocks/>
              </p:cNvSpPr>
              <p:nvPr/>
            </p:nvSpPr>
            <p:spPr bwMode="auto">
              <a:xfrm>
                <a:off x="1465" y="196"/>
                <a:ext cx="176" cy="160"/>
              </a:xfrm>
              <a:custGeom>
                <a:avLst/>
                <a:gdLst>
                  <a:gd name="T0" fmla="*/ 0 w 176"/>
                  <a:gd name="T1" fmla="*/ 160 h 160"/>
                  <a:gd name="T2" fmla="*/ 176 w 176"/>
                  <a:gd name="T3" fmla="*/ 0 h 16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76" h="160">
                    <a:moveTo>
                      <a:pt x="0" y="160"/>
                    </a:moveTo>
                    <a:lnTo>
                      <a:pt x="176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9" name="Freeform 41"/>
              <p:cNvSpPr>
                <a:spLocks/>
              </p:cNvSpPr>
              <p:nvPr/>
            </p:nvSpPr>
            <p:spPr bwMode="auto">
              <a:xfrm>
                <a:off x="1635" y="202"/>
                <a:ext cx="168" cy="141"/>
              </a:xfrm>
              <a:custGeom>
                <a:avLst/>
                <a:gdLst>
                  <a:gd name="T0" fmla="*/ 168 w 168"/>
                  <a:gd name="T1" fmla="*/ 141 h 141"/>
                  <a:gd name="T2" fmla="*/ 0 w 168"/>
                  <a:gd name="T3" fmla="*/ 0 h 14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68" h="141">
                    <a:moveTo>
                      <a:pt x="168" y="141"/>
                    </a:moveTo>
                    <a:lnTo>
                      <a:pt x="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0" name="Freeform 42"/>
              <p:cNvSpPr>
                <a:spLocks/>
              </p:cNvSpPr>
              <p:nvPr/>
            </p:nvSpPr>
            <p:spPr bwMode="auto">
              <a:xfrm>
                <a:off x="1057" y="508"/>
                <a:ext cx="233" cy="223"/>
              </a:xfrm>
              <a:custGeom>
                <a:avLst/>
                <a:gdLst>
                  <a:gd name="T0" fmla="*/ 233 w 233"/>
                  <a:gd name="T1" fmla="*/ 0 h 223"/>
                  <a:gd name="T2" fmla="*/ 0 w 233"/>
                  <a:gd name="T3" fmla="*/ 223 h 22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33" h="223">
                    <a:moveTo>
                      <a:pt x="233" y="0"/>
                    </a:moveTo>
                    <a:lnTo>
                      <a:pt x="0" y="223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1" name="Freeform 43"/>
              <p:cNvSpPr>
                <a:spLocks/>
              </p:cNvSpPr>
              <p:nvPr/>
            </p:nvSpPr>
            <p:spPr bwMode="auto">
              <a:xfrm>
                <a:off x="1989" y="511"/>
                <a:ext cx="225" cy="216"/>
              </a:xfrm>
              <a:custGeom>
                <a:avLst/>
                <a:gdLst>
                  <a:gd name="T0" fmla="*/ 0 w 225"/>
                  <a:gd name="T1" fmla="*/ 0 h 216"/>
                  <a:gd name="T2" fmla="*/ 225 w 225"/>
                  <a:gd name="T3" fmla="*/ 216 h 21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25" h="216">
                    <a:moveTo>
                      <a:pt x="0" y="0"/>
                    </a:moveTo>
                    <a:lnTo>
                      <a:pt x="225" y="216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2" name="Freeform 44"/>
              <p:cNvSpPr>
                <a:spLocks/>
              </p:cNvSpPr>
              <p:nvPr/>
            </p:nvSpPr>
            <p:spPr bwMode="auto">
              <a:xfrm>
                <a:off x="1075" y="731"/>
                <a:ext cx="183" cy="201"/>
              </a:xfrm>
              <a:custGeom>
                <a:avLst/>
                <a:gdLst>
                  <a:gd name="T0" fmla="*/ 0 w 183"/>
                  <a:gd name="T1" fmla="*/ 0 h 201"/>
                  <a:gd name="T2" fmla="*/ 183 w 183"/>
                  <a:gd name="T3" fmla="*/ 201 h 20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83" h="201">
                    <a:moveTo>
                      <a:pt x="0" y="0"/>
                    </a:moveTo>
                    <a:lnTo>
                      <a:pt x="183" y="201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3" name="Freeform 45"/>
              <p:cNvSpPr>
                <a:spLocks/>
              </p:cNvSpPr>
              <p:nvPr/>
            </p:nvSpPr>
            <p:spPr bwMode="auto">
              <a:xfrm>
                <a:off x="1422" y="1078"/>
                <a:ext cx="211" cy="183"/>
              </a:xfrm>
              <a:custGeom>
                <a:avLst/>
                <a:gdLst>
                  <a:gd name="T0" fmla="*/ 0 w 211"/>
                  <a:gd name="T1" fmla="*/ 0 h 183"/>
                  <a:gd name="T2" fmla="*/ 211 w 211"/>
                  <a:gd name="T3" fmla="*/ 183 h 18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11" h="183">
                    <a:moveTo>
                      <a:pt x="0" y="0"/>
                    </a:moveTo>
                    <a:lnTo>
                      <a:pt x="211" y="183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4" name="Freeform 46"/>
              <p:cNvSpPr>
                <a:spLocks/>
              </p:cNvSpPr>
              <p:nvPr/>
            </p:nvSpPr>
            <p:spPr bwMode="auto">
              <a:xfrm>
                <a:off x="1635" y="1030"/>
                <a:ext cx="243" cy="222"/>
              </a:xfrm>
              <a:custGeom>
                <a:avLst/>
                <a:gdLst>
                  <a:gd name="T0" fmla="*/ 0 w 243"/>
                  <a:gd name="T1" fmla="*/ 222 h 222"/>
                  <a:gd name="T2" fmla="*/ 243 w 243"/>
                  <a:gd name="T3" fmla="*/ 0 h 22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43" h="222">
                    <a:moveTo>
                      <a:pt x="0" y="222"/>
                    </a:moveTo>
                    <a:lnTo>
                      <a:pt x="243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" name="Freeform 47"/>
              <p:cNvSpPr>
                <a:spLocks/>
              </p:cNvSpPr>
              <p:nvPr/>
            </p:nvSpPr>
            <p:spPr bwMode="auto">
              <a:xfrm>
                <a:off x="2053" y="724"/>
                <a:ext cx="158" cy="153"/>
              </a:xfrm>
              <a:custGeom>
                <a:avLst/>
                <a:gdLst>
                  <a:gd name="T0" fmla="*/ 0 w 158"/>
                  <a:gd name="T1" fmla="*/ 153 h 153"/>
                  <a:gd name="T2" fmla="*/ 158 w 158"/>
                  <a:gd name="T3" fmla="*/ 0 h 15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58" h="153">
                    <a:moveTo>
                      <a:pt x="0" y="153"/>
                    </a:moveTo>
                    <a:lnTo>
                      <a:pt x="158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7" name="Freeform 49"/>
              <p:cNvSpPr>
                <a:spLocks/>
              </p:cNvSpPr>
              <p:nvPr/>
            </p:nvSpPr>
            <p:spPr bwMode="auto">
              <a:xfrm>
                <a:off x="1050" y="698"/>
                <a:ext cx="1161" cy="27"/>
              </a:xfrm>
              <a:custGeom>
                <a:avLst/>
                <a:gdLst>
                  <a:gd name="T0" fmla="*/ 0 w 447"/>
                  <a:gd name="T1" fmla="*/ 0 h 1"/>
                  <a:gd name="T2" fmla="*/ 447 w 447"/>
                  <a:gd name="T3" fmla="*/ 1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47" h="1">
                    <a:moveTo>
                      <a:pt x="0" y="0"/>
                    </a:moveTo>
                    <a:lnTo>
                      <a:pt x="447" y="1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8" name="Line 50"/>
              <p:cNvSpPr>
                <a:spLocks noChangeShapeType="1"/>
              </p:cNvSpPr>
              <p:nvPr/>
            </p:nvSpPr>
            <p:spPr bwMode="auto">
              <a:xfrm flipV="1">
                <a:off x="622" y="196"/>
                <a:ext cx="1013" cy="1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9" name="Line 51"/>
              <p:cNvSpPr>
                <a:spLocks noChangeShapeType="1"/>
              </p:cNvSpPr>
              <p:nvPr/>
            </p:nvSpPr>
            <p:spPr bwMode="auto">
              <a:xfrm>
                <a:off x="626" y="1251"/>
                <a:ext cx="1003" cy="1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0" name="Oval 52"/>
              <p:cNvSpPr>
                <a:spLocks noChangeAspect="1" noChangeArrowheads="1"/>
              </p:cNvSpPr>
              <p:nvPr/>
            </p:nvSpPr>
            <p:spPr bwMode="auto">
              <a:xfrm>
                <a:off x="1596" y="184"/>
                <a:ext cx="68" cy="68"/>
              </a:xfrm>
              <a:prstGeom prst="ellipse">
                <a:avLst/>
              </a:prstGeom>
              <a:solidFill>
                <a:schemeClr val="tx2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1" name="Oval 53"/>
              <p:cNvSpPr>
                <a:spLocks noChangeAspect="1" noChangeArrowheads="1"/>
              </p:cNvSpPr>
              <p:nvPr/>
            </p:nvSpPr>
            <p:spPr bwMode="auto">
              <a:xfrm>
                <a:off x="1587" y="1213"/>
                <a:ext cx="68" cy="68"/>
              </a:xfrm>
              <a:prstGeom prst="ellipse">
                <a:avLst/>
              </a:prstGeom>
              <a:solidFill>
                <a:schemeClr val="tx2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2" name="Oval 54"/>
              <p:cNvSpPr>
                <a:spLocks noChangeAspect="1" noChangeArrowheads="1"/>
              </p:cNvSpPr>
              <p:nvPr/>
            </p:nvSpPr>
            <p:spPr bwMode="auto">
              <a:xfrm>
                <a:off x="1050" y="676"/>
                <a:ext cx="68" cy="68"/>
              </a:xfrm>
              <a:prstGeom prst="ellipse">
                <a:avLst/>
              </a:prstGeom>
              <a:solidFill>
                <a:schemeClr val="tx2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3" name="Oval 55"/>
              <p:cNvSpPr>
                <a:spLocks noChangeAspect="1" noChangeArrowheads="1"/>
              </p:cNvSpPr>
              <p:nvPr/>
            </p:nvSpPr>
            <p:spPr bwMode="auto">
              <a:xfrm>
                <a:off x="2169" y="676"/>
                <a:ext cx="68" cy="68"/>
              </a:xfrm>
              <a:prstGeom prst="ellipse">
                <a:avLst/>
              </a:prstGeom>
              <a:solidFill>
                <a:schemeClr val="tx2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4" name="Oval 56"/>
              <p:cNvSpPr>
                <a:spLocks noChangeAspect="1" noChangeArrowheads="1"/>
              </p:cNvSpPr>
              <p:nvPr/>
            </p:nvSpPr>
            <p:spPr bwMode="auto">
              <a:xfrm>
                <a:off x="537" y="180"/>
                <a:ext cx="68" cy="68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5" name="Oval 57"/>
              <p:cNvSpPr>
                <a:spLocks noChangeAspect="1" noChangeArrowheads="1"/>
              </p:cNvSpPr>
              <p:nvPr/>
            </p:nvSpPr>
            <p:spPr bwMode="auto">
              <a:xfrm>
                <a:off x="519" y="1254"/>
                <a:ext cx="68" cy="68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6" name="Text Box 58"/>
              <p:cNvSpPr txBox="1">
                <a:spLocks noChangeArrowheads="1"/>
              </p:cNvSpPr>
              <p:nvPr/>
            </p:nvSpPr>
            <p:spPr bwMode="auto">
              <a:xfrm>
                <a:off x="350" y="32"/>
                <a:ext cx="20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sz="2400"/>
                  <a:t>a</a:t>
                </a:r>
              </a:p>
            </p:txBody>
          </p:sp>
          <p:sp>
            <p:nvSpPr>
              <p:cNvPr id="207" name="Text Box 59"/>
              <p:cNvSpPr txBox="1">
                <a:spLocks noChangeArrowheads="1"/>
              </p:cNvSpPr>
              <p:nvPr/>
            </p:nvSpPr>
            <p:spPr bwMode="auto">
              <a:xfrm>
                <a:off x="869" y="549"/>
                <a:ext cx="20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sz="2400"/>
                  <a:t>c</a:t>
                </a:r>
              </a:p>
            </p:txBody>
          </p:sp>
          <p:sp>
            <p:nvSpPr>
              <p:cNvPr id="208" name="Text Box 60"/>
              <p:cNvSpPr txBox="1">
                <a:spLocks noChangeArrowheads="1"/>
              </p:cNvSpPr>
              <p:nvPr/>
            </p:nvSpPr>
            <p:spPr bwMode="auto">
              <a:xfrm>
                <a:off x="2213" y="558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sz="2400"/>
                  <a:t>d</a:t>
                </a:r>
              </a:p>
            </p:txBody>
          </p:sp>
          <p:sp>
            <p:nvSpPr>
              <p:cNvPr id="209" name="Text Box 61"/>
              <p:cNvSpPr txBox="1">
                <a:spLocks noChangeArrowheads="1"/>
              </p:cNvSpPr>
              <p:nvPr/>
            </p:nvSpPr>
            <p:spPr bwMode="auto">
              <a:xfrm>
                <a:off x="1011" y="227"/>
                <a:ext cx="28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b="1" dirty="0"/>
                  <a:t>R</a:t>
                </a:r>
                <a:r>
                  <a:rPr lang="zh-CN" altLang="zh-CN" b="1" baseline="-25000" dirty="0"/>
                  <a:t>1</a:t>
                </a:r>
                <a:endParaRPr lang="zh-CN" altLang="zh-CN" b="1" dirty="0"/>
              </a:p>
            </p:txBody>
          </p:sp>
          <p:sp>
            <p:nvSpPr>
              <p:cNvPr id="210" name="Text Box 62"/>
              <p:cNvSpPr txBox="1">
                <a:spLocks noChangeArrowheads="1"/>
              </p:cNvSpPr>
              <p:nvPr/>
            </p:nvSpPr>
            <p:spPr bwMode="auto">
              <a:xfrm>
                <a:off x="1011" y="916"/>
                <a:ext cx="28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b="1" dirty="0"/>
                  <a:t>R</a:t>
                </a:r>
                <a:r>
                  <a:rPr lang="zh-CN" altLang="zh-CN" b="1" baseline="-25000" dirty="0"/>
                  <a:t>4</a:t>
                </a:r>
                <a:endParaRPr lang="zh-CN" altLang="zh-CN" b="1" dirty="0"/>
              </a:p>
            </p:txBody>
          </p:sp>
          <p:sp>
            <p:nvSpPr>
              <p:cNvPr id="211" name="Text Box 63"/>
              <p:cNvSpPr txBox="1">
                <a:spLocks noChangeArrowheads="1"/>
              </p:cNvSpPr>
              <p:nvPr/>
            </p:nvSpPr>
            <p:spPr bwMode="auto">
              <a:xfrm>
                <a:off x="1947" y="952"/>
                <a:ext cx="28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b="1"/>
                  <a:t>R</a:t>
                </a:r>
                <a:r>
                  <a:rPr lang="zh-CN" altLang="zh-CN" b="1" baseline="-25000"/>
                  <a:t>3</a:t>
                </a:r>
                <a:endParaRPr lang="zh-CN" altLang="zh-CN" b="1"/>
              </a:p>
            </p:txBody>
          </p:sp>
          <p:sp>
            <p:nvSpPr>
              <p:cNvPr id="212" name="Text Box 64"/>
              <p:cNvSpPr txBox="1">
                <a:spLocks noChangeArrowheads="1"/>
              </p:cNvSpPr>
              <p:nvPr/>
            </p:nvSpPr>
            <p:spPr bwMode="auto">
              <a:xfrm>
                <a:off x="1923" y="196"/>
                <a:ext cx="28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b="1"/>
                  <a:t>R</a:t>
                </a:r>
                <a:r>
                  <a:rPr lang="zh-CN" altLang="zh-CN" b="1" baseline="-25000"/>
                  <a:t>2</a:t>
                </a:r>
                <a:endParaRPr lang="zh-CN" altLang="zh-CN" b="1"/>
              </a:p>
            </p:txBody>
          </p:sp>
          <p:sp>
            <p:nvSpPr>
              <p:cNvPr id="213" name="Text Box 66"/>
              <p:cNvSpPr txBox="1">
                <a:spLocks noChangeArrowheads="1"/>
              </p:cNvSpPr>
              <p:nvPr/>
            </p:nvSpPr>
            <p:spPr bwMode="auto">
              <a:xfrm>
                <a:off x="342" y="113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sz="2400"/>
                  <a:t>b</a:t>
                </a:r>
              </a:p>
            </p:txBody>
          </p:sp>
        </p:grpSp>
        <p:sp>
          <p:nvSpPr>
            <p:cNvPr id="183" name="Text Box 61"/>
            <p:cNvSpPr txBox="1">
              <a:spLocks noChangeArrowheads="1"/>
            </p:cNvSpPr>
            <p:nvPr/>
          </p:nvSpPr>
          <p:spPr bwMode="auto">
            <a:xfrm>
              <a:off x="4733672" y="4985142"/>
              <a:ext cx="814647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dirty="0" err="1"/>
                <a:t>U</a:t>
              </a:r>
              <a:r>
                <a:rPr lang="en-US" altLang="zh-CN" b="1" baseline="-25000" dirty="0" err="1"/>
                <a:t>cd</a:t>
              </a:r>
              <a:r>
                <a:rPr lang="en-US" altLang="zh-CN" b="1" dirty="0"/>
                <a:t>=0</a:t>
              </a:r>
              <a:endParaRPr lang="zh-CN" altLang="zh-CN" b="1" dirty="0"/>
            </a:p>
          </p:txBody>
        </p:sp>
      </p:grpSp>
      <p:grpSp>
        <p:nvGrpSpPr>
          <p:cNvPr id="215" name="Group 34"/>
          <p:cNvGrpSpPr>
            <a:grpSpLocks/>
          </p:cNvGrpSpPr>
          <p:nvPr/>
        </p:nvGrpSpPr>
        <p:grpSpPr bwMode="auto">
          <a:xfrm>
            <a:off x="6883075" y="4063999"/>
            <a:ext cx="2138053" cy="2381918"/>
            <a:chOff x="342" y="32"/>
            <a:chExt cx="1322" cy="1392"/>
          </a:xfrm>
        </p:grpSpPr>
        <p:sp>
          <p:nvSpPr>
            <p:cNvPr id="217" name="Rectangle 35"/>
            <p:cNvSpPr>
              <a:spLocks noChangeArrowheads="1"/>
            </p:cNvSpPr>
            <p:nvPr/>
          </p:nvSpPr>
          <p:spPr bwMode="auto">
            <a:xfrm rot="-7903512">
              <a:off x="1332" y="304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19" name="Rectangle 38"/>
            <p:cNvSpPr>
              <a:spLocks noChangeArrowheads="1"/>
            </p:cNvSpPr>
            <p:nvPr/>
          </p:nvSpPr>
          <p:spPr bwMode="auto">
            <a:xfrm rot="-2874968">
              <a:off x="1299" y="880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21" name="Freeform 40"/>
            <p:cNvSpPr>
              <a:spLocks/>
            </p:cNvSpPr>
            <p:nvPr/>
          </p:nvSpPr>
          <p:spPr bwMode="auto">
            <a:xfrm>
              <a:off x="1465" y="196"/>
              <a:ext cx="176" cy="160"/>
            </a:xfrm>
            <a:custGeom>
              <a:avLst/>
              <a:gdLst>
                <a:gd name="T0" fmla="*/ 0 w 176"/>
                <a:gd name="T1" fmla="*/ 160 h 160"/>
                <a:gd name="T2" fmla="*/ 176 w 176"/>
                <a:gd name="T3" fmla="*/ 0 h 16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6" h="160">
                  <a:moveTo>
                    <a:pt x="0" y="160"/>
                  </a:moveTo>
                  <a:lnTo>
                    <a:pt x="176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3" name="Freeform 42"/>
            <p:cNvSpPr>
              <a:spLocks/>
            </p:cNvSpPr>
            <p:nvPr/>
          </p:nvSpPr>
          <p:spPr bwMode="auto">
            <a:xfrm>
              <a:off x="1057" y="508"/>
              <a:ext cx="233" cy="223"/>
            </a:xfrm>
            <a:custGeom>
              <a:avLst/>
              <a:gdLst>
                <a:gd name="T0" fmla="*/ 233 w 233"/>
                <a:gd name="T1" fmla="*/ 0 h 223"/>
                <a:gd name="T2" fmla="*/ 0 w 233"/>
                <a:gd name="T3" fmla="*/ 223 h 22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33" h="223">
                  <a:moveTo>
                    <a:pt x="233" y="0"/>
                  </a:moveTo>
                  <a:lnTo>
                    <a:pt x="0" y="223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" name="Freeform 44"/>
            <p:cNvSpPr>
              <a:spLocks/>
            </p:cNvSpPr>
            <p:nvPr/>
          </p:nvSpPr>
          <p:spPr bwMode="auto">
            <a:xfrm>
              <a:off x="1075" y="731"/>
              <a:ext cx="183" cy="201"/>
            </a:xfrm>
            <a:custGeom>
              <a:avLst/>
              <a:gdLst>
                <a:gd name="T0" fmla="*/ 0 w 183"/>
                <a:gd name="T1" fmla="*/ 0 h 201"/>
                <a:gd name="T2" fmla="*/ 183 w 183"/>
                <a:gd name="T3" fmla="*/ 201 h 20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83" h="201">
                  <a:moveTo>
                    <a:pt x="0" y="0"/>
                  </a:moveTo>
                  <a:lnTo>
                    <a:pt x="183" y="201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6" name="Freeform 45"/>
            <p:cNvSpPr>
              <a:spLocks/>
            </p:cNvSpPr>
            <p:nvPr/>
          </p:nvSpPr>
          <p:spPr bwMode="auto">
            <a:xfrm>
              <a:off x="1422" y="1078"/>
              <a:ext cx="211" cy="183"/>
            </a:xfrm>
            <a:custGeom>
              <a:avLst/>
              <a:gdLst>
                <a:gd name="T0" fmla="*/ 0 w 211"/>
                <a:gd name="T1" fmla="*/ 0 h 183"/>
                <a:gd name="T2" fmla="*/ 211 w 211"/>
                <a:gd name="T3" fmla="*/ 183 h 18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11" h="183">
                  <a:moveTo>
                    <a:pt x="0" y="0"/>
                  </a:moveTo>
                  <a:lnTo>
                    <a:pt x="211" y="183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1" name="Line 50"/>
            <p:cNvSpPr>
              <a:spLocks noChangeShapeType="1"/>
            </p:cNvSpPr>
            <p:nvPr/>
          </p:nvSpPr>
          <p:spPr bwMode="auto">
            <a:xfrm flipV="1">
              <a:off x="622" y="196"/>
              <a:ext cx="1013" cy="1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2" name="Line 51"/>
            <p:cNvSpPr>
              <a:spLocks noChangeShapeType="1"/>
            </p:cNvSpPr>
            <p:nvPr/>
          </p:nvSpPr>
          <p:spPr bwMode="auto">
            <a:xfrm>
              <a:off x="626" y="1251"/>
              <a:ext cx="1003" cy="1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3" name="Oval 52"/>
            <p:cNvSpPr>
              <a:spLocks noChangeAspect="1" noChangeArrowheads="1"/>
            </p:cNvSpPr>
            <p:nvPr/>
          </p:nvSpPr>
          <p:spPr bwMode="auto">
            <a:xfrm>
              <a:off x="1596" y="184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34" name="Oval 53"/>
            <p:cNvSpPr>
              <a:spLocks noChangeAspect="1" noChangeArrowheads="1"/>
            </p:cNvSpPr>
            <p:nvPr/>
          </p:nvSpPr>
          <p:spPr bwMode="auto">
            <a:xfrm>
              <a:off x="1587" y="1213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35" name="Oval 54"/>
            <p:cNvSpPr>
              <a:spLocks noChangeAspect="1" noChangeArrowheads="1"/>
            </p:cNvSpPr>
            <p:nvPr/>
          </p:nvSpPr>
          <p:spPr bwMode="auto">
            <a:xfrm>
              <a:off x="1050" y="676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37" name="Oval 56"/>
            <p:cNvSpPr>
              <a:spLocks noChangeAspect="1" noChangeArrowheads="1"/>
            </p:cNvSpPr>
            <p:nvPr/>
          </p:nvSpPr>
          <p:spPr bwMode="auto">
            <a:xfrm>
              <a:off x="537" y="180"/>
              <a:ext cx="68" cy="6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38" name="Oval 57"/>
            <p:cNvSpPr>
              <a:spLocks noChangeAspect="1" noChangeArrowheads="1"/>
            </p:cNvSpPr>
            <p:nvPr/>
          </p:nvSpPr>
          <p:spPr bwMode="auto">
            <a:xfrm>
              <a:off x="519" y="1254"/>
              <a:ext cx="68" cy="6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39" name="Text Box 58"/>
            <p:cNvSpPr txBox="1">
              <a:spLocks noChangeArrowheads="1"/>
            </p:cNvSpPr>
            <p:nvPr/>
          </p:nvSpPr>
          <p:spPr bwMode="auto">
            <a:xfrm>
              <a:off x="350" y="32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a</a:t>
              </a:r>
            </a:p>
          </p:txBody>
        </p:sp>
        <p:sp>
          <p:nvSpPr>
            <p:cNvPr id="240" name="Text Box 59"/>
            <p:cNvSpPr txBox="1">
              <a:spLocks noChangeArrowheads="1"/>
            </p:cNvSpPr>
            <p:nvPr/>
          </p:nvSpPr>
          <p:spPr bwMode="auto">
            <a:xfrm>
              <a:off x="704" y="554"/>
              <a:ext cx="341" cy="2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dirty="0"/>
                <a:t>c d</a:t>
              </a:r>
              <a:endParaRPr lang="zh-CN" altLang="zh-CN" sz="2400" dirty="0"/>
            </a:p>
          </p:txBody>
        </p:sp>
        <p:sp>
          <p:nvSpPr>
            <p:cNvPr id="242" name="Text Box 61"/>
            <p:cNvSpPr txBox="1">
              <a:spLocks noChangeArrowheads="1"/>
            </p:cNvSpPr>
            <p:nvPr/>
          </p:nvSpPr>
          <p:spPr bwMode="auto">
            <a:xfrm>
              <a:off x="835" y="222"/>
              <a:ext cx="480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dirty="0"/>
                <a:t>0.5</a:t>
              </a:r>
              <a:r>
                <a:rPr lang="zh-CN" altLang="zh-CN" b="1" dirty="0"/>
                <a:t>R</a:t>
              </a:r>
              <a:r>
                <a:rPr lang="zh-CN" altLang="zh-CN" b="1" baseline="-25000" dirty="0"/>
                <a:t>1</a:t>
              </a:r>
              <a:endParaRPr lang="zh-CN" altLang="zh-CN" b="1" dirty="0"/>
            </a:p>
          </p:txBody>
        </p:sp>
        <p:sp>
          <p:nvSpPr>
            <p:cNvPr id="243" name="Text Box 62"/>
            <p:cNvSpPr txBox="1">
              <a:spLocks noChangeArrowheads="1"/>
            </p:cNvSpPr>
            <p:nvPr/>
          </p:nvSpPr>
          <p:spPr bwMode="auto">
            <a:xfrm>
              <a:off x="790" y="917"/>
              <a:ext cx="480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dirty="0"/>
                <a:t>0.5</a:t>
              </a:r>
              <a:r>
                <a:rPr lang="zh-CN" altLang="zh-CN" b="1" dirty="0"/>
                <a:t>R</a:t>
              </a:r>
              <a:r>
                <a:rPr lang="zh-CN" altLang="zh-CN" b="1" baseline="-25000" dirty="0"/>
                <a:t>4</a:t>
              </a:r>
              <a:endParaRPr lang="zh-CN" altLang="zh-CN" b="1" dirty="0"/>
            </a:p>
          </p:txBody>
        </p:sp>
        <p:sp>
          <p:nvSpPr>
            <p:cNvPr id="246" name="Text Box 66"/>
            <p:cNvSpPr txBox="1">
              <a:spLocks noChangeArrowheads="1"/>
            </p:cNvSpPr>
            <p:nvPr/>
          </p:nvSpPr>
          <p:spPr bwMode="auto">
            <a:xfrm>
              <a:off x="342" y="113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b</a:t>
              </a:r>
            </a:p>
          </p:txBody>
        </p:sp>
      </p:grpSp>
      <p:sp>
        <p:nvSpPr>
          <p:cNvPr id="247" name="文本框 246"/>
          <p:cNvSpPr txBox="1"/>
          <p:nvPr/>
        </p:nvSpPr>
        <p:spPr>
          <a:xfrm>
            <a:off x="1401282" y="6346910"/>
            <a:ext cx="1300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</a:t>
            </a:r>
            <a:r>
              <a:rPr lang="en-US" altLang="zh-CN" baseline="-25000" dirty="0"/>
              <a:t>5</a:t>
            </a:r>
            <a:r>
              <a:rPr lang="zh-CN" altLang="en-US" dirty="0"/>
              <a:t>可以断开</a:t>
            </a:r>
          </a:p>
        </p:txBody>
      </p:sp>
      <p:sp>
        <p:nvSpPr>
          <p:cNvPr id="248" name="文本框 247"/>
          <p:cNvSpPr txBox="1"/>
          <p:nvPr/>
        </p:nvSpPr>
        <p:spPr>
          <a:xfrm>
            <a:off x="4876022" y="6278624"/>
            <a:ext cx="1300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</a:t>
            </a:r>
            <a:r>
              <a:rPr lang="en-US" altLang="zh-CN" baseline="-25000" dirty="0"/>
              <a:t>5</a:t>
            </a:r>
            <a:r>
              <a:rPr lang="zh-CN" altLang="en-US" dirty="0"/>
              <a:t>可以短接</a:t>
            </a:r>
          </a:p>
        </p:txBody>
      </p:sp>
    </p:spTree>
    <p:extLst>
      <p:ext uri="{BB962C8B-B14F-4D97-AF65-F5344CB8AC3E}">
        <p14:creationId xmlns:p14="http://schemas.microsoft.com/office/powerpoint/2010/main" val="1253625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7" grpId="0"/>
      <p:bldP spid="24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2.3</a:t>
            </a:r>
            <a:r>
              <a:rPr lang="zh-CN" altLang="en-US" dirty="0"/>
              <a:t>对称电路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380999" y="914400"/>
                <a:ext cx="4152901" cy="51816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CN" dirty="0"/>
                  <a:t>2)</a:t>
                </a:r>
                <a:r>
                  <a:rPr lang="zh-CN" altLang="en-US" dirty="0"/>
                  <a:t>对称面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垂直</a:t>
                </a:r>
                <a:r>
                  <a:rPr lang="zh-CN" altLang="en-US" dirty="0"/>
                  <a:t>端口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       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对称面节点（</a:t>
                </a:r>
                <a:r>
                  <a:rPr lang="en-US" altLang="zh-CN" dirty="0"/>
                  <a:t>c</a:t>
                </a:r>
                <a:r>
                  <a:rPr lang="zh-CN" altLang="en-US" dirty="0"/>
                  <a:t>、</a:t>
                </a:r>
                <a:r>
                  <a:rPr lang="en-US" altLang="zh-CN" dirty="0"/>
                  <a:t>d</a:t>
                </a:r>
                <a:r>
                  <a:rPr lang="zh-CN" altLang="en-US" dirty="0"/>
                  <a:t>）等电位。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𝑐𝑏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      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𝑒𝑞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2(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/>
                  <a:t>//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dirty="0"/>
                  <a:t>)=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/>
                  <a:t>//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0999" y="914400"/>
                <a:ext cx="4152901" cy="5181600"/>
              </a:xfrm>
              <a:blipFill>
                <a:blip r:embed="rId3"/>
                <a:stretch>
                  <a:fillRect l="-2199" t="-941" r="-16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1C66AF1-24A0-446C-B0A8-326C494344F1}" type="datetime1">
              <a:rPr lang="zh-CN" altLang="en-US" smtClean="0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74CEB45-B7B4-4CEA-8E4A-DA539A380401}" type="slidenum">
              <a:rPr lang="en-US" altLang="zh-CN" smtClean="0"/>
              <a:pPr>
                <a:defRPr/>
              </a:pPr>
              <a:t>20</a:t>
            </a:fld>
            <a:endParaRPr lang="en-US" altLang="zh-CN"/>
          </a:p>
        </p:txBody>
      </p:sp>
      <p:grpSp>
        <p:nvGrpSpPr>
          <p:cNvPr id="7" name="Group 34"/>
          <p:cNvGrpSpPr>
            <a:grpSpLocks/>
          </p:cNvGrpSpPr>
          <p:nvPr/>
        </p:nvGrpSpPr>
        <p:grpSpPr bwMode="auto">
          <a:xfrm>
            <a:off x="4572000" y="1168400"/>
            <a:ext cx="3849688" cy="2209800"/>
            <a:chOff x="0" y="0"/>
            <a:chExt cx="2425" cy="1392"/>
          </a:xfrm>
        </p:grpSpPr>
        <p:sp>
          <p:nvSpPr>
            <p:cNvPr id="8" name="Rectangle 35"/>
            <p:cNvSpPr>
              <a:spLocks noChangeArrowheads="1"/>
            </p:cNvSpPr>
            <p:nvPr/>
          </p:nvSpPr>
          <p:spPr bwMode="auto">
            <a:xfrm rot="-7903512">
              <a:off x="1332" y="304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" name="Rectangle 36"/>
            <p:cNvSpPr>
              <a:spLocks noChangeArrowheads="1"/>
            </p:cNvSpPr>
            <p:nvPr/>
          </p:nvSpPr>
          <p:spPr bwMode="auto">
            <a:xfrm rot="-2919155">
              <a:off x="1854" y="310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" name="Rectangle 37"/>
            <p:cNvSpPr>
              <a:spLocks noChangeArrowheads="1"/>
            </p:cNvSpPr>
            <p:nvPr/>
          </p:nvSpPr>
          <p:spPr bwMode="auto">
            <a:xfrm rot="-5400000">
              <a:off x="1593" y="601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" name="Rectangle 38"/>
            <p:cNvSpPr>
              <a:spLocks noChangeArrowheads="1"/>
            </p:cNvSpPr>
            <p:nvPr/>
          </p:nvSpPr>
          <p:spPr bwMode="auto">
            <a:xfrm rot="-2874968">
              <a:off x="1299" y="880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" name="Rectangle 39"/>
            <p:cNvSpPr>
              <a:spLocks noChangeArrowheads="1"/>
            </p:cNvSpPr>
            <p:nvPr/>
          </p:nvSpPr>
          <p:spPr bwMode="auto">
            <a:xfrm rot="-7972038">
              <a:off x="1908" y="835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" name="Freeform 40"/>
            <p:cNvSpPr>
              <a:spLocks/>
            </p:cNvSpPr>
            <p:nvPr/>
          </p:nvSpPr>
          <p:spPr bwMode="auto">
            <a:xfrm>
              <a:off x="1465" y="196"/>
              <a:ext cx="176" cy="160"/>
            </a:xfrm>
            <a:custGeom>
              <a:avLst/>
              <a:gdLst>
                <a:gd name="T0" fmla="*/ 0 w 176"/>
                <a:gd name="T1" fmla="*/ 160 h 160"/>
                <a:gd name="T2" fmla="*/ 176 w 176"/>
                <a:gd name="T3" fmla="*/ 0 h 16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6" h="160">
                  <a:moveTo>
                    <a:pt x="0" y="160"/>
                  </a:moveTo>
                  <a:lnTo>
                    <a:pt x="176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41"/>
            <p:cNvSpPr>
              <a:spLocks/>
            </p:cNvSpPr>
            <p:nvPr/>
          </p:nvSpPr>
          <p:spPr bwMode="auto">
            <a:xfrm>
              <a:off x="1635" y="202"/>
              <a:ext cx="168" cy="141"/>
            </a:xfrm>
            <a:custGeom>
              <a:avLst/>
              <a:gdLst>
                <a:gd name="T0" fmla="*/ 168 w 168"/>
                <a:gd name="T1" fmla="*/ 141 h 141"/>
                <a:gd name="T2" fmla="*/ 0 w 168"/>
                <a:gd name="T3" fmla="*/ 0 h 14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68" h="141">
                  <a:moveTo>
                    <a:pt x="168" y="141"/>
                  </a:moveTo>
                  <a:lnTo>
                    <a:pt x="0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42"/>
            <p:cNvSpPr>
              <a:spLocks/>
            </p:cNvSpPr>
            <p:nvPr/>
          </p:nvSpPr>
          <p:spPr bwMode="auto">
            <a:xfrm>
              <a:off x="1057" y="508"/>
              <a:ext cx="233" cy="223"/>
            </a:xfrm>
            <a:custGeom>
              <a:avLst/>
              <a:gdLst>
                <a:gd name="T0" fmla="*/ 233 w 233"/>
                <a:gd name="T1" fmla="*/ 0 h 223"/>
                <a:gd name="T2" fmla="*/ 0 w 233"/>
                <a:gd name="T3" fmla="*/ 223 h 22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33" h="223">
                  <a:moveTo>
                    <a:pt x="233" y="0"/>
                  </a:moveTo>
                  <a:lnTo>
                    <a:pt x="0" y="223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Freeform 43"/>
            <p:cNvSpPr>
              <a:spLocks/>
            </p:cNvSpPr>
            <p:nvPr/>
          </p:nvSpPr>
          <p:spPr bwMode="auto">
            <a:xfrm>
              <a:off x="1989" y="511"/>
              <a:ext cx="225" cy="216"/>
            </a:xfrm>
            <a:custGeom>
              <a:avLst/>
              <a:gdLst>
                <a:gd name="T0" fmla="*/ 0 w 225"/>
                <a:gd name="T1" fmla="*/ 0 h 216"/>
                <a:gd name="T2" fmla="*/ 225 w 225"/>
                <a:gd name="T3" fmla="*/ 216 h 21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25" h="216">
                  <a:moveTo>
                    <a:pt x="0" y="0"/>
                  </a:moveTo>
                  <a:lnTo>
                    <a:pt x="225" y="216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Freeform 44"/>
            <p:cNvSpPr>
              <a:spLocks/>
            </p:cNvSpPr>
            <p:nvPr/>
          </p:nvSpPr>
          <p:spPr bwMode="auto">
            <a:xfrm>
              <a:off x="1075" y="731"/>
              <a:ext cx="183" cy="201"/>
            </a:xfrm>
            <a:custGeom>
              <a:avLst/>
              <a:gdLst>
                <a:gd name="T0" fmla="*/ 0 w 183"/>
                <a:gd name="T1" fmla="*/ 0 h 201"/>
                <a:gd name="T2" fmla="*/ 183 w 183"/>
                <a:gd name="T3" fmla="*/ 201 h 20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83" h="201">
                  <a:moveTo>
                    <a:pt x="0" y="0"/>
                  </a:moveTo>
                  <a:lnTo>
                    <a:pt x="183" y="201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Freeform 45"/>
            <p:cNvSpPr>
              <a:spLocks/>
            </p:cNvSpPr>
            <p:nvPr/>
          </p:nvSpPr>
          <p:spPr bwMode="auto">
            <a:xfrm>
              <a:off x="1422" y="1078"/>
              <a:ext cx="211" cy="183"/>
            </a:xfrm>
            <a:custGeom>
              <a:avLst/>
              <a:gdLst>
                <a:gd name="T0" fmla="*/ 0 w 211"/>
                <a:gd name="T1" fmla="*/ 0 h 183"/>
                <a:gd name="T2" fmla="*/ 211 w 211"/>
                <a:gd name="T3" fmla="*/ 183 h 18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11" h="183">
                  <a:moveTo>
                    <a:pt x="0" y="0"/>
                  </a:moveTo>
                  <a:lnTo>
                    <a:pt x="211" y="183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Freeform 46"/>
            <p:cNvSpPr>
              <a:spLocks/>
            </p:cNvSpPr>
            <p:nvPr/>
          </p:nvSpPr>
          <p:spPr bwMode="auto">
            <a:xfrm>
              <a:off x="1635" y="1030"/>
              <a:ext cx="243" cy="222"/>
            </a:xfrm>
            <a:custGeom>
              <a:avLst/>
              <a:gdLst>
                <a:gd name="T0" fmla="*/ 0 w 243"/>
                <a:gd name="T1" fmla="*/ 222 h 222"/>
                <a:gd name="T2" fmla="*/ 243 w 243"/>
                <a:gd name="T3" fmla="*/ 0 h 22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43" h="222">
                  <a:moveTo>
                    <a:pt x="0" y="222"/>
                  </a:moveTo>
                  <a:lnTo>
                    <a:pt x="243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Freeform 47"/>
            <p:cNvSpPr>
              <a:spLocks/>
            </p:cNvSpPr>
            <p:nvPr/>
          </p:nvSpPr>
          <p:spPr bwMode="auto">
            <a:xfrm>
              <a:off x="2053" y="724"/>
              <a:ext cx="158" cy="153"/>
            </a:xfrm>
            <a:custGeom>
              <a:avLst/>
              <a:gdLst>
                <a:gd name="T0" fmla="*/ 0 w 158"/>
                <a:gd name="T1" fmla="*/ 153 h 153"/>
                <a:gd name="T2" fmla="*/ 158 w 158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58" h="153">
                  <a:moveTo>
                    <a:pt x="0" y="153"/>
                  </a:moveTo>
                  <a:lnTo>
                    <a:pt x="158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Freeform 48"/>
            <p:cNvSpPr>
              <a:spLocks/>
            </p:cNvSpPr>
            <p:nvPr/>
          </p:nvSpPr>
          <p:spPr bwMode="auto">
            <a:xfrm>
              <a:off x="1059" y="724"/>
              <a:ext cx="462" cy="1"/>
            </a:xfrm>
            <a:custGeom>
              <a:avLst/>
              <a:gdLst>
                <a:gd name="T0" fmla="*/ 0 w 462"/>
                <a:gd name="T1" fmla="*/ 0 h 1"/>
                <a:gd name="T2" fmla="*/ 462 w 46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62" h="1">
                  <a:moveTo>
                    <a:pt x="0" y="0"/>
                  </a:moveTo>
                  <a:lnTo>
                    <a:pt x="462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Freeform 49"/>
            <p:cNvSpPr>
              <a:spLocks/>
            </p:cNvSpPr>
            <p:nvPr/>
          </p:nvSpPr>
          <p:spPr bwMode="auto">
            <a:xfrm>
              <a:off x="1764" y="724"/>
              <a:ext cx="447" cy="1"/>
            </a:xfrm>
            <a:custGeom>
              <a:avLst/>
              <a:gdLst>
                <a:gd name="T0" fmla="*/ 0 w 447"/>
                <a:gd name="T1" fmla="*/ 0 h 1"/>
                <a:gd name="T2" fmla="*/ 447 w 447"/>
                <a:gd name="T3" fmla="*/ 1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47" h="1">
                  <a:moveTo>
                    <a:pt x="0" y="0"/>
                  </a:moveTo>
                  <a:lnTo>
                    <a:pt x="447" y="1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50"/>
            <p:cNvSpPr>
              <a:spLocks noChangeShapeType="1"/>
            </p:cNvSpPr>
            <p:nvPr/>
          </p:nvSpPr>
          <p:spPr bwMode="auto">
            <a:xfrm>
              <a:off x="243" y="196"/>
              <a:ext cx="13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51"/>
            <p:cNvSpPr>
              <a:spLocks noChangeShapeType="1"/>
            </p:cNvSpPr>
            <p:nvPr/>
          </p:nvSpPr>
          <p:spPr bwMode="auto">
            <a:xfrm>
              <a:off x="237" y="1261"/>
              <a:ext cx="13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Oval 52"/>
            <p:cNvSpPr>
              <a:spLocks noChangeAspect="1" noChangeArrowheads="1"/>
            </p:cNvSpPr>
            <p:nvPr/>
          </p:nvSpPr>
          <p:spPr bwMode="auto">
            <a:xfrm>
              <a:off x="1596" y="184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6" name="Oval 53"/>
            <p:cNvSpPr>
              <a:spLocks noChangeAspect="1" noChangeArrowheads="1"/>
            </p:cNvSpPr>
            <p:nvPr/>
          </p:nvSpPr>
          <p:spPr bwMode="auto">
            <a:xfrm>
              <a:off x="1587" y="1213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7" name="Oval 54"/>
            <p:cNvSpPr>
              <a:spLocks noChangeAspect="1" noChangeArrowheads="1"/>
            </p:cNvSpPr>
            <p:nvPr/>
          </p:nvSpPr>
          <p:spPr bwMode="auto">
            <a:xfrm>
              <a:off x="1050" y="676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8" name="Oval 55"/>
            <p:cNvSpPr>
              <a:spLocks noChangeAspect="1" noChangeArrowheads="1"/>
            </p:cNvSpPr>
            <p:nvPr/>
          </p:nvSpPr>
          <p:spPr bwMode="auto">
            <a:xfrm>
              <a:off x="2169" y="676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9" name="Oval 56"/>
            <p:cNvSpPr>
              <a:spLocks noChangeAspect="1" noChangeArrowheads="1"/>
            </p:cNvSpPr>
            <p:nvPr/>
          </p:nvSpPr>
          <p:spPr bwMode="auto">
            <a:xfrm>
              <a:off x="195" y="148"/>
              <a:ext cx="68" cy="6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0" name="Oval 57"/>
            <p:cNvSpPr>
              <a:spLocks noChangeAspect="1" noChangeArrowheads="1"/>
            </p:cNvSpPr>
            <p:nvPr/>
          </p:nvSpPr>
          <p:spPr bwMode="auto">
            <a:xfrm>
              <a:off x="177" y="1222"/>
              <a:ext cx="68" cy="6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1" name="Text Box 58"/>
            <p:cNvSpPr txBox="1">
              <a:spLocks noChangeArrowheads="1"/>
            </p:cNvSpPr>
            <p:nvPr/>
          </p:nvSpPr>
          <p:spPr bwMode="auto">
            <a:xfrm>
              <a:off x="8" y="0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a</a:t>
              </a:r>
            </a:p>
          </p:txBody>
        </p:sp>
        <p:sp>
          <p:nvSpPr>
            <p:cNvPr id="32" name="Text Box 59"/>
            <p:cNvSpPr txBox="1">
              <a:spLocks noChangeArrowheads="1"/>
            </p:cNvSpPr>
            <p:nvPr/>
          </p:nvSpPr>
          <p:spPr bwMode="auto">
            <a:xfrm>
              <a:off x="869" y="549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c</a:t>
              </a:r>
            </a:p>
          </p:txBody>
        </p:sp>
        <p:sp>
          <p:nvSpPr>
            <p:cNvPr id="33" name="Text Box 60"/>
            <p:cNvSpPr txBox="1">
              <a:spLocks noChangeArrowheads="1"/>
            </p:cNvSpPr>
            <p:nvPr/>
          </p:nvSpPr>
          <p:spPr bwMode="auto">
            <a:xfrm>
              <a:off x="2213" y="55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d</a:t>
              </a:r>
            </a:p>
          </p:txBody>
        </p:sp>
        <p:sp>
          <p:nvSpPr>
            <p:cNvPr id="34" name="Text Box 61"/>
            <p:cNvSpPr txBox="1">
              <a:spLocks noChangeArrowheads="1"/>
            </p:cNvSpPr>
            <p:nvPr/>
          </p:nvSpPr>
          <p:spPr bwMode="auto">
            <a:xfrm>
              <a:off x="1011" y="227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 dirty="0"/>
                <a:t>R</a:t>
              </a:r>
              <a:r>
                <a:rPr lang="zh-CN" altLang="zh-CN" b="1" baseline="-25000" dirty="0"/>
                <a:t>1</a:t>
              </a:r>
              <a:endParaRPr lang="zh-CN" altLang="zh-CN" b="1" dirty="0"/>
            </a:p>
          </p:txBody>
        </p:sp>
        <p:sp>
          <p:nvSpPr>
            <p:cNvPr id="35" name="Text Box 62"/>
            <p:cNvSpPr txBox="1">
              <a:spLocks noChangeArrowheads="1"/>
            </p:cNvSpPr>
            <p:nvPr/>
          </p:nvSpPr>
          <p:spPr bwMode="auto">
            <a:xfrm>
              <a:off x="1011" y="916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4</a:t>
              </a:r>
              <a:endParaRPr lang="zh-CN" altLang="zh-CN" b="1"/>
            </a:p>
          </p:txBody>
        </p:sp>
        <p:sp>
          <p:nvSpPr>
            <p:cNvPr id="36" name="Text Box 63"/>
            <p:cNvSpPr txBox="1">
              <a:spLocks noChangeArrowheads="1"/>
            </p:cNvSpPr>
            <p:nvPr/>
          </p:nvSpPr>
          <p:spPr bwMode="auto">
            <a:xfrm>
              <a:off x="1947" y="952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3</a:t>
              </a:r>
              <a:endParaRPr lang="zh-CN" altLang="zh-CN" b="1"/>
            </a:p>
          </p:txBody>
        </p:sp>
        <p:sp>
          <p:nvSpPr>
            <p:cNvPr id="37" name="Text Box 64"/>
            <p:cNvSpPr txBox="1">
              <a:spLocks noChangeArrowheads="1"/>
            </p:cNvSpPr>
            <p:nvPr/>
          </p:nvSpPr>
          <p:spPr bwMode="auto">
            <a:xfrm>
              <a:off x="1923" y="196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2</a:t>
              </a:r>
              <a:endParaRPr lang="zh-CN" altLang="zh-CN" b="1"/>
            </a:p>
          </p:txBody>
        </p:sp>
        <p:sp>
          <p:nvSpPr>
            <p:cNvPr id="38" name="Text Box 65"/>
            <p:cNvSpPr txBox="1">
              <a:spLocks noChangeArrowheads="1"/>
            </p:cNvSpPr>
            <p:nvPr/>
          </p:nvSpPr>
          <p:spPr bwMode="auto">
            <a:xfrm>
              <a:off x="1491" y="436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5</a:t>
              </a:r>
              <a:endParaRPr lang="zh-CN" altLang="zh-CN" b="1"/>
            </a:p>
          </p:txBody>
        </p:sp>
        <p:sp>
          <p:nvSpPr>
            <p:cNvPr id="39" name="Text Box 66"/>
            <p:cNvSpPr txBox="1">
              <a:spLocks noChangeArrowheads="1"/>
            </p:cNvSpPr>
            <p:nvPr/>
          </p:nvSpPr>
          <p:spPr bwMode="auto">
            <a:xfrm>
              <a:off x="0" y="11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b</a:t>
              </a:r>
            </a:p>
          </p:txBody>
        </p:sp>
      </p:grpSp>
      <p:cxnSp>
        <p:nvCxnSpPr>
          <p:cNvPr id="107" name="直接连接符 106"/>
          <p:cNvCxnSpPr/>
          <p:nvPr/>
        </p:nvCxnSpPr>
        <p:spPr bwMode="auto">
          <a:xfrm>
            <a:off x="5775325" y="2317750"/>
            <a:ext cx="2932207" cy="11113"/>
          </a:xfrm>
          <a:prstGeom prst="line">
            <a:avLst/>
          </a:prstGeom>
          <a:solidFill>
            <a:schemeClr val="accent1"/>
          </a:solidFill>
          <a:ln w="31750" cap="flat" cmpd="sng" algn="ctr">
            <a:solidFill>
              <a:srgbClr val="FF0000"/>
            </a:solidFill>
            <a:prstDash val="dashDot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11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4300719"/>
              </p:ext>
            </p:extLst>
          </p:nvPr>
        </p:nvGraphicFramePr>
        <p:xfrm>
          <a:off x="4706938" y="1897063"/>
          <a:ext cx="1068387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14" name="公式" r:id="rId4" imgW="533160" imgH="241200" progId="Equation.3">
                  <p:embed/>
                </p:oleObj>
              </mc:Choice>
              <mc:Fallback>
                <p:oleObj name="公式" r:id="rId4" imgW="533160" imgH="241200" progId="Equation.3">
                  <p:embed/>
                  <p:pic>
                    <p:nvPicPr>
                      <p:cNvPr id="112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06938" y="1897063"/>
                        <a:ext cx="1068387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>
                                <a:alpha val="50195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7" name="组合 146"/>
          <p:cNvGrpSpPr/>
          <p:nvPr/>
        </p:nvGrpSpPr>
        <p:grpSpPr>
          <a:xfrm>
            <a:off x="3140845" y="3945336"/>
            <a:ext cx="3368808" cy="2381918"/>
            <a:chOff x="2991389" y="4223532"/>
            <a:chExt cx="3368808" cy="2381918"/>
          </a:xfrm>
        </p:grpSpPr>
        <p:grpSp>
          <p:nvGrpSpPr>
            <p:cNvPr id="113" name="Group 34"/>
            <p:cNvGrpSpPr>
              <a:grpSpLocks/>
            </p:cNvGrpSpPr>
            <p:nvPr/>
          </p:nvGrpSpPr>
          <p:grpSpPr bwMode="auto">
            <a:xfrm>
              <a:off x="2991389" y="4223532"/>
              <a:ext cx="3368808" cy="2381918"/>
              <a:chOff x="342" y="32"/>
              <a:chExt cx="2083" cy="1392"/>
            </a:xfrm>
          </p:grpSpPr>
          <p:sp>
            <p:nvSpPr>
              <p:cNvPr id="114" name="Rectangle 35"/>
              <p:cNvSpPr>
                <a:spLocks noChangeArrowheads="1"/>
              </p:cNvSpPr>
              <p:nvPr/>
            </p:nvSpPr>
            <p:spPr bwMode="auto">
              <a:xfrm rot="-7903512">
                <a:off x="1332" y="304"/>
                <a:ext cx="96" cy="2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5" name="Rectangle 36"/>
              <p:cNvSpPr>
                <a:spLocks noChangeArrowheads="1"/>
              </p:cNvSpPr>
              <p:nvPr/>
            </p:nvSpPr>
            <p:spPr bwMode="auto">
              <a:xfrm rot="-2919155">
                <a:off x="1854" y="310"/>
                <a:ext cx="96" cy="2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7" name="Rectangle 38"/>
              <p:cNvSpPr>
                <a:spLocks noChangeArrowheads="1"/>
              </p:cNvSpPr>
              <p:nvPr/>
            </p:nvSpPr>
            <p:spPr bwMode="auto">
              <a:xfrm rot="-2874968">
                <a:off x="1299" y="880"/>
                <a:ext cx="96" cy="2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8" name="Rectangle 39"/>
              <p:cNvSpPr>
                <a:spLocks noChangeArrowheads="1"/>
              </p:cNvSpPr>
              <p:nvPr/>
            </p:nvSpPr>
            <p:spPr bwMode="auto">
              <a:xfrm rot="-7972038">
                <a:off x="1908" y="835"/>
                <a:ext cx="96" cy="2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9" name="Freeform 40"/>
              <p:cNvSpPr>
                <a:spLocks/>
              </p:cNvSpPr>
              <p:nvPr/>
            </p:nvSpPr>
            <p:spPr bwMode="auto">
              <a:xfrm>
                <a:off x="1465" y="196"/>
                <a:ext cx="176" cy="160"/>
              </a:xfrm>
              <a:custGeom>
                <a:avLst/>
                <a:gdLst>
                  <a:gd name="T0" fmla="*/ 0 w 176"/>
                  <a:gd name="T1" fmla="*/ 160 h 160"/>
                  <a:gd name="T2" fmla="*/ 176 w 176"/>
                  <a:gd name="T3" fmla="*/ 0 h 16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76" h="160">
                    <a:moveTo>
                      <a:pt x="0" y="160"/>
                    </a:moveTo>
                    <a:lnTo>
                      <a:pt x="176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0" name="Freeform 41"/>
              <p:cNvSpPr>
                <a:spLocks/>
              </p:cNvSpPr>
              <p:nvPr/>
            </p:nvSpPr>
            <p:spPr bwMode="auto">
              <a:xfrm>
                <a:off x="1635" y="202"/>
                <a:ext cx="168" cy="141"/>
              </a:xfrm>
              <a:custGeom>
                <a:avLst/>
                <a:gdLst>
                  <a:gd name="T0" fmla="*/ 168 w 168"/>
                  <a:gd name="T1" fmla="*/ 141 h 141"/>
                  <a:gd name="T2" fmla="*/ 0 w 168"/>
                  <a:gd name="T3" fmla="*/ 0 h 14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68" h="141">
                    <a:moveTo>
                      <a:pt x="168" y="141"/>
                    </a:moveTo>
                    <a:lnTo>
                      <a:pt x="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1" name="Freeform 42"/>
              <p:cNvSpPr>
                <a:spLocks/>
              </p:cNvSpPr>
              <p:nvPr/>
            </p:nvSpPr>
            <p:spPr bwMode="auto">
              <a:xfrm>
                <a:off x="1057" y="508"/>
                <a:ext cx="233" cy="223"/>
              </a:xfrm>
              <a:custGeom>
                <a:avLst/>
                <a:gdLst>
                  <a:gd name="T0" fmla="*/ 233 w 233"/>
                  <a:gd name="T1" fmla="*/ 0 h 223"/>
                  <a:gd name="T2" fmla="*/ 0 w 233"/>
                  <a:gd name="T3" fmla="*/ 223 h 22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33" h="223">
                    <a:moveTo>
                      <a:pt x="233" y="0"/>
                    </a:moveTo>
                    <a:lnTo>
                      <a:pt x="0" y="223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2" name="Freeform 43"/>
              <p:cNvSpPr>
                <a:spLocks/>
              </p:cNvSpPr>
              <p:nvPr/>
            </p:nvSpPr>
            <p:spPr bwMode="auto">
              <a:xfrm>
                <a:off x="1989" y="511"/>
                <a:ext cx="225" cy="216"/>
              </a:xfrm>
              <a:custGeom>
                <a:avLst/>
                <a:gdLst>
                  <a:gd name="T0" fmla="*/ 0 w 225"/>
                  <a:gd name="T1" fmla="*/ 0 h 216"/>
                  <a:gd name="T2" fmla="*/ 225 w 225"/>
                  <a:gd name="T3" fmla="*/ 216 h 21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25" h="216">
                    <a:moveTo>
                      <a:pt x="0" y="0"/>
                    </a:moveTo>
                    <a:lnTo>
                      <a:pt x="225" y="216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" name="Freeform 44"/>
              <p:cNvSpPr>
                <a:spLocks/>
              </p:cNvSpPr>
              <p:nvPr/>
            </p:nvSpPr>
            <p:spPr bwMode="auto">
              <a:xfrm>
                <a:off x="1075" y="731"/>
                <a:ext cx="183" cy="201"/>
              </a:xfrm>
              <a:custGeom>
                <a:avLst/>
                <a:gdLst>
                  <a:gd name="T0" fmla="*/ 0 w 183"/>
                  <a:gd name="T1" fmla="*/ 0 h 201"/>
                  <a:gd name="T2" fmla="*/ 183 w 183"/>
                  <a:gd name="T3" fmla="*/ 201 h 20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83" h="201">
                    <a:moveTo>
                      <a:pt x="0" y="0"/>
                    </a:moveTo>
                    <a:lnTo>
                      <a:pt x="183" y="201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" name="Freeform 45"/>
              <p:cNvSpPr>
                <a:spLocks/>
              </p:cNvSpPr>
              <p:nvPr/>
            </p:nvSpPr>
            <p:spPr bwMode="auto">
              <a:xfrm>
                <a:off x="1422" y="1078"/>
                <a:ext cx="211" cy="183"/>
              </a:xfrm>
              <a:custGeom>
                <a:avLst/>
                <a:gdLst>
                  <a:gd name="T0" fmla="*/ 0 w 211"/>
                  <a:gd name="T1" fmla="*/ 0 h 183"/>
                  <a:gd name="T2" fmla="*/ 211 w 211"/>
                  <a:gd name="T3" fmla="*/ 183 h 18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11" h="183">
                    <a:moveTo>
                      <a:pt x="0" y="0"/>
                    </a:moveTo>
                    <a:lnTo>
                      <a:pt x="211" y="183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" name="Freeform 46"/>
              <p:cNvSpPr>
                <a:spLocks/>
              </p:cNvSpPr>
              <p:nvPr/>
            </p:nvSpPr>
            <p:spPr bwMode="auto">
              <a:xfrm>
                <a:off x="1635" y="1030"/>
                <a:ext cx="243" cy="222"/>
              </a:xfrm>
              <a:custGeom>
                <a:avLst/>
                <a:gdLst>
                  <a:gd name="T0" fmla="*/ 0 w 243"/>
                  <a:gd name="T1" fmla="*/ 222 h 222"/>
                  <a:gd name="T2" fmla="*/ 243 w 243"/>
                  <a:gd name="T3" fmla="*/ 0 h 22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43" h="222">
                    <a:moveTo>
                      <a:pt x="0" y="222"/>
                    </a:moveTo>
                    <a:lnTo>
                      <a:pt x="243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6" name="Freeform 47"/>
              <p:cNvSpPr>
                <a:spLocks/>
              </p:cNvSpPr>
              <p:nvPr/>
            </p:nvSpPr>
            <p:spPr bwMode="auto">
              <a:xfrm>
                <a:off x="2053" y="724"/>
                <a:ext cx="158" cy="153"/>
              </a:xfrm>
              <a:custGeom>
                <a:avLst/>
                <a:gdLst>
                  <a:gd name="T0" fmla="*/ 0 w 158"/>
                  <a:gd name="T1" fmla="*/ 153 h 153"/>
                  <a:gd name="T2" fmla="*/ 158 w 158"/>
                  <a:gd name="T3" fmla="*/ 0 h 15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58" h="153">
                    <a:moveTo>
                      <a:pt x="0" y="153"/>
                    </a:moveTo>
                    <a:lnTo>
                      <a:pt x="158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" name="Freeform 48"/>
              <p:cNvSpPr>
                <a:spLocks/>
              </p:cNvSpPr>
              <p:nvPr/>
            </p:nvSpPr>
            <p:spPr bwMode="auto">
              <a:xfrm>
                <a:off x="1059" y="724"/>
                <a:ext cx="462" cy="1"/>
              </a:xfrm>
              <a:custGeom>
                <a:avLst/>
                <a:gdLst>
                  <a:gd name="T0" fmla="*/ 0 w 462"/>
                  <a:gd name="T1" fmla="*/ 0 h 1"/>
                  <a:gd name="T2" fmla="*/ 462 w 462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62" h="1">
                    <a:moveTo>
                      <a:pt x="0" y="0"/>
                    </a:moveTo>
                    <a:lnTo>
                      <a:pt x="462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8" name="Freeform 49"/>
              <p:cNvSpPr>
                <a:spLocks/>
              </p:cNvSpPr>
              <p:nvPr/>
            </p:nvSpPr>
            <p:spPr bwMode="auto">
              <a:xfrm>
                <a:off x="1764" y="724"/>
                <a:ext cx="447" cy="1"/>
              </a:xfrm>
              <a:custGeom>
                <a:avLst/>
                <a:gdLst>
                  <a:gd name="T0" fmla="*/ 0 w 447"/>
                  <a:gd name="T1" fmla="*/ 0 h 1"/>
                  <a:gd name="T2" fmla="*/ 447 w 447"/>
                  <a:gd name="T3" fmla="*/ 1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47" h="1">
                    <a:moveTo>
                      <a:pt x="0" y="0"/>
                    </a:moveTo>
                    <a:lnTo>
                      <a:pt x="447" y="1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" name="Line 50"/>
              <p:cNvSpPr>
                <a:spLocks noChangeShapeType="1"/>
              </p:cNvSpPr>
              <p:nvPr/>
            </p:nvSpPr>
            <p:spPr bwMode="auto">
              <a:xfrm flipV="1">
                <a:off x="622" y="196"/>
                <a:ext cx="1013" cy="1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0" name="Line 51"/>
              <p:cNvSpPr>
                <a:spLocks noChangeShapeType="1"/>
              </p:cNvSpPr>
              <p:nvPr/>
            </p:nvSpPr>
            <p:spPr bwMode="auto">
              <a:xfrm>
                <a:off x="626" y="1251"/>
                <a:ext cx="1003" cy="1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" name="Oval 52"/>
              <p:cNvSpPr>
                <a:spLocks noChangeAspect="1" noChangeArrowheads="1"/>
              </p:cNvSpPr>
              <p:nvPr/>
            </p:nvSpPr>
            <p:spPr bwMode="auto">
              <a:xfrm>
                <a:off x="1596" y="184"/>
                <a:ext cx="68" cy="68"/>
              </a:xfrm>
              <a:prstGeom prst="ellipse">
                <a:avLst/>
              </a:prstGeom>
              <a:solidFill>
                <a:schemeClr val="tx2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2" name="Oval 53"/>
              <p:cNvSpPr>
                <a:spLocks noChangeAspect="1" noChangeArrowheads="1"/>
              </p:cNvSpPr>
              <p:nvPr/>
            </p:nvSpPr>
            <p:spPr bwMode="auto">
              <a:xfrm>
                <a:off x="1587" y="1213"/>
                <a:ext cx="68" cy="68"/>
              </a:xfrm>
              <a:prstGeom prst="ellipse">
                <a:avLst/>
              </a:prstGeom>
              <a:solidFill>
                <a:schemeClr val="tx2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3" name="Oval 54"/>
              <p:cNvSpPr>
                <a:spLocks noChangeAspect="1" noChangeArrowheads="1"/>
              </p:cNvSpPr>
              <p:nvPr/>
            </p:nvSpPr>
            <p:spPr bwMode="auto">
              <a:xfrm>
                <a:off x="1050" y="676"/>
                <a:ext cx="68" cy="68"/>
              </a:xfrm>
              <a:prstGeom prst="ellipse">
                <a:avLst/>
              </a:prstGeom>
              <a:solidFill>
                <a:schemeClr val="tx2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4" name="Oval 55"/>
              <p:cNvSpPr>
                <a:spLocks noChangeAspect="1" noChangeArrowheads="1"/>
              </p:cNvSpPr>
              <p:nvPr/>
            </p:nvSpPr>
            <p:spPr bwMode="auto">
              <a:xfrm>
                <a:off x="2169" y="676"/>
                <a:ext cx="68" cy="68"/>
              </a:xfrm>
              <a:prstGeom prst="ellipse">
                <a:avLst/>
              </a:prstGeom>
              <a:solidFill>
                <a:schemeClr val="tx2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5" name="Oval 56"/>
              <p:cNvSpPr>
                <a:spLocks noChangeAspect="1" noChangeArrowheads="1"/>
              </p:cNvSpPr>
              <p:nvPr/>
            </p:nvSpPr>
            <p:spPr bwMode="auto">
              <a:xfrm>
                <a:off x="537" y="180"/>
                <a:ext cx="68" cy="68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6" name="Oval 57"/>
              <p:cNvSpPr>
                <a:spLocks noChangeAspect="1" noChangeArrowheads="1"/>
              </p:cNvSpPr>
              <p:nvPr/>
            </p:nvSpPr>
            <p:spPr bwMode="auto">
              <a:xfrm>
                <a:off x="519" y="1254"/>
                <a:ext cx="68" cy="68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7" name="Text Box 58"/>
              <p:cNvSpPr txBox="1">
                <a:spLocks noChangeArrowheads="1"/>
              </p:cNvSpPr>
              <p:nvPr/>
            </p:nvSpPr>
            <p:spPr bwMode="auto">
              <a:xfrm>
                <a:off x="350" y="32"/>
                <a:ext cx="20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sz="2400"/>
                  <a:t>a</a:t>
                </a:r>
              </a:p>
            </p:txBody>
          </p:sp>
          <p:sp>
            <p:nvSpPr>
              <p:cNvPr id="138" name="Text Box 59"/>
              <p:cNvSpPr txBox="1">
                <a:spLocks noChangeArrowheads="1"/>
              </p:cNvSpPr>
              <p:nvPr/>
            </p:nvSpPr>
            <p:spPr bwMode="auto">
              <a:xfrm>
                <a:off x="869" y="549"/>
                <a:ext cx="20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sz="2400"/>
                  <a:t>c</a:t>
                </a:r>
              </a:p>
            </p:txBody>
          </p:sp>
          <p:sp>
            <p:nvSpPr>
              <p:cNvPr id="139" name="Text Box 60"/>
              <p:cNvSpPr txBox="1">
                <a:spLocks noChangeArrowheads="1"/>
              </p:cNvSpPr>
              <p:nvPr/>
            </p:nvSpPr>
            <p:spPr bwMode="auto">
              <a:xfrm>
                <a:off x="2213" y="558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sz="2400" dirty="0"/>
                  <a:t>d</a:t>
                </a:r>
              </a:p>
            </p:txBody>
          </p:sp>
          <p:sp>
            <p:nvSpPr>
              <p:cNvPr id="140" name="Text Box 61"/>
              <p:cNvSpPr txBox="1">
                <a:spLocks noChangeArrowheads="1"/>
              </p:cNvSpPr>
              <p:nvPr/>
            </p:nvSpPr>
            <p:spPr bwMode="auto">
              <a:xfrm>
                <a:off x="1011" y="227"/>
                <a:ext cx="28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b="1" dirty="0"/>
                  <a:t>R</a:t>
                </a:r>
                <a:r>
                  <a:rPr lang="zh-CN" altLang="zh-CN" b="1" baseline="-25000" dirty="0"/>
                  <a:t>1</a:t>
                </a:r>
                <a:endParaRPr lang="zh-CN" altLang="zh-CN" b="1" dirty="0"/>
              </a:p>
            </p:txBody>
          </p:sp>
          <p:sp>
            <p:nvSpPr>
              <p:cNvPr id="141" name="Text Box 62"/>
              <p:cNvSpPr txBox="1">
                <a:spLocks noChangeArrowheads="1"/>
              </p:cNvSpPr>
              <p:nvPr/>
            </p:nvSpPr>
            <p:spPr bwMode="auto">
              <a:xfrm>
                <a:off x="1011" y="916"/>
                <a:ext cx="28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b="1" dirty="0"/>
                  <a:t>R</a:t>
                </a:r>
                <a:r>
                  <a:rPr lang="zh-CN" altLang="zh-CN" b="1" baseline="-25000" dirty="0"/>
                  <a:t>4</a:t>
                </a:r>
                <a:endParaRPr lang="zh-CN" altLang="zh-CN" b="1" dirty="0"/>
              </a:p>
            </p:txBody>
          </p:sp>
          <p:sp>
            <p:nvSpPr>
              <p:cNvPr id="142" name="Text Box 63"/>
              <p:cNvSpPr txBox="1">
                <a:spLocks noChangeArrowheads="1"/>
              </p:cNvSpPr>
              <p:nvPr/>
            </p:nvSpPr>
            <p:spPr bwMode="auto">
              <a:xfrm>
                <a:off x="1947" y="952"/>
                <a:ext cx="28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b="1"/>
                  <a:t>R</a:t>
                </a:r>
                <a:r>
                  <a:rPr lang="zh-CN" altLang="zh-CN" b="1" baseline="-25000"/>
                  <a:t>3</a:t>
                </a:r>
                <a:endParaRPr lang="zh-CN" altLang="zh-CN" b="1"/>
              </a:p>
            </p:txBody>
          </p:sp>
          <p:sp>
            <p:nvSpPr>
              <p:cNvPr id="143" name="Text Box 64"/>
              <p:cNvSpPr txBox="1">
                <a:spLocks noChangeArrowheads="1"/>
              </p:cNvSpPr>
              <p:nvPr/>
            </p:nvSpPr>
            <p:spPr bwMode="auto">
              <a:xfrm>
                <a:off x="1923" y="196"/>
                <a:ext cx="28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b="1" dirty="0"/>
                  <a:t>R</a:t>
                </a:r>
                <a:r>
                  <a:rPr lang="zh-CN" altLang="zh-CN" b="1" baseline="-25000" dirty="0"/>
                  <a:t>2</a:t>
                </a:r>
                <a:endParaRPr lang="zh-CN" altLang="zh-CN" b="1" dirty="0"/>
              </a:p>
            </p:txBody>
          </p:sp>
          <p:sp>
            <p:nvSpPr>
              <p:cNvPr id="145" name="Text Box 66"/>
              <p:cNvSpPr txBox="1">
                <a:spLocks noChangeArrowheads="1"/>
              </p:cNvSpPr>
              <p:nvPr/>
            </p:nvSpPr>
            <p:spPr bwMode="auto">
              <a:xfrm>
                <a:off x="342" y="113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sz="2400"/>
                  <a:t>b</a:t>
                </a:r>
              </a:p>
            </p:txBody>
          </p:sp>
        </p:grpSp>
        <p:sp>
          <p:nvSpPr>
            <p:cNvPr id="146" name="Text Box 61"/>
            <p:cNvSpPr txBox="1">
              <a:spLocks noChangeArrowheads="1"/>
            </p:cNvSpPr>
            <p:nvPr/>
          </p:nvSpPr>
          <p:spPr bwMode="auto">
            <a:xfrm>
              <a:off x="4977057" y="4969302"/>
              <a:ext cx="614271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dirty="0"/>
                <a:t>i</a:t>
              </a:r>
              <a:r>
                <a:rPr lang="en-US" altLang="zh-CN" b="1" baseline="-25000" dirty="0"/>
                <a:t>5</a:t>
              </a:r>
              <a:r>
                <a:rPr lang="en-US" altLang="zh-CN" b="1" dirty="0"/>
                <a:t>=0</a:t>
              </a:r>
              <a:endParaRPr lang="zh-CN" altLang="zh-CN" b="1" dirty="0"/>
            </a:p>
          </p:txBody>
        </p:sp>
      </p:grpSp>
      <p:grpSp>
        <p:nvGrpSpPr>
          <p:cNvPr id="181" name="组合 180"/>
          <p:cNvGrpSpPr/>
          <p:nvPr/>
        </p:nvGrpSpPr>
        <p:grpSpPr>
          <a:xfrm>
            <a:off x="343251" y="3975019"/>
            <a:ext cx="3368808" cy="2381918"/>
            <a:chOff x="2991389" y="4223532"/>
            <a:chExt cx="3368808" cy="2381918"/>
          </a:xfrm>
        </p:grpSpPr>
        <p:grpSp>
          <p:nvGrpSpPr>
            <p:cNvPr id="182" name="Group 34"/>
            <p:cNvGrpSpPr>
              <a:grpSpLocks/>
            </p:cNvGrpSpPr>
            <p:nvPr/>
          </p:nvGrpSpPr>
          <p:grpSpPr bwMode="auto">
            <a:xfrm>
              <a:off x="2991389" y="4223532"/>
              <a:ext cx="3368808" cy="2381918"/>
              <a:chOff x="342" y="32"/>
              <a:chExt cx="2083" cy="1392"/>
            </a:xfrm>
          </p:grpSpPr>
          <p:sp>
            <p:nvSpPr>
              <p:cNvPr id="184" name="Rectangle 35"/>
              <p:cNvSpPr>
                <a:spLocks noChangeArrowheads="1"/>
              </p:cNvSpPr>
              <p:nvPr/>
            </p:nvSpPr>
            <p:spPr bwMode="auto">
              <a:xfrm rot="-7903512">
                <a:off x="1332" y="304"/>
                <a:ext cx="96" cy="2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5" name="Rectangle 36"/>
              <p:cNvSpPr>
                <a:spLocks noChangeArrowheads="1"/>
              </p:cNvSpPr>
              <p:nvPr/>
            </p:nvSpPr>
            <p:spPr bwMode="auto">
              <a:xfrm rot="-2919155">
                <a:off x="1854" y="310"/>
                <a:ext cx="96" cy="2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6" name="Rectangle 38"/>
              <p:cNvSpPr>
                <a:spLocks noChangeArrowheads="1"/>
              </p:cNvSpPr>
              <p:nvPr/>
            </p:nvSpPr>
            <p:spPr bwMode="auto">
              <a:xfrm rot="-2874968">
                <a:off x="1299" y="880"/>
                <a:ext cx="96" cy="2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7" name="Rectangle 39"/>
              <p:cNvSpPr>
                <a:spLocks noChangeArrowheads="1"/>
              </p:cNvSpPr>
              <p:nvPr/>
            </p:nvSpPr>
            <p:spPr bwMode="auto">
              <a:xfrm rot="-7972038">
                <a:off x="1908" y="835"/>
                <a:ext cx="96" cy="2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8" name="Freeform 40"/>
              <p:cNvSpPr>
                <a:spLocks/>
              </p:cNvSpPr>
              <p:nvPr/>
            </p:nvSpPr>
            <p:spPr bwMode="auto">
              <a:xfrm>
                <a:off x="1465" y="196"/>
                <a:ext cx="176" cy="160"/>
              </a:xfrm>
              <a:custGeom>
                <a:avLst/>
                <a:gdLst>
                  <a:gd name="T0" fmla="*/ 0 w 176"/>
                  <a:gd name="T1" fmla="*/ 160 h 160"/>
                  <a:gd name="T2" fmla="*/ 176 w 176"/>
                  <a:gd name="T3" fmla="*/ 0 h 16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76" h="160">
                    <a:moveTo>
                      <a:pt x="0" y="160"/>
                    </a:moveTo>
                    <a:lnTo>
                      <a:pt x="176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9" name="Freeform 41"/>
              <p:cNvSpPr>
                <a:spLocks/>
              </p:cNvSpPr>
              <p:nvPr/>
            </p:nvSpPr>
            <p:spPr bwMode="auto">
              <a:xfrm>
                <a:off x="1635" y="202"/>
                <a:ext cx="168" cy="141"/>
              </a:xfrm>
              <a:custGeom>
                <a:avLst/>
                <a:gdLst>
                  <a:gd name="T0" fmla="*/ 168 w 168"/>
                  <a:gd name="T1" fmla="*/ 141 h 141"/>
                  <a:gd name="T2" fmla="*/ 0 w 168"/>
                  <a:gd name="T3" fmla="*/ 0 h 14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68" h="141">
                    <a:moveTo>
                      <a:pt x="168" y="141"/>
                    </a:moveTo>
                    <a:lnTo>
                      <a:pt x="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0" name="Freeform 42"/>
              <p:cNvSpPr>
                <a:spLocks/>
              </p:cNvSpPr>
              <p:nvPr/>
            </p:nvSpPr>
            <p:spPr bwMode="auto">
              <a:xfrm>
                <a:off x="1057" y="508"/>
                <a:ext cx="233" cy="223"/>
              </a:xfrm>
              <a:custGeom>
                <a:avLst/>
                <a:gdLst>
                  <a:gd name="T0" fmla="*/ 233 w 233"/>
                  <a:gd name="T1" fmla="*/ 0 h 223"/>
                  <a:gd name="T2" fmla="*/ 0 w 233"/>
                  <a:gd name="T3" fmla="*/ 223 h 22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33" h="223">
                    <a:moveTo>
                      <a:pt x="233" y="0"/>
                    </a:moveTo>
                    <a:lnTo>
                      <a:pt x="0" y="223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1" name="Freeform 43"/>
              <p:cNvSpPr>
                <a:spLocks/>
              </p:cNvSpPr>
              <p:nvPr/>
            </p:nvSpPr>
            <p:spPr bwMode="auto">
              <a:xfrm>
                <a:off x="1989" y="511"/>
                <a:ext cx="225" cy="216"/>
              </a:xfrm>
              <a:custGeom>
                <a:avLst/>
                <a:gdLst>
                  <a:gd name="T0" fmla="*/ 0 w 225"/>
                  <a:gd name="T1" fmla="*/ 0 h 216"/>
                  <a:gd name="T2" fmla="*/ 225 w 225"/>
                  <a:gd name="T3" fmla="*/ 216 h 21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25" h="216">
                    <a:moveTo>
                      <a:pt x="0" y="0"/>
                    </a:moveTo>
                    <a:lnTo>
                      <a:pt x="225" y="216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2" name="Freeform 44"/>
              <p:cNvSpPr>
                <a:spLocks/>
              </p:cNvSpPr>
              <p:nvPr/>
            </p:nvSpPr>
            <p:spPr bwMode="auto">
              <a:xfrm>
                <a:off x="1075" y="731"/>
                <a:ext cx="183" cy="201"/>
              </a:xfrm>
              <a:custGeom>
                <a:avLst/>
                <a:gdLst>
                  <a:gd name="T0" fmla="*/ 0 w 183"/>
                  <a:gd name="T1" fmla="*/ 0 h 201"/>
                  <a:gd name="T2" fmla="*/ 183 w 183"/>
                  <a:gd name="T3" fmla="*/ 201 h 20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83" h="201">
                    <a:moveTo>
                      <a:pt x="0" y="0"/>
                    </a:moveTo>
                    <a:lnTo>
                      <a:pt x="183" y="201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3" name="Freeform 45"/>
              <p:cNvSpPr>
                <a:spLocks/>
              </p:cNvSpPr>
              <p:nvPr/>
            </p:nvSpPr>
            <p:spPr bwMode="auto">
              <a:xfrm>
                <a:off x="1422" y="1078"/>
                <a:ext cx="211" cy="183"/>
              </a:xfrm>
              <a:custGeom>
                <a:avLst/>
                <a:gdLst>
                  <a:gd name="T0" fmla="*/ 0 w 211"/>
                  <a:gd name="T1" fmla="*/ 0 h 183"/>
                  <a:gd name="T2" fmla="*/ 211 w 211"/>
                  <a:gd name="T3" fmla="*/ 183 h 18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11" h="183">
                    <a:moveTo>
                      <a:pt x="0" y="0"/>
                    </a:moveTo>
                    <a:lnTo>
                      <a:pt x="211" y="183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4" name="Freeform 46"/>
              <p:cNvSpPr>
                <a:spLocks/>
              </p:cNvSpPr>
              <p:nvPr/>
            </p:nvSpPr>
            <p:spPr bwMode="auto">
              <a:xfrm>
                <a:off x="1635" y="1030"/>
                <a:ext cx="243" cy="222"/>
              </a:xfrm>
              <a:custGeom>
                <a:avLst/>
                <a:gdLst>
                  <a:gd name="T0" fmla="*/ 0 w 243"/>
                  <a:gd name="T1" fmla="*/ 222 h 222"/>
                  <a:gd name="T2" fmla="*/ 243 w 243"/>
                  <a:gd name="T3" fmla="*/ 0 h 22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43" h="222">
                    <a:moveTo>
                      <a:pt x="0" y="222"/>
                    </a:moveTo>
                    <a:lnTo>
                      <a:pt x="243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" name="Freeform 47"/>
              <p:cNvSpPr>
                <a:spLocks/>
              </p:cNvSpPr>
              <p:nvPr/>
            </p:nvSpPr>
            <p:spPr bwMode="auto">
              <a:xfrm>
                <a:off x="2053" y="724"/>
                <a:ext cx="158" cy="153"/>
              </a:xfrm>
              <a:custGeom>
                <a:avLst/>
                <a:gdLst>
                  <a:gd name="T0" fmla="*/ 0 w 158"/>
                  <a:gd name="T1" fmla="*/ 153 h 153"/>
                  <a:gd name="T2" fmla="*/ 158 w 158"/>
                  <a:gd name="T3" fmla="*/ 0 h 15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58" h="153">
                    <a:moveTo>
                      <a:pt x="0" y="153"/>
                    </a:moveTo>
                    <a:lnTo>
                      <a:pt x="158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7" name="Freeform 49"/>
              <p:cNvSpPr>
                <a:spLocks/>
              </p:cNvSpPr>
              <p:nvPr/>
            </p:nvSpPr>
            <p:spPr bwMode="auto">
              <a:xfrm>
                <a:off x="1050" y="698"/>
                <a:ext cx="1161" cy="27"/>
              </a:xfrm>
              <a:custGeom>
                <a:avLst/>
                <a:gdLst>
                  <a:gd name="T0" fmla="*/ 0 w 447"/>
                  <a:gd name="T1" fmla="*/ 0 h 1"/>
                  <a:gd name="T2" fmla="*/ 447 w 447"/>
                  <a:gd name="T3" fmla="*/ 1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47" h="1">
                    <a:moveTo>
                      <a:pt x="0" y="0"/>
                    </a:moveTo>
                    <a:lnTo>
                      <a:pt x="447" y="1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8" name="Line 50"/>
              <p:cNvSpPr>
                <a:spLocks noChangeShapeType="1"/>
              </p:cNvSpPr>
              <p:nvPr/>
            </p:nvSpPr>
            <p:spPr bwMode="auto">
              <a:xfrm flipV="1">
                <a:off x="622" y="196"/>
                <a:ext cx="1013" cy="1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9" name="Line 51"/>
              <p:cNvSpPr>
                <a:spLocks noChangeShapeType="1"/>
              </p:cNvSpPr>
              <p:nvPr/>
            </p:nvSpPr>
            <p:spPr bwMode="auto">
              <a:xfrm>
                <a:off x="626" y="1251"/>
                <a:ext cx="1003" cy="1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0" name="Oval 52"/>
              <p:cNvSpPr>
                <a:spLocks noChangeAspect="1" noChangeArrowheads="1"/>
              </p:cNvSpPr>
              <p:nvPr/>
            </p:nvSpPr>
            <p:spPr bwMode="auto">
              <a:xfrm>
                <a:off x="1596" y="184"/>
                <a:ext cx="68" cy="68"/>
              </a:xfrm>
              <a:prstGeom prst="ellipse">
                <a:avLst/>
              </a:prstGeom>
              <a:solidFill>
                <a:schemeClr val="tx2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1" name="Oval 53"/>
              <p:cNvSpPr>
                <a:spLocks noChangeAspect="1" noChangeArrowheads="1"/>
              </p:cNvSpPr>
              <p:nvPr/>
            </p:nvSpPr>
            <p:spPr bwMode="auto">
              <a:xfrm>
                <a:off x="1587" y="1213"/>
                <a:ext cx="68" cy="68"/>
              </a:xfrm>
              <a:prstGeom prst="ellipse">
                <a:avLst/>
              </a:prstGeom>
              <a:solidFill>
                <a:schemeClr val="tx2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2" name="Oval 54"/>
              <p:cNvSpPr>
                <a:spLocks noChangeAspect="1" noChangeArrowheads="1"/>
              </p:cNvSpPr>
              <p:nvPr/>
            </p:nvSpPr>
            <p:spPr bwMode="auto">
              <a:xfrm>
                <a:off x="1050" y="676"/>
                <a:ext cx="68" cy="68"/>
              </a:xfrm>
              <a:prstGeom prst="ellipse">
                <a:avLst/>
              </a:prstGeom>
              <a:solidFill>
                <a:schemeClr val="tx2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3" name="Oval 55"/>
              <p:cNvSpPr>
                <a:spLocks noChangeAspect="1" noChangeArrowheads="1"/>
              </p:cNvSpPr>
              <p:nvPr/>
            </p:nvSpPr>
            <p:spPr bwMode="auto">
              <a:xfrm>
                <a:off x="2169" y="676"/>
                <a:ext cx="68" cy="68"/>
              </a:xfrm>
              <a:prstGeom prst="ellipse">
                <a:avLst/>
              </a:prstGeom>
              <a:solidFill>
                <a:schemeClr val="tx2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4" name="Oval 56"/>
              <p:cNvSpPr>
                <a:spLocks noChangeAspect="1" noChangeArrowheads="1"/>
              </p:cNvSpPr>
              <p:nvPr/>
            </p:nvSpPr>
            <p:spPr bwMode="auto">
              <a:xfrm>
                <a:off x="537" y="180"/>
                <a:ext cx="68" cy="68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5" name="Oval 57"/>
              <p:cNvSpPr>
                <a:spLocks noChangeAspect="1" noChangeArrowheads="1"/>
              </p:cNvSpPr>
              <p:nvPr/>
            </p:nvSpPr>
            <p:spPr bwMode="auto">
              <a:xfrm>
                <a:off x="519" y="1254"/>
                <a:ext cx="68" cy="68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6" name="Text Box 58"/>
              <p:cNvSpPr txBox="1">
                <a:spLocks noChangeArrowheads="1"/>
              </p:cNvSpPr>
              <p:nvPr/>
            </p:nvSpPr>
            <p:spPr bwMode="auto">
              <a:xfrm>
                <a:off x="350" y="32"/>
                <a:ext cx="20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sz="2400"/>
                  <a:t>a</a:t>
                </a:r>
              </a:p>
            </p:txBody>
          </p:sp>
          <p:sp>
            <p:nvSpPr>
              <p:cNvPr id="207" name="Text Box 59"/>
              <p:cNvSpPr txBox="1">
                <a:spLocks noChangeArrowheads="1"/>
              </p:cNvSpPr>
              <p:nvPr/>
            </p:nvSpPr>
            <p:spPr bwMode="auto">
              <a:xfrm>
                <a:off x="869" y="549"/>
                <a:ext cx="20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sz="2400"/>
                  <a:t>c</a:t>
                </a:r>
              </a:p>
            </p:txBody>
          </p:sp>
          <p:sp>
            <p:nvSpPr>
              <p:cNvPr id="208" name="Text Box 60"/>
              <p:cNvSpPr txBox="1">
                <a:spLocks noChangeArrowheads="1"/>
              </p:cNvSpPr>
              <p:nvPr/>
            </p:nvSpPr>
            <p:spPr bwMode="auto">
              <a:xfrm>
                <a:off x="2213" y="558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sz="2400"/>
                  <a:t>d</a:t>
                </a:r>
              </a:p>
            </p:txBody>
          </p:sp>
          <p:sp>
            <p:nvSpPr>
              <p:cNvPr id="209" name="Text Box 61"/>
              <p:cNvSpPr txBox="1">
                <a:spLocks noChangeArrowheads="1"/>
              </p:cNvSpPr>
              <p:nvPr/>
            </p:nvSpPr>
            <p:spPr bwMode="auto">
              <a:xfrm>
                <a:off x="1011" y="227"/>
                <a:ext cx="28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b="1" dirty="0"/>
                  <a:t>R</a:t>
                </a:r>
                <a:r>
                  <a:rPr lang="zh-CN" altLang="zh-CN" b="1" baseline="-25000" dirty="0"/>
                  <a:t>1</a:t>
                </a:r>
                <a:endParaRPr lang="zh-CN" altLang="zh-CN" b="1" dirty="0"/>
              </a:p>
            </p:txBody>
          </p:sp>
          <p:sp>
            <p:nvSpPr>
              <p:cNvPr id="210" name="Text Box 62"/>
              <p:cNvSpPr txBox="1">
                <a:spLocks noChangeArrowheads="1"/>
              </p:cNvSpPr>
              <p:nvPr/>
            </p:nvSpPr>
            <p:spPr bwMode="auto">
              <a:xfrm>
                <a:off x="1011" y="916"/>
                <a:ext cx="28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b="1" dirty="0"/>
                  <a:t>R</a:t>
                </a:r>
                <a:r>
                  <a:rPr lang="zh-CN" altLang="zh-CN" b="1" baseline="-25000" dirty="0"/>
                  <a:t>4</a:t>
                </a:r>
                <a:endParaRPr lang="zh-CN" altLang="zh-CN" b="1" dirty="0"/>
              </a:p>
            </p:txBody>
          </p:sp>
          <p:sp>
            <p:nvSpPr>
              <p:cNvPr id="211" name="Text Box 63"/>
              <p:cNvSpPr txBox="1">
                <a:spLocks noChangeArrowheads="1"/>
              </p:cNvSpPr>
              <p:nvPr/>
            </p:nvSpPr>
            <p:spPr bwMode="auto">
              <a:xfrm>
                <a:off x="1947" y="952"/>
                <a:ext cx="28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b="1"/>
                  <a:t>R</a:t>
                </a:r>
                <a:r>
                  <a:rPr lang="zh-CN" altLang="zh-CN" b="1" baseline="-25000"/>
                  <a:t>3</a:t>
                </a:r>
                <a:endParaRPr lang="zh-CN" altLang="zh-CN" b="1"/>
              </a:p>
            </p:txBody>
          </p:sp>
          <p:sp>
            <p:nvSpPr>
              <p:cNvPr id="212" name="Text Box 64"/>
              <p:cNvSpPr txBox="1">
                <a:spLocks noChangeArrowheads="1"/>
              </p:cNvSpPr>
              <p:nvPr/>
            </p:nvSpPr>
            <p:spPr bwMode="auto">
              <a:xfrm>
                <a:off x="1923" y="196"/>
                <a:ext cx="28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b="1"/>
                  <a:t>R</a:t>
                </a:r>
                <a:r>
                  <a:rPr lang="zh-CN" altLang="zh-CN" b="1" baseline="-25000"/>
                  <a:t>2</a:t>
                </a:r>
                <a:endParaRPr lang="zh-CN" altLang="zh-CN" b="1"/>
              </a:p>
            </p:txBody>
          </p:sp>
          <p:sp>
            <p:nvSpPr>
              <p:cNvPr id="213" name="Text Box 66"/>
              <p:cNvSpPr txBox="1">
                <a:spLocks noChangeArrowheads="1"/>
              </p:cNvSpPr>
              <p:nvPr/>
            </p:nvSpPr>
            <p:spPr bwMode="auto">
              <a:xfrm>
                <a:off x="342" y="113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sz="2400"/>
                  <a:t>b</a:t>
                </a:r>
              </a:p>
            </p:txBody>
          </p:sp>
        </p:grpSp>
        <p:sp>
          <p:nvSpPr>
            <p:cNvPr id="183" name="Text Box 61"/>
            <p:cNvSpPr txBox="1">
              <a:spLocks noChangeArrowheads="1"/>
            </p:cNvSpPr>
            <p:nvPr/>
          </p:nvSpPr>
          <p:spPr bwMode="auto">
            <a:xfrm>
              <a:off x="4733672" y="4985142"/>
              <a:ext cx="814647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dirty="0" err="1"/>
                <a:t>U</a:t>
              </a:r>
              <a:r>
                <a:rPr lang="en-US" altLang="zh-CN" b="1" baseline="-25000" dirty="0" err="1"/>
                <a:t>cd</a:t>
              </a:r>
              <a:r>
                <a:rPr lang="en-US" altLang="zh-CN" b="1" dirty="0"/>
                <a:t>=0</a:t>
              </a:r>
              <a:endParaRPr lang="zh-CN" altLang="zh-CN" b="1" dirty="0"/>
            </a:p>
          </p:txBody>
        </p:sp>
      </p:grpSp>
      <p:grpSp>
        <p:nvGrpSpPr>
          <p:cNvPr id="61" name="组合 60"/>
          <p:cNvGrpSpPr/>
          <p:nvPr/>
        </p:nvGrpSpPr>
        <p:grpSpPr>
          <a:xfrm>
            <a:off x="5326613" y="3969543"/>
            <a:ext cx="3849688" cy="2189163"/>
            <a:chOff x="5326613" y="3969543"/>
            <a:chExt cx="3849688" cy="2189163"/>
          </a:xfrm>
        </p:grpSpPr>
        <p:cxnSp>
          <p:nvCxnSpPr>
            <p:cNvPr id="220" name="直接连接符 219"/>
            <p:cNvCxnSpPr>
              <a:stCxn id="150" idx="2"/>
              <a:endCxn id="168" idx="2"/>
            </p:cNvCxnSpPr>
            <p:nvPr/>
          </p:nvCxnSpPr>
          <p:spPr bwMode="auto">
            <a:xfrm>
              <a:off x="8114263" y="4887118"/>
              <a:ext cx="655638" cy="188913"/>
            </a:xfrm>
            <a:prstGeom prst="line">
              <a:avLst/>
            </a:prstGeom>
            <a:solidFill>
              <a:schemeClr val="accent1"/>
            </a:solidFill>
            <a:ln w="317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60" name="组合 59"/>
            <p:cNvGrpSpPr/>
            <p:nvPr/>
          </p:nvGrpSpPr>
          <p:grpSpPr>
            <a:xfrm>
              <a:off x="5326613" y="3969543"/>
              <a:ext cx="3849688" cy="2189163"/>
              <a:chOff x="5326613" y="3969543"/>
              <a:chExt cx="3849688" cy="2189163"/>
            </a:xfrm>
          </p:grpSpPr>
          <p:sp>
            <p:nvSpPr>
              <p:cNvPr id="180" name="Rectangle 37"/>
              <p:cNvSpPr>
                <a:spLocks noChangeArrowheads="1"/>
              </p:cNvSpPr>
              <p:nvPr/>
            </p:nvSpPr>
            <p:spPr bwMode="auto">
              <a:xfrm rot="16200000">
                <a:off x="7855501" y="5046637"/>
                <a:ext cx="152400" cy="38100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cxnSp>
            <p:nvCxnSpPr>
              <p:cNvPr id="218" name="直接连接符 217"/>
              <p:cNvCxnSpPr>
                <a:stCxn id="167" idx="5"/>
                <a:endCxn id="180" idx="0"/>
              </p:cNvCxnSpPr>
              <p:nvPr/>
            </p:nvCxnSpPr>
            <p:spPr bwMode="auto">
              <a:xfrm>
                <a:off x="7085629" y="5114197"/>
                <a:ext cx="655572" cy="122940"/>
              </a:xfrm>
              <a:prstGeom prst="line">
                <a:avLst/>
              </a:prstGeom>
              <a:solidFill>
                <a:schemeClr val="accent1"/>
              </a:solidFill>
              <a:ln w="317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22" name="直接连接符 221"/>
              <p:cNvCxnSpPr>
                <a:stCxn id="180" idx="2"/>
                <a:endCxn id="168" idx="2"/>
              </p:cNvCxnSpPr>
              <p:nvPr/>
            </p:nvCxnSpPr>
            <p:spPr bwMode="auto">
              <a:xfrm flipV="1">
                <a:off x="8122201" y="5076031"/>
                <a:ext cx="647700" cy="161106"/>
              </a:xfrm>
              <a:prstGeom prst="line">
                <a:avLst/>
              </a:prstGeom>
              <a:solidFill>
                <a:schemeClr val="accent1"/>
              </a:solidFill>
              <a:ln w="317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grpSp>
            <p:nvGrpSpPr>
              <p:cNvPr id="59" name="组合 58"/>
              <p:cNvGrpSpPr/>
              <p:nvPr/>
            </p:nvGrpSpPr>
            <p:grpSpPr>
              <a:xfrm>
                <a:off x="5326613" y="3969543"/>
                <a:ext cx="3849688" cy="2189163"/>
                <a:chOff x="5326613" y="3969543"/>
                <a:chExt cx="3849688" cy="2189163"/>
              </a:xfrm>
            </p:grpSpPr>
            <p:grpSp>
              <p:nvGrpSpPr>
                <p:cNvPr id="144" name="Group 34"/>
                <p:cNvGrpSpPr>
                  <a:grpSpLocks/>
                </p:cNvGrpSpPr>
                <p:nvPr/>
              </p:nvGrpSpPr>
              <p:grpSpPr bwMode="auto">
                <a:xfrm>
                  <a:off x="5326613" y="3969543"/>
                  <a:ext cx="3849688" cy="2189163"/>
                  <a:chOff x="0" y="13"/>
                  <a:chExt cx="2425" cy="1379"/>
                </a:xfrm>
              </p:grpSpPr>
              <p:sp>
                <p:nvSpPr>
                  <p:cNvPr id="148" name="Rectangle 35"/>
                  <p:cNvSpPr>
                    <a:spLocks noChangeArrowheads="1"/>
                  </p:cNvSpPr>
                  <p:nvPr/>
                </p:nvSpPr>
                <p:spPr bwMode="auto">
                  <a:xfrm rot="-7903512">
                    <a:off x="1332" y="304"/>
                    <a:ext cx="96" cy="240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49" name="Rectangle 36"/>
                  <p:cNvSpPr>
                    <a:spLocks noChangeArrowheads="1"/>
                  </p:cNvSpPr>
                  <p:nvPr/>
                </p:nvSpPr>
                <p:spPr bwMode="auto">
                  <a:xfrm rot="-2919155">
                    <a:off x="1854" y="310"/>
                    <a:ext cx="96" cy="240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50" name="Rectangle 37"/>
                  <p:cNvSpPr>
                    <a:spLocks noChangeArrowheads="1"/>
                  </p:cNvSpPr>
                  <p:nvPr/>
                </p:nvSpPr>
                <p:spPr bwMode="auto">
                  <a:xfrm rot="16200000">
                    <a:off x="1588" y="471"/>
                    <a:ext cx="96" cy="240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51" name="Rectangle 38"/>
                  <p:cNvSpPr>
                    <a:spLocks noChangeArrowheads="1"/>
                  </p:cNvSpPr>
                  <p:nvPr/>
                </p:nvSpPr>
                <p:spPr bwMode="auto">
                  <a:xfrm rot="-2874968">
                    <a:off x="1299" y="880"/>
                    <a:ext cx="96" cy="240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52" name="Rectangle 39"/>
                  <p:cNvSpPr>
                    <a:spLocks noChangeArrowheads="1"/>
                  </p:cNvSpPr>
                  <p:nvPr/>
                </p:nvSpPr>
                <p:spPr bwMode="auto">
                  <a:xfrm rot="-7972038">
                    <a:off x="1908" y="835"/>
                    <a:ext cx="96" cy="240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53" name="Freeform 40"/>
                  <p:cNvSpPr>
                    <a:spLocks/>
                  </p:cNvSpPr>
                  <p:nvPr/>
                </p:nvSpPr>
                <p:spPr bwMode="auto">
                  <a:xfrm>
                    <a:off x="1465" y="196"/>
                    <a:ext cx="176" cy="160"/>
                  </a:xfrm>
                  <a:custGeom>
                    <a:avLst/>
                    <a:gdLst>
                      <a:gd name="T0" fmla="*/ 0 w 176"/>
                      <a:gd name="T1" fmla="*/ 160 h 160"/>
                      <a:gd name="T2" fmla="*/ 176 w 176"/>
                      <a:gd name="T3" fmla="*/ 0 h 160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176" h="160">
                        <a:moveTo>
                          <a:pt x="0" y="160"/>
                        </a:moveTo>
                        <a:lnTo>
                          <a:pt x="176" y="0"/>
                        </a:lnTo>
                      </a:path>
                    </a:pathLst>
                  </a:custGeom>
                  <a:noFill/>
                  <a:ln w="2857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4" name="Freeform 41"/>
                  <p:cNvSpPr>
                    <a:spLocks/>
                  </p:cNvSpPr>
                  <p:nvPr/>
                </p:nvSpPr>
                <p:spPr bwMode="auto">
                  <a:xfrm>
                    <a:off x="1635" y="202"/>
                    <a:ext cx="168" cy="141"/>
                  </a:xfrm>
                  <a:custGeom>
                    <a:avLst/>
                    <a:gdLst>
                      <a:gd name="T0" fmla="*/ 168 w 168"/>
                      <a:gd name="T1" fmla="*/ 141 h 141"/>
                      <a:gd name="T2" fmla="*/ 0 w 168"/>
                      <a:gd name="T3" fmla="*/ 0 h 141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168" h="141">
                        <a:moveTo>
                          <a:pt x="168" y="141"/>
                        </a:moveTo>
                        <a:lnTo>
                          <a:pt x="0" y="0"/>
                        </a:lnTo>
                      </a:path>
                    </a:pathLst>
                  </a:custGeom>
                  <a:noFill/>
                  <a:ln w="2857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5" name="Freeform 42"/>
                  <p:cNvSpPr>
                    <a:spLocks/>
                  </p:cNvSpPr>
                  <p:nvPr/>
                </p:nvSpPr>
                <p:spPr bwMode="auto">
                  <a:xfrm>
                    <a:off x="1057" y="508"/>
                    <a:ext cx="233" cy="223"/>
                  </a:xfrm>
                  <a:custGeom>
                    <a:avLst/>
                    <a:gdLst>
                      <a:gd name="T0" fmla="*/ 233 w 233"/>
                      <a:gd name="T1" fmla="*/ 0 h 223"/>
                      <a:gd name="T2" fmla="*/ 0 w 233"/>
                      <a:gd name="T3" fmla="*/ 223 h 223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233" h="223">
                        <a:moveTo>
                          <a:pt x="233" y="0"/>
                        </a:moveTo>
                        <a:lnTo>
                          <a:pt x="0" y="223"/>
                        </a:lnTo>
                      </a:path>
                    </a:pathLst>
                  </a:custGeom>
                  <a:noFill/>
                  <a:ln w="2857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6" name="Freeform 43"/>
                  <p:cNvSpPr>
                    <a:spLocks/>
                  </p:cNvSpPr>
                  <p:nvPr/>
                </p:nvSpPr>
                <p:spPr bwMode="auto">
                  <a:xfrm>
                    <a:off x="1989" y="511"/>
                    <a:ext cx="225" cy="216"/>
                  </a:xfrm>
                  <a:custGeom>
                    <a:avLst/>
                    <a:gdLst>
                      <a:gd name="T0" fmla="*/ 0 w 225"/>
                      <a:gd name="T1" fmla="*/ 0 h 216"/>
                      <a:gd name="T2" fmla="*/ 225 w 225"/>
                      <a:gd name="T3" fmla="*/ 216 h 216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225" h="216">
                        <a:moveTo>
                          <a:pt x="0" y="0"/>
                        </a:moveTo>
                        <a:lnTo>
                          <a:pt x="225" y="216"/>
                        </a:lnTo>
                      </a:path>
                    </a:pathLst>
                  </a:custGeom>
                  <a:noFill/>
                  <a:ln w="2857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7" name="Freeform 44"/>
                  <p:cNvSpPr>
                    <a:spLocks/>
                  </p:cNvSpPr>
                  <p:nvPr/>
                </p:nvSpPr>
                <p:spPr bwMode="auto">
                  <a:xfrm>
                    <a:off x="1075" y="731"/>
                    <a:ext cx="183" cy="201"/>
                  </a:xfrm>
                  <a:custGeom>
                    <a:avLst/>
                    <a:gdLst>
                      <a:gd name="T0" fmla="*/ 0 w 183"/>
                      <a:gd name="T1" fmla="*/ 0 h 201"/>
                      <a:gd name="T2" fmla="*/ 183 w 183"/>
                      <a:gd name="T3" fmla="*/ 201 h 201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183" h="201">
                        <a:moveTo>
                          <a:pt x="0" y="0"/>
                        </a:moveTo>
                        <a:lnTo>
                          <a:pt x="183" y="201"/>
                        </a:lnTo>
                      </a:path>
                    </a:pathLst>
                  </a:custGeom>
                  <a:noFill/>
                  <a:ln w="2857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8" name="Freeform 45"/>
                  <p:cNvSpPr>
                    <a:spLocks/>
                  </p:cNvSpPr>
                  <p:nvPr/>
                </p:nvSpPr>
                <p:spPr bwMode="auto">
                  <a:xfrm>
                    <a:off x="1422" y="1078"/>
                    <a:ext cx="211" cy="183"/>
                  </a:xfrm>
                  <a:custGeom>
                    <a:avLst/>
                    <a:gdLst>
                      <a:gd name="T0" fmla="*/ 0 w 211"/>
                      <a:gd name="T1" fmla="*/ 0 h 183"/>
                      <a:gd name="T2" fmla="*/ 211 w 211"/>
                      <a:gd name="T3" fmla="*/ 183 h 183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211" h="183">
                        <a:moveTo>
                          <a:pt x="0" y="0"/>
                        </a:moveTo>
                        <a:lnTo>
                          <a:pt x="211" y="183"/>
                        </a:lnTo>
                      </a:path>
                    </a:pathLst>
                  </a:custGeom>
                  <a:noFill/>
                  <a:ln w="2857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9" name="Freeform 46"/>
                  <p:cNvSpPr>
                    <a:spLocks/>
                  </p:cNvSpPr>
                  <p:nvPr/>
                </p:nvSpPr>
                <p:spPr bwMode="auto">
                  <a:xfrm>
                    <a:off x="1635" y="1030"/>
                    <a:ext cx="243" cy="222"/>
                  </a:xfrm>
                  <a:custGeom>
                    <a:avLst/>
                    <a:gdLst>
                      <a:gd name="T0" fmla="*/ 0 w 243"/>
                      <a:gd name="T1" fmla="*/ 222 h 222"/>
                      <a:gd name="T2" fmla="*/ 243 w 243"/>
                      <a:gd name="T3" fmla="*/ 0 h 222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243" h="222">
                        <a:moveTo>
                          <a:pt x="0" y="222"/>
                        </a:moveTo>
                        <a:lnTo>
                          <a:pt x="243" y="0"/>
                        </a:lnTo>
                      </a:path>
                    </a:pathLst>
                  </a:custGeom>
                  <a:noFill/>
                  <a:ln w="2857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60" name="Freeform 47"/>
                  <p:cNvSpPr>
                    <a:spLocks/>
                  </p:cNvSpPr>
                  <p:nvPr/>
                </p:nvSpPr>
                <p:spPr bwMode="auto">
                  <a:xfrm>
                    <a:off x="2053" y="724"/>
                    <a:ext cx="158" cy="153"/>
                  </a:xfrm>
                  <a:custGeom>
                    <a:avLst/>
                    <a:gdLst>
                      <a:gd name="T0" fmla="*/ 0 w 158"/>
                      <a:gd name="T1" fmla="*/ 153 h 153"/>
                      <a:gd name="T2" fmla="*/ 158 w 158"/>
                      <a:gd name="T3" fmla="*/ 0 h 153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158" h="153">
                        <a:moveTo>
                          <a:pt x="0" y="153"/>
                        </a:moveTo>
                        <a:lnTo>
                          <a:pt x="158" y="0"/>
                        </a:lnTo>
                      </a:path>
                    </a:pathLst>
                  </a:custGeom>
                  <a:noFill/>
                  <a:ln w="2857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63" name="Line 5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883" y="196"/>
                    <a:ext cx="752" cy="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64" name="Line 51"/>
                  <p:cNvSpPr>
                    <a:spLocks noChangeShapeType="1"/>
                  </p:cNvSpPr>
                  <p:nvPr/>
                </p:nvSpPr>
                <p:spPr bwMode="auto">
                  <a:xfrm>
                    <a:off x="908" y="1251"/>
                    <a:ext cx="721" cy="1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65" name="Oval 52"/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1596" y="184"/>
                    <a:ext cx="68" cy="68"/>
                  </a:xfrm>
                  <a:prstGeom prst="ellipse">
                    <a:avLst/>
                  </a:prstGeom>
                  <a:solidFill>
                    <a:schemeClr val="tx2"/>
                  </a:solidFill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66" name="Oval 53"/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1587" y="1213"/>
                    <a:ext cx="68" cy="68"/>
                  </a:xfrm>
                  <a:prstGeom prst="ellipse">
                    <a:avLst/>
                  </a:prstGeom>
                  <a:solidFill>
                    <a:schemeClr val="tx2"/>
                  </a:solidFill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67" name="Oval 54"/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1050" y="676"/>
                    <a:ext cx="68" cy="68"/>
                  </a:xfrm>
                  <a:prstGeom prst="ellipse">
                    <a:avLst/>
                  </a:prstGeom>
                  <a:solidFill>
                    <a:schemeClr val="tx2"/>
                  </a:solidFill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68" name="Oval 55"/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2169" y="676"/>
                    <a:ext cx="68" cy="68"/>
                  </a:xfrm>
                  <a:prstGeom prst="ellipse">
                    <a:avLst/>
                  </a:prstGeom>
                  <a:solidFill>
                    <a:schemeClr val="tx2"/>
                  </a:solidFill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69" name="Oval 56"/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844" y="161"/>
                    <a:ext cx="68" cy="68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70" name="Oval 57"/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826" y="1222"/>
                    <a:ext cx="68" cy="68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71" name="Text Box 5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57" y="13"/>
                    <a:ext cx="201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zh-CN" altLang="zh-CN" sz="2400"/>
                      <a:t>a</a:t>
                    </a:r>
                  </a:p>
                </p:txBody>
              </p:sp>
              <p:sp>
                <p:nvSpPr>
                  <p:cNvPr id="172" name="Text Box 5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69" y="549"/>
                    <a:ext cx="201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zh-CN" altLang="zh-CN" sz="2400"/>
                      <a:t>c</a:t>
                    </a:r>
                  </a:p>
                </p:txBody>
              </p:sp>
              <p:sp>
                <p:nvSpPr>
                  <p:cNvPr id="173" name="Text Box 6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213" y="558"/>
                    <a:ext cx="212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zh-CN" altLang="zh-CN" sz="2400" dirty="0"/>
                      <a:t>d</a:t>
                    </a:r>
                  </a:p>
                </p:txBody>
              </p:sp>
              <p:sp>
                <p:nvSpPr>
                  <p:cNvPr id="174" name="Text Box 6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011" y="227"/>
                    <a:ext cx="284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zh-CN" altLang="zh-CN" b="1" dirty="0"/>
                      <a:t>R</a:t>
                    </a:r>
                    <a:r>
                      <a:rPr lang="zh-CN" altLang="zh-CN" b="1" baseline="-25000" dirty="0"/>
                      <a:t>1</a:t>
                    </a:r>
                    <a:endParaRPr lang="zh-CN" altLang="zh-CN" b="1" dirty="0"/>
                  </a:p>
                </p:txBody>
              </p:sp>
              <p:sp>
                <p:nvSpPr>
                  <p:cNvPr id="175" name="Text Box 6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011" y="916"/>
                    <a:ext cx="284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zh-CN" altLang="zh-CN" b="1"/>
                      <a:t>R</a:t>
                    </a:r>
                    <a:r>
                      <a:rPr lang="zh-CN" altLang="zh-CN" b="1" baseline="-25000"/>
                      <a:t>4</a:t>
                    </a:r>
                    <a:endParaRPr lang="zh-CN" altLang="zh-CN" b="1"/>
                  </a:p>
                </p:txBody>
              </p:sp>
              <p:sp>
                <p:nvSpPr>
                  <p:cNvPr id="176" name="Text Box 6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947" y="952"/>
                    <a:ext cx="284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zh-CN" altLang="zh-CN" b="1"/>
                      <a:t>R</a:t>
                    </a:r>
                    <a:r>
                      <a:rPr lang="zh-CN" altLang="zh-CN" b="1" baseline="-25000"/>
                      <a:t>3</a:t>
                    </a:r>
                    <a:endParaRPr lang="zh-CN" altLang="zh-CN" b="1"/>
                  </a:p>
                </p:txBody>
              </p:sp>
              <p:sp>
                <p:nvSpPr>
                  <p:cNvPr id="177" name="Text Box 6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923" y="196"/>
                    <a:ext cx="284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zh-CN" altLang="zh-CN" b="1"/>
                      <a:t>R</a:t>
                    </a:r>
                    <a:r>
                      <a:rPr lang="zh-CN" altLang="zh-CN" b="1" baseline="-25000"/>
                      <a:t>2</a:t>
                    </a:r>
                    <a:endParaRPr lang="zh-CN" altLang="zh-CN" b="1"/>
                  </a:p>
                </p:txBody>
              </p:sp>
              <p:sp>
                <p:nvSpPr>
                  <p:cNvPr id="178" name="Text Box 6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467" y="306"/>
                    <a:ext cx="368" cy="252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en-US" altLang="zh-CN" b="1" dirty="0"/>
                      <a:t>2</a:t>
                    </a:r>
                    <a:r>
                      <a:rPr lang="zh-CN" altLang="zh-CN" b="1" dirty="0"/>
                      <a:t>R</a:t>
                    </a:r>
                    <a:r>
                      <a:rPr lang="zh-CN" altLang="zh-CN" b="1" baseline="-25000" dirty="0"/>
                      <a:t>5</a:t>
                    </a:r>
                    <a:endParaRPr lang="zh-CN" altLang="zh-CN" b="1" dirty="0"/>
                  </a:p>
                </p:txBody>
              </p:sp>
              <p:sp>
                <p:nvSpPr>
                  <p:cNvPr id="179" name="Text Box 6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0" y="1104"/>
                    <a:ext cx="212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zh-CN" altLang="zh-CN" sz="2400"/>
                      <a:t>b</a:t>
                    </a:r>
                  </a:p>
                </p:txBody>
              </p:sp>
            </p:grpSp>
            <p:sp>
              <p:nvSpPr>
                <p:cNvPr id="216" name="Text Box 65"/>
                <p:cNvSpPr txBox="1">
                  <a:spLocks noChangeArrowheads="1"/>
                </p:cNvSpPr>
                <p:nvPr/>
              </p:nvSpPr>
              <p:spPr bwMode="auto">
                <a:xfrm>
                  <a:off x="7660551" y="5279519"/>
                  <a:ext cx="584200" cy="4000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b="1" dirty="0"/>
                    <a:t>2</a:t>
                  </a:r>
                  <a:r>
                    <a:rPr lang="zh-CN" altLang="zh-CN" b="1" dirty="0"/>
                    <a:t>R</a:t>
                  </a:r>
                  <a:r>
                    <a:rPr lang="zh-CN" altLang="zh-CN" b="1" baseline="-25000" dirty="0"/>
                    <a:t>5</a:t>
                  </a:r>
                  <a:endParaRPr lang="zh-CN" altLang="zh-CN" b="1" dirty="0"/>
                </a:p>
              </p:txBody>
            </p:sp>
            <p:cxnSp>
              <p:nvCxnSpPr>
                <p:cNvPr id="45" name="直接连接符 44"/>
                <p:cNvCxnSpPr>
                  <a:stCxn id="167" idx="6"/>
                  <a:endCxn id="150" idx="0"/>
                </p:cNvCxnSpPr>
                <p:nvPr/>
              </p:nvCxnSpPr>
              <p:spPr bwMode="auto">
                <a:xfrm flipV="1">
                  <a:off x="7101438" y="4887118"/>
                  <a:ext cx="631825" cy="188913"/>
                </a:xfrm>
                <a:prstGeom prst="line">
                  <a:avLst/>
                </a:prstGeom>
                <a:solidFill>
                  <a:schemeClr val="accent1"/>
                </a:solidFill>
                <a:ln w="317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224" name="直接连接符 223"/>
                <p:cNvCxnSpPr>
                  <a:endCxn id="173" idx="1"/>
                </p:cNvCxnSpPr>
                <p:nvPr/>
              </p:nvCxnSpPr>
              <p:spPr bwMode="auto">
                <a:xfrm flipV="1">
                  <a:off x="6580739" y="5063331"/>
                  <a:ext cx="2259012" cy="26987"/>
                </a:xfrm>
                <a:prstGeom prst="line">
                  <a:avLst/>
                </a:prstGeom>
                <a:solidFill>
                  <a:schemeClr val="accent1"/>
                </a:solidFill>
                <a:ln w="31750" cap="flat" cmpd="sng" algn="ctr">
                  <a:solidFill>
                    <a:srgbClr val="FF0000"/>
                  </a:solidFill>
                  <a:prstDash val="dashDot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</p:grpSp>
      </p:grpSp>
    </p:spTree>
    <p:extLst>
      <p:ext uri="{BB962C8B-B14F-4D97-AF65-F5344CB8AC3E}">
        <p14:creationId xmlns:p14="http://schemas.microsoft.com/office/powerpoint/2010/main" val="3805914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908720"/>
            <a:ext cx="8064896" cy="4683224"/>
          </a:xfrm>
        </p:spPr>
        <p:txBody>
          <a:bodyPr/>
          <a:lstStyle/>
          <a:p>
            <a:r>
              <a:rPr lang="zh-CN" altLang="en-US" dirty="0"/>
              <a:t>求解对称电路的核心，是观察电路的对称关系，寻找</a:t>
            </a:r>
            <a:r>
              <a:rPr lang="zh-CN" altLang="en-US" dirty="0">
                <a:solidFill>
                  <a:srgbClr val="FF0000"/>
                </a:solidFill>
              </a:rPr>
              <a:t>等电位点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如果等电位点在同一支路的两端，则将该支路断开或短接；如果等电位点不在同一支路的两端，则将等电位点短接。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注意：有交叉支路的电路，需要改画成无交叉平面电路形式进行判断。详见教材</a:t>
            </a:r>
            <a:r>
              <a:rPr lang="en-US" altLang="zh-CN" dirty="0"/>
              <a:t>P56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1C66AF1-24A0-446C-B0A8-326C494344F1}" type="datetime1">
              <a:rPr lang="zh-CN" altLang="en-US" smtClean="0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74CEB45-B7B4-4CEA-8E4A-DA539A380401}" type="slidenum">
              <a:rPr lang="en-US" altLang="zh-CN" smtClean="0"/>
              <a:pPr>
                <a:defRPr/>
              </a:pPr>
              <a:t>21</a:t>
            </a:fld>
            <a:endParaRPr lang="en-US" altLang="zh-CN"/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395288" y="163513"/>
            <a:ext cx="845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3200" dirty="0">
                <a:solidFill>
                  <a:schemeClr val="tx2"/>
                </a:solidFill>
                <a:ea typeface="隶书" panose="02010509060101010101" pitchFamily="49" charset="-122"/>
              </a:rPr>
              <a:t>2.3 </a:t>
            </a:r>
            <a:r>
              <a:rPr lang="zh-CN" altLang="en-US" sz="3200" dirty="0">
                <a:solidFill>
                  <a:schemeClr val="tx2"/>
                </a:solidFill>
                <a:ea typeface="隶书" panose="02010509060101010101" pitchFamily="49" charset="-122"/>
              </a:rPr>
              <a:t>对称电路</a:t>
            </a:r>
            <a:endParaRPr lang="en-US" altLang="zh-CN" sz="3200" dirty="0">
              <a:solidFill>
                <a:schemeClr val="tx2"/>
              </a:solidFill>
              <a:ea typeface="隶书" panose="02010509060101010101" pitchFamily="49" charset="-122"/>
            </a:endParaRPr>
          </a:p>
        </p:txBody>
      </p:sp>
      <p:grpSp>
        <p:nvGrpSpPr>
          <p:cNvPr id="8" name="Group 2"/>
          <p:cNvGrpSpPr>
            <a:grpSpLocks/>
          </p:cNvGrpSpPr>
          <p:nvPr/>
        </p:nvGrpSpPr>
        <p:grpSpPr bwMode="auto">
          <a:xfrm>
            <a:off x="5185501" y="4081933"/>
            <a:ext cx="3298825" cy="2209800"/>
            <a:chOff x="0" y="0"/>
            <a:chExt cx="2078" cy="1392"/>
          </a:xfrm>
        </p:grpSpPr>
        <p:sp>
          <p:nvSpPr>
            <p:cNvPr id="9" name="Rectangle 3"/>
            <p:cNvSpPr>
              <a:spLocks noChangeArrowheads="1"/>
            </p:cNvSpPr>
            <p:nvPr/>
          </p:nvSpPr>
          <p:spPr bwMode="auto">
            <a:xfrm rot="-5400000">
              <a:off x="807" y="456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" name="Rectangle 4"/>
            <p:cNvSpPr>
              <a:spLocks noChangeArrowheads="1"/>
            </p:cNvSpPr>
            <p:nvPr/>
          </p:nvSpPr>
          <p:spPr bwMode="auto">
            <a:xfrm rot="-5400000">
              <a:off x="1431" y="456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" name="Rectangle 5"/>
            <p:cNvSpPr>
              <a:spLocks noChangeArrowheads="1"/>
            </p:cNvSpPr>
            <p:nvPr/>
          </p:nvSpPr>
          <p:spPr bwMode="auto">
            <a:xfrm rot="-5400000">
              <a:off x="1131" y="168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" name="Rectangle 6"/>
            <p:cNvSpPr>
              <a:spLocks noChangeArrowheads="1"/>
            </p:cNvSpPr>
            <p:nvPr/>
          </p:nvSpPr>
          <p:spPr bwMode="auto">
            <a:xfrm>
              <a:off x="1728" y="816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" name="Rectangle 7"/>
            <p:cNvSpPr>
              <a:spLocks noChangeArrowheads="1"/>
            </p:cNvSpPr>
            <p:nvPr/>
          </p:nvSpPr>
          <p:spPr bwMode="auto">
            <a:xfrm>
              <a:off x="1116" y="816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4" name="Line 8"/>
            <p:cNvSpPr>
              <a:spLocks noChangeShapeType="1"/>
            </p:cNvSpPr>
            <p:nvPr/>
          </p:nvSpPr>
          <p:spPr bwMode="auto">
            <a:xfrm>
              <a:off x="255" y="576"/>
              <a:ext cx="4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9"/>
            <p:cNvSpPr>
              <a:spLocks noChangeShapeType="1"/>
            </p:cNvSpPr>
            <p:nvPr/>
          </p:nvSpPr>
          <p:spPr bwMode="auto">
            <a:xfrm flipV="1">
              <a:off x="579" y="288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10"/>
            <p:cNvSpPr>
              <a:spLocks noChangeShapeType="1"/>
            </p:cNvSpPr>
            <p:nvPr/>
          </p:nvSpPr>
          <p:spPr bwMode="auto">
            <a:xfrm>
              <a:off x="579" y="288"/>
              <a:ext cx="4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11"/>
            <p:cNvSpPr>
              <a:spLocks noChangeShapeType="1"/>
            </p:cNvSpPr>
            <p:nvPr/>
          </p:nvSpPr>
          <p:spPr bwMode="auto">
            <a:xfrm>
              <a:off x="1299" y="288"/>
              <a:ext cx="4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12"/>
            <p:cNvSpPr>
              <a:spLocks noChangeShapeType="1"/>
            </p:cNvSpPr>
            <p:nvPr/>
          </p:nvSpPr>
          <p:spPr bwMode="auto">
            <a:xfrm>
              <a:off x="975" y="576"/>
              <a:ext cx="38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13"/>
            <p:cNvSpPr>
              <a:spLocks noChangeShapeType="1"/>
            </p:cNvSpPr>
            <p:nvPr/>
          </p:nvSpPr>
          <p:spPr bwMode="auto">
            <a:xfrm>
              <a:off x="1167" y="576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14"/>
            <p:cNvSpPr>
              <a:spLocks noChangeShapeType="1"/>
            </p:cNvSpPr>
            <p:nvPr/>
          </p:nvSpPr>
          <p:spPr bwMode="auto">
            <a:xfrm>
              <a:off x="1167" y="1056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Freeform 15"/>
            <p:cNvSpPr>
              <a:spLocks/>
            </p:cNvSpPr>
            <p:nvPr/>
          </p:nvSpPr>
          <p:spPr bwMode="auto">
            <a:xfrm>
              <a:off x="1779" y="279"/>
              <a:ext cx="1" cy="533"/>
            </a:xfrm>
            <a:custGeom>
              <a:avLst/>
              <a:gdLst>
                <a:gd name="T0" fmla="*/ 0 w 1"/>
                <a:gd name="T1" fmla="*/ 0 h 533"/>
                <a:gd name="T2" fmla="*/ 0 w 1"/>
                <a:gd name="T3" fmla="*/ 533 h 53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533">
                  <a:moveTo>
                    <a:pt x="0" y="0"/>
                  </a:moveTo>
                  <a:lnTo>
                    <a:pt x="0" y="533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16"/>
            <p:cNvSpPr>
              <a:spLocks noChangeShapeType="1"/>
            </p:cNvSpPr>
            <p:nvPr/>
          </p:nvSpPr>
          <p:spPr bwMode="auto">
            <a:xfrm>
              <a:off x="1599" y="576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17"/>
            <p:cNvSpPr>
              <a:spLocks noChangeShapeType="1"/>
            </p:cNvSpPr>
            <p:nvPr/>
          </p:nvSpPr>
          <p:spPr bwMode="auto">
            <a:xfrm>
              <a:off x="1773" y="1056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18"/>
            <p:cNvSpPr>
              <a:spLocks noChangeShapeType="1"/>
            </p:cNvSpPr>
            <p:nvPr/>
          </p:nvSpPr>
          <p:spPr bwMode="auto">
            <a:xfrm>
              <a:off x="284" y="1292"/>
              <a:ext cx="14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Oval 19"/>
            <p:cNvSpPr>
              <a:spLocks noChangeAspect="1" noChangeArrowheads="1"/>
            </p:cNvSpPr>
            <p:nvPr/>
          </p:nvSpPr>
          <p:spPr bwMode="auto">
            <a:xfrm>
              <a:off x="192" y="528"/>
              <a:ext cx="68" cy="6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6" name="Oval 20"/>
            <p:cNvSpPr>
              <a:spLocks noChangeAspect="1" noChangeArrowheads="1"/>
            </p:cNvSpPr>
            <p:nvPr/>
          </p:nvSpPr>
          <p:spPr bwMode="auto">
            <a:xfrm>
              <a:off x="222" y="1257"/>
              <a:ext cx="68" cy="6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7" name="Text Box 21"/>
            <p:cNvSpPr txBox="1">
              <a:spLocks noChangeArrowheads="1"/>
            </p:cNvSpPr>
            <p:nvPr/>
          </p:nvSpPr>
          <p:spPr bwMode="auto">
            <a:xfrm>
              <a:off x="0" y="384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a</a:t>
              </a:r>
            </a:p>
          </p:txBody>
        </p:sp>
        <p:sp>
          <p:nvSpPr>
            <p:cNvPr id="28" name="Text Box 22"/>
            <p:cNvSpPr txBox="1">
              <a:spLocks noChangeArrowheads="1"/>
            </p:cNvSpPr>
            <p:nvPr/>
          </p:nvSpPr>
          <p:spPr bwMode="auto">
            <a:xfrm>
              <a:off x="36" y="11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b</a:t>
              </a:r>
            </a:p>
          </p:txBody>
        </p:sp>
        <p:sp>
          <p:nvSpPr>
            <p:cNvPr id="29" name="Text Box 23"/>
            <p:cNvSpPr txBox="1">
              <a:spLocks noChangeArrowheads="1"/>
            </p:cNvSpPr>
            <p:nvPr/>
          </p:nvSpPr>
          <p:spPr bwMode="auto">
            <a:xfrm>
              <a:off x="672" y="576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1</a:t>
              </a:r>
              <a:endParaRPr lang="zh-CN" altLang="zh-CN" b="1"/>
            </a:p>
          </p:txBody>
        </p:sp>
        <p:sp>
          <p:nvSpPr>
            <p:cNvPr id="30" name="Text Box 24"/>
            <p:cNvSpPr txBox="1">
              <a:spLocks noChangeArrowheads="1"/>
            </p:cNvSpPr>
            <p:nvPr/>
          </p:nvSpPr>
          <p:spPr bwMode="auto">
            <a:xfrm>
              <a:off x="1056" y="0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2</a:t>
              </a:r>
              <a:endParaRPr lang="zh-CN" altLang="zh-CN" b="1"/>
            </a:p>
          </p:txBody>
        </p:sp>
        <p:sp>
          <p:nvSpPr>
            <p:cNvPr id="31" name="Text Box 25"/>
            <p:cNvSpPr txBox="1">
              <a:spLocks noChangeArrowheads="1"/>
            </p:cNvSpPr>
            <p:nvPr/>
          </p:nvSpPr>
          <p:spPr bwMode="auto">
            <a:xfrm>
              <a:off x="1794" y="816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3</a:t>
              </a:r>
              <a:endParaRPr lang="zh-CN" altLang="zh-CN" b="1"/>
            </a:p>
          </p:txBody>
        </p:sp>
        <p:sp>
          <p:nvSpPr>
            <p:cNvPr id="32" name="Text Box 26"/>
            <p:cNvSpPr txBox="1">
              <a:spLocks noChangeArrowheads="1"/>
            </p:cNvSpPr>
            <p:nvPr/>
          </p:nvSpPr>
          <p:spPr bwMode="auto">
            <a:xfrm>
              <a:off x="834" y="816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4</a:t>
              </a:r>
              <a:endParaRPr lang="zh-CN" altLang="zh-CN" b="1"/>
            </a:p>
          </p:txBody>
        </p:sp>
        <p:sp>
          <p:nvSpPr>
            <p:cNvPr id="33" name="Text Box 27"/>
            <p:cNvSpPr txBox="1">
              <a:spLocks noChangeArrowheads="1"/>
            </p:cNvSpPr>
            <p:nvPr/>
          </p:nvSpPr>
          <p:spPr bwMode="auto">
            <a:xfrm>
              <a:off x="1344" y="582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5</a:t>
              </a:r>
              <a:endParaRPr lang="zh-CN" altLang="zh-CN" b="1"/>
            </a:p>
          </p:txBody>
        </p:sp>
        <p:sp>
          <p:nvSpPr>
            <p:cNvPr id="34" name="Text Box 28"/>
            <p:cNvSpPr txBox="1">
              <a:spLocks noChangeArrowheads="1"/>
            </p:cNvSpPr>
            <p:nvPr/>
          </p:nvSpPr>
          <p:spPr bwMode="auto">
            <a:xfrm>
              <a:off x="1077" y="309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c</a:t>
              </a:r>
            </a:p>
          </p:txBody>
        </p:sp>
        <p:sp>
          <p:nvSpPr>
            <p:cNvPr id="35" name="Text Box 29"/>
            <p:cNvSpPr txBox="1">
              <a:spLocks noChangeArrowheads="1"/>
            </p:cNvSpPr>
            <p:nvPr/>
          </p:nvSpPr>
          <p:spPr bwMode="auto">
            <a:xfrm>
              <a:off x="1767" y="411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d</a:t>
              </a:r>
            </a:p>
          </p:txBody>
        </p:sp>
        <p:sp>
          <p:nvSpPr>
            <p:cNvPr id="36" name="Oval 30"/>
            <p:cNvSpPr>
              <a:spLocks noChangeAspect="1" noChangeArrowheads="1"/>
            </p:cNvSpPr>
            <p:nvPr/>
          </p:nvSpPr>
          <p:spPr bwMode="auto">
            <a:xfrm>
              <a:off x="546" y="537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7" name="Oval 31"/>
            <p:cNvSpPr>
              <a:spLocks noChangeAspect="1" noChangeArrowheads="1"/>
            </p:cNvSpPr>
            <p:nvPr/>
          </p:nvSpPr>
          <p:spPr bwMode="auto">
            <a:xfrm>
              <a:off x="1143" y="549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8" name="Oval 32"/>
            <p:cNvSpPr>
              <a:spLocks noChangeAspect="1" noChangeArrowheads="1"/>
            </p:cNvSpPr>
            <p:nvPr/>
          </p:nvSpPr>
          <p:spPr bwMode="auto">
            <a:xfrm>
              <a:off x="1134" y="1248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9" name="Oval 33"/>
            <p:cNvSpPr>
              <a:spLocks noChangeAspect="1" noChangeArrowheads="1"/>
            </p:cNvSpPr>
            <p:nvPr/>
          </p:nvSpPr>
          <p:spPr bwMode="auto">
            <a:xfrm>
              <a:off x="1737" y="528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40" name="Group 67"/>
          <p:cNvGrpSpPr>
            <a:grpSpLocks/>
          </p:cNvGrpSpPr>
          <p:nvPr/>
        </p:nvGrpSpPr>
        <p:grpSpPr bwMode="auto">
          <a:xfrm>
            <a:off x="765901" y="4005733"/>
            <a:ext cx="3989388" cy="2544763"/>
            <a:chOff x="0" y="0"/>
            <a:chExt cx="2513" cy="1603"/>
          </a:xfrm>
        </p:grpSpPr>
        <p:sp>
          <p:nvSpPr>
            <p:cNvPr id="41" name="Text Box 68"/>
            <p:cNvSpPr txBox="1">
              <a:spLocks noChangeArrowheads="1"/>
            </p:cNvSpPr>
            <p:nvPr/>
          </p:nvSpPr>
          <p:spPr bwMode="auto">
            <a:xfrm>
              <a:off x="0" y="1191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b</a:t>
              </a:r>
            </a:p>
          </p:txBody>
        </p:sp>
        <p:sp>
          <p:nvSpPr>
            <p:cNvPr id="42" name="Rectangle 69"/>
            <p:cNvSpPr>
              <a:spLocks noChangeArrowheads="1"/>
            </p:cNvSpPr>
            <p:nvPr/>
          </p:nvSpPr>
          <p:spPr bwMode="auto">
            <a:xfrm rot="-2919155">
              <a:off x="1281" y="405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3" name="Rectangle 70"/>
            <p:cNvSpPr>
              <a:spLocks noChangeArrowheads="1"/>
            </p:cNvSpPr>
            <p:nvPr/>
          </p:nvSpPr>
          <p:spPr bwMode="auto">
            <a:xfrm rot="-5400000">
              <a:off x="1548" y="183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4" name="Rectangle 71"/>
            <p:cNvSpPr>
              <a:spLocks noChangeArrowheads="1"/>
            </p:cNvSpPr>
            <p:nvPr/>
          </p:nvSpPr>
          <p:spPr bwMode="auto">
            <a:xfrm rot="-7972038">
              <a:off x="1335" y="930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5" name="Freeform 72"/>
            <p:cNvSpPr>
              <a:spLocks/>
            </p:cNvSpPr>
            <p:nvPr/>
          </p:nvSpPr>
          <p:spPr bwMode="auto">
            <a:xfrm>
              <a:off x="1062" y="297"/>
              <a:ext cx="168" cy="141"/>
            </a:xfrm>
            <a:custGeom>
              <a:avLst/>
              <a:gdLst>
                <a:gd name="T0" fmla="*/ 168 w 168"/>
                <a:gd name="T1" fmla="*/ 141 h 141"/>
                <a:gd name="T2" fmla="*/ 0 w 168"/>
                <a:gd name="T3" fmla="*/ 0 h 14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68" h="141">
                  <a:moveTo>
                    <a:pt x="168" y="141"/>
                  </a:moveTo>
                  <a:lnTo>
                    <a:pt x="0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Freeform 73"/>
            <p:cNvSpPr>
              <a:spLocks/>
            </p:cNvSpPr>
            <p:nvPr/>
          </p:nvSpPr>
          <p:spPr bwMode="auto">
            <a:xfrm>
              <a:off x="1416" y="606"/>
              <a:ext cx="769" cy="727"/>
            </a:xfrm>
            <a:custGeom>
              <a:avLst/>
              <a:gdLst>
                <a:gd name="T0" fmla="*/ 0 w 769"/>
                <a:gd name="T1" fmla="*/ 0 h 727"/>
                <a:gd name="T2" fmla="*/ 769 w 769"/>
                <a:gd name="T3" fmla="*/ 727 h 7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69" h="727">
                  <a:moveTo>
                    <a:pt x="0" y="0"/>
                  </a:moveTo>
                  <a:lnTo>
                    <a:pt x="769" y="727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Freeform 74"/>
            <p:cNvSpPr>
              <a:spLocks/>
            </p:cNvSpPr>
            <p:nvPr/>
          </p:nvSpPr>
          <p:spPr bwMode="auto">
            <a:xfrm>
              <a:off x="1062" y="1125"/>
              <a:ext cx="243" cy="222"/>
            </a:xfrm>
            <a:custGeom>
              <a:avLst/>
              <a:gdLst>
                <a:gd name="T0" fmla="*/ 0 w 243"/>
                <a:gd name="T1" fmla="*/ 222 h 222"/>
                <a:gd name="T2" fmla="*/ 243 w 243"/>
                <a:gd name="T3" fmla="*/ 0 h 22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43" h="222">
                  <a:moveTo>
                    <a:pt x="0" y="222"/>
                  </a:moveTo>
                  <a:lnTo>
                    <a:pt x="243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Freeform 75"/>
            <p:cNvSpPr>
              <a:spLocks/>
            </p:cNvSpPr>
            <p:nvPr/>
          </p:nvSpPr>
          <p:spPr bwMode="auto">
            <a:xfrm>
              <a:off x="1480" y="281"/>
              <a:ext cx="715" cy="691"/>
            </a:xfrm>
            <a:custGeom>
              <a:avLst/>
              <a:gdLst>
                <a:gd name="T0" fmla="*/ 0 w 715"/>
                <a:gd name="T1" fmla="*/ 691 h 691"/>
                <a:gd name="T2" fmla="*/ 715 w 715"/>
                <a:gd name="T3" fmla="*/ 0 h 69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15" h="691">
                  <a:moveTo>
                    <a:pt x="0" y="691"/>
                  </a:moveTo>
                  <a:lnTo>
                    <a:pt x="715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Oval 76"/>
            <p:cNvSpPr>
              <a:spLocks noChangeAspect="1" noChangeArrowheads="1"/>
            </p:cNvSpPr>
            <p:nvPr/>
          </p:nvSpPr>
          <p:spPr bwMode="auto">
            <a:xfrm>
              <a:off x="1023" y="279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0" name="Oval 77"/>
            <p:cNvSpPr>
              <a:spLocks noChangeAspect="1" noChangeArrowheads="1"/>
            </p:cNvSpPr>
            <p:nvPr/>
          </p:nvSpPr>
          <p:spPr bwMode="auto">
            <a:xfrm>
              <a:off x="1014" y="1308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1" name="Oval 78"/>
            <p:cNvSpPr>
              <a:spLocks noChangeAspect="1" noChangeArrowheads="1"/>
            </p:cNvSpPr>
            <p:nvPr/>
          </p:nvSpPr>
          <p:spPr bwMode="auto">
            <a:xfrm>
              <a:off x="2142" y="255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2" name="Text Box 79"/>
            <p:cNvSpPr txBox="1">
              <a:spLocks noChangeArrowheads="1"/>
            </p:cNvSpPr>
            <p:nvPr/>
          </p:nvSpPr>
          <p:spPr bwMode="auto">
            <a:xfrm>
              <a:off x="2202" y="120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d</a:t>
              </a:r>
            </a:p>
          </p:txBody>
        </p:sp>
        <p:sp>
          <p:nvSpPr>
            <p:cNvPr id="53" name="Text Box 80"/>
            <p:cNvSpPr txBox="1">
              <a:spLocks noChangeArrowheads="1"/>
            </p:cNvSpPr>
            <p:nvPr/>
          </p:nvSpPr>
          <p:spPr bwMode="auto">
            <a:xfrm>
              <a:off x="1524" y="1353"/>
              <a:ext cx="3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3</a:t>
              </a:r>
              <a:endParaRPr lang="zh-CN" altLang="zh-CN" b="1"/>
            </a:p>
          </p:txBody>
        </p:sp>
        <p:sp>
          <p:nvSpPr>
            <p:cNvPr id="54" name="Text Box 81"/>
            <p:cNvSpPr txBox="1">
              <a:spLocks noChangeArrowheads="1"/>
            </p:cNvSpPr>
            <p:nvPr/>
          </p:nvSpPr>
          <p:spPr bwMode="auto">
            <a:xfrm>
              <a:off x="1035" y="471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2</a:t>
              </a:r>
              <a:endParaRPr lang="zh-CN" altLang="zh-CN" b="1"/>
            </a:p>
          </p:txBody>
        </p:sp>
        <p:sp>
          <p:nvSpPr>
            <p:cNvPr id="55" name="Freeform 82"/>
            <p:cNvSpPr>
              <a:spLocks/>
            </p:cNvSpPr>
            <p:nvPr/>
          </p:nvSpPr>
          <p:spPr bwMode="auto">
            <a:xfrm>
              <a:off x="229" y="300"/>
              <a:ext cx="1244" cy="10"/>
            </a:xfrm>
            <a:custGeom>
              <a:avLst/>
              <a:gdLst>
                <a:gd name="T0" fmla="*/ 0 w 1244"/>
                <a:gd name="T1" fmla="*/ 0 h 10"/>
                <a:gd name="T2" fmla="*/ 1244 w 1244"/>
                <a:gd name="T3" fmla="*/ 10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44" h="10">
                  <a:moveTo>
                    <a:pt x="0" y="0"/>
                  </a:moveTo>
                  <a:lnTo>
                    <a:pt x="1244" y="1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Line 83"/>
            <p:cNvSpPr>
              <a:spLocks noChangeShapeType="1"/>
            </p:cNvSpPr>
            <p:nvPr/>
          </p:nvSpPr>
          <p:spPr bwMode="auto">
            <a:xfrm>
              <a:off x="1710" y="291"/>
              <a:ext cx="4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Freeform 84"/>
            <p:cNvSpPr>
              <a:spLocks/>
            </p:cNvSpPr>
            <p:nvPr/>
          </p:nvSpPr>
          <p:spPr bwMode="auto">
            <a:xfrm>
              <a:off x="284" y="1351"/>
              <a:ext cx="1263" cy="1"/>
            </a:xfrm>
            <a:custGeom>
              <a:avLst/>
              <a:gdLst>
                <a:gd name="T0" fmla="*/ 0 w 1263"/>
                <a:gd name="T1" fmla="*/ 0 h 1"/>
                <a:gd name="T2" fmla="*/ 1263 w 1263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63" h="1">
                  <a:moveTo>
                    <a:pt x="0" y="0"/>
                  </a:moveTo>
                  <a:lnTo>
                    <a:pt x="1263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Freeform 85"/>
            <p:cNvSpPr>
              <a:spLocks/>
            </p:cNvSpPr>
            <p:nvPr/>
          </p:nvSpPr>
          <p:spPr bwMode="auto">
            <a:xfrm>
              <a:off x="2194" y="275"/>
              <a:ext cx="1" cy="445"/>
            </a:xfrm>
            <a:custGeom>
              <a:avLst/>
              <a:gdLst>
                <a:gd name="T0" fmla="*/ 0 w 1"/>
                <a:gd name="T1" fmla="*/ 0 h 445"/>
                <a:gd name="T2" fmla="*/ 1 w 1"/>
                <a:gd name="T3" fmla="*/ 445 h 44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445">
                  <a:moveTo>
                    <a:pt x="0" y="0"/>
                  </a:moveTo>
                  <a:lnTo>
                    <a:pt x="1" y="445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Rectangle 86"/>
            <p:cNvSpPr>
              <a:spLocks noChangeArrowheads="1"/>
            </p:cNvSpPr>
            <p:nvPr/>
          </p:nvSpPr>
          <p:spPr bwMode="auto">
            <a:xfrm rot="-5400000">
              <a:off x="1620" y="1233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0" name="Rectangle 87"/>
            <p:cNvSpPr>
              <a:spLocks noChangeArrowheads="1"/>
            </p:cNvSpPr>
            <p:nvPr/>
          </p:nvSpPr>
          <p:spPr bwMode="auto">
            <a:xfrm>
              <a:off x="2142" y="711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1" name="Freeform 88"/>
            <p:cNvSpPr>
              <a:spLocks/>
            </p:cNvSpPr>
            <p:nvPr/>
          </p:nvSpPr>
          <p:spPr bwMode="auto">
            <a:xfrm>
              <a:off x="2194" y="943"/>
              <a:ext cx="1" cy="399"/>
            </a:xfrm>
            <a:custGeom>
              <a:avLst/>
              <a:gdLst>
                <a:gd name="T0" fmla="*/ 0 w 1"/>
                <a:gd name="T1" fmla="*/ 0 h 399"/>
                <a:gd name="T2" fmla="*/ 1 w 1"/>
                <a:gd name="T3" fmla="*/ 399 h 39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99">
                  <a:moveTo>
                    <a:pt x="0" y="0"/>
                  </a:moveTo>
                  <a:lnTo>
                    <a:pt x="1" y="399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Line 89"/>
            <p:cNvSpPr>
              <a:spLocks noChangeShapeType="1"/>
            </p:cNvSpPr>
            <p:nvPr/>
          </p:nvSpPr>
          <p:spPr bwMode="auto">
            <a:xfrm>
              <a:off x="1776" y="1347"/>
              <a:ext cx="4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Oval 90"/>
            <p:cNvSpPr>
              <a:spLocks noChangeAspect="1" noChangeArrowheads="1"/>
            </p:cNvSpPr>
            <p:nvPr/>
          </p:nvSpPr>
          <p:spPr bwMode="auto">
            <a:xfrm>
              <a:off x="2154" y="1315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4" name="Oval 91"/>
            <p:cNvSpPr>
              <a:spLocks noChangeAspect="1" noChangeArrowheads="1"/>
            </p:cNvSpPr>
            <p:nvPr/>
          </p:nvSpPr>
          <p:spPr bwMode="auto">
            <a:xfrm>
              <a:off x="222" y="1317"/>
              <a:ext cx="68" cy="6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5" name="Oval 92"/>
            <p:cNvSpPr>
              <a:spLocks noChangeAspect="1" noChangeArrowheads="1"/>
            </p:cNvSpPr>
            <p:nvPr/>
          </p:nvSpPr>
          <p:spPr bwMode="auto">
            <a:xfrm>
              <a:off x="171" y="270"/>
              <a:ext cx="68" cy="6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6" name="Text Box 93"/>
            <p:cNvSpPr txBox="1">
              <a:spLocks noChangeArrowheads="1"/>
            </p:cNvSpPr>
            <p:nvPr/>
          </p:nvSpPr>
          <p:spPr bwMode="auto">
            <a:xfrm>
              <a:off x="3" y="183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a</a:t>
              </a:r>
            </a:p>
          </p:txBody>
        </p:sp>
        <p:sp>
          <p:nvSpPr>
            <p:cNvPr id="67" name="Text Box 94"/>
            <p:cNvSpPr txBox="1">
              <a:spLocks noChangeArrowheads="1"/>
            </p:cNvSpPr>
            <p:nvPr/>
          </p:nvSpPr>
          <p:spPr bwMode="auto">
            <a:xfrm>
              <a:off x="1038" y="846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4</a:t>
              </a:r>
              <a:endParaRPr lang="zh-CN" altLang="zh-CN" b="1"/>
            </a:p>
          </p:txBody>
        </p:sp>
        <p:sp>
          <p:nvSpPr>
            <p:cNvPr id="68" name="Text Box 95"/>
            <p:cNvSpPr txBox="1">
              <a:spLocks noChangeArrowheads="1"/>
            </p:cNvSpPr>
            <p:nvPr/>
          </p:nvSpPr>
          <p:spPr bwMode="auto">
            <a:xfrm>
              <a:off x="1452" y="0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1</a:t>
              </a:r>
              <a:endParaRPr lang="zh-CN" altLang="zh-CN" b="1"/>
            </a:p>
          </p:txBody>
        </p:sp>
        <p:sp>
          <p:nvSpPr>
            <p:cNvPr id="69" name="Text Box 96"/>
            <p:cNvSpPr txBox="1">
              <a:spLocks noChangeArrowheads="1"/>
            </p:cNvSpPr>
            <p:nvPr/>
          </p:nvSpPr>
          <p:spPr bwMode="auto">
            <a:xfrm>
              <a:off x="2229" y="690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5</a:t>
              </a:r>
              <a:endParaRPr lang="zh-CN" altLang="zh-CN" b="1"/>
            </a:p>
          </p:txBody>
        </p:sp>
        <p:sp>
          <p:nvSpPr>
            <p:cNvPr id="70" name="Text Box 97"/>
            <p:cNvSpPr txBox="1">
              <a:spLocks noChangeArrowheads="1"/>
            </p:cNvSpPr>
            <p:nvPr/>
          </p:nvSpPr>
          <p:spPr bwMode="auto">
            <a:xfrm>
              <a:off x="2193" y="123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3567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6D4BC505-8375-486F-A2BD-CA67DAD05BC9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7F8D40-6CCC-46E4-8AAF-5AAB7921ADAC}" type="slidenum">
              <a:rPr lang="en-US" altLang="zh-CN"/>
              <a:pPr>
                <a:defRPr/>
              </a:pPr>
              <a:t>22</a:t>
            </a:fld>
            <a:endParaRPr lang="en-US" altLang="zh-CN"/>
          </a:p>
        </p:txBody>
      </p:sp>
      <p:sp>
        <p:nvSpPr>
          <p:cNvPr id="14341" name="Rectangle 2"/>
          <p:cNvSpPr>
            <a:spLocks noChangeArrowheads="1"/>
          </p:cNvSpPr>
          <p:nvPr/>
        </p:nvSpPr>
        <p:spPr bwMode="auto">
          <a:xfrm>
            <a:off x="323850" y="476250"/>
            <a:ext cx="78851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solidFill>
                  <a:srgbClr val="CC3300"/>
                </a:solidFill>
                <a:ea typeface="隶书" panose="02010509060101010101" pitchFamily="49" charset="-122"/>
              </a:rPr>
              <a:t>例</a:t>
            </a:r>
            <a:r>
              <a:rPr lang="en-US" altLang="zh-CN" sz="2800" dirty="0">
                <a:solidFill>
                  <a:srgbClr val="CC3300"/>
                </a:solidFill>
                <a:ea typeface="隶书" panose="02010509060101010101" pitchFamily="49" charset="-122"/>
              </a:rPr>
              <a:t>4. Find the current </a:t>
            </a:r>
            <a:r>
              <a:rPr lang="en-US" altLang="zh-CN" sz="2800" i="1" dirty="0">
                <a:solidFill>
                  <a:srgbClr val="CC3300"/>
                </a:solidFill>
                <a:ea typeface="隶书" panose="02010509060101010101" pitchFamily="49" charset="-122"/>
              </a:rPr>
              <a:t>I </a:t>
            </a:r>
            <a:r>
              <a:rPr lang="en-US" altLang="zh-CN" sz="2800" dirty="0">
                <a:solidFill>
                  <a:srgbClr val="CC3300"/>
                </a:solidFill>
                <a:ea typeface="隶书" panose="02010509060101010101" pitchFamily="49" charset="-122"/>
              </a:rPr>
              <a:t>in the circuit.</a:t>
            </a:r>
          </a:p>
        </p:txBody>
      </p:sp>
      <p:graphicFrame>
        <p:nvGraphicFramePr>
          <p:cNvPr id="282627" name="Object 3"/>
          <p:cNvGraphicFramePr>
            <a:graphicFrameLocks noChangeAspect="1"/>
          </p:cNvGraphicFramePr>
          <p:nvPr/>
        </p:nvGraphicFramePr>
        <p:xfrm>
          <a:off x="5567474" y="768991"/>
          <a:ext cx="2105025" cy="295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18" name="Visio" r:id="rId3" imgW="1617631" imgH="2020110" progId="Visio.Drawing.11">
                  <p:embed/>
                </p:oleObj>
              </mc:Choice>
              <mc:Fallback>
                <p:oleObj name="Visio" r:id="rId3" imgW="1617631" imgH="2020110" progId="Visio.Drawing.11">
                  <p:embed/>
                  <p:pic>
                    <p:nvPicPr>
                      <p:cNvPr id="28262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7474" y="768991"/>
                        <a:ext cx="2105025" cy="2951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2628" name="Object 4"/>
          <p:cNvGraphicFramePr>
            <a:graphicFrameLocks noChangeAspect="1"/>
          </p:cNvGraphicFramePr>
          <p:nvPr/>
        </p:nvGraphicFramePr>
        <p:xfrm>
          <a:off x="539552" y="3644134"/>
          <a:ext cx="3095625" cy="298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19" name="Visio" r:id="rId5" imgW="2230578" imgH="2021540" progId="Visio.Drawing.11">
                  <p:embed/>
                </p:oleObj>
              </mc:Choice>
              <mc:Fallback>
                <p:oleObj name="Visio" r:id="rId5" imgW="2230578" imgH="2021540" progId="Visio.Drawing.11">
                  <p:embed/>
                  <p:pic>
                    <p:nvPicPr>
                      <p:cNvPr id="28262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552" y="3644134"/>
                        <a:ext cx="3095625" cy="298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2629" name="Object 5"/>
          <p:cNvGraphicFramePr>
            <a:graphicFrameLocks noChangeAspect="1"/>
          </p:cNvGraphicFramePr>
          <p:nvPr/>
        </p:nvGraphicFramePr>
        <p:xfrm>
          <a:off x="5075238" y="3647871"/>
          <a:ext cx="3168650" cy="306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20" name="Visio" r:id="rId7" imgW="2230564" imgH="2021396" progId="Visio.Drawing.11">
                  <p:embed/>
                </p:oleObj>
              </mc:Choice>
              <mc:Fallback>
                <p:oleObj name="Visio" r:id="rId7" imgW="2230564" imgH="2021396" progId="Visio.Drawing.11">
                  <p:embed/>
                  <p:pic>
                    <p:nvPicPr>
                      <p:cNvPr id="28262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5238" y="3647871"/>
                        <a:ext cx="3168650" cy="306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6" name="Object 7"/>
          <p:cNvGraphicFramePr>
            <a:graphicFrameLocks noChangeAspect="1"/>
          </p:cNvGraphicFramePr>
          <p:nvPr/>
        </p:nvGraphicFramePr>
        <p:xfrm>
          <a:off x="323850" y="900113"/>
          <a:ext cx="3095625" cy="281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21" name="Visio" r:id="rId9" imgW="2165842" imgH="1969960" progId="Visio.Drawing.11">
                  <p:embed/>
                </p:oleObj>
              </mc:Choice>
              <mc:Fallback>
                <p:oleObj name="Visio" r:id="rId9" imgW="2165842" imgH="1969960" progId="Visio.Drawing.11">
                  <p:embed/>
                  <p:pic>
                    <p:nvPicPr>
                      <p:cNvPr id="14346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900113"/>
                        <a:ext cx="3095625" cy="2816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7" name="Rectangle 7"/>
          <p:cNvSpPr>
            <a:spLocks noChangeArrowheads="1"/>
          </p:cNvSpPr>
          <p:nvPr/>
        </p:nvSpPr>
        <p:spPr bwMode="auto">
          <a:xfrm>
            <a:off x="395288" y="163513"/>
            <a:ext cx="845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3200" dirty="0">
                <a:solidFill>
                  <a:schemeClr val="tx2"/>
                </a:solidFill>
                <a:ea typeface="隶书" panose="02010509060101010101" pitchFamily="49" charset="-122"/>
              </a:rPr>
              <a:t>等效电路综合应用</a:t>
            </a:r>
            <a:endParaRPr lang="en-US" altLang="zh-CN" sz="3200" dirty="0">
              <a:solidFill>
                <a:schemeClr val="tx2"/>
              </a:solidFill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39422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78" name="Group 2"/>
          <p:cNvGrpSpPr>
            <a:grpSpLocks/>
          </p:cNvGrpSpPr>
          <p:nvPr/>
        </p:nvGrpSpPr>
        <p:grpSpPr bwMode="auto">
          <a:xfrm>
            <a:off x="5185501" y="4081933"/>
            <a:ext cx="3298825" cy="2209800"/>
            <a:chOff x="0" y="0"/>
            <a:chExt cx="2078" cy="1392"/>
          </a:xfrm>
        </p:grpSpPr>
        <p:sp>
          <p:nvSpPr>
            <p:cNvPr id="23623" name="Rectangle 3"/>
            <p:cNvSpPr>
              <a:spLocks noChangeArrowheads="1"/>
            </p:cNvSpPr>
            <p:nvPr/>
          </p:nvSpPr>
          <p:spPr bwMode="auto">
            <a:xfrm rot="-5400000">
              <a:off x="807" y="456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3624" name="Rectangle 4"/>
            <p:cNvSpPr>
              <a:spLocks noChangeArrowheads="1"/>
            </p:cNvSpPr>
            <p:nvPr/>
          </p:nvSpPr>
          <p:spPr bwMode="auto">
            <a:xfrm rot="-5400000">
              <a:off x="1431" y="456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3625" name="Rectangle 5"/>
            <p:cNvSpPr>
              <a:spLocks noChangeArrowheads="1"/>
            </p:cNvSpPr>
            <p:nvPr/>
          </p:nvSpPr>
          <p:spPr bwMode="auto">
            <a:xfrm rot="-5400000">
              <a:off x="1131" y="168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3626" name="Rectangle 6"/>
            <p:cNvSpPr>
              <a:spLocks noChangeArrowheads="1"/>
            </p:cNvSpPr>
            <p:nvPr/>
          </p:nvSpPr>
          <p:spPr bwMode="auto">
            <a:xfrm>
              <a:off x="1728" y="816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3627" name="Rectangle 7"/>
            <p:cNvSpPr>
              <a:spLocks noChangeArrowheads="1"/>
            </p:cNvSpPr>
            <p:nvPr/>
          </p:nvSpPr>
          <p:spPr bwMode="auto">
            <a:xfrm>
              <a:off x="1116" y="816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3628" name="Line 8"/>
            <p:cNvSpPr>
              <a:spLocks noChangeShapeType="1"/>
            </p:cNvSpPr>
            <p:nvPr/>
          </p:nvSpPr>
          <p:spPr bwMode="auto">
            <a:xfrm>
              <a:off x="255" y="576"/>
              <a:ext cx="4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29" name="Line 9"/>
            <p:cNvSpPr>
              <a:spLocks noChangeShapeType="1"/>
            </p:cNvSpPr>
            <p:nvPr/>
          </p:nvSpPr>
          <p:spPr bwMode="auto">
            <a:xfrm flipV="1">
              <a:off x="579" y="288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30" name="Line 10"/>
            <p:cNvSpPr>
              <a:spLocks noChangeShapeType="1"/>
            </p:cNvSpPr>
            <p:nvPr/>
          </p:nvSpPr>
          <p:spPr bwMode="auto">
            <a:xfrm>
              <a:off x="579" y="288"/>
              <a:ext cx="4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31" name="Line 11"/>
            <p:cNvSpPr>
              <a:spLocks noChangeShapeType="1"/>
            </p:cNvSpPr>
            <p:nvPr/>
          </p:nvSpPr>
          <p:spPr bwMode="auto">
            <a:xfrm>
              <a:off x="1299" y="288"/>
              <a:ext cx="4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32" name="Line 12"/>
            <p:cNvSpPr>
              <a:spLocks noChangeShapeType="1"/>
            </p:cNvSpPr>
            <p:nvPr/>
          </p:nvSpPr>
          <p:spPr bwMode="auto">
            <a:xfrm>
              <a:off x="975" y="576"/>
              <a:ext cx="38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33" name="Line 13"/>
            <p:cNvSpPr>
              <a:spLocks noChangeShapeType="1"/>
            </p:cNvSpPr>
            <p:nvPr/>
          </p:nvSpPr>
          <p:spPr bwMode="auto">
            <a:xfrm>
              <a:off x="1167" y="576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34" name="Line 14"/>
            <p:cNvSpPr>
              <a:spLocks noChangeShapeType="1"/>
            </p:cNvSpPr>
            <p:nvPr/>
          </p:nvSpPr>
          <p:spPr bwMode="auto">
            <a:xfrm>
              <a:off x="1167" y="1056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35" name="Freeform 15"/>
            <p:cNvSpPr>
              <a:spLocks/>
            </p:cNvSpPr>
            <p:nvPr/>
          </p:nvSpPr>
          <p:spPr bwMode="auto">
            <a:xfrm>
              <a:off x="1779" y="279"/>
              <a:ext cx="1" cy="533"/>
            </a:xfrm>
            <a:custGeom>
              <a:avLst/>
              <a:gdLst>
                <a:gd name="T0" fmla="*/ 0 w 1"/>
                <a:gd name="T1" fmla="*/ 0 h 533"/>
                <a:gd name="T2" fmla="*/ 0 w 1"/>
                <a:gd name="T3" fmla="*/ 533 h 53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533">
                  <a:moveTo>
                    <a:pt x="0" y="0"/>
                  </a:moveTo>
                  <a:lnTo>
                    <a:pt x="0" y="533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36" name="Line 16"/>
            <p:cNvSpPr>
              <a:spLocks noChangeShapeType="1"/>
            </p:cNvSpPr>
            <p:nvPr/>
          </p:nvSpPr>
          <p:spPr bwMode="auto">
            <a:xfrm>
              <a:off x="1599" y="576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37" name="Line 17"/>
            <p:cNvSpPr>
              <a:spLocks noChangeShapeType="1"/>
            </p:cNvSpPr>
            <p:nvPr/>
          </p:nvSpPr>
          <p:spPr bwMode="auto">
            <a:xfrm>
              <a:off x="1773" y="1056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38" name="Line 18"/>
            <p:cNvSpPr>
              <a:spLocks noChangeShapeType="1"/>
            </p:cNvSpPr>
            <p:nvPr/>
          </p:nvSpPr>
          <p:spPr bwMode="auto">
            <a:xfrm>
              <a:off x="284" y="1292"/>
              <a:ext cx="14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39" name="Oval 19"/>
            <p:cNvSpPr>
              <a:spLocks noChangeAspect="1" noChangeArrowheads="1"/>
            </p:cNvSpPr>
            <p:nvPr/>
          </p:nvSpPr>
          <p:spPr bwMode="auto">
            <a:xfrm>
              <a:off x="192" y="528"/>
              <a:ext cx="68" cy="6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3640" name="Oval 20"/>
            <p:cNvSpPr>
              <a:spLocks noChangeAspect="1" noChangeArrowheads="1"/>
            </p:cNvSpPr>
            <p:nvPr/>
          </p:nvSpPr>
          <p:spPr bwMode="auto">
            <a:xfrm>
              <a:off x="222" y="1257"/>
              <a:ext cx="68" cy="6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3641" name="Text Box 21"/>
            <p:cNvSpPr txBox="1">
              <a:spLocks noChangeArrowheads="1"/>
            </p:cNvSpPr>
            <p:nvPr/>
          </p:nvSpPr>
          <p:spPr bwMode="auto">
            <a:xfrm>
              <a:off x="0" y="384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a</a:t>
              </a:r>
            </a:p>
          </p:txBody>
        </p:sp>
        <p:sp>
          <p:nvSpPr>
            <p:cNvPr id="23642" name="Text Box 22"/>
            <p:cNvSpPr txBox="1">
              <a:spLocks noChangeArrowheads="1"/>
            </p:cNvSpPr>
            <p:nvPr/>
          </p:nvSpPr>
          <p:spPr bwMode="auto">
            <a:xfrm>
              <a:off x="36" y="11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b</a:t>
              </a:r>
            </a:p>
          </p:txBody>
        </p:sp>
        <p:sp>
          <p:nvSpPr>
            <p:cNvPr id="23643" name="Text Box 23"/>
            <p:cNvSpPr txBox="1">
              <a:spLocks noChangeArrowheads="1"/>
            </p:cNvSpPr>
            <p:nvPr/>
          </p:nvSpPr>
          <p:spPr bwMode="auto">
            <a:xfrm>
              <a:off x="672" y="576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1</a:t>
              </a:r>
              <a:endParaRPr lang="zh-CN" altLang="zh-CN" b="1"/>
            </a:p>
          </p:txBody>
        </p:sp>
        <p:sp>
          <p:nvSpPr>
            <p:cNvPr id="23644" name="Text Box 24"/>
            <p:cNvSpPr txBox="1">
              <a:spLocks noChangeArrowheads="1"/>
            </p:cNvSpPr>
            <p:nvPr/>
          </p:nvSpPr>
          <p:spPr bwMode="auto">
            <a:xfrm>
              <a:off x="1056" y="0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2</a:t>
              </a:r>
              <a:endParaRPr lang="zh-CN" altLang="zh-CN" b="1"/>
            </a:p>
          </p:txBody>
        </p:sp>
        <p:sp>
          <p:nvSpPr>
            <p:cNvPr id="23645" name="Text Box 25"/>
            <p:cNvSpPr txBox="1">
              <a:spLocks noChangeArrowheads="1"/>
            </p:cNvSpPr>
            <p:nvPr/>
          </p:nvSpPr>
          <p:spPr bwMode="auto">
            <a:xfrm>
              <a:off x="1794" y="816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3</a:t>
              </a:r>
              <a:endParaRPr lang="zh-CN" altLang="zh-CN" b="1"/>
            </a:p>
          </p:txBody>
        </p:sp>
        <p:sp>
          <p:nvSpPr>
            <p:cNvPr id="23646" name="Text Box 26"/>
            <p:cNvSpPr txBox="1">
              <a:spLocks noChangeArrowheads="1"/>
            </p:cNvSpPr>
            <p:nvPr/>
          </p:nvSpPr>
          <p:spPr bwMode="auto">
            <a:xfrm>
              <a:off x="834" y="816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4</a:t>
              </a:r>
              <a:endParaRPr lang="zh-CN" altLang="zh-CN" b="1"/>
            </a:p>
          </p:txBody>
        </p:sp>
        <p:sp>
          <p:nvSpPr>
            <p:cNvPr id="23647" name="Text Box 27"/>
            <p:cNvSpPr txBox="1">
              <a:spLocks noChangeArrowheads="1"/>
            </p:cNvSpPr>
            <p:nvPr/>
          </p:nvSpPr>
          <p:spPr bwMode="auto">
            <a:xfrm>
              <a:off x="1344" y="582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5</a:t>
              </a:r>
              <a:endParaRPr lang="zh-CN" altLang="zh-CN" b="1"/>
            </a:p>
          </p:txBody>
        </p:sp>
        <p:sp>
          <p:nvSpPr>
            <p:cNvPr id="23648" name="Text Box 28"/>
            <p:cNvSpPr txBox="1">
              <a:spLocks noChangeArrowheads="1"/>
            </p:cNvSpPr>
            <p:nvPr/>
          </p:nvSpPr>
          <p:spPr bwMode="auto">
            <a:xfrm>
              <a:off x="1077" y="309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c</a:t>
              </a:r>
            </a:p>
          </p:txBody>
        </p:sp>
        <p:sp>
          <p:nvSpPr>
            <p:cNvPr id="23649" name="Text Box 29"/>
            <p:cNvSpPr txBox="1">
              <a:spLocks noChangeArrowheads="1"/>
            </p:cNvSpPr>
            <p:nvPr/>
          </p:nvSpPr>
          <p:spPr bwMode="auto">
            <a:xfrm>
              <a:off x="1767" y="411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d</a:t>
              </a:r>
            </a:p>
          </p:txBody>
        </p:sp>
        <p:sp>
          <p:nvSpPr>
            <p:cNvPr id="23650" name="Oval 30"/>
            <p:cNvSpPr>
              <a:spLocks noChangeAspect="1" noChangeArrowheads="1"/>
            </p:cNvSpPr>
            <p:nvPr/>
          </p:nvSpPr>
          <p:spPr bwMode="auto">
            <a:xfrm>
              <a:off x="546" y="537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3651" name="Oval 31"/>
            <p:cNvSpPr>
              <a:spLocks noChangeAspect="1" noChangeArrowheads="1"/>
            </p:cNvSpPr>
            <p:nvPr/>
          </p:nvSpPr>
          <p:spPr bwMode="auto">
            <a:xfrm>
              <a:off x="1143" y="549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3652" name="Oval 32"/>
            <p:cNvSpPr>
              <a:spLocks noChangeAspect="1" noChangeArrowheads="1"/>
            </p:cNvSpPr>
            <p:nvPr/>
          </p:nvSpPr>
          <p:spPr bwMode="auto">
            <a:xfrm>
              <a:off x="1134" y="1248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3653" name="Oval 33"/>
            <p:cNvSpPr>
              <a:spLocks noChangeAspect="1" noChangeArrowheads="1"/>
            </p:cNvSpPr>
            <p:nvPr/>
          </p:nvSpPr>
          <p:spPr bwMode="auto">
            <a:xfrm>
              <a:off x="1737" y="528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24610" name="Group 34"/>
          <p:cNvGrpSpPr>
            <a:grpSpLocks/>
          </p:cNvGrpSpPr>
          <p:nvPr/>
        </p:nvGrpSpPr>
        <p:grpSpPr bwMode="auto">
          <a:xfrm>
            <a:off x="842101" y="1795933"/>
            <a:ext cx="3849688" cy="2209800"/>
            <a:chOff x="0" y="0"/>
            <a:chExt cx="2425" cy="1392"/>
          </a:xfrm>
        </p:grpSpPr>
        <p:sp>
          <p:nvSpPr>
            <p:cNvPr id="23591" name="Rectangle 35"/>
            <p:cNvSpPr>
              <a:spLocks noChangeArrowheads="1"/>
            </p:cNvSpPr>
            <p:nvPr/>
          </p:nvSpPr>
          <p:spPr bwMode="auto">
            <a:xfrm rot="-7903512">
              <a:off x="1332" y="304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3592" name="Rectangle 36"/>
            <p:cNvSpPr>
              <a:spLocks noChangeArrowheads="1"/>
            </p:cNvSpPr>
            <p:nvPr/>
          </p:nvSpPr>
          <p:spPr bwMode="auto">
            <a:xfrm rot="-2919155">
              <a:off x="1854" y="310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3593" name="Rectangle 37"/>
            <p:cNvSpPr>
              <a:spLocks noChangeArrowheads="1"/>
            </p:cNvSpPr>
            <p:nvPr/>
          </p:nvSpPr>
          <p:spPr bwMode="auto">
            <a:xfrm rot="-5400000">
              <a:off x="1593" y="601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3594" name="Rectangle 38"/>
            <p:cNvSpPr>
              <a:spLocks noChangeArrowheads="1"/>
            </p:cNvSpPr>
            <p:nvPr/>
          </p:nvSpPr>
          <p:spPr bwMode="auto">
            <a:xfrm rot="-2874968">
              <a:off x="1299" y="880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3595" name="Rectangle 39"/>
            <p:cNvSpPr>
              <a:spLocks noChangeArrowheads="1"/>
            </p:cNvSpPr>
            <p:nvPr/>
          </p:nvSpPr>
          <p:spPr bwMode="auto">
            <a:xfrm rot="-7972038">
              <a:off x="1908" y="835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3596" name="Freeform 40"/>
            <p:cNvSpPr>
              <a:spLocks/>
            </p:cNvSpPr>
            <p:nvPr/>
          </p:nvSpPr>
          <p:spPr bwMode="auto">
            <a:xfrm>
              <a:off x="1465" y="196"/>
              <a:ext cx="176" cy="160"/>
            </a:xfrm>
            <a:custGeom>
              <a:avLst/>
              <a:gdLst>
                <a:gd name="T0" fmla="*/ 0 w 176"/>
                <a:gd name="T1" fmla="*/ 160 h 160"/>
                <a:gd name="T2" fmla="*/ 176 w 176"/>
                <a:gd name="T3" fmla="*/ 0 h 16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6" h="160">
                  <a:moveTo>
                    <a:pt x="0" y="160"/>
                  </a:moveTo>
                  <a:lnTo>
                    <a:pt x="176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97" name="Freeform 41"/>
            <p:cNvSpPr>
              <a:spLocks/>
            </p:cNvSpPr>
            <p:nvPr/>
          </p:nvSpPr>
          <p:spPr bwMode="auto">
            <a:xfrm>
              <a:off x="1635" y="202"/>
              <a:ext cx="168" cy="141"/>
            </a:xfrm>
            <a:custGeom>
              <a:avLst/>
              <a:gdLst>
                <a:gd name="T0" fmla="*/ 168 w 168"/>
                <a:gd name="T1" fmla="*/ 141 h 141"/>
                <a:gd name="T2" fmla="*/ 0 w 168"/>
                <a:gd name="T3" fmla="*/ 0 h 14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68" h="141">
                  <a:moveTo>
                    <a:pt x="168" y="141"/>
                  </a:moveTo>
                  <a:lnTo>
                    <a:pt x="0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98" name="Freeform 42"/>
            <p:cNvSpPr>
              <a:spLocks/>
            </p:cNvSpPr>
            <p:nvPr/>
          </p:nvSpPr>
          <p:spPr bwMode="auto">
            <a:xfrm>
              <a:off x="1057" y="508"/>
              <a:ext cx="233" cy="223"/>
            </a:xfrm>
            <a:custGeom>
              <a:avLst/>
              <a:gdLst>
                <a:gd name="T0" fmla="*/ 233 w 233"/>
                <a:gd name="T1" fmla="*/ 0 h 223"/>
                <a:gd name="T2" fmla="*/ 0 w 233"/>
                <a:gd name="T3" fmla="*/ 223 h 22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33" h="223">
                  <a:moveTo>
                    <a:pt x="233" y="0"/>
                  </a:moveTo>
                  <a:lnTo>
                    <a:pt x="0" y="223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99" name="Freeform 43"/>
            <p:cNvSpPr>
              <a:spLocks/>
            </p:cNvSpPr>
            <p:nvPr/>
          </p:nvSpPr>
          <p:spPr bwMode="auto">
            <a:xfrm>
              <a:off x="1989" y="511"/>
              <a:ext cx="225" cy="216"/>
            </a:xfrm>
            <a:custGeom>
              <a:avLst/>
              <a:gdLst>
                <a:gd name="T0" fmla="*/ 0 w 225"/>
                <a:gd name="T1" fmla="*/ 0 h 216"/>
                <a:gd name="T2" fmla="*/ 225 w 225"/>
                <a:gd name="T3" fmla="*/ 216 h 21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25" h="216">
                  <a:moveTo>
                    <a:pt x="0" y="0"/>
                  </a:moveTo>
                  <a:lnTo>
                    <a:pt x="225" y="216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00" name="Freeform 44"/>
            <p:cNvSpPr>
              <a:spLocks/>
            </p:cNvSpPr>
            <p:nvPr/>
          </p:nvSpPr>
          <p:spPr bwMode="auto">
            <a:xfrm>
              <a:off x="1075" y="731"/>
              <a:ext cx="183" cy="201"/>
            </a:xfrm>
            <a:custGeom>
              <a:avLst/>
              <a:gdLst>
                <a:gd name="T0" fmla="*/ 0 w 183"/>
                <a:gd name="T1" fmla="*/ 0 h 201"/>
                <a:gd name="T2" fmla="*/ 183 w 183"/>
                <a:gd name="T3" fmla="*/ 201 h 20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83" h="201">
                  <a:moveTo>
                    <a:pt x="0" y="0"/>
                  </a:moveTo>
                  <a:lnTo>
                    <a:pt x="183" y="201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01" name="Freeform 45"/>
            <p:cNvSpPr>
              <a:spLocks/>
            </p:cNvSpPr>
            <p:nvPr/>
          </p:nvSpPr>
          <p:spPr bwMode="auto">
            <a:xfrm>
              <a:off x="1422" y="1078"/>
              <a:ext cx="211" cy="183"/>
            </a:xfrm>
            <a:custGeom>
              <a:avLst/>
              <a:gdLst>
                <a:gd name="T0" fmla="*/ 0 w 211"/>
                <a:gd name="T1" fmla="*/ 0 h 183"/>
                <a:gd name="T2" fmla="*/ 211 w 211"/>
                <a:gd name="T3" fmla="*/ 183 h 18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11" h="183">
                  <a:moveTo>
                    <a:pt x="0" y="0"/>
                  </a:moveTo>
                  <a:lnTo>
                    <a:pt x="211" y="183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02" name="Freeform 46"/>
            <p:cNvSpPr>
              <a:spLocks/>
            </p:cNvSpPr>
            <p:nvPr/>
          </p:nvSpPr>
          <p:spPr bwMode="auto">
            <a:xfrm>
              <a:off x="1635" y="1030"/>
              <a:ext cx="243" cy="222"/>
            </a:xfrm>
            <a:custGeom>
              <a:avLst/>
              <a:gdLst>
                <a:gd name="T0" fmla="*/ 0 w 243"/>
                <a:gd name="T1" fmla="*/ 222 h 222"/>
                <a:gd name="T2" fmla="*/ 243 w 243"/>
                <a:gd name="T3" fmla="*/ 0 h 22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43" h="222">
                  <a:moveTo>
                    <a:pt x="0" y="222"/>
                  </a:moveTo>
                  <a:lnTo>
                    <a:pt x="243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03" name="Freeform 47"/>
            <p:cNvSpPr>
              <a:spLocks/>
            </p:cNvSpPr>
            <p:nvPr/>
          </p:nvSpPr>
          <p:spPr bwMode="auto">
            <a:xfrm>
              <a:off x="2053" y="724"/>
              <a:ext cx="158" cy="153"/>
            </a:xfrm>
            <a:custGeom>
              <a:avLst/>
              <a:gdLst>
                <a:gd name="T0" fmla="*/ 0 w 158"/>
                <a:gd name="T1" fmla="*/ 153 h 153"/>
                <a:gd name="T2" fmla="*/ 158 w 158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58" h="153">
                  <a:moveTo>
                    <a:pt x="0" y="153"/>
                  </a:moveTo>
                  <a:lnTo>
                    <a:pt x="158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04" name="Freeform 48"/>
            <p:cNvSpPr>
              <a:spLocks/>
            </p:cNvSpPr>
            <p:nvPr/>
          </p:nvSpPr>
          <p:spPr bwMode="auto">
            <a:xfrm>
              <a:off x="1059" y="724"/>
              <a:ext cx="462" cy="1"/>
            </a:xfrm>
            <a:custGeom>
              <a:avLst/>
              <a:gdLst>
                <a:gd name="T0" fmla="*/ 0 w 462"/>
                <a:gd name="T1" fmla="*/ 0 h 1"/>
                <a:gd name="T2" fmla="*/ 462 w 46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62" h="1">
                  <a:moveTo>
                    <a:pt x="0" y="0"/>
                  </a:moveTo>
                  <a:lnTo>
                    <a:pt x="462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05" name="Freeform 49"/>
            <p:cNvSpPr>
              <a:spLocks/>
            </p:cNvSpPr>
            <p:nvPr/>
          </p:nvSpPr>
          <p:spPr bwMode="auto">
            <a:xfrm>
              <a:off x="1764" y="724"/>
              <a:ext cx="447" cy="1"/>
            </a:xfrm>
            <a:custGeom>
              <a:avLst/>
              <a:gdLst>
                <a:gd name="T0" fmla="*/ 0 w 447"/>
                <a:gd name="T1" fmla="*/ 0 h 1"/>
                <a:gd name="T2" fmla="*/ 447 w 447"/>
                <a:gd name="T3" fmla="*/ 1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47" h="1">
                  <a:moveTo>
                    <a:pt x="0" y="0"/>
                  </a:moveTo>
                  <a:lnTo>
                    <a:pt x="447" y="1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06" name="Line 50"/>
            <p:cNvSpPr>
              <a:spLocks noChangeShapeType="1"/>
            </p:cNvSpPr>
            <p:nvPr/>
          </p:nvSpPr>
          <p:spPr bwMode="auto">
            <a:xfrm>
              <a:off x="243" y="196"/>
              <a:ext cx="13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07" name="Line 51"/>
            <p:cNvSpPr>
              <a:spLocks noChangeShapeType="1"/>
            </p:cNvSpPr>
            <p:nvPr/>
          </p:nvSpPr>
          <p:spPr bwMode="auto">
            <a:xfrm>
              <a:off x="237" y="1261"/>
              <a:ext cx="13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08" name="Oval 52"/>
            <p:cNvSpPr>
              <a:spLocks noChangeAspect="1" noChangeArrowheads="1"/>
            </p:cNvSpPr>
            <p:nvPr/>
          </p:nvSpPr>
          <p:spPr bwMode="auto">
            <a:xfrm>
              <a:off x="1596" y="184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3609" name="Oval 53"/>
            <p:cNvSpPr>
              <a:spLocks noChangeAspect="1" noChangeArrowheads="1"/>
            </p:cNvSpPr>
            <p:nvPr/>
          </p:nvSpPr>
          <p:spPr bwMode="auto">
            <a:xfrm>
              <a:off x="1587" y="1213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3610" name="Oval 54"/>
            <p:cNvSpPr>
              <a:spLocks noChangeAspect="1" noChangeArrowheads="1"/>
            </p:cNvSpPr>
            <p:nvPr/>
          </p:nvSpPr>
          <p:spPr bwMode="auto">
            <a:xfrm>
              <a:off x="1050" y="676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3611" name="Oval 55"/>
            <p:cNvSpPr>
              <a:spLocks noChangeAspect="1" noChangeArrowheads="1"/>
            </p:cNvSpPr>
            <p:nvPr/>
          </p:nvSpPr>
          <p:spPr bwMode="auto">
            <a:xfrm>
              <a:off x="2169" y="676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3612" name="Oval 56"/>
            <p:cNvSpPr>
              <a:spLocks noChangeAspect="1" noChangeArrowheads="1"/>
            </p:cNvSpPr>
            <p:nvPr/>
          </p:nvSpPr>
          <p:spPr bwMode="auto">
            <a:xfrm>
              <a:off x="195" y="148"/>
              <a:ext cx="68" cy="6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3613" name="Oval 57"/>
            <p:cNvSpPr>
              <a:spLocks noChangeAspect="1" noChangeArrowheads="1"/>
            </p:cNvSpPr>
            <p:nvPr/>
          </p:nvSpPr>
          <p:spPr bwMode="auto">
            <a:xfrm>
              <a:off x="177" y="1222"/>
              <a:ext cx="68" cy="6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3614" name="Text Box 58"/>
            <p:cNvSpPr txBox="1">
              <a:spLocks noChangeArrowheads="1"/>
            </p:cNvSpPr>
            <p:nvPr/>
          </p:nvSpPr>
          <p:spPr bwMode="auto">
            <a:xfrm>
              <a:off x="8" y="0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a</a:t>
              </a:r>
            </a:p>
          </p:txBody>
        </p:sp>
        <p:sp>
          <p:nvSpPr>
            <p:cNvPr id="23615" name="Text Box 59"/>
            <p:cNvSpPr txBox="1">
              <a:spLocks noChangeArrowheads="1"/>
            </p:cNvSpPr>
            <p:nvPr/>
          </p:nvSpPr>
          <p:spPr bwMode="auto">
            <a:xfrm>
              <a:off x="869" y="549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c</a:t>
              </a:r>
            </a:p>
          </p:txBody>
        </p:sp>
        <p:sp>
          <p:nvSpPr>
            <p:cNvPr id="23616" name="Text Box 60"/>
            <p:cNvSpPr txBox="1">
              <a:spLocks noChangeArrowheads="1"/>
            </p:cNvSpPr>
            <p:nvPr/>
          </p:nvSpPr>
          <p:spPr bwMode="auto">
            <a:xfrm>
              <a:off x="2213" y="55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d</a:t>
              </a:r>
            </a:p>
          </p:txBody>
        </p:sp>
        <p:sp>
          <p:nvSpPr>
            <p:cNvPr id="23617" name="Text Box 61"/>
            <p:cNvSpPr txBox="1">
              <a:spLocks noChangeArrowheads="1"/>
            </p:cNvSpPr>
            <p:nvPr/>
          </p:nvSpPr>
          <p:spPr bwMode="auto">
            <a:xfrm>
              <a:off x="1011" y="227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 dirty="0"/>
                <a:t>R</a:t>
              </a:r>
              <a:r>
                <a:rPr lang="zh-CN" altLang="zh-CN" b="1" baseline="-25000" dirty="0"/>
                <a:t>1</a:t>
              </a:r>
              <a:endParaRPr lang="zh-CN" altLang="zh-CN" b="1" dirty="0"/>
            </a:p>
          </p:txBody>
        </p:sp>
        <p:sp>
          <p:nvSpPr>
            <p:cNvPr id="23618" name="Text Box 62"/>
            <p:cNvSpPr txBox="1">
              <a:spLocks noChangeArrowheads="1"/>
            </p:cNvSpPr>
            <p:nvPr/>
          </p:nvSpPr>
          <p:spPr bwMode="auto">
            <a:xfrm>
              <a:off x="1011" y="916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4</a:t>
              </a:r>
              <a:endParaRPr lang="zh-CN" altLang="zh-CN" b="1"/>
            </a:p>
          </p:txBody>
        </p:sp>
        <p:sp>
          <p:nvSpPr>
            <p:cNvPr id="23619" name="Text Box 63"/>
            <p:cNvSpPr txBox="1">
              <a:spLocks noChangeArrowheads="1"/>
            </p:cNvSpPr>
            <p:nvPr/>
          </p:nvSpPr>
          <p:spPr bwMode="auto">
            <a:xfrm>
              <a:off x="1947" y="952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3</a:t>
              </a:r>
              <a:endParaRPr lang="zh-CN" altLang="zh-CN" b="1"/>
            </a:p>
          </p:txBody>
        </p:sp>
        <p:sp>
          <p:nvSpPr>
            <p:cNvPr id="23620" name="Text Box 64"/>
            <p:cNvSpPr txBox="1">
              <a:spLocks noChangeArrowheads="1"/>
            </p:cNvSpPr>
            <p:nvPr/>
          </p:nvSpPr>
          <p:spPr bwMode="auto">
            <a:xfrm>
              <a:off x="1923" y="196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2</a:t>
              </a:r>
              <a:endParaRPr lang="zh-CN" altLang="zh-CN" b="1"/>
            </a:p>
          </p:txBody>
        </p:sp>
        <p:sp>
          <p:nvSpPr>
            <p:cNvPr id="23621" name="Text Box 65"/>
            <p:cNvSpPr txBox="1">
              <a:spLocks noChangeArrowheads="1"/>
            </p:cNvSpPr>
            <p:nvPr/>
          </p:nvSpPr>
          <p:spPr bwMode="auto">
            <a:xfrm>
              <a:off x="1491" y="436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5</a:t>
              </a:r>
              <a:endParaRPr lang="zh-CN" altLang="zh-CN" b="1"/>
            </a:p>
          </p:txBody>
        </p:sp>
        <p:sp>
          <p:nvSpPr>
            <p:cNvPr id="23622" name="Text Box 66"/>
            <p:cNvSpPr txBox="1">
              <a:spLocks noChangeArrowheads="1"/>
            </p:cNvSpPr>
            <p:nvPr/>
          </p:nvSpPr>
          <p:spPr bwMode="auto">
            <a:xfrm>
              <a:off x="0" y="11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b</a:t>
              </a:r>
            </a:p>
          </p:txBody>
        </p:sp>
      </p:grpSp>
      <p:grpSp>
        <p:nvGrpSpPr>
          <p:cNvPr id="24643" name="Group 67"/>
          <p:cNvGrpSpPr>
            <a:grpSpLocks/>
          </p:cNvGrpSpPr>
          <p:nvPr/>
        </p:nvGrpSpPr>
        <p:grpSpPr bwMode="auto">
          <a:xfrm>
            <a:off x="765901" y="4005733"/>
            <a:ext cx="3989388" cy="2544763"/>
            <a:chOff x="0" y="0"/>
            <a:chExt cx="2513" cy="1603"/>
          </a:xfrm>
        </p:grpSpPr>
        <p:sp>
          <p:nvSpPr>
            <p:cNvPr id="23561" name="Text Box 68"/>
            <p:cNvSpPr txBox="1">
              <a:spLocks noChangeArrowheads="1"/>
            </p:cNvSpPr>
            <p:nvPr/>
          </p:nvSpPr>
          <p:spPr bwMode="auto">
            <a:xfrm>
              <a:off x="0" y="1191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b</a:t>
              </a:r>
            </a:p>
          </p:txBody>
        </p:sp>
        <p:sp>
          <p:nvSpPr>
            <p:cNvPr id="23562" name="Rectangle 69"/>
            <p:cNvSpPr>
              <a:spLocks noChangeArrowheads="1"/>
            </p:cNvSpPr>
            <p:nvPr/>
          </p:nvSpPr>
          <p:spPr bwMode="auto">
            <a:xfrm rot="-2919155">
              <a:off x="1281" y="405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3563" name="Rectangle 70"/>
            <p:cNvSpPr>
              <a:spLocks noChangeArrowheads="1"/>
            </p:cNvSpPr>
            <p:nvPr/>
          </p:nvSpPr>
          <p:spPr bwMode="auto">
            <a:xfrm rot="-5400000">
              <a:off x="1548" y="183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3564" name="Rectangle 71"/>
            <p:cNvSpPr>
              <a:spLocks noChangeArrowheads="1"/>
            </p:cNvSpPr>
            <p:nvPr/>
          </p:nvSpPr>
          <p:spPr bwMode="auto">
            <a:xfrm rot="-7972038">
              <a:off x="1335" y="930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3565" name="Freeform 72"/>
            <p:cNvSpPr>
              <a:spLocks/>
            </p:cNvSpPr>
            <p:nvPr/>
          </p:nvSpPr>
          <p:spPr bwMode="auto">
            <a:xfrm>
              <a:off x="1062" y="297"/>
              <a:ext cx="168" cy="141"/>
            </a:xfrm>
            <a:custGeom>
              <a:avLst/>
              <a:gdLst>
                <a:gd name="T0" fmla="*/ 168 w 168"/>
                <a:gd name="T1" fmla="*/ 141 h 141"/>
                <a:gd name="T2" fmla="*/ 0 w 168"/>
                <a:gd name="T3" fmla="*/ 0 h 14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68" h="141">
                  <a:moveTo>
                    <a:pt x="168" y="141"/>
                  </a:moveTo>
                  <a:lnTo>
                    <a:pt x="0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66" name="Freeform 73"/>
            <p:cNvSpPr>
              <a:spLocks/>
            </p:cNvSpPr>
            <p:nvPr/>
          </p:nvSpPr>
          <p:spPr bwMode="auto">
            <a:xfrm>
              <a:off x="1416" y="606"/>
              <a:ext cx="769" cy="727"/>
            </a:xfrm>
            <a:custGeom>
              <a:avLst/>
              <a:gdLst>
                <a:gd name="T0" fmla="*/ 0 w 769"/>
                <a:gd name="T1" fmla="*/ 0 h 727"/>
                <a:gd name="T2" fmla="*/ 769 w 769"/>
                <a:gd name="T3" fmla="*/ 727 h 7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69" h="727">
                  <a:moveTo>
                    <a:pt x="0" y="0"/>
                  </a:moveTo>
                  <a:lnTo>
                    <a:pt x="769" y="727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67" name="Freeform 74"/>
            <p:cNvSpPr>
              <a:spLocks/>
            </p:cNvSpPr>
            <p:nvPr/>
          </p:nvSpPr>
          <p:spPr bwMode="auto">
            <a:xfrm>
              <a:off x="1062" y="1125"/>
              <a:ext cx="243" cy="222"/>
            </a:xfrm>
            <a:custGeom>
              <a:avLst/>
              <a:gdLst>
                <a:gd name="T0" fmla="*/ 0 w 243"/>
                <a:gd name="T1" fmla="*/ 222 h 222"/>
                <a:gd name="T2" fmla="*/ 243 w 243"/>
                <a:gd name="T3" fmla="*/ 0 h 22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43" h="222">
                  <a:moveTo>
                    <a:pt x="0" y="222"/>
                  </a:moveTo>
                  <a:lnTo>
                    <a:pt x="243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68" name="Freeform 75"/>
            <p:cNvSpPr>
              <a:spLocks/>
            </p:cNvSpPr>
            <p:nvPr/>
          </p:nvSpPr>
          <p:spPr bwMode="auto">
            <a:xfrm>
              <a:off x="1480" y="281"/>
              <a:ext cx="715" cy="691"/>
            </a:xfrm>
            <a:custGeom>
              <a:avLst/>
              <a:gdLst>
                <a:gd name="T0" fmla="*/ 0 w 715"/>
                <a:gd name="T1" fmla="*/ 691 h 691"/>
                <a:gd name="T2" fmla="*/ 715 w 715"/>
                <a:gd name="T3" fmla="*/ 0 h 69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15" h="691">
                  <a:moveTo>
                    <a:pt x="0" y="691"/>
                  </a:moveTo>
                  <a:lnTo>
                    <a:pt x="715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69" name="Oval 76"/>
            <p:cNvSpPr>
              <a:spLocks noChangeAspect="1" noChangeArrowheads="1"/>
            </p:cNvSpPr>
            <p:nvPr/>
          </p:nvSpPr>
          <p:spPr bwMode="auto">
            <a:xfrm>
              <a:off x="1023" y="279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3570" name="Oval 77"/>
            <p:cNvSpPr>
              <a:spLocks noChangeAspect="1" noChangeArrowheads="1"/>
            </p:cNvSpPr>
            <p:nvPr/>
          </p:nvSpPr>
          <p:spPr bwMode="auto">
            <a:xfrm>
              <a:off x="1014" y="1308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3571" name="Oval 78"/>
            <p:cNvSpPr>
              <a:spLocks noChangeAspect="1" noChangeArrowheads="1"/>
            </p:cNvSpPr>
            <p:nvPr/>
          </p:nvSpPr>
          <p:spPr bwMode="auto">
            <a:xfrm>
              <a:off x="2142" y="255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3572" name="Text Box 79"/>
            <p:cNvSpPr txBox="1">
              <a:spLocks noChangeArrowheads="1"/>
            </p:cNvSpPr>
            <p:nvPr/>
          </p:nvSpPr>
          <p:spPr bwMode="auto">
            <a:xfrm>
              <a:off x="2202" y="120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d</a:t>
              </a:r>
            </a:p>
          </p:txBody>
        </p:sp>
        <p:sp>
          <p:nvSpPr>
            <p:cNvPr id="23573" name="Text Box 80"/>
            <p:cNvSpPr txBox="1">
              <a:spLocks noChangeArrowheads="1"/>
            </p:cNvSpPr>
            <p:nvPr/>
          </p:nvSpPr>
          <p:spPr bwMode="auto">
            <a:xfrm>
              <a:off x="1524" y="1353"/>
              <a:ext cx="3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3</a:t>
              </a:r>
              <a:endParaRPr lang="zh-CN" altLang="zh-CN" b="1"/>
            </a:p>
          </p:txBody>
        </p:sp>
        <p:sp>
          <p:nvSpPr>
            <p:cNvPr id="23574" name="Text Box 81"/>
            <p:cNvSpPr txBox="1">
              <a:spLocks noChangeArrowheads="1"/>
            </p:cNvSpPr>
            <p:nvPr/>
          </p:nvSpPr>
          <p:spPr bwMode="auto">
            <a:xfrm>
              <a:off x="1035" y="471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2</a:t>
              </a:r>
              <a:endParaRPr lang="zh-CN" altLang="zh-CN" b="1"/>
            </a:p>
          </p:txBody>
        </p:sp>
        <p:sp>
          <p:nvSpPr>
            <p:cNvPr id="23575" name="Freeform 82"/>
            <p:cNvSpPr>
              <a:spLocks/>
            </p:cNvSpPr>
            <p:nvPr/>
          </p:nvSpPr>
          <p:spPr bwMode="auto">
            <a:xfrm>
              <a:off x="229" y="300"/>
              <a:ext cx="1244" cy="10"/>
            </a:xfrm>
            <a:custGeom>
              <a:avLst/>
              <a:gdLst>
                <a:gd name="T0" fmla="*/ 0 w 1244"/>
                <a:gd name="T1" fmla="*/ 0 h 10"/>
                <a:gd name="T2" fmla="*/ 1244 w 1244"/>
                <a:gd name="T3" fmla="*/ 10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44" h="10">
                  <a:moveTo>
                    <a:pt x="0" y="0"/>
                  </a:moveTo>
                  <a:lnTo>
                    <a:pt x="1244" y="1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76" name="Line 83"/>
            <p:cNvSpPr>
              <a:spLocks noChangeShapeType="1"/>
            </p:cNvSpPr>
            <p:nvPr/>
          </p:nvSpPr>
          <p:spPr bwMode="auto">
            <a:xfrm>
              <a:off x="1710" y="291"/>
              <a:ext cx="4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77" name="Freeform 84"/>
            <p:cNvSpPr>
              <a:spLocks/>
            </p:cNvSpPr>
            <p:nvPr/>
          </p:nvSpPr>
          <p:spPr bwMode="auto">
            <a:xfrm>
              <a:off x="284" y="1351"/>
              <a:ext cx="1263" cy="1"/>
            </a:xfrm>
            <a:custGeom>
              <a:avLst/>
              <a:gdLst>
                <a:gd name="T0" fmla="*/ 0 w 1263"/>
                <a:gd name="T1" fmla="*/ 0 h 1"/>
                <a:gd name="T2" fmla="*/ 1263 w 1263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63" h="1">
                  <a:moveTo>
                    <a:pt x="0" y="0"/>
                  </a:moveTo>
                  <a:lnTo>
                    <a:pt x="1263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78" name="Freeform 85"/>
            <p:cNvSpPr>
              <a:spLocks/>
            </p:cNvSpPr>
            <p:nvPr/>
          </p:nvSpPr>
          <p:spPr bwMode="auto">
            <a:xfrm>
              <a:off x="2194" y="275"/>
              <a:ext cx="1" cy="445"/>
            </a:xfrm>
            <a:custGeom>
              <a:avLst/>
              <a:gdLst>
                <a:gd name="T0" fmla="*/ 0 w 1"/>
                <a:gd name="T1" fmla="*/ 0 h 445"/>
                <a:gd name="T2" fmla="*/ 1 w 1"/>
                <a:gd name="T3" fmla="*/ 445 h 44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445">
                  <a:moveTo>
                    <a:pt x="0" y="0"/>
                  </a:moveTo>
                  <a:lnTo>
                    <a:pt x="1" y="445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79" name="Rectangle 86"/>
            <p:cNvSpPr>
              <a:spLocks noChangeArrowheads="1"/>
            </p:cNvSpPr>
            <p:nvPr/>
          </p:nvSpPr>
          <p:spPr bwMode="auto">
            <a:xfrm rot="-5400000">
              <a:off x="1620" y="1233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3580" name="Rectangle 87"/>
            <p:cNvSpPr>
              <a:spLocks noChangeArrowheads="1"/>
            </p:cNvSpPr>
            <p:nvPr/>
          </p:nvSpPr>
          <p:spPr bwMode="auto">
            <a:xfrm>
              <a:off x="2142" y="711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3581" name="Freeform 88"/>
            <p:cNvSpPr>
              <a:spLocks/>
            </p:cNvSpPr>
            <p:nvPr/>
          </p:nvSpPr>
          <p:spPr bwMode="auto">
            <a:xfrm>
              <a:off x="2194" y="943"/>
              <a:ext cx="1" cy="399"/>
            </a:xfrm>
            <a:custGeom>
              <a:avLst/>
              <a:gdLst>
                <a:gd name="T0" fmla="*/ 0 w 1"/>
                <a:gd name="T1" fmla="*/ 0 h 399"/>
                <a:gd name="T2" fmla="*/ 1 w 1"/>
                <a:gd name="T3" fmla="*/ 399 h 39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99">
                  <a:moveTo>
                    <a:pt x="0" y="0"/>
                  </a:moveTo>
                  <a:lnTo>
                    <a:pt x="1" y="399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82" name="Line 89"/>
            <p:cNvSpPr>
              <a:spLocks noChangeShapeType="1"/>
            </p:cNvSpPr>
            <p:nvPr/>
          </p:nvSpPr>
          <p:spPr bwMode="auto">
            <a:xfrm>
              <a:off x="1776" y="1347"/>
              <a:ext cx="4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83" name="Oval 90"/>
            <p:cNvSpPr>
              <a:spLocks noChangeAspect="1" noChangeArrowheads="1"/>
            </p:cNvSpPr>
            <p:nvPr/>
          </p:nvSpPr>
          <p:spPr bwMode="auto">
            <a:xfrm>
              <a:off x="2154" y="1315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3584" name="Oval 91"/>
            <p:cNvSpPr>
              <a:spLocks noChangeAspect="1" noChangeArrowheads="1"/>
            </p:cNvSpPr>
            <p:nvPr/>
          </p:nvSpPr>
          <p:spPr bwMode="auto">
            <a:xfrm>
              <a:off x="222" y="1317"/>
              <a:ext cx="68" cy="6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3585" name="Oval 92"/>
            <p:cNvSpPr>
              <a:spLocks noChangeAspect="1" noChangeArrowheads="1"/>
            </p:cNvSpPr>
            <p:nvPr/>
          </p:nvSpPr>
          <p:spPr bwMode="auto">
            <a:xfrm>
              <a:off x="171" y="270"/>
              <a:ext cx="68" cy="6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3586" name="Text Box 93"/>
            <p:cNvSpPr txBox="1">
              <a:spLocks noChangeArrowheads="1"/>
            </p:cNvSpPr>
            <p:nvPr/>
          </p:nvSpPr>
          <p:spPr bwMode="auto">
            <a:xfrm>
              <a:off x="3" y="183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a</a:t>
              </a:r>
            </a:p>
          </p:txBody>
        </p:sp>
        <p:sp>
          <p:nvSpPr>
            <p:cNvPr id="23587" name="Text Box 94"/>
            <p:cNvSpPr txBox="1">
              <a:spLocks noChangeArrowheads="1"/>
            </p:cNvSpPr>
            <p:nvPr/>
          </p:nvSpPr>
          <p:spPr bwMode="auto">
            <a:xfrm>
              <a:off x="1038" y="846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4</a:t>
              </a:r>
              <a:endParaRPr lang="zh-CN" altLang="zh-CN" b="1"/>
            </a:p>
          </p:txBody>
        </p:sp>
        <p:sp>
          <p:nvSpPr>
            <p:cNvPr id="23588" name="Text Box 95"/>
            <p:cNvSpPr txBox="1">
              <a:spLocks noChangeArrowheads="1"/>
            </p:cNvSpPr>
            <p:nvPr/>
          </p:nvSpPr>
          <p:spPr bwMode="auto">
            <a:xfrm>
              <a:off x="1452" y="0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1</a:t>
              </a:r>
              <a:endParaRPr lang="zh-CN" altLang="zh-CN" b="1"/>
            </a:p>
          </p:txBody>
        </p:sp>
        <p:sp>
          <p:nvSpPr>
            <p:cNvPr id="23589" name="Text Box 96"/>
            <p:cNvSpPr txBox="1">
              <a:spLocks noChangeArrowheads="1"/>
            </p:cNvSpPr>
            <p:nvPr/>
          </p:nvSpPr>
          <p:spPr bwMode="auto">
            <a:xfrm>
              <a:off x="2229" y="690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5</a:t>
              </a:r>
              <a:endParaRPr lang="zh-CN" altLang="zh-CN" b="1"/>
            </a:p>
          </p:txBody>
        </p:sp>
        <p:sp>
          <p:nvSpPr>
            <p:cNvPr id="23590" name="Text Box 97"/>
            <p:cNvSpPr txBox="1">
              <a:spLocks noChangeArrowheads="1"/>
            </p:cNvSpPr>
            <p:nvPr/>
          </p:nvSpPr>
          <p:spPr bwMode="auto">
            <a:xfrm>
              <a:off x="2193" y="123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c</a:t>
              </a:r>
            </a:p>
          </p:txBody>
        </p:sp>
      </p:grpSp>
      <p:sp>
        <p:nvSpPr>
          <p:cNvPr id="24676" name="Text Box 100"/>
          <p:cNvSpPr txBox="1">
            <a:spLocks noChangeArrowheads="1"/>
          </p:cNvSpPr>
          <p:nvPr/>
        </p:nvSpPr>
        <p:spPr bwMode="auto">
          <a:xfrm>
            <a:off x="4652101" y="1511771"/>
            <a:ext cx="24812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="1"/>
              <a:t>（1）</a:t>
            </a:r>
            <a:r>
              <a:rPr lang="zh-CN" altLang="zh-CN" sz="2400" b="1">
                <a:ea typeface="楷体_GB2312" pitchFamily="49" charset="-122"/>
              </a:rPr>
              <a:t>结构特点：</a:t>
            </a:r>
          </a:p>
        </p:txBody>
      </p:sp>
      <p:sp>
        <p:nvSpPr>
          <p:cNvPr id="24677" name="Text Box 101"/>
          <p:cNvSpPr txBox="1">
            <a:spLocks noChangeArrowheads="1"/>
          </p:cNvSpPr>
          <p:nvPr/>
        </p:nvSpPr>
        <p:spPr bwMode="auto">
          <a:xfrm>
            <a:off x="5490301" y="2208683"/>
            <a:ext cx="320040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="1" dirty="0">
                <a:ea typeface="楷体_GB2312" pitchFamily="49" charset="-122"/>
              </a:rPr>
              <a:t>各电阻为非串并联,</a:t>
            </a:r>
          </a:p>
          <a:p>
            <a:pPr eaLnBrk="1" hangingPunct="1"/>
            <a:r>
              <a:rPr lang="zh-CN" altLang="zh-CN" sz="2400" b="1" dirty="0"/>
              <a:t>R</a:t>
            </a:r>
            <a:r>
              <a:rPr lang="zh-CN" altLang="zh-CN" sz="1600" b="1" dirty="0"/>
              <a:t>5</a:t>
            </a:r>
            <a:r>
              <a:rPr lang="zh-CN" altLang="zh-CN" sz="2400" b="1" dirty="0">
                <a:ea typeface="楷体_GB2312" pitchFamily="49" charset="-122"/>
              </a:rPr>
              <a:t>为桥支路,其余4条</a:t>
            </a:r>
          </a:p>
          <a:p>
            <a:pPr eaLnBrk="1" hangingPunct="1"/>
            <a:r>
              <a:rPr lang="zh-CN" altLang="zh-CN" sz="2400" b="1" dirty="0">
                <a:ea typeface="楷体_GB2312" pitchFamily="49" charset="-122"/>
              </a:rPr>
              <a:t>为桥臂</a:t>
            </a:r>
          </a:p>
          <a:p>
            <a:pPr eaLnBrk="1" hangingPunct="1"/>
            <a:endParaRPr lang="zh-CN" altLang="zh-CN" sz="2400" b="1" dirty="0">
              <a:ea typeface="楷体_GB2312" pitchFamily="49" charset="-122"/>
            </a:endParaRPr>
          </a:p>
        </p:txBody>
      </p:sp>
      <p:sp>
        <p:nvSpPr>
          <p:cNvPr id="102" name="Rectangle 2"/>
          <p:cNvSpPr>
            <a:spLocks noChangeArrowheads="1"/>
          </p:cNvSpPr>
          <p:nvPr/>
        </p:nvSpPr>
        <p:spPr bwMode="auto">
          <a:xfrm>
            <a:off x="323528" y="1124744"/>
            <a:ext cx="845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>
                <a:solidFill>
                  <a:srgbClr val="CC3300"/>
                </a:solidFill>
                <a:ea typeface="隶书" panose="02010509060101010101" pitchFamily="49" charset="-122"/>
              </a:rPr>
              <a:t>电桥</a:t>
            </a:r>
            <a:r>
              <a:rPr lang="en-US" altLang="zh-CN" sz="2800" dirty="0">
                <a:solidFill>
                  <a:srgbClr val="CC3300"/>
                </a:solidFill>
                <a:ea typeface="隶书" panose="02010509060101010101" pitchFamily="49" charset="-122"/>
              </a:rPr>
              <a:t>Bridge Circuits</a:t>
            </a:r>
          </a:p>
        </p:txBody>
      </p:sp>
      <p:sp>
        <p:nvSpPr>
          <p:cNvPr id="103" name="Rectangle 7"/>
          <p:cNvSpPr>
            <a:spLocks noChangeArrowheads="1"/>
          </p:cNvSpPr>
          <p:nvPr/>
        </p:nvSpPr>
        <p:spPr bwMode="auto">
          <a:xfrm>
            <a:off x="395288" y="163513"/>
            <a:ext cx="845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3200" dirty="0">
                <a:solidFill>
                  <a:schemeClr val="tx2"/>
                </a:solidFill>
                <a:ea typeface="隶书" panose="02010509060101010101" pitchFamily="49" charset="-122"/>
              </a:rPr>
              <a:t>2.4 </a:t>
            </a:r>
            <a:r>
              <a:rPr lang="zh-CN" altLang="en-US" sz="3200" dirty="0">
                <a:solidFill>
                  <a:schemeClr val="tx2"/>
                </a:solidFill>
                <a:ea typeface="隶书" panose="02010509060101010101" pitchFamily="49" charset="-122"/>
              </a:rPr>
              <a:t>电桥</a:t>
            </a:r>
            <a:endParaRPr lang="en-US" altLang="zh-CN" sz="3200" dirty="0">
              <a:solidFill>
                <a:schemeClr val="tx2"/>
              </a:solidFill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42068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4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6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46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676" grpId="0" autoUpdateAnimBg="0"/>
      <p:bldP spid="24677" grpId="0" autoUpdateAnimBg="0"/>
      <p:bldP spid="10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Text Box 3"/>
          <p:cNvSpPr txBox="1">
            <a:spLocks noChangeArrowheads="1"/>
          </p:cNvSpPr>
          <p:nvPr/>
        </p:nvSpPr>
        <p:spPr bwMode="auto">
          <a:xfrm>
            <a:off x="381000" y="836712"/>
            <a:ext cx="418941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="1" dirty="0">
                <a:solidFill>
                  <a:schemeClr val="accent2"/>
                </a:solidFill>
                <a:latin typeface="仿宋_GB2312" pitchFamily="1" charset="-122"/>
                <a:ea typeface="仿宋_GB2312" pitchFamily="1" charset="-122"/>
              </a:rPr>
              <a:t>平衡电桥</a:t>
            </a:r>
            <a:r>
              <a:rPr lang="en-US" altLang="zh-CN" sz="2400" b="1" dirty="0">
                <a:solidFill>
                  <a:schemeClr val="accent2"/>
                </a:solidFill>
                <a:latin typeface="仿宋_GB2312" pitchFamily="1" charset="-122"/>
                <a:ea typeface="仿宋_GB2312" pitchFamily="1" charset="-122"/>
              </a:rPr>
              <a:t>Balanced Bridge</a:t>
            </a:r>
            <a:endParaRPr lang="zh-CN" altLang="zh-CN" sz="2400" b="1" dirty="0">
              <a:solidFill>
                <a:schemeClr val="accent2"/>
              </a:solidFill>
              <a:latin typeface="仿宋_GB2312" pitchFamily="1" charset="-122"/>
              <a:ea typeface="仿宋_GB2312" pitchFamily="1" charset="-122"/>
            </a:endParaRPr>
          </a:p>
        </p:txBody>
      </p:sp>
      <p:sp>
        <p:nvSpPr>
          <p:cNvPr id="25604" name="Text Box 4"/>
          <p:cNvSpPr txBox="1">
            <a:spLocks noChangeArrowheads="1"/>
          </p:cNvSpPr>
          <p:nvPr/>
        </p:nvSpPr>
        <p:spPr bwMode="auto">
          <a:xfrm>
            <a:off x="854075" y="1435100"/>
            <a:ext cx="2270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="1" dirty="0">
                <a:latin typeface="楷体_GB2312" pitchFamily="49" charset="-122"/>
                <a:ea typeface="楷体_GB2312" pitchFamily="49" charset="-122"/>
              </a:rPr>
              <a:t>1、平衡条件</a:t>
            </a:r>
          </a:p>
        </p:txBody>
      </p:sp>
      <p:sp>
        <p:nvSpPr>
          <p:cNvPr id="25605" name="Text Box 5"/>
          <p:cNvSpPr txBox="1">
            <a:spLocks noChangeArrowheads="1"/>
          </p:cNvSpPr>
          <p:nvPr/>
        </p:nvSpPr>
        <p:spPr bwMode="auto">
          <a:xfrm>
            <a:off x="901700" y="1981200"/>
            <a:ext cx="19653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="1" dirty="0">
                <a:solidFill>
                  <a:srgbClr val="FF3300"/>
                </a:solidFill>
              </a:rPr>
              <a:t>R</a:t>
            </a:r>
            <a:r>
              <a:rPr lang="zh-CN" altLang="zh-CN" sz="2400" b="1" baseline="-25000" dirty="0">
                <a:solidFill>
                  <a:srgbClr val="FF3300"/>
                </a:solidFill>
              </a:rPr>
              <a:t>1</a:t>
            </a:r>
            <a:r>
              <a:rPr lang="zh-CN" altLang="zh-CN" sz="2400" b="1" dirty="0">
                <a:solidFill>
                  <a:srgbClr val="FF3300"/>
                </a:solidFill>
              </a:rPr>
              <a:t>R</a:t>
            </a:r>
            <a:r>
              <a:rPr lang="zh-CN" altLang="zh-CN" sz="2400" b="1" baseline="-25000" dirty="0">
                <a:solidFill>
                  <a:srgbClr val="FF3300"/>
                </a:solidFill>
              </a:rPr>
              <a:t>3</a:t>
            </a:r>
            <a:r>
              <a:rPr lang="zh-CN" altLang="zh-CN" sz="2400" b="1" dirty="0">
                <a:solidFill>
                  <a:srgbClr val="FF3300"/>
                </a:solidFill>
              </a:rPr>
              <a:t>=R</a:t>
            </a:r>
            <a:r>
              <a:rPr lang="zh-CN" altLang="zh-CN" sz="2400" b="1" baseline="-25000" dirty="0">
                <a:solidFill>
                  <a:srgbClr val="FF3300"/>
                </a:solidFill>
              </a:rPr>
              <a:t>2</a:t>
            </a:r>
            <a:r>
              <a:rPr lang="zh-CN" altLang="zh-CN" sz="2400" b="1" dirty="0">
                <a:solidFill>
                  <a:srgbClr val="FF3300"/>
                </a:solidFill>
              </a:rPr>
              <a:t>R</a:t>
            </a:r>
            <a:r>
              <a:rPr lang="zh-CN" altLang="zh-CN" sz="2400" b="1" baseline="-25000" dirty="0">
                <a:solidFill>
                  <a:srgbClr val="FF3300"/>
                </a:solidFill>
              </a:rPr>
              <a:t>4</a:t>
            </a:r>
            <a:endParaRPr lang="zh-CN" altLang="zh-CN" sz="2400" b="1" dirty="0">
              <a:solidFill>
                <a:srgbClr val="FF3300"/>
              </a:solidFill>
            </a:endParaRPr>
          </a:p>
        </p:txBody>
      </p:sp>
      <p:sp>
        <p:nvSpPr>
          <p:cNvPr id="25606" name="Text Box 6"/>
          <p:cNvSpPr txBox="1">
            <a:spLocks noChangeArrowheads="1"/>
          </p:cNvSpPr>
          <p:nvPr/>
        </p:nvSpPr>
        <p:spPr bwMode="auto">
          <a:xfrm>
            <a:off x="854075" y="2701925"/>
            <a:ext cx="31845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="1">
                <a:latin typeface="楷体_GB2312" pitchFamily="49" charset="-122"/>
                <a:ea typeface="楷体_GB2312" pitchFamily="49" charset="-122"/>
              </a:rPr>
              <a:t>2、端口的等效电阻</a:t>
            </a:r>
          </a:p>
        </p:txBody>
      </p:sp>
      <p:sp>
        <p:nvSpPr>
          <p:cNvPr id="25607" name="Text Box 7"/>
          <p:cNvSpPr txBox="1">
            <a:spLocks noChangeArrowheads="1"/>
          </p:cNvSpPr>
          <p:nvPr/>
        </p:nvSpPr>
        <p:spPr bwMode="auto">
          <a:xfrm>
            <a:off x="838200" y="5257800"/>
            <a:ext cx="3962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="1">
                <a:latin typeface="楷体_GB2312" pitchFamily="49" charset="-122"/>
                <a:ea typeface="楷体_GB2312" pitchFamily="49" charset="-122"/>
              </a:rPr>
              <a:t>3、两种简单的等效变换</a:t>
            </a:r>
          </a:p>
        </p:txBody>
      </p:sp>
      <p:grpSp>
        <p:nvGrpSpPr>
          <p:cNvPr id="25608" name="Group 8"/>
          <p:cNvGrpSpPr>
            <a:grpSpLocks/>
          </p:cNvGrpSpPr>
          <p:nvPr/>
        </p:nvGrpSpPr>
        <p:grpSpPr bwMode="auto">
          <a:xfrm>
            <a:off x="1295400" y="5756275"/>
            <a:ext cx="4206875" cy="457200"/>
            <a:chOff x="0" y="0"/>
            <a:chExt cx="2650" cy="288"/>
          </a:xfrm>
        </p:grpSpPr>
        <p:sp>
          <p:nvSpPr>
            <p:cNvPr id="24686" name="Text Box 9"/>
            <p:cNvSpPr txBox="1">
              <a:spLocks noChangeArrowheads="1"/>
            </p:cNvSpPr>
            <p:nvPr/>
          </p:nvSpPr>
          <p:spPr bwMode="auto">
            <a:xfrm>
              <a:off x="0" y="0"/>
              <a:ext cx="233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 b="1"/>
                <a:t>（1）</a:t>
              </a:r>
              <a:r>
                <a:rPr lang="zh-CN" altLang="zh-CN" sz="2400" b="1">
                  <a:ea typeface="楷体_GB2312" pitchFamily="49" charset="-122"/>
                </a:rPr>
                <a:t>电路中电位相等的点</a:t>
              </a:r>
            </a:p>
          </p:txBody>
        </p:sp>
        <p:sp>
          <p:nvSpPr>
            <p:cNvPr id="24687" name="Line 10"/>
            <p:cNvSpPr>
              <a:spLocks noChangeShapeType="1"/>
            </p:cNvSpPr>
            <p:nvPr/>
          </p:nvSpPr>
          <p:spPr bwMode="auto">
            <a:xfrm>
              <a:off x="2314" y="148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5611" name="Text Box 11"/>
          <p:cNvSpPr txBox="1">
            <a:spLocks noChangeArrowheads="1"/>
          </p:cNvSpPr>
          <p:nvPr/>
        </p:nvSpPr>
        <p:spPr bwMode="auto">
          <a:xfrm>
            <a:off x="5486400" y="5735638"/>
            <a:ext cx="10017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="1">
                <a:ea typeface="楷体_GB2312" pitchFamily="49" charset="-122"/>
              </a:rPr>
              <a:t>短接</a:t>
            </a:r>
          </a:p>
        </p:txBody>
      </p:sp>
      <p:grpSp>
        <p:nvGrpSpPr>
          <p:cNvPr id="25612" name="Group 12"/>
          <p:cNvGrpSpPr>
            <a:grpSpLocks/>
          </p:cNvGrpSpPr>
          <p:nvPr/>
        </p:nvGrpSpPr>
        <p:grpSpPr bwMode="auto">
          <a:xfrm>
            <a:off x="1311275" y="6172200"/>
            <a:ext cx="4495800" cy="457200"/>
            <a:chOff x="0" y="0"/>
            <a:chExt cx="2832" cy="288"/>
          </a:xfrm>
        </p:grpSpPr>
        <p:sp>
          <p:nvSpPr>
            <p:cNvPr id="24684" name="Text Box 13"/>
            <p:cNvSpPr txBox="1">
              <a:spLocks noChangeArrowheads="1"/>
            </p:cNvSpPr>
            <p:nvPr/>
          </p:nvSpPr>
          <p:spPr bwMode="auto">
            <a:xfrm>
              <a:off x="0" y="0"/>
              <a:ext cx="25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 b="1"/>
                <a:t>（2）</a:t>
              </a:r>
              <a:r>
                <a:rPr lang="zh-CN" altLang="zh-CN" sz="2400" b="1">
                  <a:ea typeface="楷体_GB2312" pitchFamily="49" charset="-122"/>
                </a:rPr>
                <a:t>电路中电流为零的支路</a:t>
              </a:r>
            </a:p>
          </p:txBody>
        </p:sp>
        <p:sp>
          <p:nvSpPr>
            <p:cNvPr id="24685" name="Line 14"/>
            <p:cNvSpPr>
              <a:spLocks noChangeShapeType="1"/>
            </p:cNvSpPr>
            <p:nvPr/>
          </p:nvSpPr>
          <p:spPr bwMode="auto">
            <a:xfrm>
              <a:off x="2544" y="144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5615" name="Text Box 15"/>
          <p:cNvSpPr txBox="1">
            <a:spLocks noChangeArrowheads="1"/>
          </p:cNvSpPr>
          <p:nvPr/>
        </p:nvSpPr>
        <p:spPr bwMode="auto">
          <a:xfrm>
            <a:off x="5791200" y="6159500"/>
            <a:ext cx="1143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="1">
                <a:ea typeface="楷体_GB2312" pitchFamily="49" charset="-122"/>
              </a:rPr>
              <a:t>断开</a:t>
            </a:r>
          </a:p>
        </p:txBody>
      </p:sp>
      <p:grpSp>
        <p:nvGrpSpPr>
          <p:cNvPr id="24589" name="Group 17"/>
          <p:cNvGrpSpPr>
            <a:grpSpLocks/>
          </p:cNvGrpSpPr>
          <p:nvPr/>
        </p:nvGrpSpPr>
        <p:grpSpPr bwMode="auto">
          <a:xfrm>
            <a:off x="5778500" y="800100"/>
            <a:ext cx="3136900" cy="2159000"/>
            <a:chOff x="0" y="0"/>
            <a:chExt cx="1976" cy="1360"/>
          </a:xfrm>
        </p:grpSpPr>
        <p:sp>
          <p:nvSpPr>
            <p:cNvPr id="24652" name="Rectangle 18"/>
            <p:cNvSpPr>
              <a:spLocks noChangeArrowheads="1"/>
            </p:cNvSpPr>
            <p:nvPr/>
          </p:nvSpPr>
          <p:spPr bwMode="auto">
            <a:xfrm rot="-7903512">
              <a:off x="883" y="280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4653" name="Rectangle 19"/>
            <p:cNvSpPr>
              <a:spLocks noChangeArrowheads="1"/>
            </p:cNvSpPr>
            <p:nvPr/>
          </p:nvSpPr>
          <p:spPr bwMode="auto">
            <a:xfrm rot="-2919155">
              <a:off x="1405" y="286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4654" name="Rectangle 20"/>
            <p:cNvSpPr>
              <a:spLocks noChangeArrowheads="1"/>
            </p:cNvSpPr>
            <p:nvPr/>
          </p:nvSpPr>
          <p:spPr bwMode="auto">
            <a:xfrm rot="-5400000">
              <a:off x="1144" y="577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4655" name="Rectangle 21"/>
            <p:cNvSpPr>
              <a:spLocks noChangeArrowheads="1"/>
            </p:cNvSpPr>
            <p:nvPr/>
          </p:nvSpPr>
          <p:spPr bwMode="auto">
            <a:xfrm rot="-2874968">
              <a:off x="850" y="856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4656" name="Rectangle 22"/>
            <p:cNvSpPr>
              <a:spLocks noChangeArrowheads="1"/>
            </p:cNvSpPr>
            <p:nvPr/>
          </p:nvSpPr>
          <p:spPr bwMode="auto">
            <a:xfrm rot="-7972038">
              <a:off x="1459" y="811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4657" name="Freeform 23"/>
            <p:cNvSpPr>
              <a:spLocks/>
            </p:cNvSpPr>
            <p:nvPr/>
          </p:nvSpPr>
          <p:spPr bwMode="auto">
            <a:xfrm>
              <a:off x="1016" y="172"/>
              <a:ext cx="176" cy="160"/>
            </a:xfrm>
            <a:custGeom>
              <a:avLst/>
              <a:gdLst>
                <a:gd name="T0" fmla="*/ 0 w 176"/>
                <a:gd name="T1" fmla="*/ 160 h 160"/>
                <a:gd name="T2" fmla="*/ 176 w 176"/>
                <a:gd name="T3" fmla="*/ 0 h 16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6" h="160">
                  <a:moveTo>
                    <a:pt x="0" y="160"/>
                  </a:moveTo>
                  <a:lnTo>
                    <a:pt x="176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58" name="Freeform 24"/>
            <p:cNvSpPr>
              <a:spLocks/>
            </p:cNvSpPr>
            <p:nvPr/>
          </p:nvSpPr>
          <p:spPr bwMode="auto">
            <a:xfrm>
              <a:off x="1186" y="178"/>
              <a:ext cx="168" cy="141"/>
            </a:xfrm>
            <a:custGeom>
              <a:avLst/>
              <a:gdLst>
                <a:gd name="T0" fmla="*/ 168 w 168"/>
                <a:gd name="T1" fmla="*/ 141 h 141"/>
                <a:gd name="T2" fmla="*/ 0 w 168"/>
                <a:gd name="T3" fmla="*/ 0 h 14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68" h="141">
                  <a:moveTo>
                    <a:pt x="168" y="141"/>
                  </a:moveTo>
                  <a:lnTo>
                    <a:pt x="0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59" name="Freeform 25"/>
            <p:cNvSpPr>
              <a:spLocks/>
            </p:cNvSpPr>
            <p:nvPr/>
          </p:nvSpPr>
          <p:spPr bwMode="auto">
            <a:xfrm>
              <a:off x="608" y="484"/>
              <a:ext cx="233" cy="223"/>
            </a:xfrm>
            <a:custGeom>
              <a:avLst/>
              <a:gdLst>
                <a:gd name="T0" fmla="*/ 233 w 233"/>
                <a:gd name="T1" fmla="*/ 0 h 223"/>
                <a:gd name="T2" fmla="*/ 0 w 233"/>
                <a:gd name="T3" fmla="*/ 223 h 22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33" h="223">
                  <a:moveTo>
                    <a:pt x="233" y="0"/>
                  </a:moveTo>
                  <a:lnTo>
                    <a:pt x="0" y="223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60" name="Freeform 26"/>
            <p:cNvSpPr>
              <a:spLocks/>
            </p:cNvSpPr>
            <p:nvPr/>
          </p:nvSpPr>
          <p:spPr bwMode="auto">
            <a:xfrm>
              <a:off x="1540" y="487"/>
              <a:ext cx="225" cy="216"/>
            </a:xfrm>
            <a:custGeom>
              <a:avLst/>
              <a:gdLst>
                <a:gd name="T0" fmla="*/ 0 w 225"/>
                <a:gd name="T1" fmla="*/ 0 h 216"/>
                <a:gd name="T2" fmla="*/ 225 w 225"/>
                <a:gd name="T3" fmla="*/ 216 h 21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25" h="216">
                  <a:moveTo>
                    <a:pt x="0" y="0"/>
                  </a:moveTo>
                  <a:lnTo>
                    <a:pt x="225" y="216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61" name="Freeform 27"/>
            <p:cNvSpPr>
              <a:spLocks/>
            </p:cNvSpPr>
            <p:nvPr/>
          </p:nvSpPr>
          <p:spPr bwMode="auto">
            <a:xfrm>
              <a:off x="626" y="707"/>
              <a:ext cx="183" cy="201"/>
            </a:xfrm>
            <a:custGeom>
              <a:avLst/>
              <a:gdLst>
                <a:gd name="T0" fmla="*/ 0 w 183"/>
                <a:gd name="T1" fmla="*/ 0 h 201"/>
                <a:gd name="T2" fmla="*/ 183 w 183"/>
                <a:gd name="T3" fmla="*/ 201 h 20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83" h="201">
                  <a:moveTo>
                    <a:pt x="0" y="0"/>
                  </a:moveTo>
                  <a:lnTo>
                    <a:pt x="183" y="201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62" name="Freeform 28"/>
            <p:cNvSpPr>
              <a:spLocks/>
            </p:cNvSpPr>
            <p:nvPr/>
          </p:nvSpPr>
          <p:spPr bwMode="auto">
            <a:xfrm>
              <a:off x="973" y="1054"/>
              <a:ext cx="211" cy="183"/>
            </a:xfrm>
            <a:custGeom>
              <a:avLst/>
              <a:gdLst>
                <a:gd name="T0" fmla="*/ 0 w 211"/>
                <a:gd name="T1" fmla="*/ 0 h 183"/>
                <a:gd name="T2" fmla="*/ 211 w 211"/>
                <a:gd name="T3" fmla="*/ 183 h 18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11" h="183">
                  <a:moveTo>
                    <a:pt x="0" y="0"/>
                  </a:moveTo>
                  <a:lnTo>
                    <a:pt x="211" y="183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63" name="Freeform 29"/>
            <p:cNvSpPr>
              <a:spLocks/>
            </p:cNvSpPr>
            <p:nvPr/>
          </p:nvSpPr>
          <p:spPr bwMode="auto">
            <a:xfrm>
              <a:off x="1186" y="1006"/>
              <a:ext cx="243" cy="222"/>
            </a:xfrm>
            <a:custGeom>
              <a:avLst/>
              <a:gdLst>
                <a:gd name="T0" fmla="*/ 0 w 243"/>
                <a:gd name="T1" fmla="*/ 222 h 222"/>
                <a:gd name="T2" fmla="*/ 243 w 243"/>
                <a:gd name="T3" fmla="*/ 0 h 22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43" h="222">
                  <a:moveTo>
                    <a:pt x="0" y="222"/>
                  </a:moveTo>
                  <a:lnTo>
                    <a:pt x="243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64" name="Freeform 30"/>
            <p:cNvSpPr>
              <a:spLocks/>
            </p:cNvSpPr>
            <p:nvPr/>
          </p:nvSpPr>
          <p:spPr bwMode="auto">
            <a:xfrm>
              <a:off x="1604" y="700"/>
              <a:ext cx="158" cy="153"/>
            </a:xfrm>
            <a:custGeom>
              <a:avLst/>
              <a:gdLst>
                <a:gd name="T0" fmla="*/ 0 w 158"/>
                <a:gd name="T1" fmla="*/ 153 h 153"/>
                <a:gd name="T2" fmla="*/ 158 w 158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58" h="153">
                  <a:moveTo>
                    <a:pt x="0" y="153"/>
                  </a:moveTo>
                  <a:lnTo>
                    <a:pt x="158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65" name="Freeform 31"/>
            <p:cNvSpPr>
              <a:spLocks/>
            </p:cNvSpPr>
            <p:nvPr/>
          </p:nvSpPr>
          <p:spPr bwMode="auto">
            <a:xfrm>
              <a:off x="610" y="700"/>
              <a:ext cx="462" cy="1"/>
            </a:xfrm>
            <a:custGeom>
              <a:avLst/>
              <a:gdLst>
                <a:gd name="T0" fmla="*/ 0 w 462"/>
                <a:gd name="T1" fmla="*/ 0 h 1"/>
                <a:gd name="T2" fmla="*/ 462 w 46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62" h="1">
                  <a:moveTo>
                    <a:pt x="0" y="0"/>
                  </a:moveTo>
                  <a:lnTo>
                    <a:pt x="462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66" name="Freeform 32"/>
            <p:cNvSpPr>
              <a:spLocks/>
            </p:cNvSpPr>
            <p:nvPr/>
          </p:nvSpPr>
          <p:spPr bwMode="auto">
            <a:xfrm>
              <a:off x="1315" y="700"/>
              <a:ext cx="447" cy="1"/>
            </a:xfrm>
            <a:custGeom>
              <a:avLst/>
              <a:gdLst>
                <a:gd name="T0" fmla="*/ 0 w 447"/>
                <a:gd name="T1" fmla="*/ 0 h 1"/>
                <a:gd name="T2" fmla="*/ 447 w 447"/>
                <a:gd name="T3" fmla="*/ 1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47" h="1">
                  <a:moveTo>
                    <a:pt x="0" y="0"/>
                  </a:moveTo>
                  <a:lnTo>
                    <a:pt x="447" y="1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67" name="Oval 33"/>
            <p:cNvSpPr>
              <a:spLocks noChangeAspect="1" noChangeArrowheads="1"/>
            </p:cNvSpPr>
            <p:nvPr/>
          </p:nvSpPr>
          <p:spPr bwMode="auto">
            <a:xfrm>
              <a:off x="1147" y="160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4668" name="Oval 34"/>
            <p:cNvSpPr>
              <a:spLocks noChangeAspect="1" noChangeArrowheads="1"/>
            </p:cNvSpPr>
            <p:nvPr/>
          </p:nvSpPr>
          <p:spPr bwMode="auto">
            <a:xfrm>
              <a:off x="1138" y="1189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4669" name="Oval 35"/>
            <p:cNvSpPr>
              <a:spLocks noChangeAspect="1" noChangeArrowheads="1"/>
            </p:cNvSpPr>
            <p:nvPr/>
          </p:nvSpPr>
          <p:spPr bwMode="auto">
            <a:xfrm>
              <a:off x="601" y="652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4670" name="Oval 36"/>
            <p:cNvSpPr>
              <a:spLocks noChangeAspect="1" noChangeArrowheads="1"/>
            </p:cNvSpPr>
            <p:nvPr/>
          </p:nvSpPr>
          <p:spPr bwMode="auto">
            <a:xfrm>
              <a:off x="1720" y="652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4671" name="Oval 37"/>
            <p:cNvSpPr>
              <a:spLocks noChangeAspect="1" noChangeArrowheads="1"/>
            </p:cNvSpPr>
            <p:nvPr/>
          </p:nvSpPr>
          <p:spPr bwMode="auto">
            <a:xfrm>
              <a:off x="187" y="148"/>
              <a:ext cx="68" cy="6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4672" name="Oval 38"/>
            <p:cNvSpPr>
              <a:spLocks noChangeAspect="1" noChangeArrowheads="1"/>
            </p:cNvSpPr>
            <p:nvPr/>
          </p:nvSpPr>
          <p:spPr bwMode="auto">
            <a:xfrm>
              <a:off x="195" y="1190"/>
              <a:ext cx="68" cy="6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4673" name="Text Box 39"/>
            <p:cNvSpPr txBox="1">
              <a:spLocks noChangeArrowheads="1"/>
            </p:cNvSpPr>
            <p:nvPr/>
          </p:nvSpPr>
          <p:spPr bwMode="auto">
            <a:xfrm>
              <a:off x="0" y="0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a</a:t>
              </a:r>
            </a:p>
          </p:txBody>
        </p:sp>
        <p:sp>
          <p:nvSpPr>
            <p:cNvPr id="24674" name="Text Box 40"/>
            <p:cNvSpPr txBox="1">
              <a:spLocks noChangeArrowheads="1"/>
            </p:cNvSpPr>
            <p:nvPr/>
          </p:nvSpPr>
          <p:spPr bwMode="auto">
            <a:xfrm>
              <a:off x="420" y="525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c</a:t>
              </a:r>
            </a:p>
          </p:txBody>
        </p:sp>
        <p:sp>
          <p:nvSpPr>
            <p:cNvPr id="24675" name="Text Box 41"/>
            <p:cNvSpPr txBox="1">
              <a:spLocks noChangeArrowheads="1"/>
            </p:cNvSpPr>
            <p:nvPr/>
          </p:nvSpPr>
          <p:spPr bwMode="auto">
            <a:xfrm>
              <a:off x="1764" y="53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d</a:t>
              </a:r>
            </a:p>
          </p:txBody>
        </p:sp>
        <p:sp>
          <p:nvSpPr>
            <p:cNvPr id="24676" name="Text Box 42"/>
            <p:cNvSpPr txBox="1">
              <a:spLocks noChangeArrowheads="1"/>
            </p:cNvSpPr>
            <p:nvPr/>
          </p:nvSpPr>
          <p:spPr bwMode="auto">
            <a:xfrm>
              <a:off x="562" y="203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1</a:t>
              </a:r>
              <a:endParaRPr lang="zh-CN" altLang="zh-CN" b="1"/>
            </a:p>
          </p:txBody>
        </p:sp>
        <p:sp>
          <p:nvSpPr>
            <p:cNvPr id="24677" name="Text Box 43"/>
            <p:cNvSpPr txBox="1">
              <a:spLocks noChangeArrowheads="1"/>
            </p:cNvSpPr>
            <p:nvPr/>
          </p:nvSpPr>
          <p:spPr bwMode="auto">
            <a:xfrm>
              <a:off x="562" y="892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4</a:t>
              </a:r>
              <a:endParaRPr lang="zh-CN" altLang="zh-CN" b="1"/>
            </a:p>
          </p:txBody>
        </p:sp>
        <p:sp>
          <p:nvSpPr>
            <p:cNvPr id="24678" name="Text Box 44"/>
            <p:cNvSpPr txBox="1">
              <a:spLocks noChangeArrowheads="1"/>
            </p:cNvSpPr>
            <p:nvPr/>
          </p:nvSpPr>
          <p:spPr bwMode="auto">
            <a:xfrm>
              <a:off x="1498" y="928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3</a:t>
              </a:r>
              <a:endParaRPr lang="zh-CN" altLang="zh-CN" b="1"/>
            </a:p>
          </p:txBody>
        </p:sp>
        <p:sp>
          <p:nvSpPr>
            <p:cNvPr id="24679" name="Text Box 45"/>
            <p:cNvSpPr txBox="1">
              <a:spLocks noChangeArrowheads="1"/>
            </p:cNvSpPr>
            <p:nvPr/>
          </p:nvSpPr>
          <p:spPr bwMode="auto">
            <a:xfrm>
              <a:off x="1474" y="172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2</a:t>
              </a:r>
              <a:endParaRPr lang="zh-CN" altLang="zh-CN" b="1"/>
            </a:p>
          </p:txBody>
        </p:sp>
        <p:sp>
          <p:nvSpPr>
            <p:cNvPr id="24680" name="Text Box 46"/>
            <p:cNvSpPr txBox="1">
              <a:spLocks noChangeArrowheads="1"/>
            </p:cNvSpPr>
            <p:nvPr/>
          </p:nvSpPr>
          <p:spPr bwMode="auto">
            <a:xfrm>
              <a:off x="1042" y="412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5</a:t>
              </a:r>
              <a:endParaRPr lang="zh-CN" altLang="zh-CN" b="1"/>
            </a:p>
          </p:txBody>
        </p:sp>
        <p:sp>
          <p:nvSpPr>
            <p:cNvPr id="24681" name="Text Box 47"/>
            <p:cNvSpPr txBox="1">
              <a:spLocks noChangeArrowheads="1"/>
            </p:cNvSpPr>
            <p:nvPr/>
          </p:nvSpPr>
          <p:spPr bwMode="auto">
            <a:xfrm>
              <a:off x="18" y="107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b</a:t>
              </a:r>
            </a:p>
          </p:txBody>
        </p:sp>
        <p:sp>
          <p:nvSpPr>
            <p:cNvPr id="24682" name="Line 48"/>
            <p:cNvSpPr>
              <a:spLocks noChangeShapeType="1"/>
            </p:cNvSpPr>
            <p:nvPr/>
          </p:nvSpPr>
          <p:spPr bwMode="auto">
            <a:xfrm>
              <a:off x="271" y="192"/>
              <a:ext cx="91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83" name="Line 49"/>
            <p:cNvSpPr>
              <a:spLocks noChangeShapeType="1"/>
            </p:cNvSpPr>
            <p:nvPr/>
          </p:nvSpPr>
          <p:spPr bwMode="auto">
            <a:xfrm>
              <a:off x="255" y="1224"/>
              <a:ext cx="91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5650" name="Group 50"/>
          <p:cNvGrpSpPr>
            <a:grpSpLocks/>
          </p:cNvGrpSpPr>
          <p:nvPr/>
        </p:nvGrpSpPr>
        <p:grpSpPr bwMode="auto">
          <a:xfrm>
            <a:off x="5257800" y="3175000"/>
            <a:ext cx="3227388" cy="2108200"/>
            <a:chOff x="0" y="0"/>
            <a:chExt cx="2033" cy="1328"/>
          </a:xfrm>
        </p:grpSpPr>
        <p:sp>
          <p:nvSpPr>
            <p:cNvPr id="24624" name="Rectangle 51"/>
            <p:cNvSpPr>
              <a:spLocks noChangeArrowheads="1"/>
            </p:cNvSpPr>
            <p:nvPr/>
          </p:nvSpPr>
          <p:spPr bwMode="auto">
            <a:xfrm rot="-7903512">
              <a:off x="940" y="272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4625" name="Rectangle 52"/>
            <p:cNvSpPr>
              <a:spLocks noChangeArrowheads="1"/>
            </p:cNvSpPr>
            <p:nvPr/>
          </p:nvSpPr>
          <p:spPr bwMode="auto">
            <a:xfrm rot="-2919155">
              <a:off x="1462" y="278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4626" name="Rectangle 53"/>
            <p:cNvSpPr>
              <a:spLocks noChangeArrowheads="1"/>
            </p:cNvSpPr>
            <p:nvPr/>
          </p:nvSpPr>
          <p:spPr bwMode="auto">
            <a:xfrm rot="-2874968">
              <a:off x="907" y="848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4627" name="Rectangle 54"/>
            <p:cNvSpPr>
              <a:spLocks noChangeArrowheads="1"/>
            </p:cNvSpPr>
            <p:nvPr/>
          </p:nvSpPr>
          <p:spPr bwMode="auto">
            <a:xfrm rot="-7972038">
              <a:off x="1516" y="803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4628" name="Freeform 55"/>
            <p:cNvSpPr>
              <a:spLocks/>
            </p:cNvSpPr>
            <p:nvPr/>
          </p:nvSpPr>
          <p:spPr bwMode="auto">
            <a:xfrm>
              <a:off x="1073" y="164"/>
              <a:ext cx="176" cy="160"/>
            </a:xfrm>
            <a:custGeom>
              <a:avLst/>
              <a:gdLst>
                <a:gd name="T0" fmla="*/ 0 w 176"/>
                <a:gd name="T1" fmla="*/ 160 h 160"/>
                <a:gd name="T2" fmla="*/ 176 w 176"/>
                <a:gd name="T3" fmla="*/ 0 h 16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6" h="160">
                  <a:moveTo>
                    <a:pt x="0" y="160"/>
                  </a:moveTo>
                  <a:lnTo>
                    <a:pt x="176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29" name="Freeform 56"/>
            <p:cNvSpPr>
              <a:spLocks/>
            </p:cNvSpPr>
            <p:nvPr/>
          </p:nvSpPr>
          <p:spPr bwMode="auto">
            <a:xfrm>
              <a:off x="1243" y="170"/>
              <a:ext cx="168" cy="141"/>
            </a:xfrm>
            <a:custGeom>
              <a:avLst/>
              <a:gdLst>
                <a:gd name="T0" fmla="*/ 168 w 168"/>
                <a:gd name="T1" fmla="*/ 141 h 141"/>
                <a:gd name="T2" fmla="*/ 0 w 168"/>
                <a:gd name="T3" fmla="*/ 0 h 14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68" h="141">
                  <a:moveTo>
                    <a:pt x="168" y="141"/>
                  </a:moveTo>
                  <a:lnTo>
                    <a:pt x="0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30" name="Freeform 57"/>
            <p:cNvSpPr>
              <a:spLocks/>
            </p:cNvSpPr>
            <p:nvPr/>
          </p:nvSpPr>
          <p:spPr bwMode="auto">
            <a:xfrm>
              <a:off x="665" y="476"/>
              <a:ext cx="233" cy="223"/>
            </a:xfrm>
            <a:custGeom>
              <a:avLst/>
              <a:gdLst>
                <a:gd name="T0" fmla="*/ 233 w 233"/>
                <a:gd name="T1" fmla="*/ 0 h 223"/>
                <a:gd name="T2" fmla="*/ 0 w 233"/>
                <a:gd name="T3" fmla="*/ 223 h 22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33" h="223">
                  <a:moveTo>
                    <a:pt x="233" y="0"/>
                  </a:moveTo>
                  <a:lnTo>
                    <a:pt x="0" y="223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31" name="Freeform 58"/>
            <p:cNvSpPr>
              <a:spLocks/>
            </p:cNvSpPr>
            <p:nvPr/>
          </p:nvSpPr>
          <p:spPr bwMode="auto">
            <a:xfrm>
              <a:off x="1597" y="479"/>
              <a:ext cx="225" cy="216"/>
            </a:xfrm>
            <a:custGeom>
              <a:avLst/>
              <a:gdLst>
                <a:gd name="T0" fmla="*/ 0 w 225"/>
                <a:gd name="T1" fmla="*/ 0 h 216"/>
                <a:gd name="T2" fmla="*/ 225 w 225"/>
                <a:gd name="T3" fmla="*/ 216 h 21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25" h="216">
                  <a:moveTo>
                    <a:pt x="0" y="0"/>
                  </a:moveTo>
                  <a:lnTo>
                    <a:pt x="225" y="216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32" name="Freeform 59"/>
            <p:cNvSpPr>
              <a:spLocks/>
            </p:cNvSpPr>
            <p:nvPr/>
          </p:nvSpPr>
          <p:spPr bwMode="auto">
            <a:xfrm>
              <a:off x="683" y="699"/>
              <a:ext cx="183" cy="201"/>
            </a:xfrm>
            <a:custGeom>
              <a:avLst/>
              <a:gdLst>
                <a:gd name="T0" fmla="*/ 0 w 183"/>
                <a:gd name="T1" fmla="*/ 0 h 201"/>
                <a:gd name="T2" fmla="*/ 183 w 183"/>
                <a:gd name="T3" fmla="*/ 201 h 20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83" h="201">
                  <a:moveTo>
                    <a:pt x="0" y="0"/>
                  </a:moveTo>
                  <a:lnTo>
                    <a:pt x="183" y="201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33" name="Freeform 60"/>
            <p:cNvSpPr>
              <a:spLocks/>
            </p:cNvSpPr>
            <p:nvPr/>
          </p:nvSpPr>
          <p:spPr bwMode="auto">
            <a:xfrm>
              <a:off x="1030" y="1046"/>
              <a:ext cx="211" cy="183"/>
            </a:xfrm>
            <a:custGeom>
              <a:avLst/>
              <a:gdLst>
                <a:gd name="T0" fmla="*/ 0 w 211"/>
                <a:gd name="T1" fmla="*/ 0 h 183"/>
                <a:gd name="T2" fmla="*/ 211 w 211"/>
                <a:gd name="T3" fmla="*/ 183 h 18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11" h="183">
                  <a:moveTo>
                    <a:pt x="0" y="0"/>
                  </a:moveTo>
                  <a:lnTo>
                    <a:pt x="211" y="183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34" name="Freeform 61"/>
            <p:cNvSpPr>
              <a:spLocks/>
            </p:cNvSpPr>
            <p:nvPr/>
          </p:nvSpPr>
          <p:spPr bwMode="auto">
            <a:xfrm>
              <a:off x="1243" y="998"/>
              <a:ext cx="243" cy="222"/>
            </a:xfrm>
            <a:custGeom>
              <a:avLst/>
              <a:gdLst>
                <a:gd name="T0" fmla="*/ 0 w 243"/>
                <a:gd name="T1" fmla="*/ 222 h 222"/>
                <a:gd name="T2" fmla="*/ 243 w 243"/>
                <a:gd name="T3" fmla="*/ 0 h 22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43" h="222">
                  <a:moveTo>
                    <a:pt x="0" y="222"/>
                  </a:moveTo>
                  <a:lnTo>
                    <a:pt x="243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35" name="Freeform 62"/>
            <p:cNvSpPr>
              <a:spLocks/>
            </p:cNvSpPr>
            <p:nvPr/>
          </p:nvSpPr>
          <p:spPr bwMode="auto">
            <a:xfrm>
              <a:off x="1661" y="692"/>
              <a:ext cx="158" cy="153"/>
            </a:xfrm>
            <a:custGeom>
              <a:avLst/>
              <a:gdLst>
                <a:gd name="T0" fmla="*/ 0 w 158"/>
                <a:gd name="T1" fmla="*/ 153 h 153"/>
                <a:gd name="T2" fmla="*/ 158 w 158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58" h="153">
                  <a:moveTo>
                    <a:pt x="0" y="153"/>
                  </a:moveTo>
                  <a:lnTo>
                    <a:pt x="158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36" name="Oval 63"/>
            <p:cNvSpPr>
              <a:spLocks noChangeAspect="1" noChangeArrowheads="1"/>
            </p:cNvSpPr>
            <p:nvPr/>
          </p:nvSpPr>
          <p:spPr bwMode="auto">
            <a:xfrm>
              <a:off x="1204" y="152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4637" name="Oval 64"/>
            <p:cNvSpPr>
              <a:spLocks noChangeAspect="1" noChangeArrowheads="1"/>
            </p:cNvSpPr>
            <p:nvPr/>
          </p:nvSpPr>
          <p:spPr bwMode="auto">
            <a:xfrm>
              <a:off x="1195" y="1181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4638" name="Oval 65"/>
            <p:cNvSpPr>
              <a:spLocks noChangeAspect="1" noChangeArrowheads="1"/>
            </p:cNvSpPr>
            <p:nvPr/>
          </p:nvSpPr>
          <p:spPr bwMode="auto">
            <a:xfrm>
              <a:off x="658" y="644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4639" name="Oval 66"/>
            <p:cNvSpPr>
              <a:spLocks noChangeAspect="1" noChangeArrowheads="1"/>
            </p:cNvSpPr>
            <p:nvPr/>
          </p:nvSpPr>
          <p:spPr bwMode="auto">
            <a:xfrm>
              <a:off x="1777" y="644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4640" name="Oval 67"/>
            <p:cNvSpPr>
              <a:spLocks noChangeAspect="1" noChangeArrowheads="1"/>
            </p:cNvSpPr>
            <p:nvPr/>
          </p:nvSpPr>
          <p:spPr bwMode="auto">
            <a:xfrm>
              <a:off x="203" y="148"/>
              <a:ext cx="68" cy="6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4641" name="Oval 68"/>
            <p:cNvSpPr>
              <a:spLocks noChangeAspect="1" noChangeArrowheads="1"/>
            </p:cNvSpPr>
            <p:nvPr/>
          </p:nvSpPr>
          <p:spPr bwMode="auto">
            <a:xfrm>
              <a:off x="188" y="1182"/>
              <a:ext cx="68" cy="6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4642" name="Text Box 69"/>
            <p:cNvSpPr txBox="1">
              <a:spLocks noChangeArrowheads="1"/>
            </p:cNvSpPr>
            <p:nvPr/>
          </p:nvSpPr>
          <p:spPr bwMode="auto">
            <a:xfrm>
              <a:off x="8" y="0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a</a:t>
              </a:r>
            </a:p>
          </p:txBody>
        </p:sp>
        <p:sp>
          <p:nvSpPr>
            <p:cNvPr id="24643" name="Text Box 70"/>
            <p:cNvSpPr txBox="1">
              <a:spLocks noChangeArrowheads="1"/>
            </p:cNvSpPr>
            <p:nvPr/>
          </p:nvSpPr>
          <p:spPr bwMode="auto">
            <a:xfrm>
              <a:off x="477" y="517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c</a:t>
              </a:r>
            </a:p>
          </p:txBody>
        </p:sp>
        <p:sp>
          <p:nvSpPr>
            <p:cNvPr id="24644" name="Text Box 71"/>
            <p:cNvSpPr txBox="1">
              <a:spLocks noChangeArrowheads="1"/>
            </p:cNvSpPr>
            <p:nvPr/>
          </p:nvSpPr>
          <p:spPr bwMode="auto">
            <a:xfrm>
              <a:off x="1821" y="52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d</a:t>
              </a:r>
            </a:p>
          </p:txBody>
        </p:sp>
        <p:sp>
          <p:nvSpPr>
            <p:cNvPr id="24645" name="Text Box 72"/>
            <p:cNvSpPr txBox="1">
              <a:spLocks noChangeArrowheads="1"/>
            </p:cNvSpPr>
            <p:nvPr/>
          </p:nvSpPr>
          <p:spPr bwMode="auto">
            <a:xfrm>
              <a:off x="619" y="195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1</a:t>
              </a:r>
              <a:endParaRPr lang="zh-CN" altLang="zh-CN" b="1"/>
            </a:p>
          </p:txBody>
        </p:sp>
        <p:sp>
          <p:nvSpPr>
            <p:cNvPr id="24646" name="Text Box 73"/>
            <p:cNvSpPr txBox="1">
              <a:spLocks noChangeArrowheads="1"/>
            </p:cNvSpPr>
            <p:nvPr/>
          </p:nvSpPr>
          <p:spPr bwMode="auto">
            <a:xfrm>
              <a:off x="619" y="884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4</a:t>
              </a:r>
              <a:endParaRPr lang="zh-CN" altLang="zh-CN" b="1"/>
            </a:p>
          </p:txBody>
        </p:sp>
        <p:sp>
          <p:nvSpPr>
            <p:cNvPr id="24647" name="Text Box 74"/>
            <p:cNvSpPr txBox="1">
              <a:spLocks noChangeArrowheads="1"/>
            </p:cNvSpPr>
            <p:nvPr/>
          </p:nvSpPr>
          <p:spPr bwMode="auto">
            <a:xfrm>
              <a:off x="1555" y="920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3</a:t>
              </a:r>
              <a:endParaRPr lang="zh-CN" altLang="zh-CN" b="1"/>
            </a:p>
          </p:txBody>
        </p:sp>
        <p:sp>
          <p:nvSpPr>
            <p:cNvPr id="24648" name="Text Box 75"/>
            <p:cNvSpPr txBox="1">
              <a:spLocks noChangeArrowheads="1"/>
            </p:cNvSpPr>
            <p:nvPr/>
          </p:nvSpPr>
          <p:spPr bwMode="auto">
            <a:xfrm>
              <a:off x="1531" y="164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2</a:t>
              </a:r>
              <a:endParaRPr lang="zh-CN" altLang="zh-CN" b="1"/>
            </a:p>
          </p:txBody>
        </p:sp>
        <p:sp>
          <p:nvSpPr>
            <p:cNvPr id="24649" name="Text Box 76"/>
            <p:cNvSpPr txBox="1">
              <a:spLocks noChangeArrowheads="1"/>
            </p:cNvSpPr>
            <p:nvPr/>
          </p:nvSpPr>
          <p:spPr bwMode="auto">
            <a:xfrm>
              <a:off x="0" y="1040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b</a:t>
              </a:r>
            </a:p>
          </p:txBody>
        </p:sp>
        <p:sp>
          <p:nvSpPr>
            <p:cNvPr id="24650" name="Line 77"/>
            <p:cNvSpPr>
              <a:spLocks noChangeShapeType="1"/>
            </p:cNvSpPr>
            <p:nvPr/>
          </p:nvSpPr>
          <p:spPr bwMode="auto">
            <a:xfrm>
              <a:off x="280" y="184"/>
              <a:ext cx="96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51" name="Line 78"/>
            <p:cNvSpPr>
              <a:spLocks noChangeShapeType="1"/>
            </p:cNvSpPr>
            <p:nvPr/>
          </p:nvSpPr>
          <p:spPr bwMode="auto">
            <a:xfrm>
              <a:off x="264" y="1216"/>
              <a:ext cx="96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5679" name="Group 79"/>
          <p:cNvGrpSpPr>
            <a:grpSpLocks/>
          </p:cNvGrpSpPr>
          <p:nvPr/>
        </p:nvGrpSpPr>
        <p:grpSpPr bwMode="auto">
          <a:xfrm>
            <a:off x="1435100" y="3124200"/>
            <a:ext cx="3216275" cy="2133600"/>
            <a:chOff x="0" y="0"/>
            <a:chExt cx="2026" cy="1344"/>
          </a:xfrm>
        </p:grpSpPr>
        <p:sp>
          <p:nvSpPr>
            <p:cNvPr id="24595" name="Rectangle 80"/>
            <p:cNvSpPr>
              <a:spLocks noChangeArrowheads="1"/>
            </p:cNvSpPr>
            <p:nvPr/>
          </p:nvSpPr>
          <p:spPr bwMode="auto">
            <a:xfrm rot="-7903512">
              <a:off x="933" y="280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4596" name="Rectangle 81"/>
            <p:cNvSpPr>
              <a:spLocks noChangeArrowheads="1"/>
            </p:cNvSpPr>
            <p:nvPr/>
          </p:nvSpPr>
          <p:spPr bwMode="auto">
            <a:xfrm rot="-2919155">
              <a:off x="1455" y="286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4597" name="Rectangle 82"/>
            <p:cNvSpPr>
              <a:spLocks noChangeArrowheads="1"/>
            </p:cNvSpPr>
            <p:nvPr/>
          </p:nvSpPr>
          <p:spPr bwMode="auto">
            <a:xfrm rot="-2874968">
              <a:off x="900" y="856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4598" name="Rectangle 83"/>
            <p:cNvSpPr>
              <a:spLocks noChangeArrowheads="1"/>
            </p:cNvSpPr>
            <p:nvPr/>
          </p:nvSpPr>
          <p:spPr bwMode="auto">
            <a:xfrm rot="-7972038">
              <a:off x="1509" y="811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4599" name="Freeform 84"/>
            <p:cNvSpPr>
              <a:spLocks/>
            </p:cNvSpPr>
            <p:nvPr/>
          </p:nvSpPr>
          <p:spPr bwMode="auto">
            <a:xfrm>
              <a:off x="1066" y="172"/>
              <a:ext cx="176" cy="160"/>
            </a:xfrm>
            <a:custGeom>
              <a:avLst/>
              <a:gdLst>
                <a:gd name="T0" fmla="*/ 0 w 176"/>
                <a:gd name="T1" fmla="*/ 160 h 160"/>
                <a:gd name="T2" fmla="*/ 176 w 176"/>
                <a:gd name="T3" fmla="*/ 0 h 16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6" h="160">
                  <a:moveTo>
                    <a:pt x="0" y="160"/>
                  </a:moveTo>
                  <a:lnTo>
                    <a:pt x="176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00" name="Freeform 85"/>
            <p:cNvSpPr>
              <a:spLocks/>
            </p:cNvSpPr>
            <p:nvPr/>
          </p:nvSpPr>
          <p:spPr bwMode="auto">
            <a:xfrm>
              <a:off x="1236" y="178"/>
              <a:ext cx="168" cy="141"/>
            </a:xfrm>
            <a:custGeom>
              <a:avLst/>
              <a:gdLst>
                <a:gd name="T0" fmla="*/ 168 w 168"/>
                <a:gd name="T1" fmla="*/ 141 h 141"/>
                <a:gd name="T2" fmla="*/ 0 w 168"/>
                <a:gd name="T3" fmla="*/ 0 h 14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68" h="141">
                  <a:moveTo>
                    <a:pt x="168" y="141"/>
                  </a:moveTo>
                  <a:lnTo>
                    <a:pt x="0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01" name="Freeform 86"/>
            <p:cNvSpPr>
              <a:spLocks/>
            </p:cNvSpPr>
            <p:nvPr/>
          </p:nvSpPr>
          <p:spPr bwMode="auto">
            <a:xfrm>
              <a:off x="658" y="484"/>
              <a:ext cx="233" cy="223"/>
            </a:xfrm>
            <a:custGeom>
              <a:avLst/>
              <a:gdLst>
                <a:gd name="T0" fmla="*/ 233 w 233"/>
                <a:gd name="T1" fmla="*/ 0 h 223"/>
                <a:gd name="T2" fmla="*/ 0 w 233"/>
                <a:gd name="T3" fmla="*/ 223 h 22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33" h="223">
                  <a:moveTo>
                    <a:pt x="233" y="0"/>
                  </a:moveTo>
                  <a:lnTo>
                    <a:pt x="0" y="223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02" name="Freeform 87"/>
            <p:cNvSpPr>
              <a:spLocks/>
            </p:cNvSpPr>
            <p:nvPr/>
          </p:nvSpPr>
          <p:spPr bwMode="auto">
            <a:xfrm>
              <a:off x="1590" y="487"/>
              <a:ext cx="225" cy="216"/>
            </a:xfrm>
            <a:custGeom>
              <a:avLst/>
              <a:gdLst>
                <a:gd name="T0" fmla="*/ 0 w 225"/>
                <a:gd name="T1" fmla="*/ 0 h 216"/>
                <a:gd name="T2" fmla="*/ 225 w 225"/>
                <a:gd name="T3" fmla="*/ 216 h 21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25" h="216">
                  <a:moveTo>
                    <a:pt x="0" y="0"/>
                  </a:moveTo>
                  <a:lnTo>
                    <a:pt x="225" y="216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03" name="Freeform 88"/>
            <p:cNvSpPr>
              <a:spLocks/>
            </p:cNvSpPr>
            <p:nvPr/>
          </p:nvSpPr>
          <p:spPr bwMode="auto">
            <a:xfrm>
              <a:off x="676" y="707"/>
              <a:ext cx="183" cy="201"/>
            </a:xfrm>
            <a:custGeom>
              <a:avLst/>
              <a:gdLst>
                <a:gd name="T0" fmla="*/ 0 w 183"/>
                <a:gd name="T1" fmla="*/ 0 h 201"/>
                <a:gd name="T2" fmla="*/ 183 w 183"/>
                <a:gd name="T3" fmla="*/ 201 h 20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83" h="201">
                  <a:moveTo>
                    <a:pt x="0" y="0"/>
                  </a:moveTo>
                  <a:lnTo>
                    <a:pt x="183" y="201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04" name="Freeform 89"/>
            <p:cNvSpPr>
              <a:spLocks/>
            </p:cNvSpPr>
            <p:nvPr/>
          </p:nvSpPr>
          <p:spPr bwMode="auto">
            <a:xfrm>
              <a:off x="1023" y="1054"/>
              <a:ext cx="211" cy="183"/>
            </a:xfrm>
            <a:custGeom>
              <a:avLst/>
              <a:gdLst>
                <a:gd name="T0" fmla="*/ 0 w 211"/>
                <a:gd name="T1" fmla="*/ 0 h 183"/>
                <a:gd name="T2" fmla="*/ 211 w 211"/>
                <a:gd name="T3" fmla="*/ 183 h 18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11" h="183">
                  <a:moveTo>
                    <a:pt x="0" y="0"/>
                  </a:moveTo>
                  <a:lnTo>
                    <a:pt x="211" y="183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05" name="Freeform 90"/>
            <p:cNvSpPr>
              <a:spLocks/>
            </p:cNvSpPr>
            <p:nvPr/>
          </p:nvSpPr>
          <p:spPr bwMode="auto">
            <a:xfrm>
              <a:off x="1236" y="1006"/>
              <a:ext cx="243" cy="222"/>
            </a:xfrm>
            <a:custGeom>
              <a:avLst/>
              <a:gdLst>
                <a:gd name="T0" fmla="*/ 0 w 243"/>
                <a:gd name="T1" fmla="*/ 222 h 222"/>
                <a:gd name="T2" fmla="*/ 243 w 243"/>
                <a:gd name="T3" fmla="*/ 0 h 22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43" h="222">
                  <a:moveTo>
                    <a:pt x="0" y="222"/>
                  </a:moveTo>
                  <a:lnTo>
                    <a:pt x="243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06" name="Freeform 91"/>
            <p:cNvSpPr>
              <a:spLocks/>
            </p:cNvSpPr>
            <p:nvPr/>
          </p:nvSpPr>
          <p:spPr bwMode="auto">
            <a:xfrm>
              <a:off x="1654" y="700"/>
              <a:ext cx="158" cy="153"/>
            </a:xfrm>
            <a:custGeom>
              <a:avLst/>
              <a:gdLst>
                <a:gd name="T0" fmla="*/ 0 w 158"/>
                <a:gd name="T1" fmla="*/ 153 h 153"/>
                <a:gd name="T2" fmla="*/ 158 w 158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58" h="153">
                  <a:moveTo>
                    <a:pt x="0" y="153"/>
                  </a:moveTo>
                  <a:lnTo>
                    <a:pt x="158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07" name="Oval 92"/>
            <p:cNvSpPr>
              <a:spLocks noChangeAspect="1" noChangeArrowheads="1"/>
            </p:cNvSpPr>
            <p:nvPr/>
          </p:nvSpPr>
          <p:spPr bwMode="auto">
            <a:xfrm>
              <a:off x="1197" y="160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4608" name="Oval 93"/>
            <p:cNvSpPr>
              <a:spLocks noChangeAspect="1" noChangeArrowheads="1"/>
            </p:cNvSpPr>
            <p:nvPr/>
          </p:nvSpPr>
          <p:spPr bwMode="auto">
            <a:xfrm>
              <a:off x="1188" y="1189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4609" name="Oval 94"/>
            <p:cNvSpPr>
              <a:spLocks noChangeAspect="1" noChangeArrowheads="1"/>
            </p:cNvSpPr>
            <p:nvPr/>
          </p:nvSpPr>
          <p:spPr bwMode="auto">
            <a:xfrm>
              <a:off x="651" y="652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4610" name="Oval 95"/>
            <p:cNvSpPr>
              <a:spLocks noChangeAspect="1" noChangeArrowheads="1"/>
            </p:cNvSpPr>
            <p:nvPr/>
          </p:nvSpPr>
          <p:spPr bwMode="auto">
            <a:xfrm>
              <a:off x="1770" y="652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4611" name="Oval 96"/>
            <p:cNvSpPr>
              <a:spLocks noChangeAspect="1" noChangeArrowheads="1"/>
            </p:cNvSpPr>
            <p:nvPr/>
          </p:nvSpPr>
          <p:spPr bwMode="auto">
            <a:xfrm>
              <a:off x="195" y="148"/>
              <a:ext cx="68" cy="6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4612" name="Oval 97"/>
            <p:cNvSpPr>
              <a:spLocks noChangeAspect="1" noChangeArrowheads="1"/>
            </p:cNvSpPr>
            <p:nvPr/>
          </p:nvSpPr>
          <p:spPr bwMode="auto">
            <a:xfrm>
              <a:off x="185" y="1174"/>
              <a:ext cx="68" cy="6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4613" name="Text Box 98"/>
            <p:cNvSpPr txBox="1">
              <a:spLocks noChangeArrowheads="1"/>
            </p:cNvSpPr>
            <p:nvPr/>
          </p:nvSpPr>
          <p:spPr bwMode="auto">
            <a:xfrm>
              <a:off x="0" y="0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a</a:t>
              </a:r>
            </a:p>
          </p:txBody>
        </p:sp>
        <p:sp>
          <p:nvSpPr>
            <p:cNvPr id="24614" name="Text Box 99"/>
            <p:cNvSpPr txBox="1">
              <a:spLocks noChangeArrowheads="1"/>
            </p:cNvSpPr>
            <p:nvPr/>
          </p:nvSpPr>
          <p:spPr bwMode="auto">
            <a:xfrm>
              <a:off x="470" y="525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c</a:t>
              </a:r>
            </a:p>
          </p:txBody>
        </p:sp>
        <p:sp>
          <p:nvSpPr>
            <p:cNvPr id="24615" name="Text Box 100"/>
            <p:cNvSpPr txBox="1">
              <a:spLocks noChangeArrowheads="1"/>
            </p:cNvSpPr>
            <p:nvPr/>
          </p:nvSpPr>
          <p:spPr bwMode="auto">
            <a:xfrm>
              <a:off x="1814" y="53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d</a:t>
              </a:r>
            </a:p>
          </p:txBody>
        </p:sp>
        <p:sp>
          <p:nvSpPr>
            <p:cNvPr id="24616" name="Text Box 101"/>
            <p:cNvSpPr txBox="1">
              <a:spLocks noChangeArrowheads="1"/>
            </p:cNvSpPr>
            <p:nvPr/>
          </p:nvSpPr>
          <p:spPr bwMode="auto">
            <a:xfrm>
              <a:off x="612" y="203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1</a:t>
              </a:r>
              <a:endParaRPr lang="zh-CN" altLang="zh-CN" b="1"/>
            </a:p>
          </p:txBody>
        </p:sp>
        <p:sp>
          <p:nvSpPr>
            <p:cNvPr id="24617" name="Text Box 102"/>
            <p:cNvSpPr txBox="1">
              <a:spLocks noChangeArrowheads="1"/>
            </p:cNvSpPr>
            <p:nvPr/>
          </p:nvSpPr>
          <p:spPr bwMode="auto">
            <a:xfrm>
              <a:off x="612" y="892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4</a:t>
              </a:r>
              <a:endParaRPr lang="zh-CN" altLang="zh-CN" b="1"/>
            </a:p>
          </p:txBody>
        </p:sp>
        <p:sp>
          <p:nvSpPr>
            <p:cNvPr id="24618" name="Text Box 103"/>
            <p:cNvSpPr txBox="1">
              <a:spLocks noChangeArrowheads="1"/>
            </p:cNvSpPr>
            <p:nvPr/>
          </p:nvSpPr>
          <p:spPr bwMode="auto">
            <a:xfrm>
              <a:off x="1548" y="928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3</a:t>
              </a:r>
              <a:endParaRPr lang="zh-CN" altLang="zh-CN" b="1"/>
            </a:p>
          </p:txBody>
        </p:sp>
        <p:sp>
          <p:nvSpPr>
            <p:cNvPr id="24619" name="Text Box 104"/>
            <p:cNvSpPr txBox="1">
              <a:spLocks noChangeArrowheads="1"/>
            </p:cNvSpPr>
            <p:nvPr/>
          </p:nvSpPr>
          <p:spPr bwMode="auto">
            <a:xfrm>
              <a:off x="1524" y="172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2</a:t>
              </a:r>
              <a:endParaRPr lang="zh-CN" altLang="zh-CN" b="1"/>
            </a:p>
          </p:txBody>
        </p:sp>
        <p:sp>
          <p:nvSpPr>
            <p:cNvPr id="24620" name="Text Box 105"/>
            <p:cNvSpPr txBox="1">
              <a:spLocks noChangeArrowheads="1"/>
            </p:cNvSpPr>
            <p:nvPr/>
          </p:nvSpPr>
          <p:spPr bwMode="auto">
            <a:xfrm>
              <a:off x="8" y="105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b</a:t>
              </a:r>
            </a:p>
          </p:txBody>
        </p:sp>
        <p:sp>
          <p:nvSpPr>
            <p:cNvPr id="24621" name="Line 106"/>
            <p:cNvSpPr>
              <a:spLocks noChangeShapeType="1"/>
            </p:cNvSpPr>
            <p:nvPr/>
          </p:nvSpPr>
          <p:spPr bwMode="auto">
            <a:xfrm>
              <a:off x="657" y="696"/>
              <a:ext cx="115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22" name="Line 107"/>
            <p:cNvSpPr>
              <a:spLocks noChangeShapeType="1"/>
            </p:cNvSpPr>
            <p:nvPr/>
          </p:nvSpPr>
          <p:spPr bwMode="auto">
            <a:xfrm>
              <a:off x="272" y="192"/>
              <a:ext cx="96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23" name="Line 108"/>
            <p:cNvSpPr>
              <a:spLocks noChangeShapeType="1"/>
            </p:cNvSpPr>
            <p:nvPr/>
          </p:nvSpPr>
          <p:spPr bwMode="auto">
            <a:xfrm>
              <a:off x="264" y="1224"/>
              <a:ext cx="96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5709" name="Group 109"/>
          <p:cNvGrpSpPr>
            <a:grpSpLocks/>
          </p:cNvGrpSpPr>
          <p:nvPr/>
        </p:nvGrpSpPr>
        <p:grpSpPr bwMode="auto">
          <a:xfrm>
            <a:off x="2514600" y="2006600"/>
            <a:ext cx="3581400" cy="457200"/>
            <a:chOff x="0" y="0"/>
            <a:chExt cx="2256" cy="288"/>
          </a:xfrm>
        </p:grpSpPr>
        <p:sp>
          <p:nvSpPr>
            <p:cNvPr id="24593" name="Text Box 110"/>
            <p:cNvSpPr txBox="1">
              <a:spLocks noChangeArrowheads="1"/>
            </p:cNvSpPr>
            <p:nvPr/>
          </p:nvSpPr>
          <p:spPr bwMode="auto">
            <a:xfrm>
              <a:off x="192" y="0"/>
              <a:ext cx="206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 b="1" dirty="0">
                  <a:solidFill>
                    <a:srgbClr val="FF3300"/>
                  </a:solidFill>
                </a:rPr>
                <a:t>u</a:t>
              </a:r>
              <a:r>
                <a:rPr lang="zh-CN" altLang="zh-CN" sz="2400" b="1" baseline="-25000" dirty="0">
                  <a:solidFill>
                    <a:srgbClr val="FF3300"/>
                  </a:solidFill>
                </a:rPr>
                <a:t>cd</a:t>
              </a:r>
              <a:r>
                <a:rPr lang="zh-CN" altLang="zh-CN" sz="2400" b="1" dirty="0">
                  <a:solidFill>
                    <a:srgbClr val="FF3300"/>
                  </a:solidFill>
                </a:rPr>
                <a:t>=0，i</a:t>
              </a:r>
              <a:r>
                <a:rPr lang="zh-CN" altLang="zh-CN" sz="2400" b="1" baseline="-25000" dirty="0">
                  <a:solidFill>
                    <a:srgbClr val="FF3300"/>
                  </a:solidFill>
                </a:rPr>
                <a:t>cd</a:t>
              </a:r>
              <a:r>
                <a:rPr lang="zh-CN" altLang="zh-CN" sz="2400" b="1" dirty="0">
                  <a:solidFill>
                    <a:srgbClr val="FF3300"/>
                  </a:solidFill>
                </a:rPr>
                <a:t>= u</a:t>
              </a:r>
              <a:r>
                <a:rPr lang="zh-CN" altLang="zh-CN" sz="2400" b="1" baseline="-25000" dirty="0">
                  <a:solidFill>
                    <a:srgbClr val="FF3300"/>
                  </a:solidFill>
                </a:rPr>
                <a:t>cd</a:t>
              </a:r>
              <a:r>
                <a:rPr lang="zh-CN" altLang="zh-CN" sz="2400" b="1" dirty="0">
                  <a:solidFill>
                    <a:srgbClr val="FF3300"/>
                  </a:solidFill>
                </a:rPr>
                <a:t>/R</a:t>
              </a:r>
              <a:r>
                <a:rPr lang="zh-CN" altLang="zh-CN" sz="2400" b="1" baseline="-25000" dirty="0">
                  <a:solidFill>
                    <a:srgbClr val="FF3300"/>
                  </a:solidFill>
                </a:rPr>
                <a:t>5</a:t>
              </a:r>
              <a:r>
                <a:rPr lang="zh-CN" altLang="zh-CN" sz="2400" b="1" dirty="0">
                  <a:solidFill>
                    <a:srgbClr val="FF3300"/>
                  </a:solidFill>
                </a:rPr>
                <a:t>=0</a:t>
              </a:r>
              <a:endParaRPr lang="zh-CN" altLang="zh-CN" sz="2400" b="1" baseline="-25000" dirty="0">
                <a:solidFill>
                  <a:srgbClr val="FF3300"/>
                </a:solidFill>
              </a:endParaRPr>
            </a:p>
          </p:txBody>
        </p:sp>
        <p:sp>
          <p:nvSpPr>
            <p:cNvPr id="24594" name="Line 111"/>
            <p:cNvSpPr>
              <a:spLocks noChangeShapeType="1"/>
            </p:cNvSpPr>
            <p:nvPr/>
          </p:nvSpPr>
          <p:spPr bwMode="auto">
            <a:xfrm>
              <a:off x="0" y="176"/>
              <a:ext cx="1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12" name="Rectangle 7"/>
          <p:cNvSpPr>
            <a:spLocks noChangeArrowheads="1"/>
          </p:cNvSpPr>
          <p:nvPr/>
        </p:nvSpPr>
        <p:spPr bwMode="auto">
          <a:xfrm>
            <a:off x="395288" y="163513"/>
            <a:ext cx="845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3200" dirty="0">
                <a:solidFill>
                  <a:schemeClr val="tx2"/>
                </a:solidFill>
                <a:ea typeface="隶书" panose="02010509060101010101" pitchFamily="49" charset="-122"/>
              </a:rPr>
              <a:t>2.4 </a:t>
            </a:r>
            <a:r>
              <a:rPr lang="zh-CN" altLang="en-US" sz="3200" dirty="0">
                <a:solidFill>
                  <a:schemeClr val="tx2"/>
                </a:solidFill>
                <a:ea typeface="隶书" panose="02010509060101010101" pitchFamily="49" charset="-122"/>
              </a:rPr>
              <a:t>电桥</a:t>
            </a:r>
            <a:endParaRPr lang="en-US" altLang="zh-CN" sz="3200" dirty="0">
              <a:solidFill>
                <a:schemeClr val="tx2"/>
              </a:solidFill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8669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5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5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5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5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5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5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5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5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autoUpdateAnimBg="0"/>
      <p:bldP spid="25604" grpId="0" autoUpdateAnimBg="0"/>
      <p:bldP spid="25605" grpId="0" autoUpdateAnimBg="0"/>
      <p:bldP spid="25606" grpId="0" autoUpdateAnimBg="0"/>
      <p:bldP spid="25607" grpId="0" autoUpdateAnimBg="0"/>
      <p:bldP spid="25611" grpId="0" autoUpdateAnimBg="0"/>
      <p:bldP spid="25615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AFF1C3EB-C7DF-4B46-8B4D-DFA592AAA59B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1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1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7C2A317-C661-4A18-9E85-E60B95C74B12}" type="slidenum">
              <a:rPr lang="en-US" altLang="zh-CN"/>
              <a:pPr>
                <a:defRPr/>
              </a:pPr>
              <a:t>25</a:t>
            </a:fld>
            <a:endParaRPr lang="en-US" altLang="zh-CN"/>
          </a:p>
        </p:txBody>
      </p:sp>
      <p:graphicFrame>
        <p:nvGraphicFramePr>
          <p:cNvPr id="281602" name="Object 2"/>
          <p:cNvGraphicFramePr>
            <a:graphicFrameLocks noChangeAspect="1"/>
          </p:cNvGraphicFramePr>
          <p:nvPr/>
        </p:nvGraphicFramePr>
        <p:xfrm>
          <a:off x="5148263" y="4508500"/>
          <a:ext cx="3562350" cy="171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50" name="Visio" r:id="rId3" imgW="1811369" imgH="889397" progId="Visio.Drawing.11">
                  <p:embed/>
                </p:oleObj>
              </mc:Choice>
              <mc:Fallback>
                <p:oleObj name="Visio" r:id="rId3" imgW="1811369" imgH="889397" progId="Visio.Drawing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263" y="4508500"/>
                        <a:ext cx="3562350" cy="171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4" name="Rectangle 3"/>
          <p:cNvSpPr>
            <a:spLocks noChangeArrowheads="1"/>
          </p:cNvSpPr>
          <p:nvPr/>
        </p:nvSpPr>
        <p:spPr bwMode="auto">
          <a:xfrm>
            <a:off x="395288" y="625475"/>
            <a:ext cx="80645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CC3300"/>
                </a:solidFill>
                <a:ea typeface="隶书" panose="02010509060101010101" pitchFamily="49" charset="-122"/>
              </a:rPr>
              <a:t>例</a:t>
            </a:r>
            <a:r>
              <a:rPr lang="en-US" altLang="zh-CN" sz="2800">
                <a:solidFill>
                  <a:srgbClr val="CC3300"/>
                </a:solidFill>
                <a:ea typeface="隶书" panose="02010509060101010101" pitchFamily="49" charset="-122"/>
              </a:rPr>
              <a:t>2. The voltage source supplies 150W. Find the resistance R.</a:t>
            </a:r>
          </a:p>
        </p:txBody>
      </p:sp>
      <p:graphicFrame>
        <p:nvGraphicFramePr>
          <p:cNvPr id="281605" name="Object 5"/>
          <p:cNvGraphicFramePr>
            <a:graphicFrameLocks noChangeAspect="1"/>
          </p:cNvGraphicFramePr>
          <p:nvPr/>
        </p:nvGraphicFramePr>
        <p:xfrm>
          <a:off x="395288" y="1628775"/>
          <a:ext cx="3863975" cy="220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51" name="Visio" r:id="rId5" imgW="1956244" imgH="1116140" progId="Visio.Drawing.11">
                  <p:embed/>
                </p:oleObj>
              </mc:Choice>
              <mc:Fallback>
                <p:oleObj name="Visio" r:id="rId5" imgW="1956244" imgH="1116140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1628775"/>
                        <a:ext cx="3863975" cy="2205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1606" name="Object 6"/>
          <p:cNvGraphicFramePr>
            <a:graphicFrameLocks noChangeAspect="1"/>
          </p:cNvGraphicFramePr>
          <p:nvPr/>
        </p:nvGraphicFramePr>
        <p:xfrm>
          <a:off x="4787900" y="1628775"/>
          <a:ext cx="3863975" cy="220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52" name="Visio" r:id="rId7" imgW="1956244" imgH="1116140" progId="Visio.Drawing.11">
                  <p:embed/>
                </p:oleObj>
              </mc:Choice>
              <mc:Fallback>
                <p:oleObj name="Visio" r:id="rId7" imgW="1956244" imgH="1116140" progId="Visio.Drawing.11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7900" y="1628775"/>
                        <a:ext cx="3863975" cy="2205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1607" name="AutoShape 7"/>
          <p:cNvSpPr>
            <a:spLocks noChangeArrowheads="1"/>
          </p:cNvSpPr>
          <p:nvPr/>
        </p:nvSpPr>
        <p:spPr bwMode="auto">
          <a:xfrm>
            <a:off x="4284663" y="2852738"/>
            <a:ext cx="503237" cy="288925"/>
          </a:xfrm>
          <a:prstGeom prst="rightArrow">
            <a:avLst>
              <a:gd name="adj1" fmla="val 50000"/>
              <a:gd name="adj2" fmla="val 43544"/>
            </a:avLst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zh-CN" altLang="en-US" sz="180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281608" name="AutoShape 8"/>
          <p:cNvSpPr>
            <a:spLocks noChangeArrowheads="1"/>
          </p:cNvSpPr>
          <p:nvPr/>
        </p:nvSpPr>
        <p:spPr bwMode="auto">
          <a:xfrm rot="5400000">
            <a:off x="6912769" y="4112419"/>
            <a:ext cx="503237" cy="288925"/>
          </a:xfrm>
          <a:prstGeom prst="rightArrow">
            <a:avLst>
              <a:gd name="adj1" fmla="val 50000"/>
              <a:gd name="adj2" fmla="val 43544"/>
            </a:avLst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zh-CN" altLang="en-US" sz="180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graphicFrame>
        <p:nvGraphicFramePr>
          <p:cNvPr id="281609" name="Object 9"/>
          <p:cNvGraphicFramePr>
            <a:graphicFrameLocks noChangeAspect="1"/>
          </p:cNvGraphicFramePr>
          <p:nvPr/>
        </p:nvGraphicFramePr>
        <p:xfrm>
          <a:off x="1331913" y="4441825"/>
          <a:ext cx="9144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53" name="Equation" r:id="rId9" imgW="457002" imgH="177723" progId="Equation.DSMT4">
                  <p:embed/>
                </p:oleObj>
              </mc:Choice>
              <mc:Fallback>
                <p:oleObj name="Equation" r:id="rId9" imgW="457002" imgH="177723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4441825"/>
                        <a:ext cx="9144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9900">
                                <a:alpha val="50195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1610" name="Object 10"/>
          <p:cNvGraphicFramePr>
            <a:graphicFrameLocks noChangeAspect="1"/>
          </p:cNvGraphicFramePr>
          <p:nvPr/>
        </p:nvGraphicFramePr>
        <p:xfrm>
          <a:off x="1331913" y="4908550"/>
          <a:ext cx="1081087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54" name="Equation" r:id="rId11" imgW="533169" imgH="228501" progId="Equation.DSMT4">
                  <p:embed/>
                </p:oleObj>
              </mc:Choice>
              <mc:Fallback>
                <p:oleObj name="Equation" r:id="rId11" imgW="533169" imgH="228501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4908550"/>
                        <a:ext cx="1081087" cy="465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1611" name="Object 11"/>
          <p:cNvGraphicFramePr>
            <a:graphicFrameLocks noChangeAspect="1"/>
          </p:cNvGraphicFramePr>
          <p:nvPr/>
        </p:nvGraphicFramePr>
        <p:xfrm>
          <a:off x="1258888" y="5516563"/>
          <a:ext cx="1235075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55" name="Equation" r:id="rId13" imgW="609600" imgH="228600" progId="Equation.DSMT4">
                  <p:embed/>
                </p:oleObj>
              </mc:Choice>
              <mc:Fallback>
                <p:oleObj name="Equation" r:id="rId13" imgW="609600" imgH="2286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5516563"/>
                        <a:ext cx="1235075" cy="465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1612" name="Object 12"/>
          <p:cNvGraphicFramePr>
            <a:graphicFrameLocks noChangeAspect="1"/>
          </p:cNvGraphicFramePr>
          <p:nvPr/>
        </p:nvGraphicFramePr>
        <p:xfrm>
          <a:off x="1331913" y="6084888"/>
          <a:ext cx="100330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56" name="Equation" r:id="rId15" imgW="494870" imgH="164957" progId="Equation.DSMT4">
                  <p:embed/>
                </p:oleObj>
              </mc:Choice>
              <mc:Fallback>
                <p:oleObj name="Equation" r:id="rId15" imgW="494870" imgH="164957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6084888"/>
                        <a:ext cx="1003300" cy="33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03" name="Rectangle 7"/>
          <p:cNvSpPr>
            <a:spLocks noChangeArrowheads="1"/>
          </p:cNvSpPr>
          <p:nvPr/>
        </p:nvSpPr>
        <p:spPr bwMode="auto">
          <a:xfrm>
            <a:off x="395288" y="163513"/>
            <a:ext cx="845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3200" dirty="0">
                <a:solidFill>
                  <a:schemeClr val="tx2"/>
                </a:solidFill>
                <a:ea typeface="隶书" panose="02010509060101010101" pitchFamily="49" charset="-122"/>
              </a:rPr>
              <a:t>2.4</a:t>
            </a:r>
            <a:r>
              <a:rPr lang="zh-CN" altLang="en-US" sz="3200" dirty="0">
                <a:solidFill>
                  <a:schemeClr val="tx2"/>
                </a:solidFill>
                <a:ea typeface="隶书" panose="02010509060101010101" pitchFamily="49" charset="-122"/>
              </a:rPr>
              <a:t>电桥（例题）</a:t>
            </a:r>
            <a:endParaRPr lang="en-US" altLang="zh-CN" sz="3200" dirty="0">
              <a:solidFill>
                <a:schemeClr val="tx2"/>
              </a:solidFill>
              <a:ea typeface="隶书" panose="020105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81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81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281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281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281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281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281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281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281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1607" grpId="0" animBg="1"/>
      <p:bldP spid="28160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2.5</a:t>
            </a:r>
            <a:r>
              <a:rPr lang="zh-CN" altLang="en-US" dirty="0"/>
              <a:t>星型和三角型电路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1C66AF1-24A0-446C-B0A8-326C494344F1}" type="datetime1">
              <a:rPr lang="zh-CN" altLang="en-US" smtClean="0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74CEB45-B7B4-4CEA-8E4A-DA539A380401}" type="slidenum">
              <a:rPr lang="en-US" altLang="zh-CN" smtClean="0"/>
              <a:pPr>
                <a:defRPr/>
              </a:pPr>
              <a:t>26</a:t>
            </a:fld>
            <a:endParaRPr lang="en-US" altLang="zh-CN"/>
          </a:p>
        </p:txBody>
      </p:sp>
      <p:grpSp>
        <p:nvGrpSpPr>
          <p:cNvPr id="7" name="Group 34"/>
          <p:cNvGrpSpPr>
            <a:grpSpLocks/>
          </p:cNvGrpSpPr>
          <p:nvPr/>
        </p:nvGrpSpPr>
        <p:grpSpPr bwMode="auto">
          <a:xfrm>
            <a:off x="4457700" y="3546172"/>
            <a:ext cx="1438275" cy="1741488"/>
            <a:chOff x="869" y="184"/>
            <a:chExt cx="906" cy="1097"/>
          </a:xfrm>
        </p:grpSpPr>
        <p:sp>
          <p:nvSpPr>
            <p:cNvPr id="8" name="Rectangle 35"/>
            <p:cNvSpPr>
              <a:spLocks noChangeArrowheads="1"/>
            </p:cNvSpPr>
            <p:nvPr/>
          </p:nvSpPr>
          <p:spPr bwMode="auto">
            <a:xfrm rot="-7903512">
              <a:off x="1332" y="304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" name="Rectangle 37"/>
            <p:cNvSpPr>
              <a:spLocks noChangeArrowheads="1"/>
            </p:cNvSpPr>
            <p:nvPr/>
          </p:nvSpPr>
          <p:spPr bwMode="auto">
            <a:xfrm rot="-5400000">
              <a:off x="1593" y="601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" name="Rectangle 38"/>
            <p:cNvSpPr>
              <a:spLocks noChangeArrowheads="1"/>
            </p:cNvSpPr>
            <p:nvPr/>
          </p:nvSpPr>
          <p:spPr bwMode="auto">
            <a:xfrm rot="-2874968">
              <a:off x="1299" y="880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" name="Freeform 40"/>
            <p:cNvSpPr>
              <a:spLocks/>
            </p:cNvSpPr>
            <p:nvPr/>
          </p:nvSpPr>
          <p:spPr bwMode="auto">
            <a:xfrm>
              <a:off x="1465" y="196"/>
              <a:ext cx="176" cy="160"/>
            </a:xfrm>
            <a:custGeom>
              <a:avLst/>
              <a:gdLst>
                <a:gd name="T0" fmla="*/ 0 w 176"/>
                <a:gd name="T1" fmla="*/ 160 h 160"/>
                <a:gd name="T2" fmla="*/ 176 w 176"/>
                <a:gd name="T3" fmla="*/ 0 h 16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6" h="160">
                  <a:moveTo>
                    <a:pt x="0" y="160"/>
                  </a:moveTo>
                  <a:lnTo>
                    <a:pt x="176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Freeform 42"/>
            <p:cNvSpPr>
              <a:spLocks/>
            </p:cNvSpPr>
            <p:nvPr/>
          </p:nvSpPr>
          <p:spPr bwMode="auto">
            <a:xfrm>
              <a:off x="1057" y="508"/>
              <a:ext cx="233" cy="223"/>
            </a:xfrm>
            <a:custGeom>
              <a:avLst/>
              <a:gdLst>
                <a:gd name="T0" fmla="*/ 233 w 233"/>
                <a:gd name="T1" fmla="*/ 0 h 223"/>
                <a:gd name="T2" fmla="*/ 0 w 233"/>
                <a:gd name="T3" fmla="*/ 223 h 22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33" h="223">
                  <a:moveTo>
                    <a:pt x="233" y="0"/>
                  </a:moveTo>
                  <a:lnTo>
                    <a:pt x="0" y="223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Freeform 44"/>
            <p:cNvSpPr>
              <a:spLocks/>
            </p:cNvSpPr>
            <p:nvPr/>
          </p:nvSpPr>
          <p:spPr bwMode="auto">
            <a:xfrm>
              <a:off x="1075" y="731"/>
              <a:ext cx="183" cy="201"/>
            </a:xfrm>
            <a:custGeom>
              <a:avLst/>
              <a:gdLst>
                <a:gd name="T0" fmla="*/ 0 w 183"/>
                <a:gd name="T1" fmla="*/ 0 h 201"/>
                <a:gd name="T2" fmla="*/ 183 w 183"/>
                <a:gd name="T3" fmla="*/ 201 h 20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83" h="201">
                  <a:moveTo>
                    <a:pt x="0" y="0"/>
                  </a:moveTo>
                  <a:lnTo>
                    <a:pt x="183" y="201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45"/>
            <p:cNvSpPr>
              <a:spLocks/>
            </p:cNvSpPr>
            <p:nvPr/>
          </p:nvSpPr>
          <p:spPr bwMode="auto">
            <a:xfrm>
              <a:off x="1422" y="1078"/>
              <a:ext cx="211" cy="183"/>
            </a:xfrm>
            <a:custGeom>
              <a:avLst/>
              <a:gdLst>
                <a:gd name="T0" fmla="*/ 0 w 211"/>
                <a:gd name="T1" fmla="*/ 0 h 183"/>
                <a:gd name="T2" fmla="*/ 211 w 211"/>
                <a:gd name="T3" fmla="*/ 183 h 18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11" h="183">
                  <a:moveTo>
                    <a:pt x="0" y="0"/>
                  </a:moveTo>
                  <a:lnTo>
                    <a:pt x="211" y="183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48"/>
            <p:cNvSpPr>
              <a:spLocks/>
            </p:cNvSpPr>
            <p:nvPr/>
          </p:nvSpPr>
          <p:spPr bwMode="auto">
            <a:xfrm>
              <a:off x="1059" y="724"/>
              <a:ext cx="462" cy="1"/>
            </a:xfrm>
            <a:custGeom>
              <a:avLst/>
              <a:gdLst>
                <a:gd name="T0" fmla="*/ 0 w 462"/>
                <a:gd name="T1" fmla="*/ 0 h 1"/>
                <a:gd name="T2" fmla="*/ 462 w 46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62" h="1">
                  <a:moveTo>
                    <a:pt x="0" y="0"/>
                  </a:moveTo>
                  <a:lnTo>
                    <a:pt x="462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Oval 52"/>
            <p:cNvSpPr>
              <a:spLocks noChangeAspect="1" noChangeArrowheads="1"/>
            </p:cNvSpPr>
            <p:nvPr/>
          </p:nvSpPr>
          <p:spPr bwMode="auto">
            <a:xfrm>
              <a:off x="1596" y="184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7" name="Oval 53"/>
            <p:cNvSpPr>
              <a:spLocks noChangeAspect="1" noChangeArrowheads="1"/>
            </p:cNvSpPr>
            <p:nvPr/>
          </p:nvSpPr>
          <p:spPr bwMode="auto">
            <a:xfrm>
              <a:off x="1587" y="1213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8" name="Oval 54"/>
            <p:cNvSpPr>
              <a:spLocks noChangeAspect="1" noChangeArrowheads="1"/>
            </p:cNvSpPr>
            <p:nvPr/>
          </p:nvSpPr>
          <p:spPr bwMode="auto">
            <a:xfrm>
              <a:off x="1050" y="676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9" name="Text Box 59"/>
            <p:cNvSpPr txBox="1">
              <a:spLocks noChangeArrowheads="1"/>
            </p:cNvSpPr>
            <p:nvPr/>
          </p:nvSpPr>
          <p:spPr bwMode="auto">
            <a:xfrm>
              <a:off x="869" y="549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c</a:t>
              </a:r>
            </a:p>
          </p:txBody>
        </p:sp>
        <p:sp>
          <p:nvSpPr>
            <p:cNvPr id="20" name="Text Box 61"/>
            <p:cNvSpPr txBox="1">
              <a:spLocks noChangeArrowheads="1"/>
            </p:cNvSpPr>
            <p:nvPr/>
          </p:nvSpPr>
          <p:spPr bwMode="auto">
            <a:xfrm>
              <a:off x="1011" y="227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 dirty="0"/>
                <a:t>R</a:t>
              </a:r>
              <a:r>
                <a:rPr lang="zh-CN" altLang="zh-CN" b="1" baseline="-25000" dirty="0"/>
                <a:t>1</a:t>
              </a:r>
              <a:endParaRPr lang="zh-CN" altLang="zh-CN" b="1" dirty="0"/>
            </a:p>
          </p:txBody>
        </p:sp>
        <p:sp>
          <p:nvSpPr>
            <p:cNvPr id="21" name="Text Box 62"/>
            <p:cNvSpPr txBox="1">
              <a:spLocks noChangeArrowheads="1"/>
            </p:cNvSpPr>
            <p:nvPr/>
          </p:nvSpPr>
          <p:spPr bwMode="auto">
            <a:xfrm>
              <a:off x="1011" y="916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4</a:t>
              </a:r>
              <a:endParaRPr lang="zh-CN" altLang="zh-CN" b="1"/>
            </a:p>
          </p:txBody>
        </p:sp>
        <p:sp>
          <p:nvSpPr>
            <p:cNvPr id="22" name="Text Box 65"/>
            <p:cNvSpPr txBox="1">
              <a:spLocks noChangeArrowheads="1"/>
            </p:cNvSpPr>
            <p:nvPr/>
          </p:nvSpPr>
          <p:spPr bwMode="auto">
            <a:xfrm>
              <a:off x="1491" y="436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 dirty="0"/>
                <a:t>R</a:t>
              </a:r>
              <a:r>
                <a:rPr lang="zh-CN" altLang="zh-CN" b="1" baseline="-25000" dirty="0"/>
                <a:t>5</a:t>
              </a:r>
              <a:endParaRPr lang="zh-CN" altLang="zh-CN" b="1" dirty="0"/>
            </a:p>
          </p:txBody>
        </p:sp>
      </p:grpSp>
      <p:grpSp>
        <p:nvGrpSpPr>
          <p:cNvPr id="23" name="Group 34"/>
          <p:cNvGrpSpPr>
            <a:grpSpLocks/>
          </p:cNvGrpSpPr>
          <p:nvPr/>
        </p:nvGrpSpPr>
        <p:grpSpPr bwMode="auto">
          <a:xfrm>
            <a:off x="6615113" y="3978276"/>
            <a:ext cx="2470150" cy="1050925"/>
            <a:chOff x="869" y="184"/>
            <a:chExt cx="1556" cy="662"/>
          </a:xfrm>
        </p:grpSpPr>
        <p:sp>
          <p:nvSpPr>
            <p:cNvPr id="24" name="Rectangle 35"/>
            <p:cNvSpPr>
              <a:spLocks noChangeArrowheads="1"/>
            </p:cNvSpPr>
            <p:nvPr/>
          </p:nvSpPr>
          <p:spPr bwMode="auto">
            <a:xfrm rot="-7903512">
              <a:off x="1332" y="304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5" name="Rectangle 36"/>
            <p:cNvSpPr>
              <a:spLocks noChangeArrowheads="1"/>
            </p:cNvSpPr>
            <p:nvPr/>
          </p:nvSpPr>
          <p:spPr bwMode="auto">
            <a:xfrm rot="-2919155">
              <a:off x="1854" y="310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6" name="Rectangle 37"/>
            <p:cNvSpPr>
              <a:spLocks noChangeArrowheads="1"/>
            </p:cNvSpPr>
            <p:nvPr/>
          </p:nvSpPr>
          <p:spPr bwMode="auto">
            <a:xfrm rot="-5400000">
              <a:off x="1593" y="601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7" name="Freeform 40"/>
            <p:cNvSpPr>
              <a:spLocks/>
            </p:cNvSpPr>
            <p:nvPr/>
          </p:nvSpPr>
          <p:spPr bwMode="auto">
            <a:xfrm>
              <a:off x="1465" y="196"/>
              <a:ext cx="176" cy="160"/>
            </a:xfrm>
            <a:custGeom>
              <a:avLst/>
              <a:gdLst>
                <a:gd name="T0" fmla="*/ 0 w 176"/>
                <a:gd name="T1" fmla="*/ 160 h 160"/>
                <a:gd name="T2" fmla="*/ 176 w 176"/>
                <a:gd name="T3" fmla="*/ 0 h 16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6" h="160">
                  <a:moveTo>
                    <a:pt x="0" y="160"/>
                  </a:moveTo>
                  <a:lnTo>
                    <a:pt x="176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Freeform 41"/>
            <p:cNvSpPr>
              <a:spLocks/>
            </p:cNvSpPr>
            <p:nvPr/>
          </p:nvSpPr>
          <p:spPr bwMode="auto">
            <a:xfrm>
              <a:off x="1635" y="202"/>
              <a:ext cx="168" cy="141"/>
            </a:xfrm>
            <a:custGeom>
              <a:avLst/>
              <a:gdLst>
                <a:gd name="T0" fmla="*/ 168 w 168"/>
                <a:gd name="T1" fmla="*/ 141 h 141"/>
                <a:gd name="T2" fmla="*/ 0 w 168"/>
                <a:gd name="T3" fmla="*/ 0 h 14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68" h="141">
                  <a:moveTo>
                    <a:pt x="168" y="141"/>
                  </a:moveTo>
                  <a:lnTo>
                    <a:pt x="0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Freeform 42"/>
            <p:cNvSpPr>
              <a:spLocks/>
            </p:cNvSpPr>
            <p:nvPr/>
          </p:nvSpPr>
          <p:spPr bwMode="auto">
            <a:xfrm>
              <a:off x="1057" y="508"/>
              <a:ext cx="233" cy="223"/>
            </a:xfrm>
            <a:custGeom>
              <a:avLst/>
              <a:gdLst>
                <a:gd name="T0" fmla="*/ 233 w 233"/>
                <a:gd name="T1" fmla="*/ 0 h 223"/>
                <a:gd name="T2" fmla="*/ 0 w 233"/>
                <a:gd name="T3" fmla="*/ 223 h 22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33" h="223">
                  <a:moveTo>
                    <a:pt x="233" y="0"/>
                  </a:moveTo>
                  <a:lnTo>
                    <a:pt x="0" y="223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Freeform 43"/>
            <p:cNvSpPr>
              <a:spLocks/>
            </p:cNvSpPr>
            <p:nvPr/>
          </p:nvSpPr>
          <p:spPr bwMode="auto">
            <a:xfrm>
              <a:off x="1989" y="511"/>
              <a:ext cx="225" cy="216"/>
            </a:xfrm>
            <a:custGeom>
              <a:avLst/>
              <a:gdLst>
                <a:gd name="T0" fmla="*/ 0 w 225"/>
                <a:gd name="T1" fmla="*/ 0 h 216"/>
                <a:gd name="T2" fmla="*/ 225 w 225"/>
                <a:gd name="T3" fmla="*/ 216 h 21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25" h="216">
                  <a:moveTo>
                    <a:pt x="0" y="0"/>
                  </a:moveTo>
                  <a:lnTo>
                    <a:pt x="225" y="216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Freeform 48"/>
            <p:cNvSpPr>
              <a:spLocks/>
            </p:cNvSpPr>
            <p:nvPr/>
          </p:nvSpPr>
          <p:spPr bwMode="auto">
            <a:xfrm>
              <a:off x="1059" y="724"/>
              <a:ext cx="462" cy="1"/>
            </a:xfrm>
            <a:custGeom>
              <a:avLst/>
              <a:gdLst>
                <a:gd name="T0" fmla="*/ 0 w 462"/>
                <a:gd name="T1" fmla="*/ 0 h 1"/>
                <a:gd name="T2" fmla="*/ 462 w 46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62" h="1">
                  <a:moveTo>
                    <a:pt x="0" y="0"/>
                  </a:moveTo>
                  <a:lnTo>
                    <a:pt x="462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Freeform 49"/>
            <p:cNvSpPr>
              <a:spLocks/>
            </p:cNvSpPr>
            <p:nvPr/>
          </p:nvSpPr>
          <p:spPr bwMode="auto">
            <a:xfrm>
              <a:off x="1764" y="724"/>
              <a:ext cx="447" cy="1"/>
            </a:xfrm>
            <a:custGeom>
              <a:avLst/>
              <a:gdLst>
                <a:gd name="T0" fmla="*/ 0 w 447"/>
                <a:gd name="T1" fmla="*/ 0 h 1"/>
                <a:gd name="T2" fmla="*/ 447 w 447"/>
                <a:gd name="T3" fmla="*/ 1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47" h="1">
                  <a:moveTo>
                    <a:pt x="0" y="0"/>
                  </a:moveTo>
                  <a:lnTo>
                    <a:pt x="447" y="1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Oval 52"/>
            <p:cNvSpPr>
              <a:spLocks noChangeAspect="1" noChangeArrowheads="1"/>
            </p:cNvSpPr>
            <p:nvPr/>
          </p:nvSpPr>
          <p:spPr bwMode="auto">
            <a:xfrm>
              <a:off x="1596" y="184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4" name="Oval 54"/>
            <p:cNvSpPr>
              <a:spLocks noChangeAspect="1" noChangeArrowheads="1"/>
            </p:cNvSpPr>
            <p:nvPr/>
          </p:nvSpPr>
          <p:spPr bwMode="auto">
            <a:xfrm>
              <a:off x="1050" y="676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5" name="Oval 55"/>
            <p:cNvSpPr>
              <a:spLocks noChangeAspect="1" noChangeArrowheads="1"/>
            </p:cNvSpPr>
            <p:nvPr/>
          </p:nvSpPr>
          <p:spPr bwMode="auto">
            <a:xfrm>
              <a:off x="2169" y="676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6" name="Text Box 59"/>
            <p:cNvSpPr txBox="1">
              <a:spLocks noChangeArrowheads="1"/>
            </p:cNvSpPr>
            <p:nvPr/>
          </p:nvSpPr>
          <p:spPr bwMode="auto">
            <a:xfrm>
              <a:off x="869" y="549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c</a:t>
              </a:r>
            </a:p>
          </p:txBody>
        </p:sp>
        <p:sp>
          <p:nvSpPr>
            <p:cNvPr id="37" name="Text Box 60"/>
            <p:cNvSpPr txBox="1">
              <a:spLocks noChangeArrowheads="1"/>
            </p:cNvSpPr>
            <p:nvPr/>
          </p:nvSpPr>
          <p:spPr bwMode="auto">
            <a:xfrm>
              <a:off x="2213" y="55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d</a:t>
              </a:r>
            </a:p>
          </p:txBody>
        </p:sp>
        <p:sp>
          <p:nvSpPr>
            <p:cNvPr id="38" name="Text Box 61"/>
            <p:cNvSpPr txBox="1">
              <a:spLocks noChangeArrowheads="1"/>
            </p:cNvSpPr>
            <p:nvPr/>
          </p:nvSpPr>
          <p:spPr bwMode="auto">
            <a:xfrm>
              <a:off x="1011" y="227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 dirty="0"/>
                <a:t>R</a:t>
              </a:r>
              <a:r>
                <a:rPr lang="zh-CN" altLang="zh-CN" b="1" baseline="-25000" dirty="0"/>
                <a:t>1</a:t>
              </a:r>
              <a:endParaRPr lang="zh-CN" altLang="zh-CN" b="1" dirty="0"/>
            </a:p>
          </p:txBody>
        </p:sp>
        <p:sp>
          <p:nvSpPr>
            <p:cNvPr id="39" name="Text Box 64"/>
            <p:cNvSpPr txBox="1">
              <a:spLocks noChangeArrowheads="1"/>
            </p:cNvSpPr>
            <p:nvPr/>
          </p:nvSpPr>
          <p:spPr bwMode="auto">
            <a:xfrm>
              <a:off x="1923" y="196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2</a:t>
              </a:r>
              <a:endParaRPr lang="zh-CN" altLang="zh-CN" b="1"/>
            </a:p>
          </p:txBody>
        </p:sp>
        <p:sp>
          <p:nvSpPr>
            <p:cNvPr id="40" name="Text Box 65"/>
            <p:cNvSpPr txBox="1">
              <a:spLocks noChangeArrowheads="1"/>
            </p:cNvSpPr>
            <p:nvPr/>
          </p:nvSpPr>
          <p:spPr bwMode="auto">
            <a:xfrm>
              <a:off x="1491" y="436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5</a:t>
              </a:r>
              <a:endParaRPr lang="zh-CN" altLang="zh-CN" b="1"/>
            </a:p>
          </p:txBody>
        </p:sp>
      </p:grpSp>
      <p:sp>
        <p:nvSpPr>
          <p:cNvPr id="41" name="文本框 40"/>
          <p:cNvSpPr txBox="1"/>
          <p:nvPr/>
        </p:nvSpPr>
        <p:spPr>
          <a:xfrm>
            <a:off x="4422334" y="5514865"/>
            <a:ext cx="2146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星型联结（</a:t>
            </a:r>
            <a:r>
              <a:rPr lang="en-US" altLang="zh-CN" dirty="0"/>
              <a:t>Y</a:t>
            </a:r>
            <a:r>
              <a:rPr lang="zh-CN" altLang="en-US" dirty="0"/>
              <a:t>联结）</a:t>
            </a:r>
          </a:p>
        </p:txBody>
      </p:sp>
      <p:sp>
        <p:nvSpPr>
          <p:cNvPr id="42" name="文本框 41"/>
          <p:cNvSpPr txBox="1"/>
          <p:nvPr/>
        </p:nvSpPr>
        <p:spPr>
          <a:xfrm>
            <a:off x="6607298" y="5573711"/>
            <a:ext cx="23920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三角型联结（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∆联</a:t>
            </a:r>
            <a:r>
              <a:rPr lang="zh-CN" altLang="en-US" dirty="0"/>
              <a:t>结）</a:t>
            </a:r>
          </a:p>
        </p:txBody>
      </p:sp>
      <p:grpSp>
        <p:nvGrpSpPr>
          <p:cNvPr id="43" name="Group 34"/>
          <p:cNvGrpSpPr>
            <a:grpSpLocks/>
          </p:cNvGrpSpPr>
          <p:nvPr/>
        </p:nvGrpSpPr>
        <p:grpSpPr bwMode="auto">
          <a:xfrm>
            <a:off x="833437" y="1440081"/>
            <a:ext cx="3849688" cy="2209800"/>
            <a:chOff x="0" y="0"/>
            <a:chExt cx="2425" cy="1392"/>
          </a:xfrm>
        </p:grpSpPr>
        <p:sp>
          <p:nvSpPr>
            <p:cNvPr id="44" name="Rectangle 35"/>
            <p:cNvSpPr>
              <a:spLocks noChangeArrowheads="1"/>
            </p:cNvSpPr>
            <p:nvPr/>
          </p:nvSpPr>
          <p:spPr bwMode="auto">
            <a:xfrm rot="-7903512">
              <a:off x="1332" y="304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5" name="Rectangle 36"/>
            <p:cNvSpPr>
              <a:spLocks noChangeArrowheads="1"/>
            </p:cNvSpPr>
            <p:nvPr/>
          </p:nvSpPr>
          <p:spPr bwMode="auto">
            <a:xfrm rot="-2919155">
              <a:off x="1854" y="310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6" name="Rectangle 37"/>
            <p:cNvSpPr>
              <a:spLocks noChangeArrowheads="1"/>
            </p:cNvSpPr>
            <p:nvPr/>
          </p:nvSpPr>
          <p:spPr bwMode="auto">
            <a:xfrm rot="-5400000">
              <a:off x="1593" y="601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7" name="Rectangle 38"/>
            <p:cNvSpPr>
              <a:spLocks noChangeArrowheads="1"/>
            </p:cNvSpPr>
            <p:nvPr/>
          </p:nvSpPr>
          <p:spPr bwMode="auto">
            <a:xfrm rot="-2874968">
              <a:off x="1299" y="880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8" name="Rectangle 39"/>
            <p:cNvSpPr>
              <a:spLocks noChangeArrowheads="1"/>
            </p:cNvSpPr>
            <p:nvPr/>
          </p:nvSpPr>
          <p:spPr bwMode="auto">
            <a:xfrm rot="-7972038">
              <a:off x="1908" y="835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9" name="Freeform 40"/>
            <p:cNvSpPr>
              <a:spLocks/>
            </p:cNvSpPr>
            <p:nvPr/>
          </p:nvSpPr>
          <p:spPr bwMode="auto">
            <a:xfrm>
              <a:off x="1465" y="196"/>
              <a:ext cx="176" cy="160"/>
            </a:xfrm>
            <a:custGeom>
              <a:avLst/>
              <a:gdLst>
                <a:gd name="T0" fmla="*/ 0 w 176"/>
                <a:gd name="T1" fmla="*/ 160 h 160"/>
                <a:gd name="T2" fmla="*/ 176 w 176"/>
                <a:gd name="T3" fmla="*/ 0 h 16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6" h="160">
                  <a:moveTo>
                    <a:pt x="0" y="160"/>
                  </a:moveTo>
                  <a:lnTo>
                    <a:pt x="176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Freeform 41"/>
            <p:cNvSpPr>
              <a:spLocks/>
            </p:cNvSpPr>
            <p:nvPr/>
          </p:nvSpPr>
          <p:spPr bwMode="auto">
            <a:xfrm>
              <a:off x="1635" y="202"/>
              <a:ext cx="168" cy="141"/>
            </a:xfrm>
            <a:custGeom>
              <a:avLst/>
              <a:gdLst>
                <a:gd name="T0" fmla="*/ 168 w 168"/>
                <a:gd name="T1" fmla="*/ 141 h 141"/>
                <a:gd name="T2" fmla="*/ 0 w 168"/>
                <a:gd name="T3" fmla="*/ 0 h 14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68" h="141">
                  <a:moveTo>
                    <a:pt x="168" y="141"/>
                  </a:moveTo>
                  <a:lnTo>
                    <a:pt x="0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Freeform 42"/>
            <p:cNvSpPr>
              <a:spLocks/>
            </p:cNvSpPr>
            <p:nvPr/>
          </p:nvSpPr>
          <p:spPr bwMode="auto">
            <a:xfrm>
              <a:off x="1057" y="508"/>
              <a:ext cx="233" cy="223"/>
            </a:xfrm>
            <a:custGeom>
              <a:avLst/>
              <a:gdLst>
                <a:gd name="T0" fmla="*/ 233 w 233"/>
                <a:gd name="T1" fmla="*/ 0 h 223"/>
                <a:gd name="T2" fmla="*/ 0 w 233"/>
                <a:gd name="T3" fmla="*/ 223 h 22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33" h="223">
                  <a:moveTo>
                    <a:pt x="233" y="0"/>
                  </a:moveTo>
                  <a:lnTo>
                    <a:pt x="0" y="223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Freeform 43"/>
            <p:cNvSpPr>
              <a:spLocks/>
            </p:cNvSpPr>
            <p:nvPr/>
          </p:nvSpPr>
          <p:spPr bwMode="auto">
            <a:xfrm>
              <a:off x="1989" y="511"/>
              <a:ext cx="225" cy="216"/>
            </a:xfrm>
            <a:custGeom>
              <a:avLst/>
              <a:gdLst>
                <a:gd name="T0" fmla="*/ 0 w 225"/>
                <a:gd name="T1" fmla="*/ 0 h 216"/>
                <a:gd name="T2" fmla="*/ 225 w 225"/>
                <a:gd name="T3" fmla="*/ 216 h 21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25" h="216">
                  <a:moveTo>
                    <a:pt x="0" y="0"/>
                  </a:moveTo>
                  <a:lnTo>
                    <a:pt x="225" y="216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Freeform 44"/>
            <p:cNvSpPr>
              <a:spLocks/>
            </p:cNvSpPr>
            <p:nvPr/>
          </p:nvSpPr>
          <p:spPr bwMode="auto">
            <a:xfrm>
              <a:off x="1075" y="731"/>
              <a:ext cx="183" cy="201"/>
            </a:xfrm>
            <a:custGeom>
              <a:avLst/>
              <a:gdLst>
                <a:gd name="T0" fmla="*/ 0 w 183"/>
                <a:gd name="T1" fmla="*/ 0 h 201"/>
                <a:gd name="T2" fmla="*/ 183 w 183"/>
                <a:gd name="T3" fmla="*/ 201 h 20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83" h="201">
                  <a:moveTo>
                    <a:pt x="0" y="0"/>
                  </a:moveTo>
                  <a:lnTo>
                    <a:pt x="183" y="201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Freeform 45"/>
            <p:cNvSpPr>
              <a:spLocks/>
            </p:cNvSpPr>
            <p:nvPr/>
          </p:nvSpPr>
          <p:spPr bwMode="auto">
            <a:xfrm>
              <a:off x="1422" y="1078"/>
              <a:ext cx="211" cy="183"/>
            </a:xfrm>
            <a:custGeom>
              <a:avLst/>
              <a:gdLst>
                <a:gd name="T0" fmla="*/ 0 w 211"/>
                <a:gd name="T1" fmla="*/ 0 h 183"/>
                <a:gd name="T2" fmla="*/ 211 w 211"/>
                <a:gd name="T3" fmla="*/ 183 h 18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11" h="183">
                  <a:moveTo>
                    <a:pt x="0" y="0"/>
                  </a:moveTo>
                  <a:lnTo>
                    <a:pt x="211" y="183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Freeform 46"/>
            <p:cNvSpPr>
              <a:spLocks/>
            </p:cNvSpPr>
            <p:nvPr/>
          </p:nvSpPr>
          <p:spPr bwMode="auto">
            <a:xfrm>
              <a:off x="1635" y="1030"/>
              <a:ext cx="243" cy="222"/>
            </a:xfrm>
            <a:custGeom>
              <a:avLst/>
              <a:gdLst>
                <a:gd name="T0" fmla="*/ 0 w 243"/>
                <a:gd name="T1" fmla="*/ 222 h 222"/>
                <a:gd name="T2" fmla="*/ 243 w 243"/>
                <a:gd name="T3" fmla="*/ 0 h 22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43" h="222">
                  <a:moveTo>
                    <a:pt x="0" y="222"/>
                  </a:moveTo>
                  <a:lnTo>
                    <a:pt x="243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Freeform 47"/>
            <p:cNvSpPr>
              <a:spLocks/>
            </p:cNvSpPr>
            <p:nvPr/>
          </p:nvSpPr>
          <p:spPr bwMode="auto">
            <a:xfrm>
              <a:off x="2053" y="724"/>
              <a:ext cx="158" cy="153"/>
            </a:xfrm>
            <a:custGeom>
              <a:avLst/>
              <a:gdLst>
                <a:gd name="T0" fmla="*/ 0 w 158"/>
                <a:gd name="T1" fmla="*/ 153 h 153"/>
                <a:gd name="T2" fmla="*/ 158 w 158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58" h="153">
                  <a:moveTo>
                    <a:pt x="0" y="153"/>
                  </a:moveTo>
                  <a:lnTo>
                    <a:pt x="158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Freeform 48"/>
            <p:cNvSpPr>
              <a:spLocks/>
            </p:cNvSpPr>
            <p:nvPr/>
          </p:nvSpPr>
          <p:spPr bwMode="auto">
            <a:xfrm>
              <a:off x="1059" y="724"/>
              <a:ext cx="462" cy="1"/>
            </a:xfrm>
            <a:custGeom>
              <a:avLst/>
              <a:gdLst>
                <a:gd name="T0" fmla="*/ 0 w 462"/>
                <a:gd name="T1" fmla="*/ 0 h 1"/>
                <a:gd name="T2" fmla="*/ 462 w 46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62" h="1">
                  <a:moveTo>
                    <a:pt x="0" y="0"/>
                  </a:moveTo>
                  <a:lnTo>
                    <a:pt x="462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Freeform 49"/>
            <p:cNvSpPr>
              <a:spLocks/>
            </p:cNvSpPr>
            <p:nvPr/>
          </p:nvSpPr>
          <p:spPr bwMode="auto">
            <a:xfrm>
              <a:off x="1764" y="724"/>
              <a:ext cx="447" cy="1"/>
            </a:xfrm>
            <a:custGeom>
              <a:avLst/>
              <a:gdLst>
                <a:gd name="T0" fmla="*/ 0 w 447"/>
                <a:gd name="T1" fmla="*/ 0 h 1"/>
                <a:gd name="T2" fmla="*/ 447 w 447"/>
                <a:gd name="T3" fmla="*/ 1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47" h="1">
                  <a:moveTo>
                    <a:pt x="0" y="0"/>
                  </a:moveTo>
                  <a:lnTo>
                    <a:pt x="447" y="1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Line 50"/>
            <p:cNvSpPr>
              <a:spLocks noChangeShapeType="1"/>
            </p:cNvSpPr>
            <p:nvPr/>
          </p:nvSpPr>
          <p:spPr bwMode="auto">
            <a:xfrm>
              <a:off x="243" y="196"/>
              <a:ext cx="13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" name="Line 51"/>
            <p:cNvSpPr>
              <a:spLocks noChangeShapeType="1"/>
            </p:cNvSpPr>
            <p:nvPr/>
          </p:nvSpPr>
          <p:spPr bwMode="auto">
            <a:xfrm>
              <a:off x="237" y="1261"/>
              <a:ext cx="13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Oval 52"/>
            <p:cNvSpPr>
              <a:spLocks noChangeAspect="1" noChangeArrowheads="1"/>
            </p:cNvSpPr>
            <p:nvPr/>
          </p:nvSpPr>
          <p:spPr bwMode="auto">
            <a:xfrm>
              <a:off x="1596" y="184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2" name="Oval 53"/>
            <p:cNvSpPr>
              <a:spLocks noChangeAspect="1" noChangeArrowheads="1"/>
            </p:cNvSpPr>
            <p:nvPr/>
          </p:nvSpPr>
          <p:spPr bwMode="auto">
            <a:xfrm>
              <a:off x="1587" y="1213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3" name="Oval 54"/>
            <p:cNvSpPr>
              <a:spLocks noChangeAspect="1" noChangeArrowheads="1"/>
            </p:cNvSpPr>
            <p:nvPr/>
          </p:nvSpPr>
          <p:spPr bwMode="auto">
            <a:xfrm>
              <a:off x="1050" y="676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4" name="Oval 55"/>
            <p:cNvSpPr>
              <a:spLocks noChangeAspect="1" noChangeArrowheads="1"/>
            </p:cNvSpPr>
            <p:nvPr/>
          </p:nvSpPr>
          <p:spPr bwMode="auto">
            <a:xfrm>
              <a:off x="2169" y="676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5" name="Oval 56"/>
            <p:cNvSpPr>
              <a:spLocks noChangeAspect="1" noChangeArrowheads="1"/>
            </p:cNvSpPr>
            <p:nvPr/>
          </p:nvSpPr>
          <p:spPr bwMode="auto">
            <a:xfrm>
              <a:off x="195" y="148"/>
              <a:ext cx="68" cy="6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6" name="Oval 57"/>
            <p:cNvSpPr>
              <a:spLocks noChangeAspect="1" noChangeArrowheads="1"/>
            </p:cNvSpPr>
            <p:nvPr/>
          </p:nvSpPr>
          <p:spPr bwMode="auto">
            <a:xfrm>
              <a:off x="177" y="1222"/>
              <a:ext cx="68" cy="6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7" name="Text Box 58"/>
            <p:cNvSpPr txBox="1">
              <a:spLocks noChangeArrowheads="1"/>
            </p:cNvSpPr>
            <p:nvPr/>
          </p:nvSpPr>
          <p:spPr bwMode="auto">
            <a:xfrm>
              <a:off x="8" y="0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a</a:t>
              </a:r>
            </a:p>
          </p:txBody>
        </p:sp>
        <p:sp>
          <p:nvSpPr>
            <p:cNvPr id="68" name="Text Box 59"/>
            <p:cNvSpPr txBox="1">
              <a:spLocks noChangeArrowheads="1"/>
            </p:cNvSpPr>
            <p:nvPr/>
          </p:nvSpPr>
          <p:spPr bwMode="auto">
            <a:xfrm>
              <a:off x="869" y="549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c</a:t>
              </a:r>
            </a:p>
          </p:txBody>
        </p:sp>
        <p:sp>
          <p:nvSpPr>
            <p:cNvPr id="69" name="Text Box 60"/>
            <p:cNvSpPr txBox="1">
              <a:spLocks noChangeArrowheads="1"/>
            </p:cNvSpPr>
            <p:nvPr/>
          </p:nvSpPr>
          <p:spPr bwMode="auto">
            <a:xfrm>
              <a:off x="2213" y="55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d</a:t>
              </a:r>
            </a:p>
          </p:txBody>
        </p:sp>
        <p:sp>
          <p:nvSpPr>
            <p:cNvPr id="70" name="Text Box 61"/>
            <p:cNvSpPr txBox="1">
              <a:spLocks noChangeArrowheads="1"/>
            </p:cNvSpPr>
            <p:nvPr/>
          </p:nvSpPr>
          <p:spPr bwMode="auto">
            <a:xfrm>
              <a:off x="1011" y="227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 dirty="0"/>
                <a:t>R</a:t>
              </a:r>
              <a:r>
                <a:rPr lang="zh-CN" altLang="zh-CN" b="1" baseline="-25000" dirty="0"/>
                <a:t>1</a:t>
              </a:r>
              <a:endParaRPr lang="zh-CN" altLang="zh-CN" b="1" dirty="0"/>
            </a:p>
          </p:txBody>
        </p:sp>
        <p:sp>
          <p:nvSpPr>
            <p:cNvPr id="71" name="Text Box 62"/>
            <p:cNvSpPr txBox="1">
              <a:spLocks noChangeArrowheads="1"/>
            </p:cNvSpPr>
            <p:nvPr/>
          </p:nvSpPr>
          <p:spPr bwMode="auto">
            <a:xfrm>
              <a:off x="1011" y="916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4</a:t>
              </a:r>
              <a:endParaRPr lang="zh-CN" altLang="zh-CN" b="1"/>
            </a:p>
          </p:txBody>
        </p:sp>
        <p:sp>
          <p:nvSpPr>
            <p:cNvPr id="72" name="Text Box 63"/>
            <p:cNvSpPr txBox="1">
              <a:spLocks noChangeArrowheads="1"/>
            </p:cNvSpPr>
            <p:nvPr/>
          </p:nvSpPr>
          <p:spPr bwMode="auto">
            <a:xfrm>
              <a:off x="1947" y="952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3</a:t>
              </a:r>
              <a:endParaRPr lang="zh-CN" altLang="zh-CN" b="1"/>
            </a:p>
          </p:txBody>
        </p:sp>
        <p:sp>
          <p:nvSpPr>
            <p:cNvPr id="73" name="Text Box 64"/>
            <p:cNvSpPr txBox="1">
              <a:spLocks noChangeArrowheads="1"/>
            </p:cNvSpPr>
            <p:nvPr/>
          </p:nvSpPr>
          <p:spPr bwMode="auto">
            <a:xfrm>
              <a:off x="1923" y="196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2</a:t>
              </a:r>
              <a:endParaRPr lang="zh-CN" altLang="zh-CN" b="1"/>
            </a:p>
          </p:txBody>
        </p:sp>
        <p:sp>
          <p:nvSpPr>
            <p:cNvPr id="74" name="Text Box 65"/>
            <p:cNvSpPr txBox="1">
              <a:spLocks noChangeArrowheads="1"/>
            </p:cNvSpPr>
            <p:nvPr/>
          </p:nvSpPr>
          <p:spPr bwMode="auto">
            <a:xfrm>
              <a:off x="1491" y="436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5</a:t>
              </a:r>
              <a:endParaRPr lang="zh-CN" altLang="zh-CN" b="1"/>
            </a:p>
          </p:txBody>
        </p:sp>
        <p:sp>
          <p:nvSpPr>
            <p:cNvPr id="75" name="Text Box 66"/>
            <p:cNvSpPr txBox="1">
              <a:spLocks noChangeArrowheads="1"/>
            </p:cNvSpPr>
            <p:nvPr/>
          </p:nvSpPr>
          <p:spPr bwMode="auto">
            <a:xfrm>
              <a:off x="0" y="11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22800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5" name="Rectangle 2"/>
          <p:cNvSpPr>
            <a:spLocks noChangeArrowheads="1"/>
          </p:cNvSpPr>
          <p:nvPr/>
        </p:nvSpPr>
        <p:spPr bwMode="auto">
          <a:xfrm>
            <a:off x="452264" y="3824114"/>
            <a:ext cx="845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>
                <a:solidFill>
                  <a:srgbClr val="CC3300"/>
                </a:solidFill>
                <a:ea typeface="隶书" panose="02010509060101010101" pitchFamily="49" charset="-122"/>
              </a:rPr>
              <a:t>星－三角变换 </a:t>
            </a:r>
            <a:r>
              <a:rPr lang="en-US" altLang="zh-CN" sz="2800" dirty="0">
                <a:solidFill>
                  <a:srgbClr val="CC3300"/>
                </a:solidFill>
                <a:ea typeface="隶书" panose="02010509060101010101" pitchFamily="49" charset="-122"/>
              </a:rPr>
              <a:t>Wye-Delta Transformation</a:t>
            </a:r>
          </a:p>
        </p:txBody>
      </p:sp>
      <p:graphicFrame>
        <p:nvGraphicFramePr>
          <p:cNvPr id="28467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5300551"/>
              </p:ext>
            </p:extLst>
          </p:nvPr>
        </p:nvGraphicFramePr>
        <p:xfrm>
          <a:off x="3347864" y="4357514"/>
          <a:ext cx="2805113" cy="2455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03" name="Flash 文档" r:id="rId3" imgW="3508200" imgH="3071520" progId="Flash.Movie">
                  <p:embed/>
                </p:oleObj>
              </mc:Choice>
              <mc:Fallback>
                <p:oleObj name="Flash 文档" r:id="rId3" imgW="3508200" imgH="3071520" progId="Flash.Movie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7864" y="4357514"/>
                        <a:ext cx="2805113" cy="2455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4677" name="Rectangle 5"/>
          <p:cNvSpPr>
            <a:spLocks noChangeArrowheads="1"/>
          </p:cNvSpPr>
          <p:nvPr/>
        </p:nvSpPr>
        <p:spPr bwMode="auto">
          <a:xfrm>
            <a:off x="2509664" y="3976514"/>
            <a:ext cx="744538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4400" b="1">
                <a:solidFill>
                  <a:schemeClr val="hlink"/>
                </a:solidFill>
                <a:ea typeface="隶书" panose="02010509060101010101" pitchFamily="49" charset="-122"/>
              </a:rPr>
              <a:t>→</a:t>
            </a:r>
          </a:p>
        </p:txBody>
      </p:sp>
      <p:grpSp>
        <p:nvGrpSpPr>
          <p:cNvPr id="15368" name="Group 6"/>
          <p:cNvGrpSpPr>
            <a:grpSpLocks/>
          </p:cNvGrpSpPr>
          <p:nvPr/>
        </p:nvGrpSpPr>
        <p:grpSpPr bwMode="auto">
          <a:xfrm>
            <a:off x="314152" y="4419426"/>
            <a:ext cx="2805112" cy="2071688"/>
            <a:chOff x="576" y="1584"/>
            <a:chExt cx="1767" cy="1305"/>
          </a:xfrm>
        </p:grpSpPr>
        <p:graphicFrame>
          <p:nvGraphicFramePr>
            <p:cNvPr id="15379" name="Object 7"/>
            <p:cNvGraphicFramePr>
              <a:graphicFrameLocks noChangeAspect="1"/>
            </p:cNvGraphicFramePr>
            <p:nvPr/>
          </p:nvGraphicFramePr>
          <p:xfrm>
            <a:off x="576" y="1584"/>
            <a:ext cx="1767" cy="13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104" name="Flash Movie" r:id="rId5" imgW="3508200" imgH="2590920" progId="Flash.Movie">
                    <p:embed/>
                  </p:oleObj>
                </mc:Choice>
                <mc:Fallback>
                  <p:oleObj name="Flash Movie" r:id="rId5" imgW="3508200" imgH="2590920" progId="Flash.Movie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6" y="1584"/>
                          <a:ext cx="1767" cy="13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80" name="Object 8"/>
            <p:cNvGraphicFramePr>
              <a:graphicFrameLocks noChangeAspect="1"/>
            </p:cNvGraphicFramePr>
            <p:nvPr/>
          </p:nvGraphicFramePr>
          <p:xfrm>
            <a:off x="1920" y="1728"/>
            <a:ext cx="240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105" name="Equation" r:id="rId7" imgW="190335" imgH="215713" progId="Equation.3">
                    <p:embed/>
                  </p:oleObj>
                </mc:Choice>
                <mc:Fallback>
                  <p:oleObj name="Equation" r:id="rId7" imgW="190335" imgH="215713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0" y="1728"/>
                          <a:ext cx="240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81" name="Object 9"/>
            <p:cNvGraphicFramePr>
              <a:graphicFrameLocks noChangeAspect="1"/>
            </p:cNvGraphicFramePr>
            <p:nvPr/>
          </p:nvGraphicFramePr>
          <p:xfrm>
            <a:off x="912" y="1728"/>
            <a:ext cx="222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106" name="Equation" r:id="rId9" imgW="177569" imgH="215619" progId="Equation.3">
                    <p:embed/>
                  </p:oleObj>
                </mc:Choice>
                <mc:Fallback>
                  <p:oleObj name="Equation" r:id="rId9" imgW="177569" imgH="215619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2" y="1728"/>
                          <a:ext cx="222" cy="2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82" name="Object 10"/>
            <p:cNvGraphicFramePr>
              <a:graphicFrameLocks noChangeAspect="1"/>
            </p:cNvGraphicFramePr>
            <p:nvPr/>
          </p:nvGraphicFramePr>
          <p:xfrm>
            <a:off x="1440" y="1920"/>
            <a:ext cx="238" cy="2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107" name="Equation" r:id="rId11" imgW="190500" imgH="228600" progId="Equation.3">
                    <p:embed/>
                  </p:oleObj>
                </mc:Choice>
                <mc:Fallback>
                  <p:oleObj name="Equation" r:id="rId11" imgW="190500" imgH="228600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0" y="1920"/>
                          <a:ext cx="238" cy="2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84691" name="Group 19"/>
          <p:cNvGrpSpPr>
            <a:grpSpLocks/>
          </p:cNvGrpSpPr>
          <p:nvPr/>
        </p:nvGrpSpPr>
        <p:grpSpPr bwMode="auto">
          <a:xfrm>
            <a:off x="6243464" y="4317826"/>
            <a:ext cx="2754313" cy="2478088"/>
            <a:chOff x="3888" y="664"/>
            <a:chExt cx="1735" cy="1561"/>
          </a:xfrm>
        </p:grpSpPr>
        <p:graphicFrame>
          <p:nvGraphicFramePr>
            <p:cNvPr id="15375" name="Object 4"/>
            <p:cNvGraphicFramePr>
              <a:graphicFrameLocks noChangeAspect="1"/>
            </p:cNvGraphicFramePr>
            <p:nvPr/>
          </p:nvGraphicFramePr>
          <p:xfrm>
            <a:off x="3888" y="664"/>
            <a:ext cx="1735" cy="15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108" name="Flash 文档" r:id="rId13" imgW="3444840" imgH="3098160" progId="Flash.Movie">
                    <p:embed/>
                  </p:oleObj>
                </mc:Choice>
                <mc:Fallback>
                  <p:oleObj name="Flash 文档" r:id="rId13" imgW="3444840" imgH="3098160" progId="Flash.Movie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88" y="664"/>
                          <a:ext cx="1735" cy="15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76" name="Rectangle 18"/>
            <p:cNvSpPr>
              <a:spLocks noChangeArrowheads="1"/>
            </p:cNvSpPr>
            <p:nvPr/>
          </p:nvSpPr>
          <p:spPr bwMode="auto">
            <a:xfrm>
              <a:off x="4095" y="1277"/>
              <a:ext cx="136" cy="1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zh-CN" altLang="en-US" sz="1800"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</p:grpSp>
      <p:sp>
        <p:nvSpPr>
          <p:cNvPr id="15374" name="Rectangle 7"/>
          <p:cNvSpPr>
            <a:spLocks noChangeArrowheads="1"/>
          </p:cNvSpPr>
          <p:nvPr/>
        </p:nvSpPr>
        <p:spPr bwMode="auto">
          <a:xfrm>
            <a:off x="395288" y="163513"/>
            <a:ext cx="845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3200" dirty="0">
                <a:solidFill>
                  <a:schemeClr val="tx2"/>
                </a:solidFill>
                <a:ea typeface="隶书" panose="02010509060101010101" pitchFamily="49" charset="-122"/>
              </a:rPr>
              <a:t>2.5 </a:t>
            </a:r>
            <a:r>
              <a:rPr lang="zh-CN" altLang="en-US" sz="3200" dirty="0">
                <a:solidFill>
                  <a:schemeClr val="tx2"/>
                </a:solidFill>
                <a:ea typeface="隶书" panose="02010509060101010101" pitchFamily="49" charset="-122"/>
              </a:rPr>
              <a:t>星形与三角形电路</a:t>
            </a:r>
            <a:endParaRPr lang="en-US" altLang="zh-CN" sz="3200" dirty="0">
              <a:solidFill>
                <a:schemeClr val="tx2"/>
              </a:solidFill>
              <a:ea typeface="隶书" panose="02010509060101010101" pitchFamily="49" charset="-122"/>
            </a:endParaRPr>
          </a:p>
        </p:txBody>
      </p:sp>
      <p:graphicFrame>
        <p:nvGraphicFramePr>
          <p:cNvPr id="2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4151156"/>
              </p:ext>
            </p:extLst>
          </p:nvPr>
        </p:nvGraphicFramePr>
        <p:xfrm>
          <a:off x="260077" y="674291"/>
          <a:ext cx="3021013" cy="2478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09" name="Flash Movie" r:id="rId15" imgW="2391480" imgH="1961640" progId="Flash.Movie">
                  <p:embed/>
                </p:oleObj>
              </mc:Choice>
              <mc:Fallback>
                <p:oleObj name="Flash Movie" r:id="rId15" imgW="2391480" imgH="1961640" progId="Flash.Movie">
                  <p:embed/>
                  <p:pic>
                    <p:nvPicPr>
                      <p:cNvPr id="284683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077" y="674291"/>
                        <a:ext cx="3021013" cy="2478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4342698"/>
              </p:ext>
            </p:extLst>
          </p:nvPr>
        </p:nvGraphicFramePr>
        <p:xfrm>
          <a:off x="5940152" y="828278"/>
          <a:ext cx="2778125" cy="2373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10" name="Flash 文档" r:id="rId17" imgW="1997640" imgH="1707480" progId="Flash.Movie">
                  <p:embed/>
                </p:oleObj>
              </mc:Choice>
              <mc:Fallback>
                <p:oleObj name="Flash 文档" r:id="rId17" imgW="1997640" imgH="1707480" progId="Flash.Movie">
                  <p:embed/>
                  <p:pic>
                    <p:nvPicPr>
                      <p:cNvPr id="284684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0152" y="828278"/>
                        <a:ext cx="2778125" cy="2373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" name="Group 13"/>
          <p:cNvGrpSpPr>
            <a:grpSpLocks/>
          </p:cNvGrpSpPr>
          <p:nvPr/>
        </p:nvGrpSpPr>
        <p:grpSpPr bwMode="auto">
          <a:xfrm>
            <a:off x="2698477" y="2472928"/>
            <a:ext cx="4114800" cy="609600"/>
            <a:chOff x="1728" y="3792"/>
            <a:chExt cx="2592" cy="384"/>
          </a:xfrm>
        </p:grpSpPr>
        <p:sp>
          <p:nvSpPr>
            <p:cNvPr id="26" name="AutoShape 14"/>
            <p:cNvSpPr>
              <a:spLocks noChangeArrowheads="1"/>
            </p:cNvSpPr>
            <p:nvPr/>
          </p:nvSpPr>
          <p:spPr bwMode="auto">
            <a:xfrm>
              <a:off x="2328" y="3792"/>
              <a:ext cx="1104" cy="96"/>
            </a:xfrm>
            <a:prstGeom prst="leftRightArrow">
              <a:avLst>
                <a:gd name="adj1" fmla="val 50000"/>
                <a:gd name="adj2" fmla="val 230000"/>
              </a:avLst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zh-CN" altLang="en-US" sz="1800"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27" name="Rectangle 15"/>
            <p:cNvSpPr>
              <a:spLocks noChangeArrowheads="1"/>
            </p:cNvSpPr>
            <p:nvPr/>
          </p:nvSpPr>
          <p:spPr bwMode="auto">
            <a:xfrm>
              <a:off x="1728" y="3888"/>
              <a:ext cx="25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i="1" dirty="0">
                  <a:solidFill>
                    <a:schemeClr val="hlink"/>
                  </a:solidFill>
                  <a:ea typeface="隶书" panose="02010509060101010101" pitchFamily="49" charset="-122"/>
                </a:rPr>
                <a:t>           u-</a:t>
              </a:r>
              <a:r>
                <a:rPr lang="en-US" altLang="zh-CN" i="1" dirty="0" err="1">
                  <a:solidFill>
                    <a:schemeClr val="hlink"/>
                  </a:solidFill>
                  <a:ea typeface="隶书" panose="02010509060101010101" pitchFamily="49" charset="-122"/>
                </a:rPr>
                <a:t>i</a:t>
              </a:r>
              <a:r>
                <a:rPr lang="en-US" altLang="zh-CN" dirty="0">
                  <a:solidFill>
                    <a:schemeClr val="hlink"/>
                  </a:solidFill>
                  <a:ea typeface="隶书" panose="02010509060101010101" pitchFamily="49" charset="-122"/>
                </a:rPr>
                <a:t> </a:t>
              </a:r>
              <a:r>
                <a:rPr lang="zh-CN" altLang="en-US" dirty="0">
                  <a:solidFill>
                    <a:schemeClr val="hlink"/>
                  </a:solidFill>
                  <a:ea typeface="隶书" panose="02010509060101010101" pitchFamily="49" charset="-122"/>
                </a:rPr>
                <a:t>关系相同</a:t>
              </a:r>
            </a:p>
          </p:txBody>
        </p:sp>
      </p:grpSp>
      <p:graphicFrame>
        <p:nvGraphicFramePr>
          <p:cNvPr id="28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2988296"/>
              </p:ext>
            </p:extLst>
          </p:nvPr>
        </p:nvGraphicFramePr>
        <p:xfrm>
          <a:off x="3303315" y="1761728"/>
          <a:ext cx="2663825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11" name="公式" r:id="rId19" imgW="952087" imgH="241195" progId="Equation.3">
                  <p:embed/>
                </p:oleObj>
              </mc:Choice>
              <mc:Fallback>
                <p:oleObj name="公式" r:id="rId19" imgW="952087" imgH="241195" progId="Equation.3">
                  <p:embed/>
                  <p:pic>
                    <p:nvPicPr>
                      <p:cNvPr id="284689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3315" y="1761728"/>
                        <a:ext cx="2663825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Rectangle 2"/>
          <p:cNvSpPr>
            <a:spLocks noChangeArrowheads="1"/>
          </p:cNvSpPr>
          <p:nvPr/>
        </p:nvSpPr>
        <p:spPr bwMode="auto">
          <a:xfrm>
            <a:off x="1023764" y="3172222"/>
            <a:ext cx="16491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>
                <a:solidFill>
                  <a:srgbClr val="FF0000"/>
                </a:solidFill>
                <a:ea typeface="隶书" panose="02010509060101010101" pitchFamily="49" charset="-122"/>
              </a:rPr>
              <a:t>星形电路</a:t>
            </a:r>
            <a:endParaRPr lang="en-US" altLang="zh-CN" sz="2800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sp>
        <p:nvSpPr>
          <p:cNvPr id="30" name="Rectangle 2"/>
          <p:cNvSpPr>
            <a:spLocks noChangeArrowheads="1"/>
          </p:cNvSpPr>
          <p:nvPr/>
        </p:nvSpPr>
        <p:spPr bwMode="auto">
          <a:xfrm>
            <a:off x="6444208" y="3172222"/>
            <a:ext cx="2099816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>
                <a:solidFill>
                  <a:srgbClr val="FF0000"/>
                </a:solidFill>
                <a:ea typeface="隶书" panose="02010509060101010101" pitchFamily="49" charset="-122"/>
              </a:rPr>
              <a:t>三角形电路</a:t>
            </a:r>
            <a:endParaRPr lang="en-US" altLang="zh-CN" sz="2800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284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284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000"/>
                                        <p:tgtEl>
                                          <p:spTgt spid="284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5" grpId="0"/>
      <p:bldP spid="284677" grpId="0" autoUpdateAnimBg="0"/>
      <p:bldP spid="29" grpId="0"/>
      <p:bldP spid="30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39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8608192"/>
              </p:ext>
            </p:extLst>
          </p:nvPr>
        </p:nvGraphicFramePr>
        <p:xfrm>
          <a:off x="-13648" y="4170363"/>
          <a:ext cx="2778125" cy="2373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36" name="Flash 文档" r:id="rId3" imgW="1997640" imgH="1707480" progId="Flash.Movie">
                  <p:embed/>
                </p:oleObj>
              </mc:Choice>
              <mc:Fallback>
                <p:oleObj name="Flash 文档" r:id="rId3" imgW="1997640" imgH="1707480" progId="Flash.Movie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13648" y="4170363"/>
                        <a:ext cx="2778125" cy="2373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日期占位符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FAD8BA7A-528B-444B-8380-F8C01D616DDD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21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2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3ADED5-0B60-4859-B1F7-6C4A3D357A07}" type="slidenum">
              <a:rPr lang="en-US" altLang="zh-CN"/>
              <a:pPr>
                <a:defRPr/>
              </a:pPr>
              <a:t>28</a:t>
            </a:fld>
            <a:endParaRPr lang="en-US" altLang="zh-CN"/>
          </a:p>
        </p:txBody>
      </p:sp>
      <p:sp>
        <p:nvSpPr>
          <p:cNvPr id="16389" name="Rectangle 2"/>
          <p:cNvSpPr>
            <a:spLocks noChangeArrowheads="1"/>
          </p:cNvSpPr>
          <p:nvPr/>
        </p:nvSpPr>
        <p:spPr bwMode="auto">
          <a:xfrm>
            <a:off x="381000" y="560388"/>
            <a:ext cx="845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CC3300"/>
                </a:solidFill>
                <a:ea typeface="隶书" panose="02010509060101010101" pitchFamily="49" charset="-122"/>
              </a:rPr>
              <a:t>星－三角变换 </a:t>
            </a:r>
            <a:r>
              <a:rPr lang="en-US" altLang="zh-CN" sz="2800">
                <a:solidFill>
                  <a:srgbClr val="CC3300"/>
                </a:solidFill>
                <a:ea typeface="隶书" panose="02010509060101010101" pitchFamily="49" charset="-122"/>
              </a:rPr>
              <a:t>Wye-Delta Transformation</a:t>
            </a:r>
          </a:p>
        </p:txBody>
      </p:sp>
      <p:graphicFrame>
        <p:nvGraphicFramePr>
          <p:cNvPr id="1639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6450254"/>
              </p:ext>
            </p:extLst>
          </p:nvPr>
        </p:nvGraphicFramePr>
        <p:xfrm>
          <a:off x="5832475" y="4071145"/>
          <a:ext cx="3021013" cy="2478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37" name="Flash Movie" r:id="rId5" imgW="2391480" imgH="1961640" progId="Flash.Movie">
                  <p:embed/>
                </p:oleObj>
              </mc:Choice>
              <mc:Fallback>
                <p:oleObj name="Flash Movie" r:id="rId5" imgW="2391480" imgH="1961640" progId="Flash.Movie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2475" y="4071145"/>
                        <a:ext cx="3021013" cy="2478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392" name="Group 5"/>
          <p:cNvGrpSpPr>
            <a:grpSpLocks/>
          </p:cNvGrpSpPr>
          <p:nvPr/>
        </p:nvGrpSpPr>
        <p:grpSpPr bwMode="auto">
          <a:xfrm>
            <a:off x="2615407" y="5873751"/>
            <a:ext cx="4242593" cy="652462"/>
            <a:chOff x="1728" y="3792"/>
            <a:chExt cx="2592" cy="384"/>
          </a:xfrm>
        </p:grpSpPr>
        <p:sp>
          <p:nvSpPr>
            <p:cNvPr id="16405" name="AutoShape 6"/>
            <p:cNvSpPr>
              <a:spLocks noChangeArrowheads="1"/>
            </p:cNvSpPr>
            <p:nvPr/>
          </p:nvSpPr>
          <p:spPr bwMode="auto">
            <a:xfrm>
              <a:off x="2328" y="3792"/>
              <a:ext cx="1104" cy="96"/>
            </a:xfrm>
            <a:prstGeom prst="leftRightArrow">
              <a:avLst>
                <a:gd name="adj1" fmla="val 50000"/>
                <a:gd name="adj2" fmla="val 230000"/>
              </a:avLst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zh-CN" altLang="en-US" sz="1800"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16406" name="Rectangle 7"/>
            <p:cNvSpPr>
              <a:spLocks noChangeArrowheads="1"/>
            </p:cNvSpPr>
            <p:nvPr/>
          </p:nvSpPr>
          <p:spPr bwMode="auto">
            <a:xfrm>
              <a:off x="1728" y="3888"/>
              <a:ext cx="25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i="1" dirty="0">
                  <a:solidFill>
                    <a:schemeClr val="hlink"/>
                  </a:solidFill>
                  <a:ea typeface="隶书" panose="02010509060101010101" pitchFamily="49" charset="-122"/>
                </a:rPr>
                <a:t>           u-</a:t>
              </a:r>
              <a:r>
                <a:rPr lang="en-US" altLang="zh-CN" i="1" dirty="0" err="1">
                  <a:solidFill>
                    <a:schemeClr val="hlink"/>
                  </a:solidFill>
                  <a:ea typeface="隶书" panose="02010509060101010101" pitchFamily="49" charset="-122"/>
                </a:rPr>
                <a:t>i</a:t>
              </a:r>
              <a:r>
                <a:rPr lang="en-US" altLang="zh-CN" dirty="0">
                  <a:solidFill>
                    <a:schemeClr val="hlink"/>
                  </a:solidFill>
                  <a:ea typeface="隶书" panose="02010509060101010101" pitchFamily="49" charset="-122"/>
                </a:rPr>
                <a:t> </a:t>
              </a:r>
              <a:r>
                <a:rPr lang="zh-CN" altLang="en-US" dirty="0">
                  <a:solidFill>
                    <a:schemeClr val="hlink"/>
                  </a:solidFill>
                  <a:ea typeface="隶书" panose="02010509060101010101" pitchFamily="49" charset="-122"/>
                </a:rPr>
                <a:t>关系相同</a:t>
              </a:r>
            </a:p>
          </p:txBody>
        </p:sp>
      </p:grpSp>
      <p:graphicFrame>
        <p:nvGraphicFramePr>
          <p:cNvPr id="16393" name="Object 9"/>
          <p:cNvGraphicFramePr>
            <a:graphicFrameLocks noChangeAspect="1"/>
          </p:cNvGraphicFramePr>
          <p:nvPr/>
        </p:nvGraphicFramePr>
        <p:xfrm>
          <a:off x="3348038" y="5300663"/>
          <a:ext cx="2663825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38" name="公式" r:id="rId7" imgW="952087" imgH="241195" progId="Equation.3">
                  <p:embed/>
                </p:oleObj>
              </mc:Choice>
              <mc:Fallback>
                <p:oleObj name="公式" r:id="rId7" imgW="952087" imgH="241195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5300663"/>
                        <a:ext cx="2663825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5706" name="Object 10"/>
          <p:cNvGraphicFramePr>
            <a:graphicFrameLocks noChangeAspect="1"/>
          </p:cNvGraphicFramePr>
          <p:nvPr/>
        </p:nvGraphicFramePr>
        <p:xfrm>
          <a:off x="1476375" y="2852738"/>
          <a:ext cx="6429375" cy="992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39" name="Equation" r:id="rId9" imgW="2781300" imgH="431800" progId="Equation.DSMT4">
                  <p:embed/>
                </p:oleObj>
              </mc:Choice>
              <mc:Fallback>
                <p:oleObj name="Equation" r:id="rId9" imgW="2781300" imgH="4318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2852738"/>
                        <a:ext cx="6429375" cy="992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85707" name="Group 11"/>
          <p:cNvGrpSpPr>
            <a:grpSpLocks/>
          </p:cNvGrpSpPr>
          <p:nvPr/>
        </p:nvGrpSpPr>
        <p:grpSpPr bwMode="auto">
          <a:xfrm>
            <a:off x="1473840" y="4651375"/>
            <a:ext cx="311150" cy="442913"/>
            <a:chOff x="4694" y="2886"/>
            <a:chExt cx="196" cy="279"/>
          </a:xfrm>
        </p:grpSpPr>
        <p:sp>
          <p:nvSpPr>
            <p:cNvPr id="16403" name="Line 12"/>
            <p:cNvSpPr>
              <a:spLocks noChangeShapeType="1"/>
            </p:cNvSpPr>
            <p:nvPr/>
          </p:nvSpPr>
          <p:spPr bwMode="auto">
            <a:xfrm>
              <a:off x="4694" y="3022"/>
              <a:ext cx="91" cy="136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6404" name="Object 13"/>
            <p:cNvGraphicFramePr>
              <a:graphicFrameLocks noChangeAspect="1"/>
            </p:cNvGraphicFramePr>
            <p:nvPr/>
          </p:nvGraphicFramePr>
          <p:xfrm>
            <a:off x="4740" y="2886"/>
            <a:ext cx="150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140" name="Equation" r:id="rId11" imgW="88707" imgH="164742" progId="Equation.DSMT4">
                    <p:embed/>
                  </p:oleObj>
                </mc:Choice>
                <mc:Fallback>
                  <p:oleObj name="Equation" r:id="rId11" imgW="88707" imgH="164742" progId="Equation.DSMT4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40" y="2886"/>
                          <a:ext cx="150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85710" name="Rectangle 14"/>
          <p:cNvSpPr>
            <a:spLocks noChangeArrowheads="1"/>
          </p:cNvSpPr>
          <p:nvPr/>
        </p:nvSpPr>
        <p:spPr bwMode="auto">
          <a:xfrm>
            <a:off x="250825" y="1198563"/>
            <a:ext cx="272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>
                <a:solidFill>
                  <a:schemeClr val="accent2"/>
                </a:solidFill>
                <a:ea typeface="隶书" panose="02010509060101010101" pitchFamily="49" charset="-122"/>
              </a:rPr>
              <a:t>KVL</a:t>
            </a:r>
            <a:r>
              <a:rPr lang="zh-CN" altLang="en-US">
                <a:solidFill>
                  <a:schemeClr val="accent2"/>
                </a:solidFill>
                <a:ea typeface="隶书" panose="02010509060101010101" pitchFamily="49" charset="-122"/>
              </a:rPr>
              <a:t>、</a:t>
            </a:r>
            <a:r>
              <a:rPr lang="en-US" altLang="zh-CN">
                <a:solidFill>
                  <a:schemeClr val="accent2"/>
                </a:solidFill>
                <a:ea typeface="隶书" panose="02010509060101010101" pitchFamily="49" charset="-122"/>
              </a:rPr>
              <a:t>KCL</a:t>
            </a:r>
            <a:r>
              <a:rPr lang="zh-CN" altLang="en-US">
                <a:solidFill>
                  <a:schemeClr val="accent2"/>
                </a:solidFill>
                <a:ea typeface="隶书" panose="02010509060101010101" pitchFamily="49" charset="-122"/>
              </a:rPr>
              <a:t>确定</a:t>
            </a:r>
            <a:r>
              <a:rPr lang="en-US" altLang="zh-CN" i="1">
                <a:solidFill>
                  <a:schemeClr val="accent2"/>
                </a:solidFill>
                <a:ea typeface="隶书" panose="02010509060101010101" pitchFamily="49" charset="-122"/>
              </a:rPr>
              <a:t>i</a:t>
            </a:r>
            <a:r>
              <a:rPr lang="zh-CN" altLang="en-US">
                <a:solidFill>
                  <a:schemeClr val="accent2"/>
                </a:solidFill>
                <a:ea typeface="隶书" panose="02010509060101010101" pitchFamily="49" charset="-122"/>
              </a:rPr>
              <a:t>：</a:t>
            </a:r>
          </a:p>
        </p:txBody>
      </p:sp>
      <p:graphicFrame>
        <p:nvGraphicFramePr>
          <p:cNvPr id="285711" name="Object 15"/>
          <p:cNvGraphicFramePr>
            <a:graphicFrameLocks noChangeAspect="1"/>
          </p:cNvGraphicFramePr>
          <p:nvPr/>
        </p:nvGraphicFramePr>
        <p:xfrm>
          <a:off x="2843213" y="1196975"/>
          <a:ext cx="4578350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41" name="Equation" r:id="rId13" imgW="1981200" imgH="228600" progId="Equation.DSMT4">
                  <p:embed/>
                </p:oleObj>
              </mc:Choice>
              <mc:Fallback>
                <p:oleObj name="Equation" r:id="rId13" imgW="1981200" imgH="2286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213" y="1196975"/>
                        <a:ext cx="4578350" cy="525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5714" name="Object 18"/>
          <p:cNvGraphicFramePr>
            <a:graphicFrameLocks noGrp="1" noChangeAspect="1"/>
          </p:cNvGraphicFramePr>
          <p:nvPr>
            <p:ph idx="4294967295"/>
          </p:nvPr>
        </p:nvGraphicFramePr>
        <p:xfrm>
          <a:off x="2987675" y="1844675"/>
          <a:ext cx="2303463" cy="90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42" name="Equation" r:id="rId15" imgW="1104900" imgH="431800" progId="Equation.DSMT4">
                  <p:embed/>
                </p:oleObj>
              </mc:Choice>
              <mc:Fallback>
                <p:oleObj name="Equation" r:id="rId15" imgW="1104900" imgH="4318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1844675"/>
                        <a:ext cx="2303463" cy="900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85721" name="Group 25"/>
          <p:cNvGrpSpPr>
            <a:grpSpLocks/>
          </p:cNvGrpSpPr>
          <p:nvPr/>
        </p:nvGrpSpPr>
        <p:grpSpPr bwMode="auto">
          <a:xfrm>
            <a:off x="2489201" y="4005263"/>
            <a:ext cx="3954463" cy="992187"/>
            <a:chOff x="1568" y="2523"/>
            <a:chExt cx="2491" cy="625"/>
          </a:xfrm>
        </p:grpSpPr>
        <p:graphicFrame>
          <p:nvGraphicFramePr>
            <p:cNvPr id="16401" name="Object 20"/>
            <p:cNvGraphicFramePr>
              <a:graphicFrameLocks noChangeAspect="1"/>
            </p:cNvGraphicFramePr>
            <p:nvPr/>
          </p:nvGraphicFramePr>
          <p:xfrm>
            <a:off x="2302" y="2523"/>
            <a:ext cx="1757" cy="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143" name="Equation" r:id="rId17" imgW="1206500" imgH="431800" progId="Equation.DSMT4">
                    <p:embed/>
                  </p:oleObj>
                </mc:Choice>
                <mc:Fallback>
                  <p:oleObj name="Equation" r:id="rId17" imgW="1206500" imgH="431800" progId="Equation.DSMT4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02" y="2523"/>
                          <a:ext cx="1757" cy="625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0000FF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CC00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02" name="Object 2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4647617"/>
                </p:ext>
              </p:extLst>
            </p:nvPr>
          </p:nvGraphicFramePr>
          <p:xfrm>
            <a:off x="1568" y="2677"/>
            <a:ext cx="748" cy="2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144" name="Equation" r:id="rId19" imgW="469696" imgH="177723" progId="Equation.DSMT4">
                    <p:embed/>
                  </p:oleObj>
                </mc:Choice>
                <mc:Fallback>
                  <p:oleObj name="Equation" r:id="rId19" imgW="469696" imgH="177723" progId="Equation.DSMT4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68" y="2677"/>
                          <a:ext cx="748" cy="283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0000FF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400" name="Rectangle 7"/>
          <p:cNvSpPr>
            <a:spLocks noChangeArrowheads="1"/>
          </p:cNvSpPr>
          <p:nvPr/>
        </p:nvSpPr>
        <p:spPr bwMode="auto">
          <a:xfrm>
            <a:off x="395288" y="163513"/>
            <a:ext cx="845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3200" dirty="0">
                <a:solidFill>
                  <a:schemeClr val="tx2"/>
                </a:solidFill>
                <a:ea typeface="隶书" panose="02010509060101010101" pitchFamily="49" charset="-122"/>
              </a:rPr>
              <a:t>2.5 </a:t>
            </a:r>
            <a:r>
              <a:rPr lang="zh-CN" altLang="en-US" sz="3200" dirty="0">
                <a:solidFill>
                  <a:schemeClr val="tx2"/>
                </a:solidFill>
                <a:ea typeface="隶书" panose="02010509060101010101" pitchFamily="49" charset="-122"/>
              </a:rPr>
              <a:t>星形与三角形电路</a:t>
            </a:r>
            <a:endParaRPr lang="en-US" altLang="zh-CN" sz="3200" dirty="0">
              <a:solidFill>
                <a:schemeClr val="tx2"/>
              </a:solidFill>
              <a:ea typeface="隶书" panose="020105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2857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2857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285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285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285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285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285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571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日期占位符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FD96E004-4619-4231-BD68-EC7C4D7FB07B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21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22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3CCADE-D1C8-4552-80AC-606D35BFB4E5}" type="slidenum">
              <a:rPr lang="en-US" altLang="zh-CN"/>
              <a:pPr>
                <a:defRPr/>
              </a:pPr>
              <a:t>29</a:t>
            </a:fld>
            <a:endParaRPr lang="en-US" altLang="zh-CN"/>
          </a:p>
        </p:txBody>
      </p:sp>
      <p:sp>
        <p:nvSpPr>
          <p:cNvPr id="17413" name="Rectangle 2"/>
          <p:cNvSpPr>
            <a:spLocks noChangeArrowheads="1"/>
          </p:cNvSpPr>
          <p:nvPr/>
        </p:nvSpPr>
        <p:spPr bwMode="auto">
          <a:xfrm>
            <a:off x="381000" y="560388"/>
            <a:ext cx="845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CC3300"/>
                </a:solidFill>
                <a:ea typeface="隶书" panose="02010509060101010101" pitchFamily="49" charset="-122"/>
              </a:rPr>
              <a:t>星－三角变换 </a:t>
            </a:r>
            <a:r>
              <a:rPr lang="en-US" altLang="zh-CN" sz="2800">
                <a:solidFill>
                  <a:srgbClr val="CC3300"/>
                </a:solidFill>
                <a:ea typeface="隶书" panose="02010509060101010101" pitchFamily="49" charset="-122"/>
              </a:rPr>
              <a:t>Wye-Delta Transformation</a:t>
            </a:r>
          </a:p>
        </p:txBody>
      </p:sp>
      <p:graphicFrame>
        <p:nvGraphicFramePr>
          <p:cNvPr id="17414" name="Object 3"/>
          <p:cNvGraphicFramePr>
            <a:graphicFrameLocks noChangeAspect="1"/>
          </p:cNvGraphicFramePr>
          <p:nvPr/>
        </p:nvGraphicFramePr>
        <p:xfrm>
          <a:off x="304800" y="4141788"/>
          <a:ext cx="3021013" cy="2478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11" name="Flash Movie" r:id="rId3" imgW="2391480" imgH="1961640" progId="Flash.Movie">
                  <p:embed/>
                </p:oleObj>
              </mc:Choice>
              <mc:Fallback>
                <p:oleObj name="Flash Movie" r:id="rId3" imgW="2391480" imgH="1961640" progId="Flash.Movie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4141788"/>
                        <a:ext cx="3021013" cy="2478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5" name="Object 4"/>
          <p:cNvGraphicFramePr>
            <a:graphicFrameLocks noChangeAspect="1"/>
          </p:cNvGraphicFramePr>
          <p:nvPr/>
        </p:nvGraphicFramePr>
        <p:xfrm>
          <a:off x="5984875" y="4224338"/>
          <a:ext cx="2778125" cy="2373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12" name="Flash 文档" r:id="rId5" imgW="1997640" imgH="1707480" progId="Flash.Movie">
                  <p:embed/>
                </p:oleObj>
              </mc:Choice>
              <mc:Fallback>
                <p:oleObj name="Flash 文档" r:id="rId5" imgW="1997640" imgH="1707480" progId="Flash.Movie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4875" y="4224338"/>
                        <a:ext cx="2778125" cy="2373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416" name="Group 5"/>
          <p:cNvGrpSpPr>
            <a:grpSpLocks/>
          </p:cNvGrpSpPr>
          <p:nvPr/>
        </p:nvGrpSpPr>
        <p:grpSpPr bwMode="auto">
          <a:xfrm>
            <a:off x="2743200" y="5916613"/>
            <a:ext cx="4114800" cy="609600"/>
            <a:chOff x="1728" y="3792"/>
            <a:chExt cx="2592" cy="384"/>
          </a:xfrm>
        </p:grpSpPr>
        <p:sp>
          <p:nvSpPr>
            <p:cNvPr id="17429" name="AutoShape 6"/>
            <p:cNvSpPr>
              <a:spLocks noChangeArrowheads="1"/>
            </p:cNvSpPr>
            <p:nvPr/>
          </p:nvSpPr>
          <p:spPr bwMode="auto">
            <a:xfrm>
              <a:off x="2328" y="3792"/>
              <a:ext cx="1104" cy="96"/>
            </a:xfrm>
            <a:prstGeom prst="leftRightArrow">
              <a:avLst>
                <a:gd name="adj1" fmla="val 50000"/>
                <a:gd name="adj2" fmla="val 230000"/>
              </a:avLst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zh-CN" altLang="en-US" sz="1800"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17430" name="Rectangle 7"/>
            <p:cNvSpPr>
              <a:spLocks noChangeArrowheads="1"/>
            </p:cNvSpPr>
            <p:nvPr/>
          </p:nvSpPr>
          <p:spPr bwMode="auto">
            <a:xfrm>
              <a:off x="1728" y="3888"/>
              <a:ext cx="25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i="1">
                  <a:solidFill>
                    <a:schemeClr val="hlink"/>
                  </a:solidFill>
                  <a:ea typeface="隶书" panose="02010509060101010101" pitchFamily="49" charset="-122"/>
                </a:rPr>
                <a:t>           u-i</a:t>
              </a:r>
              <a:r>
                <a:rPr lang="en-US" altLang="zh-CN">
                  <a:solidFill>
                    <a:schemeClr val="hlink"/>
                  </a:solidFill>
                  <a:ea typeface="隶书" panose="02010509060101010101" pitchFamily="49" charset="-122"/>
                </a:rPr>
                <a:t> </a:t>
              </a:r>
              <a:r>
                <a:rPr lang="zh-CN" altLang="en-US">
                  <a:solidFill>
                    <a:schemeClr val="hlink"/>
                  </a:solidFill>
                  <a:ea typeface="隶书" panose="02010509060101010101" pitchFamily="49" charset="-122"/>
                </a:rPr>
                <a:t>关系相同</a:t>
              </a:r>
            </a:p>
          </p:txBody>
        </p:sp>
      </p:grpSp>
      <p:graphicFrame>
        <p:nvGraphicFramePr>
          <p:cNvPr id="17417" name="Object 9"/>
          <p:cNvGraphicFramePr>
            <a:graphicFrameLocks noChangeAspect="1"/>
          </p:cNvGraphicFramePr>
          <p:nvPr/>
        </p:nvGraphicFramePr>
        <p:xfrm>
          <a:off x="3033713" y="5300663"/>
          <a:ext cx="31496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13" name="Equation" r:id="rId7" imgW="812447" imgH="177723" progId="Equation.DSMT4">
                  <p:embed/>
                </p:oleObj>
              </mc:Choice>
              <mc:Fallback>
                <p:oleObj name="Equation" r:id="rId7" imgW="812447" imgH="177723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3713" y="5300663"/>
                        <a:ext cx="3149600" cy="6858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3898" name="Object 10"/>
          <p:cNvGraphicFramePr>
            <a:graphicFrameLocks noChangeAspect="1"/>
          </p:cNvGraphicFramePr>
          <p:nvPr/>
        </p:nvGraphicFramePr>
        <p:xfrm>
          <a:off x="809625" y="2868613"/>
          <a:ext cx="6931025" cy="992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14" name="Equation" r:id="rId9" imgW="2997200" imgH="431800" progId="Equation.DSMT4">
                  <p:embed/>
                </p:oleObj>
              </mc:Choice>
              <mc:Fallback>
                <p:oleObj name="Equation" r:id="rId9" imgW="2997200" imgH="4318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9625" y="2868613"/>
                        <a:ext cx="6931025" cy="992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3902" name="Rectangle 14"/>
          <p:cNvSpPr>
            <a:spLocks noChangeArrowheads="1"/>
          </p:cNvSpPr>
          <p:nvPr/>
        </p:nvSpPr>
        <p:spPr bwMode="auto">
          <a:xfrm>
            <a:off x="250825" y="1052513"/>
            <a:ext cx="27924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>
                <a:solidFill>
                  <a:schemeClr val="accent2"/>
                </a:solidFill>
                <a:ea typeface="隶书" panose="02010509060101010101" pitchFamily="49" charset="-122"/>
              </a:rPr>
              <a:t>KVL</a:t>
            </a:r>
            <a:r>
              <a:rPr lang="zh-CN" altLang="en-US">
                <a:solidFill>
                  <a:schemeClr val="accent2"/>
                </a:solidFill>
                <a:ea typeface="隶书" panose="02010509060101010101" pitchFamily="49" charset="-122"/>
              </a:rPr>
              <a:t>、</a:t>
            </a:r>
            <a:r>
              <a:rPr lang="en-US" altLang="zh-CN">
                <a:solidFill>
                  <a:schemeClr val="accent2"/>
                </a:solidFill>
                <a:ea typeface="隶书" panose="02010509060101010101" pitchFamily="49" charset="-122"/>
              </a:rPr>
              <a:t>KCL</a:t>
            </a:r>
            <a:r>
              <a:rPr lang="zh-CN" altLang="en-US">
                <a:solidFill>
                  <a:schemeClr val="accent2"/>
                </a:solidFill>
                <a:ea typeface="隶书" panose="02010509060101010101" pitchFamily="49" charset="-122"/>
              </a:rPr>
              <a:t>确定</a:t>
            </a:r>
            <a:r>
              <a:rPr lang="en-US" altLang="zh-CN" i="1">
                <a:solidFill>
                  <a:schemeClr val="accent2"/>
                </a:solidFill>
                <a:ea typeface="隶书" panose="02010509060101010101" pitchFamily="49" charset="-122"/>
              </a:rPr>
              <a:t>u</a:t>
            </a:r>
            <a:r>
              <a:rPr lang="zh-CN" altLang="en-US">
                <a:solidFill>
                  <a:schemeClr val="accent2"/>
                </a:solidFill>
                <a:ea typeface="隶书" panose="02010509060101010101" pitchFamily="49" charset="-122"/>
              </a:rPr>
              <a:t>：</a:t>
            </a:r>
          </a:p>
        </p:txBody>
      </p:sp>
      <p:graphicFrame>
        <p:nvGraphicFramePr>
          <p:cNvPr id="293903" name="Object 15"/>
          <p:cNvGraphicFramePr>
            <a:graphicFrameLocks noChangeAspect="1"/>
          </p:cNvGraphicFramePr>
          <p:nvPr/>
        </p:nvGraphicFramePr>
        <p:xfrm>
          <a:off x="2987675" y="1052513"/>
          <a:ext cx="4756150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15" name="Equation" r:id="rId11" imgW="2057400" imgH="228600" progId="Equation.DSMT4">
                  <p:embed/>
                </p:oleObj>
              </mc:Choice>
              <mc:Fallback>
                <p:oleObj name="Equation" r:id="rId11" imgW="2057400" imgH="2286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1052513"/>
                        <a:ext cx="4756150" cy="525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3905" name="Object 17"/>
          <p:cNvGraphicFramePr>
            <a:graphicFrameLocks noChangeAspect="1"/>
          </p:cNvGraphicFramePr>
          <p:nvPr/>
        </p:nvGraphicFramePr>
        <p:xfrm>
          <a:off x="3635375" y="3933825"/>
          <a:ext cx="2808288" cy="1049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16" name="Equation" r:id="rId13" imgW="1155700" imgH="431800" progId="Equation.DSMT4">
                  <p:embed/>
                </p:oleObj>
              </mc:Choice>
              <mc:Fallback>
                <p:oleObj name="Equation" r:id="rId13" imgW="1155700" imgH="4318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375" y="3933825"/>
                        <a:ext cx="2808288" cy="1049338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>
                                <a:alpha val="50195"/>
                              </a:schemeClr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3911" name="Group 23"/>
          <p:cNvGrpSpPr>
            <a:grpSpLocks/>
          </p:cNvGrpSpPr>
          <p:nvPr/>
        </p:nvGrpSpPr>
        <p:grpSpPr bwMode="auto">
          <a:xfrm>
            <a:off x="1390650" y="4567238"/>
            <a:ext cx="373063" cy="1022350"/>
            <a:chOff x="876" y="2877"/>
            <a:chExt cx="235" cy="644"/>
          </a:xfrm>
        </p:grpSpPr>
        <p:graphicFrame>
          <p:nvGraphicFramePr>
            <p:cNvPr id="17426" name="Object 13"/>
            <p:cNvGraphicFramePr>
              <a:graphicFrameLocks noChangeAspect="1"/>
            </p:cNvGraphicFramePr>
            <p:nvPr/>
          </p:nvGraphicFramePr>
          <p:xfrm>
            <a:off x="886" y="3104"/>
            <a:ext cx="214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317" name="Equation" r:id="rId15" imgW="126835" imgH="139518" progId="Equation.DSMT4">
                    <p:embed/>
                  </p:oleObj>
                </mc:Choice>
                <mc:Fallback>
                  <p:oleObj name="Equation" r:id="rId15" imgW="126835" imgH="139518" progId="Equation.DSMT4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86" y="3104"/>
                          <a:ext cx="214" cy="2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27" name="Object 18"/>
            <p:cNvGraphicFramePr>
              <a:graphicFrameLocks noChangeAspect="1"/>
            </p:cNvGraphicFramePr>
            <p:nvPr/>
          </p:nvGraphicFramePr>
          <p:xfrm>
            <a:off x="876" y="2877"/>
            <a:ext cx="235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318" name="Equation" r:id="rId17" imgW="139700" imgH="139700" progId="Equation.DSMT4">
                    <p:embed/>
                  </p:oleObj>
                </mc:Choice>
                <mc:Fallback>
                  <p:oleObj name="Equation" r:id="rId17" imgW="139700" imgH="139700" progId="Equation.DSMT4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76" y="2877"/>
                          <a:ext cx="235" cy="2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28" name="Object 22"/>
            <p:cNvGraphicFramePr>
              <a:graphicFrameLocks noChangeAspect="1"/>
            </p:cNvGraphicFramePr>
            <p:nvPr/>
          </p:nvGraphicFramePr>
          <p:xfrm>
            <a:off x="887" y="3349"/>
            <a:ext cx="213" cy="1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319" name="Equation" r:id="rId19" imgW="126780" imgH="101424" progId="Equation.DSMT4">
                    <p:embed/>
                  </p:oleObj>
                </mc:Choice>
                <mc:Fallback>
                  <p:oleObj name="Equation" r:id="rId19" imgW="126780" imgH="101424" progId="Equation.DSMT4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87" y="3349"/>
                          <a:ext cx="213" cy="1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93912" name="Object 24"/>
          <p:cNvGraphicFramePr>
            <a:graphicFrameLocks noChangeAspect="1"/>
          </p:cNvGraphicFramePr>
          <p:nvPr/>
        </p:nvGraphicFramePr>
        <p:xfrm>
          <a:off x="3059113" y="1773238"/>
          <a:ext cx="2495550" cy="992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20" name="Equation" r:id="rId21" imgW="1079032" imgH="431613" progId="Equation.DSMT4">
                  <p:embed/>
                </p:oleObj>
              </mc:Choice>
              <mc:Fallback>
                <p:oleObj name="Equation" r:id="rId21" imgW="1079032" imgH="431613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1773238"/>
                        <a:ext cx="2495550" cy="992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3913" name="Object 25"/>
          <p:cNvGraphicFramePr>
            <a:graphicFrameLocks noGrp="1" noChangeAspect="1"/>
          </p:cNvGraphicFramePr>
          <p:nvPr>
            <p:ph/>
          </p:nvPr>
        </p:nvGraphicFramePr>
        <p:xfrm>
          <a:off x="2436813" y="4221163"/>
          <a:ext cx="1187450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21" name="Equation" r:id="rId23" imgW="469696" imgH="177723" progId="Equation.DSMT4">
                  <p:embed/>
                </p:oleObj>
              </mc:Choice>
              <mc:Fallback>
                <p:oleObj name="Equation" r:id="rId23" imgW="469696" imgH="177723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6813" y="4221163"/>
                        <a:ext cx="1187450" cy="449262"/>
                      </a:xfrm>
                      <a:prstGeom prst="rect">
                        <a:avLst/>
                      </a:prstGeom>
                      <a:noFill/>
                      <a:ln w="9525" cap="flat" cmpd="sng">
                        <a:solidFill>
                          <a:srgbClr val="0000FF"/>
                        </a:solidFill>
                        <a:prstDash val="solid"/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25" name="Rectangle 7"/>
          <p:cNvSpPr>
            <a:spLocks noChangeArrowheads="1"/>
          </p:cNvSpPr>
          <p:nvPr/>
        </p:nvSpPr>
        <p:spPr bwMode="auto">
          <a:xfrm>
            <a:off x="395288" y="163513"/>
            <a:ext cx="845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3200" dirty="0">
                <a:solidFill>
                  <a:schemeClr val="tx2"/>
                </a:solidFill>
                <a:ea typeface="隶书" panose="02010509060101010101" pitchFamily="49" charset="-122"/>
              </a:rPr>
              <a:t>2.5 </a:t>
            </a:r>
            <a:r>
              <a:rPr lang="zh-CN" altLang="en-US" sz="3200" dirty="0">
                <a:solidFill>
                  <a:schemeClr val="tx2"/>
                </a:solidFill>
                <a:ea typeface="隶书" panose="02010509060101010101" pitchFamily="49" charset="-122"/>
              </a:rPr>
              <a:t>星形与三角形电路</a:t>
            </a:r>
            <a:endParaRPr lang="en-US" altLang="zh-CN" sz="3200" dirty="0">
              <a:solidFill>
                <a:schemeClr val="tx2"/>
              </a:solidFill>
              <a:ea typeface="隶书" panose="020105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39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39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293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293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293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293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293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293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390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8B1EE9E-D627-4C2E-9833-9493423CBE08}" type="datetime1">
              <a:rPr lang="zh-CN" altLang="en-US" smtClean="0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8A4F9ED-04EC-44D2-AA4A-E35A0BAC0562}" type="slidenum">
              <a:rPr lang="en-US" altLang="zh-CN" smtClean="0"/>
              <a:pPr>
                <a:defRPr/>
              </a:pPr>
              <a:t>30</a:t>
            </a:fld>
            <a:endParaRPr lang="en-US" altLang="zh-CN"/>
          </a:p>
        </p:txBody>
      </p:sp>
      <p:graphicFrame>
        <p:nvGraphicFramePr>
          <p:cNvPr id="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8846363"/>
              </p:ext>
            </p:extLst>
          </p:nvPr>
        </p:nvGraphicFramePr>
        <p:xfrm>
          <a:off x="5940152" y="808340"/>
          <a:ext cx="3021013" cy="2478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646" name="Flash Movie" r:id="rId3" imgW="2391480" imgH="1961640" progId="Flash.Movie">
                  <p:embed/>
                </p:oleObj>
              </mc:Choice>
              <mc:Fallback>
                <p:oleObj name="Flash Movie" r:id="rId3" imgW="2391480" imgH="1961640" progId="Flash.Movie">
                  <p:embed/>
                  <p:pic>
                    <p:nvPicPr>
                      <p:cNvPr id="1639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0152" y="808340"/>
                        <a:ext cx="3021013" cy="2478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5739061"/>
              </p:ext>
            </p:extLst>
          </p:nvPr>
        </p:nvGraphicFramePr>
        <p:xfrm>
          <a:off x="508838" y="913115"/>
          <a:ext cx="2778125" cy="2373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647" name="Flash 文档" r:id="rId5" imgW="1997640" imgH="1707480" progId="Flash.Movie">
                  <p:embed/>
                </p:oleObj>
              </mc:Choice>
              <mc:Fallback>
                <p:oleObj name="Flash 文档" r:id="rId5" imgW="1997640" imgH="1707480" progId="Flash.Movie">
                  <p:embed/>
                  <p:pic>
                    <p:nvPicPr>
                      <p:cNvPr id="16391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838" y="913115"/>
                        <a:ext cx="2778125" cy="2373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11"/>
          <p:cNvGrpSpPr>
            <a:grpSpLocks/>
          </p:cNvGrpSpPr>
          <p:nvPr/>
        </p:nvGrpSpPr>
        <p:grpSpPr bwMode="auto">
          <a:xfrm>
            <a:off x="1978860" y="1368300"/>
            <a:ext cx="311150" cy="442913"/>
            <a:chOff x="4694" y="2886"/>
            <a:chExt cx="196" cy="279"/>
          </a:xfrm>
        </p:grpSpPr>
        <p:sp>
          <p:nvSpPr>
            <p:cNvPr id="9" name="Line 12"/>
            <p:cNvSpPr>
              <a:spLocks noChangeShapeType="1"/>
            </p:cNvSpPr>
            <p:nvPr/>
          </p:nvSpPr>
          <p:spPr bwMode="auto">
            <a:xfrm>
              <a:off x="4694" y="3022"/>
              <a:ext cx="91" cy="136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0" name="Object 13"/>
            <p:cNvGraphicFramePr>
              <a:graphicFrameLocks noChangeAspect="1"/>
            </p:cNvGraphicFramePr>
            <p:nvPr/>
          </p:nvGraphicFramePr>
          <p:xfrm>
            <a:off x="4740" y="2886"/>
            <a:ext cx="150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648" name="Equation" r:id="rId7" imgW="88707" imgH="164742" progId="Equation.DSMT4">
                    <p:embed/>
                  </p:oleObj>
                </mc:Choice>
                <mc:Fallback>
                  <p:oleObj name="Equation" r:id="rId7" imgW="88707" imgH="164742" progId="Equation.DSMT4">
                    <p:embed/>
                    <p:pic>
                      <p:nvPicPr>
                        <p:cNvPr id="16404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40" y="2886"/>
                          <a:ext cx="150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" name="Object 18"/>
          <p:cNvGraphicFramePr>
            <a:graphicFrameLocks noGrp="1" noChangeAspect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060992220"/>
              </p:ext>
            </p:extLst>
          </p:nvPr>
        </p:nvGraphicFramePr>
        <p:xfrm>
          <a:off x="4078392" y="528129"/>
          <a:ext cx="2303463" cy="90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649" name="Equation" r:id="rId9" imgW="1104900" imgH="431800" progId="Equation.DSMT4">
                  <p:embed/>
                </p:oleObj>
              </mc:Choice>
              <mc:Fallback>
                <p:oleObj name="Equation" r:id="rId9" imgW="1104900" imgH="431800" progId="Equation.DSMT4">
                  <p:embed/>
                  <p:pic>
                    <p:nvPicPr>
                      <p:cNvPr id="285714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8392" y="528129"/>
                        <a:ext cx="2303463" cy="900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0651227"/>
              </p:ext>
            </p:extLst>
          </p:nvPr>
        </p:nvGraphicFramePr>
        <p:xfrm>
          <a:off x="2613619" y="612158"/>
          <a:ext cx="1187450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650" name="Equation" r:id="rId11" imgW="469696" imgH="177723" progId="Equation.DSMT4">
                  <p:embed/>
                </p:oleObj>
              </mc:Choice>
              <mc:Fallback>
                <p:oleObj name="Equation" r:id="rId11" imgW="469696" imgH="177723" progId="Equation.DSMT4">
                  <p:embed/>
                  <p:pic>
                    <p:nvPicPr>
                      <p:cNvPr id="16402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3619" y="612158"/>
                        <a:ext cx="1187450" cy="44926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3"/>
          <p:cNvGraphicFramePr>
            <a:graphicFrameLocks noChangeAspect="1"/>
          </p:cNvGraphicFramePr>
          <p:nvPr/>
        </p:nvGraphicFramePr>
        <p:xfrm>
          <a:off x="304800" y="4141788"/>
          <a:ext cx="3021013" cy="2478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651" name="Flash Movie" r:id="rId13" imgW="2391480" imgH="1961640" progId="Flash.Movie">
                  <p:embed/>
                </p:oleObj>
              </mc:Choice>
              <mc:Fallback>
                <p:oleObj name="Flash Movie" r:id="rId13" imgW="2391480" imgH="1961640" progId="Flash.Movie">
                  <p:embed/>
                  <p:pic>
                    <p:nvPicPr>
                      <p:cNvPr id="1741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4141788"/>
                        <a:ext cx="3021013" cy="2478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4"/>
          <p:cNvGraphicFramePr>
            <a:graphicFrameLocks noChangeAspect="1"/>
          </p:cNvGraphicFramePr>
          <p:nvPr/>
        </p:nvGraphicFramePr>
        <p:xfrm>
          <a:off x="5984875" y="4224338"/>
          <a:ext cx="2778125" cy="2373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652" name="Flash 文档" r:id="rId14" imgW="1997640" imgH="1707480" progId="Flash.Movie">
                  <p:embed/>
                </p:oleObj>
              </mc:Choice>
              <mc:Fallback>
                <p:oleObj name="Flash 文档" r:id="rId14" imgW="1997640" imgH="1707480" progId="Flash.Movie">
                  <p:embed/>
                  <p:pic>
                    <p:nvPicPr>
                      <p:cNvPr id="1741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4875" y="4224338"/>
                        <a:ext cx="2778125" cy="2373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Group 23"/>
          <p:cNvGrpSpPr>
            <a:grpSpLocks/>
          </p:cNvGrpSpPr>
          <p:nvPr/>
        </p:nvGrpSpPr>
        <p:grpSpPr bwMode="auto">
          <a:xfrm>
            <a:off x="1390650" y="4567238"/>
            <a:ext cx="373063" cy="1022350"/>
            <a:chOff x="876" y="2877"/>
            <a:chExt cx="235" cy="644"/>
          </a:xfrm>
        </p:grpSpPr>
        <p:graphicFrame>
          <p:nvGraphicFramePr>
            <p:cNvPr id="17" name="Object 13"/>
            <p:cNvGraphicFramePr>
              <a:graphicFrameLocks noChangeAspect="1"/>
            </p:cNvGraphicFramePr>
            <p:nvPr/>
          </p:nvGraphicFramePr>
          <p:xfrm>
            <a:off x="886" y="3104"/>
            <a:ext cx="214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653" name="Equation" r:id="rId15" imgW="126835" imgH="139518" progId="Equation.DSMT4">
                    <p:embed/>
                  </p:oleObj>
                </mc:Choice>
                <mc:Fallback>
                  <p:oleObj name="Equation" r:id="rId15" imgW="126835" imgH="139518" progId="Equation.DSMT4">
                    <p:embed/>
                    <p:pic>
                      <p:nvPicPr>
                        <p:cNvPr id="17426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86" y="3104"/>
                          <a:ext cx="214" cy="2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Object 18"/>
            <p:cNvGraphicFramePr>
              <a:graphicFrameLocks noChangeAspect="1"/>
            </p:cNvGraphicFramePr>
            <p:nvPr/>
          </p:nvGraphicFramePr>
          <p:xfrm>
            <a:off x="876" y="2877"/>
            <a:ext cx="235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654" name="Equation" r:id="rId17" imgW="139700" imgH="139700" progId="Equation.DSMT4">
                    <p:embed/>
                  </p:oleObj>
                </mc:Choice>
                <mc:Fallback>
                  <p:oleObj name="Equation" r:id="rId17" imgW="139700" imgH="139700" progId="Equation.DSMT4">
                    <p:embed/>
                    <p:pic>
                      <p:nvPicPr>
                        <p:cNvPr id="17427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76" y="2877"/>
                          <a:ext cx="235" cy="2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Object 22"/>
            <p:cNvGraphicFramePr>
              <a:graphicFrameLocks noChangeAspect="1"/>
            </p:cNvGraphicFramePr>
            <p:nvPr/>
          </p:nvGraphicFramePr>
          <p:xfrm>
            <a:off x="887" y="3349"/>
            <a:ext cx="213" cy="1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655" name="Equation" r:id="rId19" imgW="126780" imgH="101424" progId="Equation.DSMT4">
                    <p:embed/>
                  </p:oleObj>
                </mc:Choice>
                <mc:Fallback>
                  <p:oleObj name="Equation" r:id="rId19" imgW="126780" imgH="101424" progId="Equation.DSMT4">
                    <p:embed/>
                    <p:pic>
                      <p:nvPicPr>
                        <p:cNvPr id="17428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87" y="3349"/>
                          <a:ext cx="213" cy="1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0" name="Object 25"/>
          <p:cNvGraphicFramePr>
            <a:graphicFrameLocks noGrp="1" noChangeAspect="1"/>
          </p:cNvGraphicFramePr>
          <p:nvPr>
            <p:ph/>
            <p:extLst>
              <p:ext uri="{D42A27DB-BD31-4B8C-83A1-F6EECF244321}">
                <p14:modId xmlns:p14="http://schemas.microsoft.com/office/powerpoint/2010/main" val="2570707910"/>
              </p:ext>
            </p:extLst>
          </p:nvPr>
        </p:nvGraphicFramePr>
        <p:xfrm>
          <a:off x="2593453" y="3976470"/>
          <a:ext cx="1187450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656" name="Equation" r:id="rId21" imgW="469696" imgH="177723" progId="Equation.DSMT4">
                  <p:embed/>
                </p:oleObj>
              </mc:Choice>
              <mc:Fallback>
                <p:oleObj name="Equation" r:id="rId21" imgW="469696" imgH="177723" progId="Equation.DSMT4">
                  <p:embed/>
                  <p:pic>
                    <p:nvPicPr>
                      <p:cNvPr id="293913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3453" y="3976470"/>
                        <a:ext cx="1187450" cy="449262"/>
                      </a:xfrm>
                      <a:prstGeom prst="rect">
                        <a:avLst/>
                      </a:prstGeom>
                      <a:noFill/>
                      <a:ln w="9525" cap="flat" cmpd="sng">
                        <a:solidFill>
                          <a:srgbClr val="0000FF"/>
                        </a:solidFill>
                        <a:prstDash val="solid"/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4207308"/>
              </p:ext>
            </p:extLst>
          </p:nvPr>
        </p:nvGraphicFramePr>
        <p:xfrm>
          <a:off x="3852361" y="3705007"/>
          <a:ext cx="2495550" cy="992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657" name="Equation" r:id="rId23" imgW="1079032" imgH="431613" progId="Equation.DSMT4">
                  <p:embed/>
                </p:oleObj>
              </mc:Choice>
              <mc:Fallback>
                <p:oleObj name="Equation" r:id="rId23" imgW="1079032" imgH="431613" progId="Equation.DSMT4">
                  <p:embed/>
                  <p:pic>
                    <p:nvPicPr>
                      <p:cNvPr id="293912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2361" y="3705007"/>
                        <a:ext cx="2495550" cy="992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7407759"/>
              </p:ext>
            </p:extLst>
          </p:nvPr>
        </p:nvGraphicFramePr>
        <p:xfrm>
          <a:off x="3270159" y="1578484"/>
          <a:ext cx="2789238" cy="992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658" name="Equation" r:id="rId25" imgW="1206500" imgH="431800" progId="Equation.DSMT4">
                  <p:embed/>
                </p:oleObj>
              </mc:Choice>
              <mc:Fallback>
                <p:oleObj name="Equation" r:id="rId25" imgW="1206500" imgH="431800" progId="Equation.DSMT4">
                  <p:embed/>
                  <p:pic>
                    <p:nvPicPr>
                      <p:cNvPr id="16401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0159" y="1578484"/>
                        <a:ext cx="2789238" cy="992187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00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5182549"/>
              </p:ext>
            </p:extLst>
          </p:nvPr>
        </p:nvGraphicFramePr>
        <p:xfrm>
          <a:off x="3100034" y="4974322"/>
          <a:ext cx="2808288" cy="1049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659" name="Equation" r:id="rId27" imgW="1155700" imgH="431800" progId="Equation.DSMT4">
                  <p:embed/>
                </p:oleObj>
              </mc:Choice>
              <mc:Fallback>
                <p:oleObj name="Equation" r:id="rId27" imgW="1155700" imgH="431800" progId="Equation.DSMT4">
                  <p:embed/>
                  <p:pic>
                    <p:nvPicPr>
                      <p:cNvPr id="293905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0034" y="4974322"/>
                        <a:ext cx="2808288" cy="1049338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>
                                <a:alpha val="50195"/>
                              </a:schemeClr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97875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日期占位符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B328AB17-5591-4E46-BAD3-3DF4CDFE7972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2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2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EAB69E-EDAE-4455-880B-705C0F08BA8C}" type="slidenum">
              <a:rPr lang="en-US" altLang="zh-CN"/>
              <a:pPr>
                <a:defRPr/>
              </a:pPr>
              <a:t>31</a:t>
            </a:fld>
            <a:endParaRPr lang="en-US" altLang="zh-CN"/>
          </a:p>
        </p:txBody>
      </p:sp>
      <p:sp>
        <p:nvSpPr>
          <p:cNvPr id="18437" name="Rectangle 2"/>
          <p:cNvSpPr>
            <a:spLocks noChangeArrowheads="1"/>
          </p:cNvSpPr>
          <p:nvPr/>
        </p:nvSpPr>
        <p:spPr bwMode="auto">
          <a:xfrm>
            <a:off x="381000" y="560388"/>
            <a:ext cx="845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CC3300"/>
                </a:solidFill>
                <a:ea typeface="隶书" panose="02010509060101010101" pitchFamily="49" charset="-122"/>
              </a:rPr>
              <a:t>星－三角变换 </a:t>
            </a:r>
            <a:r>
              <a:rPr lang="en-US" altLang="zh-CN" sz="2800">
                <a:solidFill>
                  <a:srgbClr val="CC3300"/>
                </a:solidFill>
                <a:ea typeface="隶书" panose="02010509060101010101" pitchFamily="49" charset="-122"/>
              </a:rPr>
              <a:t>Wye-Delta Transformation</a:t>
            </a:r>
          </a:p>
        </p:txBody>
      </p:sp>
      <p:graphicFrame>
        <p:nvGraphicFramePr>
          <p:cNvPr id="18438" name="Object 3"/>
          <p:cNvGraphicFramePr>
            <a:graphicFrameLocks noChangeAspect="1"/>
          </p:cNvGraphicFramePr>
          <p:nvPr/>
        </p:nvGraphicFramePr>
        <p:xfrm>
          <a:off x="304800" y="4141788"/>
          <a:ext cx="3021013" cy="2478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10" name="Flash Movie" r:id="rId3" imgW="2391480" imgH="1961640" progId="Flash.Movie">
                  <p:embed/>
                </p:oleObj>
              </mc:Choice>
              <mc:Fallback>
                <p:oleObj name="Flash Movie" r:id="rId3" imgW="2391480" imgH="1961640" progId="Flash.Movie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4141788"/>
                        <a:ext cx="3021013" cy="2478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9" name="Object 4"/>
          <p:cNvGraphicFramePr>
            <a:graphicFrameLocks noChangeAspect="1"/>
          </p:cNvGraphicFramePr>
          <p:nvPr/>
        </p:nvGraphicFramePr>
        <p:xfrm>
          <a:off x="5984875" y="4224338"/>
          <a:ext cx="2778125" cy="2373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11" name="Flash 文档" r:id="rId5" imgW="1997640" imgH="1707480" progId="Flash.Movie">
                  <p:embed/>
                </p:oleObj>
              </mc:Choice>
              <mc:Fallback>
                <p:oleObj name="Flash 文档" r:id="rId5" imgW="1997640" imgH="1707480" progId="Flash.Movie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4875" y="4224338"/>
                        <a:ext cx="2778125" cy="2373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440" name="Group 5"/>
          <p:cNvGrpSpPr>
            <a:grpSpLocks/>
          </p:cNvGrpSpPr>
          <p:nvPr/>
        </p:nvGrpSpPr>
        <p:grpSpPr bwMode="auto">
          <a:xfrm>
            <a:off x="2743200" y="5916613"/>
            <a:ext cx="4114800" cy="609600"/>
            <a:chOff x="1728" y="3792"/>
            <a:chExt cx="2592" cy="384"/>
          </a:xfrm>
        </p:grpSpPr>
        <p:sp>
          <p:nvSpPr>
            <p:cNvPr id="18455" name="AutoShape 6"/>
            <p:cNvSpPr>
              <a:spLocks noChangeArrowheads="1"/>
            </p:cNvSpPr>
            <p:nvPr/>
          </p:nvSpPr>
          <p:spPr bwMode="auto">
            <a:xfrm>
              <a:off x="2328" y="3792"/>
              <a:ext cx="1104" cy="96"/>
            </a:xfrm>
            <a:prstGeom prst="leftRightArrow">
              <a:avLst>
                <a:gd name="adj1" fmla="val 50000"/>
                <a:gd name="adj2" fmla="val 230000"/>
              </a:avLst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zh-CN" altLang="en-US" sz="1800"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18456" name="Rectangle 7"/>
            <p:cNvSpPr>
              <a:spLocks noChangeArrowheads="1"/>
            </p:cNvSpPr>
            <p:nvPr/>
          </p:nvSpPr>
          <p:spPr bwMode="auto">
            <a:xfrm>
              <a:off x="1728" y="3888"/>
              <a:ext cx="25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i="1">
                  <a:solidFill>
                    <a:schemeClr val="hlink"/>
                  </a:solidFill>
                  <a:ea typeface="隶书" panose="02010509060101010101" pitchFamily="49" charset="-122"/>
                </a:rPr>
                <a:t>           u-i</a:t>
              </a:r>
              <a:r>
                <a:rPr lang="en-US" altLang="zh-CN">
                  <a:solidFill>
                    <a:schemeClr val="hlink"/>
                  </a:solidFill>
                  <a:ea typeface="隶书" panose="02010509060101010101" pitchFamily="49" charset="-122"/>
                </a:rPr>
                <a:t> </a:t>
              </a:r>
              <a:r>
                <a:rPr lang="zh-CN" altLang="en-US">
                  <a:solidFill>
                    <a:schemeClr val="hlink"/>
                  </a:solidFill>
                  <a:ea typeface="隶书" panose="02010509060101010101" pitchFamily="49" charset="-122"/>
                </a:rPr>
                <a:t>关系相同</a:t>
              </a:r>
            </a:p>
          </p:txBody>
        </p:sp>
      </p:grpSp>
      <p:grpSp>
        <p:nvGrpSpPr>
          <p:cNvPr id="294956" name="Group 44"/>
          <p:cNvGrpSpPr>
            <a:grpSpLocks/>
          </p:cNvGrpSpPr>
          <p:nvPr/>
        </p:nvGrpSpPr>
        <p:grpSpPr bwMode="auto">
          <a:xfrm>
            <a:off x="3348038" y="1304925"/>
            <a:ext cx="2416175" cy="1362075"/>
            <a:chOff x="2109" y="822"/>
            <a:chExt cx="1522" cy="858"/>
          </a:xfrm>
        </p:grpSpPr>
        <p:graphicFrame>
          <p:nvGraphicFramePr>
            <p:cNvPr id="18453" name="Object 23"/>
            <p:cNvGraphicFramePr>
              <a:graphicFrameLocks noChangeAspect="1"/>
            </p:cNvGraphicFramePr>
            <p:nvPr/>
          </p:nvGraphicFramePr>
          <p:xfrm>
            <a:off x="2109" y="1111"/>
            <a:ext cx="1522" cy="5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012" name="Equation" r:id="rId7" imgW="1155700" imgH="431800" progId="Equation.DSMT4">
                    <p:embed/>
                  </p:oleObj>
                </mc:Choice>
                <mc:Fallback>
                  <p:oleObj name="Equation" r:id="rId7" imgW="1155700" imgH="431800" progId="Equation.DSMT4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09" y="1111"/>
                          <a:ext cx="1522" cy="569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0000FF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>
                                  <a:alpha val="50195"/>
                                </a:schemeClr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54" name="Object 27"/>
            <p:cNvGraphicFramePr>
              <a:graphicFrameLocks noChangeAspect="1"/>
            </p:cNvGraphicFramePr>
            <p:nvPr/>
          </p:nvGraphicFramePr>
          <p:xfrm>
            <a:off x="2517" y="822"/>
            <a:ext cx="737" cy="2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013" name="Equation" r:id="rId9" imgW="469696" imgH="177723" progId="Equation.DSMT4">
                    <p:embed/>
                  </p:oleObj>
                </mc:Choice>
                <mc:Fallback>
                  <p:oleObj name="Equation" r:id="rId9" imgW="469696" imgH="177723" progId="Equation.DSMT4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17" y="822"/>
                          <a:ext cx="737" cy="278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0000FF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CC00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94954" name="Group 42"/>
          <p:cNvGrpSpPr>
            <a:grpSpLocks/>
          </p:cNvGrpSpPr>
          <p:nvPr/>
        </p:nvGrpSpPr>
        <p:grpSpPr bwMode="auto">
          <a:xfrm>
            <a:off x="249238" y="1311275"/>
            <a:ext cx="2522537" cy="1365250"/>
            <a:chOff x="157" y="826"/>
            <a:chExt cx="1589" cy="860"/>
          </a:xfrm>
        </p:grpSpPr>
        <p:graphicFrame>
          <p:nvGraphicFramePr>
            <p:cNvPr id="18451" name="Object 21"/>
            <p:cNvGraphicFramePr>
              <a:graphicFrameLocks noChangeAspect="1"/>
            </p:cNvGraphicFramePr>
            <p:nvPr/>
          </p:nvGraphicFramePr>
          <p:xfrm>
            <a:off x="157" y="1117"/>
            <a:ext cx="1589" cy="5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014" name="Equation" r:id="rId11" imgW="1206500" imgH="431800" progId="Equation.DSMT4">
                    <p:embed/>
                  </p:oleObj>
                </mc:Choice>
                <mc:Fallback>
                  <p:oleObj name="Equation" r:id="rId11" imgW="1206500" imgH="431800" progId="Equation.DSMT4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7" y="1117"/>
                          <a:ext cx="1589" cy="569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0000FF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CC00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52" name="Object 28"/>
            <p:cNvGraphicFramePr>
              <a:graphicFrameLocks noChangeAspect="1"/>
            </p:cNvGraphicFramePr>
            <p:nvPr/>
          </p:nvGraphicFramePr>
          <p:xfrm>
            <a:off x="690" y="826"/>
            <a:ext cx="693" cy="2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015" name="Equation" r:id="rId13" imgW="469696" imgH="177723" progId="Equation.DSMT4">
                    <p:embed/>
                  </p:oleObj>
                </mc:Choice>
                <mc:Fallback>
                  <p:oleObj name="Equation" r:id="rId13" imgW="469696" imgH="177723" progId="Equation.DSMT4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0" y="826"/>
                          <a:ext cx="693" cy="284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chemeClr val="accent2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94944" name="Rectangle 32"/>
          <p:cNvSpPr>
            <a:spLocks noChangeArrowheads="1"/>
          </p:cNvSpPr>
          <p:nvPr/>
        </p:nvSpPr>
        <p:spPr bwMode="auto">
          <a:xfrm>
            <a:off x="323850" y="3211513"/>
            <a:ext cx="13684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chemeClr val="accent2"/>
                </a:solidFill>
                <a:ea typeface="隶书" panose="02010509060101010101" pitchFamily="49" charset="-122"/>
              </a:rPr>
              <a:t>规律：</a:t>
            </a:r>
          </a:p>
        </p:txBody>
      </p:sp>
      <p:grpSp>
        <p:nvGrpSpPr>
          <p:cNvPr id="294953" name="Group 41"/>
          <p:cNvGrpSpPr>
            <a:grpSpLocks/>
          </p:cNvGrpSpPr>
          <p:nvPr/>
        </p:nvGrpSpPr>
        <p:grpSpPr bwMode="auto">
          <a:xfrm>
            <a:off x="1474788" y="3068638"/>
            <a:ext cx="6985000" cy="889000"/>
            <a:chOff x="793" y="2115"/>
            <a:chExt cx="4400" cy="560"/>
          </a:xfrm>
        </p:grpSpPr>
        <p:sp>
          <p:nvSpPr>
            <p:cNvPr id="18447" name="Rectangle 34"/>
            <p:cNvSpPr>
              <a:spLocks noChangeArrowheads="1"/>
            </p:cNvSpPr>
            <p:nvPr/>
          </p:nvSpPr>
          <p:spPr bwMode="auto">
            <a:xfrm>
              <a:off x="3061" y="2115"/>
              <a:ext cx="186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b="1">
                  <a:solidFill>
                    <a:srgbClr val="CC3300"/>
                  </a:solidFill>
                  <a:ea typeface="宋体" panose="02010600030101010101" pitchFamily="2" charset="-122"/>
                </a:rPr>
                <a:t>夹臂电阻（导）之积</a:t>
              </a:r>
            </a:p>
          </p:txBody>
        </p:sp>
        <p:sp>
          <p:nvSpPr>
            <p:cNvPr id="18448" name="Line 36"/>
            <p:cNvSpPr>
              <a:spLocks noChangeShapeType="1"/>
            </p:cNvSpPr>
            <p:nvPr/>
          </p:nvSpPr>
          <p:spPr bwMode="auto">
            <a:xfrm>
              <a:off x="2834" y="2418"/>
              <a:ext cx="2268" cy="0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9" name="Rectangle 37"/>
            <p:cNvSpPr>
              <a:spLocks noChangeArrowheads="1"/>
            </p:cNvSpPr>
            <p:nvPr/>
          </p:nvSpPr>
          <p:spPr bwMode="auto">
            <a:xfrm>
              <a:off x="2879" y="2387"/>
              <a:ext cx="231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b="1">
                  <a:solidFill>
                    <a:srgbClr val="CC3300"/>
                  </a:solidFill>
                  <a:ea typeface="宋体" panose="02010600030101010101" pitchFamily="2" charset="-122"/>
                </a:rPr>
                <a:t>三个臂的电阻（导）之和</a:t>
              </a:r>
            </a:p>
          </p:txBody>
        </p:sp>
        <p:sp>
          <p:nvSpPr>
            <p:cNvPr id="18450" name="Rectangle 38"/>
            <p:cNvSpPr>
              <a:spLocks noChangeArrowheads="1"/>
            </p:cNvSpPr>
            <p:nvPr/>
          </p:nvSpPr>
          <p:spPr bwMode="auto">
            <a:xfrm>
              <a:off x="793" y="2251"/>
              <a:ext cx="206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b="1" dirty="0">
                  <a:solidFill>
                    <a:srgbClr val="CC3300"/>
                  </a:solidFill>
                  <a:ea typeface="宋体" panose="02010600030101010101" pitchFamily="2" charset="-122"/>
                </a:rPr>
                <a:t>一个臂的电阻（导）</a:t>
              </a:r>
              <a:r>
                <a:rPr lang="en-US" altLang="zh-CN" b="1" dirty="0">
                  <a:solidFill>
                    <a:schemeClr val="hlink"/>
                  </a:solidFill>
                  <a:ea typeface="宋体" panose="02010600030101010101" pitchFamily="2" charset="-122"/>
                </a:rPr>
                <a:t>=</a:t>
              </a:r>
            </a:p>
          </p:txBody>
        </p:sp>
      </p:grpSp>
      <p:graphicFrame>
        <p:nvGraphicFramePr>
          <p:cNvPr id="294951" name="Object 39"/>
          <p:cNvGraphicFramePr>
            <a:graphicFrameLocks noChangeAspect="1"/>
          </p:cNvGraphicFramePr>
          <p:nvPr/>
        </p:nvGraphicFramePr>
        <p:xfrm>
          <a:off x="5775325" y="1755775"/>
          <a:ext cx="3214688" cy="903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16" name="Equation" r:id="rId15" imgW="1536700" imgH="431800" progId="Equation.DSMT4">
                  <p:embed/>
                </p:oleObj>
              </mc:Choice>
              <mc:Fallback>
                <p:oleObj name="Equation" r:id="rId15" imgW="1536700" imgH="431800" progId="Equation.DSMT4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75325" y="1755775"/>
                        <a:ext cx="3214688" cy="903288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>
                                <a:alpha val="50195"/>
                              </a:schemeClr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6" name="Rectangle 7"/>
          <p:cNvSpPr>
            <a:spLocks noChangeArrowheads="1"/>
          </p:cNvSpPr>
          <p:nvPr/>
        </p:nvSpPr>
        <p:spPr bwMode="auto">
          <a:xfrm>
            <a:off x="395288" y="163513"/>
            <a:ext cx="845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3200" dirty="0">
                <a:solidFill>
                  <a:schemeClr val="tx2"/>
                </a:solidFill>
                <a:ea typeface="隶书" panose="02010509060101010101" pitchFamily="49" charset="-122"/>
              </a:rPr>
              <a:t>2.5 </a:t>
            </a:r>
            <a:r>
              <a:rPr lang="zh-CN" altLang="en-US" sz="3200" dirty="0">
                <a:solidFill>
                  <a:schemeClr val="tx2"/>
                </a:solidFill>
                <a:ea typeface="隶书" panose="02010509060101010101" pitchFamily="49" charset="-122"/>
              </a:rPr>
              <a:t>星形与三角形电路</a:t>
            </a:r>
            <a:endParaRPr lang="en-US" altLang="zh-CN" sz="3200" dirty="0">
              <a:solidFill>
                <a:schemeClr val="tx2"/>
              </a:solidFill>
              <a:ea typeface="隶书" panose="020105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94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294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294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94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294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494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FCBFE92-4950-4839-A96A-5A927330549D}" type="datetime1">
              <a:rPr lang="zh-CN" altLang="en-US" smtClean="0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C9DF94E-7D5D-4B62-90AF-0A54AC735541}" type="slidenum">
              <a:rPr lang="en-US" altLang="zh-CN" smtClean="0"/>
              <a:pPr>
                <a:defRPr/>
              </a:pPr>
              <a:t>32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96526" y="3245007"/>
                <a:ext cx="2473947" cy="184730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12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31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12</m:t>
                                      </m:r>
                                    </m:sub>
                                  </m:s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13</m:t>
                                      </m:r>
                                    </m:sub>
                                  </m:s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23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12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23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12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13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23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31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23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12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13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23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26" y="3245007"/>
                <a:ext cx="2473947" cy="184730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Object 3"/>
          <p:cNvGraphicFramePr>
            <a:graphicFrameLocks noChangeAspect="1"/>
          </p:cNvGraphicFramePr>
          <p:nvPr/>
        </p:nvGraphicFramePr>
        <p:xfrm>
          <a:off x="188069" y="519024"/>
          <a:ext cx="3021013" cy="2478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24" name="Flash Movie" r:id="rId4" imgW="2391480" imgH="1961640" progId="Flash.Movie">
                  <p:embed/>
                </p:oleObj>
              </mc:Choice>
              <mc:Fallback>
                <p:oleObj name="Flash Movie" r:id="rId4" imgW="2391480" imgH="1961640" progId="Flash.Movie">
                  <p:embed/>
                  <p:pic>
                    <p:nvPicPr>
                      <p:cNvPr id="6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069" y="519024"/>
                        <a:ext cx="3021013" cy="2478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"/>
          <p:cNvGraphicFramePr>
            <a:graphicFrameLocks noChangeAspect="1"/>
          </p:cNvGraphicFramePr>
          <p:nvPr/>
        </p:nvGraphicFramePr>
        <p:xfrm>
          <a:off x="5868144" y="601574"/>
          <a:ext cx="2778125" cy="2373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25" name="Flash 文档" r:id="rId6" imgW="1997640" imgH="1707480" progId="Flash.Movie">
                  <p:embed/>
                </p:oleObj>
              </mc:Choice>
              <mc:Fallback>
                <p:oleObj name="Flash 文档" r:id="rId6" imgW="1997640" imgH="1707480" progId="Flash.Movie">
                  <p:embed/>
                  <p:pic>
                    <p:nvPicPr>
                      <p:cNvPr id="7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8144" y="601574"/>
                        <a:ext cx="2778125" cy="2373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5"/>
          <p:cNvGrpSpPr>
            <a:grpSpLocks/>
          </p:cNvGrpSpPr>
          <p:nvPr/>
        </p:nvGrpSpPr>
        <p:grpSpPr bwMode="auto">
          <a:xfrm>
            <a:off x="2627784" y="1136000"/>
            <a:ext cx="4114800" cy="609600"/>
            <a:chOff x="1728" y="3792"/>
            <a:chExt cx="2592" cy="384"/>
          </a:xfrm>
        </p:grpSpPr>
        <p:sp>
          <p:nvSpPr>
            <p:cNvPr id="9" name="AutoShape 6"/>
            <p:cNvSpPr>
              <a:spLocks noChangeArrowheads="1"/>
            </p:cNvSpPr>
            <p:nvPr/>
          </p:nvSpPr>
          <p:spPr bwMode="auto">
            <a:xfrm>
              <a:off x="2328" y="3792"/>
              <a:ext cx="1104" cy="96"/>
            </a:xfrm>
            <a:prstGeom prst="leftRightArrow">
              <a:avLst>
                <a:gd name="adj1" fmla="val 50000"/>
                <a:gd name="adj2" fmla="val 230000"/>
              </a:avLst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zh-CN" altLang="en-US" sz="1800"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10" name="Rectangle 7"/>
            <p:cNvSpPr>
              <a:spLocks noChangeArrowheads="1"/>
            </p:cNvSpPr>
            <p:nvPr/>
          </p:nvSpPr>
          <p:spPr bwMode="auto">
            <a:xfrm>
              <a:off x="1728" y="3888"/>
              <a:ext cx="25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i="1">
                  <a:solidFill>
                    <a:schemeClr val="hlink"/>
                  </a:solidFill>
                  <a:ea typeface="隶书" panose="02010509060101010101" pitchFamily="49" charset="-122"/>
                </a:rPr>
                <a:t>           u-i</a:t>
              </a:r>
              <a:r>
                <a:rPr lang="en-US" altLang="zh-CN">
                  <a:solidFill>
                    <a:schemeClr val="hlink"/>
                  </a:solidFill>
                  <a:ea typeface="隶书" panose="02010509060101010101" pitchFamily="49" charset="-122"/>
                </a:rPr>
                <a:t> </a:t>
              </a:r>
              <a:r>
                <a:rPr lang="zh-CN" altLang="en-US">
                  <a:solidFill>
                    <a:schemeClr val="hlink"/>
                  </a:solidFill>
                  <a:ea typeface="隶书" panose="02010509060101010101" pitchFamily="49" charset="-122"/>
                </a:rPr>
                <a:t>关系相同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/>
              <p:cNvSpPr txBox="1"/>
              <p:nvPr/>
            </p:nvSpPr>
            <p:spPr>
              <a:xfrm>
                <a:off x="2570473" y="3258159"/>
                <a:ext cx="5626669" cy="21307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13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12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12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31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23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13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13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12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23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23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12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12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13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23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23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12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13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13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31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23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23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31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12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13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13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23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12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12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13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23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13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23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0473" y="3258159"/>
                <a:ext cx="5626669" cy="213071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/>
              <p:cNvSpPr/>
              <p:nvPr/>
            </p:nvSpPr>
            <p:spPr>
              <a:xfrm>
                <a:off x="401924" y="5402022"/>
                <a:ext cx="5218801" cy="74481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X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23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23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6" name="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924" y="5402022"/>
                <a:ext cx="5218801" cy="74481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29512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FCBFE92-4950-4839-A96A-5A927330549D}" type="datetime1">
              <a:rPr lang="zh-CN" altLang="en-US" smtClean="0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C9DF94E-7D5D-4B62-90AF-0A54AC735541}" type="slidenum">
              <a:rPr lang="en-US" altLang="zh-CN" smtClean="0"/>
              <a:pPr>
                <a:defRPr/>
              </a:pPr>
              <a:t>33</a:t>
            </a:fld>
            <a:endParaRPr lang="en-US" altLang="zh-CN"/>
          </a:p>
        </p:txBody>
      </p:sp>
      <p:graphicFrame>
        <p:nvGraphicFramePr>
          <p:cNvPr id="5" name="Object 3"/>
          <p:cNvGraphicFramePr>
            <a:graphicFrameLocks noChangeAspect="1"/>
          </p:cNvGraphicFramePr>
          <p:nvPr/>
        </p:nvGraphicFramePr>
        <p:xfrm>
          <a:off x="188069" y="519024"/>
          <a:ext cx="3021013" cy="2478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63" name="Flash Movie" r:id="rId3" imgW="2391480" imgH="1961640" progId="Flash.Movie">
                  <p:embed/>
                </p:oleObj>
              </mc:Choice>
              <mc:Fallback>
                <p:oleObj name="Flash Movie" r:id="rId3" imgW="2391480" imgH="1961640" progId="Flash.Movie">
                  <p:embed/>
                  <p:pic>
                    <p:nvPicPr>
                      <p:cNvPr id="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069" y="519024"/>
                        <a:ext cx="3021013" cy="2478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/>
          <p:cNvGraphicFramePr>
            <a:graphicFrameLocks noChangeAspect="1"/>
          </p:cNvGraphicFramePr>
          <p:nvPr/>
        </p:nvGraphicFramePr>
        <p:xfrm>
          <a:off x="5868144" y="601574"/>
          <a:ext cx="2778125" cy="2373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64" name="Flash 文档" r:id="rId5" imgW="1997640" imgH="1707480" progId="Flash.Movie">
                  <p:embed/>
                </p:oleObj>
              </mc:Choice>
              <mc:Fallback>
                <p:oleObj name="Flash 文档" r:id="rId5" imgW="1997640" imgH="1707480" progId="Flash.Movie">
                  <p:embed/>
                  <p:pic>
                    <p:nvPicPr>
                      <p:cNvPr id="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8144" y="601574"/>
                        <a:ext cx="2778125" cy="2373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5"/>
          <p:cNvGrpSpPr>
            <a:grpSpLocks/>
          </p:cNvGrpSpPr>
          <p:nvPr/>
        </p:nvGrpSpPr>
        <p:grpSpPr bwMode="auto">
          <a:xfrm>
            <a:off x="2627784" y="1136000"/>
            <a:ext cx="4114800" cy="609600"/>
            <a:chOff x="1728" y="3792"/>
            <a:chExt cx="2592" cy="384"/>
          </a:xfrm>
        </p:grpSpPr>
        <p:sp>
          <p:nvSpPr>
            <p:cNvPr id="8" name="AutoShape 6"/>
            <p:cNvSpPr>
              <a:spLocks noChangeArrowheads="1"/>
            </p:cNvSpPr>
            <p:nvPr/>
          </p:nvSpPr>
          <p:spPr bwMode="auto">
            <a:xfrm>
              <a:off x="2328" y="3792"/>
              <a:ext cx="1104" cy="96"/>
            </a:xfrm>
            <a:prstGeom prst="leftRightArrow">
              <a:avLst>
                <a:gd name="adj1" fmla="val 50000"/>
                <a:gd name="adj2" fmla="val 230000"/>
              </a:avLst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zh-CN" altLang="en-US" sz="1800"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9" name="Rectangle 7"/>
            <p:cNvSpPr>
              <a:spLocks noChangeArrowheads="1"/>
            </p:cNvSpPr>
            <p:nvPr/>
          </p:nvSpPr>
          <p:spPr bwMode="auto">
            <a:xfrm>
              <a:off x="1728" y="3888"/>
              <a:ext cx="25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i="1">
                  <a:solidFill>
                    <a:schemeClr val="hlink"/>
                  </a:solidFill>
                  <a:ea typeface="隶书" panose="02010509060101010101" pitchFamily="49" charset="-122"/>
                </a:rPr>
                <a:t>           u-i</a:t>
              </a:r>
              <a:r>
                <a:rPr lang="en-US" altLang="zh-CN">
                  <a:solidFill>
                    <a:schemeClr val="hlink"/>
                  </a:solidFill>
                  <a:ea typeface="隶书" panose="02010509060101010101" pitchFamily="49" charset="-122"/>
                </a:rPr>
                <a:t> </a:t>
              </a:r>
              <a:r>
                <a:rPr lang="zh-CN" altLang="en-US">
                  <a:solidFill>
                    <a:schemeClr val="hlink"/>
                  </a:solidFill>
                  <a:ea typeface="隶书" panose="02010509060101010101" pitchFamily="49" charset="-122"/>
                </a:rPr>
                <a:t>关系相同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/>
              <p:cNvSpPr txBox="1"/>
              <p:nvPr/>
            </p:nvSpPr>
            <p:spPr>
              <a:xfrm>
                <a:off x="-180528" y="3149511"/>
                <a:ext cx="5315197" cy="326204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f>
                                    <m:f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𝐺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23</m:t>
                                          </m:r>
                                        </m:sub>
                                      </m:sSub>
                                    </m:den>
                                  </m:f>
                                  <m:f>
                                    <m:f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𝐺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13</m:t>
                                          </m:r>
                                        </m:sub>
                                      </m:sSub>
                                    </m:den>
                                  </m:f>
                                </m:num>
                                <m:den>
                                  <m:f>
                                    <m:f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p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𝐺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13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𝐺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12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𝐺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23</m:t>
                                          </m:r>
                                        </m:sub>
                                      </m:sSub>
                                    </m:den>
                                  </m:f>
                                </m:den>
                              </m:f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  <m:e>
                              <m:f>
                                <m:f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f>
                                    <m:f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𝐺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23</m:t>
                                          </m:r>
                                        </m:sub>
                                      </m:sSub>
                                    </m:den>
                                  </m:f>
                                  <m:f>
                                    <m:f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𝐺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den>
                                  </m:f>
                                </m:num>
                                <m:den>
                                  <m:f>
                                    <m:f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p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𝐺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13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𝐺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12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𝐺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23</m:t>
                                          </m:r>
                                        </m:sub>
                                      </m:sSub>
                                    </m:den>
                                  </m:f>
                                </m:den>
                              </m:f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13</m:t>
                                  </m:r>
                                </m:sub>
                              </m:sSub>
                            </m:e>
                            <m:e>
                              <m:f>
                                <m:f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f>
                                    <m:f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𝐺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den>
                                  </m:f>
                                  <m:f>
                                    <m:f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𝐺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12</m:t>
                                          </m:r>
                                        </m:sub>
                                      </m:sSub>
                                    </m:den>
                                  </m:f>
                                </m:num>
                                <m:den>
                                  <m:f>
                                    <m:f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p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𝐺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13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𝐺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12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𝐺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23</m:t>
                                          </m:r>
                                        </m:sub>
                                      </m:sSub>
                                    </m:den>
                                  </m:f>
                                </m:den>
                              </m:f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23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80528" y="3149511"/>
                <a:ext cx="5315197" cy="326204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44"/>
          <p:cNvGrpSpPr>
            <a:grpSpLocks/>
          </p:cNvGrpSpPr>
          <p:nvPr/>
        </p:nvGrpSpPr>
        <p:grpSpPr bwMode="auto">
          <a:xfrm>
            <a:off x="4932040" y="3523689"/>
            <a:ext cx="2416175" cy="1362075"/>
            <a:chOff x="2109" y="822"/>
            <a:chExt cx="1522" cy="858"/>
          </a:xfrm>
        </p:grpSpPr>
        <p:graphicFrame>
          <p:nvGraphicFramePr>
            <p:cNvPr id="14" name="Object 23"/>
            <p:cNvGraphicFramePr>
              <a:graphicFrameLocks noChangeAspect="1"/>
            </p:cNvGraphicFramePr>
            <p:nvPr/>
          </p:nvGraphicFramePr>
          <p:xfrm>
            <a:off x="2109" y="1111"/>
            <a:ext cx="1522" cy="5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565" name="Equation" r:id="rId8" imgW="1155700" imgH="431800" progId="Equation.DSMT4">
                    <p:embed/>
                  </p:oleObj>
                </mc:Choice>
                <mc:Fallback>
                  <p:oleObj name="Equation" r:id="rId8" imgW="1155700" imgH="431800" progId="Equation.DSMT4">
                    <p:embed/>
                    <p:pic>
                      <p:nvPicPr>
                        <p:cNvPr id="14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09" y="1111"/>
                          <a:ext cx="1522" cy="569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0000FF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>
                                  <a:alpha val="50195"/>
                                </a:schemeClr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Object 27"/>
            <p:cNvGraphicFramePr>
              <a:graphicFrameLocks noChangeAspect="1"/>
            </p:cNvGraphicFramePr>
            <p:nvPr/>
          </p:nvGraphicFramePr>
          <p:xfrm>
            <a:off x="2517" y="822"/>
            <a:ext cx="737" cy="2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566" name="Equation" r:id="rId10" imgW="469696" imgH="177723" progId="Equation.DSMT4">
                    <p:embed/>
                  </p:oleObj>
                </mc:Choice>
                <mc:Fallback>
                  <p:oleObj name="Equation" r:id="rId10" imgW="469696" imgH="177723" progId="Equation.DSMT4">
                    <p:embed/>
                    <p:pic>
                      <p:nvPicPr>
                        <p:cNvPr id="15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17" y="822"/>
                          <a:ext cx="737" cy="278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0000FF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CC00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6" name="Object 39"/>
          <p:cNvGraphicFramePr>
            <a:graphicFrameLocks noChangeAspect="1"/>
          </p:cNvGraphicFramePr>
          <p:nvPr/>
        </p:nvGraphicFramePr>
        <p:xfrm>
          <a:off x="5110524" y="5229428"/>
          <a:ext cx="3214688" cy="903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67" name="Equation" r:id="rId12" imgW="1536700" imgH="431800" progId="Equation.DSMT4">
                  <p:embed/>
                </p:oleObj>
              </mc:Choice>
              <mc:Fallback>
                <p:oleObj name="Equation" r:id="rId12" imgW="1536700" imgH="431800" progId="Equation.DSMT4">
                  <p:embed/>
                  <p:pic>
                    <p:nvPicPr>
                      <p:cNvPr id="16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0524" y="5229428"/>
                        <a:ext cx="3214688" cy="903288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>
                                <a:alpha val="50195"/>
                              </a:schemeClr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46657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122" name="Text Box 10"/>
          <p:cNvSpPr txBox="1">
            <a:spLocks noChangeArrowheads="1"/>
          </p:cNvSpPr>
          <p:nvPr/>
        </p:nvSpPr>
        <p:spPr bwMode="auto">
          <a:xfrm>
            <a:off x="179512" y="980728"/>
            <a:ext cx="548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特例  </a:t>
            </a:r>
            <a:r>
              <a:rPr kumimoji="1" lang="zh-CN" altLang="en-US" sz="2400" b="1" dirty="0">
                <a:latin typeface="宋体" panose="02010600030101010101" pitchFamily="2" charset="-122"/>
              </a:rPr>
              <a:t>若三个电阻相等</a:t>
            </a:r>
            <a:r>
              <a:rPr kumimoji="1" lang="en-US" altLang="zh-CN" sz="2400" b="1" dirty="0">
                <a:latin typeface="宋体" panose="02010600030101010101" pitchFamily="2" charset="-122"/>
              </a:rPr>
              <a:t>(</a:t>
            </a:r>
            <a:r>
              <a:rPr kumimoji="1" lang="zh-CN" altLang="en-US" sz="2400" b="1" dirty="0">
                <a:latin typeface="宋体" panose="02010600030101010101" pitchFamily="2" charset="-122"/>
              </a:rPr>
              <a:t>对称</a:t>
            </a:r>
            <a:r>
              <a:rPr kumimoji="1" lang="en-US" altLang="zh-CN" sz="2400" b="1" dirty="0">
                <a:latin typeface="宋体" panose="02010600030101010101" pitchFamily="2" charset="-122"/>
              </a:rPr>
              <a:t>)</a:t>
            </a:r>
            <a:r>
              <a:rPr kumimoji="1" lang="zh-CN" altLang="en-US" sz="2400" b="1" dirty="0">
                <a:latin typeface="宋体" panose="02010600030101010101" pitchFamily="2" charset="-122"/>
              </a:rPr>
              <a:t>，则有</a:t>
            </a:r>
          </a:p>
        </p:txBody>
      </p:sp>
      <p:sp>
        <p:nvSpPr>
          <p:cNvPr id="474123" name="Text Box 11"/>
          <p:cNvSpPr txBox="1">
            <a:spLocks noChangeArrowheads="1"/>
          </p:cNvSpPr>
          <p:nvPr/>
        </p:nvSpPr>
        <p:spPr bwMode="auto">
          <a:xfrm>
            <a:off x="3075112" y="1533178"/>
            <a:ext cx="167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anose="02020603050405020304" pitchFamily="18" charset="0"/>
              </a:rPr>
              <a:t>  </a:t>
            </a:r>
            <a:r>
              <a:rPr kumimoji="1" lang="en-US" altLang="zh-CN" sz="2400" b="1" i="1">
                <a:solidFill>
                  <a:srgbClr val="FF0066"/>
                </a:solidFill>
                <a:latin typeface="Times New Roman" panose="02020603050405020304" pitchFamily="18" charset="0"/>
              </a:rPr>
              <a:t>R</a:t>
            </a:r>
            <a:r>
              <a:rPr kumimoji="1" lang="en-US" altLang="zh-CN" sz="2400" b="1" baseline="-25000">
                <a:solidFill>
                  <a:srgbClr val="FF0066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kumimoji="1" lang="en-US" altLang="zh-CN" sz="2400" b="1" i="1" baseline="-25000">
                <a:solidFill>
                  <a:srgbClr val="FF0066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</a:t>
            </a:r>
            <a:r>
              <a:rPr kumimoji="1" lang="en-US" altLang="zh-CN" sz="2400" b="1">
                <a:solidFill>
                  <a:srgbClr val="FF0066"/>
                </a:solidFill>
                <a:latin typeface="Times New Roman" panose="02020603050405020304" pitchFamily="18" charset="0"/>
              </a:rPr>
              <a:t> = 3</a:t>
            </a:r>
            <a:r>
              <a:rPr kumimoji="1" lang="en-US" altLang="zh-CN" sz="2400" b="1" i="1">
                <a:solidFill>
                  <a:srgbClr val="FF0066"/>
                </a:solidFill>
                <a:latin typeface="Times New Roman" panose="02020603050405020304" pitchFamily="18" charset="0"/>
              </a:rPr>
              <a:t>R</a:t>
            </a:r>
            <a:r>
              <a:rPr kumimoji="1" lang="en-US" altLang="zh-CN" sz="2400" b="1" baseline="-25000">
                <a:solidFill>
                  <a:srgbClr val="FF0066"/>
                </a:solidFill>
                <a:latin typeface="Times New Roman" panose="02020603050405020304" pitchFamily="18" charset="0"/>
              </a:rPr>
              <a:t>Y</a:t>
            </a:r>
          </a:p>
        </p:txBody>
      </p:sp>
      <p:sp>
        <p:nvSpPr>
          <p:cNvPr id="474124" name="Text Box 12"/>
          <p:cNvSpPr txBox="1">
            <a:spLocks noChangeArrowheads="1"/>
          </p:cNvSpPr>
          <p:nvPr/>
        </p:nvSpPr>
        <p:spPr bwMode="auto">
          <a:xfrm>
            <a:off x="3056062" y="2104678"/>
            <a:ext cx="2584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>
                <a:solidFill>
                  <a:srgbClr val="3333FF"/>
                </a:solidFill>
                <a:latin typeface="Times New Roman" panose="02020603050405020304" pitchFamily="18" charset="0"/>
              </a:rPr>
              <a:t>（外大内小 ）</a:t>
            </a:r>
          </a:p>
        </p:txBody>
      </p:sp>
      <p:grpSp>
        <p:nvGrpSpPr>
          <p:cNvPr id="474125" name="Group 13"/>
          <p:cNvGrpSpPr>
            <a:grpSpLocks/>
          </p:cNvGrpSpPr>
          <p:nvPr/>
        </p:nvGrpSpPr>
        <p:grpSpPr bwMode="auto">
          <a:xfrm>
            <a:off x="1436812" y="1514128"/>
            <a:ext cx="1295400" cy="1066800"/>
            <a:chOff x="2544" y="1824"/>
            <a:chExt cx="816" cy="672"/>
          </a:xfrm>
        </p:grpSpPr>
        <p:sp>
          <p:nvSpPr>
            <p:cNvPr id="474126" name="Line 14"/>
            <p:cNvSpPr>
              <a:spLocks noChangeShapeType="1"/>
            </p:cNvSpPr>
            <p:nvPr/>
          </p:nvSpPr>
          <p:spPr bwMode="auto">
            <a:xfrm flipH="1">
              <a:off x="2544" y="1824"/>
              <a:ext cx="432" cy="6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4127" name="Line 15"/>
            <p:cNvSpPr>
              <a:spLocks noChangeShapeType="1"/>
            </p:cNvSpPr>
            <p:nvPr/>
          </p:nvSpPr>
          <p:spPr bwMode="auto">
            <a:xfrm>
              <a:off x="2544" y="2496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4128" name="Line 16"/>
            <p:cNvSpPr>
              <a:spLocks noChangeShapeType="1"/>
            </p:cNvSpPr>
            <p:nvPr/>
          </p:nvSpPr>
          <p:spPr bwMode="auto">
            <a:xfrm>
              <a:off x="2976" y="1824"/>
              <a:ext cx="384" cy="6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4129" name="Line 17"/>
            <p:cNvSpPr>
              <a:spLocks noChangeShapeType="1"/>
            </p:cNvSpPr>
            <p:nvPr/>
          </p:nvSpPr>
          <p:spPr bwMode="auto">
            <a:xfrm>
              <a:off x="2976" y="1824"/>
              <a:ext cx="0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4130" name="Line 18"/>
            <p:cNvSpPr>
              <a:spLocks noChangeShapeType="1"/>
            </p:cNvSpPr>
            <p:nvPr/>
          </p:nvSpPr>
          <p:spPr bwMode="auto">
            <a:xfrm flipH="1">
              <a:off x="2544" y="2256"/>
              <a:ext cx="432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4131" name="Line 19"/>
            <p:cNvSpPr>
              <a:spLocks noChangeShapeType="1"/>
            </p:cNvSpPr>
            <p:nvPr/>
          </p:nvSpPr>
          <p:spPr bwMode="auto">
            <a:xfrm>
              <a:off x="2976" y="2256"/>
              <a:ext cx="384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4132" name="Text Box 20"/>
            <p:cNvSpPr txBox="1">
              <a:spLocks noChangeArrowheads="1"/>
            </p:cNvSpPr>
            <p:nvPr/>
          </p:nvSpPr>
          <p:spPr bwMode="auto">
            <a:xfrm>
              <a:off x="2928" y="2007"/>
              <a:ext cx="1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474133" name="Text Box 21"/>
            <p:cNvSpPr txBox="1">
              <a:spLocks noChangeArrowheads="1"/>
            </p:cNvSpPr>
            <p:nvPr/>
          </p:nvSpPr>
          <p:spPr bwMode="auto">
            <a:xfrm>
              <a:off x="3120" y="1920"/>
              <a:ext cx="2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3</a:t>
              </a:r>
            </a:p>
          </p:txBody>
        </p:sp>
      </p:grpSp>
      <p:sp>
        <p:nvSpPr>
          <p:cNvPr id="474134" name="Text Box 22"/>
          <p:cNvSpPr txBox="1">
            <a:spLocks noChangeArrowheads="1"/>
          </p:cNvSpPr>
          <p:nvPr/>
        </p:nvSpPr>
        <p:spPr bwMode="auto">
          <a:xfrm>
            <a:off x="243012" y="3212976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注意</a:t>
            </a:r>
            <a:endParaRPr kumimoji="1"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74135" name="Text Box 23"/>
          <p:cNvSpPr txBox="1">
            <a:spLocks noChangeArrowheads="1"/>
          </p:cNvSpPr>
          <p:nvPr/>
        </p:nvSpPr>
        <p:spPr bwMode="auto">
          <a:xfrm>
            <a:off x="693862" y="3698751"/>
            <a:ext cx="8248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anose="02020603050405020304" pitchFamily="18" charset="0"/>
              </a:rPr>
              <a:t>(1) </a:t>
            </a:r>
            <a:r>
              <a:rPr kumimoji="1" lang="zh-CN" altLang="en-US" sz="2400" b="1">
                <a:latin typeface="宋体" panose="02010600030101010101" pitchFamily="2" charset="-122"/>
              </a:rPr>
              <a:t>等效是指对外部（端钮以外）电路而言，对内不成立</a:t>
            </a:r>
            <a:r>
              <a:rPr kumimoji="1" lang="zh-CN" altLang="en-US" sz="2400" b="1">
                <a:latin typeface="Times New Roman" panose="02020603050405020304" pitchFamily="18" charset="0"/>
              </a:rPr>
              <a:t>；</a:t>
            </a:r>
          </a:p>
        </p:txBody>
      </p:sp>
      <p:sp>
        <p:nvSpPr>
          <p:cNvPr id="474136" name="Text Box 24"/>
          <p:cNvSpPr txBox="1">
            <a:spLocks noChangeArrowheads="1"/>
          </p:cNvSpPr>
          <p:nvPr/>
        </p:nvSpPr>
        <p:spPr bwMode="auto">
          <a:xfrm>
            <a:off x="693862" y="4270251"/>
            <a:ext cx="609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(2) 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等效电路与外部电路无关。</a:t>
            </a:r>
          </a:p>
        </p:txBody>
      </p:sp>
      <p:grpSp>
        <p:nvGrpSpPr>
          <p:cNvPr id="474137" name="Group 25"/>
          <p:cNvGrpSpPr>
            <a:grpSpLocks/>
          </p:cNvGrpSpPr>
          <p:nvPr/>
        </p:nvGrpSpPr>
        <p:grpSpPr bwMode="auto">
          <a:xfrm>
            <a:off x="6161212" y="799753"/>
            <a:ext cx="2076450" cy="2095500"/>
            <a:chOff x="3971" y="1488"/>
            <a:chExt cx="1308" cy="1320"/>
          </a:xfrm>
        </p:grpSpPr>
        <p:sp>
          <p:nvSpPr>
            <p:cNvPr id="474138" name="Line 26"/>
            <p:cNvSpPr>
              <a:spLocks noChangeShapeType="1"/>
            </p:cNvSpPr>
            <p:nvPr/>
          </p:nvSpPr>
          <p:spPr bwMode="auto">
            <a:xfrm flipH="1">
              <a:off x="3971" y="1488"/>
              <a:ext cx="661" cy="104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4139" name="Line 27"/>
            <p:cNvSpPr>
              <a:spLocks noChangeShapeType="1"/>
            </p:cNvSpPr>
            <p:nvPr/>
          </p:nvSpPr>
          <p:spPr bwMode="auto">
            <a:xfrm>
              <a:off x="3971" y="2535"/>
              <a:ext cx="12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4140" name="Line 28"/>
            <p:cNvSpPr>
              <a:spLocks noChangeShapeType="1"/>
            </p:cNvSpPr>
            <p:nvPr/>
          </p:nvSpPr>
          <p:spPr bwMode="auto">
            <a:xfrm>
              <a:off x="4632" y="1488"/>
              <a:ext cx="587" cy="104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4141" name="Line 29"/>
            <p:cNvSpPr>
              <a:spLocks noChangeShapeType="1"/>
            </p:cNvSpPr>
            <p:nvPr/>
          </p:nvSpPr>
          <p:spPr bwMode="auto">
            <a:xfrm>
              <a:off x="4632" y="1488"/>
              <a:ext cx="0" cy="67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4142" name="Line 30"/>
            <p:cNvSpPr>
              <a:spLocks noChangeShapeType="1"/>
            </p:cNvSpPr>
            <p:nvPr/>
          </p:nvSpPr>
          <p:spPr bwMode="auto">
            <a:xfrm flipH="1">
              <a:off x="3971" y="2161"/>
              <a:ext cx="661" cy="37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4143" name="Line 31"/>
            <p:cNvSpPr>
              <a:spLocks noChangeShapeType="1"/>
            </p:cNvSpPr>
            <p:nvPr/>
          </p:nvSpPr>
          <p:spPr bwMode="auto">
            <a:xfrm>
              <a:off x="4632" y="2161"/>
              <a:ext cx="587" cy="37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4144" name="Text Box 32"/>
            <p:cNvSpPr txBox="1">
              <a:spLocks noChangeArrowheads="1"/>
            </p:cNvSpPr>
            <p:nvPr/>
          </p:nvSpPr>
          <p:spPr bwMode="auto">
            <a:xfrm>
              <a:off x="4923" y="1788"/>
              <a:ext cx="35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R</a:t>
              </a:r>
              <a:r>
                <a:rPr kumimoji="1" lang="en-US" altLang="zh-CN" sz="1400" b="1">
                  <a:latin typeface="Times New Roman" panose="02020603050405020304" pitchFamily="18" charset="0"/>
                </a:rPr>
                <a:t>31</a:t>
              </a:r>
              <a:endParaRPr kumimoji="1" lang="en-US" altLang="zh-CN" sz="2400" b="1" i="1">
                <a:latin typeface="Times New Roman" panose="02020603050405020304" pitchFamily="18" charset="0"/>
              </a:endParaRPr>
            </a:p>
          </p:txBody>
        </p:sp>
        <p:sp>
          <p:nvSpPr>
            <p:cNvPr id="474145" name="Text Box 33"/>
            <p:cNvSpPr txBox="1">
              <a:spLocks noChangeArrowheads="1"/>
            </p:cNvSpPr>
            <p:nvPr/>
          </p:nvSpPr>
          <p:spPr bwMode="auto">
            <a:xfrm>
              <a:off x="4444" y="2520"/>
              <a:ext cx="35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R</a:t>
              </a:r>
              <a:r>
                <a:rPr kumimoji="1" lang="en-US" altLang="zh-CN" sz="1400" b="1">
                  <a:latin typeface="Times New Roman" panose="02020603050405020304" pitchFamily="18" charset="0"/>
                </a:rPr>
                <a:t>23</a:t>
              </a:r>
              <a:endParaRPr kumimoji="1" lang="en-US" altLang="zh-CN" sz="2400" b="1" i="1">
                <a:latin typeface="Times New Roman" panose="02020603050405020304" pitchFamily="18" charset="0"/>
              </a:endParaRPr>
            </a:p>
          </p:txBody>
        </p:sp>
        <p:sp>
          <p:nvSpPr>
            <p:cNvPr id="474146" name="Text Box 34"/>
            <p:cNvSpPr txBox="1">
              <a:spLocks noChangeArrowheads="1"/>
            </p:cNvSpPr>
            <p:nvPr/>
          </p:nvSpPr>
          <p:spPr bwMode="auto">
            <a:xfrm>
              <a:off x="3971" y="1749"/>
              <a:ext cx="35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R</a:t>
              </a:r>
              <a:r>
                <a:rPr kumimoji="1" lang="en-US" altLang="zh-CN" sz="1400" b="1">
                  <a:latin typeface="Times New Roman" panose="02020603050405020304" pitchFamily="18" charset="0"/>
                </a:rPr>
                <a:t>12</a:t>
              </a:r>
              <a:endParaRPr kumimoji="1" lang="en-US" altLang="zh-CN" sz="2400" b="1" i="1">
                <a:latin typeface="Times New Roman" panose="02020603050405020304" pitchFamily="18" charset="0"/>
              </a:endParaRPr>
            </a:p>
          </p:txBody>
        </p:sp>
        <p:sp>
          <p:nvSpPr>
            <p:cNvPr id="474147" name="Text Box 35"/>
            <p:cNvSpPr txBox="1">
              <a:spLocks noChangeArrowheads="1"/>
            </p:cNvSpPr>
            <p:nvPr/>
          </p:nvSpPr>
          <p:spPr bwMode="auto">
            <a:xfrm>
              <a:off x="4754" y="2037"/>
              <a:ext cx="30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R</a:t>
              </a:r>
              <a:r>
                <a:rPr kumimoji="1" lang="en-US" altLang="zh-CN" sz="1400" b="1">
                  <a:latin typeface="Times New Roman" panose="02020603050405020304" pitchFamily="18" charset="0"/>
                </a:rPr>
                <a:t>3</a:t>
              </a:r>
              <a:endParaRPr kumimoji="1" lang="en-US" altLang="zh-CN" sz="2400" b="1" i="1">
                <a:latin typeface="Times New Roman" panose="02020603050405020304" pitchFamily="18" charset="0"/>
              </a:endParaRPr>
            </a:p>
          </p:txBody>
        </p:sp>
        <p:sp>
          <p:nvSpPr>
            <p:cNvPr id="474148" name="Text Box 36"/>
            <p:cNvSpPr txBox="1">
              <a:spLocks noChangeArrowheads="1"/>
            </p:cNvSpPr>
            <p:nvPr/>
          </p:nvSpPr>
          <p:spPr bwMode="auto">
            <a:xfrm>
              <a:off x="4339" y="2220"/>
              <a:ext cx="30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R</a:t>
              </a:r>
              <a:r>
                <a:rPr kumimoji="1" lang="en-US" altLang="zh-CN" sz="1400" b="1">
                  <a:latin typeface="Times New Roman" panose="02020603050405020304" pitchFamily="18" charset="0"/>
                </a:rPr>
                <a:t>2</a:t>
              </a:r>
              <a:endParaRPr kumimoji="1" lang="en-US" altLang="zh-CN" sz="2400" b="1" i="1">
                <a:latin typeface="Times New Roman" panose="02020603050405020304" pitchFamily="18" charset="0"/>
              </a:endParaRPr>
            </a:p>
          </p:txBody>
        </p:sp>
        <p:sp>
          <p:nvSpPr>
            <p:cNvPr id="474149" name="Text Box 37"/>
            <p:cNvSpPr txBox="1">
              <a:spLocks noChangeArrowheads="1"/>
            </p:cNvSpPr>
            <p:nvPr/>
          </p:nvSpPr>
          <p:spPr bwMode="auto">
            <a:xfrm>
              <a:off x="4380" y="1749"/>
              <a:ext cx="30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R</a:t>
              </a:r>
              <a:r>
                <a:rPr kumimoji="1" lang="en-US" altLang="zh-CN" sz="1400" b="1">
                  <a:latin typeface="Times New Roman" panose="02020603050405020304" pitchFamily="18" charset="0"/>
                </a:rPr>
                <a:t>1</a:t>
              </a:r>
              <a:endParaRPr kumimoji="1" lang="en-US" altLang="zh-CN" sz="2400" b="1" i="1">
                <a:latin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4225539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474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474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474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74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474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300"/>
                                        <p:tgtEl>
                                          <p:spTgt spid="474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74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74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4122" grpId="0" autoUpdateAnimBg="0"/>
      <p:bldP spid="474123" grpId="0" autoUpdateAnimBg="0"/>
      <p:bldP spid="474124" grpId="0" autoUpdateAnimBg="0"/>
      <p:bldP spid="474134" grpId="0" autoUpdateAnimBg="0"/>
      <p:bldP spid="474135" grpId="0" autoUpdateAnimBg="0"/>
      <p:bldP spid="474136" grpId="0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2C5933C7-6126-403B-87E3-BCCED82518E1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1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1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312E78-6770-4D5B-B40E-F95A2016437B}" type="slidenum">
              <a:rPr lang="en-US" altLang="zh-CN"/>
              <a:pPr>
                <a:defRPr/>
              </a:pPr>
              <a:t>35</a:t>
            </a:fld>
            <a:endParaRPr lang="en-US" altLang="zh-CN"/>
          </a:p>
        </p:txBody>
      </p:sp>
      <p:graphicFrame>
        <p:nvGraphicFramePr>
          <p:cNvPr id="286722" name="Object 2"/>
          <p:cNvGraphicFramePr>
            <a:graphicFrameLocks noChangeAspect="1"/>
          </p:cNvGraphicFramePr>
          <p:nvPr/>
        </p:nvGraphicFramePr>
        <p:xfrm>
          <a:off x="107950" y="1066800"/>
          <a:ext cx="5073650" cy="2446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91" name="Visio" r:id="rId3" imgW="2567026" imgH="1253033" progId="Visio.Drawing.11">
                  <p:embed/>
                </p:oleObj>
              </mc:Choice>
              <mc:Fallback>
                <p:oleObj name="Visio" r:id="rId3" imgW="2567026" imgH="1253033" progId="Visio.Drawing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950" y="1066800"/>
                        <a:ext cx="5073650" cy="2446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2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257652"/>
              </p:ext>
            </p:extLst>
          </p:nvPr>
        </p:nvGraphicFramePr>
        <p:xfrm>
          <a:off x="152400" y="3810000"/>
          <a:ext cx="5110163" cy="2636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92" name="Visio" r:id="rId5" imgW="2572016" imgH="1333579" progId="Visio.Drawing.11">
                  <p:embed/>
                </p:oleObj>
              </mc:Choice>
              <mc:Fallback>
                <p:oleObj name="Visio" r:id="rId5" imgW="2572016" imgH="1333579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3810000"/>
                        <a:ext cx="5110163" cy="2636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2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1935044"/>
              </p:ext>
            </p:extLst>
          </p:nvPr>
        </p:nvGraphicFramePr>
        <p:xfrm>
          <a:off x="5754218" y="4869160"/>
          <a:ext cx="2360613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93" name="Equation" r:id="rId7" imgW="1180588" imgH="406224" progId="Equation.DSMT4">
                  <p:embed/>
                </p:oleObj>
              </mc:Choice>
              <mc:Fallback>
                <p:oleObj name="Equation" r:id="rId7" imgW="1180588" imgH="406224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4218" y="4869160"/>
                        <a:ext cx="2360613" cy="811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2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8196417"/>
              </p:ext>
            </p:extLst>
          </p:nvPr>
        </p:nvGraphicFramePr>
        <p:xfrm>
          <a:off x="5855818" y="2982150"/>
          <a:ext cx="2259013" cy="1217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94" name="Equation" r:id="rId9" imgW="1129810" imgH="609336" progId="Equation.3">
                  <p:embed/>
                </p:oleObj>
              </mc:Choice>
              <mc:Fallback>
                <p:oleObj name="Equation" r:id="rId9" imgW="1129810" imgH="609336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5818" y="2982150"/>
                        <a:ext cx="2259013" cy="1217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86726" name="Group 6"/>
          <p:cNvGrpSpPr>
            <a:grpSpLocks/>
          </p:cNvGrpSpPr>
          <p:nvPr/>
        </p:nvGrpSpPr>
        <p:grpSpPr bwMode="auto">
          <a:xfrm>
            <a:off x="2590800" y="1143000"/>
            <a:ext cx="990600" cy="2057400"/>
            <a:chOff x="1632" y="720"/>
            <a:chExt cx="624" cy="1296"/>
          </a:xfrm>
        </p:grpSpPr>
        <p:sp>
          <p:nvSpPr>
            <p:cNvPr id="19468" name="Line 7"/>
            <p:cNvSpPr>
              <a:spLocks noChangeShapeType="1"/>
            </p:cNvSpPr>
            <p:nvPr/>
          </p:nvSpPr>
          <p:spPr bwMode="auto">
            <a:xfrm>
              <a:off x="2016" y="720"/>
              <a:ext cx="192" cy="432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69" name="Line 8"/>
            <p:cNvSpPr>
              <a:spLocks noChangeShapeType="1"/>
            </p:cNvSpPr>
            <p:nvPr/>
          </p:nvSpPr>
          <p:spPr bwMode="auto">
            <a:xfrm>
              <a:off x="2064" y="1584"/>
              <a:ext cx="192" cy="432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70" name="Line 9"/>
            <p:cNvSpPr>
              <a:spLocks noChangeShapeType="1"/>
            </p:cNvSpPr>
            <p:nvPr/>
          </p:nvSpPr>
          <p:spPr bwMode="auto">
            <a:xfrm>
              <a:off x="1632" y="1152"/>
              <a:ext cx="192" cy="432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9466" name="Rectangle 10"/>
          <p:cNvSpPr>
            <a:spLocks noChangeArrowheads="1"/>
          </p:cNvSpPr>
          <p:nvPr/>
        </p:nvSpPr>
        <p:spPr bwMode="auto">
          <a:xfrm>
            <a:off x="323850" y="533400"/>
            <a:ext cx="78851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CC3300"/>
                </a:solidFill>
                <a:ea typeface="隶书" panose="02010509060101010101" pitchFamily="49" charset="-122"/>
              </a:rPr>
              <a:t>例</a:t>
            </a:r>
            <a:r>
              <a:rPr lang="en-US" altLang="zh-CN" sz="2800">
                <a:solidFill>
                  <a:srgbClr val="CC3300"/>
                </a:solidFill>
                <a:ea typeface="隶书" panose="02010509060101010101" pitchFamily="49" charset="-122"/>
              </a:rPr>
              <a:t>5. Find the voltage </a:t>
            </a:r>
            <a:r>
              <a:rPr lang="en-US" altLang="zh-CN" sz="2800" i="1">
                <a:solidFill>
                  <a:srgbClr val="CC3300"/>
                </a:solidFill>
                <a:ea typeface="隶书" panose="02010509060101010101" pitchFamily="49" charset="-122"/>
              </a:rPr>
              <a:t>U</a:t>
            </a:r>
            <a:r>
              <a:rPr lang="en-US" altLang="zh-CN" sz="2800">
                <a:solidFill>
                  <a:srgbClr val="CC3300"/>
                </a:solidFill>
                <a:ea typeface="隶书" panose="02010509060101010101" pitchFamily="49" charset="-122"/>
              </a:rPr>
              <a:t> in the circuit.</a:t>
            </a:r>
          </a:p>
        </p:txBody>
      </p:sp>
      <p:sp>
        <p:nvSpPr>
          <p:cNvPr id="19467" name="Rectangle 7"/>
          <p:cNvSpPr>
            <a:spLocks noChangeArrowheads="1"/>
          </p:cNvSpPr>
          <p:nvPr/>
        </p:nvSpPr>
        <p:spPr bwMode="auto">
          <a:xfrm>
            <a:off x="395288" y="163513"/>
            <a:ext cx="845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3200" dirty="0">
                <a:solidFill>
                  <a:schemeClr val="tx2"/>
                </a:solidFill>
                <a:ea typeface="隶书" panose="02010509060101010101" pitchFamily="49" charset="-122"/>
              </a:rPr>
              <a:t>2.5 </a:t>
            </a:r>
            <a:r>
              <a:rPr lang="zh-CN" altLang="en-US" sz="3200" dirty="0">
                <a:solidFill>
                  <a:schemeClr val="tx2"/>
                </a:solidFill>
                <a:ea typeface="隶书" panose="02010509060101010101" pitchFamily="49" charset="-122"/>
              </a:rPr>
              <a:t>星形与三角形电路</a:t>
            </a:r>
            <a:endParaRPr lang="en-US" altLang="zh-CN" sz="3200" dirty="0">
              <a:solidFill>
                <a:schemeClr val="tx2"/>
              </a:solidFill>
              <a:ea typeface="隶书" panose="02010509060101010101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754218" y="1111434"/>
            <a:ext cx="301877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三个</a:t>
            </a:r>
            <a:r>
              <a:rPr lang="en-US" altLang="zh-CN" dirty="0"/>
              <a:t>Y</a:t>
            </a:r>
            <a:r>
              <a:rPr lang="zh-CN" altLang="en-US" dirty="0"/>
              <a:t>联结中心</a:t>
            </a:r>
            <a:r>
              <a:rPr lang="en-US" altLang="zh-CN" dirty="0"/>
              <a:t>——</a:t>
            </a:r>
            <a:r>
              <a:rPr lang="en-US" altLang="zh-CN" dirty="0" err="1"/>
              <a:t>c,d,b</a:t>
            </a:r>
            <a:endParaRPr lang="en-US" altLang="zh-CN" dirty="0"/>
          </a:p>
          <a:p>
            <a:r>
              <a:rPr lang="zh-CN" altLang="en-US" dirty="0"/>
              <a:t>二个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∆联结回路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——</a:t>
            </a:r>
            <a:r>
              <a:rPr lang="en-US" altLang="zh-CN" dirty="0" err="1">
                <a:latin typeface="Calibri" panose="020F0502020204030204" pitchFamily="34" charset="0"/>
                <a:cs typeface="Calibri" panose="020F0502020204030204" pitchFamily="34" charset="0"/>
              </a:rPr>
              <a:t>acd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和</a:t>
            </a:r>
            <a:r>
              <a:rPr lang="en-US" altLang="zh-CN" dirty="0" err="1">
                <a:latin typeface="Calibri" panose="020F0502020204030204" pitchFamily="34" charset="0"/>
                <a:cs typeface="Calibri" panose="020F0502020204030204" pitchFamily="34" charset="0"/>
              </a:rPr>
              <a:t>cbd</a:t>
            </a:r>
            <a:endParaRPr lang="en-US" altLang="zh-C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zh-C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zh-CN" altLang="en-US" dirty="0"/>
              <a:t>将∆</a:t>
            </a:r>
            <a:r>
              <a:rPr lang="en-US" altLang="zh-CN" dirty="0" err="1"/>
              <a:t>cbd</a:t>
            </a:r>
            <a:r>
              <a:rPr lang="zh-CN" altLang="en-US" dirty="0"/>
              <a:t>转化为</a:t>
            </a:r>
            <a:r>
              <a:rPr lang="en-US" altLang="zh-CN" dirty="0"/>
              <a:t>Y</a:t>
            </a:r>
            <a:r>
              <a:rPr lang="zh-CN" altLang="en-US" dirty="0"/>
              <a:t>联结电路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67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67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1C66AF1-24A0-446C-B0A8-326C494344F1}" type="datetime1">
              <a:rPr lang="zh-CN" altLang="en-US" smtClean="0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74CEB45-B7B4-4CEA-8E4A-DA539A380401}" type="slidenum">
              <a:rPr lang="en-US" altLang="zh-CN" smtClean="0"/>
              <a:pPr>
                <a:defRPr/>
              </a:pPr>
              <a:t>36</a:t>
            </a:fld>
            <a:endParaRPr lang="en-US" altLang="zh-CN"/>
          </a:p>
        </p:txBody>
      </p:sp>
      <p:graphicFrame>
        <p:nvGraphicFramePr>
          <p:cNvPr id="7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5566423"/>
              </p:ext>
            </p:extLst>
          </p:nvPr>
        </p:nvGraphicFramePr>
        <p:xfrm>
          <a:off x="206375" y="1143000"/>
          <a:ext cx="5073650" cy="2446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74" name="Visio" r:id="rId3" imgW="2567026" imgH="1253033" progId="Visio.Drawing.11">
                  <p:embed/>
                </p:oleObj>
              </mc:Choice>
              <mc:Fallback>
                <p:oleObj name="Visio" r:id="rId3" imgW="2567026" imgH="1253033" progId="Visio.Drawing.11">
                  <p:embed/>
                  <p:pic>
                    <p:nvPicPr>
                      <p:cNvPr id="28672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75" y="1143000"/>
                        <a:ext cx="5073650" cy="2446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6"/>
          <p:cNvGrpSpPr>
            <a:grpSpLocks/>
          </p:cNvGrpSpPr>
          <p:nvPr/>
        </p:nvGrpSpPr>
        <p:grpSpPr bwMode="auto">
          <a:xfrm>
            <a:off x="2013248" y="1196752"/>
            <a:ext cx="1035050" cy="2057400"/>
            <a:chOff x="2016" y="720"/>
            <a:chExt cx="652" cy="1296"/>
          </a:xfrm>
        </p:grpSpPr>
        <p:sp>
          <p:nvSpPr>
            <p:cNvPr id="9" name="Line 7"/>
            <p:cNvSpPr>
              <a:spLocks noChangeShapeType="1"/>
            </p:cNvSpPr>
            <p:nvPr/>
          </p:nvSpPr>
          <p:spPr bwMode="auto">
            <a:xfrm>
              <a:off x="2016" y="720"/>
              <a:ext cx="192" cy="432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Line 8"/>
            <p:cNvSpPr>
              <a:spLocks noChangeShapeType="1"/>
            </p:cNvSpPr>
            <p:nvPr/>
          </p:nvSpPr>
          <p:spPr bwMode="auto">
            <a:xfrm>
              <a:off x="2064" y="1584"/>
              <a:ext cx="192" cy="432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Line 9"/>
            <p:cNvSpPr>
              <a:spLocks noChangeShapeType="1"/>
            </p:cNvSpPr>
            <p:nvPr/>
          </p:nvSpPr>
          <p:spPr bwMode="auto">
            <a:xfrm>
              <a:off x="2476" y="1151"/>
              <a:ext cx="192" cy="432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7" name="矩形 16"/>
          <p:cNvSpPr/>
          <p:nvPr/>
        </p:nvSpPr>
        <p:spPr>
          <a:xfrm>
            <a:off x="5652120" y="1354986"/>
            <a:ext cx="26548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将∆</a:t>
            </a:r>
            <a:r>
              <a:rPr lang="en-US" altLang="zh-CN" dirty="0" err="1"/>
              <a:t>adc</a:t>
            </a:r>
            <a:r>
              <a:rPr lang="zh-CN" altLang="en-US" dirty="0"/>
              <a:t>转化为</a:t>
            </a:r>
            <a:r>
              <a:rPr lang="en-US" altLang="zh-CN" dirty="0"/>
              <a:t>Y</a:t>
            </a:r>
            <a:r>
              <a:rPr lang="zh-CN" altLang="en-US" dirty="0"/>
              <a:t>联结电路</a:t>
            </a:r>
          </a:p>
        </p:txBody>
      </p:sp>
      <p:grpSp>
        <p:nvGrpSpPr>
          <p:cNvPr id="30" name="组合 29"/>
          <p:cNvGrpSpPr/>
          <p:nvPr/>
        </p:nvGrpSpPr>
        <p:grpSpPr>
          <a:xfrm>
            <a:off x="206673" y="3790726"/>
            <a:ext cx="5073650" cy="2446338"/>
            <a:chOff x="206673" y="3790726"/>
            <a:chExt cx="5073650" cy="2446338"/>
          </a:xfrm>
        </p:grpSpPr>
        <p:cxnSp>
          <p:nvCxnSpPr>
            <p:cNvPr id="19" name="直接箭头连接符 18"/>
            <p:cNvCxnSpPr/>
            <p:nvPr/>
          </p:nvCxnSpPr>
          <p:spPr bwMode="auto">
            <a:xfrm flipH="1">
              <a:off x="3905544" y="4307048"/>
              <a:ext cx="216023" cy="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stealth" w="lg" len="lg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3" name="直接箭头连接符 22"/>
            <p:cNvCxnSpPr/>
            <p:nvPr/>
          </p:nvCxnSpPr>
          <p:spPr bwMode="auto">
            <a:xfrm flipH="1">
              <a:off x="3905544" y="5445224"/>
              <a:ext cx="216023" cy="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stealth" w="lg" len="lg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29" name="组合 28"/>
            <p:cNvGrpSpPr/>
            <p:nvPr/>
          </p:nvGrpSpPr>
          <p:grpSpPr>
            <a:xfrm>
              <a:off x="206673" y="3790726"/>
              <a:ext cx="5073650" cy="2446338"/>
              <a:chOff x="2222897" y="3737460"/>
              <a:chExt cx="5073650" cy="2446338"/>
            </a:xfrm>
          </p:grpSpPr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14" name="Object 2"/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4076676248"/>
                      </p:ext>
                    </p:extLst>
                  </p:nvPr>
                </p:nvGraphicFramePr>
                <p:xfrm>
                  <a:off x="2222897" y="3737460"/>
                  <a:ext cx="5073650" cy="2446338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spid="_x0000_s56375" name="Visio" r:id="rId5" imgW="2552877" imgH="1238171" progId="Visio.Drawing.11">
                          <p:embed/>
                        </p:oleObj>
                      </mc:Choice>
                      <mc:Fallback>
                        <p:oleObj name="Visio" r:id="rId5" imgW="2552877" imgH="1238171" progId="Visio.Drawing.11">
                          <p:embed/>
                          <p:pic>
                            <p:nvPicPr>
                              <p:cNvPr id="7" name="Object 2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6"/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2222897" y="3737460"/>
                                <a:ext cx="5073650" cy="2446338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>
                                    <a:solidFill>
                                      <a:schemeClr val="accent1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w="9525">
                                    <a:solidFill>
                                      <a:schemeClr val="tx1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>
                                    <a:effectLst>
                                      <a:outerShdw dist="35921" dir="2700000" algn="ctr" rotWithShape="0">
                                        <a:schemeClr val="bg2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 xmlns="">
              <p:graphicFrame>
                <p:nvGraphicFramePr>
                  <p:cNvPr id="14" name="Object 2"/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4076676248"/>
                      </p:ext>
                    </p:extLst>
                  </p:nvPr>
                </p:nvGraphicFramePr>
                <p:xfrm>
                  <a:off x="2222897" y="3737460"/>
                  <a:ext cx="5073650" cy="2446338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spid="_x0000_s56355" name="Visio" r:id="rId7" imgW="2552877" imgH="1238171" progId="Visio.Drawing.11">
                          <p:embed/>
                        </p:oleObj>
                      </mc:Choice>
                      <mc:Fallback>
                        <p:oleObj name="Visio" r:id="rId7" imgW="2552877" imgH="1238171" progId="Visio.Drawing.11">
                          <p:embed/>
                          <p:pic>
                            <p:nvPicPr>
                              <p:cNvPr id="7" name="Object 2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8"/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2222897" y="3737460"/>
                                <a:ext cx="5073650" cy="2446338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chemeClr val="accent1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chemeClr val="tx1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chemeClr val="bg2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  <p:sp>
            <p:nvSpPr>
              <p:cNvPr id="15" name="矩形 14"/>
              <p:cNvSpPr/>
              <p:nvPr/>
            </p:nvSpPr>
            <p:spPr bwMode="auto">
              <a:xfrm>
                <a:off x="4529473" y="4371288"/>
                <a:ext cx="864095" cy="79208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幼圆" panose="02010509060101010101" pitchFamily="49" charset="-122"/>
                  <a:ea typeface="幼圆" panose="02010509060101010101" pitchFamily="49" charset="-122"/>
                </a:endParaRPr>
              </a:p>
            </p:txBody>
          </p:sp>
          <p:sp>
            <p:nvSpPr>
              <p:cNvPr id="16" name="矩形 15"/>
              <p:cNvSpPr/>
              <p:nvPr/>
            </p:nvSpPr>
            <p:spPr bwMode="auto">
              <a:xfrm>
                <a:off x="3098022" y="4793331"/>
                <a:ext cx="429960" cy="154741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accent4">
                    <a:lumMod val="85000"/>
                    <a:lumOff val="15000"/>
                  </a:schemeClr>
                </a:solidFill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幼圆" panose="02010509060101010101" pitchFamily="49" charset="-122"/>
                  <a:ea typeface="幼圆" panose="02010509060101010101" pitchFamily="49" charset="-122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文本框 23"/>
                  <p:cNvSpPr txBox="1"/>
                  <p:nvPr/>
                </p:nvSpPr>
                <p:spPr>
                  <a:xfrm>
                    <a:off x="5979034" y="3866195"/>
                    <a:ext cx="47673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24" name="文本框 2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79034" y="3866195"/>
                    <a:ext cx="476733" cy="36933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b="-327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文本框 24"/>
                  <p:cNvSpPr txBox="1"/>
                  <p:nvPr/>
                </p:nvSpPr>
                <p:spPr>
                  <a:xfrm>
                    <a:off x="5951249" y="5371579"/>
                    <a:ext cx="48205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25" name="文本框 2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51249" y="5371579"/>
                    <a:ext cx="482055" cy="36933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b="-500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/>
              <p:cNvSpPr txBox="1"/>
              <p:nvPr/>
            </p:nvSpPr>
            <p:spPr>
              <a:xfrm>
                <a:off x="5788656" y="4039669"/>
                <a:ext cx="2553520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altLang="zh-CN" dirty="0"/>
                  <a:t>=2A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altLang="zh-CN" dirty="0"/>
                  <a:t>=3A</a:t>
                </a:r>
              </a:p>
              <a:p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𝑐𝑑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=10</m:t>
                      </m:r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−5</m:t>
                      </m:r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=5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6" name="文本框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8656" y="4039669"/>
                <a:ext cx="2553520" cy="1200329"/>
              </a:xfrm>
              <a:prstGeom prst="rect">
                <a:avLst/>
              </a:prstGeom>
              <a:blipFill>
                <a:blip r:embed="rId11"/>
                <a:stretch>
                  <a:fillRect t="-4061" b="-5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 Box 23"/>
          <p:cNvSpPr txBox="1">
            <a:spLocks noChangeArrowheads="1"/>
          </p:cNvSpPr>
          <p:nvPr/>
        </p:nvSpPr>
        <p:spPr bwMode="auto">
          <a:xfrm>
            <a:off x="4644454" y="5622068"/>
            <a:ext cx="424802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宋体" panose="02010600030101010101" pitchFamily="2" charset="-122"/>
              </a:rPr>
              <a:t>    等效是指对外部（端钮以外）电路而言，对内不成立</a:t>
            </a:r>
            <a:r>
              <a:rPr lang="zh-CN" altLang="en-US" sz="2400" b="1" dirty="0">
                <a:latin typeface="宋体" panose="02010600030101010101" pitchFamily="2" charset="-122"/>
              </a:rPr>
              <a:t>。</a:t>
            </a:r>
            <a:endParaRPr kumimoji="1" lang="zh-CN" altLang="en-US" sz="2400" b="1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069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7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1C66AF1-24A0-446C-B0A8-326C494344F1}" type="datetime1">
              <a:rPr lang="zh-CN" altLang="en-US" smtClean="0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74CEB45-B7B4-4CEA-8E4A-DA539A380401}" type="slidenum">
              <a:rPr lang="en-US" altLang="zh-CN" smtClean="0"/>
              <a:pPr>
                <a:defRPr/>
              </a:pPr>
              <a:t>37</a:t>
            </a:fld>
            <a:endParaRPr lang="en-US" altLang="zh-CN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430328" y="158099"/>
            <a:ext cx="7862887" cy="687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>
                <a:solidFill>
                  <a:srgbClr val="CC3300"/>
                </a:solidFill>
                <a:ea typeface="隶书" panose="02010509060101010101" pitchFamily="49" charset="-122"/>
              </a:rPr>
              <a:t>等效的概念 </a:t>
            </a:r>
            <a:r>
              <a:rPr lang="en-US" altLang="zh-CN" sz="2800" dirty="0">
                <a:solidFill>
                  <a:srgbClr val="CC3300"/>
                </a:solidFill>
                <a:ea typeface="隶书" panose="02010509060101010101" pitchFamily="49" charset="-122"/>
              </a:rPr>
              <a:t>Concept of Equivalence</a:t>
            </a:r>
          </a:p>
        </p:txBody>
      </p:sp>
      <p:grpSp>
        <p:nvGrpSpPr>
          <p:cNvPr id="8" name="Group 7"/>
          <p:cNvGrpSpPr>
            <a:grpSpLocks/>
          </p:cNvGrpSpPr>
          <p:nvPr/>
        </p:nvGrpSpPr>
        <p:grpSpPr bwMode="auto">
          <a:xfrm>
            <a:off x="650630" y="1718141"/>
            <a:ext cx="1730375" cy="1789113"/>
            <a:chOff x="720" y="3120"/>
            <a:chExt cx="1070" cy="1120"/>
          </a:xfrm>
        </p:grpSpPr>
        <p:graphicFrame>
          <p:nvGraphicFramePr>
            <p:cNvPr id="9" name="Object 8"/>
            <p:cNvGraphicFramePr>
              <a:graphicFrameLocks noChangeAspect="1"/>
            </p:cNvGraphicFramePr>
            <p:nvPr/>
          </p:nvGraphicFramePr>
          <p:xfrm>
            <a:off x="720" y="3120"/>
            <a:ext cx="1048" cy="8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458" name="Visio" r:id="rId3" imgW="811387" imgH="681514" progId="Visio.Drawing.11">
                    <p:embed/>
                  </p:oleObj>
                </mc:Choice>
                <mc:Fallback>
                  <p:oleObj name="Visio" r:id="rId3" imgW="811387" imgH="681514" progId="Visio.Drawing.11">
                    <p:embed/>
                    <p:pic>
                      <p:nvPicPr>
                        <p:cNvPr id="6167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0" y="3120"/>
                          <a:ext cx="1048" cy="8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Object 9"/>
            <p:cNvGraphicFramePr>
              <a:graphicFrameLocks noChangeAspect="1"/>
            </p:cNvGraphicFramePr>
            <p:nvPr/>
          </p:nvGraphicFramePr>
          <p:xfrm>
            <a:off x="960" y="3984"/>
            <a:ext cx="830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459" name="公式" r:id="rId5" imgW="660113" imgH="203112" progId="Equation.3">
                    <p:embed/>
                  </p:oleObj>
                </mc:Choice>
                <mc:Fallback>
                  <p:oleObj name="公式" r:id="rId5" imgW="660113" imgH="203112" progId="Equation.3">
                    <p:embed/>
                    <p:pic>
                      <p:nvPicPr>
                        <p:cNvPr id="6168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0" y="3984"/>
                          <a:ext cx="830" cy="2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" name="Group 10"/>
          <p:cNvGrpSpPr>
            <a:grpSpLocks/>
          </p:cNvGrpSpPr>
          <p:nvPr/>
        </p:nvGrpSpPr>
        <p:grpSpPr bwMode="auto">
          <a:xfrm>
            <a:off x="6501173" y="1597202"/>
            <a:ext cx="1927225" cy="1828800"/>
            <a:chOff x="3840" y="3072"/>
            <a:chExt cx="1214" cy="1152"/>
          </a:xfrm>
        </p:grpSpPr>
        <p:graphicFrame>
          <p:nvGraphicFramePr>
            <p:cNvPr id="12" name="Object 11"/>
            <p:cNvGraphicFramePr>
              <a:graphicFrameLocks noChangeAspect="1"/>
            </p:cNvGraphicFramePr>
            <p:nvPr/>
          </p:nvGraphicFramePr>
          <p:xfrm>
            <a:off x="3840" y="3072"/>
            <a:ext cx="1097" cy="8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460" name="Visio" r:id="rId7" imgW="899255" imgH="681514" progId="Visio.Drawing.11">
                    <p:embed/>
                  </p:oleObj>
                </mc:Choice>
                <mc:Fallback>
                  <p:oleObj name="Visio" r:id="rId7" imgW="899255" imgH="681514" progId="Visio.Drawing.11">
                    <p:embed/>
                    <p:pic>
                      <p:nvPicPr>
                        <p:cNvPr id="6165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0" y="3072"/>
                          <a:ext cx="1097" cy="8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Object 12"/>
            <p:cNvGraphicFramePr>
              <a:graphicFrameLocks noChangeAspect="1"/>
            </p:cNvGraphicFramePr>
            <p:nvPr/>
          </p:nvGraphicFramePr>
          <p:xfrm>
            <a:off x="4224" y="3968"/>
            <a:ext cx="830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461" name="公式" r:id="rId9" imgW="660113" imgH="203112" progId="Equation.3">
                    <p:embed/>
                  </p:oleObj>
                </mc:Choice>
                <mc:Fallback>
                  <p:oleObj name="公式" r:id="rId9" imgW="660113" imgH="203112" progId="Equation.3">
                    <p:embed/>
                    <p:pic>
                      <p:nvPicPr>
                        <p:cNvPr id="6166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24" y="3968"/>
                          <a:ext cx="830" cy="2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" name="Group 13"/>
          <p:cNvGrpSpPr>
            <a:grpSpLocks/>
          </p:cNvGrpSpPr>
          <p:nvPr/>
        </p:nvGrpSpPr>
        <p:grpSpPr bwMode="auto">
          <a:xfrm>
            <a:off x="2902231" y="1994927"/>
            <a:ext cx="3114675" cy="698500"/>
            <a:chOff x="1920" y="3160"/>
            <a:chExt cx="1962" cy="440"/>
          </a:xfrm>
        </p:grpSpPr>
        <p:sp>
          <p:nvSpPr>
            <p:cNvPr id="15" name="Rectangle 14"/>
            <p:cNvSpPr>
              <a:spLocks noChangeArrowheads="1"/>
            </p:cNvSpPr>
            <p:nvPr/>
          </p:nvSpPr>
          <p:spPr bwMode="auto">
            <a:xfrm>
              <a:off x="1920" y="3160"/>
              <a:ext cx="196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 dirty="0">
                  <a:ea typeface="隶书" panose="02010509060101010101" pitchFamily="49" charset="-122"/>
                </a:rPr>
                <a:t>Equivalent networks</a:t>
              </a:r>
            </a:p>
          </p:txBody>
        </p:sp>
        <p:sp>
          <p:nvSpPr>
            <p:cNvPr id="16" name="Line 15"/>
            <p:cNvSpPr>
              <a:spLocks noChangeShapeType="1"/>
            </p:cNvSpPr>
            <p:nvPr/>
          </p:nvSpPr>
          <p:spPr bwMode="auto">
            <a:xfrm>
              <a:off x="1968" y="3600"/>
              <a:ext cx="1824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7" name="Rectangle 20"/>
          <p:cNvSpPr>
            <a:spLocks noChangeArrowheads="1"/>
          </p:cNvSpPr>
          <p:nvPr/>
        </p:nvSpPr>
        <p:spPr bwMode="auto">
          <a:xfrm>
            <a:off x="2286000" y="2747929"/>
            <a:ext cx="411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i="1" dirty="0">
                <a:solidFill>
                  <a:schemeClr val="hlink"/>
                </a:solidFill>
                <a:ea typeface="隶书" panose="02010509060101010101" pitchFamily="49" charset="-122"/>
              </a:rPr>
              <a:t>u-</a:t>
            </a:r>
            <a:r>
              <a:rPr lang="en-US" altLang="zh-CN" i="1" dirty="0" err="1">
                <a:solidFill>
                  <a:schemeClr val="hlink"/>
                </a:solidFill>
                <a:ea typeface="隶书" panose="02010509060101010101" pitchFamily="49" charset="-122"/>
              </a:rPr>
              <a:t>i</a:t>
            </a:r>
            <a:r>
              <a:rPr lang="en-US" altLang="zh-CN" dirty="0">
                <a:solidFill>
                  <a:schemeClr val="hlink"/>
                </a:solidFill>
                <a:ea typeface="隶书" panose="02010509060101010101" pitchFamily="49" charset="-122"/>
              </a:rPr>
              <a:t> </a:t>
            </a:r>
            <a:r>
              <a:rPr lang="zh-CN" altLang="en-US" dirty="0">
                <a:solidFill>
                  <a:schemeClr val="hlink"/>
                </a:solidFill>
                <a:ea typeface="隶书" panose="02010509060101010101" pitchFamily="49" charset="-122"/>
              </a:rPr>
              <a:t>关系相同</a:t>
            </a:r>
          </a:p>
        </p:txBody>
      </p:sp>
      <p:sp>
        <p:nvSpPr>
          <p:cNvPr id="18" name="Text Box 73"/>
          <p:cNvSpPr txBox="1">
            <a:spLocks noChangeArrowheads="1"/>
          </p:cNvSpPr>
          <p:nvPr/>
        </p:nvSpPr>
        <p:spPr bwMode="auto">
          <a:xfrm>
            <a:off x="552451" y="845486"/>
            <a:ext cx="7848600" cy="978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FFFF"/>
                    </a:gs>
                    <a:gs pos="100000">
                      <a:schemeClr val="accent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    两个</a:t>
            </a:r>
            <a:r>
              <a:rPr lang="zh-CN" altLang="en-US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一端口网络</a:t>
            </a:r>
            <a:r>
              <a:rPr kumimoji="1" lang="zh-CN" altLang="en-US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，端口具有相同的电压、电流关系</a:t>
            </a:r>
            <a:r>
              <a:rPr kumimoji="1" lang="en-US" altLang="zh-CN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,</a:t>
            </a:r>
            <a:r>
              <a:rPr kumimoji="1" lang="zh-CN" altLang="en-US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则称它们是等效的电路。</a:t>
            </a:r>
          </a:p>
        </p:txBody>
      </p:sp>
    </p:spTree>
    <p:extLst>
      <p:ext uri="{BB962C8B-B14F-4D97-AF65-F5344CB8AC3E}">
        <p14:creationId xmlns:p14="http://schemas.microsoft.com/office/powerpoint/2010/main" val="4188968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串联、并联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电阻串联和并联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1C66AF1-24A0-446C-B0A8-326C494344F1}" type="datetime1">
              <a:rPr lang="zh-CN" altLang="en-US" smtClean="0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74CEB45-B7B4-4CEA-8E4A-DA539A380401}" type="slidenum">
              <a:rPr lang="en-US" altLang="zh-CN" smtClean="0"/>
              <a:pPr>
                <a:defRPr/>
              </a:pPr>
              <a:t>38</a:t>
            </a:fld>
            <a:endParaRPr lang="en-US" altLang="zh-CN"/>
          </a:p>
        </p:txBody>
      </p:sp>
      <p:grpSp>
        <p:nvGrpSpPr>
          <p:cNvPr id="7" name="Group 4"/>
          <p:cNvGrpSpPr>
            <a:grpSpLocks/>
          </p:cNvGrpSpPr>
          <p:nvPr/>
        </p:nvGrpSpPr>
        <p:grpSpPr bwMode="auto">
          <a:xfrm>
            <a:off x="5378252" y="1931289"/>
            <a:ext cx="1066800" cy="685800"/>
            <a:chOff x="1488" y="720"/>
            <a:chExt cx="672" cy="432"/>
          </a:xfrm>
        </p:grpSpPr>
        <p:sp>
          <p:nvSpPr>
            <p:cNvPr id="8" name="AutoShape 5"/>
            <p:cNvSpPr>
              <a:spLocks noChangeArrowheads="1"/>
            </p:cNvSpPr>
            <p:nvPr/>
          </p:nvSpPr>
          <p:spPr bwMode="auto">
            <a:xfrm>
              <a:off x="1488" y="960"/>
              <a:ext cx="672" cy="192"/>
            </a:xfrm>
            <a:prstGeom prst="rightArrow">
              <a:avLst>
                <a:gd name="adj1" fmla="val 50000"/>
                <a:gd name="adj2" fmla="val 87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Text Box 6"/>
            <p:cNvSpPr txBox="1">
              <a:spLocks noChangeArrowheads="1"/>
            </p:cNvSpPr>
            <p:nvPr/>
          </p:nvSpPr>
          <p:spPr bwMode="auto">
            <a:xfrm>
              <a:off x="1536" y="720"/>
              <a:ext cx="5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>
                  <a:latin typeface="Times New Roman" panose="02020603050405020304" pitchFamily="18" charset="0"/>
                </a:rPr>
                <a:t>等效</a:t>
              </a:r>
            </a:p>
          </p:txBody>
        </p:sp>
      </p:grpSp>
      <p:grpSp>
        <p:nvGrpSpPr>
          <p:cNvPr id="10" name="Group 8"/>
          <p:cNvGrpSpPr>
            <a:grpSpLocks/>
          </p:cNvGrpSpPr>
          <p:nvPr/>
        </p:nvGrpSpPr>
        <p:grpSpPr bwMode="auto">
          <a:xfrm>
            <a:off x="539552" y="1302639"/>
            <a:ext cx="4800600" cy="1981200"/>
            <a:chOff x="168" y="444"/>
            <a:chExt cx="3024" cy="1248"/>
          </a:xfrm>
        </p:grpSpPr>
        <p:sp>
          <p:nvSpPr>
            <p:cNvPr id="11" name="Rectangle 9"/>
            <p:cNvSpPr>
              <a:spLocks noChangeArrowheads="1"/>
            </p:cNvSpPr>
            <p:nvPr/>
          </p:nvSpPr>
          <p:spPr bwMode="auto">
            <a:xfrm rot="5400000">
              <a:off x="909" y="663"/>
              <a:ext cx="120" cy="258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" name="Text Box 10"/>
            <p:cNvSpPr txBox="1">
              <a:spLocks noChangeArrowheads="1"/>
            </p:cNvSpPr>
            <p:nvPr/>
          </p:nvSpPr>
          <p:spPr bwMode="auto">
            <a:xfrm>
              <a:off x="408" y="1404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13" name="Text Box 11"/>
            <p:cNvSpPr txBox="1">
              <a:spLocks noChangeArrowheads="1"/>
            </p:cNvSpPr>
            <p:nvPr/>
          </p:nvSpPr>
          <p:spPr bwMode="auto">
            <a:xfrm>
              <a:off x="3000" y="1356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_</a:t>
              </a:r>
            </a:p>
          </p:txBody>
        </p:sp>
        <p:sp>
          <p:nvSpPr>
            <p:cNvPr id="14" name="Text Box 12"/>
            <p:cNvSpPr txBox="1">
              <a:spLocks noChangeArrowheads="1"/>
            </p:cNvSpPr>
            <p:nvPr/>
          </p:nvSpPr>
          <p:spPr bwMode="auto">
            <a:xfrm>
              <a:off x="792" y="444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R</a:t>
              </a:r>
              <a:r>
                <a:rPr kumimoji="1" lang="en-US" altLang="zh-CN" sz="2400" b="1" baseline="-25000">
                  <a:latin typeface="Times New Roman" panose="02020603050405020304" pitchFamily="18" charset="0"/>
                </a:rPr>
                <a:t>1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15" name="Text Box 13"/>
            <p:cNvSpPr txBox="1">
              <a:spLocks noChangeArrowheads="1"/>
            </p:cNvSpPr>
            <p:nvPr/>
          </p:nvSpPr>
          <p:spPr bwMode="auto">
            <a:xfrm>
              <a:off x="2472" y="444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R</a:t>
              </a:r>
              <a:r>
                <a:rPr kumimoji="1" lang="en-US" altLang="zh-CN" sz="2400" b="1" i="1" baseline="-25000">
                  <a:latin typeface="Times New Roman" panose="02020603050405020304" pitchFamily="18" charset="0"/>
                </a:rPr>
                <a:t>n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16" name="Text Box 14"/>
            <p:cNvSpPr txBox="1">
              <a:spLocks noChangeArrowheads="1"/>
            </p:cNvSpPr>
            <p:nvPr/>
          </p:nvSpPr>
          <p:spPr bwMode="auto">
            <a:xfrm>
              <a:off x="168" y="1020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17" name="Rectangle 15"/>
            <p:cNvSpPr>
              <a:spLocks noChangeArrowheads="1"/>
            </p:cNvSpPr>
            <p:nvPr/>
          </p:nvSpPr>
          <p:spPr bwMode="auto">
            <a:xfrm rot="5400000">
              <a:off x="2589" y="663"/>
              <a:ext cx="120" cy="258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8" name="Rectangle 16"/>
            <p:cNvSpPr>
              <a:spLocks noChangeArrowheads="1"/>
            </p:cNvSpPr>
            <p:nvPr/>
          </p:nvSpPr>
          <p:spPr bwMode="auto">
            <a:xfrm rot="5400000">
              <a:off x="1749" y="663"/>
              <a:ext cx="120" cy="258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" name="Line 17"/>
            <p:cNvSpPr>
              <a:spLocks noChangeShapeType="1"/>
            </p:cNvSpPr>
            <p:nvPr/>
          </p:nvSpPr>
          <p:spPr bwMode="auto">
            <a:xfrm>
              <a:off x="504" y="780"/>
              <a:ext cx="336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Line 18"/>
            <p:cNvSpPr>
              <a:spLocks noChangeShapeType="1"/>
            </p:cNvSpPr>
            <p:nvPr/>
          </p:nvSpPr>
          <p:spPr bwMode="auto">
            <a:xfrm>
              <a:off x="1100" y="780"/>
              <a:ext cx="24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Line 19"/>
            <p:cNvSpPr>
              <a:spLocks noChangeShapeType="1"/>
            </p:cNvSpPr>
            <p:nvPr/>
          </p:nvSpPr>
          <p:spPr bwMode="auto">
            <a:xfrm>
              <a:off x="2280" y="780"/>
              <a:ext cx="24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Line 20"/>
            <p:cNvSpPr>
              <a:spLocks noChangeShapeType="1"/>
            </p:cNvSpPr>
            <p:nvPr/>
          </p:nvSpPr>
          <p:spPr bwMode="auto">
            <a:xfrm>
              <a:off x="1320" y="780"/>
              <a:ext cx="336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Line 21"/>
            <p:cNvSpPr>
              <a:spLocks noChangeShapeType="1"/>
            </p:cNvSpPr>
            <p:nvPr/>
          </p:nvSpPr>
          <p:spPr bwMode="auto">
            <a:xfrm>
              <a:off x="1944" y="780"/>
              <a:ext cx="336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Line 22"/>
            <p:cNvSpPr>
              <a:spLocks noChangeShapeType="1"/>
            </p:cNvSpPr>
            <p:nvPr/>
          </p:nvSpPr>
          <p:spPr bwMode="auto">
            <a:xfrm>
              <a:off x="2780" y="780"/>
              <a:ext cx="316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" name="Line 23"/>
            <p:cNvSpPr>
              <a:spLocks noChangeShapeType="1"/>
            </p:cNvSpPr>
            <p:nvPr/>
          </p:nvSpPr>
          <p:spPr bwMode="auto">
            <a:xfrm>
              <a:off x="3082" y="780"/>
              <a:ext cx="0" cy="57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Line 24"/>
            <p:cNvSpPr>
              <a:spLocks noChangeShapeType="1"/>
            </p:cNvSpPr>
            <p:nvPr/>
          </p:nvSpPr>
          <p:spPr bwMode="auto">
            <a:xfrm>
              <a:off x="518" y="780"/>
              <a:ext cx="0" cy="57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Text Box 25"/>
            <p:cNvSpPr txBox="1">
              <a:spLocks noChangeArrowheads="1"/>
            </p:cNvSpPr>
            <p:nvPr/>
          </p:nvSpPr>
          <p:spPr bwMode="auto">
            <a:xfrm>
              <a:off x="1704" y="1404"/>
              <a:ext cx="32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u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28" name="Text Box 26"/>
            <p:cNvSpPr txBox="1">
              <a:spLocks noChangeArrowheads="1"/>
            </p:cNvSpPr>
            <p:nvPr/>
          </p:nvSpPr>
          <p:spPr bwMode="auto">
            <a:xfrm>
              <a:off x="1608" y="444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R</a:t>
              </a:r>
              <a:r>
                <a:rPr kumimoji="1" lang="en-US" altLang="zh-CN" sz="2400" b="1" i="1" baseline="-25000">
                  <a:latin typeface="Times New Roman" panose="02020603050405020304" pitchFamily="18" charset="0"/>
                </a:rPr>
                <a:t>k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29" name="Line 27"/>
            <p:cNvSpPr>
              <a:spLocks noChangeShapeType="1"/>
            </p:cNvSpPr>
            <p:nvPr/>
          </p:nvSpPr>
          <p:spPr bwMode="auto">
            <a:xfrm flipV="1">
              <a:off x="360" y="972"/>
              <a:ext cx="0" cy="33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" name="Oval 28"/>
            <p:cNvSpPr>
              <a:spLocks noChangeArrowheads="1"/>
            </p:cNvSpPr>
            <p:nvPr/>
          </p:nvSpPr>
          <p:spPr bwMode="auto">
            <a:xfrm>
              <a:off x="3048" y="1356"/>
              <a:ext cx="68" cy="6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" name="Oval 29"/>
            <p:cNvSpPr>
              <a:spLocks noChangeArrowheads="1"/>
            </p:cNvSpPr>
            <p:nvPr/>
          </p:nvSpPr>
          <p:spPr bwMode="auto">
            <a:xfrm>
              <a:off x="484" y="1356"/>
              <a:ext cx="68" cy="6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2" name="Group 30"/>
          <p:cNvGrpSpPr>
            <a:grpSpLocks/>
          </p:cNvGrpSpPr>
          <p:nvPr/>
        </p:nvGrpSpPr>
        <p:grpSpPr bwMode="auto">
          <a:xfrm>
            <a:off x="6502202" y="1169289"/>
            <a:ext cx="2438400" cy="2057400"/>
            <a:chOff x="3924" y="360"/>
            <a:chExt cx="1536" cy="1296"/>
          </a:xfrm>
        </p:grpSpPr>
        <p:sp>
          <p:nvSpPr>
            <p:cNvPr id="33" name="Text Box 31"/>
            <p:cNvSpPr txBox="1">
              <a:spLocks noChangeArrowheads="1"/>
            </p:cNvSpPr>
            <p:nvPr/>
          </p:nvSpPr>
          <p:spPr bwMode="auto">
            <a:xfrm>
              <a:off x="4692" y="1368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u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34" name="Text Box 32"/>
            <p:cNvSpPr txBox="1">
              <a:spLocks noChangeArrowheads="1"/>
            </p:cNvSpPr>
            <p:nvPr/>
          </p:nvSpPr>
          <p:spPr bwMode="auto">
            <a:xfrm rot="-5400000">
              <a:off x="4140" y="1344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35" name="Text Box 33"/>
            <p:cNvSpPr txBox="1">
              <a:spLocks noChangeArrowheads="1"/>
            </p:cNvSpPr>
            <p:nvPr/>
          </p:nvSpPr>
          <p:spPr bwMode="auto">
            <a:xfrm>
              <a:off x="5268" y="1272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_</a:t>
              </a:r>
            </a:p>
          </p:txBody>
        </p:sp>
        <p:sp>
          <p:nvSpPr>
            <p:cNvPr id="36" name="Rectangle 34"/>
            <p:cNvSpPr>
              <a:spLocks noChangeArrowheads="1"/>
            </p:cNvSpPr>
            <p:nvPr/>
          </p:nvSpPr>
          <p:spPr bwMode="auto">
            <a:xfrm rot="-5400000">
              <a:off x="4731" y="662"/>
              <a:ext cx="120" cy="257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7" name="Line 35"/>
            <p:cNvSpPr>
              <a:spLocks noChangeShapeType="1"/>
            </p:cNvSpPr>
            <p:nvPr/>
          </p:nvSpPr>
          <p:spPr bwMode="auto">
            <a:xfrm rot="-5400000">
              <a:off x="4010" y="1056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" name="Line 36"/>
            <p:cNvSpPr>
              <a:spLocks noChangeShapeType="1"/>
            </p:cNvSpPr>
            <p:nvPr/>
          </p:nvSpPr>
          <p:spPr bwMode="auto">
            <a:xfrm rot="-5400000">
              <a:off x="4460" y="591"/>
              <a:ext cx="1" cy="40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" name="Line 37"/>
            <p:cNvSpPr>
              <a:spLocks noChangeShapeType="1"/>
            </p:cNvSpPr>
            <p:nvPr/>
          </p:nvSpPr>
          <p:spPr bwMode="auto">
            <a:xfrm rot="5400000" flipV="1">
              <a:off x="5141" y="569"/>
              <a:ext cx="1" cy="44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" name="Text Box 38"/>
            <p:cNvSpPr txBox="1">
              <a:spLocks noChangeArrowheads="1"/>
            </p:cNvSpPr>
            <p:nvPr/>
          </p:nvSpPr>
          <p:spPr bwMode="auto">
            <a:xfrm>
              <a:off x="4644" y="360"/>
              <a:ext cx="67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latinLnBrk="1">
                <a:spcBef>
                  <a:spcPct val="50000"/>
                </a:spcBef>
              </a:pPr>
              <a:r>
                <a:rPr kumimoji="1" lang="en-US" altLang="zh-CN" sz="2400" b="1" i="1" dirty="0">
                  <a:latin typeface="Times New Roman" panose="02020603050405020304" pitchFamily="18" charset="0"/>
                </a:rPr>
                <a:t>R</a:t>
              </a:r>
              <a:r>
                <a:rPr kumimoji="1" lang="en-US" altLang="zh-CN" sz="2400" b="1" baseline="-25000" dirty="0">
                  <a:latin typeface="Times New Roman" panose="02020603050405020304" pitchFamily="18" charset="0"/>
                </a:rPr>
                <a:t>eq</a:t>
              </a:r>
              <a:endParaRPr kumimoji="1"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" name="Line 39"/>
            <p:cNvSpPr>
              <a:spLocks noChangeShapeType="1"/>
            </p:cNvSpPr>
            <p:nvPr/>
          </p:nvSpPr>
          <p:spPr bwMode="auto">
            <a:xfrm rot="-5400000">
              <a:off x="3972" y="1080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" name="Text Box 40"/>
            <p:cNvSpPr txBox="1">
              <a:spLocks noChangeArrowheads="1"/>
            </p:cNvSpPr>
            <p:nvPr/>
          </p:nvSpPr>
          <p:spPr bwMode="auto">
            <a:xfrm>
              <a:off x="3924" y="984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43" name="Oval 41"/>
            <p:cNvSpPr>
              <a:spLocks noChangeArrowheads="1"/>
            </p:cNvSpPr>
            <p:nvPr/>
          </p:nvSpPr>
          <p:spPr bwMode="auto">
            <a:xfrm>
              <a:off x="4240" y="1320"/>
              <a:ext cx="68" cy="6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" name="Line 42"/>
            <p:cNvSpPr>
              <a:spLocks noChangeShapeType="1"/>
            </p:cNvSpPr>
            <p:nvPr/>
          </p:nvSpPr>
          <p:spPr bwMode="auto">
            <a:xfrm rot="-5400000">
              <a:off x="5100" y="1056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" name="Oval 43"/>
            <p:cNvSpPr>
              <a:spLocks noChangeArrowheads="1"/>
            </p:cNvSpPr>
            <p:nvPr/>
          </p:nvSpPr>
          <p:spPr bwMode="auto">
            <a:xfrm>
              <a:off x="5330" y="1320"/>
              <a:ext cx="68" cy="6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6" name="Group 4"/>
          <p:cNvGrpSpPr>
            <a:grpSpLocks/>
          </p:cNvGrpSpPr>
          <p:nvPr/>
        </p:nvGrpSpPr>
        <p:grpSpPr bwMode="auto">
          <a:xfrm>
            <a:off x="5705323" y="4427963"/>
            <a:ext cx="990600" cy="762000"/>
            <a:chOff x="3648" y="1008"/>
            <a:chExt cx="624" cy="480"/>
          </a:xfrm>
        </p:grpSpPr>
        <p:sp>
          <p:nvSpPr>
            <p:cNvPr id="47" name="AutoShape 5"/>
            <p:cNvSpPr>
              <a:spLocks noChangeArrowheads="1"/>
            </p:cNvSpPr>
            <p:nvPr/>
          </p:nvSpPr>
          <p:spPr bwMode="auto">
            <a:xfrm>
              <a:off x="3648" y="1200"/>
              <a:ext cx="624" cy="288"/>
            </a:xfrm>
            <a:prstGeom prst="rightArrow">
              <a:avLst>
                <a:gd name="adj1" fmla="val 50000"/>
                <a:gd name="adj2" fmla="val 541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" name="Text Box 6"/>
            <p:cNvSpPr txBox="1">
              <a:spLocks noChangeArrowheads="1"/>
            </p:cNvSpPr>
            <p:nvPr/>
          </p:nvSpPr>
          <p:spPr bwMode="auto">
            <a:xfrm>
              <a:off x="3648" y="1008"/>
              <a:ext cx="5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>
                  <a:latin typeface="Times New Roman" panose="02020603050405020304" pitchFamily="18" charset="0"/>
                </a:rPr>
                <a:t>等效</a:t>
              </a:r>
            </a:p>
          </p:txBody>
        </p:sp>
      </p:grpSp>
      <p:grpSp>
        <p:nvGrpSpPr>
          <p:cNvPr id="49" name="Group 15"/>
          <p:cNvGrpSpPr>
            <a:grpSpLocks/>
          </p:cNvGrpSpPr>
          <p:nvPr/>
        </p:nvGrpSpPr>
        <p:grpSpPr bwMode="auto">
          <a:xfrm>
            <a:off x="6772123" y="3480225"/>
            <a:ext cx="1981200" cy="2241550"/>
            <a:chOff x="4272" y="288"/>
            <a:chExt cx="1248" cy="1412"/>
          </a:xfrm>
        </p:grpSpPr>
        <p:sp>
          <p:nvSpPr>
            <p:cNvPr id="50" name="Text Box 16"/>
            <p:cNvSpPr txBox="1">
              <a:spLocks noChangeArrowheads="1"/>
            </p:cNvSpPr>
            <p:nvPr/>
          </p:nvSpPr>
          <p:spPr bwMode="auto">
            <a:xfrm>
              <a:off x="5088" y="1008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i="1" dirty="0">
                  <a:latin typeface="Times New Roman" panose="02020603050405020304" pitchFamily="18" charset="0"/>
                </a:rPr>
                <a:t>G</a:t>
              </a:r>
              <a:r>
                <a:rPr kumimoji="1" lang="en-US" altLang="zh-CN" sz="2400" b="1" baseline="-25000" dirty="0">
                  <a:latin typeface="Times New Roman" panose="02020603050405020304" pitchFamily="18" charset="0"/>
                </a:rPr>
                <a:t>eq</a:t>
              </a:r>
            </a:p>
          </p:txBody>
        </p:sp>
        <p:sp>
          <p:nvSpPr>
            <p:cNvPr id="51" name="Freeform 17"/>
            <p:cNvSpPr>
              <a:spLocks/>
            </p:cNvSpPr>
            <p:nvPr/>
          </p:nvSpPr>
          <p:spPr bwMode="auto">
            <a:xfrm>
              <a:off x="4443" y="705"/>
              <a:ext cx="597" cy="2"/>
            </a:xfrm>
            <a:custGeom>
              <a:avLst/>
              <a:gdLst>
                <a:gd name="T0" fmla="*/ 0 w 597"/>
                <a:gd name="T1" fmla="*/ 0 h 2"/>
                <a:gd name="T2" fmla="*/ 597 w 597"/>
                <a:gd name="T3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97" h="2">
                  <a:moveTo>
                    <a:pt x="0" y="0"/>
                  </a:moveTo>
                  <a:lnTo>
                    <a:pt x="597" y="2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" name="Freeform 18"/>
            <p:cNvSpPr>
              <a:spLocks/>
            </p:cNvSpPr>
            <p:nvPr/>
          </p:nvSpPr>
          <p:spPr bwMode="auto">
            <a:xfrm>
              <a:off x="4479" y="1667"/>
              <a:ext cx="561" cy="1"/>
            </a:xfrm>
            <a:custGeom>
              <a:avLst/>
              <a:gdLst>
                <a:gd name="T0" fmla="*/ 0 w 561"/>
                <a:gd name="T1" fmla="*/ 1 h 1"/>
                <a:gd name="T2" fmla="*/ 561 w 561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61" h="1">
                  <a:moveTo>
                    <a:pt x="0" y="1"/>
                  </a:moveTo>
                  <a:lnTo>
                    <a:pt x="561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" name="Freeform 19"/>
            <p:cNvSpPr>
              <a:spLocks/>
            </p:cNvSpPr>
            <p:nvPr/>
          </p:nvSpPr>
          <p:spPr bwMode="auto">
            <a:xfrm>
              <a:off x="5040" y="702"/>
              <a:ext cx="3" cy="966"/>
            </a:xfrm>
            <a:custGeom>
              <a:avLst/>
              <a:gdLst>
                <a:gd name="T0" fmla="*/ 0 w 3"/>
                <a:gd name="T1" fmla="*/ 0 h 966"/>
                <a:gd name="T2" fmla="*/ 3 w 3"/>
                <a:gd name="T3" fmla="*/ 966 h 9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" h="966">
                  <a:moveTo>
                    <a:pt x="0" y="0"/>
                  </a:moveTo>
                  <a:lnTo>
                    <a:pt x="3" y="966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" name="Line 20"/>
            <p:cNvSpPr>
              <a:spLocks noChangeShapeType="1"/>
            </p:cNvSpPr>
            <p:nvPr/>
          </p:nvSpPr>
          <p:spPr bwMode="auto">
            <a:xfrm>
              <a:off x="4416" y="624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" name="Text Box 21"/>
            <p:cNvSpPr txBox="1">
              <a:spLocks noChangeArrowheads="1"/>
            </p:cNvSpPr>
            <p:nvPr/>
          </p:nvSpPr>
          <p:spPr bwMode="auto">
            <a:xfrm>
              <a:off x="4272" y="768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56" name="Text Box 22"/>
            <p:cNvSpPr txBox="1">
              <a:spLocks noChangeArrowheads="1"/>
            </p:cNvSpPr>
            <p:nvPr/>
          </p:nvSpPr>
          <p:spPr bwMode="auto">
            <a:xfrm>
              <a:off x="4272" y="1056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u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57" name="Text Box 23"/>
            <p:cNvSpPr txBox="1">
              <a:spLocks noChangeArrowheads="1"/>
            </p:cNvSpPr>
            <p:nvPr/>
          </p:nvSpPr>
          <p:spPr bwMode="auto">
            <a:xfrm>
              <a:off x="4320" y="1296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_</a:t>
              </a:r>
            </a:p>
          </p:txBody>
        </p:sp>
        <p:sp>
          <p:nvSpPr>
            <p:cNvPr id="58" name="Text Box 24"/>
            <p:cNvSpPr txBox="1">
              <a:spLocks noChangeArrowheads="1"/>
            </p:cNvSpPr>
            <p:nvPr/>
          </p:nvSpPr>
          <p:spPr bwMode="auto">
            <a:xfrm>
              <a:off x="4464" y="288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59" name="Rectangle 25"/>
            <p:cNvSpPr>
              <a:spLocks noChangeArrowheads="1"/>
            </p:cNvSpPr>
            <p:nvPr/>
          </p:nvSpPr>
          <p:spPr bwMode="auto">
            <a:xfrm>
              <a:off x="4980" y="1008"/>
              <a:ext cx="120" cy="288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0" name="Oval 26"/>
            <p:cNvSpPr>
              <a:spLocks noChangeArrowheads="1"/>
            </p:cNvSpPr>
            <p:nvPr/>
          </p:nvSpPr>
          <p:spPr bwMode="auto">
            <a:xfrm>
              <a:off x="4416" y="1632"/>
              <a:ext cx="68" cy="6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" name="Oval 27"/>
            <p:cNvSpPr>
              <a:spLocks noChangeArrowheads="1"/>
            </p:cNvSpPr>
            <p:nvPr/>
          </p:nvSpPr>
          <p:spPr bwMode="auto">
            <a:xfrm>
              <a:off x="4368" y="672"/>
              <a:ext cx="68" cy="6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2" name="Group 29"/>
          <p:cNvGrpSpPr>
            <a:grpSpLocks/>
          </p:cNvGrpSpPr>
          <p:nvPr/>
        </p:nvGrpSpPr>
        <p:grpSpPr bwMode="auto">
          <a:xfrm>
            <a:off x="653898" y="3570713"/>
            <a:ext cx="5060950" cy="2187575"/>
            <a:chOff x="1072" y="576"/>
            <a:chExt cx="3188" cy="1378"/>
          </a:xfrm>
        </p:grpSpPr>
        <p:sp>
          <p:nvSpPr>
            <p:cNvPr id="63" name="Text Box 30"/>
            <p:cNvSpPr txBox="1">
              <a:spLocks noChangeArrowheads="1"/>
            </p:cNvSpPr>
            <p:nvPr/>
          </p:nvSpPr>
          <p:spPr bwMode="auto">
            <a:xfrm>
              <a:off x="3936" y="960"/>
              <a:ext cx="3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2400" b="1" i="1" baseline="-25000">
                  <a:latin typeface="Times New Roman" panose="02020603050405020304" pitchFamily="18" charset="0"/>
                </a:rPr>
                <a:t>n</a:t>
              </a:r>
              <a:endParaRPr kumimoji="1" lang="en-US" altLang="zh-CN" sz="2400" b="1" i="1">
                <a:latin typeface="Times New Roman" panose="02020603050405020304" pitchFamily="18" charset="0"/>
              </a:endParaRPr>
            </a:p>
          </p:txBody>
        </p:sp>
        <p:sp>
          <p:nvSpPr>
            <p:cNvPr id="64" name="Line 31"/>
            <p:cNvSpPr>
              <a:spLocks noChangeShapeType="1"/>
            </p:cNvSpPr>
            <p:nvPr/>
          </p:nvSpPr>
          <p:spPr bwMode="auto">
            <a:xfrm>
              <a:off x="1296" y="960"/>
              <a:ext cx="110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" name="Line 32"/>
            <p:cNvSpPr>
              <a:spLocks noChangeShapeType="1"/>
            </p:cNvSpPr>
            <p:nvPr/>
          </p:nvSpPr>
          <p:spPr bwMode="auto">
            <a:xfrm rot="-5400000">
              <a:off x="1354" y="1440"/>
              <a:ext cx="96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" name="Line 33"/>
            <p:cNvSpPr>
              <a:spLocks noChangeShapeType="1"/>
            </p:cNvSpPr>
            <p:nvPr/>
          </p:nvSpPr>
          <p:spPr bwMode="auto">
            <a:xfrm rot="-5400000">
              <a:off x="1790" y="1440"/>
              <a:ext cx="96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7" name="Line 34"/>
            <p:cNvSpPr>
              <a:spLocks noChangeShapeType="1"/>
            </p:cNvSpPr>
            <p:nvPr/>
          </p:nvSpPr>
          <p:spPr bwMode="auto">
            <a:xfrm>
              <a:off x="1296" y="1920"/>
              <a:ext cx="110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" name="Line 35"/>
            <p:cNvSpPr>
              <a:spLocks noChangeShapeType="1"/>
            </p:cNvSpPr>
            <p:nvPr/>
          </p:nvSpPr>
          <p:spPr bwMode="auto">
            <a:xfrm>
              <a:off x="2400" y="960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9" name="Line 36"/>
            <p:cNvSpPr>
              <a:spLocks noChangeShapeType="1"/>
            </p:cNvSpPr>
            <p:nvPr/>
          </p:nvSpPr>
          <p:spPr bwMode="auto">
            <a:xfrm>
              <a:off x="2414" y="1920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" name="Line 37"/>
            <p:cNvSpPr>
              <a:spLocks noChangeShapeType="1"/>
            </p:cNvSpPr>
            <p:nvPr/>
          </p:nvSpPr>
          <p:spPr bwMode="auto">
            <a:xfrm>
              <a:off x="2798" y="960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" name="Line 38"/>
            <p:cNvSpPr>
              <a:spLocks noChangeShapeType="1"/>
            </p:cNvSpPr>
            <p:nvPr/>
          </p:nvSpPr>
          <p:spPr bwMode="auto">
            <a:xfrm rot="-5400000">
              <a:off x="2506" y="1440"/>
              <a:ext cx="96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" name="Line 39"/>
            <p:cNvSpPr>
              <a:spLocks noChangeShapeType="1"/>
            </p:cNvSpPr>
            <p:nvPr/>
          </p:nvSpPr>
          <p:spPr bwMode="auto">
            <a:xfrm>
              <a:off x="2798" y="1920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" name="Line 40"/>
            <p:cNvSpPr>
              <a:spLocks noChangeShapeType="1"/>
            </p:cNvSpPr>
            <p:nvPr/>
          </p:nvSpPr>
          <p:spPr bwMode="auto">
            <a:xfrm>
              <a:off x="3134" y="960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4" name="Line 41"/>
            <p:cNvSpPr>
              <a:spLocks noChangeShapeType="1"/>
            </p:cNvSpPr>
            <p:nvPr/>
          </p:nvSpPr>
          <p:spPr bwMode="auto">
            <a:xfrm>
              <a:off x="3182" y="1920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" name="Line 42"/>
            <p:cNvSpPr>
              <a:spLocks noChangeShapeType="1"/>
            </p:cNvSpPr>
            <p:nvPr/>
          </p:nvSpPr>
          <p:spPr bwMode="auto">
            <a:xfrm>
              <a:off x="3518" y="960"/>
              <a:ext cx="3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6" name="Line 43"/>
            <p:cNvSpPr>
              <a:spLocks noChangeShapeType="1"/>
            </p:cNvSpPr>
            <p:nvPr/>
          </p:nvSpPr>
          <p:spPr bwMode="auto">
            <a:xfrm>
              <a:off x="3518" y="1920"/>
              <a:ext cx="3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" name="Line 44"/>
            <p:cNvSpPr>
              <a:spLocks noChangeShapeType="1"/>
            </p:cNvSpPr>
            <p:nvPr/>
          </p:nvSpPr>
          <p:spPr bwMode="auto">
            <a:xfrm rot="-5400000">
              <a:off x="3374" y="1440"/>
              <a:ext cx="96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8" name="Rectangle 45"/>
            <p:cNvSpPr>
              <a:spLocks noChangeArrowheads="1"/>
            </p:cNvSpPr>
            <p:nvPr/>
          </p:nvSpPr>
          <p:spPr bwMode="auto">
            <a:xfrm>
              <a:off x="1471" y="1248"/>
              <a:ext cx="31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b="1" i="1">
                  <a:latin typeface="Times New Roman" panose="02020603050405020304" pitchFamily="18" charset="0"/>
                </a:rPr>
                <a:t>G</a:t>
              </a:r>
              <a:r>
                <a:rPr kumimoji="1" lang="en-US" altLang="zh-CN" sz="2400" b="1" baseline="-25000">
                  <a:latin typeface="Times New Roman" panose="02020603050405020304" pitchFamily="18" charset="0"/>
                </a:rPr>
                <a:t>1</a:t>
              </a:r>
              <a:endParaRPr kumimoji="1" lang="en-US" altLang="zh-CN" sz="2400" b="1" i="1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79" name="Rectangle 46"/>
            <p:cNvSpPr>
              <a:spLocks noChangeArrowheads="1"/>
            </p:cNvSpPr>
            <p:nvPr/>
          </p:nvSpPr>
          <p:spPr bwMode="auto">
            <a:xfrm>
              <a:off x="1910" y="1248"/>
              <a:ext cx="31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b="1" i="1">
                  <a:latin typeface="Times New Roman" panose="02020603050405020304" pitchFamily="18" charset="0"/>
                </a:rPr>
                <a:t>G</a:t>
              </a:r>
              <a:r>
                <a:rPr kumimoji="1" lang="en-US" altLang="zh-CN" sz="2400" b="1" baseline="-25000">
                  <a:latin typeface="Times New Roman" panose="02020603050405020304" pitchFamily="18" charset="0"/>
                </a:rPr>
                <a:t>2</a:t>
              </a:r>
              <a:endParaRPr kumimoji="1" lang="en-US" altLang="zh-CN" sz="2400" b="1" i="1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80" name="Rectangle 47"/>
            <p:cNvSpPr>
              <a:spLocks noChangeArrowheads="1"/>
            </p:cNvSpPr>
            <p:nvPr/>
          </p:nvSpPr>
          <p:spPr bwMode="auto">
            <a:xfrm>
              <a:off x="2629" y="1248"/>
              <a:ext cx="31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b="1" i="1">
                  <a:latin typeface="Times New Roman" panose="02020603050405020304" pitchFamily="18" charset="0"/>
                </a:rPr>
                <a:t>G</a:t>
              </a:r>
              <a:r>
                <a:rPr kumimoji="1" lang="en-US" altLang="zh-CN" sz="2400" b="1" i="1" baseline="-25000">
                  <a:latin typeface="Times New Roman" panose="02020603050405020304" pitchFamily="18" charset="0"/>
                </a:rPr>
                <a:t>k</a:t>
              </a:r>
            </a:p>
          </p:txBody>
        </p:sp>
        <p:sp>
          <p:nvSpPr>
            <p:cNvPr id="81" name="Rectangle 48"/>
            <p:cNvSpPr>
              <a:spLocks noChangeArrowheads="1"/>
            </p:cNvSpPr>
            <p:nvPr/>
          </p:nvSpPr>
          <p:spPr bwMode="auto">
            <a:xfrm>
              <a:off x="3504" y="1248"/>
              <a:ext cx="32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b="1" i="1">
                  <a:latin typeface="Times New Roman" panose="02020603050405020304" pitchFamily="18" charset="0"/>
                </a:rPr>
                <a:t>G</a:t>
              </a:r>
              <a:r>
                <a:rPr kumimoji="1" lang="en-US" altLang="zh-CN" sz="2400" b="1" i="1" baseline="-25000">
                  <a:latin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82" name="Line 49"/>
            <p:cNvSpPr>
              <a:spLocks noChangeShapeType="1"/>
            </p:cNvSpPr>
            <p:nvPr/>
          </p:nvSpPr>
          <p:spPr bwMode="auto">
            <a:xfrm>
              <a:off x="1296" y="878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3" name="Text Box 50"/>
            <p:cNvSpPr txBox="1">
              <a:spLocks noChangeArrowheads="1"/>
            </p:cNvSpPr>
            <p:nvPr/>
          </p:nvSpPr>
          <p:spPr bwMode="auto">
            <a:xfrm>
              <a:off x="1366" y="576"/>
              <a:ext cx="1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800" b="1" i="1">
                  <a:latin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84" name="Rectangle 51"/>
            <p:cNvSpPr>
              <a:spLocks noChangeArrowheads="1"/>
            </p:cNvSpPr>
            <p:nvPr/>
          </p:nvSpPr>
          <p:spPr bwMode="auto">
            <a:xfrm>
              <a:off x="1104" y="912"/>
              <a:ext cx="2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sym typeface="CommonBullets" pitchFamily="34" charset="2"/>
                </a:rPr>
                <a:t>+</a:t>
              </a:r>
              <a:endParaRPr kumimoji="1" lang="en-US" altLang="zh-CN" sz="4400" b="1">
                <a:solidFill>
                  <a:srgbClr val="FF0000"/>
                </a:solidFill>
                <a:latin typeface="Times New Roman" panose="02020603050405020304" pitchFamily="18" charset="0"/>
                <a:sym typeface="CommonBullets" pitchFamily="34" charset="2"/>
              </a:endParaRPr>
            </a:p>
          </p:txBody>
        </p:sp>
        <p:sp>
          <p:nvSpPr>
            <p:cNvPr id="85" name="Text Box 52"/>
            <p:cNvSpPr txBox="1">
              <a:spLocks noChangeArrowheads="1"/>
            </p:cNvSpPr>
            <p:nvPr/>
          </p:nvSpPr>
          <p:spPr bwMode="auto">
            <a:xfrm>
              <a:off x="1072" y="1324"/>
              <a:ext cx="2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b="1" i="1">
                  <a:latin typeface="Times New Roman" panose="02020603050405020304" pitchFamily="18" charset="0"/>
                </a:rPr>
                <a:t>u</a:t>
              </a:r>
            </a:p>
          </p:txBody>
        </p:sp>
        <p:sp>
          <p:nvSpPr>
            <p:cNvPr id="86" name="Rectangle 53"/>
            <p:cNvSpPr>
              <a:spLocks noChangeArrowheads="1"/>
            </p:cNvSpPr>
            <p:nvPr/>
          </p:nvSpPr>
          <p:spPr bwMode="auto">
            <a:xfrm>
              <a:off x="2206" y="1287"/>
              <a:ext cx="120" cy="288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7" name="Rectangle 54"/>
            <p:cNvSpPr>
              <a:spLocks noChangeArrowheads="1"/>
            </p:cNvSpPr>
            <p:nvPr/>
          </p:nvSpPr>
          <p:spPr bwMode="auto">
            <a:xfrm>
              <a:off x="1778" y="1287"/>
              <a:ext cx="120" cy="288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8" name="Rectangle 55"/>
            <p:cNvSpPr>
              <a:spLocks noChangeArrowheads="1"/>
            </p:cNvSpPr>
            <p:nvPr/>
          </p:nvSpPr>
          <p:spPr bwMode="auto">
            <a:xfrm>
              <a:off x="2926" y="1287"/>
              <a:ext cx="120" cy="288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9" name="Rectangle 56"/>
            <p:cNvSpPr>
              <a:spLocks noChangeArrowheads="1"/>
            </p:cNvSpPr>
            <p:nvPr/>
          </p:nvSpPr>
          <p:spPr bwMode="auto">
            <a:xfrm>
              <a:off x="3794" y="1287"/>
              <a:ext cx="120" cy="288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0" name="Line 57"/>
            <p:cNvSpPr>
              <a:spLocks noChangeShapeType="1"/>
            </p:cNvSpPr>
            <p:nvPr/>
          </p:nvSpPr>
          <p:spPr bwMode="auto">
            <a:xfrm>
              <a:off x="1920" y="1008"/>
              <a:ext cx="0" cy="25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1" name="Text Box 58"/>
            <p:cNvSpPr txBox="1">
              <a:spLocks noChangeArrowheads="1"/>
            </p:cNvSpPr>
            <p:nvPr/>
          </p:nvSpPr>
          <p:spPr bwMode="auto">
            <a:xfrm>
              <a:off x="1920" y="960"/>
              <a:ext cx="3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2400" b="1" baseline="-25000">
                  <a:latin typeface="Times New Roman" panose="02020603050405020304" pitchFamily="18" charset="0"/>
                </a:rPr>
                <a:t>1</a:t>
              </a:r>
              <a:endParaRPr kumimoji="1" lang="en-US" altLang="zh-CN" sz="2400" b="1" i="1">
                <a:latin typeface="Times New Roman" panose="02020603050405020304" pitchFamily="18" charset="0"/>
              </a:endParaRPr>
            </a:p>
          </p:txBody>
        </p:sp>
        <p:sp>
          <p:nvSpPr>
            <p:cNvPr id="92" name="Text Box 59"/>
            <p:cNvSpPr txBox="1">
              <a:spLocks noChangeArrowheads="1"/>
            </p:cNvSpPr>
            <p:nvPr/>
          </p:nvSpPr>
          <p:spPr bwMode="auto">
            <a:xfrm>
              <a:off x="2352" y="960"/>
              <a:ext cx="3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2400" b="1" baseline="-25000">
                  <a:latin typeface="Times New Roman" panose="02020603050405020304" pitchFamily="18" charset="0"/>
                </a:rPr>
                <a:t>2</a:t>
              </a:r>
              <a:endParaRPr kumimoji="1" lang="en-US" altLang="zh-CN" sz="2400" b="1" i="1">
                <a:latin typeface="Times New Roman" panose="02020603050405020304" pitchFamily="18" charset="0"/>
              </a:endParaRPr>
            </a:p>
          </p:txBody>
        </p:sp>
        <p:sp>
          <p:nvSpPr>
            <p:cNvPr id="93" name="Text Box 60"/>
            <p:cNvSpPr txBox="1">
              <a:spLocks noChangeArrowheads="1"/>
            </p:cNvSpPr>
            <p:nvPr/>
          </p:nvSpPr>
          <p:spPr bwMode="auto">
            <a:xfrm>
              <a:off x="3120" y="960"/>
              <a:ext cx="3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2400" b="1" i="1" baseline="-25000">
                  <a:latin typeface="Times New Roman" panose="02020603050405020304" pitchFamily="18" charset="0"/>
                </a:rPr>
                <a:t>k</a:t>
              </a:r>
              <a:endParaRPr kumimoji="1" lang="en-US" altLang="zh-CN" sz="2400" b="1" i="1">
                <a:latin typeface="Times New Roman" panose="02020603050405020304" pitchFamily="18" charset="0"/>
              </a:endParaRPr>
            </a:p>
          </p:txBody>
        </p:sp>
        <p:sp>
          <p:nvSpPr>
            <p:cNvPr id="94" name="Text Box 61"/>
            <p:cNvSpPr txBox="1">
              <a:spLocks noChangeArrowheads="1"/>
            </p:cNvSpPr>
            <p:nvPr/>
          </p:nvSpPr>
          <p:spPr bwMode="auto">
            <a:xfrm>
              <a:off x="1108" y="1610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_</a:t>
              </a:r>
            </a:p>
          </p:txBody>
        </p:sp>
        <p:sp>
          <p:nvSpPr>
            <p:cNvPr id="95" name="Line 62"/>
            <p:cNvSpPr>
              <a:spLocks noChangeShapeType="1"/>
            </p:cNvSpPr>
            <p:nvPr/>
          </p:nvSpPr>
          <p:spPr bwMode="auto">
            <a:xfrm>
              <a:off x="2352" y="1008"/>
              <a:ext cx="0" cy="25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" name="Line 63"/>
            <p:cNvSpPr>
              <a:spLocks noChangeShapeType="1"/>
            </p:cNvSpPr>
            <p:nvPr/>
          </p:nvSpPr>
          <p:spPr bwMode="auto">
            <a:xfrm>
              <a:off x="3072" y="1008"/>
              <a:ext cx="0" cy="25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7" name="Line 64"/>
            <p:cNvSpPr>
              <a:spLocks noChangeShapeType="1"/>
            </p:cNvSpPr>
            <p:nvPr/>
          </p:nvSpPr>
          <p:spPr bwMode="auto">
            <a:xfrm>
              <a:off x="3936" y="960"/>
              <a:ext cx="0" cy="25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8" name="Oval 65"/>
            <p:cNvSpPr>
              <a:spLocks noChangeArrowheads="1"/>
            </p:cNvSpPr>
            <p:nvPr/>
          </p:nvSpPr>
          <p:spPr bwMode="auto">
            <a:xfrm>
              <a:off x="1234" y="1886"/>
              <a:ext cx="68" cy="6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9" name="Oval 66"/>
            <p:cNvSpPr>
              <a:spLocks noChangeArrowheads="1"/>
            </p:cNvSpPr>
            <p:nvPr/>
          </p:nvSpPr>
          <p:spPr bwMode="auto">
            <a:xfrm>
              <a:off x="1234" y="926"/>
              <a:ext cx="68" cy="6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281002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理想电压源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1C66AF1-24A0-446C-B0A8-326C494344F1}" type="datetime1">
              <a:rPr lang="zh-CN" altLang="en-US" smtClean="0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74CEB45-B7B4-4CEA-8E4A-DA539A380401}" type="slidenum">
              <a:rPr lang="en-US" altLang="zh-CN" smtClean="0"/>
              <a:pPr>
                <a:defRPr/>
              </a:pPr>
              <a:t>39</a:t>
            </a:fld>
            <a:endParaRPr lang="en-US" altLang="zh-CN"/>
          </a:p>
        </p:txBody>
      </p:sp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串联、并联</a:t>
            </a:r>
          </a:p>
        </p:txBody>
      </p:sp>
      <p:graphicFrame>
        <p:nvGraphicFramePr>
          <p:cNvPr id="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7066430"/>
              </p:ext>
            </p:extLst>
          </p:nvPr>
        </p:nvGraphicFramePr>
        <p:xfrm>
          <a:off x="611560" y="1268760"/>
          <a:ext cx="1585913" cy="227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534" name="Visio" r:id="rId3" imgW="822103" imgH="1167574" progId="Visio.Drawing.11">
                  <p:embed/>
                </p:oleObj>
              </mc:Choice>
              <mc:Fallback>
                <p:oleObj name="Visio" r:id="rId3" imgW="822103" imgH="1167574" progId="Visio.Drawing.11">
                  <p:embed/>
                  <p:pic>
                    <p:nvPicPr>
                      <p:cNvPr id="10253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560" y="1268760"/>
                        <a:ext cx="1585913" cy="2278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4349879"/>
              </p:ext>
            </p:extLst>
          </p:nvPr>
        </p:nvGraphicFramePr>
        <p:xfrm>
          <a:off x="3108699" y="1679844"/>
          <a:ext cx="1528762" cy="168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535" name="Visio" r:id="rId5" imgW="793385" imgH="872252" progId="Visio.Drawing.11">
                  <p:embed/>
                </p:oleObj>
              </mc:Choice>
              <mc:Fallback>
                <p:oleObj name="Visio" r:id="rId5" imgW="793385" imgH="872252" progId="Visio.Drawing.11">
                  <p:embed/>
                  <p:pic>
                    <p:nvPicPr>
                      <p:cNvPr id="2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8699" y="1679844"/>
                        <a:ext cx="1528762" cy="1685925"/>
                      </a:xfrm>
                      <a:prstGeom prst="rect">
                        <a:avLst/>
                      </a:prstGeom>
                      <a:solidFill>
                        <a:schemeClr val="accent1">
                          <a:alpha val="50195"/>
                        </a:schemeClr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2242080" y="2187433"/>
            <a:ext cx="8382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195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4400" b="1" dirty="0">
                <a:solidFill>
                  <a:schemeClr val="hlink"/>
                </a:solidFill>
                <a:ea typeface="隶书" panose="02010509060101010101" pitchFamily="49" charset="-122"/>
              </a:rPr>
              <a:t>→</a:t>
            </a:r>
          </a:p>
        </p:txBody>
      </p:sp>
      <p:graphicFrame>
        <p:nvGraphicFramePr>
          <p:cNvPr id="11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1381990"/>
              </p:ext>
            </p:extLst>
          </p:nvPr>
        </p:nvGraphicFramePr>
        <p:xfrm>
          <a:off x="273659" y="4128990"/>
          <a:ext cx="2357438" cy="168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536" name="Visio" r:id="rId7" imgW="1200281" imgH="866879" progId="Visio.Drawing.11">
                  <p:embed/>
                </p:oleObj>
              </mc:Choice>
              <mc:Fallback>
                <p:oleObj name="Visio" r:id="rId7" imgW="1200281" imgH="866879" progId="Visio.Drawing.11">
                  <p:embed/>
                  <p:pic>
                    <p:nvPicPr>
                      <p:cNvPr id="10245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659" y="4128990"/>
                        <a:ext cx="2357438" cy="168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8721581"/>
              </p:ext>
            </p:extLst>
          </p:nvPr>
        </p:nvGraphicFramePr>
        <p:xfrm>
          <a:off x="7314222" y="4221189"/>
          <a:ext cx="1528762" cy="168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537" name="Visio" r:id="rId5" imgW="793385" imgH="872252" progId="Visio.Drawing.11">
                  <p:embed/>
                </p:oleObj>
              </mc:Choice>
              <mc:Fallback>
                <p:oleObj name="Visio" r:id="rId5" imgW="793385" imgH="872252" progId="Visio.Drawing.11">
                  <p:embed/>
                  <p:pic>
                    <p:nvPicPr>
                      <p:cNvPr id="27238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4222" y="4221189"/>
                        <a:ext cx="1528762" cy="1685925"/>
                      </a:xfrm>
                      <a:prstGeom prst="rect">
                        <a:avLst/>
                      </a:prstGeom>
                      <a:solidFill>
                        <a:schemeClr val="accent1">
                          <a:alpha val="50195"/>
                        </a:schemeClr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1038325"/>
              </p:ext>
            </p:extLst>
          </p:nvPr>
        </p:nvGraphicFramePr>
        <p:xfrm>
          <a:off x="2478697" y="4128990"/>
          <a:ext cx="2463800" cy="168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538" name="Visio" r:id="rId9" imgW="1252533" imgH="866879" progId="Visio.Drawing.11">
                  <p:embed/>
                </p:oleObj>
              </mc:Choice>
              <mc:Fallback>
                <p:oleObj name="Visio" r:id="rId9" imgW="1252533" imgH="866879" progId="Visio.Drawing.11">
                  <p:embed/>
                  <p:pic>
                    <p:nvPicPr>
                      <p:cNvPr id="1025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8697" y="4128990"/>
                        <a:ext cx="2463800" cy="168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9604049"/>
              </p:ext>
            </p:extLst>
          </p:nvPr>
        </p:nvGraphicFramePr>
        <p:xfrm>
          <a:off x="4995895" y="4410970"/>
          <a:ext cx="1584325" cy="1322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539" name="Visio" r:id="rId11" imgW="828532" imgH="692658" progId="Visio.Drawing.11">
                  <p:embed/>
                </p:oleObj>
              </mc:Choice>
              <mc:Fallback>
                <p:oleObj name="Visio" r:id="rId11" imgW="828532" imgH="692658" progId="Visio.Drawing.11">
                  <p:embed/>
                  <p:pic>
                    <p:nvPicPr>
                      <p:cNvPr id="10257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95895" y="4410970"/>
                        <a:ext cx="1584325" cy="1322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矩形 14"/>
          <p:cNvSpPr/>
          <p:nvPr/>
        </p:nvSpPr>
        <p:spPr>
          <a:xfrm>
            <a:off x="6531271" y="4747967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800" dirty="0">
                <a:solidFill>
                  <a:srgbClr val="CC3300"/>
                </a:solidFill>
                <a:ea typeface="隶书" panose="02010509060101010101" pitchFamily="49" charset="-122"/>
              </a:rPr>
              <a:t>等效</a:t>
            </a:r>
            <a:endParaRPr lang="zh-CN" altLang="en-US" dirty="0"/>
          </a:p>
        </p:txBody>
      </p:sp>
      <p:graphicFrame>
        <p:nvGraphicFramePr>
          <p:cNvPr id="1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1420171"/>
              </p:ext>
            </p:extLst>
          </p:nvPr>
        </p:nvGraphicFramePr>
        <p:xfrm>
          <a:off x="5527990" y="1213225"/>
          <a:ext cx="2463800" cy="168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540" name="Visio" r:id="rId13" imgW="1261443" imgH="872252" progId="Visio.Drawing.11">
                  <p:embed/>
                </p:oleObj>
              </mc:Choice>
              <mc:Fallback>
                <p:oleObj name="Visio" r:id="rId13" imgW="1261443" imgH="872252" progId="Visio.Drawing.11">
                  <p:embed/>
                  <p:pic>
                    <p:nvPicPr>
                      <p:cNvPr id="272394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7990" y="1213225"/>
                        <a:ext cx="2463800" cy="168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9" name="Picture 142" descr="éé¦é¿èèå¤´ä¼¸ææç»GIFå¨æè¡¨æï¼ä¸è¡ ï¼ç»å¯¹ä¸è¡"/>
          <p:cNvPicPr>
            <a:picLocks noChangeAspect="1" noChangeArrowheads="1" noCrop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0234" y="2327324"/>
            <a:ext cx="1372790" cy="1372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1000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串联、并联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理想电流源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1C66AF1-24A0-446C-B0A8-326C494344F1}" type="datetime1">
              <a:rPr lang="zh-CN" altLang="en-US" smtClean="0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74CEB45-B7B4-4CEA-8E4A-DA539A380401}" type="slidenum">
              <a:rPr lang="en-US" altLang="zh-CN" smtClean="0"/>
              <a:pPr>
                <a:defRPr/>
              </a:pPr>
              <a:t>40</a:t>
            </a:fld>
            <a:endParaRPr lang="en-US" altLang="zh-CN"/>
          </a:p>
        </p:txBody>
      </p:sp>
      <p:graphicFrame>
        <p:nvGraphicFramePr>
          <p:cNvPr id="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6086013"/>
              </p:ext>
            </p:extLst>
          </p:nvPr>
        </p:nvGraphicFramePr>
        <p:xfrm>
          <a:off x="6837576" y="824136"/>
          <a:ext cx="1535113" cy="222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86" name="Visio" r:id="rId3" imgW="796814" imgH="1142286" progId="Visio.Drawing.11">
                  <p:embed/>
                </p:oleObj>
              </mc:Choice>
              <mc:Fallback>
                <p:oleObj name="Visio" r:id="rId3" imgW="796814" imgH="1142286" progId="Visio.Drawing.11">
                  <p:embed/>
                  <p:pic>
                    <p:nvPicPr>
                      <p:cNvPr id="27136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7576" y="824136"/>
                        <a:ext cx="1535113" cy="2225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155" descr="http://ws2.sinaimg.cn/large/9150e4e5ly1flf5cbcpxzg206o06ot8n.gif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839" y="188640"/>
            <a:ext cx="1325959" cy="1325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3009397"/>
              </p:ext>
            </p:extLst>
          </p:nvPr>
        </p:nvGraphicFramePr>
        <p:xfrm>
          <a:off x="2362862" y="3814412"/>
          <a:ext cx="1535113" cy="222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87" name="Visio" r:id="rId6" imgW="790678" imgH="1133339" progId="Visio.Drawing.11">
                  <p:embed/>
                </p:oleObj>
              </mc:Choice>
              <mc:Fallback>
                <p:oleObj name="Visio" r:id="rId6" imgW="790678" imgH="1133339" progId="Visio.Drawing.11">
                  <p:embed/>
                  <p:pic>
                    <p:nvPicPr>
                      <p:cNvPr id="9221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862" y="3814412"/>
                        <a:ext cx="1535113" cy="2225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2913238"/>
              </p:ext>
            </p:extLst>
          </p:nvPr>
        </p:nvGraphicFramePr>
        <p:xfrm>
          <a:off x="562662" y="3781827"/>
          <a:ext cx="1484313" cy="222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88" name="Visio" r:id="rId8" imgW="762150" imgH="1133339" progId="Visio.Drawing.11">
                  <p:embed/>
                </p:oleObj>
              </mc:Choice>
              <mc:Fallback>
                <p:oleObj name="Visio" r:id="rId8" imgW="762150" imgH="1133339" progId="Visio.Drawing.11">
                  <p:embed/>
                  <p:pic>
                    <p:nvPicPr>
                      <p:cNvPr id="9224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2662" y="3781827"/>
                        <a:ext cx="1484313" cy="2225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7433769"/>
              </p:ext>
            </p:extLst>
          </p:nvPr>
        </p:nvGraphicFramePr>
        <p:xfrm>
          <a:off x="4811134" y="1150116"/>
          <a:ext cx="1484313" cy="222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89" name="Visio" r:id="rId10" imgW="771525" imgH="1142286" progId="Visio.Drawing.11">
                  <p:embed/>
                </p:oleObj>
              </mc:Choice>
              <mc:Fallback>
                <p:oleObj name="Visio" r:id="rId10" imgW="771525" imgH="1142286" progId="Visio.Drawing.11">
                  <p:embed/>
                  <p:pic>
                    <p:nvPicPr>
                      <p:cNvPr id="27136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1134" y="1150116"/>
                        <a:ext cx="1484313" cy="2225675"/>
                      </a:xfrm>
                      <a:prstGeom prst="rect">
                        <a:avLst/>
                      </a:prstGeom>
                      <a:solidFill>
                        <a:schemeClr val="accent1">
                          <a:alpha val="50195"/>
                        </a:schemeClr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7"/>
          <p:cNvSpPr>
            <a:spLocks noChangeArrowheads="1"/>
          </p:cNvSpPr>
          <p:nvPr/>
        </p:nvSpPr>
        <p:spPr bwMode="auto">
          <a:xfrm>
            <a:off x="3790662" y="2064516"/>
            <a:ext cx="8382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195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4400" b="1" dirty="0">
                <a:solidFill>
                  <a:schemeClr val="hlink"/>
                </a:solidFill>
                <a:ea typeface="隶书" panose="02010509060101010101" pitchFamily="49" charset="-122"/>
              </a:rPr>
              <a:t>→</a:t>
            </a:r>
          </a:p>
        </p:txBody>
      </p:sp>
      <p:graphicFrame>
        <p:nvGraphicFramePr>
          <p:cNvPr id="13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1117197"/>
              </p:ext>
            </p:extLst>
          </p:nvPr>
        </p:nvGraphicFramePr>
        <p:xfrm>
          <a:off x="399918" y="1294579"/>
          <a:ext cx="3335338" cy="168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90" name="Visio" r:id="rId12" imgW="1696926" imgH="872252" progId="Visio.Drawing.11">
                  <p:embed/>
                </p:oleObj>
              </mc:Choice>
              <mc:Fallback>
                <p:oleObj name="Visio" r:id="rId12" imgW="1696926" imgH="872252" progId="Visio.Drawing.11">
                  <p:embed/>
                  <p:pic>
                    <p:nvPicPr>
                      <p:cNvPr id="9227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918" y="1294579"/>
                        <a:ext cx="3335338" cy="1684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891328"/>
              </p:ext>
            </p:extLst>
          </p:nvPr>
        </p:nvGraphicFramePr>
        <p:xfrm>
          <a:off x="4190148" y="3960991"/>
          <a:ext cx="1989138" cy="234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91" name="Visio" r:id="rId14" imgW="1057341" imgH="1276295" progId="Visio.Drawing.11">
                  <p:embed/>
                </p:oleObj>
              </mc:Choice>
              <mc:Fallback>
                <p:oleObj name="Visio" r:id="rId14" imgW="1057341" imgH="1276295" progId="Visio.Drawing.11">
                  <p:embed/>
                  <p:pic>
                    <p:nvPicPr>
                      <p:cNvPr id="9231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0148" y="3960991"/>
                        <a:ext cx="1989138" cy="234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9531105"/>
              </p:ext>
            </p:extLst>
          </p:nvPr>
        </p:nvGraphicFramePr>
        <p:xfrm>
          <a:off x="7163461" y="4022903"/>
          <a:ext cx="1484313" cy="222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92" name="Visio" r:id="rId16" imgW="762150" imgH="1133339" progId="Visio.Drawing.11">
                  <p:embed/>
                </p:oleObj>
              </mc:Choice>
              <mc:Fallback>
                <p:oleObj name="Visio" r:id="rId16" imgW="762150" imgH="1133339" progId="Visio.Drawing.11">
                  <p:embed/>
                  <p:pic>
                    <p:nvPicPr>
                      <p:cNvPr id="19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3461" y="4022903"/>
                        <a:ext cx="1484313" cy="2225675"/>
                      </a:xfrm>
                      <a:prstGeom prst="rect">
                        <a:avLst/>
                      </a:prstGeom>
                      <a:solidFill>
                        <a:schemeClr val="accent1">
                          <a:alpha val="50195"/>
                        </a:schemeClr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7"/>
          <p:cNvSpPr>
            <a:spLocks noChangeArrowheads="1"/>
          </p:cNvSpPr>
          <p:nvPr/>
        </p:nvSpPr>
        <p:spPr bwMode="auto">
          <a:xfrm>
            <a:off x="6287017" y="4843145"/>
            <a:ext cx="8382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195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4400" b="1" dirty="0">
                <a:solidFill>
                  <a:schemeClr val="hlink"/>
                </a:solidFill>
                <a:ea typeface="隶书" panose="02010509060101010101" pitchFamily="49" charset="-122"/>
              </a:rPr>
              <a:t>→</a:t>
            </a:r>
          </a:p>
        </p:txBody>
      </p:sp>
      <p:graphicFrame>
        <p:nvGraphicFramePr>
          <p:cNvPr id="17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5385837"/>
              </p:ext>
            </p:extLst>
          </p:nvPr>
        </p:nvGraphicFramePr>
        <p:xfrm>
          <a:off x="5347731" y="6052097"/>
          <a:ext cx="74295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93" name="Equation" r:id="rId18" imgW="317160" imgH="228600" progId="Equation.DSMT4">
                  <p:embed/>
                </p:oleObj>
              </mc:Choice>
              <mc:Fallback>
                <p:oleObj name="Equation" r:id="rId18" imgW="317160" imgH="228600" progId="Equation.DSMT4">
                  <p:embed/>
                  <p:pic>
                    <p:nvPicPr>
                      <p:cNvPr id="23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47731" y="6052097"/>
                        <a:ext cx="742950" cy="5334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99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33073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对称电路</a:t>
            </a:r>
            <a:r>
              <a:rPr lang="en-US" altLang="zh-CN" dirty="0"/>
              <a:t>-</a:t>
            </a:r>
            <a:r>
              <a:rPr lang="zh-CN" altLang="en-US" dirty="0"/>
              <a:t>对称面通过端口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1C66AF1-24A0-446C-B0A8-326C494344F1}" type="datetime1">
              <a:rPr lang="zh-CN" altLang="en-US" smtClean="0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74CEB45-B7B4-4CEA-8E4A-DA539A380401}" type="slidenum">
              <a:rPr lang="en-US" altLang="zh-CN" smtClean="0"/>
              <a:pPr>
                <a:defRPr/>
              </a:pPr>
              <a:t>41</a:t>
            </a:fld>
            <a:endParaRPr lang="en-US" altLang="zh-CN"/>
          </a:p>
        </p:txBody>
      </p:sp>
      <p:grpSp>
        <p:nvGrpSpPr>
          <p:cNvPr id="7" name="Group 34"/>
          <p:cNvGrpSpPr>
            <a:grpSpLocks/>
          </p:cNvGrpSpPr>
          <p:nvPr/>
        </p:nvGrpSpPr>
        <p:grpSpPr bwMode="auto">
          <a:xfrm>
            <a:off x="467544" y="980728"/>
            <a:ext cx="3849688" cy="2209800"/>
            <a:chOff x="0" y="0"/>
            <a:chExt cx="2425" cy="1392"/>
          </a:xfrm>
        </p:grpSpPr>
        <p:sp>
          <p:nvSpPr>
            <p:cNvPr id="8" name="Rectangle 35"/>
            <p:cNvSpPr>
              <a:spLocks noChangeArrowheads="1"/>
            </p:cNvSpPr>
            <p:nvPr/>
          </p:nvSpPr>
          <p:spPr bwMode="auto">
            <a:xfrm rot="-7903512">
              <a:off x="1332" y="304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" name="Rectangle 36"/>
            <p:cNvSpPr>
              <a:spLocks noChangeArrowheads="1"/>
            </p:cNvSpPr>
            <p:nvPr/>
          </p:nvSpPr>
          <p:spPr bwMode="auto">
            <a:xfrm rot="-2919155">
              <a:off x="1854" y="310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" name="Rectangle 37"/>
            <p:cNvSpPr>
              <a:spLocks noChangeArrowheads="1"/>
            </p:cNvSpPr>
            <p:nvPr/>
          </p:nvSpPr>
          <p:spPr bwMode="auto">
            <a:xfrm rot="-5400000">
              <a:off x="1593" y="601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" name="Rectangle 38"/>
            <p:cNvSpPr>
              <a:spLocks noChangeArrowheads="1"/>
            </p:cNvSpPr>
            <p:nvPr/>
          </p:nvSpPr>
          <p:spPr bwMode="auto">
            <a:xfrm rot="-2874968">
              <a:off x="1299" y="880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" name="Rectangle 39"/>
            <p:cNvSpPr>
              <a:spLocks noChangeArrowheads="1"/>
            </p:cNvSpPr>
            <p:nvPr/>
          </p:nvSpPr>
          <p:spPr bwMode="auto">
            <a:xfrm rot="-7972038">
              <a:off x="1908" y="835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" name="Freeform 40"/>
            <p:cNvSpPr>
              <a:spLocks/>
            </p:cNvSpPr>
            <p:nvPr/>
          </p:nvSpPr>
          <p:spPr bwMode="auto">
            <a:xfrm>
              <a:off x="1465" y="196"/>
              <a:ext cx="176" cy="160"/>
            </a:xfrm>
            <a:custGeom>
              <a:avLst/>
              <a:gdLst>
                <a:gd name="T0" fmla="*/ 0 w 176"/>
                <a:gd name="T1" fmla="*/ 160 h 160"/>
                <a:gd name="T2" fmla="*/ 176 w 176"/>
                <a:gd name="T3" fmla="*/ 0 h 16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6" h="160">
                  <a:moveTo>
                    <a:pt x="0" y="160"/>
                  </a:moveTo>
                  <a:lnTo>
                    <a:pt x="176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41"/>
            <p:cNvSpPr>
              <a:spLocks/>
            </p:cNvSpPr>
            <p:nvPr/>
          </p:nvSpPr>
          <p:spPr bwMode="auto">
            <a:xfrm>
              <a:off x="1635" y="202"/>
              <a:ext cx="168" cy="141"/>
            </a:xfrm>
            <a:custGeom>
              <a:avLst/>
              <a:gdLst>
                <a:gd name="T0" fmla="*/ 168 w 168"/>
                <a:gd name="T1" fmla="*/ 141 h 141"/>
                <a:gd name="T2" fmla="*/ 0 w 168"/>
                <a:gd name="T3" fmla="*/ 0 h 14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68" h="141">
                  <a:moveTo>
                    <a:pt x="168" y="141"/>
                  </a:moveTo>
                  <a:lnTo>
                    <a:pt x="0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42"/>
            <p:cNvSpPr>
              <a:spLocks/>
            </p:cNvSpPr>
            <p:nvPr/>
          </p:nvSpPr>
          <p:spPr bwMode="auto">
            <a:xfrm>
              <a:off x="1057" y="508"/>
              <a:ext cx="233" cy="223"/>
            </a:xfrm>
            <a:custGeom>
              <a:avLst/>
              <a:gdLst>
                <a:gd name="T0" fmla="*/ 233 w 233"/>
                <a:gd name="T1" fmla="*/ 0 h 223"/>
                <a:gd name="T2" fmla="*/ 0 w 233"/>
                <a:gd name="T3" fmla="*/ 223 h 22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33" h="223">
                  <a:moveTo>
                    <a:pt x="233" y="0"/>
                  </a:moveTo>
                  <a:lnTo>
                    <a:pt x="0" y="223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Freeform 43"/>
            <p:cNvSpPr>
              <a:spLocks/>
            </p:cNvSpPr>
            <p:nvPr/>
          </p:nvSpPr>
          <p:spPr bwMode="auto">
            <a:xfrm>
              <a:off x="1989" y="511"/>
              <a:ext cx="225" cy="216"/>
            </a:xfrm>
            <a:custGeom>
              <a:avLst/>
              <a:gdLst>
                <a:gd name="T0" fmla="*/ 0 w 225"/>
                <a:gd name="T1" fmla="*/ 0 h 216"/>
                <a:gd name="T2" fmla="*/ 225 w 225"/>
                <a:gd name="T3" fmla="*/ 216 h 21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25" h="216">
                  <a:moveTo>
                    <a:pt x="0" y="0"/>
                  </a:moveTo>
                  <a:lnTo>
                    <a:pt x="225" y="216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Freeform 44"/>
            <p:cNvSpPr>
              <a:spLocks/>
            </p:cNvSpPr>
            <p:nvPr/>
          </p:nvSpPr>
          <p:spPr bwMode="auto">
            <a:xfrm>
              <a:off x="1075" y="731"/>
              <a:ext cx="183" cy="201"/>
            </a:xfrm>
            <a:custGeom>
              <a:avLst/>
              <a:gdLst>
                <a:gd name="T0" fmla="*/ 0 w 183"/>
                <a:gd name="T1" fmla="*/ 0 h 201"/>
                <a:gd name="T2" fmla="*/ 183 w 183"/>
                <a:gd name="T3" fmla="*/ 201 h 20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83" h="201">
                  <a:moveTo>
                    <a:pt x="0" y="0"/>
                  </a:moveTo>
                  <a:lnTo>
                    <a:pt x="183" y="201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Freeform 45"/>
            <p:cNvSpPr>
              <a:spLocks/>
            </p:cNvSpPr>
            <p:nvPr/>
          </p:nvSpPr>
          <p:spPr bwMode="auto">
            <a:xfrm>
              <a:off x="1422" y="1078"/>
              <a:ext cx="211" cy="183"/>
            </a:xfrm>
            <a:custGeom>
              <a:avLst/>
              <a:gdLst>
                <a:gd name="T0" fmla="*/ 0 w 211"/>
                <a:gd name="T1" fmla="*/ 0 h 183"/>
                <a:gd name="T2" fmla="*/ 211 w 211"/>
                <a:gd name="T3" fmla="*/ 183 h 18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11" h="183">
                  <a:moveTo>
                    <a:pt x="0" y="0"/>
                  </a:moveTo>
                  <a:lnTo>
                    <a:pt x="211" y="183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Freeform 46"/>
            <p:cNvSpPr>
              <a:spLocks/>
            </p:cNvSpPr>
            <p:nvPr/>
          </p:nvSpPr>
          <p:spPr bwMode="auto">
            <a:xfrm>
              <a:off x="1635" y="1030"/>
              <a:ext cx="243" cy="222"/>
            </a:xfrm>
            <a:custGeom>
              <a:avLst/>
              <a:gdLst>
                <a:gd name="T0" fmla="*/ 0 w 243"/>
                <a:gd name="T1" fmla="*/ 222 h 222"/>
                <a:gd name="T2" fmla="*/ 243 w 243"/>
                <a:gd name="T3" fmla="*/ 0 h 22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43" h="222">
                  <a:moveTo>
                    <a:pt x="0" y="222"/>
                  </a:moveTo>
                  <a:lnTo>
                    <a:pt x="243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Freeform 47"/>
            <p:cNvSpPr>
              <a:spLocks/>
            </p:cNvSpPr>
            <p:nvPr/>
          </p:nvSpPr>
          <p:spPr bwMode="auto">
            <a:xfrm>
              <a:off x="2053" y="724"/>
              <a:ext cx="158" cy="153"/>
            </a:xfrm>
            <a:custGeom>
              <a:avLst/>
              <a:gdLst>
                <a:gd name="T0" fmla="*/ 0 w 158"/>
                <a:gd name="T1" fmla="*/ 153 h 153"/>
                <a:gd name="T2" fmla="*/ 158 w 158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58" h="153">
                  <a:moveTo>
                    <a:pt x="0" y="153"/>
                  </a:moveTo>
                  <a:lnTo>
                    <a:pt x="158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Freeform 48"/>
            <p:cNvSpPr>
              <a:spLocks/>
            </p:cNvSpPr>
            <p:nvPr/>
          </p:nvSpPr>
          <p:spPr bwMode="auto">
            <a:xfrm>
              <a:off x="1059" y="724"/>
              <a:ext cx="462" cy="1"/>
            </a:xfrm>
            <a:custGeom>
              <a:avLst/>
              <a:gdLst>
                <a:gd name="T0" fmla="*/ 0 w 462"/>
                <a:gd name="T1" fmla="*/ 0 h 1"/>
                <a:gd name="T2" fmla="*/ 462 w 46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62" h="1">
                  <a:moveTo>
                    <a:pt x="0" y="0"/>
                  </a:moveTo>
                  <a:lnTo>
                    <a:pt x="462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Freeform 49"/>
            <p:cNvSpPr>
              <a:spLocks/>
            </p:cNvSpPr>
            <p:nvPr/>
          </p:nvSpPr>
          <p:spPr bwMode="auto">
            <a:xfrm>
              <a:off x="1764" y="724"/>
              <a:ext cx="447" cy="1"/>
            </a:xfrm>
            <a:custGeom>
              <a:avLst/>
              <a:gdLst>
                <a:gd name="T0" fmla="*/ 0 w 447"/>
                <a:gd name="T1" fmla="*/ 0 h 1"/>
                <a:gd name="T2" fmla="*/ 447 w 447"/>
                <a:gd name="T3" fmla="*/ 1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47" h="1">
                  <a:moveTo>
                    <a:pt x="0" y="0"/>
                  </a:moveTo>
                  <a:lnTo>
                    <a:pt x="447" y="1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50"/>
            <p:cNvSpPr>
              <a:spLocks noChangeShapeType="1"/>
            </p:cNvSpPr>
            <p:nvPr/>
          </p:nvSpPr>
          <p:spPr bwMode="auto">
            <a:xfrm>
              <a:off x="243" y="196"/>
              <a:ext cx="13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51"/>
            <p:cNvSpPr>
              <a:spLocks noChangeShapeType="1"/>
            </p:cNvSpPr>
            <p:nvPr/>
          </p:nvSpPr>
          <p:spPr bwMode="auto">
            <a:xfrm>
              <a:off x="237" y="1261"/>
              <a:ext cx="13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Oval 52"/>
            <p:cNvSpPr>
              <a:spLocks noChangeAspect="1" noChangeArrowheads="1"/>
            </p:cNvSpPr>
            <p:nvPr/>
          </p:nvSpPr>
          <p:spPr bwMode="auto">
            <a:xfrm>
              <a:off x="1596" y="184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6" name="Oval 53"/>
            <p:cNvSpPr>
              <a:spLocks noChangeAspect="1" noChangeArrowheads="1"/>
            </p:cNvSpPr>
            <p:nvPr/>
          </p:nvSpPr>
          <p:spPr bwMode="auto">
            <a:xfrm>
              <a:off x="1587" y="1213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7" name="Oval 54"/>
            <p:cNvSpPr>
              <a:spLocks noChangeAspect="1" noChangeArrowheads="1"/>
            </p:cNvSpPr>
            <p:nvPr/>
          </p:nvSpPr>
          <p:spPr bwMode="auto">
            <a:xfrm>
              <a:off x="1050" y="676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8" name="Oval 55"/>
            <p:cNvSpPr>
              <a:spLocks noChangeAspect="1" noChangeArrowheads="1"/>
            </p:cNvSpPr>
            <p:nvPr/>
          </p:nvSpPr>
          <p:spPr bwMode="auto">
            <a:xfrm>
              <a:off x="2169" y="676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9" name="Oval 56"/>
            <p:cNvSpPr>
              <a:spLocks noChangeAspect="1" noChangeArrowheads="1"/>
            </p:cNvSpPr>
            <p:nvPr/>
          </p:nvSpPr>
          <p:spPr bwMode="auto">
            <a:xfrm>
              <a:off x="195" y="148"/>
              <a:ext cx="68" cy="6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0" name="Oval 57"/>
            <p:cNvSpPr>
              <a:spLocks noChangeAspect="1" noChangeArrowheads="1"/>
            </p:cNvSpPr>
            <p:nvPr/>
          </p:nvSpPr>
          <p:spPr bwMode="auto">
            <a:xfrm>
              <a:off x="177" y="1222"/>
              <a:ext cx="68" cy="6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1" name="Text Box 58"/>
            <p:cNvSpPr txBox="1">
              <a:spLocks noChangeArrowheads="1"/>
            </p:cNvSpPr>
            <p:nvPr/>
          </p:nvSpPr>
          <p:spPr bwMode="auto">
            <a:xfrm>
              <a:off x="8" y="0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a</a:t>
              </a:r>
            </a:p>
          </p:txBody>
        </p:sp>
        <p:sp>
          <p:nvSpPr>
            <p:cNvPr id="32" name="Text Box 59"/>
            <p:cNvSpPr txBox="1">
              <a:spLocks noChangeArrowheads="1"/>
            </p:cNvSpPr>
            <p:nvPr/>
          </p:nvSpPr>
          <p:spPr bwMode="auto">
            <a:xfrm>
              <a:off x="869" y="549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c</a:t>
              </a:r>
            </a:p>
          </p:txBody>
        </p:sp>
        <p:sp>
          <p:nvSpPr>
            <p:cNvPr id="33" name="Text Box 60"/>
            <p:cNvSpPr txBox="1">
              <a:spLocks noChangeArrowheads="1"/>
            </p:cNvSpPr>
            <p:nvPr/>
          </p:nvSpPr>
          <p:spPr bwMode="auto">
            <a:xfrm>
              <a:off x="2213" y="55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d</a:t>
              </a:r>
            </a:p>
          </p:txBody>
        </p:sp>
        <p:sp>
          <p:nvSpPr>
            <p:cNvPr id="34" name="Text Box 61"/>
            <p:cNvSpPr txBox="1">
              <a:spLocks noChangeArrowheads="1"/>
            </p:cNvSpPr>
            <p:nvPr/>
          </p:nvSpPr>
          <p:spPr bwMode="auto">
            <a:xfrm>
              <a:off x="1011" y="227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 dirty="0"/>
                <a:t>R</a:t>
              </a:r>
              <a:r>
                <a:rPr lang="zh-CN" altLang="zh-CN" b="1" baseline="-25000" dirty="0"/>
                <a:t>1</a:t>
              </a:r>
              <a:endParaRPr lang="zh-CN" altLang="zh-CN" b="1" dirty="0"/>
            </a:p>
          </p:txBody>
        </p:sp>
        <p:sp>
          <p:nvSpPr>
            <p:cNvPr id="35" name="Text Box 62"/>
            <p:cNvSpPr txBox="1">
              <a:spLocks noChangeArrowheads="1"/>
            </p:cNvSpPr>
            <p:nvPr/>
          </p:nvSpPr>
          <p:spPr bwMode="auto">
            <a:xfrm>
              <a:off x="1011" y="916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4</a:t>
              </a:r>
              <a:endParaRPr lang="zh-CN" altLang="zh-CN" b="1"/>
            </a:p>
          </p:txBody>
        </p:sp>
        <p:sp>
          <p:nvSpPr>
            <p:cNvPr id="36" name="Text Box 63"/>
            <p:cNvSpPr txBox="1">
              <a:spLocks noChangeArrowheads="1"/>
            </p:cNvSpPr>
            <p:nvPr/>
          </p:nvSpPr>
          <p:spPr bwMode="auto">
            <a:xfrm>
              <a:off x="1947" y="952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 dirty="0"/>
                <a:t>R</a:t>
              </a:r>
              <a:r>
                <a:rPr lang="zh-CN" altLang="zh-CN" b="1" baseline="-25000" dirty="0"/>
                <a:t>3</a:t>
              </a:r>
              <a:endParaRPr lang="zh-CN" altLang="zh-CN" b="1" dirty="0"/>
            </a:p>
          </p:txBody>
        </p:sp>
        <p:sp>
          <p:nvSpPr>
            <p:cNvPr id="37" name="Text Box 64"/>
            <p:cNvSpPr txBox="1">
              <a:spLocks noChangeArrowheads="1"/>
            </p:cNvSpPr>
            <p:nvPr/>
          </p:nvSpPr>
          <p:spPr bwMode="auto">
            <a:xfrm>
              <a:off x="1923" y="196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2</a:t>
              </a:r>
              <a:endParaRPr lang="zh-CN" altLang="zh-CN" b="1"/>
            </a:p>
          </p:txBody>
        </p:sp>
        <p:sp>
          <p:nvSpPr>
            <p:cNvPr id="38" name="Text Box 65"/>
            <p:cNvSpPr txBox="1">
              <a:spLocks noChangeArrowheads="1"/>
            </p:cNvSpPr>
            <p:nvPr/>
          </p:nvSpPr>
          <p:spPr bwMode="auto">
            <a:xfrm>
              <a:off x="1491" y="436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5</a:t>
              </a:r>
              <a:endParaRPr lang="zh-CN" altLang="zh-CN" b="1"/>
            </a:p>
          </p:txBody>
        </p:sp>
        <p:sp>
          <p:nvSpPr>
            <p:cNvPr id="39" name="Text Box 66"/>
            <p:cNvSpPr txBox="1">
              <a:spLocks noChangeArrowheads="1"/>
            </p:cNvSpPr>
            <p:nvPr/>
          </p:nvSpPr>
          <p:spPr bwMode="auto">
            <a:xfrm>
              <a:off x="0" y="11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b</a:t>
              </a:r>
            </a:p>
          </p:txBody>
        </p:sp>
      </p:grpSp>
      <p:cxnSp>
        <p:nvCxnSpPr>
          <p:cNvPr id="40" name="直接连接符 39"/>
          <p:cNvCxnSpPr/>
          <p:nvPr/>
        </p:nvCxnSpPr>
        <p:spPr bwMode="auto">
          <a:xfrm>
            <a:off x="3059689" y="906908"/>
            <a:ext cx="4762" cy="2509840"/>
          </a:xfrm>
          <a:prstGeom prst="line">
            <a:avLst/>
          </a:prstGeom>
          <a:solidFill>
            <a:schemeClr val="accent1"/>
          </a:solidFill>
          <a:ln w="31750" cap="flat" cmpd="sng" algn="ctr">
            <a:solidFill>
              <a:srgbClr val="FF0000"/>
            </a:solidFill>
            <a:prstDash val="dashDot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1" name="组合 40"/>
          <p:cNvGrpSpPr/>
          <p:nvPr/>
        </p:nvGrpSpPr>
        <p:grpSpPr>
          <a:xfrm>
            <a:off x="134947" y="4075483"/>
            <a:ext cx="3368808" cy="2381918"/>
            <a:chOff x="2991389" y="4223532"/>
            <a:chExt cx="3368808" cy="2381918"/>
          </a:xfrm>
        </p:grpSpPr>
        <p:grpSp>
          <p:nvGrpSpPr>
            <p:cNvPr id="42" name="Group 34"/>
            <p:cNvGrpSpPr>
              <a:grpSpLocks/>
            </p:cNvGrpSpPr>
            <p:nvPr/>
          </p:nvGrpSpPr>
          <p:grpSpPr bwMode="auto">
            <a:xfrm>
              <a:off x="2991389" y="4223532"/>
              <a:ext cx="3368808" cy="2381918"/>
              <a:chOff x="342" y="32"/>
              <a:chExt cx="2083" cy="1392"/>
            </a:xfrm>
          </p:grpSpPr>
          <p:sp>
            <p:nvSpPr>
              <p:cNvPr id="44" name="Rectangle 35"/>
              <p:cNvSpPr>
                <a:spLocks noChangeArrowheads="1"/>
              </p:cNvSpPr>
              <p:nvPr/>
            </p:nvSpPr>
            <p:spPr bwMode="auto">
              <a:xfrm rot="-7903512">
                <a:off x="1332" y="304"/>
                <a:ext cx="96" cy="2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5" name="Rectangle 36"/>
              <p:cNvSpPr>
                <a:spLocks noChangeArrowheads="1"/>
              </p:cNvSpPr>
              <p:nvPr/>
            </p:nvSpPr>
            <p:spPr bwMode="auto">
              <a:xfrm rot="-2919155">
                <a:off x="1854" y="310"/>
                <a:ext cx="96" cy="2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6" name="Rectangle 38"/>
              <p:cNvSpPr>
                <a:spLocks noChangeArrowheads="1"/>
              </p:cNvSpPr>
              <p:nvPr/>
            </p:nvSpPr>
            <p:spPr bwMode="auto">
              <a:xfrm rot="-2874968">
                <a:off x="1299" y="880"/>
                <a:ext cx="96" cy="2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7" name="Rectangle 39"/>
              <p:cNvSpPr>
                <a:spLocks noChangeArrowheads="1"/>
              </p:cNvSpPr>
              <p:nvPr/>
            </p:nvSpPr>
            <p:spPr bwMode="auto">
              <a:xfrm rot="-7972038">
                <a:off x="1908" y="835"/>
                <a:ext cx="96" cy="2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8" name="Freeform 40"/>
              <p:cNvSpPr>
                <a:spLocks/>
              </p:cNvSpPr>
              <p:nvPr/>
            </p:nvSpPr>
            <p:spPr bwMode="auto">
              <a:xfrm>
                <a:off x="1465" y="196"/>
                <a:ext cx="176" cy="160"/>
              </a:xfrm>
              <a:custGeom>
                <a:avLst/>
                <a:gdLst>
                  <a:gd name="T0" fmla="*/ 0 w 176"/>
                  <a:gd name="T1" fmla="*/ 160 h 160"/>
                  <a:gd name="T2" fmla="*/ 176 w 176"/>
                  <a:gd name="T3" fmla="*/ 0 h 16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76" h="160">
                    <a:moveTo>
                      <a:pt x="0" y="160"/>
                    </a:moveTo>
                    <a:lnTo>
                      <a:pt x="176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" name="Freeform 41"/>
              <p:cNvSpPr>
                <a:spLocks/>
              </p:cNvSpPr>
              <p:nvPr/>
            </p:nvSpPr>
            <p:spPr bwMode="auto">
              <a:xfrm>
                <a:off x="1635" y="202"/>
                <a:ext cx="168" cy="141"/>
              </a:xfrm>
              <a:custGeom>
                <a:avLst/>
                <a:gdLst>
                  <a:gd name="T0" fmla="*/ 168 w 168"/>
                  <a:gd name="T1" fmla="*/ 141 h 141"/>
                  <a:gd name="T2" fmla="*/ 0 w 168"/>
                  <a:gd name="T3" fmla="*/ 0 h 14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68" h="141">
                    <a:moveTo>
                      <a:pt x="168" y="141"/>
                    </a:moveTo>
                    <a:lnTo>
                      <a:pt x="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" name="Freeform 42"/>
              <p:cNvSpPr>
                <a:spLocks/>
              </p:cNvSpPr>
              <p:nvPr/>
            </p:nvSpPr>
            <p:spPr bwMode="auto">
              <a:xfrm>
                <a:off x="1057" y="508"/>
                <a:ext cx="233" cy="223"/>
              </a:xfrm>
              <a:custGeom>
                <a:avLst/>
                <a:gdLst>
                  <a:gd name="T0" fmla="*/ 233 w 233"/>
                  <a:gd name="T1" fmla="*/ 0 h 223"/>
                  <a:gd name="T2" fmla="*/ 0 w 233"/>
                  <a:gd name="T3" fmla="*/ 223 h 22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33" h="223">
                    <a:moveTo>
                      <a:pt x="233" y="0"/>
                    </a:moveTo>
                    <a:lnTo>
                      <a:pt x="0" y="223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" name="Freeform 43"/>
              <p:cNvSpPr>
                <a:spLocks/>
              </p:cNvSpPr>
              <p:nvPr/>
            </p:nvSpPr>
            <p:spPr bwMode="auto">
              <a:xfrm>
                <a:off x="1989" y="511"/>
                <a:ext cx="225" cy="216"/>
              </a:xfrm>
              <a:custGeom>
                <a:avLst/>
                <a:gdLst>
                  <a:gd name="T0" fmla="*/ 0 w 225"/>
                  <a:gd name="T1" fmla="*/ 0 h 216"/>
                  <a:gd name="T2" fmla="*/ 225 w 225"/>
                  <a:gd name="T3" fmla="*/ 216 h 21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25" h="216">
                    <a:moveTo>
                      <a:pt x="0" y="0"/>
                    </a:moveTo>
                    <a:lnTo>
                      <a:pt x="225" y="216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" name="Freeform 44"/>
              <p:cNvSpPr>
                <a:spLocks/>
              </p:cNvSpPr>
              <p:nvPr/>
            </p:nvSpPr>
            <p:spPr bwMode="auto">
              <a:xfrm>
                <a:off x="1075" y="731"/>
                <a:ext cx="183" cy="201"/>
              </a:xfrm>
              <a:custGeom>
                <a:avLst/>
                <a:gdLst>
                  <a:gd name="T0" fmla="*/ 0 w 183"/>
                  <a:gd name="T1" fmla="*/ 0 h 201"/>
                  <a:gd name="T2" fmla="*/ 183 w 183"/>
                  <a:gd name="T3" fmla="*/ 201 h 20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83" h="201">
                    <a:moveTo>
                      <a:pt x="0" y="0"/>
                    </a:moveTo>
                    <a:lnTo>
                      <a:pt x="183" y="201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" name="Freeform 45"/>
              <p:cNvSpPr>
                <a:spLocks/>
              </p:cNvSpPr>
              <p:nvPr/>
            </p:nvSpPr>
            <p:spPr bwMode="auto">
              <a:xfrm>
                <a:off x="1422" y="1078"/>
                <a:ext cx="211" cy="183"/>
              </a:xfrm>
              <a:custGeom>
                <a:avLst/>
                <a:gdLst>
                  <a:gd name="T0" fmla="*/ 0 w 211"/>
                  <a:gd name="T1" fmla="*/ 0 h 183"/>
                  <a:gd name="T2" fmla="*/ 211 w 211"/>
                  <a:gd name="T3" fmla="*/ 183 h 18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11" h="183">
                    <a:moveTo>
                      <a:pt x="0" y="0"/>
                    </a:moveTo>
                    <a:lnTo>
                      <a:pt x="211" y="183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" name="Freeform 46"/>
              <p:cNvSpPr>
                <a:spLocks/>
              </p:cNvSpPr>
              <p:nvPr/>
            </p:nvSpPr>
            <p:spPr bwMode="auto">
              <a:xfrm>
                <a:off x="1635" y="1030"/>
                <a:ext cx="243" cy="222"/>
              </a:xfrm>
              <a:custGeom>
                <a:avLst/>
                <a:gdLst>
                  <a:gd name="T0" fmla="*/ 0 w 243"/>
                  <a:gd name="T1" fmla="*/ 222 h 222"/>
                  <a:gd name="T2" fmla="*/ 243 w 243"/>
                  <a:gd name="T3" fmla="*/ 0 h 22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43" h="222">
                    <a:moveTo>
                      <a:pt x="0" y="222"/>
                    </a:moveTo>
                    <a:lnTo>
                      <a:pt x="243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" name="Freeform 47"/>
              <p:cNvSpPr>
                <a:spLocks/>
              </p:cNvSpPr>
              <p:nvPr/>
            </p:nvSpPr>
            <p:spPr bwMode="auto">
              <a:xfrm>
                <a:off x="2053" y="724"/>
                <a:ext cx="158" cy="153"/>
              </a:xfrm>
              <a:custGeom>
                <a:avLst/>
                <a:gdLst>
                  <a:gd name="T0" fmla="*/ 0 w 158"/>
                  <a:gd name="T1" fmla="*/ 153 h 153"/>
                  <a:gd name="T2" fmla="*/ 158 w 158"/>
                  <a:gd name="T3" fmla="*/ 0 h 15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58" h="153">
                    <a:moveTo>
                      <a:pt x="0" y="153"/>
                    </a:moveTo>
                    <a:lnTo>
                      <a:pt x="158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" name="Freeform 48"/>
              <p:cNvSpPr>
                <a:spLocks/>
              </p:cNvSpPr>
              <p:nvPr/>
            </p:nvSpPr>
            <p:spPr bwMode="auto">
              <a:xfrm>
                <a:off x="1059" y="724"/>
                <a:ext cx="462" cy="1"/>
              </a:xfrm>
              <a:custGeom>
                <a:avLst/>
                <a:gdLst>
                  <a:gd name="T0" fmla="*/ 0 w 462"/>
                  <a:gd name="T1" fmla="*/ 0 h 1"/>
                  <a:gd name="T2" fmla="*/ 462 w 462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62" h="1">
                    <a:moveTo>
                      <a:pt x="0" y="0"/>
                    </a:moveTo>
                    <a:lnTo>
                      <a:pt x="462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" name="Freeform 49"/>
              <p:cNvSpPr>
                <a:spLocks/>
              </p:cNvSpPr>
              <p:nvPr/>
            </p:nvSpPr>
            <p:spPr bwMode="auto">
              <a:xfrm>
                <a:off x="1764" y="724"/>
                <a:ext cx="447" cy="1"/>
              </a:xfrm>
              <a:custGeom>
                <a:avLst/>
                <a:gdLst>
                  <a:gd name="T0" fmla="*/ 0 w 447"/>
                  <a:gd name="T1" fmla="*/ 0 h 1"/>
                  <a:gd name="T2" fmla="*/ 447 w 447"/>
                  <a:gd name="T3" fmla="*/ 1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47" h="1">
                    <a:moveTo>
                      <a:pt x="0" y="0"/>
                    </a:moveTo>
                    <a:lnTo>
                      <a:pt x="447" y="1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" name="Line 50"/>
              <p:cNvSpPr>
                <a:spLocks noChangeShapeType="1"/>
              </p:cNvSpPr>
              <p:nvPr/>
            </p:nvSpPr>
            <p:spPr bwMode="auto">
              <a:xfrm flipV="1">
                <a:off x="622" y="196"/>
                <a:ext cx="1013" cy="1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9" name="Line 51"/>
              <p:cNvSpPr>
                <a:spLocks noChangeShapeType="1"/>
              </p:cNvSpPr>
              <p:nvPr/>
            </p:nvSpPr>
            <p:spPr bwMode="auto">
              <a:xfrm>
                <a:off x="626" y="1251"/>
                <a:ext cx="1003" cy="1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" name="Oval 52"/>
              <p:cNvSpPr>
                <a:spLocks noChangeAspect="1" noChangeArrowheads="1"/>
              </p:cNvSpPr>
              <p:nvPr/>
            </p:nvSpPr>
            <p:spPr bwMode="auto">
              <a:xfrm>
                <a:off x="1596" y="184"/>
                <a:ext cx="68" cy="68"/>
              </a:xfrm>
              <a:prstGeom prst="ellipse">
                <a:avLst/>
              </a:prstGeom>
              <a:solidFill>
                <a:schemeClr val="tx2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61" name="Oval 53"/>
              <p:cNvSpPr>
                <a:spLocks noChangeAspect="1" noChangeArrowheads="1"/>
              </p:cNvSpPr>
              <p:nvPr/>
            </p:nvSpPr>
            <p:spPr bwMode="auto">
              <a:xfrm>
                <a:off x="1587" y="1213"/>
                <a:ext cx="68" cy="68"/>
              </a:xfrm>
              <a:prstGeom prst="ellipse">
                <a:avLst/>
              </a:prstGeom>
              <a:solidFill>
                <a:schemeClr val="tx2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62" name="Oval 54"/>
              <p:cNvSpPr>
                <a:spLocks noChangeAspect="1" noChangeArrowheads="1"/>
              </p:cNvSpPr>
              <p:nvPr/>
            </p:nvSpPr>
            <p:spPr bwMode="auto">
              <a:xfrm>
                <a:off x="1050" y="676"/>
                <a:ext cx="68" cy="68"/>
              </a:xfrm>
              <a:prstGeom prst="ellipse">
                <a:avLst/>
              </a:prstGeom>
              <a:solidFill>
                <a:schemeClr val="tx2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63" name="Oval 55"/>
              <p:cNvSpPr>
                <a:spLocks noChangeAspect="1" noChangeArrowheads="1"/>
              </p:cNvSpPr>
              <p:nvPr/>
            </p:nvSpPr>
            <p:spPr bwMode="auto">
              <a:xfrm>
                <a:off x="2169" y="676"/>
                <a:ext cx="68" cy="68"/>
              </a:xfrm>
              <a:prstGeom prst="ellipse">
                <a:avLst/>
              </a:prstGeom>
              <a:solidFill>
                <a:schemeClr val="tx2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64" name="Oval 56"/>
              <p:cNvSpPr>
                <a:spLocks noChangeAspect="1" noChangeArrowheads="1"/>
              </p:cNvSpPr>
              <p:nvPr/>
            </p:nvSpPr>
            <p:spPr bwMode="auto">
              <a:xfrm>
                <a:off x="537" y="180"/>
                <a:ext cx="68" cy="68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65" name="Oval 57"/>
              <p:cNvSpPr>
                <a:spLocks noChangeAspect="1" noChangeArrowheads="1"/>
              </p:cNvSpPr>
              <p:nvPr/>
            </p:nvSpPr>
            <p:spPr bwMode="auto">
              <a:xfrm>
                <a:off x="519" y="1254"/>
                <a:ext cx="68" cy="68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66" name="Text Box 58"/>
              <p:cNvSpPr txBox="1">
                <a:spLocks noChangeArrowheads="1"/>
              </p:cNvSpPr>
              <p:nvPr/>
            </p:nvSpPr>
            <p:spPr bwMode="auto">
              <a:xfrm>
                <a:off x="350" y="32"/>
                <a:ext cx="20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sz="2400"/>
                  <a:t>a</a:t>
                </a:r>
              </a:p>
            </p:txBody>
          </p:sp>
          <p:sp>
            <p:nvSpPr>
              <p:cNvPr id="67" name="Text Box 59"/>
              <p:cNvSpPr txBox="1">
                <a:spLocks noChangeArrowheads="1"/>
              </p:cNvSpPr>
              <p:nvPr/>
            </p:nvSpPr>
            <p:spPr bwMode="auto">
              <a:xfrm>
                <a:off x="869" y="549"/>
                <a:ext cx="20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sz="2400"/>
                  <a:t>c</a:t>
                </a:r>
              </a:p>
            </p:txBody>
          </p:sp>
          <p:sp>
            <p:nvSpPr>
              <p:cNvPr id="68" name="Text Box 60"/>
              <p:cNvSpPr txBox="1">
                <a:spLocks noChangeArrowheads="1"/>
              </p:cNvSpPr>
              <p:nvPr/>
            </p:nvSpPr>
            <p:spPr bwMode="auto">
              <a:xfrm>
                <a:off x="2213" y="558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sz="2400"/>
                  <a:t>d</a:t>
                </a:r>
              </a:p>
            </p:txBody>
          </p:sp>
          <p:sp>
            <p:nvSpPr>
              <p:cNvPr id="69" name="Text Box 61"/>
              <p:cNvSpPr txBox="1">
                <a:spLocks noChangeArrowheads="1"/>
              </p:cNvSpPr>
              <p:nvPr/>
            </p:nvSpPr>
            <p:spPr bwMode="auto">
              <a:xfrm>
                <a:off x="1011" y="227"/>
                <a:ext cx="28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b="1" dirty="0"/>
                  <a:t>R</a:t>
                </a:r>
                <a:r>
                  <a:rPr lang="zh-CN" altLang="zh-CN" b="1" baseline="-25000" dirty="0"/>
                  <a:t>1</a:t>
                </a:r>
                <a:endParaRPr lang="zh-CN" altLang="zh-CN" b="1" dirty="0"/>
              </a:p>
            </p:txBody>
          </p:sp>
          <p:sp>
            <p:nvSpPr>
              <p:cNvPr id="70" name="Text Box 62"/>
              <p:cNvSpPr txBox="1">
                <a:spLocks noChangeArrowheads="1"/>
              </p:cNvSpPr>
              <p:nvPr/>
            </p:nvSpPr>
            <p:spPr bwMode="auto">
              <a:xfrm>
                <a:off x="1011" y="916"/>
                <a:ext cx="28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b="1" dirty="0"/>
                  <a:t>R</a:t>
                </a:r>
                <a:r>
                  <a:rPr lang="zh-CN" altLang="zh-CN" b="1" baseline="-25000" dirty="0"/>
                  <a:t>4</a:t>
                </a:r>
                <a:endParaRPr lang="zh-CN" altLang="zh-CN" b="1" dirty="0"/>
              </a:p>
            </p:txBody>
          </p:sp>
          <p:sp>
            <p:nvSpPr>
              <p:cNvPr id="71" name="Text Box 63"/>
              <p:cNvSpPr txBox="1">
                <a:spLocks noChangeArrowheads="1"/>
              </p:cNvSpPr>
              <p:nvPr/>
            </p:nvSpPr>
            <p:spPr bwMode="auto">
              <a:xfrm>
                <a:off x="1947" y="952"/>
                <a:ext cx="28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b="1"/>
                  <a:t>R</a:t>
                </a:r>
                <a:r>
                  <a:rPr lang="zh-CN" altLang="zh-CN" b="1" baseline="-25000"/>
                  <a:t>3</a:t>
                </a:r>
                <a:endParaRPr lang="zh-CN" altLang="zh-CN" b="1"/>
              </a:p>
            </p:txBody>
          </p:sp>
          <p:sp>
            <p:nvSpPr>
              <p:cNvPr id="72" name="Text Box 64"/>
              <p:cNvSpPr txBox="1">
                <a:spLocks noChangeArrowheads="1"/>
              </p:cNvSpPr>
              <p:nvPr/>
            </p:nvSpPr>
            <p:spPr bwMode="auto">
              <a:xfrm>
                <a:off x="1923" y="196"/>
                <a:ext cx="28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b="1"/>
                  <a:t>R</a:t>
                </a:r>
                <a:r>
                  <a:rPr lang="zh-CN" altLang="zh-CN" b="1" baseline="-25000"/>
                  <a:t>2</a:t>
                </a:r>
                <a:endParaRPr lang="zh-CN" altLang="zh-CN" b="1"/>
              </a:p>
            </p:txBody>
          </p:sp>
          <p:sp>
            <p:nvSpPr>
              <p:cNvPr id="73" name="Text Box 66"/>
              <p:cNvSpPr txBox="1">
                <a:spLocks noChangeArrowheads="1"/>
              </p:cNvSpPr>
              <p:nvPr/>
            </p:nvSpPr>
            <p:spPr bwMode="auto">
              <a:xfrm>
                <a:off x="342" y="113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sz="2400"/>
                  <a:t>b</a:t>
                </a:r>
              </a:p>
            </p:txBody>
          </p:sp>
        </p:grpSp>
        <p:sp>
          <p:nvSpPr>
            <p:cNvPr id="43" name="Text Box 61"/>
            <p:cNvSpPr txBox="1">
              <a:spLocks noChangeArrowheads="1"/>
            </p:cNvSpPr>
            <p:nvPr/>
          </p:nvSpPr>
          <p:spPr bwMode="auto">
            <a:xfrm>
              <a:off x="4977057" y="4969302"/>
              <a:ext cx="614271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dirty="0"/>
                <a:t>i</a:t>
              </a:r>
              <a:r>
                <a:rPr lang="en-US" altLang="zh-CN" b="1" baseline="-25000" dirty="0"/>
                <a:t>5</a:t>
              </a:r>
              <a:r>
                <a:rPr lang="en-US" altLang="zh-CN" b="1" dirty="0"/>
                <a:t>=0</a:t>
              </a:r>
              <a:endParaRPr lang="zh-CN" altLang="zh-CN" b="1" dirty="0"/>
            </a:p>
          </p:txBody>
        </p:sp>
      </p:grpSp>
      <p:grpSp>
        <p:nvGrpSpPr>
          <p:cNvPr id="74" name="组合 73"/>
          <p:cNvGrpSpPr/>
          <p:nvPr/>
        </p:nvGrpSpPr>
        <p:grpSpPr>
          <a:xfrm>
            <a:off x="3447959" y="4068638"/>
            <a:ext cx="3368808" cy="2381918"/>
            <a:chOff x="2991389" y="4223532"/>
            <a:chExt cx="3368808" cy="2381918"/>
          </a:xfrm>
        </p:grpSpPr>
        <p:grpSp>
          <p:nvGrpSpPr>
            <p:cNvPr id="75" name="Group 34"/>
            <p:cNvGrpSpPr>
              <a:grpSpLocks/>
            </p:cNvGrpSpPr>
            <p:nvPr/>
          </p:nvGrpSpPr>
          <p:grpSpPr bwMode="auto">
            <a:xfrm>
              <a:off x="2991389" y="4223532"/>
              <a:ext cx="3368808" cy="2381918"/>
              <a:chOff x="342" y="32"/>
              <a:chExt cx="2083" cy="1392"/>
            </a:xfrm>
          </p:grpSpPr>
          <p:sp>
            <p:nvSpPr>
              <p:cNvPr id="77" name="Rectangle 35"/>
              <p:cNvSpPr>
                <a:spLocks noChangeArrowheads="1"/>
              </p:cNvSpPr>
              <p:nvPr/>
            </p:nvSpPr>
            <p:spPr bwMode="auto">
              <a:xfrm rot="-7903512">
                <a:off x="1332" y="304"/>
                <a:ext cx="96" cy="2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78" name="Rectangle 36"/>
              <p:cNvSpPr>
                <a:spLocks noChangeArrowheads="1"/>
              </p:cNvSpPr>
              <p:nvPr/>
            </p:nvSpPr>
            <p:spPr bwMode="auto">
              <a:xfrm rot="-2919155">
                <a:off x="1854" y="310"/>
                <a:ext cx="96" cy="2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79" name="Rectangle 38"/>
              <p:cNvSpPr>
                <a:spLocks noChangeArrowheads="1"/>
              </p:cNvSpPr>
              <p:nvPr/>
            </p:nvSpPr>
            <p:spPr bwMode="auto">
              <a:xfrm rot="-2874968">
                <a:off x="1299" y="880"/>
                <a:ext cx="96" cy="2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80" name="Rectangle 39"/>
              <p:cNvSpPr>
                <a:spLocks noChangeArrowheads="1"/>
              </p:cNvSpPr>
              <p:nvPr/>
            </p:nvSpPr>
            <p:spPr bwMode="auto">
              <a:xfrm rot="-7972038">
                <a:off x="1908" y="835"/>
                <a:ext cx="96" cy="2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81" name="Freeform 40"/>
              <p:cNvSpPr>
                <a:spLocks/>
              </p:cNvSpPr>
              <p:nvPr/>
            </p:nvSpPr>
            <p:spPr bwMode="auto">
              <a:xfrm>
                <a:off x="1465" y="196"/>
                <a:ext cx="176" cy="160"/>
              </a:xfrm>
              <a:custGeom>
                <a:avLst/>
                <a:gdLst>
                  <a:gd name="T0" fmla="*/ 0 w 176"/>
                  <a:gd name="T1" fmla="*/ 160 h 160"/>
                  <a:gd name="T2" fmla="*/ 176 w 176"/>
                  <a:gd name="T3" fmla="*/ 0 h 16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76" h="160">
                    <a:moveTo>
                      <a:pt x="0" y="160"/>
                    </a:moveTo>
                    <a:lnTo>
                      <a:pt x="176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" name="Freeform 41"/>
              <p:cNvSpPr>
                <a:spLocks/>
              </p:cNvSpPr>
              <p:nvPr/>
            </p:nvSpPr>
            <p:spPr bwMode="auto">
              <a:xfrm>
                <a:off x="1635" y="202"/>
                <a:ext cx="168" cy="141"/>
              </a:xfrm>
              <a:custGeom>
                <a:avLst/>
                <a:gdLst>
                  <a:gd name="T0" fmla="*/ 168 w 168"/>
                  <a:gd name="T1" fmla="*/ 141 h 141"/>
                  <a:gd name="T2" fmla="*/ 0 w 168"/>
                  <a:gd name="T3" fmla="*/ 0 h 14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68" h="141">
                    <a:moveTo>
                      <a:pt x="168" y="141"/>
                    </a:moveTo>
                    <a:lnTo>
                      <a:pt x="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" name="Freeform 42"/>
              <p:cNvSpPr>
                <a:spLocks/>
              </p:cNvSpPr>
              <p:nvPr/>
            </p:nvSpPr>
            <p:spPr bwMode="auto">
              <a:xfrm>
                <a:off x="1057" y="508"/>
                <a:ext cx="233" cy="223"/>
              </a:xfrm>
              <a:custGeom>
                <a:avLst/>
                <a:gdLst>
                  <a:gd name="T0" fmla="*/ 233 w 233"/>
                  <a:gd name="T1" fmla="*/ 0 h 223"/>
                  <a:gd name="T2" fmla="*/ 0 w 233"/>
                  <a:gd name="T3" fmla="*/ 223 h 22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33" h="223">
                    <a:moveTo>
                      <a:pt x="233" y="0"/>
                    </a:moveTo>
                    <a:lnTo>
                      <a:pt x="0" y="223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4" name="Freeform 43"/>
              <p:cNvSpPr>
                <a:spLocks/>
              </p:cNvSpPr>
              <p:nvPr/>
            </p:nvSpPr>
            <p:spPr bwMode="auto">
              <a:xfrm>
                <a:off x="1989" y="511"/>
                <a:ext cx="225" cy="216"/>
              </a:xfrm>
              <a:custGeom>
                <a:avLst/>
                <a:gdLst>
                  <a:gd name="T0" fmla="*/ 0 w 225"/>
                  <a:gd name="T1" fmla="*/ 0 h 216"/>
                  <a:gd name="T2" fmla="*/ 225 w 225"/>
                  <a:gd name="T3" fmla="*/ 216 h 21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25" h="216">
                    <a:moveTo>
                      <a:pt x="0" y="0"/>
                    </a:moveTo>
                    <a:lnTo>
                      <a:pt x="225" y="216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5" name="Freeform 44"/>
              <p:cNvSpPr>
                <a:spLocks/>
              </p:cNvSpPr>
              <p:nvPr/>
            </p:nvSpPr>
            <p:spPr bwMode="auto">
              <a:xfrm>
                <a:off x="1075" y="731"/>
                <a:ext cx="183" cy="201"/>
              </a:xfrm>
              <a:custGeom>
                <a:avLst/>
                <a:gdLst>
                  <a:gd name="T0" fmla="*/ 0 w 183"/>
                  <a:gd name="T1" fmla="*/ 0 h 201"/>
                  <a:gd name="T2" fmla="*/ 183 w 183"/>
                  <a:gd name="T3" fmla="*/ 201 h 20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83" h="201">
                    <a:moveTo>
                      <a:pt x="0" y="0"/>
                    </a:moveTo>
                    <a:lnTo>
                      <a:pt x="183" y="201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6" name="Freeform 45"/>
              <p:cNvSpPr>
                <a:spLocks/>
              </p:cNvSpPr>
              <p:nvPr/>
            </p:nvSpPr>
            <p:spPr bwMode="auto">
              <a:xfrm>
                <a:off x="1422" y="1078"/>
                <a:ext cx="211" cy="183"/>
              </a:xfrm>
              <a:custGeom>
                <a:avLst/>
                <a:gdLst>
                  <a:gd name="T0" fmla="*/ 0 w 211"/>
                  <a:gd name="T1" fmla="*/ 0 h 183"/>
                  <a:gd name="T2" fmla="*/ 211 w 211"/>
                  <a:gd name="T3" fmla="*/ 183 h 18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11" h="183">
                    <a:moveTo>
                      <a:pt x="0" y="0"/>
                    </a:moveTo>
                    <a:lnTo>
                      <a:pt x="211" y="183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7" name="Freeform 46"/>
              <p:cNvSpPr>
                <a:spLocks/>
              </p:cNvSpPr>
              <p:nvPr/>
            </p:nvSpPr>
            <p:spPr bwMode="auto">
              <a:xfrm>
                <a:off x="1635" y="1030"/>
                <a:ext cx="243" cy="222"/>
              </a:xfrm>
              <a:custGeom>
                <a:avLst/>
                <a:gdLst>
                  <a:gd name="T0" fmla="*/ 0 w 243"/>
                  <a:gd name="T1" fmla="*/ 222 h 222"/>
                  <a:gd name="T2" fmla="*/ 243 w 243"/>
                  <a:gd name="T3" fmla="*/ 0 h 22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43" h="222">
                    <a:moveTo>
                      <a:pt x="0" y="222"/>
                    </a:moveTo>
                    <a:lnTo>
                      <a:pt x="243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8" name="Freeform 47"/>
              <p:cNvSpPr>
                <a:spLocks/>
              </p:cNvSpPr>
              <p:nvPr/>
            </p:nvSpPr>
            <p:spPr bwMode="auto">
              <a:xfrm>
                <a:off x="2053" y="724"/>
                <a:ext cx="158" cy="153"/>
              </a:xfrm>
              <a:custGeom>
                <a:avLst/>
                <a:gdLst>
                  <a:gd name="T0" fmla="*/ 0 w 158"/>
                  <a:gd name="T1" fmla="*/ 153 h 153"/>
                  <a:gd name="T2" fmla="*/ 158 w 158"/>
                  <a:gd name="T3" fmla="*/ 0 h 15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58" h="153">
                    <a:moveTo>
                      <a:pt x="0" y="153"/>
                    </a:moveTo>
                    <a:lnTo>
                      <a:pt x="158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" name="Freeform 49"/>
              <p:cNvSpPr>
                <a:spLocks/>
              </p:cNvSpPr>
              <p:nvPr/>
            </p:nvSpPr>
            <p:spPr bwMode="auto">
              <a:xfrm>
                <a:off x="1050" y="698"/>
                <a:ext cx="1161" cy="27"/>
              </a:xfrm>
              <a:custGeom>
                <a:avLst/>
                <a:gdLst>
                  <a:gd name="T0" fmla="*/ 0 w 447"/>
                  <a:gd name="T1" fmla="*/ 0 h 1"/>
                  <a:gd name="T2" fmla="*/ 447 w 447"/>
                  <a:gd name="T3" fmla="*/ 1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47" h="1">
                    <a:moveTo>
                      <a:pt x="0" y="0"/>
                    </a:moveTo>
                    <a:lnTo>
                      <a:pt x="447" y="1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0" name="Line 50"/>
              <p:cNvSpPr>
                <a:spLocks noChangeShapeType="1"/>
              </p:cNvSpPr>
              <p:nvPr/>
            </p:nvSpPr>
            <p:spPr bwMode="auto">
              <a:xfrm flipV="1">
                <a:off x="622" y="196"/>
                <a:ext cx="1013" cy="1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1" name="Line 51"/>
              <p:cNvSpPr>
                <a:spLocks noChangeShapeType="1"/>
              </p:cNvSpPr>
              <p:nvPr/>
            </p:nvSpPr>
            <p:spPr bwMode="auto">
              <a:xfrm>
                <a:off x="626" y="1251"/>
                <a:ext cx="1003" cy="1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" name="Oval 52"/>
              <p:cNvSpPr>
                <a:spLocks noChangeAspect="1" noChangeArrowheads="1"/>
              </p:cNvSpPr>
              <p:nvPr/>
            </p:nvSpPr>
            <p:spPr bwMode="auto">
              <a:xfrm>
                <a:off x="1596" y="184"/>
                <a:ext cx="68" cy="68"/>
              </a:xfrm>
              <a:prstGeom prst="ellipse">
                <a:avLst/>
              </a:prstGeom>
              <a:solidFill>
                <a:schemeClr val="tx2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93" name="Oval 53"/>
              <p:cNvSpPr>
                <a:spLocks noChangeAspect="1" noChangeArrowheads="1"/>
              </p:cNvSpPr>
              <p:nvPr/>
            </p:nvSpPr>
            <p:spPr bwMode="auto">
              <a:xfrm>
                <a:off x="1587" y="1213"/>
                <a:ext cx="68" cy="68"/>
              </a:xfrm>
              <a:prstGeom prst="ellipse">
                <a:avLst/>
              </a:prstGeom>
              <a:solidFill>
                <a:schemeClr val="tx2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94" name="Oval 54"/>
              <p:cNvSpPr>
                <a:spLocks noChangeAspect="1" noChangeArrowheads="1"/>
              </p:cNvSpPr>
              <p:nvPr/>
            </p:nvSpPr>
            <p:spPr bwMode="auto">
              <a:xfrm>
                <a:off x="1050" y="676"/>
                <a:ext cx="68" cy="68"/>
              </a:xfrm>
              <a:prstGeom prst="ellipse">
                <a:avLst/>
              </a:prstGeom>
              <a:solidFill>
                <a:schemeClr val="tx2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95" name="Oval 55"/>
              <p:cNvSpPr>
                <a:spLocks noChangeAspect="1" noChangeArrowheads="1"/>
              </p:cNvSpPr>
              <p:nvPr/>
            </p:nvSpPr>
            <p:spPr bwMode="auto">
              <a:xfrm>
                <a:off x="2169" y="676"/>
                <a:ext cx="68" cy="68"/>
              </a:xfrm>
              <a:prstGeom prst="ellipse">
                <a:avLst/>
              </a:prstGeom>
              <a:solidFill>
                <a:schemeClr val="tx2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96" name="Oval 56"/>
              <p:cNvSpPr>
                <a:spLocks noChangeAspect="1" noChangeArrowheads="1"/>
              </p:cNvSpPr>
              <p:nvPr/>
            </p:nvSpPr>
            <p:spPr bwMode="auto">
              <a:xfrm>
                <a:off x="537" y="180"/>
                <a:ext cx="68" cy="68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97" name="Oval 57"/>
              <p:cNvSpPr>
                <a:spLocks noChangeAspect="1" noChangeArrowheads="1"/>
              </p:cNvSpPr>
              <p:nvPr/>
            </p:nvSpPr>
            <p:spPr bwMode="auto">
              <a:xfrm>
                <a:off x="519" y="1254"/>
                <a:ext cx="68" cy="68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98" name="Text Box 58"/>
              <p:cNvSpPr txBox="1">
                <a:spLocks noChangeArrowheads="1"/>
              </p:cNvSpPr>
              <p:nvPr/>
            </p:nvSpPr>
            <p:spPr bwMode="auto">
              <a:xfrm>
                <a:off x="350" y="32"/>
                <a:ext cx="20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sz="2400"/>
                  <a:t>a</a:t>
                </a:r>
              </a:p>
            </p:txBody>
          </p:sp>
          <p:sp>
            <p:nvSpPr>
              <p:cNvPr id="99" name="Text Box 59"/>
              <p:cNvSpPr txBox="1">
                <a:spLocks noChangeArrowheads="1"/>
              </p:cNvSpPr>
              <p:nvPr/>
            </p:nvSpPr>
            <p:spPr bwMode="auto">
              <a:xfrm>
                <a:off x="869" y="549"/>
                <a:ext cx="20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sz="2400"/>
                  <a:t>c</a:t>
                </a:r>
              </a:p>
            </p:txBody>
          </p:sp>
          <p:sp>
            <p:nvSpPr>
              <p:cNvPr id="100" name="Text Box 60"/>
              <p:cNvSpPr txBox="1">
                <a:spLocks noChangeArrowheads="1"/>
              </p:cNvSpPr>
              <p:nvPr/>
            </p:nvSpPr>
            <p:spPr bwMode="auto">
              <a:xfrm>
                <a:off x="2213" y="558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sz="2400"/>
                  <a:t>d</a:t>
                </a:r>
              </a:p>
            </p:txBody>
          </p:sp>
          <p:sp>
            <p:nvSpPr>
              <p:cNvPr id="101" name="Text Box 61"/>
              <p:cNvSpPr txBox="1">
                <a:spLocks noChangeArrowheads="1"/>
              </p:cNvSpPr>
              <p:nvPr/>
            </p:nvSpPr>
            <p:spPr bwMode="auto">
              <a:xfrm>
                <a:off x="1011" y="227"/>
                <a:ext cx="28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b="1" dirty="0"/>
                  <a:t>R</a:t>
                </a:r>
                <a:r>
                  <a:rPr lang="zh-CN" altLang="zh-CN" b="1" baseline="-25000" dirty="0"/>
                  <a:t>1</a:t>
                </a:r>
                <a:endParaRPr lang="zh-CN" altLang="zh-CN" b="1" dirty="0"/>
              </a:p>
            </p:txBody>
          </p:sp>
          <p:sp>
            <p:nvSpPr>
              <p:cNvPr id="102" name="Text Box 62"/>
              <p:cNvSpPr txBox="1">
                <a:spLocks noChangeArrowheads="1"/>
              </p:cNvSpPr>
              <p:nvPr/>
            </p:nvSpPr>
            <p:spPr bwMode="auto">
              <a:xfrm>
                <a:off x="1011" y="916"/>
                <a:ext cx="28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b="1" dirty="0"/>
                  <a:t>R</a:t>
                </a:r>
                <a:r>
                  <a:rPr lang="zh-CN" altLang="zh-CN" b="1" baseline="-25000" dirty="0"/>
                  <a:t>4</a:t>
                </a:r>
                <a:endParaRPr lang="zh-CN" altLang="zh-CN" b="1" dirty="0"/>
              </a:p>
            </p:txBody>
          </p:sp>
          <p:sp>
            <p:nvSpPr>
              <p:cNvPr id="103" name="Text Box 63"/>
              <p:cNvSpPr txBox="1">
                <a:spLocks noChangeArrowheads="1"/>
              </p:cNvSpPr>
              <p:nvPr/>
            </p:nvSpPr>
            <p:spPr bwMode="auto">
              <a:xfrm>
                <a:off x="1947" y="952"/>
                <a:ext cx="28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b="1"/>
                  <a:t>R</a:t>
                </a:r>
                <a:r>
                  <a:rPr lang="zh-CN" altLang="zh-CN" b="1" baseline="-25000"/>
                  <a:t>3</a:t>
                </a:r>
                <a:endParaRPr lang="zh-CN" altLang="zh-CN" b="1"/>
              </a:p>
            </p:txBody>
          </p:sp>
          <p:sp>
            <p:nvSpPr>
              <p:cNvPr id="104" name="Text Box 64"/>
              <p:cNvSpPr txBox="1">
                <a:spLocks noChangeArrowheads="1"/>
              </p:cNvSpPr>
              <p:nvPr/>
            </p:nvSpPr>
            <p:spPr bwMode="auto">
              <a:xfrm>
                <a:off x="1923" y="196"/>
                <a:ext cx="28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b="1"/>
                  <a:t>R</a:t>
                </a:r>
                <a:r>
                  <a:rPr lang="zh-CN" altLang="zh-CN" b="1" baseline="-25000"/>
                  <a:t>2</a:t>
                </a:r>
                <a:endParaRPr lang="zh-CN" altLang="zh-CN" b="1"/>
              </a:p>
            </p:txBody>
          </p:sp>
          <p:sp>
            <p:nvSpPr>
              <p:cNvPr id="105" name="Text Box 66"/>
              <p:cNvSpPr txBox="1">
                <a:spLocks noChangeArrowheads="1"/>
              </p:cNvSpPr>
              <p:nvPr/>
            </p:nvSpPr>
            <p:spPr bwMode="auto">
              <a:xfrm>
                <a:off x="342" y="113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sz="2400"/>
                  <a:t>b</a:t>
                </a:r>
              </a:p>
            </p:txBody>
          </p:sp>
        </p:grpSp>
        <p:sp>
          <p:nvSpPr>
            <p:cNvPr id="76" name="Text Box 61"/>
            <p:cNvSpPr txBox="1">
              <a:spLocks noChangeArrowheads="1"/>
            </p:cNvSpPr>
            <p:nvPr/>
          </p:nvSpPr>
          <p:spPr bwMode="auto">
            <a:xfrm>
              <a:off x="4733672" y="4985142"/>
              <a:ext cx="814647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dirty="0" err="1"/>
                <a:t>U</a:t>
              </a:r>
              <a:r>
                <a:rPr lang="en-US" altLang="zh-CN" b="1" baseline="-25000" dirty="0" err="1"/>
                <a:t>cd</a:t>
              </a:r>
              <a:r>
                <a:rPr lang="en-US" altLang="zh-CN" b="1" dirty="0"/>
                <a:t>=0</a:t>
              </a:r>
              <a:endParaRPr lang="zh-CN" altLang="zh-CN" b="1" dirty="0"/>
            </a:p>
          </p:txBody>
        </p:sp>
      </p:grpSp>
      <p:grpSp>
        <p:nvGrpSpPr>
          <p:cNvPr id="106" name="Group 34"/>
          <p:cNvGrpSpPr>
            <a:grpSpLocks/>
          </p:cNvGrpSpPr>
          <p:nvPr/>
        </p:nvGrpSpPr>
        <p:grpSpPr bwMode="auto">
          <a:xfrm>
            <a:off x="6883075" y="4063999"/>
            <a:ext cx="2138053" cy="2381918"/>
            <a:chOff x="342" y="32"/>
            <a:chExt cx="1322" cy="1392"/>
          </a:xfrm>
        </p:grpSpPr>
        <p:sp>
          <p:nvSpPr>
            <p:cNvPr id="107" name="Rectangle 35"/>
            <p:cNvSpPr>
              <a:spLocks noChangeArrowheads="1"/>
            </p:cNvSpPr>
            <p:nvPr/>
          </p:nvSpPr>
          <p:spPr bwMode="auto">
            <a:xfrm rot="-7903512">
              <a:off x="1332" y="304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8" name="Rectangle 38"/>
            <p:cNvSpPr>
              <a:spLocks noChangeArrowheads="1"/>
            </p:cNvSpPr>
            <p:nvPr/>
          </p:nvSpPr>
          <p:spPr bwMode="auto">
            <a:xfrm rot="-2874968">
              <a:off x="1299" y="880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9" name="Freeform 40"/>
            <p:cNvSpPr>
              <a:spLocks/>
            </p:cNvSpPr>
            <p:nvPr/>
          </p:nvSpPr>
          <p:spPr bwMode="auto">
            <a:xfrm>
              <a:off x="1465" y="196"/>
              <a:ext cx="176" cy="160"/>
            </a:xfrm>
            <a:custGeom>
              <a:avLst/>
              <a:gdLst>
                <a:gd name="T0" fmla="*/ 0 w 176"/>
                <a:gd name="T1" fmla="*/ 160 h 160"/>
                <a:gd name="T2" fmla="*/ 176 w 176"/>
                <a:gd name="T3" fmla="*/ 0 h 16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6" h="160">
                  <a:moveTo>
                    <a:pt x="0" y="160"/>
                  </a:moveTo>
                  <a:lnTo>
                    <a:pt x="176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" name="Freeform 42"/>
            <p:cNvSpPr>
              <a:spLocks/>
            </p:cNvSpPr>
            <p:nvPr/>
          </p:nvSpPr>
          <p:spPr bwMode="auto">
            <a:xfrm>
              <a:off x="1057" y="508"/>
              <a:ext cx="233" cy="223"/>
            </a:xfrm>
            <a:custGeom>
              <a:avLst/>
              <a:gdLst>
                <a:gd name="T0" fmla="*/ 233 w 233"/>
                <a:gd name="T1" fmla="*/ 0 h 223"/>
                <a:gd name="T2" fmla="*/ 0 w 233"/>
                <a:gd name="T3" fmla="*/ 223 h 22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33" h="223">
                  <a:moveTo>
                    <a:pt x="233" y="0"/>
                  </a:moveTo>
                  <a:lnTo>
                    <a:pt x="0" y="223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" name="Freeform 44"/>
            <p:cNvSpPr>
              <a:spLocks/>
            </p:cNvSpPr>
            <p:nvPr/>
          </p:nvSpPr>
          <p:spPr bwMode="auto">
            <a:xfrm>
              <a:off x="1075" y="731"/>
              <a:ext cx="183" cy="201"/>
            </a:xfrm>
            <a:custGeom>
              <a:avLst/>
              <a:gdLst>
                <a:gd name="T0" fmla="*/ 0 w 183"/>
                <a:gd name="T1" fmla="*/ 0 h 201"/>
                <a:gd name="T2" fmla="*/ 183 w 183"/>
                <a:gd name="T3" fmla="*/ 201 h 20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83" h="201">
                  <a:moveTo>
                    <a:pt x="0" y="0"/>
                  </a:moveTo>
                  <a:lnTo>
                    <a:pt x="183" y="201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" name="Freeform 45"/>
            <p:cNvSpPr>
              <a:spLocks/>
            </p:cNvSpPr>
            <p:nvPr/>
          </p:nvSpPr>
          <p:spPr bwMode="auto">
            <a:xfrm>
              <a:off x="1422" y="1078"/>
              <a:ext cx="211" cy="183"/>
            </a:xfrm>
            <a:custGeom>
              <a:avLst/>
              <a:gdLst>
                <a:gd name="T0" fmla="*/ 0 w 211"/>
                <a:gd name="T1" fmla="*/ 0 h 183"/>
                <a:gd name="T2" fmla="*/ 211 w 211"/>
                <a:gd name="T3" fmla="*/ 183 h 18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11" h="183">
                  <a:moveTo>
                    <a:pt x="0" y="0"/>
                  </a:moveTo>
                  <a:lnTo>
                    <a:pt x="211" y="183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" name="Line 50"/>
            <p:cNvSpPr>
              <a:spLocks noChangeShapeType="1"/>
            </p:cNvSpPr>
            <p:nvPr/>
          </p:nvSpPr>
          <p:spPr bwMode="auto">
            <a:xfrm flipV="1">
              <a:off x="622" y="196"/>
              <a:ext cx="1013" cy="1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" name="Line 51"/>
            <p:cNvSpPr>
              <a:spLocks noChangeShapeType="1"/>
            </p:cNvSpPr>
            <p:nvPr/>
          </p:nvSpPr>
          <p:spPr bwMode="auto">
            <a:xfrm>
              <a:off x="626" y="1251"/>
              <a:ext cx="1003" cy="1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5" name="Oval 52"/>
            <p:cNvSpPr>
              <a:spLocks noChangeAspect="1" noChangeArrowheads="1"/>
            </p:cNvSpPr>
            <p:nvPr/>
          </p:nvSpPr>
          <p:spPr bwMode="auto">
            <a:xfrm>
              <a:off x="1596" y="184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6" name="Oval 53"/>
            <p:cNvSpPr>
              <a:spLocks noChangeAspect="1" noChangeArrowheads="1"/>
            </p:cNvSpPr>
            <p:nvPr/>
          </p:nvSpPr>
          <p:spPr bwMode="auto">
            <a:xfrm>
              <a:off x="1587" y="1213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7" name="Oval 54"/>
            <p:cNvSpPr>
              <a:spLocks noChangeAspect="1" noChangeArrowheads="1"/>
            </p:cNvSpPr>
            <p:nvPr/>
          </p:nvSpPr>
          <p:spPr bwMode="auto">
            <a:xfrm>
              <a:off x="1050" y="676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8" name="Oval 56"/>
            <p:cNvSpPr>
              <a:spLocks noChangeAspect="1" noChangeArrowheads="1"/>
            </p:cNvSpPr>
            <p:nvPr/>
          </p:nvSpPr>
          <p:spPr bwMode="auto">
            <a:xfrm>
              <a:off x="537" y="180"/>
              <a:ext cx="68" cy="6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9" name="Oval 57"/>
            <p:cNvSpPr>
              <a:spLocks noChangeAspect="1" noChangeArrowheads="1"/>
            </p:cNvSpPr>
            <p:nvPr/>
          </p:nvSpPr>
          <p:spPr bwMode="auto">
            <a:xfrm>
              <a:off x="519" y="1254"/>
              <a:ext cx="68" cy="6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0" name="Text Box 58"/>
            <p:cNvSpPr txBox="1">
              <a:spLocks noChangeArrowheads="1"/>
            </p:cNvSpPr>
            <p:nvPr/>
          </p:nvSpPr>
          <p:spPr bwMode="auto">
            <a:xfrm>
              <a:off x="350" y="32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a</a:t>
              </a:r>
            </a:p>
          </p:txBody>
        </p:sp>
        <p:sp>
          <p:nvSpPr>
            <p:cNvPr id="121" name="Text Box 59"/>
            <p:cNvSpPr txBox="1">
              <a:spLocks noChangeArrowheads="1"/>
            </p:cNvSpPr>
            <p:nvPr/>
          </p:nvSpPr>
          <p:spPr bwMode="auto">
            <a:xfrm>
              <a:off x="704" y="554"/>
              <a:ext cx="341" cy="2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dirty="0"/>
                <a:t>c d</a:t>
              </a:r>
              <a:endParaRPr lang="zh-CN" altLang="zh-CN" sz="2400" dirty="0"/>
            </a:p>
          </p:txBody>
        </p:sp>
        <p:sp>
          <p:nvSpPr>
            <p:cNvPr id="122" name="Text Box 61"/>
            <p:cNvSpPr txBox="1">
              <a:spLocks noChangeArrowheads="1"/>
            </p:cNvSpPr>
            <p:nvPr/>
          </p:nvSpPr>
          <p:spPr bwMode="auto">
            <a:xfrm>
              <a:off x="835" y="222"/>
              <a:ext cx="480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dirty="0"/>
                <a:t>0.5</a:t>
              </a:r>
              <a:r>
                <a:rPr lang="zh-CN" altLang="zh-CN" b="1" dirty="0"/>
                <a:t>R</a:t>
              </a:r>
              <a:r>
                <a:rPr lang="zh-CN" altLang="zh-CN" b="1" baseline="-25000" dirty="0"/>
                <a:t>1</a:t>
              </a:r>
              <a:endParaRPr lang="zh-CN" altLang="zh-CN" b="1" dirty="0"/>
            </a:p>
          </p:txBody>
        </p:sp>
        <p:sp>
          <p:nvSpPr>
            <p:cNvPr id="123" name="Text Box 62"/>
            <p:cNvSpPr txBox="1">
              <a:spLocks noChangeArrowheads="1"/>
            </p:cNvSpPr>
            <p:nvPr/>
          </p:nvSpPr>
          <p:spPr bwMode="auto">
            <a:xfrm>
              <a:off x="790" y="917"/>
              <a:ext cx="480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dirty="0"/>
                <a:t>0.5</a:t>
              </a:r>
              <a:r>
                <a:rPr lang="zh-CN" altLang="zh-CN" b="1" dirty="0"/>
                <a:t>R</a:t>
              </a:r>
              <a:r>
                <a:rPr lang="zh-CN" altLang="zh-CN" b="1" baseline="-25000" dirty="0"/>
                <a:t>4</a:t>
              </a:r>
              <a:endParaRPr lang="zh-CN" altLang="zh-CN" b="1" dirty="0"/>
            </a:p>
          </p:txBody>
        </p:sp>
        <p:sp>
          <p:nvSpPr>
            <p:cNvPr id="124" name="Text Box 66"/>
            <p:cNvSpPr txBox="1">
              <a:spLocks noChangeArrowheads="1"/>
            </p:cNvSpPr>
            <p:nvPr/>
          </p:nvSpPr>
          <p:spPr bwMode="auto">
            <a:xfrm>
              <a:off x="342" y="113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b</a:t>
              </a:r>
            </a:p>
          </p:txBody>
        </p:sp>
      </p:grpSp>
      <p:graphicFrame>
        <p:nvGraphicFramePr>
          <p:cNvPr id="12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7096852"/>
              </p:ext>
            </p:extLst>
          </p:nvPr>
        </p:nvGraphicFramePr>
        <p:xfrm>
          <a:off x="5379269" y="846937"/>
          <a:ext cx="3095625" cy="281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5" name="Visio" r:id="rId3" imgW="2165842" imgH="1969960" progId="Visio.Drawing.11">
                  <p:embed/>
                </p:oleObj>
              </mc:Choice>
              <mc:Fallback>
                <p:oleObj name="Visio" r:id="rId3" imgW="2165842" imgH="1969960" progId="Visio.Drawing.11">
                  <p:embed/>
                  <p:pic>
                    <p:nvPicPr>
                      <p:cNvPr id="14346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9269" y="846937"/>
                        <a:ext cx="3095625" cy="2816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26" name="直接连接符 125"/>
          <p:cNvCxnSpPr>
            <a:stCxn id="125" idx="0"/>
          </p:cNvCxnSpPr>
          <p:nvPr/>
        </p:nvCxnSpPr>
        <p:spPr bwMode="auto">
          <a:xfrm>
            <a:off x="6927081" y="846937"/>
            <a:ext cx="6436" cy="2842861"/>
          </a:xfrm>
          <a:prstGeom prst="line">
            <a:avLst/>
          </a:prstGeom>
          <a:solidFill>
            <a:schemeClr val="accent1"/>
          </a:solidFill>
          <a:ln w="31750" cap="flat" cmpd="sng" algn="ctr">
            <a:solidFill>
              <a:srgbClr val="FF0000"/>
            </a:solidFill>
            <a:prstDash val="dashDot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8" name="文本框 127"/>
          <p:cNvSpPr txBox="1"/>
          <p:nvPr/>
        </p:nvSpPr>
        <p:spPr>
          <a:xfrm>
            <a:off x="868301" y="3430631"/>
            <a:ext cx="36471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对称面两侧</a:t>
            </a:r>
            <a:r>
              <a:rPr lang="zh-CN" altLang="en-US" b="1" dirty="0"/>
              <a:t>对称结点</a:t>
            </a:r>
            <a:r>
              <a:rPr lang="zh-CN" altLang="en-US" dirty="0"/>
              <a:t>为等电位点。</a:t>
            </a:r>
            <a:endParaRPr lang="en-US" altLang="zh-CN" dirty="0"/>
          </a:p>
          <a:p>
            <a:r>
              <a:rPr lang="zh-CN" altLang="en-US" b="1" dirty="0"/>
              <a:t>垂直</a:t>
            </a:r>
            <a:r>
              <a:rPr lang="zh-CN" altLang="en-US" dirty="0"/>
              <a:t>通过对称面</a:t>
            </a:r>
            <a:r>
              <a:rPr lang="zh-CN" altLang="en-US" b="1" dirty="0"/>
              <a:t>支路的电流</a:t>
            </a:r>
            <a:r>
              <a:rPr lang="zh-CN" altLang="en-US" dirty="0"/>
              <a:t>为零。</a:t>
            </a:r>
          </a:p>
        </p:txBody>
      </p:sp>
    </p:spTree>
    <p:extLst>
      <p:ext uri="{BB962C8B-B14F-4D97-AF65-F5344CB8AC3E}">
        <p14:creationId xmlns:p14="http://schemas.microsoft.com/office/powerpoint/2010/main" val="1928066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对称电路</a:t>
            </a:r>
            <a:r>
              <a:rPr lang="en-US" altLang="zh-CN" dirty="0"/>
              <a:t>-</a:t>
            </a:r>
            <a:r>
              <a:rPr lang="zh-CN" altLang="en-US" dirty="0"/>
              <a:t>对称面垂直端口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1C66AF1-24A0-446C-B0A8-326C494344F1}" type="datetime1">
              <a:rPr lang="zh-CN" altLang="en-US" smtClean="0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74CEB45-B7B4-4CEA-8E4A-DA539A380401}" type="slidenum">
              <a:rPr lang="en-US" altLang="zh-CN" smtClean="0"/>
              <a:pPr>
                <a:defRPr/>
              </a:pPr>
              <a:t>42</a:t>
            </a:fld>
            <a:endParaRPr lang="en-US" altLang="zh-CN"/>
          </a:p>
        </p:txBody>
      </p:sp>
      <p:grpSp>
        <p:nvGrpSpPr>
          <p:cNvPr id="7" name="Group 34"/>
          <p:cNvGrpSpPr>
            <a:grpSpLocks/>
          </p:cNvGrpSpPr>
          <p:nvPr/>
        </p:nvGrpSpPr>
        <p:grpSpPr bwMode="auto">
          <a:xfrm>
            <a:off x="381000" y="1037388"/>
            <a:ext cx="3849688" cy="2209800"/>
            <a:chOff x="0" y="0"/>
            <a:chExt cx="2425" cy="1392"/>
          </a:xfrm>
        </p:grpSpPr>
        <p:sp>
          <p:nvSpPr>
            <p:cNvPr id="8" name="Rectangle 35"/>
            <p:cNvSpPr>
              <a:spLocks noChangeArrowheads="1"/>
            </p:cNvSpPr>
            <p:nvPr/>
          </p:nvSpPr>
          <p:spPr bwMode="auto">
            <a:xfrm rot="-7903512">
              <a:off x="1332" y="304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" name="Rectangle 36"/>
            <p:cNvSpPr>
              <a:spLocks noChangeArrowheads="1"/>
            </p:cNvSpPr>
            <p:nvPr/>
          </p:nvSpPr>
          <p:spPr bwMode="auto">
            <a:xfrm rot="-2919155">
              <a:off x="1854" y="310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" name="Rectangle 37"/>
            <p:cNvSpPr>
              <a:spLocks noChangeArrowheads="1"/>
            </p:cNvSpPr>
            <p:nvPr/>
          </p:nvSpPr>
          <p:spPr bwMode="auto">
            <a:xfrm rot="-5400000">
              <a:off x="1593" y="601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" name="Rectangle 38"/>
            <p:cNvSpPr>
              <a:spLocks noChangeArrowheads="1"/>
            </p:cNvSpPr>
            <p:nvPr/>
          </p:nvSpPr>
          <p:spPr bwMode="auto">
            <a:xfrm rot="-2874968">
              <a:off x="1299" y="880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" name="Rectangle 39"/>
            <p:cNvSpPr>
              <a:spLocks noChangeArrowheads="1"/>
            </p:cNvSpPr>
            <p:nvPr/>
          </p:nvSpPr>
          <p:spPr bwMode="auto">
            <a:xfrm rot="-7972038">
              <a:off x="1908" y="835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" name="Freeform 40"/>
            <p:cNvSpPr>
              <a:spLocks/>
            </p:cNvSpPr>
            <p:nvPr/>
          </p:nvSpPr>
          <p:spPr bwMode="auto">
            <a:xfrm>
              <a:off x="1465" y="196"/>
              <a:ext cx="176" cy="160"/>
            </a:xfrm>
            <a:custGeom>
              <a:avLst/>
              <a:gdLst>
                <a:gd name="T0" fmla="*/ 0 w 176"/>
                <a:gd name="T1" fmla="*/ 160 h 160"/>
                <a:gd name="T2" fmla="*/ 176 w 176"/>
                <a:gd name="T3" fmla="*/ 0 h 16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6" h="160">
                  <a:moveTo>
                    <a:pt x="0" y="160"/>
                  </a:moveTo>
                  <a:lnTo>
                    <a:pt x="176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41"/>
            <p:cNvSpPr>
              <a:spLocks/>
            </p:cNvSpPr>
            <p:nvPr/>
          </p:nvSpPr>
          <p:spPr bwMode="auto">
            <a:xfrm>
              <a:off x="1635" y="202"/>
              <a:ext cx="168" cy="141"/>
            </a:xfrm>
            <a:custGeom>
              <a:avLst/>
              <a:gdLst>
                <a:gd name="T0" fmla="*/ 168 w 168"/>
                <a:gd name="T1" fmla="*/ 141 h 141"/>
                <a:gd name="T2" fmla="*/ 0 w 168"/>
                <a:gd name="T3" fmla="*/ 0 h 14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68" h="141">
                  <a:moveTo>
                    <a:pt x="168" y="141"/>
                  </a:moveTo>
                  <a:lnTo>
                    <a:pt x="0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42"/>
            <p:cNvSpPr>
              <a:spLocks/>
            </p:cNvSpPr>
            <p:nvPr/>
          </p:nvSpPr>
          <p:spPr bwMode="auto">
            <a:xfrm>
              <a:off x="1057" y="508"/>
              <a:ext cx="233" cy="223"/>
            </a:xfrm>
            <a:custGeom>
              <a:avLst/>
              <a:gdLst>
                <a:gd name="T0" fmla="*/ 233 w 233"/>
                <a:gd name="T1" fmla="*/ 0 h 223"/>
                <a:gd name="T2" fmla="*/ 0 w 233"/>
                <a:gd name="T3" fmla="*/ 223 h 22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33" h="223">
                  <a:moveTo>
                    <a:pt x="233" y="0"/>
                  </a:moveTo>
                  <a:lnTo>
                    <a:pt x="0" y="223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Freeform 43"/>
            <p:cNvSpPr>
              <a:spLocks/>
            </p:cNvSpPr>
            <p:nvPr/>
          </p:nvSpPr>
          <p:spPr bwMode="auto">
            <a:xfrm>
              <a:off x="1989" y="511"/>
              <a:ext cx="225" cy="216"/>
            </a:xfrm>
            <a:custGeom>
              <a:avLst/>
              <a:gdLst>
                <a:gd name="T0" fmla="*/ 0 w 225"/>
                <a:gd name="T1" fmla="*/ 0 h 216"/>
                <a:gd name="T2" fmla="*/ 225 w 225"/>
                <a:gd name="T3" fmla="*/ 216 h 21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25" h="216">
                  <a:moveTo>
                    <a:pt x="0" y="0"/>
                  </a:moveTo>
                  <a:lnTo>
                    <a:pt x="225" y="216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Freeform 44"/>
            <p:cNvSpPr>
              <a:spLocks/>
            </p:cNvSpPr>
            <p:nvPr/>
          </p:nvSpPr>
          <p:spPr bwMode="auto">
            <a:xfrm>
              <a:off x="1075" y="731"/>
              <a:ext cx="183" cy="201"/>
            </a:xfrm>
            <a:custGeom>
              <a:avLst/>
              <a:gdLst>
                <a:gd name="T0" fmla="*/ 0 w 183"/>
                <a:gd name="T1" fmla="*/ 0 h 201"/>
                <a:gd name="T2" fmla="*/ 183 w 183"/>
                <a:gd name="T3" fmla="*/ 201 h 20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83" h="201">
                  <a:moveTo>
                    <a:pt x="0" y="0"/>
                  </a:moveTo>
                  <a:lnTo>
                    <a:pt x="183" y="201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Freeform 45"/>
            <p:cNvSpPr>
              <a:spLocks/>
            </p:cNvSpPr>
            <p:nvPr/>
          </p:nvSpPr>
          <p:spPr bwMode="auto">
            <a:xfrm>
              <a:off x="1422" y="1078"/>
              <a:ext cx="211" cy="183"/>
            </a:xfrm>
            <a:custGeom>
              <a:avLst/>
              <a:gdLst>
                <a:gd name="T0" fmla="*/ 0 w 211"/>
                <a:gd name="T1" fmla="*/ 0 h 183"/>
                <a:gd name="T2" fmla="*/ 211 w 211"/>
                <a:gd name="T3" fmla="*/ 183 h 18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11" h="183">
                  <a:moveTo>
                    <a:pt x="0" y="0"/>
                  </a:moveTo>
                  <a:lnTo>
                    <a:pt x="211" y="183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Freeform 46"/>
            <p:cNvSpPr>
              <a:spLocks/>
            </p:cNvSpPr>
            <p:nvPr/>
          </p:nvSpPr>
          <p:spPr bwMode="auto">
            <a:xfrm>
              <a:off x="1635" y="1030"/>
              <a:ext cx="243" cy="222"/>
            </a:xfrm>
            <a:custGeom>
              <a:avLst/>
              <a:gdLst>
                <a:gd name="T0" fmla="*/ 0 w 243"/>
                <a:gd name="T1" fmla="*/ 222 h 222"/>
                <a:gd name="T2" fmla="*/ 243 w 243"/>
                <a:gd name="T3" fmla="*/ 0 h 22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43" h="222">
                  <a:moveTo>
                    <a:pt x="0" y="222"/>
                  </a:moveTo>
                  <a:lnTo>
                    <a:pt x="243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Freeform 47"/>
            <p:cNvSpPr>
              <a:spLocks/>
            </p:cNvSpPr>
            <p:nvPr/>
          </p:nvSpPr>
          <p:spPr bwMode="auto">
            <a:xfrm>
              <a:off x="2053" y="724"/>
              <a:ext cx="158" cy="153"/>
            </a:xfrm>
            <a:custGeom>
              <a:avLst/>
              <a:gdLst>
                <a:gd name="T0" fmla="*/ 0 w 158"/>
                <a:gd name="T1" fmla="*/ 153 h 153"/>
                <a:gd name="T2" fmla="*/ 158 w 158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58" h="153">
                  <a:moveTo>
                    <a:pt x="0" y="153"/>
                  </a:moveTo>
                  <a:lnTo>
                    <a:pt x="158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Freeform 48"/>
            <p:cNvSpPr>
              <a:spLocks/>
            </p:cNvSpPr>
            <p:nvPr/>
          </p:nvSpPr>
          <p:spPr bwMode="auto">
            <a:xfrm>
              <a:off x="1059" y="724"/>
              <a:ext cx="462" cy="1"/>
            </a:xfrm>
            <a:custGeom>
              <a:avLst/>
              <a:gdLst>
                <a:gd name="T0" fmla="*/ 0 w 462"/>
                <a:gd name="T1" fmla="*/ 0 h 1"/>
                <a:gd name="T2" fmla="*/ 462 w 46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62" h="1">
                  <a:moveTo>
                    <a:pt x="0" y="0"/>
                  </a:moveTo>
                  <a:lnTo>
                    <a:pt x="462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Freeform 49"/>
            <p:cNvSpPr>
              <a:spLocks/>
            </p:cNvSpPr>
            <p:nvPr/>
          </p:nvSpPr>
          <p:spPr bwMode="auto">
            <a:xfrm>
              <a:off x="1764" y="724"/>
              <a:ext cx="447" cy="1"/>
            </a:xfrm>
            <a:custGeom>
              <a:avLst/>
              <a:gdLst>
                <a:gd name="T0" fmla="*/ 0 w 447"/>
                <a:gd name="T1" fmla="*/ 0 h 1"/>
                <a:gd name="T2" fmla="*/ 447 w 447"/>
                <a:gd name="T3" fmla="*/ 1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47" h="1">
                  <a:moveTo>
                    <a:pt x="0" y="0"/>
                  </a:moveTo>
                  <a:lnTo>
                    <a:pt x="447" y="1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50"/>
            <p:cNvSpPr>
              <a:spLocks noChangeShapeType="1"/>
            </p:cNvSpPr>
            <p:nvPr/>
          </p:nvSpPr>
          <p:spPr bwMode="auto">
            <a:xfrm>
              <a:off x="243" y="196"/>
              <a:ext cx="13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51"/>
            <p:cNvSpPr>
              <a:spLocks noChangeShapeType="1"/>
            </p:cNvSpPr>
            <p:nvPr/>
          </p:nvSpPr>
          <p:spPr bwMode="auto">
            <a:xfrm>
              <a:off x="237" y="1261"/>
              <a:ext cx="13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Oval 52"/>
            <p:cNvSpPr>
              <a:spLocks noChangeAspect="1" noChangeArrowheads="1"/>
            </p:cNvSpPr>
            <p:nvPr/>
          </p:nvSpPr>
          <p:spPr bwMode="auto">
            <a:xfrm>
              <a:off x="1596" y="184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6" name="Oval 53"/>
            <p:cNvSpPr>
              <a:spLocks noChangeAspect="1" noChangeArrowheads="1"/>
            </p:cNvSpPr>
            <p:nvPr/>
          </p:nvSpPr>
          <p:spPr bwMode="auto">
            <a:xfrm>
              <a:off x="1587" y="1213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7" name="Oval 54"/>
            <p:cNvSpPr>
              <a:spLocks noChangeAspect="1" noChangeArrowheads="1"/>
            </p:cNvSpPr>
            <p:nvPr/>
          </p:nvSpPr>
          <p:spPr bwMode="auto">
            <a:xfrm>
              <a:off x="1050" y="676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8" name="Oval 55"/>
            <p:cNvSpPr>
              <a:spLocks noChangeAspect="1" noChangeArrowheads="1"/>
            </p:cNvSpPr>
            <p:nvPr/>
          </p:nvSpPr>
          <p:spPr bwMode="auto">
            <a:xfrm>
              <a:off x="2169" y="676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9" name="Oval 56"/>
            <p:cNvSpPr>
              <a:spLocks noChangeAspect="1" noChangeArrowheads="1"/>
            </p:cNvSpPr>
            <p:nvPr/>
          </p:nvSpPr>
          <p:spPr bwMode="auto">
            <a:xfrm>
              <a:off x="195" y="148"/>
              <a:ext cx="68" cy="6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0" name="Oval 57"/>
            <p:cNvSpPr>
              <a:spLocks noChangeAspect="1" noChangeArrowheads="1"/>
            </p:cNvSpPr>
            <p:nvPr/>
          </p:nvSpPr>
          <p:spPr bwMode="auto">
            <a:xfrm>
              <a:off x="177" y="1222"/>
              <a:ext cx="68" cy="6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1" name="Text Box 58"/>
            <p:cNvSpPr txBox="1">
              <a:spLocks noChangeArrowheads="1"/>
            </p:cNvSpPr>
            <p:nvPr/>
          </p:nvSpPr>
          <p:spPr bwMode="auto">
            <a:xfrm>
              <a:off x="8" y="0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a</a:t>
              </a:r>
            </a:p>
          </p:txBody>
        </p:sp>
        <p:sp>
          <p:nvSpPr>
            <p:cNvPr id="32" name="Text Box 59"/>
            <p:cNvSpPr txBox="1">
              <a:spLocks noChangeArrowheads="1"/>
            </p:cNvSpPr>
            <p:nvPr/>
          </p:nvSpPr>
          <p:spPr bwMode="auto">
            <a:xfrm>
              <a:off x="869" y="549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c</a:t>
              </a:r>
            </a:p>
          </p:txBody>
        </p:sp>
        <p:sp>
          <p:nvSpPr>
            <p:cNvPr id="33" name="Text Box 60"/>
            <p:cNvSpPr txBox="1">
              <a:spLocks noChangeArrowheads="1"/>
            </p:cNvSpPr>
            <p:nvPr/>
          </p:nvSpPr>
          <p:spPr bwMode="auto">
            <a:xfrm>
              <a:off x="2213" y="55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d</a:t>
              </a:r>
            </a:p>
          </p:txBody>
        </p:sp>
        <p:sp>
          <p:nvSpPr>
            <p:cNvPr id="34" name="Text Box 61"/>
            <p:cNvSpPr txBox="1">
              <a:spLocks noChangeArrowheads="1"/>
            </p:cNvSpPr>
            <p:nvPr/>
          </p:nvSpPr>
          <p:spPr bwMode="auto">
            <a:xfrm>
              <a:off x="1011" y="227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 dirty="0"/>
                <a:t>R</a:t>
              </a:r>
              <a:r>
                <a:rPr lang="zh-CN" altLang="zh-CN" b="1" baseline="-25000" dirty="0"/>
                <a:t>1</a:t>
              </a:r>
              <a:endParaRPr lang="zh-CN" altLang="zh-CN" b="1" dirty="0"/>
            </a:p>
          </p:txBody>
        </p:sp>
        <p:sp>
          <p:nvSpPr>
            <p:cNvPr id="35" name="Text Box 62"/>
            <p:cNvSpPr txBox="1">
              <a:spLocks noChangeArrowheads="1"/>
            </p:cNvSpPr>
            <p:nvPr/>
          </p:nvSpPr>
          <p:spPr bwMode="auto">
            <a:xfrm>
              <a:off x="1011" y="916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4</a:t>
              </a:r>
              <a:endParaRPr lang="zh-CN" altLang="zh-CN" b="1"/>
            </a:p>
          </p:txBody>
        </p:sp>
        <p:sp>
          <p:nvSpPr>
            <p:cNvPr id="36" name="Text Box 63"/>
            <p:cNvSpPr txBox="1">
              <a:spLocks noChangeArrowheads="1"/>
            </p:cNvSpPr>
            <p:nvPr/>
          </p:nvSpPr>
          <p:spPr bwMode="auto">
            <a:xfrm>
              <a:off x="1947" y="952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3</a:t>
              </a:r>
              <a:endParaRPr lang="zh-CN" altLang="zh-CN" b="1"/>
            </a:p>
          </p:txBody>
        </p:sp>
        <p:sp>
          <p:nvSpPr>
            <p:cNvPr id="37" name="Text Box 64"/>
            <p:cNvSpPr txBox="1">
              <a:spLocks noChangeArrowheads="1"/>
            </p:cNvSpPr>
            <p:nvPr/>
          </p:nvSpPr>
          <p:spPr bwMode="auto">
            <a:xfrm>
              <a:off x="1923" y="196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2</a:t>
              </a:r>
              <a:endParaRPr lang="zh-CN" altLang="zh-CN" b="1"/>
            </a:p>
          </p:txBody>
        </p:sp>
        <p:sp>
          <p:nvSpPr>
            <p:cNvPr id="38" name="Text Box 65"/>
            <p:cNvSpPr txBox="1">
              <a:spLocks noChangeArrowheads="1"/>
            </p:cNvSpPr>
            <p:nvPr/>
          </p:nvSpPr>
          <p:spPr bwMode="auto">
            <a:xfrm>
              <a:off x="1491" y="436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5</a:t>
              </a:r>
              <a:endParaRPr lang="zh-CN" altLang="zh-CN" b="1"/>
            </a:p>
          </p:txBody>
        </p:sp>
        <p:sp>
          <p:nvSpPr>
            <p:cNvPr id="39" name="Text Box 66"/>
            <p:cNvSpPr txBox="1">
              <a:spLocks noChangeArrowheads="1"/>
            </p:cNvSpPr>
            <p:nvPr/>
          </p:nvSpPr>
          <p:spPr bwMode="auto">
            <a:xfrm>
              <a:off x="0" y="11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b</a:t>
              </a:r>
            </a:p>
          </p:txBody>
        </p:sp>
      </p:grpSp>
      <p:cxnSp>
        <p:nvCxnSpPr>
          <p:cNvPr id="40" name="直接连接符 39"/>
          <p:cNvCxnSpPr/>
          <p:nvPr/>
        </p:nvCxnSpPr>
        <p:spPr bwMode="auto">
          <a:xfrm>
            <a:off x="1584325" y="2186738"/>
            <a:ext cx="2932207" cy="11113"/>
          </a:xfrm>
          <a:prstGeom prst="line">
            <a:avLst/>
          </a:prstGeom>
          <a:solidFill>
            <a:schemeClr val="accent1"/>
          </a:solidFill>
          <a:ln w="31750" cap="flat" cmpd="sng" algn="ctr">
            <a:solidFill>
              <a:srgbClr val="FF0000"/>
            </a:solidFill>
            <a:prstDash val="dashDot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4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0599667"/>
              </p:ext>
            </p:extLst>
          </p:nvPr>
        </p:nvGraphicFramePr>
        <p:xfrm>
          <a:off x="515938" y="1766051"/>
          <a:ext cx="1068387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88" name="公式" r:id="rId3" imgW="533160" imgH="241200" progId="Equation.3">
                  <p:embed/>
                </p:oleObj>
              </mc:Choice>
              <mc:Fallback>
                <p:oleObj name="公式" r:id="rId3" imgW="533160" imgH="241200" progId="Equation.3">
                  <p:embed/>
                  <p:pic>
                    <p:nvPicPr>
                      <p:cNvPr id="112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938" y="1766051"/>
                        <a:ext cx="1068387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>
                                <a:alpha val="50195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2" name="组合 41"/>
          <p:cNvGrpSpPr/>
          <p:nvPr/>
        </p:nvGrpSpPr>
        <p:grpSpPr>
          <a:xfrm>
            <a:off x="3140845" y="3945336"/>
            <a:ext cx="3368808" cy="2381918"/>
            <a:chOff x="2991389" y="4223532"/>
            <a:chExt cx="3368808" cy="2381918"/>
          </a:xfrm>
        </p:grpSpPr>
        <p:grpSp>
          <p:nvGrpSpPr>
            <p:cNvPr id="43" name="Group 34"/>
            <p:cNvGrpSpPr>
              <a:grpSpLocks/>
            </p:cNvGrpSpPr>
            <p:nvPr/>
          </p:nvGrpSpPr>
          <p:grpSpPr bwMode="auto">
            <a:xfrm>
              <a:off x="2991389" y="4223532"/>
              <a:ext cx="3368808" cy="2381918"/>
              <a:chOff x="342" y="32"/>
              <a:chExt cx="2083" cy="1392"/>
            </a:xfrm>
          </p:grpSpPr>
          <p:sp>
            <p:nvSpPr>
              <p:cNvPr id="45" name="Rectangle 35"/>
              <p:cNvSpPr>
                <a:spLocks noChangeArrowheads="1"/>
              </p:cNvSpPr>
              <p:nvPr/>
            </p:nvSpPr>
            <p:spPr bwMode="auto">
              <a:xfrm rot="-7903512">
                <a:off x="1332" y="304"/>
                <a:ext cx="96" cy="2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6" name="Rectangle 36"/>
              <p:cNvSpPr>
                <a:spLocks noChangeArrowheads="1"/>
              </p:cNvSpPr>
              <p:nvPr/>
            </p:nvSpPr>
            <p:spPr bwMode="auto">
              <a:xfrm rot="-2919155">
                <a:off x="1854" y="310"/>
                <a:ext cx="96" cy="2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7" name="Rectangle 38"/>
              <p:cNvSpPr>
                <a:spLocks noChangeArrowheads="1"/>
              </p:cNvSpPr>
              <p:nvPr/>
            </p:nvSpPr>
            <p:spPr bwMode="auto">
              <a:xfrm rot="-2874968">
                <a:off x="1299" y="880"/>
                <a:ext cx="96" cy="2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8" name="Rectangle 39"/>
              <p:cNvSpPr>
                <a:spLocks noChangeArrowheads="1"/>
              </p:cNvSpPr>
              <p:nvPr/>
            </p:nvSpPr>
            <p:spPr bwMode="auto">
              <a:xfrm rot="-7972038">
                <a:off x="1908" y="835"/>
                <a:ext cx="96" cy="2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9" name="Freeform 40"/>
              <p:cNvSpPr>
                <a:spLocks/>
              </p:cNvSpPr>
              <p:nvPr/>
            </p:nvSpPr>
            <p:spPr bwMode="auto">
              <a:xfrm>
                <a:off x="1465" y="196"/>
                <a:ext cx="176" cy="160"/>
              </a:xfrm>
              <a:custGeom>
                <a:avLst/>
                <a:gdLst>
                  <a:gd name="T0" fmla="*/ 0 w 176"/>
                  <a:gd name="T1" fmla="*/ 160 h 160"/>
                  <a:gd name="T2" fmla="*/ 176 w 176"/>
                  <a:gd name="T3" fmla="*/ 0 h 16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76" h="160">
                    <a:moveTo>
                      <a:pt x="0" y="160"/>
                    </a:moveTo>
                    <a:lnTo>
                      <a:pt x="176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" name="Freeform 41"/>
              <p:cNvSpPr>
                <a:spLocks/>
              </p:cNvSpPr>
              <p:nvPr/>
            </p:nvSpPr>
            <p:spPr bwMode="auto">
              <a:xfrm>
                <a:off x="1635" y="202"/>
                <a:ext cx="168" cy="141"/>
              </a:xfrm>
              <a:custGeom>
                <a:avLst/>
                <a:gdLst>
                  <a:gd name="T0" fmla="*/ 168 w 168"/>
                  <a:gd name="T1" fmla="*/ 141 h 141"/>
                  <a:gd name="T2" fmla="*/ 0 w 168"/>
                  <a:gd name="T3" fmla="*/ 0 h 14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68" h="141">
                    <a:moveTo>
                      <a:pt x="168" y="141"/>
                    </a:moveTo>
                    <a:lnTo>
                      <a:pt x="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" name="Freeform 42"/>
              <p:cNvSpPr>
                <a:spLocks/>
              </p:cNvSpPr>
              <p:nvPr/>
            </p:nvSpPr>
            <p:spPr bwMode="auto">
              <a:xfrm>
                <a:off x="1057" y="508"/>
                <a:ext cx="233" cy="223"/>
              </a:xfrm>
              <a:custGeom>
                <a:avLst/>
                <a:gdLst>
                  <a:gd name="T0" fmla="*/ 233 w 233"/>
                  <a:gd name="T1" fmla="*/ 0 h 223"/>
                  <a:gd name="T2" fmla="*/ 0 w 233"/>
                  <a:gd name="T3" fmla="*/ 223 h 22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33" h="223">
                    <a:moveTo>
                      <a:pt x="233" y="0"/>
                    </a:moveTo>
                    <a:lnTo>
                      <a:pt x="0" y="223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" name="Freeform 43"/>
              <p:cNvSpPr>
                <a:spLocks/>
              </p:cNvSpPr>
              <p:nvPr/>
            </p:nvSpPr>
            <p:spPr bwMode="auto">
              <a:xfrm>
                <a:off x="1989" y="511"/>
                <a:ext cx="225" cy="216"/>
              </a:xfrm>
              <a:custGeom>
                <a:avLst/>
                <a:gdLst>
                  <a:gd name="T0" fmla="*/ 0 w 225"/>
                  <a:gd name="T1" fmla="*/ 0 h 216"/>
                  <a:gd name="T2" fmla="*/ 225 w 225"/>
                  <a:gd name="T3" fmla="*/ 216 h 21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25" h="216">
                    <a:moveTo>
                      <a:pt x="0" y="0"/>
                    </a:moveTo>
                    <a:lnTo>
                      <a:pt x="225" y="216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" name="Freeform 44"/>
              <p:cNvSpPr>
                <a:spLocks/>
              </p:cNvSpPr>
              <p:nvPr/>
            </p:nvSpPr>
            <p:spPr bwMode="auto">
              <a:xfrm>
                <a:off x="1075" y="731"/>
                <a:ext cx="183" cy="201"/>
              </a:xfrm>
              <a:custGeom>
                <a:avLst/>
                <a:gdLst>
                  <a:gd name="T0" fmla="*/ 0 w 183"/>
                  <a:gd name="T1" fmla="*/ 0 h 201"/>
                  <a:gd name="T2" fmla="*/ 183 w 183"/>
                  <a:gd name="T3" fmla="*/ 201 h 20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83" h="201">
                    <a:moveTo>
                      <a:pt x="0" y="0"/>
                    </a:moveTo>
                    <a:lnTo>
                      <a:pt x="183" y="201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" name="Freeform 45"/>
              <p:cNvSpPr>
                <a:spLocks/>
              </p:cNvSpPr>
              <p:nvPr/>
            </p:nvSpPr>
            <p:spPr bwMode="auto">
              <a:xfrm>
                <a:off x="1422" y="1078"/>
                <a:ext cx="211" cy="183"/>
              </a:xfrm>
              <a:custGeom>
                <a:avLst/>
                <a:gdLst>
                  <a:gd name="T0" fmla="*/ 0 w 211"/>
                  <a:gd name="T1" fmla="*/ 0 h 183"/>
                  <a:gd name="T2" fmla="*/ 211 w 211"/>
                  <a:gd name="T3" fmla="*/ 183 h 18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11" h="183">
                    <a:moveTo>
                      <a:pt x="0" y="0"/>
                    </a:moveTo>
                    <a:lnTo>
                      <a:pt x="211" y="183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" name="Freeform 46"/>
              <p:cNvSpPr>
                <a:spLocks/>
              </p:cNvSpPr>
              <p:nvPr/>
            </p:nvSpPr>
            <p:spPr bwMode="auto">
              <a:xfrm>
                <a:off x="1635" y="1030"/>
                <a:ext cx="243" cy="222"/>
              </a:xfrm>
              <a:custGeom>
                <a:avLst/>
                <a:gdLst>
                  <a:gd name="T0" fmla="*/ 0 w 243"/>
                  <a:gd name="T1" fmla="*/ 222 h 222"/>
                  <a:gd name="T2" fmla="*/ 243 w 243"/>
                  <a:gd name="T3" fmla="*/ 0 h 22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43" h="222">
                    <a:moveTo>
                      <a:pt x="0" y="222"/>
                    </a:moveTo>
                    <a:lnTo>
                      <a:pt x="243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" name="Freeform 47"/>
              <p:cNvSpPr>
                <a:spLocks/>
              </p:cNvSpPr>
              <p:nvPr/>
            </p:nvSpPr>
            <p:spPr bwMode="auto">
              <a:xfrm>
                <a:off x="2053" y="724"/>
                <a:ext cx="158" cy="153"/>
              </a:xfrm>
              <a:custGeom>
                <a:avLst/>
                <a:gdLst>
                  <a:gd name="T0" fmla="*/ 0 w 158"/>
                  <a:gd name="T1" fmla="*/ 153 h 153"/>
                  <a:gd name="T2" fmla="*/ 158 w 158"/>
                  <a:gd name="T3" fmla="*/ 0 h 15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58" h="153">
                    <a:moveTo>
                      <a:pt x="0" y="153"/>
                    </a:moveTo>
                    <a:lnTo>
                      <a:pt x="158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" name="Freeform 48"/>
              <p:cNvSpPr>
                <a:spLocks/>
              </p:cNvSpPr>
              <p:nvPr/>
            </p:nvSpPr>
            <p:spPr bwMode="auto">
              <a:xfrm>
                <a:off x="1059" y="724"/>
                <a:ext cx="462" cy="1"/>
              </a:xfrm>
              <a:custGeom>
                <a:avLst/>
                <a:gdLst>
                  <a:gd name="T0" fmla="*/ 0 w 462"/>
                  <a:gd name="T1" fmla="*/ 0 h 1"/>
                  <a:gd name="T2" fmla="*/ 462 w 462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62" h="1">
                    <a:moveTo>
                      <a:pt x="0" y="0"/>
                    </a:moveTo>
                    <a:lnTo>
                      <a:pt x="462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" name="Freeform 49"/>
              <p:cNvSpPr>
                <a:spLocks/>
              </p:cNvSpPr>
              <p:nvPr/>
            </p:nvSpPr>
            <p:spPr bwMode="auto">
              <a:xfrm>
                <a:off x="1764" y="724"/>
                <a:ext cx="447" cy="1"/>
              </a:xfrm>
              <a:custGeom>
                <a:avLst/>
                <a:gdLst>
                  <a:gd name="T0" fmla="*/ 0 w 447"/>
                  <a:gd name="T1" fmla="*/ 0 h 1"/>
                  <a:gd name="T2" fmla="*/ 447 w 447"/>
                  <a:gd name="T3" fmla="*/ 1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47" h="1">
                    <a:moveTo>
                      <a:pt x="0" y="0"/>
                    </a:moveTo>
                    <a:lnTo>
                      <a:pt x="447" y="1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9" name="Line 50"/>
              <p:cNvSpPr>
                <a:spLocks noChangeShapeType="1"/>
              </p:cNvSpPr>
              <p:nvPr/>
            </p:nvSpPr>
            <p:spPr bwMode="auto">
              <a:xfrm flipV="1">
                <a:off x="622" y="196"/>
                <a:ext cx="1013" cy="1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" name="Line 51"/>
              <p:cNvSpPr>
                <a:spLocks noChangeShapeType="1"/>
              </p:cNvSpPr>
              <p:nvPr/>
            </p:nvSpPr>
            <p:spPr bwMode="auto">
              <a:xfrm>
                <a:off x="626" y="1251"/>
                <a:ext cx="1003" cy="1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" name="Oval 52"/>
              <p:cNvSpPr>
                <a:spLocks noChangeAspect="1" noChangeArrowheads="1"/>
              </p:cNvSpPr>
              <p:nvPr/>
            </p:nvSpPr>
            <p:spPr bwMode="auto">
              <a:xfrm>
                <a:off x="1596" y="184"/>
                <a:ext cx="68" cy="68"/>
              </a:xfrm>
              <a:prstGeom prst="ellipse">
                <a:avLst/>
              </a:prstGeom>
              <a:solidFill>
                <a:schemeClr val="tx2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62" name="Oval 53"/>
              <p:cNvSpPr>
                <a:spLocks noChangeAspect="1" noChangeArrowheads="1"/>
              </p:cNvSpPr>
              <p:nvPr/>
            </p:nvSpPr>
            <p:spPr bwMode="auto">
              <a:xfrm>
                <a:off x="1587" y="1213"/>
                <a:ext cx="68" cy="68"/>
              </a:xfrm>
              <a:prstGeom prst="ellipse">
                <a:avLst/>
              </a:prstGeom>
              <a:solidFill>
                <a:schemeClr val="tx2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63" name="Oval 54"/>
              <p:cNvSpPr>
                <a:spLocks noChangeAspect="1" noChangeArrowheads="1"/>
              </p:cNvSpPr>
              <p:nvPr/>
            </p:nvSpPr>
            <p:spPr bwMode="auto">
              <a:xfrm>
                <a:off x="1050" y="676"/>
                <a:ext cx="68" cy="68"/>
              </a:xfrm>
              <a:prstGeom prst="ellipse">
                <a:avLst/>
              </a:prstGeom>
              <a:solidFill>
                <a:schemeClr val="tx2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64" name="Oval 55"/>
              <p:cNvSpPr>
                <a:spLocks noChangeAspect="1" noChangeArrowheads="1"/>
              </p:cNvSpPr>
              <p:nvPr/>
            </p:nvSpPr>
            <p:spPr bwMode="auto">
              <a:xfrm>
                <a:off x="2169" y="676"/>
                <a:ext cx="68" cy="68"/>
              </a:xfrm>
              <a:prstGeom prst="ellipse">
                <a:avLst/>
              </a:prstGeom>
              <a:solidFill>
                <a:schemeClr val="tx2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65" name="Oval 56"/>
              <p:cNvSpPr>
                <a:spLocks noChangeAspect="1" noChangeArrowheads="1"/>
              </p:cNvSpPr>
              <p:nvPr/>
            </p:nvSpPr>
            <p:spPr bwMode="auto">
              <a:xfrm>
                <a:off x="537" y="180"/>
                <a:ext cx="68" cy="68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66" name="Oval 57"/>
              <p:cNvSpPr>
                <a:spLocks noChangeAspect="1" noChangeArrowheads="1"/>
              </p:cNvSpPr>
              <p:nvPr/>
            </p:nvSpPr>
            <p:spPr bwMode="auto">
              <a:xfrm>
                <a:off x="519" y="1254"/>
                <a:ext cx="68" cy="68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67" name="Text Box 58"/>
              <p:cNvSpPr txBox="1">
                <a:spLocks noChangeArrowheads="1"/>
              </p:cNvSpPr>
              <p:nvPr/>
            </p:nvSpPr>
            <p:spPr bwMode="auto">
              <a:xfrm>
                <a:off x="350" y="32"/>
                <a:ext cx="20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sz="2400"/>
                  <a:t>a</a:t>
                </a:r>
              </a:p>
            </p:txBody>
          </p:sp>
          <p:sp>
            <p:nvSpPr>
              <p:cNvPr id="68" name="Text Box 59"/>
              <p:cNvSpPr txBox="1">
                <a:spLocks noChangeArrowheads="1"/>
              </p:cNvSpPr>
              <p:nvPr/>
            </p:nvSpPr>
            <p:spPr bwMode="auto">
              <a:xfrm>
                <a:off x="869" y="549"/>
                <a:ext cx="20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sz="2400"/>
                  <a:t>c</a:t>
                </a:r>
              </a:p>
            </p:txBody>
          </p:sp>
          <p:sp>
            <p:nvSpPr>
              <p:cNvPr id="69" name="Text Box 60"/>
              <p:cNvSpPr txBox="1">
                <a:spLocks noChangeArrowheads="1"/>
              </p:cNvSpPr>
              <p:nvPr/>
            </p:nvSpPr>
            <p:spPr bwMode="auto">
              <a:xfrm>
                <a:off x="2213" y="558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sz="2400" dirty="0"/>
                  <a:t>d</a:t>
                </a:r>
              </a:p>
            </p:txBody>
          </p:sp>
          <p:sp>
            <p:nvSpPr>
              <p:cNvPr id="70" name="Text Box 61"/>
              <p:cNvSpPr txBox="1">
                <a:spLocks noChangeArrowheads="1"/>
              </p:cNvSpPr>
              <p:nvPr/>
            </p:nvSpPr>
            <p:spPr bwMode="auto">
              <a:xfrm>
                <a:off x="1011" y="227"/>
                <a:ext cx="28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b="1" dirty="0"/>
                  <a:t>R</a:t>
                </a:r>
                <a:r>
                  <a:rPr lang="zh-CN" altLang="zh-CN" b="1" baseline="-25000" dirty="0"/>
                  <a:t>1</a:t>
                </a:r>
                <a:endParaRPr lang="zh-CN" altLang="zh-CN" b="1" dirty="0"/>
              </a:p>
            </p:txBody>
          </p:sp>
          <p:sp>
            <p:nvSpPr>
              <p:cNvPr id="71" name="Text Box 62"/>
              <p:cNvSpPr txBox="1">
                <a:spLocks noChangeArrowheads="1"/>
              </p:cNvSpPr>
              <p:nvPr/>
            </p:nvSpPr>
            <p:spPr bwMode="auto">
              <a:xfrm>
                <a:off x="1011" y="916"/>
                <a:ext cx="28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b="1" dirty="0"/>
                  <a:t>R</a:t>
                </a:r>
                <a:r>
                  <a:rPr lang="zh-CN" altLang="zh-CN" b="1" baseline="-25000" dirty="0"/>
                  <a:t>4</a:t>
                </a:r>
                <a:endParaRPr lang="zh-CN" altLang="zh-CN" b="1" dirty="0"/>
              </a:p>
            </p:txBody>
          </p:sp>
          <p:sp>
            <p:nvSpPr>
              <p:cNvPr id="72" name="Text Box 63"/>
              <p:cNvSpPr txBox="1">
                <a:spLocks noChangeArrowheads="1"/>
              </p:cNvSpPr>
              <p:nvPr/>
            </p:nvSpPr>
            <p:spPr bwMode="auto">
              <a:xfrm>
                <a:off x="1947" y="952"/>
                <a:ext cx="28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b="1"/>
                  <a:t>R</a:t>
                </a:r>
                <a:r>
                  <a:rPr lang="zh-CN" altLang="zh-CN" b="1" baseline="-25000"/>
                  <a:t>3</a:t>
                </a:r>
                <a:endParaRPr lang="zh-CN" altLang="zh-CN" b="1"/>
              </a:p>
            </p:txBody>
          </p:sp>
          <p:sp>
            <p:nvSpPr>
              <p:cNvPr id="73" name="Text Box 64"/>
              <p:cNvSpPr txBox="1">
                <a:spLocks noChangeArrowheads="1"/>
              </p:cNvSpPr>
              <p:nvPr/>
            </p:nvSpPr>
            <p:spPr bwMode="auto">
              <a:xfrm>
                <a:off x="1923" y="196"/>
                <a:ext cx="28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b="1" dirty="0"/>
                  <a:t>R</a:t>
                </a:r>
                <a:r>
                  <a:rPr lang="zh-CN" altLang="zh-CN" b="1" baseline="-25000" dirty="0"/>
                  <a:t>2</a:t>
                </a:r>
                <a:endParaRPr lang="zh-CN" altLang="zh-CN" b="1" dirty="0"/>
              </a:p>
            </p:txBody>
          </p:sp>
          <p:sp>
            <p:nvSpPr>
              <p:cNvPr id="74" name="Text Box 66"/>
              <p:cNvSpPr txBox="1">
                <a:spLocks noChangeArrowheads="1"/>
              </p:cNvSpPr>
              <p:nvPr/>
            </p:nvSpPr>
            <p:spPr bwMode="auto">
              <a:xfrm>
                <a:off x="342" y="113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sz="2400"/>
                  <a:t>b</a:t>
                </a:r>
              </a:p>
            </p:txBody>
          </p:sp>
        </p:grpSp>
        <p:sp>
          <p:nvSpPr>
            <p:cNvPr id="44" name="Text Box 61"/>
            <p:cNvSpPr txBox="1">
              <a:spLocks noChangeArrowheads="1"/>
            </p:cNvSpPr>
            <p:nvPr/>
          </p:nvSpPr>
          <p:spPr bwMode="auto">
            <a:xfrm>
              <a:off x="4977057" y="4969302"/>
              <a:ext cx="614271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dirty="0"/>
                <a:t>i</a:t>
              </a:r>
              <a:r>
                <a:rPr lang="en-US" altLang="zh-CN" b="1" baseline="-25000" dirty="0"/>
                <a:t>5</a:t>
              </a:r>
              <a:r>
                <a:rPr lang="en-US" altLang="zh-CN" b="1" dirty="0"/>
                <a:t>=0</a:t>
              </a:r>
              <a:endParaRPr lang="zh-CN" altLang="zh-CN" b="1" dirty="0"/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343251" y="3975019"/>
            <a:ext cx="3368808" cy="2381918"/>
            <a:chOff x="2991389" y="4223532"/>
            <a:chExt cx="3368808" cy="2381918"/>
          </a:xfrm>
        </p:grpSpPr>
        <p:grpSp>
          <p:nvGrpSpPr>
            <p:cNvPr id="76" name="Group 34"/>
            <p:cNvGrpSpPr>
              <a:grpSpLocks/>
            </p:cNvGrpSpPr>
            <p:nvPr/>
          </p:nvGrpSpPr>
          <p:grpSpPr bwMode="auto">
            <a:xfrm>
              <a:off x="2991389" y="4223532"/>
              <a:ext cx="3368808" cy="2381918"/>
              <a:chOff x="342" y="32"/>
              <a:chExt cx="2083" cy="1392"/>
            </a:xfrm>
          </p:grpSpPr>
          <p:sp>
            <p:nvSpPr>
              <p:cNvPr id="78" name="Rectangle 35"/>
              <p:cNvSpPr>
                <a:spLocks noChangeArrowheads="1"/>
              </p:cNvSpPr>
              <p:nvPr/>
            </p:nvSpPr>
            <p:spPr bwMode="auto">
              <a:xfrm rot="-7903512">
                <a:off x="1332" y="304"/>
                <a:ext cx="96" cy="2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79" name="Rectangle 36"/>
              <p:cNvSpPr>
                <a:spLocks noChangeArrowheads="1"/>
              </p:cNvSpPr>
              <p:nvPr/>
            </p:nvSpPr>
            <p:spPr bwMode="auto">
              <a:xfrm rot="-2919155">
                <a:off x="1854" y="310"/>
                <a:ext cx="96" cy="2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80" name="Rectangle 38"/>
              <p:cNvSpPr>
                <a:spLocks noChangeArrowheads="1"/>
              </p:cNvSpPr>
              <p:nvPr/>
            </p:nvSpPr>
            <p:spPr bwMode="auto">
              <a:xfrm rot="-2874968">
                <a:off x="1299" y="880"/>
                <a:ext cx="96" cy="2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81" name="Rectangle 39"/>
              <p:cNvSpPr>
                <a:spLocks noChangeArrowheads="1"/>
              </p:cNvSpPr>
              <p:nvPr/>
            </p:nvSpPr>
            <p:spPr bwMode="auto">
              <a:xfrm rot="-7972038">
                <a:off x="1908" y="835"/>
                <a:ext cx="96" cy="2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82" name="Freeform 40"/>
              <p:cNvSpPr>
                <a:spLocks/>
              </p:cNvSpPr>
              <p:nvPr/>
            </p:nvSpPr>
            <p:spPr bwMode="auto">
              <a:xfrm>
                <a:off x="1465" y="196"/>
                <a:ext cx="176" cy="160"/>
              </a:xfrm>
              <a:custGeom>
                <a:avLst/>
                <a:gdLst>
                  <a:gd name="T0" fmla="*/ 0 w 176"/>
                  <a:gd name="T1" fmla="*/ 160 h 160"/>
                  <a:gd name="T2" fmla="*/ 176 w 176"/>
                  <a:gd name="T3" fmla="*/ 0 h 16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76" h="160">
                    <a:moveTo>
                      <a:pt x="0" y="160"/>
                    </a:moveTo>
                    <a:lnTo>
                      <a:pt x="176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" name="Freeform 41"/>
              <p:cNvSpPr>
                <a:spLocks/>
              </p:cNvSpPr>
              <p:nvPr/>
            </p:nvSpPr>
            <p:spPr bwMode="auto">
              <a:xfrm>
                <a:off x="1635" y="202"/>
                <a:ext cx="168" cy="141"/>
              </a:xfrm>
              <a:custGeom>
                <a:avLst/>
                <a:gdLst>
                  <a:gd name="T0" fmla="*/ 168 w 168"/>
                  <a:gd name="T1" fmla="*/ 141 h 141"/>
                  <a:gd name="T2" fmla="*/ 0 w 168"/>
                  <a:gd name="T3" fmla="*/ 0 h 14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68" h="141">
                    <a:moveTo>
                      <a:pt x="168" y="141"/>
                    </a:moveTo>
                    <a:lnTo>
                      <a:pt x="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4" name="Freeform 42"/>
              <p:cNvSpPr>
                <a:spLocks/>
              </p:cNvSpPr>
              <p:nvPr/>
            </p:nvSpPr>
            <p:spPr bwMode="auto">
              <a:xfrm>
                <a:off x="1057" y="508"/>
                <a:ext cx="233" cy="223"/>
              </a:xfrm>
              <a:custGeom>
                <a:avLst/>
                <a:gdLst>
                  <a:gd name="T0" fmla="*/ 233 w 233"/>
                  <a:gd name="T1" fmla="*/ 0 h 223"/>
                  <a:gd name="T2" fmla="*/ 0 w 233"/>
                  <a:gd name="T3" fmla="*/ 223 h 22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33" h="223">
                    <a:moveTo>
                      <a:pt x="233" y="0"/>
                    </a:moveTo>
                    <a:lnTo>
                      <a:pt x="0" y="223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5" name="Freeform 43"/>
              <p:cNvSpPr>
                <a:spLocks/>
              </p:cNvSpPr>
              <p:nvPr/>
            </p:nvSpPr>
            <p:spPr bwMode="auto">
              <a:xfrm>
                <a:off x="1989" y="511"/>
                <a:ext cx="225" cy="216"/>
              </a:xfrm>
              <a:custGeom>
                <a:avLst/>
                <a:gdLst>
                  <a:gd name="T0" fmla="*/ 0 w 225"/>
                  <a:gd name="T1" fmla="*/ 0 h 216"/>
                  <a:gd name="T2" fmla="*/ 225 w 225"/>
                  <a:gd name="T3" fmla="*/ 216 h 21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25" h="216">
                    <a:moveTo>
                      <a:pt x="0" y="0"/>
                    </a:moveTo>
                    <a:lnTo>
                      <a:pt x="225" y="216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6" name="Freeform 44"/>
              <p:cNvSpPr>
                <a:spLocks/>
              </p:cNvSpPr>
              <p:nvPr/>
            </p:nvSpPr>
            <p:spPr bwMode="auto">
              <a:xfrm>
                <a:off x="1075" y="731"/>
                <a:ext cx="183" cy="201"/>
              </a:xfrm>
              <a:custGeom>
                <a:avLst/>
                <a:gdLst>
                  <a:gd name="T0" fmla="*/ 0 w 183"/>
                  <a:gd name="T1" fmla="*/ 0 h 201"/>
                  <a:gd name="T2" fmla="*/ 183 w 183"/>
                  <a:gd name="T3" fmla="*/ 201 h 20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83" h="201">
                    <a:moveTo>
                      <a:pt x="0" y="0"/>
                    </a:moveTo>
                    <a:lnTo>
                      <a:pt x="183" y="201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7" name="Freeform 45"/>
              <p:cNvSpPr>
                <a:spLocks/>
              </p:cNvSpPr>
              <p:nvPr/>
            </p:nvSpPr>
            <p:spPr bwMode="auto">
              <a:xfrm>
                <a:off x="1422" y="1078"/>
                <a:ext cx="211" cy="183"/>
              </a:xfrm>
              <a:custGeom>
                <a:avLst/>
                <a:gdLst>
                  <a:gd name="T0" fmla="*/ 0 w 211"/>
                  <a:gd name="T1" fmla="*/ 0 h 183"/>
                  <a:gd name="T2" fmla="*/ 211 w 211"/>
                  <a:gd name="T3" fmla="*/ 183 h 18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11" h="183">
                    <a:moveTo>
                      <a:pt x="0" y="0"/>
                    </a:moveTo>
                    <a:lnTo>
                      <a:pt x="211" y="183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8" name="Freeform 46"/>
              <p:cNvSpPr>
                <a:spLocks/>
              </p:cNvSpPr>
              <p:nvPr/>
            </p:nvSpPr>
            <p:spPr bwMode="auto">
              <a:xfrm>
                <a:off x="1635" y="1030"/>
                <a:ext cx="243" cy="222"/>
              </a:xfrm>
              <a:custGeom>
                <a:avLst/>
                <a:gdLst>
                  <a:gd name="T0" fmla="*/ 0 w 243"/>
                  <a:gd name="T1" fmla="*/ 222 h 222"/>
                  <a:gd name="T2" fmla="*/ 243 w 243"/>
                  <a:gd name="T3" fmla="*/ 0 h 22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43" h="222">
                    <a:moveTo>
                      <a:pt x="0" y="222"/>
                    </a:moveTo>
                    <a:lnTo>
                      <a:pt x="243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" name="Freeform 47"/>
              <p:cNvSpPr>
                <a:spLocks/>
              </p:cNvSpPr>
              <p:nvPr/>
            </p:nvSpPr>
            <p:spPr bwMode="auto">
              <a:xfrm>
                <a:off x="2053" y="724"/>
                <a:ext cx="158" cy="153"/>
              </a:xfrm>
              <a:custGeom>
                <a:avLst/>
                <a:gdLst>
                  <a:gd name="T0" fmla="*/ 0 w 158"/>
                  <a:gd name="T1" fmla="*/ 153 h 153"/>
                  <a:gd name="T2" fmla="*/ 158 w 158"/>
                  <a:gd name="T3" fmla="*/ 0 h 15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58" h="153">
                    <a:moveTo>
                      <a:pt x="0" y="153"/>
                    </a:moveTo>
                    <a:lnTo>
                      <a:pt x="158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0" name="Freeform 49"/>
              <p:cNvSpPr>
                <a:spLocks/>
              </p:cNvSpPr>
              <p:nvPr/>
            </p:nvSpPr>
            <p:spPr bwMode="auto">
              <a:xfrm>
                <a:off x="1050" y="698"/>
                <a:ext cx="1161" cy="27"/>
              </a:xfrm>
              <a:custGeom>
                <a:avLst/>
                <a:gdLst>
                  <a:gd name="T0" fmla="*/ 0 w 447"/>
                  <a:gd name="T1" fmla="*/ 0 h 1"/>
                  <a:gd name="T2" fmla="*/ 447 w 447"/>
                  <a:gd name="T3" fmla="*/ 1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47" h="1">
                    <a:moveTo>
                      <a:pt x="0" y="0"/>
                    </a:moveTo>
                    <a:lnTo>
                      <a:pt x="447" y="1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1" name="Line 50"/>
              <p:cNvSpPr>
                <a:spLocks noChangeShapeType="1"/>
              </p:cNvSpPr>
              <p:nvPr/>
            </p:nvSpPr>
            <p:spPr bwMode="auto">
              <a:xfrm flipV="1">
                <a:off x="622" y="196"/>
                <a:ext cx="1013" cy="1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" name="Line 51"/>
              <p:cNvSpPr>
                <a:spLocks noChangeShapeType="1"/>
              </p:cNvSpPr>
              <p:nvPr/>
            </p:nvSpPr>
            <p:spPr bwMode="auto">
              <a:xfrm>
                <a:off x="626" y="1251"/>
                <a:ext cx="1003" cy="1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3" name="Oval 52"/>
              <p:cNvSpPr>
                <a:spLocks noChangeAspect="1" noChangeArrowheads="1"/>
              </p:cNvSpPr>
              <p:nvPr/>
            </p:nvSpPr>
            <p:spPr bwMode="auto">
              <a:xfrm>
                <a:off x="1596" y="184"/>
                <a:ext cx="68" cy="68"/>
              </a:xfrm>
              <a:prstGeom prst="ellipse">
                <a:avLst/>
              </a:prstGeom>
              <a:solidFill>
                <a:schemeClr val="tx2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94" name="Oval 53"/>
              <p:cNvSpPr>
                <a:spLocks noChangeAspect="1" noChangeArrowheads="1"/>
              </p:cNvSpPr>
              <p:nvPr/>
            </p:nvSpPr>
            <p:spPr bwMode="auto">
              <a:xfrm>
                <a:off x="1587" y="1213"/>
                <a:ext cx="68" cy="68"/>
              </a:xfrm>
              <a:prstGeom prst="ellipse">
                <a:avLst/>
              </a:prstGeom>
              <a:solidFill>
                <a:schemeClr val="tx2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95" name="Oval 54"/>
              <p:cNvSpPr>
                <a:spLocks noChangeAspect="1" noChangeArrowheads="1"/>
              </p:cNvSpPr>
              <p:nvPr/>
            </p:nvSpPr>
            <p:spPr bwMode="auto">
              <a:xfrm>
                <a:off x="1050" y="676"/>
                <a:ext cx="68" cy="68"/>
              </a:xfrm>
              <a:prstGeom prst="ellipse">
                <a:avLst/>
              </a:prstGeom>
              <a:solidFill>
                <a:schemeClr val="tx2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96" name="Oval 55"/>
              <p:cNvSpPr>
                <a:spLocks noChangeAspect="1" noChangeArrowheads="1"/>
              </p:cNvSpPr>
              <p:nvPr/>
            </p:nvSpPr>
            <p:spPr bwMode="auto">
              <a:xfrm>
                <a:off x="2169" y="676"/>
                <a:ext cx="68" cy="68"/>
              </a:xfrm>
              <a:prstGeom prst="ellipse">
                <a:avLst/>
              </a:prstGeom>
              <a:solidFill>
                <a:schemeClr val="tx2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97" name="Oval 56"/>
              <p:cNvSpPr>
                <a:spLocks noChangeAspect="1" noChangeArrowheads="1"/>
              </p:cNvSpPr>
              <p:nvPr/>
            </p:nvSpPr>
            <p:spPr bwMode="auto">
              <a:xfrm>
                <a:off x="537" y="180"/>
                <a:ext cx="68" cy="68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98" name="Oval 57"/>
              <p:cNvSpPr>
                <a:spLocks noChangeAspect="1" noChangeArrowheads="1"/>
              </p:cNvSpPr>
              <p:nvPr/>
            </p:nvSpPr>
            <p:spPr bwMode="auto">
              <a:xfrm>
                <a:off x="519" y="1254"/>
                <a:ext cx="68" cy="68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99" name="Text Box 58"/>
              <p:cNvSpPr txBox="1">
                <a:spLocks noChangeArrowheads="1"/>
              </p:cNvSpPr>
              <p:nvPr/>
            </p:nvSpPr>
            <p:spPr bwMode="auto">
              <a:xfrm>
                <a:off x="350" y="32"/>
                <a:ext cx="20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sz="2400"/>
                  <a:t>a</a:t>
                </a:r>
              </a:p>
            </p:txBody>
          </p:sp>
          <p:sp>
            <p:nvSpPr>
              <p:cNvPr id="100" name="Text Box 59"/>
              <p:cNvSpPr txBox="1">
                <a:spLocks noChangeArrowheads="1"/>
              </p:cNvSpPr>
              <p:nvPr/>
            </p:nvSpPr>
            <p:spPr bwMode="auto">
              <a:xfrm>
                <a:off x="869" y="549"/>
                <a:ext cx="20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sz="2400"/>
                  <a:t>c</a:t>
                </a:r>
              </a:p>
            </p:txBody>
          </p:sp>
          <p:sp>
            <p:nvSpPr>
              <p:cNvPr id="101" name="Text Box 60"/>
              <p:cNvSpPr txBox="1">
                <a:spLocks noChangeArrowheads="1"/>
              </p:cNvSpPr>
              <p:nvPr/>
            </p:nvSpPr>
            <p:spPr bwMode="auto">
              <a:xfrm>
                <a:off x="2213" y="558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sz="2400"/>
                  <a:t>d</a:t>
                </a:r>
              </a:p>
            </p:txBody>
          </p:sp>
          <p:sp>
            <p:nvSpPr>
              <p:cNvPr id="102" name="Text Box 61"/>
              <p:cNvSpPr txBox="1">
                <a:spLocks noChangeArrowheads="1"/>
              </p:cNvSpPr>
              <p:nvPr/>
            </p:nvSpPr>
            <p:spPr bwMode="auto">
              <a:xfrm>
                <a:off x="1011" y="227"/>
                <a:ext cx="28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b="1" dirty="0"/>
                  <a:t>R</a:t>
                </a:r>
                <a:r>
                  <a:rPr lang="zh-CN" altLang="zh-CN" b="1" baseline="-25000" dirty="0"/>
                  <a:t>1</a:t>
                </a:r>
                <a:endParaRPr lang="zh-CN" altLang="zh-CN" b="1" dirty="0"/>
              </a:p>
            </p:txBody>
          </p:sp>
          <p:sp>
            <p:nvSpPr>
              <p:cNvPr id="103" name="Text Box 62"/>
              <p:cNvSpPr txBox="1">
                <a:spLocks noChangeArrowheads="1"/>
              </p:cNvSpPr>
              <p:nvPr/>
            </p:nvSpPr>
            <p:spPr bwMode="auto">
              <a:xfrm>
                <a:off x="1011" y="916"/>
                <a:ext cx="28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b="1" dirty="0"/>
                  <a:t>R</a:t>
                </a:r>
                <a:r>
                  <a:rPr lang="zh-CN" altLang="zh-CN" b="1" baseline="-25000" dirty="0"/>
                  <a:t>4</a:t>
                </a:r>
                <a:endParaRPr lang="zh-CN" altLang="zh-CN" b="1" dirty="0"/>
              </a:p>
            </p:txBody>
          </p:sp>
          <p:sp>
            <p:nvSpPr>
              <p:cNvPr id="104" name="Text Box 63"/>
              <p:cNvSpPr txBox="1">
                <a:spLocks noChangeArrowheads="1"/>
              </p:cNvSpPr>
              <p:nvPr/>
            </p:nvSpPr>
            <p:spPr bwMode="auto">
              <a:xfrm>
                <a:off x="1947" y="952"/>
                <a:ext cx="28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b="1"/>
                  <a:t>R</a:t>
                </a:r>
                <a:r>
                  <a:rPr lang="zh-CN" altLang="zh-CN" b="1" baseline="-25000"/>
                  <a:t>3</a:t>
                </a:r>
                <a:endParaRPr lang="zh-CN" altLang="zh-CN" b="1"/>
              </a:p>
            </p:txBody>
          </p:sp>
          <p:sp>
            <p:nvSpPr>
              <p:cNvPr id="105" name="Text Box 64"/>
              <p:cNvSpPr txBox="1">
                <a:spLocks noChangeArrowheads="1"/>
              </p:cNvSpPr>
              <p:nvPr/>
            </p:nvSpPr>
            <p:spPr bwMode="auto">
              <a:xfrm>
                <a:off x="1923" y="196"/>
                <a:ext cx="28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b="1"/>
                  <a:t>R</a:t>
                </a:r>
                <a:r>
                  <a:rPr lang="zh-CN" altLang="zh-CN" b="1" baseline="-25000"/>
                  <a:t>2</a:t>
                </a:r>
                <a:endParaRPr lang="zh-CN" altLang="zh-CN" b="1"/>
              </a:p>
            </p:txBody>
          </p:sp>
          <p:sp>
            <p:nvSpPr>
              <p:cNvPr id="106" name="Text Box 66"/>
              <p:cNvSpPr txBox="1">
                <a:spLocks noChangeArrowheads="1"/>
              </p:cNvSpPr>
              <p:nvPr/>
            </p:nvSpPr>
            <p:spPr bwMode="auto">
              <a:xfrm>
                <a:off x="342" y="113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sz="2400"/>
                  <a:t>b</a:t>
                </a:r>
              </a:p>
            </p:txBody>
          </p:sp>
        </p:grpSp>
        <p:sp>
          <p:nvSpPr>
            <p:cNvPr id="77" name="Text Box 61"/>
            <p:cNvSpPr txBox="1">
              <a:spLocks noChangeArrowheads="1"/>
            </p:cNvSpPr>
            <p:nvPr/>
          </p:nvSpPr>
          <p:spPr bwMode="auto">
            <a:xfrm>
              <a:off x="4733672" y="4985142"/>
              <a:ext cx="814647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dirty="0" err="1"/>
                <a:t>U</a:t>
              </a:r>
              <a:r>
                <a:rPr lang="en-US" altLang="zh-CN" b="1" baseline="-25000" dirty="0" err="1"/>
                <a:t>cd</a:t>
              </a:r>
              <a:r>
                <a:rPr lang="en-US" altLang="zh-CN" b="1" dirty="0"/>
                <a:t>=0</a:t>
              </a:r>
              <a:endParaRPr lang="zh-CN" altLang="zh-CN" b="1" dirty="0"/>
            </a:p>
          </p:txBody>
        </p:sp>
      </p:grpSp>
      <p:grpSp>
        <p:nvGrpSpPr>
          <p:cNvPr id="107" name="组合 106"/>
          <p:cNvGrpSpPr/>
          <p:nvPr/>
        </p:nvGrpSpPr>
        <p:grpSpPr>
          <a:xfrm>
            <a:off x="5326613" y="3969543"/>
            <a:ext cx="3849688" cy="2189163"/>
            <a:chOff x="5326613" y="3969543"/>
            <a:chExt cx="3849688" cy="2189163"/>
          </a:xfrm>
        </p:grpSpPr>
        <p:cxnSp>
          <p:nvCxnSpPr>
            <p:cNvPr id="108" name="直接连接符 107"/>
            <p:cNvCxnSpPr>
              <a:stCxn id="120" idx="2"/>
              <a:endCxn id="136" idx="2"/>
            </p:cNvCxnSpPr>
            <p:nvPr/>
          </p:nvCxnSpPr>
          <p:spPr bwMode="auto">
            <a:xfrm>
              <a:off x="8114263" y="4887118"/>
              <a:ext cx="655638" cy="188913"/>
            </a:xfrm>
            <a:prstGeom prst="line">
              <a:avLst/>
            </a:prstGeom>
            <a:solidFill>
              <a:schemeClr val="accent1"/>
            </a:solidFill>
            <a:ln w="317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109" name="组合 108"/>
            <p:cNvGrpSpPr/>
            <p:nvPr/>
          </p:nvGrpSpPr>
          <p:grpSpPr>
            <a:xfrm>
              <a:off x="5326613" y="3969543"/>
              <a:ext cx="3849688" cy="2189163"/>
              <a:chOff x="5326613" y="3969543"/>
              <a:chExt cx="3849688" cy="2189163"/>
            </a:xfrm>
          </p:grpSpPr>
          <p:sp>
            <p:nvSpPr>
              <p:cNvPr id="110" name="Rectangle 37"/>
              <p:cNvSpPr>
                <a:spLocks noChangeArrowheads="1"/>
              </p:cNvSpPr>
              <p:nvPr/>
            </p:nvSpPr>
            <p:spPr bwMode="auto">
              <a:xfrm rot="16200000">
                <a:off x="7855501" y="5046637"/>
                <a:ext cx="152400" cy="38100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cxnSp>
            <p:nvCxnSpPr>
              <p:cNvPr id="111" name="直接连接符 110"/>
              <p:cNvCxnSpPr>
                <a:stCxn id="135" idx="5"/>
                <a:endCxn id="110" idx="0"/>
              </p:cNvCxnSpPr>
              <p:nvPr/>
            </p:nvCxnSpPr>
            <p:spPr bwMode="auto">
              <a:xfrm>
                <a:off x="7085629" y="5114197"/>
                <a:ext cx="655572" cy="122940"/>
              </a:xfrm>
              <a:prstGeom prst="line">
                <a:avLst/>
              </a:prstGeom>
              <a:solidFill>
                <a:schemeClr val="accent1"/>
              </a:solidFill>
              <a:ln w="317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12" name="直接连接符 111"/>
              <p:cNvCxnSpPr>
                <a:stCxn id="110" idx="2"/>
                <a:endCxn id="136" idx="2"/>
              </p:cNvCxnSpPr>
              <p:nvPr/>
            </p:nvCxnSpPr>
            <p:spPr bwMode="auto">
              <a:xfrm flipV="1">
                <a:off x="8122201" y="5076031"/>
                <a:ext cx="647700" cy="161106"/>
              </a:xfrm>
              <a:prstGeom prst="line">
                <a:avLst/>
              </a:prstGeom>
              <a:solidFill>
                <a:schemeClr val="accent1"/>
              </a:solidFill>
              <a:ln w="317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grpSp>
            <p:nvGrpSpPr>
              <p:cNvPr id="113" name="组合 112"/>
              <p:cNvGrpSpPr/>
              <p:nvPr/>
            </p:nvGrpSpPr>
            <p:grpSpPr>
              <a:xfrm>
                <a:off x="5326613" y="3969543"/>
                <a:ext cx="3849688" cy="2189163"/>
                <a:chOff x="5326613" y="3969543"/>
                <a:chExt cx="3849688" cy="2189163"/>
              </a:xfrm>
            </p:grpSpPr>
            <p:grpSp>
              <p:nvGrpSpPr>
                <p:cNvPr id="114" name="Group 34"/>
                <p:cNvGrpSpPr>
                  <a:grpSpLocks/>
                </p:cNvGrpSpPr>
                <p:nvPr/>
              </p:nvGrpSpPr>
              <p:grpSpPr bwMode="auto">
                <a:xfrm>
                  <a:off x="5326613" y="3969543"/>
                  <a:ext cx="3849688" cy="2189163"/>
                  <a:chOff x="0" y="13"/>
                  <a:chExt cx="2425" cy="1379"/>
                </a:xfrm>
              </p:grpSpPr>
              <p:sp>
                <p:nvSpPr>
                  <p:cNvPr id="118" name="Rectangle 35"/>
                  <p:cNvSpPr>
                    <a:spLocks noChangeArrowheads="1"/>
                  </p:cNvSpPr>
                  <p:nvPr/>
                </p:nvSpPr>
                <p:spPr bwMode="auto">
                  <a:xfrm rot="-7903512">
                    <a:off x="1332" y="304"/>
                    <a:ext cx="96" cy="240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19" name="Rectangle 36"/>
                  <p:cNvSpPr>
                    <a:spLocks noChangeArrowheads="1"/>
                  </p:cNvSpPr>
                  <p:nvPr/>
                </p:nvSpPr>
                <p:spPr bwMode="auto">
                  <a:xfrm rot="-2919155">
                    <a:off x="1854" y="310"/>
                    <a:ext cx="96" cy="240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20" name="Rectangle 37"/>
                  <p:cNvSpPr>
                    <a:spLocks noChangeArrowheads="1"/>
                  </p:cNvSpPr>
                  <p:nvPr/>
                </p:nvSpPr>
                <p:spPr bwMode="auto">
                  <a:xfrm rot="16200000">
                    <a:off x="1588" y="471"/>
                    <a:ext cx="96" cy="240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21" name="Rectangle 38"/>
                  <p:cNvSpPr>
                    <a:spLocks noChangeArrowheads="1"/>
                  </p:cNvSpPr>
                  <p:nvPr/>
                </p:nvSpPr>
                <p:spPr bwMode="auto">
                  <a:xfrm rot="-2874968">
                    <a:off x="1299" y="880"/>
                    <a:ext cx="96" cy="240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22" name="Rectangle 39"/>
                  <p:cNvSpPr>
                    <a:spLocks noChangeArrowheads="1"/>
                  </p:cNvSpPr>
                  <p:nvPr/>
                </p:nvSpPr>
                <p:spPr bwMode="auto">
                  <a:xfrm rot="-7972038">
                    <a:off x="1908" y="835"/>
                    <a:ext cx="96" cy="240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23" name="Freeform 40"/>
                  <p:cNvSpPr>
                    <a:spLocks/>
                  </p:cNvSpPr>
                  <p:nvPr/>
                </p:nvSpPr>
                <p:spPr bwMode="auto">
                  <a:xfrm>
                    <a:off x="1465" y="196"/>
                    <a:ext cx="176" cy="160"/>
                  </a:xfrm>
                  <a:custGeom>
                    <a:avLst/>
                    <a:gdLst>
                      <a:gd name="T0" fmla="*/ 0 w 176"/>
                      <a:gd name="T1" fmla="*/ 160 h 160"/>
                      <a:gd name="T2" fmla="*/ 176 w 176"/>
                      <a:gd name="T3" fmla="*/ 0 h 160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176" h="160">
                        <a:moveTo>
                          <a:pt x="0" y="160"/>
                        </a:moveTo>
                        <a:lnTo>
                          <a:pt x="176" y="0"/>
                        </a:lnTo>
                      </a:path>
                    </a:pathLst>
                  </a:custGeom>
                  <a:noFill/>
                  <a:ln w="2857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24" name="Freeform 41"/>
                  <p:cNvSpPr>
                    <a:spLocks/>
                  </p:cNvSpPr>
                  <p:nvPr/>
                </p:nvSpPr>
                <p:spPr bwMode="auto">
                  <a:xfrm>
                    <a:off x="1635" y="202"/>
                    <a:ext cx="168" cy="141"/>
                  </a:xfrm>
                  <a:custGeom>
                    <a:avLst/>
                    <a:gdLst>
                      <a:gd name="T0" fmla="*/ 168 w 168"/>
                      <a:gd name="T1" fmla="*/ 141 h 141"/>
                      <a:gd name="T2" fmla="*/ 0 w 168"/>
                      <a:gd name="T3" fmla="*/ 0 h 141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168" h="141">
                        <a:moveTo>
                          <a:pt x="168" y="141"/>
                        </a:moveTo>
                        <a:lnTo>
                          <a:pt x="0" y="0"/>
                        </a:lnTo>
                      </a:path>
                    </a:pathLst>
                  </a:custGeom>
                  <a:noFill/>
                  <a:ln w="2857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25" name="Freeform 42"/>
                  <p:cNvSpPr>
                    <a:spLocks/>
                  </p:cNvSpPr>
                  <p:nvPr/>
                </p:nvSpPr>
                <p:spPr bwMode="auto">
                  <a:xfrm>
                    <a:off x="1057" y="508"/>
                    <a:ext cx="233" cy="223"/>
                  </a:xfrm>
                  <a:custGeom>
                    <a:avLst/>
                    <a:gdLst>
                      <a:gd name="T0" fmla="*/ 233 w 233"/>
                      <a:gd name="T1" fmla="*/ 0 h 223"/>
                      <a:gd name="T2" fmla="*/ 0 w 233"/>
                      <a:gd name="T3" fmla="*/ 223 h 223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233" h="223">
                        <a:moveTo>
                          <a:pt x="233" y="0"/>
                        </a:moveTo>
                        <a:lnTo>
                          <a:pt x="0" y="223"/>
                        </a:lnTo>
                      </a:path>
                    </a:pathLst>
                  </a:custGeom>
                  <a:noFill/>
                  <a:ln w="2857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26" name="Freeform 43"/>
                  <p:cNvSpPr>
                    <a:spLocks/>
                  </p:cNvSpPr>
                  <p:nvPr/>
                </p:nvSpPr>
                <p:spPr bwMode="auto">
                  <a:xfrm>
                    <a:off x="1989" y="511"/>
                    <a:ext cx="225" cy="216"/>
                  </a:xfrm>
                  <a:custGeom>
                    <a:avLst/>
                    <a:gdLst>
                      <a:gd name="T0" fmla="*/ 0 w 225"/>
                      <a:gd name="T1" fmla="*/ 0 h 216"/>
                      <a:gd name="T2" fmla="*/ 225 w 225"/>
                      <a:gd name="T3" fmla="*/ 216 h 216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225" h="216">
                        <a:moveTo>
                          <a:pt x="0" y="0"/>
                        </a:moveTo>
                        <a:lnTo>
                          <a:pt x="225" y="216"/>
                        </a:lnTo>
                      </a:path>
                    </a:pathLst>
                  </a:custGeom>
                  <a:noFill/>
                  <a:ln w="2857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27" name="Freeform 44"/>
                  <p:cNvSpPr>
                    <a:spLocks/>
                  </p:cNvSpPr>
                  <p:nvPr/>
                </p:nvSpPr>
                <p:spPr bwMode="auto">
                  <a:xfrm>
                    <a:off x="1075" y="731"/>
                    <a:ext cx="183" cy="201"/>
                  </a:xfrm>
                  <a:custGeom>
                    <a:avLst/>
                    <a:gdLst>
                      <a:gd name="T0" fmla="*/ 0 w 183"/>
                      <a:gd name="T1" fmla="*/ 0 h 201"/>
                      <a:gd name="T2" fmla="*/ 183 w 183"/>
                      <a:gd name="T3" fmla="*/ 201 h 201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183" h="201">
                        <a:moveTo>
                          <a:pt x="0" y="0"/>
                        </a:moveTo>
                        <a:lnTo>
                          <a:pt x="183" y="201"/>
                        </a:lnTo>
                      </a:path>
                    </a:pathLst>
                  </a:custGeom>
                  <a:noFill/>
                  <a:ln w="2857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28" name="Freeform 45"/>
                  <p:cNvSpPr>
                    <a:spLocks/>
                  </p:cNvSpPr>
                  <p:nvPr/>
                </p:nvSpPr>
                <p:spPr bwMode="auto">
                  <a:xfrm>
                    <a:off x="1422" y="1078"/>
                    <a:ext cx="211" cy="183"/>
                  </a:xfrm>
                  <a:custGeom>
                    <a:avLst/>
                    <a:gdLst>
                      <a:gd name="T0" fmla="*/ 0 w 211"/>
                      <a:gd name="T1" fmla="*/ 0 h 183"/>
                      <a:gd name="T2" fmla="*/ 211 w 211"/>
                      <a:gd name="T3" fmla="*/ 183 h 183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211" h="183">
                        <a:moveTo>
                          <a:pt x="0" y="0"/>
                        </a:moveTo>
                        <a:lnTo>
                          <a:pt x="211" y="183"/>
                        </a:lnTo>
                      </a:path>
                    </a:pathLst>
                  </a:custGeom>
                  <a:noFill/>
                  <a:ln w="2857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29" name="Freeform 46"/>
                  <p:cNvSpPr>
                    <a:spLocks/>
                  </p:cNvSpPr>
                  <p:nvPr/>
                </p:nvSpPr>
                <p:spPr bwMode="auto">
                  <a:xfrm>
                    <a:off x="1635" y="1030"/>
                    <a:ext cx="243" cy="222"/>
                  </a:xfrm>
                  <a:custGeom>
                    <a:avLst/>
                    <a:gdLst>
                      <a:gd name="T0" fmla="*/ 0 w 243"/>
                      <a:gd name="T1" fmla="*/ 222 h 222"/>
                      <a:gd name="T2" fmla="*/ 243 w 243"/>
                      <a:gd name="T3" fmla="*/ 0 h 222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243" h="222">
                        <a:moveTo>
                          <a:pt x="0" y="222"/>
                        </a:moveTo>
                        <a:lnTo>
                          <a:pt x="243" y="0"/>
                        </a:lnTo>
                      </a:path>
                    </a:pathLst>
                  </a:custGeom>
                  <a:noFill/>
                  <a:ln w="2857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30" name="Freeform 47"/>
                  <p:cNvSpPr>
                    <a:spLocks/>
                  </p:cNvSpPr>
                  <p:nvPr/>
                </p:nvSpPr>
                <p:spPr bwMode="auto">
                  <a:xfrm>
                    <a:off x="2053" y="724"/>
                    <a:ext cx="158" cy="153"/>
                  </a:xfrm>
                  <a:custGeom>
                    <a:avLst/>
                    <a:gdLst>
                      <a:gd name="T0" fmla="*/ 0 w 158"/>
                      <a:gd name="T1" fmla="*/ 153 h 153"/>
                      <a:gd name="T2" fmla="*/ 158 w 158"/>
                      <a:gd name="T3" fmla="*/ 0 h 153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158" h="153">
                        <a:moveTo>
                          <a:pt x="0" y="153"/>
                        </a:moveTo>
                        <a:lnTo>
                          <a:pt x="158" y="0"/>
                        </a:lnTo>
                      </a:path>
                    </a:pathLst>
                  </a:custGeom>
                  <a:noFill/>
                  <a:ln w="2857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31" name="Line 5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883" y="196"/>
                    <a:ext cx="752" cy="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32" name="Line 51"/>
                  <p:cNvSpPr>
                    <a:spLocks noChangeShapeType="1"/>
                  </p:cNvSpPr>
                  <p:nvPr/>
                </p:nvSpPr>
                <p:spPr bwMode="auto">
                  <a:xfrm>
                    <a:off x="908" y="1251"/>
                    <a:ext cx="721" cy="1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33" name="Oval 52"/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1596" y="184"/>
                    <a:ext cx="68" cy="68"/>
                  </a:xfrm>
                  <a:prstGeom prst="ellipse">
                    <a:avLst/>
                  </a:prstGeom>
                  <a:solidFill>
                    <a:schemeClr val="tx2"/>
                  </a:solidFill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34" name="Oval 53"/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1587" y="1213"/>
                    <a:ext cx="68" cy="68"/>
                  </a:xfrm>
                  <a:prstGeom prst="ellipse">
                    <a:avLst/>
                  </a:prstGeom>
                  <a:solidFill>
                    <a:schemeClr val="tx2"/>
                  </a:solidFill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35" name="Oval 54"/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1050" y="676"/>
                    <a:ext cx="68" cy="68"/>
                  </a:xfrm>
                  <a:prstGeom prst="ellipse">
                    <a:avLst/>
                  </a:prstGeom>
                  <a:solidFill>
                    <a:schemeClr val="tx2"/>
                  </a:solidFill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36" name="Oval 55"/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2169" y="676"/>
                    <a:ext cx="68" cy="68"/>
                  </a:xfrm>
                  <a:prstGeom prst="ellipse">
                    <a:avLst/>
                  </a:prstGeom>
                  <a:solidFill>
                    <a:schemeClr val="tx2"/>
                  </a:solidFill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37" name="Oval 56"/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844" y="161"/>
                    <a:ext cx="68" cy="68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38" name="Oval 57"/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826" y="1222"/>
                    <a:ext cx="68" cy="68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39" name="Text Box 5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57" y="13"/>
                    <a:ext cx="201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zh-CN" altLang="zh-CN" sz="2400"/>
                      <a:t>a</a:t>
                    </a:r>
                  </a:p>
                </p:txBody>
              </p:sp>
              <p:sp>
                <p:nvSpPr>
                  <p:cNvPr id="140" name="Text Box 5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69" y="549"/>
                    <a:ext cx="201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zh-CN" altLang="zh-CN" sz="2400"/>
                      <a:t>c</a:t>
                    </a:r>
                  </a:p>
                </p:txBody>
              </p:sp>
              <p:sp>
                <p:nvSpPr>
                  <p:cNvPr id="141" name="Text Box 6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213" y="558"/>
                    <a:ext cx="212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zh-CN" altLang="zh-CN" sz="2400" dirty="0"/>
                      <a:t>d</a:t>
                    </a:r>
                  </a:p>
                </p:txBody>
              </p:sp>
              <p:sp>
                <p:nvSpPr>
                  <p:cNvPr id="142" name="Text Box 6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011" y="227"/>
                    <a:ext cx="284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zh-CN" altLang="zh-CN" b="1" dirty="0"/>
                      <a:t>R</a:t>
                    </a:r>
                    <a:r>
                      <a:rPr lang="zh-CN" altLang="zh-CN" b="1" baseline="-25000" dirty="0"/>
                      <a:t>1</a:t>
                    </a:r>
                    <a:endParaRPr lang="zh-CN" altLang="zh-CN" b="1" dirty="0"/>
                  </a:p>
                </p:txBody>
              </p:sp>
              <p:sp>
                <p:nvSpPr>
                  <p:cNvPr id="143" name="Text Box 6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011" y="916"/>
                    <a:ext cx="284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zh-CN" altLang="zh-CN" b="1"/>
                      <a:t>R</a:t>
                    </a:r>
                    <a:r>
                      <a:rPr lang="zh-CN" altLang="zh-CN" b="1" baseline="-25000"/>
                      <a:t>4</a:t>
                    </a:r>
                    <a:endParaRPr lang="zh-CN" altLang="zh-CN" b="1"/>
                  </a:p>
                </p:txBody>
              </p:sp>
              <p:sp>
                <p:nvSpPr>
                  <p:cNvPr id="144" name="Text Box 6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947" y="952"/>
                    <a:ext cx="284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zh-CN" altLang="zh-CN" b="1"/>
                      <a:t>R</a:t>
                    </a:r>
                    <a:r>
                      <a:rPr lang="zh-CN" altLang="zh-CN" b="1" baseline="-25000"/>
                      <a:t>3</a:t>
                    </a:r>
                    <a:endParaRPr lang="zh-CN" altLang="zh-CN" b="1"/>
                  </a:p>
                </p:txBody>
              </p:sp>
              <p:sp>
                <p:nvSpPr>
                  <p:cNvPr id="145" name="Text Box 6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923" y="196"/>
                    <a:ext cx="284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zh-CN" altLang="zh-CN" b="1"/>
                      <a:t>R</a:t>
                    </a:r>
                    <a:r>
                      <a:rPr lang="zh-CN" altLang="zh-CN" b="1" baseline="-25000"/>
                      <a:t>2</a:t>
                    </a:r>
                    <a:endParaRPr lang="zh-CN" altLang="zh-CN" b="1"/>
                  </a:p>
                </p:txBody>
              </p:sp>
              <p:sp>
                <p:nvSpPr>
                  <p:cNvPr id="146" name="Text Box 6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467" y="306"/>
                    <a:ext cx="368" cy="252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en-US" altLang="zh-CN" b="1" dirty="0"/>
                      <a:t>2</a:t>
                    </a:r>
                    <a:r>
                      <a:rPr lang="zh-CN" altLang="zh-CN" b="1" dirty="0"/>
                      <a:t>R</a:t>
                    </a:r>
                    <a:r>
                      <a:rPr lang="zh-CN" altLang="zh-CN" b="1" baseline="-25000" dirty="0"/>
                      <a:t>5</a:t>
                    </a:r>
                    <a:endParaRPr lang="zh-CN" altLang="zh-CN" b="1" dirty="0"/>
                  </a:p>
                </p:txBody>
              </p:sp>
              <p:sp>
                <p:nvSpPr>
                  <p:cNvPr id="147" name="Text Box 6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0" y="1104"/>
                    <a:ext cx="212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zh-CN" altLang="zh-CN" sz="2400"/>
                      <a:t>b</a:t>
                    </a:r>
                  </a:p>
                </p:txBody>
              </p:sp>
            </p:grpSp>
            <p:sp>
              <p:nvSpPr>
                <p:cNvPr id="115" name="Text Box 65"/>
                <p:cNvSpPr txBox="1">
                  <a:spLocks noChangeArrowheads="1"/>
                </p:cNvSpPr>
                <p:nvPr/>
              </p:nvSpPr>
              <p:spPr bwMode="auto">
                <a:xfrm>
                  <a:off x="7660551" y="5279519"/>
                  <a:ext cx="584200" cy="4000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b="1" dirty="0"/>
                    <a:t>2</a:t>
                  </a:r>
                  <a:r>
                    <a:rPr lang="zh-CN" altLang="zh-CN" b="1" dirty="0"/>
                    <a:t>R</a:t>
                  </a:r>
                  <a:r>
                    <a:rPr lang="zh-CN" altLang="zh-CN" b="1" baseline="-25000" dirty="0"/>
                    <a:t>5</a:t>
                  </a:r>
                  <a:endParaRPr lang="zh-CN" altLang="zh-CN" b="1" dirty="0"/>
                </a:p>
              </p:txBody>
            </p:sp>
            <p:cxnSp>
              <p:nvCxnSpPr>
                <p:cNvPr id="116" name="直接连接符 115"/>
                <p:cNvCxnSpPr>
                  <a:stCxn id="135" idx="6"/>
                  <a:endCxn id="120" idx="0"/>
                </p:cNvCxnSpPr>
                <p:nvPr/>
              </p:nvCxnSpPr>
              <p:spPr bwMode="auto">
                <a:xfrm flipV="1">
                  <a:off x="7101438" y="4887118"/>
                  <a:ext cx="631825" cy="188913"/>
                </a:xfrm>
                <a:prstGeom prst="line">
                  <a:avLst/>
                </a:prstGeom>
                <a:solidFill>
                  <a:schemeClr val="accent1"/>
                </a:solidFill>
                <a:ln w="317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17" name="直接连接符 116"/>
                <p:cNvCxnSpPr>
                  <a:endCxn id="141" idx="1"/>
                </p:cNvCxnSpPr>
                <p:nvPr/>
              </p:nvCxnSpPr>
              <p:spPr bwMode="auto">
                <a:xfrm flipV="1">
                  <a:off x="6580739" y="5063331"/>
                  <a:ext cx="2259012" cy="26987"/>
                </a:xfrm>
                <a:prstGeom prst="line">
                  <a:avLst/>
                </a:prstGeom>
                <a:solidFill>
                  <a:schemeClr val="accent1"/>
                </a:solidFill>
                <a:ln w="31750" cap="flat" cmpd="sng" algn="ctr">
                  <a:solidFill>
                    <a:srgbClr val="FF0000"/>
                  </a:solidFill>
                  <a:prstDash val="dashDot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</p:grpSp>
      </p:grpSp>
      <p:sp>
        <p:nvSpPr>
          <p:cNvPr id="148" name="文本框 147"/>
          <p:cNvSpPr txBox="1"/>
          <p:nvPr/>
        </p:nvSpPr>
        <p:spPr>
          <a:xfrm>
            <a:off x="4894263" y="1081852"/>
            <a:ext cx="34932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对称面上的结点为等电位点</a:t>
            </a:r>
            <a:r>
              <a:rPr lang="zh-CN" altLang="en-US" dirty="0"/>
              <a:t>。</a:t>
            </a:r>
          </a:p>
        </p:txBody>
      </p:sp>
      <p:sp>
        <p:nvSpPr>
          <p:cNvPr id="149" name="矩形 148"/>
          <p:cNvSpPr/>
          <p:nvPr/>
        </p:nvSpPr>
        <p:spPr>
          <a:xfrm>
            <a:off x="4402689" y="1714464"/>
            <a:ext cx="4572000" cy="2104872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求解对称电路的核心，是观察电路的对称关系，寻找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等电位点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如果等电位点在同一支路的两端，则将该支路断开或短接；如果等电位点不在同一支路的两端，则将等电位点短接</a:t>
            </a:r>
            <a:r>
              <a:rPr lang="zh-CN" altLang="en-US" dirty="0"/>
              <a:t>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40535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" grpId="0"/>
      <p:bldP spid="149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电桥、星型和三角型电路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1C66AF1-24A0-446C-B0A8-326C494344F1}" type="datetime1">
              <a:rPr lang="zh-CN" altLang="en-US" smtClean="0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74CEB45-B7B4-4CEA-8E4A-DA539A380401}" type="slidenum">
              <a:rPr lang="en-US" altLang="zh-CN" smtClean="0"/>
              <a:pPr>
                <a:defRPr/>
              </a:pPr>
              <a:t>43</a:t>
            </a:fld>
            <a:endParaRPr lang="en-US" altLang="zh-CN"/>
          </a:p>
        </p:txBody>
      </p:sp>
      <p:grpSp>
        <p:nvGrpSpPr>
          <p:cNvPr id="7" name="Group 2"/>
          <p:cNvGrpSpPr>
            <a:grpSpLocks/>
          </p:cNvGrpSpPr>
          <p:nvPr/>
        </p:nvGrpSpPr>
        <p:grpSpPr bwMode="auto">
          <a:xfrm>
            <a:off x="5185501" y="4081933"/>
            <a:ext cx="3298825" cy="2209800"/>
            <a:chOff x="0" y="0"/>
            <a:chExt cx="2078" cy="1392"/>
          </a:xfrm>
        </p:grpSpPr>
        <p:sp>
          <p:nvSpPr>
            <p:cNvPr id="8" name="Rectangle 3"/>
            <p:cNvSpPr>
              <a:spLocks noChangeArrowheads="1"/>
            </p:cNvSpPr>
            <p:nvPr/>
          </p:nvSpPr>
          <p:spPr bwMode="auto">
            <a:xfrm rot="-5400000">
              <a:off x="807" y="456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" name="Rectangle 4"/>
            <p:cNvSpPr>
              <a:spLocks noChangeArrowheads="1"/>
            </p:cNvSpPr>
            <p:nvPr/>
          </p:nvSpPr>
          <p:spPr bwMode="auto">
            <a:xfrm rot="-5400000">
              <a:off x="1431" y="456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" name="Rectangle 5"/>
            <p:cNvSpPr>
              <a:spLocks noChangeArrowheads="1"/>
            </p:cNvSpPr>
            <p:nvPr/>
          </p:nvSpPr>
          <p:spPr bwMode="auto">
            <a:xfrm rot="-5400000">
              <a:off x="1131" y="168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" name="Rectangle 6"/>
            <p:cNvSpPr>
              <a:spLocks noChangeArrowheads="1"/>
            </p:cNvSpPr>
            <p:nvPr/>
          </p:nvSpPr>
          <p:spPr bwMode="auto">
            <a:xfrm>
              <a:off x="1728" y="816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" name="Rectangle 7"/>
            <p:cNvSpPr>
              <a:spLocks noChangeArrowheads="1"/>
            </p:cNvSpPr>
            <p:nvPr/>
          </p:nvSpPr>
          <p:spPr bwMode="auto">
            <a:xfrm>
              <a:off x="1116" y="816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" name="Line 8"/>
            <p:cNvSpPr>
              <a:spLocks noChangeShapeType="1"/>
            </p:cNvSpPr>
            <p:nvPr/>
          </p:nvSpPr>
          <p:spPr bwMode="auto">
            <a:xfrm>
              <a:off x="255" y="576"/>
              <a:ext cx="4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9"/>
            <p:cNvSpPr>
              <a:spLocks noChangeShapeType="1"/>
            </p:cNvSpPr>
            <p:nvPr/>
          </p:nvSpPr>
          <p:spPr bwMode="auto">
            <a:xfrm flipV="1">
              <a:off x="579" y="288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10"/>
            <p:cNvSpPr>
              <a:spLocks noChangeShapeType="1"/>
            </p:cNvSpPr>
            <p:nvPr/>
          </p:nvSpPr>
          <p:spPr bwMode="auto">
            <a:xfrm>
              <a:off x="579" y="288"/>
              <a:ext cx="4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11"/>
            <p:cNvSpPr>
              <a:spLocks noChangeShapeType="1"/>
            </p:cNvSpPr>
            <p:nvPr/>
          </p:nvSpPr>
          <p:spPr bwMode="auto">
            <a:xfrm>
              <a:off x="1299" y="288"/>
              <a:ext cx="4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12"/>
            <p:cNvSpPr>
              <a:spLocks noChangeShapeType="1"/>
            </p:cNvSpPr>
            <p:nvPr/>
          </p:nvSpPr>
          <p:spPr bwMode="auto">
            <a:xfrm>
              <a:off x="975" y="576"/>
              <a:ext cx="38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13"/>
            <p:cNvSpPr>
              <a:spLocks noChangeShapeType="1"/>
            </p:cNvSpPr>
            <p:nvPr/>
          </p:nvSpPr>
          <p:spPr bwMode="auto">
            <a:xfrm>
              <a:off x="1167" y="576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14"/>
            <p:cNvSpPr>
              <a:spLocks noChangeShapeType="1"/>
            </p:cNvSpPr>
            <p:nvPr/>
          </p:nvSpPr>
          <p:spPr bwMode="auto">
            <a:xfrm>
              <a:off x="1167" y="1056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Freeform 15"/>
            <p:cNvSpPr>
              <a:spLocks/>
            </p:cNvSpPr>
            <p:nvPr/>
          </p:nvSpPr>
          <p:spPr bwMode="auto">
            <a:xfrm>
              <a:off x="1779" y="279"/>
              <a:ext cx="1" cy="533"/>
            </a:xfrm>
            <a:custGeom>
              <a:avLst/>
              <a:gdLst>
                <a:gd name="T0" fmla="*/ 0 w 1"/>
                <a:gd name="T1" fmla="*/ 0 h 533"/>
                <a:gd name="T2" fmla="*/ 0 w 1"/>
                <a:gd name="T3" fmla="*/ 533 h 53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533">
                  <a:moveTo>
                    <a:pt x="0" y="0"/>
                  </a:moveTo>
                  <a:lnTo>
                    <a:pt x="0" y="533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16"/>
            <p:cNvSpPr>
              <a:spLocks noChangeShapeType="1"/>
            </p:cNvSpPr>
            <p:nvPr/>
          </p:nvSpPr>
          <p:spPr bwMode="auto">
            <a:xfrm>
              <a:off x="1599" y="576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17"/>
            <p:cNvSpPr>
              <a:spLocks noChangeShapeType="1"/>
            </p:cNvSpPr>
            <p:nvPr/>
          </p:nvSpPr>
          <p:spPr bwMode="auto">
            <a:xfrm>
              <a:off x="1773" y="1056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18"/>
            <p:cNvSpPr>
              <a:spLocks noChangeShapeType="1"/>
            </p:cNvSpPr>
            <p:nvPr/>
          </p:nvSpPr>
          <p:spPr bwMode="auto">
            <a:xfrm>
              <a:off x="284" y="1292"/>
              <a:ext cx="14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Oval 19"/>
            <p:cNvSpPr>
              <a:spLocks noChangeAspect="1" noChangeArrowheads="1"/>
            </p:cNvSpPr>
            <p:nvPr/>
          </p:nvSpPr>
          <p:spPr bwMode="auto">
            <a:xfrm>
              <a:off x="192" y="528"/>
              <a:ext cx="68" cy="6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5" name="Oval 20"/>
            <p:cNvSpPr>
              <a:spLocks noChangeAspect="1" noChangeArrowheads="1"/>
            </p:cNvSpPr>
            <p:nvPr/>
          </p:nvSpPr>
          <p:spPr bwMode="auto">
            <a:xfrm>
              <a:off x="222" y="1257"/>
              <a:ext cx="68" cy="6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6" name="Text Box 21"/>
            <p:cNvSpPr txBox="1">
              <a:spLocks noChangeArrowheads="1"/>
            </p:cNvSpPr>
            <p:nvPr/>
          </p:nvSpPr>
          <p:spPr bwMode="auto">
            <a:xfrm>
              <a:off x="0" y="384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a</a:t>
              </a:r>
            </a:p>
          </p:txBody>
        </p:sp>
        <p:sp>
          <p:nvSpPr>
            <p:cNvPr id="27" name="Text Box 22"/>
            <p:cNvSpPr txBox="1">
              <a:spLocks noChangeArrowheads="1"/>
            </p:cNvSpPr>
            <p:nvPr/>
          </p:nvSpPr>
          <p:spPr bwMode="auto">
            <a:xfrm>
              <a:off x="36" y="11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b</a:t>
              </a:r>
            </a:p>
          </p:txBody>
        </p:sp>
        <p:sp>
          <p:nvSpPr>
            <p:cNvPr id="28" name="Text Box 23"/>
            <p:cNvSpPr txBox="1">
              <a:spLocks noChangeArrowheads="1"/>
            </p:cNvSpPr>
            <p:nvPr/>
          </p:nvSpPr>
          <p:spPr bwMode="auto">
            <a:xfrm>
              <a:off x="672" y="576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1</a:t>
              </a:r>
              <a:endParaRPr lang="zh-CN" altLang="zh-CN" b="1"/>
            </a:p>
          </p:txBody>
        </p:sp>
        <p:sp>
          <p:nvSpPr>
            <p:cNvPr id="29" name="Text Box 24"/>
            <p:cNvSpPr txBox="1">
              <a:spLocks noChangeArrowheads="1"/>
            </p:cNvSpPr>
            <p:nvPr/>
          </p:nvSpPr>
          <p:spPr bwMode="auto">
            <a:xfrm>
              <a:off x="1056" y="0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2</a:t>
              </a:r>
              <a:endParaRPr lang="zh-CN" altLang="zh-CN" b="1"/>
            </a:p>
          </p:txBody>
        </p:sp>
        <p:sp>
          <p:nvSpPr>
            <p:cNvPr id="30" name="Text Box 25"/>
            <p:cNvSpPr txBox="1">
              <a:spLocks noChangeArrowheads="1"/>
            </p:cNvSpPr>
            <p:nvPr/>
          </p:nvSpPr>
          <p:spPr bwMode="auto">
            <a:xfrm>
              <a:off x="1794" y="816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3</a:t>
              </a:r>
              <a:endParaRPr lang="zh-CN" altLang="zh-CN" b="1"/>
            </a:p>
          </p:txBody>
        </p:sp>
        <p:sp>
          <p:nvSpPr>
            <p:cNvPr id="31" name="Text Box 26"/>
            <p:cNvSpPr txBox="1">
              <a:spLocks noChangeArrowheads="1"/>
            </p:cNvSpPr>
            <p:nvPr/>
          </p:nvSpPr>
          <p:spPr bwMode="auto">
            <a:xfrm>
              <a:off x="834" y="816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4</a:t>
              </a:r>
              <a:endParaRPr lang="zh-CN" altLang="zh-CN" b="1"/>
            </a:p>
          </p:txBody>
        </p:sp>
        <p:sp>
          <p:nvSpPr>
            <p:cNvPr id="32" name="Text Box 27"/>
            <p:cNvSpPr txBox="1">
              <a:spLocks noChangeArrowheads="1"/>
            </p:cNvSpPr>
            <p:nvPr/>
          </p:nvSpPr>
          <p:spPr bwMode="auto">
            <a:xfrm>
              <a:off x="1344" y="582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5</a:t>
              </a:r>
              <a:endParaRPr lang="zh-CN" altLang="zh-CN" b="1"/>
            </a:p>
          </p:txBody>
        </p:sp>
        <p:sp>
          <p:nvSpPr>
            <p:cNvPr id="33" name="Text Box 28"/>
            <p:cNvSpPr txBox="1">
              <a:spLocks noChangeArrowheads="1"/>
            </p:cNvSpPr>
            <p:nvPr/>
          </p:nvSpPr>
          <p:spPr bwMode="auto">
            <a:xfrm>
              <a:off x="1077" y="309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c</a:t>
              </a:r>
            </a:p>
          </p:txBody>
        </p:sp>
        <p:sp>
          <p:nvSpPr>
            <p:cNvPr id="34" name="Text Box 29"/>
            <p:cNvSpPr txBox="1">
              <a:spLocks noChangeArrowheads="1"/>
            </p:cNvSpPr>
            <p:nvPr/>
          </p:nvSpPr>
          <p:spPr bwMode="auto">
            <a:xfrm>
              <a:off x="1767" y="411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d</a:t>
              </a:r>
            </a:p>
          </p:txBody>
        </p:sp>
        <p:sp>
          <p:nvSpPr>
            <p:cNvPr id="35" name="Oval 30"/>
            <p:cNvSpPr>
              <a:spLocks noChangeAspect="1" noChangeArrowheads="1"/>
            </p:cNvSpPr>
            <p:nvPr/>
          </p:nvSpPr>
          <p:spPr bwMode="auto">
            <a:xfrm>
              <a:off x="546" y="537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6" name="Oval 31"/>
            <p:cNvSpPr>
              <a:spLocks noChangeAspect="1" noChangeArrowheads="1"/>
            </p:cNvSpPr>
            <p:nvPr/>
          </p:nvSpPr>
          <p:spPr bwMode="auto">
            <a:xfrm>
              <a:off x="1143" y="549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7" name="Oval 32"/>
            <p:cNvSpPr>
              <a:spLocks noChangeAspect="1" noChangeArrowheads="1"/>
            </p:cNvSpPr>
            <p:nvPr/>
          </p:nvSpPr>
          <p:spPr bwMode="auto">
            <a:xfrm>
              <a:off x="1134" y="1248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8" name="Oval 33"/>
            <p:cNvSpPr>
              <a:spLocks noChangeAspect="1" noChangeArrowheads="1"/>
            </p:cNvSpPr>
            <p:nvPr/>
          </p:nvSpPr>
          <p:spPr bwMode="auto">
            <a:xfrm>
              <a:off x="1737" y="528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39" name="Group 34"/>
          <p:cNvGrpSpPr>
            <a:grpSpLocks/>
          </p:cNvGrpSpPr>
          <p:nvPr/>
        </p:nvGrpSpPr>
        <p:grpSpPr bwMode="auto">
          <a:xfrm>
            <a:off x="312244" y="819342"/>
            <a:ext cx="3849688" cy="2209800"/>
            <a:chOff x="0" y="0"/>
            <a:chExt cx="2425" cy="1392"/>
          </a:xfrm>
        </p:grpSpPr>
        <p:sp>
          <p:nvSpPr>
            <p:cNvPr id="40" name="Rectangle 35"/>
            <p:cNvSpPr>
              <a:spLocks noChangeArrowheads="1"/>
            </p:cNvSpPr>
            <p:nvPr/>
          </p:nvSpPr>
          <p:spPr bwMode="auto">
            <a:xfrm rot="-7903512">
              <a:off x="1332" y="304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1" name="Rectangle 36"/>
            <p:cNvSpPr>
              <a:spLocks noChangeArrowheads="1"/>
            </p:cNvSpPr>
            <p:nvPr/>
          </p:nvSpPr>
          <p:spPr bwMode="auto">
            <a:xfrm rot="-2919155">
              <a:off x="1854" y="310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2" name="Rectangle 37"/>
            <p:cNvSpPr>
              <a:spLocks noChangeArrowheads="1"/>
            </p:cNvSpPr>
            <p:nvPr/>
          </p:nvSpPr>
          <p:spPr bwMode="auto">
            <a:xfrm rot="-5400000">
              <a:off x="1593" y="601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3" name="Rectangle 38"/>
            <p:cNvSpPr>
              <a:spLocks noChangeArrowheads="1"/>
            </p:cNvSpPr>
            <p:nvPr/>
          </p:nvSpPr>
          <p:spPr bwMode="auto">
            <a:xfrm rot="-2874968">
              <a:off x="1299" y="880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4" name="Rectangle 39"/>
            <p:cNvSpPr>
              <a:spLocks noChangeArrowheads="1"/>
            </p:cNvSpPr>
            <p:nvPr/>
          </p:nvSpPr>
          <p:spPr bwMode="auto">
            <a:xfrm rot="-7972038">
              <a:off x="1908" y="835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5" name="Freeform 40"/>
            <p:cNvSpPr>
              <a:spLocks/>
            </p:cNvSpPr>
            <p:nvPr/>
          </p:nvSpPr>
          <p:spPr bwMode="auto">
            <a:xfrm>
              <a:off x="1465" y="196"/>
              <a:ext cx="176" cy="160"/>
            </a:xfrm>
            <a:custGeom>
              <a:avLst/>
              <a:gdLst>
                <a:gd name="T0" fmla="*/ 0 w 176"/>
                <a:gd name="T1" fmla="*/ 160 h 160"/>
                <a:gd name="T2" fmla="*/ 176 w 176"/>
                <a:gd name="T3" fmla="*/ 0 h 16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6" h="160">
                  <a:moveTo>
                    <a:pt x="0" y="160"/>
                  </a:moveTo>
                  <a:lnTo>
                    <a:pt x="176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Freeform 41"/>
            <p:cNvSpPr>
              <a:spLocks/>
            </p:cNvSpPr>
            <p:nvPr/>
          </p:nvSpPr>
          <p:spPr bwMode="auto">
            <a:xfrm>
              <a:off x="1635" y="202"/>
              <a:ext cx="168" cy="141"/>
            </a:xfrm>
            <a:custGeom>
              <a:avLst/>
              <a:gdLst>
                <a:gd name="T0" fmla="*/ 168 w 168"/>
                <a:gd name="T1" fmla="*/ 141 h 141"/>
                <a:gd name="T2" fmla="*/ 0 w 168"/>
                <a:gd name="T3" fmla="*/ 0 h 14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68" h="141">
                  <a:moveTo>
                    <a:pt x="168" y="141"/>
                  </a:moveTo>
                  <a:lnTo>
                    <a:pt x="0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Freeform 42"/>
            <p:cNvSpPr>
              <a:spLocks/>
            </p:cNvSpPr>
            <p:nvPr/>
          </p:nvSpPr>
          <p:spPr bwMode="auto">
            <a:xfrm>
              <a:off x="1057" y="508"/>
              <a:ext cx="233" cy="223"/>
            </a:xfrm>
            <a:custGeom>
              <a:avLst/>
              <a:gdLst>
                <a:gd name="T0" fmla="*/ 233 w 233"/>
                <a:gd name="T1" fmla="*/ 0 h 223"/>
                <a:gd name="T2" fmla="*/ 0 w 233"/>
                <a:gd name="T3" fmla="*/ 223 h 22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33" h="223">
                  <a:moveTo>
                    <a:pt x="233" y="0"/>
                  </a:moveTo>
                  <a:lnTo>
                    <a:pt x="0" y="223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Freeform 43"/>
            <p:cNvSpPr>
              <a:spLocks/>
            </p:cNvSpPr>
            <p:nvPr/>
          </p:nvSpPr>
          <p:spPr bwMode="auto">
            <a:xfrm>
              <a:off x="1989" y="511"/>
              <a:ext cx="225" cy="216"/>
            </a:xfrm>
            <a:custGeom>
              <a:avLst/>
              <a:gdLst>
                <a:gd name="T0" fmla="*/ 0 w 225"/>
                <a:gd name="T1" fmla="*/ 0 h 216"/>
                <a:gd name="T2" fmla="*/ 225 w 225"/>
                <a:gd name="T3" fmla="*/ 216 h 21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25" h="216">
                  <a:moveTo>
                    <a:pt x="0" y="0"/>
                  </a:moveTo>
                  <a:lnTo>
                    <a:pt x="225" y="216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Freeform 44"/>
            <p:cNvSpPr>
              <a:spLocks/>
            </p:cNvSpPr>
            <p:nvPr/>
          </p:nvSpPr>
          <p:spPr bwMode="auto">
            <a:xfrm>
              <a:off x="1075" y="731"/>
              <a:ext cx="183" cy="201"/>
            </a:xfrm>
            <a:custGeom>
              <a:avLst/>
              <a:gdLst>
                <a:gd name="T0" fmla="*/ 0 w 183"/>
                <a:gd name="T1" fmla="*/ 0 h 201"/>
                <a:gd name="T2" fmla="*/ 183 w 183"/>
                <a:gd name="T3" fmla="*/ 201 h 20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83" h="201">
                  <a:moveTo>
                    <a:pt x="0" y="0"/>
                  </a:moveTo>
                  <a:lnTo>
                    <a:pt x="183" y="201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Freeform 45"/>
            <p:cNvSpPr>
              <a:spLocks/>
            </p:cNvSpPr>
            <p:nvPr/>
          </p:nvSpPr>
          <p:spPr bwMode="auto">
            <a:xfrm>
              <a:off x="1422" y="1078"/>
              <a:ext cx="211" cy="183"/>
            </a:xfrm>
            <a:custGeom>
              <a:avLst/>
              <a:gdLst>
                <a:gd name="T0" fmla="*/ 0 w 211"/>
                <a:gd name="T1" fmla="*/ 0 h 183"/>
                <a:gd name="T2" fmla="*/ 211 w 211"/>
                <a:gd name="T3" fmla="*/ 183 h 18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11" h="183">
                  <a:moveTo>
                    <a:pt x="0" y="0"/>
                  </a:moveTo>
                  <a:lnTo>
                    <a:pt x="211" y="183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Freeform 46"/>
            <p:cNvSpPr>
              <a:spLocks/>
            </p:cNvSpPr>
            <p:nvPr/>
          </p:nvSpPr>
          <p:spPr bwMode="auto">
            <a:xfrm>
              <a:off x="1635" y="1030"/>
              <a:ext cx="243" cy="222"/>
            </a:xfrm>
            <a:custGeom>
              <a:avLst/>
              <a:gdLst>
                <a:gd name="T0" fmla="*/ 0 w 243"/>
                <a:gd name="T1" fmla="*/ 222 h 222"/>
                <a:gd name="T2" fmla="*/ 243 w 243"/>
                <a:gd name="T3" fmla="*/ 0 h 22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43" h="222">
                  <a:moveTo>
                    <a:pt x="0" y="222"/>
                  </a:moveTo>
                  <a:lnTo>
                    <a:pt x="243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Freeform 47"/>
            <p:cNvSpPr>
              <a:spLocks/>
            </p:cNvSpPr>
            <p:nvPr/>
          </p:nvSpPr>
          <p:spPr bwMode="auto">
            <a:xfrm>
              <a:off x="2053" y="724"/>
              <a:ext cx="158" cy="153"/>
            </a:xfrm>
            <a:custGeom>
              <a:avLst/>
              <a:gdLst>
                <a:gd name="T0" fmla="*/ 0 w 158"/>
                <a:gd name="T1" fmla="*/ 153 h 153"/>
                <a:gd name="T2" fmla="*/ 158 w 158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58" h="153">
                  <a:moveTo>
                    <a:pt x="0" y="153"/>
                  </a:moveTo>
                  <a:lnTo>
                    <a:pt x="158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Freeform 48"/>
            <p:cNvSpPr>
              <a:spLocks/>
            </p:cNvSpPr>
            <p:nvPr/>
          </p:nvSpPr>
          <p:spPr bwMode="auto">
            <a:xfrm>
              <a:off x="1059" y="724"/>
              <a:ext cx="462" cy="1"/>
            </a:xfrm>
            <a:custGeom>
              <a:avLst/>
              <a:gdLst>
                <a:gd name="T0" fmla="*/ 0 w 462"/>
                <a:gd name="T1" fmla="*/ 0 h 1"/>
                <a:gd name="T2" fmla="*/ 462 w 46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62" h="1">
                  <a:moveTo>
                    <a:pt x="0" y="0"/>
                  </a:moveTo>
                  <a:lnTo>
                    <a:pt x="462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Freeform 49"/>
            <p:cNvSpPr>
              <a:spLocks/>
            </p:cNvSpPr>
            <p:nvPr/>
          </p:nvSpPr>
          <p:spPr bwMode="auto">
            <a:xfrm>
              <a:off x="1764" y="724"/>
              <a:ext cx="447" cy="1"/>
            </a:xfrm>
            <a:custGeom>
              <a:avLst/>
              <a:gdLst>
                <a:gd name="T0" fmla="*/ 0 w 447"/>
                <a:gd name="T1" fmla="*/ 0 h 1"/>
                <a:gd name="T2" fmla="*/ 447 w 447"/>
                <a:gd name="T3" fmla="*/ 1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47" h="1">
                  <a:moveTo>
                    <a:pt x="0" y="0"/>
                  </a:moveTo>
                  <a:lnTo>
                    <a:pt x="447" y="1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Line 50"/>
            <p:cNvSpPr>
              <a:spLocks noChangeShapeType="1"/>
            </p:cNvSpPr>
            <p:nvPr/>
          </p:nvSpPr>
          <p:spPr bwMode="auto">
            <a:xfrm>
              <a:off x="243" y="196"/>
              <a:ext cx="13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Line 51"/>
            <p:cNvSpPr>
              <a:spLocks noChangeShapeType="1"/>
            </p:cNvSpPr>
            <p:nvPr/>
          </p:nvSpPr>
          <p:spPr bwMode="auto">
            <a:xfrm>
              <a:off x="237" y="1261"/>
              <a:ext cx="13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Oval 52"/>
            <p:cNvSpPr>
              <a:spLocks noChangeAspect="1" noChangeArrowheads="1"/>
            </p:cNvSpPr>
            <p:nvPr/>
          </p:nvSpPr>
          <p:spPr bwMode="auto">
            <a:xfrm>
              <a:off x="1596" y="184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8" name="Oval 53"/>
            <p:cNvSpPr>
              <a:spLocks noChangeAspect="1" noChangeArrowheads="1"/>
            </p:cNvSpPr>
            <p:nvPr/>
          </p:nvSpPr>
          <p:spPr bwMode="auto">
            <a:xfrm>
              <a:off x="1587" y="1213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9" name="Oval 54"/>
            <p:cNvSpPr>
              <a:spLocks noChangeAspect="1" noChangeArrowheads="1"/>
            </p:cNvSpPr>
            <p:nvPr/>
          </p:nvSpPr>
          <p:spPr bwMode="auto">
            <a:xfrm>
              <a:off x="1050" y="676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0" name="Oval 55"/>
            <p:cNvSpPr>
              <a:spLocks noChangeAspect="1" noChangeArrowheads="1"/>
            </p:cNvSpPr>
            <p:nvPr/>
          </p:nvSpPr>
          <p:spPr bwMode="auto">
            <a:xfrm>
              <a:off x="2169" y="676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1" name="Oval 56"/>
            <p:cNvSpPr>
              <a:spLocks noChangeAspect="1" noChangeArrowheads="1"/>
            </p:cNvSpPr>
            <p:nvPr/>
          </p:nvSpPr>
          <p:spPr bwMode="auto">
            <a:xfrm>
              <a:off x="195" y="148"/>
              <a:ext cx="68" cy="6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2" name="Oval 57"/>
            <p:cNvSpPr>
              <a:spLocks noChangeAspect="1" noChangeArrowheads="1"/>
            </p:cNvSpPr>
            <p:nvPr/>
          </p:nvSpPr>
          <p:spPr bwMode="auto">
            <a:xfrm>
              <a:off x="177" y="1222"/>
              <a:ext cx="68" cy="6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3" name="Text Box 58"/>
            <p:cNvSpPr txBox="1">
              <a:spLocks noChangeArrowheads="1"/>
            </p:cNvSpPr>
            <p:nvPr/>
          </p:nvSpPr>
          <p:spPr bwMode="auto">
            <a:xfrm>
              <a:off x="8" y="0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a</a:t>
              </a:r>
            </a:p>
          </p:txBody>
        </p:sp>
        <p:sp>
          <p:nvSpPr>
            <p:cNvPr id="64" name="Text Box 59"/>
            <p:cNvSpPr txBox="1">
              <a:spLocks noChangeArrowheads="1"/>
            </p:cNvSpPr>
            <p:nvPr/>
          </p:nvSpPr>
          <p:spPr bwMode="auto">
            <a:xfrm>
              <a:off x="869" y="549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c</a:t>
              </a:r>
            </a:p>
          </p:txBody>
        </p:sp>
        <p:sp>
          <p:nvSpPr>
            <p:cNvPr id="65" name="Text Box 60"/>
            <p:cNvSpPr txBox="1">
              <a:spLocks noChangeArrowheads="1"/>
            </p:cNvSpPr>
            <p:nvPr/>
          </p:nvSpPr>
          <p:spPr bwMode="auto">
            <a:xfrm>
              <a:off x="2213" y="55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d</a:t>
              </a:r>
            </a:p>
          </p:txBody>
        </p:sp>
        <p:sp>
          <p:nvSpPr>
            <p:cNvPr id="66" name="Text Box 61"/>
            <p:cNvSpPr txBox="1">
              <a:spLocks noChangeArrowheads="1"/>
            </p:cNvSpPr>
            <p:nvPr/>
          </p:nvSpPr>
          <p:spPr bwMode="auto">
            <a:xfrm>
              <a:off x="1011" y="227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 dirty="0"/>
                <a:t>R</a:t>
              </a:r>
              <a:r>
                <a:rPr lang="zh-CN" altLang="zh-CN" b="1" baseline="-25000" dirty="0"/>
                <a:t>1</a:t>
              </a:r>
              <a:endParaRPr lang="zh-CN" altLang="zh-CN" b="1" dirty="0"/>
            </a:p>
          </p:txBody>
        </p:sp>
        <p:sp>
          <p:nvSpPr>
            <p:cNvPr id="67" name="Text Box 62"/>
            <p:cNvSpPr txBox="1">
              <a:spLocks noChangeArrowheads="1"/>
            </p:cNvSpPr>
            <p:nvPr/>
          </p:nvSpPr>
          <p:spPr bwMode="auto">
            <a:xfrm>
              <a:off x="1011" y="916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4</a:t>
              </a:r>
              <a:endParaRPr lang="zh-CN" altLang="zh-CN" b="1"/>
            </a:p>
          </p:txBody>
        </p:sp>
        <p:sp>
          <p:nvSpPr>
            <p:cNvPr id="68" name="Text Box 63"/>
            <p:cNvSpPr txBox="1">
              <a:spLocks noChangeArrowheads="1"/>
            </p:cNvSpPr>
            <p:nvPr/>
          </p:nvSpPr>
          <p:spPr bwMode="auto">
            <a:xfrm>
              <a:off x="1947" y="952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3</a:t>
              </a:r>
              <a:endParaRPr lang="zh-CN" altLang="zh-CN" b="1"/>
            </a:p>
          </p:txBody>
        </p:sp>
        <p:sp>
          <p:nvSpPr>
            <p:cNvPr id="69" name="Text Box 64"/>
            <p:cNvSpPr txBox="1">
              <a:spLocks noChangeArrowheads="1"/>
            </p:cNvSpPr>
            <p:nvPr/>
          </p:nvSpPr>
          <p:spPr bwMode="auto">
            <a:xfrm>
              <a:off x="1923" y="196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2</a:t>
              </a:r>
              <a:endParaRPr lang="zh-CN" altLang="zh-CN" b="1"/>
            </a:p>
          </p:txBody>
        </p:sp>
        <p:sp>
          <p:nvSpPr>
            <p:cNvPr id="70" name="Text Box 65"/>
            <p:cNvSpPr txBox="1">
              <a:spLocks noChangeArrowheads="1"/>
            </p:cNvSpPr>
            <p:nvPr/>
          </p:nvSpPr>
          <p:spPr bwMode="auto">
            <a:xfrm>
              <a:off x="1491" y="436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5</a:t>
              </a:r>
              <a:endParaRPr lang="zh-CN" altLang="zh-CN" b="1"/>
            </a:p>
          </p:txBody>
        </p:sp>
        <p:sp>
          <p:nvSpPr>
            <p:cNvPr id="71" name="Text Box 66"/>
            <p:cNvSpPr txBox="1">
              <a:spLocks noChangeArrowheads="1"/>
            </p:cNvSpPr>
            <p:nvPr/>
          </p:nvSpPr>
          <p:spPr bwMode="auto">
            <a:xfrm>
              <a:off x="0" y="11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b</a:t>
              </a:r>
            </a:p>
          </p:txBody>
        </p:sp>
      </p:grpSp>
      <p:grpSp>
        <p:nvGrpSpPr>
          <p:cNvPr id="72" name="Group 67"/>
          <p:cNvGrpSpPr>
            <a:grpSpLocks/>
          </p:cNvGrpSpPr>
          <p:nvPr/>
        </p:nvGrpSpPr>
        <p:grpSpPr bwMode="auto">
          <a:xfrm>
            <a:off x="749109" y="4163708"/>
            <a:ext cx="3989388" cy="2544763"/>
            <a:chOff x="0" y="0"/>
            <a:chExt cx="2513" cy="1603"/>
          </a:xfrm>
        </p:grpSpPr>
        <p:sp>
          <p:nvSpPr>
            <p:cNvPr id="73" name="Text Box 68"/>
            <p:cNvSpPr txBox="1">
              <a:spLocks noChangeArrowheads="1"/>
            </p:cNvSpPr>
            <p:nvPr/>
          </p:nvSpPr>
          <p:spPr bwMode="auto">
            <a:xfrm>
              <a:off x="0" y="1191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b</a:t>
              </a:r>
            </a:p>
          </p:txBody>
        </p:sp>
        <p:sp>
          <p:nvSpPr>
            <p:cNvPr id="74" name="Rectangle 69"/>
            <p:cNvSpPr>
              <a:spLocks noChangeArrowheads="1"/>
            </p:cNvSpPr>
            <p:nvPr/>
          </p:nvSpPr>
          <p:spPr bwMode="auto">
            <a:xfrm rot="-2919155">
              <a:off x="1281" y="405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5" name="Rectangle 70"/>
            <p:cNvSpPr>
              <a:spLocks noChangeArrowheads="1"/>
            </p:cNvSpPr>
            <p:nvPr/>
          </p:nvSpPr>
          <p:spPr bwMode="auto">
            <a:xfrm rot="-5400000">
              <a:off x="1548" y="183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6" name="Rectangle 71"/>
            <p:cNvSpPr>
              <a:spLocks noChangeArrowheads="1"/>
            </p:cNvSpPr>
            <p:nvPr/>
          </p:nvSpPr>
          <p:spPr bwMode="auto">
            <a:xfrm rot="-7972038">
              <a:off x="1335" y="930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7" name="Freeform 72"/>
            <p:cNvSpPr>
              <a:spLocks/>
            </p:cNvSpPr>
            <p:nvPr/>
          </p:nvSpPr>
          <p:spPr bwMode="auto">
            <a:xfrm>
              <a:off x="1062" y="297"/>
              <a:ext cx="168" cy="141"/>
            </a:xfrm>
            <a:custGeom>
              <a:avLst/>
              <a:gdLst>
                <a:gd name="T0" fmla="*/ 168 w 168"/>
                <a:gd name="T1" fmla="*/ 141 h 141"/>
                <a:gd name="T2" fmla="*/ 0 w 168"/>
                <a:gd name="T3" fmla="*/ 0 h 14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68" h="141">
                  <a:moveTo>
                    <a:pt x="168" y="141"/>
                  </a:moveTo>
                  <a:lnTo>
                    <a:pt x="0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" name="Freeform 73"/>
            <p:cNvSpPr>
              <a:spLocks/>
            </p:cNvSpPr>
            <p:nvPr/>
          </p:nvSpPr>
          <p:spPr bwMode="auto">
            <a:xfrm>
              <a:off x="1416" y="606"/>
              <a:ext cx="769" cy="727"/>
            </a:xfrm>
            <a:custGeom>
              <a:avLst/>
              <a:gdLst>
                <a:gd name="T0" fmla="*/ 0 w 769"/>
                <a:gd name="T1" fmla="*/ 0 h 727"/>
                <a:gd name="T2" fmla="*/ 769 w 769"/>
                <a:gd name="T3" fmla="*/ 727 h 7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69" h="727">
                  <a:moveTo>
                    <a:pt x="0" y="0"/>
                  </a:moveTo>
                  <a:lnTo>
                    <a:pt x="769" y="727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Freeform 74"/>
            <p:cNvSpPr>
              <a:spLocks/>
            </p:cNvSpPr>
            <p:nvPr/>
          </p:nvSpPr>
          <p:spPr bwMode="auto">
            <a:xfrm>
              <a:off x="1062" y="1125"/>
              <a:ext cx="243" cy="222"/>
            </a:xfrm>
            <a:custGeom>
              <a:avLst/>
              <a:gdLst>
                <a:gd name="T0" fmla="*/ 0 w 243"/>
                <a:gd name="T1" fmla="*/ 222 h 222"/>
                <a:gd name="T2" fmla="*/ 243 w 243"/>
                <a:gd name="T3" fmla="*/ 0 h 22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43" h="222">
                  <a:moveTo>
                    <a:pt x="0" y="222"/>
                  </a:moveTo>
                  <a:lnTo>
                    <a:pt x="243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" name="Freeform 75"/>
            <p:cNvSpPr>
              <a:spLocks/>
            </p:cNvSpPr>
            <p:nvPr/>
          </p:nvSpPr>
          <p:spPr bwMode="auto">
            <a:xfrm>
              <a:off x="1480" y="281"/>
              <a:ext cx="715" cy="691"/>
            </a:xfrm>
            <a:custGeom>
              <a:avLst/>
              <a:gdLst>
                <a:gd name="T0" fmla="*/ 0 w 715"/>
                <a:gd name="T1" fmla="*/ 691 h 691"/>
                <a:gd name="T2" fmla="*/ 715 w 715"/>
                <a:gd name="T3" fmla="*/ 0 h 69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15" h="691">
                  <a:moveTo>
                    <a:pt x="0" y="691"/>
                  </a:moveTo>
                  <a:lnTo>
                    <a:pt x="715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" name="Oval 76"/>
            <p:cNvSpPr>
              <a:spLocks noChangeAspect="1" noChangeArrowheads="1"/>
            </p:cNvSpPr>
            <p:nvPr/>
          </p:nvSpPr>
          <p:spPr bwMode="auto">
            <a:xfrm>
              <a:off x="1023" y="279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82" name="Oval 77"/>
            <p:cNvSpPr>
              <a:spLocks noChangeAspect="1" noChangeArrowheads="1"/>
            </p:cNvSpPr>
            <p:nvPr/>
          </p:nvSpPr>
          <p:spPr bwMode="auto">
            <a:xfrm>
              <a:off x="1014" y="1308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83" name="Oval 78"/>
            <p:cNvSpPr>
              <a:spLocks noChangeAspect="1" noChangeArrowheads="1"/>
            </p:cNvSpPr>
            <p:nvPr/>
          </p:nvSpPr>
          <p:spPr bwMode="auto">
            <a:xfrm>
              <a:off x="2142" y="255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84" name="Text Box 79"/>
            <p:cNvSpPr txBox="1">
              <a:spLocks noChangeArrowheads="1"/>
            </p:cNvSpPr>
            <p:nvPr/>
          </p:nvSpPr>
          <p:spPr bwMode="auto">
            <a:xfrm>
              <a:off x="2202" y="120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d</a:t>
              </a:r>
            </a:p>
          </p:txBody>
        </p:sp>
        <p:sp>
          <p:nvSpPr>
            <p:cNvPr id="85" name="Text Box 80"/>
            <p:cNvSpPr txBox="1">
              <a:spLocks noChangeArrowheads="1"/>
            </p:cNvSpPr>
            <p:nvPr/>
          </p:nvSpPr>
          <p:spPr bwMode="auto">
            <a:xfrm>
              <a:off x="1524" y="1353"/>
              <a:ext cx="3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3</a:t>
              </a:r>
              <a:endParaRPr lang="zh-CN" altLang="zh-CN" b="1"/>
            </a:p>
          </p:txBody>
        </p:sp>
        <p:sp>
          <p:nvSpPr>
            <p:cNvPr id="86" name="Text Box 81"/>
            <p:cNvSpPr txBox="1">
              <a:spLocks noChangeArrowheads="1"/>
            </p:cNvSpPr>
            <p:nvPr/>
          </p:nvSpPr>
          <p:spPr bwMode="auto">
            <a:xfrm>
              <a:off x="1035" y="471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2</a:t>
              </a:r>
              <a:endParaRPr lang="zh-CN" altLang="zh-CN" b="1"/>
            </a:p>
          </p:txBody>
        </p:sp>
        <p:sp>
          <p:nvSpPr>
            <p:cNvPr id="87" name="Freeform 82"/>
            <p:cNvSpPr>
              <a:spLocks/>
            </p:cNvSpPr>
            <p:nvPr/>
          </p:nvSpPr>
          <p:spPr bwMode="auto">
            <a:xfrm>
              <a:off x="229" y="300"/>
              <a:ext cx="1244" cy="10"/>
            </a:xfrm>
            <a:custGeom>
              <a:avLst/>
              <a:gdLst>
                <a:gd name="T0" fmla="*/ 0 w 1244"/>
                <a:gd name="T1" fmla="*/ 0 h 10"/>
                <a:gd name="T2" fmla="*/ 1244 w 1244"/>
                <a:gd name="T3" fmla="*/ 10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44" h="10">
                  <a:moveTo>
                    <a:pt x="0" y="0"/>
                  </a:moveTo>
                  <a:lnTo>
                    <a:pt x="1244" y="1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" name="Line 83"/>
            <p:cNvSpPr>
              <a:spLocks noChangeShapeType="1"/>
            </p:cNvSpPr>
            <p:nvPr/>
          </p:nvSpPr>
          <p:spPr bwMode="auto">
            <a:xfrm>
              <a:off x="1710" y="291"/>
              <a:ext cx="4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" name="Freeform 84"/>
            <p:cNvSpPr>
              <a:spLocks/>
            </p:cNvSpPr>
            <p:nvPr/>
          </p:nvSpPr>
          <p:spPr bwMode="auto">
            <a:xfrm>
              <a:off x="284" y="1351"/>
              <a:ext cx="1263" cy="1"/>
            </a:xfrm>
            <a:custGeom>
              <a:avLst/>
              <a:gdLst>
                <a:gd name="T0" fmla="*/ 0 w 1263"/>
                <a:gd name="T1" fmla="*/ 0 h 1"/>
                <a:gd name="T2" fmla="*/ 1263 w 1263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63" h="1">
                  <a:moveTo>
                    <a:pt x="0" y="0"/>
                  </a:moveTo>
                  <a:lnTo>
                    <a:pt x="1263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" name="Freeform 85"/>
            <p:cNvSpPr>
              <a:spLocks/>
            </p:cNvSpPr>
            <p:nvPr/>
          </p:nvSpPr>
          <p:spPr bwMode="auto">
            <a:xfrm>
              <a:off x="2194" y="275"/>
              <a:ext cx="1" cy="445"/>
            </a:xfrm>
            <a:custGeom>
              <a:avLst/>
              <a:gdLst>
                <a:gd name="T0" fmla="*/ 0 w 1"/>
                <a:gd name="T1" fmla="*/ 0 h 445"/>
                <a:gd name="T2" fmla="*/ 1 w 1"/>
                <a:gd name="T3" fmla="*/ 445 h 44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445">
                  <a:moveTo>
                    <a:pt x="0" y="0"/>
                  </a:moveTo>
                  <a:lnTo>
                    <a:pt x="1" y="445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" name="Rectangle 86"/>
            <p:cNvSpPr>
              <a:spLocks noChangeArrowheads="1"/>
            </p:cNvSpPr>
            <p:nvPr/>
          </p:nvSpPr>
          <p:spPr bwMode="auto">
            <a:xfrm rot="-5400000">
              <a:off x="1620" y="1233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2" name="Rectangle 87"/>
            <p:cNvSpPr>
              <a:spLocks noChangeArrowheads="1"/>
            </p:cNvSpPr>
            <p:nvPr/>
          </p:nvSpPr>
          <p:spPr bwMode="auto">
            <a:xfrm>
              <a:off x="2142" y="711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3" name="Freeform 88"/>
            <p:cNvSpPr>
              <a:spLocks/>
            </p:cNvSpPr>
            <p:nvPr/>
          </p:nvSpPr>
          <p:spPr bwMode="auto">
            <a:xfrm>
              <a:off x="2194" y="943"/>
              <a:ext cx="1" cy="399"/>
            </a:xfrm>
            <a:custGeom>
              <a:avLst/>
              <a:gdLst>
                <a:gd name="T0" fmla="*/ 0 w 1"/>
                <a:gd name="T1" fmla="*/ 0 h 399"/>
                <a:gd name="T2" fmla="*/ 1 w 1"/>
                <a:gd name="T3" fmla="*/ 399 h 39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99">
                  <a:moveTo>
                    <a:pt x="0" y="0"/>
                  </a:moveTo>
                  <a:lnTo>
                    <a:pt x="1" y="399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" name="Line 89"/>
            <p:cNvSpPr>
              <a:spLocks noChangeShapeType="1"/>
            </p:cNvSpPr>
            <p:nvPr/>
          </p:nvSpPr>
          <p:spPr bwMode="auto">
            <a:xfrm>
              <a:off x="1776" y="1347"/>
              <a:ext cx="4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" name="Oval 90"/>
            <p:cNvSpPr>
              <a:spLocks noChangeAspect="1" noChangeArrowheads="1"/>
            </p:cNvSpPr>
            <p:nvPr/>
          </p:nvSpPr>
          <p:spPr bwMode="auto">
            <a:xfrm>
              <a:off x="2154" y="1315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6" name="Oval 91"/>
            <p:cNvSpPr>
              <a:spLocks noChangeAspect="1" noChangeArrowheads="1"/>
            </p:cNvSpPr>
            <p:nvPr/>
          </p:nvSpPr>
          <p:spPr bwMode="auto">
            <a:xfrm>
              <a:off x="222" y="1317"/>
              <a:ext cx="68" cy="6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7" name="Oval 92"/>
            <p:cNvSpPr>
              <a:spLocks noChangeAspect="1" noChangeArrowheads="1"/>
            </p:cNvSpPr>
            <p:nvPr/>
          </p:nvSpPr>
          <p:spPr bwMode="auto">
            <a:xfrm>
              <a:off x="171" y="270"/>
              <a:ext cx="68" cy="6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8" name="Text Box 93"/>
            <p:cNvSpPr txBox="1">
              <a:spLocks noChangeArrowheads="1"/>
            </p:cNvSpPr>
            <p:nvPr/>
          </p:nvSpPr>
          <p:spPr bwMode="auto">
            <a:xfrm>
              <a:off x="3" y="183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a</a:t>
              </a:r>
            </a:p>
          </p:txBody>
        </p:sp>
        <p:sp>
          <p:nvSpPr>
            <p:cNvPr id="99" name="Text Box 94"/>
            <p:cNvSpPr txBox="1">
              <a:spLocks noChangeArrowheads="1"/>
            </p:cNvSpPr>
            <p:nvPr/>
          </p:nvSpPr>
          <p:spPr bwMode="auto">
            <a:xfrm>
              <a:off x="1038" y="846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4</a:t>
              </a:r>
              <a:endParaRPr lang="zh-CN" altLang="zh-CN" b="1"/>
            </a:p>
          </p:txBody>
        </p:sp>
        <p:sp>
          <p:nvSpPr>
            <p:cNvPr id="100" name="Text Box 95"/>
            <p:cNvSpPr txBox="1">
              <a:spLocks noChangeArrowheads="1"/>
            </p:cNvSpPr>
            <p:nvPr/>
          </p:nvSpPr>
          <p:spPr bwMode="auto">
            <a:xfrm>
              <a:off x="1452" y="0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1</a:t>
              </a:r>
              <a:endParaRPr lang="zh-CN" altLang="zh-CN" b="1"/>
            </a:p>
          </p:txBody>
        </p:sp>
        <p:sp>
          <p:nvSpPr>
            <p:cNvPr id="101" name="Text Box 96"/>
            <p:cNvSpPr txBox="1">
              <a:spLocks noChangeArrowheads="1"/>
            </p:cNvSpPr>
            <p:nvPr/>
          </p:nvSpPr>
          <p:spPr bwMode="auto">
            <a:xfrm>
              <a:off x="2229" y="690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5</a:t>
              </a:r>
              <a:endParaRPr lang="zh-CN" altLang="zh-CN" b="1"/>
            </a:p>
          </p:txBody>
        </p:sp>
        <p:sp>
          <p:nvSpPr>
            <p:cNvPr id="102" name="Text Box 97"/>
            <p:cNvSpPr txBox="1">
              <a:spLocks noChangeArrowheads="1"/>
            </p:cNvSpPr>
            <p:nvPr/>
          </p:nvSpPr>
          <p:spPr bwMode="auto">
            <a:xfrm>
              <a:off x="2193" y="123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c</a:t>
              </a:r>
            </a:p>
          </p:txBody>
        </p:sp>
      </p:grpSp>
      <p:grpSp>
        <p:nvGrpSpPr>
          <p:cNvPr id="103" name="Group 34"/>
          <p:cNvGrpSpPr>
            <a:grpSpLocks/>
          </p:cNvGrpSpPr>
          <p:nvPr/>
        </p:nvGrpSpPr>
        <p:grpSpPr bwMode="auto">
          <a:xfrm>
            <a:off x="4554044" y="953764"/>
            <a:ext cx="1438275" cy="1741488"/>
            <a:chOff x="869" y="184"/>
            <a:chExt cx="906" cy="1097"/>
          </a:xfrm>
        </p:grpSpPr>
        <p:sp>
          <p:nvSpPr>
            <p:cNvPr id="104" name="Rectangle 35"/>
            <p:cNvSpPr>
              <a:spLocks noChangeArrowheads="1"/>
            </p:cNvSpPr>
            <p:nvPr/>
          </p:nvSpPr>
          <p:spPr bwMode="auto">
            <a:xfrm rot="-7903512">
              <a:off x="1332" y="304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5" name="Rectangle 37"/>
            <p:cNvSpPr>
              <a:spLocks noChangeArrowheads="1"/>
            </p:cNvSpPr>
            <p:nvPr/>
          </p:nvSpPr>
          <p:spPr bwMode="auto">
            <a:xfrm rot="-5400000">
              <a:off x="1593" y="601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6" name="Rectangle 38"/>
            <p:cNvSpPr>
              <a:spLocks noChangeArrowheads="1"/>
            </p:cNvSpPr>
            <p:nvPr/>
          </p:nvSpPr>
          <p:spPr bwMode="auto">
            <a:xfrm rot="-2874968">
              <a:off x="1299" y="880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7" name="Freeform 40"/>
            <p:cNvSpPr>
              <a:spLocks/>
            </p:cNvSpPr>
            <p:nvPr/>
          </p:nvSpPr>
          <p:spPr bwMode="auto">
            <a:xfrm>
              <a:off x="1465" y="196"/>
              <a:ext cx="176" cy="160"/>
            </a:xfrm>
            <a:custGeom>
              <a:avLst/>
              <a:gdLst>
                <a:gd name="T0" fmla="*/ 0 w 176"/>
                <a:gd name="T1" fmla="*/ 160 h 160"/>
                <a:gd name="T2" fmla="*/ 176 w 176"/>
                <a:gd name="T3" fmla="*/ 0 h 16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6" h="160">
                  <a:moveTo>
                    <a:pt x="0" y="160"/>
                  </a:moveTo>
                  <a:lnTo>
                    <a:pt x="176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" name="Freeform 42"/>
            <p:cNvSpPr>
              <a:spLocks/>
            </p:cNvSpPr>
            <p:nvPr/>
          </p:nvSpPr>
          <p:spPr bwMode="auto">
            <a:xfrm>
              <a:off x="1057" y="508"/>
              <a:ext cx="233" cy="223"/>
            </a:xfrm>
            <a:custGeom>
              <a:avLst/>
              <a:gdLst>
                <a:gd name="T0" fmla="*/ 233 w 233"/>
                <a:gd name="T1" fmla="*/ 0 h 223"/>
                <a:gd name="T2" fmla="*/ 0 w 233"/>
                <a:gd name="T3" fmla="*/ 223 h 22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33" h="223">
                  <a:moveTo>
                    <a:pt x="233" y="0"/>
                  </a:moveTo>
                  <a:lnTo>
                    <a:pt x="0" y="223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" name="Freeform 44"/>
            <p:cNvSpPr>
              <a:spLocks/>
            </p:cNvSpPr>
            <p:nvPr/>
          </p:nvSpPr>
          <p:spPr bwMode="auto">
            <a:xfrm>
              <a:off x="1075" y="731"/>
              <a:ext cx="183" cy="201"/>
            </a:xfrm>
            <a:custGeom>
              <a:avLst/>
              <a:gdLst>
                <a:gd name="T0" fmla="*/ 0 w 183"/>
                <a:gd name="T1" fmla="*/ 0 h 201"/>
                <a:gd name="T2" fmla="*/ 183 w 183"/>
                <a:gd name="T3" fmla="*/ 201 h 20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83" h="201">
                  <a:moveTo>
                    <a:pt x="0" y="0"/>
                  </a:moveTo>
                  <a:lnTo>
                    <a:pt x="183" y="201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" name="Freeform 45"/>
            <p:cNvSpPr>
              <a:spLocks/>
            </p:cNvSpPr>
            <p:nvPr/>
          </p:nvSpPr>
          <p:spPr bwMode="auto">
            <a:xfrm>
              <a:off x="1422" y="1078"/>
              <a:ext cx="211" cy="183"/>
            </a:xfrm>
            <a:custGeom>
              <a:avLst/>
              <a:gdLst>
                <a:gd name="T0" fmla="*/ 0 w 211"/>
                <a:gd name="T1" fmla="*/ 0 h 183"/>
                <a:gd name="T2" fmla="*/ 211 w 211"/>
                <a:gd name="T3" fmla="*/ 183 h 18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11" h="183">
                  <a:moveTo>
                    <a:pt x="0" y="0"/>
                  </a:moveTo>
                  <a:lnTo>
                    <a:pt x="211" y="183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" name="Freeform 48"/>
            <p:cNvSpPr>
              <a:spLocks/>
            </p:cNvSpPr>
            <p:nvPr/>
          </p:nvSpPr>
          <p:spPr bwMode="auto">
            <a:xfrm>
              <a:off x="1059" y="724"/>
              <a:ext cx="462" cy="1"/>
            </a:xfrm>
            <a:custGeom>
              <a:avLst/>
              <a:gdLst>
                <a:gd name="T0" fmla="*/ 0 w 462"/>
                <a:gd name="T1" fmla="*/ 0 h 1"/>
                <a:gd name="T2" fmla="*/ 462 w 46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62" h="1">
                  <a:moveTo>
                    <a:pt x="0" y="0"/>
                  </a:moveTo>
                  <a:lnTo>
                    <a:pt x="462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" name="Oval 52"/>
            <p:cNvSpPr>
              <a:spLocks noChangeAspect="1" noChangeArrowheads="1"/>
            </p:cNvSpPr>
            <p:nvPr/>
          </p:nvSpPr>
          <p:spPr bwMode="auto">
            <a:xfrm>
              <a:off x="1596" y="184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3" name="Oval 53"/>
            <p:cNvSpPr>
              <a:spLocks noChangeAspect="1" noChangeArrowheads="1"/>
            </p:cNvSpPr>
            <p:nvPr/>
          </p:nvSpPr>
          <p:spPr bwMode="auto">
            <a:xfrm>
              <a:off x="1587" y="1213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4" name="Oval 54"/>
            <p:cNvSpPr>
              <a:spLocks noChangeAspect="1" noChangeArrowheads="1"/>
            </p:cNvSpPr>
            <p:nvPr/>
          </p:nvSpPr>
          <p:spPr bwMode="auto">
            <a:xfrm>
              <a:off x="1050" y="676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5" name="Text Box 59"/>
            <p:cNvSpPr txBox="1">
              <a:spLocks noChangeArrowheads="1"/>
            </p:cNvSpPr>
            <p:nvPr/>
          </p:nvSpPr>
          <p:spPr bwMode="auto">
            <a:xfrm>
              <a:off x="869" y="549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c</a:t>
              </a:r>
            </a:p>
          </p:txBody>
        </p:sp>
        <p:sp>
          <p:nvSpPr>
            <p:cNvPr id="116" name="Text Box 61"/>
            <p:cNvSpPr txBox="1">
              <a:spLocks noChangeArrowheads="1"/>
            </p:cNvSpPr>
            <p:nvPr/>
          </p:nvSpPr>
          <p:spPr bwMode="auto">
            <a:xfrm>
              <a:off x="1011" y="227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 dirty="0"/>
                <a:t>R</a:t>
              </a:r>
              <a:r>
                <a:rPr lang="zh-CN" altLang="zh-CN" b="1" baseline="-25000" dirty="0"/>
                <a:t>1</a:t>
              </a:r>
              <a:endParaRPr lang="zh-CN" altLang="zh-CN" b="1" dirty="0"/>
            </a:p>
          </p:txBody>
        </p:sp>
        <p:sp>
          <p:nvSpPr>
            <p:cNvPr id="117" name="Text Box 62"/>
            <p:cNvSpPr txBox="1">
              <a:spLocks noChangeArrowheads="1"/>
            </p:cNvSpPr>
            <p:nvPr/>
          </p:nvSpPr>
          <p:spPr bwMode="auto">
            <a:xfrm>
              <a:off x="1011" y="916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4</a:t>
              </a:r>
              <a:endParaRPr lang="zh-CN" altLang="zh-CN" b="1"/>
            </a:p>
          </p:txBody>
        </p:sp>
        <p:sp>
          <p:nvSpPr>
            <p:cNvPr id="118" name="Text Box 65"/>
            <p:cNvSpPr txBox="1">
              <a:spLocks noChangeArrowheads="1"/>
            </p:cNvSpPr>
            <p:nvPr/>
          </p:nvSpPr>
          <p:spPr bwMode="auto">
            <a:xfrm>
              <a:off x="1491" y="436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 dirty="0"/>
                <a:t>R</a:t>
              </a:r>
              <a:r>
                <a:rPr lang="zh-CN" altLang="zh-CN" b="1" baseline="-25000" dirty="0"/>
                <a:t>5</a:t>
              </a:r>
              <a:endParaRPr lang="zh-CN" altLang="zh-CN" b="1" dirty="0"/>
            </a:p>
          </p:txBody>
        </p:sp>
      </p:grpSp>
      <p:grpSp>
        <p:nvGrpSpPr>
          <p:cNvPr id="119" name="Group 34"/>
          <p:cNvGrpSpPr>
            <a:grpSpLocks/>
          </p:cNvGrpSpPr>
          <p:nvPr/>
        </p:nvGrpSpPr>
        <p:grpSpPr bwMode="auto">
          <a:xfrm>
            <a:off x="6678119" y="1159558"/>
            <a:ext cx="2470150" cy="1050925"/>
            <a:chOff x="869" y="184"/>
            <a:chExt cx="1556" cy="662"/>
          </a:xfrm>
        </p:grpSpPr>
        <p:sp>
          <p:nvSpPr>
            <p:cNvPr id="120" name="Rectangle 35"/>
            <p:cNvSpPr>
              <a:spLocks noChangeArrowheads="1"/>
            </p:cNvSpPr>
            <p:nvPr/>
          </p:nvSpPr>
          <p:spPr bwMode="auto">
            <a:xfrm rot="-7903512">
              <a:off x="1332" y="304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1" name="Rectangle 36"/>
            <p:cNvSpPr>
              <a:spLocks noChangeArrowheads="1"/>
            </p:cNvSpPr>
            <p:nvPr/>
          </p:nvSpPr>
          <p:spPr bwMode="auto">
            <a:xfrm rot="-2919155">
              <a:off x="1854" y="310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2" name="Rectangle 37"/>
            <p:cNvSpPr>
              <a:spLocks noChangeArrowheads="1"/>
            </p:cNvSpPr>
            <p:nvPr/>
          </p:nvSpPr>
          <p:spPr bwMode="auto">
            <a:xfrm rot="-5400000">
              <a:off x="1593" y="601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3" name="Freeform 40"/>
            <p:cNvSpPr>
              <a:spLocks/>
            </p:cNvSpPr>
            <p:nvPr/>
          </p:nvSpPr>
          <p:spPr bwMode="auto">
            <a:xfrm>
              <a:off x="1465" y="196"/>
              <a:ext cx="176" cy="160"/>
            </a:xfrm>
            <a:custGeom>
              <a:avLst/>
              <a:gdLst>
                <a:gd name="T0" fmla="*/ 0 w 176"/>
                <a:gd name="T1" fmla="*/ 160 h 160"/>
                <a:gd name="T2" fmla="*/ 176 w 176"/>
                <a:gd name="T3" fmla="*/ 0 h 16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6" h="160">
                  <a:moveTo>
                    <a:pt x="0" y="160"/>
                  </a:moveTo>
                  <a:lnTo>
                    <a:pt x="176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" name="Freeform 41"/>
            <p:cNvSpPr>
              <a:spLocks/>
            </p:cNvSpPr>
            <p:nvPr/>
          </p:nvSpPr>
          <p:spPr bwMode="auto">
            <a:xfrm>
              <a:off x="1635" y="202"/>
              <a:ext cx="168" cy="141"/>
            </a:xfrm>
            <a:custGeom>
              <a:avLst/>
              <a:gdLst>
                <a:gd name="T0" fmla="*/ 168 w 168"/>
                <a:gd name="T1" fmla="*/ 141 h 141"/>
                <a:gd name="T2" fmla="*/ 0 w 168"/>
                <a:gd name="T3" fmla="*/ 0 h 14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68" h="141">
                  <a:moveTo>
                    <a:pt x="168" y="141"/>
                  </a:moveTo>
                  <a:lnTo>
                    <a:pt x="0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" name="Freeform 42"/>
            <p:cNvSpPr>
              <a:spLocks/>
            </p:cNvSpPr>
            <p:nvPr/>
          </p:nvSpPr>
          <p:spPr bwMode="auto">
            <a:xfrm>
              <a:off x="1057" y="508"/>
              <a:ext cx="233" cy="223"/>
            </a:xfrm>
            <a:custGeom>
              <a:avLst/>
              <a:gdLst>
                <a:gd name="T0" fmla="*/ 233 w 233"/>
                <a:gd name="T1" fmla="*/ 0 h 223"/>
                <a:gd name="T2" fmla="*/ 0 w 233"/>
                <a:gd name="T3" fmla="*/ 223 h 22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33" h="223">
                  <a:moveTo>
                    <a:pt x="233" y="0"/>
                  </a:moveTo>
                  <a:lnTo>
                    <a:pt x="0" y="223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" name="Freeform 43"/>
            <p:cNvSpPr>
              <a:spLocks/>
            </p:cNvSpPr>
            <p:nvPr/>
          </p:nvSpPr>
          <p:spPr bwMode="auto">
            <a:xfrm>
              <a:off x="1989" y="511"/>
              <a:ext cx="225" cy="216"/>
            </a:xfrm>
            <a:custGeom>
              <a:avLst/>
              <a:gdLst>
                <a:gd name="T0" fmla="*/ 0 w 225"/>
                <a:gd name="T1" fmla="*/ 0 h 216"/>
                <a:gd name="T2" fmla="*/ 225 w 225"/>
                <a:gd name="T3" fmla="*/ 216 h 21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25" h="216">
                  <a:moveTo>
                    <a:pt x="0" y="0"/>
                  </a:moveTo>
                  <a:lnTo>
                    <a:pt x="225" y="216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" name="Freeform 48"/>
            <p:cNvSpPr>
              <a:spLocks/>
            </p:cNvSpPr>
            <p:nvPr/>
          </p:nvSpPr>
          <p:spPr bwMode="auto">
            <a:xfrm>
              <a:off x="1059" y="724"/>
              <a:ext cx="462" cy="1"/>
            </a:xfrm>
            <a:custGeom>
              <a:avLst/>
              <a:gdLst>
                <a:gd name="T0" fmla="*/ 0 w 462"/>
                <a:gd name="T1" fmla="*/ 0 h 1"/>
                <a:gd name="T2" fmla="*/ 462 w 46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62" h="1">
                  <a:moveTo>
                    <a:pt x="0" y="0"/>
                  </a:moveTo>
                  <a:lnTo>
                    <a:pt x="462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8" name="Freeform 49"/>
            <p:cNvSpPr>
              <a:spLocks/>
            </p:cNvSpPr>
            <p:nvPr/>
          </p:nvSpPr>
          <p:spPr bwMode="auto">
            <a:xfrm>
              <a:off x="1764" y="724"/>
              <a:ext cx="447" cy="1"/>
            </a:xfrm>
            <a:custGeom>
              <a:avLst/>
              <a:gdLst>
                <a:gd name="T0" fmla="*/ 0 w 447"/>
                <a:gd name="T1" fmla="*/ 0 h 1"/>
                <a:gd name="T2" fmla="*/ 447 w 447"/>
                <a:gd name="T3" fmla="*/ 1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47" h="1">
                  <a:moveTo>
                    <a:pt x="0" y="0"/>
                  </a:moveTo>
                  <a:lnTo>
                    <a:pt x="447" y="1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" name="Oval 52"/>
            <p:cNvSpPr>
              <a:spLocks noChangeAspect="1" noChangeArrowheads="1"/>
            </p:cNvSpPr>
            <p:nvPr/>
          </p:nvSpPr>
          <p:spPr bwMode="auto">
            <a:xfrm>
              <a:off x="1596" y="184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0" name="Oval 54"/>
            <p:cNvSpPr>
              <a:spLocks noChangeAspect="1" noChangeArrowheads="1"/>
            </p:cNvSpPr>
            <p:nvPr/>
          </p:nvSpPr>
          <p:spPr bwMode="auto">
            <a:xfrm>
              <a:off x="1050" y="676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1" name="Oval 55"/>
            <p:cNvSpPr>
              <a:spLocks noChangeAspect="1" noChangeArrowheads="1"/>
            </p:cNvSpPr>
            <p:nvPr/>
          </p:nvSpPr>
          <p:spPr bwMode="auto">
            <a:xfrm>
              <a:off x="2169" y="676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2" name="Text Box 59"/>
            <p:cNvSpPr txBox="1">
              <a:spLocks noChangeArrowheads="1"/>
            </p:cNvSpPr>
            <p:nvPr/>
          </p:nvSpPr>
          <p:spPr bwMode="auto">
            <a:xfrm>
              <a:off x="869" y="549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c</a:t>
              </a:r>
            </a:p>
          </p:txBody>
        </p:sp>
        <p:sp>
          <p:nvSpPr>
            <p:cNvPr id="133" name="Text Box 60"/>
            <p:cNvSpPr txBox="1">
              <a:spLocks noChangeArrowheads="1"/>
            </p:cNvSpPr>
            <p:nvPr/>
          </p:nvSpPr>
          <p:spPr bwMode="auto">
            <a:xfrm>
              <a:off x="2213" y="55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d</a:t>
              </a:r>
            </a:p>
          </p:txBody>
        </p:sp>
        <p:sp>
          <p:nvSpPr>
            <p:cNvPr id="134" name="Text Box 61"/>
            <p:cNvSpPr txBox="1">
              <a:spLocks noChangeArrowheads="1"/>
            </p:cNvSpPr>
            <p:nvPr/>
          </p:nvSpPr>
          <p:spPr bwMode="auto">
            <a:xfrm>
              <a:off x="1011" y="227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 dirty="0"/>
                <a:t>R</a:t>
              </a:r>
              <a:r>
                <a:rPr lang="zh-CN" altLang="zh-CN" b="1" baseline="-25000" dirty="0"/>
                <a:t>1</a:t>
              </a:r>
              <a:endParaRPr lang="zh-CN" altLang="zh-CN" b="1" dirty="0"/>
            </a:p>
          </p:txBody>
        </p:sp>
        <p:sp>
          <p:nvSpPr>
            <p:cNvPr id="135" name="Text Box 64"/>
            <p:cNvSpPr txBox="1">
              <a:spLocks noChangeArrowheads="1"/>
            </p:cNvSpPr>
            <p:nvPr/>
          </p:nvSpPr>
          <p:spPr bwMode="auto">
            <a:xfrm>
              <a:off x="1923" y="196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2</a:t>
              </a:r>
              <a:endParaRPr lang="zh-CN" altLang="zh-CN" b="1"/>
            </a:p>
          </p:txBody>
        </p:sp>
        <p:sp>
          <p:nvSpPr>
            <p:cNvPr id="136" name="Text Box 65"/>
            <p:cNvSpPr txBox="1">
              <a:spLocks noChangeArrowheads="1"/>
            </p:cNvSpPr>
            <p:nvPr/>
          </p:nvSpPr>
          <p:spPr bwMode="auto">
            <a:xfrm>
              <a:off x="1491" y="436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5</a:t>
              </a:r>
              <a:endParaRPr lang="zh-CN" altLang="zh-CN" b="1"/>
            </a:p>
          </p:txBody>
        </p:sp>
      </p:grpSp>
      <p:sp>
        <p:nvSpPr>
          <p:cNvPr id="137" name="文本框 136"/>
          <p:cNvSpPr txBox="1"/>
          <p:nvPr/>
        </p:nvSpPr>
        <p:spPr>
          <a:xfrm>
            <a:off x="4464555" y="2913697"/>
            <a:ext cx="2146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星型联结（</a:t>
            </a:r>
            <a:r>
              <a:rPr lang="en-US" altLang="zh-CN" dirty="0"/>
              <a:t>Y</a:t>
            </a:r>
            <a:r>
              <a:rPr lang="zh-CN" altLang="en-US" dirty="0"/>
              <a:t>联结）</a:t>
            </a:r>
          </a:p>
        </p:txBody>
      </p:sp>
      <p:sp>
        <p:nvSpPr>
          <p:cNvPr id="138" name="文本框 137"/>
          <p:cNvSpPr txBox="1"/>
          <p:nvPr/>
        </p:nvSpPr>
        <p:spPr>
          <a:xfrm>
            <a:off x="6732700" y="2920266"/>
            <a:ext cx="23920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三角型联结（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∆联</a:t>
            </a:r>
            <a:r>
              <a:rPr lang="zh-CN" altLang="en-US" dirty="0"/>
              <a:t>结）</a:t>
            </a:r>
          </a:p>
        </p:txBody>
      </p:sp>
      <p:sp>
        <p:nvSpPr>
          <p:cNvPr id="139" name="Text Box 4"/>
          <p:cNvSpPr txBox="1">
            <a:spLocks noChangeArrowheads="1"/>
          </p:cNvSpPr>
          <p:nvPr/>
        </p:nvSpPr>
        <p:spPr bwMode="auto">
          <a:xfrm>
            <a:off x="1177064" y="3115940"/>
            <a:ext cx="2270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电桥</a:t>
            </a:r>
            <a:r>
              <a:rPr lang="zh-CN" altLang="zh-CN" sz="2400" b="1" dirty="0">
                <a:latin typeface="楷体_GB2312" pitchFamily="49" charset="-122"/>
                <a:ea typeface="楷体_GB2312" pitchFamily="49" charset="-122"/>
              </a:rPr>
              <a:t>平衡条件</a:t>
            </a:r>
          </a:p>
        </p:txBody>
      </p:sp>
      <p:sp>
        <p:nvSpPr>
          <p:cNvPr id="140" name="Text Box 5"/>
          <p:cNvSpPr txBox="1">
            <a:spLocks noChangeArrowheads="1"/>
          </p:cNvSpPr>
          <p:nvPr/>
        </p:nvSpPr>
        <p:spPr bwMode="auto">
          <a:xfrm>
            <a:off x="1224689" y="3662040"/>
            <a:ext cx="19653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="1" dirty="0">
                <a:solidFill>
                  <a:srgbClr val="FF3300"/>
                </a:solidFill>
              </a:rPr>
              <a:t>R</a:t>
            </a:r>
            <a:r>
              <a:rPr lang="zh-CN" altLang="zh-CN" sz="2400" b="1" baseline="-25000" dirty="0">
                <a:solidFill>
                  <a:srgbClr val="FF3300"/>
                </a:solidFill>
              </a:rPr>
              <a:t>1</a:t>
            </a:r>
            <a:r>
              <a:rPr lang="zh-CN" altLang="zh-CN" sz="2400" b="1" dirty="0">
                <a:solidFill>
                  <a:srgbClr val="FF3300"/>
                </a:solidFill>
              </a:rPr>
              <a:t>R</a:t>
            </a:r>
            <a:r>
              <a:rPr lang="zh-CN" altLang="zh-CN" sz="2400" b="1" baseline="-25000" dirty="0">
                <a:solidFill>
                  <a:srgbClr val="FF3300"/>
                </a:solidFill>
              </a:rPr>
              <a:t>3</a:t>
            </a:r>
            <a:r>
              <a:rPr lang="zh-CN" altLang="zh-CN" sz="2400" b="1" dirty="0">
                <a:solidFill>
                  <a:srgbClr val="FF3300"/>
                </a:solidFill>
              </a:rPr>
              <a:t>=R</a:t>
            </a:r>
            <a:r>
              <a:rPr lang="zh-CN" altLang="zh-CN" sz="2400" b="1" baseline="-25000" dirty="0">
                <a:solidFill>
                  <a:srgbClr val="FF3300"/>
                </a:solidFill>
              </a:rPr>
              <a:t>2</a:t>
            </a:r>
            <a:r>
              <a:rPr lang="zh-CN" altLang="zh-CN" sz="2400" b="1" dirty="0">
                <a:solidFill>
                  <a:srgbClr val="FF3300"/>
                </a:solidFill>
              </a:rPr>
              <a:t>R</a:t>
            </a:r>
            <a:r>
              <a:rPr lang="zh-CN" altLang="zh-CN" sz="2400" b="1" baseline="-25000" dirty="0">
                <a:solidFill>
                  <a:srgbClr val="FF3300"/>
                </a:solidFill>
              </a:rPr>
              <a:t>4</a:t>
            </a:r>
            <a:endParaRPr lang="zh-CN" altLang="zh-CN" sz="2400" b="1" dirty="0">
              <a:solidFill>
                <a:srgbClr val="FF3300"/>
              </a:solidFill>
            </a:endParaRPr>
          </a:p>
        </p:txBody>
      </p:sp>
      <p:grpSp>
        <p:nvGrpSpPr>
          <p:cNvPr id="141" name="Group 109"/>
          <p:cNvGrpSpPr>
            <a:grpSpLocks/>
          </p:cNvGrpSpPr>
          <p:nvPr/>
        </p:nvGrpSpPr>
        <p:grpSpPr bwMode="auto">
          <a:xfrm>
            <a:off x="2837589" y="3687440"/>
            <a:ext cx="3581400" cy="457200"/>
            <a:chOff x="0" y="0"/>
            <a:chExt cx="2256" cy="288"/>
          </a:xfrm>
        </p:grpSpPr>
        <p:sp>
          <p:nvSpPr>
            <p:cNvPr id="142" name="Text Box 110"/>
            <p:cNvSpPr txBox="1">
              <a:spLocks noChangeArrowheads="1"/>
            </p:cNvSpPr>
            <p:nvPr/>
          </p:nvSpPr>
          <p:spPr bwMode="auto">
            <a:xfrm>
              <a:off x="192" y="0"/>
              <a:ext cx="206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 b="1" dirty="0">
                  <a:solidFill>
                    <a:srgbClr val="FF3300"/>
                  </a:solidFill>
                </a:rPr>
                <a:t>u</a:t>
              </a:r>
              <a:r>
                <a:rPr lang="zh-CN" altLang="zh-CN" sz="2400" b="1" baseline="-25000" dirty="0">
                  <a:solidFill>
                    <a:srgbClr val="FF3300"/>
                  </a:solidFill>
                </a:rPr>
                <a:t>cd</a:t>
              </a:r>
              <a:r>
                <a:rPr lang="zh-CN" altLang="zh-CN" sz="2400" b="1" dirty="0">
                  <a:solidFill>
                    <a:srgbClr val="FF3300"/>
                  </a:solidFill>
                </a:rPr>
                <a:t>=0，i</a:t>
              </a:r>
              <a:r>
                <a:rPr lang="zh-CN" altLang="zh-CN" sz="2400" b="1" baseline="-25000" dirty="0">
                  <a:solidFill>
                    <a:srgbClr val="FF3300"/>
                  </a:solidFill>
                </a:rPr>
                <a:t>cd</a:t>
              </a:r>
              <a:r>
                <a:rPr lang="zh-CN" altLang="zh-CN" sz="2400" b="1" dirty="0">
                  <a:solidFill>
                    <a:srgbClr val="FF3300"/>
                  </a:solidFill>
                </a:rPr>
                <a:t>= u</a:t>
              </a:r>
              <a:r>
                <a:rPr lang="zh-CN" altLang="zh-CN" sz="2400" b="1" baseline="-25000" dirty="0">
                  <a:solidFill>
                    <a:srgbClr val="FF3300"/>
                  </a:solidFill>
                </a:rPr>
                <a:t>cd</a:t>
              </a:r>
              <a:r>
                <a:rPr lang="zh-CN" altLang="zh-CN" sz="2400" b="1" dirty="0">
                  <a:solidFill>
                    <a:srgbClr val="FF3300"/>
                  </a:solidFill>
                </a:rPr>
                <a:t>/R</a:t>
              </a:r>
              <a:r>
                <a:rPr lang="zh-CN" altLang="zh-CN" sz="2400" b="1" baseline="-25000" dirty="0">
                  <a:solidFill>
                    <a:srgbClr val="FF3300"/>
                  </a:solidFill>
                </a:rPr>
                <a:t>5</a:t>
              </a:r>
              <a:r>
                <a:rPr lang="zh-CN" altLang="zh-CN" sz="2400" b="1" dirty="0">
                  <a:solidFill>
                    <a:srgbClr val="FF3300"/>
                  </a:solidFill>
                </a:rPr>
                <a:t>=0</a:t>
              </a:r>
              <a:endParaRPr lang="zh-CN" altLang="zh-CN" sz="2400" b="1" baseline="-25000" dirty="0">
                <a:solidFill>
                  <a:srgbClr val="FF3300"/>
                </a:solidFill>
              </a:endParaRPr>
            </a:p>
          </p:txBody>
        </p:sp>
        <p:sp>
          <p:nvSpPr>
            <p:cNvPr id="143" name="Line 111"/>
            <p:cNvSpPr>
              <a:spLocks noChangeShapeType="1"/>
            </p:cNvSpPr>
            <p:nvPr/>
          </p:nvSpPr>
          <p:spPr bwMode="auto">
            <a:xfrm>
              <a:off x="0" y="176"/>
              <a:ext cx="1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081073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" grpId="0" autoUpdateAnimBg="0"/>
      <p:bldP spid="140" grpId="0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星形电路和三角形电路的等效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1C66AF1-24A0-446C-B0A8-326C494344F1}" type="datetime1">
              <a:rPr lang="zh-CN" altLang="en-US" smtClean="0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74CEB45-B7B4-4CEA-8E4A-DA539A380401}" type="slidenum">
              <a:rPr lang="en-US" altLang="zh-CN" smtClean="0"/>
              <a:pPr>
                <a:defRPr/>
              </a:pPr>
              <a:t>44</a:t>
            </a:fld>
            <a:endParaRPr lang="en-US" altLang="zh-CN"/>
          </a:p>
        </p:txBody>
      </p:sp>
      <p:graphicFrame>
        <p:nvGraphicFramePr>
          <p:cNvPr id="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3275649"/>
              </p:ext>
            </p:extLst>
          </p:nvPr>
        </p:nvGraphicFramePr>
        <p:xfrm>
          <a:off x="260077" y="674291"/>
          <a:ext cx="3021013" cy="2478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13" name="Flash Movie" r:id="rId3" imgW="2391480" imgH="1961640" progId="Flash.Movie">
                  <p:embed/>
                </p:oleObj>
              </mc:Choice>
              <mc:Fallback>
                <p:oleObj name="Flash Movie" r:id="rId3" imgW="2391480" imgH="1961640" progId="Flash.Movie">
                  <p:embed/>
                  <p:pic>
                    <p:nvPicPr>
                      <p:cNvPr id="23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077" y="674291"/>
                        <a:ext cx="3021013" cy="2478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7516545"/>
              </p:ext>
            </p:extLst>
          </p:nvPr>
        </p:nvGraphicFramePr>
        <p:xfrm>
          <a:off x="5940152" y="828278"/>
          <a:ext cx="2778125" cy="2373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14" name="Flash 文档" r:id="rId5" imgW="1997640" imgH="1707480" progId="Flash.Movie">
                  <p:embed/>
                </p:oleObj>
              </mc:Choice>
              <mc:Fallback>
                <p:oleObj name="Flash 文档" r:id="rId5" imgW="1997640" imgH="1707480" progId="Flash.Movie">
                  <p:embed/>
                  <p:pic>
                    <p:nvPicPr>
                      <p:cNvPr id="24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0152" y="828278"/>
                        <a:ext cx="2778125" cy="2373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Group 13"/>
          <p:cNvGrpSpPr>
            <a:grpSpLocks/>
          </p:cNvGrpSpPr>
          <p:nvPr/>
        </p:nvGrpSpPr>
        <p:grpSpPr bwMode="auto">
          <a:xfrm>
            <a:off x="2698477" y="2472928"/>
            <a:ext cx="4114800" cy="609600"/>
            <a:chOff x="1728" y="3792"/>
            <a:chExt cx="2592" cy="384"/>
          </a:xfrm>
        </p:grpSpPr>
        <p:sp>
          <p:nvSpPr>
            <p:cNvPr id="10" name="AutoShape 14"/>
            <p:cNvSpPr>
              <a:spLocks noChangeArrowheads="1"/>
            </p:cNvSpPr>
            <p:nvPr/>
          </p:nvSpPr>
          <p:spPr bwMode="auto">
            <a:xfrm>
              <a:off x="2328" y="3792"/>
              <a:ext cx="1104" cy="96"/>
            </a:xfrm>
            <a:prstGeom prst="leftRightArrow">
              <a:avLst>
                <a:gd name="adj1" fmla="val 50000"/>
                <a:gd name="adj2" fmla="val 230000"/>
              </a:avLst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zh-CN" altLang="en-US" sz="1800"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11" name="Rectangle 15"/>
            <p:cNvSpPr>
              <a:spLocks noChangeArrowheads="1"/>
            </p:cNvSpPr>
            <p:nvPr/>
          </p:nvSpPr>
          <p:spPr bwMode="auto">
            <a:xfrm>
              <a:off x="1728" y="3888"/>
              <a:ext cx="25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i="1" dirty="0">
                  <a:solidFill>
                    <a:schemeClr val="hlink"/>
                  </a:solidFill>
                  <a:ea typeface="隶书" panose="02010509060101010101" pitchFamily="49" charset="-122"/>
                </a:rPr>
                <a:t>           u-</a:t>
              </a:r>
              <a:r>
                <a:rPr lang="en-US" altLang="zh-CN" i="1" dirty="0" err="1">
                  <a:solidFill>
                    <a:schemeClr val="hlink"/>
                  </a:solidFill>
                  <a:ea typeface="隶书" panose="02010509060101010101" pitchFamily="49" charset="-122"/>
                </a:rPr>
                <a:t>i</a:t>
              </a:r>
              <a:r>
                <a:rPr lang="en-US" altLang="zh-CN" dirty="0">
                  <a:solidFill>
                    <a:schemeClr val="hlink"/>
                  </a:solidFill>
                  <a:ea typeface="隶书" panose="02010509060101010101" pitchFamily="49" charset="-122"/>
                </a:rPr>
                <a:t> </a:t>
              </a:r>
              <a:r>
                <a:rPr lang="zh-CN" altLang="en-US" dirty="0">
                  <a:solidFill>
                    <a:schemeClr val="hlink"/>
                  </a:solidFill>
                  <a:ea typeface="隶书" panose="02010509060101010101" pitchFamily="49" charset="-122"/>
                </a:rPr>
                <a:t>关系相同</a:t>
              </a:r>
            </a:p>
          </p:txBody>
        </p:sp>
      </p:grpSp>
      <p:graphicFrame>
        <p:nvGraphicFramePr>
          <p:cNvPr id="12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8202839"/>
              </p:ext>
            </p:extLst>
          </p:nvPr>
        </p:nvGraphicFramePr>
        <p:xfrm>
          <a:off x="3303315" y="1761728"/>
          <a:ext cx="2663825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15" name="公式" r:id="rId7" imgW="952087" imgH="241195" progId="Equation.3">
                  <p:embed/>
                </p:oleObj>
              </mc:Choice>
              <mc:Fallback>
                <p:oleObj name="公式" r:id="rId7" imgW="952087" imgH="241195" progId="Equation.3">
                  <p:embed/>
                  <p:pic>
                    <p:nvPicPr>
                      <p:cNvPr id="28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3315" y="1761728"/>
                        <a:ext cx="2663825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1023764" y="3172222"/>
            <a:ext cx="16491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>
                <a:solidFill>
                  <a:srgbClr val="FF0000"/>
                </a:solidFill>
                <a:ea typeface="隶书" panose="02010509060101010101" pitchFamily="49" charset="-122"/>
              </a:rPr>
              <a:t>星形电路</a:t>
            </a:r>
            <a:endParaRPr lang="en-US" altLang="zh-CN" sz="2800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sp>
        <p:nvSpPr>
          <p:cNvPr id="14" name="Rectangle 2"/>
          <p:cNvSpPr>
            <a:spLocks noChangeArrowheads="1"/>
          </p:cNvSpPr>
          <p:nvPr/>
        </p:nvSpPr>
        <p:spPr bwMode="auto">
          <a:xfrm>
            <a:off x="6444208" y="3172222"/>
            <a:ext cx="2099816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>
                <a:solidFill>
                  <a:srgbClr val="FF0000"/>
                </a:solidFill>
                <a:ea typeface="隶书" panose="02010509060101010101" pitchFamily="49" charset="-122"/>
              </a:rPr>
              <a:t>三角形电路</a:t>
            </a:r>
            <a:endParaRPr lang="en-US" altLang="zh-CN" sz="2800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grpSp>
        <p:nvGrpSpPr>
          <p:cNvPr id="15" name="Group 44"/>
          <p:cNvGrpSpPr>
            <a:grpSpLocks/>
          </p:cNvGrpSpPr>
          <p:nvPr/>
        </p:nvGrpSpPr>
        <p:grpSpPr bwMode="auto">
          <a:xfrm>
            <a:off x="3331275" y="3543961"/>
            <a:ext cx="2416175" cy="1362075"/>
            <a:chOff x="2109" y="822"/>
            <a:chExt cx="1522" cy="858"/>
          </a:xfrm>
        </p:grpSpPr>
        <p:graphicFrame>
          <p:nvGraphicFramePr>
            <p:cNvPr id="16" name="Object 23"/>
            <p:cNvGraphicFramePr>
              <a:graphicFrameLocks noChangeAspect="1"/>
            </p:cNvGraphicFramePr>
            <p:nvPr/>
          </p:nvGraphicFramePr>
          <p:xfrm>
            <a:off x="2109" y="1111"/>
            <a:ext cx="1522" cy="5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616" name="Equation" r:id="rId9" imgW="1155700" imgH="431800" progId="Equation.DSMT4">
                    <p:embed/>
                  </p:oleObj>
                </mc:Choice>
                <mc:Fallback>
                  <p:oleObj name="Equation" r:id="rId9" imgW="1155700" imgH="431800" progId="Equation.DSMT4">
                    <p:embed/>
                    <p:pic>
                      <p:nvPicPr>
                        <p:cNvPr id="18453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09" y="1111"/>
                          <a:ext cx="1522" cy="569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0000FF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>
                                  <a:alpha val="50195"/>
                                </a:schemeClr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Object 27"/>
            <p:cNvGraphicFramePr>
              <a:graphicFrameLocks noChangeAspect="1"/>
            </p:cNvGraphicFramePr>
            <p:nvPr/>
          </p:nvGraphicFramePr>
          <p:xfrm>
            <a:off x="2517" y="822"/>
            <a:ext cx="737" cy="2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617" name="Equation" r:id="rId11" imgW="469696" imgH="177723" progId="Equation.DSMT4">
                    <p:embed/>
                  </p:oleObj>
                </mc:Choice>
                <mc:Fallback>
                  <p:oleObj name="Equation" r:id="rId11" imgW="469696" imgH="177723" progId="Equation.DSMT4">
                    <p:embed/>
                    <p:pic>
                      <p:nvPicPr>
                        <p:cNvPr id="18454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17" y="822"/>
                          <a:ext cx="737" cy="278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0000FF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CC00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" name="Group 42"/>
          <p:cNvGrpSpPr>
            <a:grpSpLocks/>
          </p:cNvGrpSpPr>
          <p:nvPr/>
        </p:nvGrpSpPr>
        <p:grpSpPr bwMode="auto">
          <a:xfrm>
            <a:off x="232475" y="3550311"/>
            <a:ext cx="2522537" cy="1365250"/>
            <a:chOff x="157" y="826"/>
            <a:chExt cx="1589" cy="860"/>
          </a:xfrm>
        </p:grpSpPr>
        <p:graphicFrame>
          <p:nvGraphicFramePr>
            <p:cNvPr id="19" name="Object 21"/>
            <p:cNvGraphicFramePr>
              <a:graphicFrameLocks noChangeAspect="1"/>
            </p:cNvGraphicFramePr>
            <p:nvPr/>
          </p:nvGraphicFramePr>
          <p:xfrm>
            <a:off x="157" y="1117"/>
            <a:ext cx="1589" cy="5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618" name="Equation" r:id="rId13" imgW="1206500" imgH="431800" progId="Equation.DSMT4">
                    <p:embed/>
                  </p:oleObj>
                </mc:Choice>
                <mc:Fallback>
                  <p:oleObj name="Equation" r:id="rId13" imgW="1206500" imgH="431800" progId="Equation.DSMT4">
                    <p:embed/>
                    <p:pic>
                      <p:nvPicPr>
                        <p:cNvPr id="18451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7" y="1117"/>
                          <a:ext cx="1589" cy="569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0000FF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CC00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Object 28"/>
            <p:cNvGraphicFramePr>
              <a:graphicFrameLocks noChangeAspect="1"/>
            </p:cNvGraphicFramePr>
            <p:nvPr/>
          </p:nvGraphicFramePr>
          <p:xfrm>
            <a:off x="690" y="826"/>
            <a:ext cx="693" cy="2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619" name="Equation" r:id="rId15" imgW="469696" imgH="177723" progId="Equation.DSMT4">
                    <p:embed/>
                  </p:oleObj>
                </mc:Choice>
                <mc:Fallback>
                  <p:oleObj name="Equation" r:id="rId15" imgW="469696" imgH="177723" progId="Equation.DSMT4">
                    <p:embed/>
                    <p:pic>
                      <p:nvPicPr>
                        <p:cNvPr id="18452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0" y="826"/>
                          <a:ext cx="693" cy="284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chemeClr val="accent2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" name="Rectangle 32"/>
          <p:cNvSpPr>
            <a:spLocks noChangeArrowheads="1"/>
          </p:cNvSpPr>
          <p:nvPr/>
        </p:nvSpPr>
        <p:spPr bwMode="auto">
          <a:xfrm>
            <a:off x="307087" y="5450549"/>
            <a:ext cx="13684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chemeClr val="accent2"/>
                </a:solidFill>
                <a:ea typeface="隶书" panose="02010509060101010101" pitchFamily="49" charset="-122"/>
              </a:rPr>
              <a:t>规律：</a:t>
            </a:r>
          </a:p>
        </p:txBody>
      </p:sp>
      <p:grpSp>
        <p:nvGrpSpPr>
          <p:cNvPr id="22" name="Group 41"/>
          <p:cNvGrpSpPr>
            <a:grpSpLocks/>
          </p:cNvGrpSpPr>
          <p:nvPr/>
        </p:nvGrpSpPr>
        <p:grpSpPr bwMode="auto">
          <a:xfrm>
            <a:off x="1458025" y="5307674"/>
            <a:ext cx="6985000" cy="889000"/>
            <a:chOff x="793" y="2115"/>
            <a:chExt cx="4400" cy="560"/>
          </a:xfrm>
        </p:grpSpPr>
        <p:sp>
          <p:nvSpPr>
            <p:cNvPr id="23" name="Rectangle 34"/>
            <p:cNvSpPr>
              <a:spLocks noChangeArrowheads="1"/>
            </p:cNvSpPr>
            <p:nvPr/>
          </p:nvSpPr>
          <p:spPr bwMode="auto">
            <a:xfrm>
              <a:off x="3061" y="2115"/>
              <a:ext cx="186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b="1">
                  <a:solidFill>
                    <a:srgbClr val="CC3300"/>
                  </a:solidFill>
                  <a:ea typeface="宋体" panose="02010600030101010101" pitchFamily="2" charset="-122"/>
                </a:rPr>
                <a:t>夹臂电阻（导）之积</a:t>
              </a:r>
            </a:p>
          </p:txBody>
        </p:sp>
        <p:sp>
          <p:nvSpPr>
            <p:cNvPr id="24" name="Line 36"/>
            <p:cNvSpPr>
              <a:spLocks noChangeShapeType="1"/>
            </p:cNvSpPr>
            <p:nvPr/>
          </p:nvSpPr>
          <p:spPr bwMode="auto">
            <a:xfrm>
              <a:off x="2834" y="2418"/>
              <a:ext cx="2268" cy="0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Rectangle 37"/>
            <p:cNvSpPr>
              <a:spLocks noChangeArrowheads="1"/>
            </p:cNvSpPr>
            <p:nvPr/>
          </p:nvSpPr>
          <p:spPr bwMode="auto">
            <a:xfrm>
              <a:off x="2879" y="2387"/>
              <a:ext cx="231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b="1">
                  <a:solidFill>
                    <a:srgbClr val="CC3300"/>
                  </a:solidFill>
                  <a:ea typeface="宋体" panose="02010600030101010101" pitchFamily="2" charset="-122"/>
                </a:rPr>
                <a:t>三个臂的电阻（导）之和</a:t>
              </a:r>
            </a:p>
          </p:txBody>
        </p:sp>
        <p:sp>
          <p:nvSpPr>
            <p:cNvPr id="26" name="Rectangle 38"/>
            <p:cNvSpPr>
              <a:spLocks noChangeArrowheads="1"/>
            </p:cNvSpPr>
            <p:nvPr/>
          </p:nvSpPr>
          <p:spPr bwMode="auto">
            <a:xfrm>
              <a:off x="793" y="2251"/>
              <a:ext cx="206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b="1" dirty="0">
                  <a:solidFill>
                    <a:srgbClr val="CC3300"/>
                  </a:solidFill>
                  <a:ea typeface="宋体" panose="02010600030101010101" pitchFamily="2" charset="-122"/>
                </a:rPr>
                <a:t>一个臂的电阻（导）</a:t>
              </a:r>
              <a:r>
                <a:rPr lang="en-US" altLang="zh-CN" b="1" dirty="0">
                  <a:solidFill>
                    <a:schemeClr val="hlink"/>
                  </a:solidFill>
                  <a:ea typeface="宋体" panose="02010600030101010101" pitchFamily="2" charset="-122"/>
                </a:rPr>
                <a:t>=</a:t>
              </a:r>
            </a:p>
          </p:txBody>
        </p:sp>
      </p:grpSp>
      <p:graphicFrame>
        <p:nvGraphicFramePr>
          <p:cNvPr id="27" name="Object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8247410"/>
              </p:ext>
            </p:extLst>
          </p:nvPr>
        </p:nvGraphicFramePr>
        <p:xfrm>
          <a:off x="5758562" y="3994811"/>
          <a:ext cx="3214688" cy="903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20" name="Equation" r:id="rId17" imgW="1536700" imgH="431800" progId="Equation.DSMT4">
                  <p:embed/>
                </p:oleObj>
              </mc:Choice>
              <mc:Fallback>
                <p:oleObj name="Equation" r:id="rId17" imgW="1536700" imgH="431800" progId="Equation.DSMT4">
                  <p:embed/>
                  <p:pic>
                    <p:nvPicPr>
                      <p:cNvPr id="294951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8562" y="3994811"/>
                        <a:ext cx="3214688" cy="903288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>
                                <a:alpha val="50195"/>
                              </a:schemeClr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82241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21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FCBFE92-4950-4839-A96A-5A927330549D}" type="datetime1">
              <a:rPr lang="zh-CN" altLang="en-US" smtClean="0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C9DF94E-7D5D-4B62-90AF-0A54AC735541}" type="slidenum">
              <a:rPr lang="en-US" altLang="zh-CN" smtClean="0"/>
              <a:pPr>
                <a:defRPr/>
              </a:pPr>
              <a:t>45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96526" y="3245007"/>
                <a:ext cx="2473947" cy="184730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12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31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12</m:t>
                                      </m:r>
                                    </m:sub>
                                  </m:s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13</m:t>
                                      </m:r>
                                    </m:sub>
                                  </m:s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23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12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23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12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13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23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31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23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12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13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23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26" y="3245007"/>
                <a:ext cx="2473947" cy="184730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Object 3"/>
          <p:cNvGraphicFramePr>
            <a:graphicFrameLocks noChangeAspect="1"/>
          </p:cNvGraphicFramePr>
          <p:nvPr/>
        </p:nvGraphicFramePr>
        <p:xfrm>
          <a:off x="188069" y="519024"/>
          <a:ext cx="3021013" cy="2478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72" name="Flash Movie" r:id="rId4" imgW="2391480" imgH="1961640" progId="Flash.Movie">
                  <p:embed/>
                </p:oleObj>
              </mc:Choice>
              <mc:Fallback>
                <p:oleObj name="Flash Movie" r:id="rId4" imgW="2391480" imgH="1961640" progId="Flash.Movie">
                  <p:embed/>
                  <p:pic>
                    <p:nvPicPr>
                      <p:cNvPr id="6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069" y="519024"/>
                        <a:ext cx="3021013" cy="2478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"/>
          <p:cNvGraphicFramePr>
            <a:graphicFrameLocks noChangeAspect="1"/>
          </p:cNvGraphicFramePr>
          <p:nvPr/>
        </p:nvGraphicFramePr>
        <p:xfrm>
          <a:off x="5868144" y="601574"/>
          <a:ext cx="2778125" cy="2373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73" name="Flash 文档" r:id="rId6" imgW="1997640" imgH="1707480" progId="Flash.Movie">
                  <p:embed/>
                </p:oleObj>
              </mc:Choice>
              <mc:Fallback>
                <p:oleObj name="Flash 文档" r:id="rId6" imgW="1997640" imgH="1707480" progId="Flash.Movie">
                  <p:embed/>
                  <p:pic>
                    <p:nvPicPr>
                      <p:cNvPr id="7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8144" y="601574"/>
                        <a:ext cx="2778125" cy="2373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5"/>
          <p:cNvGrpSpPr>
            <a:grpSpLocks/>
          </p:cNvGrpSpPr>
          <p:nvPr/>
        </p:nvGrpSpPr>
        <p:grpSpPr bwMode="auto">
          <a:xfrm>
            <a:off x="2627784" y="1136000"/>
            <a:ext cx="4114800" cy="609600"/>
            <a:chOff x="1728" y="3792"/>
            <a:chExt cx="2592" cy="384"/>
          </a:xfrm>
        </p:grpSpPr>
        <p:sp>
          <p:nvSpPr>
            <p:cNvPr id="9" name="AutoShape 6"/>
            <p:cNvSpPr>
              <a:spLocks noChangeArrowheads="1"/>
            </p:cNvSpPr>
            <p:nvPr/>
          </p:nvSpPr>
          <p:spPr bwMode="auto">
            <a:xfrm>
              <a:off x="2328" y="3792"/>
              <a:ext cx="1104" cy="96"/>
            </a:xfrm>
            <a:prstGeom prst="leftRightArrow">
              <a:avLst>
                <a:gd name="adj1" fmla="val 50000"/>
                <a:gd name="adj2" fmla="val 230000"/>
              </a:avLst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zh-CN" altLang="en-US" sz="1800"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10" name="Rectangle 7"/>
            <p:cNvSpPr>
              <a:spLocks noChangeArrowheads="1"/>
            </p:cNvSpPr>
            <p:nvPr/>
          </p:nvSpPr>
          <p:spPr bwMode="auto">
            <a:xfrm>
              <a:off x="1728" y="3888"/>
              <a:ext cx="25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i="1">
                  <a:solidFill>
                    <a:schemeClr val="hlink"/>
                  </a:solidFill>
                  <a:ea typeface="隶书" panose="02010509060101010101" pitchFamily="49" charset="-122"/>
                </a:rPr>
                <a:t>           u-i</a:t>
              </a:r>
              <a:r>
                <a:rPr lang="en-US" altLang="zh-CN">
                  <a:solidFill>
                    <a:schemeClr val="hlink"/>
                  </a:solidFill>
                  <a:ea typeface="隶书" panose="02010509060101010101" pitchFamily="49" charset="-122"/>
                </a:rPr>
                <a:t> </a:t>
              </a:r>
              <a:r>
                <a:rPr lang="zh-CN" altLang="en-US">
                  <a:solidFill>
                    <a:schemeClr val="hlink"/>
                  </a:solidFill>
                  <a:ea typeface="隶书" panose="02010509060101010101" pitchFamily="49" charset="-122"/>
                </a:rPr>
                <a:t>关系相同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/>
              <p:cNvSpPr txBox="1"/>
              <p:nvPr/>
            </p:nvSpPr>
            <p:spPr>
              <a:xfrm>
                <a:off x="2570473" y="3258159"/>
                <a:ext cx="5626669" cy="21307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13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12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12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31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23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13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13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12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23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23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12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12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13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23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23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12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13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13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31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23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23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31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12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13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13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23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12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12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13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23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13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23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0473" y="3258159"/>
                <a:ext cx="5626669" cy="213071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/>
              <p:cNvSpPr/>
              <p:nvPr/>
            </p:nvSpPr>
            <p:spPr>
              <a:xfrm>
                <a:off x="401924" y="5402022"/>
                <a:ext cx="5218801" cy="74481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X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23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23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6" name="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924" y="5402022"/>
                <a:ext cx="5218801" cy="74481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851438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FCBFE92-4950-4839-A96A-5A927330549D}" type="datetime1">
              <a:rPr lang="zh-CN" altLang="en-US" smtClean="0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C9DF94E-7D5D-4B62-90AF-0A54AC735541}" type="slidenum">
              <a:rPr lang="en-US" altLang="zh-CN" smtClean="0"/>
              <a:pPr>
                <a:defRPr/>
              </a:pPr>
              <a:t>46</a:t>
            </a:fld>
            <a:endParaRPr lang="en-US" altLang="zh-CN"/>
          </a:p>
        </p:txBody>
      </p:sp>
      <p:graphicFrame>
        <p:nvGraphicFramePr>
          <p:cNvPr id="5" name="Object 3"/>
          <p:cNvGraphicFramePr>
            <a:graphicFrameLocks noChangeAspect="1"/>
          </p:cNvGraphicFramePr>
          <p:nvPr/>
        </p:nvGraphicFramePr>
        <p:xfrm>
          <a:off x="188069" y="519024"/>
          <a:ext cx="3021013" cy="2478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11" name="Flash Movie" r:id="rId3" imgW="2391480" imgH="1961640" progId="Flash.Movie">
                  <p:embed/>
                </p:oleObj>
              </mc:Choice>
              <mc:Fallback>
                <p:oleObj name="Flash Movie" r:id="rId3" imgW="2391480" imgH="1961640" progId="Flash.Movie">
                  <p:embed/>
                  <p:pic>
                    <p:nvPicPr>
                      <p:cNvPr id="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069" y="519024"/>
                        <a:ext cx="3021013" cy="2478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/>
          <p:cNvGraphicFramePr>
            <a:graphicFrameLocks noChangeAspect="1"/>
          </p:cNvGraphicFramePr>
          <p:nvPr/>
        </p:nvGraphicFramePr>
        <p:xfrm>
          <a:off x="5868144" y="601574"/>
          <a:ext cx="2778125" cy="2373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12" name="Flash 文档" r:id="rId5" imgW="1997640" imgH="1707480" progId="Flash.Movie">
                  <p:embed/>
                </p:oleObj>
              </mc:Choice>
              <mc:Fallback>
                <p:oleObj name="Flash 文档" r:id="rId5" imgW="1997640" imgH="1707480" progId="Flash.Movie">
                  <p:embed/>
                  <p:pic>
                    <p:nvPicPr>
                      <p:cNvPr id="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8144" y="601574"/>
                        <a:ext cx="2778125" cy="2373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5"/>
          <p:cNvGrpSpPr>
            <a:grpSpLocks/>
          </p:cNvGrpSpPr>
          <p:nvPr/>
        </p:nvGrpSpPr>
        <p:grpSpPr bwMode="auto">
          <a:xfrm>
            <a:off x="2627784" y="1136000"/>
            <a:ext cx="4114800" cy="609600"/>
            <a:chOff x="1728" y="3792"/>
            <a:chExt cx="2592" cy="384"/>
          </a:xfrm>
        </p:grpSpPr>
        <p:sp>
          <p:nvSpPr>
            <p:cNvPr id="8" name="AutoShape 6"/>
            <p:cNvSpPr>
              <a:spLocks noChangeArrowheads="1"/>
            </p:cNvSpPr>
            <p:nvPr/>
          </p:nvSpPr>
          <p:spPr bwMode="auto">
            <a:xfrm>
              <a:off x="2328" y="3792"/>
              <a:ext cx="1104" cy="96"/>
            </a:xfrm>
            <a:prstGeom prst="leftRightArrow">
              <a:avLst>
                <a:gd name="adj1" fmla="val 50000"/>
                <a:gd name="adj2" fmla="val 230000"/>
              </a:avLst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zh-CN" altLang="en-US" sz="1800"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9" name="Rectangle 7"/>
            <p:cNvSpPr>
              <a:spLocks noChangeArrowheads="1"/>
            </p:cNvSpPr>
            <p:nvPr/>
          </p:nvSpPr>
          <p:spPr bwMode="auto">
            <a:xfrm>
              <a:off x="1728" y="3888"/>
              <a:ext cx="25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i="1">
                  <a:solidFill>
                    <a:schemeClr val="hlink"/>
                  </a:solidFill>
                  <a:ea typeface="隶书" panose="02010509060101010101" pitchFamily="49" charset="-122"/>
                </a:rPr>
                <a:t>           u-i</a:t>
              </a:r>
              <a:r>
                <a:rPr lang="en-US" altLang="zh-CN">
                  <a:solidFill>
                    <a:schemeClr val="hlink"/>
                  </a:solidFill>
                  <a:ea typeface="隶书" panose="02010509060101010101" pitchFamily="49" charset="-122"/>
                </a:rPr>
                <a:t> </a:t>
              </a:r>
              <a:r>
                <a:rPr lang="zh-CN" altLang="en-US">
                  <a:solidFill>
                    <a:schemeClr val="hlink"/>
                  </a:solidFill>
                  <a:ea typeface="隶书" panose="02010509060101010101" pitchFamily="49" charset="-122"/>
                </a:rPr>
                <a:t>关系相同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/>
              <p:cNvSpPr txBox="1"/>
              <p:nvPr/>
            </p:nvSpPr>
            <p:spPr>
              <a:xfrm>
                <a:off x="-180528" y="3149511"/>
                <a:ext cx="5315197" cy="326204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f>
                                    <m:f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𝐺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23</m:t>
                                          </m:r>
                                        </m:sub>
                                      </m:sSub>
                                    </m:den>
                                  </m:f>
                                  <m:f>
                                    <m:f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𝐺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13</m:t>
                                          </m:r>
                                        </m:sub>
                                      </m:sSub>
                                    </m:den>
                                  </m:f>
                                </m:num>
                                <m:den>
                                  <m:f>
                                    <m:f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p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𝐺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13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𝐺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12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𝐺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23</m:t>
                                          </m:r>
                                        </m:sub>
                                      </m:sSub>
                                    </m:den>
                                  </m:f>
                                </m:den>
                              </m:f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  <m:e>
                              <m:f>
                                <m:f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f>
                                    <m:f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𝐺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23</m:t>
                                          </m:r>
                                        </m:sub>
                                      </m:sSub>
                                    </m:den>
                                  </m:f>
                                  <m:f>
                                    <m:f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𝐺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den>
                                  </m:f>
                                </m:num>
                                <m:den>
                                  <m:f>
                                    <m:f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p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𝐺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13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𝐺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12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𝐺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23</m:t>
                                          </m:r>
                                        </m:sub>
                                      </m:sSub>
                                    </m:den>
                                  </m:f>
                                </m:den>
                              </m:f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13</m:t>
                                  </m:r>
                                </m:sub>
                              </m:sSub>
                            </m:e>
                            <m:e>
                              <m:f>
                                <m:f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f>
                                    <m:f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𝐺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den>
                                  </m:f>
                                  <m:f>
                                    <m:f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𝐺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12</m:t>
                                          </m:r>
                                        </m:sub>
                                      </m:sSub>
                                    </m:den>
                                  </m:f>
                                </m:num>
                                <m:den>
                                  <m:f>
                                    <m:f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p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𝐺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13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𝐺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12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𝐺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23</m:t>
                                          </m:r>
                                        </m:sub>
                                      </m:sSub>
                                    </m:den>
                                  </m:f>
                                </m:den>
                              </m:f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23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80528" y="3149511"/>
                <a:ext cx="5315197" cy="326204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44"/>
          <p:cNvGrpSpPr>
            <a:grpSpLocks/>
          </p:cNvGrpSpPr>
          <p:nvPr/>
        </p:nvGrpSpPr>
        <p:grpSpPr bwMode="auto">
          <a:xfrm>
            <a:off x="4932040" y="3523689"/>
            <a:ext cx="2416175" cy="1362075"/>
            <a:chOff x="2109" y="822"/>
            <a:chExt cx="1522" cy="858"/>
          </a:xfrm>
        </p:grpSpPr>
        <p:graphicFrame>
          <p:nvGraphicFramePr>
            <p:cNvPr id="14" name="Object 23"/>
            <p:cNvGraphicFramePr>
              <a:graphicFrameLocks noChangeAspect="1"/>
            </p:cNvGraphicFramePr>
            <p:nvPr/>
          </p:nvGraphicFramePr>
          <p:xfrm>
            <a:off x="2109" y="1111"/>
            <a:ext cx="1522" cy="5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613" name="Equation" r:id="rId8" imgW="1155700" imgH="431800" progId="Equation.DSMT4">
                    <p:embed/>
                  </p:oleObj>
                </mc:Choice>
                <mc:Fallback>
                  <p:oleObj name="Equation" r:id="rId8" imgW="1155700" imgH="431800" progId="Equation.DSMT4">
                    <p:embed/>
                    <p:pic>
                      <p:nvPicPr>
                        <p:cNvPr id="14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09" y="1111"/>
                          <a:ext cx="1522" cy="569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0000FF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>
                                  <a:alpha val="50195"/>
                                </a:schemeClr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Object 27"/>
            <p:cNvGraphicFramePr>
              <a:graphicFrameLocks noChangeAspect="1"/>
            </p:cNvGraphicFramePr>
            <p:nvPr/>
          </p:nvGraphicFramePr>
          <p:xfrm>
            <a:off x="2517" y="822"/>
            <a:ext cx="737" cy="2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614" name="Equation" r:id="rId10" imgW="469696" imgH="177723" progId="Equation.DSMT4">
                    <p:embed/>
                  </p:oleObj>
                </mc:Choice>
                <mc:Fallback>
                  <p:oleObj name="Equation" r:id="rId10" imgW="469696" imgH="177723" progId="Equation.DSMT4">
                    <p:embed/>
                    <p:pic>
                      <p:nvPicPr>
                        <p:cNvPr id="15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17" y="822"/>
                          <a:ext cx="737" cy="278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0000FF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CC00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6" name="Object 39"/>
          <p:cNvGraphicFramePr>
            <a:graphicFrameLocks noChangeAspect="1"/>
          </p:cNvGraphicFramePr>
          <p:nvPr/>
        </p:nvGraphicFramePr>
        <p:xfrm>
          <a:off x="5110524" y="5229428"/>
          <a:ext cx="3214688" cy="903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15" name="Equation" r:id="rId12" imgW="1536700" imgH="431800" progId="Equation.DSMT4">
                  <p:embed/>
                </p:oleObj>
              </mc:Choice>
              <mc:Fallback>
                <p:oleObj name="Equation" r:id="rId12" imgW="1536700" imgH="431800" progId="Equation.DSMT4">
                  <p:embed/>
                  <p:pic>
                    <p:nvPicPr>
                      <p:cNvPr id="16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0524" y="5229428"/>
                        <a:ext cx="3214688" cy="903288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>
                                <a:alpha val="50195"/>
                              </a:schemeClr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29470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9648" y="332656"/>
            <a:ext cx="8458200" cy="5181600"/>
          </a:xfrm>
        </p:spPr>
        <p:txBody>
          <a:bodyPr/>
          <a:lstStyle/>
          <a:p>
            <a:r>
              <a:rPr lang="zh-CN" altLang="en-US" dirty="0"/>
              <a:t>等效变换</a:t>
            </a:r>
            <a:r>
              <a:rPr lang="en-US" altLang="zh-CN" dirty="0"/>
              <a:t>——</a:t>
            </a:r>
            <a:r>
              <a:rPr lang="zh-CN" altLang="en-US" dirty="0"/>
              <a:t>将相对复杂的电路等效为简单电路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r>
              <a:rPr lang="zh-CN" altLang="en-US" dirty="0"/>
              <a:t>等效一端口网络：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        </a:t>
            </a:r>
            <a:r>
              <a:rPr lang="zh-CN" altLang="en-US" dirty="0"/>
              <a:t>两个不同一端口网络，相同的端口</a:t>
            </a:r>
            <a:r>
              <a:rPr lang="en-US" altLang="zh-CN" dirty="0"/>
              <a:t>u-</a:t>
            </a:r>
            <a:r>
              <a:rPr lang="en-US" altLang="zh-CN" dirty="0" err="1"/>
              <a:t>i</a:t>
            </a:r>
            <a:r>
              <a:rPr lang="zh-CN" altLang="en-US" dirty="0"/>
              <a:t>关系。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r>
              <a:rPr lang="zh-CN" altLang="en-US" dirty="0"/>
              <a:t>串联与并联</a:t>
            </a:r>
            <a:r>
              <a:rPr lang="en-US" altLang="zh-CN" dirty="0"/>
              <a:t>——</a:t>
            </a:r>
            <a:r>
              <a:rPr lang="zh-CN" altLang="en-US" dirty="0"/>
              <a:t>独立电源、线性电阻（导）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混联</a:t>
            </a:r>
            <a:r>
              <a:rPr lang="en-US" altLang="zh-CN" dirty="0"/>
              <a:t>——</a:t>
            </a:r>
            <a:r>
              <a:rPr lang="zh-CN" altLang="en-US" dirty="0"/>
              <a:t>电路对称、星型电路与三角型电路。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1C66AF1-24A0-446C-B0A8-326C494344F1}" type="datetime1">
              <a:rPr lang="zh-CN" altLang="en-US" smtClean="0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74CEB45-B7B4-4CEA-8E4A-DA539A380401}" type="slidenum">
              <a:rPr lang="en-US" altLang="zh-CN" smtClean="0"/>
              <a:pPr>
                <a:defRPr/>
              </a:pPr>
              <a:t>47</a:t>
            </a:fld>
            <a:endParaRPr lang="en-US" altLang="zh-CN" dirty="0"/>
          </a:p>
        </p:txBody>
      </p:sp>
      <p:sp>
        <p:nvSpPr>
          <p:cNvPr id="7" name="Text Box 23"/>
          <p:cNvSpPr txBox="1">
            <a:spLocks noChangeArrowheads="1"/>
          </p:cNvSpPr>
          <p:nvPr/>
        </p:nvSpPr>
        <p:spPr bwMode="auto">
          <a:xfrm>
            <a:off x="279648" y="4005064"/>
            <a:ext cx="886435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宋体" panose="02010600030101010101" pitchFamily="2" charset="-122"/>
              </a:rPr>
              <a:t>    </a:t>
            </a:r>
            <a:r>
              <a:rPr kumimoji="1"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等效是指对外部（端钮以外）电路而言，对内不成立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。</a:t>
            </a:r>
            <a:endParaRPr kumimoji="1" lang="zh-CN" altLang="en-US" sz="24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43608" y="5685706"/>
            <a:ext cx="66479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电源变换：电压源与电流源之间的互换。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612422" y="4791524"/>
            <a:ext cx="791915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电阻电路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——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由电阻、受控电源、独立电源构成的电路。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altLang="en-US" sz="2400" dirty="0">
                <a:solidFill>
                  <a:srgbClr val="FF0000"/>
                </a:solidFill>
              </a:rPr>
              <a:t>最简单的等效电路？</a:t>
            </a:r>
          </a:p>
        </p:txBody>
      </p:sp>
    </p:spTree>
    <p:extLst>
      <p:ext uri="{BB962C8B-B14F-4D97-AF65-F5344CB8AC3E}">
        <p14:creationId xmlns:p14="http://schemas.microsoft.com/office/powerpoint/2010/main" val="3048571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9D684FB4-D463-4C5D-B83D-E5563CC02E70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2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2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7F354B6-290E-4C27-A00A-6F81F60217B6}" type="slidenum">
              <a:rPr lang="en-US" altLang="zh-CN"/>
              <a:pPr>
                <a:defRPr/>
              </a:pPr>
              <a:t>48</a:t>
            </a:fld>
            <a:endParaRPr lang="en-US" altLang="zh-CN"/>
          </a:p>
        </p:txBody>
      </p:sp>
      <p:sp>
        <p:nvSpPr>
          <p:cNvPr id="20485" name="Rectangle 2"/>
          <p:cNvSpPr>
            <a:spLocks noChangeArrowheads="1"/>
          </p:cNvSpPr>
          <p:nvPr/>
        </p:nvSpPr>
        <p:spPr bwMode="auto">
          <a:xfrm>
            <a:off x="304800" y="651145"/>
            <a:ext cx="845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>
                <a:solidFill>
                  <a:srgbClr val="CC3300"/>
                </a:solidFill>
                <a:ea typeface="隶书" panose="02010509060101010101" pitchFamily="49" charset="-122"/>
              </a:rPr>
              <a:t>独立电源变换</a:t>
            </a:r>
          </a:p>
        </p:txBody>
      </p:sp>
      <p:graphicFrame>
        <p:nvGraphicFramePr>
          <p:cNvPr id="27341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6017462"/>
              </p:ext>
            </p:extLst>
          </p:nvPr>
        </p:nvGraphicFramePr>
        <p:xfrm>
          <a:off x="359568" y="1163637"/>
          <a:ext cx="1573213" cy="222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12" name="Visio" r:id="rId3" imgW="815673" imgH="1142286" progId="Visio.Drawing.11">
                  <p:embed/>
                </p:oleObj>
              </mc:Choice>
              <mc:Fallback>
                <p:oleObj name="Visio" r:id="rId3" imgW="815673" imgH="1142286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568" y="1163637"/>
                        <a:ext cx="1573213" cy="2225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341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6161390"/>
              </p:ext>
            </p:extLst>
          </p:nvPr>
        </p:nvGraphicFramePr>
        <p:xfrm>
          <a:off x="6095911" y="1151207"/>
          <a:ext cx="2301875" cy="168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13" name="Visio" r:id="rId5" imgW="1180005" imgH="872252" progId="Visio.Drawing.11">
                  <p:embed/>
                </p:oleObj>
              </mc:Choice>
              <mc:Fallback>
                <p:oleObj name="Visio" r:id="rId5" imgW="1180005" imgH="872252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5911" y="1151207"/>
                        <a:ext cx="2301875" cy="168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3413" name="Object 5"/>
          <p:cNvGraphicFramePr>
            <a:graphicFrameLocks noChangeAspect="1"/>
          </p:cNvGraphicFramePr>
          <p:nvPr/>
        </p:nvGraphicFramePr>
        <p:xfrm>
          <a:off x="1549400" y="3030538"/>
          <a:ext cx="1422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14" name="Equation" r:id="rId7" imgW="711200" imgH="228600" progId="Equation.DSMT4">
                  <p:embed/>
                </p:oleObj>
              </mc:Choice>
              <mc:Fallback>
                <p:oleObj name="Equation" r:id="rId7" imgW="711200" imgH="2286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9400" y="3030538"/>
                        <a:ext cx="14224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>
                                <a:alpha val="50195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341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7545939"/>
              </p:ext>
            </p:extLst>
          </p:nvPr>
        </p:nvGraphicFramePr>
        <p:xfrm>
          <a:off x="6407061" y="3010169"/>
          <a:ext cx="16764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15" name="Equation" r:id="rId9" imgW="838200" imgH="241300" progId="Equation.DSMT4">
                  <p:embed/>
                </p:oleObj>
              </mc:Choice>
              <mc:Fallback>
                <p:oleObj name="Equation" r:id="rId9" imgW="838200" imgH="2413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7061" y="3010169"/>
                        <a:ext cx="16764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>
                                <a:alpha val="50195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2" name="Rectangle 14"/>
          <p:cNvSpPr>
            <a:spLocks noChangeArrowheads="1"/>
          </p:cNvSpPr>
          <p:nvPr/>
        </p:nvSpPr>
        <p:spPr bwMode="auto">
          <a:xfrm>
            <a:off x="395288" y="163513"/>
            <a:ext cx="845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3200" dirty="0">
                <a:solidFill>
                  <a:schemeClr val="tx2"/>
                </a:solidFill>
                <a:ea typeface="隶书" panose="02010509060101010101" pitchFamily="49" charset="-122"/>
              </a:rPr>
              <a:t>2.6</a:t>
            </a:r>
            <a:r>
              <a:rPr lang="zh-CN" altLang="en-US" sz="3200" dirty="0">
                <a:solidFill>
                  <a:schemeClr val="tx2"/>
                </a:solidFill>
                <a:ea typeface="隶书" panose="02010509060101010101" pitchFamily="49" charset="-122"/>
              </a:rPr>
              <a:t>电源变换</a:t>
            </a:r>
            <a:r>
              <a:rPr lang="en-US" altLang="zh-CN" sz="3200" dirty="0">
                <a:solidFill>
                  <a:schemeClr val="tx2"/>
                </a:solidFill>
                <a:ea typeface="隶书" panose="02010509060101010101" pitchFamily="49" charset="-122"/>
              </a:rPr>
              <a:t>Source transformation</a:t>
            </a:r>
          </a:p>
        </p:txBody>
      </p:sp>
      <p:graphicFrame>
        <p:nvGraphicFramePr>
          <p:cNvPr id="273423" name="Object 15"/>
          <p:cNvGraphicFramePr>
            <a:graphicFrameLocks noChangeAspect="1"/>
          </p:cNvGraphicFramePr>
          <p:nvPr/>
        </p:nvGraphicFramePr>
        <p:xfrm>
          <a:off x="3797300" y="1916113"/>
          <a:ext cx="9906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16" name="Equation" r:id="rId11" imgW="495085" imgH="228501" progId="Equation.DSMT4">
                  <p:embed/>
                </p:oleObj>
              </mc:Choice>
              <mc:Fallback>
                <p:oleObj name="Equation" r:id="rId11" imgW="495085" imgH="228501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7300" y="1916113"/>
                        <a:ext cx="9906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3424" name="Group 16"/>
          <p:cNvGrpSpPr>
            <a:grpSpLocks/>
          </p:cNvGrpSpPr>
          <p:nvPr/>
        </p:nvGrpSpPr>
        <p:grpSpPr bwMode="auto">
          <a:xfrm>
            <a:off x="1070992" y="4806527"/>
            <a:ext cx="3563937" cy="1743075"/>
            <a:chOff x="576" y="576"/>
            <a:chExt cx="2245" cy="1098"/>
          </a:xfrm>
        </p:grpSpPr>
        <p:graphicFrame>
          <p:nvGraphicFramePr>
            <p:cNvPr id="20503" name="Object 17"/>
            <p:cNvGraphicFramePr>
              <a:graphicFrameLocks noChangeAspect="1"/>
            </p:cNvGraphicFramePr>
            <p:nvPr/>
          </p:nvGraphicFramePr>
          <p:xfrm>
            <a:off x="576" y="576"/>
            <a:ext cx="1868" cy="10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417" name="Visio" r:id="rId13" imgW="1511760" imgH="899255" progId="Visio.Drawing.11">
                    <p:embed/>
                  </p:oleObj>
                </mc:Choice>
                <mc:Fallback>
                  <p:oleObj name="Visio" r:id="rId13" imgW="1511760" imgH="899255" progId="Visio.Drawing.11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6" y="576"/>
                          <a:ext cx="1868" cy="10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04" name="Rectangle 18"/>
            <p:cNvSpPr>
              <a:spLocks noChangeArrowheads="1"/>
            </p:cNvSpPr>
            <p:nvPr/>
          </p:nvSpPr>
          <p:spPr bwMode="auto">
            <a:xfrm>
              <a:off x="2352" y="1152"/>
              <a:ext cx="469" cy="4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4400" b="1">
                  <a:solidFill>
                    <a:schemeClr val="hlink"/>
                  </a:solidFill>
                  <a:ea typeface="隶书" panose="02010509060101010101" pitchFamily="49" charset="-122"/>
                </a:rPr>
                <a:t>→</a:t>
              </a:r>
            </a:p>
          </p:txBody>
        </p:sp>
      </p:grpSp>
      <p:graphicFrame>
        <p:nvGraphicFramePr>
          <p:cNvPr id="273427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0360087"/>
              </p:ext>
            </p:extLst>
          </p:nvPr>
        </p:nvGraphicFramePr>
        <p:xfrm>
          <a:off x="4499992" y="4519190"/>
          <a:ext cx="2122487" cy="214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18" name="Visio" r:id="rId15" imgW="1089993" imgH="1103709" progId="Visio.Drawing.11">
                  <p:embed/>
                </p:oleObj>
              </mc:Choice>
              <mc:Fallback>
                <p:oleObj name="Visio" r:id="rId15" imgW="1089993" imgH="1103709" progId="Visio.Drawing.11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9992" y="4519190"/>
                        <a:ext cx="2122487" cy="2149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3428" name="Group 20"/>
          <p:cNvGrpSpPr>
            <a:grpSpLocks/>
          </p:cNvGrpSpPr>
          <p:nvPr/>
        </p:nvGrpSpPr>
        <p:grpSpPr bwMode="auto">
          <a:xfrm>
            <a:off x="2987675" y="2276475"/>
            <a:ext cx="2952750" cy="504825"/>
            <a:chOff x="1882" y="1434"/>
            <a:chExt cx="1860" cy="318"/>
          </a:xfrm>
        </p:grpSpPr>
        <p:sp>
          <p:nvSpPr>
            <p:cNvPr id="20501" name="Rectangle 21"/>
            <p:cNvSpPr>
              <a:spLocks noChangeArrowheads="1"/>
            </p:cNvSpPr>
            <p:nvPr/>
          </p:nvSpPr>
          <p:spPr bwMode="auto">
            <a:xfrm>
              <a:off x="2426" y="1464"/>
              <a:ext cx="86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solidFill>
                    <a:schemeClr val="accent2"/>
                  </a:solidFill>
                  <a:ea typeface="隶书" panose="02010509060101010101" pitchFamily="49" charset="-122"/>
                </a:rPr>
                <a:t>  </a:t>
              </a:r>
              <a:r>
                <a:rPr lang="zh-CN" altLang="en-US" sz="2800">
                  <a:solidFill>
                    <a:schemeClr val="hlink"/>
                  </a:solidFill>
                  <a:ea typeface="隶书" panose="02010509060101010101" pitchFamily="49" charset="-122"/>
                </a:rPr>
                <a:t>等效</a:t>
              </a:r>
            </a:p>
          </p:txBody>
        </p:sp>
        <p:sp>
          <p:nvSpPr>
            <p:cNvPr id="20502" name="AutoShape 22"/>
            <p:cNvSpPr>
              <a:spLocks noChangeArrowheads="1"/>
            </p:cNvSpPr>
            <p:nvPr/>
          </p:nvSpPr>
          <p:spPr bwMode="auto">
            <a:xfrm>
              <a:off x="1882" y="1434"/>
              <a:ext cx="1860" cy="91"/>
            </a:xfrm>
            <a:prstGeom prst="leftRightArrow">
              <a:avLst>
                <a:gd name="adj1" fmla="val 50000"/>
                <a:gd name="adj2" fmla="val 408791"/>
              </a:avLst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zh-CN" altLang="en-US" sz="1800"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</p:grpSp>
      <p:graphicFrame>
        <p:nvGraphicFramePr>
          <p:cNvPr id="273431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73966"/>
              </p:ext>
            </p:extLst>
          </p:nvPr>
        </p:nvGraphicFramePr>
        <p:xfrm>
          <a:off x="5750942" y="4447752"/>
          <a:ext cx="1131887" cy="172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19" name="Visio" r:id="rId17" imgW="432054" imgH="756094" progId="Visio.Drawing.11">
                  <p:embed/>
                </p:oleObj>
              </mc:Choice>
              <mc:Fallback>
                <p:oleObj name="Visio" r:id="rId17" imgW="432054" imgH="756094" progId="Visio.Drawing.11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0942" y="4447752"/>
                        <a:ext cx="1131887" cy="172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3432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7461177"/>
              </p:ext>
            </p:extLst>
          </p:nvPr>
        </p:nvGraphicFramePr>
        <p:xfrm>
          <a:off x="5608067" y="4590627"/>
          <a:ext cx="1131887" cy="172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20" name="Visio" r:id="rId19" imgW="432054" imgH="756094" progId="Visio.Drawing.11">
                  <p:embed/>
                </p:oleObj>
              </mc:Choice>
              <mc:Fallback>
                <p:oleObj name="Visio" r:id="rId19" imgW="432054" imgH="756094" progId="Visio.Drawing.11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8067" y="4590627"/>
                        <a:ext cx="1131887" cy="172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3433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6866961"/>
              </p:ext>
            </p:extLst>
          </p:nvPr>
        </p:nvGraphicFramePr>
        <p:xfrm>
          <a:off x="5895404" y="4590627"/>
          <a:ext cx="1131888" cy="172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21" name="Visio" r:id="rId21" imgW="432054" imgH="756094" progId="Visio.Drawing.11">
                  <p:embed/>
                </p:oleObj>
              </mc:Choice>
              <mc:Fallback>
                <p:oleObj name="Visio" r:id="rId21" imgW="432054" imgH="756094" progId="Visio.Drawing.11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95404" y="4590627"/>
                        <a:ext cx="1131888" cy="172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3434" name="Object 26"/>
          <p:cNvGraphicFramePr>
            <a:graphicFrameLocks noChangeAspect="1"/>
          </p:cNvGraphicFramePr>
          <p:nvPr/>
        </p:nvGraphicFramePr>
        <p:xfrm>
          <a:off x="3779838" y="1484313"/>
          <a:ext cx="14986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22" name="Equation" r:id="rId23" imgW="748975" imgH="241195" progId="Equation.DSMT4">
                  <p:embed/>
                </p:oleObj>
              </mc:Choice>
              <mc:Fallback>
                <p:oleObj name="Equation" r:id="rId23" imgW="748975" imgH="241195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838" y="1484313"/>
                        <a:ext cx="14986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>
                                <a:alpha val="50195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Rectangle 14"/>
          <p:cNvSpPr>
            <a:spLocks noChangeArrowheads="1"/>
          </p:cNvSpPr>
          <p:nvPr/>
        </p:nvSpPr>
        <p:spPr bwMode="auto">
          <a:xfrm>
            <a:off x="539552" y="3662901"/>
            <a:ext cx="7705725" cy="938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34" charset="-127"/>
                <a:ea typeface="굴림" pitchFamily="34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34" charset="-127"/>
                <a:ea typeface="굴림" pitchFamily="34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34" charset="-127"/>
                <a:ea typeface="굴림" pitchFamily="34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34" charset="-127"/>
                <a:ea typeface="굴림" pitchFamily="34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34" charset="-127"/>
                <a:ea typeface="굴림" pitchFamily="34" charset="-127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굴림" pitchFamily="34" charset="-127"/>
                <a:ea typeface="굴림" pitchFamily="34" charset="-127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굴림" pitchFamily="34" charset="-127"/>
                <a:ea typeface="굴림" pitchFamily="34" charset="-127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굴림" pitchFamily="34" charset="-127"/>
                <a:ea typeface="굴림" pitchFamily="34" charset="-127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굴림" pitchFamily="34" charset="-127"/>
                <a:ea typeface="굴림" pitchFamily="34" charset="-127"/>
                <a:cs typeface="+mn-cs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lang="zh-CN" altLang="en-US" sz="20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</a:t>
            </a:r>
            <a:r>
              <a:rPr lang="zh-CN" altLang="en-US" sz="2000" b="1" dirty="0">
                <a:solidFill>
                  <a:srgbClr val="00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一个电压为</a:t>
            </a:r>
            <a:r>
              <a:rPr lang="en-US" altLang="zh-CN" sz="20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2000" baseline="-250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  <a:r>
              <a:rPr lang="zh-CN" altLang="en-US" sz="2000" b="1" dirty="0">
                <a:solidFill>
                  <a:srgbClr val="00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的独立电压源与一个电阻为</a:t>
            </a:r>
            <a:r>
              <a:rPr lang="en-US" altLang="zh-CN" sz="20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zh-CN" altLang="en-US" sz="2000" b="1" dirty="0">
                <a:solidFill>
                  <a:srgbClr val="00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的线性定常电阻器串联而成的支路，可用一个独立电流源与一个线性定常电阻器并联而成的支路等效。</a:t>
            </a:r>
          </a:p>
        </p:txBody>
      </p:sp>
      <p:sp>
        <p:nvSpPr>
          <p:cNvPr id="31" name="Rectangle 12"/>
          <p:cNvSpPr>
            <a:spLocks noChangeArrowheads="1"/>
          </p:cNvSpPr>
          <p:nvPr/>
        </p:nvSpPr>
        <p:spPr bwMode="auto">
          <a:xfrm>
            <a:off x="6948264" y="5092277"/>
            <a:ext cx="1990725" cy="1296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34" charset="-127"/>
                <a:ea typeface="굴림" pitchFamily="34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34" charset="-127"/>
                <a:ea typeface="굴림" pitchFamily="34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34" charset="-127"/>
                <a:ea typeface="굴림" pitchFamily="34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34" charset="-127"/>
                <a:ea typeface="굴림" pitchFamily="34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34" charset="-127"/>
                <a:ea typeface="굴림" pitchFamily="34" charset="-127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굴림" pitchFamily="34" charset="-127"/>
                <a:ea typeface="굴림" pitchFamily="34" charset="-127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굴림" pitchFamily="34" charset="-127"/>
                <a:ea typeface="굴림" pitchFamily="34" charset="-127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굴림" pitchFamily="34" charset="-127"/>
                <a:ea typeface="굴림" pitchFamily="34" charset="-127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굴림" pitchFamily="34" charset="-127"/>
                <a:ea typeface="굴림" pitchFamily="34" charset="-127"/>
                <a:cs typeface="+mn-cs"/>
              </a:defRPr>
            </a:lvl9pPr>
          </a:lstStyle>
          <a:p>
            <a:pPr>
              <a:buFontTx/>
              <a:buNone/>
            </a:pPr>
            <a:r>
              <a:rPr lang="zh-CN" altLang="en-US" sz="2400" b="1" dirty="0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注意电压源与电流源间的参考方向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3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3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3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3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3" dur="2000"/>
                                        <p:tgtEl>
                                          <p:spTgt spid="273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8" dur="2000"/>
                                        <p:tgtEl>
                                          <p:spTgt spid="273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3" dur="2000"/>
                                        <p:tgtEl>
                                          <p:spTgt spid="273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3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3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50" dur="2000"/>
                                        <p:tgtEl>
                                          <p:spTgt spid="273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55" dur="2000"/>
                                        <p:tgtEl>
                                          <p:spTgt spid="273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60" dur="2000"/>
                                        <p:tgtEl>
                                          <p:spTgt spid="273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991" name="Group 223"/>
          <p:cNvGrpSpPr>
            <a:grpSpLocks/>
          </p:cNvGrpSpPr>
          <p:nvPr/>
        </p:nvGrpSpPr>
        <p:grpSpPr bwMode="auto">
          <a:xfrm>
            <a:off x="5580063" y="404813"/>
            <a:ext cx="2592387" cy="1871662"/>
            <a:chOff x="340" y="1570"/>
            <a:chExt cx="1633" cy="1179"/>
          </a:xfrm>
        </p:grpSpPr>
        <p:sp>
          <p:nvSpPr>
            <p:cNvPr id="32992" name="Text Box 224"/>
            <p:cNvSpPr txBox="1">
              <a:spLocks noChangeArrowheads="1"/>
            </p:cNvSpPr>
            <p:nvPr/>
          </p:nvSpPr>
          <p:spPr bwMode="auto">
            <a:xfrm>
              <a:off x="1320" y="1570"/>
              <a:ext cx="25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i="1">
                  <a:solidFill>
                    <a:schemeClr val="bg1"/>
                  </a:solidFill>
                  <a:ea typeface="宋体" panose="02010600030101010101" pitchFamily="2" charset="-122"/>
                </a:rPr>
                <a:t>i</a:t>
              </a:r>
              <a:endParaRPr kumimoji="1" lang="en-US" altLang="zh-CN">
                <a:solidFill>
                  <a:schemeClr val="bg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2993" name="Text Box 225"/>
            <p:cNvSpPr txBox="1">
              <a:spLocks noChangeArrowheads="1"/>
            </p:cNvSpPr>
            <p:nvPr/>
          </p:nvSpPr>
          <p:spPr bwMode="auto">
            <a:xfrm>
              <a:off x="1172" y="2069"/>
              <a:ext cx="363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i="1" dirty="0">
                  <a:ea typeface="宋体" panose="02010600030101010101" pitchFamily="2" charset="-122"/>
                </a:rPr>
                <a:t>R</a:t>
              </a:r>
              <a:r>
                <a:rPr kumimoji="1" lang="en-US" altLang="zh-CN" baseline="-25000" dirty="0">
                  <a:ea typeface="宋体" panose="02010600030101010101" pitchFamily="2" charset="-122"/>
                </a:rPr>
                <a:t>S</a:t>
              </a:r>
              <a:endParaRPr kumimoji="1" lang="en-US" altLang="zh-CN" dirty="0">
                <a:ea typeface="宋体" panose="02010600030101010101" pitchFamily="2" charset="-122"/>
              </a:endParaRPr>
            </a:p>
          </p:txBody>
        </p:sp>
        <p:sp>
          <p:nvSpPr>
            <p:cNvPr id="32994" name="Text Box 226"/>
            <p:cNvSpPr txBox="1">
              <a:spLocks noChangeArrowheads="1"/>
            </p:cNvSpPr>
            <p:nvPr/>
          </p:nvSpPr>
          <p:spPr bwMode="auto">
            <a:xfrm>
              <a:off x="1614" y="1842"/>
              <a:ext cx="31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i="1">
                  <a:solidFill>
                    <a:schemeClr val="bg1"/>
                  </a:solidFill>
                  <a:ea typeface="宋体" panose="02010600030101010101" pitchFamily="2" charset="-122"/>
                </a:rPr>
                <a:t>+</a:t>
              </a:r>
              <a:endParaRPr kumimoji="1" lang="en-US" altLang="zh-CN">
                <a:solidFill>
                  <a:schemeClr val="bg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2995" name="Text Box 227"/>
            <p:cNvSpPr txBox="1">
              <a:spLocks noChangeArrowheads="1"/>
            </p:cNvSpPr>
            <p:nvPr/>
          </p:nvSpPr>
          <p:spPr bwMode="auto">
            <a:xfrm>
              <a:off x="1662" y="2114"/>
              <a:ext cx="31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i="1">
                  <a:solidFill>
                    <a:schemeClr val="bg1"/>
                  </a:solidFill>
                  <a:ea typeface="宋体" panose="02010600030101010101" pitchFamily="2" charset="-122"/>
                </a:rPr>
                <a:t>u</a:t>
              </a:r>
              <a:endParaRPr kumimoji="1" lang="en-US" altLang="zh-CN">
                <a:solidFill>
                  <a:schemeClr val="bg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2996" name="Text Box 228"/>
            <p:cNvSpPr txBox="1">
              <a:spLocks noChangeArrowheads="1"/>
            </p:cNvSpPr>
            <p:nvPr/>
          </p:nvSpPr>
          <p:spPr bwMode="auto">
            <a:xfrm>
              <a:off x="1614" y="2341"/>
              <a:ext cx="31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i="1">
                  <a:solidFill>
                    <a:schemeClr val="bg1"/>
                  </a:solidFill>
                  <a:ea typeface="宋体" panose="02010600030101010101" pitchFamily="2" charset="-122"/>
                </a:rPr>
                <a:t>_</a:t>
              </a:r>
              <a:endParaRPr kumimoji="1" lang="en-US" altLang="zh-CN">
                <a:solidFill>
                  <a:schemeClr val="bg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2997" name="Line 229"/>
            <p:cNvSpPr>
              <a:spLocks noChangeShapeType="1"/>
            </p:cNvSpPr>
            <p:nvPr/>
          </p:nvSpPr>
          <p:spPr bwMode="auto">
            <a:xfrm>
              <a:off x="1270" y="1932"/>
              <a:ext cx="363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998" name="Line 230"/>
            <p:cNvSpPr>
              <a:spLocks noChangeShapeType="1"/>
            </p:cNvSpPr>
            <p:nvPr/>
          </p:nvSpPr>
          <p:spPr bwMode="auto">
            <a:xfrm>
              <a:off x="1074" y="1887"/>
              <a:ext cx="0" cy="81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999" name="Oval 231"/>
            <p:cNvSpPr>
              <a:spLocks noChangeArrowheads="1"/>
            </p:cNvSpPr>
            <p:nvPr/>
          </p:nvSpPr>
          <p:spPr bwMode="auto">
            <a:xfrm>
              <a:off x="1837" y="1842"/>
              <a:ext cx="98" cy="91"/>
            </a:xfrm>
            <a:prstGeom prst="ellips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000" name="Line 232"/>
            <p:cNvSpPr>
              <a:spLocks noChangeShapeType="1"/>
            </p:cNvSpPr>
            <p:nvPr/>
          </p:nvSpPr>
          <p:spPr bwMode="auto">
            <a:xfrm>
              <a:off x="521" y="1888"/>
              <a:ext cx="0" cy="81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001" name="Line 233"/>
            <p:cNvSpPr>
              <a:spLocks noChangeShapeType="1"/>
            </p:cNvSpPr>
            <p:nvPr/>
          </p:nvSpPr>
          <p:spPr bwMode="auto">
            <a:xfrm flipV="1">
              <a:off x="521" y="1968"/>
              <a:ext cx="0" cy="28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002" name="Text Box 234"/>
            <p:cNvSpPr txBox="1">
              <a:spLocks noChangeArrowheads="1"/>
            </p:cNvSpPr>
            <p:nvPr/>
          </p:nvSpPr>
          <p:spPr bwMode="auto">
            <a:xfrm>
              <a:off x="567" y="1888"/>
              <a:ext cx="36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i="1">
                  <a:solidFill>
                    <a:schemeClr val="bg1"/>
                  </a:solidFill>
                  <a:ea typeface="宋体" panose="02010600030101010101" pitchFamily="2" charset="-122"/>
                </a:rPr>
                <a:t>i</a:t>
              </a:r>
              <a:r>
                <a:rPr kumimoji="1" lang="en-US" altLang="zh-CN" baseline="-25000">
                  <a:solidFill>
                    <a:schemeClr val="bg1"/>
                  </a:solidFill>
                  <a:ea typeface="宋体" panose="02010600030101010101" pitchFamily="2" charset="-122"/>
                </a:rPr>
                <a:t>S</a:t>
              </a:r>
              <a:endParaRPr kumimoji="1" lang="en-US" altLang="zh-CN">
                <a:solidFill>
                  <a:schemeClr val="bg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3003" name="Line 235"/>
            <p:cNvSpPr>
              <a:spLocks noChangeShapeType="1"/>
            </p:cNvSpPr>
            <p:nvPr/>
          </p:nvSpPr>
          <p:spPr bwMode="auto">
            <a:xfrm>
              <a:off x="521" y="2703"/>
              <a:ext cx="1323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004" name="Line 236"/>
            <p:cNvSpPr>
              <a:spLocks noChangeShapeType="1"/>
            </p:cNvSpPr>
            <p:nvPr/>
          </p:nvSpPr>
          <p:spPr bwMode="auto">
            <a:xfrm flipV="1">
              <a:off x="521" y="1887"/>
              <a:ext cx="132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33005" name="Group 237"/>
            <p:cNvGrpSpPr>
              <a:grpSpLocks/>
            </p:cNvGrpSpPr>
            <p:nvPr/>
          </p:nvGrpSpPr>
          <p:grpSpPr bwMode="auto">
            <a:xfrm>
              <a:off x="340" y="2205"/>
              <a:ext cx="392" cy="363"/>
              <a:chOff x="4785" y="709"/>
              <a:chExt cx="363" cy="363"/>
            </a:xfrm>
          </p:grpSpPr>
          <p:sp>
            <p:nvSpPr>
              <p:cNvPr id="33006" name="Oval 238"/>
              <p:cNvSpPr>
                <a:spLocks noChangeArrowheads="1"/>
              </p:cNvSpPr>
              <p:nvPr/>
            </p:nvSpPr>
            <p:spPr bwMode="auto">
              <a:xfrm>
                <a:off x="4785" y="709"/>
                <a:ext cx="363" cy="363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zh-CN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33007" name="Line 239"/>
              <p:cNvSpPr>
                <a:spLocks noChangeShapeType="1"/>
              </p:cNvSpPr>
              <p:nvPr/>
            </p:nvSpPr>
            <p:spPr bwMode="auto">
              <a:xfrm>
                <a:off x="4785" y="890"/>
                <a:ext cx="363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3008" name="Oval 240"/>
            <p:cNvSpPr>
              <a:spLocks noChangeArrowheads="1"/>
            </p:cNvSpPr>
            <p:nvPr/>
          </p:nvSpPr>
          <p:spPr bwMode="auto">
            <a:xfrm>
              <a:off x="1837" y="2658"/>
              <a:ext cx="98" cy="91"/>
            </a:xfrm>
            <a:prstGeom prst="ellips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009" name="Rectangle 241"/>
            <p:cNvSpPr>
              <a:spLocks noChangeArrowheads="1"/>
            </p:cNvSpPr>
            <p:nvPr/>
          </p:nvSpPr>
          <p:spPr bwMode="auto">
            <a:xfrm>
              <a:off x="1025" y="2114"/>
              <a:ext cx="13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2770" name="Text Box 2"/>
          <p:cNvSpPr txBox="1">
            <a:spLocks noChangeArrowheads="1"/>
          </p:cNvSpPr>
          <p:nvPr/>
        </p:nvSpPr>
        <p:spPr bwMode="auto">
          <a:xfrm>
            <a:off x="503238" y="2997200"/>
            <a:ext cx="853281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AutoNum type="circleNumDbPlain" startAt="2"/>
            </a:pPr>
            <a:r>
              <a:rPr kumimoji="1" lang="zh-CN" altLang="en-US" sz="2000" b="1">
                <a:latin typeface="楷体_GB2312" pitchFamily="49" charset="-122"/>
                <a:ea typeface="楷体_GB2312" pitchFamily="49" charset="-122"/>
              </a:rPr>
              <a:t>等效是对外部电路等效，对内部电路是不等效的。</a:t>
            </a:r>
          </a:p>
        </p:txBody>
      </p:sp>
      <p:sp>
        <p:nvSpPr>
          <p:cNvPr id="32772" name="Rectangle 4"/>
          <p:cNvSpPr>
            <a:spLocks noChangeArrowheads="1"/>
          </p:cNvSpPr>
          <p:nvPr/>
        </p:nvSpPr>
        <p:spPr bwMode="auto">
          <a:xfrm>
            <a:off x="1691680" y="4149725"/>
            <a:ext cx="388279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000" b="1" dirty="0">
                <a:latin typeface="楷体_GB2312" pitchFamily="49" charset="-122"/>
                <a:ea typeface="楷体_GB2312" pitchFamily="49" charset="-122"/>
              </a:rPr>
              <a:t>电流源开路， </a:t>
            </a:r>
            <a:r>
              <a:rPr kumimoji="1" lang="en-US" altLang="zh-CN" sz="2000" i="1" dirty="0">
                <a:ea typeface="楷体_GB2312" pitchFamily="49" charset="-122"/>
              </a:rPr>
              <a:t>R</a:t>
            </a:r>
            <a:r>
              <a:rPr kumimoji="1" lang="en-US" altLang="zh-CN" sz="2000" baseline="-25000" dirty="0">
                <a:ea typeface="楷体_GB2312" pitchFamily="49" charset="-122"/>
              </a:rPr>
              <a:t>S</a:t>
            </a:r>
            <a:r>
              <a:rPr kumimoji="1" lang="zh-CN" altLang="en-US" sz="2000" b="1" dirty="0">
                <a:latin typeface="楷体_GB2312" pitchFamily="49" charset="-122"/>
                <a:ea typeface="楷体_GB2312" pitchFamily="49" charset="-122"/>
              </a:rPr>
              <a:t>上有电流流过。</a:t>
            </a:r>
          </a:p>
        </p:txBody>
      </p:sp>
      <p:sp>
        <p:nvSpPr>
          <p:cNvPr id="32773" name="Rectangle 5"/>
          <p:cNvSpPr>
            <a:spLocks noChangeArrowheads="1"/>
          </p:cNvSpPr>
          <p:nvPr/>
        </p:nvSpPr>
        <p:spPr bwMode="auto">
          <a:xfrm>
            <a:off x="1763688" y="5229225"/>
            <a:ext cx="336823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000" b="1" dirty="0">
                <a:latin typeface="楷体_GB2312" pitchFamily="49" charset="-122"/>
                <a:ea typeface="楷体_GB2312" pitchFamily="49" charset="-122"/>
              </a:rPr>
              <a:t>电流源短路</a:t>
            </a:r>
            <a:r>
              <a:rPr kumimoji="1" lang="en-US" altLang="zh-CN" sz="2000" b="1" dirty="0">
                <a:latin typeface="楷体_GB2312" pitchFamily="49" charset="-122"/>
                <a:ea typeface="楷体_GB2312" pitchFamily="49" charset="-122"/>
              </a:rPr>
              <a:t>,  </a:t>
            </a:r>
            <a:r>
              <a:rPr kumimoji="1" lang="en-US" altLang="zh-CN" sz="2000" i="1" dirty="0">
                <a:ea typeface="楷体_GB2312" pitchFamily="49" charset="-122"/>
              </a:rPr>
              <a:t>R</a:t>
            </a:r>
            <a:r>
              <a:rPr kumimoji="1" lang="en-US" altLang="zh-CN" sz="2000" baseline="-25000" dirty="0">
                <a:ea typeface="楷体_GB2312" pitchFamily="49" charset="-122"/>
              </a:rPr>
              <a:t>S</a:t>
            </a:r>
            <a:r>
              <a:rPr kumimoji="1" lang="zh-CN" altLang="en-US" sz="2000" b="1" dirty="0">
                <a:latin typeface="楷体_GB2312" pitchFamily="49" charset="-122"/>
                <a:ea typeface="楷体_GB2312" pitchFamily="49" charset="-122"/>
              </a:rPr>
              <a:t>上无电流。</a:t>
            </a:r>
          </a:p>
        </p:txBody>
      </p:sp>
      <p:sp>
        <p:nvSpPr>
          <p:cNvPr id="32774" name="Rectangle 6"/>
          <p:cNvSpPr>
            <a:spLocks noChangeArrowheads="1"/>
          </p:cNvSpPr>
          <p:nvPr/>
        </p:nvSpPr>
        <p:spPr bwMode="auto">
          <a:xfrm>
            <a:off x="1547813" y="4652963"/>
            <a:ext cx="361509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000" b="1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 </a:t>
            </a:r>
            <a:r>
              <a:rPr kumimoji="1" lang="zh-CN" altLang="en-US" sz="2000" b="1">
                <a:latin typeface="楷体_GB2312" pitchFamily="49" charset="-122"/>
                <a:ea typeface="楷体_GB2312" pitchFamily="49" charset="-122"/>
              </a:rPr>
              <a:t>电压源短路， </a:t>
            </a:r>
            <a:r>
              <a:rPr kumimoji="1" lang="en-US" altLang="zh-CN" sz="2000" i="1">
                <a:ea typeface="楷体_GB2312" pitchFamily="49" charset="-122"/>
              </a:rPr>
              <a:t>R</a:t>
            </a:r>
            <a:r>
              <a:rPr kumimoji="1" lang="en-US" altLang="zh-CN" sz="2000" baseline="-25000">
                <a:ea typeface="楷体_GB2312" pitchFamily="49" charset="-122"/>
              </a:rPr>
              <a:t>S</a:t>
            </a:r>
            <a:r>
              <a:rPr kumimoji="1" lang="zh-CN" altLang="en-US" sz="2000" b="1">
                <a:latin typeface="楷体_GB2312" pitchFamily="49" charset="-122"/>
                <a:ea typeface="楷体_GB2312" pitchFamily="49" charset="-122"/>
              </a:rPr>
              <a:t>上有电流；</a:t>
            </a:r>
          </a:p>
        </p:txBody>
      </p:sp>
      <p:sp>
        <p:nvSpPr>
          <p:cNvPr id="32775" name="Rectangle 7"/>
          <p:cNvSpPr>
            <a:spLocks noChangeArrowheads="1"/>
          </p:cNvSpPr>
          <p:nvPr/>
        </p:nvSpPr>
        <p:spPr bwMode="auto">
          <a:xfrm>
            <a:off x="1331913" y="3556996"/>
            <a:ext cx="640873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sz="2000" b="1">
                <a:latin typeface="楷体_GB2312" pitchFamily="49" charset="-122"/>
                <a:ea typeface="楷体_GB2312" pitchFamily="49" charset="-122"/>
              </a:rPr>
              <a:t> </a:t>
            </a:r>
            <a:r>
              <a:rPr kumimoji="1" lang="en-US" altLang="zh-CN" sz="2000" b="1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 </a:t>
            </a:r>
            <a:r>
              <a:rPr kumimoji="1" lang="zh-CN" altLang="en-US" sz="2000" b="1">
                <a:latin typeface="楷体_GB2312" pitchFamily="49" charset="-122"/>
                <a:ea typeface="楷体_GB2312" pitchFamily="49" charset="-122"/>
              </a:rPr>
              <a:t>电压源开路， </a:t>
            </a:r>
            <a:r>
              <a:rPr kumimoji="1" lang="en-US" altLang="zh-CN" sz="2000" i="1">
                <a:ea typeface="楷体_GB2312" pitchFamily="49" charset="-122"/>
              </a:rPr>
              <a:t>R</a:t>
            </a:r>
            <a:r>
              <a:rPr kumimoji="1" lang="en-US" altLang="zh-CN" sz="2000" baseline="-25000">
                <a:ea typeface="楷体_GB2312" pitchFamily="49" charset="-122"/>
              </a:rPr>
              <a:t>S</a:t>
            </a:r>
            <a:r>
              <a:rPr kumimoji="1" lang="zh-CN" altLang="en-US" sz="2000" b="1">
                <a:latin typeface="楷体_GB2312" pitchFamily="49" charset="-122"/>
                <a:ea typeface="楷体_GB2312" pitchFamily="49" charset="-122"/>
              </a:rPr>
              <a:t>上无电流流过</a:t>
            </a:r>
            <a:endParaRPr kumimoji="1" lang="zh-CN" altLang="en-US" sz="2000" b="1">
              <a:ea typeface="楷体_GB2312" pitchFamily="49" charset="-122"/>
            </a:endParaRPr>
          </a:p>
        </p:txBody>
      </p:sp>
      <p:grpSp>
        <p:nvGrpSpPr>
          <p:cNvPr id="32776" name="Group 8"/>
          <p:cNvGrpSpPr>
            <a:grpSpLocks/>
          </p:cNvGrpSpPr>
          <p:nvPr/>
        </p:nvGrpSpPr>
        <p:grpSpPr bwMode="auto">
          <a:xfrm>
            <a:off x="6227763" y="1052513"/>
            <a:ext cx="381000" cy="914400"/>
            <a:chOff x="876" y="3312"/>
            <a:chExt cx="240" cy="576"/>
          </a:xfrm>
        </p:grpSpPr>
        <p:sp>
          <p:nvSpPr>
            <p:cNvPr id="32777" name="Oval 9"/>
            <p:cNvSpPr>
              <a:spLocks noChangeArrowheads="1"/>
            </p:cNvSpPr>
            <p:nvPr/>
          </p:nvSpPr>
          <p:spPr bwMode="auto">
            <a:xfrm>
              <a:off x="876" y="3312"/>
              <a:ext cx="240" cy="576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kumimoji="1" lang="en-US" altLang="zh-CN" sz="2400" b="1" i="1" dirty="0" err="1">
                  <a:ea typeface="宋体" panose="02010600030101010101" pitchFamily="2" charset="-122"/>
                </a:rPr>
                <a:t>i</a:t>
              </a:r>
              <a:r>
                <a:rPr kumimoji="1" lang="en-US" altLang="zh-CN" sz="2400" b="1" i="1" baseline="-25000" dirty="0" err="1">
                  <a:ea typeface="宋体" panose="02010600030101010101" pitchFamily="2" charset="-122"/>
                </a:rPr>
                <a:t>S</a:t>
              </a:r>
              <a:endParaRPr kumimoji="1" lang="en-US" altLang="zh-CN" sz="2400" b="1" dirty="0">
                <a:ea typeface="宋体" panose="02010600030101010101" pitchFamily="2" charset="-122"/>
              </a:endParaRPr>
            </a:p>
          </p:txBody>
        </p:sp>
        <p:sp>
          <p:nvSpPr>
            <p:cNvPr id="32778" name="Line 10"/>
            <p:cNvSpPr>
              <a:spLocks noChangeShapeType="1"/>
            </p:cNvSpPr>
            <p:nvPr/>
          </p:nvSpPr>
          <p:spPr bwMode="auto">
            <a:xfrm>
              <a:off x="1116" y="3564"/>
              <a:ext cx="0" cy="9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2779" name="Text Box 11"/>
          <p:cNvSpPr txBox="1">
            <a:spLocks noChangeArrowheads="1"/>
          </p:cNvSpPr>
          <p:nvPr/>
        </p:nvSpPr>
        <p:spPr bwMode="auto">
          <a:xfrm>
            <a:off x="623888" y="5734050"/>
            <a:ext cx="8268592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AutoNum type="circleNumDbPlain" startAt="3"/>
            </a:pPr>
            <a:r>
              <a:rPr kumimoji="1" lang="zh-CN" altLang="en-US" sz="2000" b="1" dirty="0">
                <a:latin typeface="楷体_GB2312" pitchFamily="49" charset="-122"/>
                <a:ea typeface="楷体_GB2312" pitchFamily="49" charset="-122"/>
              </a:rPr>
              <a:t>理想电压源与理想电流源不能相互转换。</a:t>
            </a:r>
            <a:endParaRPr kumimoji="1" lang="en-US" altLang="zh-CN" sz="2000" b="1" dirty="0">
              <a:latin typeface="楷体_GB2312" pitchFamily="49" charset="-122"/>
              <a:ea typeface="楷体_GB2312" pitchFamily="49" charset="-122"/>
            </a:endParaRPr>
          </a:p>
          <a:p>
            <a:pPr>
              <a:spcBef>
                <a:spcPct val="50000"/>
              </a:spcBef>
              <a:buFontTx/>
              <a:buAutoNum type="circleNumDbPlain" startAt="3"/>
            </a:pP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含独立电源的一端口网络最简单等效电路：戴维南支路或诺顿支路</a:t>
            </a:r>
            <a:endParaRPr kumimoji="1" lang="zh-CN" altLang="en-US" sz="2000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2819" name="Text Box 51"/>
          <p:cNvSpPr txBox="1">
            <a:spLocks noChangeArrowheads="1"/>
          </p:cNvSpPr>
          <p:nvPr/>
        </p:nvSpPr>
        <p:spPr bwMode="auto">
          <a:xfrm>
            <a:off x="468313" y="1412875"/>
            <a:ext cx="266382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AutoNum type="circleNumDbPlain"/>
            </a:pPr>
            <a:r>
              <a:rPr kumimoji="1" lang="zh-CN" altLang="en-US" sz="2000" b="1" dirty="0">
                <a:latin typeface="楷体_GB2312" pitchFamily="49" charset="-122"/>
                <a:ea typeface="楷体_GB2312" pitchFamily="49" charset="-122"/>
              </a:rPr>
              <a:t>变换关系</a:t>
            </a:r>
            <a:endParaRPr kumimoji="1" lang="zh-CN" altLang="en-US" sz="2000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2825" name="Line 57"/>
          <p:cNvSpPr>
            <a:spLocks noChangeShapeType="1"/>
          </p:cNvSpPr>
          <p:nvPr/>
        </p:nvSpPr>
        <p:spPr bwMode="auto">
          <a:xfrm flipH="1">
            <a:off x="6916749" y="-3972905"/>
            <a:ext cx="360363" cy="0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2826" name="Group 58"/>
          <p:cNvGrpSpPr>
            <a:grpSpLocks/>
          </p:cNvGrpSpPr>
          <p:nvPr/>
        </p:nvGrpSpPr>
        <p:grpSpPr bwMode="auto">
          <a:xfrm>
            <a:off x="3851275" y="908050"/>
            <a:ext cx="647700" cy="1333500"/>
            <a:chOff x="4992" y="2797"/>
            <a:chExt cx="408" cy="840"/>
          </a:xfrm>
        </p:grpSpPr>
        <p:sp>
          <p:nvSpPr>
            <p:cNvPr id="32827" name="Oval 59"/>
            <p:cNvSpPr>
              <a:spLocks noChangeArrowheads="1"/>
            </p:cNvSpPr>
            <p:nvPr/>
          </p:nvSpPr>
          <p:spPr bwMode="auto">
            <a:xfrm>
              <a:off x="4992" y="2797"/>
              <a:ext cx="408" cy="84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28" name="Line 60"/>
            <p:cNvSpPr>
              <a:spLocks noChangeShapeType="1"/>
            </p:cNvSpPr>
            <p:nvPr/>
          </p:nvSpPr>
          <p:spPr bwMode="auto">
            <a:xfrm>
              <a:off x="5400" y="3101"/>
              <a:ext cx="0" cy="26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29" name="Text Box 61"/>
            <p:cNvSpPr txBox="1">
              <a:spLocks noChangeArrowheads="1"/>
            </p:cNvSpPr>
            <p:nvPr/>
          </p:nvSpPr>
          <p:spPr bwMode="auto">
            <a:xfrm>
              <a:off x="5112" y="3058"/>
              <a:ext cx="178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b="1" i="1">
                  <a:ea typeface="宋体" panose="02010600030101010101" pitchFamily="2" charset="-122"/>
                </a:rPr>
                <a:t>i</a:t>
              </a:r>
              <a:endParaRPr kumimoji="1" lang="en-US" altLang="zh-CN" sz="2400" b="1" i="1">
                <a:ea typeface="宋体" panose="02010600030101010101" pitchFamily="2" charset="-122"/>
              </a:endParaRPr>
            </a:p>
          </p:txBody>
        </p:sp>
      </p:grpSp>
      <p:grpSp>
        <p:nvGrpSpPr>
          <p:cNvPr id="32830" name="Group 62"/>
          <p:cNvGrpSpPr>
            <a:grpSpLocks/>
          </p:cNvGrpSpPr>
          <p:nvPr/>
        </p:nvGrpSpPr>
        <p:grpSpPr bwMode="auto">
          <a:xfrm>
            <a:off x="4932363" y="692150"/>
            <a:ext cx="355600" cy="1728788"/>
            <a:chOff x="2064" y="444"/>
            <a:chExt cx="224" cy="1055"/>
          </a:xfrm>
        </p:grpSpPr>
        <p:sp>
          <p:nvSpPr>
            <p:cNvPr id="32831" name="Line 63"/>
            <p:cNvSpPr>
              <a:spLocks noChangeShapeType="1"/>
            </p:cNvSpPr>
            <p:nvPr/>
          </p:nvSpPr>
          <p:spPr bwMode="auto">
            <a:xfrm>
              <a:off x="2288" y="444"/>
              <a:ext cx="0" cy="1055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32" name="Line 64"/>
            <p:cNvSpPr>
              <a:spLocks noChangeShapeType="1"/>
            </p:cNvSpPr>
            <p:nvPr/>
          </p:nvSpPr>
          <p:spPr bwMode="auto">
            <a:xfrm>
              <a:off x="2064" y="444"/>
              <a:ext cx="224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33" name="Line 65"/>
            <p:cNvSpPr>
              <a:spLocks noChangeShapeType="1"/>
            </p:cNvSpPr>
            <p:nvPr/>
          </p:nvSpPr>
          <p:spPr bwMode="auto">
            <a:xfrm>
              <a:off x="2064" y="1488"/>
              <a:ext cx="224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2834" name="Group 66"/>
          <p:cNvGrpSpPr>
            <a:grpSpLocks/>
          </p:cNvGrpSpPr>
          <p:nvPr/>
        </p:nvGrpSpPr>
        <p:grpSpPr bwMode="auto">
          <a:xfrm>
            <a:off x="8027988" y="908050"/>
            <a:ext cx="361950" cy="1295400"/>
            <a:chOff x="4608" y="528"/>
            <a:chExt cx="228" cy="816"/>
          </a:xfrm>
        </p:grpSpPr>
        <p:sp>
          <p:nvSpPr>
            <p:cNvPr id="32835" name="Line 67"/>
            <p:cNvSpPr>
              <a:spLocks noChangeShapeType="1"/>
            </p:cNvSpPr>
            <p:nvPr/>
          </p:nvSpPr>
          <p:spPr bwMode="auto">
            <a:xfrm>
              <a:off x="4836" y="528"/>
              <a:ext cx="0" cy="81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36" name="Line 68"/>
            <p:cNvSpPr>
              <a:spLocks noChangeShapeType="1"/>
            </p:cNvSpPr>
            <p:nvPr/>
          </p:nvSpPr>
          <p:spPr bwMode="auto">
            <a:xfrm>
              <a:off x="4608" y="528"/>
              <a:ext cx="228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37" name="Line 69"/>
            <p:cNvSpPr>
              <a:spLocks noChangeShapeType="1"/>
            </p:cNvSpPr>
            <p:nvPr/>
          </p:nvSpPr>
          <p:spPr bwMode="auto">
            <a:xfrm>
              <a:off x="4608" y="1344"/>
              <a:ext cx="228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2875" name="Text Box 107"/>
          <p:cNvSpPr txBox="1">
            <a:spLocks noChangeArrowheads="1"/>
          </p:cNvSpPr>
          <p:nvPr/>
        </p:nvSpPr>
        <p:spPr bwMode="auto">
          <a:xfrm>
            <a:off x="718345" y="3868743"/>
            <a:ext cx="481012" cy="1200329"/>
          </a:xfrm>
          <a:prstGeom prst="rect">
            <a:avLst/>
          </a:prstGeom>
          <a:noFill/>
          <a:ln>
            <a:solidFill>
              <a:srgbClr val="FF0000"/>
            </a:solidFill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>
                <a:latin typeface="Arial" panose="020B0604020202020204" pitchFamily="34" charset="0"/>
                <a:ea typeface="楷体_GB2312" pitchFamily="49" charset="-122"/>
              </a:rPr>
              <a:t>表现在</a:t>
            </a:r>
          </a:p>
        </p:txBody>
      </p:sp>
      <p:grpSp>
        <p:nvGrpSpPr>
          <p:cNvPr id="32927" name="Group 159"/>
          <p:cNvGrpSpPr>
            <a:grpSpLocks/>
          </p:cNvGrpSpPr>
          <p:nvPr/>
        </p:nvGrpSpPr>
        <p:grpSpPr bwMode="auto">
          <a:xfrm>
            <a:off x="2771775" y="620713"/>
            <a:ext cx="2205038" cy="1873250"/>
            <a:chOff x="2816" y="391"/>
            <a:chExt cx="1389" cy="1180"/>
          </a:xfrm>
        </p:grpSpPr>
        <p:sp>
          <p:nvSpPr>
            <p:cNvPr id="32928" name="Oval 160"/>
            <p:cNvSpPr>
              <a:spLocks noChangeArrowheads="1"/>
            </p:cNvSpPr>
            <p:nvPr/>
          </p:nvSpPr>
          <p:spPr bwMode="auto">
            <a:xfrm>
              <a:off x="3107" y="618"/>
              <a:ext cx="363" cy="36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32929" name="Text Box 161"/>
            <p:cNvSpPr txBox="1">
              <a:spLocks noChangeArrowheads="1"/>
            </p:cNvSpPr>
            <p:nvPr/>
          </p:nvSpPr>
          <p:spPr bwMode="auto">
            <a:xfrm>
              <a:off x="3787" y="391"/>
              <a:ext cx="27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i="1">
                  <a:solidFill>
                    <a:schemeClr val="bg1"/>
                  </a:solidFill>
                  <a:ea typeface="宋体" panose="02010600030101010101" pitchFamily="2" charset="-122"/>
                </a:rPr>
                <a:t>i</a:t>
              </a:r>
            </a:p>
          </p:txBody>
        </p:sp>
        <p:sp>
          <p:nvSpPr>
            <p:cNvPr id="32930" name="Text Box 162"/>
            <p:cNvSpPr txBox="1">
              <a:spLocks noChangeArrowheads="1"/>
            </p:cNvSpPr>
            <p:nvPr/>
          </p:nvSpPr>
          <p:spPr bwMode="auto">
            <a:xfrm>
              <a:off x="2998" y="438"/>
              <a:ext cx="189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1" lang="en-US" altLang="zh-CN"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</a:p>
          </p:txBody>
        </p:sp>
        <p:sp>
          <p:nvSpPr>
            <p:cNvPr id="32931" name="Text Box 163"/>
            <p:cNvSpPr txBox="1">
              <a:spLocks noChangeArrowheads="1"/>
            </p:cNvSpPr>
            <p:nvPr/>
          </p:nvSpPr>
          <p:spPr bwMode="auto">
            <a:xfrm>
              <a:off x="2971" y="801"/>
              <a:ext cx="24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1" lang="en-US" altLang="zh-CN">
                  <a:ea typeface="宋体" panose="02010600030101010101" pitchFamily="2" charset="-122"/>
                  <a:sym typeface="Symbol" panose="05050102010706020507" pitchFamily="18" charset="2"/>
                </a:rPr>
                <a:t>_</a:t>
              </a:r>
            </a:p>
          </p:txBody>
        </p:sp>
        <p:sp>
          <p:nvSpPr>
            <p:cNvPr id="32932" name="Text Box 164"/>
            <p:cNvSpPr txBox="1">
              <a:spLocks noChangeArrowheads="1"/>
            </p:cNvSpPr>
            <p:nvPr/>
          </p:nvSpPr>
          <p:spPr bwMode="auto">
            <a:xfrm>
              <a:off x="2816" y="618"/>
              <a:ext cx="38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b="1" i="1" dirty="0" err="1">
                  <a:ea typeface="宋体" panose="02010600030101010101" pitchFamily="2" charset="-122"/>
                </a:rPr>
                <a:t>u</a:t>
              </a:r>
              <a:r>
                <a:rPr kumimoji="1" lang="en-US" altLang="zh-CN" b="1" baseline="-25000" dirty="0" err="1">
                  <a:ea typeface="宋体" panose="02010600030101010101" pitchFamily="2" charset="-122"/>
                </a:rPr>
                <a:t>S</a:t>
              </a:r>
              <a:endParaRPr kumimoji="1" lang="en-US" altLang="zh-CN" b="1" dirty="0">
                <a:ea typeface="宋体" panose="02010600030101010101" pitchFamily="2" charset="-122"/>
              </a:endParaRPr>
            </a:p>
          </p:txBody>
        </p:sp>
        <p:sp>
          <p:nvSpPr>
            <p:cNvPr id="32933" name="Line 165"/>
            <p:cNvSpPr>
              <a:spLocks noChangeShapeType="1"/>
            </p:cNvSpPr>
            <p:nvPr/>
          </p:nvSpPr>
          <p:spPr bwMode="auto">
            <a:xfrm>
              <a:off x="3515" y="527"/>
              <a:ext cx="318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934" name="Text Box 166"/>
            <p:cNvSpPr txBox="1">
              <a:spLocks noChangeArrowheads="1"/>
            </p:cNvSpPr>
            <p:nvPr/>
          </p:nvSpPr>
          <p:spPr bwMode="auto">
            <a:xfrm>
              <a:off x="2880" y="1071"/>
              <a:ext cx="45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b="1" i="1" dirty="0">
                  <a:ea typeface="宋体" panose="02010600030101010101" pitchFamily="2" charset="-122"/>
                </a:rPr>
                <a:t>R</a:t>
              </a:r>
              <a:r>
                <a:rPr kumimoji="1" lang="en-US" altLang="zh-CN" b="1" baseline="-25000" dirty="0">
                  <a:ea typeface="宋体" panose="02010600030101010101" pitchFamily="2" charset="-122"/>
                </a:rPr>
                <a:t>S</a:t>
              </a:r>
              <a:endParaRPr kumimoji="1" lang="en-US" altLang="zh-CN" b="1" dirty="0">
                <a:ea typeface="宋体" panose="02010600030101010101" pitchFamily="2" charset="-122"/>
              </a:endParaRPr>
            </a:p>
          </p:txBody>
        </p:sp>
        <p:sp>
          <p:nvSpPr>
            <p:cNvPr id="32935" name="Text Box 167"/>
            <p:cNvSpPr txBox="1">
              <a:spLocks noChangeArrowheads="1"/>
            </p:cNvSpPr>
            <p:nvPr/>
          </p:nvSpPr>
          <p:spPr bwMode="auto">
            <a:xfrm>
              <a:off x="3878" y="391"/>
              <a:ext cx="32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i="1">
                  <a:solidFill>
                    <a:schemeClr val="bg1"/>
                  </a:solidFill>
                  <a:ea typeface="宋体" panose="02010600030101010101" pitchFamily="2" charset="-122"/>
                </a:rPr>
                <a:t>+</a:t>
              </a:r>
              <a:endParaRPr kumimoji="1" lang="en-US" altLang="zh-CN">
                <a:solidFill>
                  <a:schemeClr val="bg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2936" name="Text Box 168"/>
            <p:cNvSpPr txBox="1">
              <a:spLocks noChangeArrowheads="1"/>
            </p:cNvSpPr>
            <p:nvPr/>
          </p:nvSpPr>
          <p:spPr bwMode="auto">
            <a:xfrm>
              <a:off x="3878" y="799"/>
              <a:ext cx="32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i="1">
                  <a:solidFill>
                    <a:schemeClr val="bg1"/>
                  </a:solidFill>
                  <a:ea typeface="宋体" panose="02010600030101010101" pitchFamily="2" charset="-122"/>
                </a:rPr>
                <a:t>u</a:t>
              </a:r>
              <a:endParaRPr kumimoji="1" lang="en-US" altLang="zh-CN">
                <a:solidFill>
                  <a:schemeClr val="bg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2937" name="Text Box 169"/>
            <p:cNvSpPr txBox="1">
              <a:spLocks noChangeArrowheads="1"/>
            </p:cNvSpPr>
            <p:nvPr/>
          </p:nvSpPr>
          <p:spPr bwMode="auto">
            <a:xfrm>
              <a:off x="3878" y="1162"/>
              <a:ext cx="32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i="1">
                  <a:solidFill>
                    <a:schemeClr val="bg1"/>
                  </a:solidFill>
                  <a:ea typeface="宋体" panose="02010600030101010101" pitchFamily="2" charset="-122"/>
                </a:rPr>
                <a:t>_</a:t>
              </a:r>
              <a:endParaRPr kumimoji="1" lang="en-US" altLang="zh-CN">
                <a:solidFill>
                  <a:schemeClr val="bg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2938" name="Line 170"/>
            <p:cNvSpPr>
              <a:spLocks noChangeShapeType="1"/>
            </p:cNvSpPr>
            <p:nvPr/>
          </p:nvSpPr>
          <p:spPr bwMode="auto">
            <a:xfrm>
              <a:off x="3288" y="1525"/>
              <a:ext cx="81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939" name="Line 171"/>
            <p:cNvSpPr>
              <a:spLocks noChangeShapeType="1"/>
            </p:cNvSpPr>
            <p:nvPr/>
          </p:nvSpPr>
          <p:spPr bwMode="auto">
            <a:xfrm>
              <a:off x="3288" y="436"/>
              <a:ext cx="81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940" name="Line 172"/>
            <p:cNvSpPr>
              <a:spLocks noChangeShapeType="1"/>
            </p:cNvSpPr>
            <p:nvPr/>
          </p:nvSpPr>
          <p:spPr bwMode="auto">
            <a:xfrm flipV="1">
              <a:off x="3288" y="436"/>
              <a:ext cx="0" cy="108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941" name="Rectangle 173"/>
            <p:cNvSpPr>
              <a:spLocks noChangeArrowheads="1"/>
            </p:cNvSpPr>
            <p:nvPr/>
          </p:nvSpPr>
          <p:spPr bwMode="auto">
            <a:xfrm>
              <a:off x="3244" y="1071"/>
              <a:ext cx="105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942" name="Oval 174"/>
            <p:cNvSpPr>
              <a:spLocks noChangeArrowheads="1"/>
            </p:cNvSpPr>
            <p:nvPr/>
          </p:nvSpPr>
          <p:spPr bwMode="auto">
            <a:xfrm>
              <a:off x="4104" y="391"/>
              <a:ext cx="91" cy="91"/>
            </a:xfrm>
            <a:prstGeom prst="ellips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943" name="Oval 175"/>
            <p:cNvSpPr>
              <a:spLocks noChangeArrowheads="1"/>
            </p:cNvSpPr>
            <p:nvPr/>
          </p:nvSpPr>
          <p:spPr bwMode="auto">
            <a:xfrm>
              <a:off x="4104" y="1480"/>
              <a:ext cx="91" cy="91"/>
            </a:xfrm>
            <a:prstGeom prst="ellips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2964" name="Group 196"/>
          <p:cNvGrpSpPr>
            <a:grpSpLocks/>
          </p:cNvGrpSpPr>
          <p:nvPr/>
        </p:nvGrpSpPr>
        <p:grpSpPr bwMode="auto">
          <a:xfrm>
            <a:off x="611188" y="2060574"/>
            <a:ext cx="8137525" cy="863600"/>
            <a:chOff x="476" y="754"/>
            <a:chExt cx="5126" cy="544"/>
          </a:xfrm>
        </p:grpSpPr>
        <p:sp>
          <p:nvSpPr>
            <p:cNvPr id="32818" name="Rectangle 50"/>
            <p:cNvSpPr>
              <a:spLocks noChangeArrowheads="1"/>
            </p:cNvSpPr>
            <p:nvPr/>
          </p:nvSpPr>
          <p:spPr bwMode="auto">
            <a:xfrm>
              <a:off x="521" y="1026"/>
              <a:ext cx="5081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000" b="1" dirty="0">
                  <a:ea typeface="楷体_GB2312" pitchFamily="49" charset="-122"/>
                </a:rPr>
                <a:t>方向：电流源电流方向与电压源电压方向相反。</a:t>
              </a:r>
            </a:p>
          </p:txBody>
        </p:sp>
        <p:sp>
          <p:nvSpPr>
            <p:cNvPr id="32820" name="Text Box 52"/>
            <p:cNvSpPr txBox="1">
              <a:spLocks noChangeArrowheads="1"/>
            </p:cNvSpPr>
            <p:nvPr/>
          </p:nvSpPr>
          <p:spPr bwMode="auto">
            <a:xfrm>
              <a:off x="521" y="754"/>
              <a:ext cx="929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000" b="1" dirty="0">
                  <a:latin typeface="楷体_GB2312" pitchFamily="49" charset="-122"/>
                  <a:ea typeface="楷体_GB2312" pitchFamily="49" charset="-122"/>
                </a:rPr>
                <a:t>数值关系：</a:t>
              </a:r>
            </a:p>
          </p:txBody>
        </p:sp>
        <p:sp>
          <p:nvSpPr>
            <p:cNvPr id="32963" name="AutoShape 195"/>
            <p:cNvSpPr>
              <a:spLocks/>
            </p:cNvSpPr>
            <p:nvPr/>
          </p:nvSpPr>
          <p:spPr bwMode="auto">
            <a:xfrm>
              <a:off x="476" y="845"/>
              <a:ext cx="45" cy="453"/>
            </a:xfrm>
            <a:prstGeom prst="leftBrace">
              <a:avLst>
                <a:gd name="adj1" fmla="val 83889"/>
                <a:gd name="adj2" fmla="val 50000"/>
              </a:avLst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</p:grpSp>
      <p:sp>
        <p:nvSpPr>
          <p:cNvPr id="32965" name="AutoShape 197"/>
          <p:cNvSpPr>
            <a:spLocks/>
          </p:cNvSpPr>
          <p:nvPr/>
        </p:nvSpPr>
        <p:spPr bwMode="auto">
          <a:xfrm>
            <a:off x="1331913" y="3573463"/>
            <a:ext cx="287337" cy="2087562"/>
          </a:xfrm>
          <a:prstGeom prst="leftBrace">
            <a:avLst>
              <a:gd name="adj1" fmla="val 60543"/>
              <a:gd name="adj2" fmla="val 50000"/>
            </a:avLst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51202" name="Picture 2" descr="https://img.zcool.cn/community/0133a1593cb8a1a8012193a31a39a0.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170" y="131761"/>
            <a:ext cx="1320801" cy="1320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4113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2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2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2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2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28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28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28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28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32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327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32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327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32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27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27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327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32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65" dur="500"/>
                                        <p:tgtEl>
                                          <p:spTgt spid="32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00"/>
                            </p:stCondLst>
                            <p:childTnLst>
                              <p:par>
                                <p:cTn id="6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32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/>
                                        <p:tgtEl>
                                          <p:spTgt spid="327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32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9" dur="500"/>
                                        <p:tgtEl>
                                          <p:spTgt spid="32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0" grpId="0" autoUpdateAnimBg="0"/>
      <p:bldP spid="32772" grpId="0" autoUpdateAnimBg="0"/>
      <p:bldP spid="32773" grpId="0" autoUpdateAnimBg="0"/>
      <p:bldP spid="32774" grpId="0" autoUpdateAnimBg="0"/>
      <p:bldP spid="32775" grpId="0" autoUpdateAnimBg="0"/>
      <p:bldP spid="32779" grpId="0"/>
      <p:bldP spid="32819" grpId="0" autoUpdateAnimBg="0"/>
      <p:bldP spid="32875" grpId="0" animBg="1" autoUpdateAnimBg="0"/>
      <p:bldP spid="32965" grpId="0" animBg="1" autoUpdateAnimBg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BAAA54F1-7A4F-4844-B021-48DCE93FE73A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1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1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D2AD49F-7413-49AE-AE50-A2C1DF010E39}" type="slidenum">
              <a:rPr lang="en-US" altLang="zh-CN"/>
              <a:pPr>
                <a:defRPr/>
              </a:pPr>
              <a:t>50</a:t>
            </a:fld>
            <a:endParaRPr lang="en-US" altLang="zh-CN"/>
          </a:p>
        </p:txBody>
      </p:sp>
      <p:graphicFrame>
        <p:nvGraphicFramePr>
          <p:cNvPr id="21509" name="Object 2"/>
          <p:cNvGraphicFramePr>
            <a:graphicFrameLocks noChangeAspect="1"/>
          </p:cNvGraphicFramePr>
          <p:nvPr/>
        </p:nvGraphicFramePr>
        <p:xfrm>
          <a:off x="4343400" y="1630363"/>
          <a:ext cx="1116013" cy="1871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68" name="VISIO" r:id="rId3" imgW="559308" imgH="935736" progId="Visio.Drawing.5">
                  <p:embed/>
                </p:oleObj>
              </mc:Choice>
              <mc:Fallback>
                <p:oleObj name="VISIO" r:id="rId3" imgW="559308" imgH="935736" progId="Visio.Drawing.5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1630363"/>
                        <a:ext cx="1116013" cy="1871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0" name="Object 3"/>
          <p:cNvGraphicFramePr>
            <a:graphicFrameLocks noChangeAspect="1"/>
          </p:cNvGraphicFramePr>
          <p:nvPr/>
        </p:nvGraphicFramePr>
        <p:xfrm>
          <a:off x="4343400" y="1639888"/>
          <a:ext cx="1116013" cy="1871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69" name="Visio" r:id="rId5" imgW="537188" imgH="918323" progId="Visio.Drawing.11">
                  <p:embed/>
                </p:oleObj>
              </mc:Choice>
              <mc:Fallback>
                <p:oleObj name="Visio" r:id="rId5" imgW="537188" imgH="918323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1639888"/>
                        <a:ext cx="1116013" cy="1871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1" name="Object 4"/>
          <p:cNvGraphicFramePr>
            <a:graphicFrameLocks noChangeAspect="1"/>
          </p:cNvGraphicFramePr>
          <p:nvPr/>
        </p:nvGraphicFramePr>
        <p:xfrm>
          <a:off x="368300" y="1125538"/>
          <a:ext cx="4203700" cy="271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70" name="Visio" r:id="rId7" imgW="2131124" imgH="1387888" progId="Visio.Drawing.11">
                  <p:embed/>
                </p:oleObj>
              </mc:Choice>
              <mc:Fallback>
                <p:oleObj name="Visio" r:id="rId7" imgW="2131124" imgH="1387888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300" y="1125538"/>
                        <a:ext cx="4203700" cy="271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4437" name="Object 5"/>
          <p:cNvGraphicFramePr>
            <a:graphicFrameLocks noChangeAspect="1"/>
          </p:cNvGraphicFramePr>
          <p:nvPr/>
        </p:nvGraphicFramePr>
        <p:xfrm>
          <a:off x="5727700" y="620713"/>
          <a:ext cx="2346325" cy="2498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71" name="Visio" r:id="rId9" imgW="1202293" imgH="1277731" progId="Visio.Drawing.11">
                  <p:embed/>
                </p:oleObj>
              </mc:Choice>
              <mc:Fallback>
                <p:oleObj name="Visio" r:id="rId9" imgW="1202293" imgH="1277731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7700" y="620713"/>
                        <a:ext cx="2346325" cy="2498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4438" name="Object 6"/>
          <p:cNvGraphicFramePr>
            <a:graphicFrameLocks noChangeAspect="1"/>
          </p:cNvGraphicFramePr>
          <p:nvPr/>
        </p:nvGraphicFramePr>
        <p:xfrm>
          <a:off x="7848600" y="920750"/>
          <a:ext cx="1116013" cy="187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72" name="VISIO" r:id="rId11" imgW="537188" imgH="918323" progId="Visio.Drawing.5">
                  <p:embed/>
                </p:oleObj>
              </mc:Choice>
              <mc:Fallback>
                <p:oleObj name="VISIO" r:id="rId11" imgW="537188" imgH="918323" progId="Visio.Drawing.5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8600" y="920750"/>
                        <a:ext cx="1116013" cy="1871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4439" name="Rectangle 7"/>
          <p:cNvSpPr>
            <a:spLocks noChangeArrowheads="1"/>
          </p:cNvSpPr>
          <p:nvPr/>
        </p:nvSpPr>
        <p:spPr bwMode="auto">
          <a:xfrm>
            <a:off x="7740650" y="3068638"/>
            <a:ext cx="12049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i="1">
                <a:solidFill>
                  <a:schemeClr val="hlink"/>
                </a:solidFill>
                <a:ea typeface="隶书" panose="02010509060101010101" pitchFamily="49" charset="-122"/>
              </a:rPr>
              <a:t>I</a:t>
            </a:r>
            <a:r>
              <a:rPr lang="en-US" altLang="zh-CN" sz="2800">
                <a:solidFill>
                  <a:schemeClr val="hlink"/>
                </a:solidFill>
                <a:ea typeface="隶书" panose="02010509060101010101" pitchFamily="49" charset="-122"/>
              </a:rPr>
              <a:t>=0.6A</a:t>
            </a:r>
          </a:p>
        </p:txBody>
      </p:sp>
      <p:sp>
        <p:nvSpPr>
          <p:cNvPr id="21515" name="Rectangle 8"/>
          <p:cNvSpPr>
            <a:spLocks noChangeArrowheads="1"/>
          </p:cNvSpPr>
          <p:nvPr/>
        </p:nvSpPr>
        <p:spPr bwMode="auto">
          <a:xfrm>
            <a:off x="395288" y="606425"/>
            <a:ext cx="80645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solidFill>
                  <a:srgbClr val="CC3300"/>
                </a:solidFill>
                <a:ea typeface="隶书" panose="02010509060101010101" pitchFamily="49" charset="-122"/>
              </a:rPr>
              <a:t>例</a:t>
            </a:r>
            <a:r>
              <a:rPr lang="en-US" altLang="zh-CN" sz="2800" dirty="0">
                <a:solidFill>
                  <a:srgbClr val="CC3300"/>
                </a:solidFill>
                <a:ea typeface="隶书" panose="02010509060101010101" pitchFamily="49" charset="-122"/>
              </a:rPr>
              <a:t>6.Find the current </a:t>
            </a:r>
            <a:r>
              <a:rPr lang="en-US" altLang="zh-CN" sz="2800" i="1" dirty="0">
                <a:solidFill>
                  <a:srgbClr val="CC3300"/>
                </a:solidFill>
                <a:ea typeface="隶书" panose="02010509060101010101" pitchFamily="49" charset="-122"/>
              </a:rPr>
              <a:t>I</a:t>
            </a:r>
            <a:r>
              <a:rPr lang="en-US" altLang="zh-CN" sz="2800" dirty="0">
                <a:solidFill>
                  <a:srgbClr val="CC3300"/>
                </a:solidFill>
                <a:ea typeface="隶书" panose="02010509060101010101" pitchFamily="49" charset="-122"/>
              </a:rPr>
              <a:t>.</a:t>
            </a:r>
          </a:p>
        </p:txBody>
      </p:sp>
      <p:graphicFrame>
        <p:nvGraphicFramePr>
          <p:cNvPr id="274442" name="Object 10"/>
          <p:cNvGraphicFramePr>
            <a:graphicFrameLocks noChangeAspect="1"/>
          </p:cNvGraphicFramePr>
          <p:nvPr/>
        </p:nvGraphicFramePr>
        <p:xfrm>
          <a:off x="323850" y="3889375"/>
          <a:ext cx="4206875" cy="2708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73" name="Visio" r:id="rId13" imgW="2131124" imgH="1387888" progId="Visio.Drawing.11">
                  <p:embed/>
                </p:oleObj>
              </mc:Choice>
              <mc:Fallback>
                <p:oleObj name="Visio" r:id="rId13" imgW="2131124" imgH="1387888" progId="Visio.Drawing.11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3889375"/>
                        <a:ext cx="4206875" cy="2708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4443" name="Object 11"/>
          <p:cNvGraphicFramePr>
            <a:graphicFrameLocks noChangeAspect="1"/>
          </p:cNvGraphicFramePr>
          <p:nvPr/>
        </p:nvGraphicFramePr>
        <p:xfrm>
          <a:off x="5507038" y="3963988"/>
          <a:ext cx="3097212" cy="270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74" name="Visio" r:id="rId15" imgW="1594485" imgH="1396889" progId="Visio.Drawing.11">
                  <p:embed/>
                </p:oleObj>
              </mc:Choice>
              <mc:Fallback>
                <p:oleObj name="Visio" r:id="rId15" imgW="1594485" imgH="1396889" progId="Visio.Drawing.11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7038" y="3963988"/>
                        <a:ext cx="3097212" cy="2705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4444" name="AutoShape 12"/>
          <p:cNvSpPr>
            <a:spLocks noChangeArrowheads="1"/>
          </p:cNvSpPr>
          <p:nvPr/>
        </p:nvSpPr>
        <p:spPr bwMode="auto">
          <a:xfrm>
            <a:off x="1187450" y="3644900"/>
            <a:ext cx="288925" cy="504825"/>
          </a:xfrm>
          <a:prstGeom prst="downArrow">
            <a:avLst>
              <a:gd name="adj1" fmla="val 50000"/>
              <a:gd name="adj2" fmla="val 43681"/>
            </a:avLst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zh-CN" altLang="en-US" sz="180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274445" name="AutoShape 13"/>
          <p:cNvSpPr>
            <a:spLocks noChangeArrowheads="1"/>
          </p:cNvSpPr>
          <p:nvPr/>
        </p:nvSpPr>
        <p:spPr bwMode="auto">
          <a:xfrm rot="10800000">
            <a:off x="6948488" y="3284538"/>
            <a:ext cx="288925" cy="504825"/>
          </a:xfrm>
          <a:prstGeom prst="downArrow">
            <a:avLst>
              <a:gd name="adj1" fmla="val 50000"/>
              <a:gd name="adj2" fmla="val 43681"/>
            </a:avLst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zh-CN" altLang="en-US" sz="180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274446" name="AutoShape 14"/>
          <p:cNvSpPr>
            <a:spLocks noChangeArrowheads="1"/>
          </p:cNvSpPr>
          <p:nvPr/>
        </p:nvSpPr>
        <p:spPr bwMode="auto">
          <a:xfrm rot="-5400000">
            <a:off x="4895850" y="5121275"/>
            <a:ext cx="288925" cy="504825"/>
          </a:xfrm>
          <a:prstGeom prst="downArrow">
            <a:avLst>
              <a:gd name="adj1" fmla="val 50000"/>
              <a:gd name="adj2" fmla="val 43681"/>
            </a:avLst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zh-CN" altLang="en-US" sz="180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21521" name="Rectangle 14"/>
          <p:cNvSpPr>
            <a:spLocks noChangeArrowheads="1"/>
          </p:cNvSpPr>
          <p:nvPr/>
        </p:nvSpPr>
        <p:spPr bwMode="auto">
          <a:xfrm>
            <a:off x="395288" y="163513"/>
            <a:ext cx="845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3200" dirty="0">
                <a:solidFill>
                  <a:schemeClr val="tx2"/>
                </a:solidFill>
                <a:ea typeface="隶书" panose="02010509060101010101" pitchFamily="49" charset="-122"/>
              </a:rPr>
              <a:t>2.6</a:t>
            </a:r>
            <a:r>
              <a:rPr lang="zh-CN" altLang="en-US" sz="3200" dirty="0">
                <a:solidFill>
                  <a:schemeClr val="tx2"/>
                </a:solidFill>
                <a:ea typeface="隶书" panose="02010509060101010101" pitchFamily="49" charset="-122"/>
              </a:rPr>
              <a:t>电源变换</a:t>
            </a:r>
            <a:r>
              <a:rPr lang="en-US" altLang="zh-CN" sz="3200" dirty="0">
                <a:solidFill>
                  <a:schemeClr val="tx2"/>
                </a:solidFill>
                <a:ea typeface="隶书" panose="02010509060101010101" pitchFamily="49" charset="-122"/>
              </a:rPr>
              <a:t>Source transformation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74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2000"/>
                                        <p:tgtEl>
                                          <p:spTgt spid="274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274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000"/>
                                        <p:tgtEl>
                                          <p:spTgt spid="274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2000"/>
                                        <p:tgtEl>
                                          <p:spTgt spid="274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4439" grpId="0"/>
      <p:bldP spid="274444" grpId="0" animBg="1"/>
      <p:bldP spid="274445" grpId="0" animBg="1"/>
      <p:bldP spid="274446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AE113331-E8C8-476B-9753-038B56AE41B6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2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2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8AC94C8-C5CB-48BE-A534-3C91DCB36FDA}" type="slidenum">
              <a:rPr lang="en-US" altLang="zh-CN"/>
              <a:pPr>
                <a:defRPr/>
              </a:pPr>
              <a:t>51</a:t>
            </a:fld>
            <a:endParaRPr lang="en-US" altLang="zh-CN"/>
          </a:p>
        </p:txBody>
      </p:sp>
      <p:sp>
        <p:nvSpPr>
          <p:cNvPr id="22541" name="Rectangle 21"/>
          <p:cNvSpPr>
            <a:spLocks noChangeArrowheads="1"/>
          </p:cNvSpPr>
          <p:nvPr/>
        </p:nvSpPr>
        <p:spPr bwMode="auto">
          <a:xfrm>
            <a:off x="381000" y="668338"/>
            <a:ext cx="845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CC3300"/>
                </a:solidFill>
                <a:ea typeface="隶书" panose="02010509060101010101" pitchFamily="49" charset="-122"/>
              </a:rPr>
              <a:t>受控电源变换</a:t>
            </a:r>
          </a:p>
        </p:txBody>
      </p:sp>
      <p:sp>
        <p:nvSpPr>
          <p:cNvPr id="22542" name="Rectangle 14"/>
          <p:cNvSpPr>
            <a:spLocks noChangeArrowheads="1"/>
          </p:cNvSpPr>
          <p:nvPr/>
        </p:nvSpPr>
        <p:spPr bwMode="auto">
          <a:xfrm>
            <a:off x="395288" y="163513"/>
            <a:ext cx="845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3200" dirty="0">
                <a:solidFill>
                  <a:schemeClr val="tx2"/>
                </a:solidFill>
                <a:ea typeface="隶书" panose="02010509060101010101" pitchFamily="49" charset="-122"/>
              </a:rPr>
              <a:t>2.6</a:t>
            </a:r>
            <a:r>
              <a:rPr lang="zh-CN" altLang="en-US" sz="3200" dirty="0">
                <a:solidFill>
                  <a:schemeClr val="tx2"/>
                </a:solidFill>
                <a:ea typeface="隶书" panose="02010509060101010101" pitchFamily="49" charset="-122"/>
              </a:rPr>
              <a:t>电源变换</a:t>
            </a:r>
            <a:r>
              <a:rPr lang="en-US" altLang="zh-CN" sz="3200" dirty="0">
                <a:solidFill>
                  <a:schemeClr val="tx2"/>
                </a:solidFill>
                <a:ea typeface="隶书" panose="02010509060101010101" pitchFamily="49" charset="-122"/>
              </a:rPr>
              <a:t>Source transformation</a:t>
            </a:r>
          </a:p>
        </p:txBody>
      </p:sp>
      <p:sp>
        <p:nvSpPr>
          <p:cNvPr id="32" name="Rectangle 3"/>
          <p:cNvSpPr txBox="1">
            <a:spLocks noChangeArrowheads="1"/>
          </p:cNvSpPr>
          <p:nvPr/>
        </p:nvSpPr>
        <p:spPr bwMode="auto">
          <a:xfrm>
            <a:off x="1763713" y="1484313"/>
            <a:ext cx="6911975" cy="1296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zh-CN" altLang="en-US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b="1">
                <a:solidFill>
                  <a:srgbClr val="00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受控电源和独立电源有本质上的不同，但在列写网络方程和对网络进行化简时，可以把受控电源作为独立电源来对待。 </a:t>
            </a:r>
            <a:endParaRPr lang="zh-CN" altLang="en-US" b="1" dirty="0">
              <a:solidFill>
                <a:srgbClr val="000066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3" name="Rectangle 6"/>
          <p:cNvSpPr>
            <a:spLocks noChangeArrowheads="1"/>
          </p:cNvSpPr>
          <p:nvPr/>
        </p:nvSpPr>
        <p:spPr bwMode="auto">
          <a:xfrm>
            <a:off x="0" y="24860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4" name="Rectangle 8"/>
          <p:cNvSpPr>
            <a:spLocks noChangeArrowheads="1"/>
          </p:cNvSpPr>
          <p:nvPr/>
        </p:nvSpPr>
        <p:spPr bwMode="auto">
          <a:xfrm>
            <a:off x="0" y="33242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35" name="Object 7"/>
          <p:cNvGraphicFramePr>
            <a:graphicFrameLocks noChangeAspect="1"/>
          </p:cNvGraphicFramePr>
          <p:nvPr/>
        </p:nvGraphicFramePr>
        <p:xfrm>
          <a:off x="1906588" y="3571875"/>
          <a:ext cx="288925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994" name="Visio" r:id="rId3" imgW="209702" imgH="209702" progId="Visio.Drawing.6">
                  <p:embed/>
                </p:oleObj>
              </mc:Choice>
              <mc:Fallback>
                <p:oleObj name="Visio" r:id="rId3" imgW="209702" imgH="209702" progId="Visio.Drawing.6">
                  <p:embed/>
                  <p:pic>
                    <p:nvPicPr>
                      <p:cNvPr id="42701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6588" y="3571875"/>
                        <a:ext cx="288925" cy="288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Rectangle 10"/>
          <p:cNvSpPr>
            <a:spLocks noChangeArrowheads="1"/>
          </p:cNvSpPr>
          <p:nvPr/>
        </p:nvSpPr>
        <p:spPr bwMode="auto">
          <a:xfrm>
            <a:off x="0" y="30194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7" name="Rectangle 12"/>
          <p:cNvSpPr>
            <a:spLocks noChangeArrowheads="1"/>
          </p:cNvSpPr>
          <p:nvPr/>
        </p:nvSpPr>
        <p:spPr bwMode="auto">
          <a:xfrm>
            <a:off x="0" y="30194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8" name="Rectangle 16"/>
          <p:cNvSpPr>
            <a:spLocks noChangeArrowheads="1"/>
          </p:cNvSpPr>
          <p:nvPr/>
        </p:nvSpPr>
        <p:spPr bwMode="auto">
          <a:xfrm>
            <a:off x="0" y="33242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39" name="Object 15"/>
          <p:cNvGraphicFramePr>
            <a:graphicFrameLocks noChangeAspect="1"/>
          </p:cNvGraphicFramePr>
          <p:nvPr/>
        </p:nvGraphicFramePr>
        <p:xfrm>
          <a:off x="6731000" y="3571875"/>
          <a:ext cx="288925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995" name="Visio" r:id="rId5" imgW="209702" imgH="209702" progId="Visio.Drawing.6">
                  <p:embed/>
                </p:oleObj>
              </mc:Choice>
              <mc:Fallback>
                <p:oleObj name="Visio" r:id="rId5" imgW="209702" imgH="209702" progId="Visio.Drawing.6">
                  <p:embed/>
                  <p:pic>
                    <p:nvPicPr>
                      <p:cNvPr id="427023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1000" y="3571875"/>
                        <a:ext cx="288925" cy="288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20"/>
          <p:cNvSpPr>
            <a:spLocks noChangeArrowheads="1"/>
          </p:cNvSpPr>
          <p:nvPr/>
        </p:nvSpPr>
        <p:spPr bwMode="auto">
          <a:xfrm>
            <a:off x="0" y="28670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2" name="Rectangle 22"/>
          <p:cNvSpPr>
            <a:spLocks noChangeArrowheads="1"/>
          </p:cNvSpPr>
          <p:nvPr/>
        </p:nvSpPr>
        <p:spPr bwMode="auto">
          <a:xfrm>
            <a:off x="0" y="28670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3" name="Rectangle 24"/>
          <p:cNvSpPr>
            <a:spLocks noChangeArrowheads="1"/>
          </p:cNvSpPr>
          <p:nvPr/>
        </p:nvSpPr>
        <p:spPr bwMode="auto">
          <a:xfrm>
            <a:off x="0" y="28670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4" name="Rectangle 26"/>
          <p:cNvSpPr>
            <a:spLocks noChangeArrowheads="1"/>
          </p:cNvSpPr>
          <p:nvPr/>
        </p:nvSpPr>
        <p:spPr bwMode="auto">
          <a:xfrm>
            <a:off x="0" y="28670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5" name="Rectangle 28"/>
          <p:cNvSpPr>
            <a:spLocks noChangeArrowheads="1"/>
          </p:cNvSpPr>
          <p:nvPr/>
        </p:nvSpPr>
        <p:spPr bwMode="auto">
          <a:xfrm>
            <a:off x="0" y="33242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46" name="Object 27"/>
          <p:cNvGraphicFramePr>
            <a:graphicFrameLocks noChangeAspect="1"/>
          </p:cNvGraphicFramePr>
          <p:nvPr/>
        </p:nvGraphicFramePr>
        <p:xfrm>
          <a:off x="6335713" y="5300663"/>
          <a:ext cx="468312" cy="29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996" name="Visio" r:id="rId6" imgW="331622" imgH="209702" progId="Visio.Drawing.6">
                  <p:embed/>
                </p:oleObj>
              </mc:Choice>
              <mc:Fallback>
                <p:oleObj name="Visio" r:id="rId6" imgW="331622" imgH="209702" progId="Visio.Drawing.6">
                  <p:embed/>
                  <p:pic>
                    <p:nvPicPr>
                      <p:cNvPr id="427035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35713" y="5300663"/>
                        <a:ext cx="468312" cy="295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Rectangle 30"/>
          <p:cNvSpPr>
            <a:spLocks noChangeArrowheads="1"/>
          </p:cNvSpPr>
          <p:nvPr/>
        </p:nvSpPr>
        <p:spPr bwMode="auto">
          <a:xfrm>
            <a:off x="0" y="33242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48" name="Object 29"/>
          <p:cNvGraphicFramePr>
            <a:graphicFrameLocks noChangeAspect="1"/>
          </p:cNvGraphicFramePr>
          <p:nvPr/>
        </p:nvGraphicFramePr>
        <p:xfrm>
          <a:off x="1908175" y="5300663"/>
          <a:ext cx="468313" cy="29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997" name="Visio" r:id="rId8" imgW="331622" imgH="209702" progId="Visio.Drawing.6">
                  <p:embed/>
                </p:oleObj>
              </mc:Choice>
              <mc:Fallback>
                <p:oleObj name="Visio" r:id="rId8" imgW="331622" imgH="209702" progId="Visio.Drawing.6">
                  <p:embed/>
                  <p:pic>
                    <p:nvPicPr>
                      <p:cNvPr id="427037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5300663"/>
                        <a:ext cx="468313" cy="295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Object 42"/>
          <p:cNvGraphicFramePr>
            <a:graphicFrameLocks noChangeAspect="1"/>
          </p:cNvGraphicFramePr>
          <p:nvPr/>
        </p:nvGraphicFramePr>
        <p:xfrm>
          <a:off x="827088" y="1555750"/>
          <a:ext cx="850900" cy="288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998" name="Visio" r:id="rId9" imgW="518465" imgH="1761744" progId="Visio.Drawing.6">
                  <p:embed/>
                </p:oleObj>
              </mc:Choice>
              <mc:Fallback>
                <p:oleObj name="Visio" r:id="rId9" imgW="518465" imgH="1761744" progId="Visio.Drawing.6">
                  <p:embed/>
                  <p:pic>
                    <p:nvPicPr>
                      <p:cNvPr id="42705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1555750"/>
                        <a:ext cx="850900" cy="2881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43"/>
          <p:cNvGraphicFramePr>
            <a:graphicFrameLocks noChangeAspect="1"/>
          </p:cNvGraphicFramePr>
          <p:nvPr/>
        </p:nvGraphicFramePr>
        <p:xfrm>
          <a:off x="2555875" y="3068638"/>
          <a:ext cx="1138238" cy="1368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999" name="Visio" r:id="rId11" imgW="577901" imgH="694944" progId="Visio.Drawing.6">
                  <p:embed/>
                </p:oleObj>
              </mc:Choice>
              <mc:Fallback>
                <p:oleObj name="Visio" r:id="rId11" imgW="577901" imgH="694944" progId="Visio.Drawing.6">
                  <p:embed/>
                  <p:pic>
                    <p:nvPicPr>
                      <p:cNvPr id="427051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3068638"/>
                        <a:ext cx="1138238" cy="1368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Object 44"/>
          <p:cNvGraphicFramePr>
            <a:graphicFrameLocks noChangeAspect="1"/>
          </p:cNvGraphicFramePr>
          <p:nvPr/>
        </p:nvGraphicFramePr>
        <p:xfrm>
          <a:off x="4295775" y="3127375"/>
          <a:ext cx="2147888" cy="1309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000" name="Visio" r:id="rId13" imgW="1139647" imgH="694944" progId="Visio.Drawing.6">
                  <p:embed/>
                </p:oleObj>
              </mc:Choice>
              <mc:Fallback>
                <p:oleObj name="Visio" r:id="rId13" imgW="1139647" imgH="694944" progId="Visio.Drawing.6">
                  <p:embed/>
                  <p:pic>
                    <p:nvPicPr>
                      <p:cNvPr id="427052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5775" y="3127375"/>
                        <a:ext cx="2147888" cy="1309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Object 45"/>
          <p:cNvGraphicFramePr>
            <a:graphicFrameLocks noChangeAspect="1"/>
          </p:cNvGraphicFramePr>
          <p:nvPr/>
        </p:nvGraphicFramePr>
        <p:xfrm>
          <a:off x="7397750" y="3141663"/>
          <a:ext cx="990600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001" name="Visio" r:id="rId15" imgW="531571" imgH="694944" progId="Visio.Drawing.6">
                  <p:embed/>
                </p:oleObj>
              </mc:Choice>
              <mc:Fallback>
                <p:oleObj name="Visio" r:id="rId15" imgW="531571" imgH="694944" progId="Visio.Drawing.6">
                  <p:embed/>
                  <p:pic>
                    <p:nvPicPr>
                      <p:cNvPr id="427053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7750" y="3141663"/>
                        <a:ext cx="990600" cy="129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Object 46"/>
          <p:cNvGraphicFramePr>
            <a:graphicFrameLocks noChangeAspect="1"/>
          </p:cNvGraphicFramePr>
          <p:nvPr/>
        </p:nvGraphicFramePr>
        <p:xfrm>
          <a:off x="827088" y="4797425"/>
          <a:ext cx="1020762" cy="1368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002" name="Visio" r:id="rId17" imgW="594665" imgH="799186" progId="Visio.Drawing.6">
                  <p:embed/>
                </p:oleObj>
              </mc:Choice>
              <mc:Fallback>
                <p:oleObj name="Visio" r:id="rId17" imgW="594665" imgH="799186" progId="Visio.Drawing.6">
                  <p:embed/>
                  <p:pic>
                    <p:nvPicPr>
                      <p:cNvPr id="427054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4797425"/>
                        <a:ext cx="1020762" cy="1368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Object 47"/>
          <p:cNvGraphicFramePr>
            <a:graphicFrameLocks noChangeAspect="1"/>
          </p:cNvGraphicFramePr>
          <p:nvPr/>
        </p:nvGraphicFramePr>
        <p:xfrm>
          <a:off x="2762250" y="4797425"/>
          <a:ext cx="1301750" cy="1368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003" name="Visio" r:id="rId19" imgW="747065" imgH="786384" progId="Visio.Drawing.6">
                  <p:embed/>
                </p:oleObj>
              </mc:Choice>
              <mc:Fallback>
                <p:oleObj name="Visio" r:id="rId19" imgW="747065" imgH="786384" progId="Visio.Drawing.6">
                  <p:embed/>
                  <p:pic>
                    <p:nvPicPr>
                      <p:cNvPr id="427055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2250" y="4797425"/>
                        <a:ext cx="1301750" cy="1368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Object 48"/>
          <p:cNvGraphicFramePr>
            <a:graphicFrameLocks noChangeAspect="1"/>
          </p:cNvGraphicFramePr>
          <p:nvPr/>
        </p:nvGraphicFramePr>
        <p:xfrm>
          <a:off x="4859338" y="4797425"/>
          <a:ext cx="1301750" cy="1368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004" name="Visio" r:id="rId21" imgW="747065" imgH="786384" progId="Visio.Drawing.6">
                  <p:embed/>
                </p:oleObj>
              </mc:Choice>
              <mc:Fallback>
                <p:oleObj name="Visio" r:id="rId21" imgW="747065" imgH="786384" progId="Visio.Drawing.6">
                  <p:embed/>
                  <p:pic>
                    <p:nvPicPr>
                      <p:cNvPr id="427056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9338" y="4797425"/>
                        <a:ext cx="1301750" cy="1368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Object 49"/>
          <p:cNvGraphicFramePr>
            <a:graphicFrameLocks noChangeAspect="1"/>
          </p:cNvGraphicFramePr>
          <p:nvPr/>
        </p:nvGraphicFramePr>
        <p:xfrm>
          <a:off x="7205663" y="4724400"/>
          <a:ext cx="1074737" cy="1441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005" name="Visio" r:id="rId23" imgW="594665" imgH="799186" progId="Visio.Drawing.6">
                  <p:embed/>
                </p:oleObj>
              </mc:Choice>
              <mc:Fallback>
                <p:oleObj name="Visio" r:id="rId23" imgW="594665" imgH="799186" progId="Visio.Drawing.6">
                  <p:embed/>
                  <p:pic>
                    <p:nvPicPr>
                      <p:cNvPr id="427057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05663" y="4724400"/>
                        <a:ext cx="1074737" cy="1441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02472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47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8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3568" y="1052736"/>
            <a:ext cx="4305300" cy="504825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zh-CN" altLang="en-US" sz="2800" b="1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>
                <a:solidFill>
                  <a:srgbClr val="00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800" b="1">
                <a:solidFill>
                  <a:srgbClr val="00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将网络化简成最简网络</a:t>
            </a:r>
          </a:p>
        </p:txBody>
      </p:sp>
      <p:graphicFrame>
        <p:nvGraphicFramePr>
          <p:cNvPr id="430130" name="Object 50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908071778"/>
              </p:ext>
            </p:extLst>
          </p:nvPr>
        </p:nvGraphicFramePr>
        <p:xfrm>
          <a:off x="883593" y="1544861"/>
          <a:ext cx="3097212" cy="166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515" name="Visio" r:id="rId3" imgW="1850746" imgH="997610" progId="Visio.Drawing.6">
                  <p:embed/>
                </p:oleObj>
              </mc:Choice>
              <mc:Fallback>
                <p:oleObj name="Visio" r:id="rId3" imgW="1850746" imgH="997610" progId="Visio.Drawing.6">
                  <p:embed/>
                  <p:pic>
                    <p:nvPicPr>
                      <p:cNvPr id="43013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3593" y="1544861"/>
                        <a:ext cx="3097212" cy="1668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094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6490045"/>
              </p:ext>
            </p:extLst>
          </p:nvPr>
        </p:nvGraphicFramePr>
        <p:xfrm>
          <a:off x="7868593" y="2349724"/>
          <a:ext cx="288925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516" r:id="rId5" imgW="209702" imgH="209702" progId="Visio.Drawing.6">
                  <p:embed/>
                </p:oleObj>
              </mc:Choice>
              <mc:Fallback>
                <p:oleObj r:id="rId5" imgW="209702" imgH="209702" progId="Visio.Drawing.6">
                  <p:embed/>
                  <p:pic>
                    <p:nvPicPr>
                      <p:cNvPr id="430094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68593" y="2349724"/>
                        <a:ext cx="288925" cy="288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15" name="Rectangle 35"/>
          <p:cNvSpPr>
            <a:spLocks noChangeArrowheads="1"/>
          </p:cNvSpPr>
          <p:nvPr/>
        </p:nvSpPr>
        <p:spPr bwMode="auto">
          <a:xfrm>
            <a:off x="3980805" y="1990949"/>
            <a:ext cx="3384550" cy="1150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0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5pPr>
            <a:lvl6pPr marL="2514600" indent="-228600" fontAlgn="base" latinLnBrk="1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6pPr>
            <a:lvl7pPr marL="2971800" indent="-228600" fontAlgn="base" latinLnBrk="1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7pPr>
            <a:lvl8pPr marL="3429000" indent="-228600" fontAlgn="base" latinLnBrk="1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8pPr>
            <a:lvl9pPr marL="3886200" indent="-228600" fontAlgn="base" latinLnBrk="1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lang="zh-CN" altLang="en-US" sz="26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sz="2400" b="1">
                <a:solidFill>
                  <a:srgbClr val="000066"/>
                </a:solidFill>
                <a:latin typeface="楷体_GB2312" pitchFamily="49" charset="-122"/>
                <a:ea typeface="宋体" panose="02010600030101010101" pitchFamily="2" charset="-122"/>
              </a:rPr>
              <a:t>将图中受控电流源当独立电源处理，转换成电压源形式</a:t>
            </a:r>
            <a:endParaRPr lang="zh-CN" altLang="en-US" sz="2400">
              <a:solidFill>
                <a:srgbClr val="000066"/>
              </a:solidFill>
              <a:ea typeface="宋体" panose="02010600030101010101" pitchFamily="2" charset="-122"/>
            </a:endParaRPr>
          </a:p>
        </p:txBody>
      </p:sp>
      <p:sp>
        <p:nvSpPr>
          <p:cNvPr id="430116" name="Rectangle 36"/>
          <p:cNvSpPr>
            <a:spLocks noChangeArrowheads="1"/>
          </p:cNvSpPr>
          <p:nvPr/>
        </p:nvSpPr>
        <p:spPr bwMode="auto">
          <a:xfrm>
            <a:off x="740718" y="4726211"/>
            <a:ext cx="7848600" cy="50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0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5pPr>
            <a:lvl6pPr marL="2514600" indent="-228600" fontAlgn="base" latinLnBrk="1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6pPr>
            <a:lvl7pPr marL="2971800" indent="-228600" fontAlgn="base" latinLnBrk="1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7pPr>
            <a:lvl8pPr marL="3429000" indent="-228600" fontAlgn="base" latinLnBrk="1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8pPr>
            <a:lvl9pPr marL="3886200" indent="-228600" fontAlgn="base" latinLnBrk="1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9pPr>
          </a:lstStyle>
          <a:p>
            <a:r>
              <a:rPr lang="zh-CN" altLang="en-US" sz="2400" b="1" dirty="0">
                <a:solidFill>
                  <a:srgbClr val="00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在此例中，受控源好比一个负</a:t>
            </a:r>
            <a:r>
              <a:rPr lang="en-US" altLang="zh-CN" sz="24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500</a:t>
            </a:r>
            <a:r>
              <a:rPr lang="en-US" altLang="zh-CN" sz="24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</a:t>
            </a:r>
            <a:r>
              <a:rPr lang="zh-CN" altLang="en-US" sz="2400" b="1" dirty="0">
                <a:solidFill>
                  <a:srgbClr val="00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的电阻。</a:t>
            </a:r>
            <a:endParaRPr lang="en-US" altLang="zh-CN" sz="2400" b="1" dirty="0">
              <a:solidFill>
                <a:srgbClr val="000066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 b="1" dirty="0">
                <a:solidFill>
                  <a:srgbClr val="00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当受控电源和控制量在同一条戴维南或者诺顿支路上时，受控电源可以变换为线性电阻。</a:t>
            </a:r>
            <a:endParaRPr lang="en-US" altLang="zh-CN" sz="2400" b="1" dirty="0">
              <a:solidFill>
                <a:srgbClr val="000066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sz="2400" b="1" dirty="0">
              <a:solidFill>
                <a:srgbClr val="000066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430136" name="Object 5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7149809"/>
              </p:ext>
            </p:extLst>
          </p:nvPr>
        </p:nvGraphicFramePr>
        <p:xfrm>
          <a:off x="6538246" y="3239397"/>
          <a:ext cx="1590675" cy="142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517" name="Visio" r:id="rId7" imgW="943356" imgH="845210" progId="Visio.Drawing.6">
                  <p:embed/>
                </p:oleObj>
              </mc:Choice>
              <mc:Fallback>
                <p:oleObj name="Visio" r:id="rId7" imgW="943356" imgH="845210" progId="Visio.Drawing.6">
                  <p:embed/>
                  <p:pic>
                    <p:nvPicPr>
                      <p:cNvPr id="430136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38246" y="3239397"/>
                        <a:ext cx="1590675" cy="142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37" name="Object 5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9884159"/>
              </p:ext>
            </p:extLst>
          </p:nvPr>
        </p:nvGraphicFramePr>
        <p:xfrm>
          <a:off x="883593" y="3294286"/>
          <a:ext cx="3024187" cy="1360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518" name="Visio" r:id="rId9" imgW="1857756" imgH="834542" progId="Visio.Drawing.6">
                  <p:embed/>
                </p:oleObj>
              </mc:Choice>
              <mc:Fallback>
                <p:oleObj name="Visio" r:id="rId9" imgW="1857756" imgH="834542" progId="Visio.Drawing.6">
                  <p:embed/>
                  <p:pic>
                    <p:nvPicPr>
                      <p:cNvPr id="430137" name="Object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3593" y="3294286"/>
                        <a:ext cx="3024187" cy="1360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1382031"/>
              </p:ext>
            </p:extLst>
          </p:nvPr>
        </p:nvGraphicFramePr>
        <p:xfrm>
          <a:off x="5239692" y="3861048"/>
          <a:ext cx="288925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519" r:id="rId5" imgW="209702" imgH="209702" progId="Visio.Drawing.6">
                  <p:embed/>
                </p:oleObj>
              </mc:Choice>
              <mc:Fallback>
                <p:oleObj r:id="rId5" imgW="209702" imgH="209702" progId="Visio.Drawing.6">
                  <p:embed/>
                  <p:pic>
                    <p:nvPicPr>
                      <p:cNvPr id="430094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9692" y="3861048"/>
                        <a:ext cx="288925" cy="288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75514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0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0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430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30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30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430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430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30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30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301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301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430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083" grpId="0" build="p"/>
      <p:bldP spid="430115" grpId="0" build="p"/>
      <p:bldP spid="430116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AE113331-E8C8-476B-9753-038B56AE41B6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2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2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8AC94C8-C5CB-48BE-A534-3C91DCB36FDA}" type="slidenum">
              <a:rPr lang="en-US" altLang="zh-CN"/>
              <a:pPr>
                <a:defRPr/>
              </a:pPr>
              <a:t>53</a:t>
            </a:fld>
            <a:endParaRPr lang="en-US" altLang="zh-CN"/>
          </a:p>
        </p:txBody>
      </p:sp>
      <p:graphicFrame>
        <p:nvGraphicFramePr>
          <p:cNvPr id="275458" name="Object 2"/>
          <p:cNvGraphicFramePr>
            <a:graphicFrameLocks noChangeAspect="1"/>
          </p:cNvGraphicFramePr>
          <p:nvPr/>
        </p:nvGraphicFramePr>
        <p:xfrm>
          <a:off x="6156325" y="990600"/>
          <a:ext cx="2530475" cy="2449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99" name="VISIO" r:id="rId3" imgW="1267968" imgH="1223772" progId="Visio.Drawing.5">
                  <p:embed/>
                </p:oleObj>
              </mc:Choice>
              <mc:Fallback>
                <p:oleObj name="VISIO" r:id="rId3" imgW="1267968" imgH="1223772" progId="Visio.Drawing.5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6325" y="990600"/>
                        <a:ext cx="2530475" cy="2449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5459" name="Group 3"/>
          <p:cNvGrpSpPr>
            <a:grpSpLocks/>
          </p:cNvGrpSpPr>
          <p:nvPr/>
        </p:nvGrpSpPr>
        <p:grpSpPr bwMode="auto">
          <a:xfrm>
            <a:off x="0" y="1447800"/>
            <a:ext cx="3843338" cy="1955800"/>
            <a:chOff x="0" y="1008"/>
            <a:chExt cx="2421" cy="1232"/>
          </a:xfrm>
        </p:grpSpPr>
        <p:graphicFrame>
          <p:nvGraphicFramePr>
            <p:cNvPr id="22551" name="Object 4"/>
            <p:cNvGraphicFramePr>
              <a:graphicFrameLocks noChangeAspect="1"/>
            </p:cNvGraphicFramePr>
            <p:nvPr/>
          </p:nvGraphicFramePr>
          <p:xfrm>
            <a:off x="0" y="1008"/>
            <a:ext cx="2228" cy="1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100" name="VISIO" r:id="rId5" imgW="1770984" imgH="975259" progId="Visio.Drawing.5">
                    <p:embed/>
                  </p:oleObj>
                </mc:Choice>
                <mc:Fallback>
                  <p:oleObj name="VISIO" r:id="rId5" imgW="1770984" imgH="975259" progId="Visio.Drawing.5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1008"/>
                          <a:ext cx="2228" cy="12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52" name="Rectangle 5"/>
            <p:cNvSpPr>
              <a:spLocks noChangeArrowheads="1"/>
            </p:cNvSpPr>
            <p:nvPr/>
          </p:nvSpPr>
          <p:spPr bwMode="auto">
            <a:xfrm>
              <a:off x="2112" y="1652"/>
              <a:ext cx="30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b="1">
                  <a:solidFill>
                    <a:schemeClr val="hlink"/>
                  </a:solidFill>
                  <a:ea typeface="隶书" panose="02010509060101010101" pitchFamily="49" charset="-122"/>
                </a:rPr>
                <a:t>→</a:t>
              </a:r>
            </a:p>
          </p:txBody>
        </p:sp>
      </p:grpSp>
      <p:grpSp>
        <p:nvGrpSpPr>
          <p:cNvPr id="275462" name="Group 6"/>
          <p:cNvGrpSpPr>
            <a:grpSpLocks/>
          </p:cNvGrpSpPr>
          <p:nvPr/>
        </p:nvGrpSpPr>
        <p:grpSpPr bwMode="auto">
          <a:xfrm>
            <a:off x="3641725" y="990600"/>
            <a:ext cx="2868613" cy="2449513"/>
            <a:chOff x="2294" y="720"/>
            <a:chExt cx="1807" cy="1543"/>
          </a:xfrm>
        </p:grpSpPr>
        <p:graphicFrame>
          <p:nvGraphicFramePr>
            <p:cNvPr id="22549" name="Object 7"/>
            <p:cNvGraphicFramePr>
              <a:graphicFrameLocks noChangeAspect="1"/>
            </p:cNvGraphicFramePr>
            <p:nvPr/>
          </p:nvGraphicFramePr>
          <p:xfrm>
            <a:off x="2294" y="720"/>
            <a:ext cx="1594" cy="15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101" name="VISIO" r:id="rId7" imgW="1267968" imgH="1223772" progId="Visio.Drawing.5">
                    <p:embed/>
                  </p:oleObj>
                </mc:Choice>
                <mc:Fallback>
                  <p:oleObj name="VISIO" r:id="rId7" imgW="1267968" imgH="1223772" progId="Visio.Drawing.5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94" y="720"/>
                          <a:ext cx="1594" cy="15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50" name="Rectangle 8"/>
            <p:cNvSpPr>
              <a:spLocks noChangeArrowheads="1"/>
            </p:cNvSpPr>
            <p:nvPr/>
          </p:nvSpPr>
          <p:spPr bwMode="auto">
            <a:xfrm>
              <a:off x="3792" y="1652"/>
              <a:ext cx="30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b="1">
                  <a:solidFill>
                    <a:schemeClr val="hlink"/>
                  </a:solidFill>
                  <a:ea typeface="隶书" panose="02010509060101010101" pitchFamily="49" charset="-122"/>
                </a:rPr>
                <a:t>→</a:t>
              </a:r>
            </a:p>
          </p:txBody>
        </p:sp>
      </p:grpSp>
      <p:grpSp>
        <p:nvGrpSpPr>
          <p:cNvPr id="275465" name="Group 9"/>
          <p:cNvGrpSpPr>
            <a:grpSpLocks/>
          </p:cNvGrpSpPr>
          <p:nvPr/>
        </p:nvGrpSpPr>
        <p:grpSpPr bwMode="auto">
          <a:xfrm>
            <a:off x="3065463" y="3581400"/>
            <a:ext cx="3106737" cy="2320925"/>
            <a:chOff x="1931" y="2688"/>
            <a:chExt cx="1957" cy="1462"/>
          </a:xfrm>
        </p:grpSpPr>
        <p:graphicFrame>
          <p:nvGraphicFramePr>
            <p:cNvPr id="22547" name="Object 10"/>
            <p:cNvGraphicFramePr>
              <a:graphicFrameLocks noChangeAspect="1"/>
            </p:cNvGraphicFramePr>
            <p:nvPr/>
          </p:nvGraphicFramePr>
          <p:xfrm>
            <a:off x="2595" y="2688"/>
            <a:ext cx="1293" cy="1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102" name="VISIO" r:id="rId9" imgW="1028700" imgH="1159764" progId="Visio.Drawing.5">
                    <p:embed/>
                  </p:oleObj>
                </mc:Choice>
                <mc:Fallback>
                  <p:oleObj name="VISIO" r:id="rId9" imgW="1028700" imgH="1159764" progId="Visio.Drawing.5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95" y="2688"/>
                          <a:ext cx="1293" cy="1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48" name="Rectangle 11"/>
            <p:cNvSpPr>
              <a:spLocks noChangeArrowheads="1"/>
            </p:cNvSpPr>
            <p:nvPr/>
          </p:nvSpPr>
          <p:spPr bwMode="auto">
            <a:xfrm>
              <a:off x="1931" y="3524"/>
              <a:ext cx="30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b="1">
                  <a:solidFill>
                    <a:schemeClr val="hlink"/>
                  </a:solidFill>
                  <a:ea typeface="隶书" panose="02010509060101010101" pitchFamily="49" charset="-122"/>
                </a:rPr>
                <a:t>→</a:t>
              </a:r>
            </a:p>
          </p:txBody>
        </p:sp>
      </p:grpSp>
      <p:grpSp>
        <p:nvGrpSpPr>
          <p:cNvPr id="275468" name="Group 12"/>
          <p:cNvGrpSpPr>
            <a:grpSpLocks/>
          </p:cNvGrpSpPr>
          <p:nvPr/>
        </p:nvGrpSpPr>
        <p:grpSpPr bwMode="auto">
          <a:xfrm>
            <a:off x="5884863" y="3581400"/>
            <a:ext cx="2873375" cy="2320925"/>
            <a:chOff x="3707" y="2688"/>
            <a:chExt cx="1810" cy="1462"/>
          </a:xfrm>
        </p:grpSpPr>
        <p:graphicFrame>
          <p:nvGraphicFramePr>
            <p:cNvPr id="22545" name="Object 13"/>
            <p:cNvGraphicFramePr>
              <a:graphicFrameLocks noChangeAspect="1"/>
            </p:cNvGraphicFramePr>
            <p:nvPr/>
          </p:nvGraphicFramePr>
          <p:xfrm>
            <a:off x="4224" y="2688"/>
            <a:ext cx="1293" cy="1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103" name="VISIO" r:id="rId11" imgW="1028700" imgH="1159764" progId="Visio.Drawing.5">
                    <p:embed/>
                  </p:oleObj>
                </mc:Choice>
                <mc:Fallback>
                  <p:oleObj name="VISIO" r:id="rId11" imgW="1028700" imgH="1159764" progId="Visio.Drawing.5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24" y="2688"/>
                          <a:ext cx="1293" cy="1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46" name="Rectangle 14"/>
            <p:cNvSpPr>
              <a:spLocks noChangeArrowheads="1"/>
            </p:cNvSpPr>
            <p:nvPr/>
          </p:nvSpPr>
          <p:spPr bwMode="auto">
            <a:xfrm>
              <a:off x="3707" y="3524"/>
              <a:ext cx="30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b="1">
                  <a:solidFill>
                    <a:schemeClr val="hlink"/>
                  </a:solidFill>
                  <a:ea typeface="隶书" panose="02010509060101010101" pitchFamily="49" charset="-122"/>
                </a:rPr>
                <a:t>→</a:t>
              </a:r>
            </a:p>
          </p:txBody>
        </p:sp>
      </p:grpSp>
      <p:grpSp>
        <p:nvGrpSpPr>
          <p:cNvPr id="275471" name="Group 15"/>
          <p:cNvGrpSpPr>
            <a:grpSpLocks/>
          </p:cNvGrpSpPr>
          <p:nvPr/>
        </p:nvGrpSpPr>
        <p:grpSpPr bwMode="auto">
          <a:xfrm>
            <a:off x="474663" y="3581400"/>
            <a:ext cx="2878137" cy="2320925"/>
            <a:chOff x="299" y="2688"/>
            <a:chExt cx="1813" cy="1462"/>
          </a:xfrm>
        </p:grpSpPr>
        <p:graphicFrame>
          <p:nvGraphicFramePr>
            <p:cNvPr id="22543" name="Object 16"/>
            <p:cNvGraphicFramePr>
              <a:graphicFrameLocks noChangeAspect="1"/>
            </p:cNvGraphicFramePr>
            <p:nvPr/>
          </p:nvGraphicFramePr>
          <p:xfrm>
            <a:off x="518" y="2688"/>
            <a:ext cx="1594" cy="1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104" name="VISIO" r:id="rId13" imgW="1267968" imgH="1159764" progId="Visio.Drawing.5">
                    <p:embed/>
                  </p:oleObj>
                </mc:Choice>
                <mc:Fallback>
                  <p:oleObj name="VISIO" r:id="rId13" imgW="1267968" imgH="1159764" progId="Visio.Drawing.5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8" y="2688"/>
                          <a:ext cx="1594" cy="1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44" name="Rectangle 17"/>
            <p:cNvSpPr>
              <a:spLocks noChangeArrowheads="1"/>
            </p:cNvSpPr>
            <p:nvPr/>
          </p:nvSpPr>
          <p:spPr bwMode="auto">
            <a:xfrm>
              <a:off x="299" y="3476"/>
              <a:ext cx="30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b="1">
                  <a:solidFill>
                    <a:schemeClr val="hlink"/>
                  </a:solidFill>
                  <a:ea typeface="隶书" panose="02010509060101010101" pitchFamily="49" charset="-122"/>
                </a:rPr>
                <a:t>→</a:t>
              </a:r>
            </a:p>
          </p:txBody>
        </p:sp>
      </p:grpSp>
      <p:graphicFrame>
        <p:nvGraphicFramePr>
          <p:cNvPr id="275474" name="Object 18"/>
          <p:cNvGraphicFramePr>
            <a:graphicFrameLocks noChangeAspect="1"/>
          </p:cNvGraphicFramePr>
          <p:nvPr/>
        </p:nvGraphicFramePr>
        <p:xfrm>
          <a:off x="1835150" y="6092825"/>
          <a:ext cx="6108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05" name="Equation" r:id="rId15" imgW="2692400" imgH="190500" progId="Equation.DSMT4">
                  <p:embed/>
                </p:oleObj>
              </mc:Choice>
              <mc:Fallback>
                <p:oleObj name="Equation" r:id="rId15" imgW="2692400" imgH="1905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6092825"/>
                        <a:ext cx="61087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5475" name="Rectangle 19"/>
          <p:cNvSpPr>
            <a:spLocks noChangeArrowheads="1"/>
          </p:cNvSpPr>
          <p:nvPr/>
        </p:nvSpPr>
        <p:spPr bwMode="auto">
          <a:xfrm>
            <a:off x="361950" y="6057900"/>
            <a:ext cx="13684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>
                <a:solidFill>
                  <a:schemeClr val="hlink"/>
                </a:solidFill>
                <a:ea typeface="隶书" panose="02010509060101010101" pitchFamily="49" charset="-122"/>
              </a:rPr>
              <a:t>Method2:</a:t>
            </a:r>
          </a:p>
        </p:txBody>
      </p:sp>
      <p:sp>
        <p:nvSpPr>
          <p:cNvPr id="22541" name="Rectangle 21"/>
          <p:cNvSpPr>
            <a:spLocks noChangeArrowheads="1"/>
          </p:cNvSpPr>
          <p:nvPr/>
        </p:nvSpPr>
        <p:spPr bwMode="auto">
          <a:xfrm>
            <a:off x="381000" y="668338"/>
            <a:ext cx="845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CC3300"/>
                </a:solidFill>
                <a:ea typeface="隶书" panose="02010509060101010101" pitchFamily="49" charset="-122"/>
              </a:rPr>
              <a:t>受控电源变换</a:t>
            </a:r>
          </a:p>
        </p:txBody>
      </p:sp>
      <p:sp>
        <p:nvSpPr>
          <p:cNvPr id="22542" name="Rectangle 14"/>
          <p:cNvSpPr>
            <a:spLocks noChangeArrowheads="1"/>
          </p:cNvSpPr>
          <p:nvPr/>
        </p:nvSpPr>
        <p:spPr bwMode="auto">
          <a:xfrm>
            <a:off x="395288" y="163513"/>
            <a:ext cx="845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3200" dirty="0">
                <a:solidFill>
                  <a:schemeClr val="tx2"/>
                </a:solidFill>
                <a:ea typeface="隶书" panose="02010509060101010101" pitchFamily="49" charset="-122"/>
              </a:rPr>
              <a:t>2.6</a:t>
            </a:r>
            <a:r>
              <a:rPr lang="zh-CN" altLang="en-US" sz="3200" dirty="0">
                <a:solidFill>
                  <a:schemeClr val="tx2"/>
                </a:solidFill>
                <a:ea typeface="隶书" panose="02010509060101010101" pitchFamily="49" charset="-122"/>
              </a:rPr>
              <a:t>电源变换</a:t>
            </a:r>
            <a:r>
              <a:rPr lang="en-US" altLang="zh-CN" sz="3200" dirty="0">
                <a:solidFill>
                  <a:schemeClr val="tx2"/>
                </a:solidFill>
                <a:ea typeface="隶书" panose="02010509060101010101" pitchFamily="49" charset="-122"/>
              </a:rPr>
              <a:t>Source transformation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5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5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5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5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5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5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5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5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5475" grpId="0" autoUpdateAnimBg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7A02A990-CF6F-493B-A2EE-57281261533C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17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1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5208C0-9FA7-4866-967F-2B2CE7D7D610}" type="slidenum">
              <a:rPr lang="en-US" altLang="zh-CN"/>
              <a:pPr>
                <a:defRPr/>
              </a:pPr>
              <a:t>54</a:t>
            </a:fld>
            <a:endParaRPr lang="en-US" altLang="zh-CN"/>
          </a:p>
        </p:txBody>
      </p:sp>
      <p:graphicFrame>
        <p:nvGraphicFramePr>
          <p:cNvPr id="23557" name="Object 2"/>
          <p:cNvGraphicFramePr>
            <a:graphicFrameLocks noChangeAspect="1"/>
          </p:cNvGraphicFramePr>
          <p:nvPr/>
        </p:nvGraphicFramePr>
        <p:xfrm>
          <a:off x="179388" y="1125538"/>
          <a:ext cx="2465387" cy="2265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07" name="Visio" r:id="rId3" imgW="1294019" imgH="1189434" progId="Visio.Drawing.11">
                  <p:embed/>
                </p:oleObj>
              </mc:Choice>
              <mc:Fallback>
                <p:oleObj name="Visio" r:id="rId3" imgW="1294019" imgH="1189434" progId="Visio.Drawing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1125538"/>
                        <a:ext cx="2465387" cy="2265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8" name="Object 3"/>
          <p:cNvGraphicFramePr>
            <a:graphicFrameLocks noChangeAspect="1"/>
          </p:cNvGraphicFramePr>
          <p:nvPr/>
        </p:nvGraphicFramePr>
        <p:xfrm>
          <a:off x="3276600" y="1125538"/>
          <a:ext cx="2465388" cy="2265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08" name="Visio" r:id="rId5" imgW="1294019" imgH="1189434" progId="Visio.Drawing.11">
                  <p:embed/>
                </p:oleObj>
              </mc:Choice>
              <mc:Fallback>
                <p:oleObj name="Visio" r:id="rId5" imgW="1294019" imgH="1189434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1125538"/>
                        <a:ext cx="2465388" cy="2265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9" name="Object 4"/>
          <p:cNvGraphicFramePr>
            <a:graphicFrameLocks noChangeAspect="1"/>
          </p:cNvGraphicFramePr>
          <p:nvPr/>
        </p:nvGraphicFramePr>
        <p:xfrm>
          <a:off x="6300788" y="1125538"/>
          <a:ext cx="2465387" cy="2265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09" name="Visio" r:id="rId7" imgW="1294019" imgH="1189434" progId="Visio.Drawing.11">
                  <p:embed/>
                </p:oleObj>
              </mc:Choice>
              <mc:Fallback>
                <p:oleObj name="Visio" r:id="rId7" imgW="1294019" imgH="1189434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0788" y="1125538"/>
                        <a:ext cx="2465387" cy="2265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0" name="Object 5"/>
          <p:cNvGraphicFramePr>
            <a:graphicFrameLocks noChangeAspect="1"/>
          </p:cNvGraphicFramePr>
          <p:nvPr/>
        </p:nvGraphicFramePr>
        <p:xfrm>
          <a:off x="395288" y="3957638"/>
          <a:ext cx="2097087" cy="167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10" name="Visio" r:id="rId9" imgW="1100709" imgH="877824" progId="Visio.Drawing.11">
                  <p:embed/>
                </p:oleObj>
              </mc:Choice>
              <mc:Fallback>
                <p:oleObj name="Visio" r:id="rId9" imgW="1100709" imgH="877824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3957638"/>
                        <a:ext cx="2097087" cy="167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1" name="Object 6"/>
          <p:cNvGraphicFramePr>
            <a:graphicFrameLocks noChangeAspect="1"/>
          </p:cNvGraphicFramePr>
          <p:nvPr/>
        </p:nvGraphicFramePr>
        <p:xfrm>
          <a:off x="6443663" y="3957638"/>
          <a:ext cx="2520950" cy="188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11" name="Visio" r:id="rId11" imgW="1336024" imgH="987552" progId="Visio.Drawing.11">
                  <p:embed/>
                </p:oleObj>
              </mc:Choice>
              <mc:Fallback>
                <p:oleObj name="Visio" r:id="rId11" imgW="1336024" imgH="987552" progId="Visio.Drawing.11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3663" y="3957638"/>
                        <a:ext cx="2520950" cy="1882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2" name="Object 7"/>
          <p:cNvGraphicFramePr>
            <a:graphicFrameLocks noChangeAspect="1"/>
          </p:cNvGraphicFramePr>
          <p:nvPr/>
        </p:nvGraphicFramePr>
        <p:xfrm>
          <a:off x="3276600" y="3884613"/>
          <a:ext cx="2582863" cy="1944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12" name="Visio" r:id="rId13" imgW="1336024" imgH="987552" progId="Visio.Drawing.11">
                  <p:embed/>
                </p:oleObj>
              </mc:Choice>
              <mc:Fallback>
                <p:oleObj name="Visio" r:id="rId13" imgW="1336024" imgH="987552" progId="Visio.Drawing.11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3884613"/>
                        <a:ext cx="2582863" cy="1944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488" name="Object 8"/>
          <p:cNvGraphicFramePr>
            <a:graphicFrameLocks noChangeAspect="1"/>
          </p:cNvGraphicFramePr>
          <p:nvPr/>
        </p:nvGraphicFramePr>
        <p:xfrm>
          <a:off x="971550" y="3463925"/>
          <a:ext cx="1219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13" name="公式" r:id="rId15" imgW="609336" imgH="215806" progId="Equation.3">
                  <p:embed/>
                </p:oleObj>
              </mc:Choice>
              <mc:Fallback>
                <p:oleObj name="公式" r:id="rId15" imgW="609336" imgH="215806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3463925"/>
                        <a:ext cx="1219200" cy="4318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99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489" name="Object 9"/>
          <p:cNvGraphicFramePr>
            <a:graphicFrameLocks noChangeAspect="1"/>
          </p:cNvGraphicFramePr>
          <p:nvPr/>
        </p:nvGraphicFramePr>
        <p:xfrm>
          <a:off x="4127500" y="3349625"/>
          <a:ext cx="12446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14" name="公式" r:id="rId17" imgW="622030" imgH="330057" progId="Equation.3">
                  <p:embed/>
                </p:oleObj>
              </mc:Choice>
              <mc:Fallback>
                <p:oleObj name="公式" r:id="rId17" imgW="622030" imgH="330057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7500" y="3349625"/>
                        <a:ext cx="1244600" cy="6604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99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490" name="Object 10"/>
          <p:cNvGraphicFramePr>
            <a:graphicFrameLocks noChangeAspect="1"/>
          </p:cNvGraphicFramePr>
          <p:nvPr/>
        </p:nvGraphicFramePr>
        <p:xfrm>
          <a:off x="7092950" y="3390900"/>
          <a:ext cx="1524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15" name="公式" r:id="rId19" imgW="761669" imgH="215806" progId="Equation.3">
                  <p:embed/>
                </p:oleObj>
              </mc:Choice>
              <mc:Fallback>
                <p:oleObj name="公式" r:id="rId19" imgW="761669" imgH="215806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2950" y="3390900"/>
                        <a:ext cx="1524000" cy="4318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99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491" name="Object 11"/>
          <p:cNvGraphicFramePr>
            <a:graphicFrameLocks noChangeAspect="1"/>
          </p:cNvGraphicFramePr>
          <p:nvPr/>
        </p:nvGraphicFramePr>
        <p:xfrm>
          <a:off x="598488" y="5767388"/>
          <a:ext cx="1549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16" name="公式" r:id="rId21" imgW="774364" imgH="215806" progId="Equation.3">
                  <p:embed/>
                </p:oleObj>
              </mc:Choice>
              <mc:Fallback>
                <p:oleObj name="公式" r:id="rId21" imgW="774364" imgH="215806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488" y="5767388"/>
                        <a:ext cx="1549400" cy="4318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99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492" name="Object 12"/>
          <p:cNvGraphicFramePr>
            <a:graphicFrameLocks noChangeAspect="1"/>
          </p:cNvGraphicFramePr>
          <p:nvPr/>
        </p:nvGraphicFramePr>
        <p:xfrm>
          <a:off x="3924300" y="5670550"/>
          <a:ext cx="12446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17" name="公式" r:id="rId23" imgW="622030" imgH="355446" progId="Equation.3">
                  <p:embed/>
                </p:oleObj>
              </mc:Choice>
              <mc:Fallback>
                <p:oleObj name="公式" r:id="rId23" imgW="622030" imgH="355446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5670550"/>
                        <a:ext cx="1244600" cy="7112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99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493" name="Object 13"/>
          <p:cNvGraphicFramePr>
            <a:graphicFrameLocks noChangeAspect="1"/>
          </p:cNvGraphicFramePr>
          <p:nvPr/>
        </p:nvGraphicFramePr>
        <p:xfrm>
          <a:off x="7100888" y="5695950"/>
          <a:ext cx="13716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18" name="公式" r:id="rId25" imgW="685502" imgH="355446" progId="Equation.3">
                  <p:embed/>
                </p:oleObj>
              </mc:Choice>
              <mc:Fallback>
                <p:oleObj name="公式" r:id="rId25" imgW="685502" imgH="355446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00888" y="5695950"/>
                        <a:ext cx="1371600" cy="7112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99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9" name="Rectangle 14"/>
          <p:cNvSpPr>
            <a:spLocks noChangeArrowheads="1"/>
          </p:cNvSpPr>
          <p:nvPr/>
        </p:nvSpPr>
        <p:spPr bwMode="auto">
          <a:xfrm>
            <a:off x="395288" y="625475"/>
            <a:ext cx="80645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solidFill>
                  <a:srgbClr val="CC3300"/>
                </a:solidFill>
                <a:ea typeface="隶书" panose="02010509060101010101" pitchFamily="49" charset="-122"/>
              </a:rPr>
              <a:t>例</a:t>
            </a:r>
            <a:r>
              <a:rPr lang="en-US" altLang="zh-CN" sz="2800" dirty="0">
                <a:solidFill>
                  <a:srgbClr val="CC3300"/>
                </a:solidFill>
                <a:ea typeface="隶书" panose="02010509060101010101" pitchFamily="49" charset="-122"/>
              </a:rPr>
              <a:t>7.Find the equivalent resistance of each circuit.</a:t>
            </a:r>
          </a:p>
        </p:txBody>
      </p:sp>
      <p:sp>
        <p:nvSpPr>
          <p:cNvPr id="23570" name="Rectangle 14"/>
          <p:cNvSpPr>
            <a:spLocks noChangeArrowheads="1"/>
          </p:cNvSpPr>
          <p:nvPr/>
        </p:nvSpPr>
        <p:spPr bwMode="auto">
          <a:xfrm>
            <a:off x="395288" y="163513"/>
            <a:ext cx="845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3200" dirty="0">
                <a:solidFill>
                  <a:schemeClr val="tx2"/>
                </a:solidFill>
                <a:ea typeface="隶书" panose="02010509060101010101" pitchFamily="49" charset="-122"/>
              </a:rPr>
              <a:t>2.6</a:t>
            </a:r>
            <a:r>
              <a:rPr lang="zh-CN" altLang="en-US" sz="3200" dirty="0">
                <a:solidFill>
                  <a:schemeClr val="tx2"/>
                </a:solidFill>
                <a:ea typeface="隶书" panose="02010509060101010101" pitchFamily="49" charset="-122"/>
              </a:rPr>
              <a:t>电源变换</a:t>
            </a:r>
            <a:r>
              <a:rPr lang="en-US" altLang="zh-CN" sz="3200" dirty="0">
                <a:solidFill>
                  <a:schemeClr val="tx2"/>
                </a:solidFill>
                <a:ea typeface="隶书" panose="02010509060101010101" pitchFamily="49" charset="-122"/>
              </a:rPr>
              <a:t>Source transformation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A259924C-74D2-4990-B021-978A50FD8F30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5A470E1-CF8F-4566-BCA0-CC854071A135}" type="slidenum">
              <a:rPr lang="en-US" altLang="zh-CN"/>
              <a:pPr>
                <a:defRPr/>
              </a:pPr>
              <a:t>55</a:t>
            </a:fld>
            <a:endParaRPr lang="en-US" altLang="zh-CN"/>
          </a:p>
        </p:txBody>
      </p:sp>
      <p:sp>
        <p:nvSpPr>
          <p:cNvPr id="24581" name="Rectangle 2"/>
          <p:cNvSpPr>
            <a:spLocks noChangeArrowheads="1"/>
          </p:cNvSpPr>
          <p:nvPr/>
        </p:nvSpPr>
        <p:spPr bwMode="auto">
          <a:xfrm>
            <a:off x="395288" y="625475"/>
            <a:ext cx="80645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solidFill>
                  <a:srgbClr val="CC3300"/>
                </a:solidFill>
                <a:ea typeface="隶书" panose="02010509060101010101" pitchFamily="49" charset="-122"/>
              </a:rPr>
              <a:t>例</a:t>
            </a:r>
            <a:r>
              <a:rPr lang="en-US" altLang="zh-CN" sz="2800" dirty="0">
                <a:solidFill>
                  <a:srgbClr val="CC3300"/>
                </a:solidFill>
                <a:ea typeface="隶书" panose="02010509060101010101" pitchFamily="49" charset="-122"/>
              </a:rPr>
              <a:t>8.Find the equivalent circuit.</a:t>
            </a:r>
          </a:p>
        </p:txBody>
      </p:sp>
      <p:graphicFrame>
        <p:nvGraphicFramePr>
          <p:cNvPr id="24582" name="Object 3"/>
          <p:cNvGraphicFramePr>
            <a:graphicFrameLocks noChangeAspect="1"/>
          </p:cNvGraphicFramePr>
          <p:nvPr/>
        </p:nvGraphicFramePr>
        <p:xfrm>
          <a:off x="749300" y="1158875"/>
          <a:ext cx="3848100" cy="176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99" name="VISIO" r:id="rId3" imgW="1932260" imgH="880928" progId="Visio.Drawing.5">
                  <p:embed/>
                </p:oleObj>
              </mc:Choice>
              <mc:Fallback>
                <p:oleObj name="VISIO" r:id="rId3" imgW="1932260" imgH="880928" progId="Visio.Drawing.5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9300" y="1158875"/>
                        <a:ext cx="3848100" cy="176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7508" name="Object 4"/>
          <p:cNvGraphicFramePr>
            <a:graphicFrameLocks noChangeAspect="1"/>
          </p:cNvGraphicFramePr>
          <p:nvPr/>
        </p:nvGraphicFramePr>
        <p:xfrm>
          <a:off x="749300" y="2997200"/>
          <a:ext cx="3848100" cy="176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00" name="Visio" r:id="rId5" imgW="1959674" imgH="912114" progId="Visio.Drawing.11">
                  <p:embed/>
                </p:oleObj>
              </mc:Choice>
              <mc:Fallback>
                <p:oleObj name="Visio" r:id="rId5" imgW="1959674" imgH="912114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9300" y="2997200"/>
                        <a:ext cx="3848100" cy="176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7509" name="Object 5"/>
          <p:cNvGraphicFramePr>
            <a:graphicFrameLocks noChangeAspect="1"/>
          </p:cNvGraphicFramePr>
          <p:nvPr/>
        </p:nvGraphicFramePr>
        <p:xfrm>
          <a:off x="755650" y="4724400"/>
          <a:ext cx="3848100" cy="176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01" name="Visio" r:id="rId7" imgW="1959674" imgH="912114" progId="Visio.Drawing.11">
                  <p:embed/>
                </p:oleObj>
              </mc:Choice>
              <mc:Fallback>
                <p:oleObj name="Visio" r:id="rId7" imgW="1959674" imgH="912114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4724400"/>
                        <a:ext cx="3848100" cy="176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7510" name="Object 6"/>
          <p:cNvGraphicFramePr>
            <a:graphicFrameLocks noChangeAspect="1"/>
          </p:cNvGraphicFramePr>
          <p:nvPr/>
        </p:nvGraphicFramePr>
        <p:xfrm>
          <a:off x="5940425" y="5734050"/>
          <a:ext cx="1871663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02" name="Equation" r:id="rId9" imgW="698500" imgH="228600" progId="Equation.DSMT4">
                  <p:embed/>
                </p:oleObj>
              </mc:Choice>
              <mc:Fallback>
                <p:oleObj name="Equation" r:id="rId9" imgW="698500" imgH="2286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0425" y="5734050"/>
                        <a:ext cx="1871663" cy="612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7"/>
          <p:cNvSpPr>
            <a:spLocks noChangeArrowheads="1"/>
          </p:cNvSpPr>
          <p:nvPr/>
        </p:nvSpPr>
        <p:spPr bwMode="auto">
          <a:xfrm>
            <a:off x="395288" y="163513"/>
            <a:ext cx="845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3200" dirty="0">
                <a:solidFill>
                  <a:schemeClr val="tx2"/>
                </a:solidFill>
                <a:ea typeface="隶书" panose="02010509060101010101" pitchFamily="49" charset="-122"/>
              </a:rPr>
              <a:t>等效电路综合应用</a:t>
            </a:r>
            <a:endParaRPr lang="en-US" altLang="zh-CN" sz="3200" dirty="0">
              <a:solidFill>
                <a:schemeClr val="tx2"/>
              </a:solidFill>
              <a:ea typeface="隶书" panose="020105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77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277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277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1CE61080-4ABA-4ECA-B3BE-8BD517454A59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C976A3-1A0A-46BD-89B9-9FF9DCE6D136}" type="slidenum">
              <a:rPr lang="en-US" altLang="zh-CN"/>
              <a:pPr>
                <a:defRPr/>
              </a:pPr>
              <a:t>56</a:t>
            </a:fld>
            <a:endParaRPr lang="en-US" altLang="zh-CN"/>
          </a:p>
        </p:txBody>
      </p:sp>
      <p:graphicFrame>
        <p:nvGraphicFramePr>
          <p:cNvPr id="25605" name="Object 2"/>
          <p:cNvGraphicFramePr>
            <a:graphicFrameLocks noChangeAspect="1"/>
          </p:cNvGraphicFramePr>
          <p:nvPr/>
        </p:nvGraphicFramePr>
        <p:xfrm>
          <a:off x="-88900" y="1341438"/>
          <a:ext cx="4229100" cy="254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23" name="VISIO" r:id="rId3" imgW="2131571" imgH="1265858" progId="Visio.Drawing.5">
                  <p:embed/>
                </p:oleObj>
              </mc:Choice>
              <mc:Fallback>
                <p:oleObj name="VISIO" r:id="rId3" imgW="2131571" imgH="1265858" progId="Visio.Drawing.5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88900" y="1341438"/>
                        <a:ext cx="4229100" cy="254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8531" name="Object 3"/>
          <p:cNvGraphicFramePr>
            <a:graphicFrameLocks noChangeAspect="1"/>
          </p:cNvGraphicFramePr>
          <p:nvPr/>
        </p:nvGraphicFramePr>
        <p:xfrm>
          <a:off x="4716463" y="1341438"/>
          <a:ext cx="4229100" cy="254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24" name="Visio" r:id="rId5" imgW="2158127" imgH="1298305" progId="Visio.Drawing.11">
                  <p:embed/>
                </p:oleObj>
              </mc:Choice>
              <mc:Fallback>
                <p:oleObj name="Visio" r:id="rId5" imgW="2158127" imgH="1298305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463" y="1341438"/>
                        <a:ext cx="4229100" cy="254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8532" name="Object 4"/>
          <p:cNvGraphicFramePr>
            <a:graphicFrameLocks noChangeAspect="1"/>
          </p:cNvGraphicFramePr>
          <p:nvPr/>
        </p:nvGraphicFramePr>
        <p:xfrm>
          <a:off x="127000" y="4076700"/>
          <a:ext cx="4229100" cy="254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25" name="Visio" r:id="rId7" imgW="2158127" imgH="1298305" progId="Visio.Drawing.11">
                  <p:embed/>
                </p:oleObj>
              </mc:Choice>
              <mc:Fallback>
                <p:oleObj name="Visio" r:id="rId7" imgW="2158127" imgH="1298305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000" y="4076700"/>
                        <a:ext cx="4229100" cy="254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8533" name="Object 5"/>
          <p:cNvGraphicFramePr>
            <a:graphicFrameLocks noChangeAspect="1"/>
          </p:cNvGraphicFramePr>
          <p:nvPr/>
        </p:nvGraphicFramePr>
        <p:xfrm>
          <a:off x="4716463" y="4076700"/>
          <a:ext cx="4229100" cy="254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26" name="Visio" r:id="rId9" imgW="2158127" imgH="1298305" progId="Visio.Drawing.11">
                  <p:embed/>
                </p:oleObj>
              </mc:Choice>
              <mc:Fallback>
                <p:oleObj name="Visio" r:id="rId9" imgW="2158127" imgH="1298305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463" y="4076700"/>
                        <a:ext cx="4229100" cy="254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9" name="Rectangle 6"/>
          <p:cNvSpPr>
            <a:spLocks noChangeArrowheads="1"/>
          </p:cNvSpPr>
          <p:nvPr/>
        </p:nvSpPr>
        <p:spPr bwMode="auto">
          <a:xfrm>
            <a:off x="395288" y="625475"/>
            <a:ext cx="80645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solidFill>
                  <a:srgbClr val="CC3300"/>
                </a:solidFill>
                <a:ea typeface="隶书" panose="02010509060101010101" pitchFamily="49" charset="-122"/>
              </a:rPr>
              <a:t>例</a:t>
            </a:r>
            <a:r>
              <a:rPr lang="en-US" altLang="zh-CN" sz="2800" dirty="0">
                <a:solidFill>
                  <a:srgbClr val="CC3300"/>
                </a:solidFill>
                <a:ea typeface="隶书" panose="02010509060101010101" pitchFamily="49" charset="-122"/>
              </a:rPr>
              <a:t>9.Find the equivalent circuit.</a:t>
            </a:r>
          </a:p>
        </p:txBody>
      </p:sp>
      <p:sp>
        <p:nvSpPr>
          <p:cNvPr id="11" name="Rectangle 7"/>
          <p:cNvSpPr>
            <a:spLocks noChangeArrowheads="1"/>
          </p:cNvSpPr>
          <p:nvPr/>
        </p:nvSpPr>
        <p:spPr bwMode="auto">
          <a:xfrm>
            <a:off x="395288" y="163513"/>
            <a:ext cx="845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3200" dirty="0">
                <a:solidFill>
                  <a:schemeClr val="tx2"/>
                </a:solidFill>
                <a:ea typeface="隶书" panose="02010509060101010101" pitchFamily="49" charset="-122"/>
              </a:rPr>
              <a:t>等效电路综合应用</a:t>
            </a:r>
            <a:endParaRPr lang="en-US" altLang="zh-CN" sz="3200" dirty="0">
              <a:solidFill>
                <a:schemeClr val="tx2"/>
              </a:solidFill>
              <a:ea typeface="隶书" panose="020105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78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278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278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FC282383-85E1-4731-8528-E8C864AF2059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DEF4565-2984-4DA8-9E2D-EEE79B2640CD}" type="slidenum">
              <a:rPr lang="en-US" altLang="zh-CN"/>
              <a:pPr>
                <a:defRPr/>
              </a:pPr>
              <a:t>57</a:t>
            </a:fld>
            <a:endParaRPr lang="en-US" altLang="zh-CN"/>
          </a:p>
        </p:txBody>
      </p:sp>
      <p:graphicFrame>
        <p:nvGraphicFramePr>
          <p:cNvPr id="26629" name="Object 2"/>
          <p:cNvGraphicFramePr>
            <a:graphicFrameLocks noChangeAspect="1"/>
          </p:cNvGraphicFramePr>
          <p:nvPr/>
        </p:nvGraphicFramePr>
        <p:xfrm>
          <a:off x="900113" y="1165225"/>
          <a:ext cx="3238500" cy="2408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26" name="Visio" r:id="rId3" imgW="1649882" imgH="1233526" progId="Visio.Drawing.11">
                  <p:embed/>
                </p:oleObj>
              </mc:Choice>
              <mc:Fallback>
                <p:oleObj name="Visio" r:id="rId3" imgW="1649882" imgH="1233526" progId="Visio.Drawing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1165225"/>
                        <a:ext cx="3238500" cy="2408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9555" name="Object 3"/>
          <p:cNvGraphicFramePr>
            <a:graphicFrameLocks noChangeAspect="1"/>
          </p:cNvGraphicFramePr>
          <p:nvPr/>
        </p:nvGraphicFramePr>
        <p:xfrm>
          <a:off x="790575" y="4308475"/>
          <a:ext cx="3671888" cy="2433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27" name="Visio" r:id="rId5" imgW="1896666" imgH="1233583" progId="Visio.Drawing.11">
                  <p:embed/>
                </p:oleObj>
              </mc:Choice>
              <mc:Fallback>
                <p:oleObj name="Visio" r:id="rId5" imgW="1896666" imgH="1233583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0575" y="4308475"/>
                        <a:ext cx="3671888" cy="2433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9556" name="Object 4"/>
          <p:cNvGraphicFramePr>
            <a:graphicFrameLocks noChangeAspect="1"/>
          </p:cNvGraphicFramePr>
          <p:nvPr/>
        </p:nvGraphicFramePr>
        <p:xfrm>
          <a:off x="4751388" y="476250"/>
          <a:ext cx="3995737" cy="2306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28" name="Visio" r:id="rId7" imgW="2184702" imgH="1233583" progId="Visio.Drawing.11">
                  <p:embed/>
                </p:oleObj>
              </mc:Choice>
              <mc:Fallback>
                <p:oleObj name="Visio" r:id="rId7" imgW="2184702" imgH="1233583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51388" y="476250"/>
                        <a:ext cx="3995737" cy="2306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9557" name="Object 5"/>
          <p:cNvGraphicFramePr>
            <a:graphicFrameLocks noChangeAspect="1"/>
          </p:cNvGraphicFramePr>
          <p:nvPr/>
        </p:nvGraphicFramePr>
        <p:xfrm>
          <a:off x="4824413" y="2562225"/>
          <a:ext cx="3995737" cy="2306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29" name="Visio" r:id="rId9" imgW="2184702" imgH="1233583" progId="Visio.Drawing.11">
                  <p:embed/>
                </p:oleObj>
              </mc:Choice>
              <mc:Fallback>
                <p:oleObj name="Visio" r:id="rId9" imgW="2184702" imgH="1233583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4413" y="2562225"/>
                        <a:ext cx="3995737" cy="2306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9558" name="Object 6"/>
          <p:cNvGraphicFramePr>
            <a:graphicFrameLocks noChangeAspect="1"/>
          </p:cNvGraphicFramePr>
          <p:nvPr/>
        </p:nvGraphicFramePr>
        <p:xfrm>
          <a:off x="4824413" y="4651375"/>
          <a:ext cx="3995737" cy="2306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30" name="Visio" r:id="rId11" imgW="2184702" imgH="1233583" progId="Visio.Drawing.11">
                  <p:embed/>
                </p:oleObj>
              </mc:Choice>
              <mc:Fallback>
                <p:oleObj name="Visio" r:id="rId11" imgW="2184702" imgH="1233583" progId="Visio.Drawing.11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4413" y="4651375"/>
                        <a:ext cx="3995737" cy="2306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4" name="Rectangle 7"/>
          <p:cNvSpPr>
            <a:spLocks noChangeArrowheads="1"/>
          </p:cNvSpPr>
          <p:nvPr/>
        </p:nvSpPr>
        <p:spPr bwMode="auto">
          <a:xfrm>
            <a:off x="395288" y="625475"/>
            <a:ext cx="80645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CC3300"/>
                </a:solidFill>
                <a:ea typeface="隶书" panose="02010509060101010101" pitchFamily="49" charset="-122"/>
              </a:rPr>
              <a:t>例</a:t>
            </a:r>
            <a:r>
              <a:rPr lang="en-US" altLang="zh-CN" sz="2800">
                <a:solidFill>
                  <a:srgbClr val="CC3300"/>
                </a:solidFill>
                <a:ea typeface="隶书" panose="02010509060101010101" pitchFamily="49" charset="-122"/>
              </a:rPr>
              <a:t>10.Find </a:t>
            </a:r>
            <a:r>
              <a:rPr lang="en-US" altLang="zh-CN" sz="2800" dirty="0">
                <a:solidFill>
                  <a:srgbClr val="CC3300"/>
                </a:solidFill>
                <a:ea typeface="隶书" panose="02010509060101010101" pitchFamily="49" charset="-122"/>
              </a:rPr>
              <a:t>the equivalent circuit.</a:t>
            </a: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auto">
          <a:xfrm>
            <a:off x="395288" y="163513"/>
            <a:ext cx="845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3200" dirty="0">
                <a:solidFill>
                  <a:schemeClr val="tx2"/>
                </a:solidFill>
                <a:ea typeface="隶书" panose="02010509060101010101" pitchFamily="49" charset="-122"/>
              </a:rPr>
              <a:t>等效电路综合应用</a:t>
            </a:r>
            <a:endParaRPr lang="en-US" altLang="zh-CN" sz="3200" dirty="0">
              <a:solidFill>
                <a:schemeClr val="tx2"/>
              </a:solidFill>
              <a:ea typeface="隶书" panose="020105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a typeface="隶书" panose="02010509060101010101" pitchFamily="49" charset="-122"/>
              </a:rPr>
              <a:t>等效电路综合应用</a:t>
            </a:r>
            <a:endParaRPr lang="zh-CN" altLang="en-US" dirty="0"/>
          </a:p>
        </p:txBody>
      </p:sp>
      <p:pic>
        <p:nvPicPr>
          <p:cNvPr id="7" name="内容占位符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9218" y="1038467"/>
            <a:ext cx="3953563" cy="2450778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1C66AF1-24A0-446C-B0A8-326C494344F1}" type="datetime1">
              <a:rPr lang="zh-CN" altLang="en-US" smtClean="0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74CEB45-B7B4-4CEA-8E4A-DA539A380401}" type="slidenum">
              <a:rPr lang="en-US" altLang="zh-CN" smtClean="0"/>
              <a:pPr>
                <a:defRPr/>
              </a:pPr>
              <a:t>58</a:t>
            </a:fld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5408094" y="1086789"/>
            <a:ext cx="1223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求电流</a:t>
            </a:r>
            <a:r>
              <a:rPr lang="en-US" altLang="zh-CN" dirty="0"/>
              <a:t>i</a:t>
            </a:r>
            <a:r>
              <a:rPr lang="en-US" altLang="zh-CN" baseline="-25000" dirty="0"/>
              <a:t>x</a:t>
            </a:r>
            <a:r>
              <a:rPr lang="zh-CN" altLang="en-US" baseline="-25000" dirty="0"/>
              <a:t>。</a:t>
            </a:r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794745"/>
            <a:ext cx="4118992" cy="158273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8064" y="3789040"/>
            <a:ext cx="3319456" cy="151562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8618" y="1629560"/>
            <a:ext cx="3037334" cy="1859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626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1C66AF1-24A0-446C-B0A8-326C494344F1}" type="datetime1">
              <a:rPr lang="zh-CN" altLang="en-US" smtClean="0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74CEB45-B7B4-4CEA-8E4A-DA539A380401}" type="slidenum">
              <a:rPr lang="en-US" altLang="zh-CN" smtClean="0"/>
              <a:pPr>
                <a:defRPr/>
              </a:pPr>
              <a:t>59</a:t>
            </a:fld>
            <a:endParaRPr lang="en-US" altLang="zh-CN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430328" y="158099"/>
            <a:ext cx="7862887" cy="687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>
                <a:solidFill>
                  <a:srgbClr val="CC3300"/>
                </a:solidFill>
                <a:ea typeface="隶书" panose="02010509060101010101" pitchFamily="49" charset="-122"/>
              </a:rPr>
              <a:t>等效的概念 </a:t>
            </a:r>
            <a:r>
              <a:rPr lang="en-US" altLang="zh-CN" sz="2800" dirty="0">
                <a:solidFill>
                  <a:srgbClr val="CC3300"/>
                </a:solidFill>
                <a:ea typeface="隶书" panose="02010509060101010101" pitchFamily="49" charset="-122"/>
              </a:rPr>
              <a:t>Concept of Equivalence</a:t>
            </a:r>
          </a:p>
        </p:txBody>
      </p:sp>
      <p:grpSp>
        <p:nvGrpSpPr>
          <p:cNvPr id="8" name="Group 7"/>
          <p:cNvGrpSpPr>
            <a:grpSpLocks/>
          </p:cNvGrpSpPr>
          <p:nvPr/>
        </p:nvGrpSpPr>
        <p:grpSpPr bwMode="auto">
          <a:xfrm>
            <a:off x="650630" y="1718141"/>
            <a:ext cx="1730375" cy="1789113"/>
            <a:chOff x="720" y="3120"/>
            <a:chExt cx="1070" cy="1120"/>
          </a:xfrm>
        </p:grpSpPr>
        <p:graphicFrame>
          <p:nvGraphicFramePr>
            <p:cNvPr id="9" name="Object 8"/>
            <p:cNvGraphicFramePr>
              <a:graphicFrameLocks noChangeAspect="1"/>
            </p:cNvGraphicFramePr>
            <p:nvPr/>
          </p:nvGraphicFramePr>
          <p:xfrm>
            <a:off x="720" y="3120"/>
            <a:ext cx="1048" cy="8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626" name="Visio" r:id="rId3" imgW="811387" imgH="681514" progId="Visio.Drawing.11">
                    <p:embed/>
                  </p:oleObj>
                </mc:Choice>
                <mc:Fallback>
                  <p:oleObj name="Visio" r:id="rId3" imgW="811387" imgH="681514" progId="Visio.Drawing.11">
                    <p:embed/>
                    <p:pic>
                      <p:nvPicPr>
                        <p:cNvPr id="9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0" y="3120"/>
                          <a:ext cx="1048" cy="8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Object 9"/>
            <p:cNvGraphicFramePr>
              <a:graphicFrameLocks noChangeAspect="1"/>
            </p:cNvGraphicFramePr>
            <p:nvPr/>
          </p:nvGraphicFramePr>
          <p:xfrm>
            <a:off x="960" y="3984"/>
            <a:ext cx="830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627" name="公式" r:id="rId5" imgW="660113" imgH="203112" progId="Equation.3">
                    <p:embed/>
                  </p:oleObj>
                </mc:Choice>
                <mc:Fallback>
                  <p:oleObj name="公式" r:id="rId5" imgW="660113" imgH="203112" progId="Equation.3">
                    <p:embed/>
                    <p:pic>
                      <p:nvPicPr>
                        <p:cNvPr id="1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0" y="3984"/>
                          <a:ext cx="830" cy="2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" name="Group 10"/>
          <p:cNvGrpSpPr>
            <a:grpSpLocks/>
          </p:cNvGrpSpPr>
          <p:nvPr/>
        </p:nvGrpSpPr>
        <p:grpSpPr bwMode="auto">
          <a:xfrm>
            <a:off x="6501173" y="1597202"/>
            <a:ext cx="1927225" cy="1828800"/>
            <a:chOff x="3840" y="3072"/>
            <a:chExt cx="1214" cy="1152"/>
          </a:xfrm>
        </p:grpSpPr>
        <p:graphicFrame>
          <p:nvGraphicFramePr>
            <p:cNvPr id="12" name="Object 11"/>
            <p:cNvGraphicFramePr>
              <a:graphicFrameLocks noChangeAspect="1"/>
            </p:cNvGraphicFramePr>
            <p:nvPr/>
          </p:nvGraphicFramePr>
          <p:xfrm>
            <a:off x="3840" y="3072"/>
            <a:ext cx="1097" cy="8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628" name="Visio" r:id="rId7" imgW="899255" imgH="681514" progId="Visio.Drawing.11">
                    <p:embed/>
                  </p:oleObj>
                </mc:Choice>
                <mc:Fallback>
                  <p:oleObj name="Visio" r:id="rId7" imgW="899255" imgH="681514" progId="Visio.Drawing.11">
                    <p:embed/>
                    <p:pic>
                      <p:nvPicPr>
                        <p:cNvPr id="12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0" y="3072"/>
                          <a:ext cx="1097" cy="8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Object 12"/>
            <p:cNvGraphicFramePr>
              <a:graphicFrameLocks noChangeAspect="1"/>
            </p:cNvGraphicFramePr>
            <p:nvPr/>
          </p:nvGraphicFramePr>
          <p:xfrm>
            <a:off x="4224" y="3968"/>
            <a:ext cx="830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629" name="公式" r:id="rId9" imgW="660113" imgH="203112" progId="Equation.3">
                    <p:embed/>
                  </p:oleObj>
                </mc:Choice>
                <mc:Fallback>
                  <p:oleObj name="公式" r:id="rId9" imgW="660113" imgH="203112" progId="Equation.3">
                    <p:embed/>
                    <p:pic>
                      <p:nvPicPr>
                        <p:cNvPr id="13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24" y="3968"/>
                          <a:ext cx="830" cy="2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" name="Group 13"/>
          <p:cNvGrpSpPr>
            <a:grpSpLocks/>
          </p:cNvGrpSpPr>
          <p:nvPr/>
        </p:nvGrpSpPr>
        <p:grpSpPr bwMode="auto">
          <a:xfrm>
            <a:off x="2902231" y="1994927"/>
            <a:ext cx="3114675" cy="698500"/>
            <a:chOff x="1920" y="3160"/>
            <a:chExt cx="1962" cy="440"/>
          </a:xfrm>
        </p:grpSpPr>
        <p:sp>
          <p:nvSpPr>
            <p:cNvPr id="15" name="Rectangle 14"/>
            <p:cNvSpPr>
              <a:spLocks noChangeArrowheads="1"/>
            </p:cNvSpPr>
            <p:nvPr/>
          </p:nvSpPr>
          <p:spPr bwMode="auto">
            <a:xfrm>
              <a:off x="1920" y="3160"/>
              <a:ext cx="196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 dirty="0">
                  <a:ea typeface="隶书" panose="02010509060101010101" pitchFamily="49" charset="-122"/>
                </a:rPr>
                <a:t>Equivalent networks</a:t>
              </a:r>
            </a:p>
          </p:txBody>
        </p:sp>
        <p:sp>
          <p:nvSpPr>
            <p:cNvPr id="16" name="Line 15"/>
            <p:cNvSpPr>
              <a:spLocks noChangeShapeType="1"/>
            </p:cNvSpPr>
            <p:nvPr/>
          </p:nvSpPr>
          <p:spPr bwMode="auto">
            <a:xfrm>
              <a:off x="1968" y="3600"/>
              <a:ext cx="1824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7" name="Rectangle 20"/>
          <p:cNvSpPr>
            <a:spLocks noChangeArrowheads="1"/>
          </p:cNvSpPr>
          <p:nvPr/>
        </p:nvSpPr>
        <p:spPr bwMode="auto">
          <a:xfrm>
            <a:off x="2286000" y="2747929"/>
            <a:ext cx="411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i="1" dirty="0">
                <a:solidFill>
                  <a:schemeClr val="hlink"/>
                </a:solidFill>
                <a:ea typeface="隶书" panose="02010509060101010101" pitchFamily="49" charset="-122"/>
              </a:rPr>
              <a:t>u-</a:t>
            </a:r>
            <a:r>
              <a:rPr lang="en-US" altLang="zh-CN" i="1" dirty="0" err="1">
                <a:solidFill>
                  <a:schemeClr val="hlink"/>
                </a:solidFill>
                <a:ea typeface="隶书" panose="02010509060101010101" pitchFamily="49" charset="-122"/>
              </a:rPr>
              <a:t>i</a:t>
            </a:r>
            <a:r>
              <a:rPr lang="en-US" altLang="zh-CN" dirty="0">
                <a:solidFill>
                  <a:schemeClr val="hlink"/>
                </a:solidFill>
                <a:ea typeface="隶书" panose="02010509060101010101" pitchFamily="49" charset="-122"/>
              </a:rPr>
              <a:t> </a:t>
            </a:r>
            <a:r>
              <a:rPr lang="zh-CN" altLang="en-US" dirty="0">
                <a:solidFill>
                  <a:schemeClr val="hlink"/>
                </a:solidFill>
                <a:ea typeface="隶书" panose="02010509060101010101" pitchFamily="49" charset="-122"/>
              </a:rPr>
              <a:t>关系相同</a:t>
            </a:r>
          </a:p>
        </p:txBody>
      </p:sp>
      <p:sp>
        <p:nvSpPr>
          <p:cNvPr id="18" name="Text Box 73"/>
          <p:cNvSpPr txBox="1">
            <a:spLocks noChangeArrowheads="1"/>
          </p:cNvSpPr>
          <p:nvPr/>
        </p:nvSpPr>
        <p:spPr bwMode="auto">
          <a:xfrm>
            <a:off x="552451" y="845486"/>
            <a:ext cx="7848600" cy="978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FFFF"/>
                    </a:gs>
                    <a:gs pos="100000">
                      <a:schemeClr val="accent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    两个</a:t>
            </a:r>
            <a:r>
              <a:rPr lang="zh-CN" altLang="en-US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一端口网络</a:t>
            </a:r>
            <a:r>
              <a:rPr kumimoji="1" lang="zh-CN" altLang="en-US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，端口具有相同的电压、电流关系</a:t>
            </a:r>
            <a:r>
              <a:rPr kumimoji="1" lang="en-US" altLang="zh-CN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,</a:t>
            </a:r>
            <a:r>
              <a:rPr kumimoji="1" lang="zh-CN" altLang="en-US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则称它们是等效的电路。</a:t>
            </a:r>
          </a:p>
        </p:txBody>
      </p:sp>
    </p:spTree>
    <p:extLst>
      <p:ext uri="{BB962C8B-B14F-4D97-AF65-F5344CB8AC3E}">
        <p14:creationId xmlns:p14="http://schemas.microsoft.com/office/powerpoint/2010/main" val="1247137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串联、并联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电阻串联和并联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1C66AF1-24A0-446C-B0A8-326C494344F1}" type="datetime1">
              <a:rPr lang="zh-CN" altLang="en-US" smtClean="0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74CEB45-B7B4-4CEA-8E4A-DA539A380401}" type="slidenum">
              <a:rPr lang="en-US" altLang="zh-CN" smtClean="0"/>
              <a:pPr>
                <a:defRPr/>
              </a:pPr>
              <a:t>60</a:t>
            </a:fld>
            <a:endParaRPr lang="en-US" altLang="zh-CN"/>
          </a:p>
        </p:txBody>
      </p:sp>
      <p:grpSp>
        <p:nvGrpSpPr>
          <p:cNvPr id="7" name="Group 4"/>
          <p:cNvGrpSpPr>
            <a:grpSpLocks/>
          </p:cNvGrpSpPr>
          <p:nvPr/>
        </p:nvGrpSpPr>
        <p:grpSpPr bwMode="auto">
          <a:xfrm>
            <a:off x="5378252" y="1931289"/>
            <a:ext cx="1066800" cy="685800"/>
            <a:chOff x="1488" y="720"/>
            <a:chExt cx="672" cy="432"/>
          </a:xfrm>
        </p:grpSpPr>
        <p:sp>
          <p:nvSpPr>
            <p:cNvPr id="8" name="AutoShape 5"/>
            <p:cNvSpPr>
              <a:spLocks noChangeArrowheads="1"/>
            </p:cNvSpPr>
            <p:nvPr/>
          </p:nvSpPr>
          <p:spPr bwMode="auto">
            <a:xfrm>
              <a:off x="1488" y="960"/>
              <a:ext cx="672" cy="192"/>
            </a:xfrm>
            <a:prstGeom prst="rightArrow">
              <a:avLst>
                <a:gd name="adj1" fmla="val 50000"/>
                <a:gd name="adj2" fmla="val 87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Text Box 6"/>
            <p:cNvSpPr txBox="1">
              <a:spLocks noChangeArrowheads="1"/>
            </p:cNvSpPr>
            <p:nvPr/>
          </p:nvSpPr>
          <p:spPr bwMode="auto">
            <a:xfrm>
              <a:off x="1536" y="720"/>
              <a:ext cx="5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>
                  <a:latin typeface="Times New Roman" panose="02020603050405020304" pitchFamily="18" charset="0"/>
                </a:rPr>
                <a:t>等效</a:t>
              </a:r>
            </a:p>
          </p:txBody>
        </p:sp>
      </p:grpSp>
      <p:grpSp>
        <p:nvGrpSpPr>
          <p:cNvPr id="10" name="Group 8"/>
          <p:cNvGrpSpPr>
            <a:grpSpLocks/>
          </p:cNvGrpSpPr>
          <p:nvPr/>
        </p:nvGrpSpPr>
        <p:grpSpPr bwMode="auto">
          <a:xfrm>
            <a:off x="539552" y="1302639"/>
            <a:ext cx="4800600" cy="1981200"/>
            <a:chOff x="168" y="444"/>
            <a:chExt cx="3024" cy="1248"/>
          </a:xfrm>
        </p:grpSpPr>
        <p:sp>
          <p:nvSpPr>
            <p:cNvPr id="11" name="Rectangle 9"/>
            <p:cNvSpPr>
              <a:spLocks noChangeArrowheads="1"/>
            </p:cNvSpPr>
            <p:nvPr/>
          </p:nvSpPr>
          <p:spPr bwMode="auto">
            <a:xfrm rot="5400000">
              <a:off x="909" y="663"/>
              <a:ext cx="120" cy="258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" name="Text Box 10"/>
            <p:cNvSpPr txBox="1">
              <a:spLocks noChangeArrowheads="1"/>
            </p:cNvSpPr>
            <p:nvPr/>
          </p:nvSpPr>
          <p:spPr bwMode="auto">
            <a:xfrm>
              <a:off x="408" y="1404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13" name="Text Box 11"/>
            <p:cNvSpPr txBox="1">
              <a:spLocks noChangeArrowheads="1"/>
            </p:cNvSpPr>
            <p:nvPr/>
          </p:nvSpPr>
          <p:spPr bwMode="auto">
            <a:xfrm>
              <a:off x="3000" y="1356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_</a:t>
              </a:r>
            </a:p>
          </p:txBody>
        </p:sp>
        <p:sp>
          <p:nvSpPr>
            <p:cNvPr id="14" name="Text Box 12"/>
            <p:cNvSpPr txBox="1">
              <a:spLocks noChangeArrowheads="1"/>
            </p:cNvSpPr>
            <p:nvPr/>
          </p:nvSpPr>
          <p:spPr bwMode="auto">
            <a:xfrm>
              <a:off x="792" y="444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R</a:t>
              </a:r>
              <a:r>
                <a:rPr kumimoji="1" lang="en-US" altLang="zh-CN" sz="2400" b="1" baseline="-25000">
                  <a:latin typeface="Times New Roman" panose="02020603050405020304" pitchFamily="18" charset="0"/>
                </a:rPr>
                <a:t>1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15" name="Text Box 13"/>
            <p:cNvSpPr txBox="1">
              <a:spLocks noChangeArrowheads="1"/>
            </p:cNvSpPr>
            <p:nvPr/>
          </p:nvSpPr>
          <p:spPr bwMode="auto">
            <a:xfrm>
              <a:off x="2472" y="444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R</a:t>
              </a:r>
              <a:r>
                <a:rPr kumimoji="1" lang="en-US" altLang="zh-CN" sz="2400" b="1" i="1" baseline="-25000">
                  <a:latin typeface="Times New Roman" panose="02020603050405020304" pitchFamily="18" charset="0"/>
                </a:rPr>
                <a:t>n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16" name="Text Box 14"/>
            <p:cNvSpPr txBox="1">
              <a:spLocks noChangeArrowheads="1"/>
            </p:cNvSpPr>
            <p:nvPr/>
          </p:nvSpPr>
          <p:spPr bwMode="auto">
            <a:xfrm>
              <a:off x="168" y="1020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17" name="Rectangle 15"/>
            <p:cNvSpPr>
              <a:spLocks noChangeArrowheads="1"/>
            </p:cNvSpPr>
            <p:nvPr/>
          </p:nvSpPr>
          <p:spPr bwMode="auto">
            <a:xfrm rot="5400000">
              <a:off x="2589" y="663"/>
              <a:ext cx="120" cy="258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8" name="Rectangle 16"/>
            <p:cNvSpPr>
              <a:spLocks noChangeArrowheads="1"/>
            </p:cNvSpPr>
            <p:nvPr/>
          </p:nvSpPr>
          <p:spPr bwMode="auto">
            <a:xfrm rot="5400000">
              <a:off x="1749" y="663"/>
              <a:ext cx="120" cy="258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" name="Line 17"/>
            <p:cNvSpPr>
              <a:spLocks noChangeShapeType="1"/>
            </p:cNvSpPr>
            <p:nvPr/>
          </p:nvSpPr>
          <p:spPr bwMode="auto">
            <a:xfrm>
              <a:off x="504" y="780"/>
              <a:ext cx="336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Line 18"/>
            <p:cNvSpPr>
              <a:spLocks noChangeShapeType="1"/>
            </p:cNvSpPr>
            <p:nvPr/>
          </p:nvSpPr>
          <p:spPr bwMode="auto">
            <a:xfrm>
              <a:off x="1100" y="780"/>
              <a:ext cx="24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Line 19"/>
            <p:cNvSpPr>
              <a:spLocks noChangeShapeType="1"/>
            </p:cNvSpPr>
            <p:nvPr/>
          </p:nvSpPr>
          <p:spPr bwMode="auto">
            <a:xfrm>
              <a:off x="2280" y="780"/>
              <a:ext cx="24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Line 20"/>
            <p:cNvSpPr>
              <a:spLocks noChangeShapeType="1"/>
            </p:cNvSpPr>
            <p:nvPr/>
          </p:nvSpPr>
          <p:spPr bwMode="auto">
            <a:xfrm>
              <a:off x="1320" y="780"/>
              <a:ext cx="336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Line 21"/>
            <p:cNvSpPr>
              <a:spLocks noChangeShapeType="1"/>
            </p:cNvSpPr>
            <p:nvPr/>
          </p:nvSpPr>
          <p:spPr bwMode="auto">
            <a:xfrm>
              <a:off x="1944" y="780"/>
              <a:ext cx="336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Line 22"/>
            <p:cNvSpPr>
              <a:spLocks noChangeShapeType="1"/>
            </p:cNvSpPr>
            <p:nvPr/>
          </p:nvSpPr>
          <p:spPr bwMode="auto">
            <a:xfrm>
              <a:off x="2780" y="780"/>
              <a:ext cx="316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" name="Line 23"/>
            <p:cNvSpPr>
              <a:spLocks noChangeShapeType="1"/>
            </p:cNvSpPr>
            <p:nvPr/>
          </p:nvSpPr>
          <p:spPr bwMode="auto">
            <a:xfrm>
              <a:off x="3082" y="780"/>
              <a:ext cx="0" cy="57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Line 24"/>
            <p:cNvSpPr>
              <a:spLocks noChangeShapeType="1"/>
            </p:cNvSpPr>
            <p:nvPr/>
          </p:nvSpPr>
          <p:spPr bwMode="auto">
            <a:xfrm>
              <a:off x="518" y="780"/>
              <a:ext cx="0" cy="57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Text Box 25"/>
            <p:cNvSpPr txBox="1">
              <a:spLocks noChangeArrowheads="1"/>
            </p:cNvSpPr>
            <p:nvPr/>
          </p:nvSpPr>
          <p:spPr bwMode="auto">
            <a:xfrm>
              <a:off x="1704" y="1404"/>
              <a:ext cx="32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u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28" name="Text Box 26"/>
            <p:cNvSpPr txBox="1">
              <a:spLocks noChangeArrowheads="1"/>
            </p:cNvSpPr>
            <p:nvPr/>
          </p:nvSpPr>
          <p:spPr bwMode="auto">
            <a:xfrm>
              <a:off x="1608" y="444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R</a:t>
              </a:r>
              <a:r>
                <a:rPr kumimoji="1" lang="en-US" altLang="zh-CN" sz="2400" b="1" i="1" baseline="-25000">
                  <a:latin typeface="Times New Roman" panose="02020603050405020304" pitchFamily="18" charset="0"/>
                </a:rPr>
                <a:t>k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29" name="Line 27"/>
            <p:cNvSpPr>
              <a:spLocks noChangeShapeType="1"/>
            </p:cNvSpPr>
            <p:nvPr/>
          </p:nvSpPr>
          <p:spPr bwMode="auto">
            <a:xfrm flipV="1">
              <a:off x="360" y="972"/>
              <a:ext cx="0" cy="33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" name="Oval 28"/>
            <p:cNvSpPr>
              <a:spLocks noChangeArrowheads="1"/>
            </p:cNvSpPr>
            <p:nvPr/>
          </p:nvSpPr>
          <p:spPr bwMode="auto">
            <a:xfrm>
              <a:off x="3048" y="1356"/>
              <a:ext cx="68" cy="6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" name="Oval 29"/>
            <p:cNvSpPr>
              <a:spLocks noChangeArrowheads="1"/>
            </p:cNvSpPr>
            <p:nvPr/>
          </p:nvSpPr>
          <p:spPr bwMode="auto">
            <a:xfrm>
              <a:off x="484" y="1356"/>
              <a:ext cx="68" cy="6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2" name="Group 30"/>
          <p:cNvGrpSpPr>
            <a:grpSpLocks/>
          </p:cNvGrpSpPr>
          <p:nvPr/>
        </p:nvGrpSpPr>
        <p:grpSpPr bwMode="auto">
          <a:xfrm>
            <a:off x="6502202" y="1169289"/>
            <a:ext cx="2438400" cy="2057400"/>
            <a:chOff x="3924" y="360"/>
            <a:chExt cx="1536" cy="1296"/>
          </a:xfrm>
        </p:grpSpPr>
        <p:sp>
          <p:nvSpPr>
            <p:cNvPr id="33" name="Text Box 31"/>
            <p:cNvSpPr txBox="1">
              <a:spLocks noChangeArrowheads="1"/>
            </p:cNvSpPr>
            <p:nvPr/>
          </p:nvSpPr>
          <p:spPr bwMode="auto">
            <a:xfrm>
              <a:off x="4692" y="1368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u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34" name="Text Box 32"/>
            <p:cNvSpPr txBox="1">
              <a:spLocks noChangeArrowheads="1"/>
            </p:cNvSpPr>
            <p:nvPr/>
          </p:nvSpPr>
          <p:spPr bwMode="auto">
            <a:xfrm rot="-5400000">
              <a:off x="4140" y="1344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35" name="Text Box 33"/>
            <p:cNvSpPr txBox="1">
              <a:spLocks noChangeArrowheads="1"/>
            </p:cNvSpPr>
            <p:nvPr/>
          </p:nvSpPr>
          <p:spPr bwMode="auto">
            <a:xfrm>
              <a:off x="5268" y="1272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_</a:t>
              </a:r>
            </a:p>
          </p:txBody>
        </p:sp>
        <p:sp>
          <p:nvSpPr>
            <p:cNvPr id="36" name="Rectangle 34"/>
            <p:cNvSpPr>
              <a:spLocks noChangeArrowheads="1"/>
            </p:cNvSpPr>
            <p:nvPr/>
          </p:nvSpPr>
          <p:spPr bwMode="auto">
            <a:xfrm rot="-5400000">
              <a:off x="4731" y="662"/>
              <a:ext cx="120" cy="257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7" name="Line 35"/>
            <p:cNvSpPr>
              <a:spLocks noChangeShapeType="1"/>
            </p:cNvSpPr>
            <p:nvPr/>
          </p:nvSpPr>
          <p:spPr bwMode="auto">
            <a:xfrm rot="-5400000">
              <a:off x="4010" y="1056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" name="Line 36"/>
            <p:cNvSpPr>
              <a:spLocks noChangeShapeType="1"/>
            </p:cNvSpPr>
            <p:nvPr/>
          </p:nvSpPr>
          <p:spPr bwMode="auto">
            <a:xfrm rot="-5400000">
              <a:off x="4460" y="591"/>
              <a:ext cx="1" cy="40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" name="Line 37"/>
            <p:cNvSpPr>
              <a:spLocks noChangeShapeType="1"/>
            </p:cNvSpPr>
            <p:nvPr/>
          </p:nvSpPr>
          <p:spPr bwMode="auto">
            <a:xfrm rot="5400000" flipV="1">
              <a:off x="5141" y="569"/>
              <a:ext cx="1" cy="44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" name="Text Box 38"/>
            <p:cNvSpPr txBox="1">
              <a:spLocks noChangeArrowheads="1"/>
            </p:cNvSpPr>
            <p:nvPr/>
          </p:nvSpPr>
          <p:spPr bwMode="auto">
            <a:xfrm>
              <a:off x="4644" y="360"/>
              <a:ext cx="67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latinLnBrk="1">
                <a:spcBef>
                  <a:spcPct val="50000"/>
                </a:spcBef>
              </a:pPr>
              <a:r>
                <a:rPr kumimoji="1" lang="en-US" altLang="zh-CN" sz="2400" b="1" i="1" dirty="0">
                  <a:latin typeface="Times New Roman" panose="02020603050405020304" pitchFamily="18" charset="0"/>
                </a:rPr>
                <a:t>R</a:t>
              </a:r>
              <a:r>
                <a:rPr kumimoji="1" lang="en-US" altLang="zh-CN" sz="2400" b="1" baseline="-25000" dirty="0">
                  <a:latin typeface="Times New Roman" panose="02020603050405020304" pitchFamily="18" charset="0"/>
                </a:rPr>
                <a:t>eq</a:t>
              </a:r>
              <a:endParaRPr kumimoji="1"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" name="Line 39"/>
            <p:cNvSpPr>
              <a:spLocks noChangeShapeType="1"/>
            </p:cNvSpPr>
            <p:nvPr/>
          </p:nvSpPr>
          <p:spPr bwMode="auto">
            <a:xfrm rot="-5400000">
              <a:off x="3972" y="1080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" name="Text Box 40"/>
            <p:cNvSpPr txBox="1">
              <a:spLocks noChangeArrowheads="1"/>
            </p:cNvSpPr>
            <p:nvPr/>
          </p:nvSpPr>
          <p:spPr bwMode="auto">
            <a:xfrm>
              <a:off x="3924" y="984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43" name="Oval 41"/>
            <p:cNvSpPr>
              <a:spLocks noChangeArrowheads="1"/>
            </p:cNvSpPr>
            <p:nvPr/>
          </p:nvSpPr>
          <p:spPr bwMode="auto">
            <a:xfrm>
              <a:off x="4240" y="1320"/>
              <a:ext cx="68" cy="6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" name="Line 42"/>
            <p:cNvSpPr>
              <a:spLocks noChangeShapeType="1"/>
            </p:cNvSpPr>
            <p:nvPr/>
          </p:nvSpPr>
          <p:spPr bwMode="auto">
            <a:xfrm rot="-5400000">
              <a:off x="5100" y="1056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" name="Oval 43"/>
            <p:cNvSpPr>
              <a:spLocks noChangeArrowheads="1"/>
            </p:cNvSpPr>
            <p:nvPr/>
          </p:nvSpPr>
          <p:spPr bwMode="auto">
            <a:xfrm>
              <a:off x="5330" y="1320"/>
              <a:ext cx="68" cy="6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6" name="Group 4"/>
          <p:cNvGrpSpPr>
            <a:grpSpLocks/>
          </p:cNvGrpSpPr>
          <p:nvPr/>
        </p:nvGrpSpPr>
        <p:grpSpPr bwMode="auto">
          <a:xfrm>
            <a:off x="5705323" y="4427963"/>
            <a:ext cx="990600" cy="762000"/>
            <a:chOff x="3648" y="1008"/>
            <a:chExt cx="624" cy="480"/>
          </a:xfrm>
        </p:grpSpPr>
        <p:sp>
          <p:nvSpPr>
            <p:cNvPr id="47" name="AutoShape 5"/>
            <p:cNvSpPr>
              <a:spLocks noChangeArrowheads="1"/>
            </p:cNvSpPr>
            <p:nvPr/>
          </p:nvSpPr>
          <p:spPr bwMode="auto">
            <a:xfrm>
              <a:off x="3648" y="1200"/>
              <a:ext cx="624" cy="288"/>
            </a:xfrm>
            <a:prstGeom prst="rightArrow">
              <a:avLst>
                <a:gd name="adj1" fmla="val 50000"/>
                <a:gd name="adj2" fmla="val 541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" name="Text Box 6"/>
            <p:cNvSpPr txBox="1">
              <a:spLocks noChangeArrowheads="1"/>
            </p:cNvSpPr>
            <p:nvPr/>
          </p:nvSpPr>
          <p:spPr bwMode="auto">
            <a:xfrm>
              <a:off x="3648" y="1008"/>
              <a:ext cx="5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>
                  <a:latin typeface="Times New Roman" panose="02020603050405020304" pitchFamily="18" charset="0"/>
                </a:rPr>
                <a:t>等效</a:t>
              </a:r>
            </a:p>
          </p:txBody>
        </p:sp>
      </p:grpSp>
      <p:grpSp>
        <p:nvGrpSpPr>
          <p:cNvPr id="49" name="Group 15"/>
          <p:cNvGrpSpPr>
            <a:grpSpLocks/>
          </p:cNvGrpSpPr>
          <p:nvPr/>
        </p:nvGrpSpPr>
        <p:grpSpPr bwMode="auto">
          <a:xfrm>
            <a:off x="6772123" y="3480225"/>
            <a:ext cx="1981200" cy="2241550"/>
            <a:chOff x="4272" y="288"/>
            <a:chExt cx="1248" cy="1412"/>
          </a:xfrm>
        </p:grpSpPr>
        <p:sp>
          <p:nvSpPr>
            <p:cNvPr id="50" name="Text Box 16"/>
            <p:cNvSpPr txBox="1">
              <a:spLocks noChangeArrowheads="1"/>
            </p:cNvSpPr>
            <p:nvPr/>
          </p:nvSpPr>
          <p:spPr bwMode="auto">
            <a:xfrm>
              <a:off x="5088" y="1008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i="1" dirty="0">
                  <a:latin typeface="Times New Roman" panose="02020603050405020304" pitchFamily="18" charset="0"/>
                </a:rPr>
                <a:t>G</a:t>
              </a:r>
              <a:r>
                <a:rPr kumimoji="1" lang="en-US" altLang="zh-CN" sz="2400" b="1" baseline="-25000" dirty="0">
                  <a:latin typeface="Times New Roman" panose="02020603050405020304" pitchFamily="18" charset="0"/>
                </a:rPr>
                <a:t>eq</a:t>
              </a:r>
            </a:p>
          </p:txBody>
        </p:sp>
        <p:sp>
          <p:nvSpPr>
            <p:cNvPr id="51" name="Freeform 17"/>
            <p:cNvSpPr>
              <a:spLocks/>
            </p:cNvSpPr>
            <p:nvPr/>
          </p:nvSpPr>
          <p:spPr bwMode="auto">
            <a:xfrm>
              <a:off x="4443" y="705"/>
              <a:ext cx="597" cy="2"/>
            </a:xfrm>
            <a:custGeom>
              <a:avLst/>
              <a:gdLst>
                <a:gd name="T0" fmla="*/ 0 w 597"/>
                <a:gd name="T1" fmla="*/ 0 h 2"/>
                <a:gd name="T2" fmla="*/ 597 w 597"/>
                <a:gd name="T3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97" h="2">
                  <a:moveTo>
                    <a:pt x="0" y="0"/>
                  </a:moveTo>
                  <a:lnTo>
                    <a:pt x="597" y="2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" name="Freeform 18"/>
            <p:cNvSpPr>
              <a:spLocks/>
            </p:cNvSpPr>
            <p:nvPr/>
          </p:nvSpPr>
          <p:spPr bwMode="auto">
            <a:xfrm>
              <a:off x="4479" y="1667"/>
              <a:ext cx="561" cy="1"/>
            </a:xfrm>
            <a:custGeom>
              <a:avLst/>
              <a:gdLst>
                <a:gd name="T0" fmla="*/ 0 w 561"/>
                <a:gd name="T1" fmla="*/ 1 h 1"/>
                <a:gd name="T2" fmla="*/ 561 w 561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61" h="1">
                  <a:moveTo>
                    <a:pt x="0" y="1"/>
                  </a:moveTo>
                  <a:lnTo>
                    <a:pt x="561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" name="Freeform 19"/>
            <p:cNvSpPr>
              <a:spLocks/>
            </p:cNvSpPr>
            <p:nvPr/>
          </p:nvSpPr>
          <p:spPr bwMode="auto">
            <a:xfrm>
              <a:off x="5040" y="702"/>
              <a:ext cx="3" cy="966"/>
            </a:xfrm>
            <a:custGeom>
              <a:avLst/>
              <a:gdLst>
                <a:gd name="T0" fmla="*/ 0 w 3"/>
                <a:gd name="T1" fmla="*/ 0 h 966"/>
                <a:gd name="T2" fmla="*/ 3 w 3"/>
                <a:gd name="T3" fmla="*/ 966 h 9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" h="966">
                  <a:moveTo>
                    <a:pt x="0" y="0"/>
                  </a:moveTo>
                  <a:lnTo>
                    <a:pt x="3" y="966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" name="Line 20"/>
            <p:cNvSpPr>
              <a:spLocks noChangeShapeType="1"/>
            </p:cNvSpPr>
            <p:nvPr/>
          </p:nvSpPr>
          <p:spPr bwMode="auto">
            <a:xfrm>
              <a:off x="4416" y="624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" name="Text Box 21"/>
            <p:cNvSpPr txBox="1">
              <a:spLocks noChangeArrowheads="1"/>
            </p:cNvSpPr>
            <p:nvPr/>
          </p:nvSpPr>
          <p:spPr bwMode="auto">
            <a:xfrm>
              <a:off x="4272" y="768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56" name="Text Box 22"/>
            <p:cNvSpPr txBox="1">
              <a:spLocks noChangeArrowheads="1"/>
            </p:cNvSpPr>
            <p:nvPr/>
          </p:nvSpPr>
          <p:spPr bwMode="auto">
            <a:xfrm>
              <a:off x="4272" y="1056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u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57" name="Text Box 23"/>
            <p:cNvSpPr txBox="1">
              <a:spLocks noChangeArrowheads="1"/>
            </p:cNvSpPr>
            <p:nvPr/>
          </p:nvSpPr>
          <p:spPr bwMode="auto">
            <a:xfrm>
              <a:off x="4320" y="1296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_</a:t>
              </a:r>
            </a:p>
          </p:txBody>
        </p:sp>
        <p:sp>
          <p:nvSpPr>
            <p:cNvPr id="58" name="Text Box 24"/>
            <p:cNvSpPr txBox="1">
              <a:spLocks noChangeArrowheads="1"/>
            </p:cNvSpPr>
            <p:nvPr/>
          </p:nvSpPr>
          <p:spPr bwMode="auto">
            <a:xfrm>
              <a:off x="4464" y="288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59" name="Rectangle 25"/>
            <p:cNvSpPr>
              <a:spLocks noChangeArrowheads="1"/>
            </p:cNvSpPr>
            <p:nvPr/>
          </p:nvSpPr>
          <p:spPr bwMode="auto">
            <a:xfrm>
              <a:off x="4980" y="1008"/>
              <a:ext cx="120" cy="288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0" name="Oval 26"/>
            <p:cNvSpPr>
              <a:spLocks noChangeArrowheads="1"/>
            </p:cNvSpPr>
            <p:nvPr/>
          </p:nvSpPr>
          <p:spPr bwMode="auto">
            <a:xfrm>
              <a:off x="4416" y="1632"/>
              <a:ext cx="68" cy="6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" name="Oval 27"/>
            <p:cNvSpPr>
              <a:spLocks noChangeArrowheads="1"/>
            </p:cNvSpPr>
            <p:nvPr/>
          </p:nvSpPr>
          <p:spPr bwMode="auto">
            <a:xfrm>
              <a:off x="4368" y="672"/>
              <a:ext cx="68" cy="6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2" name="Group 29"/>
          <p:cNvGrpSpPr>
            <a:grpSpLocks/>
          </p:cNvGrpSpPr>
          <p:nvPr/>
        </p:nvGrpSpPr>
        <p:grpSpPr bwMode="auto">
          <a:xfrm>
            <a:off x="653898" y="3570713"/>
            <a:ext cx="5060950" cy="2187575"/>
            <a:chOff x="1072" y="576"/>
            <a:chExt cx="3188" cy="1378"/>
          </a:xfrm>
        </p:grpSpPr>
        <p:sp>
          <p:nvSpPr>
            <p:cNvPr id="63" name="Text Box 30"/>
            <p:cNvSpPr txBox="1">
              <a:spLocks noChangeArrowheads="1"/>
            </p:cNvSpPr>
            <p:nvPr/>
          </p:nvSpPr>
          <p:spPr bwMode="auto">
            <a:xfrm>
              <a:off x="3936" y="960"/>
              <a:ext cx="3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2400" b="1" i="1" baseline="-25000">
                  <a:latin typeface="Times New Roman" panose="02020603050405020304" pitchFamily="18" charset="0"/>
                </a:rPr>
                <a:t>n</a:t>
              </a:r>
              <a:endParaRPr kumimoji="1" lang="en-US" altLang="zh-CN" sz="2400" b="1" i="1">
                <a:latin typeface="Times New Roman" panose="02020603050405020304" pitchFamily="18" charset="0"/>
              </a:endParaRPr>
            </a:p>
          </p:txBody>
        </p:sp>
        <p:sp>
          <p:nvSpPr>
            <p:cNvPr id="64" name="Line 31"/>
            <p:cNvSpPr>
              <a:spLocks noChangeShapeType="1"/>
            </p:cNvSpPr>
            <p:nvPr/>
          </p:nvSpPr>
          <p:spPr bwMode="auto">
            <a:xfrm>
              <a:off x="1296" y="960"/>
              <a:ext cx="110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" name="Line 32"/>
            <p:cNvSpPr>
              <a:spLocks noChangeShapeType="1"/>
            </p:cNvSpPr>
            <p:nvPr/>
          </p:nvSpPr>
          <p:spPr bwMode="auto">
            <a:xfrm rot="-5400000">
              <a:off x="1354" y="1440"/>
              <a:ext cx="96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" name="Line 33"/>
            <p:cNvSpPr>
              <a:spLocks noChangeShapeType="1"/>
            </p:cNvSpPr>
            <p:nvPr/>
          </p:nvSpPr>
          <p:spPr bwMode="auto">
            <a:xfrm rot="-5400000">
              <a:off x="1790" y="1440"/>
              <a:ext cx="96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7" name="Line 34"/>
            <p:cNvSpPr>
              <a:spLocks noChangeShapeType="1"/>
            </p:cNvSpPr>
            <p:nvPr/>
          </p:nvSpPr>
          <p:spPr bwMode="auto">
            <a:xfrm>
              <a:off x="1296" y="1920"/>
              <a:ext cx="110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" name="Line 35"/>
            <p:cNvSpPr>
              <a:spLocks noChangeShapeType="1"/>
            </p:cNvSpPr>
            <p:nvPr/>
          </p:nvSpPr>
          <p:spPr bwMode="auto">
            <a:xfrm>
              <a:off x="2400" y="960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9" name="Line 36"/>
            <p:cNvSpPr>
              <a:spLocks noChangeShapeType="1"/>
            </p:cNvSpPr>
            <p:nvPr/>
          </p:nvSpPr>
          <p:spPr bwMode="auto">
            <a:xfrm>
              <a:off x="2414" y="1920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" name="Line 37"/>
            <p:cNvSpPr>
              <a:spLocks noChangeShapeType="1"/>
            </p:cNvSpPr>
            <p:nvPr/>
          </p:nvSpPr>
          <p:spPr bwMode="auto">
            <a:xfrm>
              <a:off x="2798" y="960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" name="Line 38"/>
            <p:cNvSpPr>
              <a:spLocks noChangeShapeType="1"/>
            </p:cNvSpPr>
            <p:nvPr/>
          </p:nvSpPr>
          <p:spPr bwMode="auto">
            <a:xfrm rot="-5400000">
              <a:off x="2506" y="1440"/>
              <a:ext cx="96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" name="Line 39"/>
            <p:cNvSpPr>
              <a:spLocks noChangeShapeType="1"/>
            </p:cNvSpPr>
            <p:nvPr/>
          </p:nvSpPr>
          <p:spPr bwMode="auto">
            <a:xfrm>
              <a:off x="2798" y="1920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" name="Line 40"/>
            <p:cNvSpPr>
              <a:spLocks noChangeShapeType="1"/>
            </p:cNvSpPr>
            <p:nvPr/>
          </p:nvSpPr>
          <p:spPr bwMode="auto">
            <a:xfrm>
              <a:off x="3134" y="960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4" name="Line 41"/>
            <p:cNvSpPr>
              <a:spLocks noChangeShapeType="1"/>
            </p:cNvSpPr>
            <p:nvPr/>
          </p:nvSpPr>
          <p:spPr bwMode="auto">
            <a:xfrm>
              <a:off x="3182" y="1920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" name="Line 42"/>
            <p:cNvSpPr>
              <a:spLocks noChangeShapeType="1"/>
            </p:cNvSpPr>
            <p:nvPr/>
          </p:nvSpPr>
          <p:spPr bwMode="auto">
            <a:xfrm>
              <a:off x="3518" y="960"/>
              <a:ext cx="3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6" name="Line 43"/>
            <p:cNvSpPr>
              <a:spLocks noChangeShapeType="1"/>
            </p:cNvSpPr>
            <p:nvPr/>
          </p:nvSpPr>
          <p:spPr bwMode="auto">
            <a:xfrm>
              <a:off x="3518" y="1920"/>
              <a:ext cx="3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" name="Line 44"/>
            <p:cNvSpPr>
              <a:spLocks noChangeShapeType="1"/>
            </p:cNvSpPr>
            <p:nvPr/>
          </p:nvSpPr>
          <p:spPr bwMode="auto">
            <a:xfrm rot="-5400000">
              <a:off x="3374" y="1440"/>
              <a:ext cx="96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8" name="Rectangle 45"/>
            <p:cNvSpPr>
              <a:spLocks noChangeArrowheads="1"/>
            </p:cNvSpPr>
            <p:nvPr/>
          </p:nvSpPr>
          <p:spPr bwMode="auto">
            <a:xfrm>
              <a:off x="1471" y="1248"/>
              <a:ext cx="31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b="1" i="1">
                  <a:latin typeface="Times New Roman" panose="02020603050405020304" pitchFamily="18" charset="0"/>
                </a:rPr>
                <a:t>G</a:t>
              </a:r>
              <a:r>
                <a:rPr kumimoji="1" lang="en-US" altLang="zh-CN" sz="2400" b="1" baseline="-25000">
                  <a:latin typeface="Times New Roman" panose="02020603050405020304" pitchFamily="18" charset="0"/>
                </a:rPr>
                <a:t>1</a:t>
              </a:r>
              <a:endParaRPr kumimoji="1" lang="en-US" altLang="zh-CN" sz="2400" b="1" i="1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79" name="Rectangle 46"/>
            <p:cNvSpPr>
              <a:spLocks noChangeArrowheads="1"/>
            </p:cNvSpPr>
            <p:nvPr/>
          </p:nvSpPr>
          <p:spPr bwMode="auto">
            <a:xfrm>
              <a:off x="1910" y="1248"/>
              <a:ext cx="31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b="1" i="1">
                  <a:latin typeface="Times New Roman" panose="02020603050405020304" pitchFamily="18" charset="0"/>
                </a:rPr>
                <a:t>G</a:t>
              </a:r>
              <a:r>
                <a:rPr kumimoji="1" lang="en-US" altLang="zh-CN" sz="2400" b="1" baseline="-25000">
                  <a:latin typeface="Times New Roman" panose="02020603050405020304" pitchFamily="18" charset="0"/>
                </a:rPr>
                <a:t>2</a:t>
              </a:r>
              <a:endParaRPr kumimoji="1" lang="en-US" altLang="zh-CN" sz="2400" b="1" i="1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80" name="Rectangle 47"/>
            <p:cNvSpPr>
              <a:spLocks noChangeArrowheads="1"/>
            </p:cNvSpPr>
            <p:nvPr/>
          </p:nvSpPr>
          <p:spPr bwMode="auto">
            <a:xfrm>
              <a:off x="2629" y="1248"/>
              <a:ext cx="31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b="1" i="1">
                  <a:latin typeface="Times New Roman" panose="02020603050405020304" pitchFamily="18" charset="0"/>
                </a:rPr>
                <a:t>G</a:t>
              </a:r>
              <a:r>
                <a:rPr kumimoji="1" lang="en-US" altLang="zh-CN" sz="2400" b="1" i="1" baseline="-25000">
                  <a:latin typeface="Times New Roman" panose="02020603050405020304" pitchFamily="18" charset="0"/>
                </a:rPr>
                <a:t>k</a:t>
              </a:r>
            </a:p>
          </p:txBody>
        </p:sp>
        <p:sp>
          <p:nvSpPr>
            <p:cNvPr id="81" name="Rectangle 48"/>
            <p:cNvSpPr>
              <a:spLocks noChangeArrowheads="1"/>
            </p:cNvSpPr>
            <p:nvPr/>
          </p:nvSpPr>
          <p:spPr bwMode="auto">
            <a:xfrm>
              <a:off x="3504" y="1248"/>
              <a:ext cx="32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b="1" i="1">
                  <a:latin typeface="Times New Roman" panose="02020603050405020304" pitchFamily="18" charset="0"/>
                </a:rPr>
                <a:t>G</a:t>
              </a:r>
              <a:r>
                <a:rPr kumimoji="1" lang="en-US" altLang="zh-CN" sz="2400" b="1" i="1" baseline="-25000">
                  <a:latin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82" name="Line 49"/>
            <p:cNvSpPr>
              <a:spLocks noChangeShapeType="1"/>
            </p:cNvSpPr>
            <p:nvPr/>
          </p:nvSpPr>
          <p:spPr bwMode="auto">
            <a:xfrm>
              <a:off x="1296" y="878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3" name="Text Box 50"/>
            <p:cNvSpPr txBox="1">
              <a:spLocks noChangeArrowheads="1"/>
            </p:cNvSpPr>
            <p:nvPr/>
          </p:nvSpPr>
          <p:spPr bwMode="auto">
            <a:xfrm>
              <a:off x="1366" y="576"/>
              <a:ext cx="1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800" b="1" i="1">
                  <a:latin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84" name="Rectangle 51"/>
            <p:cNvSpPr>
              <a:spLocks noChangeArrowheads="1"/>
            </p:cNvSpPr>
            <p:nvPr/>
          </p:nvSpPr>
          <p:spPr bwMode="auto">
            <a:xfrm>
              <a:off x="1104" y="912"/>
              <a:ext cx="2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sym typeface="CommonBullets" pitchFamily="34" charset="2"/>
                </a:rPr>
                <a:t>+</a:t>
              </a:r>
              <a:endParaRPr kumimoji="1" lang="en-US" altLang="zh-CN" sz="4400" b="1">
                <a:solidFill>
                  <a:srgbClr val="FF0000"/>
                </a:solidFill>
                <a:latin typeface="Times New Roman" panose="02020603050405020304" pitchFamily="18" charset="0"/>
                <a:sym typeface="CommonBullets" pitchFamily="34" charset="2"/>
              </a:endParaRPr>
            </a:p>
          </p:txBody>
        </p:sp>
        <p:sp>
          <p:nvSpPr>
            <p:cNvPr id="85" name="Text Box 52"/>
            <p:cNvSpPr txBox="1">
              <a:spLocks noChangeArrowheads="1"/>
            </p:cNvSpPr>
            <p:nvPr/>
          </p:nvSpPr>
          <p:spPr bwMode="auto">
            <a:xfrm>
              <a:off x="1072" y="1324"/>
              <a:ext cx="2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b="1" i="1">
                  <a:latin typeface="Times New Roman" panose="02020603050405020304" pitchFamily="18" charset="0"/>
                </a:rPr>
                <a:t>u</a:t>
              </a:r>
            </a:p>
          </p:txBody>
        </p:sp>
        <p:sp>
          <p:nvSpPr>
            <p:cNvPr id="86" name="Rectangle 53"/>
            <p:cNvSpPr>
              <a:spLocks noChangeArrowheads="1"/>
            </p:cNvSpPr>
            <p:nvPr/>
          </p:nvSpPr>
          <p:spPr bwMode="auto">
            <a:xfrm>
              <a:off x="2206" y="1287"/>
              <a:ext cx="120" cy="288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7" name="Rectangle 54"/>
            <p:cNvSpPr>
              <a:spLocks noChangeArrowheads="1"/>
            </p:cNvSpPr>
            <p:nvPr/>
          </p:nvSpPr>
          <p:spPr bwMode="auto">
            <a:xfrm>
              <a:off x="1778" y="1287"/>
              <a:ext cx="120" cy="288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8" name="Rectangle 55"/>
            <p:cNvSpPr>
              <a:spLocks noChangeArrowheads="1"/>
            </p:cNvSpPr>
            <p:nvPr/>
          </p:nvSpPr>
          <p:spPr bwMode="auto">
            <a:xfrm>
              <a:off x="2926" y="1287"/>
              <a:ext cx="120" cy="288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9" name="Rectangle 56"/>
            <p:cNvSpPr>
              <a:spLocks noChangeArrowheads="1"/>
            </p:cNvSpPr>
            <p:nvPr/>
          </p:nvSpPr>
          <p:spPr bwMode="auto">
            <a:xfrm>
              <a:off x="3794" y="1287"/>
              <a:ext cx="120" cy="288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0" name="Line 57"/>
            <p:cNvSpPr>
              <a:spLocks noChangeShapeType="1"/>
            </p:cNvSpPr>
            <p:nvPr/>
          </p:nvSpPr>
          <p:spPr bwMode="auto">
            <a:xfrm>
              <a:off x="1920" y="1008"/>
              <a:ext cx="0" cy="25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1" name="Text Box 58"/>
            <p:cNvSpPr txBox="1">
              <a:spLocks noChangeArrowheads="1"/>
            </p:cNvSpPr>
            <p:nvPr/>
          </p:nvSpPr>
          <p:spPr bwMode="auto">
            <a:xfrm>
              <a:off x="1920" y="960"/>
              <a:ext cx="3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2400" b="1" baseline="-25000">
                  <a:latin typeface="Times New Roman" panose="02020603050405020304" pitchFamily="18" charset="0"/>
                </a:rPr>
                <a:t>1</a:t>
              </a:r>
              <a:endParaRPr kumimoji="1" lang="en-US" altLang="zh-CN" sz="2400" b="1" i="1">
                <a:latin typeface="Times New Roman" panose="02020603050405020304" pitchFamily="18" charset="0"/>
              </a:endParaRPr>
            </a:p>
          </p:txBody>
        </p:sp>
        <p:sp>
          <p:nvSpPr>
            <p:cNvPr id="92" name="Text Box 59"/>
            <p:cNvSpPr txBox="1">
              <a:spLocks noChangeArrowheads="1"/>
            </p:cNvSpPr>
            <p:nvPr/>
          </p:nvSpPr>
          <p:spPr bwMode="auto">
            <a:xfrm>
              <a:off x="2352" y="960"/>
              <a:ext cx="3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2400" b="1" baseline="-25000">
                  <a:latin typeface="Times New Roman" panose="02020603050405020304" pitchFamily="18" charset="0"/>
                </a:rPr>
                <a:t>2</a:t>
              </a:r>
              <a:endParaRPr kumimoji="1" lang="en-US" altLang="zh-CN" sz="2400" b="1" i="1">
                <a:latin typeface="Times New Roman" panose="02020603050405020304" pitchFamily="18" charset="0"/>
              </a:endParaRPr>
            </a:p>
          </p:txBody>
        </p:sp>
        <p:sp>
          <p:nvSpPr>
            <p:cNvPr id="93" name="Text Box 60"/>
            <p:cNvSpPr txBox="1">
              <a:spLocks noChangeArrowheads="1"/>
            </p:cNvSpPr>
            <p:nvPr/>
          </p:nvSpPr>
          <p:spPr bwMode="auto">
            <a:xfrm>
              <a:off x="3120" y="960"/>
              <a:ext cx="3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2400" b="1" i="1" baseline="-25000">
                  <a:latin typeface="Times New Roman" panose="02020603050405020304" pitchFamily="18" charset="0"/>
                </a:rPr>
                <a:t>k</a:t>
              </a:r>
              <a:endParaRPr kumimoji="1" lang="en-US" altLang="zh-CN" sz="2400" b="1" i="1">
                <a:latin typeface="Times New Roman" panose="02020603050405020304" pitchFamily="18" charset="0"/>
              </a:endParaRPr>
            </a:p>
          </p:txBody>
        </p:sp>
        <p:sp>
          <p:nvSpPr>
            <p:cNvPr id="94" name="Text Box 61"/>
            <p:cNvSpPr txBox="1">
              <a:spLocks noChangeArrowheads="1"/>
            </p:cNvSpPr>
            <p:nvPr/>
          </p:nvSpPr>
          <p:spPr bwMode="auto">
            <a:xfrm>
              <a:off x="1108" y="1610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_</a:t>
              </a:r>
            </a:p>
          </p:txBody>
        </p:sp>
        <p:sp>
          <p:nvSpPr>
            <p:cNvPr id="95" name="Line 62"/>
            <p:cNvSpPr>
              <a:spLocks noChangeShapeType="1"/>
            </p:cNvSpPr>
            <p:nvPr/>
          </p:nvSpPr>
          <p:spPr bwMode="auto">
            <a:xfrm>
              <a:off x="2352" y="1008"/>
              <a:ext cx="0" cy="25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" name="Line 63"/>
            <p:cNvSpPr>
              <a:spLocks noChangeShapeType="1"/>
            </p:cNvSpPr>
            <p:nvPr/>
          </p:nvSpPr>
          <p:spPr bwMode="auto">
            <a:xfrm>
              <a:off x="3072" y="1008"/>
              <a:ext cx="0" cy="25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7" name="Line 64"/>
            <p:cNvSpPr>
              <a:spLocks noChangeShapeType="1"/>
            </p:cNvSpPr>
            <p:nvPr/>
          </p:nvSpPr>
          <p:spPr bwMode="auto">
            <a:xfrm>
              <a:off x="3936" y="960"/>
              <a:ext cx="0" cy="25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8" name="Oval 65"/>
            <p:cNvSpPr>
              <a:spLocks noChangeArrowheads="1"/>
            </p:cNvSpPr>
            <p:nvPr/>
          </p:nvSpPr>
          <p:spPr bwMode="auto">
            <a:xfrm>
              <a:off x="1234" y="1886"/>
              <a:ext cx="68" cy="6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9" name="Oval 66"/>
            <p:cNvSpPr>
              <a:spLocks noChangeArrowheads="1"/>
            </p:cNvSpPr>
            <p:nvPr/>
          </p:nvSpPr>
          <p:spPr bwMode="auto">
            <a:xfrm>
              <a:off x="1234" y="926"/>
              <a:ext cx="68" cy="6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098308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理想电压源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1C66AF1-24A0-446C-B0A8-326C494344F1}" type="datetime1">
              <a:rPr lang="zh-CN" altLang="en-US" smtClean="0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74CEB45-B7B4-4CEA-8E4A-DA539A380401}" type="slidenum">
              <a:rPr lang="en-US" altLang="zh-CN" smtClean="0"/>
              <a:pPr>
                <a:defRPr/>
              </a:pPr>
              <a:t>61</a:t>
            </a:fld>
            <a:endParaRPr lang="en-US" altLang="zh-CN"/>
          </a:p>
        </p:txBody>
      </p:sp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串联、并联</a:t>
            </a:r>
          </a:p>
        </p:txBody>
      </p:sp>
      <p:graphicFrame>
        <p:nvGraphicFramePr>
          <p:cNvPr id="8" name="Object 12"/>
          <p:cNvGraphicFramePr>
            <a:graphicFrameLocks noChangeAspect="1"/>
          </p:cNvGraphicFramePr>
          <p:nvPr/>
        </p:nvGraphicFramePr>
        <p:xfrm>
          <a:off x="611560" y="1268760"/>
          <a:ext cx="1585913" cy="227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62" name="Visio" r:id="rId3" imgW="822103" imgH="1167574" progId="Visio.Drawing.11">
                  <p:embed/>
                </p:oleObj>
              </mc:Choice>
              <mc:Fallback>
                <p:oleObj name="Visio" r:id="rId3" imgW="822103" imgH="1167574" progId="Visio.Drawing.11">
                  <p:embed/>
                  <p:pic>
                    <p:nvPicPr>
                      <p:cNvPr id="8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560" y="1268760"/>
                        <a:ext cx="1585913" cy="2278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3"/>
          <p:cNvGraphicFramePr>
            <a:graphicFrameLocks noChangeAspect="1"/>
          </p:cNvGraphicFramePr>
          <p:nvPr/>
        </p:nvGraphicFramePr>
        <p:xfrm>
          <a:off x="3108699" y="1679844"/>
          <a:ext cx="1528762" cy="168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63" name="Visio" r:id="rId5" imgW="793385" imgH="872252" progId="Visio.Drawing.11">
                  <p:embed/>
                </p:oleObj>
              </mc:Choice>
              <mc:Fallback>
                <p:oleObj name="Visio" r:id="rId5" imgW="793385" imgH="872252" progId="Visio.Drawing.11">
                  <p:embed/>
                  <p:pic>
                    <p:nvPicPr>
                      <p:cNvPr id="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8699" y="1679844"/>
                        <a:ext cx="1528762" cy="1685925"/>
                      </a:xfrm>
                      <a:prstGeom prst="rect">
                        <a:avLst/>
                      </a:prstGeom>
                      <a:solidFill>
                        <a:schemeClr val="accent1">
                          <a:alpha val="50195"/>
                        </a:schemeClr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2242080" y="2187433"/>
            <a:ext cx="8382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195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4400" b="1" dirty="0">
                <a:solidFill>
                  <a:schemeClr val="hlink"/>
                </a:solidFill>
                <a:ea typeface="隶书" panose="02010509060101010101" pitchFamily="49" charset="-122"/>
              </a:rPr>
              <a:t>→</a:t>
            </a:r>
          </a:p>
        </p:txBody>
      </p:sp>
      <p:graphicFrame>
        <p:nvGraphicFramePr>
          <p:cNvPr id="11" name="Object 2"/>
          <p:cNvGraphicFramePr>
            <a:graphicFrameLocks noChangeAspect="1"/>
          </p:cNvGraphicFramePr>
          <p:nvPr/>
        </p:nvGraphicFramePr>
        <p:xfrm>
          <a:off x="273659" y="4128990"/>
          <a:ext cx="2357438" cy="168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64" name="Visio" r:id="rId7" imgW="1200281" imgH="866879" progId="Visio.Drawing.11">
                  <p:embed/>
                </p:oleObj>
              </mc:Choice>
              <mc:Fallback>
                <p:oleObj name="Visio" r:id="rId7" imgW="1200281" imgH="866879" progId="Visio.Drawing.11">
                  <p:embed/>
                  <p:pic>
                    <p:nvPicPr>
                      <p:cNvPr id="11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659" y="4128990"/>
                        <a:ext cx="2357438" cy="168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3"/>
          <p:cNvGraphicFramePr>
            <a:graphicFrameLocks noChangeAspect="1"/>
          </p:cNvGraphicFramePr>
          <p:nvPr/>
        </p:nvGraphicFramePr>
        <p:xfrm>
          <a:off x="7314222" y="4221189"/>
          <a:ext cx="1528762" cy="168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65" name="Visio" r:id="rId5" imgW="793385" imgH="872252" progId="Visio.Drawing.11">
                  <p:embed/>
                </p:oleObj>
              </mc:Choice>
              <mc:Fallback>
                <p:oleObj name="Visio" r:id="rId5" imgW="793385" imgH="872252" progId="Visio.Drawing.11">
                  <p:embed/>
                  <p:pic>
                    <p:nvPicPr>
                      <p:cNvPr id="12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4222" y="4221189"/>
                        <a:ext cx="1528762" cy="1685925"/>
                      </a:xfrm>
                      <a:prstGeom prst="rect">
                        <a:avLst/>
                      </a:prstGeom>
                      <a:solidFill>
                        <a:schemeClr val="accent1">
                          <a:alpha val="50195"/>
                        </a:schemeClr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9"/>
          <p:cNvGraphicFramePr>
            <a:graphicFrameLocks noChangeAspect="1"/>
          </p:cNvGraphicFramePr>
          <p:nvPr/>
        </p:nvGraphicFramePr>
        <p:xfrm>
          <a:off x="2478697" y="4128990"/>
          <a:ext cx="2463800" cy="168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66" name="Visio" r:id="rId9" imgW="1252533" imgH="866879" progId="Visio.Drawing.11">
                  <p:embed/>
                </p:oleObj>
              </mc:Choice>
              <mc:Fallback>
                <p:oleObj name="Visio" r:id="rId9" imgW="1252533" imgH="866879" progId="Visio.Drawing.11">
                  <p:embed/>
                  <p:pic>
                    <p:nvPicPr>
                      <p:cNvPr id="1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8697" y="4128990"/>
                        <a:ext cx="2463800" cy="168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7"/>
          <p:cNvGraphicFramePr>
            <a:graphicFrameLocks noChangeAspect="1"/>
          </p:cNvGraphicFramePr>
          <p:nvPr/>
        </p:nvGraphicFramePr>
        <p:xfrm>
          <a:off x="4995895" y="4410970"/>
          <a:ext cx="1584325" cy="1322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67" name="Visio" r:id="rId11" imgW="828532" imgH="692658" progId="Visio.Drawing.11">
                  <p:embed/>
                </p:oleObj>
              </mc:Choice>
              <mc:Fallback>
                <p:oleObj name="Visio" r:id="rId11" imgW="828532" imgH="692658" progId="Visio.Drawing.11">
                  <p:embed/>
                  <p:pic>
                    <p:nvPicPr>
                      <p:cNvPr id="14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95895" y="4410970"/>
                        <a:ext cx="1584325" cy="1322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矩形 14"/>
          <p:cNvSpPr/>
          <p:nvPr/>
        </p:nvSpPr>
        <p:spPr>
          <a:xfrm>
            <a:off x="6531271" y="4747967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800" dirty="0">
                <a:solidFill>
                  <a:srgbClr val="CC3300"/>
                </a:solidFill>
                <a:ea typeface="隶书" panose="02010509060101010101" pitchFamily="49" charset="-122"/>
              </a:rPr>
              <a:t>等效</a:t>
            </a:r>
            <a:endParaRPr lang="zh-CN" altLang="en-US" dirty="0"/>
          </a:p>
        </p:txBody>
      </p:sp>
      <p:graphicFrame>
        <p:nvGraphicFramePr>
          <p:cNvPr id="18" name="Object 10"/>
          <p:cNvGraphicFramePr>
            <a:graphicFrameLocks noChangeAspect="1"/>
          </p:cNvGraphicFramePr>
          <p:nvPr/>
        </p:nvGraphicFramePr>
        <p:xfrm>
          <a:off x="5527990" y="1213225"/>
          <a:ext cx="2463800" cy="168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68" name="Visio" r:id="rId13" imgW="1261443" imgH="872252" progId="Visio.Drawing.11">
                  <p:embed/>
                </p:oleObj>
              </mc:Choice>
              <mc:Fallback>
                <p:oleObj name="Visio" r:id="rId13" imgW="1261443" imgH="872252" progId="Visio.Drawing.11">
                  <p:embed/>
                  <p:pic>
                    <p:nvPicPr>
                      <p:cNvPr id="18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7990" y="1213225"/>
                        <a:ext cx="2463800" cy="168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9" name="Picture 142" descr="éé¦é¿èèå¤´ä¼¸ææç»GIFå¨æè¡¨æï¼ä¸è¡ ï¼ç»å¯¹ä¸è¡"/>
          <p:cNvPicPr>
            <a:picLocks noChangeAspect="1" noChangeArrowheads="1" noCrop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0234" y="2327324"/>
            <a:ext cx="1372790" cy="1372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878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5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串联、并联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理想电流源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1C66AF1-24A0-446C-B0A8-326C494344F1}" type="datetime1">
              <a:rPr lang="zh-CN" altLang="en-US" smtClean="0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74CEB45-B7B4-4CEA-8E4A-DA539A380401}" type="slidenum">
              <a:rPr lang="en-US" altLang="zh-CN" smtClean="0"/>
              <a:pPr>
                <a:defRPr/>
              </a:pPr>
              <a:t>62</a:t>
            </a:fld>
            <a:endParaRPr lang="en-US" altLang="zh-CN"/>
          </a:p>
        </p:txBody>
      </p:sp>
      <p:graphicFrame>
        <p:nvGraphicFramePr>
          <p:cNvPr id="7" name="Object 3"/>
          <p:cNvGraphicFramePr>
            <a:graphicFrameLocks noChangeAspect="1"/>
          </p:cNvGraphicFramePr>
          <p:nvPr/>
        </p:nvGraphicFramePr>
        <p:xfrm>
          <a:off x="6837576" y="824136"/>
          <a:ext cx="1535113" cy="222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90" name="Visio" r:id="rId3" imgW="796814" imgH="1142286" progId="Visio.Drawing.11">
                  <p:embed/>
                </p:oleObj>
              </mc:Choice>
              <mc:Fallback>
                <p:oleObj name="Visio" r:id="rId3" imgW="796814" imgH="1142286" progId="Visio.Drawing.11">
                  <p:embed/>
                  <p:pic>
                    <p:nvPicPr>
                      <p:cNvPr id="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7576" y="824136"/>
                        <a:ext cx="1535113" cy="2225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155" descr="http://ws2.sinaimg.cn/large/9150e4e5ly1flf5cbcpxzg206o06ot8n.gif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839" y="188640"/>
            <a:ext cx="1325959" cy="1325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Object 2"/>
          <p:cNvGraphicFramePr>
            <a:graphicFrameLocks noChangeAspect="1"/>
          </p:cNvGraphicFramePr>
          <p:nvPr/>
        </p:nvGraphicFramePr>
        <p:xfrm>
          <a:off x="2362862" y="3814412"/>
          <a:ext cx="1535113" cy="222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91" name="Visio" r:id="rId6" imgW="790678" imgH="1133339" progId="Visio.Drawing.11">
                  <p:embed/>
                </p:oleObj>
              </mc:Choice>
              <mc:Fallback>
                <p:oleObj name="Visio" r:id="rId6" imgW="790678" imgH="1133339" progId="Visio.Drawing.11">
                  <p:embed/>
                  <p:pic>
                    <p:nvPicPr>
                      <p:cNvPr id="9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862" y="3814412"/>
                        <a:ext cx="1535113" cy="2225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5"/>
          <p:cNvGraphicFramePr>
            <a:graphicFrameLocks noChangeAspect="1"/>
          </p:cNvGraphicFramePr>
          <p:nvPr/>
        </p:nvGraphicFramePr>
        <p:xfrm>
          <a:off x="562662" y="3781827"/>
          <a:ext cx="1484313" cy="222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92" name="Visio" r:id="rId8" imgW="762150" imgH="1133339" progId="Visio.Drawing.11">
                  <p:embed/>
                </p:oleObj>
              </mc:Choice>
              <mc:Fallback>
                <p:oleObj name="Visio" r:id="rId8" imgW="762150" imgH="1133339" progId="Visio.Drawing.11">
                  <p:embed/>
                  <p:pic>
                    <p:nvPicPr>
                      <p:cNvPr id="1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2662" y="3781827"/>
                        <a:ext cx="1484313" cy="2225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6"/>
          <p:cNvGraphicFramePr>
            <a:graphicFrameLocks noChangeAspect="1"/>
          </p:cNvGraphicFramePr>
          <p:nvPr/>
        </p:nvGraphicFramePr>
        <p:xfrm>
          <a:off x="4811134" y="1150116"/>
          <a:ext cx="1484313" cy="222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93" name="Visio" r:id="rId10" imgW="771525" imgH="1142286" progId="Visio.Drawing.11">
                  <p:embed/>
                </p:oleObj>
              </mc:Choice>
              <mc:Fallback>
                <p:oleObj name="Visio" r:id="rId10" imgW="771525" imgH="1142286" progId="Visio.Drawing.11">
                  <p:embed/>
                  <p:pic>
                    <p:nvPicPr>
                      <p:cNvPr id="11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1134" y="1150116"/>
                        <a:ext cx="1484313" cy="2225675"/>
                      </a:xfrm>
                      <a:prstGeom prst="rect">
                        <a:avLst/>
                      </a:prstGeom>
                      <a:solidFill>
                        <a:schemeClr val="accent1">
                          <a:alpha val="50195"/>
                        </a:schemeClr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7"/>
          <p:cNvSpPr>
            <a:spLocks noChangeArrowheads="1"/>
          </p:cNvSpPr>
          <p:nvPr/>
        </p:nvSpPr>
        <p:spPr bwMode="auto">
          <a:xfrm>
            <a:off x="3790662" y="2064516"/>
            <a:ext cx="8382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195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4400" b="1" dirty="0">
                <a:solidFill>
                  <a:schemeClr val="hlink"/>
                </a:solidFill>
                <a:ea typeface="隶书" panose="02010509060101010101" pitchFamily="49" charset="-122"/>
              </a:rPr>
              <a:t>→</a:t>
            </a:r>
          </a:p>
        </p:txBody>
      </p:sp>
      <p:graphicFrame>
        <p:nvGraphicFramePr>
          <p:cNvPr id="13" name="Object 8"/>
          <p:cNvGraphicFramePr>
            <a:graphicFrameLocks noChangeAspect="1"/>
          </p:cNvGraphicFramePr>
          <p:nvPr/>
        </p:nvGraphicFramePr>
        <p:xfrm>
          <a:off x="399918" y="1294579"/>
          <a:ext cx="3335338" cy="168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94" name="Visio" r:id="rId12" imgW="1696926" imgH="872252" progId="Visio.Drawing.11">
                  <p:embed/>
                </p:oleObj>
              </mc:Choice>
              <mc:Fallback>
                <p:oleObj name="Visio" r:id="rId12" imgW="1696926" imgH="872252" progId="Visio.Drawing.11">
                  <p:embed/>
                  <p:pic>
                    <p:nvPicPr>
                      <p:cNvPr id="13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918" y="1294579"/>
                        <a:ext cx="3335338" cy="1684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2"/>
          <p:cNvGraphicFramePr>
            <a:graphicFrameLocks noChangeAspect="1"/>
          </p:cNvGraphicFramePr>
          <p:nvPr/>
        </p:nvGraphicFramePr>
        <p:xfrm>
          <a:off x="4190148" y="3960991"/>
          <a:ext cx="1989138" cy="234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95" name="Visio" r:id="rId14" imgW="1057341" imgH="1276295" progId="Visio.Drawing.11">
                  <p:embed/>
                </p:oleObj>
              </mc:Choice>
              <mc:Fallback>
                <p:oleObj name="Visio" r:id="rId14" imgW="1057341" imgH="1276295" progId="Visio.Drawing.11">
                  <p:embed/>
                  <p:pic>
                    <p:nvPicPr>
                      <p:cNvPr id="14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0148" y="3960991"/>
                        <a:ext cx="1989138" cy="234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6"/>
          <p:cNvGraphicFramePr>
            <a:graphicFrameLocks noChangeAspect="1"/>
          </p:cNvGraphicFramePr>
          <p:nvPr/>
        </p:nvGraphicFramePr>
        <p:xfrm>
          <a:off x="7163461" y="4022903"/>
          <a:ext cx="1484313" cy="222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96" name="Visio" r:id="rId16" imgW="762150" imgH="1133339" progId="Visio.Drawing.11">
                  <p:embed/>
                </p:oleObj>
              </mc:Choice>
              <mc:Fallback>
                <p:oleObj name="Visio" r:id="rId16" imgW="762150" imgH="1133339" progId="Visio.Drawing.11">
                  <p:embed/>
                  <p:pic>
                    <p:nvPicPr>
                      <p:cNvPr id="15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3461" y="4022903"/>
                        <a:ext cx="1484313" cy="2225675"/>
                      </a:xfrm>
                      <a:prstGeom prst="rect">
                        <a:avLst/>
                      </a:prstGeom>
                      <a:solidFill>
                        <a:schemeClr val="accent1">
                          <a:alpha val="50195"/>
                        </a:schemeClr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7"/>
          <p:cNvSpPr>
            <a:spLocks noChangeArrowheads="1"/>
          </p:cNvSpPr>
          <p:nvPr/>
        </p:nvSpPr>
        <p:spPr bwMode="auto">
          <a:xfrm>
            <a:off x="6287017" y="4843145"/>
            <a:ext cx="8382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195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4400" b="1" dirty="0">
                <a:solidFill>
                  <a:schemeClr val="hlink"/>
                </a:solidFill>
                <a:ea typeface="隶书" panose="02010509060101010101" pitchFamily="49" charset="-122"/>
              </a:rPr>
              <a:t>→</a:t>
            </a:r>
          </a:p>
        </p:txBody>
      </p:sp>
      <p:graphicFrame>
        <p:nvGraphicFramePr>
          <p:cNvPr id="17" name="Object 10"/>
          <p:cNvGraphicFramePr>
            <a:graphicFrameLocks noChangeAspect="1"/>
          </p:cNvGraphicFramePr>
          <p:nvPr/>
        </p:nvGraphicFramePr>
        <p:xfrm>
          <a:off x="5347731" y="6052097"/>
          <a:ext cx="74295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97" name="Equation" r:id="rId18" imgW="317160" imgH="228600" progId="Equation.DSMT4">
                  <p:embed/>
                </p:oleObj>
              </mc:Choice>
              <mc:Fallback>
                <p:oleObj name="Equation" r:id="rId18" imgW="317160" imgH="228600" progId="Equation.DSMT4">
                  <p:embed/>
                  <p:pic>
                    <p:nvPicPr>
                      <p:cNvPr id="17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47731" y="6052097"/>
                        <a:ext cx="742950" cy="5334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99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39328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6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对称电路</a:t>
            </a:r>
            <a:r>
              <a:rPr lang="en-US" altLang="zh-CN" dirty="0"/>
              <a:t>-</a:t>
            </a:r>
            <a:r>
              <a:rPr lang="zh-CN" altLang="en-US" dirty="0"/>
              <a:t>对称面通过端口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1C66AF1-24A0-446C-B0A8-326C494344F1}" type="datetime1">
              <a:rPr lang="zh-CN" altLang="en-US" smtClean="0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74CEB45-B7B4-4CEA-8E4A-DA539A380401}" type="slidenum">
              <a:rPr lang="en-US" altLang="zh-CN" smtClean="0"/>
              <a:pPr>
                <a:defRPr/>
              </a:pPr>
              <a:t>63</a:t>
            </a:fld>
            <a:endParaRPr lang="en-US" altLang="zh-CN"/>
          </a:p>
        </p:txBody>
      </p:sp>
      <p:grpSp>
        <p:nvGrpSpPr>
          <p:cNvPr id="7" name="Group 34"/>
          <p:cNvGrpSpPr>
            <a:grpSpLocks/>
          </p:cNvGrpSpPr>
          <p:nvPr/>
        </p:nvGrpSpPr>
        <p:grpSpPr bwMode="auto">
          <a:xfrm>
            <a:off x="467544" y="980728"/>
            <a:ext cx="3849688" cy="2209800"/>
            <a:chOff x="0" y="0"/>
            <a:chExt cx="2425" cy="1392"/>
          </a:xfrm>
        </p:grpSpPr>
        <p:sp>
          <p:nvSpPr>
            <p:cNvPr id="8" name="Rectangle 35"/>
            <p:cNvSpPr>
              <a:spLocks noChangeArrowheads="1"/>
            </p:cNvSpPr>
            <p:nvPr/>
          </p:nvSpPr>
          <p:spPr bwMode="auto">
            <a:xfrm rot="-7903512">
              <a:off x="1332" y="304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" name="Rectangle 36"/>
            <p:cNvSpPr>
              <a:spLocks noChangeArrowheads="1"/>
            </p:cNvSpPr>
            <p:nvPr/>
          </p:nvSpPr>
          <p:spPr bwMode="auto">
            <a:xfrm rot="-2919155">
              <a:off x="1854" y="310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" name="Rectangle 37"/>
            <p:cNvSpPr>
              <a:spLocks noChangeArrowheads="1"/>
            </p:cNvSpPr>
            <p:nvPr/>
          </p:nvSpPr>
          <p:spPr bwMode="auto">
            <a:xfrm rot="-5400000">
              <a:off x="1593" y="601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" name="Rectangle 38"/>
            <p:cNvSpPr>
              <a:spLocks noChangeArrowheads="1"/>
            </p:cNvSpPr>
            <p:nvPr/>
          </p:nvSpPr>
          <p:spPr bwMode="auto">
            <a:xfrm rot="-2874968">
              <a:off x="1299" y="880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" name="Rectangle 39"/>
            <p:cNvSpPr>
              <a:spLocks noChangeArrowheads="1"/>
            </p:cNvSpPr>
            <p:nvPr/>
          </p:nvSpPr>
          <p:spPr bwMode="auto">
            <a:xfrm rot="-7972038">
              <a:off x="1908" y="835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" name="Freeform 40"/>
            <p:cNvSpPr>
              <a:spLocks/>
            </p:cNvSpPr>
            <p:nvPr/>
          </p:nvSpPr>
          <p:spPr bwMode="auto">
            <a:xfrm>
              <a:off x="1465" y="196"/>
              <a:ext cx="176" cy="160"/>
            </a:xfrm>
            <a:custGeom>
              <a:avLst/>
              <a:gdLst>
                <a:gd name="T0" fmla="*/ 0 w 176"/>
                <a:gd name="T1" fmla="*/ 160 h 160"/>
                <a:gd name="T2" fmla="*/ 176 w 176"/>
                <a:gd name="T3" fmla="*/ 0 h 16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6" h="160">
                  <a:moveTo>
                    <a:pt x="0" y="160"/>
                  </a:moveTo>
                  <a:lnTo>
                    <a:pt x="176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41"/>
            <p:cNvSpPr>
              <a:spLocks/>
            </p:cNvSpPr>
            <p:nvPr/>
          </p:nvSpPr>
          <p:spPr bwMode="auto">
            <a:xfrm>
              <a:off x="1635" y="202"/>
              <a:ext cx="168" cy="141"/>
            </a:xfrm>
            <a:custGeom>
              <a:avLst/>
              <a:gdLst>
                <a:gd name="T0" fmla="*/ 168 w 168"/>
                <a:gd name="T1" fmla="*/ 141 h 141"/>
                <a:gd name="T2" fmla="*/ 0 w 168"/>
                <a:gd name="T3" fmla="*/ 0 h 14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68" h="141">
                  <a:moveTo>
                    <a:pt x="168" y="141"/>
                  </a:moveTo>
                  <a:lnTo>
                    <a:pt x="0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42"/>
            <p:cNvSpPr>
              <a:spLocks/>
            </p:cNvSpPr>
            <p:nvPr/>
          </p:nvSpPr>
          <p:spPr bwMode="auto">
            <a:xfrm>
              <a:off x="1057" y="508"/>
              <a:ext cx="233" cy="223"/>
            </a:xfrm>
            <a:custGeom>
              <a:avLst/>
              <a:gdLst>
                <a:gd name="T0" fmla="*/ 233 w 233"/>
                <a:gd name="T1" fmla="*/ 0 h 223"/>
                <a:gd name="T2" fmla="*/ 0 w 233"/>
                <a:gd name="T3" fmla="*/ 223 h 22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33" h="223">
                  <a:moveTo>
                    <a:pt x="233" y="0"/>
                  </a:moveTo>
                  <a:lnTo>
                    <a:pt x="0" y="223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Freeform 43"/>
            <p:cNvSpPr>
              <a:spLocks/>
            </p:cNvSpPr>
            <p:nvPr/>
          </p:nvSpPr>
          <p:spPr bwMode="auto">
            <a:xfrm>
              <a:off x="1989" y="511"/>
              <a:ext cx="225" cy="216"/>
            </a:xfrm>
            <a:custGeom>
              <a:avLst/>
              <a:gdLst>
                <a:gd name="T0" fmla="*/ 0 w 225"/>
                <a:gd name="T1" fmla="*/ 0 h 216"/>
                <a:gd name="T2" fmla="*/ 225 w 225"/>
                <a:gd name="T3" fmla="*/ 216 h 21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25" h="216">
                  <a:moveTo>
                    <a:pt x="0" y="0"/>
                  </a:moveTo>
                  <a:lnTo>
                    <a:pt x="225" y="216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Freeform 44"/>
            <p:cNvSpPr>
              <a:spLocks/>
            </p:cNvSpPr>
            <p:nvPr/>
          </p:nvSpPr>
          <p:spPr bwMode="auto">
            <a:xfrm>
              <a:off x="1075" y="731"/>
              <a:ext cx="183" cy="201"/>
            </a:xfrm>
            <a:custGeom>
              <a:avLst/>
              <a:gdLst>
                <a:gd name="T0" fmla="*/ 0 w 183"/>
                <a:gd name="T1" fmla="*/ 0 h 201"/>
                <a:gd name="T2" fmla="*/ 183 w 183"/>
                <a:gd name="T3" fmla="*/ 201 h 20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83" h="201">
                  <a:moveTo>
                    <a:pt x="0" y="0"/>
                  </a:moveTo>
                  <a:lnTo>
                    <a:pt x="183" y="201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Freeform 45"/>
            <p:cNvSpPr>
              <a:spLocks/>
            </p:cNvSpPr>
            <p:nvPr/>
          </p:nvSpPr>
          <p:spPr bwMode="auto">
            <a:xfrm>
              <a:off x="1422" y="1078"/>
              <a:ext cx="211" cy="183"/>
            </a:xfrm>
            <a:custGeom>
              <a:avLst/>
              <a:gdLst>
                <a:gd name="T0" fmla="*/ 0 w 211"/>
                <a:gd name="T1" fmla="*/ 0 h 183"/>
                <a:gd name="T2" fmla="*/ 211 w 211"/>
                <a:gd name="T3" fmla="*/ 183 h 18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11" h="183">
                  <a:moveTo>
                    <a:pt x="0" y="0"/>
                  </a:moveTo>
                  <a:lnTo>
                    <a:pt x="211" y="183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Freeform 46"/>
            <p:cNvSpPr>
              <a:spLocks/>
            </p:cNvSpPr>
            <p:nvPr/>
          </p:nvSpPr>
          <p:spPr bwMode="auto">
            <a:xfrm>
              <a:off x="1635" y="1030"/>
              <a:ext cx="243" cy="222"/>
            </a:xfrm>
            <a:custGeom>
              <a:avLst/>
              <a:gdLst>
                <a:gd name="T0" fmla="*/ 0 w 243"/>
                <a:gd name="T1" fmla="*/ 222 h 222"/>
                <a:gd name="T2" fmla="*/ 243 w 243"/>
                <a:gd name="T3" fmla="*/ 0 h 22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43" h="222">
                  <a:moveTo>
                    <a:pt x="0" y="222"/>
                  </a:moveTo>
                  <a:lnTo>
                    <a:pt x="243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Freeform 47"/>
            <p:cNvSpPr>
              <a:spLocks/>
            </p:cNvSpPr>
            <p:nvPr/>
          </p:nvSpPr>
          <p:spPr bwMode="auto">
            <a:xfrm>
              <a:off x="2053" y="724"/>
              <a:ext cx="158" cy="153"/>
            </a:xfrm>
            <a:custGeom>
              <a:avLst/>
              <a:gdLst>
                <a:gd name="T0" fmla="*/ 0 w 158"/>
                <a:gd name="T1" fmla="*/ 153 h 153"/>
                <a:gd name="T2" fmla="*/ 158 w 158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58" h="153">
                  <a:moveTo>
                    <a:pt x="0" y="153"/>
                  </a:moveTo>
                  <a:lnTo>
                    <a:pt x="158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Freeform 48"/>
            <p:cNvSpPr>
              <a:spLocks/>
            </p:cNvSpPr>
            <p:nvPr/>
          </p:nvSpPr>
          <p:spPr bwMode="auto">
            <a:xfrm>
              <a:off x="1059" y="724"/>
              <a:ext cx="462" cy="1"/>
            </a:xfrm>
            <a:custGeom>
              <a:avLst/>
              <a:gdLst>
                <a:gd name="T0" fmla="*/ 0 w 462"/>
                <a:gd name="T1" fmla="*/ 0 h 1"/>
                <a:gd name="T2" fmla="*/ 462 w 46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62" h="1">
                  <a:moveTo>
                    <a:pt x="0" y="0"/>
                  </a:moveTo>
                  <a:lnTo>
                    <a:pt x="462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Freeform 49"/>
            <p:cNvSpPr>
              <a:spLocks/>
            </p:cNvSpPr>
            <p:nvPr/>
          </p:nvSpPr>
          <p:spPr bwMode="auto">
            <a:xfrm>
              <a:off x="1764" y="724"/>
              <a:ext cx="447" cy="1"/>
            </a:xfrm>
            <a:custGeom>
              <a:avLst/>
              <a:gdLst>
                <a:gd name="T0" fmla="*/ 0 w 447"/>
                <a:gd name="T1" fmla="*/ 0 h 1"/>
                <a:gd name="T2" fmla="*/ 447 w 447"/>
                <a:gd name="T3" fmla="*/ 1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47" h="1">
                  <a:moveTo>
                    <a:pt x="0" y="0"/>
                  </a:moveTo>
                  <a:lnTo>
                    <a:pt x="447" y="1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50"/>
            <p:cNvSpPr>
              <a:spLocks noChangeShapeType="1"/>
            </p:cNvSpPr>
            <p:nvPr/>
          </p:nvSpPr>
          <p:spPr bwMode="auto">
            <a:xfrm>
              <a:off x="243" y="196"/>
              <a:ext cx="13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51"/>
            <p:cNvSpPr>
              <a:spLocks noChangeShapeType="1"/>
            </p:cNvSpPr>
            <p:nvPr/>
          </p:nvSpPr>
          <p:spPr bwMode="auto">
            <a:xfrm>
              <a:off x="237" y="1261"/>
              <a:ext cx="13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Oval 52"/>
            <p:cNvSpPr>
              <a:spLocks noChangeAspect="1" noChangeArrowheads="1"/>
            </p:cNvSpPr>
            <p:nvPr/>
          </p:nvSpPr>
          <p:spPr bwMode="auto">
            <a:xfrm>
              <a:off x="1596" y="184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6" name="Oval 53"/>
            <p:cNvSpPr>
              <a:spLocks noChangeAspect="1" noChangeArrowheads="1"/>
            </p:cNvSpPr>
            <p:nvPr/>
          </p:nvSpPr>
          <p:spPr bwMode="auto">
            <a:xfrm>
              <a:off x="1587" y="1213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7" name="Oval 54"/>
            <p:cNvSpPr>
              <a:spLocks noChangeAspect="1" noChangeArrowheads="1"/>
            </p:cNvSpPr>
            <p:nvPr/>
          </p:nvSpPr>
          <p:spPr bwMode="auto">
            <a:xfrm>
              <a:off x="1050" y="676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8" name="Oval 55"/>
            <p:cNvSpPr>
              <a:spLocks noChangeAspect="1" noChangeArrowheads="1"/>
            </p:cNvSpPr>
            <p:nvPr/>
          </p:nvSpPr>
          <p:spPr bwMode="auto">
            <a:xfrm>
              <a:off x="2169" y="676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9" name="Oval 56"/>
            <p:cNvSpPr>
              <a:spLocks noChangeAspect="1" noChangeArrowheads="1"/>
            </p:cNvSpPr>
            <p:nvPr/>
          </p:nvSpPr>
          <p:spPr bwMode="auto">
            <a:xfrm>
              <a:off x="195" y="148"/>
              <a:ext cx="68" cy="6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0" name="Oval 57"/>
            <p:cNvSpPr>
              <a:spLocks noChangeAspect="1" noChangeArrowheads="1"/>
            </p:cNvSpPr>
            <p:nvPr/>
          </p:nvSpPr>
          <p:spPr bwMode="auto">
            <a:xfrm>
              <a:off x="177" y="1222"/>
              <a:ext cx="68" cy="6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1" name="Text Box 58"/>
            <p:cNvSpPr txBox="1">
              <a:spLocks noChangeArrowheads="1"/>
            </p:cNvSpPr>
            <p:nvPr/>
          </p:nvSpPr>
          <p:spPr bwMode="auto">
            <a:xfrm>
              <a:off x="8" y="0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a</a:t>
              </a:r>
            </a:p>
          </p:txBody>
        </p:sp>
        <p:sp>
          <p:nvSpPr>
            <p:cNvPr id="32" name="Text Box 59"/>
            <p:cNvSpPr txBox="1">
              <a:spLocks noChangeArrowheads="1"/>
            </p:cNvSpPr>
            <p:nvPr/>
          </p:nvSpPr>
          <p:spPr bwMode="auto">
            <a:xfrm>
              <a:off x="869" y="549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c</a:t>
              </a:r>
            </a:p>
          </p:txBody>
        </p:sp>
        <p:sp>
          <p:nvSpPr>
            <p:cNvPr id="33" name="Text Box 60"/>
            <p:cNvSpPr txBox="1">
              <a:spLocks noChangeArrowheads="1"/>
            </p:cNvSpPr>
            <p:nvPr/>
          </p:nvSpPr>
          <p:spPr bwMode="auto">
            <a:xfrm>
              <a:off x="2213" y="55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d</a:t>
              </a:r>
            </a:p>
          </p:txBody>
        </p:sp>
        <p:sp>
          <p:nvSpPr>
            <p:cNvPr id="34" name="Text Box 61"/>
            <p:cNvSpPr txBox="1">
              <a:spLocks noChangeArrowheads="1"/>
            </p:cNvSpPr>
            <p:nvPr/>
          </p:nvSpPr>
          <p:spPr bwMode="auto">
            <a:xfrm>
              <a:off x="1011" y="227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 dirty="0"/>
                <a:t>R</a:t>
              </a:r>
              <a:r>
                <a:rPr lang="zh-CN" altLang="zh-CN" b="1" baseline="-25000" dirty="0"/>
                <a:t>1</a:t>
              </a:r>
              <a:endParaRPr lang="zh-CN" altLang="zh-CN" b="1" dirty="0"/>
            </a:p>
          </p:txBody>
        </p:sp>
        <p:sp>
          <p:nvSpPr>
            <p:cNvPr id="35" name="Text Box 62"/>
            <p:cNvSpPr txBox="1">
              <a:spLocks noChangeArrowheads="1"/>
            </p:cNvSpPr>
            <p:nvPr/>
          </p:nvSpPr>
          <p:spPr bwMode="auto">
            <a:xfrm>
              <a:off x="1011" y="916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4</a:t>
              </a:r>
              <a:endParaRPr lang="zh-CN" altLang="zh-CN" b="1"/>
            </a:p>
          </p:txBody>
        </p:sp>
        <p:sp>
          <p:nvSpPr>
            <p:cNvPr id="36" name="Text Box 63"/>
            <p:cNvSpPr txBox="1">
              <a:spLocks noChangeArrowheads="1"/>
            </p:cNvSpPr>
            <p:nvPr/>
          </p:nvSpPr>
          <p:spPr bwMode="auto">
            <a:xfrm>
              <a:off x="1947" y="952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 dirty="0"/>
                <a:t>R</a:t>
              </a:r>
              <a:r>
                <a:rPr lang="zh-CN" altLang="zh-CN" b="1" baseline="-25000" dirty="0"/>
                <a:t>3</a:t>
              </a:r>
              <a:endParaRPr lang="zh-CN" altLang="zh-CN" b="1" dirty="0"/>
            </a:p>
          </p:txBody>
        </p:sp>
        <p:sp>
          <p:nvSpPr>
            <p:cNvPr id="37" name="Text Box 64"/>
            <p:cNvSpPr txBox="1">
              <a:spLocks noChangeArrowheads="1"/>
            </p:cNvSpPr>
            <p:nvPr/>
          </p:nvSpPr>
          <p:spPr bwMode="auto">
            <a:xfrm>
              <a:off x="1923" y="196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2</a:t>
              </a:r>
              <a:endParaRPr lang="zh-CN" altLang="zh-CN" b="1"/>
            </a:p>
          </p:txBody>
        </p:sp>
        <p:sp>
          <p:nvSpPr>
            <p:cNvPr id="38" name="Text Box 65"/>
            <p:cNvSpPr txBox="1">
              <a:spLocks noChangeArrowheads="1"/>
            </p:cNvSpPr>
            <p:nvPr/>
          </p:nvSpPr>
          <p:spPr bwMode="auto">
            <a:xfrm>
              <a:off x="1491" y="436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5</a:t>
              </a:r>
              <a:endParaRPr lang="zh-CN" altLang="zh-CN" b="1"/>
            </a:p>
          </p:txBody>
        </p:sp>
        <p:sp>
          <p:nvSpPr>
            <p:cNvPr id="39" name="Text Box 66"/>
            <p:cNvSpPr txBox="1">
              <a:spLocks noChangeArrowheads="1"/>
            </p:cNvSpPr>
            <p:nvPr/>
          </p:nvSpPr>
          <p:spPr bwMode="auto">
            <a:xfrm>
              <a:off x="0" y="11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b</a:t>
              </a:r>
            </a:p>
          </p:txBody>
        </p:sp>
      </p:grpSp>
      <p:cxnSp>
        <p:nvCxnSpPr>
          <p:cNvPr id="40" name="直接连接符 39"/>
          <p:cNvCxnSpPr/>
          <p:nvPr/>
        </p:nvCxnSpPr>
        <p:spPr bwMode="auto">
          <a:xfrm>
            <a:off x="3059689" y="906908"/>
            <a:ext cx="4762" cy="2509840"/>
          </a:xfrm>
          <a:prstGeom prst="line">
            <a:avLst/>
          </a:prstGeom>
          <a:solidFill>
            <a:schemeClr val="accent1"/>
          </a:solidFill>
          <a:ln w="31750" cap="flat" cmpd="sng" algn="ctr">
            <a:solidFill>
              <a:srgbClr val="FF0000"/>
            </a:solidFill>
            <a:prstDash val="dashDot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1" name="组合 40"/>
          <p:cNvGrpSpPr/>
          <p:nvPr/>
        </p:nvGrpSpPr>
        <p:grpSpPr>
          <a:xfrm>
            <a:off x="134947" y="4075483"/>
            <a:ext cx="3368808" cy="2381918"/>
            <a:chOff x="2991389" y="4223532"/>
            <a:chExt cx="3368808" cy="2381918"/>
          </a:xfrm>
        </p:grpSpPr>
        <p:grpSp>
          <p:nvGrpSpPr>
            <p:cNvPr id="42" name="Group 34"/>
            <p:cNvGrpSpPr>
              <a:grpSpLocks/>
            </p:cNvGrpSpPr>
            <p:nvPr/>
          </p:nvGrpSpPr>
          <p:grpSpPr bwMode="auto">
            <a:xfrm>
              <a:off x="2991389" y="4223532"/>
              <a:ext cx="3368808" cy="2381918"/>
              <a:chOff x="342" y="32"/>
              <a:chExt cx="2083" cy="1392"/>
            </a:xfrm>
          </p:grpSpPr>
          <p:sp>
            <p:nvSpPr>
              <p:cNvPr id="44" name="Rectangle 35"/>
              <p:cNvSpPr>
                <a:spLocks noChangeArrowheads="1"/>
              </p:cNvSpPr>
              <p:nvPr/>
            </p:nvSpPr>
            <p:spPr bwMode="auto">
              <a:xfrm rot="-7903512">
                <a:off x="1332" y="304"/>
                <a:ext cx="96" cy="2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5" name="Rectangle 36"/>
              <p:cNvSpPr>
                <a:spLocks noChangeArrowheads="1"/>
              </p:cNvSpPr>
              <p:nvPr/>
            </p:nvSpPr>
            <p:spPr bwMode="auto">
              <a:xfrm rot="-2919155">
                <a:off x="1854" y="310"/>
                <a:ext cx="96" cy="2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6" name="Rectangle 38"/>
              <p:cNvSpPr>
                <a:spLocks noChangeArrowheads="1"/>
              </p:cNvSpPr>
              <p:nvPr/>
            </p:nvSpPr>
            <p:spPr bwMode="auto">
              <a:xfrm rot="-2874968">
                <a:off x="1299" y="880"/>
                <a:ext cx="96" cy="2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7" name="Rectangle 39"/>
              <p:cNvSpPr>
                <a:spLocks noChangeArrowheads="1"/>
              </p:cNvSpPr>
              <p:nvPr/>
            </p:nvSpPr>
            <p:spPr bwMode="auto">
              <a:xfrm rot="-7972038">
                <a:off x="1908" y="835"/>
                <a:ext cx="96" cy="2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8" name="Freeform 40"/>
              <p:cNvSpPr>
                <a:spLocks/>
              </p:cNvSpPr>
              <p:nvPr/>
            </p:nvSpPr>
            <p:spPr bwMode="auto">
              <a:xfrm>
                <a:off x="1465" y="196"/>
                <a:ext cx="176" cy="160"/>
              </a:xfrm>
              <a:custGeom>
                <a:avLst/>
                <a:gdLst>
                  <a:gd name="T0" fmla="*/ 0 w 176"/>
                  <a:gd name="T1" fmla="*/ 160 h 160"/>
                  <a:gd name="T2" fmla="*/ 176 w 176"/>
                  <a:gd name="T3" fmla="*/ 0 h 16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76" h="160">
                    <a:moveTo>
                      <a:pt x="0" y="160"/>
                    </a:moveTo>
                    <a:lnTo>
                      <a:pt x="176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" name="Freeform 41"/>
              <p:cNvSpPr>
                <a:spLocks/>
              </p:cNvSpPr>
              <p:nvPr/>
            </p:nvSpPr>
            <p:spPr bwMode="auto">
              <a:xfrm>
                <a:off x="1635" y="202"/>
                <a:ext cx="168" cy="141"/>
              </a:xfrm>
              <a:custGeom>
                <a:avLst/>
                <a:gdLst>
                  <a:gd name="T0" fmla="*/ 168 w 168"/>
                  <a:gd name="T1" fmla="*/ 141 h 141"/>
                  <a:gd name="T2" fmla="*/ 0 w 168"/>
                  <a:gd name="T3" fmla="*/ 0 h 14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68" h="141">
                    <a:moveTo>
                      <a:pt x="168" y="141"/>
                    </a:moveTo>
                    <a:lnTo>
                      <a:pt x="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" name="Freeform 42"/>
              <p:cNvSpPr>
                <a:spLocks/>
              </p:cNvSpPr>
              <p:nvPr/>
            </p:nvSpPr>
            <p:spPr bwMode="auto">
              <a:xfrm>
                <a:off x="1057" y="508"/>
                <a:ext cx="233" cy="223"/>
              </a:xfrm>
              <a:custGeom>
                <a:avLst/>
                <a:gdLst>
                  <a:gd name="T0" fmla="*/ 233 w 233"/>
                  <a:gd name="T1" fmla="*/ 0 h 223"/>
                  <a:gd name="T2" fmla="*/ 0 w 233"/>
                  <a:gd name="T3" fmla="*/ 223 h 22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33" h="223">
                    <a:moveTo>
                      <a:pt x="233" y="0"/>
                    </a:moveTo>
                    <a:lnTo>
                      <a:pt x="0" y="223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" name="Freeform 43"/>
              <p:cNvSpPr>
                <a:spLocks/>
              </p:cNvSpPr>
              <p:nvPr/>
            </p:nvSpPr>
            <p:spPr bwMode="auto">
              <a:xfrm>
                <a:off x="1989" y="511"/>
                <a:ext cx="225" cy="216"/>
              </a:xfrm>
              <a:custGeom>
                <a:avLst/>
                <a:gdLst>
                  <a:gd name="T0" fmla="*/ 0 w 225"/>
                  <a:gd name="T1" fmla="*/ 0 h 216"/>
                  <a:gd name="T2" fmla="*/ 225 w 225"/>
                  <a:gd name="T3" fmla="*/ 216 h 21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25" h="216">
                    <a:moveTo>
                      <a:pt x="0" y="0"/>
                    </a:moveTo>
                    <a:lnTo>
                      <a:pt x="225" y="216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" name="Freeform 44"/>
              <p:cNvSpPr>
                <a:spLocks/>
              </p:cNvSpPr>
              <p:nvPr/>
            </p:nvSpPr>
            <p:spPr bwMode="auto">
              <a:xfrm>
                <a:off x="1075" y="731"/>
                <a:ext cx="183" cy="201"/>
              </a:xfrm>
              <a:custGeom>
                <a:avLst/>
                <a:gdLst>
                  <a:gd name="T0" fmla="*/ 0 w 183"/>
                  <a:gd name="T1" fmla="*/ 0 h 201"/>
                  <a:gd name="T2" fmla="*/ 183 w 183"/>
                  <a:gd name="T3" fmla="*/ 201 h 20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83" h="201">
                    <a:moveTo>
                      <a:pt x="0" y="0"/>
                    </a:moveTo>
                    <a:lnTo>
                      <a:pt x="183" y="201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" name="Freeform 45"/>
              <p:cNvSpPr>
                <a:spLocks/>
              </p:cNvSpPr>
              <p:nvPr/>
            </p:nvSpPr>
            <p:spPr bwMode="auto">
              <a:xfrm>
                <a:off x="1422" y="1078"/>
                <a:ext cx="211" cy="183"/>
              </a:xfrm>
              <a:custGeom>
                <a:avLst/>
                <a:gdLst>
                  <a:gd name="T0" fmla="*/ 0 w 211"/>
                  <a:gd name="T1" fmla="*/ 0 h 183"/>
                  <a:gd name="T2" fmla="*/ 211 w 211"/>
                  <a:gd name="T3" fmla="*/ 183 h 18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11" h="183">
                    <a:moveTo>
                      <a:pt x="0" y="0"/>
                    </a:moveTo>
                    <a:lnTo>
                      <a:pt x="211" y="183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" name="Freeform 46"/>
              <p:cNvSpPr>
                <a:spLocks/>
              </p:cNvSpPr>
              <p:nvPr/>
            </p:nvSpPr>
            <p:spPr bwMode="auto">
              <a:xfrm>
                <a:off x="1635" y="1030"/>
                <a:ext cx="243" cy="222"/>
              </a:xfrm>
              <a:custGeom>
                <a:avLst/>
                <a:gdLst>
                  <a:gd name="T0" fmla="*/ 0 w 243"/>
                  <a:gd name="T1" fmla="*/ 222 h 222"/>
                  <a:gd name="T2" fmla="*/ 243 w 243"/>
                  <a:gd name="T3" fmla="*/ 0 h 22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43" h="222">
                    <a:moveTo>
                      <a:pt x="0" y="222"/>
                    </a:moveTo>
                    <a:lnTo>
                      <a:pt x="243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" name="Freeform 47"/>
              <p:cNvSpPr>
                <a:spLocks/>
              </p:cNvSpPr>
              <p:nvPr/>
            </p:nvSpPr>
            <p:spPr bwMode="auto">
              <a:xfrm>
                <a:off x="2053" y="724"/>
                <a:ext cx="158" cy="153"/>
              </a:xfrm>
              <a:custGeom>
                <a:avLst/>
                <a:gdLst>
                  <a:gd name="T0" fmla="*/ 0 w 158"/>
                  <a:gd name="T1" fmla="*/ 153 h 153"/>
                  <a:gd name="T2" fmla="*/ 158 w 158"/>
                  <a:gd name="T3" fmla="*/ 0 h 15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58" h="153">
                    <a:moveTo>
                      <a:pt x="0" y="153"/>
                    </a:moveTo>
                    <a:lnTo>
                      <a:pt x="158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" name="Freeform 48"/>
              <p:cNvSpPr>
                <a:spLocks/>
              </p:cNvSpPr>
              <p:nvPr/>
            </p:nvSpPr>
            <p:spPr bwMode="auto">
              <a:xfrm>
                <a:off x="1059" y="724"/>
                <a:ext cx="462" cy="1"/>
              </a:xfrm>
              <a:custGeom>
                <a:avLst/>
                <a:gdLst>
                  <a:gd name="T0" fmla="*/ 0 w 462"/>
                  <a:gd name="T1" fmla="*/ 0 h 1"/>
                  <a:gd name="T2" fmla="*/ 462 w 462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62" h="1">
                    <a:moveTo>
                      <a:pt x="0" y="0"/>
                    </a:moveTo>
                    <a:lnTo>
                      <a:pt x="462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" name="Freeform 49"/>
              <p:cNvSpPr>
                <a:spLocks/>
              </p:cNvSpPr>
              <p:nvPr/>
            </p:nvSpPr>
            <p:spPr bwMode="auto">
              <a:xfrm>
                <a:off x="1764" y="724"/>
                <a:ext cx="447" cy="1"/>
              </a:xfrm>
              <a:custGeom>
                <a:avLst/>
                <a:gdLst>
                  <a:gd name="T0" fmla="*/ 0 w 447"/>
                  <a:gd name="T1" fmla="*/ 0 h 1"/>
                  <a:gd name="T2" fmla="*/ 447 w 447"/>
                  <a:gd name="T3" fmla="*/ 1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47" h="1">
                    <a:moveTo>
                      <a:pt x="0" y="0"/>
                    </a:moveTo>
                    <a:lnTo>
                      <a:pt x="447" y="1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" name="Line 50"/>
              <p:cNvSpPr>
                <a:spLocks noChangeShapeType="1"/>
              </p:cNvSpPr>
              <p:nvPr/>
            </p:nvSpPr>
            <p:spPr bwMode="auto">
              <a:xfrm flipV="1">
                <a:off x="622" y="196"/>
                <a:ext cx="1013" cy="1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9" name="Line 51"/>
              <p:cNvSpPr>
                <a:spLocks noChangeShapeType="1"/>
              </p:cNvSpPr>
              <p:nvPr/>
            </p:nvSpPr>
            <p:spPr bwMode="auto">
              <a:xfrm>
                <a:off x="626" y="1251"/>
                <a:ext cx="1003" cy="1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" name="Oval 52"/>
              <p:cNvSpPr>
                <a:spLocks noChangeAspect="1" noChangeArrowheads="1"/>
              </p:cNvSpPr>
              <p:nvPr/>
            </p:nvSpPr>
            <p:spPr bwMode="auto">
              <a:xfrm>
                <a:off x="1596" y="184"/>
                <a:ext cx="68" cy="68"/>
              </a:xfrm>
              <a:prstGeom prst="ellipse">
                <a:avLst/>
              </a:prstGeom>
              <a:solidFill>
                <a:schemeClr val="tx2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61" name="Oval 53"/>
              <p:cNvSpPr>
                <a:spLocks noChangeAspect="1" noChangeArrowheads="1"/>
              </p:cNvSpPr>
              <p:nvPr/>
            </p:nvSpPr>
            <p:spPr bwMode="auto">
              <a:xfrm>
                <a:off x="1587" y="1213"/>
                <a:ext cx="68" cy="68"/>
              </a:xfrm>
              <a:prstGeom prst="ellipse">
                <a:avLst/>
              </a:prstGeom>
              <a:solidFill>
                <a:schemeClr val="tx2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62" name="Oval 54"/>
              <p:cNvSpPr>
                <a:spLocks noChangeAspect="1" noChangeArrowheads="1"/>
              </p:cNvSpPr>
              <p:nvPr/>
            </p:nvSpPr>
            <p:spPr bwMode="auto">
              <a:xfrm>
                <a:off x="1050" y="676"/>
                <a:ext cx="68" cy="68"/>
              </a:xfrm>
              <a:prstGeom prst="ellipse">
                <a:avLst/>
              </a:prstGeom>
              <a:solidFill>
                <a:schemeClr val="tx2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63" name="Oval 55"/>
              <p:cNvSpPr>
                <a:spLocks noChangeAspect="1" noChangeArrowheads="1"/>
              </p:cNvSpPr>
              <p:nvPr/>
            </p:nvSpPr>
            <p:spPr bwMode="auto">
              <a:xfrm>
                <a:off x="2169" y="676"/>
                <a:ext cx="68" cy="68"/>
              </a:xfrm>
              <a:prstGeom prst="ellipse">
                <a:avLst/>
              </a:prstGeom>
              <a:solidFill>
                <a:schemeClr val="tx2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64" name="Oval 56"/>
              <p:cNvSpPr>
                <a:spLocks noChangeAspect="1" noChangeArrowheads="1"/>
              </p:cNvSpPr>
              <p:nvPr/>
            </p:nvSpPr>
            <p:spPr bwMode="auto">
              <a:xfrm>
                <a:off x="537" y="180"/>
                <a:ext cx="68" cy="68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65" name="Oval 57"/>
              <p:cNvSpPr>
                <a:spLocks noChangeAspect="1" noChangeArrowheads="1"/>
              </p:cNvSpPr>
              <p:nvPr/>
            </p:nvSpPr>
            <p:spPr bwMode="auto">
              <a:xfrm>
                <a:off x="519" y="1254"/>
                <a:ext cx="68" cy="68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66" name="Text Box 58"/>
              <p:cNvSpPr txBox="1">
                <a:spLocks noChangeArrowheads="1"/>
              </p:cNvSpPr>
              <p:nvPr/>
            </p:nvSpPr>
            <p:spPr bwMode="auto">
              <a:xfrm>
                <a:off x="350" y="32"/>
                <a:ext cx="20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sz="2400"/>
                  <a:t>a</a:t>
                </a:r>
              </a:p>
            </p:txBody>
          </p:sp>
          <p:sp>
            <p:nvSpPr>
              <p:cNvPr id="67" name="Text Box 59"/>
              <p:cNvSpPr txBox="1">
                <a:spLocks noChangeArrowheads="1"/>
              </p:cNvSpPr>
              <p:nvPr/>
            </p:nvSpPr>
            <p:spPr bwMode="auto">
              <a:xfrm>
                <a:off x="869" y="549"/>
                <a:ext cx="20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sz="2400"/>
                  <a:t>c</a:t>
                </a:r>
              </a:p>
            </p:txBody>
          </p:sp>
          <p:sp>
            <p:nvSpPr>
              <p:cNvPr id="68" name="Text Box 60"/>
              <p:cNvSpPr txBox="1">
                <a:spLocks noChangeArrowheads="1"/>
              </p:cNvSpPr>
              <p:nvPr/>
            </p:nvSpPr>
            <p:spPr bwMode="auto">
              <a:xfrm>
                <a:off x="2213" y="558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sz="2400"/>
                  <a:t>d</a:t>
                </a:r>
              </a:p>
            </p:txBody>
          </p:sp>
          <p:sp>
            <p:nvSpPr>
              <p:cNvPr id="69" name="Text Box 61"/>
              <p:cNvSpPr txBox="1">
                <a:spLocks noChangeArrowheads="1"/>
              </p:cNvSpPr>
              <p:nvPr/>
            </p:nvSpPr>
            <p:spPr bwMode="auto">
              <a:xfrm>
                <a:off x="1011" y="227"/>
                <a:ext cx="28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b="1" dirty="0"/>
                  <a:t>R</a:t>
                </a:r>
                <a:r>
                  <a:rPr lang="zh-CN" altLang="zh-CN" b="1" baseline="-25000" dirty="0"/>
                  <a:t>1</a:t>
                </a:r>
                <a:endParaRPr lang="zh-CN" altLang="zh-CN" b="1" dirty="0"/>
              </a:p>
            </p:txBody>
          </p:sp>
          <p:sp>
            <p:nvSpPr>
              <p:cNvPr id="70" name="Text Box 62"/>
              <p:cNvSpPr txBox="1">
                <a:spLocks noChangeArrowheads="1"/>
              </p:cNvSpPr>
              <p:nvPr/>
            </p:nvSpPr>
            <p:spPr bwMode="auto">
              <a:xfrm>
                <a:off x="1011" y="916"/>
                <a:ext cx="28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b="1" dirty="0"/>
                  <a:t>R</a:t>
                </a:r>
                <a:r>
                  <a:rPr lang="zh-CN" altLang="zh-CN" b="1" baseline="-25000" dirty="0"/>
                  <a:t>4</a:t>
                </a:r>
                <a:endParaRPr lang="zh-CN" altLang="zh-CN" b="1" dirty="0"/>
              </a:p>
            </p:txBody>
          </p:sp>
          <p:sp>
            <p:nvSpPr>
              <p:cNvPr id="71" name="Text Box 63"/>
              <p:cNvSpPr txBox="1">
                <a:spLocks noChangeArrowheads="1"/>
              </p:cNvSpPr>
              <p:nvPr/>
            </p:nvSpPr>
            <p:spPr bwMode="auto">
              <a:xfrm>
                <a:off x="1947" y="952"/>
                <a:ext cx="28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b="1"/>
                  <a:t>R</a:t>
                </a:r>
                <a:r>
                  <a:rPr lang="zh-CN" altLang="zh-CN" b="1" baseline="-25000"/>
                  <a:t>3</a:t>
                </a:r>
                <a:endParaRPr lang="zh-CN" altLang="zh-CN" b="1"/>
              </a:p>
            </p:txBody>
          </p:sp>
          <p:sp>
            <p:nvSpPr>
              <p:cNvPr id="72" name="Text Box 64"/>
              <p:cNvSpPr txBox="1">
                <a:spLocks noChangeArrowheads="1"/>
              </p:cNvSpPr>
              <p:nvPr/>
            </p:nvSpPr>
            <p:spPr bwMode="auto">
              <a:xfrm>
                <a:off x="1923" y="196"/>
                <a:ext cx="28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b="1"/>
                  <a:t>R</a:t>
                </a:r>
                <a:r>
                  <a:rPr lang="zh-CN" altLang="zh-CN" b="1" baseline="-25000"/>
                  <a:t>2</a:t>
                </a:r>
                <a:endParaRPr lang="zh-CN" altLang="zh-CN" b="1"/>
              </a:p>
            </p:txBody>
          </p:sp>
          <p:sp>
            <p:nvSpPr>
              <p:cNvPr id="73" name="Text Box 66"/>
              <p:cNvSpPr txBox="1">
                <a:spLocks noChangeArrowheads="1"/>
              </p:cNvSpPr>
              <p:nvPr/>
            </p:nvSpPr>
            <p:spPr bwMode="auto">
              <a:xfrm>
                <a:off x="342" y="113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sz="2400"/>
                  <a:t>b</a:t>
                </a:r>
              </a:p>
            </p:txBody>
          </p:sp>
        </p:grpSp>
        <p:sp>
          <p:nvSpPr>
            <p:cNvPr id="43" name="Text Box 61"/>
            <p:cNvSpPr txBox="1">
              <a:spLocks noChangeArrowheads="1"/>
            </p:cNvSpPr>
            <p:nvPr/>
          </p:nvSpPr>
          <p:spPr bwMode="auto">
            <a:xfrm>
              <a:off x="4977057" y="4969302"/>
              <a:ext cx="614271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dirty="0"/>
                <a:t>i</a:t>
              </a:r>
              <a:r>
                <a:rPr lang="en-US" altLang="zh-CN" b="1" baseline="-25000" dirty="0"/>
                <a:t>5</a:t>
              </a:r>
              <a:r>
                <a:rPr lang="en-US" altLang="zh-CN" b="1" dirty="0"/>
                <a:t>=0</a:t>
              </a:r>
              <a:endParaRPr lang="zh-CN" altLang="zh-CN" b="1" dirty="0"/>
            </a:p>
          </p:txBody>
        </p:sp>
      </p:grpSp>
      <p:grpSp>
        <p:nvGrpSpPr>
          <p:cNvPr id="74" name="组合 73"/>
          <p:cNvGrpSpPr/>
          <p:nvPr/>
        </p:nvGrpSpPr>
        <p:grpSpPr>
          <a:xfrm>
            <a:off x="3447959" y="4068638"/>
            <a:ext cx="3368808" cy="2381918"/>
            <a:chOff x="2991389" y="4223532"/>
            <a:chExt cx="3368808" cy="2381918"/>
          </a:xfrm>
        </p:grpSpPr>
        <p:grpSp>
          <p:nvGrpSpPr>
            <p:cNvPr id="75" name="Group 34"/>
            <p:cNvGrpSpPr>
              <a:grpSpLocks/>
            </p:cNvGrpSpPr>
            <p:nvPr/>
          </p:nvGrpSpPr>
          <p:grpSpPr bwMode="auto">
            <a:xfrm>
              <a:off x="2991389" y="4223532"/>
              <a:ext cx="3368808" cy="2381918"/>
              <a:chOff x="342" y="32"/>
              <a:chExt cx="2083" cy="1392"/>
            </a:xfrm>
          </p:grpSpPr>
          <p:sp>
            <p:nvSpPr>
              <p:cNvPr id="77" name="Rectangle 35"/>
              <p:cNvSpPr>
                <a:spLocks noChangeArrowheads="1"/>
              </p:cNvSpPr>
              <p:nvPr/>
            </p:nvSpPr>
            <p:spPr bwMode="auto">
              <a:xfrm rot="-7903512">
                <a:off x="1332" y="304"/>
                <a:ext cx="96" cy="2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78" name="Rectangle 36"/>
              <p:cNvSpPr>
                <a:spLocks noChangeArrowheads="1"/>
              </p:cNvSpPr>
              <p:nvPr/>
            </p:nvSpPr>
            <p:spPr bwMode="auto">
              <a:xfrm rot="-2919155">
                <a:off x="1854" y="310"/>
                <a:ext cx="96" cy="2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79" name="Rectangle 38"/>
              <p:cNvSpPr>
                <a:spLocks noChangeArrowheads="1"/>
              </p:cNvSpPr>
              <p:nvPr/>
            </p:nvSpPr>
            <p:spPr bwMode="auto">
              <a:xfrm rot="-2874968">
                <a:off x="1299" y="880"/>
                <a:ext cx="96" cy="2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80" name="Rectangle 39"/>
              <p:cNvSpPr>
                <a:spLocks noChangeArrowheads="1"/>
              </p:cNvSpPr>
              <p:nvPr/>
            </p:nvSpPr>
            <p:spPr bwMode="auto">
              <a:xfrm rot="-7972038">
                <a:off x="1908" y="835"/>
                <a:ext cx="96" cy="2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81" name="Freeform 40"/>
              <p:cNvSpPr>
                <a:spLocks/>
              </p:cNvSpPr>
              <p:nvPr/>
            </p:nvSpPr>
            <p:spPr bwMode="auto">
              <a:xfrm>
                <a:off x="1465" y="196"/>
                <a:ext cx="176" cy="160"/>
              </a:xfrm>
              <a:custGeom>
                <a:avLst/>
                <a:gdLst>
                  <a:gd name="T0" fmla="*/ 0 w 176"/>
                  <a:gd name="T1" fmla="*/ 160 h 160"/>
                  <a:gd name="T2" fmla="*/ 176 w 176"/>
                  <a:gd name="T3" fmla="*/ 0 h 16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76" h="160">
                    <a:moveTo>
                      <a:pt x="0" y="160"/>
                    </a:moveTo>
                    <a:lnTo>
                      <a:pt x="176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" name="Freeform 41"/>
              <p:cNvSpPr>
                <a:spLocks/>
              </p:cNvSpPr>
              <p:nvPr/>
            </p:nvSpPr>
            <p:spPr bwMode="auto">
              <a:xfrm>
                <a:off x="1635" y="202"/>
                <a:ext cx="168" cy="141"/>
              </a:xfrm>
              <a:custGeom>
                <a:avLst/>
                <a:gdLst>
                  <a:gd name="T0" fmla="*/ 168 w 168"/>
                  <a:gd name="T1" fmla="*/ 141 h 141"/>
                  <a:gd name="T2" fmla="*/ 0 w 168"/>
                  <a:gd name="T3" fmla="*/ 0 h 14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68" h="141">
                    <a:moveTo>
                      <a:pt x="168" y="141"/>
                    </a:moveTo>
                    <a:lnTo>
                      <a:pt x="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" name="Freeform 42"/>
              <p:cNvSpPr>
                <a:spLocks/>
              </p:cNvSpPr>
              <p:nvPr/>
            </p:nvSpPr>
            <p:spPr bwMode="auto">
              <a:xfrm>
                <a:off x="1057" y="508"/>
                <a:ext cx="233" cy="223"/>
              </a:xfrm>
              <a:custGeom>
                <a:avLst/>
                <a:gdLst>
                  <a:gd name="T0" fmla="*/ 233 w 233"/>
                  <a:gd name="T1" fmla="*/ 0 h 223"/>
                  <a:gd name="T2" fmla="*/ 0 w 233"/>
                  <a:gd name="T3" fmla="*/ 223 h 22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33" h="223">
                    <a:moveTo>
                      <a:pt x="233" y="0"/>
                    </a:moveTo>
                    <a:lnTo>
                      <a:pt x="0" y="223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4" name="Freeform 43"/>
              <p:cNvSpPr>
                <a:spLocks/>
              </p:cNvSpPr>
              <p:nvPr/>
            </p:nvSpPr>
            <p:spPr bwMode="auto">
              <a:xfrm>
                <a:off x="1989" y="511"/>
                <a:ext cx="225" cy="216"/>
              </a:xfrm>
              <a:custGeom>
                <a:avLst/>
                <a:gdLst>
                  <a:gd name="T0" fmla="*/ 0 w 225"/>
                  <a:gd name="T1" fmla="*/ 0 h 216"/>
                  <a:gd name="T2" fmla="*/ 225 w 225"/>
                  <a:gd name="T3" fmla="*/ 216 h 21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25" h="216">
                    <a:moveTo>
                      <a:pt x="0" y="0"/>
                    </a:moveTo>
                    <a:lnTo>
                      <a:pt x="225" y="216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5" name="Freeform 44"/>
              <p:cNvSpPr>
                <a:spLocks/>
              </p:cNvSpPr>
              <p:nvPr/>
            </p:nvSpPr>
            <p:spPr bwMode="auto">
              <a:xfrm>
                <a:off x="1075" y="731"/>
                <a:ext cx="183" cy="201"/>
              </a:xfrm>
              <a:custGeom>
                <a:avLst/>
                <a:gdLst>
                  <a:gd name="T0" fmla="*/ 0 w 183"/>
                  <a:gd name="T1" fmla="*/ 0 h 201"/>
                  <a:gd name="T2" fmla="*/ 183 w 183"/>
                  <a:gd name="T3" fmla="*/ 201 h 20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83" h="201">
                    <a:moveTo>
                      <a:pt x="0" y="0"/>
                    </a:moveTo>
                    <a:lnTo>
                      <a:pt x="183" y="201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6" name="Freeform 45"/>
              <p:cNvSpPr>
                <a:spLocks/>
              </p:cNvSpPr>
              <p:nvPr/>
            </p:nvSpPr>
            <p:spPr bwMode="auto">
              <a:xfrm>
                <a:off x="1422" y="1078"/>
                <a:ext cx="211" cy="183"/>
              </a:xfrm>
              <a:custGeom>
                <a:avLst/>
                <a:gdLst>
                  <a:gd name="T0" fmla="*/ 0 w 211"/>
                  <a:gd name="T1" fmla="*/ 0 h 183"/>
                  <a:gd name="T2" fmla="*/ 211 w 211"/>
                  <a:gd name="T3" fmla="*/ 183 h 18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11" h="183">
                    <a:moveTo>
                      <a:pt x="0" y="0"/>
                    </a:moveTo>
                    <a:lnTo>
                      <a:pt x="211" y="183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7" name="Freeform 46"/>
              <p:cNvSpPr>
                <a:spLocks/>
              </p:cNvSpPr>
              <p:nvPr/>
            </p:nvSpPr>
            <p:spPr bwMode="auto">
              <a:xfrm>
                <a:off x="1635" y="1030"/>
                <a:ext cx="243" cy="222"/>
              </a:xfrm>
              <a:custGeom>
                <a:avLst/>
                <a:gdLst>
                  <a:gd name="T0" fmla="*/ 0 w 243"/>
                  <a:gd name="T1" fmla="*/ 222 h 222"/>
                  <a:gd name="T2" fmla="*/ 243 w 243"/>
                  <a:gd name="T3" fmla="*/ 0 h 22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43" h="222">
                    <a:moveTo>
                      <a:pt x="0" y="222"/>
                    </a:moveTo>
                    <a:lnTo>
                      <a:pt x="243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8" name="Freeform 47"/>
              <p:cNvSpPr>
                <a:spLocks/>
              </p:cNvSpPr>
              <p:nvPr/>
            </p:nvSpPr>
            <p:spPr bwMode="auto">
              <a:xfrm>
                <a:off x="2053" y="724"/>
                <a:ext cx="158" cy="153"/>
              </a:xfrm>
              <a:custGeom>
                <a:avLst/>
                <a:gdLst>
                  <a:gd name="T0" fmla="*/ 0 w 158"/>
                  <a:gd name="T1" fmla="*/ 153 h 153"/>
                  <a:gd name="T2" fmla="*/ 158 w 158"/>
                  <a:gd name="T3" fmla="*/ 0 h 15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58" h="153">
                    <a:moveTo>
                      <a:pt x="0" y="153"/>
                    </a:moveTo>
                    <a:lnTo>
                      <a:pt x="158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" name="Freeform 49"/>
              <p:cNvSpPr>
                <a:spLocks/>
              </p:cNvSpPr>
              <p:nvPr/>
            </p:nvSpPr>
            <p:spPr bwMode="auto">
              <a:xfrm>
                <a:off x="1050" y="698"/>
                <a:ext cx="1161" cy="27"/>
              </a:xfrm>
              <a:custGeom>
                <a:avLst/>
                <a:gdLst>
                  <a:gd name="T0" fmla="*/ 0 w 447"/>
                  <a:gd name="T1" fmla="*/ 0 h 1"/>
                  <a:gd name="T2" fmla="*/ 447 w 447"/>
                  <a:gd name="T3" fmla="*/ 1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47" h="1">
                    <a:moveTo>
                      <a:pt x="0" y="0"/>
                    </a:moveTo>
                    <a:lnTo>
                      <a:pt x="447" y="1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0" name="Line 50"/>
              <p:cNvSpPr>
                <a:spLocks noChangeShapeType="1"/>
              </p:cNvSpPr>
              <p:nvPr/>
            </p:nvSpPr>
            <p:spPr bwMode="auto">
              <a:xfrm flipV="1">
                <a:off x="622" y="196"/>
                <a:ext cx="1013" cy="1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1" name="Line 51"/>
              <p:cNvSpPr>
                <a:spLocks noChangeShapeType="1"/>
              </p:cNvSpPr>
              <p:nvPr/>
            </p:nvSpPr>
            <p:spPr bwMode="auto">
              <a:xfrm>
                <a:off x="626" y="1251"/>
                <a:ext cx="1003" cy="1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" name="Oval 52"/>
              <p:cNvSpPr>
                <a:spLocks noChangeAspect="1" noChangeArrowheads="1"/>
              </p:cNvSpPr>
              <p:nvPr/>
            </p:nvSpPr>
            <p:spPr bwMode="auto">
              <a:xfrm>
                <a:off x="1596" y="184"/>
                <a:ext cx="68" cy="68"/>
              </a:xfrm>
              <a:prstGeom prst="ellipse">
                <a:avLst/>
              </a:prstGeom>
              <a:solidFill>
                <a:schemeClr val="tx2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93" name="Oval 53"/>
              <p:cNvSpPr>
                <a:spLocks noChangeAspect="1" noChangeArrowheads="1"/>
              </p:cNvSpPr>
              <p:nvPr/>
            </p:nvSpPr>
            <p:spPr bwMode="auto">
              <a:xfrm>
                <a:off x="1587" y="1213"/>
                <a:ext cx="68" cy="68"/>
              </a:xfrm>
              <a:prstGeom prst="ellipse">
                <a:avLst/>
              </a:prstGeom>
              <a:solidFill>
                <a:schemeClr val="tx2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94" name="Oval 54"/>
              <p:cNvSpPr>
                <a:spLocks noChangeAspect="1" noChangeArrowheads="1"/>
              </p:cNvSpPr>
              <p:nvPr/>
            </p:nvSpPr>
            <p:spPr bwMode="auto">
              <a:xfrm>
                <a:off x="1050" y="676"/>
                <a:ext cx="68" cy="68"/>
              </a:xfrm>
              <a:prstGeom prst="ellipse">
                <a:avLst/>
              </a:prstGeom>
              <a:solidFill>
                <a:schemeClr val="tx2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95" name="Oval 55"/>
              <p:cNvSpPr>
                <a:spLocks noChangeAspect="1" noChangeArrowheads="1"/>
              </p:cNvSpPr>
              <p:nvPr/>
            </p:nvSpPr>
            <p:spPr bwMode="auto">
              <a:xfrm>
                <a:off x="2169" y="676"/>
                <a:ext cx="68" cy="68"/>
              </a:xfrm>
              <a:prstGeom prst="ellipse">
                <a:avLst/>
              </a:prstGeom>
              <a:solidFill>
                <a:schemeClr val="tx2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96" name="Oval 56"/>
              <p:cNvSpPr>
                <a:spLocks noChangeAspect="1" noChangeArrowheads="1"/>
              </p:cNvSpPr>
              <p:nvPr/>
            </p:nvSpPr>
            <p:spPr bwMode="auto">
              <a:xfrm>
                <a:off x="537" y="180"/>
                <a:ext cx="68" cy="68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97" name="Oval 57"/>
              <p:cNvSpPr>
                <a:spLocks noChangeAspect="1" noChangeArrowheads="1"/>
              </p:cNvSpPr>
              <p:nvPr/>
            </p:nvSpPr>
            <p:spPr bwMode="auto">
              <a:xfrm>
                <a:off x="519" y="1254"/>
                <a:ext cx="68" cy="68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98" name="Text Box 58"/>
              <p:cNvSpPr txBox="1">
                <a:spLocks noChangeArrowheads="1"/>
              </p:cNvSpPr>
              <p:nvPr/>
            </p:nvSpPr>
            <p:spPr bwMode="auto">
              <a:xfrm>
                <a:off x="350" y="32"/>
                <a:ext cx="20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sz="2400"/>
                  <a:t>a</a:t>
                </a:r>
              </a:p>
            </p:txBody>
          </p:sp>
          <p:sp>
            <p:nvSpPr>
              <p:cNvPr id="99" name="Text Box 59"/>
              <p:cNvSpPr txBox="1">
                <a:spLocks noChangeArrowheads="1"/>
              </p:cNvSpPr>
              <p:nvPr/>
            </p:nvSpPr>
            <p:spPr bwMode="auto">
              <a:xfrm>
                <a:off x="869" y="549"/>
                <a:ext cx="20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sz="2400"/>
                  <a:t>c</a:t>
                </a:r>
              </a:p>
            </p:txBody>
          </p:sp>
          <p:sp>
            <p:nvSpPr>
              <p:cNvPr id="100" name="Text Box 60"/>
              <p:cNvSpPr txBox="1">
                <a:spLocks noChangeArrowheads="1"/>
              </p:cNvSpPr>
              <p:nvPr/>
            </p:nvSpPr>
            <p:spPr bwMode="auto">
              <a:xfrm>
                <a:off x="2213" y="558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sz="2400"/>
                  <a:t>d</a:t>
                </a:r>
              </a:p>
            </p:txBody>
          </p:sp>
          <p:sp>
            <p:nvSpPr>
              <p:cNvPr id="101" name="Text Box 61"/>
              <p:cNvSpPr txBox="1">
                <a:spLocks noChangeArrowheads="1"/>
              </p:cNvSpPr>
              <p:nvPr/>
            </p:nvSpPr>
            <p:spPr bwMode="auto">
              <a:xfrm>
                <a:off x="1011" y="227"/>
                <a:ext cx="28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b="1" dirty="0"/>
                  <a:t>R</a:t>
                </a:r>
                <a:r>
                  <a:rPr lang="zh-CN" altLang="zh-CN" b="1" baseline="-25000" dirty="0"/>
                  <a:t>1</a:t>
                </a:r>
                <a:endParaRPr lang="zh-CN" altLang="zh-CN" b="1" dirty="0"/>
              </a:p>
            </p:txBody>
          </p:sp>
          <p:sp>
            <p:nvSpPr>
              <p:cNvPr id="102" name="Text Box 62"/>
              <p:cNvSpPr txBox="1">
                <a:spLocks noChangeArrowheads="1"/>
              </p:cNvSpPr>
              <p:nvPr/>
            </p:nvSpPr>
            <p:spPr bwMode="auto">
              <a:xfrm>
                <a:off x="1011" y="916"/>
                <a:ext cx="28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b="1" dirty="0"/>
                  <a:t>R</a:t>
                </a:r>
                <a:r>
                  <a:rPr lang="zh-CN" altLang="zh-CN" b="1" baseline="-25000" dirty="0"/>
                  <a:t>4</a:t>
                </a:r>
                <a:endParaRPr lang="zh-CN" altLang="zh-CN" b="1" dirty="0"/>
              </a:p>
            </p:txBody>
          </p:sp>
          <p:sp>
            <p:nvSpPr>
              <p:cNvPr id="103" name="Text Box 63"/>
              <p:cNvSpPr txBox="1">
                <a:spLocks noChangeArrowheads="1"/>
              </p:cNvSpPr>
              <p:nvPr/>
            </p:nvSpPr>
            <p:spPr bwMode="auto">
              <a:xfrm>
                <a:off x="1947" y="952"/>
                <a:ext cx="28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b="1"/>
                  <a:t>R</a:t>
                </a:r>
                <a:r>
                  <a:rPr lang="zh-CN" altLang="zh-CN" b="1" baseline="-25000"/>
                  <a:t>3</a:t>
                </a:r>
                <a:endParaRPr lang="zh-CN" altLang="zh-CN" b="1"/>
              </a:p>
            </p:txBody>
          </p:sp>
          <p:sp>
            <p:nvSpPr>
              <p:cNvPr id="104" name="Text Box 64"/>
              <p:cNvSpPr txBox="1">
                <a:spLocks noChangeArrowheads="1"/>
              </p:cNvSpPr>
              <p:nvPr/>
            </p:nvSpPr>
            <p:spPr bwMode="auto">
              <a:xfrm>
                <a:off x="1923" y="196"/>
                <a:ext cx="28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b="1"/>
                  <a:t>R</a:t>
                </a:r>
                <a:r>
                  <a:rPr lang="zh-CN" altLang="zh-CN" b="1" baseline="-25000"/>
                  <a:t>2</a:t>
                </a:r>
                <a:endParaRPr lang="zh-CN" altLang="zh-CN" b="1"/>
              </a:p>
            </p:txBody>
          </p:sp>
          <p:sp>
            <p:nvSpPr>
              <p:cNvPr id="105" name="Text Box 66"/>
              <p:cNvSpPr txBox="1">
                <a:spLocks noChangeArrowheads="1"/>
              </p:cNvSpPr>
              <p:nvPr/>
            </p:nvSpPr>
            <p:spPr bwMode="auto">
              <a:xfrm>
                <a:off x="342" y="113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sz="2400"/>
                  <a:t>b</a:t>
                </a:r>
              </a:p>
            </p:txBody>
          </p:sp>
        </p:grpSp>
        <p:sp>
          <p:nvSpPr>
            <p:cNvPr id="76" name="Text Box 61"/>
            <p:cNvSpPr txBox="1">
              <a:spLocks noChangeArrowheads="1"/>
            </p:cNvSpPr>
            <p:nvPr/>
          </p:nvSpPr>
          <p:spPr bwMode="auto">
            <a:xfrm>
              <a:off x="4733672" y="4985142"/>
              <a:ext cx="814647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dirty="0" err="1"/>
                <a:t>U</a:t>
              </a:r>
              <a:r>
                <a:rPr lang="en-US" altLang="zh-CN" b="1" baseline="-25000" dirty="0" err="1"/>
                <a:t>cd</a:t>
              </a:r>
              <a:r>
                <a:rPr lang="en-US" altLang="zh-CN" b="1" dirty="0"/>
                <a:t>=0</a:t>
              </a:r>
              <a:endParaRPr lang="zh-CN" altLang="zh-CN" b="1" dirty="0"/>
            </a:p>
          </p:txBody>
        </p:sp>
      </p:grpSp>
      <p:grpSp>
        <p:nvGrpSpPr>
          <p:cNvPr id="106" name="Group 34"/>
          <p:cNvGrpSpPr>
            <a:grpSpLocks/>
          </p:cNvGrpSpPr>
          <p:nvPr/>
        </p:nvGrpSpPr>
        <p:grpSpPr bwMode="auto">
          <a:xfrm>
            <a:off x="6883075" y="4063999"/>
            <a:ext cx="2138053" cy="2381918"/>
            <a:chOff x="342" y="32"/>
            <a:chExt cx="1322" cy="1392"/>
          </a:xfrm>
        </p:grpSpPr>
        <p:sp>
          <p:nvSpPr>
            <p:cNvPr id="107" name="Rectangle 35"/>
            <p:cNvSpPr>
              <a:spLocks noChangeArrowheads="1"/>
            </p:cNvSpPr>
            <p:nvPr/>
          </p:nvSpPr>
          <p:spPr bwMode="auto">
            <a:xfrm rot="-7903512">
              <a:off x="1332" y="304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8" name="Rectangle 38"/>
            <p:cNvSpPr>
              <a:spLocks noChangeArrowheads="1"/>
            </p:cNvSpPr>
            <p:nvPr/>
          </p:nvSpPr>
          <p:spPr bwMode="auto">
            <a:xfrm rot="-2874968">
              <a:off x="1299" y="880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9" name="Freeform 40"/>
            <p:cNvSpPr>
              <a:spLocks/>
            </p:cNvSpPr>
            <p:nvPr/>
          </p:nvSpPr>
          <p:spPr bwMode="auto">
            <a:xfrm>
              <a:off x="1465" y="196"/>
              <a:ext cx="176" cy="160"/>
            </a:xfrm>
            <a:custGeom>
              <a:avLst/>
              <a:gdLst>
                <a:gd name="T0" fmla="*/ 0 w 176"/>
                <a:gd name="T1" fmla="*/ 160 h 160"/>
                <a:gd name="T2" fmla="*/ 176 w 176"/>
                <a:gd name="T3" fmla="*/ 0 h 16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6" h="160">
                  <a:moveTo>
                    <a:pt x="0" y="160"/>
                  </a:moveTo>
                  <a:lnTo>
                    <a:pt x="176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" name="Freeform 42"/>
            <p:cNvSpPr>
              <a:spLocks/>
            </p:cNvSpPr>
            <p:nvPr/>
          </p:nvSpPr>
          <p:spPr bwMode="auto">
            <a:xfrm>
              <a:off x="1057" y="508"/>
              <a:ext cx="233" cy="223"/>
            </a:xfrm>
            <a:custGeom>
              <a:avLst/>
              <a:gdLst>
                <a:gd name="T0" fmla="*/ 233 w 233"/>
                <a:gd name="T1" fmla="*/ 0 h 223"/>
                <a:gd name="T2" fmla="*/ 0 w 233"/>
                <a:gd name="T3" fmla="*/ 223 h 22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33" h="223">
                  <a:moveTo>
                    <a:pt x="233" y="0"/>
                  </a:moveTo>
                  <a:lnTo>
                    <a:pt x="0" y="223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" name="Freeform 44"/>
            <p:cNvSpPr>
              <a:spLocks/>
            </p:cNvSpPr>
            <p:nvPr/>
          </p:nvSpPr>
          <p:spPr bwMode="auto">
            <a:xfrm>
              <a:off x="1075" y="731"/>
              <a:ext cx="183" cy="201"/>
            </a:xfrm>
            <a:custGeom>
              <a:avLst/>
              <a:gdLst>
                <a:gd name="T0" fmla="*/ 0 w 183"/>
                <a:gd name="T1" fmla="*/ 0 h 201"/>
                <a:gd name="T2" fmla="*/ 183 w 183"/>
                <a:gd name="T3" fmla="*/ 201 h 20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83" h="201">
                  <a:moveTo>
                    <a:pt x="0" y="0"/>
                  </a:moveTo>
                  <a:lnTo>
                    <a:pt x="183" y="201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" name="Freeform 45"/>
            <p:cNvSpPr>
              <a:spLocks/>
            </p:cNvSpPr>
            <p:nvPr/>
          </p:nvSpPr>
          <p:spPr bwMode="auto">
            <a:xfrm>
              <a:off x="1422" y="1078"/>
              <a:ext cx="211" cy="183"/>
            </a:xfrm>
            <a:custGeom>
              <a:avLst/>
              <a:gdLst>
                <a:gd name="T0" fmla="*/ 0 w 211"/>
                <a:gd name="T1" fmla="*/ 0 h 183"/>
                <a:gd name="T2" fmla="*/ 211 w 211"/>
                <a:gd name="T3" fmla="*/ 183 h 18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11" h="183">
                  <a:moveTo>
                    <a:pt x="0" y="0"/>
                  </a:moveTo>
                  <a:lnTo>
                    <a:pt x="211" y="183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" name="Line 50"/>
            <p:cNvSpPr>
              <a:spLocks noChangeShapeType="1"/>
            </p:cNvSpPr>
            <p:nvPr/>
          </p:nvSpPr>
          <p:spPr bwMode="auto">
            <a:xfrm flipV="1">
              <a:off x="622" y="196"/>
              <a:ext cx="1013" cy="1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" name="Line 51"/>
            <p:cNvSpPr>
              <a:spLocks noChangeShapeType="1"/>
            </p:cNvSpPr>
            <p:nvPr/>
          </p:nvSpPr>
          <p:spPr bwMode="auto">
            <a:xfrm>
              <a:off x="626" y="1251"/>
              <a:ext cx="1003" cy="1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5" name="Oval 52"/>
            <p:cNvSpPr>
              <a:spLocks noChangeAspect="1" noChangeArrowheads="1"/>
            </p:cNvSpPr>
            <p:nvPr/>
          </p:nvSpPr>
          <p:spPr bwMode="auto">
            <a:xfrm>
              <a:off x="1596" y="184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6" name="Oval 53"/>
            <p:cNvSpPr>
              <a:spLocks noChangeAspect="1" noChangeArrowheads="1"/>
            </p:cNvSpPr>
            <p:nvPr/>
          </p:nvSpPr>
          <p:spPr bwMode="auto">
            <a:xfrm>
              <a:off x="1587" y="1213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7" name="Oval 54"/>
            <p:cNvSpPr>
              <a:spLocks noChangeAspect="1" noChangeArrowheads="1"/>
            </p:cNvSpPr>
            <p:nvPr/>
          </p:nvSpPr>
          <p:spPr bwMode="auto">
            <a:xfrm>
              <a:off x="1050" y="676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8" name="Oval 56"/>
            <p:cNvSpPr>
              <a:spLocks noChangeAspect="1" noChangeArrowheads="1"/>
            </p:cNvSpPr>
            <p:nvPr/>
          </p:nvSpPr>
          <p:spPr bwMode="auto">
            <a:xfrm>
              <a:off x="537" y="180"/>
              <a:ext cx="68" cy="6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9" name="Oval 57"/>
            <p:cNvSpPr>
              <a:spLocks noChangeAspect="1" noChangeArrowheads="1"/>
            </p:cNvSpPr>
            <p:nvPr/>
          </p:nvSpPr>
          <p:spPr bwMode="auto">
            <a:xfrm>
              <a:off x="519" y="1254"/>
              <a:ext cx="68" cy="6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0" name="Text Box 58"/>
            <p:cNvSpPr txBox="1">
              <a:spLocks noChangeArrowheads="1"/>
            </p:cNvSpPr>
            <p:nvPr/>
          </p:nvSpPr>
          <p:spPr bwMode="auto">
            <a:xfrm>
              <a:off x="350" y="32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a</a:t>
              </a:r>
            </a:p>
          </p:txBody>
        </p:sp>
        <p:sp>
          <p:nvSpPr>
            <p:cNvPr id="121" name="Text Box 59"/>
            <p:cNvSpPr txBox="1">
              <a:spLocks noChangeArrowheads="1"/>
            </p:cNvSpPr>
            <p:nvPr/>
          </p:nvSpPr>
          <p:spPr bwMode="auto">
            <a:xfrm>
              <a:off x="704" y="554"/>
              <a:ext cx="341" cy="2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dirty="0"/>
                <a:t>c d</a:t>
              </a:r>
              <a:endParaRPr lang="zh-CN" altLang="zh-CN" sz="2400" dirty="0"/>
            </a:p>
          </p:txBody>
        </p:sp>
        <p:sp>
          <p:nvSpPr>
            <p:cNvPr id="122" name="Text Box 61"/>
            <p:cNvSpPr txBox="1">
              <a:spLocks noChangeArrowheads="1"/>
            </p:cNvSpPr>
            <p:nvPr/>
          </p:nvSpPr>
          <p:spPr bwMode="auto">
            <a:xfrm>
              <a:off x="835" y="222"/>
              <a:ext cx="480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dirty="0"/>
                <a:t>0.5</a:t>
              </a:r>
              <a:r>
                <a:rPr lang="zh-CN" altLang="zh-CN" b="1" dirty="0"/>
                <a:t>R</a:t>
              </a:r>
              <a:r>
                <a:rPr lang="zh-CN" altLang="zh-CN" b="1" baseline="-25000" dirty="0"/>
                <a:t>1</a:t>
              </a:r>
              <a:endParaRPr lang="zh-CN" altLang="zh-CN" b="1" dirty="0"/>
            </a:p>
          </p:txBody>
        </p:sp>
        <p:sp>
          <p:nvSpPr>
            <p:cNvPr id="123" name="Text Box 62"/>
            <p:cNvSpPr txBox="1">
              <a:spLocks noChangeArrowheads="1"/>
            </p:cNvSpPr>
            <p:nvPr/>
          </p:nvSpPr>
          <p:spPr bwMode="auto">
            <a:xfrm>
              <a:off x="790" y="917"/>
              <a:ext cx="480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dirty="0"/>
                <a:t>0.5</a:t>
              </a:r>
              <a:r>
                <a:rPr lang="zh-CN" altLang="zh-CN" b="1" dirty="0"/>
                <a:t>R</a:t>
              </a:r>
              <a:r>
                <a:rPr lang="zh-CN" altLang="zh-CN" b="1" baseline="-25000" dirty="0"/>
                <a:t>4</a:t>
              </a:r>
              <a:endParaRPr lang="zh-CN" altLang="zh-CN" b="1" dirty="0"/>
            </a:p>
          </p:txBody>
        </p:sp>
        <p:sp>
          <p:nvSpPr>
            <p:cNvPr id="124" name="Text Box 66"/>
            <p:cNvSpPr txBox="1">
              <a:spLocks noChangeArrowheads="1"/>
            </p:cNvSpPr>
            <p:nvPr/>
          </p:nvSpPr>
          <p:spPr bwMode="auto">
            <a:xfrm>
              <a:off x="342" y="113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b</a:t>
              </a:r>
            </a:p>
          </p:txBody>
        </p:sp>
      </p:grpSp>
      <p:graphicFrame>
        <p:nvGraphicFramePr>
          <p:cNvPr id="125" name="Object 7"/>
          <p:cNvGraphicFramePr>
            <a:graphicFrameLocks noChangeAspect="1"/>
          </p:cNvGraphicFramePr>
          <p:nvPr/>
        </p:nvGraphicFramePr>
        <p:xfrm>
          <a:off x="5379269" y="846937"/>
          <a:ext cx="3095625" cy="281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86" name="Visio" r:id="rId3" imgW="2165842" imgH="1969960" progId="Visio.Drawing.11">
                  <p:embed/>
                </p:oleObj>
              </mc:Choice>
              <mc:Fallback>
                <p:oleObj name="Visio" r:id="rId3" imgW="2165842" imgH="1969960" progId="Visio.Drawing.11">
                  <p:embed/>
                  <p:pic>
                    <p:nvPicPr>
                      <p:cNvPr id="12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9269" y="846937"/>
                        <a:ext cx="3095625" cy="2816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26" name="直接连接符 125"/>
          <p:cNvCxnSpPr>
            <a:stCxn id="125" idx="0"/>
          </p:cNvCxnSpPr>
          <p:nvPr/>
        </p:nvCxnSpPr>
        <p:spPr bwMode="auto">
          <a:xfrm>
            <a:off x="6927081" y="846937"/>
            <a:ext cx="6436" cy="2842861"/>
          </a:xfrm>
          <a:prstGeom prst="line">
            <a:avLst/>
          </a:prstGeom>
          <a:solidFill>
            <a:schemeClr val="accent1"/>
          </a:solidFill>
          <a:ln w="31750" cap="flat" cmpd="sng" algn="ctr">
            <a:solidFill>
              <a:srgbClr val="FF0000"/>
            </a:solidFill>
            <a:prstDash val="dashDot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8" name="文本框 127"/>
          <p:cNvSpPr txBox="1"/>
          <p:nvPr/>
        </p:nvSpPr>
        <p:spPr>
          <a:xfrm>
            <a:off x="868301" y="3430631"/>
            <a:ext cx="36471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对称面两侧</a:t>
            </a:r>
            <a:r>
              <a:rPr lang="zh-CN" altLang="en-US" b="1" dirty="0"/>
              <a:t>对称结点</a:t>
            </a:r>
            <a:r>
              <a:rPr lang="zh-CN" altLang="en-US" dirty="0"/>
              <a:t>为等电位点。</a:t>
            </a:r>
            <a:endParaRPr lang="en-US" altLang="zh-CN" dirty="0"/>
          </a:p>
          <a:p>
            <a:r>
              <a:rPr lang="zh-CN" altLang="en-US" b="1" dirty="0"/>
              <a:t>垂直</a:t>
            </a:r>
            <a:r>
              <a:rPr lang="zh-CN" altLang="en-US" dirty="0"/>
              <a:t>通过对称面</a:t>
            </a:r>
            <a:r>
              <a:rPr lang="zh-CN" altLang="en-US" b="1" dirty="0"/>
              <a:t>支路的电流</a:t>
            </a:r>
            <a:r>
              <a:rPr lang="zh-CN" altLang="en-US" dirty="0"/>
              <a:t>为零。</a:t>
            </a:r>
          </a:p>
        </p:txBody>
      </p:sp>
    </p:spTree>
    <p:extLst>
      <p:ext uri="{BB962C8B-B14F-4D97-AF65-F5344CB8AC3E}">
        <p14:creationId xmlns:p14="http://schemas.microsoft.com/office/powerpoint/2010/main" val="257351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对称电路</a:t>
            </a:r>
            <a:r>
              <a:rPr lang="en-US" altLang="zh-CN" dirty="0"/>
              <a:t>-</a:t>
            </a:r>
            <a:r>
              <a:rPr lang="zh-CN" altLang="en-US" dirty="0"/>
              <a:t>对称面垂直端口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1C66AF1-24A0-446C-B0A8-326C494344F1}" type="datetime1">
              <a:rPr lang="zh-CN" altLang="en-US" smtClean="0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74CEB45-B7B4-4CEA-8E4A-DA539A380401}" type="slidenum">
              <a:rPr lang="en-US" altLang="zh-CN" smtClean="0"/>
              <a:pPr>
                <a:defRPr/>
              </a:pPr>
              <a:t>64</a:t>
            </a:fld>
            <a:endParaRPr lang="en-US" altLang="zh-CN"/>
          </a:p>
        </p:txBody>
      </p:sp>
      <p:grpSp>
        <p:nvGrpSpPr>
          <p:cNvPr id="7" name="Group 34"/>
          <p:cNvGrpSpPr>
            <a:grpSpLocks/>
          </p:cNvGrpSpPr>
          <p:nvPr/>
        </p:nvGrpSpPr>
        <p:grpSpPr bwMode="auto">
          <a:xfrm>
            <a:off x="381000" y="1037388"/>
            <a:ext cx="3849688" cy="2209800"/>
            <a:chOff x="0" y="0"/>
            <a:chExt cx="2425" cy="1392"/>
          </a:xfrm>
        </p:grpSpPr>
        <p:sp>
          <p:nvSpPr>
            <p:cNvPr id="8" name="Rectangle 35"/>
            <p:cNvSpPr>
              <a:spLocks noChangeArrowheads="1"/>
            </p:cNvSpPr>
            <p:nvPr/>
          </p:nvSpPr>
          <p:spPr bwMode="auto">
            <a:xfrm rot="-7903512">
              <a:off x="1332" y="304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" name="Rectangle 36"/>
            <p:cNvSpPr>
              <a:spLocks noChangeArrowheads="1"/>
            </p:cNvSpPr>
            <p:nvPr/>
          </p:nvSpPr>
          <p:spPr bwMode="auto">
            <a:xfrm rot="-2919155">
              <a:off x="1854" y="310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" name="Rectangle 37"/>
            <p:cNvSpPr>
              <a:spLocks noChangeArrowheads="1"/>
            </p:cNvSpPr>
            <p:nvPr/>
          </p:nvSpPr>
          <p:spPr bwMode="auto">
            <a:xfrm rot="-5400000">
              <a:off x="1593" y="601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" name="Rectangle 38"/>
            <p:cNvSpPr>
              <a:spLocks noChangeArrowheads="1"/>
            </p:cNvSpPr>
            <p:nvPr/>
          </p:nvSpPr>
          <p:spPr bwMode="auto">
            <a:xfrm rot="-2874968">
              <a:off x="1299" y="880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" name="Rectangle 39"/>
            <p:cNvSpPr>
              <a:spLocks noChangeArrowheads="1"/>
            </p:cNvSpPr>
            <p:nvPr/>
          </p:nvSpPr>
          <p:spPr bwMode="auto">
            <a:xfrm rot="-7972038">
              <a:off x="1908" y="835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" name="Freeform 40"/>
            <p:cNvSpPr>
              <a:spLocks/>
            </p:cNvSpPr>
            <p:nvPr/>
          </p:nvSpPr>
          <p:spPr bwMode="auto">
            <a:xfrm>
              <a:off x="1465" y="196"/>
              <a:ext cx="176" cy="160"/>
            </a:xfrm>
            <a:custGeom>
              <a:avLst/>
              <a:gdLst>
                <a:gd name="T0" fmla="*/ 0 w 176"/>
                <a:gd name="T1" fmla="*/ 160 h 160"/>
                <a:gd name="T2" fmla="*/ 176 w 176"/>
                <a:gd name="T3" fmla="*/ 0 h 16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6" h="160">
                  <a:moveTo>
                    <a:pt x="0" y="160"/>
                  </a:moveTo>
                  <a:lnTo>
                    <a:pt x="176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41"/>
            <p:cNvSpPr>
              <a:spLocks/>
            </p:cNvSpPr>
            <p:nvPr/>
          </p:nvSpPr>
          <p:spPr bwMode="auto">
            <a:xfrm>
              <a:off x="1635" y="202"/>
              <a:ext cx="168" cy="141"/>
            </a:xfrm>
            <a:custGeom>
              <a:avLst/>
              <a:gdLst>
                <a:gd name="T0" fmla="*/ 168 w 168"/>
                <a:gd name="T1" fmla="*/ 141 h 141"/>
                <a:gd name="T2" fmla="*/ 0 w 168"/>
                <a:gd name="T3" fmla="*/ 0 h 14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68" h="141">
                  <a:moveTo>
                    <a:pt x="168" y="141"/>
                  </a:moveTo>
                  <a:lnTo>
                    <a:pt x="0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42"/>
            <p:cNvSpPr>
              <a:spLocks/>
            </p:cNvSpPr>
            <p:nvPr/>
          </p:nvSpPr>
          <p:spPr bwMode="auto">
            <a:xfrm>
              <a:off x="1057" y="508"/>
              <a:ext cx="233" cy="223"/>
            </a:xfrm>
            <a:custGeom>
              <a:avLst/>
              <a:gdLst>
                <a:gd name="T0" fmla="*/ 233 w 233"/>
                <a:gd name="T1" fmla="*/ 0 h 223"/>
                <a:gd name="T2" fmla="*/ 0 w 233"/>
                <a:gd name="T3" fmla="*/ 223 h 22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33" h="223">
                  <a:moveTo>
                    <a:pt x="233" y="0"/>
                  </a:moveTo>
                  <a:lnTo>
                    <a:pt x="0" y="223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Freeform 43"/>
            <p:cNvSpPr>
              <a:spLocks/>
            </p:cNvSpPr>
            <p:nvPr/>
          </p:nvSpPr>
          <p:spPr bwMode="auto">
            <a:xfrm>
              <a:off x="1989" y="511"/>
              <a:ext cx="225" cy="216"/>
            </a:xfrm>
            <a:custGeom>
              <a:avLst/>
              <a:gdLst>
                <a:gd name="T0" fmla="*/ 0 w 225"/>
                <a:gd name="T1" fmla="*/ 0 h 216"/>
                <a:gd name="T2" fmla="*/ 225 w 225"/>
                <a:gd name="T3" fmla="*/ 216 h 21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25" h="216">
                  <a:moveTo>
                    <a:pt x="0" y="0"/>
                  </a:moveTo>
                  <a:lnTo>
                    <a:pt x="225" y="216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Freeform 44"/>
            <p:cNvSpPr>
              <a:spLocks/>
            </p:cNvSpPr>
            <p:nvPr/>
          </p:nvSpPr>
          <p:spPr bwMode="auto">
            <a:xfrm>
              <a:off x="1075" y="731"/>
              <a:ext cx="183" cy="201"/>
            </a:xfrm>
            <a:custGeom>
              <a:avLst/>
              <a:gdLst>
                <a:gd name="T0" fmla="*/ 0 w 183"/>
                <a:gd name="T1" fmla="*/ 0 h 201"/>
                <a:gd name="T2" fmla="*/ 183 w 183"/>
                <a:gd name="T3" fmla="*/ 201 h 20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83" h="201">
                  <a:moveTo>
                    <a:pt x="0" y="0"/>
                  </a:moveTo>
                  <a:lnTo>
                    <a:pt x="183" y="201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Freeform 45"/>
            <p:cNvSpPr>
              <a:spLocks/>
            </p:cNvSpPr>
            <p:nvPr/>
          </p:nvSpPr>
          <p:spPr bwMode="auto">
            <a:xfrm>
              <a:off x="1422" y="1078"/>
              <a:ext cx="211" cy="183"/>
            </a:xfrm>
            <a:custGeom>
              <a:avLst/>
              <a:gdLst>
                <a:gd name="T0" fmla="*/ 0 w 211"/>
                <a:gd name="T1" fmla="*/ 0 h 183"/>
                <a:gd name="T2" fmla="*/ 211 w 211"/>
                <a:gd name="T3" fmla="*/ 183 h 18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11" h="183">
                  <a:moveTo>
                    <a:pt x="0" y="0"/>
                  </a:moveTo>
                  <a:lnTo>
                    <a:pt x="211" y="183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Freeform 46"/>
            <p:cNvSpPr>
              <a:spLocks/>
            </p:cNvSpPr>
            <p:nvPr/>
          </p:nvSpPr>
          <p:spPr bwMode="auto">
            <a:xfrm>
              <a:off x="1635" y="1030"/>
              <a:ext cx="243" cy="222"/>
            </a:xfrm>
            <a:custGeom>
              <a:avLst/>
              <a:gdLst>
                <a:gd name="T0" fmla="*/ 0 w 243"/>
                <a:gd name="T1" fmla="*/ 222 h 222"/>
                <a:gd name="T2" fmla="*/ 243 w 243"/>
                <a:gd name="T3" fmla="*/ 0 h 22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43" h="222">
                  <a:moveTo>
                    <a:pt x="0" y="222"/>
                  </a:moveTo>
                  <a:lnTo>
                    <a:pt x="243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Freeform 47"/>
            <p:cNvSpPr>
              <a:spLocks/>
            </p:cNvSpPr>
            <p:nvPr/>
          </p:nvSpPr>
          <p:spPr bwMode="auto">
            <a:xfrm>
              <a:off x="2053" y="724"/>
              <a:ext cx="158" cy="153"/>
            </a:xfrm>
            <a:custGeom>
              <a:avLst/>
              <a:gdLst>
                <a:gd name="T0" fmla="*/ 0 w 158"/>
                <a:gd name="T1" fmla="*/ 153 h 153"/>
                <a:gd name="T2" fmla="*/ 158 w 158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58" h="153">
                  <a:moveTo>
                    <a:pt x="0" y="153"/>
                  </a:moveTo>
                  <a:lnTo>
                    <a:pt x="158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Freeform 48"/>
            <p:cNvSpPr>
              <a:spLocks/>
            </p:cNvSpPr>
            <p:nvPr/>
          </p:nvSpPr>
          <p:spPr bwMode="auto">
            <a:xfrm>
              <a:off x="1059" y="724"/>
              <a:ext cx="462" cy="1"/>
            </a:xfrm>
            <a:custGeom>
              <a:avLst/>
              <a:gdLst>
                <a:gd name="T0" fmla="*/ 0 w 462"/>
                <a:gd name="T1" fmla="*/ 0 h 1"/>
                <a:gd name="T2" fmla="*/ 462 w 46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62" h="1">
                  <a:moveTo>
                    <a:pt x="0" y="0"/>
                  </a:moveTo>
                  <a:lnTo>
                    <a:pt x="462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Freeform 49"/>
            <p:cNvSpPr>
              <a:spLocks/>
            </p:cNvSpPr>
            <p:nvPr/>
          </p:nvSpPr>
          <p:spPr bwMode="auto">
            <a:xfrm>
              <a:off x="1764" y="724"/>
              <a:ext cx="447" cy="1"/>
            </a:xfrm>
            <a:custGeom>
              <a:avLst/>
              <a:gdLst>
                <a:gd name="T0" fmla="*/ 0 w 447"/>
                <a:gd name="T1" fmla="*/ 0 h 1"/>
                <a:gd name="T2" fmla="*/ 447 w 447"/>
                <a:gd name="T3" fmla="*/ 1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47" h="1">
                  <a:moveTo>
                    <a:pt x="0" y="0"/>
                  </a:moveTo>
                  <a:lnTo>
                    <a:pt x="447" y="1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50"/>
            <p:cNvSpPr>
              <a:spLocks noChangeShapeType="1"/>
            </p:cNvSpPr>
            <p:nvPr/>
          </p:nvSpPr>
          <p:spPr bwMode="auto">
            <a:xfrm>
              <a:off x="243" y="196"/>
              <a:ext cx="13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51"/>
            <p:cNvSpPr>
              <a:spLocks noChangeShapeType="1"/>
            </p:cNvSpPr>
            <p:nvPr/>
          </p:nvSpPr>
          <p:spPr bwMode="auto">
            <a:xfrm>
              <a:off x="237" y="1261"/>
              <a:ext cx="13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Oval 52"/>
            <p:cNvSpPr>
              <a:spLocks noChangeAspect="1" noChangeArrowheads="1"/>
            </p:cNvSpPr>
            <p:nvPr/>
          </p:nvSpPr>
          <p:spPr bwMode="auto">
            <a:xfrm>
              <a:off x="1596" y="184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6" name="Oval 53"/>
            <p:cNvSpPr>
              <a:spLocks noChangeAspect="1" noChangeArrowheads="1"/>
            </p:cNvSpPr>
            <p:nvPr/>
          </p:nvSpPr>
          <p:spPr bwMode="auto">
            <a:xfrm>
              <a:off x="1587" y="1213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7" name="Oval 54"/>
            <p:cNvSpPr>
              <a:spLocks noChangeAspect="1" noChangeArrowheads="1"/>
            </p:cNvSpPr>
            <p:nvPr/>
          </p:nvSpPr>
          <p:spPr bwMode="auto">
            <a:xfrm>
              <a:off x="1050" y="676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8" name="Oval 55"/>
            <p:cNvSpPr>
              <a:spLocks noChangeAspect="1" noChangeArrowheads="1"/>
            </p:cNvSpPr>
            <p:nvPr/>
          </p:nvSpPr>
          <p:spPr bwMode="auto">
            <a:xfrm>
              <a:off x="2169" y="676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9" name="Oval 56"/>
            <p:cNvSpPr>
              <a:spLocks noChangeAspect="1" noChangeArrowheads="1"/>
            </p:cNvSpPr>
            <p:nvPr/>
          </p:nvSpPr>
          <p:spPr bwMode="auto">
            <a:xfrm>
              <a:off x="195" y="148"/>
              <a:ext cx="68" cy="6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0" name="Oval 57"/>
            <p:cNvSpPr>
              <a:spLocks noChangeAspect="1" noChangeArrowheads="1"/>
            </p:cNvSpPr>
            <p:nvPr/>
          </p:nvSpPr>
          <p:spPr bwMode="auto">
            <a:xfrm>
              <a:off x="177" y="1222"/>
              <a:ext cx="68" cy="6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1" name="Text Box 58"/>
            <p:cNvSpPr txBox="1">
              <a:spLocks noChangeArrowheads="1"/>
            </p:cNvSpPr>
            <p:nvPr/>
          </p:nvSpPr>
          <p:spPr bwMode="auto">
            <a:xfrm>
              <a:off x="8" y="0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a</a:t>
              </a:r>
            </a:p>
          </p:txBody>
        </p:sp>
        <p:sp>
          <p:nvSpPr>
            <p:cNvPr id="32" name="Text Box 59"/>
            <p:cNvSpPr txBox="1">
              <a:spLocks noChangeArrowheads="1"/>
            </p:cNvSpPr>
            <p:nvPr/>
          </p:nvSpPr>
          <p:spPr bwMode="auto">
            <a:xfrm>
              <a:off x="869" y="549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c</a:t>
              </a:r>
            </a:p>
          </p:txBody>
        </p:sp>
        <p:sp>
          <p:nvSpPr>
            <p:cNvPr id="33" name="Text Box 60"/>
            <p:cNvSpPr txBox="1">
              <a:spLocks noChangeArrowheads="1"/>
            </p:cNvSpPr>
            <p:nvPr/>
          </p:nvSpPr>
          <p:spPr bwMode="auto">
            <a:xfrm>
              <a:off x="2213" y="55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d</a:t>
              </a:r>
            </a:p>
          </p:txBody>
        </p:sp>
        <p:sp>
          <p:nvSpPr>
            <p:cNvPr id="34" name="Text Box 61"/>
            <p:cNvSpPr txBox="1">
              <a:spLocks noChangeArrowheads="1"/>
            </p:cNvSpPr>
            <p:nvPr/>
          </p:nvSpPr>
          <p:spPr bwMode="auto">
            <a:xfrm>
              <a:off x="1011" y="227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 dirty="0"/>
                <a:t>R</a:t>
              </a:r>
              <a:r>
                <a:rPr lang="zh-CN" altLang="zh-CN" b="1" baseline="-25000" dirty="0"/>
                <a:t>1</a:t>
              </a:r>
              <a:endParaRPr lang="zh-CN" altLang="zh-CN" b="1" dirty="0"/>
            </a:p>
          </p:txBody>
        </p:sp>
        <p:sp>
          <p:nvSpPr>
            <p:cNvPr id="35" name="Text Box 62"/>
            <p:cNvSpPr txBox="1">
              <a:spLocks noChangeArrowheads="1"/>
            </p:cNvSpPr>
            <p:nvPr/>
          </p:nvSpPr>
          <p:spPr bwMode="auto">
            <a:xfrm>
              <a:off x="1011" y="916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4</a:t>
              </a:r>
              <a:endParaRPr lang="zh-CN" altLang="zh-CN" b="1"/>
            </a:p>
          </p:txBody>
        </p:sp>
        <p:sp>
          <p:nvSpPr>
            <p:cNvPr id="36" name="Text Box 63"/>
            <p:cNvSpPr txBox="1">
              <a:spLocks noChangeArrowheads="1"/>
            </p:cNvSpPr>
            <p:nvPr/>
          </p:nvSpPr>
          <p:spPr bwMode="auto">
            <a:xfrm>
              <a:off x="1947" y="952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3</a:t>
              </a:r>
              <a:endParaRPr lang="zh-CN" altLang="zh-CN" b="1"/>
            </a:p>
          </p:txBody>
        </p:sp>
        <p:sp>
          <p:nvSpPr>
            <p:cNvPr id="37" name="Text Box 64"/>
            <p:cNvSpPr txBox="1">
              <a:spLocks noChangeArrowheads="1"/>
            </p:cNvSpPr>
            <p:nvPr/>
          </p:nvSpPr>
          <p:spPr bwMode="auto">
            <a:xfrm>
              <a:off x="1923" y="196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2</a:t>
              </a:r>
              <a:endParaRPr lang="zh-CN" altLang="zh-CN" b="1"/>
            </a:p>
          </p:txBody>
        </p:sp>
        <p:sp>
          <p:nvSpPr>
            <p:cNvPr id="38" name="Text Box 65"/>
            <p:cNvSpPr txBox="1">
              <a:spLocks noChangeArrowheads="1"/>
            </p:cNvSpPr>
            <p:nvPr/>
          </p:nvSpPr>
          <p:spPr bwMode="auto">
            <a:xfrm>
              <a:off x="1491" y="436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5</a:t>
              </a:r>
              <a:endParaRPr lang="zh-CN" altLang="zh-CN" b="1"/>
            </a:p>
          </p:txBody>
        </p:sp>
        <p:sp>
          <p:nvSpPr>
            <p:cNvPr id="39" name="Text Box 66"/>
            <p:cNvSpPr txBox="1">
              <a:spLocks noChangeArrowheads="1"/>
            </p:cNvSpPr>
            <p:nvPr/>
          </p:nvSpPr>
          <p:spPr bwMode="auto">
            <a:xfrm>
              <a:off x="0" y="11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b</a:t>
              </a:r>
            </a:p>
          </p:txBody>
        </p:sp>
      </p:grpSp>
      <p:cxnSp>
        <p:nvCxnSpPr>
          <p:cNvPr id="40" name="直接连接符 39"/>
          <p:cNvCxnSpPr/>
          <p:nvPr/>
        </p:nvCxnSpPr>
        <p:spPr bwMode="auto">
          <a:xfrm>
            <a:off x="1584325" y="2186738"/>
            <a:ext cx="2932207" cy="11113"/>
          </a:xfrm>
          <a:prstGeom prst="line">
            <a:avLst/>
          </a:prstGeom>
          <a:solidFill>
            <a:schemeClr val="accent1"/>
          </a:solidFill>
          <a:ln w="31750" cap="flat" cmpd="sng" algn="ctr">
            <a:solidFill>
              <a:srgbClr val="FF0000"/>
            </a:solidFill>
            <a:prstDash val="dashDot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41" name="Object 3"/>
          <p:cNvGraphicFramePr>
            <a:graphicFrameLocks noChangeAspect="1"/>
          </p:cNvGraphicFramePr>
          <p:nvPr/>
        </p:nvGraphicFramePr>
        <p:xfrm>
          <a:off x="515938" y="1766051"/>
          <a:ext cx="1068387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10" name="公式" r:id="rId3" imgW="533160" imgH="241200" progId="Equation.3">
                  <p:embed/>
                </p:oleObj>
              </mc:Choice>
              <mc:Fallback>
                <p:oleObj name="公式" r:id="rId3" imgW="533160" imgH="241200" progId="Equation.3">
                  <p:embed/>
                  <p:pic>
                    <p:nvPicPr>
                      <p:cNvPr id="4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938" y="1766051"/>
                        <a:ext cx="1068387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>
                                <a:alpha val="50195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2" name="组合 41"/>
          <p:cNvGrpSpPr/>
          <p:nvPr/>
        </p:nvGrpSpPr>
        <p:grpSpPr>
          <a:xfrm>
            <a:off x="3140845" y="3945336"/>
            <a:ext cx="3368808" cy="2381918"/>
            <a:chOff x="2991389" y="4223532"/>
            <a:chExt cx="3368808" cy="2381918"/>
          </a:xfrm>
        </p:grpSpPr>
        <p:grpSp>
          <p:nvGrpSpPr>
            <p:cNvPr id="43" name="Group 34"/>
            <p:cNvGrpSpPr>
              <a:grpSpLocks/>
            </p:cNvGrpSpPr>
            <p:nvPr/>
          </p:nvGrpSpPr>
          <p:grpSpPr bwMode="auto">
            <a:xfrm>
              <a:off x="2991389" y="4223532"/>
              <a:ext cx="3368808" cy="2381918"/>
              <a:chOff x="342" y="32"/>
              <a:chExt cx="2083" cy="1392"/>
            </a:xfrm>
          </p:grpSpPr>
          <p:sp>
            <p:nvSpPr>
              <p:cNvPr id="45" name="Rectangle 35"/>
              <p:cNvSpPr>
                <a:spLocks noChangeArrowheads="1"/>
              </p:cNvSpPr>
              <p:nvPr/>
            </p:nvSpPr>
            <p:spPr bwMode="auto">
              <a:xfrm rot="-7903512">
                <a:off x="1332" y="304"/>
                <a:ext cx="96" cy="2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6" name="Rectangle 36"/>
              <p:cNvSpPr>
                <a:spLocks noChangeArrowheads="1"/>
              </p:cNvSpPr>
              <p:nvPr/>
            </p:nvSpPr>
            <p:spPr bwMode="auto">
              <a:xfrm rot="-2919155">
                <a:off x="1854" y="310"/>
                <a:ext cx="96" cy="2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7" name="Rectangle 38"/>
              <p:cNvSpPr>
                <a:spLocks noChangeArrowheads="1"/>
              </p:cNvSpPr>
              <p:nvPr/>
            </p:nvSpPr>
            <p:spPr bwMode="auto">
              <a:xfrm rot="-2874968">
                <a:off x="1299" y="880"/>
                <a:ext cx="96" cy="2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8" name="Rectangle 39"/>
              <p:cNvSpPr>
                <a:spLocks noChangeArrowheads="1"/>
              </p:cNvSpPr>
              <p:nvPr/>
            </p:nvSpPr>
            <p:spPr bwMode="auto">
              <a:xfrm rot="-7972038">
                <a:off x="1908" y="835"/>
                <a:ext cx="96" cy="2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9" name="Freeform 40"/>
              <p:cNvSpPr>
                <a:spLocks/>
              </p:cNvSpPr>
              <p:nvPr/>
            </p:nvSpPr>
            <p:spPr bwMode="auto">
              <a:xfrm>
                <a:off x="1465" y="196"/>
                <a:ext cx="176" cy="160"/>
              </a:xfrm>
              <a:custGeom>
                <a:avLst/>
                <a:gdLst>
                  <a:gd name="T0" fmla="*/ 0 w 176"/>
                  <a:gd name="T1" fmla="*/ 160 h 160"/>
                  <a:gd name="T2" fmla="*/ 176 w 176"/>
                  <a:gd name="T3" fmla="*/ 0 h 16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76" h="160">
                    <a:moveTo>
                      <a:pt x="0" y="160"/>
                    </a:moveTo>
                    <a:lnTo>
                      <a:pt x="176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" name="Freeform 41"/>
              <p:cNvSpPr>
                <a:spLocks/>
              </p:cNvSpPr>
              <p:nvPr/>
            </p:nvSpPr>
            <p:spPr bwMode="auto">
              <a:xfrm>
                <a:off x="1635" y="202"/>
                <a:ext cx="168" cy="141"/>
              </a:xfrm>
              <a:custGeom>
                <a:avLst/>
                <a:gdLst>
                  <a:gd name="T0" fmla="*/ 168 w 168"/>
                  <a:gd name="T1" fmla="*/ 141 h 141"/>
                  <a:gd name="T2" fmla="*/ 0 w 168"/>
                  <a:gd name="T3" fmla="*/ 0 h 14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68" h="141">
                    <a:moveTo>
                      <a:pt x="168" y="141"/>
                    </a:moveTo>
                    <a:lnTo>
                      <a:pt x="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" name="Freeform 42"/>
              <p:cNvSpPr>
                <a:spLocks/>
              </p:cNvSpPr>
              <p:nvPr/>
            </p:nvSpPr>
            <p:spPr bwMode="auto">
              <a:xfrm>
                <a:off x="1057" y="508"/>
                <a:ext cx="233" cy="223"/>
              </a:xfrm>
              <a:custGeom>
                <a:avLst/>
                <a:gdLst>
                  <a:gd name="T0" fmla="*/ 233 w 233"/>
                  <a:gd name="T1" fmla="*/ 0 h 223"/>
                  <a:gd name="T2" fmla="*/ 0 w 233"/>
                  <a:gd name="T3" fmla="*/ 223 h 22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33" h="223">
                    <a:moveTo>
                      <a:pt x="233" y="0"/>
                    </a:moveTo>
                    <a:lnTo>
                      <a:pt x="0" y="223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" name="Freeform 43"/>
              <p:cNvSpPr>
                <a:spLocks/>
              </p:cNvSpPr>
              <p:nvPr/>
            </p:nvSpPr>
            <p:spPr bwMode="auto">
              <a:xfrm>
                <a:off x="1989" y="511"/>
                <a:ext cx="225" cy="216"/>
              </a:xfrm>
              <a:custGeom>
                <a:avLst/>
                <a:gdLst>
                  <a:gd name="T0" fmla="*/ 0 w 225"/>
                  <a:gd name="T1" fmla="*/ 0 h 216"/>
                  <a:gd name="T2" fmla="*/ 225 w 225"/>
                  <a:gd name="T3" fmla="*/ 216 h 21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25" h="216">
                    <a:moveTo>
                      <a:pt x="0" y="0"/>
                    </a:moveTo>
                    <a:lnTo>
                      <a:pt x="225" y="216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" name="Freeform 44"/>
              <p:cNvSpPr>
                <a:spLocks/>
              </p:cNvSpPr>
              <p:nvPr/>
            </p:nvSpPr>
            <p:spPr bwMode="auto">
              <a:xfrm>
                <a:off x="1075" y="731"/>
                <a:ext cx="183" cy="201"/>
              </a:xfrm>
              <a:custGeom>
                <a:avLst/>
                <a:gdLst>
                  <a:gd name="T0" fmla="*/ 0 w 183"/>
                  <a:gd name="T1" fmla="*/ 0 h 201"/>
                  <a:gd name="T2" fmla="*/ 183 w 183"/>
                  <a:gd name="T3" fmla="*/ 201 h 20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83" h="201">
                    <a:moveTo>
                      <a:pt x="0" y="0"/>
                    </a:moveTo>
                    <a:lnTo>
                      <a:pt x="183" y="201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" name="Freeform 45"/>
              <p:cNvSpPr>
                <a:spLocks/>
              </p:cNvSpPr>
              <p:nvPr/>
            </p:nvSpPr>
            <p:spPr bwMode="auto">
              <a:xfrm>
                <a:off x="1422" y="1078"/>
                <a:ext cx="211" cy="183"/>
              </a:xfrm>
              <a:custGeom>
                <a:avLst/>
                <a:gdLst>
                  <a:gd name="T0" fmla="*/ 0 w 211"/>
                  <a:gd name="T1" fmla="*/ 0 h 183"/>
                  <a:gd name="T2" fmla="*/ 211 w 211"/>
                  <a:gd name="T3" fmla="*/ 183 h 18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11" h="183">
                    <a:moveTo>
                      <a:pt x="0" y="0"/>
                    </a:moveTo>
                    <a:lnTo>
                      <a:pt x="211" y="183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" name="Freeform 46"/>
              <p:cNvSpPr>
                <a:spLocks/>
              </p:cNvSpPr>
              <p:nvPr/>
            </p:nvSpPr>
            <p:spPr bwMode="auto">
              <a:xfrm>
                <a:off x="1635" y="1030"/>
                <a:ext cx="243" cy="222"/>
              </a:xfrm>
              <a:custGeom>
                <a:avLst/>
                <a:gdLst>
                  <a:gd name="T0" fmla="*/ 0 w 243"/>
                  <a:gd name="T1" fmla="*/ 222 h 222"/>
                  <a:gd name="T2" fmla="*/ 243 w 243"/>
                  <a:gd name="T3" fmla="*/ 0 h 22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43" h="222">
                    <a:moveTo>
                      <a:pt x="0" y="222"/>
                    </a:moveTo>
                    <a:lnTo>
                      <a:pt x="243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" name="Freeform 47"/>
              <p:cNvSpPr>
                <a:spLocks/>
              </p:cNvSpPr>
              <p:nvPr/>
            </p:nvSpPr>
            <p:spPr bwMode="auto">
              <a:xfrm>
                <a:off x="2053" y="724"/>
                <a:ext cx="158" cy="153"/>
              </a:xfrm>
              <a:custGeom>
                <a:avLst/>
                <a:gdLst>
                  <a:gd name="T0" fmla="*/ 0 w 158"/>
                  <a:gd name="T1" fmla="*/ 153 h 153"/>
                  <a:gd name="T2" fmla="*/ 158 w 158"/>
                  <a:gd name="T3" fmla="*/ 0 h 15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58" h="153">
                    <a:moveTo>
                      <a:pt x="0" y="153"/>
                    </a:moveTo>
                    <a:lnTo>
                      <a:pt x="158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" name="Freeform 48"/>
              <p:cNvSpPr>
                <a:spLocks/>
              </p:cNvSpPr>
              <p:nvPr/>
            </p:nvSpPr>
            <p:spPr bwMode="auto">
              <a:xfrm>
                <a:off x="1059" y="724"/>
                <a:ext cx="462" cy="1"/>
              </a:xfrm>
              <a:custGeom>
                <a:avLst/>
                <a:gdLst>
                  <a:gd name="T0" fmla="*/ 0 w 462"/>
                  <a:gd name="T1" fmla="*/ 0 h 1"/>
                  <a:gd name="T2" fmla="*/ 462 w 462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62" h="1">
                    <a:moveTo>
                      <a:pt x="0" y="0"/>
                    </a:moveTo>
                    <a:lnTo>
                      <a:pt x="462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" name="Freeform 49"/>
              <p:cNvSpPr>
                <a:spLocks/>
              </p:cNvSpPr>
              <p:nvPr/>
            </p:nvSpPr>
            <p:spPr bwMode="auto">
              <a:xfrm>
                <a:off x="1764" y="724"/>
                <a:ext cx="447" cy="1"/>
              </a:xfrm>
              <a:custGeom>
                <a:avLst/>
                <a:gdLst>
                  <a:gd name="T0" fmla="*/ 0 w 447"/>
                  <a:gd name="T1" fmla="*/ 0 h 1"/>
                  <a:gd name="T2" fmla="*/ 447 w 447"/>
                  <a:gd name="T3" fmla="*/ 1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47" h="1">
                    <a:moveTo>
                      <a:pt x="0" y="0"/>
                    </a:moveTo>
                    <a:lnTo>
                      <a:pt x="447" y="1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9" name="Line 50"/>
              <p:cNvSpPr>
                <a:spLocks noChangeShapeType="1"/>
              </p:cNvSpPr>
              <p:nvPr/>
            </p:nvSpPr>
            <p:spPr bwMode="auto">
              <a:xfrm flipV="1">
                <a:off x="622" y="196"/>
                <a:ext cx="1013" cy="1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" name="Line 51"/>
              <p:cNvSpPr>
                <a:spLocks noChangeShapeType="1"/>
              </p:cNvSpPr>
              <p:nvPr/>
            </p:nvSpPr>
            <p:spPr bwMode="auto">
              <a:xfrm>
                <a:off x="626" y="1251"/>
                <a:ext cx="1003" cy="1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" name="Oval 52"/>
              <p:cNvSpPr>
                <a:spLocks noChangeAspect="1" noChangeArrowheads="1"/>
              </p:cNvSpPr>
              <p:nvPr/>
            </p:nvSpPr>
            <p:spPr bwMode="auto">
              <a:xfrm>
                <a:off x="1596" y="184"/>
                <a:ext cx="68" cy="68"/>
              </a:xfrm>
              <a:prstGeom prst="ellipse">
                <a:avLst/>
              </a:prstGeom>
              <a:solidFill>
                <a:schemeClr val="tx2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62" name="Oval 53"/>
              <p:cNvSpPr>
                <a:spLocks noChangeAspect="1" noChangeArrowheads="1"/>
              </p:cNvSpPr>
              <p:nvPr/>
            </p:nvSpPr>
            <p:spPr bwMode="auto">
              <a:xfrm>
                <a:off x="1587" y="1213"/>
                <a:ext cx="68" cy="68"/>
              </a:xfrm>
              <a:prstGeom prst="ellipse">
                <a:avLst/>
              </a:prstGeom>
              <a:solidFill>
                <a:schemeClr val="tx2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63" name="Oval 54"/>
              <p:cNvSpPr>
                <a:spLocks noChangeAspect="1" noChangeArrowheads="1"/>
              </p:cNvSpPr>
              <p:nvPr/>
            </p:nvSpPr>
            <p:spPr bwMode="auto">
              <a:xfrm>
                <a:off x="1050" y="676"/>
                <a:ext cx="68" cy="68"/>
              </a:xfrm>
              <a:prstGeom prst="ellipse">
                <a:avLst/>
              </a:prstGeom>
              <a:solidFill>
                <a:schemeClr val="tx2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64" name="Oval 55"/>
              <p:cNvSpPr>
                <a:spLocks noChangeAspect="1" noChangeArrowheads="1"/>
              </p:cNvSpPr>
              <p:nvPr/>
            </p:nvSpPr>
            <p:spPr bwMode="auto">
              <a:xfrm>
                <a:off x="2169" y="676"/>
                <a:ext cx="68" cy="68"/>
              </a:xfrm>
              <a:prstGeom prst="ellipse">
                <a:avLst/>
              </a:prstGeom>
              <a:solidFill>
                <a:schemeClr val="tx2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65" name="Oval 56"/>
              <p:cNvSpPr>
                <a:spLocks noChangeAspect="1" noChangeArrowheads="1"/>
              </p:cNvSpPr>
              <p:nvPr/>
            </p:nvSpPr>
            <p:spPr bwMode="auto">
              <a:xfrm>
                <a:off x="537" y="180"/>
                <a:ext cx="68" cy="68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66" name="Oval 57"/>
              <p:cNvSpPr>
                <a:spLocks noChangeAspect="1" noChangeArrowheads="1"/>
              </p:cNvSpPr>
              <p:nvPr/>
            </p:nvSpPr>
            <p:spPr bwMode="auto">
              <a:xfrm>
                <a:off x="519" y="1254"/>
                <a:ext cx="68" cy="68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67" name="Text Box 58"/>
              <p:cNvSpPr txBox="1">
                <a:spLocks noChangeArrowheads="1"/>
              </p:cNvSpPr>
              <p:nvPr/>
            </p:nvSpPr>
            <p:spPr bwMode="auto">
              <a:xfrm>
                <a:off x="350" y="32"/>
                <a:ext cx="20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sz="2400"/>
                  <a:t>a</a:t>
                </a:r>
              </a:p>
            </p:txBody>
          </p:sp>
          <p:sp>
            <p:nvSpPr>
              <p:cNvPr id="68" name="Text Box 59"/>
              <p:cNvSpPr txBox="1">
                <a:spLocks noChangeArrowheads="1"/>
              </p:cNvSpPr>
              <p:nvPr/>
            </p:nvSpPr>
            <p:spPr bwMode="auto">
              <a:xfrm>
                <a:off x="869" y="549"/>
                <a:ext cx="20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sz="2400"/>
                  <a:t>c</a:t>
                </a:r>
              </a:p>
            </p:txBody>
          </p:sp>
          <p:sp>
            <p:nvSpPr>
              <p:cNvPr id="69" name="Text Box 60"/>
              <p:cNvSpPr txBox="1">
                <a:spLocks noChangeArrowheads="1"/>
              </p:cNvSpPr>
              <p:nvPr/>
            </p:nvSpPr>
            <p:spPr bwMode="auto">
              <a:xfrm>
                <a:off x="2213" y="558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sz="2400" dirty="0"/>
                  <a:t>d</a:t>
                </a:r>
              </a:p>
            </p:txBody>
          </p:sp>
          <p:sp>
            <p:nvSpPr>
              <p:cNvPr id="70" name="Text Box 61"/>
              <p:cNvSpPr txBox="1">
                <a:spLocks noChangeArrowheads="1"/>
              </p:cNvSpPr>
              <p:nvPr/>
            </p:nvSpPr>
            <p:spPr bwMode="auto">
              <a:xfrm>
                <a:off x="1011" y="227"/>
                <a:ext cx="28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b="1" dirty="0"/>
                  <a:t>R</a:t>
                </a:r>
                <a:r>
                  <a:rPr lang="zh-CN" altLang="zh-CN" b="1" baseline="-25000" dirty="0"/>
                  <a:t>1</a:t>
                </a:r>
                <a:endParaRPr lang="zh-CN" altLang="zh-CN" b="1" dirty="0"/>
              </a:p>
            </p:txBody>
          </p:sp>
          <p:sp>
            <p:nvSpPr>
              <p:cNvPr id="71" name="Text Box 62"/>
              <p:cNvSpPr txBox="1">
                <a:spLocks noChangeArrowheads="1"/>
              </p:cNvSpPr>
              <p:nvPr/>
            </p:nvSpPr>
            <p:spPr bwMode="auto">
              <a:xfrm>
                <a:off x="1011" y="916"/>
                <a:ext cx="28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b="1" dirty="0"/>
                  <a:t>R</a:t>
                </a:r>
                <a:r>
                  <a:rPr lang="zh-CN" altLang="zh-CN" b="1" baseline="-25000" dirty="0"/>
                  <a:t>4</a:t>
                </a:r>
                <a:endParaRPr lang="zh-CN" altLang="zh-CN" b="1" dirty="0"/>
              </a:p>
            </p:txBody>
          </p:sp>
          <p:sp>
            <p:nvSpPr>
              <p:cNvPr id="72" name="Text Box 63"/>
              <p:cNvSpPr txBox="1">
                <a:spLocks noChangeArrowheads="1"/>
              </p:cNvSpPr>
              <p:nvPr/>
            </p:nvSpPr>
            <p:spPr bwMode="auto">
              <a:xfrm>
                <a:off x="1947" y="952"/>
                <a:ext cx="28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b="1"/>
                  <a:t>R</a:t>
                </a:r>
                <a:r>
                  <a:rPr lang="zh-CN" altLang="zh-CN" b="1" baseline="-25000"/>
                  <a:t>3</a:t>
                </a:r>
                <a:endParaRPr lang="zh-CN" altLang="zh-CN" b="1"/>
              </a:p>
            </p:txBody>
          </p:sp>
          <p:sp>
            <p:nvSpPr>
              <p:cNvPr id="73" name="Text Box 64"/>
              <p:cNvSpPr txBox="1">
                <a:spLocks noChangeArrowheads="1"/>
              </p:cNvSpPr>
              <p:nvPr/>
            </p:nvSpPr>
            <p:spPr bwMode="auto">
              <a:xfrm>
                <a:off x="1923" y="196"/>
                <a:ext cx="28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b="1" dirty="0"/>
                  <a:t>R</a:t>
                </a:r>
                <a:r>
                  <a:rPr lang="zh-CN" altLang="zh-CN" b="1" baseline="-25000" dirty="0"/>
                  <a:t>2</a:t>
                </a:r>
                <a:endParaRPr lang="zh-CN" altLang="zh-CN" b="1" dirty="0"/>
              </a:p>
            </p:txBody>
          </p:sp>
          <p:sp>
            <p:nvSpPr>
              <p:cNvPr id="74" name="Text Box 66"/>
              <p:cNvSpPr txBox="1">
                <a:spLocks noChangeArrowheads="1"/>
              </p:cNvSpPr>
              <p:nvPr/>
            </p:nvSpPr>
            <p:spPr bwMode="auto">
              <a:xfrm>
                <a:off x="342" y="113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sz="2400"/>
                  <a:t>b</a:t>
                </a:r>
              </a:p>
            </p:txBody>
          </p:sp>
        </p:grpSp>
        <p:sp>
          <p:nvSpPr>
            <p:cNvPr id="44" name="Text Box 61"/>
            <p:cNvSpPr txBox="1">
              <a:spLocks noChangeArrowheads="1"/>
            </p:cNvSpPr>
            <p:nvPr/>
          </p:nvSpPr>
          <p:spPr bwMode="auto">
            <a:xfrm>
              <a:off x="4977057" y="4969302"/>
              <a:ext cx="614271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dirty="0"/>
                <a:t>i</a:t>
              </a:r>
              <a:r>
                <a:rPr lang="en-US" altLang="zh-CN" b="1" baseline="-25000" dirty="0"/>
                <a:t>5</a:t>
              </a:r>
              <a:r>
                <a:rPr lang="en-US" altLang="zh-CN" b="1" dirty="0"/>
                <a:t>=0</a:t>
              </a:r>
              <a:endParaRPr lang="zh-CN" altLang="zh-CN" b="1" dirty="0"/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343251" y="3975019"/>
            <a:ext cx="3368808" cy="2381918"/>
            <a:chOff x="2991389" y="4223532"/>
            <a:chExt cx="3368808" cy="2381918"/>
          </a:xfrm>
        </p:grpSpPr>
        <p:grpSp>
          <p:nvGrpSpPr>
            <p:cNvPr id="76" name="Group 34"/>
            <p:cNvGrpSpPr>
              <a:grpSpLocks/>
            </p:cNvGrpSpPr>
            <p:nvPr/>
          </p:nvGrpSpPr>
          <p:grpSpPr bwMode="auto">
            <a:xfrm>
              <a:off x="2991389" y="4223532"/>
              <a:ext cx="3368808" cy="2381918"/>
              <a:chOff x="342" y="32"/>
              <a:chExt cx="2083" cy="1392"/>
            </a:xfrm>
          </p:grpSpPr>
          <p:sp>
            <p:nvSpPr>
              <p:cNvPr id="78" name="Rectangle 35"/>
              <p:cNvSpPr>
                <a:spLocks noChangeArrowheads="1"/>
              </p:cNvSpPr>
              <p:nvPr/>
            </p:nvSpPr>
            <p:spPr bwMode="auto">
              <a:xfrm rot="-7903512">
                <a:off x="1332" y="304"/>
                <a:ext cx="96" cy="2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79" name="Rectangle 36"/>
              <p:cNvSpPr>
                <a:spLocks noChangeArrowheads="1"/>
              </p:cNvSpPr>
              <p:nvPr/>
            </p:nvSpPr>
            <p:spPr bwMode="auto">
              <a:xfrm rot="-2919155">
                <a:off x="1854" y="310"/>
                <a:ext cx="96" cy="2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80" name="Rectangle 38"/>
              <p:cNvSpPr>
                <a:spLocks noChangeArrowheads="1"/>
              </p:cNvSpPr>
              <p:nvPr/>
            </p:nvSpPr>
            <p:spPr bwMode="auto">
              <a:xfrm rot="-2874968">
                <a:off x="1299" y="880"/>
                <a:ext cx="96" cy="2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81" name="Rectangle 39"/>
              <p:cNvSpPr>
                <a:spLocks noChangeArrowheads="1"/>
              </p:cNvSpPr>
              <p:nvPr/>
            </p:nvSpPr>
            <p:spPr bwMode="auto">
              <a:xfrm rot="-7972038">
                <a:off x="1908" y="835"/>
                <a:ext cx="96" cy="2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82" name="Freeform 40"/>
              <p:cNvSpPr>
                <a:spLocks/>
              </p:cNvSpPr>
              <p:nvPr/>
            </p:nvSpPr>
            <p:spPr bwMode="auto">
              <a:xfrm>
                <a:off x="1465" y="196"/>
                <a:ext cx="176" cy="160"/>
              </a:xfrm>
              <a:custGeom>
                <a:avLst/>
                <a:gdLst>
                  <a:gd name="T0" fmla="*/ 0 w 176"/>
                  <a:gd name="T1" fmla="*/ 160 h 160"/>
                  <a:gd name="T2" fmla="*/ 176 w 176"/>
                  <a:gd name="T3" fmla="*/ 0 h 16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76" h="160">
                    <a:moveTo>
                      <a:pt x="0" y="160"/>
                    </a:moveTo>
                    <a:lnTo>
                      <a:pt x="176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" name="Freeform 41"/>
              <p:cNvSpPr>
                <a:spLocks/>
              </p:cNvSpPr>
              <p:nvPr/>
            </p:nvSpPr>
            <p:spPr bwMode="auto">
              <a:xfrm>
                <a:off x="1635" y="202"/>
                <a:ext cx="168" cy="141"/>
              </a:xfrm>
              <a:custGeom>
                <a:avLst/>
                <a:gdLst>
                  <a:gd name="T0" fmla="*/ 168 w 168"/>
                  <a:gd name="T1" fmla="*/ 141 h 141"/>
                  <a:gd name="T2" fmla="*/ 0 w 168"/>
                  <a:gd name="T3" fmla="*/ 0 h 14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68" h="141">
                    <a:moveTo>
                      <a:pt x="168" y="141"/>
                    </a:moveTo>
                    <a:lnTo>
                      <a:pt x="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4" name="Freeform 42"/>
              <p:cNvSpPr>
                <a:spLocks/>
              </p:cNvSpPr>
              <p:nvPr/>
            </p:nvSpPr>
            <p:spPr bwMode="auto">
              <a:xfrm>
                <a:off x="1057" y="508"/>
                <a:ext cx="233" cy="223"/>
              </a:xfrm>
              <a:custGeom>
                <a:avLst/>
                <a:gdLst>
                  <a:gd name="T0" fmla="*/ 233 w 233"/>
                  <a:gd name="T1" fmla="*/ 0 h 223"/>
                  <a:gd name="T2" fmla="*/ 0 w 233"/>
                  <a:gd name="T3" fmla="*/ 223 h 22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33" h="223">
                    <a:moveTo>
                      <a:pt x="233" y="0"/>
                    </a:moveTo>
                    <a:lnTo>
                      <a:pt x="0" y="223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5" name="Freeform 43"/>
              <p:cNvSpPr>
                <a:spLocks/>
              </p:cNvSpPr>
              <p:nvPr/>
            </p:nvSpPr>
            <p:spPr bwMode="auto">
              <a:xfrm>
                <a:off x="1989" y="511"/>
                <a:ext cx="225" cy="216"/>
              </a:xfrm>
              <a:custGeom>
                <a:avLst/>
                <a:gdLst>
                  <a:gd name="T0" fmla="*/ 0 w 225"/>
                  <a:gd name="T1" fmla="*/ 0 h 216"/>
                  <a:gd name="T2" fmla="*/ 225 w 225"/>
                  <a:gd name="T3" fmla="*/ 216 h 21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25" h="216">
                    <a:moveTo>
                      <a:pt x="0" y="0"/>
                    </a:moveTo>
                    <a:lnTo>
                      <a:pt x="225" y="216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6" name="Freeform 44"/>
              <p:cNvSpPr>
                <a:spLocks/>
              </p:cNvSpPr>
              <p:nvPr/>
            </p:nvSpPr>
            <p:spPr bwMode="auto">
              <a:xfrm>
                <a:off x="1075" y="731"/>
                <a:ext cx="183" cy="201"/>
              </a:xfrm>
              <a:custGeom>
                <a:avLst/>
                <a:gdLst>
                  <a:gd name="T0" fmla="*/ 0 w 183"/>
                  <a:gd name="T1" fmla="*/ 0 h 201"/>
                  <a:gd name="T2" fmla="*/ 183 w 183"/>
                  <a:gd name="T3" fmla="*/ 201 h 20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83" h="201">
                    <a:moveTo>
                      <a:pt x="0" y="0"/>
                    </a:moveTo>
                    <a:lnTo>
                      <a:pt x="183" y="201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7" name="Freeform 45"/>
              <p:cNvSpPr>
                <a:spLocks/>
              </p:cNvSpPr>
              <p:nvPr/>
            </p:nvSpPr>
            <p:spPr bwMode="auto">
              <a:xfrm>
                <a:off x="1422" y="1078"/>
                <a:ext cx="211" cy="183"/>
              </a:xfrm>
              <a:custGeom>
                <a:avLst/>
                <a:gdLst>
                  <a:gd name="T0" fmla="*/ 0 w 211"/>
                  <a:gd name="T1" fmla="*/ 0 h 183"/>
                  <a:gd name="T2" fmla="*/ 211 w 211"/>
                  <a:gd name="T3" fmla="*/ 183 h 18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11" h="183">
                    <a:moveTo>
                      <a:pt x="0" y="0"/>
                    </a:moveTo>
                    <a:lnTo>
                      <a:pt x="211" y="183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8" name="Freeform 46"/>
              <p:cNvSpPr>
                <a:spLocks/>
              </p:cNvSpPr>
              <p:nvPr/>
            </p:nvSpPr>
            <p:spPr bwMode="auto">
              <a:xfrm>
                <a:off x="1635" y="1030"/>
                <a:ext cx="243" cy="222"/>
              </a:xfrm>
              <a:custGeom>
                <a:avLst/>
                <a:gdLst>
                  <a:gd name="T0" fmla="*/ 0 w 243"/>
                  <a:gd name="T1" fmla="*/ 222 h 222"/>
                  <a:gd name="T2" fmla="*/ 243 w 243"/>
                  <a:gd name="T3" fmla="*/ 0 h 22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43" h="222">
                    <a:moveTo>
                      <a:pt x="0" y="222"/>
                    </a:moveTo>
                    <a:lnTo>
                      <a:pt x="243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" name="Freeform 47"/>
              <p:cNvSpPr>
                <a:spLocks/>
              </p:cNvSpPr>
              <p:nvPr/>
            </p:nvSpPr>
            <p:spPr bwMode="auto">
              <a:xfrm>
                <a:off x="2053" y="724"/>
                <a:ext cx="158" cy="153"/>
              </a:xfrm>
              <a:custGeom>
                <a:avLst/>
                <a:gdLst>
                  <a:gd name="T0" fmla="*/ 0 w 158"/>
                  <a:gd name="T1" fmla="*/ 153 h 153"/>
                  <a:gd name="T2" fmla="*/ 158 w 158"/>
                  <a:gd name="T3" fmla="*/ 0 h 15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58" h="153">
                    <a:moveTo>
                      <a:pt x="0" y="153"/>
                    </a:moveTo>
                    <a:lnTo>
                      <a:pt x="158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0" name="Freeform 49"/>
              <p:cNvSpPr>
                <a:spLocks/>
              </p:cNvSpPr>
              <p:nvPr/>
            </p:nvSpPr>
            <p:spPr bwMode="auto">
              <a:xfrm>
                <a:off x="1050" y="698"/>
                <a:ext cx="1161" cy="27"/>
              </a:xfrm>
              <a:custGeom>
                <a:avLst/>
                <a:gdLst>
                  <a:gd name="T0" fmla="*/ 0 w 447"/>
                  <a:gd name="T1" fmla="*/ 0 h 1"/>
                  <a:gd name="T2" fmla="*/ 447 w 447"/>
                  <a:gd name="T3" fmla="*/ 1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47" h="1">
                    <a:moveTo>
                      <a:pt x="0" y="0"/>
                    </a:moveTo>
                    <a:lnTo>
                      <a:pt x="447" y="1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1" name="Line 50"/>
              <p:cNvSpPr>
                <a:spLocks noChangeShapeType="1"/>
              </p:cNvSpPr>
              <p:nvPr/>
            </p:nvSpPr>
            <p:spPr bwMode="auto">
              <a:xfrm flipV="1">
                <a:off x="622" y="196"/>
                <a:ext cx="1013" cy="1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" name="Line 51"/>
              <p:cNvSpPr>
                <a:spLocks noChangeShapeType="1"/>
              </p:cNvSpPr>
              <p:nvPr/>
            </p:nvSpPr>
            <p:spPr bwMode="auto">
              <a:xfrm>
                <a:off x="626" y="1251"/>
                <a:ext cx="1003" cy="1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3" name="Oval 52"/>
              <p:cNvSpPr>
                <a:spLocks noChangeAspect="1" noChangeArrowheads="1"/>
              </p:cNvSpPr>
              <p:nvPr/>
            </p:nvSpPr>
            <p:spPr bwMode="auto">
              <a:xfrm>
                <a:off x="1596" y="184"/>
                <a:ext cx="68" cy="68"/>
              </a:xfrm>
              <a:prstGeom prst="ellipse">
                <a:avLst/>
              </a:prstGeom>
              <a:solidFill>
                <a:schemeClr val="tx2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94" name="Oval 53"/>
              <p:cNvSpPr>
                <a:spLocks noChangeAspect="1" noChangeArrowheads="1"/>
              </p:cNvSpPr>
              <p:nvPr/>
            </p:nvSpPr>
            <p:spPr bwMode="auto">
              <a:xfrm>
                <a:off x="1587" y="1213"/>
                <a:ext cx="68" cy="68"/>
              </a:xfrm>
              <a:prstGeom prst="ellipse">
                <a:avLst/>
              </a:prstGeom>
              <a:solidFill>
                <a:schemeClr val="tx2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95" name="Oval 54"/>
              <p:cNvSpPr>
                <a:spLocks noChangeAspect="1" noChangeArrowheads="1"/>
              </p:cNvSpPr>
              <p:nvPr/>
            </p:nvSpPr>
            <p:spPr bwMode="auto">
              <a:xfrm>
                <a:off x="1050" y="676"/>
                <a:ext cx="68" cy="68"/>
              </a:xfrm>
              <a:prstGeom prst="ellipse">
                <a:avLst/>
              </a:prstGeom>
              <a:solidFill>
                <a:schemeClr val="tx2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96" name="Oval 55"/>
              <p:cNvSpPr>
                <a:spLocks noChangeAspect="1" noChangeArrowheads="1"/>
              </p:cNvSpPr>
              <p:nvPr/>
            </p:nvSpPr>
            <p:spPr bwMode="auto">
              <a:xfrm>
                <a:off x="2169" y="676"/>
                <a:ext cx="68" cy="68"/>
              </a:xfrm>
              <a:prstGeom prst="ellipse">
                <a:avLst/>
              </a:prstGeom>
              <a:solidFill>
                <a:schemeClr val="tx2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97" name="Oval 56"/>
              <p:cNvSpPr>
                <a:spLocks noChangeAspect="1" noChangeArrowheads="1"/>
              </p:cNvSpPr>
              <p:nvPr/>
            </p:nvSpPr>
            <p:spPr bwMode="auto">
              <a:xfrm>
                <a:off x="537" y="180"/>
                <a:ext cx="68" cy="68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98" name="Oval 57"/>
              <p:cNvSpPr>
                <a:spLocks noChangeAspect="1" noChangeArrowheads="1"/>
              </p:cNvSpPr>
              <p:nvPr/>
            </p:nvSpPr>
            <p:spPr bwMode="auto">
              <a:xfrm>
                <a:off x="519" y="1254"/>
                <a:ext cx="68" cy="68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99" name="Text Box 58"/>
              <p:cNvSpPr txBox="1">
                <a:spLocks noChangeArrowheads="1"/>
              </p:cNvSpPr>
              <p:nvPr/>
            </p:nvSpPr>
            <p:spPr bwMode="auto">
              <a:xfrm>
                <a:off x="350" y="32"/>
                <a:ext cx="20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sz="2400"/>
                  <a:t>a</a:t>
                </a:r>
              </a:p>
            </p:txBody>
          </p:sp>
          <p:sp>
            <p:nvSpPr>
              <p:cNvPr id="100" name="Text Box 59"/>
              <p:cNvSpPr txBox="1">
                <a:spLocks noChangeArrowheads="1"/>
              </p:cNvSpPr>
              <p:nvPr/>
            </p:nvSpPr>
            <p:spPr bwMode="auto">
              <a:xfrm>
                <a:off x="869" y="549"/>
                <a:ext cx="20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sz="2400"/>
                  <a:t>c</a:t>
                </a:r>
              </a:p>
            </p:txBody>
          </p:sp>
          <p:sp>
            <p:nvSpPr>
              <p:cNvPr id="101" name="Text Box 60"/>
              <p:cNvSpPr txBox="1">
                <a:spLocks noChangeArrowheads="1"/>
              </p:cNvSpPr>
              <p:nvPr/>
            </p:nvSpPr>
            <p:spPr bwMode="auto">
              <a:xfrm>
                <a:off x="2213" y="558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sz="2400"/>
                  <a:t>d</a:t>
                </a:r>
              </a:p>
            </p:txBody>
          </p:sp>
          <p:sp>
            <p:nvSpPr>
              <p:cNvPr id="102" name="Text Box 61"/>
              <p:cNvSpPr txBox="1">
                <a:spLocks noChangeArrowheads="1"/>
              </p:cNvSpPr>
              <p:nvPr/>
            </p:nvSpPr>
            <p:spPr bwMode="auto">
              <a:xfrm>
                <a:off x="1011" y="227"/>
                <a:ext cx="28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b="1" dirty="0"/>
                  <a:t>R</a:t>
                </a:r>
                <a:r>
                  <a:rPr lang="zh-CN" altLang="zh-CN" b="1" baseline="-25000" dirty="0"/>
                  <a:t>1</a:t>
                </a:r>
                <a:endParaRPr lang="zh-CN" altLang="zh-CN" b="1" dirty="0"/>
              </a:p>
            </p:txBody>
          </p:sp>
          <p:sp>
            <p:nvSpPr>
              <p:cNvPr id="103" name="Text Box 62"/>
              <p:cNvSpPr txBox="1">
                <a:spLocks noChangeArrowheads="1"/>
              </p:cNvSpPr>
              <p:nvPr/>
            </p:nvSpPr>
            <p:spPr bwMode="auto">
              <a:xfrm>
                <a:off x="1011" y="916"/>
                <a:ext cx="28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b="1" dirty="0"/>
                  <a:t>R</a:t>
                </a:r>
                <a:r>
                  <a:rPr lang="zh-CN" altLang="zh-CN" b="1" baseline="-25000" dirty="0"/>
                  <a:t>4</a:t>
                </a:r>
                <a:endParaRPr lang="zh-CN" altLang="zh-CN" b="1" dirty="0"/>
              </a:p>
            </p:txBody>
          </p:sp>
          <p:sp>
            <p:nvSpPr>
              <p:cNvPr id="104" name="Text Box 63"/>
              <p:cNvSpPr txBox="1">
                <a:spLocks noChangeArrowheads="1"/>
              </p:cNvSpPr>
              <p:nvPr/>
            </p:nvSpPr>
            <p:spPr bwMode="auto">
              <a:xfrm>
                <a:off x="1947" y="952"/>
                <a:ext cx="28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b="1"/>
                  <a:t>R</a:t>
                </a:r>
                <a:r>
                  <a:rPr lang="zh-CN" altLang="zh-CN" b="1" baseline="-25000"/>
                  <a:t>3</a:t>
                </a:r>
                <a:endParaRPr lang="zh-CN" altLang="zh-CN" b="1"/>
              </a:p>
            </p:txBody>
          </p:sp>
          <p:sp>
            <p:nvSpPr>
              <p:cNvPr id="105" name="Text Box 64"/>
              <p:cNvSpPr txBox="1">
                <a:spLocks noChangeArrowheads="1"/>
              </p:cNvSpPr>
              <p:nvPr/>
            </p:nvSpPr>
            <p:spPr bwMode="auto">
              <a:xfrm>
                <a:off x="1923" y="196"/>
                <a:ext cx="28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b="1"/>
                  <a:t>R</a:t>
                </a:r>
                <a:r>
                  <a:rPr lang="zh-CN" altLang="zh-CN" b="1" baseline="-25000"/>
                  <a:t>2</a:t>
                </a:r>
                <a:endParaRPr lang="zh-CN" altLang="zh-CN" b="1"/>
              </a:p>
            </p:txBody>
          </p:sp>
          <p:sp>
            <p:nvSpPr>
              <p:cNvPr id="106" name="Text Box 66"/>
              <p:cNvSpPr txBox="1">
                <a:spLocks noChangeArrowheads="1"/>
              </p:cNvSpPr>
              <p:nvPr/>
            </p:nvSpPr>
            <p:spPr bwMode="auto">
              <a:xfrm>
                <a:off x="342" y="113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sz="2400"/>
                  <a:t>b</a:t>
                </a:r>
              </a:p>
            </p:txBody>
          </p:sp>
        </p:grpSp>
        <p:sp>
          <p:nvSpPr>
            <p:cNvPr id="77" name="Text Box 61"/>
            <p:cNvSpPr txBox="1">
              <a:spLocks noChangeArrowheads="1"/>
            </p:cNvSpPr>
            <p:nvPr/>
          </p:nvSpPr>
          <p:spPr bwMode="auto">
            <a:xfrm>
              <a:off x="4733672" y="4985142"/>
              <a:ext cx="814647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dirty="0" err="1"/>
                <a:t>U</a:t>
              </a:r>
              <a:r>
                <a:rPr lang="en-US" altLang="zh-CN" b="1" baseline="-25000" dirty="0" err="1"/>
                <a:t>cd</a:t>
              </a:r>
              <a:r>
                <a:rPr lang="en-US" altLang="zh-CN" b="1" dirty="0"/>
                <a:t>=0</a:t>
              </a:r>
              <a:endParaRPr lang="zh-CN" altLang="zh-CN" b="1" dirty="0"/>
            </a:p>
          </p:txBody>
        </p:sp>
      </p:grpSp>
      <p:grpSp>
        <p:nvGrpSpPr>
          <p:cNvPr id="107" name="组合 106"/>
          <p:cNvGrpSpPr/>
          <p:nvPr/>
        </p:nvGrpSpPr>
        <p:grpSpPr>
          <a:xfrm>
            <a:off x="5326613" y="3969543"/>
            <a:ext cx="3849688" cy="2189163"/>
            <a:chOff x="5326613" y="3969543"/>
            <a:chExt cx="3849688" cy="2189163"/>
          </a:xfrm>
        </p:grpSpPr>
        <p:cxnSp>
          <p:nvCxnSpPr>
            <p:cNvPr id="108" name="直接连接符 107"/>
            <p:cNvCxnSpPr>
              <a:stCxn id="120" idx="2"/>
              <a:endCxn id="136" idx="2"/>
            </p:cNvCxnSpPr>
            <p:nvPr/>
          </p:nvCxnSpPr>
          <p:spPr bwMode="auto">
            <a:xfrm>
              <a:off x="8114263" y="4887118"/>
              <a:ext cx="655638" cy="188913"/>
            </a:xfrm>
            <a:prstGeom prst="line">
              <a:avLst/>
            </a:prstGeom>
            <a:solidFill>
              <a:schemeClr val="accent1"/>
            </a:solidFill>
            <a:ln w="317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109" name="组合 108"/>
            <p:cNvGrpSpPr/>
            <p:nvPr/>
          </p:nvGrpSpPr>
          <p:grpSpPr>
            <a:xfrm>
              <a:off x="5326613" y="3969543"/>
              <a:ext cx="3849688" cy="2189163"/>
              <a:chOff x="5326613" y="3969543"/>
              <a:chExt cx="3849688" cy="2189163"/>
            </a:xfrm>
          </p:grpSpPr>
          <p:sp>
            <p:nvSpPr>
              <p:cNvPr id="110" name="Rectangle 37"/>
              <p:cNvSpPr>
                <a:spLocks noChangeArrowheads="1"/>
              </p:cNvSpPr>
              <p:nvPr/>
            </p:nvSpPr>
            <p:spPr bwMode="auto">
              <a:xfrm rot="16200000">
                <a:off x="7855501" y="5046637"/>
                <a:ext cx="152400" cy="38100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cxnSp>
            <p:nvCxnSpPr>
              <p:cNvPr id="111" name="直接连接符 110"/>
              <p:cNvCxnSpPr>
                <a:stCxn id="135" idx="5"/>
                <a:endCxn id="110" idx="0"/>
              </p:cNvCxnSpPr>
              <p:nvPr/>
            </p:nvCxnSpPr>
            <p:spPr bwMode="auto">
              <a:xfrm>
                <a:off x="7085629" y="5114197"/>
                <a:ext cx="655572" cy="122940"/>
              </a:xfrm>
              <a:prstGeom prst="line">
                <a:avLst/>
              </a:prstGeom>
              <a:solidFill>
                <a:schemeClr val="accent1"/>
              </a:solidFill>
              <a:ln w="317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12" name="直接连接符 111"/>
              <p:cNvCxnSpPr>
                <a:stCxn id="110" idx="2"/>
                <a:endCxn id="136" idx="2"/>
              </p:cNvCxnSpPr>
              <p:nvPr/>
            </p:nvCxnSpPr>
            <p:spPr bwMode="auto">
              <a:xfrm flipV="1">
                <a:off x="8122201" y="5076031"/>
                <a:ext cx="647700" cy="161106"/>
              </a:xfrm>
              <a:prstGeom prst="line">
                <a:avLst/>
              </a:prstGeom>
              <a:solidFill>
                <a:schemeClr val="accent1"/>
              </a:solidFill>
              <a:ln w="317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grpSp>
            <p:nvGrpSpPr>
              <p:cNvPr id="113" name="组合 112"/>
              <p:cNvGrpSpPr/>
              <p:nvPr/>
            </p:nvGrpSpPr>
            <p:grpSpPr>
              <a:xfrm>
                <a:off x="5326613" y="3969543"/>
                <a:ext cx="3849688" cy="2189163"/>
                <a:chOff x="5326613" y="3969543"/>
                <a:chExt cx="3849688" cy="2189163"/>
              </a:xfrm>
            </p:grpSpPr>
            <p:grpSp>
              <p:nvGrpSpPr>
                <p:cNvPr id="114" name="Group 34"/>
                <p:cNvGrpSpPr>
                  <a:grpSpLocks/>
                </p:cNvGrpSpPr>
                <p:nvPr/>
              </p:nvGrpSpPr>
              <p:grpSpPr bwMode="auto">
                <a:xfrm>
                  <a:off x="5326613" y="3969543"/>
                  <a:ext cx="3849688" cy="2189163"/>
                  <a:chOff x="0" y="13"/>
                  <a:chExt cx="2425" cy="1379"/>
                </a:xfrm>
              </p:grpSpPr>
              <p:sp>
                <p:nvSpPr>
                  <p:cNvPr id="118" name="Rectangle 35"/>
                  <p:cNvSpPr>
                    <a:spLocks noChangeArrowheads="1"/>
                  </p:cNvSpPr>
                  <p:nvPr/>
                </p:nvSpPr>
                <p:spPr bwMode="auto">
                  <a:xfrm rot="-7903512">
                    <a:off x="1332" y="304"/>
                    <a:ext cx="96" cy="240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19" name="Rectangle 36"/>
                  <p:cNvSpPr>
                    <a:spLocks noChangeArrowheads="1"/>
                  </p:cNvSpPr>
                  <p:nvPr/>
                </p:nvSpPr>
                <p:spPr bwMode="auto">
                  <a:xfrm rot="-2919155">
                    <a:off x="1854" y="310"/>
                    <a:ext cx="96" cy="240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20" name="Rectangle 37"/>
                  <p:cNvSpPr>
                    <a:spLocks noChangeArrowheads="1"/>
                  </p:cNvSpPr>
                  <p:nvPr/>
                </p:nvSpPr>
                <p:spPr bwMode="auto">
                  <a:xfrm rot="16200000">
                    <a:off x="1588" y="471"/>
                    <a:ext cx="96" cy="240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21" name="Rectangle 38"/>
                  <p:cNvSpPr>
                    <a:spLocks noChangeArrowheads="1"/>
                  </p:cNvSpPr>
                  <p:nvPr/>
                </p:nvSpPr>
                <p:spPr bwMode="auto">
                  <a:xfrm rot="-2874968">
                    <a:off x="1299" y="880"/>
                    <a:ext cx="96" cy="240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22" name="Rectangle 39"/>
                  <p:cNvSpPr>
                    <a:spLocks noChangeArrowheads="1"/>
                  </p:cNvSpPr>
                  <p:nvPr/>
                </p:nvSpPr>
                <p:spPr bwMode="auto">
                  <a:xfrm rot="-7972038">
                    <a:off x="1908" y="835"/>
                    <a:ext cx="96" cy="240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23" name="Freeform 40"/>
                  <p:cNvSpPr>
                    <a:spLocks/>
                  </p:cNvSpPr>
                  <p:nvPr/>
                </p:nvSpPr>
                <p:spPr bwMode="auto">
                  <a:xfrm>
                    <a:off x="1465" y="196"/>
                    <a:ext cx="176" cy="160"/>
                  </a:xfrm>
                  <a:custGeom>
                    <a:avLst/>
                    <a:gdLst>
                      <a:gd name="T0" fmla="*/ 0 w 176"/>
                      <a:gd name="T1" fmla="*/ 160 h 160"/>
                      <a:gd name="T2" fmla="*/ 176 w 176"/>
                      <a:gd name="T3" fmla="*/ 0 h 160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176" h="160">
                        <a:moveTo>
                          <a:pt x="0" y="160"/>
                        </a:moveTo>
                        <a:lnTo>
                          <a:pt x="176" y="0"/>
                        </a:lnTo>
                      </a:path>
                    </a:pathLst>
                  </a:custGeom>
                  <a:noFill/>
                  <a:ln w="2857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24" name="Freeform 41"/>
                  <p:cNvSpPr>
                    <a:spLocks/>
                  </p:cNvSpPr>
                  <p:nvPr/>
                </p:nvSpPr>
                <p:spPr bwMode="auto">
                  <a:xfrm>
                    <a:off x="1635" y="202"/>
                    <a:ext cx="168" cy="141"/>
                  </a:xfrm>
                  <a:custGeom>
                    <a:avLst/>
                    <a:gdLst>
                      <a:gd name="T0" fmla="*/ 168 w 168"/>
                      <a:gd name="T1" fmla="*/ 141 h 141"/>
                      <a:gd name="T2" fmla="*/ 0 w 168"/>
                      <a:gd name="T3" fmla="*/ 0 h 141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168" h="141">
                        <a:moveTo>
                          <a:pt x="168" y="141"/>
                        </a:moveTo>
                        <a:lnTo>
                          <a:pt x="0" y="0"/>
                        </a:lnTo>
                      </a:path>
                    </a:pathLst>
                  </a:custGeom>
                  <a:noFill/>
                  <a:ln w="2857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25" name="Freeform 42"/>
                  <p:cNvSpPr>
                    <a:spLocks/>
                  </p:cNvSpPr>
                  <p:nvPr/>
                </p:nvSpPr>
                <p:spPr bwMode="auto">
                  <a:xfrm>
                    <a:off x="1057" y="508"/>
                    <a:ext cx="233" cy="223"/>
                  </a:xfrm>
                  <a:custGeom>
                    <a:avLst/>
                    <a:gdLst>
                      <a:gd name="T0" fmla="*/ 233 w 233"/>
                      <a:gd name="T1" fmla="*/ 0 h 223"/>
                      <a:gd name="T2" fmla="*/ 0 w 233"/>
                      <a:gd name="T3" fmla="*/ 223 h 223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233" h="223">
                        <a:moveTo>
                          <a:pt x="233" y="0"/>
                        </a:moveTo>
                        <a:lnTo>
                          <a:pt x="0" y="223"/>
                        </a:lnTo>
                      </a:path>
                    </a:pathLst>
                  </a:custGeom>
                  <a:noFill/>
                  <a:ln w="2857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26" name="Freeform 43"/>
                  <p:cNvSpPr>
                    <a:spLocks/>
                  </p:cNvSpPr>
                  <p:nvPr/>
                </p:nvSpPr>
                <p:spPr bwMode="auto">
                  <a:xfrm>
                    <a:off x="1989" y="511"/>
                    <a:ext cx="225" cy="216"/>
                  </a:xfrm>
                  <a:custGeom>
                    <a:avLst/>
                    <a:gdLst>
                      <a:gd name="T0" fmla="*/ 0 w 225"/>
                      <a:gd name="T1" fmla="*/ 0 h 216"/>
                      <a:gd name="T2" fmla="*/ 225 w 225"/>
                      <a:gd name="T3" fmla="*/ 216 h 216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225" h="216">
                        <a:moveTo>
                          <a:pt x="0" y="0"/>
                        </a:moveTo>
                        <a:lnTo>
                          <a:pt x="225" y="216"/>
                        </a:lnTo>
                      </a:path>
                    </a:pathLst>
                  </a:custGeom>
                  <a:noFill/>
                  <a:ln w="2857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27" name="Freeform 44"/>
                  <p:cNvSpPr>
                    <a:spLocks/>
                  </p:cNvSpPr>
                  <p:nvPr/>
                </p:nvSpPr>
                <p:spPr bwMode="auto">
                  <a:xfrm>
                    <a:off x="1075" y="731"/>
                    <a:ext cx="183" cy="201"/>
                  </a:xfrm>
                  <a:custGeom>
                    <a:avLst/>
                    <a:gdLst>
                      <a:gd name="T0" fmla="*/ 0 w 183"/>
                      <a:gd name="T1" fmla="*/ 0 h 201"/>
                      <a:gd name="T2" fmla="*/ 183 w 183"/>
                      <a:gd name="T3" fmla="*/ 201 h 201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183" h="201">
                        <a:moveTo>
                          <a:pt x="0" y="0"/>
                        </a:moveTo>
                        <a:lnTo>
                          <a:pt x="183" y="201"/>
                        </a:lnTo>
                      </a:path>
                    </a:pathLst>
                  </a:custGeom>
                  <a:noFill/>
                  <a:ln w="2857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28" name="Freeform 45"/>
                  <p:cNvSpPr>
                    <a:spLocks/>
                  </p:cNvSpPr>
                  <p:nvPr/>
                </p:nvSpPr>
                <p:spPr bwMode="auto">
                  <a:xfrm>
                    <a:off x="1422" y="1078"/>
                    <a:ext cx="211" cy="183"/>
                  </a:xfrm>
                  <a:custGeom>
                    <a:avLst/>
                    <a:gdLst>
                      <a:gd name="T0" fmla="*/ 0 w 211"/>
                      <a:gd name="T1" fmla="*/ 0 h 183"/>
                      <a:gd name="T2" fmla="*/ 211 w 211"/>
                      <a:gd name="T3" fmla="*/ 183 h 183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211" h="183">
                        <a:moveTo>
                          <a:pt x="0" y="0"/>
                        </a:moveTo>
                        <a:lnTo>
                          <a:pt x="211" y="183"/>
                        </a:lnTo>
                      </a:path>
                    </a:pathLst>
                  </a:custGeom>
                  <a:noFill/>
                  <a:ln w="2857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29" name="Freeform 46"/>
                  <p:cNvSpPr>
                    <a:spLocks/>
                  </p:cNvSpPr>
                  <p:nvPr/>
                </p:nvSpPr>
                <p:spPr bwMode="auto">
                  <a:xfrm>
                    <a:off x="1635" y="1030"/>
                    <a:ext cx="243" cy="222"/>
                  </a:xfrm>
                  <a:custGeom>
                    <a:avLst/>
                    <a:gdLst>
                      <a:gd name="T0" fmla="*/ 0 w 243"/>
                      <a:gd name="T1" fmla="*/ 222 h 222"/>
                      <a:gd name="T2" fmla="*/ 243 w 243"/>
                      <a:gd name="T3" fmla="*/ 0 h 222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243" h="222">
                        <a:moveTo>
                          <a:pt x="0" y="222"/>
                        </a:moveTo>
                        <a:lnTo>
                          <a:pt x="243" y="0"/>
                        </a:lnTo>
                      </a:path>
                    </a:pathLst>
                  </a:custGeom>
                  <a:noFill/>
                  <a:ln w="2857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30" name="Freeform 47"/>
                  <p:cNvSpPr>
                    <a:spLocks/>
                  </p:cNvSpPr>
                  <p:nvPr/>
                </p:nvSpPr>
                <p:spPr bwMode="auto">
                  <a:xfrm>
                    <a:off x="2053" y="724"/>
                    <a:ext cx="158" cy="153"/>
                  </a:xfrm>
                  <a:custGeom>
                    <a:avLst/>
                    <a:gdLst>
                      <a:gd name="T0" fmla="*/ 0 w 158"/>
                      <a:gd name="T1" fmla="*/ 153 h 153"/>
                      <a:gd name="T2" fmla="*/ 158 w 158"/>
                      <a:gd name="T3" fmla="*/ 0 h 153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158" h="153">
                        <a:moveTo>
                          <a:pt x="0" y="153"/>
                        </a:moveTo>
                        <a:lnTo>
                          <a:pt x="158" y="0"/>
                        </a:lnTo>
                      </a:path>
                    </a:pathLst>
                  </a:custGeom>
                  <a:noFill/>
                  <a:ln w="2857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31" name="Line 5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883" y="196"/>
                    <a:ext cx="752" cy="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32" name="Line 51"/>
                  <p:cNvSpPr>
                    <a:spLocks noChangeShapeType="1"/>
                  </p:cNvSpPr>
                  <p:nvPr/>
                </p:nvSpPr>
                <p:spPr bwMode="auto">
                  <a:xfrm>
                    <a:off x="908" y="1251"/>
                    <a:ext cx="721" cy="1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33" name="Oval 52"/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1596" y="184"/>
                    <a:ext cx="68" cy="68"/>
                  </a:xfrm>
                  <a:prstGeom prst="ellipse">
                    <a:avLst/>
                  </a:prstGeom>
                  <a:solidFill>
                    <a:schemeClr val="tx2"/>
                  </a:solidFill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34" name="Oval 53"/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1587" y="1213"/>
                    <a:ext cx="68" cy="68"/>
                  </a:xfrm>
                  <a:prstGeom prst="ellipse">
                    <a:avLst/>
                  </a:prstGeom>
                  <a:solidFill>
                    <a:schemeClr val="tx2"/>
                  </a:solidFill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35" name="Oval 54"/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1050" y="676"/>
                    <a:ext cx="68" cy="68"/>
                  </a:xfrm>
                  <a:prstGeom prst="ellipse">
                    <a:avLst/>
                  </a:prstGeom>
                  <a:solidFill>
                    <a:schemeClr val="tx2"/>
                  </a:solidFill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36" name="Oval 55"/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2169" y="676"/>
                    <a:ext cx="68" cy="68"/>
                  </a:xfrm>
                  <a:prstGeom prst="ellipse">
                    <a:avLst/>
                  </a:prstGeom>
                  <a:solidFill>
                    <a:schemeClr val="tx2"/>
                  </a:solidFill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37" name="Oval 56"/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844" y="161"/>
                    <a:ext cx="68" cy="68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38" name="Oval 57"/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826" y="1222"/>
                    <a:ext cx="68" cy="68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39" name="Text Box 5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57" y="13"/>
                    <a:ext cx="201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zh-CN" altLang="zh-CN" sz="2400"/>
                      <a:t>a</a:t>
                    </a:r>
                  </a:p>
                </p:txBody>
              </p:sp>
              <p:sp>
                <p:nvSpPr>
                  <p:cNvPr id="140" name="Text Box 5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69" y="549"/>
                    <a:ext cx="201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zh-CN" altLang="zh-CN" sz="2400"/>
                      <a:t>c</a:t>
                    </a:r>
                  </a:p>
                </p:txBody>
              </p:sp>
              <p:sp>
                <p:nvSpPr>
                  <p:cNvPr id="141" name="Text Box 6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213" y="558"/>
                    <a:ext cx="212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zh-CN" altLang="zh-CN" sz="2400" dirty="0"/>
                      <a:t>d</a:t>
                    </a:r>
                  </a:p>
                </p:txBody>
              </p:sp>
              <p:sp>
                <p:nvSpPr>
                  <p:cNvPr id="142" name="Text Box 6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011" y="227"/>
                    <a:ext cx="284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zh-CN" altLang="zh-CN" b="1" dirty="0"/>
                      <a:t>R</a:t>
                    </a:r>
                    <a:r>
                      <a:rPr lang="zh-CN" altLang="zh-CN" b="1" baseline="-25000" dirty="0"/>
                      <a:t>1</a:t>
                    </a:r>
                    <a:endParaRPr lang="zh-CN" altLang="zh-CN" b="1" dirty="0"/>
                  </a:p>
                </p:txBody>
              </p:sp>
              <p:sp>
                <p:nvSpPr>
                  <p:cNvPr id="143" name="Text Box 6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011" y="916"/>
                    <a:ext cx="284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zh-CN" altLang="zh-CN" b="1"/>
                      <a:t>R</a:t>
                    </a:r>
                    <a:r>
                      <a:rPr lang="zh-CN" altLang="zh-CN" b="1" baseline="-25000"/>
                      <a:t>4</a:t>
                    </a:r>
                    <a:endParaRPr lang="zh-CN" altLang="zh-CN" b="1"/>
                  </a:p>
                </p:txBody>
              </p:sp>
              <p:sp>
                <p:nvSpPr>
                  <p:cNvPr id="144" name="Text Box 6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947" y="952"/>
                    <a:ext cx="284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zh-CN" altLang="zh-CN" b="1"/>
                      <a:t>R</a:t>
                    </a:r>
                    <a:r>
                      <a:rPr lang="zh-CN" altLang="zh-CN" b="1" baseline="-25000"/>
                      <a:t>3</a:t>
                    </a:r>
                    <a:endParaRPr lang="zh-CN" altLang="zh-CN" b="1"/>
                  </a:p>
                </p:txBody>
              </p:sp>
              <p:sp>
                <p:nvSpPr>
                  <p:cNvPr id="145" name="Text Box 6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923" y="196"/>
                    <a:ext cx="284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zh-CN" altLang="zh-CN" b="1"/>
                      <a:t>R</a:t>
                    </a:r>
                    <a:r>
                      <a:rPr lang="zh-CN" altLang="zh-CN" b="1" baseline="-25000"/>
                      <a:t>2</a:t>
                    </a:r>
                    <a:endParaRPr lang="zh-CN" altLang="zh-CN" b="1"/>
                  </a:p>
                </p:txBody>
              </p:sp>
              <p:sp>
                <p:nvSpPr>
                  <p:cNvPr id="146" name="Text Box 6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467" y="306"/>
                    <a:ext cx="368" cy="252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en-US" altLang="zh-CN" b="1" dirty="0"/>
                      <a:t>2</a:t>
                    </a:r>
                    <a:r>
                      <a:rPr lang="zh-CN" altLang="zh-CN" b="1" dirty="0"/>
                      <a:t>R</a:t>
                    </a:r>
                    <a:r>
                      <a:rPr lang="zh-CN" altLang="zh-CN" b="1" baseline="-25000" dirty="0"/>
                      <a:t>5</a:t>
                    </a:r>
                    <a:endParaRPr lang="zh-CN" altLang="zh-CN" b="1" dirty="0"/>
                  </a:p>
                </p:txBody>
              </p:sp>
              <p:sp>
                <p:nvSpPr>
                  <p:cNvPr id="147" name="Text Box 6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0" y="1104"/>
                    <a:ext cx="212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zh-CN" altLang="zh-CN" sz="2400"/>
                      <a:t>b</a:t>
                    </a:r>
                  </a:p>
                </p:txBody>
              </p:sp>
            </p:grpSp>
            <p:sp>
              <p:nvSpPr>
                <p:cNvPr id="115" name="Text Box 65"/>
                <p:cNvSpPr txBox="1">
                  <a:spLocks noChangeArrowheads="1"/>
                </p:cNvSpPr>
                <p:nvPr/>
              </p:nvSpPr>
              <p:spPr bwMode="auto">
                <a:xfrm>
                  <a:off x="7660551" y="5279519"/>
                  <a:ext cx="584200" cy="4000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b="1" dirty="0"/>
                    <a:t>2</a:t>
                  </a:r>
                  <a:r>
                    <a:rPr lang="zh-CN" altLang="zh-CN" b="1" dirty="0"/>
                    <a:t>R</a:t>
                  </a:r>
                  <a:r>
                    <a:rPr lang="zh-CN" altLang="zh-CN" b="1" baseline="-25000" dirty="0"/>
                    <a:t>5</a:t>
                  </a:r>
                  <a:endParaRPr lang="zh-CN" altLang="zh-CN" b="1" dirty="0"/>
                </a:p>
              </p:txBody>
            </p:sp>
            <p:cxnSp>
              <p:nvCxnSpPr>
                <p:cNvPr id="116" name="直接连接符 115"/>
                <p:cNvCxnSpPr>
                  <a:stCxn id="135" idx="6"/>
                  <a:endCxn id="120" idx="0"/>
                </p:cNvCxnSpPr>
                <p:nvPr/>
              </p:nvCxnSpPr>
              <p:spPr bwMode="auto">
                <a:xfrm flipV="1">
                  <a:off x="7101438" y="4887118"/>
                  <a:ext cx="631825" cy="188913"/>
                </a:xfrm>
                <a:prstGeom prst="line">
                  <a:avLst/>
                </a:prstGeom>
                <a:solidFill>
                  <a:schemeClr val="accent1"/>
                </a:solidFill>
                <a:ln w="317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17" name="直接连接符 116"/>
                <p:cNvCxnSpPr>
                  <a:endCxn id="141" idx="1"/>
                </p:cNvCxnSpPr>
                <p:nvPr/>
              </p:nvCxnSpPr>
              <p:spPr bwMode="auto">
                <a:xfrm flipV="1">
                  <a:off x="6580739" y="5063331"/>
                  <a:ext cx="2259012" cy="26987"/>
                </a:xfrm>
                <a:prstGeom prst="line">
                  <a:avLst/>
                </a:prstGeom>
                <a:solidFill>
                  <a:schemeClr val="accent1"/>
                </a:solidFill>
                <a:ln w="31750" cap="flat" cmpd="sng" algn="ctr">
                  <a:solidFill>
                    <a:srgbClr val="FF0000"/>
                  </a:solidFill>
                  <a:prstDash val="dashDot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</p:grpSp>
      </p:grpSp>
      <p:sp>
        <p:nvSpPr>
          <p:cNvPr id="148" name="文本框 147"/>
          <p:cNvSpPr txBox="1"/>
          <p:nvPr/>
        </p:nvSpPr>
        <p:spPr>
          <a:xfrm>
            <a:off x="4894263" y="1081852"/>
            <a:ext cx="34932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对称面上的结点为等电位点</a:t>
            </a:r>
            <a:r>
              <a:rPr lang="zh-CN" altLang="en-US" dirty="0"/>
              <a:t>。</a:t>
            </a:r>
          </a:p>
        </p:txBody>
      </p:sp>
      <p:sp>
        <p:nvSpPr>
          <p:cNvPr id="149" name="矩形 148"/>
          <p:cNvSpPr/>
          <p:nvPr/>
        </p:nvSpPr>
        <p:spPr>
          <a:xfrm>
            <a:off x="4402689" y="1714464"/>
            <a:ext cx="4572000" cy="2104872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求解对称电路的核心，是观察电路的对称关系，寻找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等电位点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如果等电位点在同一支路的两端，则将该支路断开或短接；如果等电位点不在同一支路的两端，则将等电位点短接</a:t>
            </a:r>
            <a:r>
              <a:rPr lang="zh-CN" altLang="en-US" dirty="0"/>
              <a:t>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07662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" grpId="0"/>
      <p:bldP spid="149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电桥、星型和三角型电路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1C66AF1-24A0-446C-B0A8-326C494344F1}" type="datetime1">
              <a:rPr lang="zh-CN" altLang="en-US" smtClean="0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74CEB45-B7B4-4CEA-8E4A-DA539A380401}" type="slidenum">
              <a:rPr lang="en-US" altLang="zh-CN" smtClean="0"/>
              <a:pPr>
                <a:defRPr/>
              </a:pPr>
              <a:t>65</a:t>
            </a:fld>
            <a:endParaRPr lang="en-US" altLang="zh-CN"/>
          </a:p>
        </p:txBody>
      </p:sp>
      <p:grpSp>
        <p:nvGrpSpPr>
          <p:cNvPr id="7" name="Group 2"/>
          <p:cNvGrpSpPr>
            <a:grpSpLocks/>
          </p:cNvGrpSpPr>
          <p:nvPr/>
        </p:nvGrpSpPr>
        <p:grpSpPr bwMode="auto">
          <a:xfrm>
            <a:off x="5185501" y="4081933"/>
            <a:ext cx="3298825" cy="2209800"/>
            <a:chOff x="0" y="0"/>
            <a:chExt cx="2078" cy="1392"/>
          </a:xfrm>
        </p:grpSpPr>
        <p:sp>
          <p:nvSpPr>
            <p:cNvPr id="8" name="Rectangle 3"/>
            <p:cNvSpPr>
              <a:spLocks noChangeArrowheads="1"/>
            </p:cNvSpPr>
            <p:nvPr/>
          </p:nvSpPr>
          <p:spPr bwMode="auto">
            <a:xfrm rot="-5400000">
              <a:off x="807" y="456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" name="Rectangle 4"/>
            <p:cNvSpPr>
              <a:spLocks noChangeArrowheads="1"/>
            </p:cNvSpPr>
            <p:nvPr/>
          </p:nvSpPr>
          <p:spPr bwMode="auto">
            <a:xfrm rot="-5400000">
              <a:off x="1431" y="456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" name="Rectangle 5"/>
            <p:cNvSpPr>
              <a:spLocks noChangeArrowheads="1"/>
            </p:cNvSpPr>
            <p:nvPr/>
          </p:nvSpPr>
          <p:spPr bwMode="auto">
            <a:xfrm rot="-5400000">
              <a:off x="1131" y="168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" name="Rectangle 6"/>
            <p:cNvSpPr>
              <a:spLocks noChangeArrowheads="1"/>
            </p:cNvSpPr>
            <p:nvPr/>
          </p:nvSpPr>
          <p:spPr bwMode="auto">
            <a:xfrm>
              <a:off x="1728" y="816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" name="Rectangle 7"/>
            <p:cNvSpPr>
              <a:spLocks noChangeArrowheads="1"/>
            </p:cNvSpPr>
            <p:nvPr/>
          </p:nvSpPr>
          <p:spPr bwMode="auto">
            <a:xfrm>
              <a:off x="1116" y="816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" name="Line 8"/>
            <p:cNvSpPr>
              <a:spLocks noChangeShapeType="1"/>
            </p:cNvSpPr>
            <p:nvPr/>
          </p:nvSpPr>
          <p:spPr bwMode="auto">
            <a:xfrm>
              <a:off x="255" y="576"/>
              <a:ext cx="4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9"/>
            <p:cNvSpPr>
              <a:spLocks noChangeShapeType="1"/>
            </p:cNvSpPr>
            <p:nvPr/>
          </p:nvSpPr>
          <p:spPr bwMode="auto">
            <a:xfrm flipV="1">
              <a:off x="579" y="288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10"/>
            <p:cNvSpPr>
              <a:spLocks noChangeShapeType="1"/>
            </p:cNvSpPr>
            <p:nvPr/>
          </p:nvSpPr>
          <p:spPr bwMode="auto">
            <a:xfrm>
              <a:off x="579" y="288"/>
              <a:ext cx="4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11"/>
            <p:cNvSpPr>
              <a:spLocks noChangeShapeType="1"/>
            </p:cNvSpPr>
            <p:nvPr/>
          </p:nvSpPr>
          <p:spPr bwMode="auto">
            <a:xfrm>
              <a:off x="1299" y="288"/>
              <a:ext cx="4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12"/>
            <p:cNvSpPr>
              <a:spLocks noChangeShapeType="1"/>
            </p:cNvSpPr>
            <p:nvPr/>
          </p:nvSpPr>
          <p:spPr bwMode="auto">
            <a:xfrm>
              <a:off x="975" y="576"/>
              <a:ext cx="38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13"/>
            <p:cNvSpPr>
              <a:spLocks noChangeShapeType="1"/>
            </p:cNvSpPr>
            <p:nvPr/>
          </p:nvSpPr>
          <p:spPr bwMode="auto">
            <a:xfrm>
              <a:off x="1167" y="576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14"/>
            <p:cNvSpPr>
              <a:spLocks noChangeShapeType="1"/>
            </p:cNvSpPr>
            <p:nvPr/>
          </p:nvSpPr>
          <p:spPr bwMode="auto">
            <a:xfrm>
              <a:off x="1167" y="1056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Freeform 15"/>
            <p:cNvSpPr>
              <a:spLocks/>
            </p:cNvSpPr>
            <p:nvPr/>
          </p:nvSpPr>
          <p:spPr bwMode="auto">
            <a:xfrm>
              <a:off x="1779" y="279"/>
              <a:ext cx="1" cy="533"/>
            </a:xfrm>
            <a:custGeom>
              <a:avLst/>
              <a:gdLst>
                <a:gd name="T0" fmla="*/ 0 w 1"/>
                <a:gd name="T1" fmla="*/ 0 h 533"/>
                <a:gd name="T2" fmla="*/ 0 w 1"/>
                <a:gd name="T3" fmla="*/ 533 h 53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533">
                  <a:moveTo>
                    <a:pt x="0" y="0"/>
                  </a:moveTo>
                  <a:lnTo>
                    <a:pt x="0" y="533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16"/>
            <p:cNvSpPr>
              <a:spLocks noChangeShapeType="1"/>
            </p:cNvSpPr>
            <p:nvPr/>
          </p:nvSpPr>
          <p:spPr bwMode="auto">
            <a:xfrm>
              <a:off x="1599" y="576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17"/>
            <p:cNvSpPr>
              <a:spLocks noChangeShapeType="1"/>
            </p:cNvSpPr>
            <p:nvPr/>
          </p:nvSpPr>
          <p:spPr bwMode="auto">
            <a:xfrm>
              <a:off x="1773" y="1056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18"/>
            <p:cNvSpPr>
              <a:spLocks noChangeShapeType="1"/>
            </p:cNvSpPr>
            <p:nvPr/>
          </p:nvSpPr>
          <p:spPr bwMode="auto">
            <a:xfrm>
              <a:off x="284" y="1292"/>
              <a:ext cx="14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Oval 19"/>
            <p:cNvSpPr>
              <a:spLocks noChangeAspect="1" noChangeArrowheads="1"/>
            </p:cNvSpPr>
            <p:nvPr/>
          </p:nvSpPr>
          <p:spPr bwMode="auto">
            <a:xfrm>
              <a:off x="192" y="528"/>
              <a:ext cx="68" cy="6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5" name="Oval 20"/>
            <p:cNvSpPr>
              <a:spLocks noChangeAspect="1" noChangeArrowheads="1"/>
            </p:cNvSpPr>
            <p:nvPr/>
          </p:nvSpPr>
          <p:spPr bwMode="auto">
            <a:xfrm>
              <a:off x="222" y="1257"/>
              <a:ext cx="68" cy="6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6" name="Text Box 21"/>
            <p:cNvSpPr txBox="1">
              <a:spLocks noChangeArrowheads="1"/>
            </p:cNvSpPr>
            <p:nvPr/>
          </p:nvSpPr>
          <p:spPr bwMode="auto">
            <a:xfrm>
              <a:off x="0" y="384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a</a:t>
              </a:r>
            </a:p>
          </p:txBody>
        </p:sp>
        <p:sp>
          <p:nvSpPr>
            <p:cNvPr id="27" name="Text Box 22"/>
            <p:cNvSpPr txBox="1">
              <a:spLocks noChangeArrowheads="1"/>
            </p:cNvSpPr>
            <p:nvPr/>
          </p:nvSpPr>
          <p:spPr bwMode="auto">
            <a:xfrm>
              <a:off x="36" y="11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b</a:t>
              </a:r>
            </a:p>
          </p:txBody>
        </p:sp>
        <p:sp>
          <p:nvSpPr>
            <p:cNvPr id="28" name="Text Box 23"/>
            <p:cNvSpPr txBox="1">
              <a:spLocks noChangeArrowheads="1"/>
            </p:cNvSpPr>
            <p:nvPr/>
          </p:nvSpPr>
          <p:spPr bwMode="auto">
            <a:xfrm>
              <a:off x="672" y="576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1</a:t>
              </a:r>
              <a:endParaRPr lang="zh-CN" altLang="zh-CN" b="1"/>
            </a:p>
          </p:txBody>
        </p:sp>
        <p:sp>
          <p:nvSpPr>
            <p:cNvPr id="29" name="Text Box 24"/>
            <p:cNvSpPr txBox="1">
              <a:spLocks noChangeArrowheads="1"/>
            </p:cNvSpPr>
            <p:nvPr/>
          </p:nvSpPr>
          <p:spPr bwMode="auto">
            <a:xfrm>
              <a:off x="1056" y="0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2</a:t>
              </a:r>
              <a:endParaRPr lang="zh-CN" altLang="zh-CN" b="1"/>
            </a:p>
          </p:txBody>
        </p:sp>
        <p:sp>
          <p:nvSpPr>
            <p:cNvPr id="30" name="Text Box 25"/>
            <p:cNvSpPr txBox="1">
              <a:spLocks noChangeArrowheads="1"/>
            </p:cNvSpPr>
            <p:nvPr/>
          </p:nvSpPr>
          <p:spPr bwMode="auto">
            <a:xfrm>
              <a:off x="1794" y="816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3</a:t>
              </a:r>
              <a:endParaRPr lang="zh-CN" altLang="zh-CN" b="1"/>
            </a:p>
          </p:txBody>
        </p:sp>
        <p:sp>
          <p:nvSpPr>
            <p:cNvPr id="31" name="Text Box 26"/>
            <p:cNvSpPr txBox="1">
              <a:spLocks noChangeArrowheads="1"/>
            </p:cNvSpPr>
            <p:nvPr/>
          </p:nvSpPr>
          <p:spPr bwMode="auto">
            <a:xfrm>
              <a:off x="834" y="816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4</a:t>
              </a:r>
              <a:endParaRPr lang="zh-CN" altLang="zh-CN" b="1"/>
            </a:p>
          </p:txBody>
        </p:sp>
        <p:sp>
          <p:nvSpPr>
            <p:cNvPr id="32" name="Text Box 27"/>
            <p:cNvSpPr txBox="1">
              <a:spLocks noChangeArrowheads="1"/>
            </p:cNvSpPr>
            <p:nvPr/>
          </p:nvSpPr>
          <p:spPr bwMode="auto">
            <a:xfrm>
              <a:off x="1344" y="582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5</a:t>
              </a:r>
              <a:endParaRPr lang="zh-CN" altLang="zh-CN" b="1"/>
            </a:p>
          </p:txBody>
        </p:sp>
        <p:sp>
          <p:nvSpPr>
            <p:cNvPr id="33" name="Text Box 28"/>
            <p:cNvSpPr txBox="1">
              <a:spLocks noChangeArrowheads="1"/>
            </p:cNvSpPr>
            <p:nvPr/>
          </p:nvSpPr>
          <p:spPr bwMode="auto">
            <a:xfrm>
              <a:off x="1077" y="309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c</a:t>
              </a:r>
            </a:p>
          </p:txBody>
        </p:sp>
        <p:sp>
          <p:nvSpPr>
            <p:cNvPr id="34" name="Text Box 29"/>
            <p:cNvSpPr txBox="1">
              <a:spLocks noChangeArrowheads="1"/>
            </p:cNvSpPr>
            <p:nvPr/>
          </p:nvSpPr>
          <p:spPr bwMode="auto">
            <a:xfrm>
              <a:off x="1767" y="411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d</a:t>
              </a:r>
            </a:p>
          </p:txBody>
        </p:sp>
        <p:sp>
          <p:nvSpPr>
            <p:cNvPr id="35" name="Oval 30"/>
            <p:cNvSpPr>
              <a:spLocks noChangeAspect="1" noChangeArrowheads="1"/>
            </p:cNvSpPr>
            <p:nvPr/>
          </p:nvSpPr>
          <p:spPr bwMode="auto">
            <a:xfrm>
              <a:off x="546" y="537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6" name="Oval 31"/>
            <p:cNvSpPr>
              <a:spLocks noChangeAspect="1" noChangeArrowheads="1"/>
            </p:cNvSpPr>
            <p:nvPr/>
          </p:nvSpPr>
          <p:spPr bwMode="auto">
            <a:xfrm>
              <a:off x="1143" y="549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7" name="Oval 32"/>
            <p:cNvSpPr>
              <a:spLocks noChangeAspect="1" noChangeArrowheads="1"/>
            </p:cNvSpPr>
            <p:nvPr/>
          </p:nvSpPr>
          <p:spPr bwMode="auto">
            <a:xfrm>
              <a:off x="1134" y="1248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8" name="Oval 33"/>
            <p:cNvSpPr>
              <a:spLocks noChangeAspect="1" noChangeArrowheads="1"/>
            </p:cNvSpPr>
            <p:nvPr/>
          </p:nvSpPr>
          <p:spPr bwMode="auto">
            <a:xfrm>
              <a:off x="1737" y="528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39" name="Group 34"/>
          <p:cNvGrpSpPr>
            <a:grpSpLocks/>
          </p:cNvGrpSpPr>
          <p:nvPr/>
        </p:nvGrpSpPr>
        <p:grpSpPr bwMode="auto">
          <a:xfrm>
            <a:off x="312244" y="819342"/>
            <a:ext cx="3849688" cy="2209800"/>
            <a:chOff x="0" y="0"/>
            <a:chExt cx="2425" cy="1392"/>
          </a:xfrm>
        </p:grpSpPr>
        <p:sp>
          <p:nvSpPr>
            <p:cNvPr id="40" name="Rectangle 35"/>
            <p:cNvSpPr>
              <a:spLocks noChangeArrowheads="1"/>
            </p:cNvSpPr>
            <p:nvPr/>
          </p:nvSpPr>
          <p:spPr bwMode="auto">
            <a:xfrm rot="-7903512">
              <a:off x="1332" y="304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1" name="Rectangle 36"/>
            <p:cNvSpPr>
              <a:spLocks noChangeArrowheads="1"/>
            </p:cNvSpPr>
            <p:nvPr/>
          </p:nvSpPr>
          <p:spPr bwMode="auto">
            <a:xfrm rot="-2919155">
              <a:off x="1854" y="310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2" name="Rectangle 37"/>
            <p:cNvSpPr>
              <a:spLocks noChangeArrowheads="1"/>
            </p:cNvSpPr>
            <p:nvPr/>
          </p:nvSpPr>
          <p:spPr bwMode="auto">
            <a:xfrm rot="-5400000">
              <a:off x="1593" y="601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3" name="Rectangle 38"/>
            <p:cNvSpPr>
              <a:spLocks noChangeArrowheads="1"/>
            </p:cNvSpPr>
            <p:nvPr/>
          </p:nvSpPr>
          <p:spPr bwMode="auto">
            <a:xfrm rot="-2874968">
              <a:off x="1299" y="880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4" name="Rectangle 39"/>
            <p:cNvSpPr>
              <a:spLocks noChangeArrowheads="1"/>
            </p:cNvSpPr>
            <p:nvPr/>
          </p:nvSpPr>
          <p:spPr bwMode="auto">
            <a:xfrm rot="-7972038">
              <a:off x="1908" y="835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5" name="Freeform 40"/>
            <p:cNvSpPr>
              <a:spLocks/>
            </p:cNvSpPr>
            <p:nvPr/>
          </p:nvSpPr>
          <p:spPr bwMode="auto">
            <a:xfrm>
              <a:off x="1465" y="196"/>
              <a:ext cx="176" cy="160"/>
            </a:xfrm>
            <a:custGeom>
              <a:avLst/>
              <a:gdLst>
                <a:gd name="T0" fmla="*/ 0 w 176"/>
                <a:gd name="T1" fmla="*/ 160 h 160"/>
                <a:gd name="T2" fmla="*/ 176 w 176"/>
                <a:gd name="T3" fmla="*/ 0 h 16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6" h="160">
                  <a:moveTo>
                    <a:pt x="0" y="160"/>
                  </a:moveTo>
                  <a:lnTo>
                    <a:pt x="176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Freeform 41"/>
            <p:cNvSpPr>
              <a:spLocks/>
            </p:cNvSpPr>
            <p:nvPr/>
          </p:nvSpPr>
          <p:spPr bwMode="auto">
            <a:xfrm>
              <a:off x="1635" y="202"/>
              <a:ext cx="168" cy="141"/>
            </a:xfrm>
            <a:custGeom>
              <a:avLst/>
              <a:gdLst>
                <a:gd name="T0" fmla="*/ 168 w 168"/>
                <a:gd name="T1" fmla="*/ 141 h 141"/>
                <a:gd name="T2" fmla="*/ 0 w 168"/>
                <a:gd name="T3" fmla="*/ 0 h 14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68" h="141">
                  <a:moveTo>
                    <a:pt x="168" y="141"/>
                  </a:moveTo>
                  <a:lnTo>
                    <a:pt x="0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Freeform 42"/>
            <p:cNvSpPr>
              <a:spLocks/>
            </p:cNvSpPr>
            <p:nvPr/>
          </p:nvSpPr>
          <p:spPr bwMode="auto">
            <a:xfrm>
              <a:off x="1057" y="508"/>
              <a:ext cx="233" cy="223"/>
            </a:xfrm>
            <a:custGeom>
              <a:avLst/>
              <a:gdLst>
                <a:gd name="T0" fmla="*/ 233 w 233"/>
                <a:gd name="T1" fmla="*/ 0 h 223"/>
                <a:gd name="T2" fmla="*/ 0 w 233"/>
                <a:gd name="T3" fmla="*/ 223 h 22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33" h="223">
                  <a:moveTo>
                    <a:pt x="233" y="0"/>
                  </a:moveTo>
                  <a:lnTo>
                    <a:pt x="0" y="223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Freeform 43"/>
            <p:cNvSpPr>
              <a:spLocks/>
            </p:cNvSpPr>
            <p:nvPr/>
          </p:nvSpPr>
          <p:spPr bwMode="auto">
            <a:xfrm>
              <a:off x="1989" y="511"/>
              <a:ext cx="225" cy="216"/>
            </a:xfrm>
            <a:custGeom>
              <a:avLst/>
              <a:gdLst>
                <a:gd name="T0" fmla="*/ 0 w 225"/>
                <a:gd name="T1" fmla="*/ 0 h 216"/>
                <a:gd name="T2" fmla="*/ 225 w 225"/>
                <a:gd name="T3" fmla="*/ 216 h 21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25" h="216">
                  <a:moveTo>
                    <a:pt x="0" y="0"/>
                  </a:moveTo>
                  <a:lnTo>
                    <a:pt x="225" y="216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Freeform 44"/>
            <p:cNvSpPr>
              <a:spLocks/>
            </p:cNvSpPr>
            <p:nvPr/>
          </p:nvSpPr>
          <p:spPr bwMode="auto">
            <a:xfrm>
              <a:off x="1075" y="731"/>
              <a:ext cx="183" cy="201"/>
            </a:xfrm>
            <a:custGeom>
              <a:avLst/>
              <a:gdLst>
                <a:gd name="T0" fmla="*/ 0 w 183"/>
                <a:gd name="T1" fmla="*/ 0 h 201"/>
                <a:gd name="T2" fmla="*/ 183 w 183"/>
                <a:gd name="T3" fmla="*/ 201 h 20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83" h="201">
                  <a:moveTo>
                    <a:pt x="0" y="0"/>
                  </a:moveTo>
                  <a:lnTo>
                    <a:pt x="183" y="201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Freeform 45"/>
            <p:cNvSpPr>
              <a:spLocks/>
            </p:cNvSpPr>
            <p:nvPr/>
          </p:nvSpPr>
          <p:spPr bwMode="auto">
            <a:xfrm>
              <a:off x="1422" y="1078"/>
              <a:ext cx="211" cy="183"/>
            </a:xfrm>
            <a:custGeom>
              <a:avLst/>
              <a:gdLst>
                <a:gd name="T0" fmla="*/ 0 w 211"/>
                <a:gd name="T1" fmla="*/ 0 h 183"/>
                <a:gd name="T2" fmla="*/ 211 w 211"/>
                <a:gd name="T3" fmla="*/ 183 h 18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11" h="183">
                  <a:moveTo>
                    <a:pt x="0" y="0"/>
                  </a:moveTo>
                  <a:lnTo>
                    <a:pt x="211" y="183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Freeform 46"/>
            <p:cNvSpPr>
              <a:spLocks/>
            </p:cNvSpPr>
            <p:nvPr/>
          </p:nvSpPr>
          <p:spPr bwMode="auto">
            <a:xfrm>
              <a:off x="1635" y="1030"/>
              <a:ext cx="243" cy="222"/>
            </a:xfrm>
            <a:custGeom>
              <a:avLst/>
              <a:gdLst>
                <a:gd name="T0" fmla="*/ 0 w 243"/>
                <a:gd name="T1" fmla="*/ 222 h 222"/>
                <a:gd name="T2" fmla="*/ 243 w 243"/>
                <a:gd name="T3" fmla="*/ 0 h 22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43" h="222">
                  <a:moveTo>
                    <a:pt x="0" y="222"/>
                  </a:moveTo>
                  <a:lnTo>
                    <a:pt x="243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Freeform 47"/>
            <p:cNvSpPr>
              <a:spLocks/>
            </p:cNvSpPr>
            <p:nvPr/>
          </p:nvSpPr>
          <p:spPr bwMode="auto">
            <a:xfrm>
              <a:off x="2053" y="724"/>
              <a:ext cx="158" cy="153"/>
            </a:xfrm>
            <a:custGeom>
              <a:avLst/>
              <a:gdLst>
                <a:gd name="T0" fmla="*/ 0 w 158"/>
                <a:gd name="T1" fmla="*/ 153 h 153"/>
                <a:gd name="T2" fmla="*/ 158 w 158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58" h="153">
                  <a:moveTo>
                    <a:pt x="0" y="153"/>
                  </a:moveTo>
                  <a:lnTo>
                    <a:pt x="158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Freeform 48"/>
            <p:cNvSpPr>
              <a:spLocks/>
            </p:cNvSpPr>
            <p:nvPr/>
          </p:nvSpPr>
          <p:spPr bwMode="auto">
            <a:xfrm>
              <a:off x="1059" y="724"/>
              <a:ext cx="462" cy="1"/>
            </a:xfrm>
            <a:custGeom>
              <a:avLst/>
              <a:gdLst>
                <a:gd name="T0" fmla="*/ 0 w 462"/>
                <a:gd name="T1" fmla="*/ 0 h 1"/>
                <a:gd name="T2" fmla="*/ 462 w 46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62" h="1">
                  <a:moveTo>
                    <a:pt x="0" y="0"/>
                  </a:moveTo>
                  <a:lnTo>
                    <a:pt x="462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Freeform 49"/>
            <p:cNvSpPr>
              <a:spLocks/>
            </p:cNvSpPr>
            <p:nvPr/>
          </p:nvSpPr>
          <p:spPr bwMode="auto">
            <a:xfrm>
              <a:off x="1764" y="724"/>
              <a:ext cx="447" cy="1"/>
            </a:xfrm>
            <a:custGeom>
              <a:avLst/>
              <a:gdLst>
                <a:gd name="T0" fmla="*/ 0 w 447"/>
                <a:gd name="T1" fmla="*/ 0 h 1"/>
                <a:gd name="T2" fmla="*/ 447 w 447"/>
                <a:gd name="T3" fmla="*/ 1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47" h="1">
                  <a:moveTo>
                    <a:pt x="0" y="0"/>
                  </a:moveTo>
                  <a:lnTo>
                    <a:pt x="447" y="1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Line 50"/>
            <p:cNvSpPr>
              <a:spLocks noChangeShapeType="1"/>
            </p:cNvSpPr>
            <p:nvPr/>
          </p:nvSpPr>
          <p:spPr bwMode="auto">
            <a:xfrm>
              <a:off x="243" y="196"/>
              <a:ext cx="13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Line 51"/>
            <p:cNvSpPr>
              <a:spLocks noChangeShapeType="1"/>
            </p:cNvSpPr>
            <p:nvPr/>
          </p:nvSpPr>
          <p:spPr bwMode="auto">
            <a:xfrm>
              <a:off x="237" y="1261"/>
              <a:ext cx="13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Oval 52"/>
            <p:cNvSpPr>
              <a:spLocks noChangeAspect="1" noChangeArrowheads="1"/>
            </p:cNvSpPr>
            <p:nvPr/>
          </p:nvSpPr>
          <p:spPr bwMode="auto">
            <a:xfrm>
              <a:off x="1596" y="184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8" name="Oval 53"/>
            <p:cNvSpPr>
              <a:spLocks noChangeAspect="1" noChangeArrowheads="1"/>
            </p:cNvSpPr>
            <p:nvPr/>
          </p:nvSpPr>
          <p:spPr bwMode="auto">
            <a:xfrm>
              <a:off x="1587" y="1213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9" name="Oval 54"/>
            <p:cNvSpPr>
              <a:spLocks noChangeAspect="1" noChangeArrowheads="1"/>
            </p:cNvSpPr>
            <p:nvPr/>
          </p:nvSpPr>
          <p:spPr bwMode="auto">
            <a:xfrm>
              <a:off x="1050" y="676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0" name="Oval 55"/>
            <p:cNvSpPr>
              <a:spLocks noChangeAspect="1" noChangeArrowheads="1"/>
            </p:cNvSpPr>
            <p:nvPr/>
          </p:nvSpPr>
          <p:spPr bwMode="auto">
            <a:xfrm>
              <a:off x="2169" y="676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1" name="Oval 56"/>
            <p:cNvSpPr>
              <a:spLocks noChangeAspect="1" noChangeArrowheads="1"/>
            </p:cNvSpPr>
            <p:nvPr/>
          </p:nvSpPr>
          <p:spPr bwMode="auto">
            <a:xfrm>
              <a:off x="195" y="148"/>
              <a:ext cx="68" cy="6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2" name="Oval 57"/>
            <p:cNvSpPr>
              <a:spLocks noChangeAspect="1" noChangeArrowheads="1"/>
            </p:cNvSpPr>
            <p:nvPr/>
          </p:nvSpPr>
          <p:spPr bwMode="auto">
            <a:xfrm>
              <a:off x="177" y="1222"/>
              <a:ext cx="68" cy="6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3" name="Text Box 58"/>
            <p:cNvSpPr txBox="1">
              <a:spLocks noChangeArrowheads="1"/>
            </p:cNvSpPr>
            <p:nvPr/>
          </p:nvSpPr>
          <p:spPr bwMode="auto">
            <a:xfrm>
              <a:off x="8" y="0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a</a:t>
              </a:r>
            </a:p>
          </p:txBody>
        </p:sp>
        <p:sp>
          <p:nvSpPr>
            <p:cNvPr id="64" name="Text Box 59"/>
            <p:cNvSpPr txBox="1">
              <a:spLocks noChangeArrowheads="1"/>
            </p:cNvSpPr>
            <p:nvPr/>
          </p:nvSpPr>
          <p:spPr bwMode="auto">
            <a:xfrm>
              <a:off x="869" y="549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c</a:t>
              </a:r>
            </a:p>
          </p:txBody>
        </p:sp>
        <p:sp>
          <p:nvSpPr>
            <p:cNvPr id="65" name="Text Box 60"/>
            <p:cNvSpPr txBox="1">
              <a:spLocks noChangeArrowheads="1"/>
            </p:cNvSpPr>
            <p:nvPr/>
          </p:nvSpPr>
          <p:spPr bwMode="auto">
            <a:xfrm>
              <a:off x="2213" y="55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d</a:t>
              </a:r>
            </a:p>
          </p:txBody>
        </p:sp>
        <p:sp>
          <p:nvSpPr>
            <p:cNvPr id="66" name="Text Box 61"/>
            <p:cNvSpPr txBox="1">
              <a:spLocks noChangeArrowheads="1"/>
            </p:cNvSpPr>
            <p:nvPr/>
          </p:nvSpPr>
          <p:spPr bwMode="auto">
            <a:xfrm>
              <a:off x="1011" y="227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 dirty="0"/>
                <a:t>R</a:t>
              </a:r>
              <a:r>
                <a:rPr lang="zh-CN" altLang="zh-CN" b="1" baseline="-25000" dirty="0"/>
                <a:t>1</a:t>
              </a:r>
              <a:endParaRPr lang="zh-CN" altLang="zh-CN" b="1" dirty="0"/>
            </a:p>
          </p:txBody>
        </p:sp>
        <p:sp>
          <p:nvSpPr>
            <p:cNvPr id="67" name="Text Box 62"/>
            <p:cNvSpPr txBox="1">
              <a:spLocks noChangeArrowheads="1"/>
            </p:cNvSpPr>
            <p:nvPr/>
          </p:nvSpPr>
          <p:spPr bwMode="auto">
            <a:xfrm>
              <a:off x="1011" y="916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4</a:t>
              </a:r>
              <a:endParaRPr lang="zh-CN" altLang="zh-CN" b="1"/>
            </a:p>
          </p:txBody>
        </p:sp>
        <p:sp>
          <p:nvSpPr>
            <p:cNvPr id="68" name="Text Box 63"/>
            <p:cNvSpPr txBox="1">
              <a:spLocks noChangeArrowheads="1"/>
            </p:cNvSpPr>
            <p:nvPr/>
          </p:nvSpPr>
          <p:spPr bwMode="auto">
            <a:xfrm>
              <a:off x="1947" y="952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3</a:t>
              </a:r>
              <a:endParaRPr lang="zh-CN" altLang="zh-CN" b="1"/>
            </a:p>
          </p:txBody>
        </p:sp>
        <p:sp>
          <p:nvSpPr>
            <p:cNvPr id="69" name="Text Box 64"/>
            <p:cNvSpPr txBox="1">
              <a:spLocks noChangeArrowheads="1"/>
            </p:cNvSpPr>
            <p:nvPr/>
          </p:nvSpPr>
          <p:spPr bwMode="auto">
            <a:xfrm>
              <a:off x="1923" y="196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2</a:t>
              </a:r>
              <a:endParaRPr lang="zh-CN" altLang="zh-CN" b="1"/>
            </a:p>
          </p:txBody>
        </p:sp>
        <p:sp>
          <p:nvSpPr>
            <p:cNvPr id="70" name="Text Box 65"/>
            <p:cNvSpPr txBox="1">
              <a:spLocks noChangeArrowheads="1"/>
            </p:cNvSpPr>
            <p:nvPr/>
          </p:nvSpPr>
          <p:spPr bwMode="auto">
            <a:xfrm>
              <a:off x="1491" y="436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5</a:t>
              </a:r>
              <a:endParaRPr lang="zh-CN" altLang="zh-CN" b="1"/>
            </a:p>
          </p:txBody>
        </p:sp>
        <p:sp>
          <p:nvSpPr>
            <p:cNvPr id="71" name="Text Box 66"/>
            <p:cNvSpPr txBox="1">
              <a:spLocks noChangeArrowheads="1"/>
            </p:cNvSpPr>
            <p:nvPr/>
          </p:nvSpPr>
          <p:spPr bwMode="auto">
            <a:xfrm>
              <a:off x="0" y="11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b</a:t>
              </a:r>
            </a:p>
          </p:txBody>
        </p:sp>
      </p:grpSp>
      <p:grpSp>
        <p:nvGrpSpPr>
          <p:cNvPr id="72" name="Group 67"/>
          <p:cNvGrpSpPr>
            <a:grpSpLocks/>
          </p:cNvGrpSpPr>
          <p:nvPr/>
        </p:nvGrpSpPr>
        <p:grpSpPr bwMode="auto">
          <a:xfrm>
            <a:off x="749109" y="4163708"/>
            <a:ext cx="3989388" cy="2544763"/>
            <a:chOff x="0" y="0"/>
            <a:chExt cx="2513" cy="1603"/>
          </a:xfrm>
        </p:grpSpPr>
        <p:sp>
          <p:nvSpPr>
            <p:cNvPr id="73" name="Text Box 68"/>
            <p:cNvSpPr txBox="1">
              <a:spLocks noChangeArrowheads="1"/>
            </p:cNvSpPr>
            <p:nvPr/>
          </p:nvSpPr>
          <p:spPr bwMode="auto">
            <a:xfrm>
              <a:off x="0" y="1191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b</a:t>
              </a:r>
            </a:p>
          </p:txBody>
        </p:sp>
        <p:sp>
          <p:nvSpPr>
            <p:cNvPr id="74" name="Rectangle 69"/>
            <p:cNvSpPr>
              <a:spLocks noChangeArrowheads="1"/>
            </p:cNvSpPr>
            <p:nvPr/>
          </p:nvSpPr>
          <p:spPr bwMode="auto">
            <a:xfrm rot="-2919155">
              <a:off x="1281" y="405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5" name="Rectangle 70"/>
            <p:cNvSpPr>
              <a:spLocks noChangeArrowheads="1"/>
            </p:cNvSpPr>
            <p:nvPr/>
          </p:nvSpPr>
          <p:spPr bwMode="auto">
            <a:xfrm rot="-5400000">
              <a:off x="1548" y="183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6" name="Rectangle 71"/>
            <p:cNvSpPr>
              <a:spLocks noChangeArrowheads="1"/>
            </p:cNvSpPr>
            <p:nvPr/>
          </p:nvSpPr>
          <p:spPr bwMode="auto">
            <a:xfrm rot="-7972038">
              <a:off x="1335" y="930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7" name="Freeform 72"/>
            <p:cNvSpPr>
              <a:spLocks/>
            </p:cNvSpPr>
            <p:nvPr/>
          </p:nvSpPr>
          <p:spPr bwMode="auto">
            <a:xfrm>
              <a:off x="1062" y="297"/>
              <a:ext cx="168" cy="141"/>
            </a:xfrm>
            <a:custGeom>
              <a:avLst/>
              <a:gdLst>
                <a:gd name="T0" fmla="*/ 168 w 168"/>
                <a:gd name="T1" fmla="*/ 141 h 141"/>
                <a:gd name="T2" fmla="*/ 0 w 168"/>
                <a:gd name="T3" fmla="*/ 0 h 14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68" h="141">
                  <a:moveTo>
                    <a:pt x="168" y="141"/>
                  </a:moveTo>
                  <a:lnTo>
                    <a:pt x="0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" name="Freeform 73"/>
            <p:cNvSpPr>
              <a:spLocks/>
            </p:cNvSpPr>
            <p:nvPr/>
          </p:nvSpPr>
          <p:spPr bwMode="auto">
            <a:xfrm>
              <a:off x="1416" y="606"/>
              <a:ext cx="769" cy="727"/>
            </a:xfrm>
            <a:custGeom>
              <a:avLst/>
              <a:gdLst>
                <a:gd name="T0" fmla="*/ 0 w 769"/>
                <a:gd name="T1" fmla="*/ 0 h 727"/>
                <a:gd name="T2" fmla="*/ 769 w 769"/>
                <a:gd name="T3" fmla="*/ 727 h 7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69" h="727">
                  <a:moveTo>
                    <a:pt x="0" y="0"/>
                  </a:moveTo>
                  <a:lnTo>
                    <a:pt x="769" y="727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Freeform 74"/>
            <p:cNvSpPr>
              <a:spLocks/>
            </p:cNvSpPr>
            <p:nvPr/>
          </p:nvSpPr>
          <p:spPr bwMode="auto">
            <a:xfrm>
              <a:off x="1062" y="1125"/>
              <a:ext cx="243" cy="222"/>
            </a:xfrm>
            <a:custGeom>
              <a:avLst/>
              <a:gdLst>
                <a:gd name="T0" fmla="*/ 0 w 243"/>
                <a:gd name="T1" fmla="*/ 222 h 222"/>
                <a:gd name="T2" fmla="*/ 243 w 243"/>
                <a:gd name="T3" fmla="*/ 0 h 22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43" h="222">
                  <a:moveTo>
                    <a:pt x="0" y="222"/>
                  </a:moveTo>
                  <a:lnTo>
                    <a:pt x="243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" name="Freeform 75"/>
            <p:cNvSpPr>
              <a:spLocks/>
            </p:cNvSpPr>
            <p:nvPr/>
          </p:nvSpPr>
          <p:spPr bwMode="auto">
            <a:xfrm>
              <a:off x="1480" y="281"/>
              <a:ext cx="715" cy="691"/>
            </a:xfrm>
            <a:custGeom>
              <a:avLst/>
              <a:gdLst>
                <a:gd name="T0" fmla="*/ 0 w 715"/>
                <a:gd name="T1" fmla="*/ 691 h 691"/>
                <a:gd name="T2" fmla="*/ 715 w 715"/>
                <a:gd name="T3" fmla="*/ 0 h 69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15" h="691">
                  <a:moveTo>
                    <a:pt x="0" y="691"/>
                  </a:moveTo>
                  <a:lnTo>
                    <a:pt x="715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" name="Oval 76"/>
            <p:cNvSpPr>
              <a:spLocks noChangeAspect="1" noChangeArrowheads="1"/>
            </p:cNvSpPr>
            <p:nvPr/>
          </p:nvSpPr>
          <p:spPr bwMode="auto">
            <a:xfrm>
              <a:off x="1023" y="279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82" name="Oval 77"/>
            <p:cNvSpPr>
              <a:spLocks noChangeAspect="1" noChangeArrowheads="1"/>
            </p:cNvSpPr>
            <p:nvPr/>
          </p:nvSpPr>
          <p:spPr bwMode="auto">
            <a:xfrm>
              <a:off x="1014" y="1308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83" name="Oval 78"/>
            <p:cNvSpPr>
              <a:spLocks noChangeAspect="1" noChangeArrowheads="1"/>
            </p:cNvSpPr>
            <p:nvPr/>
          </p:nvSpPr>
          <p:spPr bwMode="auto">
            <a:xfrm>
              <a:off x="2142" y="255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84" name="Text Box 79"/>
            <p:cNvSpPr txBox="1">
              <a:spLocks noChangeArrowheads="1"/>
            </p:cNvSpPr>
            <p:nvPr/>
          </p:nvSpPr>
          <p:spPr bwMode="auto">
            <a:xfrm>
              <a:off x="2202" y="120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d</a:t>
              </a:r>
            </a:p>
          </p:txBody>
        </p:sp>
        <p:sp>
          <p:nvSpPr>
            <p:cNvPr id="85" name="Text Box 80"/>
            <p:cNvSpPr txBox="1">
              <a:spLocks noChangeArrowheads="1"/>
            </p:cNvSpPr>
            <p:nvPr/>
          </p:nvSpPr>
          <p:spPr bwMode="auto">
            <a:xfrm>
              <a:off x="1524" y="1353"/>
              <a:ext cx="3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3</a:t>
              </a:r>
              <a:endParaRPr lang="zh-CN" altLang="zh-CN" b="1"/>
            </a:p>
          </p:txBody>
        </p:sp>
        <p:sp>
          <p:nvSpPr>
            <p:cNvPr id="86" name="Text Box 81"/>
            <p:cNvSpPr txBox="1">
              <a:spLocks noChangeArrowheads="1"/>
            </p:cNvSpPr>
            <p:nvPr/>
          </p:nvSpPr>
          <p:spPr bwMode="auto">
            <a:xfrm>
              <a:off x="1035" y="471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2</a:t>
              </a:r>
              <a:endParaRPr lang="zh-CN" altLang="zh-CN" b="1"/>
            </a:p>
          </p:txBody>
        </p:sp>
        <p:sp>
          <p:nvSpPr>
            <p:cNvPr id="87" name="Freeform 82"/>
            <p:cNvSpPr>
              <a:spLocks/>
            </p:cNvSpPr>
            <p:nvPr/>
          </p:nvSpPr>
          <p:spPr bwMode="auto">
            <a:xfrm>
              <a:off x="229" y="300"/>
              <a:ext cx="1244" cy="10"/>
            </a:xfrm>
            <a:custGeom>
              <a:avLst/>
              <a:gdLst>
                <a:gd name="T0" fmla="*/ 0 w 1244"/>
                <a:gd name="T1" fmla="*/ 0 h 10"/>
                <a:gd name="T2" fmla="*/ 1244 w 1244"/>
                <a:gd name="T3" fmla="*/ 10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44" h="10">
                  <a:moveTo>
                    <a:pt x="0" y="0"/>
                  </a:moveTo>
                  <a:lnTo>
                    <a:pt x="1244" y="1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" name="Line 83"/>
            <p:cNvSpPr>
              <a:spLocks noChangeShapeType="1"/>
            </p:cNvSpPr>
            <p:nvPr/>
          </p:nvSpPr>
          <p:spPr bwMode="auto">
            <a:xfrm>
              <a:off x="1710" y="291"/>
              <a:ext cx="4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" name="Freeform 84"/>
            <p:cNvSpPr>
              <a:spLocks/>
            </p:cNvSpPr>
            <p:nvPr/>
          </p:nvSpPr>
          <p:spPr bwMode="auto">
            <a:xfrm>
              <a:off x="284" y="1351"/>
              <a:ext cx="1263" cy="1"/>
            </a:xfrm>
            <a:custGeom>
              <a:avLst/>
              <a:gdLst>
                <a:gd name="T0" fmla="*/ 0 w 1263"/>
                <a:gd name="T1" fmla="*/ 0 h 1"/>
                <a:gd name="T2" fmla="*/ 1263 w 1263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63" h="1">
                  <a:moveTo>
                    <a:pt x="0" y="0"/>
                  </a:moveTo>
                  <a:lnTo>
                    <a:pt x="1263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" name="Freeform 85"/>
            <p:cNvSpPr>
              <a:spLocks/>
            </p:cNvSpPr>
            <p:nvPr/>
          </p:nvSpPr>
          <p:spPr bwMode="auto">
            <a:xfrm>
              <a:off x="2194" y="275"/>
              <a:ext cx="1" cy="445"/>
            </a:xfrm>
            <a:custGeom>
              <a:avLst/>
              <a:gdLst>
                <a:gd name="T0" fmla="*/ 0 w 1"/>
                <a:gd name="T1" fmla="*/ 0 h 445"/>
                <a:gd name="T2" fmla="*/ 1 w 1"/>
                <a:gd name="T3" fmla="*/ 445 h 44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445">
                  <a:moveTo>
                    <a:pt x="0" y="0"/>
                  </a:moveTo>
                  <a:lnTo>
                    <a:pt x="1" y="445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" name="Rectangle 86"/>
            <p:cNvSpPr>
              <a:spLocks noChangeArrowheads="1"/>
            </p:cNvSpPr>
            <p:nvPr/>
          </p:nvSpPr>
          <p:spPr bwMode="auto">
            <a:xfrm rot="-5400000">
              <a:off x="1620" y="1233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2" name="Rectangle 87"/>
            <p:cNvSpPr>
              <a:spLocks noChangeArrowheads="1"/>
            </p:cNvSpPr>
            <p:nvPr/>
          </p:nvSpPr>
          <p:spPr bwMode="auto">
            <a:xfrm>
              <a:off x="2142" y="711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3" name="Freeform 88"/>
            <p:cNvSpPr>
              <a:spLocks/>
            </p:cNvSpPr>
            <p:nvPr/>
          </p:nvSpPr>
          <p:spPr bwMode="auto">
            <a:xfrm>
              <a:off x="2194" y="943"/>
              <a:ext cx="1" cy="399"/>
            </a:xfrm>
            <a:custGeom>
              <a:avLst/>
              <a:gdLst>
                <a:gd name="T0" fmla="*/ 0 w 1"/>
                <a:gd name="T1" fmla="*/ 0 h 399"/>
                <a:gd name="T2" fmla="*/ 1 w 1"/>
                <a:gd name="T3" fmla="*/ 399 h 39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99">
                  <a:moveTo>
                    <a:pt x="0" y="0"/>
                  </a:moveTo>
                  <a:lnTo>
                    <a:pt x="1" y="399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" name="Line 89"/>
            <p:cNvSpPr>
              <a:spLocks noChangeShapeType="1"/>
            </p:cNvSpPr>
            <p:nvPr/>
          </p:nvSpPr>
          <p:spPr bwMode="auto">
            <a:xfrm>
              <a:off x="1776" y="1347"/>
              <a:ext cx="4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" name="Oval 90"/>
            <p:cNvSpPr>
              <a:spLocks noChangeAspect="1" noChangeArrowheads="1"/>
            </p:cNvSpPr>
            <p:nvPr/>
          </p:nvSpPr>
          <p:spPr bwMode="auto">
            <a:xfrm>
              <a:off x="2154" y="1315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6" name="Oval 91"/>
            <p:cNvSpPr>
              <a:spLocks noChangeAspect="1" noChangeArrowheads="1"/>
            </p:cNvSpPr>
            <p:nvPr/>
          </p:nvSpPr>
          <p:spPr bwMode="auto">
            <a:xfrm>
              <a:off x="222" y="1317"/>
              <a:ext cx="68" cy="6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7" name="Oval 92"/>
            <p:cNvSpPr>
              <a:spLocks noChangeAspect="1" noChangeArrowheads="1"/>
            </p:cNvSpPr>
            <p:nvPr/>
          </p:nvSpPr>
          <p:spPr bwMode="auto">
            <a:xfrm>
              <a:off x="171" y="270"/>
              <a:ext cx="68" cy="6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8" name="Text Box 93"/>
            <p:cNvSpPr txBox="1">
              <a:spLocks noChangeArrowheads="1"/>
            </p:cNvSpPr>
            <p:nvPr/>
          </p:nvSpPr>
          <p:spPr bwMode="auto">
            <a:xfrm>
              <a:off x="3" y="183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a</a:t>
              </a:r>
            </a:p>
          </p:txBody>
        </p:sp>
        <p:sp>
          <p:nvSpPr>
            <p:cNvPr id="99" name="Text Box 94"/>
            <p:cNvSpPr txBox="1">
              <a:spLocks noChangeArrowheads="1"/>
            </p:cNvSpPr>
            <p:nvPr/>
          </p:nvSpPr>
          <p:spPr bwMode="auto">
            <a:xfrm>
              <a:off x="1038" y="846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4</a:t>
              </a:r>
              <a:endParaRPr lang="zh-CN" altLang="zh-CN" b="1"/>
            </a:p>
          </p:txBody>
        </p:sp>
        <p:sp>
          <p:nvSpPr>
            <p:cNvPr id="100" name="Text Box 95"/>
            <p:cNvSpPr txBox="1">
              <a:spLocks noChangeArrowheads="1"/>
            </p:cNvSpPr>
            <p:nvPr/>
          </p:nvSpPr>
          <p:spPr bwMode="auto">
            <a:xfrm>
              <a:off x="1452" y="0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1</a:t>
              </a:r>
              <a:endParaRPr lang="zh-CN" altLang="zh-CN" b="1"/>
            </a:p>
          </p:txBody>
        </p:sp>
        <p:sp>
          <p:nvSpPr>
            <p:cNvPr id="101" name="Text Box 96"/>
            <p:cNvSpPr txBox="1">
              <a:spLocks noChangeArrowheads="1"/>
            </p:cNvSpPr>
            <p:nvPr/>
          </p:nvSpPr>
          <p:spPr bwMode="auto">
            <a:xfrm>
              <a:off x="2229" y="690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5</a:t>
              </a:r>
              <a:endParaRPr lang="zh-CN" altLang="zh-CN" b="1"/>
            </a:p>
          </p:txBody>
        </p:sp>
        <p:sp>
          <p:nvSpPr>
            <p:cNvPr id="102" name="Text Box 97"/>
            <p:cNvSpPr txBox="1">
              <a:spLocks noChangeArrowheads="1"/>
            </p:cNvSpPr>
            <p:nvPr/>
          </p:nvSpPr>
          <p:spPr bwMode="auto">
            <a:xfrm>
              <a:off x="2193" y="123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c</a:t>
              </a:r>
            </a:p>
          </p:txBody>
        </p:sp>
      </p:grpSp>
      <p:grpSp>
        <p:nvGrpSpPr>
          <p:cNvPr id="103" name="Group 34"/>
          <p:cNvGrpSpPr>
            <a:grpSpLocks/>
          </p:cNvGrpSpPr>
          <p:nvPr/>
        </p:nvGrpSpPr>
        <p:grpSpPr bwMode="auto">
          <a:xfrm>
            <a:off x="4554044" y="953764"/>
            <a:ext cx="1438275" cy="1741488"/>
            <a:chOff x="869" y="184"/>
            <a:chExt cx="906" cy="1097"/>
          </a:xfrm>
        </p:grpSpPr>
        <p:sp>
          <p:nvSpPr>
            <p:cNvPr id="104" name="Rectangle 35"/>
            <p:cNvSpPr>
              <a:spLocks noChangeArrowheads="1"/>
            </p:cNvSpPr>
            <p:nvPr/>
          </p:nvSpPr>
          <p:spPr bwMode="auto">
            <a:xfrm rot="-7903512">
              <a:off x="1332" y="304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5" name="Rectangle 37"/>
            <p:cNvSpPr>
              <a:spLocks noChangeArrowheads="1"/>
            </p:cNvSpPr>
            <p:nvPr/>
          </p:nvSpPr>
          <p:spPr bwMode="auto">
            <a:xfrm rot="-5400000">
              <a:off x="1593" y="601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6" name="Rectangle 38"/>
            <p:cNvSpPr>
              <a:spLocks noChangeArrowheads="1"/>
            </p:cNvSpPr>
            <p:nvPr/>
          </p:nvSpPr>
          <p:spPr bwMode="auto">
            <a:xfrm rot="-2874968">
              <a:off x="1299" y="880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7" name="Freeform 40"/>
            <p:cNvSpPr>
              <a:spLocks/>
            </p:cNvSpPr>
            <p:nvPr/>
          </p:nvSpPr>
          <p:spPr bwMode="auto">
            <a:xfrm>
              <a:off x="1465" y="196"/>
              <a:ext cx="176" cy="160"/>
            </a:xfrm>
            <a:custGeom>
              <a:avLst/>
              <a:gdLst>
                <a:gd name="T0" fmla="*/ 0 w 176"/>
                <a:gd name="T1" fmla="*/ 160 h 160"/>
                <a:gd name="T2" fmla="*/ 176 w 176"/>
                <a:gd name="T3" fmla="*/ 0 h 16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6" h="160">
                  <a:moveTo>
                    <a:pt x="0" y="160"/>
                  </a:moveTo>
                  <a:lnTo>
                    <a:pt x="176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" name="Freeform 42"/>
            <p:cNvSpPr>
              <a:spLocks/>
            </p:cNvSpPr>
            <p:nvPr/>
          </p:nvSpPr>
          <p:spPr bwMode="auto">
            <a:xfrm>
              <a:off x="1057" y="508"/>
              <a:ext cx="233" cy="223"/>
            </a:xfrm>
            <a:custGeom>
              <a:avLst/>
              <a:gdLst>
                <a:gd name="T0" fmla="*/ 233 w 233"/>
                <a:gd name="T1" fmla="*/ 0 h 223"/>
                <a:gd name="T2" fmla="*/ 0 w 233"/>
                <a:gd name="T3" fmla="*/ 223 h 22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33" h="223">
                  <a:moveTo>
                    <a:pt x="233" y="0"/>
                  </a:moveTo>
                  <a:lnTo>
                    <a:pt x="0" y="223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" name="Freeform 44"/>
            <p:cNvSpPr>
              <a:spLocks/>
            </p:cNvSpPr>
            <p:nvPr/>
          </p:nvSpPr>
          <p:spPr bwMode="auto">
            <a:xfrm>
              <a:off x="1075" y="731"/>
              <a:ext cx="183" cy="201"/>
            </a:xfrm>
            <a:custGeom>
              <a:avLst/>
              <a:gdLst>
                <a:gd name="T0" fmla="*/ 0 w 183"/>
                <a:gd name="T1" fmla="*/ 0 h 201"/>
                <a:gd name="T2" fmla="*/ 183 w 183"/>
                <a:gd name="T3" fmla="*/ 201 h 20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83" h="201">
                  <a:moveTo>
                    <a:pt x="0" y="0"/>
                  </a:moveTo>
                  <a:lnTo>
                    <a:pt x="183" y="201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" name="Freeform 45"/>
            <p:cNvSpPr>
              <a:spLocks/>
            </p:cNvSpPr>
            <p:nvPr/>
          </p:nvSpPr>
          <p:spPr bwMode="auto">
            <a:xfrm>
              <a:off x="1422" y="1078"/>
              <a:ext cx="211" cy="183"/>
            </a:xfrm>
            <a:custGeom>
              <a:avLst/>
              <a:gdLst>
                <a:gd name="T0" fmla="*/ 0 w 211"/>
                <a:gd name="T1" fmla="*/ 0 h 183"/>
                <a:gd name="T2" fmla="*/ 211 w 211"/>
                <a:gd name="T3" fmla="*/ 183 h 18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11" h="183">
                  <a:moveTo>
                    <a:pt x="0" y="0"/>
                  </a:moveTo>
                  <a:lnTo>
                    <a:pt x="211" y="183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" name="Freeform 48"/>
            <p:cNvSpPr>
              <a:spLocks/>
            </p:cNvSpPr>
            <p:nvPr/>
          </p:nvSpPr>
          <p:spPr bwMode="auto">
            <a:xfrm>
              <a:off x="1059" y="724"/>
              <a:ext cx="462" cy="1"/>
            </a:xfrm>
            <a:custGeom>
              <a:avLst/>
              <a:gdLst>
                <a:gd name="T0" fmla="*/ 0 w 462"/>
                <a:gd name="T1" fmla="*/ 0 h 1"/>
                <a:gd name="T2" fmla="*/ 462 w 46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62" h="1">
                  <a:moveTo>
                    <a:pt x="0" y="0"/>
                  </a:moveTo>
                  <a:lnTo>
                    <a:pt x="462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" name="Oval 52"/>
            <p:cNvSpPr>
              <a:spLocks noChangeAspect="1" noChangeArrowheads="1"/>
            </p:cNvSpPr>
            <p:nvPr/>
          </p:nvSpPr>
          <p:spPr bwMode="auto">
            <a:xfrm>
              <a:off x="1596" y="184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3" name="Oval 53"/>
            <p:cNvSpPr>
              <a:spLocks noChangeAspect="1" noChangeArrowheads="1"/>
            </p:cNvSpPr>
            <p:nvPr/>
          </p:nvSpPr>
          <p:spPr bwMode="auto">
            <a:xfrm>
              <a:off x="1587" y="1213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4" name="Oval 54"/>
            <p:cNvSpPr>
              <a:spLocks noChangeAspect="1" noChangeArrowheads="1"/>
            </p:cNvSpPr>
            <p:nvPr/>
          </p:nvSpPr>
          <p:spPr bwMode="auto">
            <a:xfrm>
              <a:off x="1050" y="676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5" name="Text Box 59"/>
            <p:cNvSpPr txBox="1">
              <a:spLocks noChangeArrowheads="1"/>
            </p:cNvSpPr>
            <p:nvPr/>
          </p:nvSpPr>
          <p:spPr bwMode="auto">
            <a:xfrm>
              <a:off x="869" y="549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c</a:t>
              </a:r>
            </a:p>
          </p:txBody>
        </p:sp>
        <p:sp>
          <p:nvSpPr>
            <p:cNvPr id="116" name="Text Box 61"/>
            <p:cNvSpPr txBox="1">
              <a:spLocks noChangeArrowheads="1"/>
            </p:cNvSpPr>
            <p:nvPr/>
          </p:nvSpPr>
          <p:spPr bwMode="auto">
            <a:xfrm>
              <a:off x="1011" y="227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 dirty="0"/>
                <a:t>R</a:t>
              </a:r>
              <a:r>
                <a:rPr lang="zh-CN" altLang="zh-CN" b="1" baseline="-25000" dirty="0"/>
                <a:t>1</a:t>
              </a:r>
              <a:endParaRPr lang="zh-CN" altLang="zh-CN" b="1" dirty="0"/>
            </a:p>
          </p:txBody>
        </p:sp>
        <p:sp>
          <p:nvSpPr>
            <p:cNvPr id="117" name="Text Box 62"/>
            <p:cNvSpPr txBox="1">
              <a:spLocks noChangeArrowheads="1"/>
            </p:cNvSpPr>
            <p:nvPr/>
          </p:nvSpPr>
          <p:spPr bwMode="auto">
            <a:xfrm>
              <a:off x="1011" y="916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4</a:t>
              </a:r>
              <a:endParaRPr lang="zh-CN" altLang="zh-CN" b="1"/>
            </a:p>
          </p:txBody>
        </p:sp>
        <p:sp>
          <p:nvSpPr>
            <p:cNvPr id="118" name="Text Box 65"/>
            <p:cNvSpPr txBox="1">
              <a:spLocks noChangeArrowheads="1"/>
            </p:cNvSpPr>
            <p:nvPr/>
          </p:nvSpPr>
          <p:spPr bwMode="auto">
            <a:xfrm>
              <a:off x="1491" y="436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 dirty="0"/>
                <a:t>R</a:t>
              </a:r>
              <a:r>
                <a:rPr lang="zh-CN" altLang="zh-CN" b="1" baseline="-25000" dirty="0"/>
                <a:t>5</a:t>
              </a:r>
              <a:endParaRPr lang="zh-CN" altLang="zh-CN" b="1" dirty="0"/>
            </a:p>
          </p:txBody>
        </p:sp>
      </p:grpSp>
      <p:grpSp>
        <p:nvGrpSpPr>
          <p:cNvPr id="119" name="Group 34"/>
          <p:cNvGrpSpPr>
            <a:grpSpLocks/>
          </p:cNvGrpSpPr>
          <p:nvPr/>
        </p:nvGrpSpPr>
        <p:grpSpPr bwMode="auto">
          <a:xfrm>
            <a:off x="6678119" y="1159558"/>
            <a:ext cx="2470150" cy="1050925"/>
            <a:chOff x="869" y="184"/>
            <a:chExt cx="1556" cy="662"/>
          </a:xfrm>
        </p:grpSpPr>
        <p:sp>
          <p:nvSpPr>
            <p:cNvPr id="120" name="Rectangle 35"/>
            <p:cNvSpPr>
              <a:spLocks noChangeArrowheads="1"/>
            </p:cNvSpPr>
            <p:nvPr/>
          </p:nvSpPr>
          <p:spPr bwMode="auto">
            <a:xfrm rot="-7903512">
              <a:off x="1332" y="304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1" name="Rectangle 36"/>
            <p:cNvSpPr>
              <a:spLocks noChangeArrowheads="1"/>
            </p:cNvSpPr>
            <p:nvPr/>
          </p:nvSpPr>
          <p:spPr bwMode="auto">
            <a:xfrm rot="-2919155">
              <a:off x="1854" y="310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2" name="Rectangle 37"/>
            <p:cNvSpPr>
              <a:spLocks noChangeArrowheads="1"/>
            </p:cNvSpPr>
            <p:nvPr/>
          </p:nvSpPr>
          <p:spPr bwMode="auto">
            <a:xfrm rot="-5400000">
              <a:off x="1593" y="601"/>
              <a:ext cx="9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3" name="Freeform 40"/>
            <p:cNvSpPr>
              <a:spLocks/>
            </p:cNvSpPr>
            <p:nvPr/>
          </p:nvSpPr>
          <p:spPr bwMode="auto">
            <a:xfrm>
              <a:off x="1465" y="196"/>
              <a:ext cx="176" cy="160"/>
            </a:xfrm>
            <a:custGeom>
              <a:avLst/>
              <a:gdLst>
                <a:gd name="T0" fmla="*/ 0 w 176"/>
                <a:gd name="T1" fmla="*/ 160 h 160"/>
                <a:gd name="T2" fmla="*/ 176 w 176"/>
                <a:gd name="T3" fmla="*/ 0 h 16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6" h="160">
                  <a:moveTo>
                    <a:pt x="0" y="160"/>
                  </a:moveTo>
                  <a:lnTo>
                    <a:pt x="176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" name="Freeform 41"/>
            <p:cNvSpPr>
              <a:spLocks/>
            </p:cNvSpPr>
            <p:nvPr/>
          </p:nvSpPr>
          <p:spPr bwMode="auto">
            <a:xfrm>
              <a:off x="1635" y="202"/>
              <a:ext cx="168" cy="141"/>
            </a:xfrm>
            <a:custGeom>
              <a:avLst/>
              <a:gdLst>
                <a:gd name="T0" fmla="*/ 168 w 168"/>
                <a:gd name="T1" fmla="*/ 141 h 141"/>
                <a:gd name="T2" fmla="*/ 0 w 168"/>
                <a:gd name="T3" fmla="*/ 0 h 14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68" h="141">
                  <a:moveTo>
                    <a:pt x="168" y="141"/>
                  </a:moveTo>
                  <a:lnTo>
                    <a:pt x="0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" name="Freeform 42"/>
            <p:cNvSpPr>
              <a:spLocks/>
            </p:cNvSpPr>
            <p:nvPr/>
          </p:nvSpPr>
          <p:spPr bwMode="auto">
            <a:xfrm>
              <a:off x="1057" y="508"/>
              <a:ext cx="233" cy="223"/>
            </a:xfrm>
            <a:custGeom>
              <a:avLst/>
              <a:gdLst>
                <a:gd name="T0" fmla="*/ 233 w 233"/>
                <a:gd name="T1" fmla="*/ 0 h 223"/>
                <a:gd name="T2" fmla="*/ 0 w 233"/>
                <a:gd name="T3" fmla="*/ 223 h 22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33" h="223">
                  <a:moveTo>
                    <a:pt x="233" y="0"/>
                  </a:moveTo>
                  <a:lnTo>
                    <a:pt x="0" y="223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" name="Freeform 43"/>
            <p:cNvSpPr>
              <a:spLocks/>
            </p:cNvSpPr>
            <p:nvPr/>
          </p:nvSpPr>
          <p:spPr bwMode="auto">
            <a:xfrm>
              <a:off x="1989" y="511"/>
              <a:ext cx="225" cy="216"/>
            </a:xfrm>
            <a:custGeom>
              <a:avLst/>
              <a:gdLst>
                <a:gd name="T0" fmla="*/ 0 w 225"/>
                <a:gd name="T1" fmla="*/ 0 h 216"/>
                <a:gd name="T2" fmla="*/ 225 w 225"/>
                <a:gd name="T3" fmla="*/ 216 h 21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25" h="216">
                  <a:moveTo>
                    <a:pt x="0" y="0"/>
                  </a:moveTo>
                  <a:lnTo>
                    <a:pt x="225" y="216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" name="Freeform 48"/>
            <p:cNvSpPr>
              <a:spLocks/>
            </p:cNvSpPr>
            <p:nvPr/>
          </p:nvSpPr>
          <p:spPr bwMode="auto">
            <a:xfrm>
              <a:off x="1059" y="724"/>
              <a:ext cx="462" cy="1"/>
            </a:xfrm>
            <a:custGeom>
              <a:avLst/>
              <a:gdLst>
                <a:gd name="T0" fmla="*/ 0 w 462"/>
                <a:gd name="T1" fmla="*/ 0 h 1"/>
                <a:gd name="T2" fmla="*/ 462 w 46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62" h="1">
                  <a:moveTo>
                    <a:pt x="0" y="0"/>
                  </a:moveTo>
                  <a:lnTo>
                    <a:pt x="462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8" name="Freeform 49"/>
            <p:cNvSpPr>
              <a:spLocks/>
            </p:cNvSpPr>
            <p:nvPr/>
          </p:nvSpPr>
          <p:spPr bwMode="auto">
            <a:xfrm>
              <a:off x="1764" y="724"/>
              <a:ext cx="447" cy="1"/>
            </a:xfrm>
            <a:custGeom>
              <a:avLst/>
              <a:gdLst>
                <a:gd name="T0" fmla="*/ 0 w 447"/>
                <a:gd name="T1" fmla="*/ 0 h 1"/>
                <a:gd name="T2" fmla="*/ 447 w 447"/>
                <a:gd name="T3" fmla="*/ 1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47" h="1">
                  <a:moveTo>
                    <a:pt x="0" y="0"/>
                  </a:moveTo>
                  <a:lnTo>
                    <a:pt x="447" y="1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" name="Oval 52"/>
            <p:cNvSpPr>
              <a:spLocks noChangeAspect="1" noChangeArrowheads="1"/>
            </p:cNvSpPr>
            <p:nvPr/>
          </p:nvSpPr>
          <p:spPr bwMode="auto">
            <a:xfrm>
              <a:off x="1596" y="184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0" name="Oval 54"/>
            <p:cNvSpPr>
              <a:spLocks noChangeAspect="1" noChangeArrowheads="1"/>
            </p:cNvSpPr>
            <p:nvPr/>
          </p:nvSpPr>
          <p:spPr bwMode="auto">
            <a:xfrm>
              <a:off x="1050" y="676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1" name="Oval 55"/>
            <p:cNvSpPr>
              <a:spLocks noChangeAspect="1" noChangeArrowheads="1"/>
            </p:cNvSpPr>
            <p:nvPr/>
          </p:nvSpPr>
          <p:spPr bwMode="auto">
            <a:xfrm>
              <a:off x="2169" y="676"/>
              <a:ext cx="68" cy="6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2" name="Text Box 59"/>
            <p:cNvSpPr txBox="1">
              <a:spLocks noChangeArrowheads="1"/>
            </p:cNvSpPr>
            <p:nvPr/>
          </p:nvSpPr>
          <p:spPr bwMode="auto">
            <a:xfrm>
              <a:off x="869" y="549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c</a:t>
              </a:r>
            </a:p>
          </p:txBody>
        </p:sp>
        <p:sp>
          <p:nvSpPr>
            <p:cNvPr id="133" name="Text Box 60"/>
            <p:cNvSpPr txBox="1">
              <a:spLocks noChangeArrowheads="1"/>
            </p:cNvSpPr>
            <p:nvPr/>
          </p:nvSpPr>
          <p:spPr bwMode="auto">
            <a:xfrm>
              <a:off x="2213" y="55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d</a:t>
              </a:r>
            </a:p>
          </p:txBody>
        </p:sp>
        <p:sp>
          <p:nvSpPr>
            <p:cNvPr id="134" name="Text Box 61"/>
            <p:cNvSpPr txBox="1">
              <a:spLocks noChangeArrowheads="1"/>
            </p:cNvSpPr>
            <p:nvPr/>
          </p:nvSpPr>
          <p:spPr bwMode="auto">
            <a:xfrm>
              <a:off x="1011" y="227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 dirty="0"/>
                <a:t>R</a:t>
              </a:r>
              <a:r>
                <a:rPr lang="zh-CN" altLang="zh-CN" b="1" baseline="-25000" dirty="0"/>
                <a:t>1</a:t>
              </a:r>
              <a:endParaRPr lang="zh-CN" altLang="zh-CN" b="1" dirty="0"/>
            </a:p>
          </p:txBody>
        </p:sp>
        <p:sp>
          <p:nvSpPr>
            <p:cNvPr id="135" name="Text Box 64"/>
            <p:cNvSpPr txBox="1">
              <a:spLocks noChangeArrowheads="1"/>
            </p:cNvSpPr>
            <p:nvPr/>
          </p:nvSpPr>
          <p:spPr bwMode="auto">
            <a:xfrm>
              <a:off x="1923" y="196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2</a:t>
              </a:r>
              <a:endParaRPr lang="zh-CN" altLang="zh-CN" b="1"/>
            </a:p>
          </p:txBody>
        </p:sp>
        <p:sp>
          <p:nvSpPr>
            <p:cNvPr id="136" name="Text Box 65"/>
            <p:cNvSpPr txBox="1">
              <a:spLocks noChangeArrowheads="1"/>
            </p:cNvSpPr>
            <p:nvPr/>
          </p:nvSpPr>
          <p:spPr bwMode="auto">
            <a:xfrm>
              <a:off x="1491" y="436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R</a:t>
              </a:r>
              <a:r>
                <a:rPr lang="zh-CN" altLang="zh-CN" b="1" baseline="-25000"/>
                <a:t>5</a:t>
              </a:r>
              <a:endParaRPr lang="zh-CN" altLang="zh-CN" b="1"/>
            </a:p>
          </p:txBody>
        </p:sp>
      </p:grpSp>
      <p:sp>
        <p:nvSpPr>
          <p:cNvPr id="137" name="文本框 136"/>
          <p:cNvSpPr txBox="1"/>
          <p:nvPr/>
        </p:nvSpPr>
        <p:spPr>
          <a:xfrm>
            <a:off x="4464555" y="2913697"/>
            <a:ext cx="2146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星型联结（</a:t>
            </a:r>
            <a:r>
              <a:rPr lang="en-US" altLang="zh-CN" dirty="0"/>
              <a:t>Y</a:t>
            </a:r>
            <a:r>
              <a:rPr lang="zh-CN" altLang="en-US" dirty="0"/>
              <a:t>联结）</a:t>
            </a:r>
          </a:p>
        </p:txBody>
      </p:sp>
      <p:sp>
        <p:nvSpPr>
          <p:cNvPr id="138" name="文本框 137"/>
          <p:cNvSpPr txBox="1"/>
          <p:nvPr/>
        </p:nvSpPr>
        <p:spPr>
          <a:xfrm>
            <a:off x="6732700" y="2920266"/>
            <a:ext cx="23920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三角型联结（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∆联</a:t>
            </a:r>
            <a:r>
              <a:rPr lang="zh-CN" altLang="en-US" dirty="0"/>
              <a:t>结）</a:t>
            </a:r>
          </a:p>
        </p:txBody>
      </p:sp>
      <p:sp>
        <p:nvSpPr>
          <p:cNvPr id="139" name="Text Box 4"/>
          <p:cNvSpPr txBox="1">
            <a:spLocks noChangeArrowheads="1"/>
          </p:cNvSpPr>
          <p:nvPr/>
        </p:nvSpPr>
        <p:spPr bwMode="auto">
          <a:xfrm>
            <a:off x="1177064" y="3115940"/>
            <a:ext cx="2270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电桥</a:t>
            </a:r>
            <a:r>
              <a:rPr lang="zh-CN" altLang="zh-CN" sz="2400" b="1" dirty="0">
                <a:latin typeface="楷体_GB2312" pitchFamily="49" charset="-122"/>
                <a:ea typeface="楷体_GB2312" pitchFamily="49" charset="-122"/>
              </a:rPr>
              <a:t>平衡条件</a:t>
            </a:r>
          </a:p>
        </p:txBody>
      </p:sp>
      <p:sp>
        <p:nvSpPr>
          <p:cNvPr id="140" name="Text Box 5"/>
          <p:cNvSpPr txBox="1">
            <a:spLocks noChangeArrowheads="1"/>
          </p:cNvSpPr>
          <p:nvPr/>
        </p:nvSpPr>
        <p:spPr bwMode="auto">
          <a:xfrm>
            <a:off x="1224689" y="3662040"/>
            <a:ext cx="19653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="1" dirty="0">
                <a:solidFill>
                  <a:srgbClr val="FF3300"/>
                </a:solidFill>
              </a:rPr>
              <a:t>R</a:t>
            </a:r>
            <a:r>
              <a:rPr lang="zh-CN" altLang="zh-CN" sz="2400" b="1" baseline="-25000" dirty="0">
                <a:solidFill>
                  <a:srgbClr val="FF3300"/>
                </a:solidFill>
              </a:rPr>
              <a:t>1</a:t>
            </a:r>
            <a:r>
              <a:rPr lang="zh-CN" altLang="zh-CN" sz="2400" b="1" dirty="0">
                <a:solidFill>
                  <a:srgbClr val="FF3300"/>
                </a:solidFill>
              </a:rPr>
              <a:t>R</a:t>
            </a:r>
            <a:r>
              <a:rPr lang="zh-CN" altLang="zh-CN" sz="2400" b="1" baseline="-25000" dirty="0">
                <a:solidFill>
                  <a:srgbClr val="FF3300"/>
                </a:solidFill>
              </a:rPr>
              <a:t>3</a:t>
            </a:r>
            <a:r>
              <a:rPr lang="zh-CN" altLang="zh-CN" sz="2400" b="1" dirty="0">
                <a:solidFill>
                  <a:srgbClr val="FF3300"/>
                </a:solidFill>
              </a:rPr>
              <a:t>=R</a:t>
            </a:r>
            <a:r>
              <a:rPr lang="zh-CN" altLang="zh-CN" sz="2400" b="1" baseline="-25000" dirty="0">
                <a:solidFill>
                  <a:srgbClr val="FF3300"/>
                </a:solidFill>
              </a:rPr>
              <a:t>2</a:t>
            </a:r>
            <a:r>
              <a:rPr lang="zh-CN" altLang="zh-CN" sz="2400" b="1" dirty="0">
                <a:solidFill>
                  <a:srgbClr val="FF3300"/>
                </a:solidFill>
              </a:rPr>
              <a:t>R</a:t>
            </a:r>
            <a:r>
              <a:rPr lang="zh-CN" altLang="zh-CN" sz="2400" b="1" baseline="-25000" dirty="0">
                <a:solidFill>
                  <a:srgbClr val="FF3300"/>
                </a:solidFill>
              </a:rPr>
              <a:t>4</a:t>
            </a:r>
            <a:endParaRPr lang="zh-CN" altLang="zh-CN" sz="2400" b="1" dirty="0">
              <a:solidFill>
                <a:srgbClr val="FF3300"/>
              </a:solidFill>
            </a:endParaRPr>
          </a:p>
        </p:txBody>
      </p:sp>
      <p:grpSp>
        <p:nvGrpSpPr>
          <p:cNvPr id="141" name="Group 109"/>
          <p:cNvGrpSpPr>
            <a:grpSpLocks/>
          </p:cNvGrpSpPr>
          <p:nvPr/>
        </p:nvGrpSpPr>
        <p:grpSpPr bwMode="auto">
          <a:xfrm>
            <a:off x="2837589" y="3687440"/>
            <a:ext cx="3581400" cy="457200"/>
            <a:chOff x="0" y="0"/>
            <a:chExt cx="2256" cy="288"/>
          </a:xfrm>
        </p:grpSpPr>
        <p:sp>
          <p:nvSpPr>
            <p:cNvPr id="142" name="Text Box 110"/>
            <p:cNvSpPr txBox="1">
              <a:spLocks noChangeArrowheads="1"/>
            </p:cNvSpPr>
            <p:nvPr/>
          </p:nvSpPr>
          <p:spPr bwMode="auto">
            <a:xfrm>
              <a:off x="192" y="0"/>
              <a:ext cx="206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 b="1" dirty="0">
                  <a:solidFill>
                    <a:srgbClr val="FF3300"/>
                  </a:solidFill>
                </a:rPr>
                <a:t>u</a:t>
              </a:r>
              <a:r>
                <a:rPr lang="zh-CN" altLang="zh-CN" sz="2400" b="1" baseline="-25000" dirty="0">
                  <a:solidFill>
                    <a:srgbClr val="FF3300"/>
                  </a:solidFill>
                </a:rPr>
                <a:t>cd</a:t>
              </a:r>
              <a:r>
                <a:rPr lang="zh-CN" altLang="zh-CN" sz="2400" b="1" dirty="0">
                  <a:solidFill>
                    <a:srgbClr val="FF3300"/>
                  </a:solidFill>
                </a:rPr>
                <a:t>=0，i</a:t>
              </a:r>
              <a:r>
                <a:rPr lang="zh-CN" altLang="zh-CN" sz="2400" b="1" baseline="-25000" dirty="0">
                  <a:solidFill>
                    <a:srgbClr val="FF3300"/>
                  </a:solidFill>
                </a:rPr>
                <a:t>cd</a:t>
              </a:r>
              <a:r>
                <a:rPr lang="zh-CN" altLang="zh-CN" sz="2400" b="1" dirty="0">
                  <a:solidFill>
                    <a:srgbClr val="FF3300"/>
                  </a:solidFill>
                </a:rPr>
                <a:t>= u</a:t>
              </a:r>
              <a:r>
                <a:rPr lang="zh-CN" altLang="zh-CN" sz="2400" b="1" baseline="-25000" dirty="0">
                  <a:solidFill>
                    <a:srgbClr val="FF3300"/>
                  </a:solidFill>
                </a:rPr>
                <a:t>cd</a:t>
              </a:r>
              <a:r>
                <a:rPr lang="zh-CN" altLang="zh-CN" sz="2400" b="1" dirty="0">
                  <a:solidFill>
                    <a:srgbClr val="FF3300"/>
                  </a:solidFill>
                </a:rPr>
                <a:t>/R</a:t>
              </a:r>
              <a:r>
                <a:rPr lang="zh-CN" altLang="zh-CN" sz="2400" b="1" baseline="-25000" dirty="0">
                  <a:solidFill>
                    <a:srgbClr val="FF3300"/>
                  </a:solidFill>
                </a:rPr>
                <a:t>5</a:t>
              </a:r>
              <a:r>
                <a:rPr lang="zh-CN" altLang="zh-CN" sz="2400" b="1" dirty="0">
                  <a:solidFill>
                    <a:srgbClr val="FF3300"/>
                  </a:solidFill>
                </a:rPr>
                <a:t>=0</a:t>
              </a:r>
              <a:endParaRPr lang="zh-CN" altLang="zh-CN" sz="2400" b="1" baseline="-25000" dirty="0">
                <a:solidFill>
                  <a:srgbClr val="FF3300"/>
                </a:solidFill>
              </a:endParaRPr>
            </a:p>
          </p:txBody>
        </p:sp>
        <p:sp>
          <p:nvSpPr>
            <p:cNvPr id="143" name="Line 111"/>
            <p:cNvSpPr>
              <a:spLocks noChangeShapeType="1"/>
            </p:cNvSpPr>
            <p:nvPr/>
          </p:nvSpPr>
          <p:spPr bwMode="auto">
            <a:xfrm>
              <a:off x="0" y="176"/>
              <a:ext cx="1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945681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" grpId="0" autoUpdateAnimBg="0"/>
      <p:bldP spid="140" grpId="0" autoUpdateAnimBg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星形电路和三角形电路的等效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1C66AF1-24A0-446C-B0A8-326C494344F1}" type="datetime1">
              <a:rPr lang="zh-CN" altLang="en-US" smtClean="0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74CEB45-B7B4-4CEA-8E4A-DA539A380401}" type="slidenum">
              <a:rPr lang="en-US" altLang="zh-CN" smtClean="0"/>
              <a:pPr>
                <a:defRPr/>
              </a:pPr>
              <a:t>66</a:t>
            </a:fld>
            <a:endParaRPr lang="en-US" altLang="zh-CN"/>
          </a:p>
        </p:txBody>
      </p:sp>
      <p:graphicFrame>
        <p:nvGraphicFramePr>
          <p:cNvPr id="7" name="Object 11"/>
          <p:cNvGraphicFramePr>
            <a:graphicFrameLocks noChangeAspect="1"/>
          </p:cNvGraphicFramePr>
          <p:nvPr/>
        </p:nvGraphicFramePr>
        <p:xfrm>
          <a:off x="260077" y="674291"/>
          <a:ext cx="3021013" cy="2478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62" name="Flash Movie" r:id="rId3" imgW="2391480" imgH="1961640" progId="Flash.Movie">
                  <p:embed/>
                </p:oleObj>
              </mc:Choice>
              <mc:Fallback>
                <p:oleObj name="Flash Movie" r:id="rId3" imgW="2391480" imgH="1961640" progId="Flash.Movie">
                  <p:embed/>
                  <p:pic>
                    <p:nvPicPr>
                      <p:cNvPr id="7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077" y="674291"/>
                        <a:ext cx="3021013" cy="2478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2"/>
          <p:cNvGraphicFramePr>
            <a:graphicFrameLocks noChangeAspect="1"/>
          </p:cNvGraphicFramePr>
          <p:nvPr/>
        </p:nvGraphicFramePr>
        <p:xfrm>
          <a:off x="5940152" y="828278"/>
          <a:ext cx="2778125" cy="2373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63" name="Flash 文档" r:id="rId5" imgW="1997640" imgH="1707480" progId="Flash.Movie">
                  <p:embed/>
                </p:oleObj>
              </mc:Choice>
              <mc:Fallback>
                <p:oleObj name="Flash 文档" r:id="rId5" imgW="1997640" imgH="1707480" progId="Flash.Movie">
                  <p:embed/>
                  <p:pic>
                    <p:nvPicPr>
                      <p:cNvPr id="8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0152" y="828278"/>
                        <a:ext cx="2778125" cy="2373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Group 13"/>
          <p:cNvGrpSpPr>
            <a:grpSpLocks/>
          </p:cNvGrpSpPr>
          <p:nvPr/>
        </p:nvGrpSpPr>
        <p:grpSpPr bwMode="auto">
          <a:xfrm>
            <a:off x="2698477" y="2472928"/>
            <a:ext cx="4114800" cy="609600"/>
            <a:chOff x="1728" y="3792"/>
            <a:chExt cx="2592" cy="384"/>
          </a:xfrm>
        </p:grpSpPr>
        <p:sp>
          <p:nvSpPr>
            <p:cNvPr id="10" name="AutoShape 14"/>
            <p:cNvSpPr>
              <a:spLocks noChangeArrowheads="1"/>
            </p:cNvSpPr>
            <p:nvPr/>
          </p:nvSpPr>
          <p:spPr bwMode="auto">
            <a:xfrm>
              <a:off x="2328" y="3792"/>
              <a:ext cx="1104" cy="96"/>
            </a:xfrm>
            <a:prstGeom prst="leftRightArrow">
              <a:avLst>
                <a:gd name="adj1" fmla="val 50000"/>
                <a:gd name="adj2" fmla="val 230000"/>
              </a:avLst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zh-CN" altLang="en-US" sz="1800"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11" name="Rectangle 15"/>
            <p:cNvSpPr>
              <a:spLocks noChangeArrowheads="1"/>
            </p:cNvSpPr>
            <p:nvPr/>
          </p:nvSpPr>
          <p:spPr bwMode="auto">
            <a:xfrm>
              <a:off x="1728" y="3888"/>
              <a:ext cx="25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i="1" dirty="0">
                  <a:solidFill>
                    <a:schemeClr val="hlink"/>
                  </a:solidFill>
                  <a:ea typeface="隶书" panose="02010509060101010101" pitchFamily="49" charset="-122"/>
                </a:rPr>
                <a:t>           u-</a:t>
              </a:r>
              <a:r>
                <a:rPr lang="en-US" altLang="zh-CN" i="1" dirty="0" err="1">
                  <a:solidFill>
                    <a:schemeClr val="hlink"/>
                  </a:solidFill>
                  <a:ea typeface="隶书" panose="02010509060101010101" pitchFamily="49" charset="-122"/>
                </a:rPr>
                <a:t>i</a:t>
              </a:r>
              <a:r>
                <a:rPr lang="en-US" altLang="zh-CN" dirty="0">
                  <a:solidFill>
                    <a:schemeClr val="hlink"/>
                  </a:solidFill>
                  <a:ea typeface="隶书" panose="02010509060101010101" pitchFamily="49" charset="-122"/>
                </a:rPr>
                <a:t> </a:t>
              </a:r>
              <a:r>
                <a:rPr lang="zh-CN" altLang="en-US" dirty="0">
                  <a:solidFill>
                    <a:schemeClr val="hlink"/>
                  </a:solidFill>
                  <a:ea typeface="隶书" panose="02010509060101010101" pitchFamily="49" charset="-122"/>
                </a:rPr>
                <a:t>关系相同</a:t>
              </a:r>
            </a:p>
          </p:txBody>
        </p:sp>
      </p:grpSp>
      <p:graphicFrame>
        <p:nvGraphicFramePr>
          <p:cNvPr id="12" name="Object 17"/>
          <p:cNvGraphicFramePr>
            <a:graphicFrameLocks noChangeAspect="1"/>
          </p:cNvGraphicFramePr>
          <p:nvPr/>
        </p:nvGraphicFramePr>
        <p:xfrm>
          <a:off x="3303315" y="1761728"/>
          <a:ext cx="2663825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64" name="公式" r:id="rId7" imgW="952087" imgH="241195" progId="Equation.3">
                  <p:embed/>
                </p:oleObj>
              </mc:Choice>
              <mc:Fallback>
                <p:oleObj name="公式" r:id="rId7" imgW="952087" imgH="241195" progId="Equation.3">
                  <p:embed/>
                  <p:pic>
                    <p:nvPicPr>
                      <p:cNvPr id="12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3315" y="1761728"/>
                        <a:ext cx="2663825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1023764" y="3172222"/>
            <a:ext cx="16491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>
                <a:solidFill>
                  <a:srgbClr val="FF0000"/>
                </a:solidFill>
                <a:ea typeface="隶书" panose="02010509060101010101" pitchFamily="49" charset="-122"/>
              </a:rPr>
              <a:t>星形电路</a:t>
            </a:r>
            <a:endParaRPr lang="en-US" altLang="zh-CN" sz="2800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sp>
        <p:nvSpPr>
          <p:cNvPr id="14" name="Rectangle 2"/>
          <p:cNvSpPr>
            <a:spLocks noChangeArrowheads="1"/>
          </p:cNvSpPr>
          <p:nvPr/>
        </p:nvSpPr>
        <p:spPr bwMode="auto">
          <a:xfrm>
            <a:off x="6444208" y="3172222"/>
            <a:ext cx="2099816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>
                <a:solidFill>
                  <a:srgbClr val="FF0000"/>
                </a:solidFill>
                <a:ea typeface="隶书" panose="02010509060101010101" pitchFamily="49" charset="-122"/>
              </a:rPr>
              <a:t>三角形电路</a:t>
            </a:r>
            <a:endParaRPr lang="en-US" altLang="zh-CN" sz="2800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grpSp>
        <p:nvGrpSpPr>
          <p:cNvPr id="15" name="Group 44"/>
          <p:cNvGrpSpPr>
            <a:grpSpLocks/>
          </p:cNvGrpSpPr>
          <p:nvPr/>
        </p:nvGrpSpPr>
        <p:grpSpPr bwMode="auto">
          <a:xfrm>
            <a:off x="3331275" y="3543961"/>
            <a:ext cx="2416175" cy="1362075"/>
            <a:chOff x="2109" y="822"/>
            <a:chExt cx="1522" cy="858"/>
          </a:xfrm>
        </p:grpSpPr>
        <p:graphicFrame>
          <p:nvGraphicFramePr>
            <p:cNvPr id="16" name="Object 23"/>
            <p:cNvGraphicFramePr>
              <a:graphicFrameLocks noChangeAspect="1"/>
            </p:cNvGraphicFramePr>
            <p:nvPr/>
          </p:nvGraphicFramePr>
          <p:xfrm>
            <a:off x="2109" y="1111"/>
            <a:ext cx="1522" cy="5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765" name="Equation" r:id="rId9" imgW="1155700" imgH="431800" progId="Equation.DSMT4">
                    <p:embed/>
                  </p:oleObj>
                </mc:Choice>
                <mc:Fallback>
                  <p:oleObj name="Equation" r:id="rId9" imgW="1155700" imgH="431800" progId="Equation.DSMT4">
                    <p:embed/>
                    <p:pic>
                      <p:nvPicPr>
                        <p:cNvPr id="16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09" y="1111"/>
                          <a:ext cx="1522" cy="569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0000FF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>
                                  <a:alpha val="50195"/>
                                </a:schemeClr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Object 27"/>
            <p:cNvGraphicFramePr>
              <a:graphicFrameLocks noChangeAspect="1"/>
            </p:cNvGraphicFramePr>
            <p:nvPr/>
          </p:nvGraphicFramePr>
          <p:xfrm>
            <a:off x="2517" y="822"/>
            <a:ext cx="737" cy="2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766" name="Equation" r:id="rId11" imgW="469696" imgH="177723" progId="Equation.DSMT4">
                    <p:embed/>
                  </p:oleObj>
                </mc:Choice>
                <mc:Fallback>
                  <p:oleObj name="Equation" r:id="rId11" imgW="469696" imgH="177723" progId="Equation.DSMT4">
                    <p:embed/>
                    <p:pic>
                      <p:nvPicPr>
                        <p:cNvPr id="17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17" y="822"/>
                          <a:ext cx="737" cy="278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0000FF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CC00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" name="Group 42"/>
          <p:cNvGrpSpPr>
            <a:grpSpLocks/>
          </p:cNvGrpSpPr>
          <p:nvPr/>
        </p:nvGrpSpPr>
        <p:grpSpPr bwMode="auto">
          <a:xfrm>
            <a:off x="232475" y="3550311"/>
            <a:ext cx="2522537" cy="1365250"/>
            <a:chOff x="157" y="826"/>
            <a:chExt cx="1589" cy="860"/>
          </a:xfrm>
        </p:grpSpPr>
        <p:graphicFrame>
          <p:nvGraphicFramePr>
            <p:cNvPr id="19" name="Object 21"/>
            <p:cNvGraphicFramePr>
              <a:graphicFrameLocks noChangeAspect="1"/>
            </p:cNvGraphicFramePr>
            <p:nvPr/>
          </p:nvGraphicFramePr>
          <p:xfrm>
            <a:off x="157" y="1117"/>
            <a:ext cx="1589" cy="5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767" name="Equation" r:id="rId13" imgW="1206500" imgH="431800" progId="Equation.DSMT4">
                    <p:embed/>
                  </p:oleObj>
                </mc:Choice>
                <mc:Fallback>
                  <p:oleObj name="Equation" r:id="rId13" imgW="1206500" imgH="431800" progId="Equation.DSMT4">
                    <p:embed/>
                    <p:pic>
                      <p:nvPicPr>
                        <p:cNvPr id="19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7" y="1117"/>
                          <a:ext cx="1589" cy="569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0000FF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CC00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Object 28"/>
            <p:cNvGraphicFramePr>
              <a:graphicFrameLocks noChangeAspect="1"/>
            </p:cNvGraphicFramePr>
            <p:nvPr/>
          </p:nvGraphicFramePr>
          <p:xfrm>
            <a:off x="690" y="826"/>
            <a:ext cx="693" cy="2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768" name="Equation" r:id="rId15" imgW="469696" imgH="177723" progId="Equation.DSMT4">
                    <p:embed/>
                  </p:oleObj>
                </mc:Choice>
                <mc:Fallback>
                  <p:oleObj name="Equation" r:id="rId15" imgW="469696" imgH="177723" progId="Equation.DSMT4">
                    <p:embed/>
                    <p:pic>
                      <p:nvPicPr>
                        <p:cNvPr id="2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0" y="826"/>
                          <a:ext cx="693" cy="284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chemeClr val="accent2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" name="Rectangle 32"/>
          <p:cNvSpPr>
            <a:spLocks noChangeArrowheads="1"/>
          </p:cNvSpPr>
          <p:nvPr/>
        </p:nvSpPr>
        <p:spPr bwMode="auto">
          <a:xfrm>
            <a:off x="307087" y="5450549"/>
            <a:ext cx="13684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chemeClr val="accent2"/>
                </a:solidFill>
                <a:ea typeface="隶书" panose="02010509060101010101" pitchFamily="49" charset="-122"/>
              </a:rPr>
              <a:t>规律：</a:t>
            </a:r>
          </a:p>
        </p:txBody>
      </p:sp>
      <p:grpSp>
        <p:nvGrpSpPr>
          <p:cNvPr id="22" name="Group 41"/>
          <p:cNvGrpSpPr>
            <a:grpSpLocks/>
          </p:cNvGrpSpPr>
          <p:nvPr/>
        </p:nvGrpSpPr>
        <p:grpSpPr bwMode="auto">
          <a:xfrm>
            <a:off x="1458025" y="5307674"/>
            <a:ext cx="6985000" cy="889000"/>
            <a:chOff x="793" y="2115"/>
            <a:chExt cx="4400" cy="560"/>
          </a:xfrm>
        </p:grpSpPr>
        <p:sp>
          <p:nvSpPr>
            <p:cNvPr id="23" name="Rectangle 34"/>
            <p:cNvSpPr>
              <a:spLocks noChangeArrowheads="1"/>
            </p:cNvSpPr>
            <p:nvPr/>
          </p:nvSpPr>
          <p:spPr bwMode="auto">
            <a:xfrm>
              <a:off x="3061" y="2115"/>
              <a:ext cx="186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b="1">
                  <a:solidFill>
                    <a:srgbClr val="CC3300"/>
                  </a:solidFill>
                  <a:ea typeface="宋体" panose="02010600030101010101" pitchFamily="2" charset="-122"/>
                </a:rPr>
                <a:t>夹臂电阻（导）之积</a:t>
              </a:r>
            </a:p>
          </p:txBody>
        </p:sp>
        <p:sp>
          <p:nvSpPr>
            <p:cNvPr id="24" name="Line 36"/>
            <p:cNvSpPr>
              <a:spLocks noChangeShapeType="1"/>
            </p:cNvSpPr>
            <p:nvPr/>
          </p:nvSpPr>
          <p:spPr bwMode="auto">
            <a:xfrm>
              <a:off x="2834" y="2418"/>
              <a:ext cx="2268" cy="0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Rectangle 37"/>
            <p:cNvSpPr>
              <a:spLocks noChangeArrowheads="1"/>
            </p:cNvSpPr>
            <p:nvPr/>
          </p:nvSpPr>
          <p:spPr bwMode="auto">
            <a:xfrm>
              <a:off x="2879" y="2387"/>
              <a:ext cx="231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b="1">
                  <a:solidFill>
                    <a:srgbClr val="CC3300"/>
                  </a:solidFill>
                  <a:ea typeface="宋体" panose="02010600030101010101" pitchFamily="2" charset="-122"/>
                </a:rPr>
                <a:t>三个臂的电阻（导）之和</a:t>
              </a:r>
            </a:p>
          </p:txBody>
        </p:sp>
        <p:sp>
          <p:nvSpPr>
            <p:cNvPr id="26" name="Rectangle 38"/>
            <p:cNvSpPr>
              <a:spLocks noChangeArrowheads="1"/>
            </p:cNvSpPr>
            <p:nvPr/>
          </p:nvSpPr>
          <p:spPr bwMode="auto">
            <a:xfrm>
              <a:off x="793" y="2251"/>
              <a:ext cx="206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b="1" dirty="0">
                  <a:solidFill>
                    <a:srgbClr val="CC3300"/>
                  </a:solidFill>
                  <a:ea typeface="宋体" panose="02010600030101010101" pitchFamily="2" charset="-122"/>
                </a:rPr>
                <a:t>一个臂的电阻（导）</a:t>
              </a:r>
              <a:r>
                <a:rPr lang="en-US" altLang="zh-CN" b="1" dirty="0">
                  <a:solidFill>
                    <a:schemeClr val="hlink"/>
                  </a:solidFill>
                  <a:ea typeface="宋体" panose="02010600030101010101" pitchFamily="2" charset="-122"/>
                </a:rPr>
                <a:t>=</a:t>
              </a:r>
            </a:p>
          </p:txBody>
        </p:sp>
      </p:grpSp>
      <p:graphicFrame>
        <p:nvGraphicFramePr>
          <p:cNvPr id="27" name="Object 39"/>
          <p:cNvGraphicFramePr>
            <a:graphicFrameLocks noChangeAspect="1"/>
          </p:cNvGraphicFramePr>
          <p:nvPr/>
        </p:nvGraphicFramePr>
        <p:xfrm>
          <a:off x="5758562" y="3994811"/>
          <a:ext cx="3214688" cy="903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69" name="Equation" r:id="rId17" imgW="1536700" imgH="431800" progId="Equation.DSMT4">
                  <p:embed/>
                </p:oleObj>
              </mc:Choice>
              <mc:Fallback>
                <p:oleObj name="Equation" r:id="rId17" imgW="1536700" imgH="431800" progId="Equation.DSMT4">
                  <p:embed/>
                  <p:pic>
                    <p:nvPicPr>
                      <p:cNvPr id="27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8562" y="3994811"/>
                        <a:ext cx="3214688" cy="903288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>
                                <a:alpha val="50195"/>
                              </a:schemeClr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04447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21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FCBFE92-4950-4839-A96A-5A927330549D}" type="datetime1">
              <a:rPr lang="zh-CN" altLang="en-US" smtClean="0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C9DF94E-7D5D-4B62-90AF-0A54AC735541}" type="slidenum">
              <a:rPr lang="en-US" altLang="zh-CN" smtClean="0"/>
              <a:pPr>
                <a:defRPr/>
              </a:pPr>
              <a:t>67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96526" y="3245007"/>
                <a:ext cx="2473947" cy="184730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12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31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12</m:t>
                                      </m:r>
                                    </m:sub>
                                  </m:s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13</m:t>
                                      </m:r>
                                    </m:sub>
                                  </m:s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23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12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23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12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13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23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31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23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12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13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23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26" y="3245007"/>
                <a:ext cx="2473947" cy="184730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Object 3"/>
          <p:cNvGraphicFramePr>
            <a:graphicFrameLocks noChangeAspect="1"/>
          </p:cNvGraphicFramePr>
          <p:nvPr/>
        </p:nvGraphicFramePr>
        <p:xfrm>
          <a:off x="188069" y="519024"/>
          <a:ext cx="3021013" cy="2478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62" name="Flash Movie" r:id="rId4" imgW="2391480" imgH="1961640" progId="Flash.Movie">
                  <p:embed/>
                </p:oleObj>
              </mc:Choice>
              <mc:Fallback>
                <p:oleObj name="Flash Movie" r:id="rId4" imgW="2391480" imgH="1961640" progId="Flash.Movie">
                  <p:embed/>
                  <p:pic>
                    <p:nvPicPr>
                      <p:cNvPr id="6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069" y="519024"/>
                        <a:ext cx="3021013" cy="2478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"/>
          <p:cNvGraphicFramePr>
            <a:graphicFrameLocks noChangeAspect="1"/>
          </p:cNvGraphicFramePr>
          <p:nvPr/>
        </p:nvGraphicFramePr>
        <p:xfrm>
          <a:off x="5868144" y="601574"/>
          <a:ext cx="2778125" cy="2373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63" name="Flash 文档" r:id="rId6" imgW="1997640" imgH="1707480" progId="Flash.Movie">
                  <p:embed/>
                </p:oleObj>
              </mc:Choice>
              <mc:Fallback>
                <p:oleObj name="Flash 文档" r:id="rId6" imgW="1997640" imgH="1707480" progId="Flash.Movie">
                  <p:embed/>
                  <p:pic>
                    <p:nvPicPr>
                      <p:cNvPr id="7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8144" y="601574"/>
                        <a:ext cx="2778125" cy="2373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5"/>
          <p:cNvGrpSpPr>
            <a:grpSpLocks/>
          </p:cNvGrpSpPr>
          <p:nvPr/>
        </p:nvGrpSpPr>
        <p:grpSpPr bwMode="auto">
          <a:xfrm>
            <a:off x="2627784" y="1136000"/>
            <a:ext cx="4114800" cy="609600"/>
            <a:chOff x="1728" y="3792"/>
            <a:chExt cx="2592" cy="384"/>
          </a:xfrm>
        </p:grpSpPr>
        <p:sp>
          <p:nvSpPr>
            <p:cNvPr id="9" name="AutoShape 6"/>
            <p:cNvSpPr>
              <a:spLocks noChangeArrowheads="1"/>
            </p:cNvSpPr>
            <p:nvPr/>
          </p:nvSpPr>
          <p:spPr bwMode="auto">
            <a:xfrm>
              <a:off x="2328" y="3792"/>
              <a:ext cx="1104" cy="96"/>
            </a:xfrm>
            <a:prstGeom prst="leftRightArrow">
              <a:avLst>
                <a:gd name="adj1" fmla="val 50000"/>
                <a:gd name="adj2" fmla="val 230000"/>
              </a:avLst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zh-CN" altLang="en-US" sz="1800"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10" name="Rectangle 7"/>
            <p:cNvSpPr>
              <a:spLocks noChangeArrowheads="1"/>
            </p:cNvSpPr>
            <p:nvPr/>
          </p:nvSpPr>
          <p:spPr bwMode="auto">
            <a:xfrm>
              <a:off x="1728" y="3888"/>
              <a:ext cx="25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i="1">
                  <a:solidFill>
                    <a:schemeClr val="hlink"/>
                  </a:solidFill>
                  <a:ea typeface="隶书" panose="02010509060101010101" pitchFamily="49" charset="-122"/>
                </a:rPr>
                <a:t>           u-i</a:t>
              </a:r>
              <a:r>
                <a:rPr lang="en-US" altLang="zh-CN">
                  <a:solidFill>
                    <a:schemeClr val="hlink"/>
                  </a:solidFill>
                  <a:ea typeface="隶书" panose="02010509060101010101" pitchFamily="49" charset="-122"/>
                </a:rPr>
                <a:t> </a:t>
              </a:r>
              <a:r>
                <a:rPr lang="zh-CN" altLang="en-US">
                  <a:solidFill>
                    <a:schemeClr val="hlink"/>
                  </a:solidFill>
                  <a:ea typeface="隶书" panose="02010509060101010101" pitchFamily="49" charset="-122"/>
                </a:rPr>
                <a:t>关系相同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/>
              <p:cNvSpPr txBox="1"/>
              <p:nvPr/>
            </p:nvSpPr>
            <p:spPr>
              <a:xfrm>
                <a:off x="2570473" y="3258159"/>
                <a:ext cx="5626669" cy="21307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13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12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12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31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23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13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13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12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23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23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12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12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13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23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23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12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13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13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31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23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23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31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12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13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13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23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12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12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13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23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13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23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0473" y="3258159"/>
                <a:ext cx="5626669" cy="213071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/>
              <p:cNvSpPr/>
              <p:nvPr/>
            </p:nvSpPr>
            <p:spPr>
              <a:xfrm>
                <a:off x="401924" y="5402022"/>
                <a:ext cx="5218801" cy="74481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X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23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23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6" name="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924" y="5402022"/>
                <a:ext cx="5218801" cy="74481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594882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FCBFE92-4950-4839-A96A-5A927330549D}" type="datetime1">
              <a:rPr lang="zh-CN" altLang="en-US" smtClean="0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C9DF94E-7D5D-4B62-90AF-0A54AC735541}" type="slidenum">
              <a:rPr lang="en-US" altLang="zh-CN" smtClean="0"/>
              <a:pPr>
                <a:defRPr/>
              </a:pPr>
              <a:t>68</a:t>
            </a:fld>
            <a:endParaRPr lang="en-US" altLang="zh-CN"/>
          </a:p>
        </p:txBody>
      </p:sp>
      <p:graphicFrame>
        <p:nvGraphicFramePr>
          <p:cNvPr id="5" name="Object 3"/>
          <p:cNvGraphicFramePr>
            <a:graphicFrameLocks noChangeAspect="1"/>
          </p:cNvGraphicFramePr>
          <p:nvPr/>
        </p:nvGraphicFramePr>
        <p:xfrm>
          <a:off x="188069" y="519024"/>
          <a:ext cx="3021013" cy="2478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98" name="Flash Movie" r:id="rId3" imgW="2391480" imgH="1961640" progId="Flash.Movie">
                  <p:embed/>
                </p:oleObj>
              </mc:Choice>
              <mc:Fallback>
                <p:oleObj name="Flash Movie" r:id="rId3" imgW="2391480" imgH="1961640" progId="Flash.Movie">
                  <p:embed/>
                  <p:pic>
                    <p:nvPicPr>
                      <p:cNvPr id="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069" y="519024"/>
                        <a:ext cx="3021013" cy="2478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/>
          <p:cNvGraphicFramePr>
            <a:graphicFrameLocks noChangeAspect="1"/>
          </p:cNvGraphicFramePr>
          <p:nvPr/>
        </p:nvGraphicFramePr>
        <p:xfrm>
          <a:off x="5868144" y="601574"/>
          <a:ext cx="2778125" cy="2373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99" name="Flash 文档" r:id="rId5" imgW="1997640" imgH="1707480" progId="Flash.Movie">
                  <p:embed/>
                </p:oleObj>
              </mc:Choice>
              <mc:Fallback>
                <p:oleObj name="Flash 文档" r:id="rId5" imgW="1997640" imgH="1707480" progId="Flash.Movie">
                  <p:embed/>
                  <p:pic>
                    <p:nvPicPr>
                      <p:cNvPr id="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8144" y="601574"/>
                        <a:ext cx="2778125" cy="2373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5"/>
          <p:cNvGrpSpPr>
            <a:grpSpLocks/>
          </p:cNvGrpSpPr>
          <p:nvPr/>
        </p:nvGrpSpPr>
        <p:grpSpPr bwMode="auto">
          <a:xfrm>
            <a:off x="2627784" y="1136000"/>
            <a:ext cx="4114800" cy="609600"/>
            <a:chOff x="1728" y="3792"/>
            <a:chExt cx="2592" cy="384"/>
          </a:xfrm>
        </p:grpSpPr>
        <p:sp>
          <p:nvSpPr>
            <p:cNvPr id="8" name="AutoShape 6"/>
            <p:cNvSpPr>
              <a:spLocks noChangeArrowheads="1"/>
            </p:cNvSpPr>
            <p:nvPr/>
          </p:nvSpPr>
          <p:spPr bwMode="auto">
            <a:xfrm>
              <a:off x="2328" y="3792"/>
              <a:ext cx="1104" cy="96"/>
            </a:xfrm>
            <a:prstGeom prst="leftRightArrow">
              <a:avLst>
                <a:gd name="adj1" fmla="val 50000"/>
                <a:gd name="adj2" fmla="val 230000"/>
              </a:avLst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zh-CN" altLang="en-US" sz="1800"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9" name="Rectangle 7"/>
            <p:cNvSpPr>
              <a:spLocks noChangeArrowheads="1"/>
            </p:cNvSpPr>
            <p:nvPr/>
          </p:nvSpPr>
          <p:spPr bwMode="auto">
            <a:xfrm>
              <a:off x="1728" y="3888"/>
              <a:ext cx="25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i="1">
                  <a:solidFill>
                    <a:schemeClr val="hlink"/>
                  </a:solidFill>
                  <a:ea typeface="隶书" panose="02010509060101010101" pitchFamily="49" charset="-122"/>
                </a:rPr>
                <a:t>           u-i</a:t>
              </a:r>
              <a:r>
                <a:rPr lang="en-US" altLang="zh-CN">
                  <a:solidFill>
                    <a:schemeClr val="hlink"/>
                  </a:solidFill>
                  <a:ea typeface="隶书" panose="02010509060101010101" pitchFamily="49" charset="-122"/>
                </a:rPr>
                <a:t> </a:t>
              </a:r>
              <a:r>
                <a:rPr lang="zh-CN" altLang="en-US">
                  <a:solidFill>
                    <a:schemeClr val="hlink"/>
                  </a:solidFill>
                  <a:ea typeface="隶书" panose="02010509060101010101" pitchFamily="49" charset="-122"/>
                </a:rPr>
                <a:t>关系相同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/>
              <p:cNvSpPr txBox="1"/>
              <p:nvPr/>
            </p:nvSpPr>
            <p:spPr>
              <a:xfrm>
                <a:off x="-180528" y="3149511"/>
                <a:ext cx="5315197" cy="326204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f>
                                    <m:f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𝐺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23</m:t>
                                          </m:r>
                                        </m:sub>
                                      </m:sSub>
                                    </m:den>
                                  </m:f>
                                  <m:f>
                                    <m:f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𝐺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13</m:t>
                                          </m:r>
                                        </m:sub>
                                      </m:sSub>
                                    </m:den>
                                  </m:f>
                                </m:num>
                                <m:den>
                                  <m:f>
                                    <m:f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p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𝐺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13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𝐺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12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𝐺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23</m:t>
                                          </m:r>
                                        </m:sub>
                                      </m:sSub>
                                    </m:den>
                                  </m:f>
                                </m:den>
                              </m:f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  <m:e>
                              <m:f>
                                <m:f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f>
                                    <m:f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𝐺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23</m:t>
                                          </m:r>
                                        </m:sub>
                                      </m:sSub>
                                    </m:den>
                                  </m:f>
                                  <m:f>
                                    <m:f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𝐺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den>
                                  </m:f>
                                </m:num>
                                <m:den>
                                  <m:f>
                                    <m:f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p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𝐺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13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𝐺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12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𝐺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23</m:t>
                                          </m:r>
                                        </m:sub>
                                      </m:sSub>
                                    </m:den>
                                  </m:f>
                                </m:den>
                              </m:f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13</m:t>
                                  </m:r>
                                </m:sub>
                              </m:sSub>
                            </m:e>
                            <m:e>
                              <m:f>
                                <m:f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f>
                                    <m:f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𝐺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den>
                                  </m:f>
                                  <m:f>
                                    <m:f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𝐺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12</m:t>
                                          </m:r>
                                        </m:sub>
                                      </m:sSub>
                                    </m:den>
                                  </m:f>
                                </m:num>
                                <m:den>
                                  <m:f>
                                    <m:f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p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𝐺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13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𝐺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12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𝐺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23</m:t>
                                          </m:r>
                                        </m:sub>
                                      </m:sSub>
                                    </m:den>
                                  </m:f>
                                </m:den>
                              </m:f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23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80528" y="3149511"/>
                <a:ext cx="5315197" cy="326204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44"/>
          <p:cNvGrpSpPr>
            <a:grpSpLocks/>
          </p:cNvGrpSpPr>
          <p:nvPr/>
        </p:nvGrpSpPr>
        <p:grpSpPr bwMode="auto">
          <a:xfrm>
            <a:off x="4932040" y="3523689"/>
            <a:ext cx="2416175" cy="1362075"/>
            <a:chOff x="2109" y="822"/>
            <a:chExt cx="1522" cy="858"/>
          </a:xfrm>
        </p:grpSpPr>
        <p:graphicFrame>
          <p:nvGraphicFramePr>
            <p:cNvPr id="14" name="Object 23"/>
            <p:cNvGraphicFramePr>
              <a:graphicFrameLocks noChangeAspect="1"/>
            </p:cNvGraphicFramePr>
            <p:nvPr/>
          </p:nvGraphicFramePr>
          <p:xfrm>
            <a:off x="2109" y="1111"/>
            <a:ext cx="1522" cy="5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5800" name="Equation" r:id="rId8" imgW="1155700" imgH="431800" progId="Equation.DSMT4">
                    <p:embed/>
                  </p:oleObj>
                </mc:Choice>
                <mc:Fallback>
                  <p:oleObj name="Equation" r:id="rId8" imgW="1155700" imgH="431800" progId="Equation.DSMT4">
                    <p:embed/>
                    <p:pic>
                      <p:nvPicPr>
                        <p:cNvPr id="14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09" y="1111"/>
                          <a:ext cx="1522" cy="569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0000FF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>
                                  <a:alpha val="50195"/>
                                </a:schemeClr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Object 27"/>
            <p:cNvGraphicFramePr>
              <a:graphicFrameLocks noChangeAspect="1"/>
            </p:cNvGraphicFramePr>
            <p:nvPr/>
          </p:nvGraphicFramePr>
          <p:xfrm>
            <a:off x="2517" y="822"/>
            <a:ext cx="737" cy="2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5801" name="Equation" r:id="rId10" imgW="469696" imgH="177723" progId="Equation.DSMT4">
                    <p:embed/>
                  </p:oleObj>
                </mc:Choice>
                <mc:Fallback>
                  <p:oleObj name="Equation" r:id="rId10" imgW="469696" imgH="177723" progId="Equation.DSMT4">
                    <p:embed/>
                    <p:pic>
                      <p:nvPicPr>
                        <p:cNvPr id="15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17" y="822"/>
                          <a:ext cx="737" cy="278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0000FF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CC00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6" name="Object 39"/>
          <p:cNvGraphicFramePr>
            <a:graphicFrameLocks noChangeAspect="1"/>
          </p:cNvGraphicFramePr>
          <p:nvPr/>
        </p:nvGraphicFramePr>
        <p:xfrm>
          <a:off x="5110524" y="5229428"/>
          <a:ext cx="3214688" cy="903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02" name="Equation" r:id="rId12" imgW="1536700" imgH="431800" progId="Equation.DSMT4">
                  <p:embed/>
                </p:oleObj>
              </mc:Choice>
              <mc:Fallback>
                <p:oleObj name="Equation" r:id="rId12" imgW="1536700" imgH="431800" progId="Equation.DSMT4">
                  <p:embed/>
                  <p:pic>
                    <p:nvPicPr>
                      <p:cNvPr id="16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0524" y="5229428"/>
                        <a:ext cx="3214688" cy="903288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>
                                <a:alpha val="50195"/>
                              </a:schemeClr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80000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991" name="Group 223"/>
          <p:cNvGrpSpPr>
            <a:grpSpLocks/>
          </p:cNvGrpSpPr>
          <p:nvPr/>
        </p:nvGrpSpPr>
        <p:grpSpPr bwMode="auto">
          <a:xfrm>
            <a:off x="5580063" y="404813"/>
            <a:ext cx="2592387" cy="1871662"/>
            <a:chOff x="340" y="1570"/>
            <a:chExt cx="1633" cy="1179"/>
          </a:xfrm>
        </p:grpSpPr>
        <p:sp>
          <p:nvSpPr>
            <p:cNvPr id="32992" name="Text Box 224"/>
            <p:cNvSpPr txBox="1">
              <a:spLocks noChangeArrowheads="1"/>
            </p:cNvSpPr>
            <p:nvPr/>
          </p:nvSpPr>
          <p:spPr bwMode="auto">
            <a:xfrm>
              <a:off x="1320" y="1570"/>
              <a:ext cx="25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i="1">
                  <a:solidFill>
                    <a:schemeClr val="bg1"/>
                  </a:solidFill>
                  <a:ea typeface="宋体" panose="02010600030101010101" pitchFamily="2" charset="-122"/>
                </a:rPr>
                <a:t>i</a:t>
              </a:r>
              <a:endParaRPr kumimoji="1" lang="en-US" altLang="zh-CN">
                <a:solidFill>
                  <a:schemeClr val="bg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2993" name="Text Box 225"/>
            <p:cNvSpPr txBox="1">
              <a:spLocks noChangeArrowheads="1"/>
            </p:cNvSpPr>
            <p:nvPr/>
          </p:nvSpPr>
          <p:spPr bwMode="auto">
            <a:xfrm>
              <a:off x="1172" y="2069"/>
              <a:ext cx="363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i="1" dirty="0">
                  <a:ea typeface="宋体" panose="02010600030101010101" pitchFamily="2" charset="-122"/>
                </a:rPr>
                <a:t>R</a:t>
              </a:r>
              <a:r>
                <a:rPr kumimoji="1" lang="en-US" altLang="zh-CN" baseline="-25000" dirty="0">
                  <a:ea typeface="宋体" panose="02010600030101010101" pitchFamily="2" charset="-122"/>
                </a:rPr>
                <a:t>S</a:t>
              </a:r>
              <a:endParaRPr kumimoji="1" lang="en-US" altLang="zh-CN" dirty="0">
                <a:ea typeface="宋体" panose="02010600030101010101" pitchFamily="2" charset="-122"/>
              </a:endParaRPr>
            </a:p>
          </p:txBody>
        </p:sp>
        <p:sp>
          <p:nvSpPr>
            <p:cNvPr id="32994" name="Text Box 226"/>
            <p:cNvSpPr txBox="1">
              <a:spLocks noChangeArrowheads="1"/>
            </p:cNvSpPr>
            <p:nvPr/>
          </p:nvSpPr>
          <p:spPr bwMode="auto">
            <a:xfrm>
              <a:off x="1614" y="1842"/>
              <a:ext cx="31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i="1">
                  <a:solidFill>
                    <a:schemeClr val="bg1"/>
                  </a:solidFill>
                  <a:ea typeface="宋体" panose="02010600030101010101" pitchFamily="2" charset="-122"/>
                </a:rPr>
                <a:t>+</a:t>
              </a:r>
              <a:endParaRPr kumimoji="1" lang="en-US" altLang="zh-CN">
                <a:solidFill>
                  <a:schemeClr val="bg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2995" name="Text Box 227"/>
            <p:cNvSpPr txBox="1">
              <a:spLocks noChangeArrowheads="1"/>
            </p:cNvSpPr>
            <p:nvPr/>
          </p:nvSpPr>
          <p:spPr bwMode="auto">
            <a:xfrm>
              <a:off x="1662" y="2114"/>
              <a:ext cx="31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i="1">
                  <a:solidFill>
                    <a:schemeClr val="bg1"/>
                  </a:solidFill>
                  <a:ea typeface="宋体" panose="02010600030101010101" pitchFamily="2" charset="-122"/>
                </a:rPr>
                <a:t>u</a:t>
              </a:r>
              <a:endParaRPr kumimoji="1" lang="en-US" altLang="zh-CN">
                <a:solidFill>
                  <a:schemeClr val="bg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2996" name="Text Box 228"/>
            <p:cNvSpPr txBox="1">
              <a:spLocks noChangeArrowheads="1"/>
            </p:cNvSpPr>
            <p:nvPr/>
          </p:nvSpPr>
          <p:spPr bwMode="auto">
            <a:xfrm>
              <a:off x="1614" y="2341"/>
              <a:ext cx="31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i="1">
                  <a:solidFill>
                    <a:schemeClr val="bg1"/>
                  </a:solidFill>
                  <a:ea typeface="宋体" panose="02010600030101010101" pitchFamily="2" charset="-122"/>
                </a:rPr>
                <a:t>_</a:t>
              </a:r>
              <a:endParaRPr kumimoji="1" lang="en-US" altLang="zh-CN">
                <a:solidFill>
                  <a:schemeClr val="bg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2997" name="Line 229"/>
            <p:cNvSpPr>
              <a:spLocks noChangeShapeType="1"/>
            </p:cNvSpPr>
            <p:nvPr/>
          </p:nvSpPr>
          <p:spPr bwMode="auto">
            <a:xfrm>
              <a:off x="1270" y="1932"/>
              <a:ext cx="363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998" name="Line 230"/>
            <p:cNvSpPr>
              <a:spLocks noChangeShapeType="1"/>
            </p:cNvSpPr>
            <p:nvPr/>
          </p:nvSpPr>
          <p:spPr bwMode="auto">
            <a:xfrm>
              <a:off x="1074" y="1887"/>
              <a:ext cx="0" cy="81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999" name="Oval 231"/>
            <p:cNvSpPr>
              <a:spLocks noChangeArrowheads="1"/>
            </p:cNvSpPr>
            <p:nvPr/>
          </p:nvSpPr>
          <p:spPr bwMode="auto">
            <a:xfrm>
              <a:off x="1837" y="1842"/>
              <a:ext cx="98" cy="91"/>
            </a:xfrm>
            <a:prstGeom prst="ellips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000" name="Line 232"/>
            <p:cNvSpPr>
              <a:spLocks noChangeShapeType="1"/>
            </p:cNvSpPr>
            <p:nvPr/>
          </p:nvSpPr>
          <p:spPr bwMode="auto">
            <a:xfrm>
              <a:off x="521" y="1888"/>
              <a:ext cx="0" cy="81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001" name="Line 233"/>
            <p:cNvSpPr>
              <a:spLocks noChangeShapeType="1"/>
            </p:cNvSpPr>
            <p:nvPr/>
          </p:nvSpPr>
          <p:spPr bwMode="auto">
            <a:xfrm flipV="1">
              <a:off x="521" y="1968"/>
              <a:ext cx="0" cy="28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002" name="Text Box 234"/>
            <p:cNvSpPr txBox="1">
              <a:spLocks noChangeArrowheads="1"/>
            </p:cNvSpPr>
            <p:nvPr/>
          </p:nvSpPr>
          <p:spPr bwMode="auto">
            <a:xfrm>
              <a:off x="567" y="1888"/>
              <a:ext cx="36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i="1">
                  <a:solidFill>
                    <a:schemeClr val="bg1"/>
                  </a:solidFill>
                  <a:ea typeface="宋体" panose="02010600030101010101" pitchFamily="2" charset="-122"/>
                </a:rPr>
                <a:t>i</a:t>
              </a:r>
              <a:r>
                <a:rPr kumimoji="1" lang="en-US" altLang="zh-CN" baseline="-25000">
                  <a:solidFill>
                    <a:schemeClr val="bg1"/>
                  </a:solidFill>
                  <a:ea typeface="宋体" panose="02010600030101010101" pitchFamily="2" charset="-122"/>
                </a:rPr>
                <a:t>S</a:t>
              </a:r>
              <a:endParaRPr kumimoji="1" lang="en-US" altLang="zh-CN">
                <a:solidFill>
                  <a:schemeClr val="bg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3003" name="Line 235"/>
            <p:cNvSpPr>
              <a:spLocks noChangeShapeType="1"/>
            </p:cNvSpPr>
            <p:nvPr/>
          </p:nvSpPr>
          <p:spPr bwMode="auto">
            <a:xfrm>
              <a:off x="521" y="2703"/>
              <a:ext cx="1323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004" name="Line 236"/>
            <p:cNvSpPr>
              <a:spLocks noChangeShapeType="1"/>
            </p:cNvSpPr>
            <p:nvPr/>
          </p:nvSpPr>
          <p:spPr bwMode="auto">
            <a:xfrm flipV="1">
              <a:off x="521" y="1887"/>
              <a:ext cx="132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33005" name="Group 237"/>
            <p:cNvGrpSpPr>
              <a:grpSpLocks/>
            </p:cNvGrpSpPr>
            <p:nvPr/>
          </p:nvGrpSpPr>
          <p:grpSpPr bwMode="auto">
            <a:xfrm>
              <a:off x="340" y="2205"/>
              <a:ext cx="392" cy="363"/>
              <a:chOff x="4785" y="709"/>
              <a:chExt cx="363" cy="363"/>
            </a:xfrm>
          </p:grpSpPr>
          <p:sp>
            <p:nvSpPr>
              <p:cNvPr id="33006" name="Oval 238"/>
              <p:cNvSpPr>
                <a:spLocks noChangeArrowheads="1"/>
              </p:cNvSpPr>
              <p:nvPr/>
            </p:nvSpPr>
            <p:spPr bwMode="auto">
              <a:xfrm>
                <a:off x="4785" y="709"/>
                <a:ext cx="363" cy="363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zh-CN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33007" name="Line 239"/>
              <p:cNvSpPr>
                <a:spLocks noChangeShapeType="1"/>
              </p:cNvSpPr>
              <p:nvPr/>
            </p:nvSpPr>
            <p:spPr bwMode="auto">
              <a:xfrm>
                <a:off x="4785" y="890"/>
                <a:ext cx="363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3008" name="Oval 240"/>
            <p:cNvSpPr>
              <a:spLocks noChangeArrowheads="1"/>
            </p:cNvSpPr>
            <p:nvPr/>
          </p:nvSpPr>
          <p:spPr bwMode="auto">
            <a:xfrm>
              <a:off x="1837" y="2658"/>
              <a:ext cx="98" cy="91"/>
            </a:xfrm>
            <a:prstGeom prst="ellips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009" name="Rectangle 241"/>
            <p:cNvSpPr>
              <a:spLocks noChangeArrowheads="1"/>
            </p:cNvSpPr>
            <p:nvPr/>
          </p:nvSpPr>
          <p:spPr bwMode="auto">
            <a:xfrm>
              <a:off x="1025" y="2114"/>
              <a:ext cx="13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2770" name="Text Box 2"/>
          <p:cNvSpPr txBox="1">
            <a:spLocks noChangeArrowheads="1"/>
          </p:cNvSpPr>
          <p:nvPr/>
        </p:nvSpPr>
        <p:spPr bwMode="auto">
          <a:xfrm>
            <a:off x="503238" y="2997200"/>
            <a:ext cx="853281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AutoNum type="circleNumDbPlain" startAt="2"/>
            </a:pPr>
            <a:r>
              <a:rPr kumimoji="1" lang="zh-CN" altLang="en-US" sz="2000" b="1">
                <a:latin typeface="楷体_GB2312" pitchFamily="49" charset="-122"/>
                <a:ea typeface="楷体_GB2312" pitchFamily="49" charset="-122"/>
              </a:rPr>
              <a:t>等效是对外部电路等效，对内部电路是不等效的。</a:t>
            </a:r>
          </a:p>
        </p:txBody>
      </p:sp>
      <p:sp>
        <p:nvSpPr>
          <p:cNvPr id="32772" name="Rectangle 4"/>
          <p:cNvSpPr>
            <a:spLocks noChangeArrowheads="1"/>
          </p:cNvSpPr>
          <p:nvPr/>
        </p:nvSpPr>
        <p:spPr bwMode="auto">
          <a:xfrm>
            <a:off x="1691680" y="4149725"/>
            <a:ext cx="388279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000" b="1" dirty="0">
                <a:latin typeface="楷体_GB2312" pitchFamily="49" charset="-122"/>
                <a:ea typeface="楷体_GB2312" pitchFamily="49" charset="-122"/>
              </a:rPr>
              <a:t>电流源开路， </a:t>
            </a:r>
            <a:r>
              <a:rPr kumimoji="1" lang="en-US" altLang="zh-CN" sz="2000" i="1" dirty="0">
                <a:ea typeface="楷体_GB2312" pitchFamily="49" charset="-122"/>
              </a:rPr>
              <a:t>R</a:t>
            </a:r>
            <a:r>
              <a:rPr kumimoji="1" lang="en-US" altLang="zh-CN" sz="2000" baseline="-25000" dirty="0">
                <a:ea typeface="楷体_GB2312" pitchFamily="49" charset="-122"/>
              </a:rPr>
              <a:t>S</a:t>
            </a:r>
            <a:r>
              <a:rPr kumimoji="1" lang="zh-CN" altLang="en-US" sz="2000" b="1" dirty="0">
                <a:latin typeface="楷体_GB2312" pitchFamily="49" charset="-122"/>
                <a:ea typeface="楷体_GB2312" pitchFamily="49" charset="-122"/>
              </a:rPr>
              <a:t>上有电流流过。</a:t>
            </a:r>
          </a:p>
        </p:txBody>
      </p:sp>
      <p:sp>
        <p:nvSpPr>
          <p:cNvPr id="32773" name="Rectangle 5"/>
          <p:cNvSpPr>
            <a:spLocks noChangeArrowheads="1"/>
          </p:cNvSpPr>
          <p:nvPr/>
        </p:nvSpPr>
        <p:spPr bwMode="auto">
          <a:xfrm>
            <a:off x="1763688" y="5229225"/>
            <a:ext cx="336823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000" b="1" dirty="0">
                <a:latin typeface="楷体_GB2312" pitchFamily="49" charset="-122"/>
                <a:ea typeface="楷体_GB2312" pitchFamily="49" charset="-122"/>
              </a:rPr>
              <a:t>电流源短路</a:t>
            </a:r>
            <a:r>
              <a:rPr kumimoji="1" lang="en-US" altLang="zh-CN" sz="2000" b="1" dirty="0">
                <a:latin typeface="楷体_GB2312" pitchFamily="49" charset="-122"/>
                <a:ea typeface="楷体_GB2312" pitchFamily="49" charset="-122"/>
              </a:rPr>
              <a:t>,  </a:t>
            </a:r>
            <a:r>
              <a:rPr kumimoji="1" lang="en-US" altLang="zh-CN" sz="2000" i="1" dirty="0">
                <a:ea typeface="楷体_GB2312" pitchFamily="49" charset="-122"/>
              </a:rPr>
              <a:t>R</a:t>
            </a:r>
            <a:r>
              <a:rPr kumimoji="1" lang="en-US" altLang="zh-CN" sz="2000" baseline="-25000" dirty="0">
                <a:ea typeface="楷体_GB2312" pitchFamily="49" charset="-122"/>
              </a:rPr>
              <a:t>S</a:t>
            </a:r>
            <a:r>
              <a:rPr kumimoji="1" lang="zh-CN" altLang="en-US" sz="2000" b="1" dirty="0">
                <a:latin typeface="楷体_GB2312" pitchFamily="49" charset="-122"/>
                <a:ea typeface="楷体_GB2312" pitchFamily="49" charset="-122"/>
              </a:rPr>
              <a:t>上无电流。</a:t>
            </a:r>
          </a:p>
        </p:txBody>
      </p:sp>
      <p:sp>
        <p:nvSpPr>
          <p:cNvPr id="32774" name="Rectangle 6"/>
          <p:cNvSpPr>
            <a:spLocks noChangeArrowheads="1"/>
          </p:cNvSpPr>
          <p:nvPr/>
        </p:nvSpPr>
        <p:spPr bwMode="auto">
          <a:xfrm>
            <a:off x="1547813" y="4652963"/>
            <a:ext cx="361509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000" b="1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 </a:t>
            </a:r>
            <a:r>
              <a:rPr kumimoji="1" lang="zh-CN" altLang="en-US" sz="2000" b="1">
                <a:latin typeface="楷体_GB2312" pitchFamily="49" charset="-122"/>
                <a:ea typeface="楷体_GB2312" pitchFamily="49" charset="-122"/>
              </a:rPr>
              <a:t>电压源短路， </a:t>
            </a:r>
            <a:r>
              <a:rPr kumimoji="1" lang="en-US" altLang="zh-CN" sz="2000" i="1">
                <a:ea typeface="楷体_GB2312" pitchFamily="49" charset="-122"/>
              </a:rPr>
              <a:t>R</a:t>
            </a:r>
            <a:r>
              <a:rPr kumimoji="1" lang="en-US" altLang="zh-CN" sz="2000" baseline="-25000">
                <a:ea typeface="楷体_GB2312" pitchFamily="49" charset="-122"/>
              </a:rPr>
              <a:t>S</a:t>
            </a:r>
            <a:r>
              <a:rPr kumimoji="1" lang="zh-CN" altLang="en-US" sz="2000" b="1">
                <a:latin typeface="楷体_GB2312" pitchFamily="49" charset="-122"/>
                <a:ea typeface="楷体_GB2312" pitchFamily="49" charset="-122"/>
              </a:rPr>
              <a:t>上有电流；</a:t>
            </a:r>
          </a:p>
        </p:txBody>
      </p:sp>
      <p:sp>
        <p:nvSpPr>
          <p:cNvPr id="32775" name="Rectangle 7"/>
          <p:cNvSpPr>
            <a:spLocks noChangeArrowheads="1"/>
          </p:cNvSpPr>
          <p:nvPr/>
        </p:nvSpPr>
        <p:spPr bwMode="auto">
          <a:xfrm>
            <a:off x="1331913" y="3556996"/>
            <a:ext cx="640873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sz="2000" b="1">
                <a:latin typeface="楷体_GB2312" pitchFamily="49" charset="-122"/>
                <a:ea typeface="楷体_GB2312" pitchFamily="49" charset="-122"/>
              </a:rPr>
              <a:t> </a:t>
            </a:r>
            <a:r>
              <a:rPr kumimoji="1" lang="en-US" altLang="zh-CN" sz="2000" b="1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 </a:t>
            </a:r>
            <a:r>
              <a:rPr kumimoji="1" lang="zh-CN" altLang="en-US" sz="2000" b="1">
                <a:latin typeface="楷体_GB2312" pitchFamily="49" charset="-122"/>
                <a:ea typeface="楷体_GB2312" pitchFamily="49" charset="-122"/>
              </a:rPr>
              <a:t>电压源开路， </a:t>
            </a:r>
            <a:r>
              <a:rPr kumimoji="1" lang="en-US" altLang="zh-CN" sz="2000" i="1">
                <a:ea typeface="楷体_GB2312" pitchFamily="49" charset="-122"/>
              </a:rPr>
              <a:t>R</a:t>
            </a:r>
            <a:r>
              <a:rPr kumimoji="1" lang="en-US" altLang="zh-CN" sz="2000" baseline="-25000">
                <a:ea typeface="楷体_GB2312" pitchFamily="49" charset="-122"/>
              </a:rPr>
              <a:t>S</a:t>
            </a:r>
            <a:r>
              <a:rPr kumimoji="1" lang="zh-CN" altLang="en-US" sz="2000" b="1">
                <a:latin typeface="楷体_GB2312" pitchFamily="49" charset="-122"/>
                <a:ea typeface="楷体_GB2312" pitchFamily="49" charset="-122"/>
              </a:rPr>
              <a:t>上无电流流过</a:t>
            </a:r>
            <a:endParaRPr kumimoji="1" lang="zh-CN" altLang="en-US" sz="2000" b="1">
              <a:ea typeface="楷体_GB2312" pitchFamily="49" charset="-122"/>
            </a:endParaRPr>
          </a:p>
        </p:txBody>
      </p:sp>
      <p:grpSp>
        <p:nvGrpSpPr>
          <p:cNvPr id="32776" name="Group 8"/>
          <p:cNvGrpSpPr>
            <a:grpSpLocks/>
          </p:cNvGrpSpPr>
          <p:nvPr/>
        </p:nvGrpSpPr>
        <p:grpSpPr bwMode="auto">
          <a:xfrm>
            <a:off x="6227763" y="1052513"/>
            <a:ext cx="381000" cy="914400"/>
            <a:chOff x="876" y="3312"/>
            <a:chExt cx="240" cy="576"/>
          </a:xfrm>
        </p:grpSpPr>
        <p:sp>
          <p:nvSpPr>
            <p:cNvPr id="32777" name="Oval 9"/>
            <p:cNvSpPr>
              <a:spLocks noChangeArrowheads="1"/>
            </p:cNvSpPr>
            <p:nvPr/>
          </p:nvSpPr>
          <p:spPr bwMode="auto">
            <a:xfrm>
              <a:off x="876" y="3312"/>
              <a:ext cx="240" cy="576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kumimoji="1" lang="en-US" altLang="zh-CN" sz="2400" b="1" i="1" dirty="0" err="1">
                  <a:ea typeface="宋体" panose="02010600030101010101" pitchFamily="2" charset="-122"/>
                </a:rPr>
                <a:t>i</a:t>
              </a:r>
              <a:r>
                <a:rPr kumimoji="1" lang="en-US" altLang="zh-CN" sz="2400" b="1" i="1" baseline="-25000" dirty="0" err="1">
                  <a:ea typeface="宋体" panose="02010600030101010101" pitchFamily="2" charset="-122"/>
                </a:rPr>
                <a:t>S</a:t>
              </a:r>
              <a:endParaRPr kumimoji="1" lang="en-US" altLang="zh-CN" sz="2400" b="1" dirty="0">
                <a:ea typeface="宋体" panose="02010600030101010101" pitchFamily="2" charset="-122"/>
              </a:endParaRPr>
            </a:p>
          </p:txBody>
        </p:sp>
        <p:sp>
          <p:nvSpPr>
            <p:cNvPr id="32778" name="Line 10"/>
            <p:cNvSpPr>
              <a:spLocks noChangeShapeType="1"/>
            </p:cNvSpPr>
            <p:nvPr/>
          </p:nvSpPr>
          <p:spPr bwMode="auto">
            <a:xfrm>
              <a:off x="1116" y="3564"/>
              <a:ext cx="0" cy="9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2779" name="Text Box 11"/>
          <p:cNvSpPr txBox="1">
            <a:spLocks noChangeArrowheads="1"/>
          </p:cNvSpPr>
          <p:nvPr/>
        </p:nvSpPr>
        <p:spPr bwMode="auto">
          <a:xfrm>
            <a:off x="623888" y="5734050"/>
            <a:ext cx="8268592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AutoNum type="circleNumDbPlain" startAt="3"/>
            </a:pPr>
            <a:r>
              <a:rPr kumimoji="1" lang="zh-CN" altLang="en-US" sz="2000" b="1" dirty="0">
                <a:latin typeface="楷体_GB2312" pitchFamily="49" charset="-122"/>
                <a:ea typeface="楷体_GB2312" pitchFamily="49" charset="-122"/>
              </a:rPr>
              <a:t>理想电压源与理想电流源不能相互转换。</a:t>
            </a:r>
            <a:endParaRPr kumimoji="1" lang="en-US" altLang="zh-CN" sz="2000" b="1" dirty="0">
              <a:latin typeface="楷体_GB2312" pitchFamily="49" charset="-122"/>
              <a:ea typeface="楷体_GB2312" pitchFamily="49" charset="-122"/>
            </a:endParaRPr>
          </a:p>
          <a:p>
            <a:pPr>
              <a:spcBef>
                <a:spcPct val="50000"/>
              </a:spcBef>
              <a:buFontTx/>
              <a:buAutoNum type="circleNumDbPlain" startAt="3"/>
            </a:pP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含独立电源的一端口网络最简单等效电路：戴维南支路或诺顿支路</a:t>
            </a:r>
            <a:endParaRPr kumimoji="1" lang="zh-CN" altLang="en-US" sz="2000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2819" name="Text Box 51"/>
          <p:cNvSpPr txBox="1">
            <a:spLocks noChangeArrowheads="1"/>
          </p:cNvSpPr>
          <p:nvPr/>
        </p:nvSpPr>
        <p:spPr bwMode="auto">
          <a:xfrm>
            <a:off x="468313" y="1412875"/>
            <a:ext cx="266382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AutoNum type="circleNumDbPlain"/>
            </a:pPr>
            <a:r>
              <a:rPr kumimoji="1" lang="zh-CN" altLang="en-US" sz="2000" b="1" dirty="0">
                <a:latin typeface="楷体_GB2312" pitchFamily="49" charset="-122"/>
                <a:ea typeface="楷体_GB2312" pitchFamily="49" charset="-122"/>
              </a:rPr>
              <a:t>变换关系</a:t>
            </a:r>
            <a:endParaRPr kumimoji="1" lang="zh-CN" altLang="en-US" sz="2000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2825" name="Line 57"/>
          <p:cNvSpPr>
            <a:spLocks noChangeShapeType="1"/>
          </p:cNvSpPr>
          <p:nvPr/>
        </p:nvSpPr>
        <p:spPr bwMode="auto">
          <a:xfrm flipH="1">
            <a:off x="6916749" y="-3972905"/>
            <a:ext cx="360363" cy="0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2826" name="Group 58"/>
          <p:cNvGrpSpPr>
            <a:grpSpLocks/>
          </p:cNvGrpSpPr>
          <p:nvPr/>
        </p:nvGrpSpPr>
        <p:grpSpPr bwMode="auto">
          <a:xfrm>
            <a:off x="3851275" y="908050"/>
            <a:ext cx="647700" cy="1333500"/>
            <a:chOff x="4992" y="2797"/>
            <a:chExt cx="408" cy="840"/>
          </a:xfrm>
        </p:grpSpPr>
        <p:sp>
          <p:nvSpPr>
            <p:cNvPr id="32827" name="Oval 59"/>
            <p:cNvSpPr>
              <a:spLocks noChangeArrowheads="1"/>
            </p:cNvSpPr>
            <p:nvPr/>
          </p:nvSpPr>
          <p:spPr bwMode="auto">
            <a:xfrm>
              <a:off x="4992" y="2797"/>
              <a:ext cx="408" cy="84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28" name="Line 60"/>
            <p:cNvSpPr>
              <a:spLocks noChangeShapeType="1"/>
            </p:cNvSpPr>
            <p:nvPr/>
          </p:nvSpPr>
          <p:spPr bwMode="auto">
            <a:xfrm>
              <a:off x="5400" y="3101"/>
              <a:ext cx="0" cy="26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29" name="Text Box 61"/>
            <p:cNvSpPr txBox="1">
              <a:spLocks noChangeArrowheads="1"/>
            </p:cNvSpPr>
            <p:nvPr/>
          </p:nvSpPr>
          <p:spPr bwMode="auto">
            <a:xfrm>
              <a:off x="5112" y="3058"/>
              <a:ext cx="178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b="1" i="1">
                  <a:ea typeface="宋体" panose="02010600030101010101" pitchFamily="2" charset="-122"/>
                </a:rPr>
                <a:t>i</a:t>
              </a:r>
              <a:endParaRPr kumimoji="1" lang="en-US" altLang="zh-CN" sz="2400" b="1" i="1">
                <a:ea typeface="宋体" panose="02010600030101010101" pitchFamily="2" charset="-122"/>
              </a:endParaRPr>
            </a:p>
          </p:txBody>
        </p:sp>
      </p:grpSp>
      <p:grpSp>
        <p:nvGrpSpPr>
          <p:cNvPr id="32830" name="Group 62"/>
          <p:cNvGrpSpPr>
            <a:grpSpLocks/>
          </p:cNvGrpSpPr>
          <p:nvPr/>
        </p:nvGrpSpPr>
        <p:grpSpPr bwMode="auto">
          <a:xfrm>
            <a:off x="4932363" y="692150"/>
            <a:ext cx="355600" cy="1728788"/>
            <a:chOff x="2064" y="444"/>
            <a:chExt cx="224" cy="1055"/>
          </a:xfrm>
        </p:grpSpPr>
        <p:sp>
          <p:nvSpPr>
            <p:cNvPr id="32831" name="Line 63"/>
            <p:cNvSpPr>
              <a:spLocks noChangeShapeType="1"/>
            </p:cNvSpPr>
            <p:nvPr/>
          </p:nvSpPr>
          <p:spPr bwMode="auto">
            <a:xfrm>
              <a:off x="2288" y="444"/>
              <a:ext cx="0" cy="1055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32" name="Line 64"/>
            <p:cNvSpPr>
              <a:spLocks noChangeShapeType="1"/>
            </p:cNvSpPr>
            <p:nvPr/>
          </p:nvSpPr>
          <p:spPr bwMode="auto">
            <a:xfrm>
              <a:off x="2064" y="444"/>
              <a:ext cx="224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33" name="Line 65"/>
            <p:cNvSpPr>
              <a:spLocks noChangeShapeType="1"/>
            </p:cNvSpPr>
            <p:nvPr/>
          </p:nvSpPr>
          <p:spPr bwMode="auto">
            <a:xfrm>
              <a:off x="2064" y="1488"/>
              <a:ext cx="224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2834" name="Group 66"/>
          <p:cNvGrpSpPr>
            <a:grpSpLocks/>
          </p:cNvGrpSpPr>
          <p:nvPr/>
        </p:nvGrpSpPr>
        <p:grpSpPr bwMode="auto">
          <a:xfrm>
            <a:off x="8027988" y="908050"/>
            <a:ext cx="361950" cy="1295400"/>
            <a:chOff x="4608" y="528"/>
            <a:chExt cx="228" cy="816"/>
          </a:xfrm>
        </p:grpSpPr>
        <p:sp>
          <p:nvSpPr>
            <p:cNvPr id="32835" name="Line 67"/>
            <p:cNvSpPr>
              <a:spLocks noChangeShapeType="1"/>
            </p:cNvSpPr>
            <p:nvPr/>
          </p:nvSpPr>
          <p:spPr bwMode="auto">
            <a:xfrm>
              <a:off x="4836" y="528"/>
              <a:ext cx="0" cy="81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36" name="Line 68"/>
            <p:cNvSpPr>
              <a:spLocks noChangeShapeType="1"/>
            </p:cNvSpPr>
            <p:nvPr/>
          </p:nvSpPr>
          <p:spPr bwMode="auto">
            <a:xfrm>
              <a:off x="4608" y="528"/>
              <a:ext cx="228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37" name="Line 69"/>
            <p:cNvSpPr>
              <a:spLocks noChangeShapeType="1"/>
            </p:cNvSpPr>
            <p:nvPr/>
          </p:nvSpPr>
          <p:spPr bwMode="auto">
            <a:xfrm>
              <a:off x="4608" y="1344"/>
              <a:ext cx="228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2875" name="Text Box 107"/>
          <p:cNvSpPr txBox="1">
            <a:spLocks noChangeArrowheads="1"/>
          </p:cNvSpPr>
          <p:nvPr/>
        </p:nvSpPr>
        <p:spPr bwMode="auto">
          <a:xfrm>
            <a:off x="718345" y="3868743"/>
            <a:ext cx="481012" cy="1200329"/>
          </a:xfrm>
          <a:prstGeom prst="rect">
            <a:avLst/>
          </a:prstGeom>
          <a:noFill/>
          <a:ln>
            <a:solidFill>
              <a:srgbClr val="FF0000"/>
            </a:solidFill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>
                <a:latin typeface="Arial" panose="020B0604020202020204" pitchFamily="34" charset="0"/>
                <a:ea typeface="楷体_GB2312" pitchFamily="49" charset="-122"/>
              </a:rPr>
              <a:t>表现在</a:t>
            </a:r>
          </a:p>
        </p:txBody>
      </p:sp>
      <p:grpSp>
        <p:nvGrpSpPr>
          <p:cNvPr id="32927" name="Group 159"/>
          <p:cNvGrpSpPr>
            <a:grpSpLocks/>
          </p:cNvGrpSpPr>
          <p:nvPr/>
        </p:nvGrpSpPr>
        <p:grpSpPr bwMode="auto">
          <a:xfrm>
            <a:off x="2771775" y="620713"/>
            <a:ext cx="2205038" cy="1873250"/>
            <a:chOff x="2816" y="391"/>
            <a:chExt cx="1389" cy="1180"/>
          </a:xfrm>
        </p:grpSpPr>
        <p:sp>
          <p:nvSpPr>
            <p:cNvPr id="32928" name="Oval 160"/>
            <p:cNvSpPr>
              <a:spLocks noChangeArrowheads="1"/>
            </p:cNvSpPr>
            <p:nvPr/>
          </p:nvSpPr>
          <p:spPr bwMode="auto">
            <a:xfrm>
              <a:off x="3107" y="618"/>
              <a:ext cx="363" cy="36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32929" name="Text Box 161"/>
            <p:cNvSpPr txBox="1">
              <a:spLocks noChangeArrowheads="1"/>
            </p:cNvSpPr>
            <p:nvPr/>
          </p:nvSpPr>
          <p:spPr bwMode="auto">
            <a:xfrm>
              <a:off x="3787" y="391"/>
              <a:ext cx="27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i="1">
                  <a:solidFill>
                    <a:schemeClr val="bg1"/>
                  </a:solidFill>
                  <a:ea typeface="宋体" panose="02010600030101010101" pitchFamily="2" charset="-122"/>
                </a:rPr>
                <a:t>i</a:t>
              </a:r>
            </a:p>
          </p:txBody>
        </p:sp>
        <p:sp>
          <p:nvSpPr>
            <p:cNvPr id="32930" name="Text Box 162"/>
            <p:cNvSpPr txBox="1">
              <a:spLocks noChangeArrowheads="1"/>
            </p:cNvSpPr>
            <p:nvPr/>
          </p:nvSpPr>
          <p:spPr bwMode="auto">
            <a:xfrm>
              <a:off x="2998" y="438"/>
              <a:ext cx="189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1" lang="en-US" altLang="zh-CN"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</a:p>
          </p:txBody>
        </p:sp>
        <p:sp>
          <p:nvSpPr>
            <p:cNvPr id="32931" name="Text Box 163"/>
            <p:cNvSpPr txBox="1">
              <a:spLocks noChangeArrowheads="1"/>
            </p:cNvSpPr>
            <p:nvPr/>
          </p:nvSpPr>
          <p:spPr bwMode="auto">
            <a:xfrm>
              <a:off x="2971" y="801"/>
              <a:ext cx="24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1" lang="en-US" altLang="zh-CN">
                  <a:ea typeface="宋体" panose="02010600030101010101" pitchFamily="2" charset="-122"/>
                  <a:sym typeface="Symbol" panose="05050102010706020507" pitchFamily="18" charset="2"/>
                </a:rPr>
                <a:t>_</a:t>
              </a:r>
            </a:p>
          </p:txBody>
        </p:sp>
        <p:sp>
          <p:nvSpPr>
            <p:cNvPr id="32932" name="Text Box 164"/>
            <p:cNvSpPr txBox="1">
              <a:spLocks noChangeArrowheads="1"/>
            </p:cNvSpPr>
            <p:nvPr/>
          </p:nvSpPr>
          <p:spPr bwMode="auto">
            <a:xfrm>
              <a:off x="2816" y="618"/>
              <a:ext cx="38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b="1" i="1" dirty="0" err="1">
                  <a:ea typeface="宋体" panose="02010600030101010101" pitchFamily="2" charset="-122"/>
                </a:rPr>
                <a:t>u</a:t>
              </a:r>
              <a:r>
                <a:rPr kumimoji="1" lang="en-US" altLang="zh-CN" b="1" baseline="-25000" dirty="0" err="1">
                  <a:ea typeface="宋体" panose="02010600030101010101" pitchFamily="2" charset="-122"/>
                </a:rPr>
                <a:t>S</a:t>
              </a:r>
              <a:endParaRPr kumimoji="1" lang="en-US" altLang="zh-CN" b="1" dirty="0">
                <a:ea typeface="宋体" panose="02010600030101010101" pitchFamily="2" charset="-122"/>
              </a:endParaRPr>
            </a:p>
          </p:txBody>
        </p:sp>
        <p:sp>
          <p:nvSpPr>
            <p:cNvPr id="32933" name="Line 165"/>
            <p:cNvSpPr>
              <a:spLocks noChangeShapeType="1"/>
            </p:cNvSpPr>
            <p:nvPr/>
          </p:nvSpPr>
          <p:spPr bwMode="auto">
            <a:xfrm>
              <a:off x="3515" y="527"/>
              <a:ext cx="318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934" name="Text Box 166"/>
            <p:cNvSpPr txBox="1">
              <a:spLocks noChangeArrowheads="1"/>
            </p:cNvSpPr>
            <p:nvPr/>
          </p:nvSpPr>
          <p:spPr bwMode="auto">
            <a:xfrm>
              <a:off x="2880" y="1071"/>
              <a:ext cx="45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b="1" i="1" dirty="0">
                  <a:ea typeface="宋体" panose="02010600030101010101" pitchFamily="2" charset="-122"/>
                </a:rPr>
                <a:t>R</a:t>
              </a:r>
              <a:r>
                <a:rPr kumimoji="1" lang="en-US" altLang="zh-CN" b="1" baseline="-25000" dirty="0">
                  <a:ea typeface="宋体" panose="02010600030101010101" pitchFamily="2" charset="-122"/>
                </a:rPr>
                <a:t>S</a:t>
              </a:r>
              <a:endParaRPr kumimoji="1" lang="en-US" altLang="zh-CN" b="1" dirty="0">
                <a:ea typeface="宋体" panose="02010600030101010101" pitchFamily="2" charset="-122"/>
              </a:endParaRPr>
            </a:p>
          </p:txBody>
        </p:sp>
        <p:sp>
          <p:nvSpPr>
            <p:cNvPr id="32935" name="Text Box 167"/>
            <p:cNvSpPr txBox="1">
              <a:spLocks noChangeArrowheads="1"/>
            </p:cNvSpPr>
            <p:nvPr/>
          </p:nvSpPr>
          <p:spPr bwMode="auto">
            <a:xfrm>
              <a:off x="3878" y="391"/>
              <a:ext cx="32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i="1">
                  <a:solidFill>
                    <a:schemeClr val="bg1"/>
                  </a:solidFill>
                  <a:ea typeface="宋体" panose="02010600030101010101" pitchFamily="2" charset="-122"/>
                </a:rPr>
                <a:t>+</a:t>
              </a:r>
              <a:endParaRPr kumimoji="1" lang="en-US" altLang="zh-CN">
                <a:solidFill>
                  <a:schemeClr val="bg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2936" name="Text Box 168"/>
            <p:cNvSpPr txBox="1">
              <a:spLocks noChangeArrowheads="1"/>
            </p:cNvSpPr>
            <p:nvPr/>
          </p:nvSpPr>
          <p:spPr bwMode="auto">
            <a:xfrm>
              <a:off x="3878" y="799"/>
              <a:ext cx="32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i="1">
                  <a:solidFill>
                    <a:schemeClr val="bg1"/>
                  </a:solidFill>
                  <a:ea typeface="宋体" panose="02010600030101010101" pitchFamily="2" charset="-122"/>
                </a:rPr>
                <a:t>u</a:t>
              </a:r>
              <a:endParaRPr kumimoji="1" lang="en-US" altLang="zh-CN">
                <a:solidFill>
                  <a:schemeClr val="bg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2937" name="Text Box 169"/>
            <p:cNvSpPr txBox="1">
              <a:spLocks noChangeArrowheads="1"/>
            </p:cNvSpPr>
            <p:nvPr/>
          </p:nvSpPr>
          <p:spPr bwMode="auto">
            <a:xfrm>
              <a:off x="3878" y="1162"/>
              <a:ext cx="32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i="1">
                  <a:solidFill>
                    <a:schemeClr val="bg1"/>
                  </a:solidFill>
                  <a:ea typeface="宋体" panose="02010600030101010101" pitchFamily="2" charset="-122"/>
                </a:rPr>
                <a:t>_</a:t>
              </a:r>
              <a:endParaRPr kumimoji="1" lang="en-US" altLang="zh-CN">
                <a:solidFill>
                  <a:schemeClr val="bg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2938" name="Line 170"/>
            <p:cNvSpPr>
              <a:spLocks noChangeShapeType="1"/>
            </p:cNvSpPr>
            <p:nvPr/>
          </p:nvSpPr>
          <p:spPr bwMode="auto">
            <a:xfrm>
              <a:off x="3288" y="1525"/>
              <a:ext cx="81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939" name="Line 171"/>
            <p:cNvSpPr>
              <a:spLocks noChangeShapeType="1"/>
            </p:cNvSpPr>
            <p:nvPr/>
          </p:nvSpPr>
          <p:spPr bwMode="auto">
            <a:xfrm>
              <a:off x="3288" y="436"/>
              <a:ext cx="81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940" name="Line 172"/>
            <p:cNvSpPr>
              <a:spLocks noChangeShapeType="1"/>
            </p:cNvSpPr>
            <p:nvPr/>
          </p:nvSpPr>
          <p:spPr bwMode="auto">
            <a:xfrm flipV="1">
              <a:off x="3288" y="436"/>
              <a:ext cx="0" cy="108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941" name="Rectangle 173"/>
            <p:cNvSpPr>
              <a:spLocks noChangeArrowheads="1"/>
            </p:cNvSpPr>
            <p:nvPr/>
          </p:nvSpPr>
          <p:spPr bwMode="auto">
            <a:xfrm>
              <a:off x="3244" y="1071"/>
              <a:ext cx="105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942" name="Oval 174"/>
            <p:cNvSpPr>
              <a:spLocks noChangeArrowheads="1"/>
            </p:cNvSpPr>
            <p:nvPr/>
          </p:nvSpPr>
          <p:spPr bwMode="auto">
            <a:xfrm>
              <a:off x="4104" y="391"/>
              <a:ext cx="91" cy="91"/>
            </a:xfrm>
            <a:prstGeom prst="ellips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943" name="Oval 175"/>
            <p:cNvSpPr>
              <a:spLocks noChangeArrowheads="1"/>
            </p:cNvSpPr>
            <p:nvPr/>
          </p:nvSpPr>
          <p:spPr bwMode="auto">
            <a:xfrm>
              <a:off x="4104" y="1480"/>
              <a:ext cx="91" cy="91"/>
            </a:xfrm>
            <a:prstGeom prst="ellips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2964" name="Group 196"/>
          <p:cNvGrpSpPr>
            <a:grpSpLocks/>
          </p:cNvGrpSpPr>
          <p:nvPr/>
        </p:nvGrpSpPr>
        <p:grpSpPr bwMode="auto">
          <a:xfrm>
            <a:off x="611188" y="2060574"/>
            <a:ext cx="8137525" cy="863600"/>
            <a:chOff x="476" y="754"/>
            <a:chExt cx="5126" cy="544"/>
          </a:xfrm>
        </p:grpSpPr>
        <p:sp>
          <p:nvSpPr>
            <p:cNvPr id="32818" name="Rectangle 50"/>
            <p:cNvSpPr>
              <a:spLocks noChangeArrowheads="1"/>
            </p:cNvSpPr>
            <p:nvPr/>
          </p:nvSpPr>
          <p:spPr bwMode="auto">
            <a:xfrm>
              <a:off x="521" y="1026"/>
              <a:ext cx="5081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000" b="1" dirty="0">
                  <a:ea typeface="楷体_GB2312" pitchFamily="49" charset="-122"/>
                </a:rPr>
                <a:t>方向：电流源电流方向与电压源电压方向相反。</a:t>
              </a:r>
            </a:p>
          </p:txBody>
        </p:sp>
        <p:sp>
          <p:nvSpPr>
            <p:cNvPr id="32820" name="Text Box 52"/>
            <p:cNvSpPr txBox="1">
              <a:spLocks noChangeArrowheads="1"/>
            </p:cNvSpPr>
            <p:nvPr/>
          </p:nvSpPr>
          <p:spPr bwMode="auto">
            <a:xfrm>
              <a:off x="521" y="754"/>
              <a:ext cx="929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000" b="1" dirty="0">
                  <a:latin typeface="楷体_GB2312" pitchFamily="49" charset="-122"/>
                  <a:ea typeface="楷体_GB2312" pitchFamily="49" charset="-122"/>
                </a:rPr>
                <a:t>数值关系：</a:t>
              </a:r>
            </a:p>
          </p:txBody>
        </p:sp>
        <p:sp>
          <p:nvSpPr>
            <p:cNvPr id="32963" name="AutoShape 195"/>
            <p:cNvSpPr>
              <a:spLocks/>
            </p:cNvSpPr>
            <p:nvPr/>
          </p:nvSpPr>
          <p:spPr bwMode="auto">
            <a:xfrm>
              <a:off x="476" y="845"/>
              <a:ext cx="45" cy="453"/>
            </a:xfrm>
            <a:prstGeom prst="leftBrace">
              <a:avLst>
                <a:gd name="adj1" fmla="val 83889"/>
                <a:gd name="adj2" fmla="val 50000"/>
              </a:avLst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</p:grpSp>
      <p:sp>
        <p:nvSpPr>
          <p:cNvPr id="32965" name="AutoShape 197"/>
          <p:cNvSpPr>
            <a:spLocks/>
          </p:cNvSpPr>
          <p:nvPr/>
        </p:nvSpPr>
        <p:spPr bwMode="auto">
          <a:xfrm>
            <a:off x="1331913" y="3573463"/>
            <a:ext cx="287337" cy="2087562"/>
          </a:xfrm>
          <a:prstGeom prst="leftBrace">
            <a:avLst>
              <a:gd name="adj1" fmla="val 60543"/>
              <a:gd name="adj2" fmla="val 50000"/>
            </a:avLst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51202" name="Picture 2" descr="https://img.zcool.cn/community/0133a1593cb8a1a8012193a31a39a0.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170" y="131761"/>
            <a:ext cx="1320801" cy="1320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8" name="Rectangle 14"/>
          <p:cNvSpPr>
            <a:spLocks noChangeArrowheads="1"/>
          </p:cNvSpPr>
          <p:nvPr/>
        </p:nvSpPr>
        <p:spPr bwMode="auto">
          <a:xfrm>
            <a:off x="395288" y="163513"/>
            <a:ext cx="845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3200" dirty="0">
                <a:solidFill>
                  <a:schemeClr val="tx2"/>
                </a:solidFill>
                <a:ea typeface="隶书" panose="02010509060101010101" pitchFamily="49" charset="-122"/>
              </a:rPr>
              <a:t>2.6</a:t>
            </a:r>
            <a:r>
              <a:rPr lang="zh-CN" altLang="en-US" sz="3200" dirty="0">
                <a:solidFill>
                  <a:schemeClr val="tx2"/>
                </a:solidFill>
                <a:ea typeface="隶书" panose="02010509060101010101" pitchFamily="49" charset="-122"/>
              </a:rPr>
              <a:t>电源变换</a:t>
            </a:r>
            <a:r>
              <a:rPr lang="en-US" altLang="zh-CN" sz="3200" dirty="0">
                <a:solidFill>
                  <a:schemeClr val="tx2"/>
                </a:solidFill>
                <a:ea typeface="隶书" panose="02010509060101010101" pitchFamily="49" charset="-122"/>
              </a:rPr>
              <a:t>Source transformation</a:t>
            </a:r>
          </a:p>
        </p:txBody>
      </p:sp>
    </p:spTree>
    <p:extLst>
      <p:ext uri="{BB962C8B-B14F-4D97-AF65-F5344CB8AC3E}">
        <p14:creationId xmlns:p14="http://schemas.microsoft.com/office/powerpoint/2010/main" val="3564456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2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2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2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2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28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28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28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28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32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327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32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327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32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27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27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327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32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65" dur="500"/>
                                        <p:tgtEl>
                                          <p:spTgt spid="32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00"/>
                            </p:stCondLst>
                            <p:childTnLst>
                              <p:par>
                                <p:cTn id="6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32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/>
                                        <p:tgtEl>
                                          <p:spTgt spid="327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32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9" dur="500"/>
                                        <p:tgtEl>
                                          <p:spTgt spid="32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0" grpId="0" autoUpdateAnimBg="0"/>
      <p:bldP spid="32772" grpId="0" autoUpdateAnimBg="0"/>
      <p:bldP spid="32773" grpId="0" autoUpdateAnimBg="0"/>
      <p:bldP spid="32774" grpId="0" autoUpdateAnimBg="0"/>
      <p:bldP spid="32775" grpId="0" autoUpdateAnimBg="0"/>
      <p:bldP spid="32779" grpId="0"/>
      <p:bldP spid="32819" grpId="0" autoUpdateAnimBg="0"/>
      <p:bldP spid="32875" grpId="0" animBg="1" autoUpdateAnimBg="0"/>
      <p:bldP spid="32965" grpId="0" animBg="1" autoUpdateAnimBg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AE113331-E8C8-476B-9753-038B56AE41B6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2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2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8AC94C8-C5CB-48BE-A534-3C91DCB36FDA}" type="slidenum">
              <a:rPr lang="en-US" altLang="zh-CN"/>
              <a:pPr>
                <a:defRPr/>
              </a:pPr>
              <a:t>70</a:t>
            </a:fld>
            <a:endParaRPr lang="en-US" altLang="zh-CN"/>
          </a:p>
        </p:txBody>
      </p:sp>
      <p:sp>
        <p:nvSpPr>
          <p:cNvPr id="22541" name="Rectangle 21"/>
          <p:cNvSpPr>
            <a:spLocks noChangeArrowheads="1"/>
          </p:cNvSpPr>
          <p:nvPr/>
        </p:nvSpPr>
        <p:spPr bwMode="auto">
          <a:xfrm>
            <a:off x="381000" y="668338"/>
            <a:ext cx="845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CC3300"/>
                </a:solidFill>
                <a:ea typeface="隶书" panose="02010509060101010101" pitchFamily="49" charset="-122"/>
              </a:rPr>
              <a:t>受控电源变换</a:t>
            </a:r>
          </a:p>
        </p:txBody>
      </p:sp>
      <p:sp>
        <p:nvSpPr>
          <p:cNvPr id="22542" name="Rectangle 14"/>
          <p:cNvSpPr>
            <a:spLocks noChangeArrowheads="1"/>
          </p:cNvSpPr>
          <p:nvPr/>
        </p:nvSpPr>
        <p:spPr bwMode="auto">
          <a:xfrm>
            <a:off x="395288" y="163513"/>
            <a:ext cx="845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3200" dirty="0">
                <a:solidFill>
                  <a:schemeClr val="tx2"/>
                </a:solidFill>
                <a:ea typeface="隶书" panose="02010509060101010101" pitchFamily="49" charset="-122"/>
              </a:rPr>
              <a:t>2.6</a:t>
            </a:r>
            <a:r>
              <a:rPr lang="zh-CN" altLang="en-US" sz="3200" dirty="0">
                <a:solidFill>
                  <a:schemeClr val="tx2"/>
                </a:solidFill>
                <a:ea typeface="隶书" panose="02010509060101010101" pitchFamily="49" charset="-122"/>
              </a:rPr>
              <a:t>电源变换</a:t>
            </a:r>
            <a:r>
              <a:rPr lang="en-US" altLang="zh-CN" sz="3200" dirty="0">
                <a:solidFill>
                  <a:schemeClr val="tx2"/>
                </a:solidFill>
                <a:ea typeface="隶书" panose="02010509060101010101" pitchFamily="49" charset="-122"/>
              </a:rPr>
              <a:t>Source transformation</a:t>
            </a:r>
          </a:p>
        </p:txBody>
      </p:sp>
      <p:sp>
        <p:nvSpPr>
          <p:cNvPr id="32" name="Rectangle 3"/>
          <p:cNvSpPr txBox="1">
            <a:spLocks noChangeArrowheads="1"/>
          </p:cNvSpPr>
          <p:nvPr/>
        </p:nvSpPr>
        <p:spPr bwMode="auto">
          <a:xfrm>
            <a:off x="1763713" y="1484313"/>
            <a:ext cx="6911975" cy="1296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zh-CN" altLang="en-US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b="1">
                <a:solidFill>
                  <a:srgbClr val="00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受控电源和独立电源有本质上的不同，但在列写网络方程和对网络进行化简时，可以把受控电源作为独立电源来对待。 </a:t>
            </a:r>
            <a:endParaRPr lang="zh-CN" altLang="en-US" b="1" dirty="0">
              <a:solidFill>
                <a:srgbClr val="000066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3" name="Rectangle 6"/>
          <p:cNvSpPr>
            <a:spLocks noChangeArrowheads="1"/>
          </p:cNvSpPr>
          <p:nvPr/>
        </p:nvSpPr>
        <p:spPr bwMode="auto">
          <a:xfrm>
            <a:off x="0" y="24860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4" name="Rectangle 8"/>
          <p:cNvSpPr>
            <a:spLocks noChangeArrowheads="1"/>
          </p:cNvSpPr>
          <p:nvPr/>
        </p:nvSpPr>
        <p:spPr bwMode="auto">
          <a:xfrm>
            <a:off x="0" y="33242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35" name="Object 7"/>
          <p:cNvGraphicFramePr>
            <a:graphicFrameLocks noChangeAspect="1"/>
          </p:cNvGraphicFramePr>
          <p:nvPr/>
        </p:nvGraphicFramePr>
        <p:xfrm>
          <a:off x="1906588" y="3571875"/>
          <a:ext cx="288925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50" name="Visio" r:id="rId3" imgW="209702" imgH="209702" progId="Visio.Drawing.6">
                  <p:embed/>
                </p:oleObj>
              </mc:Choice>
              <mc:Fallback>
                <p:oleObj name="Visio" r:id="rId3" imgW="209702" imgH="209702" progId="Visio.Drawing.6">
                  <p:embed/>
                  <p:pic>
                    <p:nvPicPr>
                      <p:cNvPr id="3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6588" y="3571875"/>
                        <a:ext cx="288925" cy="288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Rectangle 10"/>
          <p:cNvSpPr>
            <a:spLocks noChangeArrowheads="1"/>
          </p:cNvSpPr>
          <p:nvPr/>
        </p:nvSpPr>
        <p:spPr bwMode="auto">
          <a:xfrm>
            <a:off x="0" y="30194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7" name="Rectangle 12"/>
          <p:cNvSpPr>
            <a:spLocks noChangeArrowheads="1"/>
          </p:cNvSpPr>
          <p:nvPr/>
        </p:nvSpPr>
        <p:spPr bwMode="auto">
          <a:xfrm>
            <a:off x="0" y="30194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8" name="Rectangle 16"/>
          <p:cNvSpPr>
            <a:spLocks noChangeArrowheads="1"/>
          </p:cNvSpPr>
          <p:nvPr/>
        </p:nvSpPr>
        <p:spPr bwMode="auto">
          <a:xfrm>
            <a:off x="0" y="33242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39" name="Object 15"/>
          <p:cNvGraphicFramePr>
            <a:graphicFrameLocks noChangeAspect="1"/>
          </p:cNvGraphicFramePr>
          <p:nvPr/>
        </p:nvGraphicFramePr>
        <p:xfrm>
          <a:off x="6731000" y="3571875"/>
          <a:ext cx="288925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51" name="Visio" r:id="rId5" imgW="209702" imgH="209702" progId="Visio.Drawing.6">
                  <p:embed/>
                </p:oleObj>
              </mc:Choice>
              <mc:Fallback>
                <p:oleObj name="Visio" r:id="rId5" imgW="209702" imgH="209702" progId="Visio.Drawing.6">
                  <p:embed/>
                  <p:pic>
                    <p:nvPicPr>
                      <p:cNvPr id="39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1000" y="3571875"/>
                        <a:ext cx="288925" cy="288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20"/>
          <p:cNvSpPr>
            <a:spLocks noChangeArrowheads="1"/>
          </p:cNvSpPr>
          <p:nvPr/>
        </p:nvSpPr>
        <p:spPr bwMode="auto">
          <a:xfrm>
            <a:off x="0" y="28670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2" name="Rectangle 22"/>
          <p:cNvSpPr>
            <a:spLocks noChangeArrowheads="1"/>
          </p:cNvSpPr>
          <p:nvPr/>
        </p:nvSpPr>
        <p:spPr bwMode="auto">
          <a:xfrm>
            <a:off x="0" y="28670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3" name="Rectangle 24"/>
          <p:cNvSpPr>
            <a:spLocks noChangeArrowheads="1"/>
          </p:cNvSpPr>
          <p:nvPr/>
        </p:nvSpPr>
        <p:spPr bwMode="auto">
          <a:xfrm>
            <a:off x="0" y="28670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4" name="Rectangle 26"/>
          <p:cNvSpPr>
            <a:spLocks noChangeArrowheads="1"/>
          </p:cNvSpPr>
          <p:nvPr/>
        </p:nvSpPr>
        <p:spPr bwMode="auto">
          <a:xfrm>
            <a:off x="0" y="28670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5" name="Rectangle 28"/>
          <p:cNvSpPr>
            <a:spLocks noChangeArrowheads="1"/>
          </p:cNvSpPr>
          <p:nvPr/>
        </p:nvSpPr>
        <p:spPr bwMode="auto">
          <a:xfrm>
            <a:off x="0" y="33242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46" name="Object 27"/>
          <p:cNvGraphicFramePr>
            <a:graphicFrameLocks noChangeAspect="1"/>
          </p:cNvGraphicFramePr>
          <p:nvPr/>
        </p:nvGraphicFramePr>
        <p:xfrm>
          <a:off x="6335713" y="5300663"/>
          <a:ext cx="468312" cy="29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52" name="Visio" r:id="rId6" imgW="331622" imgH="209702" progId="Visio.Drawing.6">
                  <p:embed/>
                </p:oleObj>
              </mc:Choice>
              <mc:Fallback>
                <p:oleObj name="Visio" r:id="rId6" imgW="331622" imgH="209702" progId="Visio.Drawing.6">
                  <p:embed/>
                  <p:pic>
                    <p:nvPicPr>
                      <p:cNvPr id="46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35713" y="5300663"/>
                        <a:ext cx="468312" cy="295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Rectangle 30"/>
          <p:cNvSpPr>
            <a:spLocks noChangeArrowheads="1"/>
          </p:cNvSpPr>
          <p:nvPr/>
        </p:nvSpPr>
        <p:spPr bwMode="auto">
          <a:xfrm>
            <a:off x="0" y="33242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48" name="Object 29"/>
          <p:cNvGraphicFramePr>
            <a:graphicFrameLocks noChangeAspect="1"/>
          </p:cNvGraphicFramePr>
          <p:nvPr/>
        </p:nvGraphicFramePr>
        <p:xfrm>
          <a:off x="1908175" y="5300663"/>
          <a:ext cx="468313" cy="29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53" name="Visio" r:id="rId8" imgW="331622" imgH="209702" progId="Visio.Drawing.6">
                  <p:embed/>
                </p:oleObj>
              </mc:Choice>
              <mc:Fallback>
                <p:oleObj name="Visio" r:id="rId8" imgW="331622" imgH="209702" progId="Visio.Drawing.6">
                  <p:embed/>
                  <p:pic>
                    <p:nvPicPr>
                      <p:cNvPr id="48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5300663"/>
                        <a:ext cx="468313" cy="295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Object 42"/>
          <p:cNvGraphicFramePr>
            <a:graphicFrameLocks noChangeAspect="1"/>
          </p:cNvGraphicFramePr>
          <p:nvPr/>
        </p:nvGraphicFramePr>
        <p:xfrm>
          <a:off x="827088" y="1555750"/>
          <a:ext cx="850900" cy="288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54" name="Visio" r:id="rId9" imgW="518465" imgH="1761744" progId="Visio.Drawing.6">
                  <p:embed/>
                </p:oleObj>
              </mc:Choice>
              <mc:Fallback>
                <p:oleObj name="Visio" r:id="rId9" imgW="518465" imgH="1761744" progId="Visio.Drawing.6">
                  <p:embed/>
                  <p:pic>
                    <p:nvPicPr>
                      <p:cNvPr id="49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1555750"/>
                        <a:ext cx="850900" cy="2881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43"/>
          <p:cNvGraphicFramePr>
            <a:graphicFrameLocks noChangeAspect="1"/>
          </p:cNvGraphicFramePr>
          <p:nvPr/>
        </p:nvGraphicFramePr>
        <p:xfrm>
          <a:off x="2555875" y="3068638"/>
          <a:ext cx="1138238" cy="1368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55" name="Visio" r:id="rId11" imgW="577901" imgH="694944" progId="Visio.Drawing.6">
                  <p:embed/>
                </p:oleObj>
              </mc:Choice>
              <mc:Fallback>
                <p:oleObj name="Visio" r:id="rId11" imgW="577901" imgH="694944" progId="Visio.Drawing.6">
                  <p:embed/>
                  <p:pic>
                    <p:nvPicPr>
                      <p:cNvPr id="5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3068638"/>
                        <a:ext cx="1138238" cy="1368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Object 44"/>
          <p:cNvGraphicFramePr>
            <a:graphicFrameLocks noChangeAspect="1"/>
          </p:cNvGraphicFramePr>
          <p:nvPr/>
        </p:nvGraphicFramePr>
        <p:xfrm>
          <a:off x="4295775" y="3127375"/>
          <a:ext cx="2147888" cy="1309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56" name="Visio" r:id="rId13" imgW="1139647" imgH="694944" progId="Visio.Drawing.6">
                  <p:embed/>
                </p:oleObj>
              </mc:Choice>
              <mc:Fallback>
                <p:oleObj name="Visio" r:id="rId13" imgW="1139647" imgH="694944" progId="Visio.Drawing.6">
                  <p:embed/>
                  <p:pic>
                    <p:nvPicPr>
                      <p:cNvPr id="51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5775" y="3127375"/>
                        <a:ext cx="2147888" cy="1309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Object 45"/>
          <p:cNvGraphicFramePr>
            <a:graphicFrameLocks noChangeAspect="1"/>
          </p:cNvGraphicFramePr>
          <p:nvPr/>
        </p:nvGraphicFramePr>
        <p:xfrm>
          <a:off x="7397750" y="3141663"/>
          <a:ext cx="990600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57" name="Visio" r:id="rId15" imgW="531571" imgH="694944" progId="Visio.Drawing.6">
                  <p:embed/>
                </p:oleObj>
              </mc:Choice>
              <mc:Fallback>
                <p:oleObj name="Visio" r:id="rId15" imgW="531571" imgH="694944" progId="Visio.Drawing.6">
                  <p:embed/>
                  <p:pic>
                    <p:nvPicPr>
                      <p:cNvPr id="52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7750" y="3141663"/>
                        <a:ext cx="990600" cy="129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Object 46"/>
          <p:cNvGraphicFramePr>
            <a:graphicFrameLocks noChangeAspect="1"/>
          </p:cNvGraphicFramePr>
          <p:nvPr/>
        </p:nvGraphicFramePr>
        <p:xfrm>
          <a:off x="827088" y="4797425"/>
          <a:ext cx="1020762" cy="1368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58" name="Visio" r:id="rId17" imgW="594665" imgH="799186" progId="Visio.Drawing.6">
                  <p:embed/>
                </p:oleObj>
              </mc:Choice>
              <mc:Fallback>
                <p:oleObj name="Visio" r:id="rId17" imgW="594665" imgH="799186" progId="Visio.Drawing.6">
                  <p:embed/>
                  <p:pic>
                    <p:nvPicPr>
                      <p:cNvPr id="53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4797425"/>
                        <a:ext cx="1020762" cy="1368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Object 47"/>
          <p:cNvGraphicFramePr>
            <a:graphicFrameLocks noChangeAspect="1"/>
          </p:cNvGraphicFramePr>
          <p:nvPr/>
        </p:nvGraphicFramePr>
        <p:xfrm>
          <a:off x="2762250" y="4797425"/>
          <a:ext cx="1301750" cy="1368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59" name="Visio" r:id="rId19" imgW="747065" imgH="786384" progId="Visio.Drawing.6">
                  <p:embed/>
                </p:oleObj>
              </mc:Choice>
              <mc:Fallback>
                <p:oleObj name="Visio" r:id="rId19" imgW="747065" imgH="786384" progId="Visio.Drawing.6">
                  <p:embed/>
                  <p:pic>
                    <p:nvPicPr>
                      <p:cNvPr id="54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2250" y="4797425"/>
                        <a:ext cx="1301750" cy="1368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Object 48"/>
          <p:cNvGraphicFramePr>
            <a:graphicFrameLocks noChangeAspect="1"/>
          </p:cNvGraphicFramePr>
          <p:nvPr/>
        </p:nvGraphicFramePr>
        <p:xfrm>
          <a:off x="4859338" y="4797425"/>
          <a:ext cx="1301750" cy="1368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60" name="Visio" r:id="rId21" imgW="747065" imgH="786384" progId="Visio.Drawing.6">
                  <p:embed/>
                </p:oleObj>
              </mc:Choice>
              <mc:Fallback>
                <p:oleObj name="Visio" r:id="rId21" imgW="747065" imgH="786384" progId="Visio.Drawing.6">
                  <p:embed/>
                  <p:pic>
                    <p:nvPicPr>
                      <p:cNvPr id="55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9338" y="4797425"/>
                        <a:ext cx="1301750" cy="1368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Object 49"/>
          <p:cNvGraphicFramePr>
            <a:graphicFrameLocks noChangeAspect="1"/>
          </p:cNvGraphicFramePr>
          <p:nvPr/>
        </p:nvGraphicFramePr>
        <p:xfrm>
          <a:off x="7205663" y="4724400"/>
          <a:ext cx="1074737" cy="1441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61" name="Visio" r:id="rId23" imgW="594665" imgH="799186" progId="Visio.Drawing.6">
                  <p:embed/>
                </p:oleObj>
              </mc:Choice>
              <mc:Fallback>
                <p:oleObj name="Visio" r:id="rId23" imgW="594665" imgH="799186" progId="Visio.Drawing.6">
                  <p:embed/>
                  <p:pic>
                    <p:nvPicPr>
                      <p:cNvPr id="56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05663" y="4724400"/>
                        <a:ext cx="1074737" cy="1441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95330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47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build="p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7A02A990-CF6F-493B-A2EE-57281261533C}" type="datetime1">
              <a:rPr lang="zh-CN" altLang="en-US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17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1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5208C0-9FA7-4866-967F-2B2CE7D7D610}" type="slidenum">
              <a:rPr lang="en-US" altLang="zh-CN"/>
              <a:pPr>
                <a:defRPr/>
              </a:pPr>
              <a:t>71</a:t>
            </a:fld>
            <a:endParaRPr lang="en-US" altLang="zh-CN"/>
          </a:p>
        </p:txBody>
      </p:sp>
      <p:graphicFrame>
        <p:nvGraphicFramePr>
          <p:cNvPr id="23557" name="Object 2"/>
          <p:cNvGraphicFramePr>
            <a:graphicFrameLocks noChangeAspect="1"/>
          </p:cNvGraphicFramePr>
          <p:nvPr/>
        </p:nvGraphicFramePr>
        <p:xfrm>
          <a:off x="179388" y="1125538"/>
          <a:ext cx="2465387" cy="2265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74" name="Visio" r:id="rId3" imgW="1294019" imgH="1189434" progId="Visio.Drawing.11">
                  <p:embed/>
                </p:oleObj>
              </mc:Choice>
              <mc:Fallback>
                <p:oleObj name="Visio" r:id="rId3" imgW="1294019" imgH="1189434" progId="Visio.Drawing.11">
                  <p:embed/>
                  <p:pic>
                    <p:nvPicPr>
                      <p:cNvPr id="23557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1125538"/>
                        <a:ext cx="2465387" cy="2265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8" name="Object 3"/>
          <p:cNvGraphicFramePr>
            <a:graphicFrameLocks noChangeAspect="1"/>
          </p:cNvGraphicFramePr>
          <p:nvPr/>
        </p:nvGraphicFramePr>
        <p:xfrm>
          <a:off x="3276600" y="1125538"/>
          <a:ext cx="2465388" cy="2265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75" name="Visio" r:id="rId5" imgW="1294019" imgH="1189434" progId="Visio.Drawing.11">
                  <p:embed/>
                </p:oleObj>
              </mc:Choice>
              <mc:Fallback>
                <p:oleObj name="Visio" r:id="rId5" imgW="1294019" imgH="1189434" progId="Visio.Drawing.11">
                  <p:embed/>
                  <p:pic>
                    <p:nvPicPr>
                      <p:cNvPr id="23558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1125538"/>
                        <a:ext cx="2465388" cy="2265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9" name="Object 4"/>
          <p:cNvGraphicFramePr>
            <a:graphicFrameLocks noChangeAspect="1"/>
          </p:cNvGraphicFramePr>
          <p:nvPr/>
        </p:nvGraphicFramePr>
        <p:xfrm>
          <a:off x="6300788" y="1125538"/>
          <a:ext cx="2465387" cy="2265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76" name="Visio" r:id="rId7" imgW="1294019" imgH="1189434" progId="Visio.Drawing.11">
                  <p:embed/>
                </p:oleObj>
              </mc:Choice>
              <mc:Fallback>
                <p:oleObj name="Visio" r:id="rId7" imgW="1294019" imgH="1189434" progId="Visio.Drawing.11">
                  <p:embed/>
                  <p:pic>
                    <p:nvPicPr>
                      <p:cNvPr id="23559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0788" y="1125538"/>
                        <a:ext cx="2465387" cy="2265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0" name="Object 5"/>
          <p:cNvGraphicFramePr>
            <a:graphicFrameLocks noChangeAspect="1"/>
          </p:cNvGraphicFramePr>
          <p:nvPr/>
        </p:nvGraphicFramePr>
        <p:xfrm>
          <a:off x="395288" y="3957638"/>
          <a:ext cx="2097087" cy="167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77" name="Visio" r:id="rId9" imgW="1100709" imgH="877824" progId="Visio.Drawing.11">
                  <p:embed/>
                </p:oleObj>
              </mc:Choice>
              <mc:Fallback>
                <p:oleObj name="Visio" r:id="rId9" imgW="1100709" imgH="877824" progId="Visio.Drawing.11">
                  <p:embed/>
                  <p:pic>
                    <p:nvPicPr>
                      <p:cNvPr id="2356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3957638"/>
                        <a:ext cx="2097087" cy="167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1" name="Object 6"/>
          <p:cNvGraphicFramePr>
            <a:graphicFrameLocks noChangeAspect="1"/>
          </p:cNvGraphicFramePr>
          <p:nvPr/>
        </p:nvGraphicFramePr>
        <p:xfrm>
          <a:off x="6443663" y="3957638"/>
          <a:ext cx="2520950" cy="188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78" name="Visio" r:id="rId11" imgW="1336024" imgH="987552" progId="Visio.Drawing.11">
                  <p:embed/>
                </p:oleObj>
              </mc:Choice>
              <mc:Fallback>
                <p:oleObj name="Visio" r:id="rId11" imgW="1336024" imgH="987552" progId="Visio.Drawing.11">
                  <p:embed/>
                  <p:pic>
                    <p:nvPicPr>
                      <p:cNvPr id="23561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3663" y="3957638"/>
                        <a:ext cx="2520950" cy="1882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2" name="Object 7"/>
          <p:cNvGraphicFramePr>
            <a:graphicFrameLocks noChangeAspect="1"/>
          </p:cNvGraphicFramePr>
          <p:nvPr/>
        </p:nvGraphicFramePr>
        <p:xfrm>
          <a:off x="3276600" y="3884613"/>
          <a:ext cx="2582863" cy="1944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79" name="Visio" r:id="rId13" imgW="1336024" imgH="987552" progId="Visio.Drawing.11">
                  <p:embed/>
                </p:oleObj>
              </mc:Choice>
              <mc:Fallback>
                <p:oleObj name="Visio" r:id="rId13" imgW="1336024" imgH="987552" progId="Visio.Drawing.11">
                  <p:embed/>
                  <p:pic>
                    <p:nvPicPr>
                      <p:cNvPr id="23562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3884613"/>
                        <a:ext cx="2582863" cy="1944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488" name="Object 8"/>
          <p:cNvGraphicFramePr>
            <a:graphicFrameLocks noChangeAspect="1"/>
          </p:cNvGraphicFramePr>
          <p:nvPr/>
        </p:nvGraphicFramePr>
        <p:xfrm>
          <a:off x="971550" y="3463925"/>
          <a:ext cx="1219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80" name="公式" r:id="rId15" imgW="609336" imgH="215806" progId="Equation.3">
                  <p:embed/>
                </p:oleObj>
              </mc:Choice>
              <mc:Fallback>
                <p:oleObj name="公式" r:id="rId15" imgW="609336" imgH="215806" progId="Equation.3">
                  <p:embed/>
                  <p:pic>
                    <p:nvPicPr>
                      <p:cNvPr id="27648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3463925"/>
                        <a:ext cx="1219200" cy="4318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99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489" name="Object 9"/>
          <p:cNvGraphicFramePr>
            <a:graphicFrameLocks noChangeAspect="1"/>
          </p:cNvGraphicFramePr>
          <p:nvPr/>
        </p:nvGraphicFramePr>
        <p:xfrm>
          <a:off x="4127500" y="3349625"/>
          <a:ext cx="12446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81" name="公式" r:id="rId17" imgW="622030" imgH="330057" progId="Equation.3">
                  <p:embed/>
                </p:oleObj>
              </mc:Choice>
              <mc:Fallback>
                <p:oleObj name="公式" r:id="rId17" imgW="622030" imgH="330057" progId="Equation.3">
                  <p:embed/>
                  <p:pic>
                    <p:nvPicPr>
                      <p:cNvPr id="27648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7500" y="3349625"/>
                        <a:ext cx="1244600" cy="6604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99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490" name="Object 10"/>
          <p:cNvGraphicFramePr>
            <a:graphicFrameLocks noChangeAspect="1"/>
          </p:cNvGraphicFramePr>
          <p:nvPr/>
        </p:nvGraphicFramePr>
        <p:xfrm>
          <a:off x="7092950" y="3390900"/>
          <a:ext cx="1524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82" name="公式" r:id="rId19" imgW="761669" imgH="215806" progId="Equation.3">
                  <p:embed/>
                </p:oleObj>
              </mc:Choice>
              <mc:Fallback>
                <p:oleObj name="公式" r:id="rId19" imgW="761669" imgH="215806" progId="Equation.3">
                  <p:embed/>
                  <p:pic>
                    <p:nvPicPr>
                      <p:cNvPr id="27649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2950" y="3390900"/>
                        <a:ext cx="1524000" cy="4318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99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491" name="Object 11"/>
          <p:cNvGraphicFramePr>
            <a:graphicFrameLocks noChangeAspect="1"/>
          </p:cNvGraphicFramePr>
          <p:nvPr/>
        </p:nvGraphicFramePr>
        <p:xfrm>
          <a:off x="598488" y="5767388"/>
          <a:ext cx="1549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83" name="公式" r:id="rId21" imgW="774364" imgH="215806" progId="Equation.3">
                  <p:embed/>
                </p:oleObj>
              </mc:Choice>
              <mc:Fallback>
                <p:oleObj name="公式" r:id="rId21" imgW="774364" imgH="215806" progId="Equation.3">
                  <p:embed/>
                  <p:pic>
                    <p:nvPicPr>
                      <p:cNvPr id="276491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488" y="5767388"/>
                        <a:ext cx="1549400" cy="4318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99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492" name="Object 12"/>
          <p:cNvGraphicFramePr>
            <a:graphicFrameLocks noChangeAspect="1"/>
          </p:cNvGraphicFramePr>
          <p:nvPr/>
        </p:nvGraphicFramePr>
        <p:xfrm>
          <a:off x="3924300" y="5670550"/>
          <a:ext cx="12446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84" name="公式" r:id="rId23" imgW="622030" imgH="355446" progId="Equation.3">
                  <p:embed/>
                </p:oleObj>
              </mc:Choice>
              <mc:Fallback>
                <p:oleObj name="公式" r:id="rId23" imgW="622030" imgH="355446" progId="Equation.3">
                  <p:embed/>
                  <p:pic>
                    <p:nvPicPr>
                      <p:cNvPr id="276492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5670550"/>
                        <a:ext cx="1244600" cy="7112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99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493" name="Object 13"/>
          <p:cNvGraphicFramePr>
            <a:graphicFrameLocks noChangeAspect="1"/>
          </p:cNvGraphicFramePr>
          <p:nvPr/>
        </p:nvGraphicFramePr>
        <p:xfrm>
          <a:off x="7100888" y="5695950"/>
          <a:ext cx="13716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85" name="公式" r:id="rId25" imgW="685502" imgH="355446" progId="Equation.3">
                  <p:embed/>
                </p:oleObj>
              </mc:Choice>
              <mc:Fallback>
                <p:oleObj name="公式" r:id="rId25" imgW="685502" imgH="355446" progId="Equation.3">
                  <p:embed/>
                  <p:pic>
                    <p:nvPicPr>
                      <p:cNvPr id="276493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00888" y="5695950"/>
                        <a:ext cx="1371600" cy="7112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99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9" name="Rectangle 14"/>
          <p:cNvSpPr>
            <a:spLocks noChangeArrowheads="1"/>
          </p:cNvSpPr>
          <p:nvPr/>
        </p:nvSpPr>
        <p:spPr bwMode="auto">
          <a:xfrm>
            <a:off x="377552" y="625475"/>
            <a:ext cx="80645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solidFill>
                  <a:srgbClr val="CC3300"/>
                </a:solidFill>
                <a:ea typeface="隶书" panose="02010509060101010101" pitchFamily="49" charset="-122"/>
              </a:rPr>
              <a:t>例</a:t>
            </a:r>
            <a:r>
              <a:rPr lang="en-US" altLang="zh-CN" sz="2800" dirty="0">
                <a:solidFill>
                  <a:srgbClr val="CC3300"/>
                </a:solidFill>
                <a:ea typeface="隶书" panose="02010509060101010101" pitchFamily="49" charset="-122"/>
              </a:rPr>
              <a:t>7.Find the equivalent resistance of each circuit.</a:t>
            </a:r>
          </a:p>
        </p:txBody>
      </p:sp>
      <p:sp>
        <p:nvSpPr>
          <p:cNvPr id="2" name="矩形 1"/>
          <p:cNvSpPr/>
          <p:nvPr/>
        </p:nvSpPr>
        <p:spPr>
          <a:xfrm>
            <a:off x="553839" y="47407"/>
            <a:ext cx="674092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当受控电源和控制量在同一条戴维南或者诺顿支路上时，受控电源可以变换为线性电阻。</a:t>
            </a:r>
            <a:endParaRPr lang="en-US" altLang="zh-CN" b="1" dirty="0">
              <a:solidFill>
                <a:srgbClr val="000066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01514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9648" y="332656"/>
            <a:ext cx="8458200" cy="5181600"/>
          </a:xfrm>
        </p:spPr>
        <p:txBody>
          <a:bodyPr/>
          <a:lstStyle/>
          <a:p>
            <a:r>
              <a:rPr lang="zh-CN" altLang="en-US" dirty="0"/>
              <a:t>等效变换</a:t>
            </a:r>
            <a:r>
              <a:rPr lang="en-US" altLang="zh-CN" dirty="0"/>
              <a:t>——</a:t>
            </a:r>
            <a:r>
              <a:rPr lang="zh-CN" altLang="en-US" dirty="0"/>
              <a:t>将相对复杂的电路等效为简单电路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r>
              <a:rPr lang="zh-CN" altLang="en-US" dirty="0"/>
              <a:t>等效一端口网络：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        </a:t>
            </a:r>
            <a:r>
              <a:rPr lang="zh-CN" altLang="en-US" dirty="0"/>
              <a:t>两个不同一端口网络，相同的端口</a:t>
            </a:r>
            <a:r>
              <a:rPr lang="en-US" altLang="zh-CN" dirty="0"/>
              <a:t>u-</a:t>
            </a:r>
            <a:r>
              <a:rPr lang="en-US" altLang="zh-CN" dirty="0" err="1"/>
              <a:t>i</a:t>
            </a:r>
            <a:r>
              <a:rPr lang="zh-CN" altLang="en-US" dirty="0"/>
              <a:t>关系。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r>
              <a:rPr lang="zh-CN" altLang="en-US" dirty="0"/>
              <a:t>串联与并联</a:t>
            </a:r>
            <a:r>
              <a:rPr lang="en-US" altLang="zh-CN" dirty="0"/>
              <a:t>——</a:t>
            </a:r>
            <a:r>
              <a:rPr lang="zh-CN" altLang="en-US" dirty="0"/>
              <a:t>独立电源、线性电阻（导）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混联</a:t>
            </a:r>
            <a:r>
              <a:rPr lang="en-US" altLang="zh-CN" dirty="0"/>
              <a:t>——</a:t>
            </a:r>
            <a:r>
              <a:rPr lang="zh-CN" altLang="en-US" dirty="0"/>
              <a:t>电路对称、星型电路与三角型电路。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1C66AF1-24A0-446C-B0A8-326C494344F1}" type="datetime1">
              <a:rPr lang="zh-CN" altLang="en-US" smtClean="0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74CEB45-B7B4-4CEA-8E4A-DA539A380401}" type="slidenum">
              <a:rPr lang="en-US" altLang="zh-CN" smtClean="0"/>
              <a:pPr>
                <a:defRPr/>
              </a:pPr>
              <a:t>72</a:t>
            </a:fld>
            <a:endParaRPr lang="en-US" altLang="zh-CN" dirty="0"/>
          </a:p>
        </p:txBody>
      </p:sp>
      <p:sp>
        <p:nvSpPr>
          <p:cNvPr id="7" name="Text Box 23"/>
          <p:cNvSpPr txBox="1">
            <a:spLocks noChangeArrowheads="1"/>
          </p:cNvSpPr>
          <p:nvPr/>
        </p:nvSpPr>
        <p:spPr bwMode="auto">
          <a:xfrm>
            <a:off x="279648" y="4005064"/>
            <a:ext cx="886435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宋体" panose="02010600030101010101" pitchFamily="2" charset="-122"/>
              </a:rPr>
              <a:t>    </a:t>
            </a:r>
            <a:r>
              <a:rPr kumimoji="1"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等效是指对外部（端钮以外）电路而言，对内不成立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。</a:t>
            </a:r>
            <a:endParaRPr kumimoji="1" lang="zh-CN" altLang="en-US" sz="24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43608" y="5685706"/>
            <a:ext cx="66479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电源变换：电压源与电流源之间的互换。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612422" y="4791524"/>
            <a:ext cx="791915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电阻电路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——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由电阻、受控电源、独立电源构成的电路。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altLang="en-US" sz="2400" dirty="0">
                <a:solidFill>
                  <a:srgbClr val="FF0000"/>
                </a:solidFill>
              </a:rPr>
              <a:t>最简单的等效电路？</a:t>
            </a:r>
          </a:p>
        </p:txBody>
      </p:sp>
    </p:spTree>
    <p:extLst>
      <p:ext uri="{BB962C8B-B14F-4D97-AF65-F5344CB8AC3E}">
        <p14:creationId xmlns:p14="http://schemas.microsoft.com/office/powerpoint/2010/main" val="2872905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1000" y="914400"/>
            <a:ext cx="8295456" cy="5181600"/>
          </a:xfrm>
        </p:spPr>
        <p:txBody>
          <a:bodyPr/>
          <a:lstStyle/>
          <a:p>
            <a:r>
              <a:rPr lang="en-US" altLang="zh-CN" dirty="0"/>
              <a:t>2.2</a:t>
            </a:r>
            <a:r>
              <a:rPr lang="zh-CN" altLang="en-US" dirty="0"/>
              <a:t>节：</a:t>
            </a:r>
            <a:r>
              <a:rPr lang="en-US" altLang="zh-CN" dirty="0"/>
              <a:t>2-12</a:t>
            </a:r>
            <a:r>
              <a:rPr lang="zh-CN" altLang="en-US" dirty="0"/>
              <a:t>，</a:t>
            </a:r>
            <a:r>
              <a:rPr lang="en-US" altLang="zh-CN" dirty="0"/>
              <a:t>2-14</a:t>
            </a:r>
          </a:p>
          <a:p>
            <a:r>
              <a:rPr lang="en-US" altLang="zh-CN" dirty="0"/>
              <a:t>2.3</a:t>
            </a:r>
            <a:r>
              <a:rPr lang="zh-CN" altLang="en-US" dirty="0"/>
              <a:t>节：</a:t>
            </a:r>
            <a:r>
              <a:rPr lang="en-US" altLang="zh-CN" dirty="0"/>
              <a:t>2-16</a:t>
            </a:r>
            <a:r>
              <a:rPr lang="zh-CN" altLang="en-US" dirty="0"/>
              <a:t>，</a:t>
            </a:r>
            <a:r>
              <a:rPr lang="en-US" altLang="zh-CN" dirty="0"/>
              <a:t>2-20</a:t>
            </a:r>
            <a:r>
              <a:rPr lang="zh-CN" altLang="en-US" dirty="0"/>
              <a:t>，</a:t>
            </a:r>
            <a:r>
              <a:rPr lang="en-US" altLang="zh-CN" dirty="0"/>
              <a:t>2-24</a:t>
            </a:r>
          </a:p>
          <a:p>
            <a:r>
              <a:rPr lang="en-US" altLang="zh-CN" dirty="0"/>
              <a:t>2.4</a:t>
            </a:r>
            <a:r>
              <a:rPr lang="zh-CN" altLang="en-US" dirty="0"/>
              <a:t>节：</a:t>
            </a:r>
            <a:r>
              <a:rPr lang="en-US" altLang="zh-CN" dirty="0"/>
              <a:t>2-26</a:t>
            </a:r>
            <a:r>
              <a:rPr lang="zh-CN" altLang="en-US" dirty="0"/>
              <a:t>，</a:t>
            </a:r>
            <a:r>
              <a:rPr lang="en-US" altLang="zh-CN" dirty="0"/>
              <a:t>2-32</a:t>
            </a:r>
          </a:p>
          <a:p>
            <a:r>
              <a:rPr lang="zh-CN" altLang="en-US" dirty="0"/>
              <a:t>综合：</a:t>
            </a:r>
            <a:r>
              <a:rPr lang="en-US" altLang="zh-CN" dirty="0"/>
              <a:t>2-36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04BC380-5849-4E82-9448-222F2C781241}" type="datetime1">
              <a:rPr lang="zh-CN" altLang="en-US" smtClean="0"/>
              <a:pPr>
                <a:defRPr/>
              </a:pPr>
              <a:t>2024/3/8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1A18AD-0A7C-4FD4-B788-CBCE68555FE7}" type="slidenum">
              <a:rPr lang="en-US" altLang="zh-CN" smtClean="0"/>
              <a:pPr>
                <a:defRPr/>
              </a:pPr>
              <a:t>73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49506377"/>
      </p:ext>
    </p:extLst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FF3300"/>
      </a:hlink>
      <a:folHlink>
        <a:srgbClr val="FF3300"/>
      </a:folHlink>
    </a:clrScheme>
    <a:fontScheme name="默认设计模板">
      <a:majorFont>
        <a:latin typeface="Times New Roman"/>
        <a:ea typeface="华文新魏"/>
        <a:cs typeface=""/>
      </a:majorFont>
      <a:minorFont>
        <a:latin typeface="Times New Roman"/>
        <a:ea typeface="华文中宋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幼圆" panose="02010509060101010101" pitchFamily="49" charset="-122"/>
            <a:ea typeface="幼圆" panose="02010509060101010101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幼圆" panose="02010509060101010101" pitchFamily="49" charset="-122"/>
            <a:ea typeface="幼圆" panose="02010509060101010101" pitchFamily="49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12814</TotalTime>
  <Words>3898</Words>
  <Application>Microsoft Office PowerPoint</Application>
  <PresentationFormat>全屏显示(4:3)</PresentationFormat>
  <Paragraphs>1125</Paragraphs>
  <Slides>73</Slides>
  <Notes>9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7</vt:i4>
      </vt:variant>
      <vt:variant>
        <vt:lpstr>幻灯片标题</vt:lpstr>
      </vt:variant>
      <vt:variant>
        <vt:i4>73</vt:i4>
      </vt:variant>
    </vt:vector>
  </HeadingPairs>
  <TitlesOfParts>
    <vt:vector size="95" baseType="lpstr">
      <vt:lpstr>굴림</vt:lpstr>
      <vt:lpstr>仿宋_GB2312</vt:lpstr>
      <vt:lpstr>黑体</vt:lpstr>
      <vt:lpstr>华文中宋</vt:lpstr>
      <vt:lpstr>楷体_GB2312</vt:lpstr>
      <vt:lpstr>隶书</vt:lpstr>
      <vt:lpstr>宋体</vt:lpstr>
      <vt:lpstr>幼圆</vt:lpstr>
      <vt:lpstr>-윤고딕120</vt:lpstr>
      <vt:lpstr>Arial</vt:lpstr>
      <vt:lpstr>Calibri</vt:lpstr>
      <vt:lpstr>Cambria Math</vt:lpstr>
      <vt:lpstr>Times New Roman</vt:lpstr>
      <vt:lpstr>Wingdings</vt:lpstr>
      <vt:lpstr>默认设计模板</vt:lpstr>
      <vt:lpstr>Visio</vt:lpstr>
      <vt:lpstr>公式</vt:lpstr>
      <vt:lpstr>VISIO</vt:lpstr>
      <vt:lpstr>Equation</vt:lpstr>
      <vt:lpstr>Flash 文档</vt:lpstr>
      <vt:lpstr>Flash Movie</vt:lpstr>
      <vt:lpstr>Visio.Drawing.6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2.3对称电路</vt:lpstr>
      <vt:lpstr>2.3对称电路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2.5星型和三角型电路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串联、并联</vt:lpstr>
      <vt:lpstr>串联、并联</vt:lpstr>
      <vt:lpstr>串联、并联</vt:lpstr>
      <vt:lpstr>对称电路-对称面通过端口</vt:lpstr>
      <vt:lpstr>对称电路-对称面垂直端口</vt:lpstr>
      <vt:lpstr>电桥、星型和三角型电路</vt:lpstr>
      <vt:lpstr>星形电路和三角形电路的等效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等效电路综合应用</vt:lpstr>
      <vt:lpstr>PowerPoint 演示文稿</vt:lpstr>
      <vt:lpstr>串联、并联</vt:lpstr>
      <vt:lpstr>串联、并联</vt:lpstr>
      <vt:lpstr>串联、并联</vt:lpstr>
      <vt:lpstr>对称电路-对称面通过端口</vt:lpstr>
      <vt:lpstr>对称电路-对称面垂直端口</vt:lpstr>
      <vt:lpstr>电桥、星型和三角型电路</vt:lpstr>
      <vt:lpstr>星形电路和三角形电路的等效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作业</vt:lpstr>
    </vt:vector>
  </TitlesOfParts>
  <Company>ibm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基本定律</dc:title>
  <dc:creator>qryan</dc:creator>
  <cp:lastModifiedBy>Administrator</cp:lastModifiedBy>
  <cp:revision>620</cp:revision>
  <cp:lastPrinted>2004-03-17T08:18:10Z</cp:lastPrinted>
  <dcterms:created xsi:type="dcterms:W3CDTF">2001-01-13T02:14:45Z</dcterms:created>
  <dcterms:modified xsi:type="dcterms:W3CDTF">2024-03-08T02:04:47Z</dcterms:modified>
</cp:coreProperties>
</file>