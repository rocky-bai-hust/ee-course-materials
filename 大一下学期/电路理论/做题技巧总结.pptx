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7.xml" ContentType="application/vnd.openxmlformats-officedocument.presentationml.notesSl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8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tags/tag1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8"/>
  </p:notesMasterIdLst>
  <p:sldIdLst>
    <p:sldId id="256" r:id="rId2"/>
    <p:sldId id="743" r:id="rId3"/>
    <p:sldId id="434" r:id="rId4"/>
    <p:sldId id="435" r:id="rId5"/>
    <p:sldId id="915" r:id="rId6"/>
    <p:sldId id="456" r:id="rId7"/>
    <p:sldId id="732" r:id="rId8"/>
    <p:sldId id="470" r:id="rId9"/>
    <p:sldId id="419" r:id="rId10"/>
    <p:sldId id="526" r:id="rId11"/>
    <p:sldId id="528" r:id="rId12"/>
    <p:sldId id="651" r:id="rId13"/>
    <p:sldId id="522" r:id="rId14"/>
    <p:sldId id="560" r:id="rId15"/>
    <p:sldId id="511" r:id="rId16"/>
    <p:sldId id="512" r:id="rId17"/>
    <p:sldId id="514" r:id="rId18"/>
    <p:sldId id="635" r:id="rId19"/>
    <p:sldId id="947" r:id="rId20"/>
    <p:sldId id="318" r:id="rId21"/>
    <p:sldId id="319" r:id="rId22"/>
    <p:sldId id="638" r:id="rId23"/>
    <p:sldId id="953" r:id="rId24"/>
    <p:sldId id="955" r:id="rId25"/>
    <p:sldId id="967" r:id="rId26"/>
    <p:sldId id="968" r:id="rId27"/>
    <p:sldId id="971" r:id="rId28"/>
    <p:sldId id="972" r:id="rId29"/>
    <p:sldId id="358" r:id="rId30"/>
    <p:sldId id="980" r:id="rId31"/>
    <p:sldId id="979" r:id="rId32"/>
    <p:sldId id="554" r:id="rId33"/>
    <p:sldId id="748" r:id="rId34"/>
    <p:sldId id="571" r:id="rId35"/>
    <p:sldId id="792" r:id="rId36"/>
    <p:sldId id="991" r:id="rId3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1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316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3B82D8-F8E0-4E71-8AA5-F4F2FF1526AF}" type="datetimeFigureOut">
              <a:rPr lang="zh-CN" altLang="en-US" smtClean="0"/>
              <a:t>2024/8/17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64A5CF-C141-4763-89A8-161EF27E69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17018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4E0C373-F252-4CF2-A4CD-FEF695006013}" type="slidenum">
              <a:rPr lang="en-US" altLang="zh-CN"/>
              <a:pPr/>
              <a:t>9</a:t>
            </a:fld>
            <a:endParaRPr lang="en-US" altLang="zh-CN"/>
          </a:p>
        </p:txBody>
      </p:sp>
      <p:sp>
        <p:nvSpPr>
          <p:cNvPr id="5201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01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253873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55E2F70-FFD3-4780-86AC-711BD30CC19B}" type="slidenum">
              <a:rPr lang="en-US" altLang="zh-CN"/>
              <a:pPr/>
              <a:t>13</a:t>
            </a:fld>
            <a:endParaRPr lang="en-US" altLang="zh-CN"/>
          </a:p>
        </p:txBody>
      </p:sp>
      <p:sp>
        <p:nvSpPr>
          <p:cNvPr id="686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4790564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557E939-05DB-43F6-A508-1686D8442E61}" type="slidenum">
              <a:rPr lang="en-US" altLang="zh-CN"/>
              <a:pPr/>
              <a:t>15</a:t>
            </a:fld>
            <a:endParaRPr lang="en-US" altLang="zh-CN"/>
          </a:p>
        </p:txBody>
      </p:sp>
      <p:sp>
        <p:nvSpPr>
          <p:cNvPr id="60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4107020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B6264B2-DA1B-40D9-BC1E-742CC84673A9}" type="slidenum">
              <a:rPr lang="en-US" altLang="zh-CN"/>
              <a:pPr/>
              <a:t>16</a:t>
            </a:fld>
            <a:endParaRPr lang="en-US" altLang="zh-CN"/>
          </a:p>
        </p:txBody>
      </p:sp>
      <p:sp>
        <p:nvSpPr>
          <p:cNvPr id="624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9471284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AB6FFFC-18D4-41F1-8510-694E8664936D}" type="slidenum">
              <a:rPr lang="en-US" altLang="zh-CN"/>
              <a:pPr/>
              <a:t>17</a:t>
            </a:fld>
            <a:endParaRPr lang="en-US" altLang="zh-CN"/>
          </a:p>
        </p:txBody>
      </p:sp>
      <p:sp>
        <p:nvSpPr>
          <p:cNvPr id="66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7312656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无功：反映电源与负载之间交换能量的速率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CAE23C-9D4D-4035-A057-2079C9DCAE97}" type="slidenum">
              <a:rPr lang="zh-CN" altLang="en-US" smtClean="0"/>
              <a:t>18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Y</a:t>
            </a:r>
            <a:r>
              <a:rPr lang="zh-CN" altLang="en-US" dirty="0"/>
              <a:t>接：线电流</a:t>
            </a:r>
            <a:r>
              <a:rPr lang="en-US" altLang="zh-CN" dirty="0"/>
              <a:t>=</a:t>
            </a:r>
            <a:r>
              <a:rPr lang="zh-CN" altLang="en-US" dirty="0"/>
              <a:t>相电流、线电压是相电压的根号</a:t>
            </a:r>
            <a:r>
              <a:rPr lang="en-US" altLang="zh-CN" dirty="0"/>
              <a:t>3</a:t>
            </a:r>
            <a:r>
              <a:rPr lang="zh-CN" altLang="en-US" dirty="0"/>
              <a:t>倍；</a:t>
            </a:r>
            <a:endParaRPr lang="en-US" altLang="zh-CN" dirty="0"/>
          </a:p>
          <a:p>
            <a:r>
              <a:rPr lang="zh-CN" altLang="en-US" dirty="0"/>
              <a:t>分相计算法：另外两相无需计算</a:t>
            </a:r>
            <a:endParaRPr lang="en-US" altLang="zh-CN" dirty="0"/>
          </a:p>
          <a:p>
            <a:r>
              <a:rPr lang="zh-CN" altLang="en-US" dirty="0"/>
              <a:t>相位角是相电压</a:t>
            </a:r>
            <a:r>
              <a:rPr lang="en-US" altLang="zh-CN" dirty="0"/>
              <a:t>-</a:t>
            </a:r>
            <a:r>
              <a:rPr lang="zh-CN" altLang="en-US" dirty="0"/>
              <a:t>相电流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CAE23C-9D4D-4035-A057-2079C9DCAE97}" type="slidenum">
              <a:rPr lang="zh-CN" altLang="en-US" smtClean="0"/>
              <a:t>22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B1FB957-99CC-4EB7-BEDF-C9E8E6A4DF69}" type="slidenum">
              <a:rPr lang="en-US" altLang="zh-CN"/>
              <a:pPr/>
              <a:t>29</a:t>
            </a:fld>
            <a:endParaRPr lang="en-US" altLang="zh-CN"/>
          </a:p>
        </p:txBody>
      </p:sp>
      <p:sp>
        <p:nvSpPr>
          <p:cNvPr id="7516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16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7126235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98660551-E879-420A-9FB3-545441C06E0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B04244B-35EC-45B4-9BF0-82E41671F494}" type="slidenum">
              <a:rPr lang="en-US" altLang="zh-CN"/>
              <a:pPr/>
              <a:t>32</a:t>
            </a:fld>
            <a:endParaRPr lang="en-US" altLang="zh-CN"/>
          </a:p>
        </p:txBody>
      </p:sp>
      <p:sp>
        <p:nvSpPr>
          <p:cNvPr id="657410" name="Rectangle 2">
            <a:extLst>
              <a:ext uri="{FF2B5EF4-FFF2-40B4-BE49-F238E27FC236}">
                <a16:creationId xmlns:a16="http://schemas.microsoft.com/office/drawing/2014/main" id="{90E3A2F9-A7BD-4DE3-9D92-40FACCA2C76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7411" name="Rectangle 3">
            <a:extLst>
              <a:ext uri="{FF2B5EF4-FFF2-40B4-BE49-F238E27FC236}">
                <a16:creationId xmlns:a16="http://schemas.microsoft.com/office/drawing/2014/main" id="{6E6D1CE0-1DD3-4CB0-8FA0-6D454228D56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F3F9FE6B-01A9-4F63-8165-97BD203E4C3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40A7341-A19A-4FC3-AF34-984CEC9D92D6}" type="slidenum">
              <a:rPr lang="en-US" altLang="zh-CN"/>
              <a:pPr/>
              <a:t>34</a:t>
            </a:fld>
            <a:endParaRPr lang="en-US" altLang="zh-CN"/>
          </a:p>
        </p:txBody>
      </p:sp>
      <p:sp>
        <p:nvSpPr>
          <p:cNvPr id="672770" name="Rectangle 2">
            <a:extLst>
              <a:ext uri="{FF2B5EF4-FFF2-40B4-BE49-F238E27FC236}">
                <a16:creationId xmlns:a16="http://schemas.microsoft.com/office/drawing/2014/main" id="{ACA8429E-4E40-40A3-A720-41C5B460BF3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2771" name="Rectangle 3">
            <a:extLst>
              <a:ext uri="{FF2B5EF4-FFF2-40B4-BE49-F238E27FC236}">
                <a16:creationId xmlns:a16="http://schemas.microsoft.com/office/drawing/2014/main" id="{03A7BF58-6B42-4D5D-B043-B04C096C76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780182-49A9-42A6-1CCC-62119C94F3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CE6A5FC-C4E3-6F53-4A07-2909BD7148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875B00B-25A8-CBC8-5019-C5AEBA04C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3B3E8-31EF-4CA6-9BCE-B93208606143}" type="datetimeFigureOut">
              <a:rPr lang="zh-CN" altLang="en-US" smtClean="0"/>
              <a:t>2024/8/17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DE376DA-F445-022C-7B39-89DF61DAC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777367F-1B73-29F7-2C33-27AC3B485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C02CC-E3D3-434C-8942-2DE7E36CF8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3148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C79D60-48A9-E143-F5C2-883F02B599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FFB606B-BA12-DD44-AA40-614993690E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A4ED508-53AB-3FE3-F76C-11EF47C84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3B3E8-31EF-4CA6-9BCE-B93208606143}" type="datetimeFigureOut">
              <a:rPr lang="zh-CN" altLang="en-US" smtClean="0"/>
              <a:t>2024/8/17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0A8F489-E524-E5A9-DD0F-FDD8ECC0C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4B03DF2-E485-8131-A514-BE66D8718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C02CC-E3D3-434C-8942-2DE7E36CF8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03216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F3EAF5-E971-B9F2-56C6-69190456A9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2F45F64-7364-AE05-8FF1-48601E22B4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9223821-0E7B-76AC-7F4B-11505F186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3B3E8-31EF-4CA6-9BCE-B93208606143}" type="datetimeFigureOut">
              <a:rPr lang="zh-CN" altLang="en-US" smtClean="0"/>
              <a:t>2024/8/17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B943E10-C12F-697D-D589-587CDCD770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80624D6-3228-0A50-EF73-495A6746B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C02CC-E3D3-434C-8942-2DE7E36CF8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6046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4F9E97-4CB2-2530-EAEB-A31312892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02C9DE9-07B4-73B1-3FD0-03A95DE09D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4756804-C7FE-035D-BA6B-9EB90AE484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CC7C2D7-1B17-4B1C-4CC9-53CFC67FDE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3B3E8-31EF-4CA6-9BCE-B93208606143}" type="datetimeFigureOut">
              <a:rPr lang="zh-CN" altLang="en-US" smtClean="0"/>
              <a:t>2024/8/17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E30345D-E68B-AD72-3A71-9D1EE60AF8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9157D5D-7A19-9297-869D-E4D6E2D6B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C02CC-E3D3-434C-8942-2DE7E36CF8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00570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F13FF0-7AE0-965B-4017-F6CCFA5CAE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2162EB1-73BC-4BAC-0FEC-8E16737065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75D0476-B2CF-4195-7F60-C60A9F0508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4AE983B-D3D1-6C6C-6CF7-5704964933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BDA8A13-277D-C6DE-67B2-7813E82047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5D64D7F-F89F-9FAD-6A25-75A205460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3B3E8-31EF-4CA6-9BCE-B93208606143}" type="datetimeFigureOut">
              <a:rPr lang="zh-CN" altLang="en-US" smtClean="0"/>
              <a:t>2024/8/17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61FB328-D0E6-8096-A657-8D1C119790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5551A9F-E314-B7BA-FF95-C0A9420E1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C02CC-E3D3-434C-8942-2DE7E36CF8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65955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19D270-A16C-C3CE-23E7-EAA3E95427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E02846B-CFE0-5698-ED5D-7431C29CBB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3B3E8-31EF-4CA6-9BCE-B93208606143}" type="datetimeFigureOut">
              <a:rPr lang="zh-CN" altLang="en-US" smtClean="0"/>
              <a:t>2024/8/17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DAED1BB-3AF5-0FD8-4325-E0364BEB4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A042F69-AAAE-8078-5CFC-EBC2804C8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C02CC-E3D3-434C-8942-2DE7E36CF8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5397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B2376AB-6E84-83B9-C12C-5AB7B59A8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3B3E8-31EF-4CA6-9BCE-B93208606143}" type="datetimeFigureOut">
              <a:rPr lang="zh-CN" altLang="en-US" smtClean="0"/>
              <a:t>2024/8/17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1B59AD6-586D-7284-158B-D83D86A02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26D213D-9B72-9A2B-EA7C-FAD13B9D2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C02CC-E3D3-434C-8942-2DE7E36CF8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7100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611824-0B5E-0069-1954-01158DC539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6F7DEA0-5BAD-8980-8FB6-03439707B3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F0742E9-9AC3-4E89-4706-765EEFC434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9A3D105-8D31-EA72-261C-7318DFD31A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3B3E8-31EF-4CA6-9BCE-B93208606143}" type="datetimeFigureOut">
              <a:rPr lang="zh-CN" altLang="en-US" smtClean="0"/>
              <a:t>2024/8/17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84930D9-B9C5-ABEF-C320-E402B8A4C9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F389544-4364-6935-7FCF-53A28E82B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C02CC-E3D3-434C-8942-2DE7E36CF8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89081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61C488-B561-6C23-F836-40F898F10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AAD6191-F53D-0EEF-AA50-14EFAD5603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51BC4A8-E86A-759F-451E-516AA32902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FAFCB80-0D9D-9565-BA06-23D893F9F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3B3E8-31EF-4CA6-9BCE-B93208606143}" type="datetimeFigureOut">
              <a:rPr lang="zh-CN" altLang="en-US" smtClean="0"/>
              <a:t>2024/8/17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B313519-84C0-5D8E-1785-DEEAB35A3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5F13CE0-12D4-46FF-2A18-6B07BBC07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C02CC-E3D3-434C-8942-2DE7E36CF8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0292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D35380-1D77-CF1D-F978-DE6791DD3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0B9B835-AA61-E14A-8308-BB89139F8F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D97384C-8485-472D-A573-50B26DEA0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3B3E8-31EF-4CA6-9BCE-B93208606143}" type="datetimeFigureOut">
              <a:rPr lang="zh-CN" altLang="en-US" smtClean="0"/>
              <a:t>2024/8/17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21118B2-BA36-26E8-E259-23141A459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306484E-2D51-8FAC-25BD-DDDE4213A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C02CC-E3D3-434C-8942-2DE7E36CF8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07535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AD08782-61FD-B9BD-22DA-75812E7AC9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76EE26D-DD5E-BF69-A128-D7C9BF27A5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D452E81-A872-07A0-2713-6F1ED6CC4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3B3E8-31EF-4CA6-9BCE-B93208606143}" type="datetimeFigureOut">
              <a:rPr lang="zh-CN" altLang="en-US" smtClean="0"/>
              <a:t>2024/8/17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29E3840-311C-6FE1-84AF-EC10748FC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2767BF4-B496-0089-BF20-892E4D638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C02CC-E3D3-434C-8942-2DE7E36CF8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19946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AE73803-2124-3D4C-3273-EE2A4EA6D2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E164F76-49B8-C17D-2F43-1AA3BEA7F2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5D7D481-F06E-07D5-3CC1-89EBDD0AAB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53B3E8-31EF-4CA6-9BCE-B93208606143}" type="datetimeFigureOut">
              <a:rPr lang="zh-CN" altLang="en-US" smtClean="0"/>
              <a:t>2024/8/17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D514639-34CE-AC24-6AF9-4D35F48056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61EA99D-BC7B-425F-BBD6-63A040B6DF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7C02CC-E3D3-434C-8942-2DE7E36CF8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20775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13" Type="http://schemas.openxmlformats.org/officeDocument/2006/relationships/image" Target="../media/image6.wmf"/><Relationship Id="rId18" Type="http://schemas.openxmlformats.org/officeDocument/2006/relationships/oleObject" Target="../embeddings/oleObject9.bin"/><Relationship Id="rId3" Type="http://schemas.openxmlformats.org/officeDocument/2006/relationships/image" Target="../media/image1.wmf"/><Relationship Id="rId21" Type="http://schemas.openxmlformats.org/officeDocument/2006/relationships/image" Target="../media/image10.wmf"/><Relationship Id="rId7" Type="http://schemas.openxmlformats.org/officeDocument/2006/relationships/image" Target="../media/image3.wmf"/><Relationship Id="rId12" Type="http://schemas.openxmlformats.org/officeDocument/2006/relationships/oleObject" Target="../embeddings/oleObject6.bin"/><Relationship Id="rId17" Type="http://schemas.openxmlformats.org/officeDocument/2006/relationships/image" Target="../media/image8.wmf"/><Relationship Id="rId25" Type="http://schemas.openxmlformats.org/officeDocument/2006/relationships/image" Target="../media/image12.wmf"/><Relationship Id="rId2" Type="http://schemas.openxmlformats.org/officeDocument/2006/relationships/oleObject" Target="../embeddings/oleObject1.bin"/><Relationship Id="rId16" Type="http://schemas.openxmlformats.org/officeDocument/2006/relationships/oleObject" Target="../embeddings/oleObject8.bin"/><Relationship Id="rId20" Type="http://schemas.openxmlformats.org/officeDocument/2006/relationships/oleObject" Target="../embeddings/oleObject10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5.wmf"/><Relationship Id="rId24" Type="http://schemas.openxmlformats.org/officeDocument/2006/relationships/oleObject" Target="../embeddings/oleObject12.bin"/><Relationship Id="rId5" Type="http://schemas.openxmlformats.org/officeDocument/2006/relationships/image" Target="../media/image2.wmf"/><Relationship Id="rId15" Type="http://schemas.openxmlformats.org/officeDocument/2006/relationships/image" Target="../media/image7.wmf"/><Relationship Id="rId23" Type="http://schemas.openxmlformats.org/officeDocument/2006/relationships/image" Target="../media/image11.wmf"/><Relationship Id="rId10" Type="http://schemas.openxmlformats.org/officeDocument/2006/relationships/oleObject" Target="../embeddings/oleObject5.bin"/><Relationship Id="rId19" Type="http://schemas.openxmlformats.org/officeDocument/2006/relationships/image" Target="../media/image9.wmf"/><Relationship Id="rId4" Type="http://schemas.openxmlformats.org/officeDocument/2006/relationships/oleObject" Target="../embeddings/oleObject2.bin"/><Relationship Id="rId9" Type="http://schemas.openxmlformats.org/officeDocument/2006/relationships/image" Target="../media/image4.wmf"/><Relationship Id="rId14" Type="http://schemas.openxmlformats.org/officeDocument/2006/relationships/oleObject" Target="../embeddings/oleObject7.bin"/><Relationship Id="rId22" Type="http://schemas.openxmlformats.org/officeDocument/2006/relationships/oleObject" Target="../embeddings/oleObject11.bin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oleObject" Target="../embeddings/oleObject13.bin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emf"/><Relationship Id="rId4" Type="http://schemas.openxmlformats.org/officeDocument/2006/relationships/oleObject" Target="../embeddings/oleObject14.bin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2.emf"/><Relationship Id="rId18" Type="http://schemas.openxmlformats.org/officeDocument/2006/relationships/oleObject" Target="../embeddings/oleObject23.bin"/><Relationship Id="rId26" Type="http://schemas.openxmlformats.org/officeDocument/2006/relationships/oleObject" Target="../embeddings/oleObject27.bin"/><Relationship Id="rId39" Type="http://schemas.openxmlformats.org/officeDocument/2006/relationships/image" Target="../media/image35.wmf"/><Relationship Id="rId21" Type="http://schemas.openxmlformats.org/officeDocument/2006/relationships/image" Target="../media/image26.wmf"/><Relationship Id="rId34" Type="http://schemas.openxmlformats.org/officeDocument/2006/relationships/oleObject" Target="../embeddings/oleObject31.bin"/><Relationship Id="rId42" Type="http://schemas.openxmlformats.org/officeDocument/2006/relationships/image" Target="../media/image38.emf"/><Relationship Id="rId7" Type="http://schemas.openxmlformats.org/officeDocument/2006/relationships/image" Target="../media/image19.wmf"/><Relationship Id="rId2" Type="http://schemas.openxmlformats.org/officeDocument/2006/relationships/oleObject" Target="../embeddings/oleObject15.bin"/><Relationship Id="rId16" Type="http://schemas.openxmlformats.org/officeDocument/2006/relationships/oleObject" Target="../embeddings/oleObject22.bin"/><Relationship Id="rId29" Type="http://schemas.openxmlformats.org/officeDocument/2006/relationships/image" Target="../media/image30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7.bin"/><Relationship Id="rId11" Type="http://schemas.openxmlformats.org/officeDocument/2006/relationships/image" Target="../media/image21.wmf"/><Relationship Id="rId24" Type="http://schemas.openxmlformats.org/officeDocument/2006/relationships/oleObject" Target="../embeddings/oleObject26.bin"/><Relationship Id="rId32" Type="http://schemas.openxmlformats.org/officeDocument/2006/relationships/oleObject" Target="../embeddings/oleObject30.bin"/><Relationship Id="rId37" Type="http://schemas.openxmlformats.org/officeDocument/2006/relationships/image" Target="../media/image34.wmf"/><Relationship Id="rId40" Type="http://schemas.openxmlformats.org/officeDocument/2006/relationships/image" Target="../media/image36.emf"/><Relationship Id="rId45" Type="http://schemas.openxmlformats.org/officeDocument/2006/relationships/image" Target="../media/image40.wmf"/><Relationship Id="rId5" Type="http://schemas.openxmlformats.org/officeDocument/2006/relationships/image" Target="../media/image18.emf"/><Relationship Id="rId15" Type="http://schemas.openxmlformats.org/officeDocument/2006/relationships/image" Target="../media/image23.wmf"/><Relationship Id="rId23" Type="http://schemas.openxmlformats.org/officeDocument/2006/relationships/image" Target="../media/image27.wmf"/><Relationship Id="rId28" Type="http://schemas.openxmlformats.org/officeDocument/2006/relationships/oleObject" Target="../embeddings/oleObject28.bin"/><Relationship Id="rId36" Type="http://schemas.openxmlformats.org/officeDocument/2006/relationships/oleObject" Target="../embeddings/oleObject32.bin"/><Relationship Id="rId10" Type="http://schemas.openxmlformats.org/officeDocument/2006/relationships/oleObject" Target="../embeddings/oleObject19.bin"/><Relationship Id="rId19" Type="http://schemas.openxmlformats.org/officeDocument/2006/relationships/image" Target="../media/image25.emf"/><Relationship Id="rId31" Type="http://schemas.openxmlformats.org/officeDocument/2006/relationships/image" Target="../media/image31.wmf"/><Relationship Id="rId44" Type="http://schemas.openxmlformats.org/officeDocument/2006/relationships/oleObject" Target="../embeddings/oleObject34.bin"/><Relationship Id="rId4" Type="http://schemas.openxmlformats.org/officeDocument/2006/relationships/oleObject" Target="../embeddings/oleObject16.bin"/><Relationship Id="rId9" Type="http://schemas.openxmlformats.org/officeDocument/2006/relationships/image" Target="../media/image20.wmf"/><Relationship Id="rId14" Type="http://schemas.openxmlformats.org/officeDocument/2006/relationships/oleObject" Target="../embeddings/oleObject21.bin"/><Relationship Id="rId22" Type="http://schemas.openxmlformats.org/officeDocument/2006/relationships/oleObject" Target="../embeddings/oleObject25.bin"/><Relationship Id="rId27" Type="http://schemas.openxmlformats.org/officeDocument/2006/relationships/image" Target="../media/image29.wmf"/><Relationship Id="rId30" Type="http://schemas.openxmlformats.org/officeDocument/2006/relationships/oleObject" Target="../embeddings/oleObject29.bin"/><Relationship Id="rId35" Type="http://schemas.openxmlformats.org/officeDocument/2006/relationships/image" Target="../media/image33.wmf"/><Relationship Id="rId43" Type="http://schemas.openxmlformats.org/officeDocument/2006/relationships/image" Target="../media/image39.emf"/><Relationship Id="rId8" Type="http://schemas.openxmlformats.org/officeDocument/2006/relationships/oleObject" Target="../embeddings/oleObject18.bin"/><Relationship Id="rId3" Type="http://schemas.openxmlformats.org/officeDocument/2006/relationships/image" Target="../media/image17.emf"/><Relationship Id="rId12" Type="http://schemas.openxmlformats.org/officeDocument/2006/relationships/oleObject" Target="../embeddings/oleObject20.bin"/><Relationship Id="rId17" Type="http://schemas.openxmlformats.org/officeDocument/2006/relationships/image" Target="../media/image24.wmf"/><Relationship Id="rId25" Type="http://schemas.openxmlformats.org/officeDocument/2006/relationships/image" Target="../media/image28.wmf"/><Relationship Id="rId33" Type="http://schemas.openxmlformats.org/officeDocument/2006/relationships/image" Target="../media/image32.wmf"/><Relationship Id="rId38" Type="http://schemas.openxmlformats.org/officeDocument/2006/relationships/oleObject" Target="../embeddings/oleObject33.bin"/><Relationship Id="rId20" Type="http://schemas.openxmlformats.org/officeDocument/2006/relationships/oleObject" Target="../embeddings/oleObject24.bin"/><Relationship Id="rId41" Type="http://schemas.openxmlformats.org/officeDocument/2006/relationships/image" Target="../media/image37.e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7.bin"/><Relationship Id="rId13" Type="http://schemas.openxmlformats.org/officeDocument/2006/relationships/image" Target="../media/image48.wmf"/><Relationship Id="rId3" Type="http://schemas.openxmlformats.org/officeDocument/2006/relationships/image" Target="../media/image42.png"/><Relationship Id="rId7" Type="http://schemas.openxmlformats.org/officeDocument/2006/relationships/image" Target="../media/image44.wmf"/><Relationship Id="rId12" Type="http://schemas.openxmlformats.org/officeDocument/2006/relationships/oleObject" Target="../embeddings/oleObject38.bin"/><Relationship Id="rId17" Type="http://schemas.openxmlformats.org/officeDocument/2006/relationships/image" Target="../media/image50.wmf"/><Relationship Id="rId2" Type="http://schemas.openxmlformats.org/officeDocument/2006/relationships/image" Target="../media/image41.png"/><Relationship Id="rId16" Type="http://schemas.openxmlformats.org/officeDocument/2006/relationships/oleObject" Target="../embeddings/oleObject40.bin"/><Relationship Id="rId1" Type="http://schemas.openxmlformats.org/officeDocument/2006/relationships/slideLayout" Target="../slideLayouts/slideLayout4.xml"/><Relationship Id="rId6" Type="http://schemas.openxmlformats.org/officeDocument/2006/relationships/oleObject" Target="../embeddings/oleObject36.bin"/><Relationship Id="rId11" Type="http://schemas.openxmlformats.org/officeDocument/2006/relationships/image" Target="../media/image47.png"/><Relationship Id="rId5" Type="http://schemas.openxmlformats.org/officeDocument/2006/relationships/image" Target="../media/image43.wmf"/><Relationship Id="rId15" Type="http://schemas.openxmlformats.org/officeDocument/2006/relationships/image" Target="../media/image49.wmf"/><Relationship Id="rId10" Type="http://schemas.openxmlformats.org/officeDocument/2006/relationships/image" Target="../media/image46.png"/><Relationship Id="rId4" Type="http://schemas.openxmlformats.org/officeDocument/2006/relationships/oleObject" Target="../embeddings/oleObject35.bin"/><Relationship Id="rId9" Type="http://schemas.openxmlformats.org/officeDocument/2006/relationships/image" Target="../media/image45.wmf"/><Relationship Id="rId14" Type="http://schemas.openxmlformats.org/officeDocument/2006/relationships/oleObject" Target="../embeddings/oleObject39.bin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wmf"/><Relationship Id="rId2" Type="http://schemas.openxmlformats.org/officeDocument/2006/relationships/oleObject" Target="../embeddings/oleObject41.bin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wmf"/><Relationship Id="rId2" Type="http://schemas.openxmlformats.org/officeDocument/2006/relationships/oleObject" Target="../embeddings/oleObject42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4.wmf"/><Relationship Id="rId5" Type="http://schemas.openxmlformats.org/officeDocument/2006/relationships/oleObject" Target="../embeddings/oleObject43.bin"/><Relationship Id="rId4" Type="http://schemas.openxmlformats.org/officeDocument/2006/relationships/image" Target="../media/image53.jpe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wmf"/><Relationship Id="rId13" Type="http://schemas.openxmlformats.org/officeDocument/2006/relationships/oleObject" Target="../embeddings/oleObject49.bin"/><Relationship Id="rId18" Type="http://schemas.openxmlformats.org/officeDocument/2006/relationships/image" Target="../media/image62.emf"/><Relationship Id="rId3" Type="http://schemas.openxmlformats.org/officeDocument/2006/relationships/oleObject" Target="../embeddings/oleObject44.bin"/><Relationship Id="rId7" Type="http://schemas.openxmlformats.org/officeDocument/2006/relationships/oleObject" Target="../embeddings/oleObject46.bin"/><Relationship Id="rId12" Type="http://schemas.openxmlformats.org/officeDocument/2006/relationships/image" Target="../media/image59.wmf"/><Relationship Id="rId17" Type="http://schemas.openxmlformats.org/officeDocument/2006/relationships/oleObject" Target="../embeddings/oleObject51.bin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61.emf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6.wmf"/><Relationship Id="rId11" Type="http://schemas.openxmlformats.org/officeDocument/2006/relationships/oleObject" Target="../embeddings/oleObject48.bin"/><Relationship Id="rId5" Type="http://schemas.openxmlformats.org/officeDocument/2006/relationships/oleObject" Target="../embeddings/oleObject45.bin"/><Relationship Id="rId15" Type="http://schemas.openxmlformats.org/officeDocument/2006/relationships/oleObject" Target="../embeddings/oleObject50.bin"/><Relationship Id="rId10" Type="http://schemas.openxmlformats.org/officeDocument/2006/relationships/image" Target="../media/image58.wmf"/><Relationship Id="rId4" Type="http://schemas.openxmlformats.org/officeDocument/2006/relationships/image" Target="../media/image55.wmf"/><Relationship Id="rId9" Type="http://schemas.openxmlformats.org/officeDocument/2006/relationships/oleObject" Target="../embeddings/oleObject47.bin"/><Relationship Id="rId14" Type="http://schemas.openxmlformats.org/officeDocument/2006/relationships/image" Target="../media/image60.e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wmf"/><Relationship Id="rId13" Type="http://schemas.openxmlformats.org/officeDocument/2006/relationships/image" Target="../media/image66.wmf"/><Relationship Id="rId3" Type="http://schemas.openxmlformats.org/officeDocument/2006/relationships/oleObject" Target="../embeddings/oleObject52.bin"/><Relationship Id="rId7" Type="http://schemas.openxmlformats.org/officeDocument/2006/relationships/oleObject" Target="../embeddings/oleObject54.bin"/><Relationship Id="rId12" Type="http://schemas.openxmlformats.org/officeDocument/2006/relationships/oleObject" Target="../embeddings/oleObject57.bin"/><Relationship Id="rId17" Type="http://schemas.openxmlformats.org/officeDocument/2006/relationships/image" Target="../media/image68.wmf"/><Relationship Id="rId2" Type="http://schemas.openxmlformats.org/officeDocument/2006/relationships/notesSlide" Target="../notesSlides/notesSlide4.xml"/><Relationship Id="rId16" Type="http://schemas.openxmlformats.org/officeDocument/2006/relationships/oleObject" Target="../embeddings/oleObject59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4.wmf"/><Relationship Id="rId11" Type="http://schemas.openxmlformats.org/officeDocument/2006/relationships/oleObject" Target="../embeddings/oleObject56.bin"/><Relationship Id="rId5" Type="http://schemas.openxmlformats.org/officeDocument/2006/relationships/oleObject" Target="../embeddings/oleObject53.bin"/><Relationship Id="rId15" Type="http://schemas.openxmlformats.org/officeDocument/2006/relationships/image" Target="../media/image67.wmf"/><Relationship Id="rId10" Type="http://schemas.openxmlformats.org/officeDocument/2006/relationships/image" Target="../media/image59.wmf"/><Relationship Id="rId4" Type="http://schemas.openxmlformats.org/officeDocument/2006/relationships/image" Target="../media/image63.wmf"/><Relationship Id="rId9" Type="http://schemas.openxmlformats.org/officeDocument/2006/relationships/oleObject" Target="../embeddings/oleObject55.bin"/><Relationship Id="rId14" Type="http://schemas.openxmlformats.org/officeDocument/2006/relationships/oleObject" Target="../embeddings/oleObject58.bin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wmf"/><Relationship Id="rId13" Type="http://schemas.openxmlformats.org/officeDocument/2006/relationships/oleObject" Target="../embeddings/oleObject65.bin"/><Relationship Id="rId18" Type="http://schemas.openxmlformats.org/officeDocument/2006/relationships/oleObject" Target="../embeddings/oleObject68.bin"/><Relationship Id="rId3" Type="http://schemas.openxmlformats.org/officeDocument/2006/relationships/oleObject" Target="../embeddings/oleObject60.bin"/><Relationship Id="rId7" Type="http://schemas.openxmlformats.org/officeDocument/2006/relationships/oleObject" Target="../embeddings/oleObject62.bin"/><Relationship Id="rId12" Type="http://schemas.openxmlformats.org/officeDocument/2006/relationships/image" Target="../media/image65.wmf"/><Relationship Id="rId17" Type="http://schemas.openxmlformats.org/officeDocument/2006/relationships/oleObject" Target="../embeddings/oleObject67.bin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59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0.wmf"/><Relationship Id="rId11" Type="http://schemas.openxmlformats.org/officeDocument/2006/relationships/oleObject" Target="../embeddings/oleObject64.bin"/><Relationship Id="rId5" Type="http://schemas.openxmlformats.org/officeDocument/2006/relationships/oleObject" Target="../embeddings/oleObject61.bin"/><Relationship Id="rId15" Type="http://schemas.openxmlformats.org/officeDocument/2006/relationships/oleObject" Target="../embeddings/oleObject66.bin"/><Relationship Id="rId10" Type="http://schemas.openxmlformats.org/officeDocument/2006/relationships/image" Target="../media/image72.wmf"/><Relationship Id="rId19" Type="http://schemas.openxmlformats.org/officeDocument/2006/relationships/image" Target="../media/image73.wmf"/><Relationship Id="rId4" Type="http://schemas.openxmlformats.org/officeDocument/2006/relationships/image" Target="../media/image69.wmf"/><Relationship Id="rId9" Type="http://schemas.openxmlformats.org/officeDocument/2006/relationships/oleObject" Target="../embeddings/oleObject63.bin"/><Relationship Id="rId14" Type="http://schemas.openxmlformats.org/officeDocument/2006/relationships/image" Target="../media/image66.w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wmf"/><Relationship Id="rId13" Type="http://schemas.openxmlformats.org/officeDocument/2006/relationships/oleObject" Target="../embeddings/oleObject74.bin"/><Relationship Id="rId18" Type="http://schemas.openxmlformats.org/officeDocument/2006/relationships/image" Target="../media/image81.wmf"/><Relationship Id="rId26" Type="http://schemas.openxmlformats.org/officeDocument/2006/relationships/image" Target="../media/image85.wmf"/><Relationship Id="rId3" Type="http://schemas.openxmlformats.org/officeDocument/2006/relationships/oleObject" Target="../embeddings/oleObject69.bin"/><Relationship Id="rId21" Type="http://schemas.openxmlformats.org/officeDocument/2006/relationships/oleObject" Target="../embeddings/oleObject78.bin"/><Relationship Id="rId7" Type="http://schemas.openxmlformats.org/officeDocument/2006/relationships/oleObject" Target="../embeddings/oleObject71.bin"/><Relationship Id="rId12" Type="http://schemas.openxmlformats.org/officeDocument/2006/relationships/image" Target="../media/image78.wmf"/><Relationship Id="rId17" Type="http://schemas.openxmlformats.org/officeDocument/2006/relationships/oleObject" Target="../embeddings/oleObject76.bin"/><Relationship Id="rId25" Type="http://schemas.openxmlformats.org/officeDocument/2006/relationships/oleObject" Target="../embeddings/oleObject80.bin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80.wmf"/><Relationship Id="rId20" Type="http://schemas.openxmlformats.org/officeDocument/2006/relationships/image" Target="../media/image82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5.wmf"/><Relationship Id="rId11" Type="http://schemas.openxmlformats.org/officeDocument/2006/relationships/oleObject" Target="../embeddings/oleObject73.bin"/><Relationship Id="rId24" Type="http://schemas.openxmlformats.org/officeDocument/2006/relationships/image" Target="../media/image84.wmf"/><Relationship Id="rId5" Type="http://schemas.openxmlformats.org/officeDocument/2006/relationships/oleObject" Target="../embeddings/oleObject70.bin"/><Relationship Id="rId15" Type="http://schemas.openxmlformats.org/officeDocument/2006/relationships/oleObject" Target="../embeddings/oleObject75.bin"/><Relationship Id="rId23" Type="http://schemas.openxmlformats.org/officeDocument/2006/relationships/oleObject" Target="../embeddings/oleObject79.bin"/><Relationship Id="rId28" Type="http://schemas.openxmlformats.org/officeDocument/2006/relationships/image" Target="../media/image86.wmf"/><Relationship Id="rId10" Type="http://schemas.openxmlformats.org/officeDocument/2006/relationships/image" Target="../media/image77.wmf"/><Relationship Id="rId19" Type="http://schemas.openxmlformats.org/officeDocument/2006/relationships/oleObject" Target="../embeddings/oleObject77.bin"/><Relationship Id="rId4" Type="http://schemas.openxmlformats.org/officeDocument/2006/relationships/image" Target="../media/image74.wmf"/><Relationship Id="rId9" Type="http://schemas.openxmlformats.org/officeDocument/2006/relationships/oleObject" Target="../embeddings/oleObject72.bin"/><Relationship Id="rId14" Type="http://schemas.openxmlformats.org/officeDocument/2006/relationships/image" Target="../media/image79.wmf"/><Relationship Id="rId22" Type="http://schemas.openxmlformats.org/officeDocument/2006/relationships/image" Target="../media/image83.wmf"/><Relationship Id="rId27" Type="http://schemas.openxmlformats.org/officeDocument/2006/relationships/oleObject" Target="../embeddings/oleObject81.bin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emf"/><Relationship Id="rId7" Type="http://schemas.openxmlformats.org/officeDocument/2006/relationships/image" Target="../media/image90.wmf"/><Relationship Id="rId2" Type="http://schemas.openxmlformats.org/officeDocument/2006/relationships/oleObject" Target="../embeddings/oleObject82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84.bin"/><Relationship Id="rId5" Type="http://schemas.openxmlformats.org/officeDocument/2006/relationships/image" Target="../media/image89.wmf"/><Relationship Id="rId4" Type="http://schemas.openxmlformats.org/officeDocument/2006/relationships/oleObject" Target="../embeddings/oleObject83.bin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8.bin"/><Relationship Id="rId3" Type="http://schemas.openxmlformats.org/officeDocument/2006/relationships/image" Target="../media/image91.wmf"/><Relationship Id="rId7" Type="http://schemas.openxmlformats.org/officeDocument/2006/relationships/image" Target="../media/image93.wmf"/><Relationship Id="rId2" Type="http://schemas.openxmlformats.org/officeDocument/2006/relationships/oleObject" Target="../embeddings/oleObject85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87.bin"/><Relationship Id="rId5" Type="http://schemas.openxmlformats.org/officeDocument/2006/relationships/image" Target="../media/image92.wmf"/><Relationship Id="rId4" Type="http://schemas.openxmlformats.org/officeDocument/2006/relationships/oleObject" Target="../embeddings/oleObject86.bin"/><Relationship Id="rId9" Type="http://schemas.openxmlformats.org/officeDocument/2006/relationships/image" Target="../media/image94.w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1.bin"/><Relationship Id="rId13" Type="http://schemas.openxmlformats.org/officeDocument/2006/relationships/image" Target="../media/image99.wmf"/><Relationship Id="rId18" Type="http://schemas.openxmlformats.org/officeDocument/2006/relationships/oleObject" Target="../embeddings/oleObject95.bin"/><Relationship Id="rId3" Type="http://schemas.openxmlformats.org/officeDocument/2006/relationships/notesSlide" Target="../notesSlides/notesSlide7.xml"/><Relationship Id="rId21" Type="http://schemas.openxmlformats.org/officeDocument/2006/relationships/image" Target="../media/image104.wmf"/><Relationship Id="rId7" Type="http://schemas.openxmlformats.org/officeDocument/2006/relationships/image" Target="../media/image96.wmf"/><Relationship Id="rId12" Type="http://schemas.openxmlformats.org/officeDocument/2006/relationships/oleObject" Target="../embeddings/oleObject93.bin"/><Relationship Id="rId17" Type="http://schemas.openxmlformats.org/officeDocument/2006/relationships/image" Target="../media/image102.e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01.emf"/><Relationship Id="rId20" Type="http://schemas.openxmlformats.org/officeDocument/2006/relationships/oleObject" Target="../embeddings/oleObject96.bin"/><Relationship Id="rId1" Type="http://schemas.openxmlformats.org/officeDocument/2006/relationships/tags" Target="../tags/tag3.xml"/><Relationship Id="rId6" Type="http://schemas.openxmlformats.org/officeDocument/2006/relationships/oleObject" Target="../embeddings/oleObject90.bin"/><Relationship Id="rId11" Type="http://schemas.openxmlformats.org/officeDocument/2006/relationships/image" Target="../media/image98.wmf"/><Relationship Id="rId5" Type="http://schemas.openxmlformats.org/officeDocument/2006/relationships/image" Target="../media/image95.wmf"/><Relationship Id="rId15" Type="http://schemas.openxmlformats.org/officeDocument/2006/relationships/image" Target="../media/image100.wmf"/><Relationship Id="rId10" Type="http://schemas.openxmlformats.org/officeDocument/2006/relationships/oleObject" Target="../embeddings/oleObject92.bin"/><Relationship Id="rId19" Type="http://schemas.openxmlformats.org/officeDocument/2006/relationships/image" Target="../media/image103.wmf"/><Relationship Id="rId4" Type="http://schemas.openxmlformats.org/officeDocument/2006/relationships/oleObject" Target="../embeddings/oleObject89.bin"/><Relationship Id="rId9" Type="http://schemas.openxmlformats.org/officeDocument/2006/relationships/image" Target="../media/image97.wmf"/><Relationship Id="rId14" Type="http://schemas.openxmlformats.org/officeDocument/2006/relationships/oleObject" Target="../embeddings/oleObject94.bin"/><Relationship Id="rId22" Type="http://schemas.openxmlformats.org/officeDocument/2006/relationships/image" Target="../media/image10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5" Type="http://schemas.openxmlformats.org/officeDocument/2006/relationships/image" Target="../media/image109.png"/><Relationship Id="rId4" Type="http://schemas.openxmlformats.org/officeDocument/2006/relationships/image" Target="../media/image10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9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0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5.wmf"/><Relationship Id="rId13" Type="http://schemas.openxmlformats.org/officeDocument/2006/relationships/oleObject" Target="../embeddings/oleObject102.bin"/><Relationship Id="rId18" Type="http://schemas.openxmlformats.org/officeDocument/2006/relationships/image" Target="../media/image120.emf"/><Relationship Id="rId3" Type="http://schemas.openxmlformats.org/officeDocument/2006/relationships/oleObject" Target="../embeddings/oleObject97.bin"/><Relationship Id="rId21" Type="http://schemas.openxmlformats.org/officeDocument/2006/relationships/oleObject" Target="../embeddings/oleObject106.bin"/><Relationship Id="rId7" Type="http://schemas.openxmlformats.org/officeDocument/2006/relationships/oleObject" Target="../embeddings/oleObject99.bin"/><Relationship Id="rId12" Type="http://schemas.openxmlformats.org/officeDocument/2006/relationships/image" Target="../media/image117.wmf"/><Relationship Id="rId17" Type="http://schemas.openxmlformats.org/officeDocument/2006/relationships/oleObject" Target="../embeddings/oleObject104.bin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119.emf"/><Relationship Id="rId20" Type="http://schemas.openxmlformats.org/officeDocument/2006/relationships/image" Target="../media/image121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4.emf"/><Relationship Id="rId11" Type="http://schemas.openxmlformats.org/officeDocument/2006/relationships/oleObject" Target="../embeddings/oleObject101.bin"/><Relationship Id="rId5" Type="http://schemas.openxmlformats.org/officeDocument/2006/relationships/oleObject" Target="../embeddings/oleObject98.bin"/><Relationship Id="rId15" Type="http://schemas.openxmlformats.org/officeDocument/2006/relationships/oleObject" Target="../embeddings/oleObject103.bin"/><Relationship Id="rId10" Type="http://schemas.openxmlformats.org/officeDocument/2006/relationships/image" Target="../media/image116.wmf"/><Relationship Id="rId19" Type="http://schemas.openxmlformats.org/officeDocument/2006/relationships/oleObject" Target="../embeddings/oleObject105.bin"/><Relationship Id="rId4" Type="http://schemas.openxmlformats.org/officeDocument/2006/relationships/image" Target="../media/image113.emf"/><Relationship Id="rId9" Type="http://schemas.openxmlformats.org/officeDocument/2006/relationships/oleObject" Target="../embeddings/oleObject100.bin"/><Relationship Id="rId14" Type="http://schemas.openxmlformats.org/officeDocument/2006/relationships/image" Target="../media/image118.wmf"/><Relationship Id="rId22" Type="http://schemas.openxmlformats.org/officeDocument/2006/relationships/image" Target="../media/image122.e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5" Type="http://schemas.openxmlformats.org/officeDocument/2006/relationships/image" Target="../media/image124.png"/><Relationship Id="rId4" Type="http://schemas.openxmlformats.org/officeDocument/2006/relationships/image" Target="../media/image12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3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8.emf"/><Relationship Id="rId13" Type="http://schemas.openxmlformats.org/officeDocument/2006/relationships/oleObject" Target="../embeddings/oleObject112.bin"/><Relationship Id="rId18" Type="http://schemas.openxmlformats.org/officeDocument/2006/relationships/image" Target="../media/image133.wmf"/><Relationship Id="rId3" Type="http://schemas.openxmlformats.org/officeDocument/2006/relationships/oleObject" Target="../embeddings/oleObject107.bin"/><Relationship Id="rId21" Type="http://schemas.openxmlformats.org/officeDocument/2006/relationships/oleObject" Target="../embeddings/oleObject116.bin"/><Relationship Id="rId7" Type="http://schemas.openxmlformats.org/officeDocument/2006/relationships/oleObject" Target="../embeddings/oleObject109.bin"/><Relationship Id="rId12" Type="http://schemas.openxmlformats.org/officeDocument/2006/relationships/image" Target="../media/image130.emf"/><Relationship Id="rId17" Type="http://schemas.openxmlformats.org/officeDocument/2006/relationships/oleObject" Target="../embeddings/oleObject114.bin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132.wmf"/><Relationship Id="rId20" Type="http://schemas.openxmlformats.org/officeDocument/2006/relationships/image" Target="../media/image134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7.emf"/><Relationship Id="rId11" Type="http://schemas.openxmlformats.org/officeDocument/2006/relationships/oleObject" Target="../embeddings/oleObject111.bin"/><Relationship Id="rId5" Type="http://schemas.openxmlformats.org/officeDocument/2006/relationships/oleObject" Target="../embeddings/oleObject108.bin"/><Relationship Id="rId15" Type="http://schemas.openxmlformats.org/officeDocument/2006/relationships/oleObject" Target="../embeddings/oleObject113.bin"/><Relationship Id="rId10" Type="http://schemas.openxmlformats.org/officeDocument/2006/relationships/image" Target="../media/image129.emf"/><Relationship Id="rId19" Type="http://schemas.openxmlformats.org/officeDocument/2006/relationships/oleObject" Target="../embeddings/oleObject115.bin"/><Relationship Id="rId4" Type="http://schemas.openxmlformats.org/officeDocument/2006/relationships/image" Target="../media/image126.emf"/><Relationship Id="rId9" Type="http://schemas.openxmlformats.org/officeDocument/2006/relationships/oleObject" Target="../embeddings/oleObject110.bin"/><Relationship Id="rId14" Type="http://schemas.openxmlformats.org/officeDocument/2006/relationships/image" Target="../media/image131.emf"/><Relationship Id="rId22" Type="http://schemas.openxmlformats.org/officeDocument/2006/relationships/image" Target="../media/image135.wmf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0.bin"/><Relationship Id="rId3" Type="http://schemas.openxmlformats.org/officeDocument/2006/relationships/image" Target="../media/image136.wmf"/><Relationship Id="rId7" Type="http://schemas.openxmlformats.org/officeDocument/2006/relationships/image" Target="../media/image138.wmf"/><Relationship Id="rId2" Type="http://schemas.openxmlformats.org/officeDocument/2006/relationships/oleObject" Target="../embeddings/oleObject117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19.bin"/><Relationship Id="rId11" Type="http://schemas.openxmlformats.org/officeDocument/2006/relationships/image" Target="../media/image140.wmf"/><Relationship Id="rId5" Type="http://schemas.openxmlformats.org/officeDocument/2006/relationships/image" Target="../media/image137.wmf"/><Relationship Id="rId10" Type="http://schemas.openxmlformats.org/officeDocument/2006/relationships/oleObject" Target="../embeddings/oleObject121.bin"/><Relationship Id="rId4" Type="http://schemas.openxmlformats.org/officeDocument/2006/relationships/oleObject" Target="../embeddings/oleObject118.bin"/><Relationship Id="rId9" Type="http://schemas.openxmlformats.org/officeDocument/2006/relationships/image" Target="../media/image139.wmf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5.bin"/><Relationship Id="rId13" Type="http://schemas.openxmlformats.org/officeDocument/2006/relationships/image" Target="../media/image146.wmf"/><Relationship Id="rId3" Type="http://schemas.openxmlformats.org/officeDocument/2006/relationships/image" Target="../media/image141.wmf"/><Relationship Id="rId7" Type="http://schemas.openxmlformats.org/officeDocument/2006/relationships/image" Target="../media/image143.wmf"/><Relationship Id="rId12" Type="http://schemas.openxmlformats.org/officeDocument/2006/relationships/oleObject" Target="../embeddings/oleObject127.bin"/><Relationship Id="rId2" Type="http://schemas.openxmlformats.org/officeDocument/2006/relationships/oleObject" Target="../embeddings/oleObject122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24.bin"/><Relationship Id="rId11" Type="http://schemas.openxmlformats.org/officeDocument/2006/relationships/image" Target="../media/image145.wmf"/><Relationship Id="rId5" Type="http://schemas.openxmlformats.org/officeDocument/2006/relationships/image" Target="../media/image142.wmf"/><Relationship Id="rId10" Type="http://schemas.openxmlformats.org/officeDocument/2006/relationships/oleObject" Target="../embeddings/oleObject126.bin"/><Relationship Id="rId4" Type="http://schemas.openxmlformats.org/officeDocument/2006/relationships/oleObject" Target="../embeddings/oleObject123.bin"/><Relationship Id="rId9" Type="http://schemas.openxmlformats.org/officeDocument/2006/relationships/image" Target="../media/image144.wmf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7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99AA26-15D7-E9DC-4041-D7585CBF052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b="1" dirty="0"/>
              <a:t>做题技巧总结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B427E2D-3EF8-3921-41B0-F7E8A803844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2024</a:t>
            </a:r>
            <a:r>
              <a:rPr lang="zh-CN" altLang="en-US" dirty="0"/>
              <a:t>年</a:t>
            </a:r>
            <a:r>
              <a:rPr lang="en-US" altLang="zh-CN" dirty="0"/>
              <a:t>8</a:t>
            </a:r>
            <a:r>
              <a:rPr lang="zh-CN" altLang="en-US" dirty="0"/>
              <a:t>月</a:t>
            </a:r>
            <a:r>
              <a:rPr lang="en-US" altLang="zh-CN" dirty="0"/>
              <a:t>17</a:t>
            </a:r>
            <a:r>
              <a:rPr lang="zh-CN" altLang="en-US" dirty="0"/>
              <a:t>日</a:t>
            </a:r>
          </a:p>
        </p:txBody>
      </p:sp>
    </p:spTree>
    <p:extLst>
      <p:ext uri="{BB962C8B-B14F-4D97-AF65-F5344CB8AC3E}">
        <p14:creationId xmlns:p14="http://schemas.microsoft.com/office/powerpoint/2010/main" val="1085738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776232" y="131293"/>
            <a:ext cx="8179669" cy="5847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3200" b="1" dirty="0">
                <a:latin typeface="楷体" panose="02010609060101010101" charset="-122"/>
                <a:ea typeface="楷体" panose="02010609060101010101" charset="-122"/>
                <a:cs typeface="+mj-cs"/>
                <a:sym typeface="+mn-ea"/>
              </a:rPr>
              <a:t>1.</a:t>
            </a:r>
            <a:r>
              <a:rPr lang="zh-CN" altLang="en-US" sz="3200" b="1" dirty="0">
                <a:latin typeface="楷体" panose="02010609060101010101" charset="-122"/>
                <a:ea typeface="楷体" panose="02010609060101010101" charset="-122"/>
                <a:cs typeface="+mj-cs"/>
                <a:sym typeface="+mn-ea"/>
              </a:rPr>
              <a:t>电阻电路：</a:t>
            </a:r>
            <a:endParaRPr lang="en-US" altLang="zh-CN" sz="3200" b="1" dirty="0">
              <a:latin typeface="楷体" panose="02010609060101010101" charset="-122"/>
              <a:ea typeface="楷体" panose="02010609060101010101" charset="-122"/>
              <a:cs typeface="+mj-cs"/>
              <a:sym typeface="+mn-ea"/>
            </a:endParaRPr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 bwMode="auto">
          <a:xfrm>
            <a:off x="1301750" y="816178"/>
            <a:ext cx="9239250" cy="1235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7147" tIns="33574" rIns="67147" bIns="33574" numCol="1" anchor="t" anchorCtr="0" compatLnSpc="1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30000"/>
              </a:lnSpc>
              <a:spcBef>
                <a:spcPts val="0"/>
              </a:spcBef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altLang="zh-CN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charset="-122"/>
              </a:rPr>
              <a:t>KCL</a:t>
            </a:r>
            <a:r>
              <a:rPr lang="zh-CN" altLang="en-US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charset="-122"/>
              </a:rPr>
              <a:t>、</a:t>
            </a:r>
            <a:r>
              <a:rPr lang="en-US" altLang="zh-CN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charset="-122"/>
              </a:rPr>
              <a:t>KVL</a:t>
            </a:r>
            <a:r>
              <a:rPr lang="zh-CN" altLang="en-US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charset="-122"/>
              </a:rPr>
              <a:t>：</a:t>
            </a:r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charset="-122"/>
              </a:rPr>
              <a:t>万能解题方法</a:t>
            </a:r>
            <a:endParaRPr lang="en-US" altLang="zh-CN" dirty="0">
              <a:solidFill>
                <a:srgbClr val="0000FF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  <a:p>
            <a:pPr lvl="1">
              <a:lnSpc>
                <a:spcPct val="130000"/>
              </a:lnSpc>
              <a:spcBef>
                <a:spcPts val="0"/>
              </a:spcBef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charset="-122"/>
              </a:rPr>
              <a:t>等效变换：</a:t>
            </a:r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charset="-122"/>
              </a:rPr>
              <a:t>对外等效、对内不等效</a:t>
            </a:r>
            <a:endParaRPr lang="en-US" altLang="zh-CN" dirty="0">
              <a:solidFill>
                <a:srgbClr val="0000FF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  <p:graphicFrame>
        <p:nvGraphicFramePr>
          <p:cNvPr id="4" name="Object 23"/>
          <p:cNvGraphicFramePr>
            <a:graphicFrameLocks noChangeAspect="1"/>
          </p:cNvGraphicFramePr>
          <p:nvPr/>
        </p:nvGraphicFramePr>
        <p:xfrm>
          <a:off x="5319708" y="5422556"/>
          <a:ext cx="2416175" cy="9036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55700" imgH="431800" progId="Equation.DSMT4">
                  <p:embed/>
                </p:oleObj>
              </mc:Choice>
              <mc:Fallback>
                <p:oleObj name="Equation" r:id="rId2" imgW="1155700" imgH="431800" progId="Equation.DSMT4">
                  <p:embed/>
                  <p:pic>
                    <p:nvPicPr>
                      <p:cNvPr id="4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19708" y="5422556"/>
                        <a:ext cx="2416175" cy="90360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>
                                <a:alpha val="50195"/>
                              </a:schemeClr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27"/>
          <p:cNvGraphicFramePr>
            <a:graphicFrameLocks noChangeAspect="1"/>
          </p:cNvGraphicFramePr>
          <p:nvPr/>
        </p:nvGraphicFramePr>
        <p:xfrm>
          <a:off x="6039798" y="4899951"/>
          <a:ext cx="1170305" cy="4400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69900" imgH="177165" progId="Equation.DSMT4">
                  <p:embed/>
                </p:oleObj>
              </mc:Choice>
              <mc:Fallback>
                <p:oleObj name="Equation" r:id="rId4" imgW="469900" imgH="177165" progId="Equation.DSMT4">
                  <p:embed/>
                  <p:pic>
                    <p:nvPicPr>
                      <p:cNvPr id="5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39798" y="4899951"/>
                        <a:ext cx="1170305" cy="440055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CC00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21"/>
          <p:cNvGraphicFramePr>
            <a:graphicFrameLocks noChangeAspect="1"/>
          </p:cNvGraphicFramePr>
          <p:nvPr/>
        </p:nvGraphicFramePr>
        <p:xfrm>
          <a:off x="2233607" y="5422556"/>
          <a:ext cx="2522220" cy="9036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206500" imgH="431800" progId="Equation.DSMT4">
                  <p:embed/>
                </p:oleObj>
              </mc:Choice>
              <mc:Fallback>
                <p:oleObj name="Equation" r:id="rId6" imgW="1206500" imgH="431800" progId="Equation.DSMT4">
                  <p:embed/>
                  <p:pic>
                    <p:nvPicPr>
                      <p:cNvPr id="6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3607" y="5422556"/>
                        <a:ext cx="2522220" cy="90360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CC00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28"/>
          <p:cNvGraphicFramePr>
            <a:graphicFrameLocks noChangeAspect="1"/>
          </p:cNvGraphicFramePr>
          <p:nvPr/>
        </p:nvGraphicFramePr>
        <p:xfrm>
          <a:off x="3079427" y="4889155"/>
          <a:ext cx="1099820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69900" imgH="177800" progId="Equation.DSMT4">
                  <p:embed/>
                </p:oleObj>
              </mc:Choice>
              <mc:Fallback>
                <p:oleObj name="Equation" r:id="rId8" imgW="469900" imgH="177800" progId="Equation.DSMT4">
                  <p:embed/>
                  <p:pic>
                    <p:nvPicPr>
                      <p:cNvPr id="7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9427" y="4889155"/>
                        <a:ext cx="1099820" cy="450850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Group 23"/>
          <p:cNvGrpSpPr/>
          <p:nvPr/>
        </p:nvGrpSpPr>
        <p:grpSpPr bwMode="auto">
          <a:xfrm>
            <a:off x="8299762" y="4612295"/>
            <a:ext cx="2076450" cy="2095500"/>
            <a:chOff x="3971" y="1488"/>
            <a:chExt cx="1308" cy="1320"/>
          </a:xfrm>
        </p:grpSpPr>
        <p:sp>
          <p:nvSpPr>
            <p:cNvPr id="9" name="Line 24"/>
            <p:cNvSpPr>
              <a:spLocks noChangeShapeType="1"/>
            </p:cNvSpPr>
            <p:nvPr/>
          </p:nvSpPr>
          <p:spPr bwMode="auto">
            <a:xfrm flipH="1">
              <a:off x="3971" y="1488"/>
              <a:ext cx="661" cy="104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" name="Line 25"/>
            <p:cNvSpPr>
              <a:spLocks noChangeShapeType="1"/>
            </p:cNvSpPr>
            <p:nvPr/>
          </p:nvSpPr>
          <p:spPr bwMode="auto">
            <a:xfrm>
              <a:off x="3971" y="2535"/>
              <a:ext cx="124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" name="Line 26"/>
            <p:cNvSpPr>
              <a:spLocks noChangeShapeType="1"/>
            </p:cNvSpPr>
            <p:nvPr/>
          </p:nvSpPr>
          <p:spPr bwMode="auto">
            <a:xfrm>
              <a:off x="4632" y="1488"/>
              <a:ext cx="587" cy="104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" name="Line 27"/>
            <p:cNvSpPr>
              <a:spLocks noChangeShapeType="1"/>
            </p:cNvSpPr>
            <p:nvPr/>
          </p:nvSpPr>
          <p:spPr bwMode="auto">
            <a:xfrm>
              <a:off x="4632" y="1488"/>
              <a:ext cx="0" cy="67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" name="Line 28"/>
            <p:cNvSpPr>
              <a:spLocks noChangeShapeType="1"/>
            </p:cNvSpPr>
            <p:nvPr/>
          </p:nvSpPr>
          <p:spPr bwMode="auto">
            <a:xfrm flipH="1">
              <a:off x="3971" y="2161"/>
              <a:ext cx="661" cy="37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" name="Line 29"/>
            <p:cNvSpPr>
              <a:spLocks noChangeShapeType="1"/>
            </p:cNvSpPr>
            <p:nvPr/>
          </p:nvSpPr>
          <p:spPr bwMode="auto">
            <a:xfrm>
              <a:off x="4632" y="2161"/>
              <a:ext cx="587" cy="37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" name="Text Box 30"/>
            <p:cNvSpPr txBox="1">
              <a:spLocks noChangeArrowheads="1"/>
            </p:cNvSpPr>
            <p:nvPr/>
          </p:nvSpPr>
          <p:spPr bwMode="auto">
            <a:xfrm>
              <a:off x="4923" y="1788"/>
              <a:ext cx="35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lang="en-US" altLang="zh-CN" b="1" i="1"/>
                <a:t>R</a:t>
              </a:r>
              <a:r>
                <a:rPr lang="en-US" altLang="zh-CN" sz="1400" b="1"/>
                <a:t>31</a:t>
              </a:r>
              <a:endParaRPr lang="en-US" altLang="zh-CN" b="1" i="1"/>
            </a:p>
          </p:txBody>
        </p:sp>
        <p:sp>
          <p:nvSpPr>
            <p:cNvPr id="16" name="Text Box 31"/>
            <p:cNvSpPr txBox="1">
              <a:spLocks noChangeArrowheads="1"/>
            </p:cNvSpPr>
            <p:nvPr/>
          </p:nvSpPr>
          <p:spPr bwMode="auto">
            <a:xfrm>
              <a:off x="4444" y="2520"/>
              <a:ext cx="35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lang="en-US" altLang="zh-CN" b="1" i="1"/>
                <a:t>R</a:t>
              </a:r>
              <a:r>
                <a:rPr lang="en-US" altLang="zh-CN" sz="1400" b="1"/>
                <a:t>23</a:t>
              </a:r>
              <a:endParaRPr lang="en-US" altLang="zh-CN" b="1" i="1"/>
            </a:p>
          </p:txBody>
        </p:sp>
        <p:sp>
          <p:nvSpPr>
            <p:cNvPr id="17" name="Text Box 32"/>
            <p:cNvSpPr txBox="1">
              <a:spLocks noChangeArrowheads="1"/>
            </p:cNvSpPr>
            <p:nvPr/>
          </p:nvSpPr>
          <p:spPr bwMode="auto">
            <a:xfrm>
              <a:off x="3971" y="1749"/>
              <a:ext cx="35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lang="en-US" altLang="zh-CN" b="1" i="1" dirty="0"/>
                <a:t>R</a:t>
              </a:r>
              <a:r>
                <a:rPr lang="en-US" altLang="zh-CN" sz="1400" b="1" dirty="0"/>
                <a:t>12</a:t>
              </a:r>
              <a:endParaRPr lang="en-US" altLang="zh-CN" b="1" i="1" dirty="0"/>
            </a:p>
          </p:txBody>
        </p:sp>
        <p:sp>
          <p:nvSpPr>
            <p:cNvPr id="18" name="Text Box 33"/>
            <p:cNvSpPr txBox="1">
              <a:spLocks noChangeArrowheads="1"/>
            </p:cNvSpPr>
            <p:nvPr/>
          </p:nvSpPr>
          <p:spPr bwMode="auto">
            <a:xfrm>
              <a:off x="4754" y="2037"/>
              <a:ext cx="30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lang="en-US" altLang="zh-CN" b="1" i="1"/>
                <a:t>R</a:t>
              </a:r>
              <a:r>
                <a:rPr lang="en-US" altLang="zh-CN" sz="1400" b="1"/>
                <a:t>3</a:t>
              </a:r>
              <a:endParaRPr lang="en-US" altLang="zh-CN" b="1" i="1"/>
            </a:p>
          </p:txBody>
        </p:sp>
        <p:sp>
          <p:nvSpPr>
            <p:cNvPr id="19" name="Text Box 34"/>
            <p:cNvSpPr txBox="1">
              <a:spLocks noChangeArrowheads="1"/>
            </p:cNvSpPr>
            <p:nvPr/>
          </p:nvSpPr>
          <p:spPr bwMode="auto">
            <a:xfrm>
              <a:off x="4339" y="2220"/>
              <a:ext cx="30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lang="en-US" altLang="zh-CN" b="1" i="1"/>
                <a:t>R</a:t>
              </a:r>
              <a:r>
                <a:rPr lang="en-US" altLang="zh-CN" sz="1400" b="1"/>
                <a:t>2</a:t>
              </a:r>
              <a:endParaRPr lang="en-US" altLang="zh-CN" b="1" i="1"/>
            </a:p>
          </p:txBody>
        </p:sp>
        <p:sp>
          <p:nvSpPr>
            <p:cNvPr id="20" name="Text Box 35"/>
            <p:cNvSpPr txBox="1">
              <a:spLocks noChangeArrowheads="1"/>
            </p:cNvSpPr>
            <p:nvPr/>
          </p:nvSpPr>
          <p:spPr bwMode="auto">
            <a:xfrm>
              <a:off x="4380" y="1749"/>
              <a:ext cx="30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lang="en-US" altLang="zh-CN" b="1" i="1" dirty="0"/>
                <a:t>R</a:t>
              </a:r>
              <a:r>
                <a:rPr lang="en-US" altLang="zh-CN" sz="1400" b="1" dirty="0"/>
                <a:t>1</a:t>
              </a:r>
              <a:endParaRPr lang="en-US" altLang="zh-CN" b="1" i="1" dirty="0"/>
            </a:p>
          </p:txBody>
        </p:sp>
      </p:grpSp>
      <p:graphicFrame>
        <p:nvGraphicFramePr>
          <p:cNvPr id="21" name="对象 20"/>
          <p:cNvGraphicFramePr>
            <a:graphicFrameLocks noChangeAspect="1"/>
          </p:cNvGraphicFramePr>
          <p:nvPr/>
        </p:nvGraphicFramePr>
        <p:xfrm>
          <a:off x="3189227" y="2046288"/>
          <a:ext cx="15113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6271200" imgH="11582400" progId="Equation.DSMT4">
                  <p:embed/>
                </p:oleObj>
              </mc:Choice>
              <mc:Fallback>
                <p:oleObj name="Equation" r:id="rId10" imgW="36271200" imgH="11582400" progId="Equation.DSMT4">
                  <p:embed/>
                  <p:pic>
                    <p:nvPicPr>
                      <p:cNvPr id="21" name="对象 20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3189227" y="2046288"/>
                        <a:ext cx="1511300" cy="482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/>
          <p:cNvGraphicFramePr>
            <a:graphicFrameLocks noChangeAspect="1"/>
          </p:cNvGraphicFramePr>
          <p:nvPr/>
        </p:nvGraphicFramePr>
        <p:xfrm>
          <a:off x="3138427" y="2675108"/>
          <a:ext cx="16129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38709600" imgH="21945600" progId="Equation.DSMT4">
                  <p:embed/>
                </p:oleObj>
              </mc:Choice>
              <mc:Fallback>
                <p:oleObj name="Equation" r:id="rId12" imgW="38709600" imgH="21945600" progId="Equation.DSMT4">
                  <p:embed/>
                  <p:pic>
                    <p:nvPicPr>
                      <p:cNvPr id="22" name="对象 21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3138427" y="2675108"/>
                        <a:ext cx="1612900" cy="914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/>
          <p:cNvGraphicFramePr>
            <a:graphicFrameLocks noChangeAspect="1"/>
          </p:cNvGraphicFramePr>
          <p:nvPr/>
        </p:nvGraphicFramePr>
        <p:xfrm>
          <a:off x="5122863" y="2046288"/>
          <a:ext cx="14732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35356800" imgH="11582400" progId="Equation.DSMT4">
                  <p:embed/>
                </p:oleObj>
              </mc:Choice>
              <mc:Fallback>
                <p:oleObj name="Equation" r:id="rId14" imgW="35356800" imgH="11582400" progId="Equation.DSMT4">
                  <p:embed/>
                  <p:pic>
                    <p:nvPicPr>
                      <p:cNvPr id="23" name="对象 22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5122863" y="2046288"/>
                        <a:ext cx="1473200" cy="482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文本框 24"/>
          <p:cNvSpPr txBox="1"/>
          <p:nvPr/>
        </p:nvSpPr>
        <p:spPr>
          <a:xfrm>
            <a:off x="1956858" y="2046288"/>
            <a:ext cx="106574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charset="-122"/>
              </a:rPr>
              <a:t>串联：</a:t>
            </a:r>
            <a:endParaRPr lang="zh-CN" altLang="en-US" dirty="0"/>
          </a:p>
        </p:txBody>
      </p:sp>
      <p:sp>
        <p:nvSpPr>
          <p:cNvPr id="26" name="文本框 25"/>
          <p:cNvSpPr txBox="1"/>
          <p:nvPr/>
        </p:nvSpPr>
        <p:spPr>
          <a:xfrm>
            <a:off x="1956858" y="2867367"/>
            <a:ext cx="106574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charset="-122"/>
              </a:rPr>
              <a:t>并联：</a:t>
            </a:r>
            <a:endParaRPr lang="zh-CN" altLang="en-US" dirty="0"/>
          </a:p>
        </p:txBody>
      </p:sp>
      <p:graphicFrame>
        <p:nvGraphicFramePr>
          <p:cNvPr id="27" name="对象 26"/>
          <p:cNvGraphicFramePr>
            <a:graphicFrameLocks noChangeAspect="1"/>
          </p:cNvGraphicFramePr>
          <p:nvPr/>
        </p:nvGraphicFramePr>
        <p:xfrm>
          <a:off x="5097463" y="2671777"/>
          <a:ext cx="15748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37795200" imgH="21945600" progId="Equation.DSMT4">
                  <p:embed/>
                </p:oleObj>
              </mc:Choice>
              <mc:Fallback>
                <p:oleObj name="Equation" r:id="rId16" imgW="37795200" imgH="21945600" progId="Equation.DSMT4">
                  <p:embed/>
                  <p:pic>
                    <p:nvPicPr>
                      <p:cNvPr id="27" name="对象 26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5097463" y="2671777"/>
                        <a:ext cx="1574800" cy="914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对象 27"/>
          <p:cNvGraphicFramePr>
            <a:graphicFrameLocks noChangeAspect="1"/>
          </p:cNvGraphicFramePr>
          <p:nvPr/>
        </p:nvGraphicFramePr>
        <p:xfrm>
          <a:off x="7005638" y="1858963"/>
          <a:ext cx="16383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39319200" imgH="21945600" progId="Equation.DSMT4">
                  <p:embed/>
                </p:oleObj>
              </mc:Choice>
              <mc:Fallback>
                <p:oleObj name="Equation" r:id="rId18" imgW="39319200" imgH="21945600" progId="Equation.DSMT4">
                  <p:embed/>
                  <p:pic>
                    <p:nvPicPr>
                      <p:cNvPr id="28" name="对象 27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7005638" y="1858963"/>
                        <a:ext cx="1638300" cy="914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对象 28"/>
          <p:cNvGraphicFramePr>
            <a:graphicFrameLocks noChangeAspect="1"/>
          </p:cNvGraphicFramePr>
          <p:nvPr/>
        </p:nvGraphicFramePr>
        <p:xfrm>
          <a:off x="6992938" y="2895600"/>
          <a:ext cx="15240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36576000" imgH="11582400" progId="Equation.DSMT4">
                  <p:embed/>
                </p:oleObj>
              </mc:Choice>
              <mc:Fallback>
                <p:oleObj name="Equation" r:id="rId20" imgW="36576000" imgH="11582400" progId="Equation.DSMT4">
                  <p:embed/>
                  <p:pic>
                    <p:nvPicPr>
                      <p:cNvPr id="29" name="对象 28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6992938" y="2895600"/>
                        <a:ext cx="1524000" cy="482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文本框 29"/>
          <p:cNvSpPr txBox="1"/>
          <p:nvPr/>
        </p:nvSpPr>
        <p:spPr>
          <a:xfrm>
            <a:off x="1952296" y="3613825"/>
            <a:ext cx="226410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charset="-122"/>
              </a:rPr>
              <a:t>平衡电桥：</a:t>
            </a:r>
            <a:endParaRPr lang="zh-CN" altLang="en-US" dirty="0"/>
          </a:p>
        </p:txBody>
      </p:sp>
      <p:graphicFrame>
        <p:nvGraphicFramePr>
          <p:cNvPr id="32" name="对象 31"/>
          <p:cNvGraphicFramePr>
            <a:graphicFrameLocks noChangeAspect="1"/>
          </p:cNvGraphicFramePr>
          <p:nvPr/>
        </p:nvGraphicFramePr>
        <p:xfrm>
          <a:off x="3744907" y="3691475"/>
          <a:ext cx="15748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37795200" imgH="9448800" progId="Equation.DSMT4">
                  <p:embed/>
                </p:oleObj>
              </mc:Choice>
              <mc:Fallback>
                <p:oleObj name="Equation" r:id="rId22" imgW="37795200" imgH="9448800" progId="Equation.DSMT4">
                  <p:embed/>
                  <p:pic>
                    <p:nvPicPr>
                      <p:cNvPr id="32" name="对象 31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3744907" y="3691475"/>
                        <a:ext cx="1574800" cy="393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文本框 32"/>
          <p:cNvSpPr txBox="1"/>
          <p:nvPr/>
        </p:nvSpPr>
        <p:spPr>
          <a:xfrm>
            <a:off x="5358430" y="3613825"/>
            <a:ext cx="386938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charset="-122"/>
              </a:rPr>
              <a:t>桥支路电流为零</a:t>
            </a:r>
            <a:endParaRPr lang="zh-CN" altLang="en-US" dirty="0"/>
          </a:p>
        </p:txBody>
      </p:sp>
      <p:sp>
        <p:nvSpPr>
          <p:cNvPr id="34" name="文本框 33"/>
          <p:cNvSpPr txBox="1"/>
          <p:nvPr/>
        </p:nvSpPr>
        <p:spPr>
          <a:xfrm>
            <a:off x="1947375" y="4211377"/>
            <a:ext cx="457750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charset="-122"/>
              </a:rPr>
              <a:t>非平衡电桥：星</a:t>
            </a:r>
            <a:r>
              <a:rPr lang="en-US" altLang="zh-CN" sz="2800" b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charset="-122"/>
              </a:rPr>
              <a:t>-</a:t>
            </a:r>
            <a:r>
              <a:rPr lang="zh-CN" altLang="en-US" sz="2800" b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charset="-122"/>
              </a:rPr>
              <a:t>三角变换</a:t>
            </a:r>
            <a:endParaRPr lang="zh-CN" altLang="en-US" dirty="0"/>
          </a:p>
        </p:txBody>
      </p:sp>
      <p:graphicFrame>
        <p:nvGraphicFramePr>
          <p:cNvPr id="37" name="对象 36"/>
          <p:cNvGraphicFramePr>
            <a:graphicFrameLocks noChangeAspect="1"/>
          </p:cNvGraphicFramePr>
          <p:nvPr/>
        </p:nvGraphicFramePr>
        <p:xfrm>
          <a:off x="9347200" y="4201770"/>
          <a:ext cx="11938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28651200" imgH="9448800" progId="Equation.DSMT4">
                  <p:embed/>
                </p:oleObj>
              </mc:Choice>
              <mc:Fallback>
                <p:oleObj name="Equation" r:id="rId24" imgW="28651200" imgH="9448800" progId="Equation.DSMT4">
                  <p:embed/>
                  <p:pic>
                    <p:nvPicPr>
                      <p:cNvPr id="37" name="对象 36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9347200" y="4201770"/>
                        <a:ext cx="1193800" cy="393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" name="文本框 37"/>
          <p:cNvSpPr txBox="1"/>
          <p:nvPr/>
        </p:nvSpPr>
        <p:spPr>
          <a:xfrm>
            <a:off x="7616626" y="4113060"/>
            <a:ext cx="186776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charset="-122"/>
              </a:rPr>
              <a:t>外大内小：</a:t>
            </a:r>
            <a:endParaRPr lang="zh-CN" altLang="en-US" dirty="0">
              <a:solidFill>
                <a:srgbClr val="0000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500"/>
                            </p:stCondLst>
                            <p:childTnLst>
                              <p:par>
                                <p:cTn id="8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25" grpId="0"/>
      <p:bldP spid="26" grpId="0"/>
      <p:bldP spid="30" grpId="0"/>
      <p:bldP spid="33" grpId="0"/>
      <p:bldP spid="34" grpId="0"/>
      <p:bldP spid="3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 Box 2"/>
          <p:cNvSpPr txBox="1">
            <a:spLocks noChangeArrowheads="1"/>
          </p:cNvSpPr>
          <p:nvPr/>
        </p:nvSpPr>
        <p:spPr bwMode="auto">
          <a:xfrm>
            <a:off x="1727201" y="593725"/>
            <a:ext cx="2081213" cy="1938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将上述结论 推广到有</a:t>
            </a:r>
            <a:r>
              <a:rPr lang="en-US" altLang="zh-CN" b="1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n-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个独立节点的仅含电阻、电流源的电路  </a:t>
            </a:r>
          </a:p>
        </p:txBody>
      </p:sp>
      <p:grpSp>
        <p:nvGrpSpPr>
          <p:cNvPr id="130051" name="Group 3"/>
          <p:cNvGrpSpPr>
            <a:grpSpLocks/>
          </p:cNvGrpSpPr>
          <p:nvPr/>
        </p:nvGrpSpPr>
        <p:grpSpPr bwMode="auto">
          <a:xfrm>
            <a:off x="3924300" y="403225"/>
            <a:ext cx="4676776" cy="2173288"/>
            <a:chOff x="960" y="362"/>
            <a:chExt cx="2946" cy="1369"/>
          </a:xfrm>
        </p:grpSpPr>
        <p:sp>
          <p:nvSpPr>
            <p:cNvPr id="130052" name="Text Box 4"/>
            <p:cNvSpPr txBox="1">
              <a:spLocks noChangeArrowheads="1"/>
            </p:cNvSpPr>
            <p:nvPr/>
          </p:nvSpPr>
          <p:spPr bwMode="auto">
            <a:xfrm>
              <a:off x="1104" y="362"/>
              <a:ext cx="2776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2400" b="1" i="1">
                  <a:solidFill>
                    <a:srgbClr val="3333FF"/>
                  </a:solidFill>
                </a:rPr>
                <a:t>G</a:t>
              </a:r>
              <a:r>
                <a:rPr lang="en-US" altLang="zh-CN" sz="2400" b="1" baseline="-25000">
                  <a:solidFill>
                    <a:srgbClr val="3333FF"/>
                  </a:solidFill>
                </a:rPr>
                <a:t>11</a:t>
              </a:r>
              <a:r>
                <a:rPr lang="en-US" altLang="zh-CN" sz="2400" b="1" i="1">
                  <a:solidFill>
                    <a:srgbClr val="3333FF"/>
                  </a:solidFill>
                </a:rPr>
                <a:t>u</a:t>
              </a:r>
              <a:r>
                <a:rPr lang="en-US" altLang="zh-CN" sz="2400" b="1" baseline="-25000">
                  <a:solidFill>
                    <a:srgbClr val="3333FF"/>
                  </a:solidFill>
                </a:rPr>
                <a:t>n1</a:t>
              </a:r>
              <a:r>
                <a:rPr lang="en-US" altLang="zh-CN" sz="2400" b="1">
                  <a:solidFill>
                    <a:srgbClr val="3333FF"/>
                  </a:solidFill>
                </a:rPr>
                <a:t>+</a:t>
              </a:r>
              <a:r>
                <a:rPr lang="en-US" altLang="zh-CN" sz="2400" b="1" i="1">
                  <a:solidFill>
                    <a:srgbClr val="3333FF"/>
                  </a:solidFill>
                </a:rPr>
                <a:t>G</a:t>
              </a:r>
              <a:r>
                <a:rPr lang="en-US" altLang="zh-CN" sz="2400" b="1" baseline="-25000">
                  <a:solidFill>
                    <a:srgbClr val="3333FF"/>
                  </a:solidFill>
                </a:rPr>
                <a:t>12</a:t>
              </a:r>
              <a:r>
                <a:rPr lang="en-US" altLang="zh-CN" sz="2400" b="1" i="1">
                  <a:solidFill>
                    <a:srgbClr val="3333FF"/>
                  </a:solidFill>
                </a:rPr>
                <a:t>u</a:t>
              </a:r>
              <a:r>
                <a:rPr lang="en-US" altLang="zh-CN" sz="2400" b="1" baseline="-25000">
                  <a:solidFill>
                    <a:srgbClr val="3333FF"/>
                  </a:solidFill>
                </a:rPr>
                <a:t>n2</a:t>
              </a:r>
              <a:r>
                <a:rPr lang="en-US" altLang="zh-CN" sz="2400" b="1">
                  <a:solidFill>
                    <a:srgbClr val="3333FF"/>
                  </a:solidFill>
                </a:rPr>
                <a:t>+…+</a:t>
              </a:r>
              <a:r>
                <a:rPr lang="en-US" altLang="zh-CN" sz="2400" b="1" i="1">
                  <a:solidFill>
                    <a:srgbClr val="3333FF"/>
                  </a:solidFill>
                </a:rPr>
                <a:t>G</a:t>
              </a:r>
              <a:r>
                <a:rPr lang="en-US" altLang="zh-CN" sz="2400" b="1" baseline="-25000">
                  <a:solidFill>
                    <a:srgbClr val="3333FF"/>
                  </a:solidFill>
                </a:rPr>
                <a:t>1n</a:t>
              </a:r>
              <a:r>
                <a:rPr lang="en-US" altLang="zh-CN" sz="2400" b="1" i="1">
                  <a:solidFill>
                    <a:srgbClr val="3333FF"/>
                  </a:solidFill>
                </a:rPr>
                <a:t>u</a:t>
              </a:r>
              <a:r>
                <a:rPr lang="en-US" altLang="zh-CN" sz="2400" b="1" baseline="-25000">
                  <a:solidFill>
                    <a:srgbClr val="3333FF"/>
                  </a:solidFill>
                </a:rPr>
                <a:t>nn</a:t>
              </a:r>
              <a:r>
                <a:rPr lang="en-US" altLang="zh-CN" sz="2400" b="1">
                  <a:solidFill>
                    <a:srgbClr val="3333FF"/>
                  </a:solidFill>
                </a:rPr>
                <a:t>=</a:t>
              </a:r>
              <a:r>
                <a:rPr lang="en-US" altLang="zh-CN" sz="2400" b="1" i="1">
                  <a:solidFill>
                    <a:srgbClr val="3333FF"/>
                  </a:solidFill>
                </a:rPr>
                <a:t>i</a:t>
              </a:r>
              <a:r>
                <a:rPr lang="en-US" altLang="zh-CN" sz="2400" b="1" baseline="-25000">
                  <a:solidFill>
                    <a:srgbClr val="3333FF"/>
                  </a:solidFill>
                </a:rPr>
                <a:t>Sn1  </a:t>
              </a:r>
              <a:endParaRPr lang="en-US" altLang="zh-CN" sz="2400" b="1" i="1">
                <a:solidFill>
                  <a:srgbClr val="3333FF"/>
                </a:solidFill>
              </a:endParaRPr>
            </a:p>
          </p:txBody>
        </p:sp>
        <p:sp>
          <p:nvSpPr>
            <p:cNvPr id="130053" name="Text Box 5"/>
            <p:cNvSpPr txBox="1">
              <a:spLocks noChangeArrowheads="1"/>
            </p:cNvSpPr>
            <p:nvPr/>
          </p:nvSpPr>
          <p:spPr bwMode="auto">
            <a:xfrm>
              <a:off x="1114" y="720"/>
              <a:ext cx="2776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2400" b="1" i="1" dirty="0">
                  <a:solidFill>
                    <a:srgbClr val="3333FF"/>
                  </a:solidFill>
                </a:rPr>
                <a:t>G</a:t>
              </a:r>
              <a:r>
                <a:rPr lang="en-US" altLang="zh-CN" sz="2400" b="1" baseline="-25000" dirty="0">
                  <a:solidFill>
                    <a:srgbClr val="3333FF"/>
                  </a:solidFill>
                </a:rPr>
                <a:t>21</a:t>
              </a:r>
              <a:r>
                <a:rPr lang="en-US" altLang="zh-CN" sz="2400" b="1" i="1" dirty="0">
                  <a:solidFill>
                    <a:srgbClr val="3333FF"/>
                  </a:solidFill>
                </a:rPr>
                <a:t>u</a:t>
              </a:r>
              <a:r>
                <a:rPr lang="en-US" altLang="zh-CN" sz="2400" b="1" baseline="-25000" dirty="0">
                  <a:solidFill>
                    <a:srgbClr val="3333FF"/>
                  </a:solidFill>
                </a:rPr>
                <a:t>n1</a:t>
              </a:r>
              <a:r>
                <a:rPr lang="en-US" altLang="zh-CN" sz="2400" b="1" dirty="0">
                  <a:solidFill>
                    <a:srgbClr val="3333FF"/>
                  </a:solidFill>
                </a:rPr>
                <a:t>+</a:t>
              </a:r>
              <a:r>
                <a:rPr lang="en-US" altLang="zh-CN" sz="2400" b="1" i="1" dirty="0">
                  <a:solidFill>
                    <a:srgbClr val="3333FF"/>
                  </a:solidFill>
                </a:rPr>
                <a:t>G</a:t>
              </a:r>
              <a:r>
                <a:rPr lang="en-US" altLang="zh-CN" sz="2400" b="1" baseline="-25000" dirty="0">
                  <a:solidFill>
                    <a:srgbClr val="3333FF"/>
                  </a:solidFill>
                </a:rPr>
                <a:t>22</a:t>
              </a:r>
              <a:r>
                <a:rPr lang="en-US" altLang="zh-CN" sz="2400" b="1" i="1" dirty="0">
                  <a:solidFill>
                    <a:srgbClr val="3333FF"/>
                  </a:solidFill>
                </a:rPr>
                <a:t>u</a:t>
              </a:r>
              <a:r>
                <a:rPr lang="en-US" altLang="zh-CN" sz="2400" b="1" baseline="-25000" dirty="0">
                  <a:solidFill>
                    <a:srgbClr val="3333FF"/>
                  </a:solidFill>
                </a:rPr>
                <a:t>n2</a:t>
              </a:r>
              <a:r>
                <a:rPr lang="en-US" altLang="zh-CN" sz="2400" b="1" dirty="0">
                  <a:solidFill>
                    <a:srgbClr val="3333FF"/>
                  </a:solidFill>
                </a:rPr>
                <a:t>+…+</a:t>
              </a:r>
              <a:r>
                <a:rPr lang="en-US" altLang="zh-CN" sz="2400" b="1" i="1" dirty="0">
                  <a:solidFill>
                    <a:srgbClr val="3333FF"/>
                  </a:solidFill>
                </a:rPr>
                <a:t>G</a:t>
              </a:r>
              <a:r>
                <a:rPr lang="en-US" altLang="zh-CN" sz="2400" b="1" baseline="-25000" dirty="0">
                  <a:solidFill>
                    <a:srgbClr val="3333FF"/>
                  </a:solidFill>
                </a:rPr>
                <a:t>2n</a:t>
              </a:r>
              <a:r>
                <a:rPr lang="en-US" altLang="zh-CN" sz="2400" b="1" i="1" dirty="0">
                  <a:solidFill>
                    <a:srgbClr val="3333FF"/>
                  </a:solidFill>
                </a:rPr>
                <a:t>u</a:t>
              </a:r>
              <a:r>
                <a:rPr lang="en-US" altLang="zh-CN" sz="2400" b="1" baseline="-25000" dirty="0">
                  <a:solidFill>
                    <a:srgbClr val="3333FF"/>
                  </a:solidFill>
                </a:rPr>
                <a:t>nn</a:t>
              </a:r>
              <a:r>
                <a:rPr lang="en-US" altLang="zh-CN" sz="2400" b="1" dirty="0">
                  <a:solidFill>
                    <a:srgbClr val="3333FF"/>
                  </a:solidFill>
                </a:rPr>
                <a:t>=</a:t>
              </a:r>
              <a:r>
                <a:rPr lang="en-US" altLang="zh-CN" sz="2400" b="1" i="1" dirty="0">
                  <a:solidFill>
                    <a:srgbClr val="3333FF"/>
                  </a:solidFill>
                </a:rPr>
                <a:t>i</a:t>
              </a:r>
              <a:r>
                <a:rPr lang="en-US" altLang="zh-CN" sz="2400" b="1" baseline="-25000" dirty="0">
                  <a:solidFill>
                    <a:srgbClr val="3333FF"/>
                  </a:solidFill>
                </a:rPr>
                <a:t>Sn2  </a:t>
              </a:r>
              <a:endParaRPr lang="en-US" altLang="zh-CN" sz="2400" b="1" i="1" dirty="0">
                <a:solidFill>
                  <a:srgbClr val="3333FF"/>
                </a:solidFill>
              </a:endParaRPr>
            </a:p>
          </p:txBody>
        </p:sp>
        <p:sp>
          <p:nvSpPr>
            <p:cNvPr id="130054" name="Text Box 6"/>
            <p:cNvSpPr txBox="1">
              <a:spLocks noChangeArrowheads="1"/>
            </p:cNvSpPr>
            <p:nvPr/>
          </p:nvSpPr>
          <p:spPr bwMode="auto">
            <a:xfrm>
              <a:off x="1286" y="1092"/>
              <a:ext cx="1052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2400" b="1">
                  <a:solidFill>
                    <a:srgbClr val="3333FF"/>
                  </a:solidFill>
                  <a:sym typeface="MT Extra" panose="05050102010205020202" pitchFamily="18" charset="2"/>
                </a:rPr>
                <a:t>   </a:t>
              </a:r>
            </a:p>
          </p:txBody>
        </p:sp>
        <p:sp>
          <p:nvSpPr>
            <p:cNvPr id="130055" name="Text Box 7"/>
            <p:cNvSpPr txBox="1">
              <a:spLocks noChangeArrowheads="1"/>
            </p:cNvSpPr>
            <p:nvPr/>
          </p:nvSpPr>
          <p:spPr bwMode="auto">
            <a:xfrm>
              <a:off x="1114" y="1440"/>
              <a:ext cx="2792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2400" b="1" i="1">
                  <a:solidFill>
                    <a:srgbClr val="3333FF"/>
                  </a:solidFill>
                </a:rPr>
                <a:t>G</a:t>
              </a:r>
              <a:r>
                <a:rPr lang="en-US" altLang="zh-CN" sz="2400" b="1" baseline="-25000">
                  <a:solidFill>
                    <a:srgbClr val="3333FF"/>
                  </a:solidFill>
                </a:rPr>
                <a:t>n1</a:t>
              </a:r>
              <a:r>
                <a:rPr lang="en-US" altLang="zh-CN" sz="2400" b="1" i="1">
                  <a:solidFill>
                    <a:srgbClr val="3333FF"/>
                  </a:solidFill>
                </a:rPr>
                <a:t>u</a:t>
              </a:r>
              <a:r>
                <a:rPr lang="en-US" altLang="zh-CN" sz="2400" b="1" baseline="-25000">
                  <a:solidFill>
                    <a:srgbClr val="3333FF"/>
                  </a:solidFill>
                </a:rPr>
                <a:t>n1</a:t>
              </a:r>
              <a:r>
                <a:rPr lang="en-US" altLang="zh-CN" sz="2400" b="1">
                  <a:solidFill>
                    <a:srgbClr val="3333FF"/>
                  </a:solidFill>
                </a:rPr>
                <a:t>+</a:t>
              </a:r>
              <a:r>
                <a:rPr lang="en-US" altLang="zh-CN" sz="2400" b="1" i="1">
                  <a:solidFill>
                    <a:srgbClr val="3333FF"/>
                  </a:solidFill>
                </a:rPr>
                <a:t>G</a:t>
              </a:r>
              <a:r>
                <a:rPr lang="en-US" altLang="zh-CN" sz="2400" b="1" baseline="-25000">
                  <a:solidFill>
                    <a:srgbClr val="3333FF"/>
                  </a:solidFill>
                </a:rPr>
                <a:t>n2</a:t>
              </a:r>
              <a:r>
                <a:rPr lang="en-US" altLang="zh-CN" sz="2400" b="1" i="1">
                  <a:solidFill>
                    <a:srgbClr val="3333FF"/>
                  </a:solidFill>
                </a:rPr>
                <a:t>u</a:t>
              </a:r>
              <a:r>
                <a:rPr lang="en-US" altLang="zh-CN" sz="2400" b="1" baseline="-25000">
                  <a:solidFill>
                    <a:srgbClr val="3333FF"/>
                  </a:solidFill>
                </a:rPr>
                <a:t>n2</a:t>
              </a:r>
              <a:r>
                <a:rPr lang="en-US" altLang="zh-CN" sz="2400" b="1">
                  <a:solidFill>
                    <a:srgbClr val="3333FF"/>
                  </a:solidFill>
                </a:rPr>
                <a:t>+…+</a:t>
              </a:r>
              <a:r>
                <a:rPr lang="en-US" altLang="zh-CN" sz="2400" b="1" i="1">
                  <a:solidFill>
                    <a:srgbClr val="3333FF"/>
                  </a:solidFill>
                </a:rPr>
                <a:t>G</a:t>
              </a:r>
              <a:r>
                <a:rPr lang="en-US" altLang="zh-CN" sz="2400" b="1" baseline="-25000">
                  <a:solidFill>
                    <a:srgbClr val="3333FF"/>
                  </a:solidFill>
                </a:rPr>
                <a:t>nn</a:t>
              </a:r>
              <a:r>
                <a:rPr lang="en-US" altLang="zh-CN" sz="2400" b="1" i="1">
                  <a:solidFill>
                    <a:srgbClr val="3333FF"/>
                  </a:solidFill>
                </a:rPr>
                <a:t>u</a:t>
              </a:r>
              <a:r>
                <a:rPr lang="en-US" altLang="zh-CN" sz="2400" b="1" baseline="-25000">
                  <a:solidFill>
                    <a:srgbClr val="3333FF"/>
                  </a:solidFill>
                </a:rPr>
                <a:t>nn</a:t>
              </a:r>
              <a:r>
                <a:rPr lang="en-US" altLang="zh-CN" sz="2400" b="1">
                  <a:solidFill>
                    <a:srgbClr val="3333FF"/>
                  </a:solidFill>
                </a:rPr>
                <a:t>=</a:t>
              </a:r>
              <a:r>
                <a:rPr lang="en-US" altLang="zh-CN" sz="2400" b="1" i="1">
                  <a:solidFill>
                    <a:srgbClr val="3333FF"/>
                  </a:solidFill>
                </a:rPr>
                <a:t>i</a:t>
              </a:r>
              <a:r>
                <a:rPr lang="en-US" altLang="zh-CN" sz="2400" b="1" baseline="-25000">
                  <a:solidFill>
                    <a:srgbClr val="3333FF"/>
                  </a:solidFill>
                </a:rPr>
                <a:t>Snn  </a:t>
              </a:r>
              <a:endParaRPr lang="en-US" altLang="zh-CN" sz="2400" b="1" i="1">
                <a:solidFill>
                  <a:srgbClr val="3333FF"/>
                </a:solidFill>
              </a:endParaRPr>
            </a:p>
          </p:txBody>
        </p:sp>
        <p:sp>
          <p:nvSpPr>
            <p:cNvPr id="130056" name="AutoShape 8"/>
            <p:cNvSpPr>
              <a:spLocks/>
            </p:cNvSpPr>
            <p:nvPr/>
          </p:nvSpPr>
          <p:spPr bwMode="auto">
            <a:xfrm>
              <a:off x="960" y="480"/>
              <a:ext cx="144" cy="1248"/>
            </a:xfrm>
            <a:prstGeom prst="leftBrace">
              <a:avLst>
                <a:gd name="adj1" fmla="val 72222"/>
                <a:gd name="adj2" fmla="val 50000"/>
              </a:avLst>
            </a:prstGeom>
            <a:noFill/>
            <a:ln w="28575">
              <a:solidFill>
                <a:srgbClr val="3333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 sz="2400"/>
            </a:p>
          </p:txBody>
        </p:sp>
      </p:grpSp>
      <p:sp>
        <p:nvSpPr>
          <p:cNvPr id="130057" name="Text Box 9"/>
          <p:cNvSpPr txBox="1">
            <a:spLocks noChangeArrowheads="1"/>
          </p:cNvSpPr>
          <p:nvPr/>
        </p:nvSpPr>
        <p:spPr bwMode="auto">
          <a:xfrm>
            <a:off x="2065339" y="2744788"/>
            <a:ext cx="88357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800" b="1">
                <a:latin typeface="幼圆" panose="02010509060101010101" pitchFamily="49" charset="-122"/>
                <a:ea typeface="幼圆" panose="02010509060101010101" pitchFamily="49" charset="-122"/>
              </a:rPr>
              <a:t>其中  </a:t>
            </a:r>
          </a:p>
        </p:txBody>
      </p:sp>
      <p:sp>
        <p:nvSpPr>
          <p:cNvPr id="130058" name="Text Box 10"/>
          <p:cNvSpPr txBox="1">
            <a:spLocks noChangeArrowheads="1"/>
          </p:cNvSpPr>
          <p:nvPr/>
        </p:nvSpPr>
        <p:spPr bwMode="auto">
          <a:xfrm>
            <a:off x="3051175" y="2708276"/>
            <a:ext cx="6978650" cy="968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762000" indent="-7620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just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b="1" i="1" dirty="0" err="1">
                <a:solidFill>
                  <a:srgbClr val="FF0000"/>
                </a:solidFill>
                <a:ea typeface="宋体" panose="02010600030101010101" pitchFamily="2" charset="-122"/>
              </a:rPr>
              <a:t>G</a:t>
            </a:r>
            <a:r>
              <a:rPr lang="en-US" altLang="zh-CN" b="1" i="1" baseline="-25000" dirty="0" err="1">
                <a:solidFill>
                  <a:srgbClr val="FF0000"/>
                </a:solidFill>
                <a:ea typeface="宋体" panose="02010600030101010101" pitchFamily="2" charset="-122"/>
              </a:rPr>
              <a:t>ii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 </a:t>
            </a:r>
            <a:r>
              <a:rPr lang="en-US" altLang="zh-CN" b="1" dirty="0">
                <a:ea typeface="宋体" panose="02010600030101010101" pitchFamily="2" charset="-122"/>
              </a:rPr>
              <a:t>—</a:t>
            </a: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自电导</a:t>
            </a:r>
            <a:r>
              <a:rPr lang="zh-CN" altLang="en-US" b="1" dirty="0">
                <a:ea typeface="宋体" panose="02010600030101010101" pitchFamily="2" charset="-122"/>
              </a:rPr>
              <a:t>，</a:t>
            </a:r>
            <a:r>
              <a:rPr lang="zh-CN" altLang="zh-CN" b="1" dirty="0">
                <a:ea typeface="宋体" panose="02010600030101010101" pitchFamily="2" charset="-122"/>
              </a:rPr>
              <a:t>等于接在节点</a:t>
            </a:r>
            <a:r>
              <a:rPr lang="en-US" altLang="zh-CN" b="1" i="1" dirty="0" err="1">
                <a:ea typeface="宋体" panose="02010600030101010101" pitchFamily="2" charset="-122"/>
              </a:rPr>
              <a:t>i</a:t>
            </a:r>
            <a:r>
              <a:rPr lang="zh-CN" altLang="zh-CN" b="1" dirty="0">
                <a:ea typeface="宋体" panose="02010600030101010101" pitchFamily="2" charset="-122"/>
              </a:rPr>
              <a:t>上所有支路的电导之</a:t>
            </a:r>
            <a:r>
              <a:rPr lang="zh-CN" altLang="en-US" b="1" dirty="0">
                <a:ea typeface="宋体" panose="02010600030101010101" pitchFamily="2" charset="-122"/>
              </a:rPr>
              <a:t> </a:t>
            </a:r>
            <a:r>
              <a:rPr lang="zh-CN" altLang="zh-CN" b="1" dirty="0">
                <a:ea typeface="宋体" panose="02010600030101010101" pitchFamily="2" charset="-122"/>
              </a:rPr>
              <a:t>和</a:t>
            </a:r>
            <a:r>
              <a:rPr lang="zh-CN" altLang="en-US" b="1" dirty="0">
                <a:ea typeface="宋体" panose="02010600030101010101" pitchFamily="2" charset="-122"/>
              </a:rPr>
              <a:t>，总为</a:t>
            </a: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正</a:t>
            </a:r>
            <a:r>
              <a:rPr lang="zh-CN" altLang="en-US" b="1" dirty="0">
                <a:ea typeface="宋体" panose="02010600030101010101" pitchFamily="2" charset="-122"/>
              </a:rPr>
              <a:t>。   </a:t>
            </a:r>
            <a:endParaRPr lang="zh-CN" altLang="en-US" b="1" dirty="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130059" name="Text Box 11"/>
          <p:cNvSpPr txBox="1">
            <a:spLocks noChangeArrowheads="1"/>
          </p:cNvSpPr>
          <p:nvPr/>
        </p:nvSpPr>
        <p:spPr bwMode="auto">
          <a:xfrm>
            <a:off x="2357438" y="5568951"/>
            <a:ext cx="7340600" cy="466725"/>
          </a:xfrm>
          <a:prstGeom prst="rect">
            <a:avLst/>
          </a:prstGeom>
          <a:solidFill>
            <a:srgbClr val="66FFFF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just">
              <a:spcBef>
                <a:spcPct val="0"/>
              </a:spcBef>
              <a:buFontTx/>
              <a:buNone/>
            </a:pPr>
            <a:r>
              <a:rPr lang="en-US" altLang="zh-CN" b="1" dirty="0">
                <a:ea typeface="宋体" panose="02010600030101010101" pitchFamily="2" charset="-122"/>
              </a:rPr>
              <a:t> * </a:t>
            </a:r>
            <a:r>
              <a:rPr lang="zh-CN" altLang="en-US" b="1" dirty="0">
                <a:ea typeface="宋体" panose="02010600030101010101" pitchFamily="2" charset="-122"/>
              </a:rPr>
              <a:t>当电路含受控源时，系数矩阵一般不再为对称阵。  </a:t>
            </a:r>
          </a:p>
        </p:txBody>
      </p:sp>
      <p:sp>
        <p:nvSpPr>
          <p:cNvPr id="130060" name="Text Box 12"/>
          <p:cNvSpPr txBox="1">
            <a:spLocks noChangeArrowheads="1"/>
          </p:cNvSpPr>
          <p:nvPr/>
        </p:nvSpPr>
        <p:spPr bwMode="auto">
          <a:xfrm>
            <a:off x="3105151" y="4611689"/>
            <a:ext cx="6905625" cy="9363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762000" indent="-7620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just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b="1" i="1" dirty="0" err="1">
                <a:solidFill>
                  <a:srgbClr val="FF0000"/>
                </a:solidFill>
                <a:ea typeface="宋体" panose="02010600030101010101" pitchFamily="2" charset="-122"/>
              </a:rPr>
              <a:t>i</a:t>
            </a:r>
            <a:r>
              <a:rPr lang="en-US" altLang="zh-CN" b="1" baseline="-25000" dirty="0" err="1">
                <a:solidFill>
                  <a:srgbClr val="FF0000"/>
                </a:solidFill>
                <a:ea typeface="宋体" panose="02010600030101010101" pitchFamily="2" charset="-122"/>
              </a:rPr>
              <a:t>Sn</a:t>
            </a:r>
            <a:r>
              <a:rPr lang="en-US" altLang="zh-CN" b="1" i="1" baseline="-25000" dirty="0" err="1">
                <a:solidFill>
                  <a:srgbClr val="FF0000"/>
                </a:solidFill>
                <a:ea typeface="宋体" panose="02010600030101010101" pitchFamily="2" charset="-122"/>
              </a:rPr>
              <a:t>i</a:t>
            </a:r>
            <a:r>
              <a:rPr lang="en-US" altLang="zh-CN" b="1" baseline="-25000" dirty="0">
                <a:solidFill>
                  <a:schemeClr val="tx2"/>
                </a:solidFill>
                <a:ea typeface="宋体" panose="02010600030101010101" pitchFamily="2" charset="-122"/>
              </a:rPr>
              <a:t> </a:t>
            </a:r>
            <a:r>
              <a:rPr lang="en-US" altLang="zh-CN" b="1" dirty="0">
                <a:ea typeface="宋体" panose="02010600030101010101" pitchFamily="2" charset="-122"/>
              </a:rPr>
              <a:t>— </a:t>
            </a: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等效电流源</a:t>
            </a:r>
            <a:r>
              <a:rPr lang="zh-CN" altLang="en-US" b="1" dirty="0">
                <a:ea typeface="宋体" panose="02010600030101010101" pitchFamily="2" charset="-122"/>
              </a:rPr>
              <a:t>流入节点</a:t>
            </a:r>
            <a:r>
              <a:rPr lang="en-US" altLang="zh-CN" b="1" i="1" dirty="0" err="1">
                <a:ea typeface="宋体" panose="02010600030101010101" pitchFamily="2" charset="-122"/>
              </a:rPr>
              <a:t>i</a:t>
            </a:r>
            <a:r>
              <a:rPr lang="zh-CN" altLang="en-US" b="1" dirty="0">
                <a:ea typeface="宋体" panose="02010600030101010101" pitchFamily="2" charset="-122"/>
              </a:rPr>
              <a:t>的所有电流源电流的代数和。  </a:t>
            </a:r>
          </a:p>
        </p:txBody>
      </p:sp>
      <p:sp>
        <p:nvSpPr>
          <p:cNvPr id="130061" name="Text Box 13"/>
          <p:cNvSpPr txBox="1">
            <a:spLocks noChangeArrowheads="1"/>
          </p:cNvSpPr>
          <p:nvPr/>
        </p:nvSpPr>
        <p:spPr bwMode="auto">
          <a:xfrm>
            <a:off x="3009900" y="3638551"/>
            <a:ext cx="7353300" cy="9363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762000" indent="-7620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just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b="1" i="1" dirty="0">
                <a:solidFill>
                  <a:srgbClr val="FF0000"/>
                </a:solidFill>
                <a:ea typeface="宋体" panose="02010600030101010101" pitchFamily="2" charset="-122"/>
              </a:rPr>
              <a:t>G</a:t>
            </a:r>
            <a:r>
              <a:rPr lang="en-US" altLang="zh-CN" b="1" i="1" baseline="-25000" dirty="0">
                <a:solidFill>
                  <a:srgbClr val="FF0000"/>
                </a:solidFill>
                <a:ea typeface="宋体" panose="02010600030101010101" pitchFamily="2" charset="-122"/>
              </a:rPr>
              <a:t>ij</a:t>
            </a:r>
            <a:r>
              <a:rPr lang="en-US" altLang="zh-CN" b="1" baseline="-25000" dirty="0">
                <a:solidFill>
                  <a:srgbClr val="FF0000"/>
                </a:solidFill>
                <a:ea typeface="宋体" panose="02010600030101010101" pitchFamily="2" charset="-122"/>
              </a:rPr>
              <a:t> 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= </a:t>
            </a:r>
            <a:r>
              <a:rPr lang="en-US" altLang="zh-CN" b="1" i="1" dirty="0" err="1">
                <a:solidFill>
                  <a:srgbClr val="FF0000"/>
                </a:solidFill>
                <a:ea typeface="宋体" panose="02010600030101010101" pitchFamily="2" charset="-122"/>
              </a:rPr>
              <a:t>G</a:t>
            </a:r>
            <a:r>
              <a:rPr lang="en-US" altLang="zh-CN" b="1" i="1" baseline="-25000" dirty="0" err="1">
                <a:solidFill>
                  <a:srgbClr val="FF0000"/>
                </a:solidFill>
                <a:ea typeface="宋体" panose="02010600030101010101" pitchFamily="2" charset="-122"/>
              </a:rPr>
              <a:t>ji</a:t>
            </a:r>
            <a:r>
              <a:rPr lang="en-US" altLang="zh-CN" b="1" i="1" baseline="-25000" dirty="0">
                <a:solidFill>
                  <a:schemeClr val="tx2"/>
                </a:solidFill>
                <a:ea typeface="宋体" panose="02010600030101010101" pitchFamily="2" charset="-122"/>
              </a:rPr>
              <a:t>    </a:t>
            </a:r>
            <a:r>
              <a:rPr lang="en-US" altLang="zh-CN" b="1" dirty="0">
                <a:solidFill>
                  <a:schemeClr val="tx2"/>
                </a:solidFill>
                <a:ea typeface="宋体" panose="02010600030101010101" pitchFamily="2" charset="-122"/>
              </a:rPr>
              <a:t>—</a:t>
            </a: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互电导</a:t>
            </a:r>
            <a:r>
              <a:rPr lang="zh-CN" altLang="en-US" b="1" dirty="0">
                <a:ea typeface="宋体" panose="02010600030101010101" pitchFamily="2" charset="-122"/>
              </a:rPr>
              <a:t>，</a:t>
            </a:r>
            <a:r>
              <a:rPr lang="zh-CN" altLang="zh-CN" b="1" dirty="0">
                <a:ea typeface="宋体" panose="02010600030101010101" pitchFamily="2" charset="-122"/>
              </a:rPr>
              <a:t>等于接在节点</a:t>
            </a:r>
            <a:r>
              <a:rPr lang="en-US" altLang="zh-CN" b="1" i="1" dirty="0" err="1">
                <a:ea typeface="宋体" panose="02010600030101010101" pitchFamily="2" charset="-122"/>
              </a:rPr>
              <a:t>i</a:t>
            </a:r>
            <a:r>
              <a:rPr lang="zh-CN" altLang="zh-CN" b="1" dirty="0">
                <a:ea typeface="宋体" panose="02010600030101010101" pitchFamily="2" charset="-122"/>
              </a:rPr>
              <a:t>与节点</a:t>
            </a:r>
            <a:r>
              <a:rPr lang="en-US" altLang="zh-CN" b="1" i="1" dirty="0">
                <a:ea typeface="宋体" panose="02010600030101010101" pitchFamily="2" charset="-122"/>
              </a:rPr>
              <a:t>j</a:t>
            </a:r>
            <a:r>
              <a:rPr lang="zh-CN" altLang="zh-CN" b="1" dirty="0">
                <a:ea typeface="宋体" panose="02010600030101010101" pitchFamily="2" charset="-122"/>
              </a:rPr>
              <a:t>之间的支</a:t>
            </a:r>
            <a:endParaRPr lang="zh-CN" altLang="en-US" b="1" dirty="0">
              <a:ea typeface="宋体" panose="02010600030101010101" pitchFamily="2" charset="-122"/>
            </a:endParaRPr>
          </a:p>
          <a:p>
            <a:pPr algn="just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b="1" dirty="0">
                <a:ea typeface="宋体" panose="02010600030101010101" pitchFamily="2" charset="-122"/>
              </a:rPr>
              <a:t>                    </a:t>
            </a:r>
            <a:r>
              <a:rPr lang="zh-CN" altLang="zh-CN" b="1" dirty="0">
                <a:ea typeface="宋体" panose="02010600030101010101" pitchFamily="2" charset="-122"/>
              </a:rPr>
              <a:t>路的电导之和，并冠以</a:t>
            </a:r>
            <a:r>
              <a:rPr lang="zh-CN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负</a:t>
            </a:r>
            <a:r>
              <a:rPr lang="zh-CN" altLang="zh-CN" b="1" dirty="0">
                <a:ea typeface="宋体" panose="02010600030101010101" pitchFamily="2" charset="-122"/>
              </a:rPr>
              <a:t>号。</a:t>
            </a:r>
            <a:r>
              <a:rPr lang="zh-CN" altLang="en-US" b="1" dirty="0">
                <a:ea typeface="宋体" panose="02010600030101010101" pitchFamily="2" charset="-122"/>
              </a:rPr>
              <a:t> 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0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300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0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0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0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0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0057" grpId="0" autoUpdateAnimBg="0"/>
      <p:bldP spid="130058" grpId="0" autoUpdateAnimBg="0"/>
      <p:bldP spid="130059" grpId="0" animBg="1" autoUpdateAnimBg="0"/>
      <p:bldP spid="130060" grpId="0" autoUpdateAnimBg="0"/>
      <p:bldP spid="130061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ext Box 2"/>
          <p:cNvSpPr txBox="1">
            <a:spLocks noChangeArrowheads="1"/>
          </p:cNvSpPr>
          <p:nvPr/>
        </p:nvSpPr>
        <p:spPr bwMode="auto">
          <a:xfrm>
            <a:off x="1862138" y="360364"/>
            <a:ext cx="28448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推广到有 </a:t>
            </a:r>
            <a:r>
              <a:rPr lang="en-US" altLang="zh-CN" b="1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l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个网孔仅含电阻、独立电压源的电路</a:t>
            </a:r>
          </a:p>
        </p:txBody>
      </p:sp>
      <p:sp>
        <p:nvSpPr>
          <p:cNvPr id="103427" name="Text Box 3"/>
          <p:cNvSpPr txBox="1">
            <a:spLocks noChangeArrowheads="1"/>
          </p:cNvSpPr>
          <p:nvPr/>
        </p:nvSpPr>
        <p:spPr bwMode="auto">
          <a:xfrm>
            <a:off x="2041525" y="2398713"/>
            <a:ext cx="971550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>
                <a:latin typeface="幼圆" panose="02010509060101010101" pitchFamily="49" charset="-122"/>
                <a:ea typeface="幼圆" panose="02010509060101010101" pitchFamily="49" charset="-122"/>
              </a:rPr>
              <a:t>其中  </a:t>
            </a:r>
          </a:p>
        </p:txBody>
      </p:sp>
      <p:sp>
        <p:nvSpPr>
          <p:cNvPr id="103428" name="Text Box 4"/>
          <p:cNvSpPr txBox="1">
            <a:spLocks noChangeArrowheads="1"/>
          </p:cNvSpPr>
          <p:nvPr/>
        </p:nvSpPr>
        <p:spPr bwMode="auto">
          <a:xfrm>
            <a:off x="2628900" y="3714751"/>
            <a:ext cx="2420938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b="1" i="1" dirty="0" err="1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R</a:t>
            </a:r>
            <a:r>
              <a:rPr lang="en-US" altLang="zh-CN" b="1" i="1" baseline="-25000" dirty="0" err="1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jk</a:t>
            </a:r>
            <a:r>
              <a:rPr lang="en-US" altLang="zh-CN" b="1" dirty="0">
                <a:latin typeface="幼圆" panose="02010509060101010101" pitchFamily="49" charset="-122"/>
                <a:ea typeface="幼圆" panose="02010509060101010101" pitchFamily="49" charset="-122"/>
              </a:rPr>
              <a:t>: </a:t>
            </a:r>
            <a:r>
              <a:rPr lang="zh-CN" altLang="en-US" b="1" dirty="0">
                <a:latin typeface="幼圆" panose="02010509060101010101" pitchFamily="49" charset="-122"/>
                <a:ea typeface="幼圆" panose="02010509060101010101" pitchFamily="49" charset="-122"/>
              </a:rPr>
              <a:t>第</a:t>
            </a:r>
            <a:r>
              <a:rPr lang="en-US" altLang="zh-CN" b="1" i="1" dirty="0">
                <a:latin typeface="幼圆" panose="02010509060101010101" pitchFamily="49" charset="-122"/>
                <a:ea typeface="幼圆" panose="02010509060101010101" pitchFamily="49" charset="-122"/>
              </a:rPr>
              <a:t>j</a:t>
            </a:r>
            <a:r>
              <a:rPr lang="zh-CN" altLang="en-US" b="1" dirty="0">
                <a:latin typeface="幼圆" panose="02010509060101010101" pitchFamily="49" charset="-122"/>
                <a:ea typeface="幼圆" panose="02010509060101010101" pitchFamily="49" charset="-122"/>
              </a:rPr>
              <a:t>个网孔和第</a:t>
            </a:r>
            <a:r>
              <a:rPr lang="en-US" altLang="zh-CN" b="1" i="1" dirty="0">
                <a:latin typeface="幼圆" panose="02010509060101010101" pitchFamily="49" charset="-122"/>
                <a:ea typeface="幼圆" panose="02010509060101010101" pitchFamily="49" charset="-122"/>
              </a:rPr>
              <a:t>k</a:t>
            </a:r>
            <a:r>
              <a:rPr lang="zh-CN" altLang="en-US" b="1" dirty="0">
                <a:latin typeface="幼圆" panose="02010509060101010101" pitchFamily="49" charset="-122"/>
                <a:ea typeface="幼圆" panose="02010509060101010101" pitchFamily="49" charset="-122"/>
              </a:rPr>
              <a:t>个网孔的       互电阻  </a:t>
            </a:r>
          </a:p>
        </p:txBody>
      </p:sp>
      <p:sp>
        <p:nvSpPr>
          <p:cNvPr id="103429" name="Rectangle 5"/>
          <p:cNvSpPr>
            <a:spLocks noChangeArrowheads="1"/>
          </p:cNvSpPr>
          <p:nvPr/>
        </p:nvSpPr>
        <p:spPr bwMode="auto">
          <a:xfrm>
            <a:off x="5218113" y="3508376"/>
            <a:ext cx="5414962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+</a:t>
            </a:r>
            <a:r>
              <a:rPr lang="en-US" altLang="zh-CN" b="1" dirty="0">
                <a:latin typeface="幼圆" panose="02010509060101010101" pitchFamily="49" charset="-122"/>
                <a:ea typeface="幼圆" panose="02010509060101010101" pitchFamily="49" charset="-122"/>
              </a:rPr>
              <a:t> : </a:t>
            </a:r>
            <a:r>
              <a:rPr lang="zh-CN" altLang="en-US" b="1" dirty="0">
                <a:latin typeface="幼圆" panose="02010509060101010101" pitchFamily="49" charset="-122"/>
                <a:ea typeface="幼圆" panose="02010509060101010101" pitchFamily="49" charset="-122"/>
              </a:rPr>
              <a:t>流过互阻的两个网孔电流方向相同  </a:t>
            </a:r>
          </a:p>
        </p:txBody>
      </p:sp>
      <p:sp>
        <p:nvSpPr>
          <p:cNvPr id="103430" name="Rectangle 6"/>
          <p:cNvSpPr>
            <a:spLocks noChangeArrowheads="1"/>
          </p:cNvSpPr>
          <p:nvPr/>
        </p:nvSpPr>
        <p:spPr bwMode="auto">
          <a:xfrm>
            <a:off x="5230814" y="4032251"/>
            <a:ext cx="5437187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-</a:t>
            </a:r>
            <a:r>
              <a:rPr lang="en-US" altLang="zh-CN" b="1" dirty="0">
                <a:latin typeface="幼圆" panose="02010509060101010101" pitchFamily="49" charset="-122"/>
                <a:ea typeface="幼圆" panose="02010509060101010101" pitchFamily="49" charset="-122"/>
              </a:rPr>
              <a:t> : </a:t>
            </a:r>
            <a:r>
              <a:rPr lang="zh-CN" altLang="en-US" b="1" dirty="0">
                <a:latin typeface="幼圆" panose="02010509060101010101" pitchFamily="49" charset="-122"/>
                <a:ea typeface="幼圆" panose="02010509060101010101" pitchFamily="49" charset="-122"/>
              </a:rPr>
              <a:t>流过互阻的两个网孔电流方向相反  </a:t>
            </a:r>
          </a:p>
        </p:txBody>
      </p:sp>
      <p:sp>
        <p:nvSpPr>
          <p:cNvPr id="103431" name="Text Box 7"/>
          <p:cNvSpPr txBox="1">
            <a:spLocks noChangeArrowheads="1"/>
          </p:cNvSpPr>
          <p:nvPr/>
        </p:nvSpPr>
        <p:spPr bwMode="auto">
          <a:xfrm>
            <a:off x="5229225" y="4576763"/>
            <a:ext cx="2743200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b="1">
                <a:latin typeface="幼圆" panose="02010509060101010101" pitchFamily="49" charset="-122"/>
                <a:ea typeface="幼圆" panose="02010509060101010101" pitchFamily="49" charset="-122"/>
              </a:rPr>
              <a:t>0 : </a:t>
            </a:r>
            <a:r>
              <a:rPr lang="zh-CN" altLang="en-US" b="1">
                <a:latin typeface="幼圆" panose="02010509060101010101" pitchFamily="49" charset="-122"/>
                <a:ea typeface="幼圆" panose="02010509060101010101" pitchFamily="49" charset="-122"/>
              </a:rPr>
              <a:t>无关  </a:t>
            </a:r>
          </a:p>
        </p:txBody>
      </p:sp>
      <p:sp>
        <p:nvSpPr>
          <p:cNvPr id="103432" name="Text Box 8"/>
          <p:cNvSpPr txBox="1">
            <a:spLocks noChangeArrowheads="1"/>
          </p:cNvSpPr>
          <p:nvPr/>
        </p:nvSpPr>
        <p:spPr bwMode="auto">
          <a:xfrm>
            <a:off x="4870451" y="395288"/>
            <a:ext cx="51149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2800" b="1" i="1" dirty="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R</a:t>
            </a:r>
            <a:r>
              <a:rPr lang="en-US" altLang="zh-CN" sz="2800" b="1" baseline="-25000" dirty="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11</a:t>
            </a:r>
            <a:r>
              <a:rPr lang="en-US" altLang="zh-CN" sz="2800" b="1" i="1" dirty="0">
                <a:latin typeface="幼圆" panose="02010509060101010101" pitchFamily="49" charset="-122"/>
                <a:ea typeface="幼圆" panose="02010509060101010101" pitchFamily="49" charset="-122"/>
              </a:rPr>
              <a:t>i</a:t>
            </a:r>
            <a:r>
              <a:rPr lang="en-US" altLang="zh-CN" sz="2800" b="1" i="1" baseline="-25000" dirty="0">
                <a:latin typeface="幼圆" panose="02010509060101010101" pitchFamily="49" charset="-122"/>
                <a:ea typeface="幼圆" panose="02010509060101010101" pitchFamily="49" charset="-122"/>
              </a:rPr>
              <a:t>l</a:t>
            </a:r>
            <a:r>
              <a:rPr lang="en-US" altLang="zh-CN" sz="2800" b="1" baseline="-25000" dirty="0">
                <a:latin typeface="幼圆" panose="02010509060101010101" pitchFamily="49" charset="-122"/>
                <a:ea typeface="幼圆" panose="02010509060101010101" pitchFamily="49" charset="-122"/>
              </a:rPr>
              <a:t>1</a:t>
            </a:r>
            <a:r>
              <a:rPr lang="en-US" altLang="zh-CN" sz="2800" b="1" i="1" dirty="0">
                <a:latin typeface="幼圆" panose="02010509060101010101" pitchFamily="49" charset="-122"/>
                <a:ea typeface="幼圆" panose="02010509060101010101" pitchFamily="49" charset="-122"/>
              </a:rPr>
              <a:t>+</a:t>
            </a:r>
            <a:r>
              <a:rPr lang="en-US" altLang="zh-CN" sz="2800" b="1" i="1" dirty="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R</a:t>
            </a:r>
            <a:r>
              <a:rPr lang="en-US" altLang="zh-CN" sz="2800" b="1" baseline="-25000" dirty="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12</a:t>
            </a:r>
            <a:r>
              <a:rPr lang="en-US" altLang="zh-CN" sz="2800" b="1" i="1" dirty="0">
                <a:latin typeface="幼圆" panose="02010509060101010101" pitchFamily="49" charset="-122"/>
                <a:ea typeface="幼圆" panose="02010509060101010101" pitchFamily="49" charset="-122"/>
              </a:rPr>
              <a:t>i</a:t>
            </a:r>
            <a:r>
              <a:rPr lang="en-US" altLang="zh-CN" sz="2800" b="1" i="1" baseline="-25000" dirty="0">
                <a:latin typeface="幼圆" panose="02010509060101010101" pitchFamily="49" charset="-122"/>
                <a:ea typeface="幼圆" panose="02010509060101010101" pitchFamily="49" charset="-122"/>
              </a:rPr>
              <a:t>l</a:t>
            </a:r>
            <a:r>
              <a:rPr lang="en-US" altLang="zh-CN" sz="2800" b="1" baseline="-25000" dirty="0">
                <a:latin typeface="幼圆" panose="02010509060101010101" pitchFamily="49" charset="-122"/>
                <a:ea typeface="幼圆" panose="02010509060101010101" pitchFamily="49" charset="-122"/>
              </a:rPr>
              <a:t>2</a:t>
            </a:r>
            <a:r>
              <a:rPr lang="en-US" altLang="zh-CN" sz="2800" b="1" i="1" dirty="0">
                <a:latin typeface="幼圆" panose="02010509060101010101" pitchFamily="49" charset="-122"/>
                <a:ea typeface="幼圆" panose="02010509060101010101" pitchFamily="49" charset="-122"/>
              </a:rPr>
              <a:t>+ </a:t>
            </a:r>
            <a:r>
              <a:rPr lang="en-US" altLang="zh-CN" sz="1800" dirty="0">
                <a:latin typeface="宋体" panose="02010600030101010101" pitchFamily="2" charset="-122"/>
                <a:ea typeface="幼圆" panose="02010509060101010101" pitchFamily="49" charset="-122"/>
              </a:rPr>
              <a:t>…</a:t>
            </a:r>
            <a:r>
              <a:rPr lang="en-US" altLang="zh-CN" sz="2800" b="1" i="1" dirty="0">
                <a:latin typeface="幼圆" panose="02010509060101010101" pitchFamily="49" charset="-122"/>
                <a:ea typeface="幼圆" panose="02010509060101010101" pitchFamily="49" charset="-122"/>
              </a:rPr>
              <a:t>+</a:t>
            </a:r>
            <a:r>
              <a:rPr lang="en-US" altLang="zh-CN" sz="2800" b="1" i="1" dirty="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R</a:t>
            </a:r>
            <a:r>
              <a:rPr lang="en-US" altLang="zh-CN" sz="2800" b="1" baseline="-25000" dirty="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1</a:t>
            </a:r>
            <a:r>
              <a:rPr lang="en-US" altLang="zh-CN" sz="2800" b="1" i="1" baseline="-25000" dirty="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l </a:t>
            </a:r>
            <a:r>
              <a:rPr lang="en-US" altLang="zh-CN" sz="2800" b="1" i="1" dirty="0">
                <a:latin typeface="幼圆" panose="02010509060101010101" pitchFamily="49" charset="-122"/>
                <a:ea typeface="幼圆" panose="02010509060101010101" pitchFamily="49" charset="-122"/>
              </a:rPr>
              <a:t>i</a:t>
            </a:r>
            <a:r>
              <a:rPr lang="en-US" altLang="zh-CN" sz="2800" b="1" i="1" baseline="-25000" dirty="0">
                <a:latin typeface="幼圆" panose="02010509060101010101" pitchFamily="49" charset="-122"/>
                <a:ea typeface="幼圆" panose="02010509060101010101" pitchFamily="49" charset="-122"/>
              </a:rPr>
              <a:t>ll</a:t>
            </a:r>
            <a:r>
              <a:rPr lang="en-US" altLang="zh-CN" sz="2800" b="1" i="1" dirty="0">
                <a:latin typeface="幼圆" panose="02010509060101010101" pitchFamily="49" charset="-122"/>
                <a:ea typeface="幼圆" panose="02010509060101010101" pitchFamily="49" charset="-122"/>
              </a:rPr>
              <a:t>=</a:t>
            </a:r>
            <a:r>
              <a:rPr lang="en-US" altLang="zh-CN" sz="2800" b="1" i="1" dirty="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u</a:t>
            </a:r>
            <a:r>
              <a:rPr lang="en-US" altLang="zh-CN" sz="2800" b="1" baseline="-25000" dirty="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S</a:t>
            </a:r>
            <a:r>
              <a:rPr lang="en-US" altLang="zh-CN" sz="2800" b="1" i="1" baseline="-25000" dirty="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l</a:t>
            </a:r>
            <a:r>
              <a:rPr lang="en-US" altLang="zh-CN" sz="2800" b="1" baseline="-25000" dirty="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1  </a:t>
            </a:r>
          </a:p>
        </p:txBody>
      </p:sp>
      <p:sp>
        <p:nvSpPr>
          <p:cNvPr id="103433" name="Text Box 9"/>
          <p:cNvSpPr txBox="1">
            <a:spLocks noChangeArrowheads="1"/>
          </p:cNvSpPr>
          <p:nvPr/>
        </p:nvSpPr>
        <p:spPr bwMode="auto">
          <a:xfrm>
            <a:off x="5368925" y="954088"/>
            <a:ext cx="6096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2800" b="1" dirty="0">
                <a:solidFill>
                  <a:srgbClr val="3333FF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 </a:t>
            </a:r>
            <a:r>
              <a:rPr lang="en-US" altLang="zh-CN" sz="2800" b="1" dirty="0">
                <a:latin typeface="幼圆" panose="02010509060101010101" pitchFamily="49" charset="-122"/>
                <a:ea typeface="幼圆" panose="02010509060101010101" pitchFamily="49" charset="-122"/>
              </a:rPr>
              <a:t>…</a:t>
            </a:r>
            <a:endParaRPr lang="en-US" altLang="zh-CN" sz="2800" b="1" dirty="0">
              <a:solidFill>
                <a:srgbClr val="3333FF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103434" name="Text Box 10"/>
          <p:cNvSpPr txBox="1">
            <a:spLocks noChangeArrowheads="1"/>
          </p:cNvSpPr>
          <p:nvPr/>
        </p:nvSpPr>
        <p:spPr bwMode="auto">
          <a:xfrm>
            <a:off x="4865688" y="1011238"/>
            <a:ext cx="501491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2800" b="1" i="1" dirty="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R</a:t>
            </a:r>
            <a:r>
              <a:rPr lang="en-US" altLang="zh-CN" sz="2800" b="1" baseline="-25000" dirty="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21</a:t>
            </a:r>
            <a:r>
              <a:rPr lang="en-US" altLang="zh-CN" sz="2800" b="1" i="1" dirty="0">
                <a:latin typeface="幼圆" panose="02010509060101010101" pitchFamily="49" charset="-122"/>
                <a:ea typeface="幼圆" panose="02010509060101010101" pitchFamily="49" charset="-122"/>
              </a:rPr>
              <a:t>i</a:t>
            </a:r>
            <a:r>
              <a:rPr lang="en-US" altLang="zh-CN" sz="2800" b="1" i="1" baseline="-25000" dirty="0">
                <a:latin typeface="幼圆" panose="02010509060101010101" pitchFamily="49" charset="-122"/>
                <a:ea typeface="幼圆" panose="02010509060101010101" pitchFamily="49" charset="-122"/>
              </a:rPr>
              <a:t>l</a:t>
            </a:r>
            <a:r>
              <a:rPr lang="en-US" altLang="zh-CN" sz="2800" b="1" baseline="-25000" dirty="0">
                <a:latin typeface="幼圆" panose="02010509060101010101" pitchFamily="49" charset="-122"/>
                <a:ea typeface="幼圆" panose="02010509060101010101" pitchFamily="49" charset="-122"/>
              </a:rPr>
              <a:t>1</a:t>
            </a:r>
            <a:r>
              <a:rPr lang="en-US" altLang="zh-CN" sz="2800" b="1" i="1" dirty="0">
                <a:latin typeface="幼圆" panose="02010509060101010101" pitchFamily="49" charset="-122"/>
                <a:ea typeface="幼圆" panose="02010509060101010101" pitchFamily="49" charset="-122"/>
              </a:rPr>
              <a:t>+</a:t>
            </a:r>
            <a:r>
              <a:rPr lang="en-US" altLang="zh-CN" sz="2800" b="1" i="1" dirty="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R</a:t>
            </a:r>
            <a:r>
              <a:rPr lang="en-US" altLang="zh-CN" sz="2800" b="1" baseline="-25000" dirty="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22</a:t>
            </a:r>
            <a:r>
              <a:rPr lang="en-US" altLang="zh-CN" sz="2800" b="1" i="1" dirty="0">
                <a:latin typeface="幼圆" panose="02010509060101010101" pitchFamily="49" charset="-122"/>
                <a:ea typeface="幼圆" panose="02010509060101010101" pitchFamily="49" charset="-122"/>
              </a:rPr>
              <a:t>i</a:t>
            </a:r>
            <a:r>
              <a:rPr lang="en-US" altLang="zh-CN" sz="2800" b="1" i="1" baseline="-25000" dirty="0">
                <a:latin typeface="幼圆" panose="02010509060101010101" pitchFamily="49" charset="-122"/>
                <a:ea typeface="幼圆" panose="02010509060101010101" pitchFamily="49" charset="-122"/>
              </a:rPr>
              <a:t>l</a:t>
            </a:r>
            <a:r>
              <a:rPr lang="en-US" altLang="zh-CN" sz="2800" b="1" baseline="-25000" dirty="0">
                <a:latin typeface="幼圆" panose="02010509060101010101" pitchFamily="49" charset="-122"/>
                <a:ea typeface="幼圆" panose="02010509060101010101" pitchFamily="49" charset="-122"/>
              </a:rPr>
              <a:t>2</a:t>
            </a:r>
            <a:r>
              <a:rPr lang="en-US" altLang="zh-CN" sz="2800" b="1" i="1" dirty="0">
                <a:latin typeface="幼圆" panose="02010509060101010101" pitchFamily="49" charset="-122"/>
                <a:ea typeface="幼圆" panose="02010509060101010101" pitchFamily="49" charset="-122"/>
              </a:rPr>
              <a:t>+ </a:t>
            </a:r>
            <a:r>
              <a:rPr lang="en-US" altLang="zh-CN" sz="2800" dirty="0">
                <a:latin typeface="宋体" panose="02010600030101010101" pitchFamily="2" charset="-122"/>
                <a:ea typeface="幼圆" panose="02010509060101010101" pitchFamily="49" charset="-122"/>
              </a:rPr>
              <a:t>…</a:t>
            </a:r>
            <a:r>
              <a:rPr lang="en-US" altLang="zh-CN" sz="2800" b="1" i="1" dirty="0">
                <a:latin typeface="幼圆" panose="02010509060101010101" pitchFamily="49" charset="-122"/>
                <a:ea typeface="幼圆" panose="02010509060101010101" pitchFamily="49" charset="-122"/>
              </a:rPr>
              <a:t>+</a:t>
            </a:r>
            <a:r>
              <a:rPr lang="en-US" altLang="zh-CN" sz="2800" b="1" i="1" dirty="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R</a:t>
            </a:r>
            <a:r>
              <a:rPr lang="en-US" altLang="zh-CN" sz="2800" b="1" baseline="-25000" dirty="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2</a:t>
            </a:r>
            <a:r>
              <a:rPr lang="en-US" altLang="zh-CN" sz="2800" b="1" i="1" baseline="-25000" dirty="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l</a:t>
            </a:r>
            <a:r>
              <a:rPr lang="en-US" altLang="zh-CN" sz="2800" b="1" i="1" baseline="-25000" dirty="0">
                <a:solidFill>
                  <a:srgbClr val="3333FF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 </a:t>
            </a:r>
            <a:r>
              <a:rPr lang="en-US" altLang="zh-CN" sz="2800" b="1" i="1" dirty="0">
                <a:latin typeface="幼圆" panose="02010509060101010101" pitchFamily="49" charset="-122"/>
                <a:ea typeface="幼圆" panose="02010509060101010101" pitchFamily="49" charset="-122"/>
              </a:rPr>
              <a:t>i</a:t>
            </a:r>
            <a:r>
              <a:rPr lang="en-US" altLang="zh-CN" sz="2800" b="1" i="1" baseline="-25000" dirty="0">
                <a:latin typeface="幼圆" panose="02010509060101010101" pitchFamily="49" charset="-122"/>
                <a:ea typeface="幼圆" panose="02010509060101010101" pitchFamily="49" charset="-122"/>
              </a:rPr>
              <a:t>ll</a:t>
            </a:r>
            <a:r>
              <a:rPr lang="en-US" altLang="zh-CN" sz="2800" b="1" i="1" dirty="0">
                <a:latin typeface="幼圆" panose="02010509060101010101" pitchFamily="49" charset="-122"/>
                <a:ea typeface="幼圆" panose="02010509060101010101" pitchFamily="49" charset="-122"/>
              </a:rPr>
              <a:t>=</a:t>
            </a:r>
            <a:r>
              <a:rPr lang="en-US" altLang="zh-CN" sz="2800" b="1" i="1" dirty="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u</a:t>
            </a:r>
            <a:r>
              <a:rPr lang="en-US" altLang="zh-CN" sz="2800" b="1" baseline="-25000" dirty="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S</a:t>
            </a:r>
            <a:r>
              <a:rPr lang="en-US" altLang="zh-CN" sz="2800" b="1" i="1" baseline="-25000" dirty="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l</a:t>
            </a:r>
            <a:r>
              <a:rPr lang="en-US" altLang="zh-CN" sz="2800" b="1" baseline="-25000" dirty="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2  </a:t>
            </a:r>
            <a:endParaRPr lang="en-US" altLang="zh-CN" sz="2800" b="1" baseline="-25000" dirty="0">
              <a:solidFill>
                <a:srgbClr val="3333FF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103435" name="Text Box 11"/>
          <p:cNvSpPr txBox="1">
            <a:spLocks noChangeArrowheads="1"/>
          </p:cNvSpPr>
          <p:nvPr/>
        </p:nvSpPr>
        <p:spPr bwMode="auto">
          <a:xfrm>
            <a:off x="4911726" y="1868488"/>
            <a:ext cx="47847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2800" b="1" i="1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R</a:t>
            </a:r>
            <a:r>
              <a:rPr lang="en-US" altLang="zh-CN" sz="2800" b="1" i="1" baseline="-2500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l</a:t>
            </a:r>
            <a:r>
              <a:rPr lang="en-US" altLang="zh-CN" sz="2800" b="1" baseline="-2500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1</a:t>
            </a:r>
            <a:r>
              <a:rPr lang="en-US" altLang="zh-CN" sz="2800" b="1" i="1">
                <a:latin typeface="幼圆" panose="02010509060101010101" pitchFamily="49" charset="-122"/>
                <a:ea typeface="幼圆" panose="02010509060101010101" pitchFamily="49" charset="-122"/>
              </a:rPr>
              <a:t>i</a:t>
            </a:r>
            <a:r>
              <a:rPr lang="en-US" altLang="zh-CN" sz="2800" b="1" i="1" baseline="-25000">
                <a:latin typeface="幼圆" panose="02010509060101010101" pitchFamily="49" charset="-122"/>
                <a:ea typeface="幼圆" panose="02010509060101010101" pitchFamily="49" charset="-122"/>
              </a:rPr>
              <a:t>l</a:t>
            </a:r>
            <a:r>
              <a:rPr lang="en-US" altLang="zh-CN" sz="2800" b="1" baseline="-25000">
                <a:latin typeface="幼圆" panose="02010509060101010101" pitchFamily="49" charset="-122"/>
                <a:ea typeface="幼圆" panose="02010509060101010101" pitchFamily="49" charset="-122"/>
              </a:rPr>
              <a:t>1</a:t>
            </a:r>
            <a:r>
              <a:rPr lang="en-US" altLang="zh-CN" sz="2800" b="1" i="1">
                <a:latin typeface="幼圆" panose="02010509060101010101" pitchFamily="49" charset="-122"/>
                <a:ea typeface="幼圆" panose="02010509060101010101" pitchFamily="49" charset="-122"/>
              </a:rPr>
              <a:t>+</a:t>
            </a:r>
            <a:r>
              <a:rPr lang="en-US" altLang="zh-CN" sz="2800" b="1" i="1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R</a:t>
            </a:r>
            <a:r>
              <a:rPr lang="en-US" altLang="zh-CN" sz="2800" b="1" i="1" baseline="-2500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l</a:t>
            </a:r>
            <a:r>
              <a:rPr lang="en-US" altLang="zh-CN" sz="2800" b="1" baseline="-2500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2</a:t>
            </a:r>
            <a:r>
              <a:rPr lang="en-US" altLang="zh-CN" sz="2800" b="1" i="1">
                <a:latin typeface="幼圆" panose="02010509060101010101" pitchFamily="49" charset="-122"/>
                <a:ea typeface="幼圆" panose="02010509060101010101" pitchFamily="49" charset="-122"/>
              </a:rPr>
              <a:t>i</a:t>
            </a:r>
            <a:r>
              <a:rPr lang="en-US" altLang="zh-CN" sz="2800" b="1" i="1" baseline="-25000">
                <a:latin typeface="幼圆" panose="02010509060101010101" pitchFamily="49" charset="-122"/>
                <a:ea typeface="幼圆" panose="02010509060101010101" pitchFamily="49" charset="-122"/>
              </a:rPr>
              <a:t>l</a:t>
            </a:r>
            <a:r>
              <a:rPr lang="en-US" altLang="zh-CN" sz="2800" b="1" baseline="-25000">
                <a:latin typeface="幼圆" panose="02010509060101010101" pitchFamily="49" charset="-122"/>
                <a:ea typeface="幼圆" panose="02010509060101010101" pitchFamily="49" charset="-122"/>
              </a:rPr>
              <a:t>2</a:t>
            </a:r>
            <a:r>
              <a:rPr lang="en-US" altLang="zh-CN" sz="2800" b="1" i="1">
                <a:latin typeface="幼圆" panose="02010509060101010101" pitchFamily="49" charset="-122"/>
                <a:ea typeface="幼圆" panose="02010509060101010101" pitchFamily="49" charset="-122"/>
              </a:rPr>
              <a:t>+ </a:t>
            </a:r>
            <a:r>
              <a:rPr lang="en-US" altLang="zh-CN" sz="1800">
                <a:latin typeface="宋体" panose="02010600030101010101" pitchFamily="2" charset="-122"/>
                <a:ea typeface="幼圆" panose="02010509060101010101" pitchFamily="49" charset="-122"/>
              </a:rPr>
              <a:t>…</a:t>
            </a:r>
            <a:r>
              <a:rPr lang="en-US" altLang="zh-CN" sz="2800" b="1" i="1">
                <a:latin typeface="幼圆" panose="02010509060101010101" pitchFamily="49" charset="-122"/>
                <a:ea typeface="幼圆" panose="02010509060101010101" pitchFamily="49" charset="-122"/>
              </a:rPr>
              <a:t>+</a:t>
            </a:r>
            <a:r>
              <a:rPr lang="en-US" altLang="zh-CN" sz="2800" b="1" i="1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R</a:t>
            </a:r>
            <a:r>
              <a:rPr lang="en-US" altLang="zh-CN" sz="2800" b="1" i="1" baseline="-2500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ll</a:t>
            </a:r>
            <a:r>
              <a:rPr lang="en-US" altLang="zh-CN" sz="2800" b="1" i="1" baseline="-25000">
                <a:solidFill>
                  <a:srgbClr val="3333FF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 </a:t>
            </a:r>
            <a:r>
              <a:rPr lang="en-US" altLang="zh-CN" sz="2800" b="1" i="1">
                <a:latin typeface="幼圆" panose="02010509060101010101" pitchFamily="49" charset="-122"/>
                <a:ea typeface="幼圆" panose="02010509060101010101" pitchFamily="49" charset="-122"/>
              </a:rPr>
              <a:t>i</a:t>
            </a:r>
            <a:r>
              <a:rPr lang="en-US" altLang="zh-CN" sz="2800" b="1" i="1" baseline="-25000">
                <a:latin typeface="幼圆" panose="02010509060101010101" pitchFamily="49" charset="-122"/>
                <a:ea typeface="幼圆" panose="02010509060101010101" pitchFamily="49" charset="-122"/>
              </a:rPr>
              <a:t>ll</a:t>
            </a:r>
            <a:r>
              <a:rPr lang="en-US" altLang="zh-CN" sz="2800" b="1" i="1">
                <a:latin typeface="幼圆" panose="02010509060101010101" pitchFamily="49" charset="-122"/>
                <a:ea typeface="幼圆" panose="02010509060101010101" pitchFamily="49" charset="-122"/>
              </a:rPr>
              <a:t>=</a:t>
            </a:r>
            <a:r>
              <a:rPr lang="en-US" altLang="zh-CN" sz="2800" b="1" i="1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u</a:t>
            </a:r>
            <a:r>
              <a:rPr lang="en-US" altLang="zh-CN" sz="2800" b="1" baseline="-2500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S</a:t>
            </a:r>
            <a:r>
              <a:rPr lang="en-US" altLang="zh-CN" sz="2800" b="1" i="1" baseline="-2500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ll  </a:t>
            </a:r>
          </a:p>
        </p:txBody>
      </p:sp>
      <p:sp>
        <p:nvSpPr>
          <p:cNvPr id="103436" name="Text Box 12"/>
          <p:cNvSpPr txBox="1">
            <a:spLocks noChangeArrowheads="1"/>
          </p:cNvSpPr>
          <p:nvPr/>
        </p:nvSpPr>
        <p:spPr bwMode="auto">
          <a:xfrm>
            <a:off x="2552701" y="2871789"/>
            <a:ext cx="772636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b="1" i="1" dirty="0" err="1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R</a:t>
            </a:r>
            <a:r>
              <a:rPr lang="en-US" altLang="zh-CN" b="1" i="1" baseline="-25000" dirty="0" err="1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kk</a:t>
            </a:r>
            <a:r>
              <a:rPr lang="en-US" altLang="zh-CN" b="1" dirty="0">
                <a:latin typeface="幼圆" panose="02010509060101010101" pitchFamily="49" charset="-122"/>
                <a:ea typeface="幼圆" panose="02010509060101010101" pitchFamily="49" charset="-122"/>
              </a:rPr>
              <a:t>:  </a:t>
            </a:r>
            <a:r>
              <a:rPr lang="zh-CN" altLang="en-US" b="1" dirty="0">
                <a:latin typeface="幼圆" panose="02010509060101010101" pitchFamily="49" charset="-122"/>
                <a:ea typeface="幼圆" panose="02010509060101010101" pitchFamily="49" charset="-122"/>
              </a:rPr>
              <a:t>第</a:t>
            </a:r>
            <a:r>
              <a:rPr lang="en-US" altLang="zh-CN" b="1" i="1" dirty="0">
                <a:latin typeface="幼圆" panose="02010509060101010101" pitchFamily="49" charset="-122"/>
                <a:ea typeface="幼圆" panose="02010509060101010101" pitchFamily="49" charset="-122"/>
              </a:rPr>
              <a:t>k</a:t>
            </a:r>
            <a:r>
              <a:rPr lang="zh-CN" altLang="en-US" b="1" dirty="0">
                <a:latin typeface="幼圆" panose="02010509060101010101" pitchFamily="49" charset="-122"/>
                <a:ea typeface="幼圆" panose="02010509060101010101" pitchFamily="49" charset="-122"/>
              </a:rPr>
              <a:t>个网孔的自电阻</a:t>
            </a:r>
            <a:r>
              <a:rPr lang="en-US" altLang="zh-CN" b="1" dirty="0">
                <a:latin typeface="幼圆" panose="02010509060101010101" pitchFamily="49" charset="-122"/>
                <a:ea typeface="幼圆" panose="02010509060101010101" pitchFamily="49" charset="-122"/>
              </a:rPr>
              <a:t>(</a:t>
            </a:r>
            <a:r>
              <a:rPr lang="zh-CN" altLang="en-US" b="1" dirty="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为正</a:t>
            </a:r>
            <a:r>
              <a:rPr lang="en-US" altLang="zh-CN" b="1" dirty="0">
                <a:latin typeface="幼圆" panose="02010509060101010101" pitchFamily="49" charset="-122"/>
                <a:ea typeface="幼圆" panose="02010509060101010101" pitchFamily="49" charset="-122"/>
              </a:rPr>
              <a:t>) </a:t>
            </a:r>
            <a:r>
              <a:rPr lang="zh-CN" altLang="en-US" b="1" dirty="0">
                <a:latin typeface="幼圆" panose="02010509060101010101" pitchFamily="49" charset="-122"/>
                <a:ea typeface="幼圆" panose="02010509060101010101" pitchFamily="49" charset="-122"/>
              </a:rPr>
              <a:t>，</a:t>
            </a:r>
            <a:r>
              <a:rPr lang="en-US" altLang="zh-CN" b="1" i="1" dirty="0">
                <a:latin typeface="幼圆" panose="02010509060101010101" pitchFamily="49" charset="-122"/>
                <a:ea typeface="幼圆" panose="02010509060101010101" pitchFamily="49" charset="-122"/>
              </a:rPr>
              <a:t>k </a:t>
            </a:r>
            <a:r>
              <a:rPr lang="en-US" altLang="zh-CN" b="1" dirty="0">
                <a:latin typeface="幼圆" panose="02010509060101010101" pitchFamily="49" charset="-122"/>
                <a:ea typeface="幼圆" panose="02010509060101010101" pitchFamily="49" charset="-122"/>
              </a:rPr>
              <a:t>=1 , 2 , </a:t>
            </a:r>
            <a:r>
              <a:rPr lang="en-US" altLang="zh-CN" b="1" dirty="0">
                <a:latin typeface="宋体" panose="02010600030101010101" pitchFamily="2" charset="-122"/>
                <a:ea typeface="幼圆" panose="02010509060101010101" pitchFamily="49" charset="-122"/>
                <a:sym typeface="MT Extra" panose="05050102010205020202" pitchFamily="18" charset="2"/>
              </a:rPr>
              <a:t>…</a:t>
            </a:r>
            <a:r>
              <a:rPr lang="en-US" altLang="zh-CN" b="1" dirty="0">
                <a:latin typeface="幼圆" panose="02010509060101010101" pitchFamily="49" charset="-122"/>
                <a:ea typeface="幼圆" panose="02010509060101010101" pitchFamily="49" charset="-122"/>
              </a:rPr>
              <a:t> , </a:t>
            </a:r>
            <a:r>
              <a:rPr lang="en-US" altLang="zh-CN" b="1" i="1" dirty="0">
                <a:latin typeface="幼圆" panose="02010509060101010101" pitchFamily="49" charset="-122"/>
                <a:ea typeface="幼圆" panose="02010509060101010101" pitchFamily="49" charset="-122"/>
              </a:rPr>
              <a:t>l   </a:t>
            </a:r>
            <a:endParaRPr lang="en-US" altLang="zh-CN" b="1" dirty="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103437" name="Text Box 13"/>
          <p:cNvSpPr txBox="1">
            <a:spLocks noChangeArrowheads="1"/>
          </p:cNvSpPr>
          <p:nvPr/>
        </p:nvSpPr>
        <p:spPr bwMode="auto">
          <a:xfrm>
            <a:off x="2625726" y="5297488"/>
            <a:ext cx="7413625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b="1" i="1" dirty="0" err="1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u</a:t>
            </a:r>
            <a:r>
              <a:rPr lang="en-US" altLang="zh-CN" b="1" baseline="-25000" dirty="0" err="1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S</a:t>
            </a:r>
            <a:r>
              <a:rPr lang="en-US" altLang="zh-CN" b="1" i="1" baseline="-25000" dirty="0" err="1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lk</a:t>
            </a:r>
            <a:r>
              <a:rPr lang="en-US" altLang="zh-CN" b="1" dirty="0">
                <a:latin typeface="幼圆" panose="02010509060101010101" pitchFamily="49" charset="-122"/>
                <a:ea typeface="幼圆" panose="02010509060101010101" pitchFamily="49" charset="-122"/>
              </a:rPr>
              <a:t>:  </a:t>
            </a:r>
            <a:r>
              <a:rPr lang="zh-CN" altLang="en-US" b="1" dirty="0">
                <a:latin typeface="幼圆" panose="02010509060101010101" pitchFamily="49" charset="-122"/>
                <a:ea typeface="幼圆" panose="02010509060101010101" pitchFamily="49" charset="-122"/>
              </a:rPr>
              <a:t>第</a:t>
            </a:r>
            <a:r>
              <a:rPr lang="en-US" altLang="zh-CN" b="1" i="1" dirty="0">
                <a:latin typeface="幼圆" panose="02010509060101010101" pitchFamily="49" charset="-122"/>
                <a:ea typeface="幼圆" panose="02010509060101010101" pitchFamily="49" charset="-122"/>
              </a:rPr>
              <a:t>k</a:t>
            </a:r>
            <a:r>
              <a:rPr lang="zh-CN" altLang="en-US" b="1" dirty="0">
                <a:latin typeface="幼圆" panose="02010509060101010101" pitchFamily="49" charset="-122"/>
                <a:ea typeface="幼圆" panose="02010509060101010101" pitchFamily="49" charset="-122"/>
              </a:rPr>
              <a:t>个网孔中所有电压源电压升的代数和。  </a:t>
            </a:r>
          </a:p>
        </p:txBody>
      </p:sp>
      <p:sp>
        <p:nvSpPr>
          <p:cNvPr id="103438" name="AutoShape 14"/>
          <p:cNvSpPr>
            <a:spLocks/>
          </p:cNvSpPr>
          <p:nvPr/>
        </p:nvSpPr>
        <p:spPr bwMode="auto">
          <a:xfrm>
            <a:off x="5049838" y="3700464"/>
            <a:ext cx="188912" cy="1189037"/>
          </a:xfrm>
          <a:prstGeom prst="leftBrace">
            <a:avLst>
              <a:gd name="adj1" fmla="val 52451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34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34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34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3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34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34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3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3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034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034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034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03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427" grpId="0" build="p" autoUpdateAnimBg="0"/>
      <p:bldP spid="103428" grpId="0"/>
      <p:bldP spid="103429" grpId="0" build="p" autoUpdateAnimBg="0" advAuto="0"/>
      <p:bldP spid="103430" grpId="0" build="p" autoUpdateAnimBg="0"/>
      <p:bldP spid="103431" grpId="0" build="p" autoUpdateAnimBg="0"/>
      <p:bldP spid="103432" grpId="0" build="p" autoUpdateAnimBg="0"/>
      <p:bldP spid="103433" grpId="0" build="p" autoUpdateAnimBg="0"/>
      <p:bldP spid="103434" grpId="0" build="p" autoUpdateAnimBg="0"/>
      <p:bldP spid="103435" grpId="0" build="p" autoUpdateAnimBg="0"/>
      <p:bldP spid="103436" grpId="0" build="p" autoUpdateAnimBg="0"/>
      <p:bldP spid="103437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809750" y="333376"/>
            <a:ext cx="8572500" cy="477202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2014220" y="5427980"/>
            <a:ext cx="47752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>
                <a:latin typeface="华文行楷" panose="02010800040101010101" charset="-122"/>
                <a:ea typeface="华文行楷" panose="02010800040101010101" charset="-122"/>
              </a:rPr>
              <a:t>不要把受控源也单独激励了！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Text Box 2"/>
          <p:cNvSpPr txBox="1">
            <a:spLocks noChangeArrowheads="1"/>
          </p:cNvSpPr>
          <p:nvPr/>
        </p:nvSpPr>
        <p:spPr bwMode="auto">
          <a:xfrm>
            <a:off x="1647106" y="87016"/>
            <a:ext cx="135255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FF0000"/>
                </a:solidFill>
              </a:rPr>
              <a:t>小结：    </a:t>
            </a:r>
          </a:p>
        </p:txBody>
      </p:sp>
      <p:sp>
        <p:nvSpPr>
          <p:cNvPr id="175107" name="Text Box 3"/>
          <p:cNvSpPr txBox="1">
            <a:spLocks noChangeArrowheads="1"/>
          </p:cNvSpPr>
          <p:nvPr/>
        </p:nvSpPr>
        <p:spPr bwMode="auto">
          <a:xfrm>
            <a:off x="1778000" y="469900"/>
            <a:ext cx="8229600" cy="10504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666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20000"/>
              </a:lnSpc>
              <a:spcBef>
                <a:spcPct val="50000"/>
              </a:spcBef>
            </a:pPr>
            <a:r>
              <a:rPr lang="en-US" altLang="zh-CN" b="1">
                <a:solidFill>
                  <a:srgbClr val="0000FF"/>
                </a:solidFill>
              </a:rPr>
              <a:t>      </a:t>
            </a:r>
            <a:r>
              <a:rPr lang="zh-CN" altLang="en-US" b="1">
                <a:solidFill>
                  <a:srgbClr val="0000FF"/>
                </a:solidFill>
              </a:rPr>
              <a:t>（</a:t>
            </a:r>
            <a:r>
              <a:rPr lang="en-US" altLang="zh-CN" b="1">
                <a:solidFill>
                  <a:srgbClr val="0000FF"/>
                </a:solidFill>
              </a:rPr>
              <a:t>1</a:t>
            </a:r>
            <a:r>
              <a:rPr lang="zh-CN" altLang="en-US" b="1">
                <a:solidFill>
                  <a:srgbClr val="0000FF"/>
                </a:solidFill>
              </a:rPr>
              <a:t>）</a:t>
            </a:r>
            <a:r>
              <a:rPr lang="zh-CN" altLang="en-US" b="1"/>
              <a:t>戴维南等效电路中电压源电压等于将外电路断开时 的开路电压</a:t>
            </a:r>
            <a:r>
              <a:rPr lang="en-US" altLang="zh-CN" b="1" i="1"/>
              <a:t>U</a:t>
            </a:r>
            <a:r>
              <a:rPr lang="en-US" altLang="zh-CN" sz="3200" b="1" baseline="-25000"/>
              <a:t>oc</a:t>
            </a:r>
            <a:r>
              <a:rPr lang="zh-CN" altLang="en-US" sz="3200" b="1"/>
              <a:t>，</a:t>
            </a:r>
            <a:r>
              <a:rPr lang="zh-CN" altLang="en-US" b="1"/>
              <a:t>电压源方向与所求开路电压方向相同。  </a:t>
            </a:r>
          </a:p>
        </p:txBody>
      </p:sp>
      <p:sp>
        <p:nvSpPr>
          <p:cNvPr id="175108" name="Text Box 4"/>
          <p:cNvSpPr txBox="1">
            <a:spLocks noChangeArrowheads="1"/>
          </p:cNvSpPr>
          <p:nvPr/>
        </p:nvSpPr>
        <p:spPr bwMode="auto">
          <a:xfrm>
            <a:off x="1752600" y="1524001"/>
            <a:ext cx="8229600" cy="968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666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20000"/>
              </a:lnSpc>
              <a:spcBef>
                <a:spcPct val="50000"/>
              </a:spcBef>
            </a:pPr>
            <a:r>
              <a:rPr lang="en-US" altLang="zh-CN" b="1">
                <a:solidFill>
                  <a:srgbClr val="0000FF"/>
                </a:solidFill>
              </a:rPr>
              <a:t>      </a:t>
            </a:r>
            <a:r>
              <a:rPr lang="zh-CN" altLang="en-US" b="1">
                <a:solidFill>
                  <a:srgbClr val="0000FF"/>
                </a:solidFill>
              </a:rPr>
              <a:t>（</a:t>
            </a:r>
            <a:r>
              <a:rPr lang="en-US" altLang="zh-CN" b="1">
                <a:solidFill>
                  <a:srgbClr val="0000FF"/>
                </a:solidFill>
              </a:rPr>
              <a:t>2</a:t>
            </a:r>
            <a:r>
              <a:rPr lang="zh-CN" altLang="en-US" b="1">
                <a:solidFill>
                  <a:srgbClr val="0000FF"/>
                </a:solidFill>
              </a:rPr>
              <a:t>）</a:t>
            </a:r>
            <a:r>
              <a:rPr lang="zh-CN" altLang="en-US" b="1"/>
              <a:t>串联电阻为将一端口内部独立电源全部置零（电压 源短路，电流源开路）后，所得一端口网络的等效电阻。 </a:t>
            </a:r>
          </a:p>
        </p:txBody>
      </p:sp>
      <p:sp>
        <p:nvSpPr>
          <p:cNvPr id="175109" name="Text Box 5"/>
          <p:cNvSpPr txBox="1">
            <a:spLocks noChangeArrowheads="1"/>
          </p:cNvSpPr>
          <p:nvPr/>
        </p:nvSpPr>
        <p:spPr bwMode="auto">
          <a:xfrm>
            <a:off x="2339975" y="2607296"/>
            <a:ext cx="33528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00FF"/>
                </a:solidFill>
              </a:rPr>
              <a:t>等效电阻的计算方法：  </a:t>
            </a:r>
            <a:endParaRPr lang="zh-CN" altLang="en-US" sz="2400" b="1" dirty="0"/>
          </a:p>
        </p:txBody>
      </p:sp>
      <p:sp>
        <p:nvSpPr>
          <p:cNvPr id="175110" name="Text Box 6"/>
          <p:cNvSpPr txBox="1">
            <a:spLocks noChangeArrowheads="1"/>
          </p:cNvSpPr>
          <p:nvPr/>
        </p:nvSpPr>
        <p:spPr bwMode="auto">
          <a:xfrm>
            <a:off x="1857375" y="3140969"/>
            <a:ext cx="82677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indent="5778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683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9588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b="1" dirty="0"/>
              <a:t>a.  </a:t>
            </a:r>
            <a:r>
              <a:rPr lang="zh-CN" altLang="en-US" b="1" dirty="0"/>
              <a:t>当网络内部不含有受控源时可采用电阻串并联的方法 计算；  </a:t>
            </a:r>
          </a:p>
        </p:txBody>
      </p:sp>
      <p:sp>
        <p:nvSpPr>
          <p:cNvPr id="175111" name="Text Box 7"/>
          <p:cNvSpPr txBox="1">
            <a:spLocks noChangeArrowheads="1"/>
          </p:cNvSpPr>
          <p:nvPr/>
        </p:nvSpPr>
        <p:spPr bwMode="auto">
          <a:xfrm>
            <a:off x="1819276" y="3837013"/>
            <a:ext cx="8410575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indent="66357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85407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04457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b="1" dirty="0"/>
              <a:t>b.  </a:t>
            </a:r>
            <a:r>
              <a:rPr lang="zh-CN" altLang="en-US" b="1" dirty="0"/>
              <a:t>加压求流法：端口加电压求电流法或加电流求电压法（内部独立电 源置零）。  </a:t>
            </a:r>
          </a:p>
        </p:txBody>
      </p:sp>
      <p:sp>
        <p:nvSpPr>
          <p:cNvPr id="175112" name="Text Box 8"/>
          <p:cNvSpPr txBox="1">
            <a:spLocks noChangeArrowheads="1"/>
          </p:cNvSpPr>
          <p:nvPr/>
        </p:nvSpPr>
        <p:spPr bwMode="auto">
          <a:xfrm>
            <a:off x="1914526" y="4614228"/>
            <a:ext cx="8181975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indent="5778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683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9588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b="1" dirty="0"/>
              <a:t>c.  </a:t>
            </a:r>
            <a:r>
              <a:rPr lang="zh-CN" altLang="en-US" b="1" dirty="0"/>
              <a:t>开路电压短路电流法：等效电阻等于端口的开路电压与短路电流的比（内部独立电源保留） 。  </a:t>
            </a:r>
          </a:p>
        </p:txBody>
      </p:sp>
      <p:sp>
        <p:nvSpPr>
          <p:cNvPr id="175113" name="Text Box 9"/>
          <p:cNvSpPr txBox="1">
            <a:spLocks noChangeArrowheads="1"/>
          </p:cNvSpPr>
          <p:nvPr/>
        </p:nvSpPr>
        <p:spPr bwMode="auto">
          <a:xfrm>
            <a:off x="1905000" y="5412954"/>
            <a:ext cx="8153400" cy="968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666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20000"/>
              </a:lnSpc>
              <a:spcBef>
                <a:spcPct val="50000"/>
              </a:spcBef>
            </a:pPr>
            <a:r>
              <a:rPr lang="en-US" altLang="zh-CN" b="1" dirty="0">
                <a:solidFill>
                  <a:srgbClr val="0000FF"/>
                </a:solidFill>
              </a:rPr>
              <a:t>      </a:t>
            </a:r>
            <a:r>
              <a:rPr lang="zh-CN" altLang="en-US" b="1" dirty="0">
                <a:solidFill>
                  <a:srgbClr val="0000FF"/>
                </a:solidFill>
              </a:rPr>
              <a:t>（</a:t>
            </a:r>
            <a:r>
              <a:rPr lang="en-US" altLang="zh-CN" b="1" dirty="0">
                <a:solidFill>
                  <a:srgbClr val="0000FF"/>
                </a:solidFill>
              </a:rPr>
              <a:t>3</a:t>
            </a:r>
            <a:r>
              <a:rPr lang="zh-CN" altLang="en-US" b="1" dirty="0">
                <a:solidFill>
                  <a:srgbClr val="0000FF"/>
                </a:solidFill>
              </a:rPr>
              <a:t>）</a:t>
            </a:r>
            <a:r>
              <a:rPr lang="zh-CN" altLang="en-US" b="1" dirty="0"/>
              <a:t> 当一端口内部含有受控源时，控制支路与受控源 支路必须包含在被等效变换的同一部分电路中。  </a:t>
            </a:r>
          </a:p>
        </p:txBody>
      </p:sp>
    </p:spTree>
    <p:extLst>
      <p:ext uri="{BB962C8B-B14F-4D97-AF65-F5344CB8AC3E}">
        <p14:creationId xmlns:p14="http://schemas.microsoft.com/office/powerpoint/2010/main" val="333634015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5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5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75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75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75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75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75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5107" grpId="0" autoUpdateAnimBg="0"/>
      <p:bldP spid="175108" grpId="0" autoUpdateAnimBg="0"/>
      <p:bldP spid="175109" grpId="0" autoUpdateAnimBg="0"/>
      <p:bldP spid="175110" grpId="0" autoUpdateAnimBg="0"/>
      <p:bldP spid="175111" grpId="0" autoUpdateAnimBg="0"/>
      <p:bldP spid="175112" grpId="0" autoUpdateAnimBg="0"/>
      <p:bldP spid="175113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/>
          <p:cNvSpPr>
            <a:spLocks noChangeArrowheads="1"/>
          </p:cNvSpPr>
          <p:nvPr/>
        </p:nvSpPr>
        <p:spPr bwMode="auto">
          <a:xfrm>
            <a:off x="1926273" y="1264496"/>
            <a:ext cx="8339455" cy="184762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tx1"/>
            </a:solidFill>
            <a:prstDash val="solid"/>
          </a:ln>
          <a:effectLst/>
        </p:spPr>
        <p:txBody>
          <a:bodyPr wrap="squar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</a:defRPr>
            </a:lvl5pPr>
            <a:lvl6pPr marL="2286000" algn="l" defTabSz="914400" rtl="0" eaLnBrk="1" latinLnBrk="0" hangingPunct="1">
              <a:defRPr kern="12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</a:defRPr>
            </a:lvl6pPr>
            <a:lvl7pPr marL="2743200" algn="l" defTabSz="914400" rtl="0" eaLnBrk="1" latinLnBrk="0" hangingPunct="1">
              <a:defRPr kern="12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</a:defRPr>
            </a:lvl7pPr>
            <a:lvl8pPr marL="3200400" algn="l" defTabSz="914400" rtl="0" eaLnBrk="1" latinLnBrk="0" hangingPunct="1">
              <a:defRPr kern="12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</a:defRPr>
            </a:lvl8pPr>
            <a:lvl9pPr marL="3657600" algn="l" defTabSz="914400" rtl="0" eaLnBrk="1" latinLnBrk="0" hangingPunct="1">
              <a:defRPr kern="12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</a:defRPr>
            </a:lvl9pPr>
          </a:lstStyle>
          <a:p>
            <a:pPr>
              <a:lnSpc>
                <a:spcPts val="3500"/>
              </a:lnSpc>
              <a:defRPr/>
            </a:pP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楷体" panose="02010609060101010101" charset="-122"/>
              </a:rPr>
              <a:t>开路电压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楷体" panose="02010609060101010101" charset="-122"/>
              </a:rPr>
              <a:t>/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楷体" panose="02010609060101010101" charset="-122"/>
              </a:rPr>
              <a:t>短路电流计算方法：</a:t>
            </a:r>
            <a:r>
              <a:rPr lang="en-US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+mn-cs"/>
              </a:rPr>
              <a:t>U</a:t>
            </a:r>
            <a:r>
              <a:rPr lang="en-US" altLang="zh-CN" sz="2400" b="1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+mn-cs"/>
              </a:rPr>
              <a:t>OC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+mn-cs"/>
              </a:rPr>
              <a:t>、</a:t>
            </a:r>
            <a:r>
              <a:rPr lang="en-US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+mn-cs"/>
              </a:rPr>
              <a:t>I</a:t>
            </a:r>
            <a:r>
              <a:rPr lang="en-US" altLang="zh-CN" sz="2400" b="1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+mn-cs"/>
              </a:rPr>
              <a:t>SC</a:t>
            </a:r>
            <a:endParaRPr lang="en-US" altLang="zh-CN" sz="2400" dirty="0">
              <a:solidFill>
                <a:srgbClr val="FF0000"/>
              </a:solidFill>
              <a:latin typeface="Times New Roman" panose="02020603050405020304" pitchFamily="18" charset="0"/>
              <a:ea typeface="楷体" panose="02010609060101010101" charset="-122"/>
              <a:cs typeface="楷体" panose="02010609060101010101" charset="-122"/>
            </a:endParaRPr>
          </a:p>
          <a:p>
            <a:pPr marL="457200" indent="-457200">
              <a:lnSpc>
                <a:spcPts val="3500"/>
              </a:lnSpc>
              <a:buFont typeface="宋体" panose="02010600030101010101" pitchFamily="2" charset="-122"/>
              <a:buAutoNum type="circleNumDbPlain"/>
              <a:defRPr/>
            </a:pPr>
            <a:r>
              <a:rPr lang="zh-CN" altLang="en-US" sz="2400" dirty="0">
                <a:latin typeface="Times New Roman" panose="02020603050405020304" pitchFamily="18" charset="0"/>
                <a:ea typeface="楷体" panose="02010609060101010101" charset="-122"/>
                <a:cs typeface="楷体" panose="02010609060101010101" charset="-122"/>
              </a:rPr>
              <a:t>列写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charset="-122"/>
                <a:cs typeface="楷体" panose="02010609060101010101" charset="-122"/>
              </a:rPr>
              <a:t>KCL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charset="-122"/>
                <a:cs typeface="楷体" panose="02010609060101010101" charset="-122"/>
              </a:rPr>
              <a:t>、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charset="-122"/>
                <a:cs typeface="楷体" panose="02010609060101010101" charset="-122"/>
              </a:rPr>
              <a:t>KVL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charset="-122"/>
                <a:cs typeface="楷体" panose="02010609060101010101" charset="-122"/>
              </a:rPr>
              <a:t>方程计算</a:t>
            </a:r>
            <a:endParaRPr lang="en-US" altLang="zh-CN" sz="2400" dirty="0">
              <a:latin typeface="Times New Roman" panose="02020603050405020304" pitchFamily="18" charset="0"/>
              <a:ea typeface="楷体" panose="02010609060101010101" charset="-122"/>
              <a:cs typeface="楷体" panose="02010609060101010101" charset="-122"/>
            </a:endParaRPr>
          </a:p>
          <a:p>
            <a:pPr marL="457200" indent="-457200">
              <a:lnSpc>
                <a:spcPts val="3500"/>
              </a:lnSpc>
              <a:buFont typeface="宋体" panose="02010600030101010101" pitchFamily="2" charset="-122"/>
              <a:buAutoNum type="circleNumDbPlain"/>
              <a:defRPr/>
            </a:pPr>
            <a:r>
              <a:rPr lang="zh-CN" altLang="en-US" sz="2400" dirty="0">
                <a:latin typeface="Times New Roman" panose="02020603050405020304" pitchFamily="18" charset="0"/>
                <a:ea typeface="楷体" panose="02010609060101010101" charset="-122"/>
                <a:cs typeface="楷体" panose="02010609060101010101" charset="-122"/>
              </a:rPr>
              <a:t>利用电阻串并联化简电路计算</a:t>
            </a:r>
            <a:endParaRPr lang="en-US" altLang="zh-CN" sz="2400" dirty="0">
              <a:latin typeface="Times New Roman" panose="02020603050405020304" pitchFamily="18" charset="0"/>
              <a:ea typeface="楷体" panose="02010609060101010101" charset="-122"/>
              <a:cs typeface="楷体" panose="02010609060101010101" charset="-122"/>
            </a:endParaRPr>
          </a:p>
          <a:p>
            <a:pPr marL="457200" indent="-457200">
              <a:lnSpc>
                <a:spcPts val="3500"/>
              </a:lnSpc>
              <a:buFont typeface="宋体" panose="02010600030101010101" pitchFamily="2" charset="-122"/>
              <a:buAutoNum type="circleNumDbPlain"/>
              <a:defRPr/>
            </a:pPr>
            <a:r>
              <a:rPr lang="zh-CN" altLang="en-US" sz="2400" dirty="0">
                <a:latin typeface="Times New Roman" panose="02020603050405020304" pitchFamily="18" charset="0"/>
                <a:ea typeface="楷体" panose="02010609060101010101" charset="-122"/>
                <a:cs typeface="楷体" panose="02010609060101010101" charset="-122"/>
              </a:rPr>
              <a:t>列写结点电压方程、网孔电流方程计算</a:t>
            </a:r>
            <a:endParaRPr lang="en-US" altLang="zh-CN" sz="2400" dirty="0">
              <a:latin typeface="Times New Roman" panose="02020603050405020304" pitchFamily="18" charset="0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926273" y="3336520"/>
            <a:ext cx="8339455" cy="274158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txBody>
          <a:bodyPr wrap="square" rtlCol="0" anchor="t">
            <a:spAutoFit/>
          </a:bodyPr>
          <a:lstStyle/>
          <a:p>
            <a:pPr>
              <a:lnSpc>
                <a:spcPts val="3500"/>
              </a:lnSpc>
            </a:pPr>
            <a:r>
              <a:rPr lang="zh-CN" altLang="en-US" sz="2400" b="1" dirty="0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等效电阻的计算方法：</a:t>
            </a:r>
            <a:r>
              <a:rPr lang="en-US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R</a:t>
            </a:r>
            <a:r>
              <a:rPr lang="en-US" altLang="zh-CN" sz="2400" b="1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eq</a:t>
            </a:r>
            <a:r>
              <a:rPr lang="zh-CN" altLang="en-US" sz="2400" b="1" dirty="0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  </a:t>
            </a:r>
            <a:endParaRPr lang="zh-CN" altLang="en-US" sz="2400" dirty="0">
              <a:solidFill>
                <a:srgbClr val="FF0000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  <a:p>
            <a:pPr marL="457200" indent="-457200">
              <a:lnSpc>
                <a:spcPts val="3500"/>
              </a:lnSpc>
              <a:buFont typeface="+mj-ea"/>
              <a:buAutoNum type="circleNumDbPlain"/>
            </a:pPr>
            <a:r>
              <a:rPr lang="zh-CN" altLang="en-US" sz="2400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当网络内部不含有受控源时可采用</a:t>
            </a:r>
            <a:r>
              <a:rPr lang="zh-CN" altLang="en-US" sz="2400" b="1" dirty="0">
                <a:solidFill>
                  <a:srgbClr val="3333FF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电阻串并联</a:t>
            </a:r>
            <a:r>
              <a:rPr lang="zh-CN" altLang="en-US" sz="2400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的方法计算</a:t>
            </a:r>
            <a:endParaRPr lang="en-US" altLang="zh-CN" sz="2400" dirty="0"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  <a:p>
            <a:pPr marL="457200" indent="-457200">
              <a:lnSpc>
                <a:spcPts val="3500"/>
              </a:lnSpc>
              <a:buClr>
                <a:schemeClr val="tx1"/>
              </a:buClr>
              <a:buFont typeface="+mj-ea"/>
              <a:buAutoNum type="circleNumDbPlain"/>
            </a:pPr>
            <a:r>
              <a:rPr lang="zh-CN" altLang="en-US" sz="2400" b="1" dirty="0">
                <a:solidFill>
                  <a:srgbClr val="3333FF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开路电压短路电流法</a:t>
            </a:r>
            <a:r>
              <a:rPr lang="zh-CN" altLang="en-US" sz="2400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：等效电阻等于端口的开路电压与短路电流的比（</a:t>
            </a:r>
            <a:r>
              <a:rPr lang="zh-CN" altLang="en-US" sz="2400" b="1" dirty="0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内部独立电源保留</a:t>
            </a:r>
            <a:r>
              <a:rPr lang="zh-CN" altLang="en-US" sz="2400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）</a:t>
            </a:r>
            <a:endParaRPr lang="en-US" altLang="zh-CN" sz="2400" dirty="0"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  <a:p>
            <a:pPr marL="457200" indent="-457200">
              <a:lnSpc>
                <a:spcPts val="3500"/>
              </a:lnSpc>
              <a:buClr>
                <a:schemeClr val="tx1"/>
              </a:buClr>
              <a:buFont typeface="+mj-ea"/>
              <a:buAutoNum type="circleNumDbPlain"/>
            </a:pPr>
            <a:r>
              <a:rPr lang="zh-CN" altLang="en-US" sz="2400" b="1" dirty="0">
                <a:solidFill>
                  <a:srgbClr val="3333FF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加压求流法</a:t>
            </a:r>
            <a:r>
              <a:rPr lang="zh-CN" altLang="en-US" sz="2400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：端口加电压求电流法或加电流求电压法（</a:t>
            </a:r>
            <a:r>
              <a:rPr lang="zh-CN" altLang="en-US" sz="2400" b="1" dirty="0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内部独立电源置零</a:t>
            </a:r>
            <a:r>
              <a:rPr lang="zh-CN" altLang="en-US" sz="2400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）</a:t>
            </a:r>
            <a:r>
              <a:rPr lang="en-US" altLang="zh-CN" sz="2400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,</a:t>
            </a:r>
            <a:r>
              <a:rPr lang="zh-CN" altLang="en-US" sz="2400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实质上求解端口</a:t>
            </a:r>
            <a:r>
              <a:rPr lang="en-US" altLang="zh-CN" sz="2400" i="1" dirty="0">
                <a:latin typeface="Times New Roman" panose="02020603050405020304" pitchFamily="18" charset="0"/>
                <a:ea typeface="楷体" panose="02010609060101010101" charset="-122"/>
                <a:cs typeface="楷体" panose="02010609060101010101" charset="-122"/>
                <a:sym typeface="+mn-ea"/>
              </a:rPr>
              <a:t>U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charset="-122"/>
                <a:cs typeface="楷体" panose="02010609060101010101" charset="-122"/>
                <a:sym typeface="+mn-ea"/>
              </a:rPr>
              <a:t>-</a:t>
            </a:r>
            <a:r>
              <a:rPr lang="en-US" altLang="zh-CN" sz="2400" i="1" dirty="0">
                <a:latin typeface="Times New Roman" panose="02020603050405020304" pitchFamily="18" charset="0"/>
                <a:ea typeface="楷体" panose="02010609060101010101" charset="-122"/>
                <a:cs typeface="楷体" panose="02010609060101010101" charset="-122"/>
                <a:sym typeface="+mn-ea"/>
              </a:rPr>
              <a:t>I</a:t>
            </a:r>
            <a:r>
              <a:rPr lang="zh-CN" altLang="en-US" sz="2400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关系</a:t>
            </a:r>
            <a:endParaRPr lang="en-US" altLang="zh-CN" sz="2400" dirty="0"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926272" y="542655"/>
            <a:ext cx="61966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latin typeface="楷体" panose="02010609060101010101" charset="-122"/>
                <a:ea typeface="楷体" panose="02010609060101010101" charset="-122"/>
                <a:sym typeface="+mn-ea"/>
              </a:rPr>
              <a:t>戴维南等效电路计算：</a:t>
            </a:r>
            <a:r>
              <a:rPr lang="en-US" altLang="zh-CN" b="1" i="1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charset="-122"/>
              </a:rPr>
              <a:t> </a:t>
            </a:r>
            <a:r>
              <a:rPr lang="en-US" altLang="zh-CN" sz="2800" b="1" i="1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charset="-122"/>
              </a:rPr>
              <a:t>U</a:t>
            </a:r>
            <a:r>
              <a:rPr lang="en-US" altLang="zh-CN" sz="2800" b="1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charset="-122"/>
              </a:rPr>
              <a:t>OC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charset="-122"/>
              </a:rPr>
              <a:t>、</a:t>
            </a:r>
            <a:r>
              <a:rPr lang="en-US" altLang="zh-CN" sz="2800" b="1" i="1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charset="-122"/>
              </a:rPr>
              <a:t>I</a:t>
            </a:r>
            <a:r>
              <a:rPr lang="en-US" altLang="zh-CN" sz="2800" b="1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charset="-122"/>
              </a:rPr>
              <a:t>SC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charset="-122"/>
              </a:rPr>
              <a:t>、</a:t>
            </a:r>
            <a:r>
              <a:rPr lang="en-US" altLang="zh-CN" sz="2800" b="1" i="1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charset="-122"/>
              </a:rPr>
              <a:t>R</a:t>
            </a:r>
            <a:r>
              <a:rPr lang="en-US" altLang="zh-CN" sz="2800" b="1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charset="-122"/>
              </a:rPr>
              <a:t>eq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1925955" y="221615"/>
            <a:ext cx="3048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定理四、戴维南定理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3" grpId="1" animBg="1"/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4" name="Text Box 2"/>
          <p:cNvSpPr txBox="1">
            <a:spLocks noChangeArrowheads="1"/>
          </p:cNvSpPr>
          <p:nvPr/>
        </p:nvSpPr>
        <p:spPr bwMode="auto">
          <a:xfrm>
            <a:off x="1828800" y="414339"/>
            <a:ext cx="462724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solidFill>
                  <a:srgbClr val="FF3300"/>
                </a:solidFill>
              </a:rPr>
              <a:t>2.</a:t>
            </a:r>
            <a:r>
              <a:rPr lang="en-US" altLang="zh-CN" sz="2400" b="1" dirty="0">
                <a:solidFill>
                  <a:srgbClr val="FF33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400" b="1" dirty="0">
                <a:solidFill>
                  <a:srgbClr val="FF3300"/>
                </a:solidFill>
                <a:latin typeface="宋体" panose="02010600030101010101" pitchFamily="2" charset="-122"/>
              </a:rPr>
              <a:t>特勒根定理（似功率守恒）   </a:t>
            </a:r>
            <a:endParaRPr lang="zh-CN" altLang="en-US" sz="2400" b="1" dirty="0">
              <a:solidFill>
                <a:srgbClr val="FF3300"/>
              </a:solidFill>
              <a:ea typeface="楷体_GB2312" pitchFamily="49" charset="-122"/>
            </a:endParaRPr>
          </a:p>
        </p:txBody>
      </p:sp>
      <p:graphicFrame>
        <p:nvGraphicFramePr>
          <p:cNvPr id="187395" name="Object 3"/>
          <p:cNvGraphicFramePr>
            <a:graphicFrameLocks/>
          </p:cNvGraphicFramePr>
          <p:nvPr/>
        </p:nvGraphicFramePr>
        <p:xfrm>
          <a:off x="1916114" y="884238"/>
          <a:ext cx="8307387" cy="281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987720" imgH="1409400" progId="Equation.DSMT4">
                  <p:embed/>
                </p:oleObj>
              </mc:Choice>
              <mc:Fallback>
                <p:oleObj name="Equation" r:id="rId2" imgW="3987720" imgH="1409400" progId="Equation.DSMT4">
                  <p:embed/>
                  <p:pic>
                    <p:nvPicPr>
                      <p:cNvPr id="187395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6114" y="884238"/>
                        <a:ext cx="8307387" cy="281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7396" name="Text Box 4"/>
          <p:cNvSpPr txBox="1">
            <a:spLocks noChangeArrowheads="1"/>
          </p:cNvSpPr>
          <p:nvPr/>
        </p:nvSpPr>
        <p:spPr bwMode="auto">
          <a:xfrm>
            <a:off x="2103439" y="4403597"/>
            <a:ext cx="7604125" cy="1017844"/>
          </a:xfrm>
          <a:prstGeom prst="rect">
            <a:avLst/>
          </a:prstGeom>
          <a:solidFill>
            <a:srgbClr val="99FF99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ctr">
            <a:spAutoFit/>
          </a:bodyPr>
          <a:lstStyle/>
          <a:p>
            <a:pPr>
              <a:spcBef>
                <a:spcPct val="5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zh-CN" altLang="en-US" sz="2400" b="1" dirty="0">
                <a:solidFill>
                  <a:srgbClr val="FF3300"/>
                </a:solidFill>
              </a:rPr>
              <a:t>注意</a:t>
            </a:r>
            <a:r>
              <a:rPr lang="zh-CN" altLang="en-US" sz="2400" b="1" dirty="0">
                <a:sym typeface="Wingdings" panose="05000000000000000000" pitchFamily="2" charset="2"/>
              </a:rPr>
              <a:t>（</a:t>
            </a:r>
            <a:r>
              <a:rPr lang="en-US" altLang="zh-CN" sz="2400" b="1" dirty="0">
                <a:ea typeface="楷体_GB2312" pitchFamily="49" charset="-122"/>
              </a:rPr>
              <a:t>1</a:t>
            </a:r>
            <a:r>
              <a:rPr lang="zh-CN" altLang="en-US" sz="2400" b="1" dirty="0">
                <a:ea typeface="楷体_GB2312" pitchFamily="49" charset="-122"/>
              </a:rPr>
              <a:t>）对应支路取相同的参考方向。</a:t>
            </a:r>
          </a:p>
          <a:p>
            <a:pPr>
              <a:spcBef>
                <a:spcPct val="5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zh-CN" altLang="en-US" sz="2400" b="1" dirty="0">
                <a:ea typeface="楷体_GB2312" pitchFamily="49" charset="-122"/>
              </a:rPr>
              <a:t>    （</a:t>
            </a:r>
            <a:r>
              <a:rPr lang="en-US" altLang="zh-CN" sz="2400" b="1" dirty="0">
                <a:ea typeface="楷体_GB2312" pitchFamily="49" charset="-122"/>
              </a:rPr>
              <a:t>2</a:t>
            </a:r>
            <a:r>
              <a:rPr lang="zh-CN" altLang="en-US" sz="2400" b="1" dirty="0">
                <a:ea typeface="楷体_GB2312" pitchFamily="49" charset="-122"/>
              </a:rPr>
              <a:t>）各支路电压、电流均取关联的参考方向。</a:t>
            </a:r>
          </a:p>
        </p:txBody>
      </p:sp>
    </p:spTree>
    <p:extLst>
      <p:ext uri="{BB962C8B-B14F-4D97-AF65-F5344CB8AC3E}">
        <p14:creationId xmlns:p14="http://schemas.microsoft.com/office/powerpoint/2010/main" val="293451065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873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873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873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873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873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873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7396" grpId="0" animBg="1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172" name="Text Box 4"/>
          <p:cNvSpPr txBox="1">
            <a:spLocks noChangeArrowheads="1"/>
          </p:cNvSpPr>
          <p:nvPr/>
        </p:nvSpPr>
        <p:spPr bwMode="auto">
          <a:xfrm>
            <a:off x="2136776" y="1022350"/>
            <a:ext cx="70770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2400" b="1" dirty="0">
                <a:latin typeface="Times New Roman" panose="02020603050405020304" pitchFamily="18" charset="0"/>
              </a:rPr>
              <a:t>在</a:t>
            </a:r>
            <a:r>
              <a:rPr kumimoji="1"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线性放大区</a:t>
            </a:r>
            <a:r>
              <a:rPr kumimoji="1" lang="zh-CN" altLang="en-US" sz="2400" b="1" dirty="0">
                <a:latin typeface="Times New Roman" panose="02020603050405020304" pitchFamily="18" charset="0"/>
              </a:rPr>
              <a:t>，将运放电路作如下的理想化处理：  </a:t>
            </a:r>
          </a:p>
        </p:txBody>
      </p:sp>
      <p:sp>
        <p:nvSpPr>
          <p:cNvPr id="519173" name="Text Box 5"/>
          <p:cNvSpPr txBox="1">
            <a:spLocks noChangeArrowheads="1"/>
          </p:cNvSpPr>
          <p:nvPr/>
        </p:nvSpPr>
        <p:spPr bwMode="auto">
          <a:xfrm>
            <a:off x="3103564" y="1308101"/>
            <a:ext cx="16287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 b="1">
                <a:latin typeface="Times New Roman" panose="02020603050405020304" pitchFamily="18" charset="0"/>
              </a:rPr>
              <a:t>(1)  </a:t>
            </a:r>
            <a:r>
              <a:rPr kumimoji="1" lang="en-US" altLang="zh-CN" sz="2400" b="1" i="1">
                <a:latin typeface="Times New Roman" panose="02020603050405020304" pitchFamily="18" charset="0"/>
              </a:rPr>
              <a:t>A</a:t>
            </a:r>
            <a:r>
              <a:rPr kumimoji="1"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kumimoji="1"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  </a:t>
            </a:r>
            <a:endParaRPr kumimoji="1" lang="en-US" altLang="zh-CN" sz="2400" b="1">
              <a:latin typeface="Times New Roman" panose="02020603050405020304" pitchFamily="18" charset="0"/>
            </a:endParaRPr>
          </a:p>
        </p:txBody>
      </p:sp>
      <p:sp>
        <p:nvSpPr>
          <p:cNvPr id="519174" name="Rectangle 6"/>
          <p:cNvSpPr>
            <a:spLocks noChangeArrowheads="1"/>
          </p:cNvSpPr>
          <p:nvPr/>
        </p:nvSpPr>
        <p:spPr bwMode="auto">
          <a:xfrm>
            <a:off x="2527301" y="1744664"/>
            <a:ext cx="7678705" cy="9787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en-US" altLang="zh-CN" sz="2400" b="1" dirty="0">
                <a:latin typeface="Times New Roman" panose="02020603050405020304" pitchFamily="18" charset="0"/>
                <a:sym typeface="Wingdings 3" panose="05040102010807070707" pitchFamily="18" charset="2"/>
              </a:rPr>
              <a:t>        ∵ </a:t>
            </a:r>
            <a:r>
              <a:rPr kumimoji="1" lang="en-US" altLang="zh-CN" sz="2400" b="1" i="1" dirty="0" err="1">
                <a:latin typeface="Times New Roman" panose="02020603050405020304" pitchFamily="18" charset="0"/>
              </a:rPr>
              <a:t>u</a:t>
            </a:r>
            <a:r>
              <a:rPr kumimoji="1" lang="en-US" altLang="zh-CN" sz="2400" b="1" baseline="-25000" dirty="0" err="1">
                <a:latin typeface="Times New Roman" panose="02020603050405020304" pitchFamily="18" charset="0"/>
              </a:rPr>
              <a:t>o</a:t>
            </a:r>
            <a:r>
              <a:rPr kumimoji="1" lang="zh-CN" altLang="en-US" sz="2400" b="1" dirty="0">
                <a:latin typeface="Times New Roman" panose="02020603050405020304" pitchFamily="18" charset="0"/>
                <a:sym typeface="Wingdings 3" panose="05040102010807070707" pitchFamily="18" charset="2"/>
              </a:rPr>
              <a:t>为有限值，则</a:t>
            </a:r>
            <a:r>
              <a:rPr kumimoji="1" lang="en-US" altLang="zh-CN" sz="2400" b="1" i="1" dirty="0" err="1">
                <a:latin typeface="Times New Roman" panose="02020603050405020304" pitchFamily="18" charset="0"/>
              </a:rPr>
              <a:t>u</a:t>
            </a:r>
            <a:r>
              <a:rPr kumimoji="1" lang="en-US" altLang="zh-CN" sz="2400" b="1" baseline="-25000" dirty="0" err="1">
                <a:latin typeface="Times New Roman" panose="02020603050405020304" pitchFamily="18" charset="0"/>
              </a:rPr>
              <a:t>d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=0 ,</a:t>
            </a:r>
            <a:r>
              <a:rPr kumimoji="1" lang="zh-CN" altLang="en-US" sz="2400" b="1" dirty="0">
                <a:latin typeface="Times New Roman" panose="02020603050405020304" pitchFamily="18" charset="0"/>
                <a:sym typeface="Wingdings 3" panose="05040102010807070707" pitchFamily="18" charset="2"/>
              </a:rPr>
              <a:t>即</a:t>
            </a:r>
            <a:r>
              <a:rPr kumimoji="1" lang="en-US" altLang="zh-CN" sz="2400" b="1" i="1" dirty="0" err="1">
                <a:latin typeface="Times New Roman" panose="02020603050405020304" pitchFamily="18" charset="0"/>
                <a:sym typeface="Wingdings 3" panose="05040102010807070707" pitchFamily="18" charset="2"/>
              </a:rPr>
              <a:t>u</a:t>
            </a:r>
            <a:r>
              <a:rPr lang="en-US" altLang="zh-CN" sz="2400" b="1" baseline="-25000" dirty="0" err="1">
                <a:latin typeface="宋体" panose="02010600030101010101" pitchFamily="2" charset="-122"/>
                <a:sym typeface="Wingdings 3" panose="05040102010807070707" pitchFamily="18" charset="2"/>
              </a:rPr>
              <a:t>P</a:t>
            </a:r>
            <a:r>
              <a:rPr kumimoji="1" lang="en-US" altLang="zh-CN" sz="2400" b="1" dirty="0">
                <a:latin typeface="Times New Roman" panose="02020603050405020304" pitchFamily="18" charset="0"/>
                <a:sym typeface="Wingdings 3" panose="05040102010807070707" pitchFamily="18" charset="2"/>
              </a:rPr>
              <a:t>=</a:t>
            </a:r>
            <a:r>
              <a:rPr kumimoji="1" lang="en-US" altLang="zh-CN" sz="2400" b="1" i="1" dirty="0">
                <a:latin typeface="Times New Roman" panose="02020603050405020304" pitchFamily="18" charset="0"/>
                <a:sym typeface="Wingdings 3" panose="05040102010807070707" pitchFamily="18" charset="2"/>
              </a:rPr>
              <a:t>u</a:t>
            </a:r>
            <a:r>
              <a:rPr lang="en-US" altLang="zh-CN" sz="2400" b="1" baseline="-25000" dirty="0">
                <a:latin typeface="宋体" panose="02010600030101010101" pitchFamily="2" charset="-122"/>
                <a:sym typeface="Wingdings 3" panose="05040102010807070707" pitchFamily="18" charset="2"/>
              </a:rPr>
              <a:t>n</a:t>
            </a:r>
            <a:r>
              <a:rPr kumimoji="1" lang="zh-CN" altLang="en-US" sz="2400" b="1" dirty="0">
                <a:latin typeface="Times New Roman" panose="02020603050405020304" pitchFamily="18" charset="0"/>
                <a:sym typeface="Wingdings 3" panose="05040102010807070707" pitchFamily="18" charset="2"/>
              </a:rPr>
              <a:t>，两个输入端之间</a:t>
            </a:r>
          </a:p>
          <a:p>
            <a:pPr>
              <a:spcBef>
                <a:spcPct val="20000"/>
              </a:spcBef>
            </a:pPr>
            <a:r>
              <a:rPr kumimoji="1" lang="zh-CN" altLang="en-US" sz="2400" b="1" dirty="0">
                <a:latin typeface="Times New Roman" panose="02020603050405020304" pitchFamily="18" charset="0"/>
                <a:sym typeface="Wingdings 3" panose="05040102010807070707" pitchFamily="18" charset="2"/>
              </a:rPr>
              <a:t>相当于短路</a:t>
            </a:r>
            <a:r>
              <a:rPr kumimoji="1" lang="en-US" altLang="zh-CN" sz="2400" b="1" dirty="0">
                <a:latin typeface="Times New Roman" panose="02020603050405020304" pitchFamily="18" charset="0"/>
                <a:sym typeface="Wingdings 3" panose="05040102010807070707" pitchFamily="18" charset="2"/>
              </a:rPr>
              <a:t>(</a:t>
            </a:r>
            <a:r>
              <a:rPr kumimoji="1" lang="zh-CN" altLang="en-US" sz="2400" b="1" dirty="0">
                <a:latin typeface="Times New Roman" panose="02020603050405020304" pitchFamily="18" charset="0"/>
                <a:sym typeface="Wingdings 3" panose="05040102010807070707" pitchFamily="18" charset="2"/>
              </a:rPr>
              <a:t>虚短</a:t>
            </a:r>
            <a:r>
              <a:rPr kumimoji="1" lang="en-US" altLang="zh-CN" sz="2400" b="1" dirty="0">
                <a:latin typeface="Times New Roman" panose="02020603050405020304" pitchFamily="18" charset="0"/>
                <a:sym typeface="Wingdings 3" panose="05040102010807070707" pitchFamily="18" charset="2"/>
              </a:rPr>
              <a:t>)</a:t>
            </a:r>
            <a:r>
              <a:rPr kumimoji="1" lang="zh-CN" altLang="en-US" sz="2400" b="1" dirty="0">
                <a:latin typeface="Times New Roman" panose="02020603050405020304" pitchFamily="18" charset="0"/>
                <a:sym typeface="Wingdings 3" panose="05040102010807070707" pitchFamily="18" charset="2"/>
              </a:rPr>
              <a:t>；  </a:t>
            </a:r>
          </a:p>
        </p:txBody>
      </p:sp>
      <p:sp>
        <p:nvSpPr>
          <p:cNvPr id="519175" name="Rectangle 7"/>
          <p:cNvSpPr>
            <a:spLocks noChangeArrowheads="1"/>
          </p:cNvSpPr>
          <p:nvPr/>
        </p:nvSpPr>
        <p:spPr bwMode="auto">
          <a:xfrm>
            <a:off x="2498725" y="2689226"/>
            <a:ext cx="7623924" cy="9787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en-US" altLang="zh-CN" sz="2400" b="1" dirty="0">
                <a:latin typeface="Times New Roman" panose="02020603050405020304" pitchFamily="18" charset="0"/>
              </a:rPr>
              <a:t>        (2)  </a:t>
            </a:r>
            <a:r>
              <a:rPr kumimoji="1" lang="en-US" altLang="zh-CN" sz="2400" b="1" i="1" dirty="0" err="1">
                <a:latin typeface="Times New Roman" panose="02020603050405020304" pitchFamily="18" charset="0"/>
              </a:rPr>
              <a:t>R</a:t>
            </a:r>
            <a:r>
              <a:rPr kumimoji="1" lang="en-US" altLang="zh-CN" sz="2400" b="1" baseline="-25000" dirty="0" err="1">
                <a:latin typeface="Times New Roman" panose="02020603050405020304" pitchFamily="18" charset="0"/>
              </a:rPr>
              <a:t>i</a:t>
            </a:r>
            <a:r>
              <a:rPr kumimoji="1" lang="en-US" altLang="zh-CN" sz="2400" b="1" i="1" baseline="-25000" dirty="0">
                <a:latin typeface="Times New Roman" panose="02020603050405020304" pitchFamily="18" charset="0"/>
              </a:rPr>
              <a:t> </a:t>
            </a:r>
            <a:r>
              <a:rPr kumimoji="1"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 </a:t>
            </a:r>
            <a:r>
              <a:rPr kumimoji="1" lang="zh-CN" altLang="en-US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kumimoji="1" lang="en-US" altLang="zh-CN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kumimoji="1" lang="en-US" altLang="zh-CN" sz="2400" b="1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o</a:t>
            </a:r>
            <a:r>
              <a:rPr kumimoji="1"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0</a:t>
            </a:r>
            <a:r>
              <a:rPr kumimoji="1" lang="en-US" altLang="zh-CN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kumimoji="1"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1" lang="en-US" altLang="zh-CN" sz="2400" b="1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zh-CN" sz="2400" b="1" i="1" baseline="-25000" dirty="0" err="1"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kumimoji="1"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=0 , </a:t>
            </a:r>
            <a:r>
              <a:rPr kumimoji="1" lang="en-US" altLang="zh-CN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zh-CN" sz="2400" b="1" i="1" baseline="-25000" dirty="0">
                <a:latin typeface="宋体" panose="02010600030101010101" pitchFamily="2" charset="-122"/>
                <a:sym typeface="Symbol" panose="05050102010706020507" pitchFamily="18" charset="2"/>
              </a:rPr>
              <a:t>n</a:t>
            </a:r>
            <a:r>
              <a:rPr kumimoji="1"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=0</a:t>
            </a:r>
            <a:r>
              <a:rPr kumimoji="1" lang="zh-CN" altLang="en-US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。 </a:t>
            </a:r>
            <a:r>
              <a:rPr kumimoji="1" lang="zh-CN" altLang="en-US" sz="2400" b="1" dirty="0">
                <a:latin typeface="Times New Roman" panose="02020603050405020304" pitchFamily="18" charset="0"/>
              </a:rPr>
              <a:t>即从输入端看进去，元件相当于开路（虚断）。  </a:t>
            </a:r>
          </a:p>
        </p:txBody>
      </p:sp>
      <p:grpSp>
        <p:nvGrpSpPr>
          <p:cNvPr id="519176" name="Group 8"/>
          <p:cNvGrpSpPr>
            <a:grpSpLocks/>
          </p:cNvGrpSpPr>
          <p:nvPr/>
        </p:nvGrpSpPr>
        <p:grpSpPr bwMode="auto">
          <a:xfrm>
            <a:off x="7451154" y="3441701"/>
            <a:ext cx="2813050" cy="2568575"/>
            <a:chOff x="3036" y="2462"/>
            <a:chExt cx="1772" cy="1618"/>
          </a:xfrm>
        </p:grpSpPr>
        <p:sp>
          <p:nvSpPr>
            <p:cNvPr id="519177" name="Text Box 9"/>
            <p:cNvSpPr txBox="1">
              <a:spLocks noChangeArrowheads="1"/>
            </p:cNvSpPr>
            <p:nvPr/>
          </p:nvSpPr>
          <p:spPr bwMode="auto">
            <a:xfrm>
              <a:off x="3710" y="2462"/>
              <a:ext cx="28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400" b="1" i="1">
                  <a:latin typeface="Times New Roman" panose="02020603050405020304" pitchFamily="18" charset="0"/>
                </a:rPr>
                <a:t>u</a:t>
              </a:r>
              <a:r>
                <a:rPr kumimoji="1" lang="en-US" altLang="zh-CN" sz="2400" b="1" baseline="-25000">
                  <a:latin typeface="Times New Roman" panose="02020603050405020304" pitchFamily="18" charset="0"/>
                </a:rPr>
                <a:t>o</a:t>
              </a:r>
              <a:endParaRPr kumimoji="1"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519178" name="Line 10"/>
            <p:cNvSpPr>
              <a:spLocks noChangeShapeType="1"/>
            </p:cNvSpPr>
            <p:nvPr/>
          </p:nvSpPr>
          <p:spPr bwMode="auto">
            <a:xfrm>
              <a:off x="3036" y="3396"/>
              <a:ext cx="15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9179" name="Line 11"/>
            <p:cNvSpPr>
              <a:spLocks noChangeShapeType="1"/>
            </p:cNvSpPr>
            <p:nvPr/>
          </p:nvSpPr>
          <p:spPr bwMode="auto">
            <a:xfrm flipV="1">
              <a:off x="3732" y="2616"/>
              <a:ext cx="0" cy="146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9180" name="Text Box 12"/>
            <p:cNvSpPr txBox="1">
              <a:spLocks noChangeArrowheads="1"/>
            </p:cNvSpPr>
            <p:nvPr/>
          </p:nvSpPr>
          <p:spPr bwMode="auto">
            <a:xfrm>
              <a:off x="4514" y="3146"/>
              <a:ext cx="29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400" b="1" i="1">
                  <a:latin typeface="Times New Roman" panose="02020603050405020304" pitchFamily="18" charset="0"/>
                </a:rPr>
                <a:t>u</a:t>
              </a:r>
              <a:r>
                <a:rPr kumimoji="1" lang="en-US" altLang="zh-CN" sz="2400" b="1" baseline="-25000">
                  <a:latin typeface="Times New Roman" panose="02020603050405020304" pitchFamily="18" charset="0"/>
                </a:rPr>
                <a:t>d</a:t>
              </a:r>
              <a:endParaRPr kumimoji="1"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519181" name="Text Box 13"/>
            <p:cNvSpPr txBox="1">
              <a:spLocks noChangeArrowheads="1"/>
            </p:cNvSpPr>
            <p:nvPr/>
          </p:nvSpPr>
          <p:spPr bwMode="auto">
            <a:xfrm>
              <a:off x="3722" y="337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400" b="1" dirty="0">
                  <a:latin typeface="Times New Roman" panose="02020603050405020304" pitchFamily="18" charset="0"/>
                </a:rPr>
                <a:t>0</a:t>
              </a:r>
            </a:p>
          </p:txBody>
        </p:sp>
      </p:grpSp>
      <p:sp>
        <p:nvSpPr>
          <p:cNvPr id="519182" name="Text Box 14"/>
          <p:cNvSpPr txBox="1">
            <a:spLocks noChangeArrowheads="1"/>
          </p:cNvSpPr>
          <p:nvPr/>
        </p:nvSpPr>
        <p:spPr bwMode="auto">
          <a:xfrm>
            <a:off x="7930579" y="3917950"/>
            <a:ext cx="6540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 b="1" i="1">
                <a:latin typeface="Times New Roman" panose="02020603050405020304" pitchFamily="18" charset="0"/>
              </a:rPr>
              <a:t>U</a:t>
            </a:r>
            <a:r>
              <a:rPr kumimoji="1" lang="en-US" altLang="zh-CN" sz="2400" b="1" baseline="-25000">
                <a:latin typeface="Times New Roman" panose="02020603050405020304" pitchFamily="18" charset="0"/>
              </a:rPr>
              <a:t>sat</a:t>
            </a:r>
            <a:endParaRPr kumimoji="1" lang="en-US" altLang="zh-CN" sz="2400" b="1">
              <a:latin typeface="Times New Roman" panose="02020603050405020304" pitchFamily="18" charset="0"/>
            </a:endParaRPr>
          </a:p>
        </p:txBody>
      </p:sp>
      <p:sp>
        <p:nvSpPr>
          <p:cNvPr id="519183" name="Text Box 15"/>
          <p:cNvSpPr txBox="1">
            <a:spLocks noChangeArrowheads="1"/>
          </p:cNvSpPr>
          <p:nvPr/>
        </p:nvSpPr>
        <p:spPr bwMode="auto">
          <a:xfrm>
            <a:off x="8521129" y="5365750"/>
            <a:ext cx="8064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-</a:t>
            </a:r>
            <a:r>
              <a:rPr kumimoji="1" lang="en-US" altLang="zh-CN" sz="2400" b="1" i="1">
                <a:latin typeface="Times New Roman" panose="02020603050405020304" pitchFamily="18" charset="0"/>
              </a:rPr>
              <a:t>U</a:t>
            </a:r>
            <a:r>
              <a:rPr kumimoji="1" lang="en-US" altLang="zh-CN" sz="2400" b="1" baseline="-25000">
                <a:latin typeface="Times New Roman" panose="02020603050405020304" pitchFamily="18" charset="0"/>
              </a:rPr>
              <a:t>sat</a:t>
            </a:r>
            <a:endParaRPr kumimoji="1" lang="en-US" altLang="zh-CN" sz="2400" b="1">
              <a:latin typeface="Times New Roman" panose="02020603050405020304" pitchFamily="18" charset="0"/>
            </a:endParaRPr>
          </a:p>
        </p:txBody>
      </p:sp>
      <p:sp>
        <p:nvSpPr>
          <p:cNvPr id="519184" name="Text Box 16"/>
          <p:cNvSpPr txBox="1">
            <a:spLocks noChangeArrowheads="1"/>
          </p:cNvSpPr>
          <p:nvPr/>
        </p:nvSpPr>
        <p:spPr bwMode="auto">
          <a:xfrm>
            <a:off x="7508304" y="6200775"/>
            <a:ext cx="30940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2400" b="1">
                <a:latin typeface="Times New Roman" panose="02020603050405020304" pitchFamily="18" charset="0"/>
              </a:rPr>
              <a:t>理想运放的静态特性  </a:t>
            </a:r>
          </a:p>
        </p:txBody>
      </p:sp>
      <p:sp>
        <p:nvSpPr>
          <p:cNvPr id="519186" name="Freeform 18"/>
          <p:cNvSpPr>
            <a:spLocks/>
          </p:cNvSpPr>
          <p:nvPr/>
        </p:nvSpPr>
        <p:spPr bwMode="auto">
          <a:xfrm>
            <a:off x="7689279" y="4248150"/>
            <a:ext cx="1733550" cy="1333500"/>
          </a:xfrm>
          <a:custGeom>
            <a:avLst/>
            <a:gdLst>
              <a:gd name="T0" fmla="*/ 0 w 1092"/>
              <a:gd name="T1" fmla="*/ 840 h 840"/>
              <a:gd name="T2" fmla="*/ 552 w 1092"/>
              <a:gd name="T3" fmla="*/ 840 h 840"/>
              <a:gd name="T4" fmla="*/ 552 w 1092"/>
              <a:gd name="T5" fmla="*/ 0 h 840"/>
              <a:gd name="T6" fmla="*/ 1092 w 1092"/>
              <a:gd name="T7" fmla="*/ 0 h 8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92" h="840">
                <a:moveTo>
                  <a:pt x="0" y="840"/>
                </a:moveTo>
                <a:lnTo>
                  <a:pt x="552" y="840"/>
                </a:lnTo>
                <a:lnTo>
                  <a:pt x="552" y="0"/>
                </a:lnTo>
                <a:lnTo>
                  <a:pt x="1092" y="0"/>
                </a:lnTo>
              </a:path>
            </a:pathLst>
          </a:custGeom>
          <a:noFill/>
          <a:ln w="31750" cap="flat" cmpd="sng">
            <a:solidFill>
              <a:srgbClr val="FF0000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9187" name="Text Box 19"/>
          <p:cNvSpPr txBox="1">
            <a:spLocks noChangeArrowheads="1"/>
          </p:cNvSpPr>
          <p:nvPr/>
        </p:nvSpPr>
        <p:spPr bwMode="auto">
          <a:xfrm>
            <a:off x="9051354" y="3609976"/>
            <a:ext cx="158115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333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000" b="1" dirty="0">
                <a:latin typeface="Times New Roman" panose="02020603050405020304" pitchFamily="18" charset="0"/>
              </a:rPr>
              <a:t>正向饱和区  </a:t>
            </a:r>
          </a:p>
          <a:p>
            <a:r>
              <a:rPr kumimoji="1" lang="zh-CN" altLang="en-US" sz="2000" b="1" dirty="0">
                <a:latin typeface="Times New Roman" panose="02020603050405020304" pitchFamily="18" charset="0"/>
              </a:rPr>
              <a:t>       </a:t>
            </a:r>
            <a:r>
              <a:rPr kumimoji="1" lang="en-US" altLang="zh-CN" sz="2000" b="1" i="1" dirty="0" err="1">
                <a:latin typeface="Times New Roman" panose="02020603050405020304" pitchFamily="18" charset="0"/>
              </a:rPr>
              <a:t>u</a:t>
            </a:r>
            <a:r>
              <a:rPr kumimoji="1" lang="en-US" altLang="zh-CN" sz="2000" b="1" baseline="-25000" dirty="0" err="1">
                <a:latin typeface="Times New Roman" panose="02020603050405020304" pitchFamily="18" charset="0"/>
              </a:rPr>
              <a:t>d</a:t>
            </a:r>
            <a:r>
              <a:rPr kumimoji="1" lang="en-US" altLang="zh-CN" sz="2000" b="1" dirty="0">
                <a:latin typeface="Times New Roman" panose="02020603050405020304" pitchFamily="18" charset="0"/>
              </a:rPr>
              <a:t>&gt;0  </a:t>
            </a:r>
          </a:p>
        </p:txBody>
      </p:sp>
      <p:sp>
        <p:nvSpPr>
          <p:cNvPr id="519188" name="Text Box 20"/>
          <p:cNvSpPr txBox="1">
            <a:spLocks noChangeArrowheads="1"/>
          </p:cNvSpPr>
          <p:nvPr/>
        </p:nvSpPr>
        <p:spPr bwMode="auto">
          <a:xfrm>
            <a:off x="7032054" y="5572126"/>
            <a:ext cx="158115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333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000" b="1">
                <a:latin typeface="Times New Roman" panose="02020603050405020304" pitchFamily="18" charset="0"/>
              </a:rPr>
              <a:t>反向饱和区  </a:t>
            </a:r>
          </a:p>
          <a:p>
            <a:r>
              <a:rPr kumimoji="1" lang="zh-CN" altLang="en-US" sz="2000" b="1">
                <a:latin typeface="Times New Roman" panose="02020603050405020304" pitchFamily="18" charset="0"/>
              </a:rPr>
              <a:t>      </a:t>
            </a:r>
            <a:r>
              <a:rPr kumimoji="1" lang="en-US" altLang="zh-CN" sz="2000" b="1" i="1">
                <a:latin typeface="Times New Roman" panose="02020603050405020304" pitchFamily="18" charset="0"/>
              </a:rPr>
              <a:t>u</a:t>
            </a:r>
            <a:r>
              <a:rPr kumimoji="1" lang="en-US" altLang="zh-CN" sz="2000" b="1" baseline="-25000">
                <a:latin typeface="Times New Roman" panose="02020603050405020304" pitchFamily="18" charset="0"/>
              </a:rPr>
              <a:t>d</a:t>
            </a:r>
            <a:r>
              <a:rPr kumimoji="1" lang="en-US" altLang="zh-CN" sz="2000" b="1">
                <a:latin typeface="Times New Roman" panose="02020603050405020304" pitchFamily="18" charset="0"/>
              </a:rPr>
              <a:t>&lt;0  </a:t>
            </a:r>
          </a:p>
        </p:txBody>
      </p:sp>
      <p:sp>
        <p:nvSpPr>
          <p:cNvPr id="56" name="Rectangle 2"/>
          <p:cNvSpPr txBox="1">
            <a:spLocks noChangeArrowheads="1"/>
          </p:cNvSpPr>
          <p:nvPr/>
        </p:nvSpPr>
        <p:spPr bwMode="auto">
          <a:xfrm>
            <a:off x="1781175" y="171450"/>
            <a:ext cx="85344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5.2 </a:t>
            </a:r>
            <a:r>
              <a:rPr lang="zh-CN" altLang="en-US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理想运放 </a:t>
            </a:r>
            <a:r>
              <a:rPr lang="en-US" altLang="zh-CN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ideal operational amplifiers</a:t>
            </a:r>
            <a:endParaRPr lang="en-US" altLang="zh-CN" dirty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ea typeface="隶书" panose="02010509060101010101" pitchFamily="49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5586" y="3667954"/>
            <a:ext cx="2684864" cy="3033406"/>
          </a:xfrm>
          <a:prstGeom prst="rect">
            <a:avLst/>
          </a:prstGeom>
        </p:spPr>
      </p:pic>
      <p:graphicFrame>
        <p:nvGraphicFramePr>
          <p:cNvPr id="57" name="Object 10"/>
          <p:cNvGraphicFramePr>
            <a:graphicFrameLocks noChangeAspect="1"/>
          </p:cNvGraphicFramePr>
          <p:nvPr/>
        </p:nvGraphicFramePr>
        <p:xfrm>
          <a:off x="4262187" y="3730726"/>
          <a:ext cx="2558116" cy="26825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1887236" imgH="1977676" progId="Visio.Drawing.11">
                  <p:embed/>
                </p:oleObj>
              </mc:Choice>
              <mc:Fallback>
                <p:oleObj name="Visio" r:id="rId4" imgW="1887236" imgH="1977676" progId="Visio.Drawing.11">
                  <p:embed/>
                  <p:pic>
                    <p:nvPicPr>
                      <p:cNvPr id="57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2187" y="3730726"/>
                        <a:ext cx="2558116" cy="268253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90072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19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191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191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191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191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519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19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6" dur="500"/>
                                        <p:tgtEl>
                                          <p:spTgt spid="519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9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519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9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00"/>
                            </p:stCondLst>
                            <p:childTnLst>
                              <p:par>
                                <p:cTn id="4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9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500"/>
                            </p:stCondLst>
                            <p:childTnLst>
                              <p:par>
                                <p:cTn id="5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519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2000"/>
                            </p:stCondLst>
                            <p:childTnLst>
                              <p:par>
                                <p:cTn id="5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9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9172" grpId="0" autoUpdateAnimBg="0"/>
      <p:bldP spid="519173" grpId="0" autoUpdateAnimBg="0"/>
      <p:bldP spid="519174" grpId="0" autoUpdateAnimBg="0"/>
      <p:bldP spid="519175" grpId="0" autoUpdateAnimBg="0"/>
      <p:bldP spid="519182" grpId="0" autoUpdateAnimBg="0"/>
      <p:bldP spid="519183" grpId="0" autoUpdateAnimBg="0"/>
      <p:bldP spid="519184" grpId="0" autoUpdateAnimBg="0"/>
      <p:bldP spid="519187" grpId="0" autoUpdateAnimBg="0"/>
      <p:bldP spid="519188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 bwMode="auto">
          <a:xfrm>
            <a:off x="1905000" y="65722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rgbClr val="FF66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+mn-cs"/>
              </a:defRPr>
            </a:lvl5pPr>
            <a:lvl6pPr marL="2286000" algn="l" defTabSz="914400" rtl="0" eaLnBrk="1" latinLnBrk="0" hangingPunct="1">
              <a:defRPr kumimoji="1" kern="1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+mn-cs"/>
              </a:defRPr>
            </a:lvl6pPr>
            <a:lvl7pPr marL="2743200" algn="l" defTabSz="914400" rtl="0" eaLnBrk="1" latinLnBrk="0" hangingPunct="1">
              <a:defRPr kumimoji="1" kern="1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+mn-cs"/>
              </a:defRPr>
            </a:lvl7pPr>
            <a:lvl8pPr marL="3200400" algn="l" defTabSz="914400" rtl="0" eaLnBrk="1" latinLnBrk="0" hangingPunct="1">
              <a:defRPr kumimoji="1" kern="1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+mn-cs"/>
              </a:defRPr>
            </a:lvl8pPr>
            <a:lvl9pPr marL="3657600" algn="l" defTabSz="914400" rtl="0" eaLnBrk="1" latinLnBrk="0" hangingPunct="1">
              <a:defRPr kumimoji="1" kern="1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+mn-cs"/>
              </a:defRPr>
            </a:lvl9pPr>
          </a:lstStyle>
          <a:p>
            <a:pPr>
              <a:defRPr/>
            </a:pPr>
            <a:fld id="{C5648E5A-CF64-4266-932E-274557207202}" type="datetime1">
              <a:rPr lang="zh-CN" altLang="en-US" smtClean="0"/>
              <a:pPr>
                <a:defRPr/>
              </a:pPr>
              <a:t>2024/8/17</a:t>
            </a:fld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 bwMode="auto">
          <a:xfrm>
            <a:off x="4648200" y="657225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rgbClr val="FF66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+mn-cs"/>
              </a:defRPr>
            </a:lvl5pPr>
            <a:lvl6pPr marL="2286000" algn="l" defTabSz="914400" rtl="0" eaLnBrk="1" latinLnBrk="0" hangingPunct="1">
              <a:defRPr kumimoji="1" kern="1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+mn-cs"/>
              </a:defRPr>
            </a:lvl6pPr>
            <a:lvl7pPr marL="2743200" algn="l" defTabSz="914400" rtl="0" eaLnBrk="1" latinLnBrk="0" hangingPunct="1">
              <a:defRPr kumimoji="1" kern="1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+mn-cs"/>
              </a:defRPr>
            </a:lvl7pPr>
            <a:lvl8pPr marL="3200400" algn="l" defTabSz="914400" rtl="0" eaLnBrk="1" latinLnBrk="0" hangingPunct="1">
              <a:defRPr kumimoji="1" kern="1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+mn-cs"/>
              </a:defRPr>
            </a:lvl8pPr>
            <a:lvl9pPr marL="3657600" algn="l" defTabSz="914400" rtl="0" eaLnBrk="1" latinLnBrk="0" hangingPunct="1">
              <a:defRPr kumimoji="1" kern="1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+mn-cs"/>
              </a:defRPr>
            </a:lvl9pPr>
          </a:lstStyle>
          <a:p>
            <a:pPr>
              <a:defRPr/>
            </a:pPr>
            <a:r>
              <a:rPr lang="zh-CN" altLang="en-US"/>
              <a:t>电路理论</a:t>
            </a: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 bwMode="auto">
          <a:xfrm>
            <a:off x="8382000" y="65722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rgbClr val="FF66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+mn-cs"/>
              </a:defRPr>
            </a:lvl5pPr>
            <a:lvl6pPr marL="2286000" algn="l" defTabSz="914400" rtl="0" eaLnBrk="1" latinLnBrk="0" hangingPunct="1">
              <a:defRPr kumimoji="1" kern="1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+mn-cs"/>
              </a:defRPr>
            </a:lvl6pPr>
            <a:lvl7pPr marL="2743200" algn="l" defTabSz="914400" rtl="0" eaLnBrk="1" latinLnBrk="0" hangingPunct="1">
              <a:defRPr kumimoji="1" kern="1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+mn-cs"/>
              </a:defRPr>
            </a:lvl7pPr>
            <a:lvl8pPr marL="3200400" algn="l" defTabSz="914400" rtl="0" eaLnBrk="1" latinLnBrk="0" hangingPunct="1">
              <a:defRPr kumimoji="1" kern="1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+mn-cs"/>
              </a:defRPr>
            </a:lvl8pPr>
            <a:lvl9pPr marL="3657600" algn="l" defTabSz="914400" rtl="0" eaLnBrk="1" latinLnBrk="0" hangingPunct="1">
              <a:defRPr kumimoji="1" kern="1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+mn-cs"/>
              </a:defRPr>
            </a:lvl9pPr>
          </a:lstStyle>
          <a:p>
            <a:pPr>
              <a:defRPr/>
            </a:pPr>
            <a:fld id="{891A9A88-BB01-4C3C-B2FB-163983272EDA}" type="slidenum">
              <a:rPr lang="en-US" altLang="zh-CN" smtClean="0"/>
              <a:pPr>
                <a:defRPr/>
              </a:pPr>
              <a:t>10</a:t>
            </a:fld>
            <a:endParaRPr lang="en-US" altLang="zh-CN"/>
          </a:p>
        </p:txBody>
      </p:sp>
      <p:sp>
        <p:nvSpPr>
          <p:cNvPr id="5" name="矩形 4"/>
          <p:cNvSpPr/>
          <p:nvPr/>
        </p:nvSpPr>
        <p:spPr>
          <a:xfrm>
            <a:off x="8331923" y="236983"/>
            <a:ext cx="11144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广义函数</a:t>
            </a:r>
            <a:endParaRPr lang="zh-CN" altLang="en-US" dirty="0"/>
          </a:p>
        </p:txBody>
      </p:sp>
      <p:grpSp>
        <p:nvGrpSpPr>
          <p:cNvPr id="18" name="Group 46"/>
          <p:cNvGrpSpPr>
            <a:grpSpLocks/>
          </p:cNvGrpSpPr>
          <p:nvPr/>
        </p:nvGrpSpPr>
        <p:grpSpPr bwMode="auto">
          <a:xfrm>
            <a:off x="1776923" y="131149"/>
            <a:ext cx="2142646" cy="1244862"/>
            <a:chOff x="3320" y="819"/>
            <a:chExt cx="1988" cy="955"/>
          </a:xfrm>
        </p:grpSpPr>
        <p:sp>
          <p:nvSpPr>
            <p:cNvPr id="19" name="Line 47"/>
            <p:cNvSpPr>
              <a:spLocks noChangeShapeType="1"/>
            </p:cNvSpPr>
            <p:nvPr/>
          </p:nvSpPr>
          <p:spPr bwMode="auto">
            <a:xfrm>
              <a:off x="3560" y="1536"/>
              <a:ext cx="158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/>
            </a:p>
          </p:txBody>
        </p:sp>
        <p:sp>
          <p:nvSpPr>
            <p:cNvPr id="20" name="Line 48"/>
            <p:cNvSpPr>
              <a:spLocks noChangeShapeType="1"/>
            </p:cNvSpPr>
            <p:nvPr/>
          </p:nvSpPr>
          <p:spPr bwMode="auto">
            <a:xfrm flipV="1">
              <a:off x="3656" y="960"/>
              <a:ext cx="0" cy="72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/>
            </a:p>
          </p:txBody>
        </p:sp>
        <p:sp>
          <p:nvSpPr>
            <p:cNvPr id="21" name="Line 49"/>
            <p:cNvSpPr>
              <a:spLocks noChangeShapeType="1"/>
            </p:cNvSpPr>
            <p:nvPr/>
          </p:nvSpPr>
          <p:spPr bwMode="auto">
            <a:xfrm>
              <a:off x="3656" y="1152"/>
              <a:ext cx="1056" cy="0"/>
            </a:xfrm>
            <a:prstGeom prst="line">
              <a:avLst/>
            </a:prstGeom>
            <a:noFill/>
            <a:ln w="38100">
              <a:solidFill>
                <a:srgbClr val="FF006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/>
            </a:p>
          </p:txBody>
        </p:sp>
        <p:sp>
          <p:nvSpPr>
            <p:cNvPr id="22" name="Text Box 50"/>
            <p:cNvSpPr txBox="1">
              <a:spLocks noChangeArrowheads="1"/>
            </p:cNvSpPr>
            <p:nvPr/>
          </p:nvSpPr>
          <p:spPr bwMode="auto">
            <a:xfrm>
              <a:off x="5077" y="1395"/>
              <a:ext cx="231" cy="2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kumimoji="1" lang="en-US" altLang="zh-CN" b="1" i="1" dirty="0">
                  <a:latin typeface="Times New Roman" panose="02020603050405020304" pitchFamily="18" charset="0"/>
                </a:rPr>
                <a:t>t</a:t>
              </a:r>
              <a:endParaRPr kumimoji="1"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23" name="Text Box 51"/>
            <p:cNvSpPr txBox="1">
              <a:spLocks noChangeArrowheads="1"/>
            </p:cNvSpPr>
            <p:nvPr/>
          </p:nvSpPr>
          <p:spPr bwMode="auto">
            <a:xfrm>
              <a:off x="3660" y="819"/>
              <a:ext cx="467" cy="2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kumimoji="1" lang="en-US" altLang="zh-CN" b="1" i="1" dirty="0">
                  <a:latin typeface="Times New Roman" panose="02020603050405020304" pitchFamily="18" charset="0"/>
                  <a:sym typeface="Symbol" panose="05050102010706020507" pitchFamily="18" charset="2"/>
                </a:rPr>
                <a:t></a:t>
              </a:r>
              <a:r>
                <a:rPr kumimoji="1" lang="en-US" altLang="zh-CN" b="1" dirty="0">
                  <a:latin typeface="Times New Roman" panose="02020603050405020304" pitchFamily="18" charset="0"/>
                  <a:sym typeface="Symbol" panose="05050102010706020507" pitchFamily="18" charset="2"/>
                </a:rPr>
                <a:t>(</a:t>
              </a:r>
              <a:r>
                <a:rPr kumimoji="1" lang="en-US" altLang="zh-CN" b="1" i="1" dirty="0">
                  <a:latin typeface="Times New Roman" panose="02020603050405020304" pitchFamily="18" charset="0"/>
                  <a:sym typeface="Symbol" panose="05050102010706020507" pitchFamily="18" charset="2"/>
                </a:rPr>
                <a:t>t</a:t>
              </a:r>
              <a:r>
                <a:rPr kumimoji="1" lang="en-US" altLang="zh-CN" b="1" dirty="0">
                  <a:latin typeface="Times New Roman" panose="02020603050405020304" pitchFamily="18" charset="0"/>
                  <a:sym typeface="Symbol" panose="05050102010706020507" pitchFamily="18" charset="2"/>
                </a:rPr>
                <a:t>)</a:t>
              </a:r>
              <a:endParaRPr kumimoji="1"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24" name="Line 52"/>
            <p:cNvSpPr>
              <a:spLocks noChangeShapeType="1"/>
            </p:cNvSpPr>
            <p:nvPr/>
          </p:nvSpPr>
          <p:spPr bwMode="auto">
            <a:xfrm flipH="1">
              <a:off x="3320" y="1536"/>
              <a:ext cx="336" cy="0"/>
            </a:xfrm>
            <a:prstGeom prst="line">
              <a:avLst/>
            </a:prstGeom>
            <a:noFill/>
            <a:ln w="38100">
              <a:solidFill>
                <a:srgbClr val="FF006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/>
            </a:p>
          </p:txBody>
        </p:sp>
        <p:sp>
          <p:nvSpPr>
            <p:cNvPr id="25" name="Line 53"/>
            <p:cNvSpPr>
              <a:spLocks noChangeShapeType="1"/>
            </p:cNvSpPr>
            <p:nvPr/>
          </p:nvSpPr>
          <p:spPr bwMode="auto">
            <a:xfrm>
              <a:off x="3656" y="1152"/>
              <a:ext cx="0" cy="384"/>
            </a:xfrm>
            <a:prstGeom prst="line">
              <a:avLst/>
            </a:prstGeom>
            <a:noFill/>
            <a:ln w="38100">
              <a:solidFill>
                <a:srgbClr val="FF006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/>
            </a:p>
          </p:txBody>
        </p:sp>
        <p:sp>
          <p:nvSpPr>
            <p:cNvPr id="26" name="Text Box 54"/>
            <p:cNvSpPr txBox="1">
              <a:spLocks noChangeArrowheads="1"/>
            </p:cNvSpPr>
            <p:nvPr/>
          </p:nvSpPr>
          <p:spPr bwMode="auto">
            <a:xfrm>
              <a:off x="3604" y="1491"/>
              <a:ext cx="278" cy="2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kumimoji="1" lang="en-US" altLang="zh-CN" b="1" dirty="0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27" name="Text Box 55"/>
            <p:cNvSpPr txBox="1">
              <a:spLocks noChangeArrowheads="1"/>
            </p:cNvSpPr>
            <p:nvPr/>
          </p:nvSpPr>
          <p:spPr bwMode="auto">
            <a:xfrm>
              <a:off x="3401" y="1066"/>
              <a:ext cx="278" cy="2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kumimoji="1" lang="en-US" altLang="zh-CN" b="1">
                  <a:latin typeface="Times New Roman" panose="02020603050405020304" pitchFamily="18" charset="0"/>
                </a:rPr>
                <a:t>1</a:t>
              </a:r>
            </a:p>
          </p:txBody>
        </p:sp>
      </p:grpSp>
      <p:graphicFrame>
        <p:nvGraphicFramePr>
          <p:cNvPr id="28" name="Object 56"/>
          <p:cNvGraphicFramePr>
            <a:graphicFrameLocks noChangeAspect="1"/>
          </p:cNvGraphicFramePr>
          <p:nvPr/>
        </p:nvGraphicFramePr>
        <p:xfrm>
          <a:off x="4061277" y="79281"/>
          <a:ext cx="2164681" cy="1409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1641634" imgH="1068991" progId="Visio.Drawing.11">
                  <p:embed/>
                </p:oleObj>
              </mc:Choice>
              <mc:Fallback>
                <p:oleObj name="Visio" r:id="rId2" imgW="1641634" imgH="1068991" progId="Visio.Drawing.11">
                  <p:embed/>
                  <p:pic>
                    <p:nvPicPr>
                      <p:cNvPr id="28" name="Object 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1277" y="79281"/>
                        <a:ext cx="2164681" cy="1409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65"/>
          <p:cNvGraphicFramePr>
            <a:graphicFrameLocks noChangeAspect="1"/>
          </p:cNvGraphicFramePr>
          <p:nvPr/>
        </p:nvGraphicFramePr>
        <p:xfrm>
          <a:off x="6398621" y="532957"/>
          <a:ext cx="1833364" cy="13998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1240869" imgH="947261" progId="Visio.Drawing.11">
                  <p:embed/>
                </p:oleObj>
              </mc:Choice>
              <mc:Fallback>
                <p:oleObj name="Visio" r:id="rId4" imgW="1240869" imgH="947261" progId="Visio.Drawing.11">
                  <p:embed/>
                  <p:pic>
                    <p:nvPicPr>
                      <p:cNvPr id="29" name="Object 6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98621" y="532957"/>
                        <a:ext cx="1833364" cy="139982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4"/>
          <p:cNvGraphicFramePr>
            <a:graphicFrameLocks noChangeAspect="1"/>
          </p:cNvGraphicFramePr>
          <p:nvPr/>
        </p:nvGraphicFramePr>
        <p:xfrm>
          <a:off x="1905001" y="1448896"/>
          <a:ext cx="1524269" cy="6336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130040" imgH="469800" progId="Equation.3">
                  <p:embed/>
                </p:oleObj>
              </mc:Choice>
              <mc:Fallback>
                <p:oleObj name="公式" r:id="rId6" imgW="1130040" imgH="469800" progId="Equation.3">
                  <p:embed/>
                  <p:pic>
                    <p:nvPicPr>
                      <p:cNvPr id="3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1" y="1448896"/>
                        <a:ext cx="1524269" cy="63368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Object 3"/>
          <p:cNvGraphicFramePr>
            <a:graphicFrameLocks noChangeAspect="1"/>
          </p:cNvGraphicFramePr>
          <p:nvPr/>
        </p:nvGraphicFramePr>
        <p:xfrm>
          <a:off x="3967859" y="1484125"/>
          <a:ext cx="1904768" cy="680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346040" imgH="482400" progId="Equation.DSMT4">
                  <p:embed/>
                </p:oleObj>
              </mc:Choice>
              <mc:Fallback>
                <p:oleObj name="Equation" r:id="rId8" imgW="1346040" imgH="482400" progId="Equation.DSMT4">
                  <p:embed/>
                  <p:pic>
                    <p:nvPicPr>
                      <p:cNvPr id="31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7859" y="1484125"/>
                        <a:ext cx="1904768" cy="680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3"/>
          <p:cNvGraphicFramePr>
            <a:graphicFrameLocks noChangeAspect="1"/>
          </p:cNvGraphicFramePr>
          <p:nvPr/>
        </p:nvGraphicFramePr>
        <p:xfrm>
          <a:off x="8442588" y="1190558"/>
          <a:ext cx="1674410" cy="5564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371600" imgH="457200" progId="Equation.DSMT4">
                  <p:embed/>
                </p:oleObj>
              </mc:Choice>
              <mc:Fallback>
                <p:oleObj name="Equation" r:id="rId10" imgW="1371600" imgH="457200" progId="Equation.DSMT4">
                  <p:embed/>
                  <p:pic>
                    <p:nvPicPr>
                      <p:cNvPr id="32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42588" y="1190558"/>
                        <a:ext cx="1674410" cy="55642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Object 46"/>
          <p:cNvGraphicFramePr>
            <a:graphicFrameLocks noChangeAspect="1"/>
          </p:cNvGraphicFramePr>
          <p:nvPr/>
        </p:nvGraphicFramePr>
        <p:xfrm>
          <a:off x="1924137" y="2061153"/>
          <a:ext cx="1584951" cy="16624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12" imgW="1165860" imgH="1222438" progId="Visio.Drawing.11">
                  <p:embed/>
                </p:oleObj>
              </mc:Choice>
              <mc:Fallback>
                <p:oleObj name="Visio" r:id="rId12" imgW="1165860" imgH="1222438" progId="Visio.Drawing.11">
                  <p:embed/>
                  <p:pic>
                    <p:nvPicPr>
                      <p:cNvPr id="33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4137" y="2061153"/>
                        <a:ext cx="1584951" cy="166241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Object 48"/>
          <p:cNvGraphicFramePr>
            <a:graphicFrameLocks noChangeAspect="1"/>
          </p:cNvGraphicFramePr>
          <p:nvPr/>
        </p:nvGraphicFramePr>
        <p:xfrm>
          <a:off x="1686047" y="3740614"/>
          <a:ext cx="2047627" cy="2778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714500" imgH="228600" progId="Equation.DSMT4">
                  <p:embed/>
                </p:oleObj>
              </mc:Choice>
              <mc:Fallback>
                <p:oleObj name="Equation" r:id="rId14" imgW="1714500" imgH="228600" progId="Equation.DSMT4">
                  <p:embed/>
                  <p:pic>
                    <p:nvPicPr>
                      <p:cNvPr id="34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86047" y="3740614"/>
                        <a:ext cx="2047627" cy="27782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Object 64"/>
          <p:cNvGraphicFramePr>
            <a:graphicFrameLocks noChangeAspect="1"/>
          </p:cNvGraphicFramePr>
          <p:nvPr/>
        </p:nvGraphicFramePr>
        <p:xfrm>
          <a:off x="2247402" y="4112666"/>
          <a:ext cx="1495411" cy="2832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206500" imgH="228600" progId="Equation.DSMT4">
                  <p:embed/>
                </p:oleObj>
              </mc:Choice>
              <mc:Fallback>
                <p:oleObj name="Equation" r:id="rId16" imgW="1206500" imgH="228600" progId="Equation.DSMT4">
                  <p:embed/>
                  <p:pic>
                    <p:nvPicPr>
                      <p:cNvPr id="35" name="Object 6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47402" y="4112666"/>
                        <a:ext cx="1495411" cy="28322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Object 50"/>
          <p:cNvGraphicFramePr>
            <a:graphicFrameLocks noChangeAspect="1"/>
          </p:cNvGraphicFramePr>
          <p:nvPr/>
        </p:nvGraphicFramePr>
        <p:xfrm>
          <a:off x="4166145" y="2304127"/>
          <a:ext cx="1628651" cy="13820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18" imgW="1703784" imgH="1452610" progId="Visio.Drawing.11">
                  <p:embed/>
                </p:oleObj>
              </mc:Choice>
              <mc:Fallback>
                <p:oleObj name="Visio" r:id="rId18" imgW="1703784" imgH="1452610" progId="Visio.Drawing.11">
                  <p:embed/>
                  <p:pic>
                    <p:nvPicPr>
                      <p:cNvPr id="36" name="Object 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66145" y="2304127"/>
                        <a:ext cx="1628651" cy="138207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Object 61"/>
          <p:cNvGraphicFramePr>
            <a:graphicFrameLocks noChangeAspect="1"/>
          </p:cNvGraphicFramePr>
          <p:nvPr/>
        </p:nvGraphicFramePr>
        <p:xfrm>
          <a:off x="4252710" y="3751129"/>
          <a:ext cx="1355591" cy="2627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181100" imgH="228600" progId="Equation.DSMT4">
                  <p:embed/>
                </p:oleObj>
              </mc:Choice>
              <mc:Fallback>
                <p:oleObj name="Equation" r:id="rId20" imgW="1181100" imgH="228600" progId="Equation.DSMT4">
                  <p:embed/>
                  <p:pic>
                    <p:nvPicPr>
                      <p:cNvPr id="37" name="Object 6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52710" y="3751129"/>
                        <a:ext cx="1355591" cy="26277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Object 60"/>
          <p:cNvGraphicFramePr>
            <a:graphicFrameLocks noChangeAspect="1"/>
          </p:cNvGraphicFramePr>
          <p:nvPr/>
        </p:nvGraphicFramePr>
        <p:xfrm>
          <a:off x="4059572" y="4163457"/>
          <a:ext cx="1976697" cy="281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612900" imgH="228600" progId="Equation.DSMT4">
                  <p:embed/>
                </p:oleObj>
              </mc:Choice>
              <mc:Fallback>
                <p:oleObj name="Equation" r:id="rId22" imgW="1612900" imgH="228600" progId="Equation.DSMT4">
                  <p:embed/>
                  <p:pic>
                    <p:nvPicPr>
                      <p:cNvPr id="38" name="Object 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59572" y="4163457"/>
                        <a:ext cx="1976697" cy="281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9" name="Group 6"/>
          <p:cNvGrpSpPr>
            <a:grpSpLocks/>
          </p:cNvGrpSpPr>
          <p:nvPr/>
        </p:nvGrpSpPr>
        <p:grpSpPr bwMode="auto">
          <a:xfrm>
            <a:off x="1613760" y="4487395"/>
            <a:ext cx="1663447" cy="1486025"/>
            <a:chOff x="451" y="1922"/>
            <a:chExt cx="1506" cy="1673"/>
          </a:xfrm>
        </p:grpSpPr>
        <p:grpSp>
          <p:nvGrpSpPr>
            <p:cNvPr id="40" name="Group 7"/>
            <p:cNvGrpSpPr>
              <a:grpSpLocks/>
            </p:cNvGrpSpPr>
            <p:nvPr/>
          </p:nvGrpSpPr>
          <p:grpSpPr bwMode="auto">
            <a:xfrm>
              <a:off x="451" y="1922"/>
              <a:ext cx="1506" cy="1664"/>
              <a:chOff x="275" y="1712"/>
              <a:chExt cx="1506" cy="1664"/>
            </a:xfrm>
          </p:grpSpPr>
          <p:sp>
            <p:nvSpPr>
              <p:cNvPr id="42" name="Line 8"/>
              <p:cNvSpPr>
                <a:spLocks noChangeShapeType="1"/>
              </p:cNvSpPr>
              <p:nvPr/>
            </p:nvSpPr>
            <p:spPr bwMode="auto">
              <a:xfrm>
                <a:off x="480" y="3024"/>
                <a:ext cx="129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400"/>
              </a:p>
            </p:txBody>
          </p:sp>
          <p:sp>
            <p:nvSpPr>
              <p:cNvPr id="43" name="Line 9"/>
              <p:cNvSpPr>
                <a:spLocks noChangeShapeType="1"/>
              </p:cNvSpPr>
              <p:nvPr/>
            </p:nvSpPr>
            <p:spPr bwMode="auto">
              <a:xfrm flipV="1">
                <a:off x="720" y="1872"/>
                <a:ext cx="0" cy="129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400"/>
              </a:p>
            </p:txBody>
          </p:sp>
          <p:sp>
            <p:nvSpPr>
              <p:cNvPr id="44" name="Line 10"/>
              <p:cNvSpPr>
                <a:spLocks noChangeShapeType="1"/>
              </p:cNvSpPr>
              <p:nvPr/>
            </p:nvSpPr>
            <p:spPr bwMode="auto">
              <a:xfrm>
                <a:off x="720" y="2544"/>
                <a:ext cx="432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400"/>
              </a:p>
            </p:txBody>
          </p:sp>
          <p:sp>
            <p:nvSpPr>
              <p:cNvPr id="45" name="Line 11"/>
              <p:cNvSpPr>
                <a:spLocks noChangeShapeType="1"/>
              </p:cNvSpPr>
              <p:nvPr/>
            </p:nvSpPr>
            <p:spPr bwMode="auto">
              <a:xfrm>
                <a:off x="1152" y="2544"/>
                <a:ext cx="0" cy="48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400"/>
              </a:p>
            </p:txBody>
          </p:sp>
          <p:sp>
            <p:nvSpPr>
              <p:cNvPr id="46" name="Text Box 12"/>
              <p:cNvSpPr txBox="1">
                <a:spLocks noChangeArrowheads="1"/>
              </p:cNvSpPr>
              <p:nvPr/>
            </p:nvSpPr>
            <p:spPr bwMode="auto">
              <a:xfrm>
                <a:off x="977" y="2960"/>
                <a:ext cx="295" cy="41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9FF99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 eaLnBrk="0" hangingPunct="0"/>
                <a:r>
                  <a:rPr kumimoji="1" lang="en-US" altLang="zh-CN" b="1" i="1">
                    <a:latin typeface="Times New Roman" panose="02020603050405020304" pitchFamily="18" charset="0"/>
                    <a:sym typeface="Symbol" panose="05050102010706020507" pitchFamily="18" charset="2"/>
                  </a:rPr>
                  <a:t></a:t>
                </a:r>
                <a:endParaRPr kumimoji="1" lang="en-US" altLang="zh-CN" b="1" i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7" name="Text Box 13"/>
              <p:cNvSpPr txBox="1">
                <a:spLocks noChangeArrowheads="1"/>
              </p:cNvSpPr>
              <p:nvPr/>
            </p:nvSpPr>
            <p:spPr bwMode="auto">
              <a:xfrm>
                <a:off x="275" y="2336"/>
                <a:ext cx="457" cy="41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9FF99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 eaLnBrk="0" hangingPunct="0"/>
                <a:r>
                  <a:rPr kumimoji="1" lang="en-US" altLang="zh-CN" b="1">
                    <a:latin typeface="Times New Roman" panose="02020603050405020304" pitchFamily="18" charset="0"/>
                  </a:rPr>
                  <a:t>1/</a:t>
                </a:r>
                <a:r>
                  <a:rPr kumimoji="1" lang="en-US" altLang="zh-CN" b="1" i="1">
                    <a:latin typeface="Times New Roman" panose="02020603050405020304" pitchFamily="18" charset="0"/>
                    <a:sym typeface="Symbol" panose="05050102010706020507" pitchFamily="18" charset="2"/>
                  </a:rPr>
                  <a:t></a:t>
                </a:r>
              </a:p>
            </p:txBody>
          </p:sp>
          <p:sp>
            <p:nvSpPr>
              <p:cNvPr id="48" name="Text Box 14"/>
              <p:cNvSpPr txBox="1">
                <a:spLocks noChangeArrowheads="1"/>
              </p:cNvSpPr>
              <p:nvPr/>
            </p:nvSpPr>
            <p:spPr bwMode="auto">
              <a:xfrm>
                <a:off x="1556" y="2912"/>
                <a:ext cx="225" cy="41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9FF99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 eaLnBrk="0" hangingPunct="0"/>
                <a:r>
                  <a:rPr kumimoji="1" lang="en-US" altLang="zh-CN" b="1" i="1">
                    <a:latin typeface="Times New Roman" panose="02020603050405020304" pitchFamily="18" charset="0"/>
                  </a:rPr>
                  <a:t>t</a:t>
                </a:r>
                <a:endParaRPr kumimoji="1" lang="en-US" altLang="zh-CN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9" name="Text Box 15"/>
              <p:cNvSpPr txBox="1">
                <a:spLocks noChangeArrowheads="1"/>
              </p:cNvSpPr>
              <p:nvPr/>
            </p:nvSpPr>
            <p:spPr bwMode="auto">
              <a:xfrm>
                <a:off x="756" y="1712"/>
                <a:ext cx="469" cy="41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9FF99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 eaLnBrk="0" hangingPunct="0"/>
                <a:r>
                  <a:rPr kumimoji="1" lang="en-US" altLang="zh-CN" b="1" i="1">
                    <a:latin typeface="Times New Roman" panose="02020603050405020304" pitchFamily="18" charset="0"/>
                  </a:rPr>
                  <a:t>p</a:t>
                </a:r>
                <a:r>
                  <a:rPr kumimoji="1" lang="en-US" altLang="zh-CN" b="1">
                    <a:latin typeface="Times New Roman" panose="02020603050405020304" pitchFamily="18" charset="0"/>
                  </a:rPr>
                  <a:t>(</a:t>
                </a:r>
                <a:r>
                  <a:rPr kumimoji="1" lang="en-US" altLang="zh-CN" b="1" i="1">
                    <a:latin typeface="Times New Roman" panose="02020603050405020304" pitchFamily="18" charset="0"/>
                  </a:rPr>
                  <a:t>t</a:t>
                </a:r>
                <a:r>
                  <a:rPr kumimoji="1" lang="en-US" altLang="zh-CN" b="1">
                    <a:latin typeface="Times New Roman" panose="02020603050405020304" pitchFamily="18" charset="0"/>
                  </a:rPr>
                  <a:t>)</a:t>
                </a:r>
              </a:p>
            </p:txBody>
          </p:sp>
        </p:grpSp>
        <p:sp>
          <p:nvSpPr>
            <p:cNvPr id="41" name="Text Box 16"/>
            <p:cNvSpPr txBox="1">
              <a:spLocks noChangeArrowheads="1"/>
            </p:cNvSpPr>
            <p:nvPr/>
          </p:nvSpPr>
          <p:spPr bwMode="auto">
            <a:xfrm>
              <a:off x="596" y="3179"/>
              <a:ext cx="272" cy="4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kumimoji="1" lang="en-US" altLang="zh-CN" b="1">
                  <a:latin typeface="Times New Roman" panose="02020603050405020304" pitchFamily="18" charset="0"/>
                </a:rPr>
                <a:t>0</a:t>
              </a:r>
            </a:p>
          </p:txBody>
        </p:sp>
      </p:grpSp>
      <p:graphicFrame>
        <p:nvGraphicFramePr>
          <p:cNvPr id="50" name="Object 4"/>
          <p:cNvGraphicFramePr>
            <a:graphicFrameLocks noChangeAspect="1"/>
          </p:cNvGraphicFramePr>
          <p:nvPr/>
        </p:nvGraphicFramePr>
        <p:xfrm>
          <a:off x="1759887" y="5814114"/>
          <a:ext cx="1511796" cy="391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1562040" imgH="406080" progId="Equation.DSMT4">
                  <p:embed/>
                </p:oleObj>
              </mc:Choice>
              <mc:Fallback>
                <p:oleObj name="Equation" r:id="rId24" imgW="1562040" imgH="406080" progId="Equation.DSMT4">
                  <p:embed/>
                  <p:pic>
                    <p:nvPicPr>
                      <p:cNvPr id="5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9887" y="5814114"/>
                        <a:ext cx="1511796" cy="391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" name="Object 5"/>
          <p:cNvGraphicFramePr>
            <a:graphicFrameLocks noChangeAspect="1"/>
          </p:cNvGraphicFramePr>
          <p:nvPr/>
        </p:nvGraphicFramePr>
        <p:xfrm>
          <a:off x="1875628" y="6204251"/>
          <a:ext cx="1042394" cy="3999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6" imgW="888840" imgH="342720" progId="Equation.3">
                  <p:embed/>
                </p:oleObj>
              </mc:Choice>
              <mc:Fallback>
                <p:oleObj name="公式" r:id="rId26" imgW="888840" imgH="342720" progId="Equation.3">
                  <p:embed/>
                  <p:pic>
                    <p:nvPicPr>
                      <p:cNvPr id="5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5628" y="6204251"/>
                        <a:ext cx="1042394" cy="39990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2" name="Group 20"/>
          <p:cNvGrpSpPr>
            <a:grpSpLocks/>
          </p:cNvGrpSpPr>
          <p:nvPr/>
        </p:nvGrpSpPr>
        <p:grpSpPr bwMode="auto">
          <a:xfrm>
            <a:off x="3944741" y="4713771"/>
            <a:ext cx="1850055" cy="1132664"/>
            <a:chOff x="2857" y="2522"/>
            <a:chExt cx="1885" cy="1095"/>
          </a:xfrm>
        </p:grpSpPr>
        <p:sp>
          <p:nvSpPr>
            <p:cNvPr id="53" name="Line 21"/>
            <p:cNvSpPr>
              <a:spLocks noChangeShapeType="1"/>
            </p:cNvSpPr>
            <p:nvPr/>
          </p:nvSpPr>
          <p:spPr bwMode="auto">
            <a:xfrm>
              <a:off x="3048" y="3292"/>
              <a:ext cx="144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/>
            </a:p>
          </p:txBody>
        </p:sp>
        <p:sp>
          <p:nvSpPr>
            <p:cNvPr id="54" name="Line 22"/>
            <p:cNvSpPr>
              <a:spLocks noChangeShapeType="1"/>
            </p:cNvSpPr>
            <p:nvPr/>
          </p:nvSpPr>
          <p:spPr bwMode="auto">
            <a:xfrm flipV="1">
              <a:off x="3240" y="2680"/>
              <a:ext cx="0" cy="84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/>
            </a:p>
          </p:txBody>
        </p:sp>
        <p:sp>
          <p:nvSpPr>
            <p:cNvPr id="55" name="Text Box 23"/>
            <p:cNvSpPr txBox="1">
              <a:spLocks noChangeArrowheads="1"/>
            </p:cNvSpPr>
            <p:nvPr/>
          </p:nvSpPr>
          <p:spPr bwMode="auto">
            <a:xfrm>
              <a:off x="4489" y="3186"/>
              <a:ext cx="253" cy="3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kumimoji="1" lang="en-US" altLang="zh-CN" b="1" i="1">
                  <a:latin typeface="Times New Roman" panose="02020603050405020304" pitchFamily="18" charset="0"/>
                </a:rPr>
                <a:t>t</a:t>
              </a:r>
              <a:endParaRPr kumimoji="1" lang="en-US" altLang="zh-CN" b="1">
                <a:latin typeface="Times New Roman" panose="02020603050405020304" pitchFamily="18" charset="0"/>
              </a:endParaRPr>
            </a:p>
          </p:txBody>
        </p:sp>
        <p:sp>
          <p:nvSpPr>
            <p:cNvPr id="56" name="Text Box 24"/>
            <p:cNvSpPr txBox="1">
              <a:spLocks noChangeArrowheads="1"/>
            </p:cNvSpPr>
            <p:nvPr/>
          </p:nvSpPr>
          <p:spPr bwMode="auto">
            <a:xfrm>
              <a:off x="3205" y="2522"/>
              <a:ext cx="526" cy="3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kumimoji="1" lang="en-US" altLang="zh-CN" b="1" i="1" dirty="0">
                  <a:latin typeface="Times New Roman" panose="02020603050405020304" pitchFamily="18" charset="0"/>
                  <a:sym typeface="Symbol" panose="05050102010706020507" pitchFamily="18" charset="2"/>
                </a:rPr>
                <a:t></a:t>
              </a:r>
              <a:r>
                <a:rPr kumimoji="1" lang="en-US" altLang="zh-CN" b="1" dirty="0">
                  <a:latin typeface="Times New Roman" panose="02020603050405020304" pitchFamily="18" charset="0"/>
                  <a:sym typeface="Symbol" panose="05050102010706020507" pitchFamily="18" charset="2"/>
                </a:rPr>
                <a:t>(</a:t>
              </a:r>
              <a:r>
                <a:rPr kumimoji="1" lang="en-US" altLang="zh-CN" b="1" i="1" dirty="0">
                  <a:latin typeface="Times New Roman" panose="02020603050405020304" pitchFamily="18" charset="0"/>
                  <a:sym typeface="Symbol" panose="05050102010706020507" pitchFamily="18" charset="2"/>
                </a:rPr>
                <a:t>t</a:t>
              </a:r>
              <a:r>
                <a:rPr kumimoji="1" lang="en-US" altLang="zh-CN" b="1" dirty="0">
                  <a:latin typeface="Times New Roman" panose="02020603050405020304" pitchFamily="18" charset="0"/>
                  <a:sym typeface="Symbol" panose="05050102010706020507" pitchFamily="18" charset="2"/>
                </a:rPr>
                <a:t>)</a:t>
              </a:r>
            </a:p>
          </p:txBody>
        </p:sp>
        <p:sp>
          <p:nvSpPr>
            <p:cNvPr id="57" name="Line 25"/>
            <p:cNvSpPr>
              <a:spLocks noChangeShapeType="1"/>
            </p:cNvSpPr>
            <p:nvPr/>
          </p:nvSpPr>
          <p:spPr bwMode="auto">
            <a:xfrm flipV="1">
              <a:off x="3240" y="2896"/>
              <a:ext cx="0" cy="396"/>
            </a:xfrm>
            <a:prstGeom prst="line">
              <a:avLst/>
            </a:prstGeom>
            <a:noFill/>
            <a:ln w="25400">
              <a:solidFill>
                <a:srgbClr val="FF0066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/>
            </a:p>
          </p:txBody>
        </p:sp>
        <p:sp>
          <p:nvSpPr>
            <p:cNvPr id="58" name="Text Box 26"/>
            <p:cNvSpPr txBox="1">
              <a:spLocks noChangeArrowheads="1"/>
            </p:cNvSpPr>
            <p:nvPr/>
          </p:nvSpPr>
          <p:spPr bwMode="auto">
            <a:xfrm>
              <a:off x="2857" y="2742"/>
              <a:ext cx="463" cy="3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kumimoji="1" lang="en-US" altLang="zh-CN" b="1">
                  <a:latin typeface="Times New Roman" panose="02020603050405020304" pitchFamily="18" charset="0"/>
                </a:rPr>
                <a:t>(1)</a:t>
              </a:r>
            </a:p>
          </p:txBody>
        </p:sp>
        <p:sp>
          <p:nvSpPr>
            <p:cNvPr id="59" name="Text Box 27"/>
            <p:cNvSpPr txBox="1">
              <a:spLocks noChangeArrowheads="1"/>
            </p:cNvSpPr>
            <p:nvPr/>
          </p:nvSpPr>
          <p:spPr bwMode="auto">
            <a:xfrm>
              <a:off x="2974" y="3260"/>
              <a:ext cx="306" cy="3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kumimoji="1" lang="en-US" altLang="zh-CN" b="1">
                  <a:latin typeface="Times New Roman" panose="02020603050405020304" pitchFamily="18" charset="0"/>
                </a:rPr>
                <a:t>0</a:t>
              </a:r>
            </a:p>
          </p:txBody>
        </p:sp>
      </p:grpSp>
      <p:graphicFrame>
        <p:nvGraphicFramePr>
          <p:cNvPr id="60" name="Object 18"/>
          <p:cNvGraphicFramePr>
            <a:graphicFrameLocks noChangeAspect="1"/>
          </p:cNvGraphicFramePr>
          <p:nvPr/>
        </p:nvGraphicFramePr>
        <p:xfrm>
          <a:off x="3956243" y="5770462"/>
          <a:ext cx="1401360" cy="4978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8" imgW="2717640" imgH="965160" progId="Equation.3">
                  <p:embed/>
                </p:oleObj>
              </mc:Choice>
              <mc:Fallback>
                <p:oleObj name="公式" r:id="rId28" imgW="2717640" imgH="965160" progId="Equation.3">
                  <p:embed/>
                  <p:pic>
                    <p:nvPicPr>
                      <p:cNvPr id="6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6243" y="5770462"/>
                        <a:ext cx="1401360" cy="49783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" name="Object 19"/>
          <p:cNvGraphicFramePr>
            <a:graphicFrameLocks noChangeAspect="1"/>
          </p:cNvGraphicFramePr>
          <p:nvPr/>
        </p:nvGraphicFramePr>
        <p:xfrm>
          <a:off x="3979655" y="6282764"/>
          <a:ext cx="1219896" cy="467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0" imgW="863280" imgH="330120" progId="Equation.3">
                  <p:embed/>
                </p:oleObj>
              </mc:Choice>
              <mc:Fallback>
                <p:oleObj name="公式" r:id="rId30" imgW="863280" imgH="330120" progId="Equation.3">
                  <p:embed/>
                  <p:pic>
                    <p:nvPicPr>
                      <p:cNvPr id="61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79655" y="6282764"/>
                        <a:ext cx="1219896" cy="467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2" name="Group 44"/>
          <p:cNvGrpSpPr>
            <a:grpSpLocks/>
          </p:cNvGrpSpPr>
          <p:nvPr/>
        </p:nvGrpSpPr>
        <p:grpSpPr bwMode="auto">
          <a:xfrm>
            <a:off x="6135799" y="4672149"/>
            <a:ext cx="2124091" cy="1183763"/>
            <a:chOff x="3195" y="1842"/>
            <a:chExt cx="2271" cy="1233"/>
          </a:xfrm>
        </p:grpSpPr>
        <p:sp>
          <p:nvSpPr>
            <p:cNvPr id="63" name="Line 45"/>
            <p:cNvSpPr>
              <a:spLocks noChangeShapeType="1"/>
            </p:cNvSpPr>
            <p:nvPr/>
          </p:nvSpPr>
          <p:spPr bwMode="auto">
            <a:xfrm>
              <a:off x="3328" y="2774"/>
              <a:ext cx="187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/>
            </a:p>
          </p:txBody>
        </p:sp>
        <p:sp>
          <p:nvSpPr>
            <p:cNvPr id="64" name="Line 46"/>
            <p:cNvSpPr>
              <a:spLocks noChangeShapeType="1"/>
            </p:cNvSpPr>
            <p:nvPr/>
          </p:nvSpPr>
          <p:spPr bwMode="auto">
            <a:xfrm flipV="1">
              <a:off x="3520" y="2128"/>
              <a:ext cx="0" cy="79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/>
            </a:p>
          </p:txBody>
        </p:sp>
        <p:sp>
          <p:nvSpPr>
            <p:cNvPr id="65" name="Text Box 47"/>
            <p:cNvSpPr txBox="1">
              <a:spLocks noChangeArrowheads="1"/>
            </p:cNvSpPr>
            <p:nvPr/>
          </p:nvSpPr>
          <p:spPr bwMode="auto">
            <a:xfrm>
              <a:off x="5200" y="2544"/>
              <a:ext cx="266" cy="3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kumimoji="1" lang="en-US" altLang="zh-CN" b="1" i="1">
                  <a:latin typeface="Times New Roman" panose="02020603050405020304" pitchFamily="18" charset="0"/>
                </a:rPr>
                <a:t>t</a:t>
              </a:r>
            </a:p>
          </p:txBody>
        </p:sp>
        <p:sp>
          <p:nvSpPr>
            <p:cNvPr id="66" name="Text Box 48"/>
            <p:cNvSpPr txBox="1">
              <a:spLocks noChangeArrowheads="1"/>
            </p:cNvSpPr>
            <p:nvPr/>
          </p:nvSpPr>
          <p:spPr bwMode="auto">
            <a:xfrm>
              <a:off x="3278" y="2202"/>
              <a:ext cx="198" cy="3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endParaRPr kumimoji="1" lang="zh-CN" altLang="zh-CN" b="1">
                <a:latin typeface="Times New Roman" panose="02020603050405020304" pitchFamily="18" charset="0"/>
              </a:endParaRPr>
            </a:p>
          </p:txBody>
        </p:sp>
        <p:sp>
          <p:nvSpPr>
            <p:cNvPr id="67" name="Line 49"/>
            <p:cNvSpPr>
              <a:spLocks noChangeShapeType="1"/>
            </p:cNvSpPr>
            <p:nvPr/>
          </p:nvSpPr>
          <p:spPr bwMode="auto">
            <a:xfrm flipV="1">
              <a:off x="3943" y="2320"/>
              <a:ext cx="0" cy="456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/>
            </a:p>
          </p:txBody>
        </p:sp>
        <p:sp>
          <p:nvSpPr>
            <p:cNvPr id="68" name="Text Box 50"/>
            <p:cNvSpPr txBox="1">
              <a:spLocks noChangeArrowheads="1"/>
            </p:cNvSpPr>
            <p:nvPr/>
          </p:nvSpPr>
          <p:spPr bwMode="auto">
            <a:xfrm>
              <a:off x="4500" y="2202"/>
              <a:ext cx="198" cy="3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endParaRPr kumimoji="1" lang="zh-CN" altLang="zh-CN" b="1">
                <a:latin typeface="Times New Roman" panose="02020603050405020304" pitchFamily="18" charset="0"/>
              </a:endParaRPr>
            </a:p>
          </p:txBody>
        </p:sp>
        <p:sp>
          <p:nvSpPr>
            <p:cNvPr id="69" name="Text Box 51"/>
            <p:cNvSpPr txBox="1">
              <a:spLocks noChangeArrowheads="1"/>
            </p:cNvSpPr>
            <p:nvPr/>
          </p:nvSpPr>
          <p:spPr bwMode="auto">
            <a:xfrm>
              <a:off x="3423" y="1842"/>
              <a:ext cx="847" cy="3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kumimoji="1" lang="en-US" altLang="zh-CN" b="1" i="1" dirty="0">
                  <a:latin typeface="Times New Roman" panose="02020603050405020304" pitchFamily="18" charset="0"/>
                  <a:sym typeface="Symbol" panose="05050102010706020507" pitchFamily="18" charset="2"/>
                </a:rPr>
                <a:t> </a:t>
              </a:r>
              <a:r>
                <a:rPr kumimoji="1" lang="en-US" altLang="zh-CN" b="1" dirty="0">
                  <a:latin typeface="Times New Roman" panose="02020603050405020304" pitchFamily="18" charset="0"/>
                  <a:sym typeface="Symbol" panose="05050102010706020507" pitchFamily="18" charset="2"/>
                </a:rPr>
                <a:t>(</a:t>
              </a:r>
              <a:r>
                <a:rPr kumimoji="1" lang="en-US" altLang="zh-CN" b="1" i="1" dirty="0">
                  <a:latin typeface="Times New Roman" panose="02020603050405020304" pitchFamily="18" charset="0"/>
                  <a:sym typeface="Symbol" panose="05050102010706020507" pitchFamily="18" charset="2"/>
                </a:rPr>
                <a:t>t</a:t>
              </a:r>
              <a:r>
                <a:rPr kumimoji="1" lang="en-US" altLang="zh-CN" b="1" dirty="0">
                  <a:latin typeface="Times New Roman" panose="02020603050405020304" pitchFamily="18" charset="0"/>
                  <a:sym typeface="Symbol" panose="05050102010706020507" pitchFamily="18" charset="2"/>
                </a:rPr>
                <a:t>-</a:t>
              </a:r>
              <a:r>
                <a:rPr kumimoji="1" lang="en-US" altLang="zh-CN" b="1" i="1" dirty="0">
                  <a:latin typeface="Times New Roman" panose="02020603050405020304" pitchFamily="18" charset="0"/>
                  <a:sym typeface="Symbol" panose="05050102010706020507" pitchFamily="18" charset="2"/>
                </a:rPr>
                <a:t>t</a:t>
              </a:r>
              <a:r>
                <a:rPr kumimoji="1" lang="en-US" altLang="zh-CN" b="1" baseline="-25000" dirty="0">
                  <a:latin typeface="Times New Roman" panose="02020603050405020304" pitchFamily="18" charset="0"/>
                  <a:sym typeface="Symbol" panose="05050102010706020507" pitchFamily="18" charset="2"/>
                </a:rPr>
                <a:t>0</a:t>
              </a:r>
              <a:r>
                <a:rPr kumimoji="1" lang="en-US" altLang="zh-CN" b="1" dirty="0">
                  <a:latin typeface="Times New Roman" panose="02020603050405020304" pitchFamily="18" charset="0"/>
                  <a:sym typeface="Symbol" panose="05050102010706020507" pitchFamily="18" charset="2"/>
                </a:rPr>
                <a:t>)</a:t>
              </a:r>
              <a:endParaRPr kumimoji="1" lang="en-US" altLang="zh-CN" b="1" dirty="0">
                <a:solidFill>
                  <a:srgbClr val="FF0066"/>
                </a:solidFill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70" name="Text Box 52"/>
            <p:cNvSpPr txBox="1">
              <a:spLocks noChangeArrowheads="1"/>
            </p:cNvSpPr>
            <p:nvPr/>
          </p:nvSpPr>
          <p:spPr bwMode="auto">
            <a:xfrm>
              <a:off x="3790" y="2656"/>
              <a:ext cx="348" cy="3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kumimoji="1" lang="en-US" altLang="zh-CN" b="1" i="1">
                  <a:latin typeface="Times New Roman" panose="02020603050405020304" pitchFamily="18" charset="0"/>
                </a:rPr>
                <a:t>t</a:t>
              </a:r>
              <a:r>
                <a:rPr kumimoji="1" lang="en-US" altLang="zh-CN" b="1" baseline="-25000">
                  <a:latin typeface="Times New Roman" panose="02020603050405020304" pitchFamily="18" charset="0"/>
                </a:rPr>
                <a:t>0</a:t>
              </a:r>
              <a:endParaRPr kumimoji="1" lang="en-US" altLang="zh-CN" b="1">
                <a:latin typeface="Times New Roman" panose="02020603050405020304" pitchFamily="18" charset="0"/>
              </a:endParaRPr>
            </a:p>
          </p:txBody>
        </p:sp>
        <p:sp>
          <p:nvSpPr>
            <p:cNvPr id="71" name="Text Box 53"/>
            <p:cNvSpPr txBox="1">
              <a:spLocks noChangeArrowheads="1"/>
            </p:cNvSpPr>
            <p:nvPr/>
          </p:nvSpPr>
          <p:spPr bwMode="auto">
            <a:xfrm>
              <a:off x="3195" y="2690"/>
              <a:ext cx="321" cy="3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kumimoji="1" lang="en-US" altLang="zh-CN" b="1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72" name="Text Box 54"/>
            <p:cNvSpPr txBox="1">
              <a:spLocks noChangeArrowheads="1"/>
            </p:cNvSpPr>
            <p:nvPr/>
          </p:nvSpPr>
          <p:spPr bwMode="auto">
            <a:xfrm>
              <a:off x="3937" y="2199"/>
              <a:ext cx="485" cy="3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kumimoji="1" lang="en-US" altLang="zh-CN" b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(1)</a:t>
              </a:r>
              <a:endParaRPr kumimoji="1" lang="en-US" altLang="zh-CN" b="1" dirty="0">
                <a:latin typeface="Times New Roman" panose="02020603050405020304" pitchFamily="18" charset="0"/>
              </a:endParaRPr>
            </a:p>
          </p:txBody>
        </p:sp>
      </p:grpSp>
      <p:graphicFrame>
        <p:nvGraphicFramePr>
          <p:cNvPr id="73" name="Object 30"/>
          <p:cNvGraphicFramePr>
            <a:graphicFrameLocks noChangeAspect="1"/>
          </p:cNvGraphicFramePr>
          <p:nvPr/>
        </p:nvGraphicFramePr>
        <p:xfrm>
          <a:off x="6214108" y="5858338"/>
          <a:ext cx="1748793" cy="7294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2" imgW="1396800" imgH="583920" progId="Equation.3">
                  <p:embed/>
                </p:oleObj>
              </mc:Choice>
              <mc:Fallback>
                <p:oleObj name="公式" r:id="rId32" imgW="1396800" imgH="583920" progId="Equation.3">
                  <p:embed/>
                  <p:pic>
                    <p:nvPicPr>
                      <p:cNvPr id="73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14108" y="5858338"/>
                        <a:ext cx="1748793" cy="72949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" name="Object 22"/>
          <p:cNvGraphicFramePr>
            <a:graphicFrameLocks noChangeAspect="1"/>
          </p:cNvGraphicFramePr>
          <p:nvPr/>
        </p:nvGraphicFramePr>
        <p:xfrm>
          <a:off x="5745421" y="3208425"/>
          <a:ext cx="1489520" cy="6687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4" imgW="901440" imgH="406080" progId="Equation.3">
                  <p:embed/>
                </p:oleObj>
              </mc:Choice>
              <mc:Fallback>
                <p:oleObj name="公式" r:id="rId34" imgW="901440" imgH="406080" progId="Equation.3">
                  <p:embed/>
                  <p:pic>
                    <p:nvPicPr>
                      <p:cNvPr id="74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45421" y="3208425"/>
                        <a:ext cx="1489520" cy="66878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" name="Object 24"/>
          <p:cNvGraphicFramePr>
            <a:graphicFrameLocks noChangeAspect="1"/>
          </p:cNvGraphicFramePr>
          <p:nvPr/>
        </p:nvGraphicFramePr>
        <p:xfrm>
          <a:off x="5714853" y="2541639"/>
          <a:ext cx="1551683" cy="5172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6" imgW="990360" imgH="330120" progId="Equation.3">
                  <p:embed/>
                </p:oleObj>
              </mc:Choice>
              <mc:Fallback>
                <p:oleObj name="公式" r:id="rId36" imgW="990360" imgH="330120" progId="Equation.3">
                  <p:embed/>
                  <p:pic>
                    <p:nvPicPr>
                      <p:cNvPr id="75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4853" y="2541639"/>
                        <a:ext cx="1551683" cy="51722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" name="矩形 75"/>
          <p:cNvSpPr/>
          <p:nvPr/>
        </p:nvSpPr>
        <p:spPr bwMode="auto">
          <a:xfrm>
            <a:off x="5745421" y="2446878"/>
            <a:ext cx="1610958" cy="1512300"/>
          </a:xfrm>
          <a:prstGeom prst="rect">
            <a:avLst/>
          </a:prstGeom>
          <a:noFill/>
          <a:ln w="38100">
            <a:solidFill>
              <a:srgbClr val="FF0000"/>
            </a:solidFill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endParaRPr kumimoji="1" lang="zh-CN" altLang="en-US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graphicFrame>
        <p:nvGraphicFramePr>
          <p:cNvPr id="77" name="Object 5"/>
          <p:cNvGraphicFramePr>
            <a:graphicFrameLocks noChangeAspect="1"/>
          </p:cNvGraphicFramePr>
          <p:nvPr/>
        </p:nvGraphicFramePr>
        <p:xfrm>
          <a:off x="8331923" y="6077867"/>
          <a:ext cx="2209168" cy="4386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8" imgW="1663560" imgH="330120" progId="Equation.3">
                  <p:embed/>
                </p:oleObj>
              </mc:Choice>
              <mc:Fallback>
                <p:oleObj name="公式" r:id="rId38" imgW="1663560" imgH="330120" progId="Equation.3">
                  <p:embed/>
                  <p:pic>
                    <p:nvPicPr>
                      <p:cNvPr id="7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31923" y="6077867"/>
                        <a:ext cx="2209168" cy="43861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6" name="组合 85"/>
          <p:cNvGrpSpPr/>
          <p:nvPr/>
        </p:nvGrpSpPr>
        <p:grpSpPr>
          <a:xfrm>
            <a:off x="8273811" y="4877207"/>
            <a:ext cx="2121378" cy="1244435"/>
            <a:chOff x="5697537" y="2944813"/>
            <a:chExt cx="2908299" cy="1666875"/>
          </a:xfrm>
        </p:grpSpPr>
        <p:grpSp>
          <p:nvGrpSpPr>
            <p:cNvPr id="87" name="Group 12"/>
            <p:cNvGrpSpPr>
              <a:grpSpLocks/>
            </p:cNvGrpSpPr>
            <p:nvPr/>
          </p:nvGrpSpPr>
          <p:grpSpPr bwMode="auto">
            <a:xfrm>
              <a:off x="5697537" y="2944813"/>
              <a:ext cx="2908299" cy="1666875"/>
              <a:chOff x="2892" y="2544"/>
              <a:chExt cx="1832" cy="1050"/>
            </a:xfrm>
          </p:grpSpPr>
          <p:sp>
            <p:nvSpPr>
              <p:cNvPr id="94" name="Line 13"/>
              <p:cNvSpPr>
                <a:spLocks noChangeShapeType="1"/>
              </p:cNvSpPr>
              <p:nvPr/>
            </p:nvSpPr>
            <p:spPr bwMode="auto">
              <a:xfrm>
                <a:off x="3048" y="3292"/>
                <a:ext cx="144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400"/>
              </a:p>
            </p:txBody>
          </p:sp>
          <p:sp>
            <p:nvSpPr>
              <p:cNvPr id="95" name="Line 14"/>
              <p:cNvSpPr>
                <a:spLocks noChangeShapeType="1"/>
              </p:cNvSpPr>
              <p:nvPr/>
            </p:nvSpPr>
            <p:spPr bwMode="auto">
              <a:xfrm flipV="1">
                <a:off x="3240" y="2680"/>
                <a:ext cx="0" cy="84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400"/>
              </a:p>
            </p:txBody>
          </p:sp>
          <p:sp>
            <p:nvSpPr>
              <p:cNvPr id="96" name="Text Box 15"/>
              <p:cNvSpPr txBox="1">
                <a:spLocks noChangeArrowheads="1"/>
              </p:cNvSpPr>
              <p:nvPr/>
            </p:nvSpPr>
            <p:spPr bwMode="auto">
              <a:xfrm>
                <a:off x="4509" y="3208"/>
                <a:ext cx="215" cy="3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9FF99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 eaLnBrk="0" hangingPunct="0"/>
                <a:r>
                  <a:rPr kumimoji="1" lang="en-US" altLang="zh-CN" b="1" i="1">
                    <a:latin typeface="Times New Roman" panose="02020603050405020304" pitchFamily="18" charset="0"/>
                  </a:rPr>
                  <a:t>t</a:t>
                </a:r>
                <a:endParaRPr kumimoji="1" lang="en-US" altLang="zh-CN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7" name="Text Box 16"/>
              <p:cNvSpPr txBox="1">
                <a:spLocks noChangeArrowheads="1"/>
              </p:cNvSpPr>
              <p:nvPr/>
            </p:nvSpPr>
            <p:spPr bwMode="auto">
              <a:xfrm>
                <a:off x="3245" y="2544"/>
                <a:ext cx="446" cy="3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9FF99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kumimoji="1" lang="en-US" altLang="zh-CN" b="1" i="1">
                    <a:latin typeface="Times New Roman" panose="02020603050405020304" pitchFamily="18" charset="0"/>
                    <a:sym typeface="Symbol" panose="05050102010706020507" pitchFamily="18" charset="2"/>
                  </a:rPr>
                  <a:t></a:t>
                </a:r>
                <a:r>
                  <a:rPr kumimoji="1" lang="en-US" altLang="zh-CN" b="1">
                    <a:latin typeface="Times New Roman" panose="02020603050405020304" pitchFamily="18" charset="0"/>
                    <a:sym typeface="Symbol" panose="05050102010706020507" pitchFamily="18" charset="2"/>
                  </a:rPr>
                  <a:t>(</a:t>
                </a:r>
                <a:r>
                  <a:rPr kumimoji="1" lang="en-US" altLang="zh-CN" b="1" i="1">
                    <a:latin typeface="Times New Roman" panose="02020603050405020304" pitchFamily="18" charset="0"/>
                    <a:sym typeface="Symbol" panose="05050102010706020507" pitchFamily="18" charset="2"/>
                  </a:rPr>
                  <a:t>t</a:t>
                </a:r>
                <a:r>
                  <a:rPr kumimoji="1" lang="en-US" altLang="zh-CN" b="1">
                    <a:latin typeface="Times New Roman" panose="02020603050405020304" pitchFamily="18" charset="0"/>
                    <a:sym typeface="Symbol" panose="05050102010706020507" pitchFamily="18" charset="2"/>
                  </a:rPr>
                  <a:t>)</a:t>
                </a:r>
              </a:p>
            </p:txBody>
          </p:sp>
          <p:sp>
            <p:nvSpPr>
              <p:cNvPr id="98" name="Line 17"/>
              <p:cNvSpPr>
                <a:spLocks noChangeShapeType="1"/>
              </p:cNvSpPr>
              <p:nvPr/>
            </p:nvSpPr>
            <p:spPr bwMode="auto">
              <a:xfrm flipV="1">
                <a:off x="3240" y="2896"/>
                <a:ext cx="0" cy="396"/>
              </a:xfrm>
              <a:prstGeom prst="line">
                <a:avLst/>
              </a:prstGeom>
              <a:noFill/>
              <a:ln w="25400">
                <a:solidFill>
                  <a:srgbClr val="FF0066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400"/>
              </a:p>
            </p:txBody>
          </p:sp>
          <p:sp>
            <p:nvSpPr>
              <p:cNvPr id="99" name="Text Box 18"/>
              <p:cNvSpPr txBox="1">
                <a:spLocks noChangeArrowheads="1"/>
              </p:cNvSpPr>
              <p:nvPr/>
            </p:nvSpPr>
            <p:spPr bwMode="auto">
              <a:xfrm>
                <a:off x="2892" y="2764"/>
                <a:ext cx="392" cy="3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9FF99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 eaLnBrk="0" hangingPunct="0"/>
                <a:r>
                  <a:rPr kumimoji="1" lang="en-US" altLang="zh-CN" b="1">
                    <a:latin typeface="Times New Roman" panose="02020603050405020304" pitchFamily="18" charset="0"/>
                  </a:rPr>
                  <a:t>(1)</a:t>
                </a:r>
              </a:p>
            </p:txBody>
          </p:sp>
          <p:sp>
            <p:nvSpPr>
              <p:cNvPr id="100" name="Text Box 19"/>
              <p:cNvSpPr txBox="1">
                <a:spLocks noChangeArrowheads="1"/>
              </p:cNvSpPr>
              <p:nvPr/>
            </p:nvSpPr>
            <p:spPr bwMode="auto">
              <a:xfrm>
                <a:off x="2996" y="3282"/>
                <a:ext cx="259" cy="3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9FF99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 eaLnBrk="0" hangingPunct="0"/>
                <a:r>
                  <a:rPr kumimoji="1" lang="en-US" altLang="zh-CN" b="1">
                    <a:latin typeface="Times New Roman" panose="02020603050405020304" pitchFamily="18" charset="0"/>
                  </a:rPr>
                  <a:t>0</a:t>
                </a:r>
              </a:p>
            </p:txBody>
          </p:sp>
        </p:grpSp>
        <p:grpSp>
          <p:nvGrpSpPr>
            <p:cNvPr id="88" name="Group 20"/>
            <p:cNvGrpSpPr>
              <a:grpSpLocks/>
            </p:cNvGrpSpPr>
            <p:nvPr/>
          </p:nvGrpSpPr>
          <p:grpSpPr bwMode="auto">
            <a:xfrm>
              <a:off x="5976938" y="3194050"/>
              <a:ext cx="2112962" cy="749300"/>
              <a:chOff x="3930" y="1771"/>
              <a:chExt cx="1331" cy="472"/>
            </a:xfrm>
          </p:grpSpPr>
          <p:sp>
            <p:nvSpPr>
              <p:cNvPr id="92" name="Freeform 21"/>
              <p:cNvSpPr>
                <a:spLocks/>
              </p:cNvSpPr>
              <p:nvPr/>
            </p:nvSpPr>
            <p:spPr bwMode="auto">
              <a:xfrm>
                <a:off x="3930" y="1920"/>
                <a:ext cx="975" cy="323"/>
              </a:xfrm>
              <a:custGeom>
                <a:avLst/>
                <a:gdLst>
                  <a:gd name="T0" fmla="*/ 0 w 975"/>
                  <a:gd name="T1" fmla="*/ 323 h 323"/>
                  <a:gd name="T2" fmla="*/ 164 w 975"/>
                  <a:gd name="T3" fmla="*/ 203 h 323"/>
                  <a:gd name="T4" fmla="*/ 342 w 975"/>
                  <a:gd name="T5" fmla="*/ 150 h 323"/>
                  <a:gd name="T6" fmla="*/ 606 w 975"/>
                  <a:gd name="T7" fmla="*/ 188 h 323"/>
                  <a:gd name="T8" fmla="*/ 975 w 975"/>
                  <a:gd name="T9" fmla="*/ 0 h 3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75" h="323">
                    <a:moveTo>
                      <a:pt x="0" y="323"/>
                    </a:moveTo>
                    <a:cubicBezTo>
                      <a:pt x="53" y="277"/>
                      <a:pt x="107" y="232"/>
                      <a:pt x="164" y="203"/>
                    </a:cubicBezTo>
                    <a:cubicBezTo>
                      <a:pt x="221" y="174"/>
                      <a:pt x="268" y="152"/>
                      <a:pt x="342" y="150"/>
                    </a:cubicBezTo>
                    <a:cubicBezTo>
                      <a:pt x="416" y="148"/>
                      <a:pt x="500" y="213"/>
                      <a:pt x="606" y="188"/>
                    </a:cubicBezTo>
                    <a:cubicBezTo>
                      <a:pt x="712" y="163"/>
                      <a:pt x="898" y="39"/>
                      <a:pt x="975" y="0"/>
                    </a:cubicBez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9FF99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400"/>
              </a:p>
            </p:txBody>
          </p:sp>
          <p:sp>
            <p:nvSpPr>
              <p:cNvPr id="93" name="Text Box 22"/>
              <p:cNvSpPr txBox="1">
                <a:spLocks noChangeArrowheads="1"/>
              </p:cNvSpPr>
              <p:nvPr/>
            </p:nvSpPr>
            <p:spPr bwMode="auto">
              <a:xfrm>
                <a:off x="4847" y="1771"/>
                <a:ext cx="414" cy="3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9FF99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 eaLnBrk="0" hangingPunct="0"/>
                <a:r>
                  <a:rPr kumimoji="1" lang="en-US" altLang="zh-CN" b="1" i="1">
                    <a:latin typeface="Times New Roman" panose="02020603050405020304" pitchFamily="18" charset="0"/>
                  </a:rPr>
                  <a:t>f</a:t>
                </a:r>
                <a:r>
                  <a:rPr kumimoji="1" lang="en-US" altLang="zh-CN" b="1">
                    <a:latin typeface="Times New Roman" panose="02020603050405020304" pitchFamily="18" charset="0"/>
                  </a:rPr>
                  <a:t>(</a:t>
                </a:r>
                <a:r>
                  <a:rPr kumimoji="1" lang="en-US" altLang="zh-CN" b="1" i="1">
                    <a:latin typeface="Times New Roman" panose="02020603050405020304" pitchFamily="18" charset="0"/>
                  </a:rPr>
                  <a:t>t</a:t>
                </a:r>
                <a:r>
                  <a:rPr kumimoji="1" lang="en-US" altLang="zh-CN" b="1">
                    <a:latin typeface="Times New Roman" panose="02020603050405020304" pitchFamily="18" charset="0"/>
                  </a:rPr>
                  <a:t>)</a:t>
                </a:r>
              </a:p>
            </p:txBody>
          </p:sp>
        </p:grpSp>
        <p:grpSp>
          <p:nvGrpSpPr>
            <p:cNvPr id="89" name="Group 23"/>
            <p:cNvGrpSpPr>
              <a:grpSpLocks/>
            </p:cNvGrpSpPr>
            <p:nvPr/>
          </p:nvGrpSpPr>
          <p:grpSpPr bwMode="auto">
            <a:xfrm>
              <a:off x="6216654" y="3643314"/>
              <a:ext cx="846138" cy="495300"/>
              <a:chOff x="4081" y="2054"/>
              <a:chExt cx="533" cy="312"/>
            </a:xfrm>
          </p:grpSpPr>
          <p:sp>
            <p:nvSpPr>
              <p:cNvPr id="90" name="Text Box 24"/>
              <p:cNvSpPr txBox="1">
                <a:spLocks noChangeArrowheads="1"/>
              </p:cNvSpPr>
              <p:nvPr/>
            </p:nvSpPr>
            <p:spPr bwMode="auto">
              <a:xfrm>
                <a:off x="4156" y="2054"/>
                <a:ext cx="458" cy="3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9FF99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 eaLnBrk="0" hangingPunct="0"/>
                <a:r>
                  <a:rPr kumimoji="1" lang="en-US" altLang="zh-CN" b="1" i="1">
                    <a:latin typeface="Times New Roman" panose="02020603050405020304" pitchFamily="18" charset="0"/>
                  </a:rPr>
                  <a:t>f</a:t>
                </a:r>
                <a:r>
                  <a:rPr kumimoji="1" lang="en-US" altLang="zh-CN" b="1">
                    <a:latin typeface="Times New Roman" panose="02020603050405020304" pitchFamily="18" charset="0"/>
                  </a:rPr>
                  <a:t>(0)</a:t>
                </a:r>
              </a:p>
            </p:txBody>
          </p:sp>
          <p:sp>
            <p:nvSpPr>
              <p:cNvPr id="91" name="Oval 25"/>
              <p:cNvSpPr>
                <a:spLocks noChangeArrowheads="1"/>
              </p:cNvSpPr>
              <p:nvPr/>
            </p:nvSpPr>
            <p:spPr bwMode="auto">
              <a:xfrm>
                <a:off x="4081" y="2100"/>
                <a:ext cx="47" cy="47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endParaRPr kumimoji="1" lang="zh-CN" altLang="zh-CN" b="1">
                  <a:latin typeface="Times New Roman" panose="02020603050405020304" pitchFamily="18" charset="0"/>
                </a:endParaRPr>
              </a:p>
            </p:txBody>
          </p:sp>
        </p:grpSp>
      </p:grpSp>
      <p:pic>
        <p:nvPicPr>
          <p:cNvPr id="103" name="图片 102"/>
          <p:cNvPicPr>
            <a:picLocks noChangeAspect="1"/>
          </p:cNvPicPr>
          <p:nvPr/>
        </p:nvPicPr>
        <p:blipFill rotWithShape="1">
          <a:blip r:embed="rId40"/>
          <a:srcRect r="47129"/>
          <a:stretch/>
        </p:blipFill>
        <p:spPr>
          <a:xfrm>
            <a:off x="7388829" y="2489932"/>
            <a:ext cx="3209011" cy="572567"/>
          </a:xfrm>
          <a:prstGeom prst="rect">
            <a:avLst/>
          </a:prstGeom>
        </p:spPr>
      </p:pic>
      <p:pic>
        <p:nvPicPr>
          <p:cNvPr id="105" name="图片 104"/>
          <p:cNvPicPr>
            <a:picLocks noChangeAspect="1"/>
          </p:cNvPicPr>
          <p:nvPr/>
        </p:nvPicPr>
        <p:blipFill rotWithShape="1">
          <a:blip r:embed="rId41"/>
          <a:srcRect l="52132"/>
          <a:stretch/>
        </p:blipFill>
        <p:spPr>
          <a:xfrm>
            <a:off x="7621515" y="2944037"/>
            <a:ext cx="2905298" cy="572567"/>
          </a:xfrm>
          <a:prstGeom prst="rect">
            <a:avLst/>
          </a:prstGeom>
        </p:spPr>
      </p:pic>
      <p:pic>
        <p:nvPicPr>
          <p:cNvPr id="107" name="图片 106"/>
          <p:cNvPicPr>
            <a:picLocks noChangeAspect="1"/>
          </p:cNvPicPr>
          <p:nvPr/>
        </p:nvPicPr>
        <p:blipFill rotWithShape="1">
          <a:blip r:embed="rId42"/>
          <a:srcRect r="42701"/>
          <a:stretch/>
        </p:blipFill>
        <p:spPr>
          <a:xfrm>
            <a:off x="7428301" y="3447242"/>
            <a:ext cx="2771835" cy="579000"/>
          </a:xfrm>
          <a:prstGeom prst="rect">
            <a:avLst/>
          </a:prstGeom>
        </p:spPr>
      </p:pic>
      <p:pic>
        <p:nvPicPr>
          <p:cNvPr id="108" name="图片 107"/>
          <p:cNvPicPr>
            <a:picLocks noChangeAspect="1"/>
          </p:cNvPicPr>
          <p:nvPr/>
        </p:nvPicPr>
        <p:blipFill rotWithShape="1">
          <a:blip r:embed="rId43"/>
          <a:srcRect l="57069"/>
          <a:stretch/>
        </p:blipFill>
        <p:spPr>
          <a:xfrm>
            <a:off x="8259889" y="4056868"/>
            <a:ext cx="2076782" cy="579000"/>
          </a:xfrm>
          <a:prstGeom prst="rect">
            <a:avLst/>
          </a:prstGeom>
        </p:spPr>
      </p:pic>
      <p:sp>
        <p:nvSpPr>
          <p:cNvPr id="109" name="文本框 108"/>
          <p:cNvSpPr txBox="1"/>
          <p:nvPr/>
        </p:nvSpPr>
        <p:spPr>
          <a:xfrm>
            <a:off x="2552071" y="137837"/>
            <a:ext cx="12618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/>
              <a:t>单位阶跃函数</a:t>
            </a:r>
          </a:p>
        </p:txBody>
      </p:sp>
      <p:sp>
        <p:nvSpPr>
          <p:cNvPr id="110" name="文本框 109"/>
          <p:cNvSpPr txBox="1"/>
          <p:nvPr/>
        </p:nvSpPr>
        <p:spPr>
          <a:xfrm>
            <a:off x="4799833" y="137837"/>
            <a:ext cx="16209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/>
              <a:t>单位阶跃函数延迟</a:t>
            </a:r>
          </a:p>
        </p:txBody>
      </p:sp>
      <p:sp>
        <p:nvSpPr>
          <p:cNvPr id="111" name="文本框 110"/>
          <p:cNvSpPr txBox="1"/>
          <p:nvPr/>
        </p:nvSpPr>
        <p:spPr>
          <a:xfrm>
            <a:off x="6565878" y="104739"/>
            <a:ext cx="16209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/>
              <a:t>单位阶跃函数反转</a:t>
            </a:r>
          </a:p>
        </p:txBody>
      </p:sp>
      <p:sp>
        <p:nvSpPr>
          <p:cNvPr id="112" name="文本框 111"/>
          <p:cNvSpPr txBox="1"/>
          <p:nvPr/>
        </p:nvSpPr>
        <p:spPr>
          <a:xfrm>
            <a:off x="2508136" y="2102239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/>
              <a:t>闸门函数</a:t>
            </a:r>
          </a:p>
        </p:txBody>
      </p:sp>
      <p:sp>
        <p:nvSpPr>
          <p:cNvPr id="113" name="文本框 112"/>
          <p:cNvSpPr txBox="1"/>
          <p:nvPr/>
        </p:nvSpPr>
        <p:spPr>
          <a:xfrm>
            <a:off x="4484108" y="2075656"/>
            <a:ext cx="13516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/>
              <a:t>闸门函数</a:t>
            </a:r>
            <a:r>
              <a:rPr lang="en-US" altLang="zh-CN" sz="1400" dirty="0"/>
              <a:t>-</a:t>
            </a:r>
            <a:r>
              <a:rPr lang="zh-CN" altLang="en-US" sz="1400" dirty="0"/>
              <a:t>截取</a:t>
            </a:r>
          </a:p>
        </p:txBody>
      </p:sp>
      <p:sp>
        <p:nvSpPr>
          <p:cNvPr id="114" name="文本框 113"/>
          <p:cNvSpPr txBox="1"/>
          <p:nvPr/>
        </p:nvSpPr>
        <p:spPr>
          <a:xfrm>
            <a:off x="2613237" y="4479239"/>
            <a:ext cx="12618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/>
              <a:t>单位脉冲函数</a:t>
            </a:r>
          </a:p>
        </p:txBody>
      </p:sp>
      <p:sp>
        <p:nvSpPr>
          <p:cNvPr id="115" name="文本框 114"/>
          <p:cNvSpPr txBox="1"/>
          <p:nvPr/>
        </p:nvSpPr>
        <p:spPr>
          <a:xfrm>
            <a:off x="4401416" y="4503390"/>
            <a:ext cx="12618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/>
              <a:t>单位冲激函数</a:t>
            </a:r>
          </a:p>
        </p:txBody>
      </p:sp>
      <p:sp>
        <p:nvSpPr>
          <p:cNvPr id="116" name="文本框 115"/>
          <p:cNvSpPr txBox="1"/>
          <p:nvPr/>
        </p:nvSpPr>
        <p:spPr>
          <a:xfrm>
            <a:off x="6365061" y="4489309"/>
            <a:ext cx="16209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/>
              <a:t>单位冲激函数延迟</a:t>
            </a:r>
          </a:p>
        </p:txBody>
      </p:sp>
      <p:sp>
        <p:nvSpPr>
          <p:cNvPr id="117" name="文本框 116"/>
          <p:cNvSpPr txBox="1"/>
          <p:nvPr/>
        </p:nvSpPr>
        <p:spPr>
          <a:xfrm>
            <a:off x="8392199" y="4598060"/>
            <a:ext cx="16209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/>
              <a:t>单位冲激函数筛分</a:t>
            </a:r>
          </a:p>
        </p:txBody>
      </p:sp>
      <p:graphicFrame>
        <p:nvGraphicFramePr>
          <p:cNvPr id="118" name="Object 77"/>
          <p:cNvGraphicFramePr>
            <a:graphicFrameLocks noChangeAspect="1"/>
          </p:cNvGraphicFramePr>
          <p:nvPr/>
        </p:nvGraphicFramePr>
        <p:xfrm>
          <a:off x="7699691" y="1903353"/>
          <a:ext cx="1736816" cy="528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4" imgW="1397000" imgH="431800" progId="Equation.DSMT4">
                  <p:embed/>
                </p:oleObj>
              </mc:Choice>
              <mc:Fallback>
                <p:oleObj name="Equation" r:id="rId44" imgW="1397000" imgH="431800" progId="Equation.DSMT4">
                  <p:embed/>
                  <p:pic>
                    <p:nvPicPr>
                      <p:cNvPr id="118" name="Object 7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99691" y="1903353"/>
                        <a:ext cx="1736816" cy="528212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66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9" name="文本框 118"/>
          <p:cNvSpPr txBox="1"/>
          <p:nvPr/>
        </p:nvSpPr>
        <p:spPr>
          <a:xfrm>
            <a:off x="6051026" y="1997058"/>
            <a:ext cx="16209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/>
              <a:t>分段波形广义函数</a:t>
            </a:r>
          </a:p>
        </p:txBody>
      </p:sp>
    </p:spTree>
    <p:extLst>
      <p:ext uri="{BB962C8B-B14F-4D97-AF65-F5344CB8AC3E}">
        <p14:creationId xmlns:p14="http://schemas.microsoft.com/office/powerpoint/2010/main" val="25033287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" grpId="0" animBg="1"/>
      <p:bldP spid="109" grpId="0"/>
      <p:bldP spid="110" grpId="0"/>
      <p:bldP spid="111" grpId="0"/>
      <p:bldP spid="112" grpId="0"/>
      <p:bldP spid="113" grpId="0"/>
      <p:bldP spid="114" grpId="0"/>
      <p:bldP spid="115" grpId="0"/>
      <p:bldP spid="116" grpId="0"/>
      <p:bldP spid="117" grpId="0"/>
      <p:bldP spid="11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2030413" y="-125431"/>
            <a:ext cx="7886700" cy="1325563"/>
          </a:xfrm>
        </p:spPr>
        <p:txBody>
          <a:bodyPr/>
          <a:lstStyle/>
          <a:p>
            <a:r>
              <a:rPr lang="zh-CN" altLang="en-US" dirty="0"/>
              <a:t>电容、电感小结（</a:t>
            </a:r>
            <a:r>
              <a:rPr lang="en-US" altLang="zh-CN" dirty="0"/>
              <a:t>1</a:t>
            </a:r>
            <a:r>
              <a:rPr lang="zh-CN" altLang="en-US" dirty="0"/>
              <a:t>）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内容占位符 6"/>
              <p:cNvSpPr>
                <a:spLocks noGrp="1"/>
              </p:cNvSpPr>
              <p:nvPr>
                <p:ph sz="half" idx="1"/>
              </p:nvPr>
            </p:nvSpPr>
            <p:spPr>
              <a:xfrm>
                <a:off x="1905000" y="914400"/>
                <a:ext cx="4191000" cy="5181600"/>
              </a:xfrm>
            </p:spPr>
            <p:txBody>
              <a:bodyPr/>
              <a:lstStyle/>
              <a:p>
                <a:r>
                  <a:rPr lang="zh-CN" altLang="en-US" sz="1800" b="1" dirty="0"/>
                  <a:t>电容</a:t>
                </a:r>
                <a:r>
                  <a:rPr lang="zh-CN" altLang="en-US" sz="1800" dirty="0"/>
                  <a:t>                     单位法</a:t>
                </a:r>
                <a:r>
                  <a:rPr lang="en-US" altLang="zh-CN" sz="1800" dirty="0"/>
                  <a:t>[</a:t>
                </a:r>
                <a:r>
                  <a:rPr lang="zh-CN" altLang="en-US" sz="1800" dirty="0"/>
                  <a:t>拉</a:t>
                </a:r>
                <a:r>
                  <a:rPr lang="en-US" altLang="zh-CN" sz="1800" dirty="0"/>
                  <a:t>]F</a:t>
                </a:r>
              </a:p>
              <a:p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𝐶𝑢</m:t>
                    </m:r>
                    <m:r>
                      <a:rPr lang="zh-CN" altLang="en-US" sz="1800" i="1">
                        <a:latin typeface="Cambria Math" panose="02040503050406030204" pitchFamily="18" charset="0"/>
                      </a:rPr>
                      <m:t>线性</m:t>
                    </m:r>
                  </m:oMath>
                </a14:m>
                <a:r>
                  <a:rPr lang="zh-CN" altLang="en-US" sz="1800" dirty="0"/>
                  <a:t>非时变电容</a:t>
                </a:r>
                <a:endParaRPr lang="en-US" altLang="zh-CN" sz="1800" dirty="0"/>
              </a:p>
              <a:p>
                <a:r>
                  <a:rPr lang="zh-CN" altLang="en-US" sz="1800" dirty="0"/>
                  <a:t>动态元件</a:t>
                </a:r>
                <a:r>
                  <a:rPr lang="en-US" altLang="zh-CN" sz="1800" dirty="0"/>
                  <a:t>——</a:t>
                </a:r>
                <a:r>
                  <a:rPr lang="en-US" altLang="zh-CN" sz="1800" i="1" dirty="0" err="1"/>
                  <a:t>i</a:t>
                </a:r>
                <a:r>
                  <a:rPr lang="zh-CN" altLang="en-US" sz="1800" dirty="0"/>
                  <a:t>的大小与</a:t>
                </a:r>
                <a:r>
                  <a:rPr lang="en-US" altLang="zh-CN" sz="1800" i="1" dirty="0"/>
                  <a:t>u</a:t>
                </a:r>
                <a:r>
                  <a:rPr lang="zh-CN" altLang="en-US" sz="1800" dirty="0"/>
                  <a:t>的变化率成正比，与</a:t>
                </a:r>
                <a:r>
                  <a:rPr lang="en-US" altLang="zh-CN" sz="1800" i="1" dirty="0"/>
                  <a:t>u</a:t>
                </a:r>
                <a:r>
                  <a:rPr lang="zh-CN" altLang="en-US" sz="1800" dirty="0"/>
                  <a:t>的大小无关</a:t>
                </a:r>
                <a:endParaRPr lang="en-US" altLang="zh-CN" sz="18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1800" i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CN" sz="1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800" i="1">
                          <a:latin typeface="Cambria Math" panose="02040503050406030204" pitchFamily="18" charset="0"/>
                        </a:rPr>
                        <m:t>𝐶</m:t>
                      </m:r>
                      <m:f>
                        <m:fPr>
                          <m:ctrlPr>
                            <a:rPr lang="en-US" altLang="zh-CN" sz="1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𝑑𝑢</m:t>
                          </m:r>
                        </m:num>
                        <m:den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en-US" altLang="zh-CN" sz="1800" dirty="0"/>
              </a:p>
              <a:p>
                <a:pPr marL="0" indent="0">
                  <a:buNone/>
                </a:pPr>
                <a:endParaRPr lang="en-US" altLang="zh-CN" sz="1800" dirty="0"/>
              </a:p>
              <a:p>
                <a:pPr marL="0" indent="0">
                  <a:buNone/>
                </a:pPr>
                <a:endParaRPr lang="en-US" altLang="zh-CN" sz="1800" dirty="0"/>
              </a:p>
              <a:p>
                <a:endParaRPr lang="en-US" altLang="zh-CN" sz="1800" dirty="0"/>
              </a:p>
              <a:p>
                <a:endParaRPr lang="en-US" altLang="zh-CN" sz="1800" dirty="0"/>
              </a:p>
              <a:p>
                <a:endParaRPr lang="en-US" altLang="zh-CN" sz="1800" dirty="0"/>
              </a:p>
              <a:p>
                <a:endParaRPr lang="en-US" altLang="zh-CN" sz="1800" dirty="0"/>
              </a:p>
              <a:p>
                <a:endParaRPr lang="en-US" altLang="zh-CN" dirty="0"/>
              </a:p>
              <a:p>
                <a:endParaRPr lang="en-US" altLang="zh-CN" dirty="0"/>
              </a:p>
              <a:p>
                <a:endParaRPr lang="zh-CN" altLang="en-US" dirty="0"/>
              </a:p>
            </p:txBody>
          </p:sp>
        </mc:Choice>
        <mc:Fallback>
          <p:sp>
            <p:nvSpPr>
              <p:cNvPr id="7" name="内容占位符 6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1905000" y="914400"/>
                <a:ext cx="4191000" cy="5181600"/>
              </a:xfrm>
              <a:blipFill>
                <a:blip r:embed="rId2"/>
                <a:stretch>
                  <a:fillRect l="-1019" t="-11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5648E5A-CF64-4266-932E-274557207202}" type="datetime1">
              <a:rPr lang="zh-CN" altLang="en-US" smtClean="0"/>
              <a:pPr>
                <a:defRPr/>
              </a:pPr>
              <a:t>2024/8/17</a:t>
            </a:fld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电路理论</a:t>
            </a: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1A9A88-BB01-4C3C-B2FB-163983272EDA}" type="slidenum">
              <a:rPr lang="en-US" altLang="zh-CN" smtClean="0"/>
              <a:pPr>
                <a:defRPr/>
              </a:pPr>
              <a:t>11</a:t>
            </a:fld>
            <a:endParaRPr lang="en-US" altLang="zh-CN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9657" y="771750"/>
            <a:ext cx="946049" cy="466500"/>
          </a:xfrm>
          <a:prstGeom prst="rect">
            <a:avLst/>
          </a:prstGeom>
        </p:spPr>
      </p:pic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3417203" y="2609777"/>
          <a:ext cx="2621343" cy="7048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511280" imgH="406080" progId="Equation.3">
                  <p:embed/>
                </p:oleObj>
              </mc:Choice>
              <mc:Fallback>
                <p:oleObj name="公式" r:id="rId4" imgW="1511280" imgH="406080" progId="Equation.3">
                  <p:embed/>
                  <p:pic>
                    <p:nvPicPr>
                      <p:cNvPr id="14" name="对象 13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417203" y="2609777"/>
                        <a:ext cx="2621343" cy="70489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4"/>
          <p:cNvGraphicFramePr>
            <a:graphicFrameLocks noChangeAspect="1"/>
          </p:cNvGraphicFramePr>
          <p:nvPr/>
        </p:nvGraphicFramePr>
        <p:xfrm>
          <a:off x="3431340" y="3314676"/>
          <a:ext cx="2433719" cy="5786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701720" imgH="406080" progId="Equation.3">
                  <p:embed/>
                </p:oleObj>
              </mc:Choice>
              <mc:Fallback>
                <p:oleObj name="公式" r:id="rId6" imgW="1701720" imgH="406080" progId="Equation.3">
                  <p:embed/>
                  <p:pic>
                    <p:nvPicPr>
                      <p:cNvPr id="15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31340" y="3314676"/>
                        <a:ext cx="2433719" cy="57866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2497138" y="5865813"/>
          <a:ext cx="3128962" cy="704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803240" imgH="406080" progId="Equation.3">
                  <p:embed/>
                </p:oleObj>
              </mc:Choice>
              <mc:Fallback>
                <p:oleObj name="公式" r:id="rId8" imgW="1803240" imgH="406080" progId="Equation.3">
                  <p:embed/>
                  <p:pic>
                    <p:nvPicPr>
                      <p:cNvPr id="16" name="对象 15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497138" y="5865813"/>
                        <a:ext cx="3128962" cy="7048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17" name="内容占位符 6"/>
              <p:cNvSpPr txBox="1">
                <a:spLocks/>
              </p:cNvSpPr>
              <p:nvPr/>
            </p:nvSpPr>
            <p:spPr bwMode="auto">
              <a:xfrm>
                <a:off x="6218238" y="953712"/>
                <a:ext cx="4191000" cy="180440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 kern="1200">
                    <a:solidFill>
                      <a:schemeClr val="tx1"/>
                    </a:solidFill>
                    <a:latin typeface="+mn-lt"/>
                    <a:ea typeface="华文宋体" panose="02010600040101010101" pitchFamily="2" charset="-122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宋体" panose="02010600030101010101" pitchFamily="2" charset="-122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 kern="1200">
                    <a:solidFill>
                      <a:schemeClr val="tx1"/>
                    </a:solidFill>
                    <a:latin typeface="+mn-lt"/>
                    <a:ea typeface="华文宋体" panose="02010600040101010101" pitchFamily="2" charset="-122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kern="1200">
                    <a:solidFill>
                      <a:schemeClr val="tx1"/>
                    </a:solidFill>
                    <a:latin typeface="+mn-lt"/>
                    <a:ea typeface="华文宋体" panose="02010600040101010101" pitchFamily="2" charset="-122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zh-CN" altLang="en-US" sz="1800" b="1" dirty="0"/>
                  <a:t>电感</a:t>
                </a:r>
                <a:r>
                  <a:rPr lang="zh-CN" altLang="en-US" sz="1800" dirty="0"/>
                  <a:t>                     单位亨</a:t>
                </a:r>
                <a:r>
                  <a:rPr lang="en-US" altLang="zh-CN" sz="1800" dirty="0"/>
                  <a:t>[</a:t>
                </a:r>
                <a:r>
                  <a:rPr lang="zh-CN" altLang="en-US" sz="1800" dirty="0"/>
                  <a:t>利</a:t>
                </a:r>
                <a:r>
                  <a:rPr lang="en-US" altLang="zh-CN" sz="1800" dirty="0"/>
                  <a:t>]H</a:t>
                </a:r>
              </a:p>
              <a:p>
                <a14:m>
                  <m:oMath xmlns:m="http://schemas.openxmlformats.org/officeDocument/2006/math">
                    <m:r>
                      <a:rPr lang="zh-CN" altLang="en-US" sz="1800" i="1">
                        <a:latin typeface="Cambria Math" panose="02040503050406030204" pitchFamily="18" charset="0"/>
                      </a:rPr>
                      <m:t>𝜓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𝐿𝑖</m:t>
                    </m:r>
                    <m:r>
                      <a:rPr lang="zh-CN" altLang="en-US" sz="1800" i="1">
                        <a:latin typeface="Cambria Math" panose="02040503050406030204" pitchFamily="18" charset="0"/>
                      </a:rPr>
                      <m:t>线性</m:t>
                    </m:r>
                  </m:oMath>
                </a14:m>
                <a:r>
                  <a:rPr lang="zh-CN" altLang="en-US" sz="1800" dirty="0"/>
                  <a:t>非时变电感</a:t>
                </a:r>
                <a:endParaRPr lang="en-US" altLang="zh-CN" sz="1800" dirty="0"/>
              </a:p>
              <a:p>
                <a:r>
                  <a:rPr lang="zh-CN" altLang="en-US" sz="1800" dirty="0"/>
                  <a:t>动态元件</a:t>
                </a:r>
                <a:r>
                  <a:rPr lang="en-US" altLang="zh-CN" sz="1800" dirty="0"/>
                  <a:t>——</a:t>
                </a:r>
                <a:r>
                  <a:rPr lang="en-US" altLang="zh-CN" sz="1800" i="1" dirty="0"/>
                  <a:t>u</a:t>
                </a:r>
                <a:r>
                  <a:rPr lang="zh-CN" altLang="en-US" sz="1800" dirty="0"/>
                  <a:t>的大小与</a:t>
                </a:r>
                <a:r>
                  <a:rPr lang="en-US" altLang="zh-CN" sz="1800" i="1" dirty="0"/>
                  <a:t>i</a:t>
                </a:r>
                <a:r>
                  <a:rPr lang="zh-CN" altLang="en-US" sz="1800" dirty="0"/>
                  <a:t>的变化率成正比，与</a:t>
                </a:r>
                <a:r>
                  <a:rPr lang="en-US" altLang="zh-CN" sz="1800" i="1" dirty="0"/>
                  <a:t>i</a:t>
                </a:r>
                <a:r>
                  <a:rPr lang="zh-CN" altLang="en-US" sz="1800" dirty="0"/>
                  <a:t>的大小无关</a:t>
                </a:r>
                <a:endParaRPr lang="en-US" altLang="zh-CN" sz="18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1800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altLang="zh-CN" sz="1800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80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80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zh-CN" altLang="en-US" sz="180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num>
                        <m:den>
                          <m:r>
                            <a:rPr lang="en-US" altLang="zh-CN" sz="180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altLang="zh-CN" sz="1800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800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f>
                        <m:fPr>
                          <m:ctrlPr>
                            <a:rPr lang="en-US" altLang="zh-CN" sz="180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80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𝑑𝑖</m:t>
                          </m:r>
                        </m:num>
                        <m:den>
                          <m:r>
                            <a:rPr lang="en-US" altLang="zh-CN" sz="180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en-US" altLang="zh-CN" sz="1800" dirty="0"/>
              </a:p>
              <a:p>
                <a:endParaRPr lang="en-US" altLang="zh-CN" sz="1800" dirty="0"/>
              </a:p>
              <a:p>
                <a:endParaRPr lang="en-US" altLang="zh-CN" sz="1800" dirty="0"/>
              </a:p>
              <a:p>
                <a:endParaRPr lang="en-US" altLang="zh-CN" sz="1800" dirty="0"/>
              </a:p>
              <a:p>
                <a:endParaRPr lang="en-US" altLang="zh-CN" dirty="0"/>
              </a:p>
              <a:p>
                <a:endParaRPr lang="en-US" altLang="zh-CN" dirty="0"/>
              </a:p>
              <a:p>
                <a:endParaRPr lang="zh-CN" altLang="en-US" dirty="0"/>
              </a:p>
            </p:txBody>
          </p:sp>
        </mc:Choice>
        <mc:Fallback>
          <p:sp>
            <p:nvSpPr>
              <p:cNvPr id="17" name="内容占位符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218238" y="953712"/>
                <a:ext cx="4191000" cy="1804408"/>
              </a:xfrm>
              <a:prstGeom prst="rect">
                <a:avLst/>
              </a:prstGeom>
              <a:blipFill>
                <a:blip r:embed="rId10"/>
                <a:stretch>
                  <a:fillRect l="-1017" t="-1689" r="-14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5" name="组合 34"/>
          <p:cNvGrpSpPr/>
          <p:nvPr/>
        </p:nvGrpSpPr>
        <p:grpSpPr>
          <a:xfrm>
            <a:off x="7464153" y="861131"/>
            <a:ext cx="528333" cy="469997"/>
            <a:chOff x="5940152" y="861130"/>
            <a:chExt cx="528333" cy="469997"/>
          </a:xfrm>
        </p:grpSpPr>
        <p:pic>
          <p:nvPicPr>
            <p:cNvPr id="19" name="图片 18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5940152" y="987496"/>
              <a:ext cx="528333" cy="343631"/>
            </a:xfrm>
            <a:prstGeom prst="rect">
              <a:avLst/>
            </a:prstGeom>
          </p:spPr>
        </p:pic>
        <p:sp>
          <p:nvSpPr>
            <p:cNvPr id="20" name="文本框 19"/>
            <p:cNvSpPr txBox="1"/>
            <p:nvPr/>
          </p:nvSpPr>
          <p:spPr>
            <a:xfrm>
              <a:off x="6019800" y="861130"/>
              <a:ext cx="268022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altLang="zh-CN" sz="1400" i="1" dirty="0"/>
                <a:t>L</a:t>
              </a:r>
              <a:endParaRPr lang="zh-CN" altLang="en-US" sz="1400" i="1" dirty="0"/>
            </a:p>
          </p:txBody>
        </p:sp>
      </p:grpSp>
      <p:graphicFrame>
        <p:nvGraphicFramePr>
          <p:cNvPr id="23" name="对象 22"/>
          <p:cNvGraphicFramePr>
            <a:graphicFrameLocks noChangeAspect="1"/>
          </p:cNvGraphicFramePr>
          <p:nvPr/>
        </p:nvGraphicFramePr>
        <p:xfrm>
          <a:off x="7827853" y="2758493"/>
          <a:ext cx="2252651" cy="6057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1511280" imgH="406080" progId="Equation.3">
                  <p:embed/>
                </p:oleObj>
              </mc:Choice>
              <mc:Fallback>
                <p:oleObj name="公式" r:id="rId12" imgW="1511280" imgH="406080" progId="Equation.3">
                  <p:embed/>
                  <p:pic>
                    <p:nvPicPr>
                      <p:cNvPr id="23" name="对象 22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7827853" y="2758493"/>
                        <a:ext cx="2252651" cy="60575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/>
          <p:cNvGraphicFramePr>
            <a:graphicFrameLocks noChangeAspect="1"/>
          </p:cNvGraphicFramePr>
          <p:nvPr/>
        </p:nvGraphicFramePr>
        <p:xfrm>
          <a:off x="7730706" y="3308439"/>
          <a:ext cx="2297070" cy="5485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1701720" imgH="406080" progId="Equation.3">
                  <p:embed/>
                </p:oleObj>
              </mc:Choice>
              <mc:Fallback>
                <p:oleObj name="公式" r:id="rId14" imgW="1701720" imgH="406080" progId="Equation.3">
                  <p:embed/>
                  <p:pic>
                    <p:nvPicPr>
                      <p:cNvPr id="25" name="对象 24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7730706" y="3308439"/>
                        <a:ext cx="2297070" cy="54855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5"/>
          <p:cNvGraphicFramePr>
            <a:graphicFrameLocks noChangeAspect="1"/>
          </p:cNvGraphicFramePr>
          <p:nvPr/>
        </p:nvGraphicFramePr>
        <p:xfrm>
          <a:off x="7183439" y="5853114"/>
          <a:ext cx="2670175" cy="604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1790640" imgH="406080" progId="Equation.3">
                  <p:embed/>
                </p:oleObj>
              </mc:Choice>
              <mc:Fallback>
                <p:oleObj name="公式" r:id="rId16" imgW="1790640" imgH="406080" progId="Equation.3">
                  <p:embed/>
                  <p:pic>
                    <p:nvPicPr>
                      <p:cNvPr id="26" name="对象 25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7183439" y="5853114"/>
                        <a:ext cx="2670175" cy="6048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矩形 28"/>
          <p:cNvSpPr/>
          <p:nvPr/>
        </p:nvSpPr>
        <p:spPr>
          <a:xfrm>
            <a:off x="2303502" y="2748960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记忆元件</a:t>
            </a:r>
          </a:p>
        </p:txBody>
      </p:sp>
      <p:sp>
        <p:nvSpPr>
          <p:cNvPr id="30" name="矩形 29"/>
          <p:cNvSpPr/>
          <p:nvPr/>
        </p:nvSpPr>
        <p:spPr>
          <a:xfrm>
            <a:off x="2303502" y="3409876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储能元件</a:t>
            </a:r>
            <a:endParaRPr lang="en-US" altLang="zh-CN" dirty="0"/>
          </a:p>
        </p:txBody>
      </p:sp>
      <p:sp>
        <p:nvSpPr>
          <p:cNvPr id="31" name="矩形 30"/>
          <p:cNvSpPr/>
          <p:nvPr/>
        </p:nvSpPr>
        <p:spPr>
          <a:xfrm>
            <a:off x="1631521" y="4035287"/>
            <a:ext cx="4407024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当 </a:t>
            </a:r>
            <a:r>
              <a:rPr lang="en-US" altLang="zh-CN" dirty="0"/>
              <a:t>u </a:t>
            </a:r>
            <a:r>
              <a:rPr lang="zh-CN" altLang="en-US" dirty="0"/>
              <a:t>为常数</a:t>
            </a:r>
            <a:r>
              <a:rPr lang="en-US" altLang="zh-CN" dirty="0"/>
              <a:t>(</a:t>
            </a:r>
            <a:r>
              <a:rPr lang="zh-CN" altLang="en-US" dirty="0"/>
              <a:t>直流</a:t>
            </a:r>
            <a:r>
              <a:rPr lang="en-US" altLang="zh-CN" dirty="0"/>
              <a:t>)</a:t>
            </a:r>
            <a:r>
              <a:rPr lang="zh-CN" altLang="en-US" dirty="0"/>
              <a:t>时，</a:t>
            </a:r>
            <a:r>
              <a:rPr lang="en-US" altLang="zh-CN" dirty="0"/>
              <a:t>du/</a:t>
            </a:r>
            <a:r>
              <a:rPr lang="en-US" altLang="zh-CN" dirty="0" err="1"/>
              <a:t>dt</a:t>
            </a:r>
            <a:r>
              <a:rPr lang="en-US" altLang="zh-CN" dirty="0"/>
              <a:t> =0, </a:t>
            </a:r>
            <a:r>
              <a:rPr lang="en-US" altLang="zh-CN" dirty="0" err="1"/>
              <a:t>i</a:t>
            </a:r>
            <a:r>
              <a:rPr lang="en-US" altLang="zh-CN" dirty="0"/>
              <a:t>=0</a:t>
            </a:r>
            <a:r>
              <a:rPr lang="zh-CN" altLang="en-US" dirty="0"/>
              <a:t>。电容在直流稳态电路中相当于开路，电容有</a:t>
            </a:r>
            <a:r>
              <a:rPr lang="zh-CN" altLang="en-US" b="1" dirty="0">
                <a:solidFill>
                  <a:srgbClr val="FF0000"/>
                </a:solidFill>
              </a:rPr>
              <a:t>隔直</a:t>
            </a:r>
            <a:r>
              <a:rPr lang="zh-CN" altLang="en-US" dirty="0"/>
              <a:t>作用。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电容电流在</a:t>
            </a:r>
            <a:r>
              <a:rPr lang="en-US" altLang="zh-CN" dirty="0"/>
              <a:t>t</a:t>
            </a:r>
            <a:r>
              <a:rPr lang="en-US" altLang="zh-CN" baseline="-25000" dirty="0"/>
              <a:t>0</a:t>
            </a:r>
            <a:r>
              <a:rPr lang="zh-CN" altLang="en-US" dirty="0"/>
              <a:t>处为有限值，电容电压在</a:t>
            </a:r>
            <a:r>
              <a:rPr lang="en-US" altLang="zh-CN" dirty="0"/>
              <a:t>t</a:t>
            </a:r>
            <a:r>
              <a:rPr lang="en-US" altLang="zh-CN" baseline="-25000" dirty="0"/>
              <a:t>0</a:t>
            </a:r>
            <a:r>
              <a:rPr lang="zh-CN" altLang="en-US" dirty="0"/>
              <a:t>处连续；电容电流在</a:t>
            </a:r>
            <a:r>
              <a:rPr lang="en-US" altLang="zh-CN" dirty="0"/>
              <a:t>t</a:t>
            </a:r>
            <a:r>
              <a:rPr lang="en-US" altLang="zh-CN" baseline="-25000" dirty="0"/>
              <a:t>0</a:t>
            </a:r>
            <a:r>
              <a:rPr lang="zh-CN" altLang="en-US" dirty="0"/>
              <a:t>处为无限大，电容电压在</a:t>
            </a:r>
            <a:r>
              <a:rPr lang="en-US" altLang="zh-CN" dirty="0"/>
              <a:t>t</a:t>
            </a:r>
            <a:r>
              <a:rPr lang="en-US" altLang="zh-CN" baseline="-25000" dirty="0"/>
              <a:t>0</a:t>
            </a:r>
            <a:r>
              <a:rPr lang="zh-CN" altLang="en-US" dirty="0"/>
              <a:t>处跳变。</a:t>
            </a:r>
            <a:endParaRPr lang="en-US" altLang="zh-CN" dirty="0"/>
          </a:p>
        </p:txBody>
      </p:sp>
      <p:sp>
        <p:nvSpPr>
          <p:cNvPr id="32" name="矩形 31"/>
          <p:cNvSpPr/>
          <p:nvPr/>
        </p:nvSpPr>
        <p:spPr>
          <a:xfrm>
            <a:off x="6096001" y="4076971"/>
            <a:ext cx="4456339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当 </a:t>
            </a:r>
            <a:r>
              <a:rPr lang="en-US" altLang="zh-CN" dirty="0" err="1"/>
              <a:t>i</a:t>
            </a:r>
            <a:r>
              <a:rPr lang="en-US" altLang="zh-CN" dirty="0"/>
              <a:t> </a:t>
            </a:r>
            <a:r>
              <a:rPr lang="zh-CN" altLang="en-US" dirty="0"/>
              <a:t>为常数</a:t>
            </a:r>
            <a:r>
              <a:rPr lang="en-US" altLang="zh-CN" dirty="0"/>
              <a:t>(</a:t>
            </a:r>
            <a:r>
              <a:rPr lang="zh-CN" altLang="en-US" dirty="0"/>
              <a:t>直流</a:t>
            </a:r>
            <a:r>
              <a:rPr lang="en-US" altLang="zh-CN" dirty="0"/>
              <a:t>)</a:t>
            </a:r>
            <a:r>
              <a:rPr lang="zh-CN" altLang="en-US" dirty="0"/>
              <a:t>时，</a:t>
            </a:r>
            <a:r>
              <a:rPr lang="en-US" altLang="zh-CN" dirty="0"/>
              <a:t>di/</a:t>
            </a:r>
            <a:r>
              <a:rPr lang="en-US" altLang="zh-CN" dirty="0" err="1"/>
              <a:t>dt</a:t>
            </a:r>
            <a:r>
              <a:rPr lang="en-US" altLang="zh-CN" dirty="0"/>
              <a:t> =0, u=0</a:t>
            </a:r>
            <a:r>
              <a:rPr lang="zh-CN" altLang="en-US" dirty="0"/>
              <a:t>。电流在直流稳态电路中相当于短路，电感有</a:t>
            </a:r>
            <a:r>
              <a:rPr lang="zh-CN" altLang="en-US" b="1" dirty="0">
                <a:solidFill>
                  <a:srgbClr val="FF0000"/>
                </a:solidFill>
              </a:rPr>
              <a:t>通直</a:t>
            </a:r>
            <a:r>
              <a:rPr lang="zh-CN" altLang="en-US" dirty="0"/>
              <a:t>作用。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电感电压在</a:t>
            </a:r>
            <a:r>
              <a:rPr lang="en-US" altLang="zh-CN" dirty="0"/>
              <a:t>t</a:t>
            </a:r>
            <a:r>
              <a:rPr lang="en-US" altLang="zh-CN" baseline="-25000" dirty="0"/>
              <a:t>0</a:t>
            </a:r>
            <a:r>
              <a:rPr lang="zh-CN" altLang="en-US" dirty="0"/>
              <a:t>处为有限值，电感电压在</a:t>
            </a:r>
            <a:r>
              <a:rPr lang="en-US" altLang="zh-CN" dirty="0"/>
              <a:t>t</a:t>
            </a:r>
            <a:r>
              <a:rPr lang="en-US" altLang="zh-CN" baseline="-25000" dirty="0"/>
              <a:t>0</a:t>
            </a:r>
            <a:r>
              <a:rPr lang="zh-CN" altLang="en-US" dirty="0"/>
              <a:t>处连续；电感电压在</a:t>
            </a:r>
            <a:r>
              <a:rPr lang="en-US" altLang="zh-CN" dirty="0"/>
              <a:t>t</a:t>
            </a:r>
            <a:r>
              <a:rPr lang="en-US" altLang="zh-CN" baseline="-25000" dirty="0"/>
              <a:t>0</a:t>
            </a:r>
            <a:r>
              <a:rPr lang="zh-CN" altLang="en-US" dirty="0"/>
              <a:t>处为无限大，电感电压在</a:t>
            </a:r>
            <a:r>
              <a:rPr lang="en-US" altLang="zh-CN" dirty="0"/>
              <a:t>t</a:t>
            </a:r>
            <a:r>
              <a:rPr lang="en-US" altLang="zh-CN" baseline="-25000" dirty="0"/>
              <a:t>0</a:t>
            </a:r>
            <a:r>
              <a:rPr lang="zh-CN" altLang="en-US" dirty="0"/>
              <a:t>处跳变。</a:t>
            </a:r>
            <a:endParaRPr lang="en-US" altLang="zh-CN" dirty="0"/>
          </a:p>
        </p:txBody>
      </p:sp>
      <p:sp>
        <p:nvSpPr>
          <p:cNvPr id="33" name="矩形 32"/>
          <p:cNvSpPr/>
          <p:nvPr/>
        </p:nvSpPr>
        <p:spPr>
          <a:xfrm>
            <a:off x="6453070" y="2793432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记忆元件</a:t>
            </a:r>
          </a:p>
        </p:txBody>
      </p:sp>
      <p:sp>
        <p:nvSpPr>
          <p:cNvPr id="34" name="矩形 33"/>
          <p:cNvSpPr/>
          <p:nvPr/>
        </p:nvSpPr>
        <p:spPr>
          <a:xfrm>
            <a:off x="6494804" y="3419343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储能元件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138980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29" grpId="0"/>
      <p:bldP spid="30" grpId="0"/>
      <p:bldP spid="33" grpId="0"/>
      <p:bldP spid="3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14"/>
          <p:cNvSpPr/>
          <p:nvPr/>
        </p:nvSpPr>
        <p:spPr bwMode="auto">
          <a:xfrm>
            <a:off x="3237866" y="2150534"/>
            <a:ext cx="197485" cy="2078567"/>
          </a:xfrm>
          <a:prstGeom prst="leftBrace">
            <a:avLst>
              <a:gd name="adj1" fmla="val 48333"/>
              <a:gd name="adj2" fmla="val 50065"/>
            </a:avLst>
          </a:prstGeom>
          <a:noFill/>
          <a:ln w="19050">
            <a:solidFill>
              <a:sysClr val="windowText" lastClr="00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99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240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None/>
              <a:defRPr/>
            </a:pPr>
            <a:endParaRPr lang="zh-CN" altLang="en-US" sz="1800" kern="0">
              <a:ea typeface="隶书" panose="02010509060101010101" pitchFamily="49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435351" y="1843748"/>
            <a:ext cx="7055027" cy="26281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1"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+mn-ea"/>
                <a:sym typeface="+mn-ea"/>
              </a:rPr>
              <a:t>计算时间常数（独立源置零，等效为</a:t>
            </a:r>
            <a:r>
              <a:rPr kumimoji="1"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+mn-ea"/>
                <a:sym typeface="+mn-ea"/>
              </a:rPr>
              <a:t>RC</a:t>
            </a:r>
            <a:r>
              <a:rPr kumimoji="1"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+mn-ea"/>
                <a:sym typeface="+mn-ea"/>
              </a:rPr>
              <a:t>电路或</a:t>
            </a:r>
            <a:r>
              <a:rPr kumimoji="1"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+mn-ea"/>
                <a:sym typeface="+mn-ea"/>
              </a:rPr>
              <a:t>RL</a:t>
            </a:r>
            <a:r>
              <a:rPr kumimoji="1"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+mn-ea"/>
                <a:sym typeface="+mn-ea"/>
              </a:rPr>
              <a:t>电路）</a:t>
            </a:r>
          </a:p>
          <a:p>
            <a:pPr marL="457200" indent="-4572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1"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+mn-ea"/>
                <a:sym typeface="+mn-ea"/>
              </a:rPr>
              <a:t>计算待求变量的初始值（</a:t>
            </a:r>
            <a:r>
              <a:rPr kumimoji="1" lang="en-US" altLang="zh-CN" sz="2800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charset="-122"/>
                <a:sym typeface="+mn-ea"/>
              </a:rPr>
              <a:t>0</a:t>
            </a:r>
            <a:r>
              <a:rPr kumimoji="1" lang="en-US" altLang="zh-CN" sz="2800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charset="-122"/>
                <a:sym typeface="+mn-ea"/>
              </a:rPr>
              <a:t>+</a:t>
            </a:r>
            <a:r>
              <a:rPr kumimoji="1" lang="zh-CN" altLang="en-US" sz="2800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charset="-122"/>
                <a:sym typeface="+mn-ea"/>
              </a:rPr>
              <a:t>等效电路</a:t>
            </a:r>
            <a:r>
              <a:rPr kumimoji="1"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+mn-ea"/>
                <a:sym typeface="+mn-ea"/>
              </a:rPr>
              <a:t>）</a:t>
            </a:r>
          </a:p>
          <a:p>
            <a:pPr marL="457200" indent="-4572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1"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+mn-ea"/>
                <a:sym typeface="+mn-ea"/>
              </a:rPr>
              <a:t>计算待求变量的直流稳态值（稳态电路）</a:t>
            </a:r>
          </a:p>
          <a:p>
            <a:pPr marL="457200" indent="-4572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1"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+mn-ea"/>
                <a:sym typeface="+mn-ea"/>
              </a:rPr>
              <a:t>写出响应表达式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1660196" y="2928206"/>
            <a:ext cx="1627369" cy="52322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charset="-122"/>
                <a:sym typeface="+mn-ea"/>
              </a:rPr>
              <a:t>解题步骤</a:t>
            </a:r>
          </a:p>
        </p:txBody>
      </p:sp>
      <p:sp>
        <p:nvSpPr>
          <p:cNvPr id="26" name="文本框 25"/>
          <p:cNvSpPr txBox="1"/>
          <p:nvPr/>
        </p:nvSpPr>
        <p:spPr>
          <a:xfrm>
            <a:off x="1660196" y="1221113"/>
            <a:ext cx="1775155" cy="5232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800" b="1" dirty="0">
                <a:solidFill>
                  <a:srgbClr val="0000FF"/>
                </a:solidFill>
                <a:ea typeface="楷体" panose="02010609060101010101" charset="-122"/>
                <a:cs typeface="+mj-cs"/>
                <a:sym typeface="+mn-ea"/>
              </a:rPr>
              <a:t>三要素法：</a:t>
            </a:r>
          </a:p>
        </p:txBody>
      </p:sp>
      <p:sp>
        <p:nvSpPr>
          <p:cNvPr id="27" name="文本框 26"/>
          <p:cNvSpPr txBox="1"/>
          <p:nvPr/>
        </p:nvSpPr>
        <p:spPr>
          <a:xfrm>
            <a:off x="1660196" y="4458027"/>
            <a:ext cx="1160481" cy="5232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  <a:ea typeface="楷体" panose="02010609060101010101" charset="-122"/>
                <a:cs typeface="+mj-cs"/>
                <a:sym typeface="+mn-ea"/>
              </a:rPr>
              <a:t>注意：</a:t>
            </a:r>
          </a:p>
        </p:txBody>
      </p:sp>
      <p:sp>
        <p:nvSpPr>
          <p:cNvPr id="31" name="文本框 30"/>
          <p:cNvSpPr txBox="1"/>
          <p:nvPr/>
        </p:nvSpPr>
        <p:spPr>
          <a:xfrm>
            <a:off x="2794450" y="4471902"/>
            <a:ext cx="7503463" cy="181588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514350" indent="-514350">
              <a:buAutoNum type="arabicPeriod"/>
            </a:pPr>
            <a:r>
              <a:rPr lang="zh-CN" altLang="en-US" sz="2800" b="1" dirty="0">
                <a:solidFill>
                  <a:srgbClr val="FF0000"/>
                </a:solidFill>
                <a:ea typeface="楷体" panose="02010609060101010101" charset="-122"/>
                <a:cs typeface="+mj-cs"/>
                <a:sym typeface="+mn-ea"/>
              </a:rPr>
              <a:t>时间常数计算需用等效电阻、等效电容、等效电感。</a:t>
            </a:r>
            <a:endParaRPr lang="en-US" altLang="zh-CN" sz="2800" b="1" dirty="0">
              <a:solidFill>
                <a:srgbClr val="FF0000"/>
              </a:solidFill>
              <a:ea typeface="楷体" panose="02010609060101010101" charset="-122"/>
              <a:cs typeface="+mj-cs"/>
              <a:sym typeface="+mn-ea"/>
            </a:endParaRPr>
          </a:p>
          <a:p>
            <a:pPr marL="514350" indent="-514350">
              <a:buAutoNum type="arabicPeriod"/>
            </a:pPr>
            <a:r>
              <a:rPr lang="zh-CN" altLang="en-US" sz="2800" b="1" dirty="0">
                <a:solidFill>
                  <a:srgbClr val="FF0000"/>
                </a:solidFill>
                <a:ea typeface="楷体" panose="02010609060101010101" charset="-122"/>
                <a:cs typeface="+mj-cs"/>
                <a:sym typeface="+mn-ea"/>
              </a:rPr>
              <a:t>仅电容电压、电感电流连续，其余电量通常不连续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1599751" y="234197"/>
            <a:ext cx="1996330" cy="5232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charset="-122"/>
                <a:sym typeface="+mn-ea"/>
              </a:rPr>
              <a:t>暂态分析：</a:t>
            </a: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3596081" y="1260473"/>
          <a:ext cx="42545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2108000" imgH="10668000" progId="Equation.DSMT4">
                  <p:embed/>
                </p:oleObj>
              </mc:Choice>
              <mc:Fallback>
                <p:oleObj name="Equation" r:id="rId2" imgW="102108000" imgH="10668000" progId="Equation.DSMT4">
                  <p:embed/>
                  <p:pic>
                    <p:nvPicPr>
                      <p:cNvPr id="2" name="对象 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596081" y="1260473"/>
                        <a:ext cx="4254500" cy="444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文本框 11"/>
          <p:cNvSpPr txBox="1"/>
          <p:nvPr/>
        </p:nvSpPr>
        <p:spPr>
          <a:xfrm>
            <a:off x="3276757" y="197559"/>
            <a:ext cx="705502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2800" b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charset="-122"/>
                <a:sym typeface="+mn-ea"/>
              </a:rPr>
              <a:t>电路状态发生变化瞬间的物理过程，分析理解电路因不合理操作引起的过流</a:t>
            </a:r>
            <a:r>
              <a:rPr kumimoji="1" lang="en-US" altLang="zh-CN" sz="2800" b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charset="-122"/>
                <a:sym typeface="+mn-ea"/>
              </a:rPr>
              <a:t>/</a:t>
            </a:r>
            <a:r>
              <a:rPr kumimoji="1" lang="zh-CN" altLang="en-US" sz="2800" b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charset="-122"/>
                <a:sym typeface="+mn-ea"/>
              </a:rPr>
              <a:t>过压现象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/>
      <p:bldP spid="9" grpId="0"/>
      <p:bldP spid="26" grpId="0" build="p"/>
      <p:bldP spid="27" grpId="0"/>
      <p:bldP spid="31" grpId="0" uiExpand="1" build="p"/>
      <p:bldP spid="10" grpId="0"/>
      <p:bldP spid="1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Text Box 2"/>
          <p:cNvSpPr txBox="1">
            <a:spLocks noChangeArrowheads="1"/>
          </p:cNvSpPr>
          <p:nvPr/>
        </p:nvSpPr>
        <p:spPr bwMode="auto">
          <a:xfrm>
            <a:off x="2208213" y="620713"/>
            <a:ext cx="44513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小结</a:t>
            </a: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——</a:t>
            </a:r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求初始值的步骤：</a:t>
            </a:r>
          </a:p>
        </p:txBody>
      </p:sp>
      <p:sp>
        <p:nvSpPr>
          <p:cNvPr id="67587" name="Text Box 3"/>
          <p:cNvSpPr txBox="1">
            <a:spLocks noChangeArrowheads="1"/>
          </p:cNvSpPr>
          <p:nvPr/>
        </p:nvSpPr>
        <p:spPr bwMode="auto">
          <a:xfrm>
            <a:off x="2952751" y="1527175"/>
            <a:ext cx="6831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hangingPunct="0"/>
            <a:r>
              <a:rPr kumimoji="1" lang="en-US" altLang="zh-CN" sz="2400" b="1">
                <a:latin typeface="Times New Roman" panose="02020603050405020304" pitchFamily="18" charset="0"/>
              </a:rPr>
              <a:t>1. </a:t>
            </a:r>
            <a:r>
              <a:rPr kumimoji="1" lang="zh-CN" altLang="en-US" sz="2400" b="1">
                <a:latin typeface="Times New Roman" panose="02020603050405020304" pitchFamily="18" charset="0"/>
              </a:rPr>
              <a:t>由</a:t>
            </a:r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</a:rPr>
              <a:t>换路前电路</a:t>
            </a:r>
            <a:r>
              <a:rPr kumimoji="1" lang="zh-CN" altLang="en-US" sz="2400" b="1">
                <a:latin typeface="Times New Roman" panose="02020603050405020304" pitchFamily="18" charset="0"/>
              </a:rPr>
              <a:t>（稳定状态）求 </a:t>
            </a:r>
            <a:r>
              <a:rPr kumimoji="1" lang="en-US" altLang="zh-CN" sz="2400" b="1" i="1">
                <a:solidFill>
                  <a:srgbClr val="FF0000"/>
                </a:solidFill>
                <a:latin typeface="Times New Roman" panose="02020603050405020304" pitchFamily="18" charset="0"/>
              </a:rPr>
              <a:t>u</a:t>
            </a:r>
            <a:r>
              <a:rPr kumimoji="1" lang="en-US" altLang="zh-CN" sz="2400" b="1" i="1" baseline="-25000">
                <a:solidFill>
                  <a:srgbClr val="FF0000"/>
                </a:solidFill>
                <a:latin typeface="Times New Roman" panose="02020603050405020304" pitchFamily="18" charset="0"/>
              </a:rPr>
              <a:t>C</a:t>
            </a:r>
            <a:r>
              <a:rPr kumimoji="1" lang="en-US" altLang="zh-CN" sz="2400" b="1">
                <a:solidFill>
                  <a:srgbClr val="FF0000"/>
                </a:solidFill>
                <a:latin typeface="Times New Roman" panose="02020603050405020304" pitchFamily="18" charset="0"/>
              </a:rPr>
              <a:t>(0</a:t>
            </a:r>
            <a:r>
              <a:rPr kumimoji="1" lang="en-US" altLang="zh-CN" sz="2400" b="1" baseline="300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</a:t>
            </a:r>
            <a:r>
              <a:rPr kumimoji="1" lang="en-US" altLang="zh-CN" sz="2400" b="1">
                <a:solidFill>
                  <a:srgbClr val="FF0000"/>
                </a:solidFill>
                <a:latin typeface="Times New Roman" panose="02020603050405020304" pitchFamily="18" charset="0"/>
              </a:rPr>
              <a:t>)</a:t>
            </a:r>
            <a:r>
              <a:rPr kumimoji="1" lang="en-US" altLang="zh-CN" sz="2400" b="1">
                <a:latin typeface="Times New Roman" panose="02020603050405020304" pitchFamily="18" charset="0"/>
              </a:rPr>
              <a:t> </a:t>
            </a:r>
            <a:r>
              <a:rPr kumimoji="1" lang="zh-CN" altLang="en-US" sz="2400" b="1">
                <a:latin typeface="Times New Roman" panose="02020603050405020304" pitchFamily="18" charset="0"/>
              </a:rPr>
              <a:t>和 </a:t>
            </a:r>
            <a:r>
              <a:rPr kumimoji="1" lang="en-US" altLang="zh-CN" sz="2400" b="1" i="1">
                <a:solidFill>
                  <a:srgbClr val="FF0000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sz="2400" b="1" i="1" baseline="-25000">
                <a:solidFill>
                  <a:srgbClr val="FF0000"/>
                </a:solidFill>
                <a:latin typeface="Times New Roman" panose="02020603050405020304" pitchFamily="18" charset="0"/>
              </a:rPr>
              <a:t>L</a:t>
            </a:r>
            <a:r>
              <a:rPr kumimoji="1" lang="en-US" altLang="zh-CN" sz="2400" b="1">
                <a:solidFill>
                  <a:srgbClr val="FF0000"/>
                </a:solidFill>
                <a:latin typeface="Times New Roman" panose="02020603050405020304" pitchFamily="18" charset="0"/>
              </a:rPr>
              <a:t>(0</a:t>
            </a:r>
            <a:r>
              <a:rPr kumimoji="1" lang="en-US" altLang="zh-CN" sz="2400" b="1" baseline="300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</a:t>
            </a:r>
            <a:r>
              <a:rPr kumimoji="1" lang="en-US" altLang="zh-CN" sz="2400" b="1">
                <a:solidFill>
                  <a:srgbClr val="FF0000"/>
                </a:solidFill>
                <a:latin typeface="Times New Roman" panose="02020603050405020304" pitchFamily="18" charset="0"/>
              </a:rPr>
              <a:t>)</a:t>
            </a:r>
            <a:r>
              <a:rPr kumimoji="1" lang="zh-CN" altLang="en-US" sz="2400" b="1">
                <a:latin typeface="Times New Roman" panose="02020603050405020304" pitchFamily="18" charset="0"/>
              </a:rPr>
              <a:t>。</a:t>
            </a:r>
          </a:p>
        </p:txBody>
      </p:sp>
      <p:sp>
        <p:nvSpPr>
          <p:cNvPr id="67588" name="Text Box 4"/>
          <p:cNvSpPr txBox="1">
            <a:spLocks noChangeArrowheads="1"/>
          </p:cNvSpPr>
          <p:nvPr/>
        </p:nvSpPr>
        <p:spPr bwMode="auto">
          <a:xfrm>
            <a:off x="2881313" y="2524125"/>
            <a:ext cx="48434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 eaLnBrk="0" hangingPunct="0"/>
            <a:r>
              <a:rPr kumimoji="1" lang="en-US" altLang="zh-CN" sz="2400" b="1">
                <a:latin typeface="Times New Roman" panose="02020603050405020304" pitchFamily="18" charset="0"/>
              </a:rPr>
              <a:t>2. </a:t>
            </a:r>
            <a:r>
              <a:rPr kumimoji="1" lang="zh-CN" altLang="en-US" sz="2400" b="1">
                <a:latin typeface="Times New Roman" panose="02020603050405020304" pitchFamily="18" charset="0"/>
              </a:rPr>
              <a:t>由</a:t>
            </a:r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</a:rPr>
              <a:t>换路定律</a:t>
            </a:r>
            <a:r>
              <a:rPr kumimoji="1" lang="zh-CN" altLang="en-US" sz="2400" b="1">
                <a:latin typeface="Times New Roman" panose="02020603050405020304" pitchFamily="18" charset="0"/>
              </a:rPr>
              <a:t>得 </a:t>
            </a:r>
            <a:r>
              <a:rPr kumimoji="1" lang="en-US" altLang="zh-CN" sz="2400" b="1" i="1">
                <a:solidFill>
                  <a:srgbClr val="FF0000"/>
                </a:solidFill>
                <a:latin typeface="Times New Roman" panose="02020603050405020304" pitchFamily="18" charset="0"/>
              </a:rPr>
              <a:t>u</a:t>
            </a:r>
            <a:r>
              <a:rPr kumimoji="1" lang="en-US" altLang="zh-CN" sz="2400" b="1" i="1" baseline="-25000">
                <a:solidFill>
                  <a:srgbClr val="FF0000"/>
                </a:solidFill>
                <a:latin typeface="Times New Roman" panose="02020603050405020304" pitchFamily="18" charset="0"/>
              </a:rPr>
              <a:t>C</a:t>
            </a:r>
            <a:r>
              <a:rPr kumimoji="1" lang="en-US" altLang="zh-CN" sz="2400" b="1">
                <a:solidFill>
                  <a:srgbClr val="FF0000"/>
                </a:solidFill>
                <a:latin typeface="Times New Roman" panose="02020603050405020304" pitchFamily="18" charset="0"/>
              </a:rPr>
              <a:t>(0</a:t>
            </a:r>
            <a:r>
              <a:rPr kumimoji="1" lang="en-US" altLang="zh-CN" sz="2400" b="1" baseline="30000">
                <a:solidFill>
                  <a:srgbClr val="FF0000"/>
                </a:solidFill>
                <a:latin typeface="Times New Roman" panose="02020603050405020304" pitchFamily="18" charset="0"/>
              </a:rPr>
              <a:t>+</a:t>
            </a:r>
            <a:r>
              <a:rPr kumimoji="1" lang="en-US" altLang="zh-CN" sz="2400" b="1">
                <a:solidFill>
                  <a:srgbClr val="FF0000"/>
                </a:solidFill>
                <a:latin typeface="Times New Roman" panose="02020603050405020304" pitchFamily="18" charset="0"/>
              </a:rPr>
              <a:t>)</a:t>
            </a:r>
            <a:r>
              <a:rPr kumimoji="1" lang="en-US" altLang="zh-CN" sz="2400" b="1">
                <a:latin typeface="Times New Roman" panose="02020603050405020304" pitchFamily="18" charset="0"/>
              </a:rPr>
              <a:t> </a:t>
            </a:r>
            <a:r>
              <a:rPr kumimoji="1" lang="zh-CN" altLang="en-US" sz="2400" b="1">
                <a:latin typeface="Times New Roman" panose="02020603050405020304" pitchFamily="18" charset="0"/>
              </a:rPr>
              <a:t>和 </a:t>
            </a:r>
            <a:r>
              <a:rPr kumimoji="1" lang="en-US" altLang="zh-CN" sz="2400" b="1" i="1">
                <a:solidFill>
                  <a:srgbClr val="FF0000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sz="2400" b="1" i="1" baseline="-25000">
                <a:solidFill>
                  <a:srgbClr val="FF0000"/>
                </a:solidFill>
                <a:latin typeface="Times New Roman" panose="02020603050405020304" pitchFamily="18" charset="0"/>
              </a:rPr>
              <a:t>L</a:t>
            </a:r>
            <a:r>
              <a:rPr kumimoji="1" lang="en-US" altLang="zh-CN" sz="2400" b="1">
                <a:solidFill>
                  <a:srgbClr val="FF0000"/>
                </a:solidFill>
                <a:latin typeface="Times New Roman" panose="02020603050405020304" pitchFamily="18" charset="0"/>
              </a:rPr>
              <a:t>(0</a:t>
            </a:r>
            <a:r>
              <a:rPr kumimoji="1" lang="en-US" altLang="zh-CN" sz="2400" b="1" baseline="30000">
                <a:solidFill>
                  <a:srgbClr val="FF0000"/>
                </a:solidFill>
                <a:latin typeface="Times New Roman" panose="02020603050405020304" pitchFamily="18" charset="0"/>
              </a:rPr>
              <a:t>+</a:t>
            </a:r>
            <a:r>
              <a:rPr kumimoji="1" lang="en-US" altLang="zh-CN" sz="2400" b="1">
                <a:solidFill>
                  <a:srgbClr val="FF0000"/>
                </a:solidFill>
                <a:latin typeface="Times New Roman" panose="02020603050405020304" pitchFamily="18" charset="0"/>
              </a:rPr>
              <a:t>)</a:t>
            </a:r>
            <a:r>
              <a:rPr kumimoji="1" lang="zh-CN" altLang="en-US" sz="2400" b="1">
                <a:latin typeface="Times New Roman" panose="02020603050405020304" pitchFamily="18" charset="0"/>
              </a:rPr>
              <a:t>。</a:t>
            </a:r>
          </a:p>
        </p:txBody>
      </p:sp>
      <p:sp>
        <p:nvSpPr>
          <p:cNvPr id="67589" name="Text Box 5"/>
          <p:cNvSpPr txBox="1">
            <a:spLocks noChangeArrowheads="1"/>
          </p:cNvSpPr>
          <p:nvPr/>
        </p:nvSpPr>
        <p:spPr bwMode="auto">
          <a:xfrm>
            <a:off x="2983622" y="3129334"/>
            <a:ext cx="6878806" cy="22344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just" eaLnBrk="0" hangingPunct="0">
              <a:spcBef>
                <a:spcPct val="20000"/>
              </a:spcBef>
            </a:pPr>
            <a:r>
              <a:rPr kumimoji="1" lang="en-US" altLang="zh-CN" sz="2400" b="1">
                <a:latin typeface="Times New Roman" panose="02020603050405020304" pitchFamily="18" charset="0"/>
              </a:rPr>
              <a:t>3. </a:t>
            </a:r>
            <a:r>
              <a:rPr kumimoji="1" lang="zh-CN" altLang="en-US" sz="2400" b="1">
                <a:latin typeface="Times New Roman" panose="02020603050405020304" pitchFamily="18" charset="0"/>
              </a:rPr>
              <a:t>画出</a:t>
            </a:r>
            <a:r>
              <a:rPr kumimoji="1" lang="en-US" altLang="zh-CN" sz="2400" b="1">
                <a:solidFill>
                  <a:srgbClr val="FF0000"/>
                </a:solidFill>
                <a:latin typeface="Times New Roman" panose="02020603050405020304" pitchFamily="18" charset="0"/>
              </a:rPr>
              <a:t>0</a:t>
            </a:r>
            <a:r>
              <a:rPr kumimoji="1" lang="en-US" altLang="zh-CN" sz="2400" b="1" baseline="30000">
                <a:solidFill>
                  <a:srgbClr val="FF0000"/>
                </a:solidFill>
                <a:latin typeface="Times New Roman" panose="02020603050405020304" pitchFamily="18" charset="0"/>
              </a:rPr>
              <a:t>+</a:t>
            </a:r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</a:rPr>
              <a:t>时刻的等效电路</a:t>
            </a:r>
            <a:r>
              <a:rPr kumimoji="1" lang="zh-CN" altLang="en-US" sz="2400" b="1">
                <a:latin typeface="Times New Roman" panose="02020603050405020304" pitchFamily="18" charset="0"/>
              </a:rPr>
              <a:t>。</a:t>
            </a:r>
          </a:p>
          <a:p>
            <a:pPr algn="just" eaLnBrk="0" hangingPunct="0">
              <a:spcBef>
                <a:spcPct val="20000"/>
              </a:spcBef>
            </a:pPr>
            <a:r>
              <a:rPr kumimoji="1" lang="zh-CN" altLang="en-US" sz="2400" b="1">
                <a:latin typeface="Times New Roman" panose="02020603050405020304" pitchFamily="18" charset="0"/>
              </a:rPr>
              <a:t>    （</a:t>
            </a:r>
            <a:r>
              <a:rPr kumimoji="1" lang="en-US" altLang="zh-CN" sz="2400" b="1">
                <a:latin typeface="Times New Roman" panose="02020603050405020304" pitchFamily="18" charset="0"/>
              </a:rPr>
              <a:t>1</a:t>
            </a:r>
            <a:r>
              <a:rPr kumimoji="1" lang="zh-CN" altLang="en-US" sz="2400" b="1">
                <a:latin typeface="Times New Roman" panose="02020603050405020304" pitchFamily="18" charset="0"/>
              </a:rPr>
              <a:t>） 画换路后电路的拓扑结构；</a:t>
            </a:r>
          </a:p>
          <a:p>
            <a:pPr algn="just" eaLnBrk="0" hangingPunct="0">
              <a:spcBef>
                <a:spcPct val="20000"/>
              </a:spcBef>
            </a:pPr>
            <a:r>
              <a:rPr kumimoji="1" lang="zh-CN" altLang="en-US" sz="2400" b="1">
                <a:solidFill>
                  <a:schemeClr val="accent2"/>
                </a:solidFill>
                <a:latin typeface="Times New Roman" panose="02020603050405020304" pitchFamily="18" charset="0"/>
              </a:rPr>
              <a:t>    （</a:t>
            </a:r>
            <a:r>
              <a:rPr kumimoji="1" lang="en-US" altLang="zh-CN" sz="2400" b="1">
                <a:solidFill>
                  <a:schemeClr val="accent2"/>
                </a:solidFill>
                <a:latin typeface="Times New Roman" panose="02020603050405020304" pitchFamily="18" charset="0"/>
              </a:rPr>
              <a:t>2</a:t>
            </a:r>
            <a:r>
              <a:rPr kumimoji="1" lang="zh-CN" altLang="en-US" sz="2400" b="1">
                <a:solidFill>
                  <a:schemeClr val="accent2"/>
                </a:solidFill>
                <a:latin typeface="Times New Roman" panose="02020603050405020304" pitchFamily="18" charset="0"/>
              </a:rPr>
              <a:t>） 电容</a:t>
            </a:r>
            <a:r>
              <a:rPr kumimoji="1" lang="zh-CN" altLang="en-US" sz="2400" b="1">
                <a:latin typeface="Times New Roman" panose="02020603050405020304" pitchFamily="18" charset="0"/>
              </a:rPr>
              <a:t>（</a:t>
            </a:r>
            <a:r>
              <a:rPr kumimoji="1" lang="zh-CN" altLang="en-US" sz="2400" b="1">
                <a:solidFill>
                  <a:srgbClr val="FF0066"/>
                </a:solidFill>
                <a:latin typeface="Times New Roman" panose="02020603050405020304" pitchFamily="18" charset="0"/>
              </a:rPr>
              <a:t>电感</a:t>
            </a:r>
            <a:r>
              <a:rPr kumimoji="1" lang="zh-CN" altLang="en-US" sz="2400" b="1">
                <a:latin typeface="Times New Roman" panose="02020603050405020304" pitchFamily="18" charset="0"/>
              </a:rPr>
              <a:t>）用</a:t>
            </a:r>
            <a:r>
              <a:rPr kumimoji="1" lang="zh-CN" altLang="en-US" sz="2400" b="1">
                <a:solidFill>
                  <a:schemeClr val="accent2"/>
                </a:solidFill>
                <a:latin typeface="Times New Roman" panose="02020603050405020304" pitchFamily="18" charset="0"/>
              </a:rPr>
              <a:t>电压源</a:t>
            </a:r>
            <a:r>
              <a:rPr kumimoji="1" lang="zh-CN" altLang="en-US" sz="2400" b="1">
                <a:latin typeface="Times New Roman" panose="02020603050405020304" pitchFamily="18" charset="0"/>
              </a:rPr>
              <a:t>（</a:t>
            </a:r>
            <a:r>
              <a:rPr kumimoji="1" lang="zh-CN" altLang="en-US" sz="2400" b="1">
                <a:solidFill>
                  <a:srgbClr val="FF0066"/>
                </a:solidFill>
                <a:latin typeface="Times New Roman" panose="02020603050405020304" pitchFamily="18" charset="0"/>
              </a:rPr>
              <a:t>电流源</a:t>
            </a:r>
            <a:r>
              <a:rPr kumimoji="1" lang="zh-CN" altLang="en-US" sz="2400" b="1">
                <a:latin typeface="Times New Roman" panose="02020603050405020304" pitchFamily="18" charset="0"/>
              </a:rPr>
              <a:t>）替代。</a:t>
            </a:r>
          </a:p>
          <a:p>
            <a:pPr algn="just" eaLnBrk="0" hangingPunct="0">
              <a:spcBef>
                <a:spcPct val="20000"/>
              </a:spcBef>
            </a:pPr>
            <a:r>
              <a:rPr kumimoji="1" lang="zh-CN" altLang="en-US" sz="2400" b="1">
                <a:latin typeface="Times New Roman" panose="02020603050405020304" pitchFamily="18" charset="0"/>
              </a:rPr>
              <a:t>          取</a:t>
            </a:r>
            <a:r>
              <a:rPr kumimoji="1" lang="en-US" altLang="zh-CN" sz="2400" b="1">
                <a:latin typeface="Times New Roman" panose="02020603050405020304" pitchFamily="18" charset="0"/>
              </a:rPr>
              <a:t>0</a:t>
            </a:r>
            <a:r>
              <a:rPr kumimoji="1" lang="en-US" altLang="zh-CN" sz="2400" b="1" baseline="30000">
                <a:latin typeface="Times New Roman" panose="02020603050405020304" pitchFamily="18" charset="0"/>
              </a:rPr>
              <a:t>+</a:t>
            </a:r>
            <a:r>
              <a:rPr kumimoji="1" lang="zh-CN" altLang="en-US" sz="2400" b="1">
                <a:latin typeface="Times New Roman" panose="02020603050405020304" pitchFamily="18" charset="0"/>
              </a:rPr>
              <a:t>时刻值，方向同原假定的电容电压、</a:t>
            </a:r>
          </a:p>
          <a:p>
            <a:pPr algn="just" eaLnBrk="0" hangingPunct="0">
              <a:spcBef>
                <a:spcPct val="20000"/>
              </a:spcBef>
            </a:pPr>
            <a:r>
              <a:rPr kumimoji="1" lang="zh-CN" altLang="en-US" sz="2400" b="1">
                <a:latin typeface="Times New Roman" panose="02020603050405020304" pitchFamily="18" charset="0"/>
              </a:rPr>
              <a:t>          电感电流方向。</a:t>
            </a:r>
          </a:p>
        </p:txBody>
      </p:sp>
      <p:sp>
        <p:nvSpPr>
          <p:cNvPr id="67590" name="Text Box 6"/>
          <p:cNvSpPr txBox="1">
            <a:spLocks noChangeArrowheads="1"/>
          </p:cNvSpPr>
          <p:nvPr/>
        </p:nvSpPr>
        <p:spPr bwMode="auto">
          <a:xfrm>
            <a:off x="2905125" y="5591175"/>
            <a:ext cx="4883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 eaLnBrk="0" hangingPunct="0"/>
            <a:r>
              <a:rPr kumimoji="1" lang="en-US" altLang="zh-CN" sz="2400" b="1">
                <a:latin typeface="Times New Roman" panose="02020603050405020304" pitchFamily="18" charset="0"/>
              </a:rPr>
              <a:t>4. </a:t>
            </a:r>
            <a:r>
              <a:rPr kumimoji="1" lang="zh-CN" altLang="en-US" sz="2400" b="1">
                <a:latin typeface="Times New Roman" panose="02020603050405020304" pitchFamily="18" charset="0"/>
              </a:rPr>
              <a:t>由</a:t>
            </a:r>
            <a:r>
              <a:rPr kumimoji="1" lang="en-US" altLang="zh-CN" sz="2400" b="1">
                <a:latin typeface="Times New Roman" panose="02020603050405020304" pitchFamily="18" charset="0"/>
              </a:rPr>
              <a:t>0</a:t>
            </a:r>
            <a:r>
              <a:rPr kumimoji="1" lang="en-US" altLang="zh-CN" sz="2400" b="1" baseline="30000">
                <a:latin typeface="Times New Roman" panose="02020603050405020304" pitchFamily="18" charset="0"/>
              </a:rPr>
              <a:t>+</a:t>
            </a:r>
            <a:r>
              <a:rPr kumimoji="1" lang="zh-CN" altLang="en-US" sz="2400" b="1">
                <a:latin typeface="Times New Roman" panose="02020603050405020304" pitchFamily="18" charset="0"/>
              </a:rPr>
              <a:t>电路求其它各变量的</a:t>
            </a:r>
            <a:r>
              <a:rPr kumimoji="1" lang="en-US" altLang="zh-CN" sz="2400" b="1">
                <a:latin typeface="Times New Roman" panose="02020603050405020304" pitchFamily="18" charset="0"/>
              </a:rPr>
              <a:t>0</a:t>
            </a:r>
            <a:r>
              <a:rPr kumimoji="1" lang="en-US" altLang="zh-CN" sz="2400" b="1" baseline="30000">
                <a:latin typeface="Times New Roman" panose="02020603050405020304" pitchFamily="18" charset="0"/>
              </a:rPr>
              <a:t>+</a:t>
            </a:r>
            <a:r>
              <a:rPr kumimoji="1" lang="zh-CN" altLang="en-US" sz="2400" b="1">
                <a:latin typeface="Times New Roman" panose="02020603050405020304" pitchFamily="18" charset="0"/>
              </a:rPr>
              <a:t>值。</a:t>
            </a:r>
          </a:p>
        </p:txBody>
      </p:sp>
      <p:sp>
        <p:nvSpPr>
          <p:cNvPr id="67591" name="Text Box 7"/>
          <p:cNvSpPr txBox="1">
            <a:spLocks noChangeArrowheads="1"/>
          </p:cNvSpPr>
          <p:nvPr/>
        </p:nvSpPr>
        <p:spPr bwMode="auto">
          <a:xfrm>
            <a:off x="7626350" y="2166938"/>
            <a:ext cx="1911350" cy="369332"/>
          </a:xfrm>
          <a:prstGeom prst="rect">
            <a:avLst/>
          </a:prstGeom>
          <a:noFill/>
          <a:ln w="349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b="1"/>
              <a:t>电阻电路</a:t>
            </a:r>
            <a:r>
              <a:rPr lang="en-US" altLang="zh-CN" b="1"/>
              <a:t>( </a:t>
            </a:r>
            <a:r>
              <a:rPr lang="zh-CN" altLang="en-US" b="1"/>
              <a:t>直流 </a:t>
            </a:r>
            <a:r>
              <a:rPr lang="en-US" altLang="zh-CN" b="1"/>
              <a:t>)</a:t>
            </a:r>
          </a:p>
        </p:txBody>
      </p:sp>
      <p:sp>
        <p:nvSpPr>
          <p:cNvPr id="67592" name="Text Box 8"/>
          <p:cNvSpPr txBox="1">
            <a:spLocks noChangeArrowheads="1"/>
          </p:cNvSpPr>
          <p:nvPr/>
        </p:nvSpPr>
        <p:spPr bwMode="auto">
          <a:xfrm>
            <a:off x="8007350" y="4968875"/>
            <a:ext cx="1214438" cy="369332"/>
          </a:xfrm>
          <a:prstGeom prst="rect">
            <a:avLst/>
          </a:prstGeom>
          <a:noFill/>
          <a:ln w="349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b="1"/>
              <a:t>电阻电路</a:t>
            </a:r>
          </a:p>
        </p:txBody>
      </p:sp>
    </p:spTree>
    <p:extLst>
      <p:ext uri="{BB962C8B-B14F-4D97-AF65-F5344CB8AC3E}">
        <p14:creationId xmlns:p14="http://schemas.microsoft.com/office/powerpoint/2010/main" val="316564331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75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67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75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1" dur="500"/>
                                        <p:tgtEl>
                                          <p:spTgt spid="67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67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675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587" grpId="0" build="p" autoUpdateAnimBg="0"/>
      <p:bldP spid="67588" grpId="0" build="p" autoUpdateAnimBg="0"/>
      <p:bldP spid="67589" grpId="0" autoUpdateAnimBg="0"/>
      <p:bldP spid="67590" grpId="0" build="p" autoUpdateAnimBg="0"/>
      <p:bldP spid="67591" grpId="0" animBg="1" autoUpdateAnimBg="0"/>
      <p:bldP spid="67592" grpId="0" animBg="1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40" name="Text Box 8"/>
          <p:cNvSpPr txBox="1">
            <a:spLocks noChangeArrowheads="1"/>
          </p:cNvSpPr>
          <p:nvPr/>
        </p:nvSpPr>
        <p:spPr bwMode="auto">
          <a:xfrm>
            <a:off x="2135560" y="2209800"/>
            <a:ext cx="6192838" cy="1126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en-US" altLang="zh-CN" sz="2800" i="1" dirty="0">
                <a:ea typeface="宋体" panose="02010600030101010101" pitchFamily="2" charset="-122"/>
              </a:rPr>
              <a:t>F</a:t>
            </a:r>
            <a:r>
              <a:rPr kumimoji="1" lang="en-US" altLang="zh-CN" sz="2800" dirty="0">
                <a:ea typeface="宋体" panose="02010600030101010101" pitchFamily="2" charset="-122"/>
              </a:rPr>
              <a:t>(</a:t>
            </a:r>
            <a:r>
              <a:rPr kumimoji="1" lang="en-US" altLang="zh-CN" sz="2800" i="1" dirty="0">
                <a:ea typeface="宋体" panose="02010600030101010101" pitchFamily="2" charset="-122"/>
              </a:rPr>
              <a:t>t</a:t>
            </a:r>
            <a:r>
              <a:rPr kumimoji="1" lang="en-US" altLang="zh-CN" sz="2800" dirty="0">
                <a:ea typeface="宋体" panose="02010600030101010101" pitchFamily="2" charset="-122"/>
              </a:rPr>
              <a:t>) </a:t>
            </a:r>
            <a:r>
              <a:rPr kumimoji="1" lang="zh-CN" altLang="en-US" sz="2800" dirty="0"/>
              <a:t>包含了三要素</a:t>
            </a:r>
            <a:r>
              <a:rPr kumimoji="1" lang="zh-CN" altLang="en-US" sz="2800" dirty="0">
                <a:ea typeface="宋体" panose="02010600030101010101" pitchFamily="2" charset="-122"/>
              </a:rPr>
              <a:t>：</a:t>
            </a:r>
            <a:r>
              <a:rPr kumimoji="1" lang="en-US" altLang="zh-CN" sz="2800" i="1" dirty="0">
                <a:ea typeface="宋体" panose="02010600030101010101" pitchFamily="2" charset="-122"/>
              </a:rPr>
              <a:t>I</a:t>
            </a:r>
            <a:r>
              <a:rPr kumimoji="1" lang="zh-CN" altLang="en-US" sz="2800" dirty="0">
                <a:ea typeface="宋体" panose="02010600030101010101" pitchFamily="2" charset="-122"/>
              </a:rPr>
              <a:t>、 </a:t>
            </a:r>
            <a:r>
              <a:rPr kumimoji="1" lang="zh-CN" altLang="en-US" sz="2800" i="1" dirty="0">
                <a:ea typeface="宋体" panose="02010600030101010101" pitchFamily="2" charset="-122"/>
                <a:sym typeface="Symbol" panose="05050102010706020507" pitchFamily="18" charset="2"/>
              </a:rPr>
              <a:t> </a:t>
            </a:r>
            <a:r>
              <a:rPr kumimoji="1" lang="zh-CN" altLang="en-US" sz="2800" dirty="0">
                <a:ea typeface="宋体" panose="02010600030101010101" pitchFamily="2" charset="-122"/>
              </a:rPr>
              <a:t>、</a:t>
            </a:r>
            <a:r>
              <a:rPr kumimoji="1" lang="zh-CN" altLang="en-US" sz="2800" i="1" dirty="0">
                <a:ea typeface="宋体" panose="02010600030101010101" pitchFamily="2" charset="-122"/>
                <a:sym typeface="Symbol" panose="05050102010706020507" pitchFamily="18" charset="2"/>
              </a:rPr>
              <a:t></a:t>
            </a:r>
            <a:r>
              <a:rPr kumimoji="1" lang="zh-CN" altLang="en-US" sz="2800" dirty="0">
                <a:latin typeface="Symbol" panose="05050102010706020507" pitchFamily="18" charset="2"/>
                <a:ea typeface="宋体" panose="02010600030101010101" pitchFamily="2" charset="-122"/>
              </a:rPr>
              <a:t>，</a:t>
            </a:r>
          </a:p>
          <a:p>
            <a:pPr>
              <a:lnSpc>
                <a:spcPct val="120000"/>
              </a:lnSpc>
            </a:pPr>
            <a:r>
              <a:rPr kumimoji="1" lang="zh-CN" altLang="zh-CN" sz="2800" dirty="0">
                <a:latin typeface="Symbol" panose="05050102010706020507" pitchFamily="18" charset="2"/>
              </a:rPr>
              <a:t>复常数</a:t>
            </a:r>
            <a:r>
              <a:rPr kumimoji="1" lang="en-US" altLang="zh-CN" sz="2800" dirty="0">
                <a:latin typeface="Symbol" panose="05050102010706020507" pitchFamily="18" charset="2"/>
              </a:rPr>
              <a:t>(</a:t>
            </a:r>
            <a:r>
              <a:rPr kumimoji="1" lang="zh-CN" altLang="en-US" sz="2800" dirty="0">
                <a:latin typeface="Symbol" panose="05050102010706020507" pitchFamily="18" charset="2"/>
              </a:rPr>
              <a:t>相量</a:t>
            </a:r>
            <a:r>
              <a:rPr kumimoji="1" lang="en-US" altLang="zh-CN" sz="2800" dirty="0">
                <a:latin typeface="Symbol" panose="05050102010706020507" pitchFamily="18" charset="2"/>
              </a:rPr>
              <a:t>)</a:t>
            </a:r>
            <a:r>
              <a:rPr kumimoji="1" lang="zh-CN" altLang="zh-CN" sz="2800" dirty="0">
                <a:latin typeface="Symbol" panose="05050102010706020507" pitchFamily="18" charset="2"/>
              </a:rPr>
              <a:t>包含了两个要素：</a:t>
            </a:r>
            <a:r>
              <a:rPr kumimoji="1" lang="en-US" altLang="zh-CN" sz="2800" i="1" dirty="0">
                <a:latin typeface="Symbol" panose="05050102010706020507" pitchFamily="18" charset="2"/>
                <a:ea typeface="宋体" panose="02010600030101010101" pitchFamily="2" charset="-122"/>
              </a:rPr>
              <a:t>I</a:t>
            </a:r>
            <a:r>
              <a:rPr kumimoji="1" lang="en-US" altLang="zh-CN" sz="2800" dirty="0">
                <a:latin typeface="Symbol" panose="05050102010706020507" pitchFamily="18" charset="2"/>
                <a:ea typeface="宋体" panose="02010600030101010101" pitchFamily="2" charset="-122"/>
              </a:rPr>
              <a:t> </a:t>
            </a:r>
            <a:r>
              <a:rPr kumimoji="1" lang="en-US" altLang="zh-CN" sz="2800" dirty="0">
                <a:ea typeface="宋体" panose="02010600030101010101" pitchFamily="2" charset="-122"/>
              </a:rPr>
              <a:t>, </a:t>
            </a:r>
            <a:r>
              <a:rPr kumimoji="1" lang="en-US" altLang="zh-CN" sz="2800" i="1" dirty="0">
                <a:latin typeface="Symbol" panose="05050102010706020507" pitchFamily="18" charset="2"/>
                <a:ea typeface="宋体" panose="02010600030101010101" pitchFamily="2" charset="-122"/>
                <a:sym typeface="Symbol" panose="05050102010706020507" pitchFamily="18" charset="2"/>
              </a:rPr>
              <a:t></a:t>
            </a:r>
            <a:r>
              <a:rPr kumimoji="1" lang="en-US" altLang="zh-CN" sz="2800" i="1" dirty="0">
                <a:latin typeface="Symbol" panose="05050102010706020507" pitchFamily="18" charset="2"/>
                <a:ea typeface="宋体" panose="02010600030101010101" pitchFamily="2" charset="-122"/>
              </a:rPr>
              <a:t> </a:t>
            </a:r>
            <a:r>
              <a:rPr kumimoji="1" lang="zh-CN" altLang="en-US" sz="2800" dirty="0">
                <a:latin typeface="Symbol" panose="05050102010706020507" pitchFamily="18" charset="2"/>
                <a:ea typeface="宋体" panose="02010600030101010101" pitchFamily="2" charset="-122"/>
              </a:rPr>
              <a:t>。</a:t>
            </a:r>
          </a:p>
        </p:txBody>
      </p:sp>
      <p:sp>
        <p:nvSpPr>
          <p:cNvPr id="69641" name="Text Box 9"/>
          <p:cNvSpPr txBox="1">
            <a:spLocks noChangeArrowheads="1"/>
          </p:cNvSpPr>
          <p:nvPr/>
        </p:nvSpPr>
        <p:spPr bwMode="auto">
          <a:xfrm>
            <a:off x="2351089" y="620713"/>
            <a:ext cx="26130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800" i="1" dirty="0"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r>
              <a:rPr kumimoji="1"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kumimoji="1" lang="en-US" altLang="zh-CN" sz="2800" i="1" dirty="0"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r>
              <a:rPr kumimoji="1"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) </a:t>
            </a:r>
            <a:r>
              <a:rPr kumimoji="1" lang="zh-CN" altLang="en-US" sz="2800" dirty="0">
                <a:latin typeface="Times New Roman" panose="02020603050405020304" pitchFamily="18" charset="0"/>
              </a:rPr>
              <a:t>还可以写成</a:t>
            </a:r>
          </a:p>
        </p:txBody>
      </p:sp>
      <p:graphicFrame>
        <p:nvGraphicFramePr>
          <p:cNvPr id="69643" name="Object 11"/>
          <p:cNvGraphicFramePr>
            <a:graphicFrameLocks noChangeAspect="1"/>
          </p:cNvGraphicFramePr>
          <p:nvPr/>
        </p:nvGraphicFramePr>
        <p:xfrm>
          <a:off x="3578226" y="1374776"/>
          <a:ext cx="5540375" cy="67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88760" imgH="253800" progId="Equation.DSMT4">
                  <p:embed/>
                </p:oleObj>
              </mc:Choice>
              <mc:Fallback>
                <p:oleObj name="Equation" r:id="rId2" imgW="1688760" imgH="253800" progId="Equation.DSMT4">
                  <p:embed/>
                  <p:pic>
                    <p:nvPicPr>
                      <p:cNvPr id="69643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8226" y="1374776"/>
                        <a:ext cx="5540375" cy="676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9669" name="Group 37"/>
          <p:cNvGrpSpPr>
            <a:grpSpLocks/>
          </p:cNvGrpSpPr>
          <p:nvPr/>
        </p:nvGrpSpPr>
        <p:grpSpPr bwMode="auto">
          <a:xfrm>
            <a:off x="5448301" y="692150"/>
            <a:ext cx="1266825" cy="649288"/>
            <a:chOff x="2472" y="436"/>
            <a:chExt cx="798" cy="409"/>
          </a:xfrm>
        </p:grpSpPr>
        <p:sp>
          <p:nvSpPr>
            <p:cNvPr id="69644" name="AutoShape 12"/>
            <p:cNvSpPr>
              <a:spLocks/>
            </p:cNvSpPr>
            <p:nvPr/>
          </p:nvSpPr>
          <p:spPr bwMode="auto">
            <a:xfrm rot="5400000" flipV="1">
              <a:off x="2834" y="618"/>
              <a:ext cx="46" cy="408"/>
            </a:xfrm>
            <a:prstGeom prst="leftBrace">
              <a:avLst>
                <a:gd name="adj1" fmla="val 73913"/>
                <a:gd name="adj2" fmla="val 49861"/>
              </a:avLst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69645" name="Rectangle 13"/>
            <p:cNvSpPr>
              <a:spLocks noChangeArrowheads="1"/>
            </p:cNvSpPr>
            <p:nvPr/>
          </p:nvSpPr>
          <p:spPr bwMode="auto">
            <a:xfrm>
              <a:off x="2472" y="436"/>
              <a:ext cx="798" cy="330"/>
            </a:xfrm>
            <a:prstGeom prst="rect">
              <a:avLst/>
            </a:prstGeom>
            <a:solidFill>
              <a:srgbClr val="FF9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zh-CN" altLang="zh-CN" sz="2800" dirty="0">
                  <a:latin typeface="Symbol" panose="05050102010706020507" pitchFamily="18" charset="2"/>
                </a:rPr>
                <a:t>复常数</a:t>
              </a:r>
              <a:endParaRPr kumimoji="1" lang="zh-CN" altLang="en-US" sz="2800" dirty="0">
                <a:latin typeface="Symbol" panose="05050102010706020507" pitchFamily="18" charset="2"/>
              </a:endParaRPr>
            </a:p>
          </p:txBody>
        </p:sp>
      </p:grpSp>
      <p:sp>
        <p:nvSpPr>
          <p:cNvPr id="69661" name="AutoShape 29" descr="羊皮纸"/>
          <p:cNvSpPr>
            <a:spLocks noChangeArrowheads="1"/>
          </p:cNvSpPr>
          <p:nvPr/>
        </p:nvSpPr>
        <p:spPr bwMode="auto">
          <a:xfrm>
            <a:off x="8146257" y="2283606"/>
            <a:ext cx="1944687" cy="1081088"/>
          </a:xfrm>
          <a:prstGeom prst="wedgeRoundRectCallout">
            <a:avLst>
              <a:gd name="adj1" fmla="val -43468"/>
              <a:gd name="adj2" fmla="val -84801"/>
              <a:gd name="adj3" fmla="val 16667"/>
            </a:avLst>
          </a:prstGeom>
          <a:blipFill dpi="0" rotWithShape="1">
            <a:blip r:embed="rId4"/>
            <a:srcRect/>
            <a:tile tx="0" ty="0" sx="100000" sy="100000" flip="none" algn="tl"/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kumimoji="1" lang="zh-CN" altLang="en-US" sz="2800"/>
              <a:t>正弦量对应的相量</a:t>
            </a:r>
          </a:p>
        </p:txBody>
      </p:sp>
      <p:graphicFrame>
        <p:nvGraphicFramePr>
          <p:cNvPr id="69662" name="Object 30"/>
          <p:cNvGraphicFramePr>
            <a:graphicFrameLocks noChangeAspect="1"/>
          </p:cNvGraphicFramePr>
          <p:nvPr/>
        </p:nvGraphicFramePr>
        <p:xfrm>
          <a:off x="2279650" y="3500438"/>
          <a:ext cx="7704138" cy="971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2806560" imgH="330120" progId="Equation.3">
                  <p:embed/>
                </p:oleObj>
              </mc:Choice>
              <mc:Fallback>
                <p:oleObj name="公式" r:id="rId5" imgW="2806560" imgH="330120" progId="Equation.3">
                  <p:embed/>
                  <p:pic>
                    <p:nvPicPr>
                      <p:cNvPr id="69662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9650" y="3500438"/>
                        <a:ext cx="7704138" cy="971550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FFCC99"/>
                          </a:gs>
                          <a:gs pos="100000">
                            <a:schemeClr val="bg1"/>
                          </a:gs>
                        </a:gsLst>
                        <a:lin ang="5400000" scaled="1"/>
                      </a:gra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9663" name="Text Box 31"/>
          <p:cNvSpPr txBox="1">
            <a:spLocks noChangeArrowheads="1"/>
          </p:cNvSpPr>
          <p:nvPr/>
        </p:nvSpPr>
        <p:spPr bwMode="auto">
          <a:xfrm>
            <a:off x="3791744" y="5301208"/>
            <a:ext cx="5543550" cy="1160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dirty="0">
                <a:latin typeface="Times New Roman" panose="02020603050405020304" pitchFamily="18" charset="0"/>
              </a:rPr>
              <a:t>相量的模表示正弦量的有效值</a:t>
            </a:r>
          </a:p>
          <a:p>
            <a:pPr>
              <a:spcBef>
                <a:spcPct val="50000"/>
              </a:spcBef>
            </a:pPr>
            <a:r>
              <a:rPr kumimoji="1" lang="zh-CN" altLang="en-US" sz="2800" dirty="0">
                <a:latin typeface="Times New Roman" panose="02020603050405020304" pitchFamily="18" charset="0"/>
              </a:rPr>
              <a:t>相量的幅角表示正弦量的初相位</a:t>
            </a:r>
          </a:p>
        </p:txBody>
      </p:sp>
      <p:sp>
        <p:nvSpPr>
          <p:cNvPr id="69664" name="AutoShape 32"/>
          <p:cNvSpPr>
            <a:spLocks/>
          </p:cNvSpPr>
          <p:nvPr/>
        </p:nvSpPr>
        <p:spPr bwMode="auto">
          <a:xfrm>
            <a:off x="3577432" y="5237708"/>
            <a:ext cx="214313" cy="1223963"/>
          </a:xfrm>
          <a:prstGeom prst="leftBrace">
            <a:avLst>
              <a:gd name="adj1" fmla="val 47593"/>
              <a:gd name="adj2" fmla="val 50000"/>
            </a:avLst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800"/>
          </a:p>
        </p:txBody>
      </p:sp>
      <p:sp>
        <p:nvSpPr>
          <p:cNvPr id="69667" name="Text Box 35"/>
          <p:cNvSpPr txBox="1">
            <a:spLocks noChangeArrowheads="1"/>
          </p:cNvSpPr>
          <p:nvPr/>
        </p:nvSpPr>
        <p:spPr bwMode="auto">
          <a:xfrm>
            <a:off x="2569369" y="5474246"/>
            <a:ext cx="903288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注意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3791745" y="4372557"/>
            <a:ext cx="5371149" cy="781568"/>
            <a:chOff x="2267744" y="4372557"/>
            <a:chExt cx="5371149" cy="781568"/>
          </a:xfrm>
        </p:grpSpPr>
        <p:sp>
          <p:nvSpPr>
            <p:cNvPr id="24" name="Rectangle 13"/>
            <p:cNvSpPr>
              <a:spLocks noChangeArrowheads="1"/>
            </p:cNvSpPr>
            <p:nvPr/>
          </p:nvSpPr>
          <p:spPr bwMode="auto">
            <a:xfrm>
              <a:off x="2267744" y="4420144"/>
              <a:ext cx="906017" cy="523220"/>
            </a:xfrm>
            <a:prstGeom prst="rect">
              <a:avLst/>
            </a:prstGeom>
            <a:solidFill>
              <a:srgbClr val="FF9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zh-CN" altLang="en-US" sz="2800" dirty="0">
                  <a:latin typeface="Symbol" panose="05050102010706020507" pitchFamily="18" charset="2"/>
                </a:rPr>
                <a:t>时域</a:t>
              </a:r>
            </a:p>
          </p:txBody>
        </p:sp>
        <p:sp>
          <p:nvSpPr>
            <p:cNvPr id="25" name="Rectangle 13"/>
            <p:cNvSpPr>
              <a:spLocks noChangeArrowheads="1"/>
            </p:cNvSpPr>
            <p:nvPr/>
          </p:nvSpPr>
          <p:spPr bwMode="auto">
            <a:xfrm>
              <a:off x="6372200" y="4372557"/>
              <a:ext cx="1266693" cy="523220"/>
            </a:xfrm>
            <a:prstGeom prst="rect">
              <a:avLst/>
            </a:prstGeom>
            <a:solidFill>
              <a:srgbClr val="FF9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zh-CN" altLang="en-US" sz="2800" dirty="0">
                  <a:latin typeface="Symbol" panose="05050102010706020507" pitchFamily="18" charset="2"/>
                </a:rPr>
                <a:t>相量域</a:t>
              </a:r>
            </a:p>
          </p:txBody>
        </p:sp>
        <p:cxnSp>
          <p:nvCxnSpPr>
            <p:cNvPr id="3" name="直接箭头连接符 2"/>
            <p:cNvCxnSpPr/>
            <p:nvPr/>
          </p:nvCxnSpPr>
          <p:spPr bwMode="auto">
            <a:xfrm>
              <a:off x="3419872" y="4653136"/>
              <a:ext cx="2664296" cy="0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" name="矩形 3"/>
            <p:cNvSpPr/>
            <p:nvPr/>
          </p:nvSpPr>
          <p:spPr>
            <a:xfrm>
              <a:off x="4112929" y="4692460"/>
              <a:ext cx="1422184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400" dirty="0">
                  <a:solidFill>
                    <a:srgbClr val="FF0000"/>
                  </a:solidFill>
                </a:rPr>
                <a:t>一一对应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29433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96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96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1000"/>
                                        <p:tgtEl>
                                          <p:spTgt spid="69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69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9" dur="2000"/>
                                        <p:tgtEl>
                                          <p:spTgt spid="69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2000"/>
                                        <p:tgtEl>
                                          <p:spTgt spid="69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9" dur="2000"/>
                                        <p:tgtEl>
                                          <p:spTgt spid="69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8" dur="1" fill="hold"/>
                                        <p:tgtEl>
                                          <p:spTgt spid="6966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2000"/>
                                        <p:tgtEl>
                                          <p:spTgt spid="69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640" grpId="0" autoUpdateAnimBg="0"/>
      <p:bldP spid="69641" grpId="0" autoUpdateAnimBg="0"/>
      <p:bldP spid="69661" grpId="0" animBg="1"/>
      <p:bldP spid="69663" grpId="0" autoUpdateAnimBg="0"/>
      <p:bldP spid="6966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395" name="Group 3"/>
          <p:cNvGrpSpPr>
            <a:grpSpLocks/>
          </p:cNvGrpSpPr>
          <p:nvPr/>
        </p:nvGrpSpPr>
        <p:grpSpPr bwMode="auto">
          <a:xfrm>
            <a:off x="1752601" y="1495426"/>
            <a:ext cx="7872413" cy="2582863"/>
            <a:chOff x="144" y="816"/>
            <a:chExt cx="4722" cy="1627"/>
          </a:xfrm>
        </p:grpSpPr>
        <p:sp>
          <p:nvSpPr>
            <p:cNvPr id="59396" name="Text Box 4"/>
            <p:cNvSpPr txBox="1">
              <a:spLocks noChangeArrowheads="1"/>
            </p:cNvSpPr>
            <p:nvPr/>
          </p:nvSpPr>
          <p:spPr bwMode="auto">
            <a:xfrm>
              <a:off x="144" y="816"/>
              <a:ext cx="66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kumimoji="1" lang="en-US" altLang="zh-CN" sz="24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1. </a:t>
              </a:r>
              <a:r>
                <a:rPr kumimoji="1" lang="zh-CN" altLang="en-US" sz="24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电阻</a:t>
              </a:r>
            </a:p>
          </p:txBody>
        </p:sp>
        <p:graphicFrame>
          <p:nvGraphicFramePr>
            <p:cNvPr id="59397" name="Object 5"/>
            <p:cNvGraphicFramePr>
              <a:graphicFrameLocks noChangeAspect="1"/>
            </p:cNvGraphicFramePr>
            <p:nvPr/>
          </p:nvGraphicFramePr>
          <p:xfrm>
            <a:off x="1656" y="924"/>
            <a:ext cx="2352" cy="3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" imgW="1841400" imgH="241200" progId="Equation.3">
                    <p:embed/>
                  </p:oleObj>
                </mc:Choice>
                <mc:Fallback>
                  <p:oleObj name="公式" r:id="rId3" imgW="1841400" imgH="241200" progId="Equation.3">
                    <p:embed/>
                    <p:pic>
                      <p:nvPicPr>
                        <p:cNvPr id="59397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56" y="924"/>
                          <a:ext cx="2352" cy="30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9398" name="Object 6"/>
            <p:cNvGraphicFramePr>
              <a:graphicFrameLocks noChangeAspect="1"/>
            </p:cNvGraphicFramePr>
            <p:nvPr/>
          </p:nvGraphicFramePr>
          <p:xfrm>
            <a:off x="1624" y="1222"/>
            <a:ext cx="3242" cy="3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5" imgW="2539800" imgH="241200" progId="Equation.3">
                    <p:embed/>
                  </p:oleObj>
                </mc:Choice>
                <mc:Fallback>
                  <p:oleObj name="公式" r:id="rId5" imgW="2539800" imgH="241200" progId="Equation.3">
                    <p:embed/>
                    <p:pic>
                      <p:nvPicPr>
                        <p:cNvPr id="59398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24" y="1222"/>
                          <a:ext cx="3242" cy="30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59399" name="Group 7"/>
            <p:cNvGrpSpPr>
              <a:grpSpLocks/>
            </p:cNvGrpSpPr>
            <p:nvPr/>
          </p:nvGrpSpPr>
          <p:grpSpPr bwMode="auto">
            <a:xfrm>
              <a:off x="528" y="1200"/>
              <a:ext cx="1016" cy="1243"/>
              <a:chOff x="567" y="864"/>
              <a:chExt cx="1016" cy="1243"/>
            </a:xfrm>
          </p:grpSpPr>
          <p:sp>
            <p:nvSpPr>
              <p:cNvPr id="59400" name="Line 8"/>
              <p:cNvSpPr>
                <a:spLocks noChangeShapeType="1"/>
              </p:cNvSpPr>
              <p:nvPr/>
            </p:nvSpPr>
            <p:spPr bwMode="auto">
              <a:xfrm>
                <a:off x="1284" y="1212"/>
                <a:ext cx="0" cy="72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9401" name="Rectangle 9"/>
              <p:cNvSpPr>
                <a:spLocks noChangeArrowheads="1"/>
              </p:cNvSpPr>
              <p:nvPr/>
            </p:nvSpPr>
            <p:spPr bwMode="auto">
              <a:xfrm>
                <a:off x="1224" y="1432"/>
                <a:ext cx="111" cy="233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chemeClr val="tx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9402" name="Line 10"/>
              <p:cNvSpPr>
                <a:spLocks noChangeShapeType="1"/>
              </p:cNvSpPr>
              <p:nvPr/>
            </p:nvSpPr>
            <p:spPr bwMode="auto">
              <a:xfrm>
                <a:off x="708" y="1212"/>
                <a:ext cx="57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9403" name="Line 11"/>
              <p:cNvSpPr>
                <a:spLocks noChangeShapeType="1"/>
              </p:cNvSpPr>
              <p:nvPr/>
            </p:nvSpPr>
            <p:spPr bwMode="auto">
              <a:xfrm>
                <a:off x="708" y="1932"/>
                <a:ext cx="57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9404" name="Text Box 12"/>
              <p:cNvSpPr txBox="1">
                <a:spLocks noChangeArrowheads="1"/>
              </p:cNvSpPr>
              <p:nvPr/>
            </p:nvSpPr>
            <p:spPr bwMode="auto">
              <a:xfrm>
                <a:off x="567" y="1440"/>
                <a:ext cx="466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 algn="l">
                  <a:spcBef>
                    <a:spcPct val="0"/>
                  </a:spcBef>
                </a:pPr>
                <a:r>
                  <a:rPr kumimoji="1" lang="en-US" altLang="zh-CN" sz="2400" b="1" i="1">
                    <a:latin typeface="Times New Roman" panose="02020603050405020304" pitchFamily="18" charset="0"/>
                  </a:rPr>
                  <a:t>u</a:t>
                </a:r>
                <a:r>
                  <a:rPr kumimoji="1" lang="en-US" altLang="zh-CN" sz="2400" b="1" i="1" baseline="-25000">
                    <a:latin typeface="Times New Roman" panose="02020603050405020304" pitchFamily="18" charset="0"/>
                  </a:rPr>
                  <a:t>R</a:t>
                </a:r>
                <a:r>
                  <a:rPr kumimoji="1" lang="en-US" altLang="zh-CN" sz="2400" b="1">
                    <a:latin typeface="Times New Roman" panose="02020603050405020304" pitchFamily="18" charset="0"/>
                  </a:rPr>
                  <a:t>(</a:t>
                </a:r>
                <a:r>
                  <a:rPr kumimoji="1" lang="en-US" altLang="zh-CN" sz="2400" b="1" i="1">
                    <a:latin typeface="Times New Roman" panose="02020603050405020304" pitchFamily="18" charset="0"/>
                  </a:rPr>
                  <a:t>t</a:t>
                </a:r>
                <a:r>
                  <a:rPr kumimoji="1" lang="en-US" altLang="zh-CN" sz="2400" b="1">
                    <a:latin typeface="Times New Roman" panose="02020603050405020304" pitchFamily="18" charset="0"/>
                  </a:rPr>
                  <a:t>)</a:t>
                </a:r>
              </a:p>
            </p:txBody>
          </p:sp>
          <p:sp>
            <p:nvSpPr>
              <p:cNvPr id="59405" name="Line 13"/>
              <p:cNvSpPr>
                <a:spLocks noChangeShapeType="1"/>
              </p:cNvSpPr>
              <p:nvPr/>
            </p:nvSpPr>
            <p:spPr bwMode="auto">
              <a:xfrm>
                <a:off x="732" y="1152"/>
                <a:ext cx="28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stealth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9406" name="Text Box 14"/>
              <p:cNvSpPr txBox="1">
                <a:spLocks noChangeArrowheads="1"/>
              </p:cNvSpPr>
              <p:nvPr/>
            </p:nvSpPr>
            <p:spPr bwMode="auto">
              <a:xfrm>
                <a:off x="696" y="864"/>
                <a:ext cx="33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 algn="l">
                  <a:spcBef>
                    <a:spcPct val="0"/>
                  </a:spcBef>
                </a:pPr>
                <a:r>
                  <a:rPr kumimoji="1" lang="en-US" altLang="zh-CN" sz="2400" b="1" i="1">
                    <a:latin typeface="Times New Roman" panose="02020603050405020304" pitchFamily="18" charset="0"/>
                  </a:rPr>
                  <a:t>i</a:t>
                </a:r>
                <a:r>
                  <a:rPr kumimoji="1" lang="en-US" altLang="zh-CN" sz="2400" b="1">
                    <a:latin typeface="Times New Roman" panose="02020603050405020304" pitchFamily="18" charset="0"/>
                  </a:rPr>
                  <a:t>(</a:t>
                </a:r>
                <a:r>
                  <a:rPr kumimoji="1" lang="en-US" altLang="zh-CN" sz="2400" b="1" i="1">
                    <a:latin typeface="Times New Roman" panose="02020603050405020304" pitchFamily="18" charset="0"/>
                  </a:rPr>
                  <a:t>t</a:t>
                </a:r>
                <a:r>
                  <a:rPr kumimoji="1" lang="en-US" altLang="zh-CN" sz="2400" b="1">
                    <a:latin typeface="Times New Roman" panose="02020603050405020304" pitchFamily="18" charset="0"/>
                  </a:rPr>
                  <a:t>)</a:t>
                </a:r>
              </a:p>
            </p:txBody>
          </p:sp>
          <p:sp>
            <p:nvSpPr>
              <p:cNvPr id="59407" name="Text Box 15"/>
              <p:cNvSpPr txBox="1">
                <a:spLocks noChangeArrowheads="1"/>
              </p:cNvSpPr>
              <p:nvPr/>
            </p:nvSpPr>
            <p:spPr bwMode="auto">
              <a:xfrm>
                <a:off x="1351" y="1404"/>
                <a:ext cx="23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 algn="l">
                  <a:spcBef>
                    <a:spcPct val="0"/>
                  </a:spcBef>
                </a:pPr>
                <a:r>
                  <a:rPr kumimoji="1" lang="en-US" altLang="zh-CN" sz="2400" b="1" i="1">
                    <a:latin typeface="Times New Roman" panose="02020603050405020304" pitchFamily="18" charset="0"/>
                  </a:rPr>
                  <a:t>R</a:t>
                </a:r>
              </a:p>
            </p:txBody>
          </p:sp>
          <p:sp>
            <p:nvSpPr>
              <p:cNvPr id="59408" name="Oval 16"/>
              <p:cNvSpPr>
                <a:spLocks noChangeArrowheads="1"/>
              </p:cNvSpPr>
              <p:nvPr/>
            </p:nvSpPr>
            <p:spPr bwMode="auto">
              <a:xfrm>
                <a:off x="672" y="1780"/>
                <a:ext cx="156" cy="327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9409" name="Oval 17"/>
              <p:cNvSpPr>
                <a:spLocks noChangeArrowheads="1"/>
              </p:cNvSpPr>
              <p:nvPr/>
            </p:nvSpPr>
            <p:spPr bwMode="auto">
              <a:xfrm>
                <a:off x="672" y="1060"/>
                <a:ext cx="156" cy="327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9410" name="Text Box 18"/>
              <p:cNvSpPr txBox="1">
                <a:spLocks noChangeArrowheads="1"/>
              </p:cNvSpPr>
              <p:nvPr/>
            </p:nvSpPr>
            <p:spPr bwMode="auto">
              <a:xfrm>
                <a:off x="592" y="1200"/>
                <a:ext cx="214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kumimoji="1" lang="en-US" altLang="zh-CN" sz="2400" b="1">
                    <a:latin typeface="Times New Roman" panose="02020603050405020304" pitchFamily="18" charset="0"/>
                  </a:rPr>
                  <a:t>+</a:t>
                </a:r>
              </a:p>
            </p:txBody>
          </p:sp>
          <p:sp>
            <p:nvSpPr>
              <p:cNvPr id="59411" name="Text Box 19"/>
              <p:cNvSpPr txBox="1">
                <a:spLocks noChangeArrowheads="1"/>
              </p:cNvSpPr>
              <p:nvPr/>
            </p:nvSpPr>
            <p:spPr bwMode="auto">
              <a:xfrm>
                <a:off x="604" y="1680"/>
                <a:ext cx="20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kumimoji="1" lang="en-US" altLang="zh-CN" sz="2400" b="1">
                    <a:latin typeface="宋体" panose="02010600030101010101" pitchFamily="2" charset="-122"/>
                  </a:rPr>
                  <a:t>-</a:t>
                </a:r>
                <a:endParaRPr kumimoji="1" lang="en-US" altLang="zh-CN" sz="2400" b="1">
                  <a:latin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59412" name="Group 20"/>
          <p:cNvGrpSpPr>
            <a:grpSpLocks/>
          </p:cNvGrpSpPr>
          <p:nvPr/>
        </p:nvGrpSpPr>
        <p:grpSpPr bwMode="auto">
          <a:xfrm>
            <a:off x="4279900" y="2816225"/>
            <a:ext cx="5581650" cy="1512888"/>
            <a:chOff x="1736" y="1648"/>
            <a:chExt cx="3516" cy="953"/>
          </a:xfrm>
        </p:grpSpPr>
        <p:sp>
          <p:nvSpPr>
            <p:cNvPr id="59413" name="Text Box 21"/>
            <p:cNvSpPr txBox="1">
              <a:spLocks noChangeArrowheads="1"/>
            </p:cNvSpPr>
            <p:nvPr/>
          </p:nvSpPr>
          <p:spPr bwMode="auto">
            <a:xfrm>
              <a:off x="1752" y="1648"/>
              <a:ext cx="108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kumimoji="1" lang="zh-CN" altLang="en-US" sz="2400" b="1">
                  <a:latin typeface="Times New Roman" panose="02020603050405020304" pitchFamily="18" charset="0"/>
                </a:rPr>
                <a:t>相量形式：</a:t>
              </a:r>
            </a:p>
          </p:txBody>
        </p:sp>
        <p:graphicFrame>
          <p:nvGraphicFramePr>
            <p:cNvPr id="59414" name="Object 22"/>
            <p:cNvGraphicFramePr>
              <a:graphicFrameLocks noChangeAspect="1"/>
            </p:cNvGraphicFramePr>
            <p:nvPr/>
          </p:nvGraphicFramePr>
          <p:xfrm>
            <a:off x="1736" y="1937"/>
            <a:ext cx="1159" cy="6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7" imgW="838080" imgH="482400" progId="Equation.3">
                    <p:embed/>
                  </p:oleObj>
                </mc:Choice>
                <mc:Fallback>
                  <p:oleObj name="公式" r:id="rId7" imgW="838080" imgH="482400" progId="Equation.3">
                    <p:embed/>
                    <p:pic>
                      <p:nvPicPr>
                        <p:cNvPr id="59414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36" y="1937"/>
                          <a:ext cx="1159" cy="6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9415" name="Text Box 23"/>
            <p:cNvSpPr txBox="1">
              <a:spLocks noChangeArrowheads="1"/>
            </p:cNvSpPr>
            <p:nvPr/>
          </p:nvSpPr>
          <p:spPr bwMode="auto">
            <a:xfrm>
              <a:off x="3240" y="1936"/>
              <a:ext cx="199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/>
              <a:r>
                <a:rPr kumimoji="1" lang="zh-CN" altLang="en-US" sz="2400" b="1">
                  <a:latin typeface="Times New Roman" panose="02020603050405020304" pitchFamily="18" charset="0"/>
                </a:rPr>
                <a:t>有效值关系：</a:t>
              </a:r>
              <a:r>
                <a:rPr kumimoji="1" lang="en-US" altLang="zh-CN" sz="2400" b="1" i="1">
                  <a:latin typeface="Times New Roman" panose="02020603050405020304" pitchFamily="18" charset="0"/>
                </a:rPr>
                <a:t>U</a:t>
              </a:r>
              <a:r>
                <a:rPr kumimoji="1" lang="en-US" altLang="zh-CN" sz="2400" b="1" i="1" baseline="-25000">
                  <a:latin typeface="Times New Roman" panose="02020603050405020304" pitchFamily="18" charset="0"/>
                </a:rPr>
                <a:t>R </a:t>
              </a:r>
              <a:r>
                <a:rPr kumimoji="1" lang="en-US" altLang="zh-CN" sz="2400" b="1">
                  <a:latin typeface="Times New Roman" panose="02020603050405020304" pitchFamily="18" charset="0"/>
                </a:rPr>
                <a:t>= </a:t>
              </a:r>
              <a:r>
                <a:rPr kumimoji="1" lang="en-US" altLang="zh-CN" sz="2400" b="1" i="1">
                  <a:latin typeface="Times New Roman" panose="02020603050405020304" pitchFamily="18" charset="0"/>
                </a:rPr>
                <a:t>RI</a:t>
              </a:r>
              <a:endParaRPr kumimoji="1"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59416" name="Text Box 24"/>
            <p:cNvSpPr txBox="1">
              <a:spLocks noChangeArrowheads="1"/>
            </p:cNvSpPr>
            <p:nvPr/>
          </p:nvSpPr>
          <p:spPr bwMode="auto">
            <a:xfrm>
              <a:off x="3240" y="2298"/>
              <a:ext cx="20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/>
              <a:r>
                <a:rPr kumimoji="1" lang="zh-CN" altLang="en-US" sz="2400" b="1">
                  <a:latin typeface="Times New Roman" panose="02020603050405020304" pitchFamily="18" charset="0"/>
                </a:rPr>
                <a:t>相位关系：</a:t>
              </a:r>
              <a:r>
                <a:rPr kumimoji="1" lang="en-US" altLang="zh-CN" sz="2400" b="1" i="1">
                  <a:latin typeface="Times New Roman" panose="02020603050405020304" pitchFamily="18" charset="0"/>
                  <a:sym typeface="Symbol" panose="05050102010706020507" pitchFamily="18" charset="2"/>
                </a:rPr>
                <a:t>u </a:t>
              </a:r>
              <a:r>
                <a:rPr kumimoji="1" lang="en-US" altLang="zh-CN" sz="2400" b="1">
                  <a:latin typeface="Times New Roman" panose="02020603050405020304" pitchFamily="18" charset="0"/>
                  <a:sym typeface="Symbol" panose="05050102010706020507" pitchFamily="18" charset="2"/>
                </a:rPr>
                <a:t>, </a:t>
              </a:r>
              <a:r>
                <a:rPr kumimoji="1" lang="en-US" altLang="zh-CN" sz="2400" b="1" i="1">
                  <a:latin typeface="Times New Roman" panose="02020603050405020304" pitchFamily="18" charset="0"/>
                  <a:sym typeface="Symbol" panose="05050102010706020507" pitchFamily="18" charset="2"/>
                </a:rPr>
                <a:t>i </a:t>
              </a:r>
              <a:r>
                <a:rPr kumimoji="1" lang="zh-CN" altLang="zh-CN" sz="2400" b="1">
                  <a:latin typeface="Times New Roman" panose="02020603050405020304" pitchFamily="18" charset="0"/>
                  <a:sym typeface="Symbol" panose="05050102010706020507" pitchFamily="18" charset="2"/>
                </a:rPr>
                <a:t>同相</a:t>
              </a:r>
              <a:endParaRPr kumimoji="1" lang="zh-CN" altLang="en-US" sz="2400" b="1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9417" name="Group 25"/>
          <p:cNvGrpSpPr>
            <a:grpSpLocks/>
          </p:cNvGrpSpPr>
          <p:nvPr/>
        </p:nvGrpSpPr>
        <p:grpSpPr bwMode="auto">
          <a:xfrm>
            <a:off x="3143250" y="4292601"/>
            <a:ext cx="5995988" cy="2371725"/>
            <a:chOff x="1272" y="2499"/>
            <a:chExt cx="3513" cy="1494"/>
          </a:xfrm>
        </p:grpSpPr>
        <p:grpSp>
          <p:nvGrpSpPr>
            <p:cNvPr id="59418" name="Group 26"/>
            <p:cNvGrpSpPr>
              <a:grpSpLocks/>
            </p:cNvGrpSpPr>
            <p:nvPr/>
          </p:nvGrpSpPr>
          <p:grpSpPr bwMode="auto">
            <a:xfrm>
              <a:off x="2717" y="2499"/>
              <a:ext cx="1030" cy="1494"/>
              <a:chOff x="485" y="2427"/>
              <a:chExt cx="1030" cy="1494"/>
            </a:xfrm>
          </p:grpSpPr>
          <p:sp>
            <p:nvSpPr>
              <p:cNvPr id="59419" name="Text Box 27"/>
              <p:cNvSpPr txBox="1">
                <a:spLocks noChangeArrowheads="1"/>
              </p:cNvSpPr>
              <p:nvPr/>
            </p:nvSpPr>
            <p:spPr bwMode="auto">
              <a:xfrm>
                <a:off x="504" y="3633"/>
                <a:ext cx="826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 algn="l">
                  <a:spcBef>
                    <a:spcPct val="0"/>
                  </a:spcBef>
                </a:pPr>
                <a:r>
                  <a:rPr kumimoji="1" lang="zh-CN" altLang="en-US" sz="2400" b="1">
                    <a:latin typeface="Times New Roman" panose="02020603050405020304" pitchFamily="18" charset="0"/>
                  </a:rPr>
                  <a:t>相量模型</a:t>
                </a:r>
              </a:p>
            </p:txBody>
          </p:sp>
          <p:sp>
            <p:nvSpPr>
              <p:cNvPr id="59420" name="Line 28"/>
              <p:cNvSpPr>
                <a:spLocks noChangeShapeType="1"/>
              </p:cNvSpPr>
              <p:nvPr/>
            </p:nvSpPr>
            <p:spPr bwMode="auto">
              <a:xfrm>
                <a:off x="1221" y="2781"/>
                <a:ext cx="0" cy="72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9421" name="Rectangle 29"/>
              <p:cNvSpPr>
                <a:spLocks noChangeArrowheads="1"/>
              </p:cNvSpPr>
              <p:nvPr/>
            </p:nvSpPr>
            <p:spPr bwMode="auto">
              <a:xfrm>
                <a:off x="1161" y="3001"/>
                <a:ext cx="108" cy="233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chemeClr val="tx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9422" name="Line 30"/>
              <p:cNvSpPr>
                <a:spLocks noChangeShapeType="1"/>
              </p:cNvSpPr>
              <p:nvPr/>
            </p:nvSpPr>
            <p:spPr bwMode="auto">
              <a:xfrm>
                <a:off x="645" y="2781"/>
                <a:ext cx="57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9423" name="Line 31"/>
              <p:cNvSpPr>
                <a:spLocks noChangeShapeType="1"/>
              </p:cNvSpPr>
              <p:nvPr/>
            </p:nvSpPr>
            <p:spPr bwMode="auto">
              <a:xfrm>
                <a:off x="645" y="3501"/>
                <a:ext cx="57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9424" name="Line 32"/>
              <p:cNvSpPr>
                <a:spLocks noChangeShapeType="1"/>
              </p:cNvSpPr>
              <p:nvPr/>
            </p:nvSpPr>
            <p:spPr bwMode="auto">
              <a:xfrm>
                <a:off x="669" y="2721"/>
                <a:ext cx="28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stealth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9425" name="Text Box 33"/>
              <p:cNvSpPr txBox="1">
                <a:spLocks noChangeArrowheads="1"/>
              </p:cNvSpPr>
              <p:nvPr/>
            </p:nvSpPr>
            <p:spPr bwMode="auto">
              <a:xfrm>
                <a:off x="1288" y="2973"/>
                <a:ext cx="227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 algn="l">
                  <a:spcBef>
                    <a:spcPct val="0"/>
                  </a:spcBef>
                </a:pPr>
                <a:r>
                  <a:rPr kumimoji="1" lang="en-US" altLang="zh-CN" sz="2400" b="1" i="1">
                    <a:latin typeface="Times New Roman" panose="02020603050405020304" pitchFamily="18" charset="0"/>
                  </a:rPr>
                  <a:t>R</a:t>
                </a:r>
              </a:p>
            </p:txBody>
          </p:sp>
          <p:sp>
            <p:nvSpPr>
              <p:cNvPr id="59426" name="Oval 34"/>
              <p:cNvSpPr>
                <a:spLocks noChangeArrowheads="1"/>
              </p:cNvSpPr>
              <p:nvPr/>
            </p:nvSpPr>
            <p:spPr bwMode="auto">
              <a:xfrm>
                <a:off x="609" y="3349"/>
                <a:ext cx="152" cy="327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9427" name="Oval 35"/>
              <p:cNvSpPr>
                <a:spLocks noChangeArrowheads="1"/>
              </p:cNvSpPr>
              <p:nvPr/>
            </p:nvSpPr>
            <p:spPr bwMode="auto">
              <a:xfrm>
                <a:off x="609" y="2629"/>
                <a:ext cx="152" cy="327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9428" name="Text Box 36"/>
              <p:cNvSpPr txBox="1">
                <a:spLocks noChangeArrowheads="1"/>
              </p:cNvSpPr>
              <p:nvPr/>
            </p:nvSpPr>
            <p:spPr bwMode="auto">
              <a:xfrm>
                <a:off x="529" y="2769"/>
                <a:ext cx="209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kumimoji="1" lang="en-US" altLang="zh-CN" sz="2400" b="1">
                    <a:latin typeface="Times New Roman" panose="02020603050405020304" pitchFamily="18" charset="0"/>
                  </a:rPr>
                  <a:t>+</a:t>
                </a:r>
              </a:p>
            </p:txBody>
          </p:sp>
          <p:sp>
            <p:nvSpPr>
              <p:cNvPr id="59429" name="Text Box 37"/>
              <p:cNvSpPr txBox="1">
                <a:spLocks noChangeArrowheads="1"/>
              </p:cNvSpPr>
              <p:nvPr/>
            </p:nvSpPr>
            <p:spPr bwMode="auto">
              <a:xfrm>
                <a:off x="541" y="3249"/>
                <a:ext cx="198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kumimoji="1" lang="en-US" altLang="zh-CN" sz="2400" b="1">
                    <a:latin typeface="宋体" panose="02010600030101010101" pitchFamily="2" charset="-122"/>
                  </a:rPr>
                  <a:t>-</a:t>
                </a:r>
                <a:endParaRPr kumimoji="1" lang="en-US" altLang="zh-CN" sz="2400" b="1">
                  <a:latin typeface="Times New Roman" panose="02020603050405020304" pitchFamily="18" charset="0"/>
                </a:endParaRPr>
              </a:p>
            </p:txBody>
          </p:sp>
          <p:graphicFrame>
            <p:nvGraphicFramePr>
              <p:cNvPr id="59430" name="Object 38"/>
              <p:cNvGraphicFramePr>
                <a:graphicFrameLocks noChangeAspect="1"/>
              </p:cNvGraphicFramePr>
              <p:nvPr/>
            </p:nvGraphicFramePr>
            <p:xfrm>
              <a:off x="485" y="3016"/>
              <a:ext cx="323" cy="32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9" imgW="228600" imgH="228600" progId="Equation.3">
                      <p:embed/>
                    </p:oleObj>
                  </mc:Choice>
                  <mc:Fallback>
                    <p:oleObj name="公式" r:id="rId9" imgW="228600" imgH="228600" progId="Equation.3">
                      <p:embed/>
                      <p:pic>
                        <p:nvPicPr>
                          <p:cNvPr id="59430" name="Object 3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85" y="3016"/>
                            <a:ext cx="323" cy="32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9431" name="Object 39"/>
              <p:cNvGraphicFramePr>
                <a:graphicFrameLocks noChangeAspect="1"/>
              </p:cNvGraphicFramePr>
              <p:nvPr/>
            </p:nvGraphicFramePr>
            <p:xfrm>
              <a:off x="703" y="2427"/>
              <a:ext cx="168" cy="25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11" imgW="126720" imgH="190440" progId="Equation.3">
                      <p:embed/>
                    </p:oleObj>
                  </mc:Choice>
                  <mc:Fallback>
                    <p:oleObj name="公式" r:id="rId11" imgW="126720" imgH="190440" progId="Equation.3">
                      <p:embed/>
                      <p:pic>
                        <p:nvPicPr>
                          <p:cNvPr id="59431" name="Object 3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03" y="2427"/>
                            <a:ext cx="168" cy="25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59432" name="Group 40"/>
            <p:cNvGrpSpPr>
              <a:grpSpLocks/>
            </p:cNvGrpSpPr>
            <p:nvPr/>
          </p:nvGrpSpPr>
          <p:grpSpPr bwMode="auto">
            <a:xfrm>
              <a:off x="1272" y="2894"/>
              <a:ext cx="980" cy="714"/>
              <a:chOff x="720" y="2762"/>
              <a:chExt cx="980" cy="714"/>
            </a:xfrm>
          </p:grpSpPr>
          <p:sp>
            <p:nvSpPr>
              <p:cNvPr id="59433" name="Text Box 41"/>
              <p:cNvSpPr txBox="1">
                <a:spLocks noChangeArrowheads="1"/>
              </p:cNvSpPr>
              <p:nvPr/>
            </p:nvSpPr>
            <p:spPr bwMode="auto">
              <a:xfrm>
                <a:off x="720" y="2762"/>
                <a:ext cx="82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kumimoji="1" lang="zh-CN" altLang="en-US" sz="2400" b="1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相量关系</a:t>
                </a:r>
                <a:endParaRPr kumimoji="1" lang="zh-CN" altLang="en-US" sz="2400" b="1">
                  <a:latin typeface="Times New Roman" panose="02020603050405020304" pitchFamily="18" charset="0"/>
                </a:endParaRPr>
              </a:p>
            </p:txBody>
          </p:sp>
          <p:graphicFrame>
            <p:nvGraphicFramePr>
              <p:cNvPr id="59434" name="Object 42"/>
              <p:cNvGraphicFramePr>
                <a:graphicFrameLocks noChangeAspect="1"/>
              </p:cNvGraphicFramePr>
              <p:nvPr/>
            </p:nvGraphicFramePr>
            <p:xfrm>
              <a:off x="828" y="3205"/>
              <a:ext cx="872" cy="27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13" imgW="1384200" imgH="431640" progId="Equation.3">
                      <p:embed/>
                    </p:oleObj>
                  </mc:Choice>
                  <mc:Fallback>
                    <p:oleObj name="公式" r:id="rId13" imgW="1384200" imgH="431640" progId="Equation.3">
                      <p:embed/>
                      <p:pic>
                        <p:nvPicPr>
                          <p:cNvPr id="59434" name="Object 4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828" y="3205"/>
                            <a:ext cx="872" cy="27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59435" name="Group 43"/>
            <p:cNvGrpSpPr>
              <a:grpSpLocks/>
            </p:cNvGrpSpPr>
            <p:nvPr/>
          </p:nvGrpSpPr>
          <p:grpSpPr bwMode="auto">
            <a:xfrm>
              <a:off x="3912" y="2716"/>
              <a:ext cx="873" cy="1017"/>
              <a:chOff x="4644" y="2764"/>
              <a:chExt cx="873" cy="1017"/>
            </a:xfrm>
          </p:grpSpPr>
          <p:grpSp>
            <p:nvGrpSpPr>
              <p:cNvPr id="59436" name="Group 44"/>
              <p:cNvGrpSpPr>
                <a:grpSpLocks/>
              </p:cNvGrpSpPr>
              <p:nvPr/>
            </p:nvGrpSpPr>
            <p:grpSpPr bwMode="auto">
              <a:xfrm>
                <a:off x="4656" y="2764"/>
                <a:ext cx="861" cy="764"/>
                <a:chOff x="3180" y="2740"/>
                <a:chExt cx="861" cy="764"/>
              </a:xfrm>
            </p:grpSpPr>
            <p:sp>
              <p:nvSpPr>
                <p:cNvPr id="59437" name="Line 45"/>
                <p:cNvSpPr>
                  <a:spLocks noChangeShapeType="1"/>
                </p:cNvSpPr>
                <p:nvPr/>
              </p:nvSpPr>
              <p:spPr bwMode="auto">
                <a:xfrm flipV="1">
                  <a:off x="3180" y="2784"/>
                  <a:ext cx="660" cy="720"/>
                </a:xfrm>
                <a:prstGeom prst="line">
                  <a:avLst/>
                </a:prstGeom>
                <a:noFill/>
                <a:ln w="28575">
                  <a:solidFill>
                    <a:srgbClr val="6600FF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graphicFrame>
              <p:nvGraphicFramePr>
                <p:cNvPr id="59438" name="Object 46"/>
                <p:cNvGraphicFramePr>
                  <a:graphicFrameLocks noChangeAspect="1"/>
                </p:cNvGraphicFramePr>
                <p:nvPr/>
              </p:nvGraphicFramePr>
              <p:xfrm>
                <a:off x="3852" y="2740"/>
                <a:ext cx="189" cy="296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公式" r:id="rId15" imgW="126720" imgH="190440" progId="Equation.3">
                        <p:embed/>
                      </p:oleObj>
                    </mc:Choice>
                    <mc:Fallback>
                      <p:oleObj name="公式" r:id="rId15" imgW="126720" imgH="190440" progId="Equation.3">
                        <p:embed/>
                        <p:pic>
                          <p:nvPicPr>
                            <p:cNvPr id="59438" name="Object 46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6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852" y="2740"/>
                              <a:ext cx="189" cy="296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sp>
            <p:nvSpPr>
              <p:cNvPr id="59439" name="Line 47"/>
              <p:cNvSpPr>
                <a:spLocks noChangeShapeType="1"/>
              </p:cNvSpPr>
              <p:nvPr/>
            </p:nvSpPr>
            <p:spPr bwMode="auto">
              <a:xfrm flipV="1">
                <a:off x="4644" y="3060"/>
                <a:ext cx="444" cy="468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59440" name="Object 48"/>
              <p:cNvGraphicFramePr>
                <a:graphicFrameLocks noChangeAspect="1"/>
              </p:cNvGraphicFramePr>
              <p:nvPr/>
            </p:nvGraphicFramePr>
            <p:xfrm>
              <a:off x="5040" y="3133"/>
              <a:ext cx="235" cy="29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17" imgW="164880" imgH="203040" progId="Equation.3">
                      <p:embed/>
                    </p:oleObj>
                  </mc:Choice>
                  <mc:Fallback>
                    <p:oleObj name="公式" r:id="rId17" imgW="164880" imgH="203040" progId="Equation.3">
                      <p:embed/>
                      <p:pic>
                        <p:nvPicPr>
                          <p:cNvPr id="59440" name="Object 4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040" y="3133"/>
                            <a:ext cx="235" cy="29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59441" name="Text Box 49"/>
              <p:cNvSpPr txBox="1">
                <a:spLocks noChangeArrowheads="1"/>
              </p:cNvSpPr>
              <p:nvPr/>
            </p:nvSpPr>
            <p:spPr bwMode="auto">
              <a:xfrm>
                <a:off x="4814" y="3493"/>
                <a:ext cx="64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6600FF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kumimoji="1" lang="zh-CN" altLang="en-US" sz="2400" b="1">
                    <a:latin typeface="Times New Roman" panose="02020603050405020304" pitchFamily="18" charset="0"/>
                  </a:rPr>
                  <a:t>相量图</a:t>
                </a:r>
              </a:p>
            </p:txBody>
          </p:sp>
        </p:grpSp>
      </p:grpSp>
      <p:sp>
        <p:nvSpPr>
          <p:cNvPr id="59442" name="Text Box 50"/>
          <p:cNvSpPr txBox="1">
            <a:spLocks noChangeArrowheads="1"/>
          </p:cNvSpPr>
          <p:nvPr/>
        </p:nvSpPr>
        <p:spPr bwMode="auto">
          <a:xfrm>
            <a:off x="1703388" y="908050"/>
            <a:ext cx="44640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zh-CN" altLang="en-US" sz="2400" b="1"/>
              <a:t>一、元件特性的相量形式</a:t>
            </a:r>
          </a:p>
        </p:txBody>
      </p:sp>
      <p:sp>
        <p:nvSpPr>
          <p:cNvPr id="59443" name="Rectangle 51"/>
          <p:cNvSpPr>
            <a:spLocks noGrp="1" noChangeArrowheads="1"/>
          </p:cNvSpPr>
          <p:nvPr>
            <p:ph type="title"/>
          </p:nvPr>
        </p:nvSpPr>
        <p:spPr>
          <a:xfrm>
            <a:off x="1991545" y="188914"/>
            <a:ext cx="7417569" cy="535531"/>
          </a:xfrm>
          <a:solidFill>
            <a:srgbClr val="E7FFFF"/>
          </a:solidFill>
          <a:ln/>
          <a:effectLst>
            <a:prstShdw prst="shdw17" dist="17961" dir="2700000">
              <a:srgbClr val="E7FFFF">
                <a:gamma/>
                <a:shade val="60000"/>
                <a:invGamma/>
              </a:srgbClr>
            </a:prst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folHlink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 wrap="square" anchor="t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10.3.3  </a:t>
            </a:r>
            <a:r>
              <a:rPr lang="zh-CN" altLang="en-US" sz="32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电路的相量模型（直接记忆啊）</a:t>
            </a:r>
          </a:p>
        </p:txBody>
      </p:sp>
    </p:spTree>
    <p:extLst>
      <p:ext uri="{BB962C8B-B14F-4D97-AF65-F5344CB8AC3E}">
        <p14:creationId xmlns:p14="http://schemas.microsoft.com/office/powerpoint/2010/main" val="1245846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9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9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9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42" name="Group 2"/>
          <p:cNvGrpSpPr>
            <a:grpSpLocks/>
          </p:cNvGrpSpPr>
          <p:nvPr/>
        </p:nvGrpSpPr>
        <p:grpSpPr bwMode="auto">
          <a:xfrm>
            <a:off x="6857999" y="698500"/>
            <a:ext cx="2089150" cy="3703638"/>
            <a:chOff x="3388" y="440"/>
            <a:chExt cx="1296" cy="2333"/>
          </a:xfrm>
        </p:grpSpPr>
        <p:sp>
          <p:nvSpPr>
            <p:cNvPr id="61443" name="Text Box 3"/>
            <p:cNvSpPr txBox="1">
              <a:spLocks noChangeArrowheads="1"/>
            </p:cNvSpPr>
            <p:nvPr/>
          </p:nvSpPr>
          <p:spPr bwMode="auto">
            <a:xfrm>
              <a:off x="3541" y="440"/>
              <a:ext cx="690" cy="291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kumimoji="1" lang="zh-CN" altLang="en-US" sz="2400" b="1" dirty="0">
                  <a:latin typeface="Times New Roman" panose="02020603050405020304" pitchFamily="18" charset="0"/>
                </a:rPr>
                <a:t>相量域</a:t>
              </a:r>
            </a:p>
          </p:txBody>
        </p:sp>
        <p:sp>
          <p:nvSpPr>
            <p:cNvPr id="61444" name="Text Box 4"/>
            <p:cNvSpPr txBox="1">
              <a:spLocks noChangeArrowheads="1"/>
            </p:cNvSpPr>
            <p:nvPr/>
          </p:nvSpPr>
          <p:spPr bwMode="auto">
            <a:xfrm>
              <a:off x="3388" y="1691"/>
              <a:ext cx="1296" cy="5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kumimoji="1" lang="zh-CN" altLang="en-US" sz="2400" b="1">
                  <a:latin typeface="Times New Roman" panose="02020603050405020304" pitchFamily="18" charset="0"/>
                </a:rPr>
                <a:t>有效值关系</a:t>
              </a:r>
            </a:p>
            <a:p>
              <a:pPr algn="l">
                <a:lnSpc>
                  <a:spcPct val="120000"/>
                </a:lnSpc>
                <a:spcBef>
                  <a:spcPct val="5000"/>
                </a:spcBef>
              </a:pPr>
              <a:r>
                <a:rPr kumimoji="1" lang="zh-CN" altLang="en-US" sz="24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 </a:t>
              </a:r>
              <a:r>
                <a:rPr kumimoji="1" lang="en-US" altLang="zh-CN" sz="2400" b="1" i="1">
                  <a:solidFill>
                    <a:srgbClr val="FF0000"/>
                  </a:solidFill>
                  <a:latin typeface="Times New Roman" panose="02020603050405020304" pitchFamily="18" charset="0"/>
                </a:rPr>
                <a:t>U</a:t>
              </a:r>
              <a:r>
                <a:rPr kumimoji="1" lang="en-US" altLang="zh-CN" sz="24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=</a:t>
              </a:r>
              <a:r>
                <a:rPr kumimoji="1" lang="en-US" altLang="zh-CN" sz="2400" b="1" i="1">
                  <a:solidFill>
                    <a:srgbClr val="FF0000"/>
                  </a:solidFill>
                  <a:latin typeface="Symbol" panose="05050102010706020507" pitchFamily="18" charset="2"/>
                </a:rPr>
                <a:t>w </a:t>
              </a:r>
              <a:r>
                <a:rPr kumimoji="1" lang="en-US" altLang="zh-CN" sz="2400" b="1" i="1">
                  <a:solidFill>
                    <a:srgbClr val="FF0000"/>
                  </a:solidFill>
                  <a:latin typeface="Times New Roman" panose="02020603050405020304" pitchFamily="18" charset="0"/>
                </a:rPr>
                <a:t>L I</a:t>
              </a:r>
            </a:p>
          </p:txBody>
        </p:sp>
        <p:sp>
          <p:nvSpPr>
            <p:cNvPr id="61445" name="Text Box 5"/>
            <p:cNvSpPr txBox="1">
              <a:spLocks noChangeArrowheads="1"/>
            </p:cNvSpPr>
            <p:nvPr/>
          </p:nvSpPr>
          <p:spPr bwMode="auto">
            <a:xfrm>
              <a:off x="3438" y="2318"/>
              <a:ext cx="1062" cy="4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zh-CN" altLang="en-US" sz="2400" b="1">
                  <a:latin typeface="Times New Roman" panose="02020603050405020304" pitchFamily="18" charset="0"/>
                </a:rPr>
                <a:t>相位关系</a:t>
              </a:r>
            </a:p>
            <a:p>
              <a:pPr algn="l">
                <a:lnSpc>
                  <a:spcPct val="65000"/>
                </a:lnSpc>
              </a:pPr>
              <a:r>
                <a:rPr kumimoji="1" lang="en-US" altLang="zh-CN" sz="2400" b="1" i="1">
                  <a:solidFill>
                    <a:srgbClr val="FF0000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u </a:t>
              </a:r>
              <a:r>
                <a:rPr kumimoji="1" lang="zh-CN" altLang="en-US" sz="2400" b="1">
                  <a:solidFill>
                    <a:srgbClr val="FF0000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超前</a:t>
              </a:r>
              <a:r>
                <a:rPr kumimoji="1" lang="zh-CN" altLang="en-US" sz="2400" b="1" i="1">
                  <a:solidFill>
                    <a:srgbClr val="FF0000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  <a:r>
                <a:rPr kumimoji="1" lang="en-US" altLang="zh-CN" sz="2400" b="1" i="1">
                  <a:solidFill>
                    <a:srgbClr val="FF0000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i</a:t>
              </a:r>
              <a:r>
                <a:rPr kumimoji="1" lang="en-US" altLang="zh-CN" sz="2400" b="1">
                  <a:solidFill>
                    <a:srgbClr val="FF0000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 90°</a:t>
              </a:r>
              <a:endParaRPr kumimoji="1" lang="en-US" altLang="zh-CN" sz="2400" b="1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61446" name="Object 6"/>
            <p:cNvGraphicFramePr>
              <a:graphicFrameLocks noChangeAspect="1"/>
            </p:cNvGraphicFramePr>
            <p:nvPr/>
          </p:nvGraphicFramePr>
          <p:xfrm>
            <a:off x="3528" y="1260"/>
            <a:ext cx="853" cy="2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" imgW="672840" imgH="228600" progId="Equation.3">
                    <p:embed/>
                  </p:oleObj>
                </mc:Choice>
                <mc:Fallback>
                  <p:oleObj name="公式" r:id="rId3" imgW="672840" imgH="228600" progId="Equation.3">
                    <p:embed/>
                    <p:pic>
                      <p:nvPicPr>
                        <p:cNvPr id="61446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28" y="1260"/>
                          <a:ext cx="853" cy="2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54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 type="none" w="sm" len="med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447" name="Object 7"/>
            <p:cNvGraphicFramePr>
              <a:graphicFrameLocks noChangeAspect="1"/>
            </p:cNvGraphicFramePr>
            <p:nvPr/>
          </p:nvGraphicFramePr>
          <p:xfrm>
            <a:off x="3464" y="869"/>
            <a:ext cx="758" cy="2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5" imgW="596880" imgH="203040" progId="Equation.3">
                    <p:embed/>
                  </p:oleObj>
                </mc:Choice>
                <mc:Fallback>
                  <p:oleObj name="公式" r:id="rId5" imgW="596880" imgH="203040" progId="Equation.3">
                    <p:embed/>
                    <p:pic>
                      <p:nvPicPr>
                        <p:cNvPr id="61447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64" y="869"/>
                          <a:ext cx="758" cy="25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54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 type="none" w="sm" len="med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1448" name="Group 8"/>
          <p:cNvGrpSpPr>
            <a:grpSpLocks/>
          </p:cNvGrpSpPr>
          <p:nvPr/>
        </p:nvGrpSpPr>
        <p:grpSpPr bwMode="auto">
          <a:xfrm>
            <a:off x="8670926" y="1377950"/>
            <a:ext cx="1844675" cy="4692650"/>
            <a:chOff x="4502" y="868"/>
            <a:chExt cx="1102" cy="2956"/>
          </a:xfrm>
        </p:grpSpPr>
        <p:grpSp>
          <p:nvGrpSpPr>
            <p:cNvPr id="61449" name="Group 9"/>
            <p:cNvGrpSpPr>
              <a:grpSpLocks/>
            </p:cNvGrpSpPr>
            <p:nvPr/>
          </p:nvGrpSpPr>
          <p:grpSpPr bwMode="auto">
            <a:xfrm>
              <a:off x="4676" y="868"/>
              <a:ext cx="922" cy="1468"/>
              <a:chOff x="4696" y="628"/>
              <a:chExt cx="922" cy="1468"/>
            </a:xfrm>
          </p:grpSpPr>
          <p:sp>
            <p:nvSpPr>
              <p:cNvPr id="61450" name="Text Box 10"/>
              <p:cNvSpPr txBox="1">
                <a:spLocks noChangeArrowheads="1"/>
              </p:cNvSpPr>
              <p:nvPr/>
            </p:nvSpPr>
            <p:spPr bwMode="auto">
              <a:xfrm>
                <a:off x="4995" y="1204"/>
                <a:ext cx="62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algn="l">
                  <a:spcBef>
                    <a:spcPct val="0"/>
                  </a:spcBef>
                </a:pPr>
                <a:r>
                  <a:rPr kumimoji="1" lang="en-US" altLang="zh-CN" sz="2400" b="1">
                    <a:latin typeface="Times New Roman" panose="02020603050405020304" pitchFamily="18" charset="0"/>
                  </a:rPr>
                  <a:t>j</a:t>
                </a:r>
                <a:r>
                  <a:rPr kumimoji="1" lang="en-US" altLang="zh-CN" sz="2400" b="1" i="1">
                    <a:latin typeface="Times New Roman" panose="02020603050405020304" pitchFamily="18" charset="0"/>
                    <a:sym typeface="Symbol" panose="05050102010706020507" pitchFamily="18" charset="2"/>
                  </a:rPr>
                  <a:t> </a:t>
                </a:r>
                <a:r>
                  <a:rPr kumimoji="1" lang="en-US" altLang="zh-CN" sz="2400" b="1" i="1">
                    <a:latin typeface="Times New Roman" panose="02020603050405020304" pitchFamily="18" charset="0"/>
                  </a:rPr>
                  <a:t>L</a:t>
                </a:r>
              </a:p>
            </p:txBody>
          </p:sp>
          <p:grpSp>
            <p:nvGrpSpPr>
              <p:cNvPr id="61451" name="Group 11"/>
              <p:cNvGrpSpPr>
                <a:grpSpLocks/>
              </p:cNvGrpSpPr>
              <p:nvPr/>
            </p:nvGrpSpPr>
            <p:grpSpPr bwMode="auto">
              <a:xfrm>
                <a:off x="4696" y="628"/>
                <a:ext cx="858" cy="1468"/>
                <a:chOff x="4016" y="2628"/>
                <a:chExt cx="858" cy="1468"/>
              </a:xfrm>
            </p:grpSpPr>
            <p:sp>
              <p:nvSpPr>
                <p:cNvPr id="61452" name="Text Box 12"/>
                <p:cNvSpPr txBox="1">
                  <a:spLocks noChangeArrowheads="1"/>
                </p:cNvSpPr>
                <p:nvPr/>
              </p:nvSpPr>
              <p:spPr bwMode="auto">
                <a:xfrm>
                  <a:off x="4032" y="3808"/>
                  <a:ext cx="842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l">
                    <a:spcBef>
                      <a:spcPct val="0"/>
                    </a:spcBef>
                  </a:pPr>
                  <a:r>
                    <a:rPr kumimoji="1" lang="zh-CN" altLang="en-US" sz="2400" b="1">
                      <a:latin typeface="Times New Roman" panose="02020603050405020304" pitchFamily="18" charset="0"/>
                    </a:rPr>
                    <a:t>相量模型</a:t>
                  </a:r>
                </a:p>
              </p:txBody>
            </p:sp>
            <p:sp>
              <p:nvSpPr>
                <p:cNvPr id="61453" name="Freeform 13"/>
                <p:cNvSpPr>
                  <a:spLocks/>
                </p:cNvSpPr>
                <p:nvPr/>
              </p:nvSpPr>
              <p:spPr bwMode="auto">
                <a:xfrm>
                  <a:off x="4727" y="2984"/>
                  <a:ext cx="1" cy="168"/>
                </a:xfrm>
                <a:custGeom>
                  <a:avLst/>
                  <a:gdLst>
                    <a:gd name="T0" fmla="*/ 0 w 1"/>
                    <a:gd name="T1" fmla="*/ 168 h 168"/>
                    <a:gd name="T2" fmla="*/ 0 w 1"/>
                    <a:gd name="T3" fmla="*/ 0 h 1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" h="168">
                      <a:moveTo>
                        <a:pt x="0" y="168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1454" name="Freeform 14"/>
                <p:cNvSpPr>
                  <a:spLocks/>
                </p:cNvSpPr>
                <p:nvPr/>
              </p:nvSpPr>
              <p:spPr bwMode="auto">
                <a:xfrm>
                  <a:off x="4721" y="3536"/>
                  <a:ext cx="1" cy="174"/>
                </a:xfrm>
                <a:custGeom>
                  <a:avLst/>
                  <a:gdLst>
                    <a:gd name="T0" fmla="*/ 0 w 1"/>
                    <a:gd name="T1" fmla="*/ 0 h 174"/>
                    <a:gd name="T2" fmla="*/ 0 w 1"/>
                    <a:gd name="T3" fmla="*/ 174 h 1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" h="174">
                      <a:moveTo>
                        <a:pt x="0" y="0"/>
                      </a:moveTo>
                      <a:lnTo>
                        <a:pt x="0" y="174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1455" name="Freeform 15"/>
                <p:cNvSpPr>
                  <a:spLocks/>
                </p:cNvSpPr>
                <p:nvPr/>
              </p:nvSpPr>
              <p:spPr bwMode="auto">
                <a:xfrm>
                  <a:off x="4151" y="2984"/>
                  <a:ext cx="576" cy="6"/>
                </a:xfrm>
                <a:custGeom>
                  <a:avLst/>
                  <a:gdLst>
                    <a:gd name="T0" fmla="*/ 0 w 576"/>
                    <a:gd name="T1" fmla="*/ 6 h 6"/>
                    <a:gd name="T2" fmla="*/ 576 w 576"/>
                    <a:gd name="T3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576" h="6">
                      <a:moveTo>
                        <a:pt x="0" y="6"/>
                      </a:moveTo>
                      <a:lnTo>
                        <a:pt x="576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1456" name="Freeform 16"/>
                <p:cNvSpPr>
                  <a:spLocks/>
                </p:cNvSpPr>
                <p:nvPr/>
              </p:nvSpPr>
              <p:spPr bwMode="auto">
                <a:xfrm>
                  <a:off x="4148" y="3704"/>
                  <a:ext cx="570" cy="3"/>
                </a:xfrm>
                <a:custGeom>
                  <a:avLst/>
                  <a:gdLst>
                    <a:gd name="T0" fmla="*/ 0 w 570"/>
                    <a:gd name="T1" fmla="*/ 3 h 3"/>
                    <a:gd name="T2" fmla="*/ 570 w 570"/>
                    <a:gd name="T3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570" h="3">
                      <a:moveTo>
                        <a:pt x="0" y="3"/>
                      </a:moveTo>
                      <a:lnTo>
                        <a:pt x="57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1457" name="Line 17"/>
                <p:cNvSpPr>
                  <a:spLocks noChangeShapeType="1"/>
                </p:cNvSpPr>
                <p:nvPr/>
              </p:nvSpPr>
              <p:spPr bwMode="auto">
                <a:xfrm>
                  <a:off x="4131" y="2912"/>
                  <a:ext cx="288" cy="0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/>
                  <a:tailEnd type="stealth" w="sm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grpSp>
              <p:nvGrpSpPr>
                <p:cNvPr id="61458" name="Group 18"/>
                <p:cNvGrpSpPr>
                  <a:grpSpLocks/>
                </p:cNvGrpSpPr>
                <p:nvPr/>
              </p:nvGrpSpPr>
              <p:grpSpPr bwMode="auto">
                <a:xfrm rot="5400000">
                  <a:off x="4553" y="3230"/>
                  <a:ext cx="402" cy="225"/>
                  <a:chOff x="654" y="1781"/>
                  <a:chExt cx="513" cy="237"/>
                </a:xfrm>
              </p:grpSpPr>
              <p:sp>
                <p:nvSpPr>
                  <p:cNvPr id="61459" name="Freeform 19"/>
                  <p:cNvSpPr>
                    <a:spLocks/>
                  </p:cNvSpPr>
                  <p:nvPr/>
                </p:nvSpPr>
                <p:spPr bwMode="auto">
                  <a:xfrm>
                    <a:off x="654" y="1786"/>
                    <a:ext cx="148" cy="232"/>
                  </a:xfrm>
                  <a:custGeom>
                    <a:avLst/>
                    <a:gdLst>
                      <a:gd name="T0" fmla="*/ 0 w 125"/>
                      <a:gd name="T1" fmla="*/ 60 h 60"/>
                      <a:gd name="T2" fmla="*/ 23 w 125"/>
                      <a:gd name="T3" fmla="*/ 15 h 60"/>
                      <a:gd name="T4" fmla="*/ 65 w 125"/>
                      <a:gd name="T5" fmla="*/ 0 h 60"/>
                      <a:gd name="T6" fmla="*/ 102 w 125"/>
                      <a:gd name="T7" fmla="*/ 15 h 60"/>
                      <a:gd name="T8" fmla="*/ 125 w 125"/>
                      <a:gd name="T9" fmla="*/ 51 h 6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25" h="60">
                        <a:moveTo>
                          <a:pt x="0" y="60"/>
                        </a:moveTo>
                        <a:cubicBezTo>
                          <a:pt x="4" y="53"/>
                          <a:pt x="12" y="25"/>
                          <a:pt x="23" y="15"/>
                        </a:cubicBezTo>
                        <a:cubicBezTo>
                          <a:pt x="34" y="5"/>
                          <a:pt x="52" y="0"/>
                          <a:pt x="65" y="0"/>
                        </a:cubicBezTo>
                        <a:cubicBezTo>
                          <a:pt x="78" y="0"/>
                          <a:pt x="92" y="7"/>
                          <a:pt x="102" y="15"/>
                        </a:cubicBezTo>
                        <a:cubicBezTo>
                          <a:pt x="112" y="23"/>
                          <a:pt x="120" y="44"/>
                          <a:pt x="125" y="51"/>
                        </a:cubicBezTo>
                      </a:path>
                    </a:pathLst>
                  </a:custGeom>
                  <a:noFill/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61460" name="Freeform 20"/>
                  <p:cNvSpPr>
                    <a:spLocks/>
                  </p:cNvSpPr>
                  <p:nvPr/>
                </p:nvSpPr>
                <p:spPr bwMode="auto">
                  <a:xfrm>
                    <a:off x="777" y="1783"/>
                    <a:ext cx="148" cy="233"/>
                  </a:xfrm>
                  <a:custGeom>
                    <a:avLst/>
                    <a:gdLst>
                      <a:gd name="T0" fmla="*/ 0 w 121"/>
                      <a:gd name="T1" fmla="*/ 54 h 54"/>
                      <a:gd name="T2" fmla="*/ 24 w 121"/>
                      <a:gd name="T3" fmla="*/ 15 h 54"/>
                      <a:gd name="T4" fmla="*/ 66 w 121"/>
                      <a:gd name="T5" fmla="*/ 0 h 54"/>
                      <a:gd name="T6" fmla="*/ 103 w 121"/>
                      <a:gd name="T7" fmla="*/ 15 h 54"/>
                      <a:gd name="T8" fmla="*/ 121 w 121"/>
                      <a:gd name="T9" fmla="*/ 51 h 5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21" h="54">
                        <a:moveTo>
                          <a:pt x="0" y="54"/>
                        </a:moveTo>
                        <a:cubicBezTo>
                          <a:pt x="4" y="47"/>
                          <a:pt x="13" y="24"/>
                          <a:pt x="24" y="15"/>
                        </a:cubicBezTo>
                        <a:cubicBezTo>
                          <a:pt x="35" y="6"/>
                          <a:pt x="53" y="0"/>
                          <a:pt x="66" y="0"/>
                        </a:cubicBezTo>
                        <a:cubicBezTo>
                          <a:pt x="79" y="0"/>
                          <a:pt x="94" y="7"/>
                          <a:pt x="103" y="15"/>
                        </a:cubicBezTo>
                        <a:cubicBezTo>
                          <a:pt x="112" y="23"/>
                          <a:pt x="117" y="44"/>
                          <a:pt x="121" y="51"/>
                        </a:cubicBezTo>
                      </a:path>
                    </a:pathLst>
                  </a:custGeom>
                  <a:noFill/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61461" name="Freeform 21"/>
                  <p:cNvSpPr>
                    <a:spLocks/>
                  </p:cNvSpPr>
                  <p:nvPr/>
                </p:nvSpPr>
                <p:spPr bwMode="auto">
                  <a:xfrm>
                    <a:off x="897" y="1781"/>
                    <a:ext cx="148" cy="233"/>
                  </a:xfrm>
                  <a:custGeom>
                    <a:avLst/>
                    <a:gdLst>
                      <a:gd name="T0" fmla="*/ 0 w 119"/>
                      <a:gd name="T1" fmla="*/ 51 h 51"/>
                      <a:gd name="T2" fmla="*/ 17 w 119"/>
                      <a:gd name="T3" fmla="*/ 15 h 51"/>
                      <a:gd name="T4" fmla="*/ 59 w 119"/>
                      <a:gd name="T5" fmla="*/ 0 h 51"/>
                      <a:gd name="T6" fmla="*/ 96 w 119"/>
                      <a:gd name="T7" fmla="*/ 15 h 51"/>
                      <a:gd name="T8" fmla="*/ 119 w 119"/>
                      <a:gd name="T9" fmla="*/ 51 h 5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19" h="51">
                        <a:moveTo>
                          <a:pt x="0" y="51"/>
                        </a:moveTo>
                        <a:cubicBezTo>
                          <a:pt x="3" y="45"/>
                          <a:pt x="7" y="24"/>
                          <a:pt x="17" y="15"/>
                        </a:cubicBezTo>
                        <a:cubicBezTo>
                          <a:pt x="27" y="6"/>
                          <a:pt x="46" y="0"/>
                          <a:pt x="59" y="0"/>
                        </a:cubicBezTo>
                        <a:cubicBezTo>
                          <a:pt x="72" y="0"/>
                          <a:pt x="86" y="7"/>
                          <a:pt x="96" y="15"/>
                        </a:cubicBezTo>
                        <a:cubicBezTo>
                          <a:pt x="106" y="23"/>
                          <a:pt x="114" y="44"/>
                          <a:pt x="119" y="51"/>
                        </a:cubicBezTo>
                      </a:path>
                    </a:pathLst>
                  </a:custGeom>
                  <a:noFill/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61462" name="Freeform 22"/>
                  <p:cNvSpPr>
                    <a:spLocks/>
                  </p:cNvSpPr>
                  <p:nvPr/>
                </p:nvSpPr>
                <p:spPr bwMode="auto">
                  <a:xfrm>
                    <a:off x="1019" y="1784"/>
                    <a:ext cx="148" cy="232"/>
                  </a:xfrm>
                  <a:custGeom>
                    <a:avLst/>
                    <a:gdLst>
                      <a:gd name="T0" fmla="*/ 0 w 123"/>
                      <a:gd name="T1" fmla="*/ 51 h 57"/>
                      <a:gd name="T2" fmla="*/ 23 w 123"/>
                      <a:gd name="T3" fmla="*/ 15 h 57"/>
                      <a:gd name="T4" fmla="*/ 65 w 123"/>
                      <a:gd name="T5" fmla="*/ 0 h 57"/>
                      <a:gd name="T6" fmla="*/ 102 w 123"/>
                      <a:gd name="T7" fmla="*/ 15 h 57"/>
                      <a:gd name="T8" fmla="*/ 123 w 123"/>
                      <a:gd name="T9" fmla="*/ 57 h 5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23" h="57">
                        <a:moveTo>
                          <a:pt x="0" y="51"/>
                        </a:moveTo>
                        <a:cubicBezTo>
                          <a:pt x="3" y="45"/>
                          <a:pt x="12" y="24"/>
                          <a:pt x="23" y="15"/>
                        </a:cubicBezTo>
                        <a:cubicBezTo>
                          <a:pt x="34" y="6"/>
                          <a:pt x="52" y="0"/>
                          <a:pt x="65" y="0"/>
                        </a:cubicBezTo>
                        <a:cubicBezTo>
                          <a:pt x="78" y="0"/>
                          <a:pt x="92" y="6"/>
                          <a:pt x="102" y="15"/>
                        </a:cubicBezTo>
                        <a:cubicBezTo>
                          <a:pt x="112" y="24"/>
                          <a:pt x="119" y="48"/>
                          <a:pt x="123" y="57"/>
                        </a:cubicBezTo>
                      </a:path>
                    </a:pathLst>
                  </a:custGeom>
                  <a:noFill/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>
                    <a:spAutoFit/>
                  </a:bodyPr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61463" name="Oval 23"/>
                <p:cNvSpPr>
                  <a:spLocks noChangeArrowheads="1"/>
                </p:cNvSpPr>
                <p:nvPr/>
              </p:nvSpPr>
              <p:spPr bwMode="auto">
                <a:xfrm>
                  <a:off x="4097" y="3540"/>
                  <a:ext cx="155" cy="327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1464" name="Oval 24"/>
                <p:cNvSpPr>
                  <a:spLocks noChangeArrowheads="1"/>
                </p:cNvSpPr>
                <p:nvPr/>
              </p:nvSpPr>
              <p:spPr bwMode="auto">
                <a:xfrm>
                  <a:off x="4097" y="2820"/>
                  <a:ext cx="155" cy="327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1465" name="Text Box 25"/>
                <p:cNvSpPr txBox="1">
                  <a:spLocks noChangeArrowheads="1"/>
                </p:cNvSpPr>
                <p:nvPr/>
              </p:nvSpPr>
              <p:spPr bwMode="auto">
                <a:xfrm>
                  <a:off x="4016" y="3008"/>
                  <a:ext cx="213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kumimoji="1" lang="en-US" altLang="zh-CN" sz="2400" b="1">
                      <a:latin typeface="Times New Roman" panose="02020603050405020304" pitchFamily="18" charset="0"/>
                    </a:rPr>
                    <a:t>+</a:t>
                  </a:r>
                </a:p>
              </p:txBody>
            </p:sp>
            <p:sp>
              <p:nvSpPr>
                <p:cNvPr id="61466" name="Text Box 26"/>
                <p:cNvSpPr txBox="1">
                  <a:spLocks noChangeArrowheads="1"/>
                </p:cNvSpPr>
                <p:nvPr/>
              </p:nvSpPr>
              <p:spPr bwMode="auto">
                <a:xfrm>
                  <a:off x="4029" y="3440"/>
                  <a:ext cx="202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kumimoji="1" lang="en-US" altLang="zh-CN" sz="2400" b="1">
                      <a:latin typeface="黑体" panose="02010609060101010101" pitchFamily="49" charset="-122"/>
                      <a:ea typeface="黑体" panose="02010609060101010101" pitchFamily="49" charset="-122"/>
                    </a:rPr>
                    <a:t>-</a:t>
                  </a:r>
                  <a:endParaRPr kumimoji="1" lang="en-US" altLang="zh-CN" sz="2400" b="1">
                    <a:latin typeface="Times New Roman" panose="02020603050405020304" pitchFamily="18" charset="0"/>
                  </a:endParaRPr>
                </a:p>
              </p:txBody>
            </p:sp>
            <p:graphicFrame>
              <p:nvGraphicFramePr>
                <p:cNvPr id="61467" name="Object 27"/>
                <p:cNvGraphicFramePr>
                  <a:graphicFrameLocks noChangeAspect="1"/>
                </p:cNvGraphicFramePr>
                <p:nvPr/>
              </p:nvGraphicFramePr>
              <p:xfrm>
                <a:off x="4026" y="3253"/>
                <a:ext cx="192" cy="237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公式" r:id="rId7" imgW="164880" imgH="203040" progId="Equation.3">
                        <p:embed/>
                      </p:oleObj>
                    </mc:Choice>
                    <mc:Fallback>
                      <p:oleObj name="公式" r:id="rId7" imgW="164880" imgH="203040" progId="Equation.3">
                        <p:embed/>
                        <p:pic>
                          <p:nvPicPr>
                            <p:cNvPr id="61467" name="Object 27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8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026" y="3253"/>
                              <a:ext cx="192" cy="237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61468" name="Object 28"/>
                <p:cNvGraphicFramePr>
                  <a:graphicFrameLocks noChangeAspect="1"/>
                </p:cNvGraphicFramePr>
                <p:nvPr/>
              </p:nvGraphicFramePr>
              <p:xfrm>
                <a:off x="4192" y="2628"/>
                <a:ext cx="147" cy="224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公式" r:id="rId9" imgW="126720" imgH="190440" progId="Equation.3">
                        <p:embed/>
                      </p:oleObj>
                    </mc:Choice>
                    <mc:Fallback>
                      <p:oleObj name="公式" r:id="rId9" imgW="126720" imgH="190440" progId="Equation.3">
                        <p:embed/>
                        <p:pic>
                          <p:nvPicPr>
                            <p:cNvPr id="61468" name="Object 28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0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192" y="2628"/>
                              <a:ext cx="147" cy="224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</p:grpSp>
        <p:grpSp>
          <p:nvGrpSpPr>
            <p:cNvPr id="61469" name="Group 29"/>
            <p:cNvGrpSpPr>
              <a:grpSpLocks/>
            </p:cNvGrpSpPr>
            <p:nvPr/>
          </p:nvGrpSpPr>
          <p:grpSpPr bwMode="auto">
            <a:xfrm>
              <a:off x="4502" y="2691"/>
              <a:ext cx="1102" cy="1133"/>
              <a:chOff x="4088" y="1720"/>
              <a:chExt cx="1102" cy="1133"/>
            </a:xfrm>
          </p:grpSpPr>
          <p:graphicFrame>
            <p:nvGraphicFramePr>
              <p:cNvPr id="61470" name="Object 30"/>
              <p:cNvGraphicFramePr>
                <a:graphicFrameLocks noChangeAspect="1"/>
              </p:cNvGraphicFramePr>
              <p:nvPr/>
            </p:nvGraphicFramePr>
            <p:xfrm>
              <a:off x="4088" y="1720"/>
              <a:ext cx="201" cy="24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11" imgW="164880" imgH="203040" progId="Equation.3">
                      <p:embed/>
                    </p:oleObj>
                  </mc:Choice>
                  <mc:Fallback>
                    <p:oleObj name="公式" r:id="rId11" imgW="164880" imgH="203040" progId="Equation.3">
                      <p:embed/>
                      <p:pic>
                        <p:nvPicPr>
                          <p:cNvPr id="61470" name="Object 30"/>
                          <p:cNvPicPr preferRelativeResize="0"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088" y="1720"/>
                            <a:ext cx="201" cy="24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2857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61471" name="Object 31"/>
              <p:cNvGraphicFramePr>
                <a:graphicFrameLocks noChangeAspect="1"/>
              </p:cNvGraphicFramePr>
              <p:nvPr/>
            </p:nvGraphicFramePr>
            <p:xfrm>
              <a:off x="5024" y="2301"/>
              <a:ext cx="166" cy="25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12" imgW="126720" imgH="190440" progId="Equation.3">
                      <p:embed/>
                    </p:oleObj>
                  </mc:Choice>
                  <mc:Fallback>
                    <p:oleObj name="公式" r:id="rId12" imgW="126720" imgH="190440" progId="Equation.3">
                      <p:embed/>
                      <p:pic>
                        <p:nvPicPr>
                          <p:cNvPr id="61471" name="Object 31"/>
                          <p:cNvPicPr preferRelativeResize="0"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024" y="2301"/>
                            <a:ext cx="166" cy="25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2857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61472" name="Line 32"/>
              <p:cNvSpPr>
                <a:spLocks noChangeShapeType="1"/>
              </p:cNvSpPr>
              <p:nvPr/>
            </p:nvSpPr>
            <p:spPr bwMode="auto">
              <a:xfrm>
                <a:off x="4400" y="2448"/>
                <a:ext cx="568" cy="0"/>
              </a:xfrm>
              <a:prstGeom prst="line">
                <a:avLst/>
              </a:prstGeom>
              <a:noFill/>
              <a:ln w="25400">
                <a:solidFill>
                  <a:srgbClr val="6600FF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1473" name="Line 33"/>
              <p:cNvSpPr>
                <a:spLocks noChangeShapeType="1"/>
              </p:cNvSpPr>
              <p:nvPr/>
            </p:nvSpPr>
            <p:spPr bwMode="auto">
              <a:xfrm flipV="1">
                <a:off x="4400" y="1784"/>
                <a:ext cx="0" cy="664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1474" name="Text Box 34"/>
              <p:cNvSpPr txBox="1">
                <a:spLocks noChangeArrowheads="1"/>
              </p:cNvSpPr>
              <p:nvPr/>
            </p:nvSpPr>
            <p:spPr bwMode="auto">
              <a:xfrm>
                <a:off x="4342" y="2565"/>
                <a:ext cx="659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/>
                    <a:tailEnd type="none" w="sm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kumimoji="1" lang="zh-CN" altLang="en-US" sz="2400" b="1">
                    <a:latin typeface="Times New Roman" panose="02020603050405020304" pitchFamily="18" charset="0"/>
                  </a:rPr>
                  <a:t>相量图</a:t>
                </a:r>
              </a:p>
            </p:txBody>
          </p:sp>
        </p:grpSp>
      </p:grpSp>
      <p:grpSp>
        <p:nvGrpSpPr>
          <p:cNvPr id="61475" name="Group 35"/>
          <p:cNvGrpSpPr>
            <a:grpSpLocks/>
          </p:cNvGrpSpPr>
          <p:nvPr/>
        </p:nvGrpSpPr>
        <p:grpSpPr bwMode="auto">
          <a:xfrm>
            <a:off x="1701801" y="269876"/>
            <a:ext cx="1838325" cy="3306763"/>
            <a:chOff x="112" y="170"/>
            <a:chExt cx="1023" cy="2083"/>
          </a:xfrm>
        </p:grpSpPr>
        <p:sp>
          <p:nvSpPr>
            <p:cNvPr id="61476" name="Text Box 36"/>
            <p:cNvSpPr txBox="1">
              <a:spLocks noChangeArrowheads="1"/>
            </p:cNvSpPr>
            <p:nvPr/>
          </p:nvSpPr>
          <p:spPr bwMode="auto">
            <a:xfrm>
              <a:off x="144" y="170"/>
              <a:ext cx="71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kumimoji="1" lang="en-US" altLang="zh-CN" sz="24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2 . </a:t>
              </a:r>
              <a:r>
                <a:rPr kumimoji="1" lang="zh-CN" altLang="en-US" sz="24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电感</a:t>
              </a:r>
            </a:p>
          </p:txBody>
        </p:sp>
        <p:grpSp>
          <p:nvGrpSpPr>
            <p:cNvPr id="61477" name="Group 37"/>
            <p:cNvGrpSpPr>
              <a:grpSpLocks/>
            </p:cNvGrpSpPr>
            <p:nvPr/>
          </p:nvGrpSpPr>
          <p:grpSpPr bwMode="auto">
            <a:xfrm>
              <a:off x="112" y="812"/>
              <a:ext cx="1023" cy="1441"/>
              <a:chOff x="112" y="812"/>
              <a:chExt cx="1023" cy="1441"/>
            </a:xfrm>
          </p:grpSpPr>
          <p:grpSp>
            <p:nvGrpSpPr>
              <p:cNvPr id="61478" name="Group 38"/>
              <p:cNvGrpSpPr>
                <a:grpSpLocks/>
              </p:cNvGrpSpPr>
              <p:nvPr/>
            </p:nvGrpSpPr>
            <p:grpSpPr bwMode="auto">
              <a:xfrm>
                <a:off x="112" y="812"/>
                <a:ext cx="1023" cy="1243"/>
                <a:chOff x="745" y="576"/>
                <a:chExt cx="1023" cy="1243"/>
              </a:xfrm>
            </p:grpSpPr>
            <p:sp>
              <p:nvSpPr>
                <p:cNvPr id="61479" name="Freeform 39"/>
                <p:cNvSpPr>
                  <a:spLocks/>
                </p:cNvSpPr>
                <p:nvPr/>
              </p:nvSpPr>
              <p:spPr bwMode="auto">
                <a:xfrm>
                  <a:off x="1494" y="936"/>
                  <a:ext cx="1" cy="168"/>
                </a:xfrm>
                <a:custGeom>
                  <a:avLst/>
                  <a:gdLst>
                    <a:gd name="T0" fmla="*/ 0 w 1"/>
                    <a:gd name="T1" fmla="*/ 168 h 168"/>
                    <a:gd name="T2" fmla="*/ 0 w 1"/>
                    <a:gd name="T3" fmla="*/ 0 h 1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" h="168">
                      <a:moveTo>
                        <a:pt x="0" y="168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1480" name="Freeform 40"/>
                <p:cNvSpPr>
                  <a:spLocks/>
                </p:cNvSpPr>
                <p:nvPr/>
              </p:nvSpPr>
              <p:spPr bwMode="auto">
                <a:xfrm>
                  <a:off x="1488" y="1488"/>
                  <a:ext cx="1" cy="174"/>
                </a:xfrm>
                <a:custGeom>
                  <a:avLst/>
                  <a:gdLst>
                    <a:gd name="T0" fmla="*/ 0 w 1"/>
                    <a:gd name="T1" fmla="*/ 0 h 174"/>
                    <a:gd name="T2" fmla="*/ 0 w 1"/>
                    <a:gd name="T3" fmla="*/ 174 h 1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" h="174">
                      <a:moveTo>
                        <a:pt x="0" y="0"/>
                      </a:moveTo>
                      <a:lnTo>
                        <a:pt x="0" y="174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1481" name="Freeform 41"/>
                <p:cNvSpPr>
                  <a:spLocks/>
                </p:cNvSpPr>
                <p:nvPr/>
              </p:nvSpPr>
              <p:spPr bwMode="auto">
                <a:xfrm>
                  <a:off x="918" y="936"/>
                  <a:ext cx="576" cy="6"/>
                </a:xfrm>
                <a:custGeom>
                  <a:avLst/>
                  <a:gdLst>
                    <a:gd name="T0" fmla="*/ 0 w 576"/>
                    <a:gd name="T1" fmla="*/ 6 h 6"/>
                    <a:gd name="T2" fmla="*/ 576 w 576"/>
                    <a:gd name="T3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576" h="6">
                      <a:moveTo>
                        <a:pt x="0" y="6"/>
                      </a:moveTo>
                      <a:lnTo>
                        <a:pt x="576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1482" name="Freeform 42"/>
                <p:cNvSpPr>
                  <a:spLocks/>
                </p:cNvSpPr>
                <p:nvPr/>
              </p:nvSpPr>
              <p:spPr bwMode="auto">
                <a:xfrm>
                  <a:off x="915" y="1656"/>
                  <a:ext cx="570" cy="3"/>
                </a:xfrm>
                <a:custGeom>
                  <a:avLst/>
                  <a:gdLst>
                    <a:gd name="T0" fmla="*/ 0 w 570"/>
                    <a:gd name="T1" fmla="*/ 3 h 3"/>
                    <a:gd name="T2" fmla="*/ 570 w 570"/>
                    <a:gd name="T3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570" h="3">
                      <a:moveTo>
                        <a:pt x="0" y="3"/>
                      </a:moveTo>
                      <a:lnTo>
                        <a:pt x="57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1483" name="Line 43"/>
                <p:cNvSpPr>
                  <a:spLocks noChangeShapeType="1"/>
                </p:cNvSpPr>
                <p:nvPr/>
              </p:nvSpPr>
              <p:spPr bwMode="auto">
                <a:xfrm>
                  <a:off x="898" y="864"/>
                  <a:ext cx="288" cy="0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/>
                  <a:tailEnd type="stealth" w="sm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1484" name="Text Box 44"/>
                <p:cNvSpPr txBox="1">
                  <a:spLocks noChangeArrowheads="1"/>
                </p:cNvSpPr>
                <p:nvPr/>
              </p:nvSpPr>
              <p:spPr bwMode="auto">
                <a:xfrm>
                  <a:off x="850" y="576"/>
                  <a:ext cx="309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l">
                    <a:spcBef>
                      <a:spcPct val="0"/>
                    </a:spcBef>
                  </a:pPr>
                  <a:r>
                    <a:rPr kumimoji="1" lang="en-US" altLang="zh-CN" sz="2400" b="1" i="1">
                      <a:latin typeface="Times New Roman" panose="02020603050405020304" pitchFamily="18" charset="0"/>
                    </a:rPr>
                    <a:t>i</a:t>
                  </a:r>
                  <a:r>
                    <a:rPr kumimoji="1" lang="en-US" altLang="zh-CN" sz="2400" b="1">
                      <a:latin typeface="Times New Roman" panose="02020603050405020304" pitchFamily="18" charset="0"/>
                    </a:rPr>
                    <a:t>(</a:t>
                  </a:r>
                  <a:r>
                    <a:rPr kumimoji="1" lang="en-US" altLang="zh-CN" sz="2400" b="1" i="1">
                      <a:latin typeface="Times New Roman" panose="02020603050405020304" pitchFamily="18" charset="0"/>
                    </a:rPr>
                    <a:t>t</a:t>
                  </a:r>
                  <a:r>
                    <a:rPr kumimoji="1" lang="en-US" altLang="zh-CN" sz="2400" b="1">
                      <a:latin typeface="Times New Roman" panose="02020603050405020304" pitchFamily="18" charset="0"/>
                    </a:rPr>
                    <a:t>)</a:t>
                  </a:r>
                </a:p>
              </p:txBody>
            </p:sp>
            <p:sp>
              <p:nvSpPr>
                <p:cNvPr id="61485" name="Text Box 45"/>
                <p:cNvSpPr txBox="1">
                  <a:spLocks noChangeArrowheads="1"/>
                </p:cNvSpPr>
                <p:nvPr/>
              </p:nvSpPr>
              <p:spPr bwMode="auto">
                <a:xfrm>
                  <a:off x="745" y="1152"/>
                  <a:ext cx="482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/>
                <a:p>
                  <a:pPr algn="l">
                    <a:spcBef>
                      <a:spcPct val="0"/>
                    </a:spcBef>
                  </a:pPr>
                  <a:r>
                    <a:rPr kumimoji="1" lang="en-US" altLang="zh-CN" sz="2400" b="1" i="1">
                      <a:latin typeface="Times New Roman" panose="02020603050405020304" pitchFamily="18" charset="0"/>
                    </a:rPr>
                    <a:t>u</a:t>
                  </a:r>
                  <a:r>
                    <a:rPr kumimoji="1" lang="en-US" altLang="zh-CN" sz="2400" b="1" i="1" baseline="-25000">
                      <a:latin typeface="Times New Roman" panose="02020603050405020304" pitchFamily="18" charset="0"/>
                    </a:rPr>
                    <a:t> </a:t>
                  </a:r>
                  <a:r>
                    <a:rPr kumimoji="1" lang="en-US" altLang="zh-CN" sz="2400" b="1">
                      <a:latin typeface="Times New Roman" panose="02020603050405020304" pitchFamily="18" charset="0"/>
                    </a:rPr>
                    <a:t>(</a:t>
                  </a:r>
                  <a:r>
                    <a:rPr kumimoji="1" lang="en-US" altLang="zh-CN" sz="2400" b="1" i="1">
                      <a:latin typeface="Times New Roman" panose="02020603050405020304" pitchFamily="18" charset="0"/>
                    </a:rPr>
                    <a:t>t</a:t>
                  </a:r>
                  <a:r>
                    <a:rPr kumimoji="1" lang="en-US" altLang="zh-CN" sz="2400" b="1">
                      <a:latin typeface="Times New Roman" panose="02020603050405020304" pitchFamily="18" charset="0"/>
                    </a:rPr>
                    <a:t>)</a:t>
                  </a:r>
                </a:p>
              </p:txBody>
            </p:sp>
            <p:sp>
              <p:nvSpPr>
                <p:cNvPr id="61486" name="Text Box 46"/>
                <p:cNvSpPr txBox="1">
                  <a:spLocks noChangeArrowheads="1"/>
                </p:cNvSpPr>
                <p:nvPr/>
              </p:nvSpPr>
              <p:spPr bwMode="auto">
                <a:xfrm>
                  <a:off x="1562" y="1152"/>
                  <a:ext cx="206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l">
                    <a:spcBef>
                      <a:spcPct val="0"/>
                    </a:spcBef>
                  </a:pPr>
                  <a:r>
                    <a:rPr kumimoji="1" lang="en-US" altLang="zh-CN" sz="2400" b="1" i="1">
                      <a:latin typeface="Times New Roman" panose="02020603050405020304" pitchFamily="18" charset="0"/>
                    </a:rPr>
                    <a:t>L</a:t>
                  </a:r>
                </a:p>
              </p:txBody>
            </p:sp>
            <p:grpSp>
              <p:nvGrpSpPr>
                <p:cNvPr id="61487" name="Group 47"/>
                <p:cNvGrpSpPr>
                  <a:grpSpLocks/>
                </p:cNvGrpSpPr>
                <p:nvPr/>
              </p:nvGrpSpPr>
              <p:grpSpPr bwMode="auto">
                <a:xfrm rot="5400000">
                  <a:off x="1318" y="1190"/>
                  <a:ext cx="402" cy="210"/>
                  <a:chOff x="654" y="1789"/>
                  <a:chExt cx="513" cy="221"/>
                </a:xfrm>
              </p:grpSpPr>
              <p:sp>
                <p:nvSpPr>
                  <p:cNvPr id="61488" name="Freeform 48"/>
                  <p:cNvSpPr>
                    <a:spLocks/>
                  </p:cNvSpPr>
                  <p:nvPr/>
                </p:nvSpPr>
                <p:spPr bwMode="auto">
                  <a:xfrm>
                    <a:off x="654" y="1794"/>
                    <a:ext cx="148" cy="216"/>
                  </a:xfrm>
                  <a:custGeom>
                    <a:avLst/>
                    <a:gdLst>
                      <a:gd name="T0" fmla="*/ 0 w 125"/>
                      <a:gd name="T1" fmla="*/ 60 h 60"/>
                      <a:gd name="T2" fmla="*/ 23 w 125"/>
                      <a:gd name="T3" fmla="*/ 15 h 60"/>
                      <a:gd name="T4" fmla="*/ 65 w 125"/>
                      <a:gd name="T5" fmla="*/ 0 h 60"/>
                      <a:gd name="T6" fmla="*/ 102 w 125"/>
                      <a:gd name="T7" fmla="*/ 15 h 60"/>
                      <a:gd name="T8" fmla="*/ 125 w 125"/>
                      <a:gd name="T9" fmla="*/ 51 h 6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25" h="60">
                        <a:moveTo>
                          <a:pt x="0" y="60"/>
                        </a:moveTo>
                        <a:cubicBezTo>
                          <a:pt x="4" y="53"/>
                          <a:pt x="12" y="25"/>
                          <a:pt x="23" y="15"/>
                        </a:cubicBezTo>
                        <a:cubicBezTo>
                          <a:pt x="34" y="5"/>
                          <a:pt x="52" y="0"/>
                          <a:pt x="65" y="0"/>
                        </a:cubicBezTo>
                        <a:cubicBezTo>
                          <a:pt x="78" y="0"/>
                          <a:pt x="92" y="7"/>
                          <a:pt x="102" y="15"/>
                        </a:cubicBezTo>
                        <a:cubicBezTo>
                          <a:pt x="112" y="23"/>
                          <a:pt x="120" y="44"/>
                          <a:pt x="125" y="51"/>
                        </a:cubicBezTo>
                      </a:path>
                    </a:pathLst>
                  </a:custGeom>
                  <a:noFill/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61489" name="Freeform 49"/>
                  <p:cNvSpPr>
                    <a:spLocks/>
                  </p:cNvSpPr>
                  <p:nvPr/>
                </p:nvSpPr>
                <p:spPr bwMode="auto">
                  <a:xfrm>
                    <a:off x="777" y="1791"/>
                    <a:ext cx="148" cy="217"/>
                  </a:xfrm>
                  <a:custGeom>
                    <a:avLst/>
                    <a:gdLst>
                      <a:gd name="T0" fmla="*/ 0 w 121"/>
                      <a:gd name="T1" fmla="*/ 54 h 54"/>
                      <a:gd name="T2" fmla="*/ 24 w 121"/>
                      <a:gd name="T3" fmla="*/ 15 h 54"/>
                      <a:gd name="T4" fmla="*/ 66 w 121"/>
                      <a:gd name="T5" fmla="*/ 0 h 54"/>
                      <a:gd name="T6" fmla="*/ 103 w 121"/>
                      <a:gd name="T7" fmla="*/ 15 h 54"/>
                      <a:gd name="T8" fmla="*/ 121 w 121"/>
                      <a:gd name="T9" fmla="*/ 51 h 5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21" h="54">
                        <a:moveTo>
                          <a:pt x="0" y="54"/>
                        </a:moveTo>
                        <a:cubicBezTo>
                          <a:pt x="4" y="47"/>
                          <a:pt x="13" y="24"/>
                          <a:pt x="24" y="15"/>
                        </a:cubicBezTo>
                        <a:cubicBezTo>
                          <a:pt x="35" y="6"/>
                          <a:pt x="53" y="0"/>
                          <a:pt x="66" y="0"/>
                        </a:cubicBezTo>
                        <a:cubicBezTo>
                          <a:pt x="79" y="0"/>
                          <a:pt x="94" y="7"/>
                          <a:pt x="103" y="15"/>
                        </a:cubicBezTo>
                        <a:cubicBezTo>
                          <a:pt x="112" y="23"/>
                          <a:pt x="117" y="44"/>
                          <a:pt x="121" y="51"/>
                        </a:cubicBezTo>
                      </a:path>
                    </a:pathLst>
                  </a:custGeom>
                  <a:noFill/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61490" name="Freeform 50"/>
                  <p:cNvSpPr>
                    <a:spLocks/>
                  </p:cNvSpPr>
                  <p:nvPr/>
                </p:nvSpPr>
                <p:spPr bwMode="auto">
                  <a:xfrm>
                    <a:off x="897" y="1789"/>
                    <a:ext cx="148" cy="216"/>
                  </a:xfrm>
                  <a:custGeom>
                    <a:avLst/>
                    <a:gdLst>
                      <a:gd name="T0" fmla="*/ 0 w 119"/>
                      <a:gd name="T1" fmla="*/ 51 h 51"/>
                      <a:gd name="T2" fmla="*/ 17 w 119"/>
                      <a:gd name="T3" fmla="*/ 15 h 51"/>
                      <a:gd name="T4" fmla="*/ 59 w 119"/>
                      <a:gd name="T5" fmla="*/ 0 h 51"/>
                      <a:gd name="T6" fmla="*/ 96 w 119"/>
                      <a:gd name="T7" fmla="*/ 15 h 51"/>
                      <a:gd name="T8" fmla="*/ 119 w 119"/>
                      <a:gd name="T9" fmla="*/ 51 h 5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19" h="51">
                        <a:moveTo>
                          <a:pt x="0" y="51"/>
                        </a:moveTo>
                        <a:cubicBezTo>
                          <a:pt x="3" y="45"/>
                          <a:pt x="7" y="24"/>
                          <a:pt x="17" y="15"/>
                        </a:cubicBezTo>
                        <a:cubicBezTo>
                          <a:pt x="27" y="6"/>
                          <a:pt x="46" y="0"/>
                          <a:pt x="59" y="0"/>
                        </a:cubicBezTo>
                        <a:cubicBezTo>
                          <a:pt x="72" y="0"/>
                          <a:pt x="86" y="7"/>
                          <a:pt x="96" y="15"/>
                        </a:cubicBezTo>
                        <a:cubicBezTo>
                          <a:pt x="106" y="23"/>
                          <a:pt x="114" y="44"/>
                          <a:pt x="119" y="51"/>
                        </a:cubicBezTo>
                      </a:path>
                    </a:pathLst>
                  </a:custGeom>
                  <a:noFill/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61491" name="Freeform 51"/>
                  <p:cNvSpPr>
                    <a:spLocks/>
                  </p:cNvSpPr>
                  <p:nvPr/>
                </p:nvSpPr>
                <p:spPr bwMode="auto">
                  <a:xfrm>
                    <a:off x="1019" y="1792"/>
                    <a:ext cx="148" cy="216"/>
                  </a:xfrm>
                  <a:custGeom>
                    <a:avLst/>
                    <a:gdLst>
                      <a:gd name="T0" fmla="*/ 0 w 123"/>
                      <a:gd name="T1" fmla="*/ 51 h 57"/>
                      <a:gd name="T2" fmla="*/ 23 w 123"/>
                      <a:gd name="T3" fmla="*/ 15 h 57"/>
                      <a:gd name="T4" fmla="*/ 65 w 123"/>
                      <a:gd name="T5" fmla="*/ 0 h 57"/>
                      <a:gd name="T6" fmla="*/ 102 w 123"/>
                      <a:gd name="T7" fmla="*/ 15 h 57"/>
                      <a:gd name="T8" fmla="*/ 123 w 123"/>
                      <a:gd name="T9" fmla="*/ 57 h 5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23" h="57">
                        <a:moveTo>
                          <a:pt x="0" y="51"/>
                        </a:moveTo>
                        <a:cubicBezTo>
                          <a:pt x="3" y="45"/>
                          <a:pt x="12" y="24"/>
                          <a:pt x="23" y="15"/>
                        </a:cubicBezTo>
                        <a:cubicBezTo>
                          <a:pt x="34" y="6"/>
                          <a:pt x="52" y="0"/>
                          <a:pt x="65" y="0"/>
                        </a:cubicBezTo>
                        <a:cubicBezTo>
                          <a:pt x="78" y="0"/>
                          <a:pt x="92" y="6"/>
                          <a:pt x="102" y="15"/>
                        </a:cubicBezTo>
                        <a:cubicBezTo>
                          <a:pt x="112" y="24"/>
                          <a:pt x="119" y="48"/>
                          <a:pt x="123" y="57"/>
                        </a:cubicBezTo>
                      </a:path>
                    </a:pathLst>
                  </a:custGeom>
                  <a:noFill/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>
                    <a:spAutoFit/>
                  </a:bodyPr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61492" name="Oval 52"/>
                <p:cNvSpPr>
                  <a:spLocks noChangeArrowheads="1"/>
                </p:cNvSpPr>
                <p:nvPr/>
              </p:nvSpPr>
              <p:spPr bwMode="auto">
                <a:xfrm>
                  <a:off x="864" y="1492"/>
                  <a:ext cx="145" cy="327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1493" name="Oval 53"/>
                <p:cNvSpPr>
                  <a:spLocks noChangeArrowheads="1"/>
                </p:cNvSpPr>
                <p:nvPr/>
              </p:nvSpPr>
              <p:spPr bwMode="auto">
                <a:xfrm>
                  <a:off x="864" y="772"/>
                  <a:ext cx="145" cy="327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1494" name="Text Box 54"/>
                <p:cNvSpPr txBox="1">
                  <a:spLocks noChangeArrowheads="1"/>
                </p:cNvSpPr>
                <p:nvPr/>
              </p:nvSpPr>
              <p:spPr bwMode="auto">
                <a:xfrm>
                  <a:off x="783" y="960"/>
                  <a:ext cx="199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kumimoji="1" lang="en-US" altLang="zh-CN" sz="2400" b="1">
                      <a:latin typeface="Times New Roman" panose="02020603050405020304" pitchFamily="18" charset="0"/>
                    </a:rPr>
                    <a:t>+</a:t>
                  </a:r>
                </a:p>
              </p:txBody>
            </p:sp>
            <p:sp>
              <p:nvSpPr>
                <p:cNvPr id="61495" name="Text Box 55"/>
                <p:cNvSpPr txBox="1">
                  <a:spLocks noChangeArrowheads="1"/>
                </p:cNvSpPr>
                <p:nvPr/>
              </p:nvSpPr>
              <p:spPr bwMode="auto">
                <a:xfrm>
                  <a:off x="796" y="1392"/>
                  <a:ext cx="188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kumimoji="1" lang="en-US" altLang="zh-CN" sz="2400" b="1">
                      <a:latin typeface="宋体" panose="02010600030101010101" pitchFamily="2" charset="-122"/>
                    </a:rPr>
                    <a:t>-</a:t>
                  </a:r>
                  <a:endParaRPr kumimoji="1" lang="en-US" altLang="zh-CN" sz="2400" b="1"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61496" name="Text Box 56"/>
              <p:cNvSpPr txBox="1">
                <a:spLocks noChangeArrowheads="1"/>
              </p:cNvSpPr>
              <p:nvPr/>
            </p:nvSpPr>
            <p:spPr bwMode="auto">
              <a:xfrm>
                <a:off x="158" y="1965"/>
                <a:ext cx="784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/>
                    <a:tailEnd type="none" w="sm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kumimoji="1" lang="zh-CN" altLang="en-US" sz="2400" b="1">
                    <a:latin typeface="Times New Roman" panose="02020603050405020304" pitchFamily="18" charset="0"/>
                  </a:rPr>
                  <a:t>时域模型</a:t>
                </a:r>
              </a:p>
            </p:txBody>
          </p:sp>
        </p:grpSp>
      </p:grpSp>
      <p:grpSp>
        <p:nvGrpSpPr>
          <p:cNvPr id="61497" name="Group 57"/>
          <p:cNvGrpSpPr>
            <a:grpSpLocks/>
          </p:cNvGrpSpPr>
          <p:nvPr/>
        </p:nvGrpSpPr>
        <p:grpSpPr bwMode="auto">
          <a:xfrm>
            <a:off x="3657600" y="685800"/>
            <a:ext cx="3087688" cy="5748338"/>
            <a:chOff x="1300" y="432"/>
            <a:chExt cx="1945" cy="3621"/>
          </a:xfrm>
        </p:grpSpPr>
        <p:sp>
          <p:nvSpPr>
            <p:cNvPr id="61498" name="Text Box 58"/>
            <p:cNvSpPr txBox="1">
              <a:spLocks noChangeArrowheads="1"/>
            </p:cNvSpPr>
            <p:nvPr/>
          </p:nvSpPr>
          <p:spPr bwMode="auto">
            <a:xfrm>
              <a:off x="1952" y="432"/>
              <a:ext cx="502" cy="288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kumimoji="1" lang="zh-CN" altLang="en-US" sz="2400" b="1">
                  <a:latin typeface="Times New Roman" panose="02020603050405020304" pitchFamily="18" charset="0"/>
                </a:rPr>
                <a:t>时域</a:t>
              </a:r>
            </a:p>
          </p:txBody>
        </p:sp>
        <p:graphicFrame>
          <p:nvGraphicFramePr>
            <p:cNvPr id="61499" name="Object 59"/>
            <p:cNvGraphicFramePr>
              <a:graphicFrameLocks noChangeAspect="1"/>
            </p:cNvGraphicFramePr>
            <p:nvPr/>
          </p:nvGraphicFramePr>
          <p:xfrm>
            <a:off x="1387" y="864"/>
            <a:ext cx="1335" cy="3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4" imgW="1054080" imgH="241200" progId="Equation.3">
                    <p:embed/>
                  </p:oleObj>
                </mc:Choice>
                <mc:Fallback>
                  <p:oleObj name="公式" r:id="rId14" imgW="1054080" imgH="241200" progId="Equation.3">
                    <p:embed/>
                    <p:pic>
                      <p:nvPicPr>
                        <p:cNvPr id="61499" name="Object 59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87" y="864"/>
                          <a:ext cx="1335" cy="3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500" name="Object 60"/>
            <p:cNvGraphicFramePr>
              <a:graphicFrameLocks noChangeAspect="1"/>
            </p:cNvGraphicFramePr>
            <p:nvPr/>
          </p:nvGraphicFramePr>
          <p:xfrm>
            <a:off x="1395" y="1198"/>
            <a:ext cx="1850" cy="11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6" imgW="1447560" imgH="927000" progId="Equation.3">
                    <p:embed/>
                  </p:oleObj>
                </mc:Choice>
                <mc:Fallback>
                  <p:oleObj name="公式" r:id="rId16" imgW="1447560" imgH="927000" progId="Equation.3">
                    <p:embed/>
                    <p:pic>
                      <p:nvPicPr>
                        <p:cNvPr id="61500" name="Object 6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95" y="1198"/>
                          <a:ext cx="1850" cy="11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61501" name="Group 61"/>
            <p:cNvGrpSpPr>
              <a:grpSpLocks/>
            </p:cNvGrpSpPr>
            <p:nvPr/>
          </p:nvGrpSpPr>
          <p:grpSpPr bwMode="auto">
            <a:xfrm>
              <a:off x="1300" y="2656"/>
              <a:ext cx="1913" cy="1397"/>
              <a:chOff x="1300" y="2656"/>
              <a:chExt cx="1913" cy="1397"/>
            </a:xfrm>
          </p:grpSpPr>
          <p:grpSp>
            <p:nvGrpSpPr>
              <p:cNvPr id="61502" name="Group 62"/>
              <p:cNvGrpSpPr>
                <a:grpSpLocks/>
              </p:cNvGrpSpPr>
              <p:nvPr/>
            </p:nvGrpSpPr>
            <p:grpSpPr bwMode="auto">
              <a:xfrm>
                <a:off x="1300" y="2656"/>
                <a:ext cx="1913" cy="1104"/>
                <a:chOff x="1300" y="2656"/>
                <a:chExt cx="1913" cy="1104"/>
              </a:xfrm>
            </p:grpSpPr>
            <p:sp>
              <p:nvSpPr>
                <p:cNvPr id="61503" name="Line 63"/>
                <p:cNvSpPr>
                  <a:spLocks noChangeShapeType="1"/>
                </p:cNvSpPr>
                <p:nvPr/>
              </p:nvSpPr>
              <p:spPr bwMode="auto">
                <a:xfrm flipV="1">
                  <a:off x="1685" y="2707"/>
                  <a:ext cx="0" cy="1053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 type="stealth" w="sm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1504" name="Line 64"/>
                <p:cNvSpPr>
                  <a:spLocks noChangeShapeType="1"/>
                </p:cNvSpPr>
                <p:nvPr/>
              </p:nvSpPr>
              <p:spPr bwMode="auto">
                <a:xfrm flipV="1">
                  <a:off x="1371" y="3320"/>
                  <a:ext cx="1736" cy="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 type="stealth" w="sm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1505" name="Text Box 65"/>
                <p:cNvSpPr txBox="1">
                  <a:spLocks noChangeArrowheads="1"/>
                </p:cNvSpPr>
                <p:nvPr/>
              </p:nvSpPr>
              <p:spPr bwMode="auto">
                <a:xfrm>
                  <a:off x="2864" y="3283"/>
                  <a:ext cx="349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l" eaLnBrk="0" hangingPunct="0">
                    <a:spcBef>
                      <a:spcPct val="0"/>
                    </a:spcBef>
                  </a:pPr>
                  <a:r>
                    <a:rPr kumimoji="1" lang="en-US" altLang="zh-CN" sz="2400" b="1" i="1">
                      <a:latin typeface="Times New Roman" panose="02020603050405020304" pitchFamily="18" charset="0"/>
                      <a:sym typeface="Symbol" panose="05050102010706020507" pitchFamily="18" charset="2"/>
                    </a:rPr>
                    <a:t> </a:t>
                  </a:r>
                  <a:r>
                    <a:rPr kumimoji="1" lang="en-US" altLang="zh-CN" sz="2400" b="1" i="1">
                      <a:latin typeface="Times New Roman" panose="02020603050405020304" pitchFamily="18" charset="0"/>
                    </a:rPr>
                    <a:t>t</a:t>
                  </a:r>
                </a:p>
              </p:txBody>
            </p:sp>
            <p:sp>
              <p:nvSpPr>
                <p:cNvPr id="61506" name="Freeform 66"/>
                <p:cNvSpPr>
                  <a:spLocks/>
                </p:cNvSpPr>
                <p:nvPr/>
              </p:nvSpPr>
              <p:spPr bwMode="auto">
                <a:xfrm>
                  <a:off x="1300" y="3207"/>
                  <a:ext cx="116" cy="233"/>
                </a:xfrm>
                <a:custGeom>
                  <a:avLst/>
                  <a:gdLst>
                    <a:gd name="T0" fmla="*/ 0 w 2118"/>
                    <a:gd name="T1" fmla="*/ 734 h 868"/>
                    <a:gd name="T2" fmla="*/ 260 w 2118"/>
                    <a:gd name="T3" fmla="*/ 286 h 868"/>
                    <a:gd name="T4" fmla="*/ 335 w 2118"/>
                    <a:gd name="T5" fmla="*/ 162 h 868"/>
                    <a:gd name="T6" fmla="*/ 430 w 2118"/>
                    <a:gd name="T7" fmla="*/ 53 h 868"/>
                    <a:gd name="T8" fmla="*/ 538 w 2118"/>
                    <a:gd name="T9" fmla="*/ 2 h 868"/>
                    <a:gd name="T10" fmla="*/ 672 w 2118"/>
                    <a:gd name="T11" fmla="*/ 64 h 868"/>
                    <a:gd name="T12" fmla="*/ 806 w 2118"/>
                    <a:gd name="T13" fmla="*/ 246 h 868"/>
                    <a:gd name="T14" fmla="*/ 906 w 2118"/>
                    <a:gd name="T15" fmla="*/ 430 h 868"/>
                    <a:gd name="T16" fmla="*/ 1019 w 2118"/>
                    <a:gd name="T17" fmla="*/ 628 h 868"/>
                    <a:gd name="T18" fmla="*/ 1130 w 2118"/>
                    <a:gd name="T19" fmla="*/ 788 h 868"/>
                    <a:gd name="T20" fmla="*/ 1284 w 2118"/>
                    <a:gd name="T21" fmla="*/ 862 h 868"/>
                    <a:gd name="T22" fmla="*/ 1449 w 2118"/>
                    <a:gd name="T23" fmla="*/ 747 h 868"/>
                    <a:gd name="T24" fmla="*/ 1637 w 2118"/>
                    <a:gd name="T25" fmla="*/ 442 h 868"/>
                    <a:gd name="T26" fmla="*/ 1724 w 2118"/>
                    <a:gd name="T27" fmla="*/ 277 h 868"/>
                    <a:gd name="T28" fmla="*/ 1876 w 2118"/>
                    <a:gd name="T29" fmla="*/ 67 h 868"/>
                    <a:gd name="T30" fmla="*/ 2002 w 2118"/>
                    <a:gd name="T31" fmla="*/ 5 h 868"/>
                    <a:gd name="T32" fmla="*/ 2118 w 2118"/>
                    <a:gd name="T33" fmla="*/ 53 h 8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2118" h="868">
                      <a:moveTo>
                        <a:pt x="0" y="734"/>
                      </a:moveTo>
                      <a:cubicBezTo>
                        <a:pt x="43" y="660"/>
                        <a:pt x="204" y="381"/>
                        <a:pt x="260" y="286"/>
                      </a:cubicBezTo>
                      <a:cubicBezTo>
                        <a:pt x="316" y="191"/>
                        <a:pt x="307" y="201"/>
                        <a:pt x="335" y="162"/>
                      </a:cubicBezTo>
                      <a:cubicBezTo>
                        <a:pt x="363" y="123"/>
                        <a:pt x="397" y="79"/>
                        <a:pt x="430" y="53"/>
                      </a:cubicBezTo>
                      <a:cubicBezTo>
                        <a:pt x="464" y="26"/>
                        <a:pt x="498" y="0"/>
                        <a:pt x="538" y="2"/>
                      </a:cubicBezTo>
                      <a:cubicBezTo>
                        <a:pt x="579" y="5"/>
                        <a:pt x="627" y="24"/>
                        <a:pt x="672" y="64"/>
                      </a:cubicBezTo>
                      <a:cubicBezTo>
                        <a:pt x="717" y="105"/>
                        <a:pt x="767" y="185"/>
                        <a:pt x="806" y="246"/>
                      </a:cubicBezTo>
                      <a:cubicBezTo>
                        <a:pt x="844" y="306"/>
                        <a:pt x="870" y="366"/>
                        <a:pt x="906" y="430"/>
                      </a:cubicBezTo>
                      <a:cubicBezTo>
                        <a:pt x="942" y="493"/>
                        <a:pt x="982" y="568"/>
                        <a:pt x="1019" y="628"/>
                      </a:cubicBezTo>
                      <a:cubicBezTo>
                        <a:pt x="1057" y="687"/>
                        <a:pt x="1086" y="749"/>
                        <a:pt x="1130" y="788"/>
                      </a:cubicBezTo>
                      <a:cubicBezTo>
                        <a:pt x="1174" y="827"/>
                        <a:pt x="1231" y="868"/>
                        <a:pt x="1284" y="862"/>
                      </a:cubicBezTo>
                      <a:cubicBezTo>
                        <a:pt x="1338" y="855"/>
                        <a:pt x="1390" y="817"/>
                        <a:pt x="1449" y="747"/>
                      </a:cubicBezTo>
                      <a:cubicBezTo>
                        <a:pt x="1508" y="677"/>
                        <a:pt x="1591" y="520"/>
                        <a:pt x="1637" y="442"/>
                      </a:cubicBezTo>
                      <a:cubicBezTo>
                        <a:pt x="1682" y="364"/>
                        <a:pt x="1685" y="339"/>
                        <a:pt x="1724" y="277"/>
                      </a:cubicBezTo>
                      <a:cubicBezTo>
                        <a:pt x="1764" y="215"/>
                        <a:pt x="1830" y="112"/>
                        <a:pt x="1876" y="67"/>
                      </a:cubicBezTo>
                      <a:cubicBezTo>
                        <a:pt x="1922" y="21"/>
                        <a:pt x="1962" y="7"/>
                        <a:pt x="2002" y="5"/>
                      </a:cubicBezTo>
                      <a:cubicBezTo>
                        <a:pt x="2043" y="2"/>
                        <a:pt x="2094" y="43"/>
                        <a:pt x="2118" y="53"/>
                      </a:cubicBezTo>
                    </a:path>
                  </a:pathLst>
                </a:custGeom>
                <a:noFill/>
                <a:ln w="28575" cap="flat" cmpd="sng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1507" name="Freeform 67"/>
                <p:cNvSpPr>
                  <a:spLocks/>
                </p:cNvSpPr>
                <p:nvPr/>
              </p:nvSpPr>
              <p:spPr bwMode="auto">
                <a:xfrm>
                  <a:off x="1439" y="3214"/>
                  <a:ext cx="116" cy="233"/>
                </a:xfrm>
                <a:custGeom>
                  <a:avLst/>
                  <a:gdLst>
                    <a:gd name="T0" fmla="*/ 0 w 2307"/>
                    <a:gd name="T1" fmla="*/ 430 h 432"/>
                    <a:gd name="T2" fmla="*/ 160 w 2307"/>
                    <a:gd name="T3" fmla="*/ 385 h 432"/>
                    <a:gd name="T4" fmla="*/ 363 w 2307"/>
                    <a:gd name="T5" fmla="*/ 215 h 432"/>
                    <a:gd name="T6" fmla="*/ 561 w 2307"/>
                    <a:gd name="T7" fmla="*/ 53 h 432"/>
                    <a:gd name="T8" fmla="*/ 741 w 2307"/>
                    <a:gd name="T9" fmla="*/ 2 h 432"/>
                    <a:gd name="T10" fmla="*/ 916 w 2307"/>
                    <a:gd name="T11" fmla="*/ 67 h 432"/>
                    <a:gd name="T12" fmla="*/ 1094 w 2307"/>
                    <a:gd name="T13" fmla="*/ 217 h 432"/>
                    <a:gd name="T14" fmla="*/ 1311 w 2307"/>
                    <a:gd name="T15" fmla="*/ 385 h 432"/>
                    <a:gd name="T16" fmla="*/ 1446 w 2307"/>
                    <a:gd name="T17" fmla="*/ 430 h 432"/>
                    <a:gd name="T18" fmla="*/ 1588 w 2307"/>
                    <a:gd name="T19" fmla="*/ 397 h 432"/>
                    <a:gd name="T20" fmla="*/ 1731 w 2307"/>
                    <a:gd name="T21" fmla="*/ 286 h 432"/>
                    <a:gd name="T22" fmla="*/ 1830 w 2307"/>
                    <a:gd name="T23" fmla="*/ 205 h 432"/>
                    <a:gd name="T24" fmla="*/ 1968 w 2307"/>
                    <a:gd name="T25" fmla="*/ 82 h 432"/>
                    <a:gd name="T26" fmla="*/ 2139 w 2307"/>
                    <a:gd name="T27" fmla="*/ 13 h 432"/>
                    <a:gd name="T28" fmla="*/ 2256 w 2307"/>
                    <a:gd name="T29" fmla="*/ 28 h 432"/>
                    <a:gd name="T30" fmla="*/ 2307 w 2307"/>
                    <a:gd name="T31" fmla="*/ 52 h 4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</a:cxnLst>
                  <a:rect l="0" t="0" r="r" b="b"/>
                  <a:pathLst>
                    <a:path w="2307" h="432">
                      <a:moveTo>
                        <a:pt x="0" y="430"/>
                      </a:moveTo>
                      <a:cubicBezTo>
                        <a:pt x="27" y="423"/>
                        <a:pt x="99" y="421"/>
                        <a:pt x="160" y="385"/>
                      </a:cubicBezTo>
                      <a:cubicBezTo>
                        <a:pt x="220" y="349"/>
                        <a:pt x="296" y="270"/>
                        <a:pt x="363" y="215"/>
                      </a:cubicBezTo>
                      <a:cubicBezTo>
                        <a:pt x="430" y="160"/>
                        <a:pt x="498" y="88"/>
                        <a:pt x="561" y="53"/>
                      </a:cubicBezTo>
                      <a:cubicBezTo>
                        <a:pt x="624" y="18"/>
                        <a:pt x="682" y="0"/>
                        <a:pt x="741" y="2"/>
                      </a:cubicBezTo>
                      <a:cubicBezTo>
                        <a:pt x="800" y="5"/>
                        <a:pt x="858" y="31"/>
                        <a:pt x="916" y="67"/>
                      </a:cubicBezTo>
                      <a:cubicBezTo>
                        <a:pt x="974" y="103"/>
                        <a:pt x="1028" y="164"/>
                        <a:pt x="1094" y="217"/>
                      </a:cubicBezTo>
                      <a:cubicBezTo>
                        <a:pt x="1160" y="270"/>
                        <a:pt x="1252" y="349"/>
                        <a:pt x="1311" y="385"/>
                      </a:cubicBezTo>
                      <a:cubicBezTo>
                        <a:pt x="1370" y="421"/>
                        <a:pt x="1400" y="428"/>
                        <a:pt x="1446" y="430"/>
                      </a:cubicBezTo>
                      <a:cubicBezTo>
                        <a:pt x="1492" y="432"/>
                        <a:pt x="1540" y="421"/>
                        <a:pt x="1588" y="397"/>
                      </a:cubicBezTo>
                      <a:cubicBezTo>
                        <a:pt x="1636" y="373"/>
                        <a:pt x="1691" y="318"/>
                        <a:pt x="1731" y="286"/>
                      </a:cubicBezTo>
                      <a:cubicBezTo>
                        <a:pt x="1771" y="254"/>
                        <a:pt x="1791" y="239"/>
                        <a:pt x="1830" y="205"/>
                      </a:cubicBezTo>
                      <a:cubicBezTo>
                        <a:pt x="1869" y="171"/>
                        <a:pt x="1917" y="114"/>
                        <a:pt x="1968" y="82"/>
                      </a:cubicBezTo>
                      <a:cubicBezTo>
                        <a:pt x="2019" y="50"/>
                        <a:pt x="2091" y="22"/>
                        <a:pt x="2139" y="13"/>
                      </a:cubicBezTo>
                      <a:cubicBezTo>
                        <a:pt x="2187" y="4"/>
                        <a:pt x="2228" y="21"/>
                        <a:pt x="2256" y="28"/>
                      </a:cubicBezTo>
                      <a:cubicBezTo>
                        <a:pt x="2284" y="35"/>
                        <a:pt x="2297" y="47"/>
                        <a:pt x="2307" y="52"/>
                      </a:cubicBezTo>
                    </a:path>
                  </a:pathLst>
                </a:custGeom>
                <a:noFill/>
                <a:ln w="28575" cap="flat" cmpd="sng">
                  <a:solidFill>
                    <a:srgbClr val="3333FF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1508" name="Text Box 68"/>
                <p:cNvSpPr txBox="1">
                  <a:spLocks noChangeArrowheads="1"/>
                </p:cNvSpPr>
                <p:nvPr/>
              </p:nvSpPr>
              <p:spPr bwMode="auto">
                <a:xfrm>
                  <a:off x="1377" y="2656"/>
                  <a:ext cx="372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kumimoji="1" lang="en-US" altLang="zh-CN" sz="2400" b="1" i="1">
                      <a:latin typeface="Times New Roman" panose="02020603050405020304" pitchFamily="18" charset="0"/>
                    </a:rPr>
                    <a:t>u</a:t>
                  </a:r>
                  <a:r>
                    <a:rPr kumimoji="1" lang="en-US" altLang="zh-CN" sz="2400" b="1">
                      <a:latin typeface="Times New Roman" panose="02020603050405020304" pitchFamily="18" charset="0"/>
                    </a:rPr>
                    <a:t>, </a:t>
                  </a:r>
                  <a:r>
                    <a:rPr kumimoji="1" lang="en-US" altLang="zh-CN" sz="2400" b="1" i="1">
                      <a:latin typeface="Times New Roman" panose="02020603050405020304" pitchFamily="18" charset="0"/>
                    </a:rPr>
                    <a:t>i</a:t>
                  </a:r>
                  <a:endParaRPr kumimoji="1" lang="en-US" altLang="zh-CN" sz="24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61509" name="Text Box 69"/>
                <p:cNvSpPr txBox="1">
                  <a:spLocks noChangeArrowheads="1"/>
                </p:cNvSpPr>
                <p:nvPr/>
              </p:nvSpPr>
              <p:spPr bwMode="auto">
                <a:xfrm>
                  <a:off x="1896" y="2785"/>
                  <a:ext cx="223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kumimoji="1" lang="en-US" altLang="zh-CN" sz="2400" b="1" i="1">
                      <a:solidFill>
                        <a:srgbClr val="FF0000"/>
                      </a:solidFill>
                      <a:latin typeface="Times New Roman" panose="02020603050405020304" pitchFamily="18" charset="0"/>
                    </a:rPr>
                    <a:t>u</a:t>
                  </a:r>
                  <a:endParaRPr kumimoji="1" lang="en-US" altLang="zh-CN" sz="24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61510" name="Text Box 70"/>
                <p:cNvSpPr txBox="1">
                  <a:spLocks noChangeArrowheads="1"/>
                </p:cNvSpPr>
                <p:nvPr/>
              </p:nvSpPr>
              <p:spPr bwMode="auto">
                <a:xfrm>
                  <a:off x="2176" y="3060"/>
                  <a:ext cx="217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kumimoji="1" lang="en-US" altLang="zh-CN" sz="2400" b="1">
                      <a:solidFill>
                        <a:srgbClr val="3333FF"/>
                      </a:solidFill>
                      <a:latin typeface="Times New Roman" panose="02020603050405020304" pitchFamily="18" charset="0"/>
                    </a:rPr>
                    <a:t> </a:t>
                  </a:r>
                  <a:r>
                    <a:rPr kumimoji="1" lang="en-US" altLang="zh-CN" sz="2400" b="1" i="1">
                      <a:solidFill>
                        <a:srgbClr val="3333FF"/>
                      </a:solidFill>
                      <a:latin typeface="Times New Roman" panose="02020603050405020304" pitchFamily="18" charset="0"/>
                    </a:rPr>
                    <a:t>i</a:t>
                  </a:r>
                  <a:endParaRPr kumimoji="1" lang="en-US" altLang="zh-CN" sz="24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61511" name="Text Box 71"/>
                <p:cNvSpPr txBox="1">
                  <a:spLocks noChangeArrowheads="1"/>
                </p:cNvSpPr>
                <p:nvPr/>
              </p:nvSpPr>
              <p:spPr bwMode="auto">
                <a:xfrm>
                  <a:off x="1679" y="3309"/>
                  <a:ext cx="212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kumimoji="1" lang="en-US" altLang="zh-CN" sz="2400" b="1">
                      <a:latin typeface="Times New Roman" panose="02020603050405020304" pitchFamily="18" charset="0"/>
                    </a:rPr>
                    <a:t>0</a:t>
                  </a:r>
                </a:p>
              </p:txBody>
            </p:sp>
          </p:grpSp>
          <p:sp>
            <p:nvSpPr>
              <p:cNvPr id="61512" name="Text Box 72"/>
              <p:cNvSpPr txBox="1">
                <a:spLocks noChangeArrowheads="1"/>
              </p:cNvSpPr>
              <p:nvPr/>
            </p:nvSpPr>
            <p:spPr bwMode="auto">
              <a:xfrm>
                <a:off x="1718" y="3765"/>
                <a:ext cx="695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/>
                    <a:tailEnd type="none" w="sm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kumimoji="1" lang="zh-CN" altLang="en-US" sz="2400" b="1">
                    <a:latin typeface="Times New Roman" panose="02020603050405020304" pitchFamily="18" charset="0"/>
                  </a:rPr>
                  <a:t>波形图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5184657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1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61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1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1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538" name="Group 2"/>
          <p:cNvGrpSpPr>
            <a:grpSpLocks/>
          </p:cNvGrpSpPr>
          <p:nvPr/>
        </p:nvGrpSpPr>
        <p:grpSpPr bwMode="auto">
          <a:xfrm>
            <a:off x="6902454" y="698500"/>
            <a:ext cx="1917701" cy="3703638"/>
            <a:chOff x="3388" y="440"/>
            <a:chExt cx="1208" cy="2333"/>
          </a:xfrm>
        </p:grpSpPr>
        <p:sp>
          <p:nvSpPr>
            <p:cNvPr id="65539" name="Text Box 3"/>
            <p:cNvSpPr txBox="1">
              <a:spLocks noChangeArrowheads="1"/>
            </p:cNvSpPr>
            <p:nvPr/>
          </p:nvSpPr>
          <p:spPr bwMode="auto">
            <a:xfrm>
              <a:off x="3494" y="440"/>
              <a:ext cx="701" cy="291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kumimoji="1" lang="zh-CN" altLang="en-US" sz="2400" b="1" dirty="0">
                  <a:latin typeface="Times New Roman" panose="02020603050405020304" pitchFamily="18" charset="0"/>
                </a:rPr>
                <a:t>相量域</a:t>
              </a:r>
            </a:p>
          </p:txBody>
        </p:sp>
        <p:sp>
          <p:nvSpPr>
            <p:cNvPr id="65540" name="Text Box 4"/>
            <p:cNvSpPr txBox="1">
              <a:spLocks noChangeArrowheads="1"/>
            </p:cNvSpPr>
            <p:nvPr/>
          </p:nvSpPr>
          <p:spPr bwMode="auto">
            <a:xfrm>
              <a:off x="3388" y="1691"/>
              <a:ext cx="1208" cy="5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kumimoji="1" lang="zh-CN" altLang="en-US" sz="2400" b="1">
                  <a:latin typeface="Times New Roman" panose="02020603050405020304" pitchFamily="18" charset="0"/>
                </a:rPr>
                <a:t>有效值关系</a:t>
              </a:r>
            </a:p>
            <a:p>
              <a:pPr algn="l">
                <a:lnSpc>
                  <a:spcPct val="120000"/>
                </a:lnSpc>
                <a:spcBef>
                  <a:spcPct val="5000"/>
                </a:spcBef>
              </a:pPr>
              <a:r>
                <a:rPr kumimoji="1" lang="zh-CN" altLang="en-US" sz="24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 </a:t>
              </a:r>
              <a:r>
                <a:rPr kumimoji="1" lang="en-US" altLang="zh-CN" sz="2400" b="1" i="1">
                  <a:solidFill>
                    <a:srgbClr val="FF0000"/>
                  </a:solidFill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24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=</a:t>
              </a:r>
              <a:r>
                <a:rPr kumimoji="1" lang="en-US" altLang="zh-CN" sz="2400" b="1" i="1">
                  <a:solidFill>
                    <a:srgbClr val="FF0000"/>
                  </a:solidFill>
                  <a:latin typeface="Symbol" panose="05050102010706020507" pitchFamily="18" charset="2"/>
                </a:rPr>
                <a:t>w </a:t>
              </a:r>
              <a:r>
                <a:rPr kumimoji="1" lang="en-US" altLang="zh-CN" sz="2400" b="1" i="1">
                  <a:solidFill>
                    <a:srgbClr val="FF0000"/>
                  </a:solidFill>
                  <a:latin typeface="Times New Roman" panose="02020603050405020304" pitchFamily="18" charset="0"/>
                </a:rPr>
                <a:t>C U</a:t>
              </a:r>
            </a:p>
          </p:txBody>
        </p:sp>
        <p:sp>
          <p:nvSpPr>
            <p:cNvPr id="65541" name="Text Box 5"/>
            <p:cNvSpPr txBox="1">
              <a:spLocks noChangeArrowheads="1"/>
            </p:cNvSpPr>
            <p:nvPr/>
          </p:nvSpPr>
          <p:spPr bwMode="auto">
            <a:xfrm>
              <a:off x="3438" y="2318"/>
              <a:ext cx="1030" cy="4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zh-CN" altLang="en-US" sz="2400" b="1">
                  <a:latin typeface="Times New Roman" panose="02020603050405020304" pitchFamily="18" charset="0"/>
                </a:rPr>
                <a:t>相位关系</a:t>
              </a:r>
            </a:p>
            <a:p>
              <a:pPr algn="l">
                <a:lnSpc>
                  <a:spcPct val="65000"/>
                </a:lnSpc>
              </a:pPr>
              <a:r>
                <a:rPr kumimoji="1" lang="en-US" altLang="zh-CN" sz="2400" b="1" i="1">
                  <a:solidFill>
                    <a:srgbClr val="FF0000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i </a:t>
              </a:r>
              <a:r>
                <a:rPr kumimoji="1" lang="zh-CN" altLang="en-US" sz="2400" b="1">
                  <a:solidFill>
                    <a:srgbClr val="FF0000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超前</a:t>
              </a:r>
              <a:r>
                <a:rPr kumimoji="1" lang="en-US" altLang="zh-CN" sz="2400" b="1" i="1">
                  <a:solidFill>
                    <a:srgbClr val="FF0000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u</a:t>
              </a:r>
              <a:r>
                <a:rPr kumimoji="1" lang="en-US" altLang="zh-CN" sz="2400" b="1">
                  <a:solidFill>
                    <a:srgbClr val="FF0000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 90°</a:t>
              </a:r>
              <a:endParaRPr kumimoji="1" lang="en-US" altLang="zh-CN" sz="2400" b="1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65542" name="Object 6"/>
            <p:cNvGraphicFramePr>
              <a:graphicFrameLocks noChangeAspect="1"/>
            </p:cNvGraphicFramePr>
            <p:nvPr/>
          </p:nvGraphicFramePr>
          <p:xfrm>
            <a:off x="3424" y="1260"/>
            <a:ext cx="887" cy="2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" imgW="698400" imgH="228600" progId="Equation.3">
                    <p:embed/>
                  </p:oleObj>
                </mc:Choice>
                <mc:Fallback>
                  <p:oleObj name="公式" r:id="rId3" imgW="698400" imgH="228600" progId="Equation.3">
                    <p:embed/>
                    <p:pic>
                      <p:nvPicPr>
                        <p:cNvPr id="65542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24" y="1260"/>
                          <a:ext cx="887" cy="2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54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 type="none" w="sm" len="med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5543" name="Object 7"/>
            <p:cNvGraphicFramePr>
              <a:graphicFrameLocks noChangeAspect="1"/>
            </p:cNvGraphicFramePr>
            <p:nvPr/>
          </p:nvGraphicFramePr>
          <p:xfrm>
            <a:off x="3424" y="869"/>
            <a:ext cx="838" cy="2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5" imgW="660240" imgH="203040" progId="Equation.3">
                    <p:embed/>
                  </p:oleObj>
                </mc:Choice>
                <mc:Fallback>
                  <p:oleObj name="公式" r:id="rId5" imgW="660240" imgH="203040" progId="Equation.3">
                    <p:embed/>
                    <p:pic>
                      <p:nvPicPr>
                        <p:cNvPr id="65543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24" y="869"/>
                          <a:ext cx="838" cy="25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54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 type="none" w="sm" len="med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5544" name="Group 8"/>
          <p:cNvGrpSpPr>
            <a:grpSpLocks/>
          </p:cNvGrpSpPr>
          <p:nvPr/>
        </p:nvGrpSpPr>
        <p:grpSpPr bwMode="auto">
          <a:xfrm>
            <a:off x="3600450" y="685800"/>
            <a:ext cx="3113088" cy="5545138"/>
            <a:chOff x="1308" y="432"/>
            <a:chExt cx="1961" cy="3493"/>
          </a:xfrm>
        </p:grpSpPr>
        <p:sp>
          <p:nvSpPr>
            <p:cNvPr id="65545" name="Text Box 9"/>
            <p:cNvSpPr txBox="1">
              <a:spLocks noChangeArrowheads="1"/>
            </p:cNvSpPr>
            <p:nvPr/>
          </p:nvSpPr>
          <p:spPr bwMode="auto">
            <a:xfrm>
              <a:off x="1952" y="432"/>
              <a:ext cx="502" cy="288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kumimoji="1" lang="zh-CN" altLang="en-US" sz="2400" b="1">
                  <a:latin typeface="Times New Roman" panose="02020603050405020304" pitchFamily="18" charset="0"/>
                </a:rPr>
                <a:t>时域</a:t>
              </a:r>
            </a:p>
          </p:txBody>
        </p:sp>
        <p:graphicFrame>
          <p:nvGraphicFramePr>
            <p:cNvPr id="65546" name="Object 10"/>
            <p:cNvGraphicFramePr>
              <a:graphicFrameLocks noChangeAspect="1"/>
            </p:cNvGraphicFramePr>
            <p:nvPr/>
          </p:nvGraphicFramePr>
          <p:xfrm>
            <a:off x="1347" y="864"/>
            <a:ext cx="1415" cy="3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7" imgW="1117440" imgH="241200" progId="Equation.3">
                    <p:embed/>
                  </p:oleObj>
                </mc:Choice>
                <mc:Fallback>
                  <p:oleObj name="公式" r:id="rId7" imgW="1117440" imgH="241200" progId="Equation.3">
                    <p:embed/>
                    <p:pic>
                      <p:nvPicPr>
                        <p:cNvPr id="65546" name="Object 10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47" y="864"/>
                          <a:ext cx="1415" cy="3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5547" name="Object 11"/>
            <p:cNvGraphicFramePr>
              <a:graphicFrameLocks noChangeAspect="1"/>
            </p:cNvGraphicFramePr>
            <p:nvPr/>
          </p:nvGraphicFramePr>
          <p:xfrm>
            <a:off x="1371" y="1198"/>
            <a:ext cx="1898" cy="11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9" imgW="1485720" imgH="927000" progId="Equation.3">
                    <p:embed/>
                  </p:oleObj>
                </mc:Choice>
                <mc:Fallback>
                  <p:oleObj name="公式" r:id="rId9" imgW="1485720" imgH="927000" progId="Equation.3">
                    <p:embed/>
                    <p:pic>
                      <p:nvPicPr>
                        <p:cNvPr id="65547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71" y="1198"/>
                          <a:ext cx="1898" cy="11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65548" name="Group 12"/>
            <p:cNvGrpSpPr>
              <a:grpSpLocks/>
            </p:cNvGrpSpPr>
            <p:nvPr/>
          </p:nvGrpSpPr>
          <p:grpSpPr bwMode="auto">
            <a:xfrm>
              <a:off x="1308" y="2528"/>
              <a:ext cx="1913" cy="1104"/>
              <a:chOff x="1308" y="2528"/>
              <a:chExt cx="1913" cy="1104"/>
            </a:xfrm>
          </p:grpSpPr>
          <p:sp>
            <p:nvSpPr>
              <p:cNvPr id="65549" name="Line 13"/>
              <p:cNvSpPr>
                <a:spLocks noChangeShapeType="1"/>
              </p:cNvSpPr>
              <p:nvPr/>
            </p:nvSpPr>
            <p:spPr bwMode="auto">
              <a:xfrm flipV="1">
                <a:off x="1693" y="2579"/>
                <a:ext cx="0" cy="105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stealth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5550" name="Line 14"/>
              <p:cNvSpPr>
                <a:spLocks noChangeShapeType="1"/>
              </p:cNvSpPr>
              <p:nvPr/>
            </p:nvSpPr>
            <p:spPr bwMode="auto">
              <a:xfrm flipV="1">
                <a:off x="1379" y="3192"/>
                <a:ext cx="1736" cy="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stealth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5551" name="Text Box 15"/>
              <p:cNvSpPr txBox="1">
                <a:spLocks noChangeArrowheads="1"/>
              </p:cNvSpPr>
              <p:nvPr/>
            </p:nvSpPr>
            <p:spPr bwMode="auto">
              <a:xfrm>
                <a:off x="2872" y="3155"/>
                <a:ext cx="349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 eaLnBrk="0" hangingPunct="0">
                  <a:spcBef>
                    <a:spcPct val="0"/>
                  </a:spcBef>
                </a:pPr>
                <a:r>
                  <a:rPr kumimoji="1" lang="en-US" altLang="zh-CN" sz="2400" b="1" i="1">
                    <a:latin typeface="Times New Roman" panose="02020603050405020304" pitchFamily="18" charset="0"/>
                    <a:sym typeface="Symbol" panose="05050102010706020507" pitchFamily="18" charset="2"/>
                  </a:rPr>
                  <a:t> </a:t>
                </a:r>
                <a:r>
                  <a:rPr kumimoji="1" lang="en-US" altLang="zh-CN" sz="2400" b="1" i="1">
                    <a:latin typeface="Times New Roman" panose="02020603050405020304" pitchFamily="18" charset="0"/>
                  </a:rPr>
                  <a:t>t</a:t>
                </a:r>
              </a:p>
            </p:txBody>
          </p:sp>
          <p:sp>
            <p:nvSpPr>
              <p:cNvPr id="65552" name="Freeform 16"/>
              <p:cNvSpPr>
                <a:spLocks/>
              </p:cNvSpPr>
              <p:nvPr/>
            </p:nvSpPr>
            <p:spPr bwMode="auto">
              <a:xfrm>
                <a:off x="1308" y="3079"/>
                <a:ext cx="116" cy="233"/>
              </a:xfrm>
              <a:custGeom>
                <a:avLst/>
                <a:gdLst>
                  <a:gd name="T0" fmla="*/ 0 w 2118"/>
                  <a:gd name="T1" fmla="*/ 734 h 868"/>
                  <a:gd name="T2" fmla="*/ 260 w 2118"/>
                  <a:gd name="T3" fmla="*/ 286 h 868"/>
                  <a:gd name="T4" fmla="*/ 335 w 2118"/>
                  <a:gd name="T5" fmla="*/ 162 h 868"/>
                  <a:gd name="T6" fmla="*/ 430 w 2118"/>
                  <a:gd name="T7" fmla="*/ 53 h 868"/>
                  <a:gd name="T8" fmla="*/ 538 w 2118"/>
                  <a:gd name="T9" fmla="*/ 2 h 868"/>
                  <a:gd name="T10" fmla="*/ 672 w 2118"/>
                  <a:gd name="T11" fmla="*/ 64 h 868"/>
                  <a:gd name="T12" fmla="*/ 806 w 2118"/>
                  <a:gd name="T13" fmla="*/ 246 h 868"/>
                  <a:gd name="T14" fmla="*/ 906 w 2118"/>
                  <a:gd name="T15" fmla="*/ 430 h 868"/>
                  <a:gd name="T16" fmla="*/ 1019 w 2118"/>
                  <a:gd name="T17" fmla="*/ 628 h 868"/>
                  <a:gd name="T18" fmla="*/ 1130 w 2118"/>
                  <a:gd name="T19" fmla="*/ 788 h 868"/>
                  <a:gd name="T20" fmla="*/ 1284 w 2118"/>
                  <a:gd name="T21" fmla="*/ 862 h 868"/>
                  <a:gd name="T22" fmla="*/ 1449 w 2118"/>
                  <a:gd name="T23" fmla="*/ 747 h 868"/>
                  <a:gd name="T24" fmla="*/ 1637 w 2118"/>
                  <a:gd name="T25" fmla="*/ 442 h 868"/>
                  <a:gd name="T26" fmla="*/ 1724 w 2118"/>
                  <a:gd name="T27" fmla="*/ 277 h 868"/>
                  <a:gd name="T28" fmla="*/ 1876 w 2118"/>
                  <a:gd name="T29" fmla="*/ 67 h 868"/>
                  <a:gd name="T30" fmla="*/ 2002 w 2118"/>
                  <a:gd name="T31" fmla="*/ 5 h 868"/>
                  <a:gd name="T32" fmla="*/ 2118 w 2118"/>
                  <a:gd name="T33" fmla="*/ 53 h 8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2118" h="868">
                    <a:moveTo>
                      <a:pt x="0" y="734"/>
                    </a:moveTo>
                    <a:cubicBezTo>
                      <a:pt x="43" y="660"/>
                      <a:pt x="204" y="381"/>
                      <a:pt x="260" y="286"/>
                    </a:cubicBezTo>
                    <a:cubicBezTo>
                      <a:pt x="316" y="191"/>
                      <a:pt x="307" y="201"/>
                      <a:pt x="335" y="162"/>
                    </a:cubicBezTo>
                    <a:cubicBezTo>
                      <a:pt x="363" y="123"/>
                      <a:pt x="397" y="79"/>
                      <a:pt x="430" y="53"/>
                    </a:cubicBezTo>
                    <a:cubicBezTo>
                      <a:pt x="464" y="26"/>
                      <a:pt x="498" y="0"/>
                      <a:pt x="538" y="2"/>
                    </a:cubicBezTo>
                    <a:cubicBezTo>
                      <a:pt x="579" y="5"/>
                      <a:pt x="627" y="24"/>
                      <a:pt x="672" y="64"/>
                    </a:cubicBezTo>
                    <a:cubicBezTo>
                      <a:pt x="717" y="105"/>
                      <a:pt x="767" y="185"/>
                      <a:pt x="806" y="246"/>
                    </a:cubicBezTo>
                    <a:cubicBezTo>
                      <a:pt x="844" y="306"/>
                      <a:pt x="870" y="366"/>
                      <a:pt x="906" y="430"/>
                    </a:cubicBezTo>
                    <a:cubicBezTo>
                      <a:pt x="942" y="493"/>
                      <a:pt x="982" y="568"/>
                      <a:pt x="1019" y="628"/>
                    </a:cubicBezTo>
                    <a:cubicBezTo>
                      <a:pt x="1057" y="687"/>
                      <a:pt x="1086" y="749"/>
                      <a:pt x="1130" y="788"/>
                    </a:cubicBezTo>
                    <a:cubicBezTo>
                      <a:pt x="1174" y="827"/>
                      <a:pt x="1231" y="868"/>
                      <a:pt x="1284" y="862"/>
                    </a:cubicBezTo>
                    <a:cubicBezTo>
                      <a:pt x="1338" y="855"/>
                      <a:pt x="1390" y="817"/>
                      <a:pt x="1449" y="747"/>
                    </a:cubicBezTo>
                    <a:cubicBezTo>
                      <a:pt x="1508" y="677"/>
                      <a:pt x="1591" y="520"/>
                      <a:pt x="1637" y="442"/>
                    </a:cubicBezTo>
                    <a:cubicBezTo>
                      <a:pt x="1682" y="364"/>
                      <a:pt x="1685" y="339"/>
                      <a:pt x="1724" y="277"/>
                    </a:cubicBezTo>
                    <a:cubicBezTo>
                      <a:pt x="1764" y="215"/>
                      <a:pt x="1830" y="112"/>
                      <a:pt x="1876" y="67"/>
                    </a:cubicBezTo>
                    <a:cubicBezTo>
                      <a:pt x="1922" y="21"/>
                      <a:pt x="1962" y="7"/>
                      <a:pt x="2002" y="5"/>
                    </a:cubicBezTo>
                    <a:cubicBezTo>
                      <a:pt x="2043" y="2"/>
                      <a:pt x="2094" y="43"/>
                      <a:pt x="2118" y="53"/>
                    </a:cubicBezTo>
                  </a:path>
                </a:pathLst>
              </a:custGeom>
              <a:noFill/>
              <a:ln w="28575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5553" name="Freeform 17"/>
              <p:cNvSpPr>
                <a:spLocks/>
              </p:cNvSpPr>
              <p:nvPr/>
            </p:nvSpPr>
            <p:spPr bwMode="auto">
              <a:xfrm>
                <a:off x="1447" y="3086"/>
                <a:ext cx="116" cy="233"/>
              </a:xfrm>
              <a:custGeom>
                <a:avLst/>
                <a:gdLst>
                  <a:gd name="T0" fmla="*/ 0 w 2307"/>
                  <a:gd name="T1" fmla="*/ 430 h 432"/>
                  <a:gd name="T2" fmla="*/ 160 w 2307"/>
                  <a:gd name="T3" fmla="*/ 385 h 432"/>
                  <a:gd name="T4" fmla="*/ 363 w 2307"/>
                  <a:gd name="T5" fmla="*/ 215 h 432"/>
                  <a:gd name="T6" fmla="*/ 561 w 2307"/>
                  <a:gd name="T7" fmla="*/ 53 h 432"/>
                  <a:gd name="T8" fmla="*/ 741 w 2307"/>
                  <a:gd name="T9" fmla="*/ 2 h 432"/>
                  <a:gd name="T10" fmla="*/ 916 w 2307"/>
                  <a:gd name="T11" fmla="*/ 67 h 432"/>
                  <a:gd name="T12" fmla="*/ 1094 w 2307"/>
                  <a:gd name="T13" fmla="*/ 217 h 432"/>
                  <a:gd name="T14" fmla="*/ 1311 w 2307"/>
                  <a:gd name="T15" fmla="*/ 385 h 432"/>
                  <a:gd name="T16" fmla="*/ 1446 w 2307"/>
                  <a:gd name="T17" fmla="*/ 430 h 432"/>
                  <a:gd name="T18" fmla="*/ 1588 w 2307"/>
                  <a:gd name="T19" fmla="*/ 397 h 432"/>
                  <a:gd name="T20" fmla="*/ 1731 w 2307"/>
                  <a:gd name="T21" fmla="*/ 286 h 432"/>
                  <a:gd name="T22" fmla="*/ 1830 w 2307"/>
                  <a:gd name="T23" fmla="*/ 205 h 432"/>
                  <a:gd name="T24" fmla="*/ 1968 w 2307"/>
                  <a:gd name="T25" fmla="*/ 82 h 432"/>
                  <a:gd name="T26" fmla="*/ 2139 w 2307"/>
                  <a:gd name="T27" fmla="*/ 13 h 432"/>
                  <a:gd name="T28" fmla="*/ 2256 w 2307"/>
                  <a:gd name="T29" fmla="*/ 28 h 432"/>
                  <a:gd name="T30" fmla="*/ 2307 w 2307"/>
                  <a:gd name="T31" fmla="*/ 52 h 4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2307" h="432">
                    <a:moveTo>
                      <a:pt x="0" y="430"/>
                    </a:moveTo>
                    <a:cubicBezTo>
                      <a:pt x="27" y="423"/>
                      <a:pt x="99" y="421"/>
                      <a:pt x="160" y="385"/>
                    </a:cubicBezTo>
                    <a:cubicBezTo>
                      <a:pt x="220" y="349"/>
                      <a:pt x="296" y="270"/>
                      <a:pt x="363" y="215"/>
                    </a:cubicBezTo>
                    <a:cubicBezTo>
                      <a:pt x="430" y="160"/>
                      <a:pt x="498" y="88"/>
                      <a:pt x="561" y="53"/>
                    </a:cubicBezTo>
                    <a:cubicBezTo>
                      <a:pt x="624" y="18"/>
                      <a:pt x="682" y="0"/>
                      <a:pt x="741" y="2"/>
                    </a:cubicBezTo>
                    <a:cubicBezTo>
                      <a:pt x="800" y="5"/>
                      <a:pt x="858" y="31"/>
                      <a:pt x="916" y="67"/>
                    </a:cubicBezTo>
                    <a:cubicBezTo>
                      <a:pt x="974" y="103"/>
                      <a:pt x="1028" y="164"/>
                      <a:pt x="1094" y="217"/>
                    </a:cubicBezTo>
                    <a:cubicBezTo>
                      <a:pt x="1160" y="270"/>
                      <a:pt x="1252" y="349"/>
                      <a:pt x="1311" y="385"/>
                    </a:cubicBezTo>
                    <a:cubicBezTo>
                      <a:pt x="1370" y="421"/>
                      <a:pt x="1400" y="428"/>
                      <a:pt x="1446" y="430"/>
                    </a:cubicBezTo>
                    <a:cubicBezTo>
                      <a:pt x="1492" y="432"/>
                      <a:pt x="1540" y="421"/>
                      <a:pt x="1588" y="397"/>
                    </a:cubicBezTo>
                    <a:cubicBezTo>
                      <a:pt x="1636" y="373"/>
                      <a:pt x="1691" y="318"/>
                      <a:pt x="1731" y="286"/>
                    </a:cubicBezTo>
                    <a:cubicBezTo>
                      <a:pt x="1771" y="254"/>
                      <a:pt x="1791" y="239"/>
                      <a:pt x="1830" y="205"/>
                    </a:cubicBezTo>
                    <a:cubicBezTo>
                      <a:pt x="1869" y="171"/>
                      <a:pt x="1917" y="114"/>
                      <a:pt x="1968" y="82"/>
                    </a:cubicBezTo>
                    <a:cubicBezTo>
                      <a:pt x="2019" y="50"/>
                      <a:pt x="2091" y="22"/>
                      <a:pt x="2139" y="13"/>
                    </a:cubicBezTo>
                    <a:cubicBezTo>
                      <a:pt x="2187" y="4"/>
                      <a:pt x="2228" y="21"/>
                      <a:pt x="2256" y="28"/>
                    </a:cubicBezTo>
                    <a:cubicBezTo>
                      <a:pt x="2284" y="35"/>
                      <a:pt x="2297" y="47"/>
                      <a:pt x="2307" y="52"/>
                    </a:cubicBezTo>
                  </a:path>
                </a:pathLst>
              </a:custGeom>
              <a:noFill/>
              <a:ln w="28575" cap="flat" cmpd="sng">
                <a:solidFill>
                  <a:srgbClr val="3333FF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5554" name="Text Box 18"/>
              <p:cNvSpPr txBox="1">
                <a:spLocks noChangeArrowheads="1"/>
              </p:cNvSpPr>
              <p:nvPr/>
            </p:nvSpPr>
            <p:spPr bwMode="auto">
              <a:xfrm>
                <a:off x="1385" y="2528"/>
                <a:ext cx="37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kumimoji="1" lang="en-US" altLang="zh-CN" sz="2400" b="1" i="1">
                    <a:latin typeface="Times New Roman" panose="02020603050405020304" pitchFamily="18" charset="0"/>
                  </a:rPr>
                  <a:t>u</a:t>
                </a:r>
                <a:r>
                  <a:rPr kumimoji="1" lang="en-US" altLang="zh-CN" sz="2400" b="1">
                    <a:latin typeface="Times New Roman" panose="02020603050405020304" pitchFamily="18" charset="0"/>
                  </a:rPr>
                  <a:t>, </a:t>
                </a:r>
                <a:r>
                  <a:rPr kumimoji="1" lang="en-US" altLang="zh-CN" sz="2400" b="1" i="1">
                    <a:latin typeface="Times New Roman" panose="02020603050405020304" pitchFamily="18" charset="0"/>
                  </a:rPr>
                  <a:t>i</a:t>
                </a:r>
                <a:endParaRPr kumimoji="1" lang="en-US" altLang="zh-CN" sz="24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5555" name="Text Box 19"/>
              <p:cNvSpPr txBox="1">
                <a:spLocks noChangeArrowheads="1"/>
              </p:cNvSpPr>
              <p:nvPr/>
            </p:nvSpPr>
            <p:spPr bwMode="auto">
              <a:xfrm>
                <a:off x="2208" y="2880"/>
                <a:ext cx="22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kumimoji="1" lang="en-US" altLang="zh-CN" sz="2400" b="1" i="1">
                    <a:solidFill>
                      <a:srgbClr val="6600FF"/>
                    </a:solidFill>
                    <a:latin typeface="Times New Roman" panose="02020603050405020304" pitchFamily="18" charset="0"/>
                  </a:rPr>
                  <a:t>u</a:t>
                </a:r>
                <a:endParaRPr kumimoji="1" lang="en-US" altLang="zh-CN" sz="2400" b="1">
                  <a:solidFill>
                    <a:srgbClr val="6600FF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5556" name="Text Box 20"/>
              <p:cNvSpPr txBox="1">
                <a:spLocks noChangeArrowheads="1"/>
              </p:cNvSpPr>
              <p:nvPr/>
            </p:nvSpPr>
            <p:spPr bwMode="auto">
              <a:xfrm>
                <a:off x="1824" y="2640"/>
                <a:ext cx="217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kumimoji="1" lang="en-US" altLang="zh-CN" sz="2400" b="1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 </a:t>
                </a:r>
                <a:r>
                  <a:rPr kumimoji="1" lang="en-US" altLang="zh-CN" sz="2400" b="1" i="1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i</a:t>
                </a:r>
                <a:endParaRPr kumimoji="1" lang="en-US" altLang="zh-CN" sz="2400" b="1">
                  <a:solidFill>
                    <a:srgbClr val="FF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5557" name="Text Box 21"/>
              <p:cNvSpPr txBox="1">
                <a:spLocks noChangeArrowheads="1"/>
              </p:cNvSpPr>
              <p:nvPr/>
            </p:nvSpPr>
            <p:spPr bwMode="auto">
              <a:xfrm>
                <a:off x="1687" y="3181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kumimoji="1" lang="en-US" altLang="zh-CN" sz="2400" b="1">
                    <a:latin typeface="Times New Roman" panose="02020603050405020304" pitchFamily="18" charset="0"/>
                  </a:rPr>
                  <a:t>0</a:t>
                </a:r>
              </a:p>
            </p:txBody>
          </p:sp>
        </p:grpSp>
        <p:sp>
          <p:nvSpPr>
            <p:cNvPr id="65558" name="Text Box 22"/>
            <p:cNvSpPr txBox="1">
              <a:spLocks noChangeArrowheads="1"/>
            </p:cNvSpPr>
            <p:nvPr/>
          </p:nvSpPr>
          <p:spPr bwMode="auto">
            <a:xfrm>
              <a:off x="1726" y="3637"/>
              <a:ext cx="69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 type="none" w="sm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zh-CN" altLang="en-US" sz="2400" b="1">
                  <a:latin typeface="Times New Roman" panose="02020603050405020304" pitchFamily="18" charset="0"/>
                </a:rPr>
                <a:t>波形图</a:t>
              </a:r>
            </a:p>
          </p:txBody>
        </p:sp>
      </p:grpSp>
      <p:grpSp>
        <p:nvGrpSpPr>
          <p:cNvPr id="65559" name="Group 23"/>
          <p:cNvGrpSpPr>
            <a:grpSpLocks/>
          </p:cNvGrpSpPr>
          <p:nvPr/>
        </p:nvGrpSpPr>
        <p:grpSpPr bwMode="auto">
          <a:xfrm>
            <a:off x="1752601" y="260350"/>
            <a:ext cx="1903679" cy="2963878"/>
            <a:chOff x="144" y="170"/>
            <a:chExt cx="1027" cy="1861"/>
          </a:xfrm>
        </p:grpSpPr>
        <p:sp>
          <p:nvSpPr>
            <p:cNvPr id="65560" name="Text Box 24"/>
            <p:cNvSpPr txBox="1">
              <a:spLocks noChangeArrowheads="1"/>
            </p:cNvSpPr>
            <p:nvPr/>
          </p:nvSpPr>
          <p:spPr bwMode="auto">
            <a:xfrm>
              <a:off x="144" y="170"/>
              <a:ext cx="74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kumimoji="1" lang="en-US" altLang="zh-CN" sz="24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3 . </a:t>
              </a:r>
              <a:r>
                <a:rPr kumimoji="1" lang="zh-CN" altLang="en-US" sz="24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电容</a:t>
              </a:r>
            </a:p>
          </p:txBody>
        </p:sp>
        <p:grpSp>
          <p:nvGrpSpPr>
            <p:cNvPr id="65561" name="Group 25"/>
            <p:cNvGrpSpPr>
              <a:grpSpLocks/>
            </p:cNvGrpSpPr>
            <p:nvPr/>
          </p:nvGrpSpPr>
          <p:grpSpPr bwMode="auto">
            <a:xfrm>
              <a:off x="144" y="576"/>
              <a:ext cx="1027" cy="1455"/>
              <a:chOff x="144" y="576"/>
              <a:chExt cx="1027" cy="1455"/>
            </a:xfrm>
          </p:grpSpPr>
          <p:sp>
            <p:nvSpPr>
              <p:cNvPr id="65562" name="Text Box 26"/>
              <p:cNvSpPr txBox="1">
                <a:spLocks noChangeArrowheads="1"/>
              </p:cNvSpPr>
              <p:nvPr/>
            </p:nvSpPr>
            <p:spPr bwMode="auto">
              <a:xfrm>
                <a:off x="182" y="1741"/>
                <a:ext cx="764" cy="29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/>
                    <a:tailEnd type="none" w="sm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kumimoji="1" lang="zh-CN" altLang="en-US" sz="2400" b="1">
                    <a:latin typeface="Times New Roman" panose="02020603050405020304" pitchFamily="18" charset="0"/>
                  </a:rPr>
                  <a:t>时域模型</a:t>
                </a:r>
              </a:p>
            </p:txBody>
          </p:sp>
          <p:sp>
            <p:nvSpPr>
              <p:cNvPr id="65563" name="Freeform 27"/>
              <p:cNvSpPr>
                <a:spLocks/>
              </p:cNvSpPr>
              <p:nvPr/>
            </p:nvSpPr>
            <p:spPr bwMode="auto">
              <a:xfrm>
                <a:off x="893" y="936"/>
                <a:ext cx="1" cy="306"/>
              </a:xfrm>
              <a:custGeom>
                <a:avLst/>
                <a:gdLst>
                  <a:gd name="T0" fmla="*/ 1 w 1"/>
                  <a:gd name="T1" fmla="*/ 306 h 306"/>
                  <a:gd name="T2" fmla="*/ 0 w 1"/>
                  <a:gd name="T3" fmla="*/ 0 h 3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306">
                    <a:moveTo>
                      <a:pt x="1" y="306"/>
                    </a:moveTo>
                    <a:lnTo>
                      <a:pt x="0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5564" name="Freeform 28"/>
              <p:cNvSpPr>
                <a:spLocks/>
              </p:cNvSpPr>
              <p:nvPr/>
            </p:nvSpPr>
            <p:spPr bwMode="auto">
              <a:xfrm>
                <a:off x="887" y="1350"/>
                <a:ext cx="1" cy="312"/>
              </a:xfrm>
              <a:custGeom>
                <a:avLst/>
                <a:gdLst>
                  <a:gd name="T0" fmla="*/ 1 w 1"/>
                  <a:gd name="T1" fmla="*/ 0 h 312"/>
                  <a:gd name="T2" fmla="*/ 0 w 1"/>
                  <a:gd name="T3" fmla="*/ 312 h 3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312">
                    <a:moveTo>
                      <a:pt x="1" y="0"/>
                    </a:moveTo>
                    <a:lnTo>
                      <a:pt x="0" y="312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5565" name="Freeform 29"/>
              <p:cNvSpPr>
                <a:spLocks/>
              </p:cNvSpPr>
              <p:nvPr/>
            </p:nvSpPr>
            <p:spPr bwMode="auto">
              <a:xfrm>
                <a:off x="317" y="936"/>
                <a:ext cx="576" cy="6"/>
              </a:xfrm>
              <a:custGeom>
                <a:avLst/>
                <a:gdLst>
                  <a:gd name="T0" fmla="*/ 0 w 576"/>
                  <a:gd name="T1" fmla="*/ 6 h 6"/>
                  <a:gd name="T2" fmla="*/ 576 w 576"/>
                  <a:gd name="T3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576" h="6">
                    <a:moveTo>
                      <a:pt x="0" y="6"/>
                    </a:moveTo>
                    <a:lnTo>
                      <a:pt x="576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5566" name="Freeform 30"/>
              <p:cNvSpPr>
                <a:spLocks/>
              </p:cNvSpPr>
              <p:nvPr/>
            </p:nvSpPr>
            <p:spPr bwMode="auto">
              <a:xfrm>
                <a:off x="314" y="1656"/>
                <a:ext cx="570" cy="3"/>
              </a:xfrm>
              <a:custGeom>
                <a:avLst/>
                <a:gdLst>
                  <a:gd name="T0" fmla="*/ 0 w 570"/>
                  <a:gd name="T1" fmla="*/ 3 h 3"/>
                  <a:gd name="T2" fmla="*/ 570 w 570"/>
                  <a:gd name="T3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570" h="3">
                    <a:moveTo>
                      <a:pt x="0" y="3"/>
                    </a:moveTo>
                    <a:lnTo>
                      <a:pt x="570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5567" name="Line 31"/>
              <p:cNvSpPr>
                <a:spLocks noChangeShapeType="1"/>
              </p:cNvSpPr>
              <p:nvPr/>
            </p:nvSpPr>
            <p:spPr bwMode="auto">
              <a:xfrm>
                <a:off x="297" y="864"/>
                <a:ext cx="288" cy="0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 type="stealth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5568" name="Text Box 32"/>
              <p:cNvSpPr txBox="1">
                <a:spLocks noChangeArrowheads="1"/>
              </p:cNvSpPr>
              <p:nvPr/>
            </p:nvSpPr>
            <p:spPr bwMode="auto">
              <a:xfrm>
                <a:off x="249" y="576"/>
                <a:ext cx="330" cy="29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 algn="l">
                  <a:spcBef>
                    <a:spcPct val="0"/>
                  </a:spcBef>
                </a:pPr>
                <a:r>
                  <a:rPr kumimoji="1" lang="en-US" altLang="zh-CN" sz="2400" b="1" i="1">
                    <a:latin typeface="Times New Roman" panose="02020603050405020304" pitchFamily="18" charset="0"/>
                  </a:rPr>
                  <a:t>i</a:t>
                </a:r>
                <a:r>
                  <a:rPr kumimoji="1" lang="en-US" altLang="zh-CN" sz="2400" b="1" i="1" baseline="-25000">
                    <a:latin typeface="Times New Roman" panose="02020603050405020304" pitchFamily="18" charset="0"/>
                  </a:rPr>
                  <a:t> </a:t>
                </a:r>
                <a:r>
                  <a:rPr kumimoji="1" lang="en-US" altLang="zh-CN" sz="2400" b="1">
                    <a:latin typeface="Times New Roman" panose="02020603050405020304" pitchFamily="18" charset="0"/>
                  </a:rPr>
                  <a:t>(</a:t>
                </a:r>
                <a:r>
                  <a:rPr kumimoji="1" lang="en-US" altLang="zh-CN" sz="2400" b="1" i="1">
                    <a:latin typeface="Times New Roman" panose="02020603050405020304" pitchFamily="18" charset="0"/>
                  </a:rPr>
                  <a:t>t</a:t>
                </a:r>
                <a:r>
                  <a:rPr kumimoji="1" lang="en-US" altLang="zh-CN" sz="2400" b="1">
                    <a:latin typeface="Times New Roman" panose="02020603050405020304" pitchFamily="18" charset="0"/>
                  </a:rPr>
                  <a:t>)</a:t>
                </a:r>
              </a:p>
            </p:txBody>
          </p:sp>
          <p:sp>
            <p:nvSpPr>
              <p:cNvPr id="65569" name="Text Box 33"/>
              <p:cNvSpPr txBox="1">
                <a:spLocks noChangeArrowheads="1"/>
              </p:cNvSpPr>
              <p:nvPr/>
            </p:nvSpPr>
            <p:spPr bwMode="auto">
              <a:xfrm>
                <a:off x="144" y="1152"/>
                <a:ext cx="48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algn="l">
                  <a:spcBef>
                    <a:spcPct val="0"/>
                  </a:spcBef>
                </a:pPr>
                <a:r>
                  <a:rPr kumimoji="1" lang="en-US" altLang="zh-CN" sz="2400" b="1" i="1">
                    <a:latin typeface="Times New Roman" panose="02020603050405020304" pitchFamily="18" charset="0"/>
                  </a:rPr>
                  <a:t>u</a:t>
                </a:r>
                <a:r>
                  <a:rPr kumimoji="1" lang="en-US" altLang="zh-CN" sz="2400" b="1">
                    <a:latin typeface="Times New Roman" panose="02020603050405020304" pitchFamily="18" charset="0"/>
                  </a:rPr>
                  <a:t>(</a:t>
                </a:r>
                <a:r>
                  <a:rPr kumimoji="1" lang="en-US" altLang="zh-CN" sz="2400" b="1" i="1">
                    <a:latin typeface="Times New Roman" panose="02020603050405020304" pitchFamily="18" charset="0"/>
                  </a:rPr>
                  <a:t>t</a:t>
                </a:r>
                <a:r>
                  <a:rPr kumimoji="1" lang="en-US" altLang="zh-CN" sz="2400" b="1">
                    <a:latin typeface="Times New Roman" panose="02020603050405020304" pitchFamily="18" charset="0"/>
                  </a:rPr>
                  <a:t>)</a:t>
                </a:r>
              </a:p>
            </p:txBody>
          </p:sp>
          <p:sp>
            <p:nvSpPr>
              <p:cNvPr id="65570" name="Text Box 34"/>
              <p:cNvSpPr txBox="1">
                <a:spLocks noChangeArrowheads="1"/>
              </p:cNvSpPr>
              <p:nvPr/>
            </p:nvSpPr>
            <p:spPr bwMode="auto">
              <a:xfrm>
                <a:off x="961" y="1152"/>
                <a:ext cx="210" cy="29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 algn="l">
                  <a:spcBef>
                    <a:spcPct val="0"/>
                  </a:spcBef>
                </a:pPr>
                <a:r>
                  <a:rPr kumimoji="1" lang="en-US" altLang="zh-CN" sz="2400" b="1" i="1">
                    <a:latin typeface="Times New Roman" panose="02020603050405020304" pitchFamily="18" charset="0"/>
                  </a:rPr>
                  <a:t>C</a:t>
                </a:r>
              </a:p>
            </p:txBody>
          </p:sp>
          <p:sp>
            <p:nvSpPr>
              <p:cNvPr id="65571" name="Oval 35"/>
              <p:cNvSpPr>
                <a:spLocks noChangeArrowheads="1"/>
              </p:cNvSpPr>
              <p:nvPr/>
            </p:nvSpPr>
            <p:spPr bwMode="auto">
              <a:xfrm>
                <a:off x="263" y="1493"/>
                <a:ext cx="140" cy="326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5572" name="Oval 36"/>
              <p:cNvSpPr>
                <a:spLocks noChangeArrowheads="1"/>
              </p:cNvSpPr>
              <p:nvPr/>
            </p:nvSpPr>
            <p:spPr bwMode="auto">
              <a:xfrm>
                <a:off x="263" y="773"/>
                <a:ext cx="140" cy="326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5573" name="Text Box 37"/>
              <p:cNvSpPr txBox="1">
                <a:spLocks noChangeArrowheads="1"/>
              </p:cNvSpPr>
              <p:nvPr/>
            </p:nvSpPr>
            <p:spPr bwMode="auto">
              <a:xfrm>
                <a:off x="182" y="960"/>
                <a:ext cx="194" cy="29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kumimoji="1" lang="en-US" altLang="zh-CN" sz="2400" b="1">
                    <a:latin typeface="Times New Roman" panose="02020603050405020304" pitchFamily="18" charset="0"/>
                  </a:rPr>
                  <a:t>+</a:t>
                </a:r>
              </a:p>
            </p:txBody>
          </p:sp>
          <p:sp>
            <p:nvSpPr>
              <p:cNvPr id="65574" name="Text Box 38"/>
              <p:cNvSpPr txBox="1">
                <a:spLocks noChangeArrowheads="1"/>
              </p:cNvSpPr>
              <p:nvPr/>
            </p:nvSpPr>
            <p:spPr bwMode="auto">
              <a:xfrm>
                <a:off x="195" y="1392"/>
                <a:ext cx="184" cy="29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kumimoji="1" lang="en-US" altLang="zh-CN" sz="2400" b="1">
                    <a:latin typeface="黑体" panose="02010609060101010101" pitchFamily="49" charset="-122"/>
                    <a:ea typeface="黑体" panose="02010609060101010101" pitchFamily="49" charset="-122"/>
                  </a:rPr>
                  <a:t>-</a:t>
                </a:r>
                <a:endParaRPr kumimoji="1" lang="en-US" altLang="zh-CN" sz="24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5575" name="Line 39"/>
              <p:cNvSpPr>
                <a:spLocks noChangeShapeType="1"/>
              </p:cNvSpPr>
              <p:nvPr/>
            </p:nvSpPr>
            <p:spPr bwMode="auto">
              <a:xfrm>
                <a:off x="768" y="1248"/>
                <a:ext cx="24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5576" name="Line 40"/>
              <p:cNvSpPr>
                <a:spLocks noChangeShapeType="1"/>
              </p:cNvSpPr>
              <p:nvPr/>
            </p:nvSpPr>
            <p:spPr bwMode="auto">
              <a:xfrm>
                <a:off x="768" y="1344"/>
                <a:ext cx="24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65604" name="Group 68"/>
          <p:cNvGrpSpPr>
            <a:grpSpLocks/>
          </p:cNvGrpSpPr>
          <p:nvPr/>
        </p:nvGrpSpPr>
        <p:grpSpPr bwMode="auto">
          <a:xfrm>
            <a:off x="8915400" y="995364"/>
            <a:ext cx="1752600" cy="5106987"/>
            <a:chOff x="4656" y="627"/>
            <a:chExt cx="1104" cy="3217"/>
          </a:xfrm>
        </p:grpSpPr>
        <p:graphicFrame>
          <p:nvGraphicFramePr>
            <p:cNvPr id="65579" name="Object 43"/>
            <p:cNvGraphicFramePr>
              <a:graphicFrameLocks noChangeAspect="1"/>
            </p:cNvGraphicFramePr>
            <p:nvPr/>
          </p:nvGraphicFramePr>
          <p:xfrm>
            <a:off x="5559" y="3228"/>
            <a:ext cx="201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1" imgW="164880" imgH="203040" progId="Equation.3">
                    <p:embed/>
                  </p:oleObj>
                </mc:Choice>
                <mc:Fallback>
                  <p:oleObj name="公式" r:id="rId11" imgW="164880" imgH="203040" progId="Equation.3">
                    <p:embed/>
                    <p:pic>
                      <p:nvPicPr>
                        <p:cNvPr id="65579" name="Object 43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559" y="3228"/>
                          <a:ext cx="201" cy="2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5580" name="Object 44"/>
            <p:cNvGraphicFramePr>
              <a:graphicFrameLocks noChangeAspect="1"/>
            </p:cNvGraphicFramePr>
            <p:nvPr/>
          </p:nvGraphicFramePr>
          <p:xfrm>
            <a:off x="4743" y="2748"/>
            <a:ext cx="166" cy="2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3" imgW="126720" imgH="190440" progId="Equation.3">
                    <p:embed/>
                  </p:oleObj>
                </mc:Choice>
                <mc:Fallback>
                  <p:oleObj name="公式" r:id="rId13" imgW="126720" imgH="190440" progId="Equation.3">
                    <p:embed/>
                    <p:pic>
                      <p:nvPicPr>
                        <p:cNvPr id="65580" name="Object 44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43" y="2748"/>
                          <a:ext cx="166" cy="2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5581" name="Line 45"/>
            <p:cNvSpPr>
              <a:spLocks noChangeShapeType="1"/>
            </p:cNvSpPr>
            <p:nvPr/>
          </p:nvSpPr>
          <p:spPr bwMode="auto">
            <a:xfrm>
              <a:off x="4935" y="3439"/>
              <a:ext cx="568" cy="0"/>
            </a:xfrm>
            <a:prstGeom prst="line">
              <a:avLst/>
            </a:prstGeom>
            <a:noFill/>
            <a:ln w="25400">
              <a:solidFill>
                <a:srgbClr val="6600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5582" name="Line 46"/>
            <p:cNvSpPr>
              <a:spLocks noChangeShapeType="1"/>
            </p:cNvSpPr>
            <p:nvPr/>
          </p:nvSpPr>
          <p:spPr bwMode="auto">
            <a:xfrm flipV="1">
              <a:off x="4935" y="2775"/>
              <a:ext cx="0" cy="664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5583" name="Text Box 47"/>
            <p:cNvSpPr txBox="1">
              <a:spLocks noChangeArrowheads="1"/>
            </p:cNvSpPr>
            <p:nvPr/>
          </p:nvSpPr>
          <p:spPr bwMode="auto">
            <a:xfrm>
              <a:off x="4877" y="3556"/>
              <a:ext cx="69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 type="none" w="sm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zh-CN" altLang="en-US" sz="2400" b="1">
                  <a:latin typeface="Times New Roman" panose="02020603050405020304" pitchFamily="18" charset="0"/>
                </a:rPr>
                <a:t>相量图</a:t>
              </a:r>
            </a:p>
          </p:txBody>
        </p:sp>
        <p:grpSp>
          <p:nvGrpSpPr>
            <p:cNvPr id="65584" name="Group 48"/>
            <p:cNvGrpSpPr>
              <a:grpSpLocks/>
            </p:cNvGrpSpPr>
            <p:nvPr/>
          </p:nvGrpSpPr>
          <p:grpSpPr bwMode="auto">
            <a:xfrm>
              <a:off x="4656" y="627"/>
              <a:ext cx="944" cy="1469"/>
              <a:chOff x="4656" y="627"/>
              <a:chExt cx="944" cy="1469"/>
            </a:xfrm>
          </p:grpSpPr>
          <p:sp>
            <p:nvSpPr>
              <p:cNvPr id="65585" name="Text Box 49"/>
              <p:cNvSpPr txBox="1">
                <a:spLocks noChangeArrowheads="1"/>
              </p:cNvSpPr>
              <p:nvPr/>
            </p:nvSpPr>
            <p:spPr bwMode="auto">
              <a:xfrm>
                <a:off x="4712" y="1808"/>
                <a:ext cx="88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 algn="l">
                  <a:spcBef>
                    <a:spcPct val="0"/>
                  </a:spcBef>
                </a:pPr>
                <a:r>
                  <a:rPr kumimoji="1" lang="zh-CN" altLang="en-US" sz="2400" b="1">
                    <a:latin typeface="Times New Roman" panose="02020603050405020304" pitchFamily="18" charset="0"/>
                  </a:rPr>
                  <a:t>相量模型</a:t>
                </a:r>
              </a:p>
            </p:txBody>
          </p:sp>
          <p:graphicFrame>
            <p:nvGraphicFramePr>
              <p:cNvPr id="65586" name="Object 50"/>
              <p:cNvGraphicFramePr>
                <a:graphicFrameLocks noChangeAspect="1"/>
              </p:cNvGraphicFramePr>
              <p:nvPr/>
            </p:nvGraphicFramePr>
            <p:xfrm>
              <a:off x="4886" y="627"/>
              <a:ext cx="148" cy="22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15" imgW="126720" imgH="190440" progId="Equation.3">
                      <p:embed/>
                    </p:oleObj>
                  </mc:Choice>
                  <mc:Fallback>
                    <p:oleObj name="公式" r:id="rId15" imgW="126720" imgH="190440" progId="Equation.3">
                      <p:embed/>
                      <p:pic>
                        <p:nvPicPr>
                          <p:cNvPr id="65586" name="Object 5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886" y="627"/>
                            <a:ext cx="148" cy="22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65587" name="Object 51"/>
              <p:cNvGraphicFramePr>
                <a:graphicFrameLocks noChangeAspect="1"/>
              </p:cNvGraphicFramePr>
              <p:nvPr/>
            </p:nvGraphicFramePr>
            <p:xfrm>
              <a:off x="4656" y="1230"/>
              <a:ext cx="192" cy="23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17" imgW="164880" imgH="203040" progId="Equation.3">
                      <p:embed/>
                    </p:oleObj>
                  </mc:Choice>
                  <mc:Fallback>
                    <p:oleObj name="公式" r:id="rId17" imgW="164880" imgH="203040" progId="Equation.3">
                      <p:embed/>
                      <p:pic>
                        <p:nvPicPr>
                          <p:cNvPr id="65587" name="Object 5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656" y="1230"/>
                            <a:ext cx="192" cy="23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65588" name="Freeform 52"/>
              <p:cNvSpPr>
                <a:spLocks/>
              </p:cNvSpPr>
              <p:nvPr/>
            </p:nvSpPr>
            <p:spPr bwMode="auto">
              <a:xfrm>
                <a:off x="5482" y="952"/>
                <a:ext cx="1" cy="306"/>
              </a:xfrm>
              <a:custGeom>
                <a:avLst/>
                <a:gdLst>
                  <a:gd name="T0" fmla="*/ 1 w 1"/>
                  <a:gd name="T1" fmla="*/ 306 h 306"/>
                  <a:gd name="T2" fmla="*/ 0 w 1"/>
                  <a:gd name="T3" fmla="*/ 0 h 3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306">
                    <a:moveTo>
                      <a:pt x="1" y="306"/>
                    </a:moveTo>
                    <a:lnTo>
                      <a:pt x="0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5589" name="Freeform 53"/>
              <p:cNvSpPr>
                <a:spLocks/>
              </p:cNvSpPr>
              <p:nvPr/>
            </p:nvSpPr>
            <p:spPr bwMode="auto">
              <a:xfrm>
                <a:off x="5476" y="1366"/>
                <a:ext cx="1" cy="312"/>
              </a:xfrm>
              <a:custGeom>
                <a:avLst/>
                <a:gdLst>
                  <a:gd name="T0" fmla="*/ 1 w 1"/>
                  <a:gd name="T1" fmla="*/ 0 h 312"/>
                  <a:gd name="T2" fmla="*/ 0 w 1"/>
                  <a:gd name="T3" fmla="*/ 312 h 3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312">
                    <a:moveTo>
                      <a:pt x="1" y="0"/>
                    </a:moveTo>
                    <a:lnTo>
                      <a:pt x="0" y="312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5590" name="Line 54"/>
              <p:cNvSpPr>
                <a:spLocks noChangeShapeType="1"/>
              </p:cNvSpPr>
              <p:nvPr/>
            </p:nvSpPr>
            <p:spPr bwMode="auto">
              <a:xfrm>
                <a:off x="4798" y="880"/>
                <a:ext cx="288" cy="0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 type="stealth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5591" name="Oval 55"/>
              <p:cNvSpPr>
                <a:spLocks noChangeArrowheads="1"/>
              </p:cNvSpPr>
              <p:nvPr/>
            </p:nvSpPr>
            <p:spPr bwMode="auto">
              <a:xfrm>
                <a:off x="4764" y="1508"/>
                <a:ext cx="164" cy="327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5592" name="Oval 56"/>
              <p:cNvSpPr>
                <a:spLocks noChangeArrowheads="1"/>
              </p:cNvSpPr>
              <p:nvPr/>
            </p:nvSpPr>
            <p:spPr bwMode="auto">
              <a:xfrm>
                <a:off x="4764" y="788"/>
                <a:ext cx="164" cy="327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5593" name="Text Box 57"/>
              <p:cNvSpPr txBox="1">
                <a:spLocks noChangeArrowheads="1"/>
              </p:cNvSpPr>
              <p:nvPr/>
            </p:nvSpPr>
            <p:spPr bwMode="auto">
              <a:xfrm>
                <a:off x="4683" y="928"/>
                <a:ext cx="225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kumimoji="1" lang="en-US" altLang="zh-CN" sz="2400" b="1">
                    <a:latin typeface="Times New Roman" panose="02020603050405020304" pitchFamily="18" charset="0"/>
                  </a:rPr>
                  <a:t>+</a:t>
                </a:r>
              </a:p>
            </p:txBody>
          </p:sp>
          <p:sp>
            <p:nvSpPr>
              <p:cNvPr id="65594" name="Text Box 58"/>
              <p:cNvSpPr txBox="1">
                <a:spLocks noChangeArrowheads="1"/>
              </p:cNvSpPr>
              <p:nvPr/>
            </p:nvSpPr>
            <p:spPr bwMode="auto">
              <a:xfrm>
                <a:off x="4680" y="1440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/>
                <a:r>
                  <a:rPr kumimoji="1" lang="en-US" altLang="zh-CN" sz="2400" b="1">
                    <a:latin typeface="黑体" panose="02010609060101010101" pitchFamily="49" charset="-122"/>
                    <a:ea typeface="黑体" panose="02010609060101010101" pitchFamily="49" charset="-122"/>
                  </a:rPr>
                  <a:t>-</a:t>
                </a:r>
                <a:endParaRPr kumimoji="1" lang="en-US" altLang="zh-CN" sz="24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5595" name="Line 59"/>
              <p:cNvSpPr>
                <a:spLocks noChangeShapeType="1"/>
              </p:cNvSpPr>
              <p:nvPr/>
            </p:nvSpPr>
            <p:spPr bwMode="auto">
              <a:xfrm>
                <a:off x="5357" y="1264"/>
                <a:ext cx="24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5596" name="Line 60"/>
              <p:cNvSpPr>
                <a:spLocks noChangeShapeType="1"/>
              </p:cNvSpPr>
              <p:nvPr/>
            </p:nvSpPr>
            <p:spPr bwMode="auto">
              <a:xfrm>
                <a:off x="5357" y="1360"/>
                <a:ext cx="24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graphicFrame>
            <p:nvGraphicFramePr>
              <p:cNvPr id="65597" name="Object 61"/>
              <p:cNvGraphicFramePr>
                <a:graphicFrameLocks noChangeAspect="1"/>
              </p:cNvGraphicFramePr>
              <p:nvPr/>
            </p:nvGraphicFramePr>
            <p:xfrm>
              <a:off x="4861" y="1031"/>
              <a:ext cx="449" cy="54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18" imgW="355320" imgH="431640" progId="Equation.3">
                      <p:embed/>
                    </p:oleObj>
                  </mc:Choice>
                  <mc:Fallback>
                    <p:oleObj name="公式" r:id="rId18" imgW="355320" imgH="431640" progId="Equation.3">
                      <p:embed/>
                      <p:pic>
                        <p:nvPicPr>
                          <p:cNvPr id="65597" name="Object 6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861" y="1031"/>
                            <a:ext cx="449" cy="54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65598" name="Line 62"/>
              <p:cNvSpPr>
                <a:spLocks noChangeShapeType="1"/>
              </p:cNvSpPr>
              <p:nvPr/>
            </p:nvSpPr>
            <p:spPr bwMode="auto">
              <a:xfrm>
                <a:off x="4814" y="1680"/>
                <a:ext cx="67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non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5599" name="Line 63"/>
              <p:cNvSpPr>
                <a:spLocks noChangeShapeType="1"/>
              </p:cNvSpPr>
              <p:nvPr/>
            </p:nvSpPr>
            <p:spPr bwMode="auto">
              <a:xfrm>
                <a:off x="4814" y="960"/>
                <a:ext cx="67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non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65602" name="Freeform 66"/>
            <p:cNvSpPr>
              <a:spLocks/>
            </p:cNvSpPr>
            <p:nvPr/>
          </p:nvSpPr>
          <p:spPr bwMode="auto">
            <a:xfrm>
              <a:off x="4939" y="3339"/>
              <a:ext cx="91" cy="233"/>
            </a:xfrm>
            <a:custGeom>
              <a:avLst/>
              <a:gdLst>
                <a:gd name="T0" fmla="*/ 0 w 136"/>
                <a:gd name="T1" fmla="*/ 0 h 114"/>
                <a:gd name="T2" fmla="*/ 136 w 136"/>
                <a:gd name="T3" fmla="*/ 0 h 114"/>
                <a:gd name="T4" fmla="*/ 136 w 136"/>
                <a:gd name="T5" fmla="*/ 114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36" h="114">
                  <a:moveTo>
                    <a:pt x="0" y="0"/>
                  </a:moveTo>
                  <a:lnTo>
                    <a:pt x="136" y="0"/>
                  </a:lnTo>
                  <a:lnTo>
                    <a:pt x="136" y="114"/>
                  </a:ln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90385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5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5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65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788386" y="252556"/>
            <a:ext cx="418954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charset="-122"/>
              </a:rPr>
              <a:t>正弦稳态电路的功率分析</a:t>
            </a:r>
            <a:endParaRPr lang="zh-CN" altLang="en-US" sz="2800" dirty="0"/>
          </a:p>
        </p:txBody>
      </p:sp>
      <p:grpSp>
        <p:nvGrpSpPr>
          <p:cNvPr id="21" name="组合 20"/>
          <p:cNvGrpSpPr/>
          <p:nvPr/>
        </p:nvGrpSpPr>
        <p:grpSpPr>
          <a:xfrm>
            <a:off x="1872558" y="819543"/>
            <a:ext cx="6511046" cy="461665"/>
            <a:chOff x="310684" y="1696072"/>
            <a:chExt cx="6511046" cy="461665"/>
          </a:xfrm>
        </p:grpSpPr>
        <p:sp>
          <p:nvSpPr>
            <p:cNvPr id="5" name="文本框 4"/>
            <p:cNvSpPr txBox="1"/>
            <p:nvPr/>
          </p:nvSpPr>
          <p:spPr>
            <a:xfrm>
              <a:off x="310684" y="1696072"/>
              <a:ext cx="6511046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42900" indent="-342900">
                <a:buFont typeface="Wingdings" panose="05000000000000000000" pitchFamily="2" charset="2"/>
                <a:buChar char="Ø"/>
              </a:pPr>
              <a:r>
                <a:rPr kumimoji="1" lang="zh-CN" altLang="en-US" sz="2400" b="1" dirty="0">
                  <a:latin typeface="Times New Roman" panose="02020603050405020304" pitchFamily="18" charset="0"/>
                  <a:ea typeface="楷体" panose="02010609060101010101" charset="-122"/>
                </a:rPr>
                <a:t>有功功率：                                单位：</a:t>
              </a:r>
              <a:r>
                <a:rPr kumimoji="1" lang="en-US" altLang="zh-CN" sz="2400" b="1" dirty="0">
                  <a:latin typeface="Times New Roman" panose="02020603050405020304" pitchFamily="18" charset="0"/>
                  <a:ea typeface="楷体" panose="02010609060101010101" charset="-122"/>
                </a:rPr>
                <a:t>[W]</a:t>
              </a:r>
              <a:endParaRPr lang="zh-CN" altLang="en-US" sz="2400" dirty="0"/>
            </a:p>
          </p:txBody>
        </p:sp>
        <p:graphicFrame>
          <p:nvGraphicFramePr>
            <p:cNvPr id="7" name="对象 6"/>
            <p:cNvGraphicFramePr>
              <a:graphicFrameLocks noChangeAspect="1"/>
            </p:cNvGraphicFramePr>
            <p:nvPr/>
          </p:nvGraphicFramePr>
          <p:xfrm>
            <a:off x="2280547" y="1765429"/>
            <a:ext cx="16510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39624000" imgH="8534400" progId="Equation.DSMT4">
                    <p:embed/>
                  </p:oleObj>
                </mc:Choice>
                <mc:Fallback>
                  <p:oleObj name="Equation" r:id="rId3" imgW="39624000" imgH="8534400" progId="Equation.DSMT4">
                    <p:embed/>
                    <p:pic>
                      <p:nvPicPr>
                        <p:cNvPr id="7" name="对象 6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280547" y="1765429"/>
                          <a:ext cx="1651000" cy="355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2" name="组合 21"/>
          <p:cNvGrpSpPr/>
          <p:nvPr/>
        </p:nvGrpSpPr>
        <p:grpSpPr>
          <a:xfrm>
            <a:off x="1872559" y="1396583"/>
            <a:ext cx="8392251" cy="461665"/>
            <a:chOff x="315880" y="2341573"/>
            <a:chExt cx="8392251" cy="461665"/>
          </a:xfrm>
        </p:grpSpPr>
        <p:sp>
          <p:nvSpPr>
            <p:cNvPr id="11" name="文本框 10"/>
            <p:cNvSpPr txBox="1"/>
            <p:nvPr/>
          </p:nvSpPr>
          <p:spPr>
            <a:xfrm>
              <a:off x="315880" y="2341573"/>
              <a:ext cx="8392251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42900" indent="-342900">
                <a:buFont typeface="Wingdings" panose="05000000000000000000" pitchFamily="2" charset="2"/>
                <a:buChar char="Ø"/>
              </a:pPr>
              <a:r>
                <a:rPr kumimoji="1" lang="zh-CN" altLang="en-US" sz="2400" b="1" dirty="0">
                  <a:latin typeface="Times New Roman" panose="02020603050405020304" pitchFamily="18" charset="0"/>
                  <a:ea typeface="楷体" panose="02010609060101010101" charset="-122"/>
                </a:rPr>
                <a:t>无功功率：                                单位：</a:t>
              </a:r>
              <a:r>
                <a:rPr kumimoji="1" lang="en-US" altLang="zh-CN" sz="2400" b="1" dirty="0">
                  <a:latin typeface="Times New Roman" panose="02020603050405020304" pitchFamily="18" charset="0"/>
                  <a:ea typeface="楷体" panose="02010609060101010101" charset="-122"/>
                </a:rPr>
                <a:t>[var]</a:t>
              </a:r>
              <a:endParaRPr lang="zh-CN" altLang="en-US" sz="2400" dirty="0"/>
            </a:p>
          </p:txBody>
        </p:sp>
        <p:graphicFrame>
          <p:nvGraphicFramePr>
            <p:cNvPr id="12" name="对象 11"/>
            <p:cNvGraphicFramePr>
              <a:graphicFrameLocks noChangeAspect="1"/>
            </p:cNvGraphicFramePr>
            <p:nvPr/>
          </p:nvGraphicFramePr>
          <p:xfrm>
            <a:off x="2285743" y="2405232"/>
            <a:ext cx="1625600" cy="368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39014400" imgH="8839200" progId="Equation.DSMT4">
                    <p:embed/>
                  </p:oleObj>
                </mc:Choice>
                <mc:Fallback>
                  <p:oleObj name="Equation" r:id="rId5" imgW="39014400" imgH="8839200" progId="Equation.DSMT4">
                    <p:embed/>
                    <p:pic>
                      <p:nvPicPr>
                        <p:cNvPr id="12" name="对象 11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285743" y="2405232"/>
                          <a:ext cx="1625600" cy="3683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3" name="组合 22"/>
          <p:cNvGrpSpPr/>
          <p:nvPr/>
        </p:nvGrpSpPr>
        <p:grpSpPr>
          <a:xfrm>
            <a:off x="1872559" y="1974012"/>
            <a:ext cx="7429155" cy="461665"/>
            <a:chOff x="310684" y="2850541"/>
            <a:chExt cx="7429155" cy="461665"/>
          </a:xfrm>
        </p:grpSpPr>
        <p:sp>
          <p:nvSpPr>
            <p:cNvPr id="15" name="文本框 14"/>
            <p:cNvSpPr txBox="1"/>
            <p:nvPr/>
          </p:nvSpPr>
          <p:spPr>
            <a:xfrm>
              <a:off x="310684" y="2850541"/>
              <a:ext cx="7429155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42900" indent="-342900">
                <a:buFont typeface="Wingdings" panose="05000000000000000000" pitchFamily="2" charset="2"/>
                <a:buChar char="Ø"/>
              </a:pPr>
              <a:r>
                <a:rPr kumimoji="1" lang="zh-CN" altLang="en-US" sz="2400" b="1" dirty="0">
                  <a:latin typeface="Times New Roman" panose="02020603050405020304" pitchFamily="18" charset="0"/>
                  <a:ea typeface="楷体" panose="02010609060101010101" charset="-122"/>
                </a:rPr>
                <a:t>视在功率：                                单位：</a:t>
              </a:r>
              <a:r>
                <a:rPr kumimoji="1" lang="en-US" altLang="zh-CN" sz="2400" b="1" dirty="0">
                  <a:latin typeface="Times New Roman" panose="02020603050405020304" pitchFamily="18" charset="0"/>
                  <a:ea typeface="楷体" panose="02010609060101010101" charset="-122"/>
                </a:rPr>
                <a:t>[V·A]</a:t>
              </a:r>
              <a:endParaRPr lang="zh-CN" altLang="en-US" sz="2400" dirty="0"/>
            </a:p>
          </p:txBody>
        </p:sp>
        <p:graphicFrame>
          <p:nvGraphicFramePr>
            <p:cNvPr id="18" name="对象 17"/>
            <p:cNvGraphicFramePr>
              <a:graphicFrameLocks noChangeAspect="1"/>
            </p:cNvGraphicFramePr>
            <p:nvPr/>
          </p:nvGraphicFramePr>
          <p:xfrm>
            <a:off x="2280547" y="2929499"/>
            <a:ext cx="914400" cy="292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21945600" imgH="7010400" progId="Equation.DSMT4">
                    <p:embed/>
                  </p:oleObj>
                </mc:Choice>
                <mc:Fallback>
                  <p:oleObj name="Equation" r:id="rId7" imgW="21945600" imgH="7010400" progId="Equation.DSMT4">
                    <p:embed/>
                    <p:pic>
                      <p:nvPicPr>
                        <p:cNvPr id="18" name="对象 17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2280547" y="2929499"/>
                          <a:ext cx="914400" cy="2921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4" name="组合 23"/>
          <p:cNvGrpSpPr/>
          <p:nvPr/>
        </p:nvGrpSpPr>
        <p:grpSpPr>
          <a:xfrm>
            <a:off x="1872558" y="2546818"/>
            <a:ext cx="7429155" cy="461665"/>
            <a:chOff x="310684" y="2850541"/>
            <a:chExt cx="7429155" cy="461665"/>
          </a:xfrm>
        </p:grpSpPr>
        <p:sp>
          <p:nvSpPr>
            <p:cNvPr id="25" name="文本框 24"/>
            <p:cNvSpPr txBox="1"/>
            <p:nvPr/>
          </p:nvSpPr>
          <p:spPr>
            <a:xfrm>
              <a:off x="310684" y="2850541"/>
              <a:ext cx="7429155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42900" indent="-342900">
                <a:buFont typeface="Wingdings" panose="05000000000000000000" pitchFamily="2" charset="2"/>
                <a:buChar char="Ø"/>
              </a:pPr>
              <a:r>
                <a:rPr kumimoji="1" lang="zh-CN" altLang="en-US" sz="2400" b="1" dirty="0">
                  <a:latin typeface="Times New Roman" panose="02020603050405020304" pitchFamily="18" charset="0"/>
                  <a:ea typeface="楷体" panose="02010609060101010101" charset="-122"/>
                </a:rPr>
                <a:t>复功率：                                    单位：</a:t>
              </a:r>
              <a:r>
                <a:rPr kumimoji="1" lang="en-US" altLang="zh-CN" sz="2400" b="1" dirty="0">
                  <a:latin typeface="Times New Roman" panose="02020603050405020304" pitchFamily="18" charset="0"/>
                  <a:ea typeface="楷体" panose="02010609060101010101" charset="-122"/>
                </a:rPr>
                <a:t>[V·A]</a:t>
              </a:r>
              <a:endParaRPr lang="zh-CN" altLang="en-US" sz="2400" dirty="0"/>
            </a:p>
          </p:txBody>
        </p:sp>
        <p:graphicFrame>
          <p:nvGraphicFramePr>
            <p:cNvPr id="26" name="对象 25"/>
            <p:cNvGraphicFramePr>
              <a:graphicFrameLocks noChangeAspect="1"/>
            </p:cNvGraphicFramePr>
            <p:nvPr/>
          </p:nvGraphicFramePr>
          <p:xfrm>
            <a:off x="2280548" y="2850541"/>
            <a:ext cx="2209800" cy="431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53035200" imgH="10363200" progId="Equation.DSMT4">
                    <p:embed/>
                  </p:oleObj>
                </mc:Choice>
                <mc:Fallback>
                  <p:oleObj name="Equation" r:id="rId9" imgW="53035200" imgH="10363200" progId="Equation.DSMT4">
                    <p:embed/>
                    <p:pic>
                      <p:nvPicPr>
                        <p:cNvPr id="26" name="对象 25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2280548" y="2850541"/>
                          <a:ext cx="2209800" cy="4318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8" name="文本框 27"/>
          <p:cNvSpPr txBox="1"/>
          <p:nvPr/>
        </p:nvSpPr>
        <p:spPr>
          <a:xfrm>
            <a:off x="8096795" y="880792"/>
            <a:ext cx="79821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守恒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8113929" y="1460242"/>
            <a:ext cx="79821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守恒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8113928" y="2546818"/>
            <a:ext cx="79821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守恒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8076824" y="2016284"/>
            <a:ext cx="113506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不守恒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33" name="Text Box 2"/>
          <p:cNvSpPr txBox="1">
            <a:spLocks noChangeArrowheads="1"/>
          </p:cNvSpPr>
          <p:nvPr/>
        </p:nvSpPr>
        <p:spPr bwMode="auto">
          <a:xfrm>
            <a:off x="1670960" y="3487557"/>
            <a:ext cx="425984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>
              <a:spcBef>
                <a:spcPct val="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ea typeface="楷体" panose="02010609060101010101" charset="-122"/>
              </a:rPr>
              <a:t>功率因数提高：并联电容</a:t>
            </a:r>
          </a:p>
        </p:txBody>
      </p:sp>
      <p:grpSp>
        <p:nvGrpSpPr>
          <p:cNvPr id="34" name="Group 88"/>
          <p:cNvGrpSpPr/>
          <p:nvPr/>
        </p:nvGrpSpPr>
        <p:grpSpPr bwMode="auto">
          <a:xfrm>
            <a:off x="8052415" y="3174308"/>
            <a:ext cx="2584450" cy="2360612"/>
            <a:chOff x="3152" y="865"/>
            <a:chExt cx="1628" cy="1487"/>
          </a:xfrm>
        </p:grpSpPr>
        <p:grpSp>
          <p:nvGrpSpPr>
            <p:cNvPr id="35" name="Group 71"/>
            <p:cNvGrpSpPr/>
            <p:nvPr/>
          </p:nvGrpSpPr>
          <p:grpSpPr bwMode="auto">
            <a:xfrm>
              <a:off x="3960" y="1501"/>
              <a:ext cx="235" cy="567"/>
              <a:chOff x="3970" y="1512"/>
              <a:chExt cx="235" cy="567"/>
            </a:xfrm>
          </p:grpSpPr>
          <p:sp>
            <p:nvSpPr>
              <p:cNvPr id="50" name="Line 72"/>
              <p:cNvSpPr>
                <a:spLocks noChangeShapeType="1"/>
              </p:cNvSpPr>
              <p:nvPr/>
            </p:nvSpPr>
            <p:spPr bwMode="auto">
              <a:xfrm flipV="1">
                <a:off x="4205" y="1536"/>
                <a:ext cx="0" cy="543"/>
              </a:xfrm>
              <a:prstGeom prst="line">
                <a:avLst/>
              </a:prstGeom>
              <a:noFill/>
              <a:ln w="28575">
                <a:solidFill>
                  <a:srgbClr val="FF66FF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graphicFrame>
            <p:nvGraphicFramePr>
              <p:cNvPr id="51" name="Object 73"/>
              <p:cNvGraphicFramePr>
                <a:graphicFrameLocks noChangeAspect="1"/>
              </p:cNvGraphicFramePr>
              <p:nvPr/>
            </p:nvGraphicFramePr>
            <p:xfrm>
              <a:off x="3970" y="1512"/>
              <a:ext cx="208" cy="40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1" imgW="4267200" imgH="5791200" progId="Equation.DSMT4">
                      <p:embed/>
                    </p:oleObj>
                  </mc:Choice>
                  <mc:Fallback>
                    <p:oleObj name="Equation" r:id="rId11" imgW="4267200" imgH="5791200" progId="Equation.DSMT4">
                      <p:embed/>
                      <p:pic>
                        <p:nvPicPr>
                          <p:cNvPr id="51" name="Object 7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970" y="1512"/>
                            <a:ext cx="208" cy="40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2857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36" name="Group 74"/>
            <p:cNvGrpSpPr/>
            <p:nvPr/>
          </p:nvGrpSpPr>
          <p:grpSpPr bwMode="auto">
            <a:xfrm>
              <a:off x="3152" y="865"/>
              <a:ext cx="1628" cy="351"/>
              <a:chOff x="3152" y="865"/>
              <a:chExt cx="1628" cy="351"/>
            </a:xfrm>
          </p:grpSpPr>
          <p:sp>
            <p:nvSpPr>
              <p:cNvPr id="48" name="Line 75"/>
              <p:cNvSpPr>
                <a:spLocks noChangeShapeType="1"/>
              </p:cNvSpPr>
              <p:nvPr/>
            </p:nvSpPr>
            <p:spPr bwMode="auto">
              <a:xfrm>
                <a:off x="3152" y="1060"/>
                <a:ext cx="131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graphicFrame>
            <p:nvGraphicFramePr>
              <p:cNvPr id="49" name="Object 76"/>
              <p:cNvGraphicFramePr>
                <a:graphicFrameLocks noChangeAspect="1"/>
              </p:cNvGraphicFramePr>
              <p:nvPr/>
            </p:nvGraphicFramePr>
            <p:xfrm>
              <a:off x="4520" y="865"/>
              <a:ext cx="260" cy="35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3" imgW="5181600" imgH="4876800" progId="Equation.DSMT4">
                      <p:embed/>
                    </p:oleObj>
                  </mc:Choice>
                  <mc:Fallback>
                    <p:oleObj name="Equation" r:id="rId13" imgW="5181600" imgH="4876800" progId="Equation.DSMT4">
                      <p:embed/>
                      <p:pic>
                        <p:nvPicPr>
                          <p:cNvPr id="49" name="Object 7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520" y="865"/>
                            <a:ext cx="260" cy="35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2857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37" name="Group 77"/>
            <p:cNvGrpSpPr/>
            <p:nvPr/>
          </p:nvGrpSpPr>
          <p:grpSpPr bwMode="auto">
            <a:xfrm>
              <a:off x="3152" y="1005"/>
              <a:ext cx="1053" cy="1347"/>
              <a:chOff x="3152" y="1005"/>
              <a:chExt cx="1053" cy="1347"/>
            </a:xfrm>
          </p:grpSpPr>
          <p:sp>
            <p:nvSpPr>
              <p:cNvPr id="44" name="Line 78"/>
              <p:cNvSpPr>
                <a:spLocks noChangeShapeType="1"/>
              </p:cNvSpPr>
              <p:nvPr/>
            </p:nvSpPr>
            <p:spPr bwMode="auto">
              <a:xfrm>
                <a:off x="3152" y="1060"/>
                <a:ext cx="1053" cy="1019"/>
              </a:xfrm>
              <a:prstGeom prst="line">
                <a:avLst/>
              </a:prstGeom>
              <a:noFill/>
              <a:ln w="28575">
                <a:solidFill>
                  <a:srgbClr val="0070C0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graphicFrame>
            <p:nvGraphicFramePr>
              <p:cNvPr id="45" name="Object 79"/>
              <p:cNvGraphicFramePr>
                <a:graphicFrameLocks noChangeAspect="1"/>
              </p:cNvGraphicFramePr>
              <p:nvPr/>
            </p:nvGraphicFramePr>
            <p:xfrm>
              <a:off x="3938" y="1932"/>
              <a:ext cx="203" cy="42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5" imgW="3962400" imgH="5791200" progId="Equation.DSMT4">
                      <p:embed/>
                    </p:oleObj>
                  </mc:Choice>
                  <mc:Fallback>
                    <p:oleObj name="Equation" r:id="rId15" imgW="3962400" imgH="5791200" progId="Equation.DSMT4">
                      <p:embed/>
                      <p:pic>
                        <p:nvPicPr>
                          <p:cNvPr id="45" name="Object 7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938" y="1932"/>
                            <a:ext cx="203" cy="42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2857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6" name="Freeform 80"/>
              <p:cNvSpPr/>
              <p:nvPr/>
            </p:nvSpPr>
            <p:spPr bwMode="auto">
              <a:xfrm>
                <a:off x="3334" y="1075"/>
                <a:ext cx="45" cy="178"/>
              </a:xfrm>
              <a:custGeom>
                <a:avLst/>
                <a:gdLst>
                  <a:gd name="T0" fmla="*/ 0 w 45"/>
                  <a:gd name="T1" fmla="*/ 126 h 126"/>
                  <a:gd name="T2" fmla="*/ 45 w 45"/>
                  <a:gd name="T3" fmla="*/ 0 h 1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45" h="126">
                    <a:moveTo>
                      <a:pt x="0" y="126"/>
                    </a:moveTo>
                    <a:cubicBezTo>
                      <a:pt x="35" y="91"/>
                      <a:pt x="45" y="54"/>
                      <a:pt x="45" y="0"/>
                    </a:cubicBezTo>
                  </a:path>
                </a:pathLst>
              </a:custGeom>
              <a:noFill/>
              <a:ln w="28575" cap="flat" cmpd="sng">
                <a:solidFill>
                  <a:srgbClr val="66FF33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47" name="Text Box 81"/>
              <p:cNvSpPr txBox="1">
                <a:spLocks noChangeArrowheads="1"/>
              </p:cNvSpPr>
              <p:nvPr/>
            </p:nvSpPr>
            <p:spPr bwMode="auto">
              <a:xfrm>
                <a:off x="3318" y="1005"/>
                <a:ext cx="328" cy="3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kumimoji="1" lang="en-US" altLang="zh-CN" sz="2800" i="1">
                    <a:latin typeface="Symbol" panose="05050102010706020507" pitchFamily="18" charset="2"/>
                    <a:ea typeface="宋体" panose="02010600030101010101" pitchFamily="2" charset="-122"/>
                  </a:rPr>
                  <a:t>j</a:t>
                </a:r>
                <a:r>
                  <a:rPr kumimoji="1" lang="en-US" altLang="zh-CN" sz="2800" baseline="-25000">
                    <a:latin typeface="Times New Roman" panose="02020603050405020304" pitchFamily="18" charset="0"/>
                    <a:ea typeface="宋体" panose="02010600030101010101" pitchFamily="2" charset="-122"/>
                  </a:rPr>
                  <a:t>1</a:t>
                </a:r>
                <a:endParaRPr kumimoji="1" lang="en-US" altLang="zh-CN" sz="280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38" name="Group 82"/>
            <p:cNvGrpSpPr/>
            <p:nvPr/>
          </p:nvGrpSpPr>
          <p:grpSpPr bwMode="auto">
            <a:xfrm>
              <a:off x="3152" y="960"/>
              <a:ext cx="1053" cy="573"/>
              <a:chOff x="3288" y="325"/>
              <a:chExt cx="1053" cy="573"/>
            </a:xfrm>
          </p:grpSpPr>
          <p:sp>
            <p:nvSpPr>
              <p:cNvPr id="39" name="Line 83"/>
              <p:cNvSpPr>
                <a:spLocks noChangeShapeType="1"/>
              </p:cNvSpPr>
              <p:nvPr/>
            </p:nvSpPr>
            <p:spPr bwMode="auto">
              <a:xfrm>
                <a:off x="3288" y="422"/>
                <a:ext cx="1053" cy="476"/>
              </a:xfrm>
              <a:prstGeom prst="line">
                <a:avLst/>
              </a:prstGeom>
              <a:noFill/>
              <a:ln w="28575">
                <a:solidFill>
                  <a:srgbClr val="FF3300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graphicFrame>
            <p:nvGraphicFramePr>
              <p:cNvPr id="40" name="Object 84"/>
              <p:cNvGraphicFramePr>
                <a:graphicFrameLocks noChangeAspect="1"/>
              </p:cNvGraphicFramePr>
              <p:nvPr/>
            </p:nvGraphicFramePr>
            <p:xfrm>
              <a:off x="4105" y="518"/>
              <a:ext cx="136" cy="29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7" imgW="3048000" imgH="4572000" progId="Equation.DSMT4">
                      <p:embed/>
                    </p:oleObj>
                  </mc:Choice>
                  <mc:Fallback>
                    <p:oleObj name="Equation" r:id="rId17" imgW="3048000" imgH="4572000" progId="Equation.DSMT4">
                      <p:embed/>
                      <p:pic>
                        <p:nvPicPr>
                          <p:cNvPr id="40" name="Object 8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8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105" y="518"/>
                            <a:ext cx="136" cy="29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2857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1" name="Freeform 85"/>
              <p:cNvSpPr/>
              <p:nvPr/>
            </p:nvSpPr>
            <p:spPr bwMode="auto">
              <a:xfrm>
                <a:off x="3754" y="422"/>
                <a:ext cx="34" cy="208"/>
              </a:xfrm>
              <a:custGeom>
                <a:avLst/>
                <a:gdLst>
                  <a:gd name="T0" fmla="*/ 18 w 34"/>
                  <a:gd name="T1" fmla="*/ 3 h 147"/>
                  <a:gd name="T2" fmla="*/ 33 w 34"/>
                  <a:gd name="T3" fmla="*/ 81 h 147"/>
                  <a:gd name="T4" fmla="*/ 0 w 34"/>
                  <a:gd name="T5" fmla="*/ 147 h 1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4" h="147">
                    <a:moveTo>
                      <a:pt x="18" y="3"/>
                    </a:moveTo>
                    <a:cubicBezTo>
                      <a:pt x="24" y="0"/>
                      <a:pt x="34" y="57"/>
                      <a:pt x="33" y="81"/>
                    </a:cubicBezTo>
                    <a:cubicBezTo>
                      <a:pt x="30" y="105"/>
                      <a:pt x="7" y="133"/>
                      <a:pt x="0" y="147"/>
                    </a:cubicBezTo>
                  </a:path>
                </a:pathLst>
              </a:custGeom>
              <a:noFill/>
              <a:ln w="28575" cap="flat" cmpd="sng">
                <a:solidFill>
                  <a:srgbClr val="66FF33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42" name="Freeform 86"/>
              <p:cNvSpPr/>
              <p:nvPr/>
            </p:nvSpPr>
            <p:spPr bwMode="auto">
              <a:xfrm>
                <a:off x="3787" y="418"/>
                <a:ext cx="33" cy="229"/>
              </a:xfrm>
              <a:custGeom>
                <a:avLst/>
                <a:gdLst>
                  <a:gd name="T0" fmla="*/ 18 w 33"/>
                  <a:gd name="T1" fmla="*/ 0 h 162"/>
                  <a:gd name="T2" fmla="*/ 30 w 33"/>
                  <a:gd name="T3" fmla="*/ 84 h 162"/>
                  <a:gd name="T4" fmla="*/ 0 w 33"/>
                  <a:gd name="T5" fmla="*/ 162 h 1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3" h="162">
                    <a:moveTo>
                      <a:pt x="18" y="0"/>
                    </a:moveTo>
                    <a:cubicBezTo>
                      <a:pt x="15" y="6"/>
                      <a:pt x="33" y="57"/>
                      <a:pt x="30" y="84"/>
                    </a:cubicBezTo>
                    <a:cubicBezTo>
                      <a:pt x="27" y="111"/>
                      <a:pt x="6" y="146"/>
                      <a:pt x="0" y="162"/>
                    </a:cubicBezTo>
                  </a:path>
                </a:pathLst>
              </a:custGeom>
              <a:noFill/>
              <a:ln w="28575" cap="flat" cmpd="sng">
                <a:solidFill>
                  <a:srgbClr val="66FF33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43" name="Text Box 87"/>
              <p:cNvSpPr txBox="1">
                <a:spLocks noChangeArrowheads="1"/>
              </p:cNvSpPr>
              <p:nvPr/>
            </p:nvSpPr>
            <p:spPr bwMode="auto">
              <a:xfrm>
                <a:off x="3790" y="325"/>
                <a:ext cx="328" cy="3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kumimoji="1" lang="en-US" altLang="zh-CN" sz="2800" i="1">
                    <a:latin typeface="Symbol" panose="05050102010706020507" pitchFamily="18" charset="2"/>
                    <a:ea typeface="宋体" panose="02010600030101010101" pitchFamily="2" charset="-122"/>
                  </a:rPr>
                  <a:t>j</a:t>
                </a:r>
                <a:r>
                  <a:rPr kumimoji="1" lang="en-US" altLang="zh-CN" sz="2800" baseline="-25000">
                    <a:latin typeface="Times New Roman" panose="02020603050405020304" pitchFamily="18" charset="0"/>
                    <a:ea typeface="宋体" panose="02010600030101010101" pitchFamily="2" charset="-122"/>
                  </a:rPr>
                  <a:t>2</a:t>
                </a:r>
                <a:endParaRPr kumimoji="1" lang="en-US" altLang="zh-CN" sz="280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</p:grpSp>
      <p:graphicFrame>
        <p:nvGraphicFramePr>
          <p:cNvPr id="52" name="对象 51"/>
          <p:cNvGraphicFramePr>
            <a:graphicFrameLocks noChangeAspect="1"/>
          </p:cNvGraphicFramePr>
          <p:nvPr/>
        </p:nvGraphicFramePr>
        <p:xfrm>
          <a:off x="2194731" y="4727538"/>
          <a:ext cx="51435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123444000" imgH="17678400" progId="Equation.DSMT4">
                  <p:embed/>
                </p:oleObj>
              </mc:Choice>
              <mc:Fallback>
                <p:oleObj name="Equation" r:id="rId19" imgW="123444000" imgH="17678400" progId="Equation.DSMT4">
                  <p:embed/>
                  <p:pic>
                    <p:nvPicPr>
                      <p:cNvPr id="52" name="对象 51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2194731" y="4727538"/>
                        <a:ext cx="51435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" name="对象 52"/>
          <p:cNvGraphicFramePr>
            <a:graphicFrameLocks noChangeAspect="1"/>
          </p:cNvGraphicFramePr>
          <p:nvPr/>
        </p:nvGraphicFramePr>
        <p:xfrm>
          <a:off x="1837423" y="4187203"/>
          <a:ext cx="29083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69799200" imgH="9448800" progId="Equation.DSMT4">
                  <p:embed/>
                </p:oleObj>
              </mc:Choice>
              <mc:Fallback>
                <p:oleObj name="Equation" r:id="rId21" imgW="69799200" imgH="9448800" progId="Equation.DSMT4">
                  <p:embed/>
                  <p:pic>
                    <p:nvPicPr>
                      <p:cNvPr id="53" name="对象 52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1837423" y="4187203"/>
                        <a:ext cx="2908300" cy="393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" name="Text Box 2"/>
          <p:cNvSpPr txBox="1">
            <a:spLocks noChangeArrowheads="1"/>
          </p:cNvSpPr>
          <p:nvPr/>
        </p:nvSpPr>
        <p:spPr bwMode="auto">
          <a:xfrm>
            <a:off x="1874032" y="5716193"/>
            <a:ext cx="268641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>
              <a:spcBef>
                <a:spcPct val="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ea typeface="楷体" panose="02010609060101010101" charset="-122"/>
              </a:rPr>
              <a:t>最大有功功率：</a:t>
            </a:r>
          </a:p>
        </p:txBody>
      </p:sp>
      <p:sp>
        <p:nvSpPr>
          <p:cNvPr id="55" name="Text Box 43"/>
          <p:cNvSpPr txBox="1">
            <a:spLocks noChangeArrowheads="1"/>
          </p:cNvSpPr>
          <p:nvPr/>
        </p:nvSpPr>
        <p:spPr bwMode="auto">
          <a:xfrm>
            <a:off x="4464000" y="5716193"/>
            <a:ext cx="1588221" cy="52322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i="1" dirty="0">
                <a:latin typeface="Times New Roman" panose="02020603050405020304" pitchFamily="18" charset="0"/>
                <a:ea typeface="宋体" panose="02010600030101010101" pitchFamily="2" charset="-122"/>
              </a:rPr>
              <a:t>Z</a:t>
            </a:r>
            <a:r>
              <a:rPr kumimoji="1" lang="en-US" altLang="zh-CN" sz="2800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L</a:t>
            </a:r>
            <a:r>
              <a:rPr kumimoji="1"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= </a:t>
            </a:r>
            <a:r>
              <a:rPr kumimoji="1" lang="en-US" altLang="zh-CN" sz="2800" i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Z</a:t>
            </a:r>
            <a:r>
              <a:rPr kumimoji="1" lang="en-US" altLang="zh-CN" sz="2800" baseline="-250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eq</a:t>
            </a:r>
            <a:r>
              <a:rPr kumimoji="1" lang="en-US" altLang="zh-CN" sz="2800" baseline="30000" dirty="0">
                <a:latin typeface="Times New Roman" panose="02020603050405020304" pitchFamily="18" charset="0"/>
                <a:ea typeface="宋体" panose="02010600030101010101" pitchFamily="2" charset="-122"/>
              </a:rPr>
              <a:t>*</a:t>
            </a:r>
            <a:endParaRPr kumimoji="1" lang="en-US" altLang="zh-CN" sz="2800" baseline="-25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56" name="对象 55"/>
          <p:cNvGraphicFramePr>
            <a:graphicFrameLocks noChangeAspect="1"/>
          </p:cNvGraphicFramePr>
          <p:nvPr/>
        </p:nvGraphicFramePr>
        <p:xfrm>
          <a:off x="5977930" y="5541777"/>
          <a:ext cx="20828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49987200" imgH="21640800" progId="Equation.DSMT4">
                  <p:embed/>
                </p:oleObj>
              </mc:Choice>
              <mc:Fallback>
                <p:oleObj name="Equation" r:id="rId23" imgW="49987200" imgH="21640800" progId="Equation.DSMT4">
                  <p:embed/>
                  <p:pic>
                    <p:nvPicPr>
                      <p:cNvPr id="56" name="对象 55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5977930" y="5541777"/>
                        <a:ext cx="2082800" cy="901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" name="对象 56"/>
          <p:cNvGraphicFramePr/>
          <p:nvPr/>
        </p:nvGraphicFramePr>
        <p:xfrm>
          <a:off x="4947322" y="3096015"/>
          <a:ext cx="1175385" cy="3568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28346400" imgH="8839200" progId="Equation.DSMT4">
                  <p:embed/>
                </p:oleObj>
              </mc:Choice>
              <mc:Fallback>
                <p:oleObj name="Equation" r:id="rId25" imgW="28346400" imgH="8839200" progId="Equation.DSMT4">
                  <p:embed/>
                  <p:pic>
                    <p:nvPicPr>
                      <p:cNvPr id="57" name="对象 56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4947322" y="3096015"/>
                        <a:ext cx="1175385" cy="3568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5042611" y="4074420"/>
          <a:ext cx="32766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78638400" imgH="16764000" progId="Equation.DSMT4">
                  <p:embed/>
                </p:oleObj>
              </mc:Choice>
              <mc:Fallback>
                <p:oleObj name="Equation" r:id="rId27" imgW="78638400" imgH="16764000" progId="Equation.DSMT4">
                  <p:embed/>
                  <p:pic>
                    <p:nvPicPr>
                      <p:cNvPr id="8" name="对象 7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5042611" y="4074420"/>
                        <a:ext cx="3276600" cy="698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" name="文本框 57"/>
          <p:cNvSpPr txBox="1"/>
          <p:nvPr/>
        </p:nvSpPr>
        <p:spPr>
          <a:xfrm>
            <a:off x="6152708" y="3737385"/>
            <a:ext cx="176760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可现场推导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8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8" grpId="0"/>
      <p:bldP spid="29" grpId="0"/>
      <p:bldP spid="31" grpId="0"/>
      <p:bldP spid="32" grpId="0"/>
      <p:bldP spid="33" grpId="0"/>
      <p:bldP spid="54" grpId="0"/>
      <p:bldP spid="55" grpId="0"/>
      <p:bldP spid="5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947546" y="1109346"/>
            <a:ext cx="8296275" cy="463867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 Box 2"/>
          <p:cNvSpPr txBox="1">
            <a:spLocks noChangeArrowheads="1"/>
          </p:cNvSpPr>
          <p:nvPr/>
        </p:nvSpPr>
        <p:spPr bwMode="auto">
          <a:xfrm>
            <a:off x="3287713" y="404813"/>
            <a:ext cx="69850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198000" rIns="19800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/>
              <a:t>正弦电路中负载获得最大功率</a:t>
            </a:r>
            <a:r>
              <a:rPr kumimoji="1" lang="en-US" altLang="zh-CN" sz="2800" i="1">
                <a:latin typeface="Times New Roman" panose="02020603050405020304" pitchFamily="18" charset="0"/>
              </a:rPr>
              <a:t>P</a:t>
            </a:r>
            <a:r>
              <a:rPr kumimoji="1" lang="en-US" altLang="zh-CN" sz="2800" baseline="-25000">
                <a:latin typeface="Times New Roman" panose="02020603050405020304" pitchFamily="18" charset="0"/>
              </a:rPr>
              <a:t>max</a:t>
            </a:r>
            <a:r>
              <a:rPr kumimoji="1" lang="zh-CN" altLang="en-US" sz="2800"/>
              <a:t>的条件</a:t>
            </a:r>
          </a:p>
        </p:txBody>
      </p:sp>
      <p:sp>
        <p:nvSpPr>
          <p:cNvPr id="9219" name="Text Box 3"/>
          <p:cNvSpPr txBox="1">
            <a:spLocks noChangeArrowheads="1"/>
          </p:cNvSpPr>
          <p:nvPr/>
        </p:nvSpPr>
        <p:spPr bwMode="auto">
          <a:xfrm>
            <a:off x="2351088" y="2276475"/>
            <a:ext cx="50419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AutoNum type="circleNumDbPlain"/>
            </a:pPr>
            <a:r>
              <a:rPr kumimoji="1" lang="zh-CN" altLang="en-US" sz="2800" dirty="0">
                <a:latin typeface="宋体" panose="02010600030101010101" pitchFamily="2" charset="-122"/>
              </a:rPr>
              <a:t>若</a:t>
            </a:r>
            <a:r>
              <a:rPr kumimoji="1" lang="en-US" altLang="zh-CN" sz="2800" i="1" dirty="0">
                <a:latin typeface="宋体" panose="02010600030101010101" pitchFamily="2" charset="-122"/>
              </a:rPr>
              <a:t>Z</a:t>
            </a:r>
            <a:r>
              <a:rPr kumimoji="1" lang="en-US" altLang="zh-CN" sz="2800" baseline="-25000" dirty="0">
                <a:latin typeface="宋体" panose="02010600030101010101" pitchFamily="2" charset="-122"/>
              </a:rPr>
              <a:t>L</a:t>
            </a:r>
            <a:r>
              <a:rPr kumimoji="1" lang="en-US" altLang="zh-CN" sz="2800" dirty="0">
                <a:latin typeface="宋体" panose="02010600030101010101" pitchFamily="2" charset="-122"/>
              </a:rPr>
              <a:t>= </a:t>
            </a:r>
            <a:r>
              <a:rPr kumimoji="1" lang="en-US" altLang="zh-CN" sz="2800" i="1" dirty="0">
                <a:latin typeface="宋体" panose="02010600030101010101" pitchFamily="2" charset="-122"/>
              </a:rPr>
              <a:t>R</a:t>
            </a:r>
            <a:r>
              <a:rPr kumimoji="1" lang="en-US" altLang="zh-CN" sz="2800" baseline="-25000" dirty="0">
                <a:latin typeface="宋体" panose="02010600030101010101" pitchFamily="2" charset="-122"/>
              </a:rPr>
              <a:t>L</a:t>
            </a:r>
            <a:r>
              <a:rPr kumimoji="1" lang="en-US" altLang="zh-CN" sz="2800" dirty="0">
                <a:latin typeface="宋体" panose="02010600030101010101" pitchFamily="2" charset="-122"/>
              </a:rPr>
              <a:t> + </a:t>
            </a:r>
            <a:r>
              <a:rPr kumimoji="1" lang="en-US" altLang="zh-CN" sz="2800" dirty="0" err="1">
                <a:latin typeface="宋体" panose="02010600030101010101" pitchFamily="2" charset="-122"/>
              </a:rPr>
              <a:t>j</a:t>
            </a:r>
            <a:r>
              <a:rPr kumimoji="1" lang="en-US" altLang="zh-CN" sz="2800" i="1" dirty="0" err="1">
                <a:latin typeface="宋体" panose="02010600030101010101" pitchFamily="2" charset="-122"/>
              </a:rPr>
              <a:t>X</a:t>
            </a:r>
            <a:r>
              <a:rPr kumimoji="1" lang="en-US" altLang="zh-CN" sz="2800" baseline="-25000" dirty="0" err="1">
                <a:latin typeface="宋体" panose="02010600030101010101" pitchFamily="2" charset="-122"/>
              </a:rPr>
              <a:t>L</a:t>
            </a:r>
            <a:r>
              <a:rPr kumimoji="1" lang="zh-CN" altLang="en-US" sz="2800" dirty="0">
                <a:latin typeface="宋体" panose="02010600030101010101" pitchFamily="2" charset="-122"/>
              </a:rPr>
              <a:t>可任意改变 </a:t>
            </a:r>
          </a:p>
        </p:txBody>
      </p:sp>
      <p:sp>
        <p:nvSpPr>
          <p:cNvPr id="9220" name="Text Box 4"/>
          <p:cNvSpPr txBox="1">
            <a:spLocks noChangeArrowheads="1"/>
          </p:cNvSpPr>
          <p:nvPr/>
        </p:nvSpPr>
        <p:spPr bwMode="auto">
          <a:xfrm>
            <a:off x="2424114" y="2924175"/>
            <a:ext cx="428375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198000" rIns="198000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AutoNum type="alphaLcParenR"/>
            </a:pPr>
            <a:r>
              <a:rPr kumimoji="1" lang="zh-CN" altLang="zh-CN" sz="2800" b="1" dirty="0">
                <a:latin typeface="宋体" panose="02010600030101010101" pitchFamily="2" charset="-122"/>
              </a:rPr>
              <a:t>先</a:t>
            </a:r>
            <a:r>
              <a:rPr kumimoji="1" lang="zh-CN" altLang="en-US" sz="2800" b="1" dirty="0">
                <a:latin typeface="宋体" panose="02010600030101010101" pitchFamily="2" charset="-122"/>
              </a:rPr>
              <a:t>设 </a:t>
            </a:r>
            <a:r>
              <a:rPr kumimoji="1" lang="en-US" altLang="zh-CN" sz="2800" b="1" i="1" dirty="0">
                <a:latin typeface="宋体" panose="02010600030101010101" pitchFamily="2" charset="-122"/>
              </a:rPr>
              <a:t>R</a:t>
            </a:r>
            <a:r>
              <a:rPr kumimoji="1" lang="en-US" altLang="zh-CN" sz="2800" b="1" baseline="-25000" dirty="0">
                <a:latin typeface="宋体" panose="02010600030101010101" pitchFamily="2" charset="-122"/>
              </a:rPr>
              <a:t>L </a:t>
            </a:r>
            <a:r>
              <a:rPr kumimoji="1" lang="zh-CN" altLang="en-US" sz="2800" b="1" dirty="0">
                <a:latin typeface="宋体" panose="02010600030101010101" pitchFamily="2" charset="-122"/>
              </a:rPr>
              <a:t>不变，</a:t>
            </a:r>
            <a:r>
              <a:rPr kumimoji="1" lang="en-US" altLang="zh-CN" sz="2800" b="1" i="1" dirty="0">
                <a:latin typeface="宋体" panose="02010600030101010101" pitchFamily="2" charset="-122"/>
              </a:rPr>
              <a:t>X</a:t>
            </a:r>
            <a:r>
              <a:rPr kumimoji="1" lang="en-US" altLang="zh-CN" sz="2800" b="1" baseline="-25000" dirty="0">
                <a:latin typeface="宋体" panose="02010600030101010101" pitchFamily="2" charset="-122"/>
              </a:rPr>
              <a:t>L </a:t>
            </a:r>
            <a:r>
              <a:rPr kumimoji="1" lang="zh-CN" altLang="zh-CN" sz="2800" b="1" dirty="0">
                <a:latin typeface="宋体" panose="02010600030101010101" pitchFamily="2" charset="-122"/>
              </a:rPr>
              <a:t>改变</a:t>
            </a:r>
            <a:endParaRPr kumimoji="1" lang="zh-CN" altLang="en-US" sz="2800" b="1" dirty="0">
              <a:latin typeface="宋体" panose="02010600030101010101" pitchFamily="2" charset="-122"/>
            </a:endParaRPr>
          </a:p>
        </p:txBody>
      </p:sp>
      <p:sp>
        <p:nvSpPr>
          <p:cNvPr id="9221" name="Text Box 5"/>
          <p:cNvSpPr txBox="1">
            <a:spLocks noChangeArrowheads="1"/>
          </p:cNvSpPr>
          <p:nvPr/>
        </p:nvSpPr>
        <p:spPr bwMode="auto">
          <a:xfrm>
            <a:off x="2063750" y="3500438"/>
            <a:ext cx="828198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198000" rIns="19800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dirty="0">
                <a:latin typeface="Times New Roman" panose="02020603050405020304" pitchFamily="18" charset="0"/>
              </a:rPr>
              <a:t>显然，当</a:t>
            </a:r>
            <a:r>
              <a:rPr kumimoji="1" lang="en-US" altLang="zh-CN" sz="2800" i="1" dirty="0"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1" lang="en-US" altLang="zh-CN" sz="2800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kumimoji="1"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 + </a:t>
            </a:r>
            <a:r>
              <a:rPr kumimoji="1" lang="en-US" altLang="zh-CN" sz="2800" i="1" dirty="0"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1" lang="en-US" altLang="zh-CN" sz="2800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L</a:t>
            </a:r>
            <a:r>
              <a:rPr kumimoji="1"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=0</a:t>
            </a:r>
            <a:r>
              <a:rPr kumimoji="1"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kumimoji="1" lang="zh-CN" altLang="en-US" sz="2800" dirty="0">
                <a:latin typeface="Times New Roman" panose="02020603050405020304" pitchFamily="18" charset="0"/>
              </a:rPr>
              <a:t>即</a:t>
            </a:r>
            <a:r>
              <a:rPr kumimoji="1" lang="en-US" altLang="zh-CN" sz="2800" i="1" dirty="0"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1" lang="en-US" altLang="zh-CN" sz="2800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L</a:t>
            </a:r>
            <a:r>
              <a:rPr kumimoji="1"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 =</a:t>
            </a:r>
            <a:r>
              <a:rPr kumimoji="1" lang="en-US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-</a:t>
            </a:r>
            <a:r>
              <a:rPr kumimoji="1" lang="en-US" altLang="zh-CN" sz="2800" i="1" dirty="0"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1" lang="en-US" altLang="zh-CN" sz="2800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kumimoji="1" lang="zh-CN" altLang="zh-CN" sz="2800" dirty="0">
                <a:latin typeface="Times New Roman" panose="02020603050405020304" pitchFamily="18" charset="0"/>
              </a:rPr>
              <a:t>时</a:t>
            </a:r>
            <a:r>
              <a:rPr kumimoji="1" lang="zh-CN" altLang="zh-CN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kumimoji="1" lang="en-US" altLang="zh-CN" sz="2800" i="1" dirty="0">
                <a:latin typeface="Times New Roman" panose="02020603050405020304" pitchFamily="18" charset="0"/>
                <a:ea typeface="宋体" panose="02010600030101010101" pitchFamily="2" charset="-122"/>
              </a:rPr>
              <a:t>P </a:t>
            </a:r>
            <a:r>
              <a:rPr kumimoji="1" lang="zh-CN" altLang="zh-CN" sz="2800" dirty="0">
                <a:latin typeface="Times New Roman" panose="02020603050405020304" pitchFamily="18" charset="0"/>
              </a:rPr>
              <a:t>获得最大值。</a:t>
            </a:r>
            <a:endParaRPr kumimoji="1" lang="zh-CN" altLang="en-US" sz="2800" baseline="-25000" dirty="0">
              <a:latin typeface="Times New Roman" panose="02020603050405020304" pitchFamily="18" charset="0"/>
            </a:endParaRPr>
          </a:p>
        </p:txBody>
      </p:sp>
      <p:graphicFrame>
        <p:nvGraphicFramePr>
          <p:cNvPr id="9222" name="Object 6"/>
          <p:cNvGraphicFramePr>
            <a:graphicFrameLocks noChangeAspect="1"/>
          </p:cNvGraphicFramePr>
          <p:nvPr/>
        </p:nvGraphicFramePr>
        <p:xfrm>
          <a:off x="7464425" y="1125538"/>
          <a:ext cx="2592388" cy="1250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054080" imgH="507960" progId="Equation.3">
                  <p:embed/>
                </p:oleObj>
              </mc:Choice>
              <mc:Fallback>
                <p:oleObj name="公式" r:id="rId2" imgW="1054080" imgH="507960" progId="Equation.3">
                  <p:embed/>
                  <p:pic>
                    <p:nvPicPr>
                      <p:cNvPr id="9222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64425" y="1125538"/>
                        <a:ext cx="2592388" cy="1250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3" name="Text Box 7"/>
          <p:cNvSpPr txBox="1">
            <a:spLocks noChangeArrowheads="1"/>
          </p:cNvSpPr>
          <p:nvPr/>
        </p:nvSpPr>
        <p:spPr bwMode="auto">
          <a:xfrm>
            <a:off x="2424113" y="4149725"/>
            <a:ext cx="568801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198000" rIns="198000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AutoNum type="alphaLcParenR" startAt="2"/>
            </a:pPr>
            <a:r>
              <a:rPr kumimoji="1" lang="zh-CN" altLang="zh-CN" sz="2800" b="1" dirty="0">
                <a:latin typeface="宋体" panose="02010600030101010101" pitchFamily="2" charset="-122"/>
              </a:rPr>
              <a:t>再讨论</a:t>
            </a:r>
            <a:r>
              <a:rPr kumimoji="1" lang="zh-CN" altLang="en-US" sz="2800" b="1" dirty="0">
                <a:latin typeface="宋体" panose="02010600030101010101" pitchFamily="2" charset="-122"/>
              </a:rPr>
              <a:t> </a:t>
            </a:r>
            <a:r>
              <a:rPr kumimoji="1" lang="en-US" altLang="zh-CN" sz="2800" b="1" i="1" dirty="0">
                <a:latin typeface="宋体" panose="02010600030101010101" pitchFamily="2" charset="-122"/>
              </a:rPr>
              <a:t>R</a:t>
            </a:r>
            <a:r>
              <a:rPr kumimoji="1" lang="en-US" altLang="zh-CN" sz="2800" b="1" baseline="-25000" dirty="0">
                <a:latin typeface="宋体" panose="02010600030101010101" pitchFamily="2" charset="-122"/>
              </a:rPr>
              <a:t>L </a:t>
            </a:r>
            <a:r>
              <a:rPr kumimoji="1" lang="zh-CN" altLang="zh-CN" sz="2800" b="1" dirty="0">
                <a:latin typeface="宋体" panose="02010600030101010101" pitchFamily="2" charset="-122"/>
              </a:rPr>
              <a:t>改变时，</a:t>
            </a:r>
            <a:r>
              <a:rPr kumimoji="1" lang="en-US" altLang="zh-CN" sz="2800" b="1" i="1" dirty="0">
                <a:latin typeface="宋体" panose="02010600030101010101" pitchFamily="2" charset="-122"/>
              </a:rPr>
              <a:t>P </a:t>
            </a:r>
            <a:r>
              <a:rPr kumimoji="1" lang="zh-CN" altLang="zh-CN" sz="2800" b="1" dirty="0">
                <a:latin typeface="宋体" panose="02010600030101010101" pitchFamily="2" charset="-122"/>
              </a:rPr>
              <a:t>的最大值</a:t>
            </a:r>
            <a:endParaRPr kumimoji="1" lang="zh-CN" altLang="en-US" sz="2800" b="1" dirty="0">
              <a:latin typeface="宋体" panose="02010600030101010101" pitchFamily="2" charset="-122"/>
            </a:endParaRPr>
          </a:p>
        </p:txBody>
      </p:sp>
      <p:graphicFrame>
        <p:nvGraphicFramePr>
          <p:cNvPr id="9225" name="Object 9"/>
          <p:cNvGraphicFramePr>
            <a:graphicFrameLocks noChangeAspect="1"/>
          </p:cNvGraphicFramePr>
          <p:nvPr/>
        </p:nvGraphicFramePr>
        <p:xfrm>
          <a:off x="7535863" y="1052513"/>
          <a:ext cx="2520950" cy="160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799920" imgH="507960" progId="Equation.3">
                  <p:embed/>
                </p:oleObj>
              </mc:Choice>
              <mc:Fallback>
                <p:oleObj name="公式" r:id="rId4" imgW="799920" imgH="507960" progId="Equation.3">
                  <p:embed/>
                  <p:pic>
                    <p:nvPicPr>
                      <p:cNvPr id="9225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35863" y="1052513"/>
                        <a:ext cx="2520950" cy="1600200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FFCC99"/>
                          </a:gs>
                          <a:gs pos="100000">
                            <a:schemeClr val="bg1"/>
                          </a:gs>
                        </a:gsLst>
                        <a:lin ang="5400000" scaled="1"/>
                      </a:gra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33" name="Object 17"/>
          <p:cNvGraphicFramePr>
            <a:graphicFrameLocks noChangeAspect="1"/>
          </p:cNvGraphicFramePr>
          <p:nvPr/>
        </p:nvGraphicFramePr>
        <p:xfrm>
          <a:off x="2992438" y="1108076"/>
          <a:ext cx="3829050" cy="1012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726920" imgH="457200" progId="Equation.DSMT4">
                  <p:embed/>
                </p:oleObj>
              </mc:Choice>
              <mc:Fallback>
                <p:oleObj name="Equation" r:id="rId6" imgW="1726920" imgH="457200" progId="Equation.DSMT4">
                  <p:embed/>
                  <p:pic>
                    <p:nvPicPr>
                      <p:cNvPr id="9233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92438" y="1108076"/>
                        <a:ext cx="3829050" cy="1012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53" name="Text Box 37"/>
          <p:cNvSpPr txBox="1">
            <a:spLocks noChangeArrowheads="1"/>
          </p:cNvSpPr>
          <p:nvPr/>
        </p:nvSpPr>
        <p:spPr bwMode="auto">
          <a:xfrm>
            <a:off x="2495550" y="409576"/>
            <a:ext cx="121058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3200" dirty="0">
                <a:latin typeface="Times New Roman" panose="02020603050405020304" pitchFamily="18" charset="0"/>
                <a:ea typeface="华文行楷" panose="02010800040101010101" pitchFamily="2" charset="-122"/>
              </a:rPr>
              <a:t>讨论  </a:t>
            </a:r>
          </a:p>
        </p:txBody>
      </p:sp>
      <p:sp>
        <p:nvSpPr>
          <p:cNvPr id="9254" name="Text Box 38"/>
          <p:cNvSpPr txBox="1">
            <a:spLocks noChangeArrowheads="1"/>
          </p:cNvSpPr>
          <p:nvPr/>
        </p:nvSpPr>
        <p:spPr bwMode="auto">
          <a:xfrm>
            <a:off x="2063750" y="4797425"/>
            <a:ext cx="489743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198000" rIns="19800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dirty="0"/>
              <a:t>当</a:t>
            </a:r>
            <a:r>
              <a:rPr kumimoji="1" lang="en-US" altLang="zh-CN" sz="2800" i="1" dirty="0">
                <a:latin typeface="Times New Roman" panose="02020603050405020304" pitchFamily="18" charset="0"/>
              </a:rPr>
              <a:t>R</a:t>
            </a:r>
            <a:r>
              <a:rPr kumimoji="1" lang="en-US" altLang="zh-CN" sz="2800" baseline="-25000" dirty="0">
                <a:latin typeface="Times New Roman" panose="02020603050405020304" pitchFamily="18" charset="0"/>
              </a:rPr>
              <a:t>L</a:t>
            </a:r>
            <a:r>
              <a:rPr kumimoji="1" lang="en-US" altLang="zh-CN" sz="2800" dirty="0">
                <a:latin typeface="Times New Roman" panose="02020603050405020304" pitchFamily="18" charset="0"/>
              </a:rPr>
              <a:t>= </a:t>
            </a:r>
            <a:r>
              <a:rPr kumimoji="1" lang="en-US" altLang="zh-CN" sz="2800" i="1" dirty="0" err="1">
                <a:latin typeface="Times New Roman" panose="02020603050405020304" pitchFamily="18" charset="0"/>
              </a:rPr>
              <a:t>R</a:t>
            </a:r>
            <a:r>
              <a:rPr kumimoji="1" lang="en-US" altLang="zh-CN" sz="2800" baseline="-25000" dirty="0" err="1">
                <a:latin typeface="Times New Roman" panose="02020603050405020304" pitchFamily="18" charset="0"/>
              </a:rPr>
              <a:t>i</a:t>
            </a:r>
            <a:r>
              <a:rPr kumimoji="1" lang="en-US" altLang="zh-CN" sz="2800" baseline="-25000" dirty="0"/>
              <a:t> </a:t>
            </a:r>
            <a:r>
              <a:rPr kumimoji="1" lang="zh-CN" altLang="zh-CN" sz="2800" dirty="0"/>
              <a:t>时，</a:t>
            </a:r>
            <a:r>
              <a:rPr kumimoji="1" lang="en-US" altLang="zh-CN" sz="2800" i="1" dirty="0">
                <a:latin typeface="Times New Roman" panose="02020603050405020304" pitchFamily="18" charset="0"/>
              </a:rPr>
              <a:t>P </a:t>
            </a:r>
            <a:r>
              <a:rPr kumimoji="1" lang="zh-CN" altLang="zh-CN" sz="2800" dirty="0"/>
              <a:t>获得最大值</a:t>
            </a:r>
            <a:endParaRPr kumimoji="1" lang="zh-CN" altLang="en-US" sz="2800" baseline="-25000" dirty="0"/>
          </a:p>
        </p:txBody>
      </p:sp>
      <p:grpSp>
        <p:nvGrpSpPr>
          <p:cNvPr id="9262" name="Group 46"/>
          <p:cNvGrpSpPr>
            <a:grpSpLocks/>
          </p:cNvGrpSpPr>
          <p:nvPr/>
        </p:nvGrpSpPr>
        <p:grpSpPr bwMode="auto">
          <a:xfrm>
            <a:off x="2640014" y="5445121"/>
            <a:ext cx="3514725" cy="523875"/>
            <a:chOff x="703" y="3521"/>
            <a:chExt cx="2214" cy="330"/>
          </a:xfrm>
        </p:grpSpPr>
        <p:sp>
          <p:nvSpPr>
            <p:cNvPr id="9256" name="Text Box 40"/>
            <p:cNvSpPr txBox="1">
              <a:spLocks noChangeArrowheads="1"/>
            </p:cNvSpPr>
            <p:nvPr/>
          </p:nvSpPr>
          <p:spPr bwMode="auto">
            <a:xfrm>
              <a:off x="703" y="3521"/>
              <a:ext cx="710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800" i="1"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宋体" panose="02010600030101010101" pitchFamily="2" charset="-122"/>
                </a:rPr>
                <a:t>L</a:t>
              </a:r>
              <a:r>
                <a:rPr kumimoji="1" lang="en-US" altLang="zh-CN" sz="2800">
                  <a:latin typeface="Times New Roman" panose="02020603050405020304" pitchFamily="18" charset="0"/>
                  <a:ea typeface="宋体" panose="02010600030101010101" pitchFamily="2" charset="-122"/>
                </a:rPr>
                <a:t>= </a:t>
              </a:r>
              <a:r>
                <a:rPr kumimoji="1" lang="en-US" altLang="zh-CN" sz="2800" i="1"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</a:p>
          </p:txBody>
        </p:sp>
        <p:sp>
          <p:nvSpPr>
            <p:cNvPr id="9257" name="Text Box 41"/>
            <p:cNvSpPr txBox="1">
              <a:spLocks noChangeArrowheads="1"/>
            </p:cNvSpPr>
            <p:nvPr/>
          </p:nvSpPr>
          <p:spPr bwMode="auto">
            <a:xfrm>
              <a:off x="1565" y="3521"/>
              <a:ext cx="1352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8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X</a:t>
              </a:r>
              <a:r>
                <a:rPr kumimoji="1" lang="en-US" altLang="zh-CN" sz="2800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L</a:t>
              </a:r>
              <a:r>
                <a:rPr kumimoji="1" lang="en-US" altLang="zh-CN" sz="2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=</a:t>
              </a:r>
              <a:r>
                <a:rPr kumimoji="1" lang="en-US" altLang="zh-CN" sz="2800" dirty="0">
                  <a:latin typeface="宋体" panose="02010600030101010101" pitchFamily="2" charset="-122"/>
                  <a:ea typeface="宋体" panose="02010600030101010101" pitchFamily="2" charset="-122"/>
                </a:rPr>
                <a:t>-</a:t>
              </a:r>
              <a:r>
                <a:rPr kumimoji="1" lang="en-US" altLang="zh-CN" sz="28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X</a:t>
              </a:r>
              <a:r>
                <a:rPr kumimoji="1" lang="en-US" altLang="zh-CN" sz="2800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</a:p>
          </p:txBody>
        </p:sp>
      </p:grpSp>
      <p:sp>
        <p:nvSpPr>
          <p:cNvPr id="9259" name="Text Box 43"/>
          <p:cNvSpPr txBox="1">
            <a:spLocks noChangeArrowheads="1"/>
          </p:cNvSpPr>
          <p:nvPr/>
        </p:nvSpPr>
        <p:spPr bwMode="auto">
          <a:xfrm>
            <a:off x="6743700" y="5445125"/>
            <a:ext cx="1944688" cy="523220"/>
          </a:xfrm>
          <a:prstGeom prst="rect">
            <a:avLst/>
          </a:prstGeom>
          <a:gradFill rotWithShape="1">
            <a:gsLst>
              <a:gs pos="0">
                <a:srgbClr val="FFCCFF"/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Z</a:t>
            </a:r>
            <a:r>
              <a:rPr kumimoji="1" lang="en-US" altLang="zh-CN" sz="2800" baseline="-25000">
                <a:latin typeface="Times New Roman" panose="02020603050405020304" pitchFamily="18" charset="0"/>
                <a:ea typeface="宋体" panose="02010600030101010101" pitchFamily="2" charset="-122"/>
              </a:rPr>
              <a:t>L</a:t>
            </a:r>
            <a:r>
              <a:rPr kumimoji="1" lang="en-US" altLang="zh-CN" sz="2800">
                <a:latin typeface="Times New Roman" panose="02020603050405020304" pitchFamily="18" charset="0"/>
                <a:ea typeface="宋体" panose="02010600030101010101" pitchFamily="2" charset="-122"/>
              </a:rPr>
              <a:t>= </a:t>
            </a:r>
            <a:r>
              <a:rPr kumimoji="1"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Z</a:t>
            </a:r>
            <a:r>
              <a:rPr kumimoji="1" lang="en-US" altLang="zh-CN" sz="2800" baseline="-25000"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kumimoji="1" lang="en-US" altLang="zh-CN" sz="2800" baseline="30000">
                <a:latin typeface="Times New Roman" panose="02020603050405020304" pitchFamily="18" charset="0"/>
                <a:ea typeface="宋体" panose="02010600030101010101" pitchFamily="2" charset="-122"/>
              </a:rPr>
              <a:t>*</a:t>
            </a:r>
            <a:endParaRPr kumimoji="1" lang="en-US" altLang="zh-CN" sz="2800" baseline="-250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260" name="Line 44"/>
          <p:cNvSpPr>
            <a:spLocks noChangeShapeType="1"/>
          </p:cNvSpPr>
          <p:nvPr/>
        </p:nvSpPr>
        <p:spPr bwMode="auto">
          <a:xfrm>
            <a:off x="5808664" y="5734050"/>
            <a:ext cx="574675" cy="0"/>
          </a:xfrm>
          <a:prstGeom prst="line">
            <a:avLst/>
          </a:prstGeom>
          <a:noFill/>
          <a:ln w="76200">
            <a:solidFill>
              <a:srgbClr val="0066FF"/>
            </a:solidFill>
            <a:round/>
            <a:headEnd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800"/>
          </a:p>
        </p:txBody>
      </p:sp>
      <p:sp>
        <p:nvSpPr>
          <p:cNvPr id="9261" name="AutoShape 45"/>
          <p:cNvSpPr>
            <a:spLocks noChangeArrowheads="1"/>
          </p:cNvSpPr>
          <p:nvPr/>
        </p:nvSpPr>
        <p:spPr bwMode="auto">
          <a:xfrm>
            <a:off x="9048750" y="4365625"/>
            <a:ext cx="1079500" cy="1492660"/>
          </a:xfrm>
          <a:prstGeom prst="wedgeRoundRectCallout">
            <a:avLst>
              <a:gd name="adj1" fmla="val -91472"/>
              <a:gd name="adj2" fmla="val 44977"/>
              <a:gd name="adj3" fmla="val 16667"/>
            </a:avLst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zh-CN" altLang="en-US" sz="2800" dirty="0">
                <a:latin typeface="Arial" panose="020B0604020202020204" pitchFamily="34" charset="0"/>
              </a:rPr>
              <a:t>最佳匹配条件</a:t>
            </a:r>
          </a:p>
        </p:txBody>
      </p:sp>
    </p:spTree>
    <p:extLst>
      <p:ext uri="{BB962C8B-B14F-4D97-AF65-F5344CB8AC3E}">
        <p14:creationId xmlns:p14="http://schemas.microsoft.com/office/powerpoint/2010/main" val="1213174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9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2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2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2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2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9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2000"/>
                                        <p:tgtEl>
                                          <p:spTgt spid="9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9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9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9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9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4" dur="500"/>
                                        <p:tgtEl>
                                          <p:spTgt spid="9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6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92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92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9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62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64" dur="2000"/>
                                        <p:tgtEl>
                                          <p:spTgt spid="9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9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8" grpId="0"/>
      <p:bldP spid="9220" grpId="0" autoUpdateAnimBg="0"/>
      <p:bldP spid="9221" grpId="0" autoUpdateAnimBg="0"/>
      <p:bldP spid="9223" grpId="0" autoUpdateAnimBg="0"/>
      <p:bldP spid="9254" grpId="0" autoUpdateAnimBg="0"/>
      <p:bldP spid="9259" grpId="0" animBg="1"/>
      <p:bldP spid="9261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Text Box 2"/>
          <p:cNvSpPr txBox="1">
            <a:spLocks noChangeArrowheads="1"/>
          </p:cNvSpPr>
          <p:nvPr/>
        </p:nvSpPr>
        <p:spPr bwMode="auto">
          <a:xfrm>
            <a:off x="2351089" y="476250"/>
            <a:ext cx="515397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AutoNum type="circleNumDbPlain" startAt="2"/>
            </a:pPr>
            <a:r>
              <a:rPr kumimoji="1" lang="zh-CN" altLang="en-US" sz="2800" b="1" dirty="0">
                <a:latin typeface="宋体" panose="02010600030101010101" pitchFamily="2" charset="-122"/>
              </a:rPr>
              <a:t>若</a:t>
            </a:r>
            <a:r>
              <a:rPr kumimoji="1" lang="en-US" altLang="zh-CN" sz="2800" b="1" i="1" dirty="0">
                <a:latin typeface="宋体" panose="02010600030101010101" pitchFamily="2" charset="-122"/>
              </a:rPr>
              <a:t>Z</a:t>
            </a:r>
            <a:r>
              <a:rPr kumimoji="1" lang="en-US" altLang="zh-CN" sz="2800" b="1" baseline="-25000" dirty="0">
                <a:latin typeface="宋体" panose="02010600030101010101" pitchFamily="2" charset="-122"/>
              </a:rPr>
              <a:t>L</a:t>
            </a:r>
            <a:r>
              <a:rPr kumimoji="1" lang="en-US" altLang="zh-CN" sz="2800" b="1" dirty="0">
                <a:latin typeface="宋体" panose="02010600030101010101" pitchFamily="2" charset="-122"/>
              </a:rPr>
              <a:t>= </a:t>
            </a:r>
            <a:r>
              <a:rPr kumimoji="1" lang="en-US" altLang="zh-CN" sz="2800" b="1" i="1" dirty="0">
                <a:latin typeface="宋体" panose="02010600030101010101" pitchFamily="2" charset="-122"/>
              </a:rPr>
              <a:t>R</a:t>
            </a:r>
            <a:r>
              <a:rPr kumimoji="1" lang="en-US" altLang="zh-CN" sz="2800" b="1" baseline="-25000" dirty="0">
                <a:latin typeface="宋体" panose="02010600030101010101" pitchFamily="2" charset="-122"/>
              </a:rPr>
              <a:t>L</a:t>
            </a:r>
            <a:r>
              <a:rPr kumimoji="1" lang="en-US" altLang="zh-CN" sz="2800" b="1" dirty="0">
                <a:latin typeface="宋体" panose="02010600030101010101" pitchFamily="2" charset="-122"/>
              </a:rPr>
              <a:t> + </a:t>
            </a:r>
            <a:r>
              <a:rPr kumimoji="1" lang="en-US" altLang="zh-CN" sz="2800" b="1" dirty="0" err="1">
                <a:latin typeface="宋体" panose="02010600030101010101" pitchFamily="2" charset="-122"/>
              </a:rPr>
              <a:t>j</a:t>
            </a:r>
            <a:r>
              <a:rPr kumimoji="1" lang="en-US" altLang="zh-CN" sz="2800" b="1" i="1" dirty="0" err="1">
                <a:latin typeface="宋体" panose="02010600030101010101" pitchFamily="2" charset="-122"/>
              </a:rPr>
              <a:t>X</a:t>
            </a:r>
            <a:r>
              <a:rPr kumimoji="1" lang="en-US" altLang="zh-CN" sz="2800" b="1" baseline="-25000" dirty="0" err="1">
                <a:latin typeface="宋体" panose="02010600030101010101" pitchFamily="2" charset="-122"/>
              </a:rPr>
              <a:t>L</a:t>
            </a:r>
            <a:r>
              <a:rPr kumimoji="1" lang="zh-CN" altLang="en-US" sz="2800" b="1" dirty="0">
                <a:latin typeface="宋体" panose="02010600030101010101" pitchFamily="2" charset="-122"/>
              </a:rPr>
              <a:t>只允许</a:t>
            </a:r>
            <a:r>
              <a:rPr kumimoji="1" lang="en-US" altLang="zh-CN" sz="2800" b="1" i="1" dirty="0">
                <a:latin typeface="宋体" panose="02010600030101010101" pitchFamily="2" charset="-122"/>
              </a:rPr>
              <a:t>X</a:t>
            </a:r>
            <a:r>
              <a:rPr kumimoji="1" lang="en-US" altLang="zh-CN" sz="2800" b="1" baseline="-25000" dirty="0">
                <a:latin typeface="宋体" panose="02010600030101010101" pitchFamily="2" charset="-122"/>
              </a:rPr>
              <a:t>L</a:t>
            </a:r>
            <a:r>
              <a:rPr kumimoji="1" lang="zh-CN" altLang="en-US" sz="2800" b="1" dirty="0">
                <a:latin typeface="宋体" panose="02010600030101010101" pitchFamily="2" charset="-122"/>
              </a:rPr>
              <a:t>改变 </a:t>
            </a:r>
          </a:p>
        </p:txBody>
      </p:sp>
      <p:sp>
        <p:nvSpPr>
          <p:cNvPr id="81923" name="Text Box 3"/>
          <p:cNvSpPr txBox="1">
            <a:spLocks noChangeArrowheads="1"/>
          </p:cNvSpPr>
          <p:nvPr/>
        </p:nvSpPr>
        <p:spPr bwMode="auto">
          <a:xfrm>
            <a:off x="2279651" y="1125538"/>
            <a:ext cx="7775575" cy="5688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kumimoji="1" lang="zh-CN" altLang="en-US" sz="2800" dirty="0">
                <a:latin typeface="Times New Roman" panose="02020603050405020304" pitchFamily="18" charset="0"/>
              </a:rPr>
              <a:t>获得最大功率的条件是：</a:t>
            </a:r>
            <a:r>
              <a:rPr kumimoji="1" lang="en-US" altLang="zh-CN" sz="2800" i="1" dirty="0"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1" lang="en-US" altLang="zh-CN" sz="2800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kumimoji="1"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 + </a:t>
            </a:r>
            <a:r>
              <a:rPr kumimoji="1" lang="en-US" altLang="zh-CN" sz="2800" i="1" dirty="0"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1" lang="en-US" altLang="zh-CN" sz="2800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L</a:t>
            </a:r>
            <a:r>
              <a:rPr kumimoji="1"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=0</a:t>
            </a:r>
            <a:r>
              <a:rPr kumimoji="1"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kumimoji="1" lang="zh-CN" altLang="en-US" sz="2800" dirty="0">
                <a:latin typeface="Times New Roman" panose="02020603050405020304" pitchFamily="18" charset="0"/>
              </a:rPr>
              <a:t>即</a:t>
            </a:r>
            <a:r>
              <a:rPr kumimoji="1"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kumimoji="1" lang="en-US" altLang="zh-CN" sz="2800" i="1" dirty="0"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1" lang="en-US" altLang="zh-CN" sz="2800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L</a:t>
            </a:r>
            <a:r>
              <a:rPr kumimoji="1"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 =</a:t>
            </a:r>
            <a:r>
              <a:rPr kumimoji="1" lang="en-US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-</a:t>
            </a:r>
            <a:r>
              <a:rPr kumimoji="1" lang="en-US" altLang="zh-CN" sz="2800" i="1" dirty="0"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1" lang="en-US" altLang="zh-CN" sz="2800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i </a:t>
            </a:r>
          </a:p>
        </p:txBody>
      </p:sp>
      <p:grpSp>
        <p:nvGrpSpPr>
          <p:cNvPr id="81952" name="Group 32"/>
          <p:cNvGrpSpPr>
            <a:grpSpLocks/>
          </p:cNvGrpSpPr>
          <p:nvPr/>
        </p:nvGrpSpPr>
        <p:grpSpPr bwMode="auto">
          <a:xfrm>
            <a:off x="2424113" y="1895475"/>
            <a:ext cx="4419600" cy="914400"/>
            <a:chOff x="567" y="1194"/>
            <a:chExt cx="2784" cy="576"/>
          </a:xfrm>
        </p:grpSpPr>
        <p:graphicFrame>
          <p:nvGraphicFramePr>
            <p:cNvPr id="81925" name="Object 5"/>
            <p:cNvGraphicFramePr>
              <a:graphicFrameLocks noChangeAspect="1"/>
            </p:cNvGraphicFramePr>
            <p:nvPr/>
          </p:nvGraphicFramePr>
          <p:xfrm>
            <a:off x="2007" y="1194"/>
            <a:ext cx="1344" cy="5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066680" imgH="457200" progId="Equation.DSMT4">
                    <p:embed/>
                  </p:oleObj>
                </mc:Choice>
                <mc:Fallback>
                  <p:oleObj name="Equation" r:id="rId2" imgW="1066680" imgH="457200" progId="Equation.DSMT4">
                    <p:embed/>
                    <p:pic>
                      <p:nvPicPr>
                        <p:cNvPr id="81925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07" y="1194"/>
                          <a:ext cx="1344" cy="5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1926" name="Text Box 6"/>
            <p:cNvSpPr txBox="1">
              <a:spLocks noChangeArrowheads="1"/>
            </p:cNvSpPr>
            <p:nvPr/>
          </p:nvSpPr>
          <p:spPr bwMode="auto">
            <a:xfrm>
              <a:off x="567" y="1253"/>
              <a:ext cx="1247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800">
                  <a:latin typeface="Times New Roman" panose="02020603050405020304" pitchFamily="18" charset="0"/>
                </a:rPr>
                <a:t>最大功率为</a:t>
              </a:r>
            </a:p>
          </p:txBody>
        </p:sp>
      </p:grpSp>
      <p:sp>
        <p:nvSpPr>
          <p:cNvPr id="81927" name="Text Box 7"/>
          <p:cNvSpPr txBox="1">
            <a:spLocks noChangeArrowheads="1"/>
          </p:cNvSpPr>
          <p:nvPr/>
        </p:nvSpPr>
        <p:spPr bwMode="auto">
          <a:xfrm>
            <a:off x="2424113" y="2852738"/>
            <a:ext cx="403225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AutoNum type="circleNumDbPlain" startAt="3"/>
            </a:pPr>
            <a:r>
              <a:rPr kumimoji="1" lang="zh-CN" altLang="en-US" sz="2800" b="1" dirty="0">
                <a:latin typeface="宋体" panose="02010600030101010101" pitchFamily="2" charset="-122"/>
              </a:rPr>
              <a:t>若</a:t>
            </a:r>
            <a:r>
              <a:rPr kumimoji="1" lang="en-US" altLang="zh-CN" sz="2800" b="1" i="1" dirty="0">
                <a:latin typeface="宋体" panose="02010600030101010101" pitchFamily="2" charset="-122"/>
              </a:rPr>
              <a:t>Z</a:t>
            </a:r>
            <a:r>
              <a:rPr kumimoji="1" lang="en-US" altLang="zh-CN" sz="2800" b="1" baseline="-25000" dirty="0">
                <a:latin typeface="宋体" panose="02010600030101010101" pitchFamily="2" charset="-122"/>
              </a:rPr>
              <a:t>L</a:t>
            </a:r>
            <a:r>
              <a:rPr kumimoji="1" lang="en-US" altLang="zh-CN" sz="2800" b="1" dirty="0">
                <a:latin typeface="宋体" panose="02010600030101010101" pitchFamily="2" charset="-122"/>
              </a:rPr>
              <a:t>= </a:t>
            </a:r>
            <a:r>
              <a:rPr kumimoji="1" lang="en-US" altLang="zh-CN" sz="2800" b="1" i="1" dirty="0">
                <a:latin typeface="宋体" panose="02010600030101010101" pitchFamily="2" charset="-122"/>
              </a:rPr>
              <a:t>R</a:t>
            </a:r>
            <a:r>
              <a:rPr kumimoji="1" lang="en-US" altLang="zh-CN" sz="2800" b="1" baseline="-25000" dirty="0">
                <a:latin typeface="宋体" panose="02010600030101010101" pitchFamily="2" charset="-122"/>
              </a:rPr>
              <a:t>L</a:t>
            </a:r>
            <a:r>
              <a:rPr kumimoji="1" lang="zh-CN" altLang="en-US" sz="2800" b="1" dirty="0">
                <a:latin typeface="宋体" panose="02010600030101010101" pitchFamily="2" charset="-122"/>
              </a:rPr>
              <a:t>为纯电阻</a:t>
            </a:r>
          </a:p>
        </p:txBody>
      </p:sp>
      <p:sp>
        <p:nvSpPr>
          <p:cNvPr id="81931" name="Text Box 11"/>
          <p:cNvSpPr txBox="1">
            <a:spLocks noChangeArrowheads="1"/>
          </p:cNvSpPr>
          <p:nvPr/>
        </p:nvSpPr>
        <p:spPr bwMode="auto">
          <a:xfrm>
            <a:off x="1919288" y="4652963"/>
            <a:ext cx="341632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dirty="0">
                <a:latin typeface="Times New Roman" panose="02020603050405020304" pitchFamily="18" charset="0"/>
              </a:rPr>
              <a:t>负载获得的功率为：</a:t>
            </a:r>
          </a:p>
        </p:txBody>
      </p:sp>
      <p:graphicFrame>
        <p:nvGraphicFramePr>
          <p:cNvPr id="81933" name="Object 13"/>
          <p:cNvGraphicFramePr>
            <a:graphicFrameLocks noChangeAspect="1"/>
          </p:cNvGraphicFramePr>
          <p:nvPr/>
        </p:nvGraphicFramePr>
        <p:xfrm>
          <a:off x="5149851" y="3289300"/>
          <a:ext cx="4384675" cy="1112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197080" imgH="558720" progId="Equation.DSMT4">
                  <p:embed/>
                </p:oleObj>
              </mc:Choice>
              <mc:Fallback>
                <p:oleObj name="Equation" r:id="rId4" imgW="2197080" imgH="558720" progId="Equation.DSMT4">
                  <p:embed/>
                  <p:pic>
                    <p:nvPicPr>
                      <p:cNvPr id="81933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9851" y="3289300"/>
                        <a:ext cx="4384675" cy="1112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34" name="Text Box 14"/>
          <p:cNvSpPr txBox="1">
            <a:spLocks noChangeArrowheads="1"/>
          </p:cNvSpPr>
          <p:nvPr/>
        </p:nvSpPr>
        <p:spPr bwMode="auto">
          <a:xfrm>
            <a:off x="1992313" y="3573463"/>
            <a:ext cx="316706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>
                <a:latin typeface="Arial" panose="020B0604020202020204" pitchFamily="34" charset="0"/>
              </a:rPr>
              <a:t>电路中的电流为：</a:t>
            </a:r>
          </a:p>
        </p:txBody>
      </p:sp>
      <p:graphicFrame>
        <p:nvGraphicFramePr>
          <p:cNvPr id="81935" name="Object 15"/>
          <p:cNvGraphicFramePr>
            <a:graphicFrameLocks noChangeAspect="1"/>
          </p:cNvGraphicFramePr>
          <p:nvPr/>
        </p:nvGraphicFramePr>
        <p:xfrm>
          <a:off x="5410200" y="4487863"/>
          <a:ext cx="2554288" cy="912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282680" imgH="457200" progId="Equation.DSMT4">
                  <p:embed/>
                </p:oleObj>
              </mc:Choice>
              <mc:Fallback>
                <p:oleObj name="Equation" r:id="rId6" imgW="1282680" imgH="457200" progId="Equation.DSMT4">
                  <p:embed/>
                  <p:pic>
                    <p:nvPicPr>
                      <p:cNvPr id="81935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0200" y="4487863"/>
                        <a:ext cx="2554288" cy="912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37" name="Object 17"/>
          <p:cNvGraphicFramePr>
            <a:graphicFrameLocks noChangeAspect="1"/>
          </p:cNvGraphicFramePr>
          <p:nvPr/>
        </p:nvGraphicFramePr>
        <p:xfrm>
          <a:off x="2255838" y="5578475"/>
          <a:ext cx="76454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835080" imgH="431640" progId="Equation.DSMT4">
                  <p:embed/>
                </p:oleObj>
              </mc:Choice>
              <mc:Fallback>
                <p:oleObj name="Equation" r:id="rId8" imgW="3835080" imgH="431640" progId="Equation.DSMT4">
                  <p:embed/>
                  <p:pic>
                    <p:nvPicPr>
                      <p:cNvPr id="81937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55838" y="5578475"/>
                        <a:ext cx="7645400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38" name="AutoShape 18"/>
          <p:cNvSpPr>
            <a:spLocks noChangeArrowheads="1"/>
          </p:cNvSpPr>
          <p:nvPr/>
        </p:nvSpPr>
        <p:spPr bwMode="auto">
          <a:xfrm>
            <a:off x="8759826" y="4797426"/>
            <a:ext cx="1584325" cy="504825"/>
          </a:xfrm>
          <a:prstGeom prst="wedgeRoundRectCallout">
            <a:avLst>
              <a:gd name="adj1" fmla="val -45190"/>
              <a:gd name="adj2" fmla="val 126417"/>
              <a:gd name="adj3" fmla="val 16667"/>
            </a:avLst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zh-CN" altLang="en-US" sz="2800">
                <a:latin typeface="Arial" panose="020B0604020202020204" pitchFamily="34" charset="0"/>
              </a:rPr>
              <a:t>模匹配</a:t>
            </a:r>
          </a:p>
        </p:txBody>
      </p:sp>
    </p:spTree>
    <p:extLst>
      <p:ext uri="{BB962C8B-B14F-4D97-AF65-F5344CB8AC3E}">
        <p14:creationId xmlns:p14="http://schemas.microsoft.com/office/powerpoint/2010/main" val="1345751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19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19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819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819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000"/>
                                        <p:tgtEl>
                                          <p:spTgt spid="81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819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819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819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819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819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819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5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7" dur="2000"/>
                                        <p:tgtEl>
                                          <p:spTgt spid="819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2000"/>
                                        <p:tgtEl>
                                          <p:spTgt spid="819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2000"/>
                                        <p:tgtEl>
                                          <p:spTgt spid="819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2000"/>
                                        <p:tgtEl>
                                          <p:spTgt spid="819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3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55" dur="2000"/>
                                        <p:tgtEl>
                                          <p:spTgt spid="81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22" grpId="0" autoUpdateAnimBg="0"/>
      <p:bldP spid="81923" grpId="0" autoUpdateAnimBg="0"/>
      <p:bldP spid="81927" grpId="0" autoUpdateAnimBg="0"/>
      <p:bldP spid="81931" grpId="0"/>
      <p:bldP spid="81934" grpId="0"/>
      <p:bldP spid="81938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940499" y="368712"/>
            <a:ext cx="306175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charset="-122"/>
              </a:rPr>
              <a:t>三相正弦稳态电路</a:t>
            </a:r>
            <a:endParaRPr lang="zh-CN" altLang="en-US" sz="2800" dirty="0"/>
          </a:p>
        </p:txBody>
      </p:sp>
      <p:grpSp>
        <p:nvGrpSpPr>
          <p:cNvPr id="4" name="Group 47"/>
          <p:cNvGrpSpPr/>
          <p:nvPr/>
        </p:nvGrpSpPr>
        <p:grpSpPr bwMode="auto">
          <a:xfrm>
            <a:off x="6844394" y="2339449"/>
            <a:ext cx="3690818" cy="2179103"/>
            <a:chOff x="2033" y="253"/>
            <a:chExt cx="2030" cy="1251"/>
          </a:xfrm>
        </p:grpSpPr>
        <p:grpSp>
          <p:nvGrpSpPr>
            <p:cNvPr id="5" name="Group 46"/>
            <p:cNvGrpSpPr/>
            <p:nvPr/>
          </p:nvGrpSpPr>
          <p:grpSpPr bwMode="auto">
            <a:xfrm>
              <a:off x="2318" y="344"/>
              <a:ext cx="1745" cy="1160"/>
              <a:chOff x="2318" y="344"/>
              <a:chExt cx="1745" cy="1160"/>
            </a:xfrm>
          </p:grpSpPr>
          <p:sp>
            <p:nvSpPr>
              <p:cNvPr id="8" name="Rectangle 20"/>
              <p:cNvSpPr>
                <a:spLocks noChangeArrowheads="1"/>
              </p:cNvSpPr>
              <p:nvPr/>
            </p:nvSpPr>
            <p:spPr bwMode="auto">
              <a:xfrm>
                <a:off x="3579" y="788"/>
                <a:ext cx="102" cy="295"/>
              </a:xfrm>
              <a:prstGeom prst="rect">
                <a:avLst/>
              </a:prstGeom>
              <a:solidFill>
                <a:schemeClr val="bg1"/>
              </a:solidFill>
              <a:ln w="31750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" name="Oval 21"/>
              <p:cNvSpPr>
                <a:spLocks noChangeArrowheads="1"/>
              </p:cNvSpPr>
              <p:nvPr/>
            </p:nvSpPr>
            <p:spPr bwMode="auto">
              <a:xfrm>
                <a:off x="2398" y="764"/>
                <a:ext cx="295" cy="295"/>
              </a:xfrm>
              <a:prstGeom prst="ellipse">
                <a:avLst/>
              </a:prstGeom>
              <a:solidFill>
                <a:schemeClr val="bg1"/>
              </a:solidFill>
              <a:ln w="31750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" name="Line 22"/>
              <p:cNvSpPr>
                <a:spLocks noChangeShapeType="1"/>
              </p:cNvSpPr>
              <p:nvPr/>
            </p:nvSpPr>
            <p:spPr bwMode="auto">
              <a:xfrm>
                <a:off x="2551" y="542"/>
                <a:ext cx="0" cy="82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" name="Line 23"/>
              <p:cNvSpPr>
                <a:spLocks noChangeShapeType="1"/>
              </p:cNvSpPr>
              <p:nvPr/>
            </p:nvSpPr>
            <p:spPr bwMode="auto">
              <a:xfrm>
                <a:off x="3637" y="542"/>
                <a:ext cx="0" cy="24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" name="Line 24"/>
              <p:cNvSpPr>
                <a:spLocks noChangeShapeType="1"/>
              </p:cNvSpPr>
              <p:nvPr/>
            </p:nvSpPr>
            <p:spPr bwMode="auto">
              <a:xfrm>
                <a:off x="3637" y="1092"/>
                <a:ext cx="0" cy="28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" name="Line 25"/>
              <p:cNvSpPr>
                <a:spLocks noChangeShapeType="1"/>
              </p:cNvSpPr>
              <p:nvPr/>
            </p:nvSpPr>
            <p:spPr bwMode="auto">
              <a:xfrm>
                <a:off x="2545" y="1366"/>
                <a:ext cx="109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" name="Line 26"/>
              <p:cNvSpPr>
                <a:spLocks noChangeShapeType="1"/>
              </p:cNvSpPr>
              <p:nvPr/>
            </p:nvSpPr>
            <p:spPr bwMode="auto">
              <a:xfrm>
                <a:off x="2551" y="542"/>
                <a:ext cx="389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" name="Text Box 27"/>
              <p:cNvSpPr txBox="1">
                <a:spLocks noChangeArrowheads="1"/>
              </p:cNvSpPr>
              <p:nvPr/>
            </p:nvSpPr>
            <p:spPr bwMode="auto">
              <a:xfrm>
                <a:off x="2360" y="542"/>
                <a:ext cx="251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/>
                  <a:t>+</a:t>
                </a:r>
              </a:p>
            </p:txBody>
          </p:sp>
          <p:sp>
            <p:nvSpPr>
              <p:cNvPr id="16" name="Text Box 28"/>
              <p:cNvSpPr txBox="1">
                <a:spLocks noChangeArrowheads="1"/>
              </p:cNvSpPr>
              <p:nvPr/>
            </p:nvSpPr>
            <p:spPr bwMode="auto">
              <a:xfrm>
                <a:off x="2366" y="999"/>
                <a:ext cx="257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/>
                  <a:t>–</a:t>
                </a:r>
              </a:p>
            </p:txBody>
          </p:sp>
          <p:sp>
            <p:nvSpPr>
              <p:cNvPr id="17" name="Line 30"/>
              <p:cNvSpPr>
                <a:spLocks noChangeShapeType="1"/>
              </p:cNvSpPr>
              <p:nvPr/>
            </p:nvSpPr>
            <p:spPr bwMode="auto">
              <a:xfrm>
                <a:off x="2887" y="398"/>
                <a:ext cx="348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tailEnd type="stealth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" name="Text Box 32"/>
              <p:cNvSpPr txBox="1">
                <a:spLocks noChangeArrowheads="1"/>
              </p:cNvSpPr>
              <p:nvPr/>
            </p:nvSpPr>
            <p:spPr bwMode="auto">
              <a:xfrm>
                <a:off x="2318" y="344"/>
                <a:ext cx="251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</a:p>
            </p:txBody>
          </p:sp>
          <p:sp>
            <p:nvSpPr>
              <p:cNvPr id="19" name="Text Box 33"/>
              <p:cNvSpPr txBox="1">
                <a:spLocks noChangeArrowheads="1"/>
              </p:cNvSpPr>
              <p:nvPr/>
            </p:nvSpPr>
            <p:spPr bwMode="auto">
              <a:xfrm>
                <a:off x="2321" y="1292"/>
                <a:ext cx="254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</a:p>
            </p:txBody>
          </p:sp>
          <p:sp>
            <p:nvSpPr>
              <p:cNvPr id="20" name="Text Box 34"/>
              <p:cNvSpPr txBox="1">
                <a:spLocks noChangeArrowheads="1"/>
              </p:cNvSpPr>
              <p:nvPr/>
            </p:nvSpPr>
            <p:spPr bwMode="auto">
              <a:xfrm>
                <a:off x="3657" y="1238"/>
                <a:ext cx="254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</a:p>
            </p:txBody>
          </p:sp>
          <p:sp>
            <p:nvSpPr>
              <p:cNvPr id="21" name="Text Box 35"/>
              <p:cNvSpPr txBox="1">
                <a:spLocks noChangeArrowheads="1"/>
              </p:cNvSpPr>
              <p:nvPr/>
            </p:nvSpPr>
            <p:spPr bwMode="auto">
              <a:xfrm>
                <a:off x="3630" y="367"/>
                <a:ext cx="254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</a:p>
            </p:txBody>
          </p:sp>
          <p:sp>
            <p:nvSpPr>
              <p:cNvPr id="22" name="Text Box 36"/>
              <p:cNvSpPr txBox="1">
                <a:spLocks noChangeArrowheads="1"/>
              </p:cNvSpPr>
              <p:nvPr/>
            </p:nvSpPr>
            <p:spPr bwMode="auto">
              <a:xfrm>
                <a:off x="3657" y="821"/>
                <a:ext cx="406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</a:t>
                </a:r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3" name="Rectangle 37"/>
              <p:cNvSpPr>
                <a:spLocks noChangeArrowheads="1"/>
              </p:cNvSpPr>
              <p:nvPr/>
            </p:nvSpPr>
            <p:spPr bwMode="auto">
              <a:xfrm rot="5400000">
                <a:off x="3040" y="398"/>
                <a:ext cx="96" cy="295"/>
              </a:xfrm>
              <a:prstGeom prst="rect">
                <a:avLst/>
              </a:prstGeom>
              <a:solidFill>
                <a:schemeClr val="bg1"/>
              </a:solidFill>
              <a:ln w="31750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" name="Line 38"/>
              <p:cNvSpPr>
                <a:spLocks noChangeShapeType="1"/>
              </p:cNvSpPr>
              <p:nvPr/>
            </p:nvSpPr>
            <p:spPr bwMode="auto">
              <a:xfrm>
                <a:off x="3242" y="548"/>
                <a:ext cx="395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5" name="Text Box 39"/>
              <p:cNvSpPr txBox="1">
                <a:spLocks noChangeArrowheads="1"/>
              </p:cNvSpPr>
              <p:nvPr/>
            </p:nvSpPr>
            <p:spPr bwMode="auto">
              <a:xfrm>
                <a:off x="2959" y="569"/>
                <a:ext cx="406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</a:t>
                </a:r>
                <a:r>
                  <a:rPr lang="en-US" altLang="zh-CN" i="1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</a:t>
                </a:r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aphicFrame>
          <p:nvGraphicFramePr>
            <p:cNvPr id="6" name="Object 44"/>
            <p:cNvGraphicFramePr>
              <a:graphicFrameLocks noChangeAspect="1"/>
            </p:cNvGraphicFramePr>
            <p:nvPr/>
          </p:nvGraphicFramePr>
          <p:xfrm>
            <a:off x="2033" y="780"/>
            <a:ext cx="365" cy="3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292100" imgH="241300" progId="Equation.3">
                    <p:embed/>
                  </p:oleObj>
                </mc:Choice>
                <mc:Fallback>
                  <p:oleObj name="Equation" r:id="rId4" imgW="292100" imgH="241300" progId="Equation.3">
                    <p:embed/>
                    <p:pic>
                      <p:nvPicPr>
                        <p:cNvPr id="6" name="Object 4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33" y="780"/>
                          <a:ext cx="365" cy="30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" name="Object 45"/>
            <p:cNvGraphicFramePr>
              <a:graphicFrameLocks noChangeAspect="1"/>
            </p:cNvGraphicFramePr>
            <p:nvPr/>
          </p:nvGraphicFramePr>
          <p:xfrm>
            <a:off x="3298" y="253"/>
            <a:ext cx="238" cy="2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90500" imgH="228600" progId="Equation.3">
                    <p:embed/>
                  </p:oleObj>
                </mc:Choice>
                <mc:Fallback>
                  <p:oleObj name="Equation" r:id="rId6" imgW="190500" imgH="228600" progId="Equation.3">
                    <p:embed/>
                    <p:pic>
                      <p:nvPicPr>
                        <p:cNvPr id="7" name="Object 4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98" y="253"/>
                          <a:ext cx="238" cy="2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8" name="文本框 27"/>
          <p:cNvSpPr txBox="1"/>
          <p:nvPr/>
        </p:nvSpPr>
        <p:spPr>
          <a:xfrm>
            <a:off x="1944634" y="1239267"/>
            <a:ext cx="9276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Y-</a:t>
            </a:r>
            <a:r>
              <a:rPr lang="zh-CN" altLang="en-US" sz="2800" dirty="0">
                <a:latin typeface="楷体" panose="02010609060101010101" charset="-122"/>
                <a:ea typeface="楷体" panose="02010609060101010101" charset="-122"/>
              </a:rPr>
              <a:t>接：</a:t>
            </a:r>
            <a:endParaRPr lang="zh-CN" altLang="en-US" sz="2800" b="1" dirty="0">
              <a:latin typeface="楷体" panose="02010609060101010101" charset="-122"/>
              <a:ea typeface="楷体" panose="02010609060101010101" charset="-122"/>
            </a:endParaRPr>
          </a:p>
        </p:txBody>
      </p:sp>
      <p:grpSp>
        <p:nvGrpSpPr>
          <p:cNvPr id="29" name="组合 28"/>
          <p:cNvGrpSpPr/>
          <p:nvPr/>
        </p:nvGrpSpPr>
        <p:grpSpPr>
          <a:xfrm>
            <a:off x="3005243" y="1247409"/>
            <a:ext cx="3846895" cy="508617"/>
            <a:chOff x="2485643" y="1795463"/>
            <a:chExt cx="3846895" cy="508617"/>
          </a:xfrm>
        </p:grpSpPr>
        <p:graphicFrame>
          <p:nvGraphicFramePr>
            <p:cNvPr id="30" name="对象 29"/>
            <p:cNvGraphicFramePr>
              <a:graphicFrameLocks noChangeAspect="1"/>
            </p:cNvGraphicFramePr>
            <p:nvPr/>
          </p:nvGraphicFramePr>
          <p:xfrm>
            <a:off x="3951288" y="1795463"/>
            <a:ext cx="2381250" cy="4714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72542400" imgH="14325600" progId="Equation.DSMT4">
                    <p:embed/>
                  </p:oleObj>
                </mc:Choice>
                <mc:Fallback>
                  <p:oleObj name="Equation" r:id="rId8" imgW="72542400" imgH="14325600" progId="Equation.DSMT4">
                    <p:embed/>
                    <p:pic>
                      <p:nvPicPr>
                        <p:cNvPr id="30" name="对象 29"/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3951288" y="1795463"/>
                          <a:ext cx="2381250" cy="47148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" name="对象 30"/>
            <p:cNvGraphicFramePr>
              <a:graphicFrameLocks noChangeAspect="1"/>
            </p:cNvGraphicFramePr>
            <p:nvPr/>
          </p:nvGraphicFramePr>
          <p:xfrm>
            <a:off x="2485643" y="1800080"/>
            <a:ext cx="1117565" cy="504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31089600" imgH="14020800" progId="Equation.DSMT4">
                    <p:embed/>
                  </p:oleObj>
                </mc:Choice>
                <mc:Fallback>
                  <p:oleObj name="Equation" r:id="rId10" imgW="31089600" imgH="14020800" progId="Equation.DSMT4">
                    <p:embed/>
                    <p:pic>
                      <p:nvPicPr>
                        <p:cNvPr id="31" name="对象 30"/>
                        <p:cNvPicPr/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2485643" y="1800080"/>
                          <a:ext cx="1117565" cy="504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2" name="组合 31"/>
          <p:cNvGrpSpPr/>
          <p:nvPr/>
        </p:nvGrpSpPr>
        <p:grpSpPr>
          <a:xfrm>
            <a:off x="2976164" y="1890345"/>
            <a:ext cx="3625149" cy="469900"/>
            <a:chOff x="2456564" y="2362200"/>
            <a:chExt cx="3625149" cy="469900"/>
          </a:xfrm>
        </p:grpSpPr>
        <p:graphicFrame>
          <p:nvGraphicFramePr>
            <p:cNvPr id="33" name="对象 32"/>
            <p:cNvGraphicFramePr>
              <a:graphicFrameLocks noChangeAspect="1"/>
            </p:cNvGraphicFramePr>
            <p:nvPr/>
          </p:nvGraphicFramePr>
          <p:xfrm>
            <a:off x="3951288" y="2362200"/>
            <a:ext cx="2130425" cy="469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67665600" imgH="14935200" progId="Equation.DSMT4">
                    <p:embed/>
                  </p:oleObj>
                </mc:Choice>
                <mc:Fallback>
                  <p:oleObj name="Equation" r:id="rId12" imgW="67665600" imgH="14935200" progId="Equation.DSMT4">
                    <p:embed/>
                    <p:pic>
                      <p:nvPicPr>
                        <p:cNvPr id="33" name="对象 32"/>
                        <p:cNvPicPr/>
                        <p:nvPr/>
                      </p:nvPicPr>
                      <p:blipFill>
                        <a:blip r:embed="rId13"/>
                        <a:stretch>
                          <a:fillRect/>
                        </a:stretch>
                      </p:blipFill>
                      <p:spPr>
                        <a:xfrm>
                          <a:off x="3951288" y="2362200"/>
                          <a:ext cx="2130425" cy="469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4" name="对象 33"/>
            <p:cNvGraphicFramePr>
              <a:graphicFrameLocks noChangeAspect="1"/>
            </p:cNvGraphicFramePr>
            <p:nvPr/>
          </p:nvGraphicFramePr>
          <p:xfrm>
            <a:off x="2456564" y="2384408"/>
            <a:ext cx="1335272" cy="432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41452800" imgH="13411200" progId="Equation.DSMT4">
                    <p:embed/>
                  </p:oleObj>
                </mc:Choice>
                <mc:Fallback>
                  <p:oleObj name="Equation" r:id="rId14" imgW="41452800" imgH="13411200" progId="Equation.DSMT4">
                    <p:embed/>
                    <p:pic>
                      <p:nvPicPr>
                        <p:cNvPr id="34" name="对象 33"/>
                        <p:cNvPicPr/>
                        <p:nvPr/>
                      </p:nvPicPr>
                      <p:blipFill>
                        <a:blip r:embed="rId15"/>
                        <a:stretch>
                          <a:fillRect/>
                        </a:stretch>
                      </p:blipFill>
                      <p:spPr>
                        <a:xfrm>
                          <a:off x="2456564" y="2384408"/>
                          <a:ext cx="1335272" cy="432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5" name="文本框 34"/>
          <p:cNvSpPr txBox="1"/>
          <p:nvPr/>
        </p:nvSpPr>
        <p:spPr>
          <a:xfrm>
            <a:off x="1944634" y="1822614"/>
            <a:ext cx="9276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Symbol" panose="05050102010706020507" pitchFamily="18" charset="2"/>
              </a:rPr>
              <a:t></a:t>
            </a:r>
            <a:r>
              <a:rPr lang="en-US" altLang="zh-CN" sz="28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-</a:t>
            </a:r>
            <a:r>
              <a:rPr lang="zh-CN" altLang="en-US" sz="2800" dirty="0">
                <a:latin typeface="楷体" panose="02010609060101010101" charset="-122"/>
                <a:ea typeface="楷体" panose="02010609060101010101" charset="-122"/>
              </a:rPr>
              <a:t>接：</a:t>
            </a:r>
            <a:endParaRPr lang="zh-CN" altLang="en-US" sz="2800" b="1" dirty="0">
              <a:latin typeface="楷体" panose="02010609060101010101" charset="-122"/>
              <a:ea typeface="楷体" panose="02010609060101010101" charset="-122"/>
            </a:endParaRPr>
          </a:p>
        </p:txBody>
      </p:sp>
      <p:pic>
        <p:nvPicPr>
          <p:cNvPr id="36" name="图片 35"/>
          <p:cNvPicPr>
            <a:picLocks noChangeAspect="1"/>
          </p:cNvPicPr>
          <p:nvPr/>
        </p:nvPicPr>
        <p:blipFill rotWithShape="1">
          <a:blip r:embed="rId16"/>
          <a:srcRect r="60473"/>
          <a:stretch>
            <a:fillRect/>
          </a:stretch>
        </p:blipFill>
        <p:spPr>
          <a:xfrm>
            <a:off x="4138734" y="2418429"/>
            <a:ext cx="1605940" cy="2727341"/>
          </a:xfrm>
          <a:prstGeom prst="rect">
            <a:avLst/>
          </a:prstGeom>
        </p:spPr>
      </p:pic>
      <p:pic>
        <p:nvPicPr>
          <p:cNvPr id="37" name="图片 36"/>
          <p:cNvPicPr>
            <a:picLocks noChangeAspect="1"/>
          </p:cNvPicPr>
          <p:nvPr/>
        </p:nvPicPr>
        <p:blipFill rotWithShape="1">
          <a:blip r:embed="rId17"/>
          <a:srcRect r="59114"/>
          <a:stretch>
            <a:fillRect/>
          </a:stretch>
        </p:blipFill>
        <p:spPr>
          <a:xfrm>
            <a:off x="2104962" y="2372910"/>
            <a:ext cx="1731052" cy="2510805"/>
          </a:xfrm>
          <a:prstGeom prst="rect">
            <a:avLst/>
          </a:prstGeom>
        </p:spPr>
      </p:pic>
      <p:sp>
        <p:nvSpPr>
          <p:cNvPr id="38" name="文本框 37"/>
          <p:cNvSpPr txBox="1"/>
          <p:nvPr/>
        </p:nvSpPr>
        <p:spPr>
          <a:xfrm>
            <a:off x="7132240" y="1880147"/>
            <a:ext cx="31151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对称：分相计算法</a:t>
            </a:r>
            <a:endParaRPr lang="zh-CN" altLang="en-US" sz="2800" b="1" dirty="0">
              <a:solidFill>
                <a:srgbClr val="0000FF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2133994" y="5301767"/>
            <a:ext cx="28956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zh-CN" altLang="en-US" sz="2800" dirty="0">
                <a:latin typeface="楷体" panose="02010609060101010101" charset="-122"/>
                <a:ea typeface="楷体" panose="02010609060101010101" charset="-122"/>
              </a:rPr>
              <a:t>三相电路功率</a:t>
            </a:r>
          </a:p>
        </p:txBody>
      </p:sp>
      <p:sp>
        <p:nvSpPr>
          <p:cNvPr id="41" name="文本框 40"/>
          <p:cNvSpPr txBox="1"/>
          <p:nvPr/>
        </p:nvSpPr>
        <p:spPr>
          <a:xfrm>
            <a:off x="7162408" y="5774551"/>
            <a:ext cx="27911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latin typeface="楷体" panose="02010609060101010101" charset="-122"/>
                <a:ea typeface="楷体" panose="02010609060101010101" charset="-122"/>
              </a:rPr>
              <a:t>三表法和二表法</a:t>
            </a:r>
            <a:endParaRPr lang="zh-CN" altLang="en-US" sz="2800" b="1" dirty="0">
              <a:latin typeface="楷体" panose="02010609060101010101" charset="-122"/>
              <a:ea typeface="楷体" panose="02010609060101010101" charset="-122"/>
            </a:endParaRPr>
          </a:p>
        </p:txBody>
      </p:sp>
      <p:graphicFrame>
        <p:nvGraphicFramePr>
          <p:cNvPr id="42" name="对象 41"/>
          <p:cNvGraphicFramePr>
            <a:graphicFrameLocks noChangeAspect="1"/>
          </p:cNvGraphicFramePr>
          <p:nvPr/>
        </p:nvGraphicFramePr>
        <p:xfrm>
          <a:off x="4931117" y="5404644"/>
          <a:ext cx="1854200" cy="360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51816000" imgH="10058400" progId="Equation.DSMT4">
                  <p:embed/>
                </p:oleObj>
              </mc:Choice>
              <mc:Fallback>
                <p:oleObj name="Equation" r:id="rId18" imgW="51816000" imgH="10058400" progId="Equation.DSMT4">
                  <p:embed/>
                  <p:pic>
                    <p:nvPicPr>
                      <p:cNvPr id="42" name="对象 41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4931117" y="5404644"/>
                        <a:ext cx="1854200" cy="36036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" name="对象 42"/>
          <p:cNvGraphicFramePr>
            <a:graphicFrameLocks noChangeAspect="1"/>
          </p:cNvGraphicFramePr>
          <p:nvPr/>
        </p:nvGraphicFramePr>
        <p:xfrm>
          <a:off x="2640354" y="5882481"/>
          <a:ext cx="4008438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18872000" imgH="14935200" progId="Equation.DSMT4">
                  <p:embed/>
                </p:oleObj>
              </mc:Choice>
              <mc:Fallback>
                <p:oleObj name="Equation" r:id="rId20" imgW="118872000" imgH="14935200" progId="Equation.DSMT4">
                  <p:embed/>
                  <p:pic>
                    <p:nvPicPr>
                      <p:cNvPr id="43" name="对象 42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2640354" y="5882481"/>
                        <a:ext cx="4008438" cy="50323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" name="文本框 43"/>
          <p:cNvSpPr txBox="1"/>
          <p:nvPr/>
        </p:nvSpPr>
        <p:spPr>
          <a:xfrm>
            <a:off x="6785317" y="4441859"/>
            <a:ext cx="382360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取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A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相电路计算，其余两相电量由对称性得到</a:t>
            </a:r>
            <a:endParaRPr lang="zh-CN" altLang="en-US" sz="2800" b="1" dirty="0">
              <a:solidFill>
                <a:srgbClr val="0000FF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7132240" y="735622"/>
            <a:ext cx="311512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难点：线电量与相电量的相互转化</a:t>
            </a:r>
            <a:endParaRPr lang="zh-CN" altLang="en-US" sz="2800" b="1" dirty="0">
              <a:solidFill>
                <a:srgbClr val="FF000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2"/>
          <a:stretch>
            <a:fillRect/>
          </a:stretch>
        </p:blipFill>
        <p:spPr>
          <a:xfrm>
            <a:off x="8091805" y="37466"/>
            <a:ext cx="1352550" cy="7524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8" grpId="0"/>
      <p:bldP spid="35" grpId="0"/>
      <p:bldP spid="38" grpId="0"/>
      <p:bldP spid="40" grpId="0"/>
      <p:bldP spid="41" grpId="0"/>
      <p:bldP spid="44" grpId="0"/>
      <p:bldP spid="4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009775" y="1095375"/>
            <a:ext cx="8172450" cy="466725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095500" y="1028700"/>
            <a:ext cx="8001000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019300" y="890271"/>
            <a:ext cx="8153400" cy="507682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2019300" y="190500"/>
            <a:ext cx="2400300" cy="59055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rcRect t="1908" r="1048"/>
          <a:stretch>
            <a:fillRect/>
          </a:stretch>
        </p:blipFill>
        <p:spPr>
          <a:xfrm>
            <a:off x="2066926" y="842646"/>
            <a:ext cx="7973695" cy="5092065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109788" y="847725"/>
            <a:ext cx="7972425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190750" y="909321"/>
            <a:ext cx="7810500" cy="5038725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594" name="Text Box 2"/>
          <p:cNvSpPr txBox="1">
            <a:spLocks noChangeArrowheads="1"/>
          </p:cNvSpPr>
          <p:nvPr/>
        </p:nvSpPr>
        <p:spPr bwMode="auto">
          <a:xfrm>
            <a:off x="2209801" y="3352800"/>
            <a:ext cx="79978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0"/>
              </a:spcBef>
            </a:pPr>
            <a:r>
              <a:rPr kumimoji="1" lang="zh-CN" altLang="en-US" sz="2400" b="1">
                <a:latin typeface="Times New Roman" panose="02020603050405020304" pitchFamily="18" charset="0"/>
              </a:rPr>
              <a:t>当</a:t>
            </a:r>
            <a:r>
              <a:rPr kumimoji="1" lang="en-US" altLang="zh-CN" sz="2400" b="1" i="1">
                <a:latin typeface="Times New Roman" panose="02020603050405020304" pitchFamily="18" charset="0"/>
              </a:rPr>
              <a:t>L</a:t>
            </a:r>
            <a:r>
              <a:rPr kumimoji="1" lang="en-US" altLang="zh-CN" sz="2400" b="1" baseline="-25000">
                <a:latin typeface="Times New Roman" panose="02020603050405020304" pitchFamily="18" charset="0"/>
              </a:rPr>
              <a:t>1</a:t>
            </a:r>
            <a:r>
              <a:rPr kumimoji="1" lang="en-US" altLang="zh-CN" sz="2400" b="1">
                <a:latin typeface="Times New Roman" panose="02020603050405020304" pitchFamily="18" charset="0"/>
              </a:rPr>
              <a:t> , </a:t>
            </a:r>
            <a:r>
              <a:rPr kumimoji="1" lang="en-US" altLang="zh-CN" sz="2400" b="1" i="1">
                <a:latin typeface="Times New Roman" panose="02020603050405020304" pitchFamily="18" charset="0"/>
              </a:rPr>
              <a:t>M</a:t>
            </a:r>
            <a:r>
              <a:rPr kumimoji="1" lang="en-US" altLang="zh-CN" sz="2400" b="1">
                <a:latin typeface="Times New Roman" panose="02020603050405020304" pitchFamily="18" charset="0"/>
              </a:rPr>
              <a:t>,  </a:t>
            </a:r>
            <a:r>
              <a:rPr kumimoji="1" lang="en-US" altLang="zh-CN" sz="2400" b="1" i="1">
                <a:latin typeface="Times New Roman" panose="02020603050405020304" pitchFamily="18" charset="0"/>
              </a:rPr>
              <a:t>L</a:t>
            </a:r>
            <a:r>
              <a:rPr kumimoji="1" lang="en-US" altLang="zh-CN" sz="2400" b="1" baseline="-25000">
                <a:latin typeface="Times New Roman" panose="02020603050405020304" pitchFamily="18" charset="0"/>
              </a:rPr>
              <a:t>2</a:t>
            </a:r>
            <a:r>
              <a:rPr kumimoji="1"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 </a:t>
            </a:r>
            <a:r>
              <a:rPr kumimoji="1"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kumimoji="1" lang="en-US" altLang="zh-CN" sz="2400" b="1" i="1">
                <a:latin typeface="Times New Roman" panose="02020603050405020304" pitchFamily="18" charset="0"/>
              </a:rPr>
              <a:t>L</a:t>
            </a:r>
            <a:r>
              <a:rPr kumimoji="1" lang="en-US" altLang="zh-CN" sz="2400" b="1" baseline="-25000">
                <a:latin typeface="Times New Roman" panose="02020603050405020304" pitchFamily="18" charset="0"/>
              </a:rPr>
              <a:t>1</a:t>
            </a:r>
            <a:r>
              <a:rPr kumimoji="1" lang="en-US" altLang="zh-CN" sz="2400" b="1">
                <a:latin typeface="Times New Roman" panose="02020603050405020304" pitchFamily="18" charset="0"/>
              </a:rPr>
              <a:t>/</a:t>
            </a:r>
            <a:r>
              <a:rPr kumimoji="1" lang="en-US" altLang="zh-CN" sz="2400" b="1" i="1">
                <a:latin typeface="Times New Roman" panose="02020603050405020304" pitchFamily="18" charset="0"/>
              </a:rPr>
              <a:t>L</a:t>
            </a:r>
            <a:r>
              <a:rPr kumimoji="1" lang="en-US" altLang="zh-CN" sz="2400" b="1" baseline="-25000">
                <a:latin typeface="Times New Roman" panose="02020603050405020304" pitchFamily="18" charset="0"/>
              </a:rPr>
              <a:t>2 </a:t>
            </a:r>
            <a:r>
              <a:rPr kumimoji="1" lang="zh-CN" altLang="en-US" sz="2400" b="1">
                <a:latin typeface="Times New Roman" panose="02020603050405020304" pitchFamily="18" charset="0"/>
              </a:rPr>
              <a:t>比值不变 </a:t>
            </a:r>
            <a:r>
              <a:rPr kumimoji="1" lang="en-US" altLang="zh-CN" sz="2400" b="1">
                <a:latin typeface="Times New Roman" panose="02020603050405020304" pitchFamily="18" charset="0"/>
              </a:rPr>
              <a:t>(</a:t>
            </a:r>
            <a:r>
              <a:rPr kumimoji="1" lang="zh-CN" altLang="en-US" sz="2400" b="1">
                <a:latin typeface="Times New Roman" panose="02020603050405020304" pitchFamily="18" charset="0"/>
              </a:rPr>
              <a:t>磁导率</a:t>
            </a:r>
            <a:r>
              <a:rPr kumimoji="1" lang="en-US" altLang="zh-CN" sz="2400" b="1" i="1">
                <a:latin typeface="Symbol" panose="05050102010706020507" pitchFamily="18" charset="2"/>
              </a:rPr>
              <a:t>m</a:t>
            </a:r>
            <a:r>
              <a:rPr kumimoji="1"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 )  ,  </a:t>
            </a:r>
            <a:r>
              <a:rPr kumimoji="1"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则有</a:t>
            </a:r>
          </a:p>
        </p:txBody>
      </p:sp>
      <p:sp>
        <p:nvSpPr>
          <p:cNvPr id="750595" name="Text Box 3"/>
          <p:cNvSpPr txBox="1">
            <a:spLocks noChangeArrowheads="1"/>
          </p:cNvSpPr>
          <p:nvPr/>
        </p:nvSpPr>
        <p:spPr bwMode="auto">
          <a:xfrm>
            <a:off x="1828801" y="304800"/>
            <a:ext cx="50704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kumimoji="1" lang="en-US" altLang="zh-CN" sz="2400" b="1">
                <a:solidFill>
                  <a:srgbClr val="0000FF"/>
                </a:solidFill>
                <a:latin typeface="Times New Roman" panose="02020603050405020304" pitchFamily="18" charset="0"/>
              </a:rPr>
              <a:t>6. </a:t>
            </a:r>
            <a:r>
              <a:rPr kumimoji="1" lang="zh-CN" altLang="en-US" sz="2400" b="1">
                <a:solidFill>
                  <a:srgbClr val="0000FF"/>
                </a:solidFill>
                <a:latin typeface="Times New Roman" panose="02020603050405020304" pitchFamily="18" charset="0"/>
              </a:rPr>
              <a:t>理想变压器 </a:t>
            </a:r>
            <a:r>
              <a:rPr kumimoji="1" lang="en-US" altLang="zh-CN" sz="2400" b="1">
                <a:solidFill>
                  <a:srgbClr val="0000FF"/>
                </a:solidFill>
                <a:latin typeface="Times New Roman" panose="02020603050405020304" pitchFamily="18" charset="0"/>
              </a:rPr>
              <a:t>(</a:t>
            </a:r>
            <a:r>
              <a:rPr kumimoji="1" lang="en-US" altLang="zh-CN" sz="2400" b="1" i="1">
                <a:solidFill>
                  <a:srgbClr val="0000FF"/>
                </a:solidFill>
                <a:latin typeface="Times New Roman" panose="02020603050405020304" pitchFamily="18" charset="0"/>
              </a:rPr>
              <a:t>ideal transformer</a:t>
            </a:r>
            <a:r>
              <a:rPr kumimoji="1" lang="en-US" altLang="zh-CN" sz="2400" b="1">
                <a:solidFill>
                  <a:srgbClr val="0000FF"/>
                </a:solidFill>
                <a:latin typeface="Times New Roman" panose="02020603050405020304" pitchFamily="18" charset="0"/>
              </a:rPr>
              <a:t>)</a:t>
            </a:r>
          </a:p>
        </p:txBody>
      </p:sp>
      <p:grpSp>
        <p:nvGrpSpPr>
          <p:cNvPr id="750596" name="Group 4"/>
          <p:cNvGrpSpPr>
            <a:grpSpLocks/>
          </p:cNvGrpSpPr>
          <p:nvPr/>
        </p:nvGrpSpPr>
        <p:grpSpPr bwMode="auto">
          <a:xfrm>
            <a:off x="2895601" y="4038601"/>
            <a:ext cx="1700213" cy="1279525"/>
            <a:chOff x="816" y="2688"/>
            <a:chExt cx="1071" cy="806"/>
          </a:xfrm>
        </p:grpSpPr>
        <p:graphicFrame>
          <p:nvGraphicFramePr>
            <p:cNvPr id="750597" name="Object 5"/>
            <p:cNvGraphicFramePr>
              <a:graphicFrameLocks noChangeAspect="1"/>
            </p:cNvGraphicFramePr>
            <p:nvPr/>
          </p:nvGraphicFramePr>
          <p:xfrm>
            <a:off x="935" y="2688"/>
            <a:ext cx="899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" imgW="711000" imgH="228600" progId="Equation.3">
                    <p:embed/>
                  </p:oleObj>
                </mc:Choice>
                <mc:Fallback>
                  <p:oleObj name="公式" r:id="rId3" imgW="711000" imgH="228600" progId="Equation.3">
                    <p:embed/>
                    <p:pic>
                      <p:nvPicPr>
                        <p:cNvPr id="750597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35" y="2688"/>
                          <a:ext cx="899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50598" name="Object 6"/>
            <p:cNvGraphicFramePr>
              <a:graphicFrameLocks noChangeAspect="1"/>
            </p:cNvGraphicFramePr>
            <p:nvPr/>
          </p:nvGraphicFramePr>
          <p:xfrm>
            <a:off x="963" y="3042"/>
            <a:ext cx="924" cy="4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5" imgW="723600" imgH="355320" progId="Equation.3">
                    <p:embed/>
                  </p:oleObj>
                </mc:Choice>
                <mc:Fallback>
                  <p:oleObj name="公式" r:id="rId5" imgW="723600" imgH="355320" progId="Equation.3">
                    <p:embed/>
                    <p:pic>
                      <p:nvPicPr>
                        <p:cNvPr id="750598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63" y="3042"/>
                          <a:ext cx="924" cy="4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50599" name="AutoShape 7"/>
            <p:cNvSpPr>
              <a:spLocks/>
            </p:cNvSpPr>
            <p:nvPr/>
          </p:nvSpPr>
          <p:spPr bwMode="auto">
            <a:xfrm>
              <a:off x="816" y="2692"/>
              <a:ext cx="119" cy="730"/>
            </a:xfrm>
            <a:prstGeom prst="leftBrace">
              <a:avLst>
                <a:gd name="adj1" fmla="val 51120"/>
                <a:gd name="adj2" fmla="val 50000"/>
              </a:avLst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750600" name="Group 8"/>
          <p:cNvGrpSpPr>
            <a:grpSpLocks/>
          </p:cNvGrpSpPr>
          <p:nvPr/>
        </p:nvGrpSpPr>
        <p:grpSpPr bwMode="auto">
          <a:xfrm>
            <a:off x="6248400" y="3733800"/>
            <a:ext cx="3436938" cy="2160588"/>
            <a:chOff x="2652" y="813"/>
            <a:chExt cx="2165" cy="1361"/>
          </a:xfrm>
        </p:grpSpPr>
        <p:sp>
          <p:nvSpPr>
            <p:cNvPr id="750601" name="Line 9"/>
            <p:cNvSpPr>
              <a:spLocks noChangeShapeType="1"/>
            </p:cNvSpPr>
            <p:nvPr/>
          </p:nvSpPr>
          <p:spPr bwMode="auto">
            <a:xfrm flipH="1">
              <a:off x="3574" y="1843"/>
              <a:ext cx="4" cy="21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50602" name="Line 10"/>
            <p:cNvSpPr>
              <a:spLocks noChangeShapeType="1"/>
            </p:cNvSpPr>
            <p:nvPr/>
          </p:nvSpPr>
          <p:spPr bwMode="auto">
            <a:xfrm>
              <a:off x="3576" y="1267"/>
              <a:ext cx="2" cy="21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50603" name="Line 11"/>
            <p:cNvSpPr>
              <a:spLocks noChangeShapeType="1"/>
            </p:cNvSpPr>
            <p:nvPr/>
          </p:nvSpPr>
          <p:spPr bwMode="auto">
            <a:xfrm flipH="1">
              <a:off x="4004" y="1866"/>
              <a:ext cx="0" cy="20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50604" name="Line 12"/>
            <p:cNvSpPr>
              <a:spLocks noChangeShapeType="1"/>
            </p:cNvSpPr>
            <p:nvPr/>
          </p:nvSpPr>
          <p:spPr bwMode="auto">
            <a:xfrm>
              <a:off x="4006" y="1262"/>
              <a:ext cx="0" cy="2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50605" name="Line 13"/>
            <p:cNvSpPr>
              <a:spLocks noChangeShapeType="1"/>
            </p:cNvSpPr>
            <p:nvPr/>
          </p:nvSpPr>
          <p:spPr bwMode="auto">
            <a:xfrm>
              <a:off x="2966" y="1262"/>
              <a:ext cx="608" cy="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50606" name="Line 14"/>
            <p:cNvSpPr>
              <a:spLocks noChangeShapeType="1"/>
            </p:cNvSpPr>
            <p:nvPr/>
          </p:nvSpPr>
          <p:spPr bwMode="auto">
            <a:xfrm flipV="1">
              <a:off x="4006" y="2068"/>
              <a:ext cx="50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50607" name="Line 15"/>
            <p:cNvSpPr>
              <a:spLocks noChangeShapeType="1"/>
            </p:cNvSpPr>
            <p:nvPr/>
          </p:nvSpPr>
          <p:spPr bwMode="auto">
            <a:xfrm rot="5400000">
              <a:off x="4385" y="1065"/>
              <a:ext cx="0" cy="25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50608" name="Text Box 16"/>
            <p:cNvSpPr txBox="1">
              <a:spLocks noChangeArrowheads="1"/>
            </p:cNvSpPr>
            <p:nvPr/>
          </p:nvSpPr>
          <p:spPr bwMode="auto">
            <a:xfrm>
              <a:off x="3600" y="1287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kumimoji="1" lang="en-US" altLang="zh-CN" sz="2000" b="1">
                  <a:solidFill>
                    <a:srgbClr val="FF3300"/>
                  </a:solidFill>
                  <a:latin typeface="Times New Roman" panose="02020603050405020304" pitchFamily="18" charset="0"/>
                </a:rPr>
                <a:t>*</a:t>
              </a:r>
            </a:p>
          </p:txBody>
        </p:sp>
        <p:sp>
          <p:nvSpPr>
            <p:cNvPr id="750609" name="Text Box 17"/>
            <p:cNvSpPr txBox="1">
              <a:spLocks noChangeArrowheads="1"/>
            </p:cNvSpPr>
            <p:nvPr/>
          </p:nvSpPr>
          <p:spPr bwMode="auto">
            <a:xfrm>
              <a:off x="3821" y="1281"/>
              <a:ext cx="18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kumimoji="1" lang="en-US" altLang="zh-CN" sz="2000" b="1">
                  <a:solidFill>
                    <a:srgbClr val="FF3300"/>
                  </a:solidFill>
                  <a:latin typeface="Times New Roman" panose="02020603050405020304" pitchFamily="18" charset="0"/>
                </a:rPr>
                <a:t>*</a:t>
              </a:r>
            </a:p>
          </p:txBody>
        </p:sp>
        <p:sp>
          <p:nvSpPr>
            <p:cNvPr id="750610" name="Line 18"/>
            <p:cNvSpPr>
              <a:spLocks noChangeShapeType="1"/>
            </p:cNvSpPr>
            <p:nvPr/>
          </p:nvSpPr>
          <p:spPr bwMode="auto">
            <a:xfrm>
              <a:off x="2957" y="1193"/>
              <a:ext cx="2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750611" name="Group 19"/>
            <p:cNvGrpSpPr>
              <a:grpSpLocks/>
            </p:cNvGrpSpPr>
            <p:nvPr/>
          </p:nvGrpSpPr>
          <p:grpSpPr bwMode="auto">
            <a:xfrm rot="16200000" flipH="1">
              <a:off x="3798" y="1656"/>
              <a:ext cx="370" cy="53"/>
              <a:chOff x="1200" y="1584"/>
              <a:chExt cx="379" cy="45"/>
            </a:xfrm>
          </p:grpSpPr>
          <p:sp>
            <p:nvSpPr>
              <p:cNvPr id="750612" name="Arc 20"/>
              <p:cNvSpPr>
                <a:spLocks/>
              </p:cNvSpPr>
              <p:nvPr/>
            </p:nvSpPr>
            <p:spPr bwMode="auto">
              <a:xfrm rot="5400000" flipH="1" flipV="1">
                <a:off x="1223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199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199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50613" name="Arc 21"/>
              <p:cNvSpPr>
                <a:spLocks/>
              </p:cNvSpPr>
              <p:nvPr/>
            </p:nvSpPr>
            <p:spPr bwMode="auto">
              <a:xfrm rot="5400000" flipH="1" flipV="1">
                <a:off x="1319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199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199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50614" name="Arc 22"/>
              <p:cNvSpPr>
                <a:spLocks/>
              </p:cNvSpPr>
              <p:nvPr/>
            </p:nvSpPr>
            <p:spPr bwMode="auto">
              <a:xfrm rot="5400000" flipH="1" flipV="1">
                <a:off x="1415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199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199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50615" name="Arc 23"/>
              <p:cNvSpPr>
                <a:spLocks/>
              </p:cNvSpPr>
              <p:nvPr/>
            </p:nvSpPr>
            <p:spPr bwMode="auto">
              <a:xfrm rot="5400000" flipH="1" flipV="1">
                <a:off x="1511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199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199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750616" name="Oval 24"/>
            <p:cNvSpPr>
              <a:spLocks noChangeArrowheads="1"/>
            </p:cNvSpPr>
            <p:nvPr/>
          </p:nvSpPr>
          <p:spPr bwMode="auto">
            <a:xfrm>
              <a:off x="2914" y="1247"/>
              <a:ext cx="45" cy="4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50617" name="Oval 25"/>
            <p:cNvSpPr>
              <a:spLocks noChangeArrowheads="1"/>
            </p:cNvSpPr>
            <p:nvPr/>
          </p:nvSpPr>
          <p:spPr bwMode="auto">
            <a:xfrm>
              <a:off x="4493" y="1242"/>
              <a:ext cx="45" cy="4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50618" name="Line 26"/>
            <p:cNvSpPr>
              <a:spLocks noChangeShapeType="1"/>
            </p:cNvSpPr>
            <p:nvPr/>
          </p:nvSpPr>
          <p:spPr bwMode="auto">
            <a:xfrm>
              <a:off x="4004" y="1262"/>
              <a:ext cx="48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50619" name="Oval 27"/>
            <p:cNvSpPr>
              <a:spLocks noChangeArrowheads="1"/>
            </p:cNvSpPr>
            <p:nvPr/>
          </p:nvSpPr>
          <p:spPr bwMode="auto">
            <a:xfrm>
              <a:off x="4507" y="2046"/>
              <a:ext cx="45" cy="4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750620" name="Object 28"/>
            <p:cNvGraphicFramePr>
              <a:graphicFrameLocks noChangeAspect="1"/>
            </p:cNvGraphicFramePr>
            <p:nvPr/>
          </p:nvGraphicFramePr>
          <p:xfrm>
            <a:off x="2954" y="813"/>
            <a:ext cx="218" cy="3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7" imgW="164880" imgH="304560" progId="Equation.3">
                    <p:embed/>
                  </p:oleObj>
                </mc:Choice>
                <mc:Fallback>
                  <p:oleObj name="公式" r:id="rId7" imgW="164880" imgH="304560" progId="Equation.3">
                    <p:embed/>
                    <p:pic>
                      <p:nvPicPr>
                        <p:cNvPr id="750620" name="Object 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54" y="813"/>
                          <a:ext cx="218" cy="3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50621" name="Object 29"/>
            <p:cNvGraphicFramePr>
              <a:graphicFrameLocks noChangeAspect="1"/>
            </p:cNvGraphicFramePr>
            <p:nvPr/>
          </p:nvGraphicFramePr>
          <p:xfrm>
            <a:off x="4313" y="813"/>
            <a:ext cx="223" cy="3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9" imgW="164880" imgH="304560" progId="Equation.3">
                    <p:embed/>
                  </p:oleObj>
                </mc:Choice>
                <mc:Fallback>
                  <p:oleObj name="公式" r:id="rId9" imgW="164880" imgH="304560" progId="Equation.3">
                    <p:embed/>
                    <p:pic>
                      <p:nvPicPr>
                        <p:cNvPr id="750621" name="Object 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13" y="813"/>
                          <a:ext cx="223" cy="3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50622" name="Line 30"/>
            <p:cNvSpPr>
              <a:spLocks noChangeShapeType="1"/>
            </p:cNvSpPr>
            <p:nvPr/>
          </p:nvSpPr>
          <p:spPr bwMode="auto">
            <a:xfrm flipH="1">
              <a:off x="2966" y="2060"/>
              <a:ext cx="608" cy="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50623" name="Oval 31"/>
            <p:cNvSpPr>
              <a:spLocks noChangeArrowheads="1"/>
            </p:cNvSpPr>
            <p:nvPr/>
          </p:nvSpPr>
          <p:spPr bwMode="auto">
            <a:xfrm flipH="1">
              <a:off x="2918" y="2034"/>
              <a:ext cx="45" cy="4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50624" name="Text Box 32"/>
            <p:cNvSpPr txBox="1">
              <a:spLocks noChangeArrowheads="1"/>
            </p:cNvSpPr>
            <p:nvPr/>
          </p:nvSpPr>
          <p:spPr bwMode="auto">
            <a:xfrm>
              <a:off x="4536" y="1146"/>
              <a:ext cx="26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/>
              <a:r>
                <a:rPr kumimoji="1" lang="en-US" altLang="zh-CN" sz="2000" b="1">
                  <a:latin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750625" name="Text Box 33"/>
            <p:cNvSpPr txBox="1">
              <a:spLocks noChangeArrowheads="1"/>
            </p:cNvSpPr>
            <p:nvPr/>
          </p:nvSpPr>
          <p:spPr bwMode="auto">
            <a:xfrm>
              <a:off x="4558" y="1924"/>
              <a:ext cx="25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/>
              <a:r>
                <a:rPr kumimoji="1" lang="en-US" altLang="zh-CN" sz="2000" b="1">
                  <a:latin typeface="Times New Roman" panose="02020603050405020304" pitchFamily="18" charset="0"/>
                </a:rPr>
                <a:t>–</a:t>
              </a:r>
            </a:p>
          </p:txBody>
        </p:sp>
        <p:graphicFrame>
          <p:nvGraphicFramePr>
            <p:cNvPr id="750626" name="Object 34"/>
            <p:cNvGraphicFramePr>
              <a:graphicFrameLocks noChangeAspect="1"/>
            </p:cNvGraphicFramePr>
            <p:nvPr/>
          </p:nvGraphicFramePr>
          <p:xfrm>
            <a:off x="4550" y="1451"/>
            <a:ext cx="232" cy="3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1" imgW="203040" imgH="304560" progId="Equation.3">
                    <p:embed/>
                  </p:oleObj>
                </mc:Choice>
                <mc:Fallback>
                  <p:oleObj name="公式" r:id="rId11" imgW="203040" imgH="304560" progId="Equation.3">
                    <p:embed/>
                    <p:pic>
                      <p:nvPicPr>
                        <p:cNvPr id="750626" name="Object 3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50" y="1451"/>
                          <a:ext cx="232" cy="3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50627" name="Text Box 35"/>
            <p:cNvSpPr txBox="1">
              <a:spLocks noChangeArrowheads="1"/>
            </p:cNvSpPr>
            <p:nvPr/>
          </p:nvSpPr>
          <p:spPr bwMode="auto">
            <a:xfrm>
              <a:off x="2657" y="1161"/>
              <a:ext cx="26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/>
              <a:r>
                <a:rPr kumimoji="1" lang="en-US" altLang="zh-CN" sz="2000" b="1">
                  <a:latin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750628" name="Text Box 36"/>
            <p:cNvSpPr txBox="1">
              <a:spLocks noChangeArrowheads="1"/>
            </p:cNvSpPr>
            <p:nvPr/>
          </p:nvSpPr>
          <p:spPr bwMode="auto">
            <a:xfrm>
              <a:off x="2685" y="1922"/>
              <a:ext cx="26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/>
              <a:r>
                <a:rPr kumimoji="1" lang="en-US" altLang="zh-CN" sz="2000" b="1">
                  <a:latin typeface="Times New Roman" panose="02020603050405020304" pitchFamily="18" charset="0"/>
                </a:rPr>
                <a:t>–</a:t>
              </a:r>
            </a:p>
          </p:txBody>
        </p:sp>
        <p:graphicFrame>
          <p:nvGraphicFramePr>
            <p:cNvPr id="750629" name="Object 37"/>
            <p:cNvGraphicFramePr>
              <a:graphicFrameLocks noChangeAspect="1"/>
            </p:cNvGraphicFramePr>
            <p:nvPr/>
          </p:nvGraphicFramePr>
          <p:xfrm>
            <a:off x="2652" y="1438"/>
            <a:ext cx="235" cy="3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3" imgW="203040" imgH="304560" progId="Equation.3">
                    <p:embed/>
                  </p:oleObj>
                </mc:Choice>
                <mc:Fallback>
                  <p:oleObj name="公式" r:id="rId13" imgW="203040" imgH="304560" progId="Equation.3">
                    <p:embed/>
                    <p:pic>
                      <p:nvPicPr>
                        <p:cNvPr id="750629" name="Object 3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52" y="1438"/>
                          <a:ext cx="235" cy="3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750630" name="Group 38"/>
            <p:cNvGrpSpPr>
              <a:grpSpLocks/>
            </p:cNvGrpSpPr>
            <p:nvPr/>
          </p:nvGrpSpPr>
          <p:grpSpPr bwMode="auto">
            <a:xfrm rot="5400000">
              <a:off x="3419" y="1637"/>
              <a:ext cx="370" cy="53"/>
              <a:chOff x="1200" y="1584"/>
              <a:chExt cx="379" cy="45"/>
            </a:xfrm>
          </p:grpSpPr>
          <p:sp>
            <p:nvSpPr>
              <p:cNvPr id="750631" name="Arc 39"/>
              <p:cNvSpPr>
                <a:spLocks/>
              </p:cNvSpPr>
              <p:nvPr/>
            </p:nvSpPr>
            <p:spPr bwMode="auto">
              <a:xfrm rot="5400000" flipH="1" flipV="1">
                <a:off x="1223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199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199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50632" name="Arc 40"/>
              <p:cNvSpPr>
                <a:spLocks/>
              </p:cNvSpPr>
              <p:nvPr/>
            </p:nvSpPr>
            <p:spPr bwMode="auto">
              <a:xfrm rot="5400000" flipH="1" flipV="1">
                <a:off x="1319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199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199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50633" name="Arc 41"/>
              <p:cNvSpPr>
                <a:spLocks/>
              </p:cNvSpPr>
              <p:nvPr/>
            </p:nvSpPr>
            <p:spPr bwMode="auto">
              <a:xfrm rot="5400000" flipH="1" flipV="1">
                <a:off x="1415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199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199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50634" name="Arc 42"/>
              <p:cNvSpPr>
                <a:spLocks/>
              </p:cNvSpPr>
              <p:nvPr/>
            </p:nvSpPr>
            <p:spPr bwMode="auto">
              <a:xfrm rot="5400000" flipH="1" flipV="1">
                <a:off x="1511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199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199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750635" name="Text Box 43"/>
            <p:cNvSpPr txBox="1">
              <a:spLocks noChangeArrowheads="1"/>
            </p:cNvSpPr>
            <p:nvPr/>
          </p:nvSpPr>
          <p:spPr bwMode="auto">
            <a:xfrm>
              <a:off x="3574" y="936"/>
              <a:ext cx="51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/>
              <a:r>
                <a:rPr kumimoji="1" lang="en-US" altLang="zh-CN" sz="2400" b="1" i="1">
                  <a:latin typeface="Times New Roman" panose="02020603050405020304" pitchFamily="18" charset="0"/>
                </a:rPr>
                <a:t>n</a:t>
              </a:r>
              <a:r>
                <a:rPr kumimoji="1" lang="en-US" altLang="zh-CN" sz="2400" b="1">
                  <a:latin typeface="Times New Roman" panose="02020603050405020304" pitchFamily="18" charset="0"/>
                </a:rPr>
                <a:t> : 1</a:t>
              </a:r>
            </a:p>
          </p:txBody>
        </p:sp>
      </p:grpSp>
      <p:sp>
        <p:nvSpPr>
          <p:cNvPr id="750636" name="Text Box 44"/>
          <p:cNvSpPr txBox="1">
            <a:spLocks noChangeArrowheads="1"/>
          </p:cNvSpPr>
          <p:nvPr/>
        </p:nvSpPr>
        <p:spPr bwMode="auto">
          <a:xfrm>
            <a:off x="2286001" y="5334000"/>
            <a:ext cx="32480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kumimoji="1" lang="zh-CN" altLang="en-US" sz="2400" b="1">
                <a:solidFill>
                  <a:srgbClr val="0000FF"/>
                </a:solidFill>
                <a:latin typeface="Times New Roman" panose="02020603050405020304" pitchFamily="18" charset="0"/>
              </a:rPr>
              <a:t>理想变压器的元件特性</a:t>
            </a:r>
          </a:p>
        </p:txBody>
      </p:sp>
      <p:sp>
        <p:nvSpPr>
          <p:cNvPr id="750637" name="Text Box 45"/>
          <p:cNvSpPr txBox="1">
            <a:spLocks noChangeArrowheads="1"/>
          </p:cNvSpPr>
          <p:nvPr/>
        </p:nvSpPr>
        <p:spPr bwMode="auto">
          <a:xfrm>
            <a:off x="6400800" y="5867400"/>
            <a:ext cx="34480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0"/>
              </a:spcBef>
            </a:pPr>
            <a:r>
              <a:rPr kumimoji="1" lang="zh-CN" altLang="en-US" sz="2400" b="1">
                <a:solidFill>
                  <a:srgbClr val="FF3300"/>
                </a:solidFill>
                <a:latin typeface="Times New Roman" panose="02020603050405020304" pitchFamily="18" charset="0"/>
              </a:rPr>
              <a:t>理想变压器的电路模型</a:t>
            </a:r>
            <a:endParaRPr kumimoji="1" lang="zh-CN" altLang="en-US" sz="2400" b="1">
              <a:latin typeface="Times New Roman" panose="02020603050405020304" pitchFamily="18" charset="0"/>
            </a:endParaRPr>
          </a:p>
        </p:txBody>
      </p:sp>
      <p:grpSp>
        <p:nvGrpSpPr>
          <p:cNvPr id="750638" name="Group 46"/>
          <p:cNvGrpSpPr>
            <a:grpSpLocks/>
          </p:cNvGrpSpPr>
          <p:nvPr/>
        </p:nvGrpSpPr>
        <p:grpSpPr bwMode="auto">
          <a:xfrm>
            <a:off x="2438400" y="823914"/>
            <a:ext cx="2947988" cy="2370137"/>
            <a:chOff x="384" y="612"/>
            <a:chExt cx="1857" cy="1493"/>
          </a:xfrm>
        </p:grpSpPr>
        <p:sp>
          <p:nvSpPr>
            <p:cNvPr id="750639" name="Rectangle 47"/>
            <p:cNvSpPr>
              <a:spLocks noChangeArrowheads="1"/>
            </p:cNvSpPr>
            <p:nvPr/>
          </p:nvSpPr>
          <p:spPr bwMode="auto">
            <a:xfrm>
              <a:off x="881" y="915"/>
              <a:ext cx="785" cy="918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0640" name="Rectangle 48"/>
            <p:cNvSpPr>
              <a:spLocks noChangeArrowheads="1"/>
            </p:cNvSpPr>
            <p:nvPr/>
          </p:nvSpPr>
          <p:spPr bwMode="auto">
            <a:xfrm>
              <a:off x="1042" y="1078"/>
              <a:ext cx="432" cy="580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0641" name="AutoShape 49"/>
            <p:cNvSpPr>
              <a:spLocks noChangeArrowheads="1"/>
            </p:cNvSpPr>
            <p:nvPr/>
          </p:nvSpPr>
          <p:spPr bwMode="auto">
            <a:xfrm>
              <a:off x="952" y="1006"/>
              <a:ext cx="624" cy="731"/>
            </a:xfrm>
            <a:prstGeom prst="roundRect">
              <a:avLst>
                <a:gd name="adj" fmla="val 16667"/>
              </a:avLst>
            </a:prstGeom>
            <a:noFill/>
            <a:ln w="19050">
              <a:solidFill>
                <a:srgbClr val="FF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0642" name="Line 50"/>
            <p:cNvSpPr>
              <a:spLocks noChangeShapeType="1"/>
            </p:cNvSpPr>
            <p:nvPr/>
          </p:nvSpPr>
          <p:spPr bwMode="auto">
            <a:xfrm>
              <a:off x="1570" y="1350"/>
              <a:ext cx="0" cy="62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750643" name="Group 51"/>
            <p:cNvGrpSpPr>
              <a:grpSpLocks/>
            </p:cNvGrpSpPr>
            <p:nvPr/>
          </p:nvGrpSpPr>
          <p:grpSpPr bwMode="auto">
            <a:xfrm>
              <a:off x="656" y="1127"/>
              <a:ext cx="423" cy="450"/>
              <a:chOff x="862" y="2612"/>
              <a:chExt cx="423" cy="450"/>
            </a:xfrm>
          </p:grpSpPr>
          <p:sp>
            <p:nvSpPr>
              <p:cNvPr id="750644" name="Freeform 52"/>
              <p:cNvSpPr>
                <a:spLocks/>
              </p:cNvSpPr>
              <p:nvPr/>
            </p:nvSpPr>
            <p:spPr bwMode="auto">
              <a:xfrm>
                <a:off x="892" y="2626"/>
                <a:ext cx="348" cy="1"/>
              </a:xfrm>
              <a:custGeom>
                <a:avLst/>
                <a:gdLst>
                  <a:gd name="T0" fmla="*/ 0 w 739"/>
                  <a:gd name="T1" fmla="*/ 0 h 1"/>
                  <a:gd name="T2" fmla="*/ 739 w 739"/>
                  <a:gd name="T3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739" h="1">
                    <a:moveTo>
                      <a:pt x="0" y="0"/>
                    </a:moveTo>
                    <a:lnTo>
                      <a:pt x="739" y="0"/>
                    </a:lnTo>
                  </a:path>
                </a:pathLst>
              </a:cu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50645" name="Line 53"/>
              <p:cNvSpPr>
                <a:spLocks noChangeShapeType="1"/>
              </p:cNvSpPr>
              <p:nvPr/>
            </p:nvSpPr>
            <p:spPr bwMode="auto">
              <a:xfrm>
                <a:off x="888" y="3036"/>
                <a:ext cx="204" cy="3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50646" name="Freeform 54"/>
              <p:cNvSpPr>
                <a:spLocks/>
              </p:cNvSpPr>
              <p:nvPr/>
            </p:nvSpPr>
            <p:spPr bwMode="auto">
              <a:xfrm>
                <a:off x="1239" y="2624"/>
                <a:ext cx="45" cy="36"/>
              </a:xfrm>
              <a:custGeom>
                <a:avLst/>
                <a:gdLst>
                  <a:gd name="T0" fmla="*/ 0 w 95"/>
                  <a:gd name="T1" fmla="*/ 0 h 60"/>
                  <a:gd name="T2" fmla="*/ 90 w 95"/>
                  <a:gd name="T3" fmla="*/ 18 h 60"/>
                  <a:gd name="T4" fmla="*/ 30 w 95"/>
                  <a:gd name="T5" fmla="*/ 6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5" h="60">
                    <a:moveTo>
                      <a:pt x="0" y="0"/>
                    </a:moveTo>
                    <a:cubicBezTo>
                      <a:pt x="15" y="3"/>
                      <a:pt x="85" y="8"/>
                      <a:pt x="90" y="18"/>
                    </a:cubicBezTo>
                    <a:cubicBezTo>
                      <a:pt x="95" y="28"/>
                      <a:pt x="42" y="51"/>
                      <a:pt x="30" y="60"/>
                    </a:cubicBezTo>
                  </a:path>
                </a:pathLst>
              </a:cu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50647" name="Freeform 55"/>
              <p:cNvSpPr>
                <a:spLocks/>
              </p:cNvSpPr>
              <p:nvPr/>
            </p:nvSpPr>
            <p:spPr bwMode="auto">
              <a:xfrm>
                <a:off x="1061" y="2697"/>
                <a:ext cx="223" cy="75"/>
              </a:xfrm>
              <a:custGeom>
                <a:avLst/>
                <a:gdLst>
                  <a:gd name="T0" fmla="*/ 62 w 474"/>
                  <a:gd name="T1" fmla="*/ 0 h 126"/>
                  <a:gd name="T2" fmla="*/ 2 w 474"/>
                  <a:gd name="T3" fmla="*/ 14 h 126"/>
                  <a:gd name="T4" fmla="*/ 73 w 474"/>
                  <a:gd name="T5" fmla="*/ 57 h 126"/>
                  <a:gd name="T6" fmla="*/ 416 w 474"/>
                  <a:gd name="T7" fmla="*/ 82 h 126"/>
                  <a:gd name="T8" fmla="*/ 422 w 474"/>
                  <a:gd name="T9" fmla="*/ 126 h 1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74" h="126">
                    <a:moveTo>
                      <a:pt x="62" y="0"/>
                    </a:moveTo>
                    <a:cubicBezTo>
                      <a:pt x="34" y="2"/>
                      <a:pt x="0" y="5"/>
                      <a:pt x="2" y="14"/>
                    </a:cubicBezTo>
                    <a:cubicBezTo>
                      <a:pt x="4" y="23"/>
                      <a:pt x="4" y="46"/>
                      <a:pt x="73" y="57"/>
                    </a:cubicBezTo>
                    <a:cubicBezTo>
                      <a:pt x="142" y="68"/>
                      <a:pt x="358" y="71"/>
                      <a:pt x="416" y="82"/>
                    </a:cubicBezTo>
                    <a:cubicBezTo>
                      <a:pt x="474" y="93"/>
                      <a:pt x="451" y="109"/>
                      <a:pt x="422" y="126"/>
                    </a:cubicBezTo>
                  </a:path>
                </a:pathLst>
              </a:cu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50648" name="Freeform 56"/>
              <p:cNvSpPr>
                <a:spLocks/>
              </p:cNvSpPr>
              <p:nvPr/>
            </p:nvSpPr>
            <p:spPr bwMode="auto">
              <a:xfrm>
                <a:off x="1061" y="2801"/>
                <a:ext cx="223" cy="75"/>
              </a:xfrm>
              <a:custGeom>
                <a:avLst/>
                <a:gdLst>
                  <a:gd name="T0" fmla="*/ 61 w 474"/>
                  <a:gd name="T1" fmla="*/ 0 h 126"/>
                  <a:gd name="T2" fmla="*/ 1 w 474"/>
                  <a:gd name="T3" fmla="*/ 14 h 126"/>
                  <a:gd name="T4" fmla="*/ 69 w 474"/>
                  <a:gd name="T5" fmla="*/ 57 h 126"/>
                  <a:gd name="T6" fmla="*/ 415 w 474"/>
                  <a:gd name="T7" fmla="*/ 82 h 126"/>
                  <a:gd name="T8" fmla="*/ 421 w 474"/>
                  <a:gd name="T9" fmla="*/ 126 h 1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74" h="126">
                    <a:moveTo>
                      <a:pt x="61" y="0"/>
                    </a:moveTo>
                    <a:cubicBezTo>
                      <a:pt x="33" y="2"/>
                      <a:pt x="0" y="5"/>
                      <a:pt x="1" y="14"/>
                    </a:cubicBezTo>
                    <a:cubicBezTo>
                      <a:pt x="2" y="23"/>
                      <a:pt x="0" y="46"/>
                      <a:pt x="69" y="57"/>
                    </a:cubicBezTo>
                    <a:cubicBezTo>
                      <a:pt x="138" y="68"/>
                      <a:pt x="356" y="71"/>
                      <a:pt x="415" y="82"/>
                    </a:cubicBezTo>
                    <a:cubicBezTo>
                      <a:pt x="474" y="93"/>
                      <a:pt x="450" y="109"/>
                      <a:pt x="421" y="126"/>
                    </a:cubicBezTo>
                  </a:path>
                </a:pathLst>
              </a:cu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50649" name="Freeform 57"/>
              <p:cNvSpPr>
                <a:spLocks/>
              </p:cNvSpPr>
              <p:nvPr/>
            </p:nvSpPr>
            <p:spPr bwMode="auto">
              <a:xfrm>
                <a:off x="1055" y="2913"/>
                <a:ext cx="230" cy="86"/>
              </a:xfrm>
              <a:custGeom>
                <a:avLst/>
                <a:gdLst>
                  <a:gd name="T0" fmla="*/ 51 w 487"/>
                  <a:gd name="T1" fmla="*/ 0 h 144"/>
                  <a:gd name="T2" fmla="*/ 12 w 487"/>
                  <a:gd name="T3" fmla="*/ 21 h 144"/>
                  <a:gd name="T4" fmla="*/ 69 w 487"/>
                  <a:gd name="T5" fmla="*/ 54 h 144"/>
                  <a:gd name="T6" fmla="*/ 427 w 487"/>
                  <a:gd name="T7" fmla="*/ 81 h 144"/>
                  <a:gd name="T8" fmla="*/ 429 w 487"/>
                  <a:gd name="T9" fmla="*/ 144 h 1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87" h="144">
                    <a:moveTo>
                      <a:pt x="51" y="0"/>
                    </a:moveTo>
                    <a:cubicBezTo>
                      <a:pt x="45" y="3"/>
                      <a:pt x="9" y="12"/>
                      <a:pt x="12" y="21"/>
                    </a:cubicBezTo>
                    <a:cubicBezTo>
                      <a:pt x="15" y="30"/>
                      <a:pt x="0" y="44"/>
                      <a:pt x="69" y="54"/>
                    </a:cubicBezTo>
                    <a:cubicBezTo>
                      <a:pt x="138" y="64"/>
                      <a:pt x="367" y="66"/>
                      <a:pt x="427" y="81"/>
                    </a:cubicBezTo>
                    <a:cubicBezTo>
                      <a:pt x="487" y="96"/>
                      <a:pt x="429" y="131"/>
                      <a:pt x="429" y="144"/>
                    </a:cubicBezTo>
                  </a:path>
                </a:pathLst>
              </a:cu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50650" name="Oval 58"/>
              <p:cNvSpPr>
                <a:spLocks noChangeArrowheads="1"/>
              </p:cNvSpPr>
              <p:nvPr/>
            </p:nvSpPr>
            <p:spPr bwMode="auto">
              <a:xfrm>
                <a:off x="862" y="2612"/>
                <a:ext cx="29" cy="40"/>
              </a:xfrm>
              <a:prstGeom prst="ellips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50651" name="Oval 59"/>
              <p:cNvSpPr>
                <a:spLocks noChangeArrowheads="1"/>
              </p:cNvSpPr>
              <p:nvPr/>
            </p:nvSpPr>
            <p:spPr bwMode="auto">
              <a:xfrm>
                <a:off x="866" y="3022"/>
                <a:ext cx="28" cy="40"/>
              </a:xfrm>
              <a:prstGeom prst="ellips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750652" name="Line 60"/>
            <p:cNvSpPr>
              <a:spLocks noChangeShapeType="1"/>
            </p:cNvSpPr>
            <p:nvPr/>
          </p:nvSpPr>
          <p:spPr bwMode="auto">
            <a:xfrm>
              <a:off x="655" y="1059"/>
              <a:ext cx="167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0653" name="Text Box 61"/>
            <p:cNvSpPr txBox="1">
              <a:spLocks noChangeArrowheads="1"/>
            </p:cNvSpPr>
            <p:nvPr/>
          </p:nvSpPr>
          <p:spPr bwMode="auto">
            <a:xfrm>
              <a:off x="635" y="771"/>
              <a:ext cx="304" cy="3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just">
                <a:spcBef>
                  <a:spcPct val="0"/>
                </a:spcBef>
              </a:pPr>
              <a:endParaRPr kumimoji="1" lang="zh-CN" altLang="zh-CN" sz="2400" b="1">
                <a:latin typeface="Times New Roman" panose="02020603050405020304" pitchFamily="18" charset="0"/>
              </a:endParaRPr>
            </a:p>
          </p:txBody>
        </p:sp>
        <p:grpSp>
          <p:nvGrpSpPr>
            <p:cNvPr id="750654" name="Group 62"/>
            <p:cNvGrpSpPr>
              <a:grpSpLocks/>
            </p:cNvGrpSpPr>
            <p:nvPr/>
          </p:nvGrpSpPr>
          <p:grpSpPr bwMode="auto">
            <a:xfrm flipH="1">
              <a:off x="1426" y="1155"/>
              <a:ext cx="528" cy="432"/>
              <a:chOff x="862" y="2612"/>
              <a:chExt cx="423" cy="450"/>
            </a:xfrm>
          </p:grpSpPr>
          <p:sp>
            <p:nvSpPr>
              <p:cNvPr id="750655" name="Freeform 63"/>
              <p:cNvSpPr>
                <a:spLocks/>
              </p:cNvSpPr>
              <p:nvPr/>
            </p:nvSpPr>
            <p:spPr bwMode="auto">
              <a:xfrm>
                <a:off x="892" y="2626"/>
                <a:ext cx="348" cy="1"/>
              </a:xfrm>
              <a:custGeom>
                <a:avLst/>
                <a:gdLst>
                  <a:gd name="T0" fmla="*/ 0 w 739"/>
                  <a:gd name="T1" fmla="*/ 0 h 1"/>
                  <a:gd name="T2" fmla="*/ 739 w 739"/>
                  <a:gd name="T3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739" h="1">
                    <a:moveTo>
                      <a:pt x="0" y="0"/>
                    </a:moveTo>
                    <a:lnTo>
                      <a:pt x="739" y="0"/>
                    </a:lnTo>
                  </a:path>
                </a:pathLst>
              </a:cu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50656" name="Line 64"/>
              <p:cNvSpPr>
                <a:spLocks noChangeShapeType="1"/>
              </p:cNvSpPr>
              <p:nvPr/>
            </p:nvSpPr>
            <p:spPr bwMode="auto">
              <a:xfrm>
                <a:off x="888" y="3036"/>
                <a:ext cx="204" cy="3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50657" name="Freeform 65"/>
              <p:cNvSpPr>
                <a:spLocks/>
              </p:cNvSpPr>
              <p:nvPr/>
            </p:nvSpPr>
            <p:spPr bwMode="auto">
              <a:xfrm>
                <a:off x="1239" y="2624"/>
                <a:ext cx="45" cy="36"/>
              </a:xfrm>
              <a:custGeom>
                <a:avLst/>
                <a:gdLst>
                  <a:gd name="T0" fmla="*/ 0 w 95"/>
                  <a:gd name="T1" fmla="*/ 0 h 60"/>
                  <a:gd name="T2" fmla="*/ 90 w 95"/>
                  <a:gd name="T3" fmla="*/ 18 h 60"/>
                  <a:gd name="T4" fmla="*/ 30 w 95"/>
                  <a:gd name="T5" fmla="*/ 6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5" h="60">
                    <a:moveTo>
                      <a:pt x="0" y="0"/>
                    </a:moveTo>
                    <a:cubicBezTo>
                      <a:pt x="15" y="3"/>
                      <a:pt x="85" y="8"/>
                      <a:pt x="90" y="18"/>
                    </a:cubicBezTo>
                    <a:cubicBezTo>
                      <a:pt x="95" y="28"/>
                      <a:pt x="42" y="51"/>
                      <a:pt x="30" y="60"/>
                    </a:cubicBezTo>
                  </a:path>
                </a:pathLst>
              </a:cu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50658" name="Freeform 66"/>
              <p:cNvSpPr>
                <a:spLocks/>
              </p:cNvSpPr>
              <p:nvPr/>
            </p:nvSpPr>
            <p:spPr bwMode="auto">
              <a:xfrm>
                <a:off x="1061" y="2697"/>
                <a:ext cx="223" cy="75"/>
              </a:xfrm>
              <a:custGeom>
                <a:avLst/>
                <a:gdLst>
                  <a:gd name="T0" fmla="*/ 62 w 474"/>
                  <a:gd name="T1" fmla="*/ 0 h 126"/>
                  <a:gd name="T2" fmla="*/ 2 w 474"/>
                  <a:gd name="T3" fmla="*/ 14 h 126"/>
                  <a:gd name="T4" fmla="*/ 73 w 474"/>
                  <a:gd name="T5" fmla="*/ 57 h 126"/>
                  <a:gd name="T6" fmla="*/ 416 w 474"/>
                  <a:gd name="T7" fmla="*/ 82 h 126"/>
                  <a:gd name="T8" fmla="*/ 422 w 474"/>
                  <a:gd name="T9" fmla="*/ 126 h 1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74" h="126">
                    <a:moveTo>
                      <a:pt x="62" y="0"/>
                    </a:moveTo>
                    <a:cubicBezTo>
                      <a:pt x="34" y="2"/>
                      <a:pt x="0" y="5"/>
                      <a:pt x="2" y="14"/>
                    </a:cubicBezTo>
                    <a:cubicBezTo>
                      <a:pt x="4" y="23"/>
                      <a:pt x="4" y="46"/>
                      <a:pt x="73" y="57"/>
                    </a:cubicBezTo>
                    <a:cubicBezTo>
                      <a:pt x="142" y="68"/>
                      <a:pt x="358" y="71"/>
                      <a:pt x="416" y="82"/>
                    </a:cubicBezTo>
                    <a:cubicBezTo>
                      <a:pt x="474" y="93"/>
                      <a:pt x="451" y="109"/>
                      <a:pt x="422" y="126"/>
                    </a:cubicBezTo>
                  </a:path>
                </a:pathLst>
              </a:cu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50659" name="Freeform 67"/>
              <p:cNvSpPr>
                <a:spLocks/>
              </p:cNvSpPr>
              <p:nvPr/>
            </p:nvSpPr>
            <p:spPr bwMode="auto">
              <a:xfrm>
                <a:off x="1061" y="2801"/>
                <a:ext cx="223" cy="75"/>
              </a:xfrm>
              <a:custGeom>
                <a:avLst/>
                <a:gdLst>
                  <a:gd name="T0" fmla="*/ 61 w 474"/>
                  <a:gd name="T1" fmla="*/ 0 h 126"/>
                  <a:gd name="T2" fmla="*/ 1 w 474"/>
                  <a:gd name="T3" fmla="*/ 14 h 126"/>
                  <a:gd name="T4" fmla="*/ 69 w 474"/>
                  <a:gd name="T5" fmla="*/ 57 h 126"/>
                  <a:gd name="T6" fmla="*/ 415 w 474"/>
                  <a:gd name="T7" fmla="*/ 82 h 126"/>
                  <a:gd name="T8" fmla="*/ 421 w 474"/>
                  <a:gd name="T9" fmla="*/ 126 h 1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74" h="126">
                    <a:moveTo>
                      <a:pt x="61" y="0"/>
                    </a:moveTo>
                    <a:cubicBezTo>
                      <a:pt x="33" y="2"/>
                      <a:pt x="0" y="5"/>
                      <a:pt x="1" y="14"/>
                    </a:cubicBezTo>
                    <a:cubicBezTo>
                      <a:pt x="2" y="23"/>
                      <a:pt x="0" y="46"/>
                      <a:pt x="69" y="57"/>
                    </a:cubicBezTo>
                    <a:cubicBezTo>
                      <a:pt x="138" y="68"/>
                      <a:pt x="356" y="71"/>
                      <a:pt x="415" y="82"/>
                    </a:cubicBezTo>
                    <a:cubicBezTo>
                      <a:pt x="474" y="93"/>
                      <a:pt x="450" y="109"/>
                      <a:pt x="421" y="126"/>
                    </a:cubicBezTo>
                  </a:path>
                </a:pathLst>
              </a:cu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50660" name="Freeform 68"/>
              <p:cNvSpPr>
                <a:spLocks/>
              </p:cNvSpPr>
              <p:nvPr/>
            </p:nvSpPr>
            <p:spPr bwMode="auto">
              <a:xfrm>
                <a:off x="1055" y="2913"/>
                <a:ext cx="230" cy="86"/>
              </a:xfrm>
              <a:custGeom>
                <a:avLst/>
                <a:gdLst>
                  <a:gd name="T0" fmla="*/ 51 w 487"/>
                  <a:gd name="T1" fmla="*/ 0 h 144"/>
                  <a:gd name="T2" fmla="*/ 12 w 487"/>
                  <a:gd name="T3" fmla="*/ 21 h 144"/>
                  <a:gd name="T4" fmla="*/ 69 w 487"/>
                  <a:gd name="T5" fmla="*/ 54 h 144"/>
                  <a:gd name="T6" fmla="*/ 427 w 487"/>
                  <a:gd name="T7" fmla="*/ 81 h 144"/>
                  <a:gd name="T8" fmla="*/ 429 w 487"/>
                  <a:gd name="T9" fmla="*/ 144 h 1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87" h="144">
                    <a:moveTo>
                      <a:pt x="51" y="0"/>
                    </a:moveTo>
                    <a:cubicBezTo>
                      <a:pt x="45" y="3"/>
                      <a:pt x="9" y="12"/>
                      <a:pt x="12" y="21"/>
                    </a:cubicBezTo>
                    <a:cubicBezTo>
                      <a:pt x="15" y="30"/>
                      <a:pt x="0" y="44"/>
                      <a:pt x="69" y="54"/>
                    </a:cubicBezTo>
                    <a:cubicBezTo>
                      <a:pt x="138" y="64"/>
                      <a:pt x="367" y="66"/>
                      <a:pt x="427" y="81"/>
                    </a:cubicBezTo>
                    <a:cubicBezTo>
                      <a:pt x="487" y="96"/>
                      <a:pt x="429" y="131"/>
                      <a:pt x="429" y="144"/>
                    </a:cubicBezTo>
                  </a:path>
                </a:pathLst>
              </a:cu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50661" name="Oval 69"/>
              <p:cNvSpPr>
                <a:spLocks noChangeArrowheads="1"/>
              </p:cNvSpPr>
              <p:nvPr/>
            </p:nvSpPr>
            <p:spPr bwMode="auto">
              <a:xfrm>
                <a:off x="862" y="2612"/>
                <a:ext cx="29" cy="40"/>
              </a:xfrm>
              <a:prstGeom prst="ellips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50662" name="Oval 70"/>
              <p:cNvSpPr>
                <a:spLocks noChangeArrowheads="1"/>
              </p:cNvSpPr>
              <p:nvPr/>
            </p:nvSpPr>
            <p:spPr bwMode="auto">
              <a:xfrm>
                <a:off x="866" y="3022"/>
                <a:ext cx="28" cy="40"/>
              </a:xfrm>
              <a:prstGeom prst="ellips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750663" name="Text Box 71"/>
            <p:cNvSpPr txBox="1">
              <a:spLocks noChangeArrowheads="1"/>
            </p:cNvSpPr>
            <p:nvPr/>
          </p:nvSpPr>
          <p:spPr bwMode="auto">
            <a:xfrm>
              <a:off x="466" y="903"/>
              <a:ext cx="19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/>
              <a:r>
                <a:rPr kumimoji="1" lang="en-US" altLang="zh-CN" sz="2400" b="1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750664" name="Text Box 72"/>
            <p:cNvSpPr txBox="1">
              <a:spLocks noChangeArrowheads="1"/>
            </p:cNvSpPr>
            <p:nvPr/>
          </p:nvSpPr>
          <p:spPr bwMode="auto">
            <a:xfrm>
              <a:off x="442" y="1527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/>
              <a:r>
                <a:rPr kumimoji="1" lang="en-US" altLang="zh-CN" sz="2400" b="1">
                  <a:latin typeface="Times New Roman" panose="02020603050405020304" pitchFamily="18" charset="0"/>
                </a:rPr>
                <a:t>1'</a:t>
              </a:r>
            </a:p>
          </p:txBody>
        </p:sp>
        <p:sp>
          <p:nvSpPr>
            <p:cNvPr id="750665" name="Text Box 73"/>
            <p:cNvSpPr txBox="1">
              <a:spLocks noChangeArrowheads="1"/>
            </p:cNvSpPr>
            <p:nvPr/>
          </p:nvSpPr>
          <p:spPr bwMode="auto">
            <a:xfrm>
              <a:off x="1930" y="891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/>
              <a:r>
                <a:rPr kumimoji="1" lang="en-US" altLang="zh-CN" sz="2400" b="1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750666" name="Text Box 74"/>
            <p:cNvSpPr txBox="1">
              <a:spLocks noChangeArrowheads="1"/>
            </p:cNvSpPr>
            <p:nvPr/>
          </p:nvSpPr>
          <p:spPr bwMode="auto">
            <a:xfrm>
              <a:off x="1870" y="1551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/>
              <a:r>
                <a:rPr kumimoji="1" lang="en-US" altLang="zh-CN" sz="2400" b="1">
                  <a:latin typeface="Times New Roman" panose="02020603050405020304" pitchFamily="18" charset="0"/>
                </a:rPr>
                <a:t>2'</a:t>
              </a:r>
            </a:p>
          </p:txBody>
        </p:sp>
        <p:sp>
          <p:nvSpPr>
            <p:cNvPr id="750667" name="AutoShape 75"/>
            <p:cNvSpPr>
              <a:spLocks noChangeArrowheads="1"/>
            </p:cNvSpPr>
            <p:nvPr/>
          </p:nvSpPr>
          <p:spPr bwMode="auto">
            <a:xfrm>
              <a:off x="909" y="951"/>
              <a:ext cx="696" cy="822"/>
            </a:xfrm>
            <a:prstGeom prst="roundRect">
              <a:avLst>
                <a:gd name="adj" fmla="val 16667"/>
              </a:avLst>
            </a:prstGeom>
            <a:noFill/>
            <a:ln w="19050">
              <a:solidFill>
                <a:schemeClr val="accent2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50668" name="Line 76"/>
            <p:cNvSpPr>
              <a:spLocks noChangeShapeType="1"/>
            </p:cNvSpPr>
            <p:nvPr/>
          </p:nvSpPr>
          <p:spPr bwMode="auto">
            <a:xfrm rot="-5400000">
              <a:off x="1162" y="868"/>
              <a:ext cx="0" cy="166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750669" name="Object 77"/>
            <p:cNvGraphicFramePr>
              <a:graphicFrameLocks noChangeAspect="1"/>
            </p:cNvGraphicFramePr>
            <p:nvPr/>
          </p:nvGraphicFramePr>
          <p:xfrm>
            <a:off x="1198" y="1295"/>
            <a:ext cx="336" cy="3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5" imgW="241200" imgH="228600" progId="Equation.DSMT4">
                    <p:embed/>
                  </p:oleObj>
                </mc:Choice>
                <mc:Fallback>
                  <p:oleObj name="Equation" r:id="rId15" imgW="241200" imgH="228600" progId="Equation.DSMT4">
                    <p:embed/>
                    <p:pic>
                      <p:nvPicPr>
                        <p:cNvPr id="750669" name="Object 7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98" y="1295"/>
                          <a:ext cx="336" cy="31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50670" name="Object 78"/>
            <p:cNvGraphicFramePr>
              <a:graphicFrameLocks noChangeAspect="1"/>
            </p:cNvGraphicFramePr>
            <p:nvPr/>
          </p:nvGraphicFramePr>
          <p:xfrm>
            <a:off x="1060" y="612"/>
            <a:ext cx="358" cy="3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7" imgW="253800" imgH="228600" progId="Equation.DSMT4">
                    <p:embed/>
                  </p:oleObj>
                </mc:Choice>
                <mc:Fallback>
                  <p:oleObj name="Equation" r:id="rId17" imgW="253800" imgH="228600" progId="Equation.DSMT4">
                    <p:embed/>
                    <p:pic>
                      <p:nvPicPr>
                        <p:cNvPr id="750670" name="Object 7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60" y="612"/>
                          <a:ext cx="358" cy="31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50671" name="Text Box 79"/>
            <p:cNvSpPr txBox="1">
              <a:spLocks noChangeArrowheads="1"/>
            </p:cNvSpPr>
            <p:nvPr/>
          </p:nvSpPr>
          <p:spPr bwMode="auto">
            <a:xfrm>
              <a:off x="815" y="1817"/>
              <a:ext cx="31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kumimoji="1" lang="en-US" altLang="zh-CN" sz="2400" b="1" i="1">
                  <a:latin typeface="Times New Roman" panose="02020603050405020304" pitchFamily="18" charset="0"/>
                </a:rPr>
                <a:t>N</a:t>
              </a:r>
              <a:r>
                <a:rPr kumimoji="1" lang="en-US" altLang="zh-CN" sz="1400" b="1">
                  <a:latin typeface="Times New Roman" panose="02020603050405020304" pitchFamily="18" charset="0"/>
                </a:rPr>
                <a:t>1</a:t>
              </a:r>
              <a:endParaRPr kumimoji="1" lang="en-US" altLang="zh-CN" sz="2400" b="1" i="1">
                <a:latin typeface="Times New Roman" panose="02020603050405020304" pitchFamily="18" charset="0"/>
              </a:endParaRPr>
            </a:p>
          </p:txBody>
        </p:sp>
        <p:sp>
          <p:nvSpPr>
            <p:cNvPr id="750672" name="Text Box 80"/>
            <p:cNvSpPr txBox="1">
              <a:spLocks noChangeArrowheads="1"/>
            </p:cNvSpPr>
            <p:nvPr/>
          </p:nvSpPr>
          <p:spPr bwMode="auto">
            <a:xfrm>
              <a:off x="1444" y="1809"/>
              <a:ext cx="31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kumimoji="1" lang="en-US" altLang="zh-CN" sz="2400" b="1" i="1">
                  <a:latin typeface="Times New Roman" panose="02020603050405020304" pitchFamily="18" charset="0"/>
                </a:rPr>
                <a:t>N</a:t>
              </a:r>
              <a:r>
                <a:rPr kumimoji="1" lang="en-US" altLang="zh-CN" sz="1400" b="1">
                  <a:latin typeface="Times New Roman" panose="02020603050405020304" pitchFamily="18" charset="0"/>
                </a:rPr>
                <a:t>2</a:t>
              </a:r>
              <a:endParaRPr kumimoji="1" lang="en-US" altLang="zh-CN" sz="2400" b="1" i="1">
                <a:latin typeface="Times New Roman" panose="02020603050405020304" pitchFamily="18" charset="0"/>
              </a:endParaRPr>
            </a:p>
          </p:txBody>
        </p:sp>
        <p:sp>
          <p:nvSpPr>
            <p:cNvPr id="750673" name="Line 81"/>
            <p:cNvSpPr>
              <a:spLocks noChangeShapeType="1"/>
            </p:cNvSpPr>
            <p:nvPr/>
          </p:nvSpPr>
          <p:spPr bwMode="auto">
            <a:xfrm>
              <a:off x="2050" y="1539"/>
              <a:ext cx="9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750674" name="Group 82"/>
            <p:cNvGrpSpPr>
              <a:grpSpLocks/>
            </p:cNvGrpSpPr>
            <p:nvPr/>
          </p:nvGrpSpPr>
          <p:grpSpPr bwMode="auto">
            <a:xfrm>
              <a:off x="2038" y="1167"/>
              <a:ext cx="96" cy="96"/>
              <a:chOff x="3588" y="819"/>
              <a:chExt cx="96" cy="96"/>
            </a:xfrm>
          </p:grpSpPr>
          <p:sp>
            <p:nvSpPr>
              <p:cNvPr id="750675" name="Line 83"/>
              <p:cNvSpPr>
                <a:spLocks noChangeShapeType="1"/>
              </p:cNvSpPr>
              <p:nvPr/>
            </p:nvSpPr>
            <p:spPr bwMode="auto">
              <a:xfrm>
                <a:off x="3588" y="867"/>
                <a:ext cx="9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50676" name="Line 84"/>
              <p:cNvSpPr>
                <a:spLocks noChangeShapeType="1"/>
              </p:cNvSpPr>
              <p:nvPr/>
            </p:nvSpPr>
            <p:spPr bwMode="auto">
              <a:xfrm rot="-5400000">
                <a:off x="3588" y="867"/>
                <a:ext cx="9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750677" name="Group 85"/>
            <p:cNvGrpSpPr>
              <a:grpSpLocks/>
            </p:cNvGrpSpPr>
            <p:nvPr/>
          </p:nvGrpSpPr>
          <p:grpSpPr bwMode="auto">
            <a:xfrm>
              <a:off x="456" y="1167"/>
              <a:ext cx="96" cy="96"/>
              <a:chOff x="3588" y="819"/>
              <a:chExt cx="96" cy="96"/>
            </a:xfrm>
          </p:grpSpPr>
          <p:sp>
            <p:nvSpPr>
              <p:cNvPr id="750678" name="Line 86"/>
              <p:cNvSpPr>
                <a:spLocks noChangeShapeType="1"/>
              </p:cNvSpPr>
              <p:nvPr/>
            </p:nvSpPr>
            <p:spPr bwMode="auto">
              <a:xfrm>
                <a:off x="3588" y="867"/>
                <a:ext cx="9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50679" name="Line 87"/>
              <p:cNvSpPr>
                <a:spLocks noChangeShapeType="1"/>
              </p:cNvSpPr>
              <p:nvPr/>
            </p:nvSpPr>
            <p:spPr bwMode="auto">
              <a:xfrm rot="-5400000">
                <a:off x="3588" y="867"/>
                <a:ext cx="9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750680" name="Line 88"/>
            <p:cNvSpPr>
              <a:spLocks noChangeShapeType="1"/>
            </p:cNvSpPr>
            <p:nvPr/>
          </p:nvSpPr>
          <p:spPr bwMode="auto">
            <a:xfrm>
              <a:off x="466" y="1527"/>
              <a:ext cx="9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50681" name="Text Box 89"/>
            <p:cNvSpPr txBox="1">
              <a:spLocks noChangeArrowheads="1"/>
            </p:cNvSpPr>
            <p:nvPr/>
          </p:nvSpPr>
          <p:spPr bwMode="auto">
            <a:xfrm>
              <a:off x="384" y="1201"/>
              <a:ext cx="28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kumimoji="1" lang="en-US" altLang="zh-CN" sz="2400" b="1" i="1">
                  <a:latin typeface="Times New Roman" panose="02020603050405020304" pitchFamily="18" charset="0"/>
                </a:rPr>
                <a:t>u</a:t>
              </a:r>
              <a:r>
                <a:rPr kumimoji="1" lang="en-US" altLang="zh-CN" sz="2400" b="1" baseline="-25000">
                  <a:latin typeface="Times New Roman" panose="02020603050405020304" pitchFamily="18" charset="0"/>
                </a:rPr>
                <a:t>1</a:t>
              </a:r>
              <a:endParaRPr kumimoji="1" lang="en-US" altLang="zh-CN" sz="2400" b="1" i="1">
                <a:latin typeface="Times New Roman" panose="02020603050405020304" pitchFamily="18" charset="0"/>
              </a:endParaRPr>
            </a:p>
          </p:txBody>
        </p:sp>
        <p:sp>
          <p:nvSpPr>
            <p:cNvPr id="750682" name="Text Box 90"/>
            <p:cNvSpPr txBox="1">
              <a:spLocks noChangeArrowheads="1"/>
            </p:cNvSpPr>
            <p:nvPr/>
          </p:nvSpPr>
          <p:spPr bwMode="auto">
            <a:xfrm>
              <a:off x="1954" y="1214"/>
              <a:ext cx="28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kumimoji="1" lang="en-US" altLang="zh-CN" sz="2400" b="1" i="1">
                  <a:latin typeface="Times New Roman" panose="02020603050405020304" pitchFamily="18" charset="0"/>
                </a:rPr>
                <a:t>u</a:t>
              </a:r>
              <a:r>
                <a:rPr kumimoji="1" lang="en-US" altLang="zh-CN" sz="2400" b="1" baseline="-25000">
                  <a:latin typeface="Times New Roman" panose="02020603050405020304" pitchFamily="18" charset="0"/>
                </a:rPr>
                <a:t>2</a:t>
              </a:r>
              <a:endParaRPr kumimoji="1" lang="en-US" altLang="zh-CN" sz="2400" b="1" i="1">
                <a:latin typeface="Times New Roman" panose="02020603050405020304" pitchFamily="18" charset="0"/>
              </a:endParaRPr>
            </a:p>
          </p:txBody>
        </p:sp>
        <p:sp>
          <p:nvSpPr>
            <p:cNvPr id="750683" name="Line 91"/>
            <p:cNvSpPr>
              <a:spLocks noChangeShapeType="1"/>
            </p:cNvSpPr>
            <p:nvPr/>
          </p:nvSpPr>
          <p:spPr bwMode="auto">
            <a:xfrm flipH="1">
              <a:off x="1737" y="1078"/>
              <a:ext cx="167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0684" name="Text Box 92"/>
            <p:cNvSpPr txBox="1">
              <a:spLocks noChangeArrowheads="1"/>
            </p:cNvSpPr>
            <p:nvPr/>
          </p:nvSpPr>
          <p:spPr bwMode="auto">
            <a:xfrm>
              <a:off x="622" y="744"/>
              <a:ext cx="23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kumimoji="1" lang="en-US" altLang="zh-CN" sz="2400" b="1" i="1"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2400" b="1" baseline="-25000">
                  <a:latin typeface="Times New Roman" panose="02020603050405020304" pitchFamily="18" charset="0"/>
                </a:rPr>
                <a:t>1</a:t>
              </a:r>
              <a:endParaRPr kumimoji="1" lang="en-US" altLang="zh-CN" sz="2400" b="1" i="1">
                <a:latin typeface="Times New Roman" panose="02020603050405020304" pitchFamily="18" charset="0"/>
              </a:endParaRPr>
            </a:p>
          </p:txBody>
        </p:sp>
        <p:sp>
          <p:nvSpPr>
            <p:cNvPr id="750685" name="Text Box 93"/>
            <p:cNvSpPr txBox="1">
              <a:spLocks noChangeArrowheads="1"/>
            </p:cNvSpPr>
            <p:nvPr/>
          </p:nvSpPr>
          <p:spPr bwMode="auto">
            <a:xfrm>
              <a:off x="1737" y="791"/>
              <a:ext cx="23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kumimoji="1" lang="en-US" altLang="zh-CN" sz="2400" b="1" i="1"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2400" b="1" baseline="-25000">
                  <a:latin typeface="Times New Roman" panose="02020603050405020304" pitchFamily="18" charset="0"/>
                </a:rPr>
                <a:t>2</a:t>
              </a:r>
              <a:endParaRPr kumimoji="1" lang="en-US" altLang="zh-CN" sz="2400" b="1" i="1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750686" name="Group 94"/>
          <p:cNvGrpSpPr>
            <a:grpSpLocks/>
          </p:cNvGrpSpPr>
          <p:nvPr/>
        </p:nvGrpSpPr>
        <p:grpSpPr bwMode="auto">
          <a:xfrm>
            <a:off x="7086600" y="1295400"/>
            <a:ext cx="2274888" cy="1390650"/>
            <a:chOff x="3696" y="816"/>
            <a:chExt cx="1433" cy="876"/>
          </a:xfrm>
        </p:grpSpPr>
        <p:graphicFrame>
          <p:nvGraphicFramePr>
            <p:cNvPr id="750687" name="Object 95"/>
            <p:cNvGraphicFramePr>
              <a:graphicFrameLocks noChangeAspect="1"/>
            </p:cNvGraphicFramePr>
            <p:nvPr/>
          </p:nvGraphicFramePr>
          <p:xfrm>
            <a:off x="3841" y="816"/>
            <a:ext cx="899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9" imgW="711000" imgH="228600" progId="Equation.3">
                    <p:embed/>
                  </p:oleObj>
                </mc:Choice>
                <mc:Fallback>
                  <p:oleObj name="公式" r:id="rId19" imgW="711000" imgH="228600" progId="Equation.3">
                    <p:embed/>
                    <p:pic>
                      <p:nvPicPr>
                        <p:cNvPr id="750687" name="Object 9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41" y="816"/>
                          <a:ext cx="899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50688" name="AutoShape 96"/>
            <p:cNvSpPr>
              <a:spLocks/>
            </p:cNvSpPr>
            <p:nvPr/>
          </p:nvSpPr>
          <p:spPr bwMode="auto">
            <a:xfrm>
              <a:off x="3696" y="960"/>
              <a:ext cx="145" cy="610"/>
            </a:xfrm>
            <a:prstGeom prst="leftBrace">
              <a:avLst>
                <a:gd name="adj1" fmla="val 35057"/>
                <a:gd name="adj2" fmla="val 50000"/>
              </a:avLst>
            </a:prstGeom>
            <a:noFill/>
            <a:ln w="1905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750689" name="Object 97"/>
            <p:cNvGraphicFramePr>
              <a:graphicFrameLocks noChangeAspect="1"/>
            </p:cNvGraphicFramePr>
            <p:nvPr/>
          </p:nvGraphicFramePr>
          <p:xfrm>
            <a:off x="3849" y="1136"/>
            <a:ext cx="1280" cy="5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1" imgW="1054080" imgH="457200" progId="Equation.3">
                    <p:embed/>
                  </p:oleObj>
                </mc:Choice>
                <mc:Fallback>
                  <p:oleObj name="公式" r:id="rId21" imgW="1054080" imgH="457200" progId="Equation.3">
                    <p:embed/>
                    <p:pic>
                      <p:nvPicPr>
                        <p:cNvPr id="750689" name="Object 9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49" y="1136"/>
                          <a:ext cx="1280" cy="5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50690" name="Text Box 98"/>
          <p:cNvSpPr txBox="1">
            <a:spLocks noChangeArrowheads="1"/>
          </p:cNvSpPr>
          <p:nvPr/>
        </p:nvSpPr>
        <p:spPr bwMode="auto">
          <a:xfrm>
            <a:off x="5867400" y="1600201"/>
            <a:ext cx="12954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kumimoji="1" lang="zh-CN" altLang="en-US" sz="2400" b="1">
                <a:solidFill>
                  <a:srgbClr val="0000FF"/>
                </a:solidFill>
                <a:latin typeface="Times New Roman" panose="02020603050405020304" pitchFamily="18" charset="0"/>
              </a:rPr>
              <a:t>全耦合变压器</a:t>
            </a:r>
          </a:p>
        </p:txBody>
      </p:sp>
    </p:spTree>
    <p:extLst>
      <p:ext uri="{BB962C8B-B14F-4D97-AF65-F5344CB8AC3E}">
        <p14:creationId xmlns:p14="http://schemas.microsoft.com/office/powerpoint/2010/main" val="33482109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50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1" dur="500"/>
                                        <p:tgtEl>
                                          <p:spTgt spid="750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5" dur="500"/>
                                        <p:tgtEl>
                                          <p:spTgt spid="750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750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750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9" dur="500"/>
                                        <p:tgtEl>
                                          <p:spTgt spid="750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7506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7506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7506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7506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9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1" dur="500"/>
                                        <p:tgtEl>
                                          <p:spTgt spid="750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0594" grpId="0" autoUpdateAnimBg="0"/>
      <p:bldP spid="750636" grpId="0" autoUpdateAnimBg="0"/>
      <p:bldP spid="750637" grpId="0" autoUpdateAnimBg="0"/>
      <p:bldP spid="750690" grpId="0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023746" y="0"/>
            <a:ext cx="8143875" cy="49911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/>
          <a:srcRect t="28167" r="2844"/>
          <a:stretch>
            <a:fillRect/>
          </a:stretch>
        </p:blipFill>
        <p:spPr>
          <a:xfrm>
            <a:off x="6288405" y="4991100"/>
            <a:ext cx="3578860" cy="164465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023746" y="847725"/>
            <a:ext cx="8143875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28738" name="Object 2">
            <a:extLst>
              <a:ext uri="{FF2B5EF4-FFF2-40B4-BE49-F238E27FC236}">
                <a16:creationId xmlns:a16="http://schemas.microsoft.com/office/drawing/2014/main" id="{CD33D2E7-1F41-46C8-A3D2-7D8FFF5D7B1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27688" y="1160463"/>
          <a:ext cx="1968500" cy="1090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876240" imgH="457200" progId="Equation.3">
                  <p:embed/>
                </p:oleObj>
              </mc:Choice>
              <mc:Fallback>
                <p:oleObj name="Equation" r:id="rId3" imgW="876240" imgH="457200" progId="Equation.3">
                  <p:embed/>
                  <p:pic>
                    <p:nvPicPr>
                      <p:cNvPr id="628738" name="Object 2">
                        <a:extLst>
                          <a:ext uri="{FF2B5EF4-FFF2-40B4-BE49-F238E27FC236}">
                            <a16:creationId xmlns:a16="http://schemas.microsoft.com/office/drawing/2014/main" id="{CD33D2E7-1F41-46C8-A3D2-7D8FFF5D7B1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27688" y="1160463"/>
                        <a:ext cx="1968500" cy="1090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8739" name="Text Box 3">
            <a:extLst>
              <a:ext uri="{FF2B5EF4-FFF2-40B4-BE49-F238E27FC236}">
                <a16:creationId xmlns:a16="http://schemas.microsoft.com/office/drawing/2014/main" id="{6B1F33C7-7179-4619-A113-1440F68BB0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97438" y="1465263"/>
            <a:ext cx="838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l"/>
            <a:r>
              <a:rPr kumimoji="1" lang="zh-CN" altLang="en-US" sz="2400" b="1">
                <a:latin typeface="Times New Roman" panose="02020603050405020304" pitchFamily="18" charset="0"/>
              </a:rPr>
              <a:t>或</a:t>
            </a:r>
            <a:endParaRPr kumimoji="1"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628740" name="Text Box 4">
            <a:extLst>
              <a:ext uri="{FF2B5EF4-FFF2-40B4-BE49-F238E27FC236}">
                <a16:creationId xmlns:a16="http://schemas.microsoft.com/office/drawing/2014/main" id="{3E108B70-00BE-4D25-9DB0-995FD252F4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94500" y="3860800"/>
            <a:ext cx="36195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CC99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l"/>
            <a:r>
              <a:rPr kumimoji="1" lang="zh-CN" altLang="en-US" sz="2400" b="1">
                <a:latin typeface="Times New Roman" panose="02020603050405020304" pitchFamily="18" charset="0"/>
              </a:rPr>
              <a:t>即</a:t>
            </a:r>
            <a:r>
              <a:rPr kumimoji="1" lang="en-US" altLang="zh-CN" sz="2400" b="1" i="1">
                <a:latin typeface="Times New Roman" panose="02020603050405020304" pitchFamily="18" charset="0"/>
              </a:rPr>
              <a:t>f</a:t>
            </a:r>
            <a:r>
              <a:rPr kumimoji="1" lang="en-US" altLang="zh-CN" sz="2400" b="1">
                <a:latin typeface="Times New Roman" panose="02020603050405020304" pitchFamily="18" charset="0"/>
              </a:rPr>
              <a:t>(</a:t>
            </a:r>
            <a:r>
              <a:rPr kumimoji="1" lang="en-US" altLang="zh-CN" sz="2400" b="1" i="1">
                <a:latin typeface="Times New Roman" panose="02020603050405020304" pitchFamily="18" charset="0"/>
              </a:rPr>
              <a:t>t</a:t>
            </a:r>
            <a:r>
              <a:rPr kumimoji="1" lang="en-US" altLang="zh-CN" sz="2400" b="1">
                <a:latin typeface="Times New Roman" panose="02020603050405020304" pitchFamily="18" charset="0"/>
              </a:rPr>
              <a:t>)</a:t>
            </a:r>
            <a:r>
              <a:rPr kumimoji="1" lang="zh-CN" altLang="en-US" sz="2400" b="1">
                <a:latin typeface="Times New Roman" panose="02020603050405020304" pitchFamily="18" charset="0"/>
              </a:rPr>
              <a:t>在一周期内平均值</a:t>
            </a:r>
            <a:endParaRPr kumimoji="1"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628741" name="Text Box 5">
            <a:extLst>
              <a:ext uri="{FF2B5EF4-FFF2-40B4-BE49-F238E27FC236}">
                <a16:creationId xmlns:a16="http://schemas.microsoft.com/office/drawing/2014/main" id="{67694559-3A83-4542-9F95-BEDD33EE49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0700" y="3111500"/>
            <a:ext cx="59055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l"/>
            <a:r>
              <a:rPr kumimoji="1" lang="zh-CN" altLang="en-US" sz="2400" b="1">
                <a:solidFill>
                  <a:srgbClr val="FF3300"/>
                </a:solidFill>
                <a:latin typeface="Times New Roman" panose="02020603050405020304" pitchFamily="18" charset="0"/>
              </a:rPr>
              <a:t>求傅里叶系数</a:t>
            </a:r>
            <a:r>
              <a:rPr kumimoji="1" lang="en-US" altLang="zh-CN" sz="2400" b="1">
                <a:solidFill>
                  <a:srgbClr val="FF3300"/>
                </a:solidFill>
                <a:latin typeface="Times New Roman" panose="02020603050405020304" pitchFamily="18" charset="0"/>
              </a:rPr>
              <a:t>(Fourier coefficient)</a:t>
            </a:r>
            <a:r>
              <a:rPr kumimoji="1" lang="zh-CN" altLang="en-US" sz="2400" b="1">
                <a:solidFill>
                  <a:srgbClr val="FF3300"/>
                </a:solidFill>
                <a:latin typeface="Times New Roman" panose="02020603050405020304" pitchFamily="18" charset="0"/>
              </a:rPr>
              <a:t>的公式：</a:t>
            </a:r>
          </a:p>
        </p:txBody>
      </p:sp>
      <p:graphicFrame>
        <p:nvGraphicFramePr>
          <p:cNvPr id="628742" name="Object 6">
            <a:extLst>
              <a:ext uri="{FF2B5EF4-FFF2-40B4-BE49-F238E27FC236}">
                <a16:creationId xmlns:a16="http://schemas.microsoft.com/office/drawing/2014/main" id="{A41FBEFB-A379-4EE7-94E8-0236256EF3E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19338" y="1273176"/>
          <a:ext cx="1985962" cy="1693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888840" imgH="736560" progId="Equation.3">
                  <p:embed/>
                </p:oleObj>
              </mc:Choice>
              <mc:Fallback>
                <p:oleObj name="Equation" r:id="rId5" imgW="888840" imgH="736560" progId="Equation.3">
                  <p:embed/>
                  <p:pic>
                    <p:nvPicPr>
                      <p:cNvPr id="628742" name="Object 6">
                        <a:extLst>
                          <a:ext uri="{FF2B5EF4-FFF2-40B4-BE49-F238E27FC236}">
                            <a16:creationId xmlns:a16="http://schemas.microsoft.com/office/drawing/2014/main" id="{A41FBEFB-A379-4EE7-94E8-0236256EF3E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19338" y="1273176"/>
                        <a:ext cx="1985962" cy="1693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8743" name="Text Box 7">
            <a:extLst>
              <a:ext uri="{FF2B5EF4-FFF2-40B4-BE49-F238E27FC236}">
                <a16:creationId xmlns:a16="http://schemas.microsoft.com/office/drawing/2014/main" id="{B236D477-3534-457C-98E5-87B5DCD0E3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46275" y="225425"/>
            <a:ext cx="41671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kumimoji="1" lang="zh-CN" altLang="en-US" sz="2400" b="1">
                <a:latin typeface="Times New Roman" panose="02020603050405020304" pitchFamily="18" charset="0"/>
              </a:rPr>
              <a:t>两种表示式中系数间的关系：</a:t>
            </a:r>
          </a:p>
        </p:txBody>
      </p:sp>
      <p:graphicFrame>
        <p:nvGraphicFramePr>
          <p:cNvPr id="628753" name="Object 17">
            <a:extLst>
              <a:ext uri="{FF2B5EF4-FFF2-40B4-BE49-F238E27FC236}">
                <a16:creationId xmlns:a16="http://schemas.microsoft.com/office/drawing/2014/main" id="{D1988AE1-89E0-4951-8411-A93FDAF0BDE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97114" y="3602039"/>
          <a:ext cx="4129087" cy="898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981080" imgH="469800" progId="Equation.3">
                  <p:embed/>
                </p:oleObj>
              </mc:Choice>
              <mc:Fallback>
                <p:oleObj name="Equation" r:id="rId7" imgW="1981080" imgH="469800" progId="Equation.3">
                  <p:embed/>
                  <p:pic>
                    <p:nvPicPr>
                      <p:cNvPr id="628753" name="Object 17">
                        <a:extLst>
                          <a:ext uri="{FF2B5EF4-FFF2-40B4-BE49-F238E27FC236}">
                            <a16:creationId xmlns:a16="http://schemas.microsoft.com/office/drawing/2014/main" id="{D1988AE1-89E0-4951-8411-A93FDAF0BDE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97114" y="3602039"/>
                        <a:ext cx="4129087" cy="898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99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8754" name="Object 18">
            <a:extLst>
              <a:ext uri="{FF2B5EF4-FFF2-40B4-BE49-F238E27FC236}">
                <a16:creationId xmlns:a16="http://schemas.microsoft.com/office/drawing/2014/main" id="{6BFB956C-E86A-43A7-851A-609D749A239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87588" y="4532313"/>
          <a:ext cx="6386512" cy="869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3162240" imgH="406080" progId="Equation.3">
                  <p:embed/>
                </p:oleObj>
              </mc:Choice>
              <mc:Fallback>
                <p:oleObj name="Equation" r:id="rId9" imgW="3162240" imgH="406080" progId="Equation.3">
                  <p:embed/>
                  <p:pic>
                    <p:nvPicPr>
                      <p:cNvPr id="628754" name="Object 18">
                        <a:extLst>
                          <a:ext uri="{FF2B5EF4-FFF2-40B4-BE49-F238E27FC236}">
                            <a16:creationId xmlns:a16="http://schemas.microsoft.com/office/drawing/2014/main" id="{6BFB956C-E86A-43A7-851A-609D749A239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7588" y="4532313"/>
                        <a:ext cx="6386512" cy="869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8755" name="Object 19">
            <a:extLst>
              <a:ext uri="{FF2B5EF4-FFF2-40B4-BE49-F238E27FC236}">
                <a16:creationId xmlns:a16="http://schemas.microsoft.com/office/drawing/2014/main" id="{B30EBFB3-BC6F-400E-95CA-BAAABC6EE8D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00289" y="5421313"/>
          <a:ext cx="6296025" cy="817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3124080" imgH="406080" progId="Equation.3">
                  <p:embed/>
                </p:oleObj>
              </mc:Choice>
              <mc:Fallback>
                <p:oleObj name="Equation" r:id="rId11" imgW="3124080" imgH="406080" progId="Equation.3">
                  <p:embed/>
                  <p:pic>
                    <p:nvPicPr>
                      <p:cNvPr id="628755" name="Object 19">
                        <a:extLst>
                          <a:ext uri="{FF2B5EF4-FFF2-40B4-BE49-F238E27FC236}">
                            <a16:creationId xmlns:a16="http://schemas.microsoft.com/office/drawing/2014/main" id="{B30EBFB3-BC6F-400E-95CA-BAAABC6EE8D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0289" y="5421313"/>
                        <a:ext cx="6296025" cy="817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FFFF">
                                <a:alpha val="50000"/>
                              </a:srgbClr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8756" name="Object 20">
            <a:extLst>
              <a:ext uri="{FF2B5EF4-FFF2-40B4-BE49-F238E27FC236}">
                <a16:creationId xmlns:a16="http://schemas.microsoft.com/office/drawing/2014/main" id="{8B6CB0DA-3D0F-44E4-AD16-0391C2C55B3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95525" y="690564"/>
          <a:ext cx="1066800" cy="534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457200" imgH="228600" progId="Equation.3">
                  <p:embed/>
                </p:oleObj>
              </mc:Choice>
              <mc:Fallback>
                <p:oleObj name="Equation" r:id="rId13" imgW="457200" imgH="228600" progId="Equation.3">
                  <p:embed/>
                  <p:pic>
                    <p:nvPicPr>
                      <p:cNvPr id="628756" name="Object 20">
                        <a:extLst>
                          <a:ext uri="{FF2B5EF4-FFF2-40B4-BE49-F238E27FC236}">
                            <a16:creationId xmlns:a16="http://schemas.microsoft.com/office/drawing/2014/main" id="{8B6CB0DA-3D0F-44E4-AD16-0391C2C55B3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95525" y="690564"/>
                        <a:ext cx="1066800" cy="534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28759" name="Group 23">
            <a:extLst>
              <a:ext uri="{FF2B5EF4-FFF2-40B4-BE49-F238E27FC236}">
                <a16:creationId xmlns:a16="http://schemas.microsoft.com/office/drawing/2014/main" id="{97608D72-85A0-44CC-AB22-2F3D5623A828}"/>
              </a:ext>
            </a:extLst>
          </p:cNvPr>
          <p:cNvGrpSpPr>
            <a:grpSpLocks/>
          </p:cNvGrpSpPr>
          <p:nvPr/>
        </p:nvGrpSpPr>
        <p:grpSpPr bwMode="auto">
          <a:xfrm>
            <a:off x="8393114" y="952500"/>
            <a:ext cx="1895475" cy="1493838"/>
            <a:chOff x="4327" y="600"/>
            <a:chExt cx="1194" cy="941"/>
          </a:xfrm>
        </p:grpSpPr>
        <p:sp>
          <p:nvSpPr>
            <p:cNvPr id="628745" name="Line 9">
              <a:extLst>
                <a:ext uri="{FF2B5EF4-FFF2-40B4-BE49-F238E27FC236}">
                  <a16:creationId xmlns:a16="http://schemas.microsoft.com/office/drawing/2014/main" id="{B7FB5D41-67F9-4204-9B57-A5C1FB6080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87" y="600"/>
              <a:ext cx="0" cy="6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28746" name="Line 10">
              <a:extLst>
                <a:ext uri="{FF2B5EF4-FFF2-40B4-BE49-F238E27FC236}">
                  <a16:creationId xmlns:a16="http://schemas.microsoft.com/office/drawing/2014/main" id="{577279F8-BE59-44EB-94D4-79248DA994C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27" y="1262"/>
              <a:ext cx="96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628747" name="Object 11">
              <a:extLst>
                <a:ext uri="{FF2B5EF4-FFF2-40B4-BE49-F238E27FC236}">
                  <a16:creationId xmlns:a16="http://schemas.microsoft.com/office/drawing/2014/main" id="{248C8523-FEED-40F7-A5B1-FDFF360AFA0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299" y="783"/>
            <a:ext cx="222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5" imgW="177480" imgH="228600" progId="Equation.3">
                    <p:embed/>
                  </p:oleObj>
                </mc:Choice>
                <mc:Fallback>
                  <p:oleObj name="Equation" r:id="rId15" imgW="177480" imgH="228600" progId="Equation.3">
                    <p:embed/>
                    <p:pic>
                      <p:nvPicPr>
                        <p:cNvPr id="628747" name="Object 11">
                          <a:extLst>
                            <a:ext uri="{FF2B5EF4-FFF2-40B4-BE49-F238E27FC236}">
                              <a16:creationId xmlns:a16="http://schemas.microsoft.com/office/drawing/2014/main" id="{248C8523-FEED-40F7-A5B1-FDFF360AFA0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99" y="783"/>
                          <a:ext cx="222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28748" name="Object 12">
              <a:extLst>
                <a:ext uri="{FF2B5EF4-FFF2-40B4-BE49-F238E27FC236}">
                  <a16:creationId xmlns:a16="http://schemas.microsoft.com/office/drawing/2014/main" id="{63072959-3B57-4AB5-A902-8920FB4EFF2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762" y="1253"/>
            <a:ext cx="222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7" imgW="177480" imgH="228600" progId="Equation.3">
                    <p:embed/>
                  </p:oleObj>
                </mc:Choice>
                <mc:Fallback>
                  <p:oleObj name="Equation" r:id="rId17" imgW="177480" imgH="228600" progId="Equation.3">
                    <p:embed/>
                    <p:pic>
                      <p:nvPicPr>
                        <p:cNvPr id="628748" name="Object 12">
                          <a:extLst>
                            <a:ext uri="{FF2B5EF4-FFF2-40B4-BE49-F238E27FC236}">
                              <a16:creationId xmlns:a16="http://schemas.microsoft.com/office/drawing/2014/main" id="{63072959-3B57-4AB5-A902-8920FB4EFF2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62" y="1253"/>
                          <a:ext cx="222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28749" name="Object 13">
              <a:extLst>
                <a:ext uri="{FF2B5EF4-FFF2-40B4-BE49-F238E27FC236}">
                  <a16:creationId xmlns:a16="http://schemas.microsoft.com/office/drawing/2014/main" id="{3A8851BC-3BED-454C-B1DD-A02796DE777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670" y="999"/>
            <a:ext cx="210" cy="2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9" imgW="177480" imgH="228600" progId="Equation.3">
                    <p:embed/>
                  </p:oleObj>
                </mc:Choice>
                <mc:Fallback>
                  <p:oleObj name="Equation" r:id="rId19" imgW="177480" imgH="228600" progId="Equation.3">
                    <p:embed/>
                    <p:pic>
                      <p:nvPicPr>
                        <p:cNvPr id="628749" name="Object 13">
                          <a:extLst>
                            <a:ext uri="{FF2B5EF4-FFF2-40B4-BE49-F238E27FC236}">
                              <a16:creationId xmlns:a16="http://schemas.microsoft.com/office/drawing/2014/main" id="{3A8851BC-3BED-454C-B1DD-A02796DE777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70" y="999"/>
                          <a:ext cx="210" cy="27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28750" name="Object 14">
              <a:extLst>
                <a:ext uri="{FF2B5EF4-FFF2-40B4-BE49-F238E27FC236}">
                  <a16:creationId xmlns:a16="http://schemas.microsoft.com/office/drawing/2014/main" id="{138A0F28-29B0-434D-9416-35018374C76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604" y="663"/>
            <a:ext cx="198" cy="2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1" imgW="164880" imgH="228600" progId="Equation.3">
                    <p:embed/>
                  </p:oleObj>
                </mc:Choice>
                <mc:Fallback>
                  <p:oleObj name="Equation" r:id="rId21" imgW="164880" imgH="228600" progId="Equation.3">
                    <p:embed/>
                    <p:pic>
                      <p:nvPicPr>
                        <p:cNvPr id="628750" name="Object 14">
                          <a:extLst>
                            <a:ext uri="{FF2B5EF4-FFF2-40B4-BE49-F238E27FC236}">
                              <a16:creationId xmlns:a16="http://schemas.microsoft.com/office/drawing/2014/main" id="{138A0F28-29B0-434D-9416-35018374C76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04" y="663"/>
                          <a:ext cx="198" cy="27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28751" name="Line 15">
              <a:extLst>
                <a:ext uri="{FF2B5EF4-FFF2-40B4-BE49-F238E27FC236}">
                  <a16:creationId xmlns:a16="http://schemas.microsoft.com/office/drawing/2014/main" id="{5980BA03-FA0F-4662-9E97-BEC30F9D163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27" y="600"/>
              <a:ext cx="960" cy="66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628752" name="Arc 16">
              <a:extLst>
                <a:ext uri="{FF2B5EF4-FFF2-40B4-BE49-F238E27FC236}">
                  <a16:creationId xmlns:a16="http://schemas.microsoft.com/office/drawing/2014/main" id="{A9D4D7AF-5132-4A23-A77B-00D3AB8199A8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7" y="1074"/>
              <a:ext cx="116" cy="233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28758" name="Freeform 22">
              <a:extLst>
                <a:ext uri="{FF2B5EF4-FFF2-40B4-BE49-F238E27FC236}">
                  <a16:creationId xmlns:a16="http://schemas.microsoft.com/office/drawing/2014/main" id="{8C1F7B68-040B-4BFF-810F-336C4C2CF58D}"/>
                </a:ext>
              </a:extLst>
            </p:cNvPr>
            <p:cNvSpPr>
              <a:spLocks/>
            </p:cNvSpPr>
            <p:nvPr/>
          </p:nvSpPr>
          <p:spPr bwMode="auto">
            <a:xfrm>
              <a:off x="5193" y="1153"/>
              <a:ext cx="91" cy="233"/>
            </a:xfrm>
            <a:custGeom>
              <a:avLst/>
              <a:gdLst>
                <a:gd name="T0" fmla="*/ 91 w 91"/>
                <a:gd name="T1" fmla="*/ 0 h 113"/>
                <a:gd name="T2" fmla="*/ 0 w 91"/>
                <a:gd name="T3" fmla="*/ 0 h 113"/>
                <a:gd name="T4" fmla="*/ 0 w 91"/>
                <a:gd name="T5" fmla="*/ 113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1" h="113">
                  <a:moveTo>
                    <a:pt x="91" y="0"/>
                  </a:moveTo>
                  <a:lnTo>
                    <a:pt x="0" y="0"/>
                  </a:lnTo>
                  <a:lnTo>
                    <a:pt x="0" y="113"/>
                  </a:ln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28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628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628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628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628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628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300"/>
                                        <p:tgtEl>
                                          <p:spTgt spid="628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628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2" presetID="2" presetClass="entr" presetSubtype="2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287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6287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628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628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8739" grpId="0" autoUpdateAnimBg="0"/>
      <p:bldP spid="628740" grpId="0" autoUpdateAnimBg="0"/>
      <p:bldP spid="628741" grpId="0" autoUpdateAnimBg="0"/>
      <p:bldP spid="628743" grpId="0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: 圆角 15"/>
          <p:cNvSpPr/>
          <p:nvPr/>
        </p:nvSpPr>
        <p:spPr>
          <a:xfrm>
            <a:off x="1524000" y="3330595"/>
            <a:ext cx="9144000" cy="3122757"/>
          </a:xfrm>
          <a:prstGeom prst="roundRect">
            <a:avLst>
              <a:gd name="adj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1683506" y="129717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800" b="1">
                <a:solidFill>
                  <a:srgbClr val="FF0000"/>
                </a:solidFill>
                <a:ea typeface="楷体" panose="02010609060101010101" charset="-122"/>
              </a:defRPr>
            </a:lvl1pPr>
          </a:lstStyle>
          <a:p>
            <a:r>
              <a:rPr lang="zh-CN" altLang="en-US" dirty="0">
                <a:solidFill>
                  <a:schemeClr val="tx1"/>
                </a:solidFill>
              </a:rPr>
              <a:t>周期性非正弦稳态电路</a:t>
            </a: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1930400" y="652937"/>
          <a:ext cx="41656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9974400" imgH="20421600" progId="Equation.DSMT4">
                  <p:embed/>
                </p:oleObj>
              </mc:Choice>
              <mc:Fallback>
                <p:oleObj name="Equation" r:id="rId2" imgW="99974400" imgH="20421600" progId="Equation.DSMT4">
                  <p:embed/>
                  <p:pic>
                    <p:nvPicPr>
                      <p:cNvPr id="5" name="对象 4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930400" y="652937"/>
                        <a:ext cx="4165600" cy="850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6342894" y="652937"/>
          <a:ext cx="38608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92659200" imgH="20421600" progId="Equation.DSMT4">
                  <p:embed/>
                </p:oleObj>
              </mc:Choice>
              <mc:Fallback>
                <p:oleObj name="Equation" r:id="rId4" imgW="92659200" imgH="20421600" progId="Equation.DSMT4">
                  <p:embed/>
                  <p:pic>
                    <p:nvPicPr>
                      <p:cNvPr id="7" name="对象 6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342894" y="652937"/>
                        <a:ext cx="3860800" cy="850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1984820" y="1695450"/>
          <a:ext cx="23368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56083200" imgH="22860000" progId="Equation.DSMT4">
                  <p:embed/>
                </p:oleObj>
              </mc:Choice>
              <mc:Fallback>
                <p:oleObj name="Equation" r:id="rId6" imgW="56083200" imgH="22860000" progId="Equation.DSMT4">
                  <p:embed/>
                  <p:pic>
                    <p:nvPicPr>
                      <p:cNvPr id="8" name="对象 7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984820" y="1695450"/>
                        <a:ext cx="2336800" cy="952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4565695" y="1695450"/>
          <a:ext cx="20574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9377600" imgH="22860000" progId="Equation.DSMT4">
                  <p:embed/>
                </p:oleObj>
              </mc:Choice>
              <mc:Fallback>
                <p:oleObj name="Equation" r:id="rId8" imgW="49377600" imgH="22860000" progId="Equation.DSMT4">
                  <p:embed/>
                  <p:pic>
                    <p:nvPicPr>
                      <p:cNvPr id="9" name="对象 8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565695" y="1695450"/>
                        <a:ext cx="2057400" cy="952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6867170" y="1746250"/>
          <a:ext cx="18542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44500800" imgH="20421600" progId="Equation.DSMT4">
                  <p:embed/>
                </p:oleObj>
              </mc:Choice>
              <mc:Fallback>
                <p:oleObj name="Equation" r:id="rId10" imgW="44500800" imgH="20421600" progId="Equation.DSMT4">
                  <p:embed/>
                  <p:pic>
                    <p:nvPicPr>
                      <p:cNvPr id="10" name="对象 9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6867170" y="1746250"/>
                        <a:ext cx="1854200" cy="850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矩形 10"/>
          <p:cNvSpPr/>
          <p:nvPr/>
        </p:nvSpPr>
        <p:spPr>
          <a:xfrm>
            <a:off x="1828800" y="1584960"/>
            <a:ext cx="8580120" cy="117348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8848256" y="1940868"/>
            <a:ext cx="143377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</a:rPr>
              <a:t>要记住！</a:t>
            </a:r>
            <a:endParaRPr lang="zh-CN" altLang="en-US" sz="1600" dirty="0"/>
          </a:p>
        </p:txBody>
      </p:sp>
      <p:sp>
        <p:nvSpPr>
          <p:cNvPr id="13" name="文本框 12"/>
          <p:cNvSpPr txBox="1"/>
          <p:nvPr/>
        </p:nvSpPr>
        <p:spPr>
          <a:xfrm>
            <a:off x="1930401" y="3871748"/>
            <a:ext cx="8136891" cy="2581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14000"/>
              </a:lnSpc>
              <a:buFont typeface="+mj-lt"/>
              <a:buAutoNum type="alphaUcPeriod"/>
            </a:pPr>
            <a:r>
              <a:rPr kumimoji="1" lang="zh-CN" altLang="en-US" sz="2400" b="1" dirty="0">
                <a:latin typeface="Times New Roman" panose="02020603050405020304" pitchFamily="18" charset="0"/>
                <a:ea typeface="楷体" panose="02010609060101010101" charset="-122"/>
              </a:rPr>
              <a:t>将</a:t>
            </a:r>
            <a:r>
              <a:rPr kumimoji="1" lang="zh-CN" altLang="en-US" sz="2400" b="1" dirty="0">
                <a:latin typeface="楷体" panose="02010609060101010101" charset="-122"/>
                <a:ea typeface="楷体" panose="02010609060101010101" charset="-122"/>
              </a:rPr>
              <a:t>周期性</a:t>
            </a:r>
            <a:r>
              <a:rPr kumimoji="1" lang="zh-CN" altLang="en-US" sz="2400" b="1" dirty="0">
                <a:latin typeface="Times New Roman" panose="02020603050405020304" pitchFamily="18" charset="0"/>
                <a:ea typeface="楷体" panose="02010609060101010101" charset="-122"/>
              </a:rPr>
              <a:t>非正弦电源</a:t>
            </a:r>
            <a:r>
              <a:rPr kumimoji="1"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charset="-122"/>
              </a:rPr>
              <a:t>分解为傅里叶级数</a:t>
            </a:r>
            <a:endParaRPr kumimoji="1" lang="en-US" altLang="zh-CN" sz="2400" b="1" dirty="0">
              <a:solidFill>
                <a:srgbClr val="0000FF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  <a:p>
            <a:pPr marL="457200" indent="-457200" algn="just">
              <a:lnSpc>
                <a:spcPct val="114000"/>
              </a:lnSpc>
              <a:buFont typeface="+mj-lt"/>
              <a:buAutoNum type="alphaUcPeriod" startAt="2"/>
            </a:pPr>
            <a:r>
              <a:rPr kumimoji="1" lang="zh-CN" altLang="en-US" sz="2400" b="1" dirty="0">
                <a:latin typeface="Times New Roman" panose="02020603050405020304" pitchFamily="18" charset="0"/>
                <a:ea typeface="楷体" panose="02010609060101010101" charset="-122"/>
              </a:rPr>
              <a:t>根据叠加定理，分别</a:t>
            </a:r>
            <a:r>
              <a:rPr kumimoji="1"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charset="-122"/>
              </a:rPr>
              <a:t>计算直流分量和各次谐波激励单独作用时产生的响应</a:t>
            </a:r>
            <a:r>
              <a:rPr kumimoji="1" lang="zh-CN" altLang="en-US" sz="2400" b="1" dirty="0">
                <a:latin typeface="Times New Roman" panose="02020603050405020304" pitchFamily="18" charset="0"/>
                <a:ea typeface="楷体" panose="02010609060101010101" charset="-122"/>
              </a:rPr>
              <a:t>；</a:t>
            </a:r>
            <a:r>
              <a:rPr kumimoji="1"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注意不同角频率下电感和电容的阻抗值的变化！</a:t>
            </a:r>
            <a:endParaRPr kumimoji="1" lang="en-US" altLang="zh-CN" sz="2400" b="1" dirty="0">
              <a:latin typeface="Times New Roman" panose="02020603050405020304" pitchFamily="18" charset="0"/>
              <a:ea typeface="楷体" panose="02010609060101010101" charset="-122"/>
            </a:endParaRPr>
          </a:p>
          <a:p>
            <a:pPr marL="457200" indent="-457200" algn="just">
              <a:lnSpc>
                <a:spcPct val="114000"/>
              </a:lnSpc>
              <a:buFont typeface="+mj-lt"/>
              <a:buAutoNum type="alphaUcPeriod" startAt="3"/>
            </a:pPr>
            <a:r>
              <a:rPr kumimoji="1" lang="zh-CN" altLang="en-US" sz="2400" b="1" dirty="0">
                <a:latin typeface="Times New Roman" panose="02020603050405020304" pitchFamily="18" charset="0"/>
                <a:ea typeface="楷体" panose="02010609060101010101" charset="-122"/>
              </a:rPr>
              <a:t>将计算结果</a:t>
            </a:r>
            <a:r>
              <a:rPr kumimoji="1"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charset="-122"/>
              </a:rPr>
              <a:t>以瞬时值形式相加</a:t>
            </a:r>
            <a:r>
              <a:rPr kumimoji="1" lang="zh-CN" altLang="en-US" sz="2400" b="1" dirty="0">
                <a:latin typeface="Times New Roman" panose="02020603050405020304" pitchFamily="18" charset="0"/>
                <a:ea typeface="楷体" panose="02010609060101010101" charset="-122"/>
              </a:rPr>
              <a:t>（</a:t>
            </a:r>
            <a:r>
              <a:rPr kumimoji="1"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各次谐波激励所产生的相量形式响应不能进行相加</a:t>
            </a:r>
            <a:r>
              <a:rPr kumimoji="1" lang="zh-CN" altLang="en-US" sz="2400" b="1" dirty="0">
                <a:latin typeface="Times New Roman" panose="02020603050405020304" pitchFamily="18" charset="0"/>
                <a:ea typeface="楷体" panose="02010609060101010101" charset="-122"/>
              </a:rPr>
              <a:t>，因其频率不同）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1828800" y="2868931"/>
            <a:ext cx="805429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</a:rPr>
              <a:t>注意：同频电源的平均功率不能叠加（含直流和交流）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7" name="Text Box 3"/>
          <p:cNvSpPr txBox="1">
            <a:spLocks noChangeArrowheads="1"/>
          </p:cNvSpPr>
          <p:nvPr/>
        </p:nvSpPr>
        <p:spPr bwMode="auto">
          <a:xfrm>
            <a:off x="1683506" y="3410084"/>
            <a:ext cx="403574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谐波分析法：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0" dur="1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2" grpId="0"/>
      <p:bldP spid="11" grpId="0" animBg="1"/>
      <p:bldP spid="12" grpId="0"/>
      <p:bldP spid="13" grpId="0" build="p"/>
      <p:bldP spid="15" grpId="0"/>
      <p:bldP spid="17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170" name="Text Box 2">
            <a:extLst>
              <a:ext uri="{FF2B5EF4-FFF2-40B4-BE49-F238E27FC236}">
                <a16:creationId xmlns:a16="http://schemas.microsoft.com/office/drawing/2014/main" id="{A9926B85-5C75-45A9-B637-313C6360F9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152401"/>
            <a:ext cx="6858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l"/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三、周期性</a:t>
            </a:r>
            <a:r>
              <a:rPr kumimoji="1" lang="zh-CN" altLang="en-US" sz="2800" b="1">
                <a:solidFill>
                  <a:srgbClr val="0000FF"/>
                </a:solidFill>
                <a:latin typeface="宋体" panose="02010600030101010101" pitchFamily="2" charset="-122"/>
              </a:rPr>
              <a:t>非正弦电流电路的计算</a:t>
            </a:r>
          </a:p>
        </p:txBody>
      </p:sp>
      <p:sp>
        <p:nvSpPr>
          <p:cNvPr id="647171" name="Text Box 3">
            <a:extLst>
              <a:ext uri="{FF2B5EF4-FFF2-40B4-BE49-F238E27FC236}">
                <a16:creationId xmlns:a16="http://schemas.microsoft.com/office/drawing/2014/main" id="{F845C011-B69A-4302-A45C-3ABA573A77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9275" y="800100"/>
            <a:ext cx="426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00FF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l"/>
            <a:r>
              <a:rPr kumimoji="1" lang="zh-CN" altLang="en-US" sz="2400" b="1">
                <a:solidFill>
                  <a:srgbClr val="FF3300"/>
                </a:solidFill>
                <a:latin typeface="Times New Roman" panose="02020603050405020304" pitchFamily="18" charset="0"/>
              </a:rPr>
              <a:t>采用谐波分析法，其步骤如下：</a:t>
            </a:r>
            <a:endParaRPr kumimoji="1" lang="zh-CN" altLang="en-US" sz="2400">
              <a:solidFill>
                <a:srgbClr val="FF33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47172" name="Text Box 4">
            <a:extLst>
              <a:ext uri="{FF2B5EF4-FFF2-40B4-BE49-F238E27FC236}">
                <a16:creationId xmlns:a16="http://schemas.microsoft.com/office/drawing/2014/main" id="{16286E0C-C63E-475C-877D-CA17BD2C8E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24025" y="2424114"/>
            <a:ext cx="83820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l"/>
            <a:r>
              <a:rPr kumimoji="1" lang="zh-CN" altLang="en-US" sz="2400" b="1">
                <a:solidFill>
                  <a:srgbClr val="FF3300"/>
                </a:solidFill>
                <a:latin typeface="Times New Roman" panose="02020603050405020304" pitchFamily="18" charset="0"/>
              </a:rPr>
              <a:t>（</a:t>
            </a:r>
            <a:r>
              <a:rPr kumimoji="1" lang="en-US" altLang="zh-CN" sz="2400" b="1">
                <a:solidFill>
                  <a:srgbClr val="FF3300"/>
                </a:solidFill>
                <a:latin typeface="Times New Roman" panose="02020603050405020304" pitchFamily="18" charset="0"/>
              </a:rPr>
              <a:t>2</a:t>
            </a:r>
            <a:r>
              <a:rPr kumimoji="1" lang="zh-CN" altLang="en-US" sz="2400" b="1">
                <a:solidFill>
                  <a:srgbClr val="FF3300"/>
                </a:solidFill>
                <a:latin typeface="Times New Roman" panose="02020603050405020304" pitchFamily="18" charset="0"/>
              </a:rPr>
              <a:t>）</a:t>
            </a:r>
            <a:r>
              <a:rPr kumimoji="1" lang="zh-CN" altLang="en-US" sz="2400" b="1">
                <a:latin typeface="Times New Roman" panose="02020603050405020304" pitchFamily="18" charset="0"/>
              </a:rPr>
              <a:t>根据叠加定理，分别计算直流分量和各次谐波激励单独</a:t>
            </a:r>
          </a:p>
          <a:p>
            <a:pPr algn="l"/>
            <a:r>
              <a:rPr kumimoji="1" lang="zh-CN" altLang="en-US" sz="2400" b="1">
                <a:latin typeface="Times New Roman" panose="02020603050405020304" pitchFamily="18" charset="0"/>
              </a:rPr>
              <a:t>          作用时产生的响应； </a:t>
            </a:r>
          </a:p>
        </p:txBody>
      </p:sp>
      <p:sp>
        <p:nvSpPr>
          <p:cNvPr id="647173" name="Text Box 5">
            <a:extLst>
              <a:ext uri="{FF2B5EF4-FFF2-40B4-BE49-F238E27FC236}">
                <a16:creationId xmlns:a16="http://schemas.microsoft.com/office/drawing/2014/main" id="{03C71C7F-FC42-4498-922A-376D790A82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52626" y="4267201"/>
            <a:ext cx="8391525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536575" indent="-536575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992188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71575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50000"/>
              </a:spcBef>
            </a:pPr>
            <a:r>
              <a:rPr kumimoji="1" lang="en-US" altLang="zh-CN" sz="2400" b="1">
                <a:solidFill>
                  <a:srgbClr val="A50021"/>
                </a:solidFill>
                <a:latin typeface="Times New Roman" panose="02020603050405020304" pitchFamily="18" charset="0"/>
              </a:rPr>
              <a:t>(b)</a:t>
            </a:r>
            <a:r>
              <a:rPr kumimoji="1" lang="en-US" altLang="zh-CN" sz="2400" b="1">
                <a:latin typeface="Times New Roman" panose="02020603050405020304" pitchFamily="18" charset="0"/>
              </a:rPr>
              <a:t> </a:t>
            </a:r>
            <a:r>
              <a:rPr kumimoji="1" lang="zh-CN" altLang="en-US" sz="2400" b="1">
                <a:latin typeface="Times New Roman" panose="02020603050405020304" pitchFamily="18" charset="0"/>
              </a:rPr>
              <a:t>各次谐波单独作用时均为正弦稳态电路，可采用相量法       计算</a:t>
            </a:r>
            <a:r>
              <a:rPr kumimoji="1" lang="en-US" altLang="zh-CN" sz="2400" b="1">
                <a:latin typeface="Times New Roman" panose="02020603050405020304" pitchFamily="18" charset="0"/>
              </a:rPr>
              <a:t>(</a:t>
            </a:r>
            <a:r>
              <a:rPr kumimoji="1" lang="zh-CN" altLang="en-US" sz="2400" b="1">
                <a:latin typeface="Times New Roman" panose="02020603050405020304" pitchFamily="18" charset="0"/>
              </a:rPr>
              <a:t>要注意电感和电容的阻抗随频率</a:t>
            </a:r>
            <a:r>
              <a:rPr kumimoji="1" lang="zh-CN" altLang="en-US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</a:t>
            </a:r>
            <a:r>
              <a:rPr kumimoji="1"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的变化而变化</a:t>
            </a:r>
            <a:r>
              <a:rPr kumimoji="1"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kumimoji="1"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；</a:t>
            </a:r>
            <a:endParaRPr kumimoji="1" lang="zh-CN" altLang="en-US" sz="2400" b="1">
              <a:latin typeface="Times New Roman" panose="02020603050405020304" pitchFamily="18" charset="0"/>
            </a:endParaRPr>
          </a:p>
        </p:txBody>
      </p:sp>
      <p:sp>
        <p:nvSpPr>
          <p:cNvPr id="647174" name="Text Box 6">
            <a:extLst>
              <a:ext uri="{FF2B5EF4-FFF2-40B4-BE49-F238E27FC236}">
                <a16:creationId xmlns:a16="http://schemas.microsoft.com/office/drawing/2014/main" id="{7EB20DA3-1E6A-443B-9DA3-CE70FB4B76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24026" y="1357314"/>
            <a:ext cx="8367713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l"/>
            <a:r>
              <a:rPr kumimoji="1" lang="zh-CN" altLang="en-US" sz="2400" b="1">
                <a:solidFill>
                  <a:srgbClr val="FF3300"/>
                </a:solidFill>
                <a:latin typeface="Times New Roman" panose="02020603050405020304" pitchFamily="18" charset="0"/>
              </a:rPr>
              <a:t>（</a:t>
            </a:r>
            <a:r>
              <a:rPr kumimoji="1" lang="en-US" altLang="zh-CN" sz="2400" b="1">
                <a:solidFill>
                  <a:srgbClr val="FF3300"/>
                </a:solidFill>
                <a:latin typeface="Times New Roman" panose="02020603050405020304" pitchFamily="18" charset="0"/>
              </a:rPr>
              <a:t>1</a:t>
            </a:r>
            <a:r>
              <a:rPr kumimoji="1" lang="zh-CN" altLang="en-US" sz="2400" b="1">
                <a:solidFill>
                  <a:srgbClr val="FF3300"/>
                </a:solidFill>
                <a:latin typeface="Times New Roman" panose="02020603050405020304" pitchFamily="18" charset="0"/>
              </a:rPr>
              <a:t>）</a:t>
            </a:r>
            <a:r>
              <a:rPr kumimoji="1" lang="zh-CN" altLang="en-US" sz="2400" b="1">
                <a:latin typeface="Times New Roman" panose="02020603050405020304" pitchFamily="18" charset="0"/>
              </a:rPr>
              <a:t>将</a:t>
            </a:r>
            <a:r>
              <a:rPr kumimoji="1" lang="zh-CN" altLang="en-US" sz="2400" b="1">
                <a:latin typeface="宋体" panose="02010600030101010101" pitchFamily="2" charset="-122"/>
              </a:rPr>
              <a:t>周期性</a:t>
            </a:r>
            <a:r>
              <a:rPr kumimoji="1" lang="zh-CN" altLang="en-US" sz="2400" b="1">
                <a:latin typeface="Times New Roman" panose="02020603050405020304" pitchFamily="18" charset="0"/>
              </a:rPr>
              <a:t>非正弦电源，分解为傅里叶级数，根据要求</a:t>
            </a:r>
          </a:p>
          <a:p>
            <a:pPr algn="l"/>
            <a:r>
              <a:rPr kumimoji="1" lang="zh-CN" altLang="en-US" sz="2400" b="1">
                <a:latin typeface="Times New Roman" panose="02020603050405020304" pitchFamily="18" charset="0"/>
              </a:rPr>
              <a:t>           取有限项；      </a:t>
            </a:r>
          </a:p>
        </p:txBody>
      </p:sp>
      <p:sp>
        <p:nvSpPr>
          <p:cNvPr id="647175" name="Text Box 7">
            <a:extLst>
              <a:ext uri="{FF2B5EF4-FFF2-40B4-BE49-F238E27FC236}">
                <a16:creationId xmlns:a16="http://schemas.microsoft.com/office/drawing/2014/main" id="{22F68A5E-7BD4-4D8C-B62E-172EA8A486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52625" y="3581400"/>
            <a:ext cx="8458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/>
            <a:r>
              <a:rPr kumimoji="1" lang="en-US" altLang="zh-CN" sz="2400" b="1">
                <a:solidFill>
                  <a:srgbClr val="A50021"/>
                </a:solidFill>
                <a:latin typeface="Times New Roman" panose="02020603050405020304" pitchFamily="18" charset="0"/>
              </a:rPr>
              <a:t>(a)</a:t>
            </a:r>
            <a:r>
              <a:rPr kumimoji="1" lang="en-US" altLang="zh-CN" sz="2400" b="1">
                <a:latin typeface="Times New Roman" panose="02020603050405020304" pitchFamily="18" charset="0"/>
              </a:rPr>
              <a:t>  </a:t>
            </a:r>
            <a:r>
              <a:rPr kumimoji="1" lang="zh-CN" altLang="en-US" sz="2400" b="1">
                <a:latin typeface="Times New Roman" panose="02020603050405020304" pitchFamily="18" charset="0"/>
              </a:rPr>
              <a:t>直流分量单独作用相当于解直流电路（</a:t>
            </a:r>
            <a:r>
              <a:rPr kumimoji="1" lang="en-US" altLang="zh-CN" sz="2400" b="1" i="1">
                <a:latin typeface="Times New Roman" panose="02020603050405020304" pitchFamily="18" charset="0"/>
              </a:rPr>
              <a:t>L</a:t>
            </a:r>
            <a:r>
              <a:rPr kumimoji="1" lang="zh-CN" altLang="en-US" sz="2400" b="1">
                <a:latin typeface="Times New Roman" panose="02020603050405020304" pitchFamily="18" charset="0"/>
              </a:rPr>
              <a:t>短路、</a:t>
            </a:r>
            <a:r>
              <a:rPr kumimoji="1" lang="en-US" altLang="zh-CN" sz="2400" b="1" i="1">
                <a:latin typeface="Times New Roman" panose="02020603050405020304" pitchFamily="18" charset="0"/>
              </a:rPr>
              <a:t>C</a:t>
            </a:r>
            <a:r>
              <a:rPr kumimoji="1" lang="zh-CN" altLang="en-US" sz="2400" b="1">
                <a:latin typeface="Times New Roman" panose="02020603050405020304" pitchFamily="18" charset="0"/>
              </a:rPr>
              <a:t>开路）；</a:t>
            </a:r>
          </a:p>
        </p:txBody>
      </p:sp>
      <p:sp>
        <p:nvSpPr>
          <p:cNvPr id="647176" name="Text Box 8">
            <a:extLst>
              <a:ext uri="{FF2B5EF4-FFF2-40B4-BE49-F238E27FC236}">
                <a16:creationId xmlns:a16="http://schemas.microsoft.com/office/drawing/2014/main" id="{ED339A3D-4A5F-42D8-8E62-D2D02667E6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5450" y="5334001"/>
            <a:ext cx="85344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l"/>
            <a:r>
              <a:rPr kumimoji="1" lang="zh-CN" altLang="en-US" sz="2400" b="1">
                <a:solidFill>
                  <a:srgbClr val="FF3300"/>
                </a:solidFill>
                <a:latin typeface="Times New Roman" panose="02020603050405020304" pitchFamily="18" charset="0"/>
              </a:rPr>
              <a:t>（</a:t>
            </a:r>
            <a:r>
              <a:rPr kumimoji="1" lang="en-US" altLang="zh-CN" sz="2400" b="1">
                <a:solidFill>
                  <a:srgbClr val="FF3300"/>
                </a:solidFill>
                <a:latin typeface="Times New Roman" panose="02020603050405020304" pitchFamily="18" charset="0"/>
              </a:rPr>
              <a:t>3</a:t>
            </a:r>
            <a:r>
              <a:rPr kumimoji="1" lang="zh-CN" altLang="en-US" sz="2400" b="1">
                <a:solidFill>
                  <a:srgbClr val="FF3300"/>
                </a:solidFill>
                <a:latin typeface="Times New Roman" panose="02020603050405020304" pitchFamily="18" charset="0"/>
              </a:rPr>
              <a:t>）</a:t>
            </a:r>
            <a:r>
              <a:rPr kumimoji="1" lang="zh-CN" altLang="en-US" sz="2400" b="1">
                <a:latin typeface="Times New Roman" panose="02020603050405020304" pitchFamily="18" charset="0"/>
              </a:rPr>
              <a:t>将计算结果以瞬时值形式相加（各次谐波激励所产生的</a:t>
            </a:r>
          </a:p>
          <a:p>
            <a:pPr algn="l"/>
            <a:r>
              <a:rPr kumimoji="1" lang="zh-CN" altLang="en-US" sz="2400" b="1">
                <a:latin typeface="Times New Roman" panose="02020603050405020304" pitchFamily="18" charset="0"/>
              </a:rPr>
              <a:t>          相量形式的响应不能进行相加，因其频率不同）。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47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47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47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47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47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47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7171" grpId="0" autoUpdateAnimBg="0"/>
      <p:bldP spid="647172" grpId="0" autoUpdateAnimBg="0"/>
      <p:bldP spid="647173" grpId="0" autoUpdateAnimBg="0"/>
      <p:bldP spid="647174" grpId="0" autoUpdateAnimBg="0"/>
      <p:bldP spid="647175" grpId="0" autoUpdateAnimBg="0"/>
      <p:bldP spid="647176" grpId="0" autoUpdateAnimBg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2015192" y="3490887"/>
          <a:ext cx="2501900" cy="102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0045600" imgH="24688800" progId="Equation.DSMT4">
                  <p:embed/>
                </p:oleObj>
              </mc:Choice>
              <mc:Fallback>
                <p:oleObj name="Equation" r:id="rId2" imgW="60045600" imgH="24688800" progId="Equation.DSMT4">
                  <p:embed/>
                  <p:pic>
                    <p:nvPicPr>
                      <p:cNvPr id="2" name="对象 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015192" y="3490887"/>
                        <a:ext cx="2501900" cy="1028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5036520" y="3490847"/>
          <a:ext cx="2578100" cy="102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1874400" imgH="24688800" progId="Equation.DSMT4">
                  <p:embed/>
                </p:oleObj>
              </mc:Choice>
              <mc:Fallback>
                <p:oleObj name="Equation" r:id="rId4" imgW="61874400" imgH="24688800" progId="Equation.DSMT4">
                  <p:embed/>
                  <p:pic>
                    <p:nvPicPr>
                      <p:cNvPr id="3" name="对象 2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036520" y="3490847"/>
                        <a:ext cx="2578100" cy="1028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5036520" y="1956381"/>
          <a:ext cx="2476500" cy="102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59436000" imgH="24688800" progId="Equation.DSMT4">
                  <p:embed/>
                </p:oleObj>
              </mc:Choice>
              <mc:Fallback>
                <p:oleObj name="Equation" r:id="rId6" imgW="59436000" imgH="24688800" progId="Equation.DSMT4">
                  <p:embed/>
                  <p:pic>
                    <p:nvPicPr>
                      <p:cNvPr id="4" name="对象 3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036520" y="1956381"/>
                        <a:ext cx="2476500" cy="1028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2015192" y="1954238"/>
          <a:ext cx="2514600" cy="102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60350400" imgH="24688800" progId="Equation.DSMT4">
                  <p:embed/>
                </p:oleObj>
              </mc:Choice>
              <mc:Fallback>
                <p:oleObj name="Equation" r:id="rId8" imgW="60350400" imgH="24688800" progId="Equation.DSMT4">
                  <p:embed/>
                  <p:pic>
                    <p:nvPicPr>
                      <p:cNvPr id="5" name="对象 4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015192" y="1954238"/>
                        <a:ext cx="2514600" cy="1028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2015192" y="5049416"/>
          <a:ext cx="2794000" cy="1231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67056000" imgH="29565600" progId="Equation.DSMT4">
                  <p:embed/>
                </p:oleObj>
              </mc:Choice>
              <mc:Fallback>
                <p:oleObj name="Equation" r:id="rId10" imgW="67056000" imgH="29565600" progId="Equation.DSMT4">
                  <p:embed/>
                  <p:pic>
                    <p:nvPicPr>
                      <p:cNvPr id="6" name="对象 5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2015192" y="5049416"/>
                        <a:ext cx="2794000" cy="1231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5036520" y="5049416"/>
          <a:ext cx="2946400" cy="1231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70713600" imgH="29565600" progId="Equation.DSMT4">
                  <p:embed/>
                </p:oleObj>
              </mc:Choice>
              <mc:Fallback>
                <p:oleObj name="Equation" r:id="rId12" imgW="70713600" imgH="29565600" progId="Equation.DSMT4">
                  <p:embed/>
                  <p:pic>
                    <p:nvPicPr>
                      <p:cNvPr id="7" name="对象 6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5036520" y="5049416"/>
                        <a:ext cx="2946400" cy="1231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29"/>
          <p:cNvSpPr>
            <a:spLocks noChangeArrowheads="1"/>
          </p:cNvSpPr>
          <p:nvPr/>
        </p:nvSpPr>
        <p:spPr bwMode="auto">
          <a:xfrm>
            <a:off x="1993937" y="1506201"/>
            <a:ext cx="255711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zh-CN" altLang="en-US" b="1" dirty="0">
                <a:solidFill>
                  <a:srgbClr val="3333CC"/>
                </a:solidFill>
                <a:latin typeface="楷体" panose="02010609060101010101" charset="-122"/>
                <a:ea typeface="楷体" panose="02010609060101010101" charset="-122"/>
              </a:rPr>
              <a:t>阻抗参数方程</a:t>
            </a:r>
            <a:r>
              <a:rPr lang="en-US" altLang="zh-CN" b="1" dirty="0">
                <a:solidFill>
                  <a:srgbClr val="3333CC"/>
                </a:solidFill>
                <a:latin typeface="楷体" panose="02010609060101010101" charset="-122"/>
                <a:ea typeface="楷体" panose="02010609060101010101" charset="-122"/>
              </a:rPr>
              <a:t>(</a:t>
            </a:r>
            <a:r>
              <a:rPr lang="en-US" altLang="zh-CN" b="1" dirty="0">
                <a:solidFill>
                  <a:srgbClr val="3333CC"/>
                </a:solidFill>
                <a:latin typeface="Times New Roman" panose="02020603050405020304"/>
                <a:ea typeface="楷体" panose="02010609060101010101" charset="-122"/>
              </a:rPr>
              <a:t>Z</a:t>
            </a:r>
            <a:r>
              <a:rPr lang="en-US" altLang="zh-CN" b="1" dirty="0">
                <a:solidFill>
                  <a:srgbClr val="3333CC"/>
                </a:solidFill>
                <a:latin typeface="楷体" panose="02010609060101010101" charset="-122"/>
                <a:ea typeface="楷体" panose="02010609060101010101" charset="-122"/>
              </a:rPr>
              <a:t>)</a:t>
            </a:r>
          </a:p>
        </p:txBody>
      </p:sp>
      <p:sp>
        <p:nvSpPr>
          <p:cNvPr id="9" name="Rectangle 30"/>
          <p:cNvSpPr>
            <a:spLocks noChangeArrowheads="1"/>
          </p:cNvSpPr>
          <p:nvPr/>
        </p:nvSpPr>
        <p:spPr bwMode="auto">
          <a:xfrm>
            <a:off x="5038198" y="1506201"/>
            <a:ext cx="257474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zh-CN" altLang="en-US" b="1" dirty="0">
                <a:solidFill>
                  <a:srgbClr val="3333CC"/>
                </a:solidFill>
                <a:latin typeface="楷体" panose="02010609060101010101" charset="-122"/>
                <a:ea typeface="楷体" panose="02010609060101010101" charset="-122"/>
              </a:rPr>
              <a:t>导纳参数方程</a:t>
            </a:r>
            <a:r>
              <a:rPr lang="en-US" altLang="zh-CN" b="1" dirty="0">
                <a:solidFill>
                  <a:srgbClr val="3333CC"/>
                </a:solidFill>
                <a:latin typeface="楷体" panose="02010609060101010101" charset="-122"/>
                <a:ea typeface="楷体" panose="02010609060101010101" charset="-122"/>
              </a:rPr>
              <a:t>(</a:t>
            </a:r>
            <a:r>
              <a:rPr lang="en-US" altLang="zh-CN" b="1" dirty="0">
                <a:solidFill>
                  <a:srgbClr val="3333CC"/>
                </a:solidFill>
                <a:latin typeface="Times New Roman" panose="02020603050405020304"/>
                <a:ea typeface="楷体" panose="02010609060101010101" charset="-122"/>
              </a:rPr>
              <a:t>Y</a:t>
            </a:r>
            <a:r>
              <a:rPr lang="en-US" altLang="zh-CN" b="1" dirty="0">
                <a:solidFill>
                  <a:srgbClr val="3333CC"/>
                </a:solidFill>
                <a:latin typeface="楷体" panose="02010609060101010101" charset="-122"/>
                <a:ea typeface="楷体" panose="02010609060101010101" charset="-122"/>
              </a:rPr>
              <a:t>)</a:t>
            </a:r>
          </a:p>
        </p:txBody>
      </p:sp>
      <p:sp>
        <p:nvSpPr>
          <p:cNvPr id="10" name="Rectangle 31"/>
          <p:cNvSpPr>
            <a:spLocks noChangeArrowheads="1"/>
          </p:cNvSpPr>
          <p:nvPr/>
        </p:nvSpPr>
        <p:spPr bwMode="auto">
          <a:xfrm>
            <a:off x="2115983" y="3036048"/>
            <a:ext cx="561662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zh-CN" altLang="en-US" b="1" dirty="0">
                <a:solidFill>
                  <a:srgbClr val="3333CC"/>
                </a:solidFill>
                <a:ea typeface="楷体" panose="02010609060101010101" charset="-122"/>
              </a:rPr>
              <a:t>混合参数方程 </a:t>
            </a:r>
            <a:r>
              <a:rPr lang="en-US" altLang="zh-CN" b="1" dirty="0">
                <a:solidFill>
                  <a:srgbClr val="3333CC"/>
                </a:solidFill>
                <a:ea typeface="楷体" panose="02010609060101010101" charset="-122"/>
              </a:rPr>
              <a:t>Hybrid Parameters (H</a:t>
            </a:r>
            <a:r>
              <a:rPr lang="zh-CN" altLang="en-US" b="1" dirty="0">
                <a:solidFill>
                  <a:srgbClr val="3333CC"/>
                </a:solidFill>
                <a:ea typeface="楷体" panose="02010609060101010101" charset="-122"/>
              </a:rPr>
              <a:t>和</a:t>
            </a:r>
            <a:r>
              <a:rPr lang="en-US" altLang="zh-CN" b="1" dirty="0">
                <a:solidFill>
                  <a:srgbClr val="3333CC"/>
                </a:solidFill>
                <a:ea typeface="楷体" panose="02010609060101010101" charset="-122"/>
              </a:rPr>
              <a:t>G)</a:t>
            </a:r>
            <a:endParaRPr lang="zh-CN" altLang="en-US" b="1" dirty="0">
              <a:solidFill>
                <a:srgbClr val="3333CC"/>
              </a:solidFill>
              <a:ea typeface="楷体" panose="02010609060101010101" charset="-122"/>
            </a:endParaRPr>
          </a:p>
        </p:txBody>
      </p:sp>
      <p:sp>
        <p:nvSpPr>
          <p:cNvPr id="11" name="Rectangle 32"/>
          <p:cNvSpPr>
            <a:spLocks noChangeArrowheads="1"/>
          </p:cNvSpPr>
          <p:nvPr/>
        </p:nvSpPr>
        <p:spPr bwMode="auto">
          <a:xfrm>
            <a:off x="2168507" y="4587752"/>
            <a:ext cx="655179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9pPr>
          </a:lstStyle>
          <a:p>
            <a:pPr algn="ctr">
              <a:spcBef>
                <a:spcPct val="0"/>
              </a:spcBef>
              <a:buNone/>
              <a:defRPr/>
            </a:pPr>
            <a:r>
              <a:rPr lang="zh-CN" altLang="en-US" b="1" kern="0" dirty="0">
                <a:solidFill>
                  <a:srgbClr val="3333CC"/>
                </a:solidFill>
                <a:ea typeface="楷体" panose="02010609060101010101" charset="-122"/>
              </a:rPr>
              <a:t>传输参数方程 </a:t>
            </a:r>
            <a:r>
              <a:rPr lang="en-US" altLang="zh-CN" b="1" kern="0" dirty="0">
                <a:solidFill>
                  <a:srgbClr val="3333CC"/>
                </a:solidFill>
                <a:ea typeface="楷体" panose="02010609060101010101" charset="-122"/>
              </a:rPr>
              <a:t>Transmission Parameters (T</a:t>
            </a:r>
            <a:r>
              <a:rPr lang="zh-CN" altLang="en-US" b="1" kern="0" dirty="0">
                <a:solidFill>
                  <a:srgbClr val="3333CC"/>
                </a:solidFill>
                <a:ea typeface="楷体" panose="02010609060101010101" charset="-122"/>
              </a:rPr>
              <a:t>和</a:t>
            </a:r>
            <a:r>
              <a:rPr lang="en-US" altLang="zh-CN" b="1" kern="0" dirty="0">
                <a:solidFill>
                  <a:srgbClr val="3333CC"/>
                </a:solidFill>
                <a:ea typeface="楷体" panose="02010609060101010101" charset="-122"/>
              </a:rPr>
              <a:t>T</a:t>
            </a:r>
            <a:r>
              <a:rPr lang="en-US" altLang="zh-CN" kern="0" dirty="0">
                <a:solidFill>
                  <a:srgbClr val="3333CC"/>
                </a:solidFill>
                <a:ea typeface="楷体" panose="02010609060101010101" charset="-122"/>
              </a:rPr>
              <a:t>’</a:t>
            </a:r>
            <a:r>
              <a:rPr lang="en-US" altLang="zh-CN" b="1" kern="0" dirty="0">
                <a:solidFill>
                  <a:srgbClr val="3333CC"/>
                </a:solidFill>
                <a:ea typeface="楷体" panose="02010609060101010101" charset="-122"/>
              </a:rPr>
              <a:t>)</a:t>
            </a:r>
            <a:endParaRPr lang="zh-CN" altLang="en-US" b="1" kern="0" dirty="0">
              <a:solidFill>
                <a:srgbClr val="3333CC"/>
              </a:solidFill>
              <a:ea typeface="楷体" panose="02010609060101010101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8087993" y="2053090"/>
            <a:ext cx="208881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</a:rPr>
              <a:t>同一</a:t>
            </a:r>
            <a:r>
              <a:rPr lang="zh-CN" altLang="en-US" sz="2400" b="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类型变量</a:t>
            </a:r>
            <a:endParaRPr lang="en-US" altLang="zh-CN" sz="2400" b="1" dirty="0">
              <a:solidFill>
                <a:srgbClr val="000000"/>
              </a:solidFill>
              <a:latin typeface="楷体" panose="02010609060101010101" charset="-122"/>
              <a:ea typeface="楷体" panose="02010609060101010101" charset="-122"/>
            </a:endParaRPr>
          </a:p>
          <a:p>
            <a:pPr algn="ctr"/>
            <a:r>
              <a:rPr lang="zh-CN" altLang="en-US" sz="2400" b="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位于</a:t>
            </a:r>
            <a:r>
              <a:rPr lang="zh-CN" altLang="en-US" sz="2400" b="1" dirty="0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</a:rPr>
              <a:t>不同</a:t>
            </a:r>
            <a:r>
              <a:rPr lang="zh-CN" altLang="en-US" sz="2400" b="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端口</a:t>
            </a:r>
            <a:endParaRPr lang="zh-CN" altLang="en-US" sz="24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8087993" y="3460914"/>
            <a:ext cx="208881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</a:rPr>
              <a:t>不同</a:t>
            </a:r>
            <a:r>
              <a:rPr lang="zh-CN" altLang="en-US" sz="2400" b="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类型变量</a:t>
            </a:r>
            <a:endParaRPr lang="en-US" altLang="zh-CN" sz="2400" b="1" dirty="0">
              <a:solidFill>
                <a:srgbClr val="000000"/>
              </a:solidFill>
              <a:latin typeface="楷体" panose="02010609060101010101" charset="-122"/>
              <a:ea typeface="楷体" panose="02010609060101010101" charset="-122"/>
            </a:endParaRPr>
          </a:p>
          <a:p>
            <a:pPr algn="ctr"/>
            <a:r>
              <a:rPr lang="zh-CN" altLang="en-US" sz="2400" b="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位于</a:t>
            </a:r>
            <a:r>
              <a:rPr lang="zh-CN" altLang="en-US" sz="2400" b="1" dirty="0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</a:rPr>
              <a:t>不同</a:t>
            </a:r>
            <a:r>
              <a:rPr lang="zh-CN" altLang="en-US" sz="2400" b="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端口</a:t>
            </a:r>
            <a:endParaRPr lang="zh-CN" altLang="en-US" sz="24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8087993" y="5249868"/>
            <a:ext cx="208881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</a:rPr>
              <a:t>不同</a:t>
            </a:r>
            <a:r>
              <a:rPr lang="zh-CN" altLang="en-US" sz="2400" b="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类型变量</a:t>
            </a:r>
            <a:endParaRPr lang="en-US" altLang="zh-CN" sz="2400" b="1" dirty="0">
              <a:solidFill>
                <a:srgbClr val="000000"/>
              </a:solidFill>
              <a:latin typeface="楷体" panose="02010609060101010101" charset="-122"/>
              <a:ea typeface="楷体" panose="02010609060101010101" charset="-122"/>
            </a:endParaRPr>
          </a:p>
          <a:p>
            <a:pPr algn="ctr"/>
            <a:r>
              <a:rPr lang="zh-CN" altLang="en-US" sz="2400" b="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位于</a:t>
            </a:r>
            <a:r>
              <a:rPr lang="zh-CN" altLang="en-US" sz="2400" b="1" dirty="0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</a:rPr>
              <a:t>同一</a:t>
            </a:r>
            <a:r>
              <a:rPr lang="zh-CN" altLang="en-US" sz="2400" b="1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端口</a:t>
            </a:r>
            <a:endParaRPr lang="zh-CN" altLang="en-US" sz="24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5" name="直接连接符 14"/>
          <p:cNvCxnSpPr/>
          <p:nvPr/>
        </p:nvCxnSpPr>
        <p:spPr bwMode="auto">
          <a:xfrm>
            <a:off x="2015193" y="3007419"/>
            <a:ext cx="8161615" cy="0"/>
          </a:xfrm>
          <a:prstGeom prst="line">
            <a:avLst/>
          </a:prstGeom>
          <a:solidFill>
            <a:srgbClr val="D5FFFF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6" name="直接连接符 15"/>
          <p:cNvCxnSpPr/>
          <p:nvPr/>
        </p:nvCxnSpPr>
        <p:spPr bwMode="auto">
          <a:xfrm>
            <a:off x="2015193" y="4540740"/>
            <a:ext cx="8161615" cy="0"/>
          </a:xfrm>
          <a:prstGeom prst="line">
            <a:avLst/>
          </a:prstGeom>
          <a:solidFill>
            <a:srgbClr val="D5FFFF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7" name="直接连接符 16"/>
          <p:cNvCxnSpPr/>
          <p:nvPr/>
        </p:nvCxnSpPr>
        <p:spPr bwMode="auto">
          <a:xfrm>
            <a:off x="2015193" y="6342414"/>
            <a:ext cx="8161615" cy="0"/>
          </a:xfrm>
          <a:prstGeom prst="line">
            <a:avLst/>
          </a:prstGeom>
          <a:solidFill>
            <a:srgbClr val="D5FFFF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18" name="文本框 17"/>
          <p:cNvSpPr txBox="1"/>
          <p:nvPr/>
        </p:nvSpPr>
        <p:spPr>
          <a:xfrm>
            <a:off x="1704740" y="87343"/>
            <a:ext cx="2717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ea typeface="楷体" panose="02010609060101010101" charset="-122"/>
              </a:rPr>
              <a:t>二端口网络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1907242" y="645180"/>
            <a:ext cx="826956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记住参数方程，可通过实验测量法或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KCL/KVL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、结点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/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网孔方程等方法求得；不同参数方程间可相互转换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033271" y="981075"/>
            <a:ext cx="8124825" cy="489585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2208</Words>
  <Application>Microsoft Office PowerPoint</Application>
  <PresentationFormat>宽屏</PresentationFormat>
  <Paragraphs>363</Paragraphs>
  <Slides>36</Slides>
  <Notes>10</Notes>
  <HiddenSlides>0</HiddenSlides>
  <MMClips>0</MMClips>
  <ScaleCrop>false</ScaleCrop>
  <HeadingPairs>
    <vt:vector size="8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36</vt:i4>
      </vt:variant>
    </vt:vector>
  </HeadingPairs>
  <TitlesOfParts>
    <vt:vector size="58" baseType="lpstr">
      <vt:lpstr>Monotype Sorts</vt:lpstr>
      <vt:lpstr>等线</vt:lpstr>
      <vt:lpstr>等线 Light</vt:lpstr>
      <vt:lpstr>黑体</vt:lpstr>
      <vt:lpstr>华文楷体</vt:lpstr>
      <vt:lpstr>华文行楷</vt:lpstr>
      <vt:lpstr>楷体</vt:lpstr>
      <vt:lpstr>楷体_GB2312</vt:lpstr>
      <vt:lpstr>隶书</vt:lpstr>
      <vt:lpstr>宋体</vt:lpstr>
      <vt:lpstr>微软雅黑</vt:lpstr>
      <vt:lpstr>幼圆</vt:lpstr>
      <vt:lpstr>Arial</vt:lpstr>
      <vt:lpstr>Cambria Math</vt:lpstr>
      <vt:lpstr>MT Extra</vt:lpstr>
      <vt:lpstr>Symbol</vt:lpstr>
      <vt:lpstr>Times New Roman</vt:lpstr>
      <vt:lpstr>Wingdings</vt:lpstr>
      <vt:lpstr>Office 主题​​</vt:lpstr>
      <vt:lpstr>Equation</vt:lpstr>
      <vt:lpstr>Visio</vt:lpstr>
      <vt:lpstr>公式</vt:lpstr>
      <vt:lpstr>做题技巧总结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电容、电感小结（1）</vt:lpstr>
      <vt:lpstr>PowerPoint 演示文稿</vt:lpstr>
      <vt:lpstr>PowerPoint 演示文稿</vt:lpstr>
      <vt:lpstr>PowerPoint 演示文稿</vt:lpstr>
      <vt:lpstr>10.3.3  电路的相量模型（直接记忆啊）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洛琦 白</dc:creator>
  <cp:lastModifiedBy>洛琦 白</cp:lastModifiedBy>
  <cp:revision>1</cp:revision>
  <dcterms:created xsi:type="dcterms:W3CDTF">2024-08-17T03:29:47Z</dcterms:created>
  <dcterms:modified xsi:type="dcterms:W3CDTF">2024-08-17T03:35:11Z</dcterms:modified>
</cp:coreProperties>
</file>