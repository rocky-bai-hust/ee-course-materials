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8"/>
  </p:notesMasterIdLst>
  <p:sldIdLst>
    <p:sldId id="477" r:id="rId3"/>
    <p:sldId id="418" r:id="rId4"/>
    <p:sldId id="478" r:id="rId5"/>
    <p:sldId id="429" r:id="rId6"/>
    <p:sldId id="433" r:id="rId7"/>
    <p:sldId id="439" r:id="rId8"/>
    <p:sldId id="440" r:id="rId9"/>
    <p:sldId id="441" r:id="rId10"/>
    <p:sldId id="442" r:id="rId11"/>
    <p:sldId id="479" r:id="rId12"/>
    <p:sldId id="443" r:id="rId13"/>
    <p:sldId id="449" r:id="rId14"/>
    <p:sldId id="452" r:id="rId15"/>
    <p:sldId id="453" r:id="rId16"/>
    <p:sldId id="455" r:id="rId17"/>
    <p:sldId id="457" r:id="rId18"/>
    <p:sldId id="461" r:id="rId19"/>
    <p:sldId id="462" r:id="rId20"/>
    <p:sldId id="463" r:id="rId21"/>
    <p:sldId id="464" r:id="rId22"/>
    <p:sldId id="465" r:id="rId23"/>
    <p:sldId id="466" r:id="rId24"/>
    <p:sldId id="467" r:id="rId25"/>
    <p:sldId id="473" r:id="rId26"/>
    <p:sldId id="480" r:id="rId27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E7FFFF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54" autoAdjust="0"/>
    <p:restoredTop sz="94585" autoAdjust="0"/>
  </p:normalViewPr>
  <p:slideViewPr>
    <p:cSldViewPr>
      <p:cViewPr varScale="1">
        <p:scale>
          <a:sx n="109" d="100"/>
          <a:sy n="109" d="100"/>
        </p:scale>
        <p:origin x="175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32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e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10" Type="http://schemas.openxmlformats.org/officeDocument/2006/relationships/image" Target="../media/image20.emf"/><Relationship Id="rId4" Type="http://schemas.openxmlformats.org/officeDocument/2006/relationships/image" Target="../media/image14.wmf"/><Relationship Id="rId9" Type="http://schemas.openxmlformats.org/officeDocument/2006/relationships/image" Target="../media/image19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3.wmf"/><Relationship Id="rId7" Type="http://schemas.openxmlformats.org/officeDocument/2006/relationships/image" Target="../media/image19.e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e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e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2.e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49.e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e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2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image" Target="../media/image63.wmf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12" Type="http://schemas.openxmlformats.org/officeDocument/2006/relationships/image" Target="../media/image62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11" Type="http://schemas.openxmlformats.org/officeDocument/2006/relationships/image" Target="../media/image61.wmf"/><Relationship Id="rId5" Type="http://schemas.openxmlformats.org/officeDocument/2006/relationships/image" Target="../media/image57.wmf"/><Relationship Id="rId10" Type="http://schemas.openxmlformats.org/officeDocument/2006/relationships/image" Target="../media/image60.wmf"/><Relationship Id="rId4" Type="http://schemas.openxmlformats.org/officeDocument/2006/relationships/image" Target="../media/image56.wmf"/><Relationship Id="rId9" Type="http://schemas.openxmlformats.org/officeDocument/2006/relationships/image" Target="../media/image39.wmf"/><Relationship Id="rId14" Type="http://schemas.openxmlformats.org/officeDocument/2006/relationships/image" Target="../media/image64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3" Type="http://schemas.openxmlformats.org/officeDocument/2006/relationships/image" Target="../media/image67.wmf"/><Relationship Id="rId7" Type="http://schemas.openxmlformats.org/officeDocument/2006/relationships/image" Target="../media/image71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10" Type="http://schemas.openxmlformats.org/officeDocument/2006/relationships/image" Target="../media/image74.wmf"/><Relationship Id="rId4" Type="http://schemas.openxmlformats.org/officeDocument/2006/relationships/image" Target="../media/image68.wmf"/><Relationship Id="rId9" Type="http://schemas.openxmlformats.org/officeDocument/2006/relationships/image" Target="../media/image7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2" Type="http://schemas.openxmlformats.org/officeDocument/2006/relationships/image" Target="../media/image39.wmf"/><Relationship Id="rId1" Type="http://schemas.openxmlformats.org/officeDocument/2006/relationships/image" Target="../media/image75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10" Type="http://schemas.openxmlformats.org/officeDocument/2006/relationships/image" Target="../media/image83.emf"/><Relationship Id="rId4" Type="http://schemas.openxmlformats.org/officeDocument/2006/relationships/image" Target="../media/image77.wmf"/><Relationship Id="rId9" Type="http://schemas.openxmlformats.org/officeDocument/2006/relationships/image" Target="../media/image8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8.wmf"/><Relationship Id="rId7" Type="http://schemas.openxmlformats.org/officeDocument/2006/relationships/image" Target="../media/image92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Relationship Id="rId9" Type="http://schemas.openxmlformats.org/officeDocument/2006/relationships/image" Target="../media/image94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image" Target="../media/image40.wmf"/><Relationship Id="rId7" Type="http://schemas.openxmlformats.org/officeDocument/2006/relationships/image" Target="../media/image98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97.emf"/><Relationship Id="rId11" Type="http://schemas.openxmlformats.org/officeDocument/2006/relationships/image" Target="../media/image102.wmf"/><Relationship Id="rId5" Type="http://schemas.openxmlformats.org/officeDocument/2006/relationships/image" Target="../media/image96.emf"/><Relationship Id="rId10" Type="http://schemas.openxmlformats.org/officeDocument/2006/relationships/image" Target="../media/image101.wmf"/><Relationship Id="rId4" Type="http://schemas.openxmlformats.org/officeDocument/2006/relationships/image" Target="../media/image95.emf"/><Relationship Id="rId9" Type="http://schemas.openxmlformats.org/officeDocument/2006/relationships/image" Target="../media/image100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image" Target="../media/image105.wmf"/><Relationship Id="rId7" Type="http://schemas.openxmlformats.org/officeDocument/2006/relationships/image" Target="../media/image61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10" Type="http://schemas.openxmlformats.org/officeDocument/2006/relationships/image" Target="../media/image107.wmf"/><Relationship Id="rId4" Type="http://schemas.openxmlformats.org/officeDocument/2006/relationships/image" Target="../media/image106.wmf"/><Relationship Id="rId9" Type="http://schemas.openxmlformats.org/officeDocument/2006/relationships/image" Target="../media/image6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image" Target="../media/image121.wmf"/><Relationship Id="rId3" Type="http://schemas.openxmlformats.org/officeDocument/2006/relationships/image" Target="../media/image43.wmf"/><Relationship Id="rId7" Type="http://schemas.openxmlformats.org/officeDocument/2006/relationships/image" Target="../media/image117.wmf"/><Relationship Id="rId12" Type="http://schemas.openxmlformats.org/officeDocument/2006/relationships/image" Target="../media/image120.wmf"/><Relationship Id="rId2" Type="http://schemas.openxmlformats.org/officeDocument/2006/relationships/image" Target="../media/image114.wmf"/><Relationship Id="rId16" Type="http://schemas.openxmlformats.org/officeDocument/2006/relationships/image" Target="../media/image124.wmf"/><Relationship Id="rId1" Type="http://schemas.openxmlformats.org/officeDocument/2006/relationships/image" Target="../media/image113.wmf"/><Relationship Id="rId6" Type="http://schemas.openxmlformats.org/officeDocument/2006/relationships/image" Target="../media/image116.wmf"/><Relationship Id="rId11" Type="http://schemas.openxmlformats.org/officeDocument/2006/relationships/image" Target="../media/image119.wmf"/><Relationship Id="rId5" Type="http://schemas.openxmlformats.org/officeDocument/2006/relationships/image" Target="../media/image115.wmf"/><Relationship Id="rId15" Type="http://schemas.openxmlformats.org/officeDocument/2006/relationships/image" Target="../media/image123.wmf"/><Relationship Id="rId10" Type="http://schemas.openxmlformats.org/officeDocument/2006/relationships/image" Target="../media/image118.wmf"/><Relationship Id="rId4" Type="http://schemas.openxmlformats.org/officeDocument/2006/relationships/image" Target="../media/image44.wmf"/><Relationship Id="rId9" Type="http://schemas.openxmlformats.org/officeDocument/2006/relationships/image" Target="../media/image39.wmf"/><Relationship Id="rId14" Type="http://schemas.openxmlformats.org/officeDocument/2006/relationships/image" Target="../media/image122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e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3" Type="http://schemas.openxmlformats.org/officeDocument/2006/relationships/image" Target="../media/image138.wmf"/><Relationship Id="rId7" Type="http://schemas.openxmlformats.org/officeDocument/2006/relationships/image" Target="../media/image142.wmf"/><Relationship Id="rId12" Type="http://schemas.openxmlformats.org/officeDocument/2006/relationships/image" Target="../media/image147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6" Type="http://schemas.openxmlformats.org/officeDocument/2006/relationships/image" Target="../media/image141.wmf"/><Relationship Id="rId11" Type="http://schemas.openxmlformats.org/officeDocument/2006/relationships/image" Target="../media/image146.wmf"/><Relationship Id="rId5" Type="http://schemas.openxmlformats.org/officeDocument/2006/relationships/image" Target="../media/image140.wmf"/><Relationship Id="rId10" Type="http://schemas.openxmlformats.org/officeDocument/2006/relationships/image" Target="../media/image145.wmf"/><Relationship Id="rId4" Type="http://schemas.openxmlformats.org/officeDocument/2006/relationships/image" Target="../media/image139.wmf"/><Relationship Id="rId9" Type="http://schemas.openxmlformats.org/officeDocument/2006/relationships/image" Target="../media/image144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6" Type="http://schemas.openxmlformats.org/officeDocument/2006/relationships/image" Target="../media/image152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5" Type="http://schemas.openxmlformats.org/officeDocument/2006/relationships/image" Target="../media/image163.wmf"/><Relationship Id="rId4" Type="http://schemas.openxmlformats.org/officeDocument/2006/relationships/image" Target="../media/image162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fld id="{F0A01FE2-880B-49A9-87E7-AFFD401D5FE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6B0227-FCE3-4658-80D6-C368AD9B35A3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33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430930-4FEA-4F66-8A51-2AF329257F5F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3C6E53-1366-49FB-AF4C-1E12BB9AA8FC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36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EF5045-7B53-412A-AFA2-BBC980B948B4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376988-D798-4195-865F-807C320D07EE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7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5D9E13-D477-4F54-96C5-36F0362312D4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381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D08529-D02B-4AF2-836A-B4D1F0986C47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384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696653-0465-474A-B423-A5E6660FA3B0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A75972-8736-4BA8-8B77-F574F54E76EB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98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96F0A4-A5C6-4FEE-85E0-FF8D614B638E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40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746D14-8B6C-4EDF-8304-CE74C5489C9E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40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9E7D2D-C605-4531-9AA3-948D615357B5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40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9EDE1-65C0-47DF-A968-E3111BD1620F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413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C0F11A-3D39-46C5-86A3-A961C75EE8D6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421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B2BE3D-158F-443F-9792-959BDD16019F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423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9FFBDB-6712-45E3-8DDA-DDDC9DD4397D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425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BEDB30-A722-4A8D-B353-F8E97D4F00B2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428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0F3E01-0277-4F50-A278-6630699E3087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430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8E8ECD-C654-4C8B-98FD-95EE332114B4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432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333F28-7059-4E85-A628-28BDDD9BD649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434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4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162434-7B48-4A42-B59B-797653FEB524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44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清华大学电路原理教学组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9C01AA-1B2C-4E9A-937B-639D2BC1085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058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清华大学电路原理教学组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802FA2-CACB-4204-B482-6B3DC03BB0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81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清华大学电路原理教学组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4C5919-AEC4-4E0D-8750-633A712F99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439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清华大学电路原理教学组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A354E6-D6EC-470D-A950-9516A8205B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9286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清华大学电路原理教学组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7ABF7E-50E9-46FC-AD0E-F4D63669333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0570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清华大学电路原理教学组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F34A4E-8C5B-4776-B96B-2DBA81FA8A2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5865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清华大学电路原理教学组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A4A4F2-25C2-4B90-92E5-4751F795CA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6176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清华大学电路原理教学组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580A17-4EFB-4FA9-96B1-15B642FC4C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87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清华大学电路原理教学组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E06C92-00D5-4D2A-8733-F1DE54A1119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1355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清华大学电路原理教学组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0CE298-CD64-4FE6-9AE9-719731D9B77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9048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清华大学电路原理教学组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DBDA4D-5CEB-422B-A4D8-73B0473A2D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6998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324100" y="6489700"/>
            <a:ext cx="5372100" cy="33972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清华大学电路原理教学组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E036F65-48B9-40B6-8F47-4313F52CB9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2775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197149-BAD7-433F-A1A9-327AAD23A260}" type="datetime1"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2019/5/23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电路理论－颜秋容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0AE8B8-4DAC-4AEC-8AC5-19CD5911392B}" type="slidenum"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8647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4FA3EA-7FA1-44C4-88A1-E2495260A51A}" type="datetime1"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2019/5/23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电路理论－颜秋容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7AD872-0F0B-40BC-82E4-1539E979B386}" type="slidenum"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3843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C4D203-D328-4431-92F0-E8D8A29DA678}" type="datetime1"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2019/5/23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电路理论－颜秋容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AAA9D5-D840-4BBF-8F55-D433ED49EFBA}" type="slidenum"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8853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914400"/>
            <a:ext cx="4152900" cy="5181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152900" cy="5181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B20061-AB43-45D2-83DC-DA0DA847BFF3}" type="datetime1"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2019/5/23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电路理论－颜秋容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9A34BB-C3E0-4909-BAE8-5F2F33D3F794}" type="slidenum"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146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2A4DB81-BFAA-4790-8033-758935957667}" type="datetime1"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2019/5/23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电路理论－颜秋容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7319BA-630F-4F2E-87B6-4496E59118D3}" type="slidenum"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9637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87F01C-853C-461B-93AF-7D9C2EDF542D}" type="datetime1"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2019/5/23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电路理论－颜秋容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B3019B-6A65-45E7-A751-3AE31A22A96D}" type="slidenum"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92995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9B9E5F-C0A1-47E4-9436-178D228C217A}" type="datetime1"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2019/5/23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电路理论－颜秋容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D1A3C6-A68E-4063-8152-DBD7F8B4372D}" type="slidenum"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7128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70688-70F4-44EF-88B6-235099515DB2}" type="datetime1"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2019/5/23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电路理论－颜秋容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EAE62C-D021-4951-BB76-516AC0089751}" type="slidenum"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055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FCB7B8-7CD7-4E42-B952-5D82A05BBF43}" type="datetime1"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2019/5/23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电路理论－颜秋容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A045D5-6812-45DD-B4F6-776323794C59}" type="slidenum"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9490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5F3FED-5761-47F0-8440-5BD4C38030E1}" type="datetime1"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2019/5/23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电路理论－颜秋容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456261-2255-4E02-BDC0-50E061364D30}" type="slidenum"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564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211455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1912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C05C0B-C372-4079-987B-9F75E0B0C057}" type="datetime1"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2019/5/23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电路理论－颜秋容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CED9B3-0803-42CD-B1AB-02E7CFC253B9}" type="slidenum"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080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24100" y="6489700"/>
            <a:ext cx="53721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>
                <a:solidFill>
                  <a:srgbClr val="6666FF"/>
                </a:solidFill>
                <a:ea typeface="华文行楷" panose="02010800040101010101" pitchFamily="2" charset="-122"/>
              </a:defRPr>
            </a:lvl1pPr>
          </a:lstStyle>
          <a:p>
            <a:r>
              <a:rPr lang="en-US" altLang="zh-CN"/>
              <a:t>清华大学电路原理教学组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/>
            </a:lvl1pPr>
          </a:lstStyle>
          <a:p>
            <a:fld id="{CE765B13-FC37-4637-A885-52A831831BC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144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FF66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AE1549-F35A-4690-B13A-665483192EC1}" type="datetime1">
              <a: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2019/5/23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722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FF66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电路理论－颜秋容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FF66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EB4FF7-C436-40AF-B18D-A05622A470E5}" type="slidenum"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1" name="Picture 7" descr="logo1"/>
          <p:cNvPicPr>
            <a:picLocks noChangeAspect="1" noChangeArrowheads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85725"/>
            <a:ext cx="936625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389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隶书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华文宋体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华文宋体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华文宋体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8.emf"/><Relationship Id="rId3" Type="http://schemas.openxmlformats.org/officeDocument/2006/relationships/oleObject" Target="../embeddings/oleObject8.bin"/><Relationship Id="rId21" Type="http://schemas.openxmlformats.org/officeDocument/2006/relationships/oleObject" Target="../embeddings/oleObject17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5.bin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17.wmf"/><Relationship Id="rId20" Type="http://schemas.openxmlformats.org/officeDocument/2006/relationships/image" Target="../media/image19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11.e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6.wmf"/><Relationship Id="rId22" Type="http://schemas.openxmlformats.org/officeDocument/2006/relationships/image" Target="../media/image20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4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19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6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5" Type="http://schemas.openxmlformats.org/officeDocument/2006/relationships/image" Target="../media/image26.emf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27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2.wmf"/><Relationship Id="rId18" Type="http://schemas.openxmlformats.org/officeDocument/2006/relationships/image" Target="../media/image34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9.emf"/><Relationship Id="rId12" Type="http://schemas.openxmlformats.org/officeDocument/2006/relationships/oleObject" Target="../embeddings/oleObject29.bin"/><Relationship Id="rId1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5.png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40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42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38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5" Type="http://schemas.openxmlformats.org/officeDocument/2006/relationships/image" Target="../media/image41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3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7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4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5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5" Type="http://schemas.openxmlformats.org/officeDocument/2006/relationships/image" Target="../media/image48.e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5.wmf"/><Relationship Id="rId14" Type="http://schemas.openxmlformats.org/officeDocument/2006/relationships/oleObject" Target="../embeddings/oleObject4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40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39.wmf"/><Relationship Id="rId5" Type="http://schemas.openxmlformats.org/officeDocument/2006/relationships/image" Target="../media/image50.wmf"/><Relationship Id="rId15" Type="http://schemas.openxmlformats.org/officeDocument/2006/relationships/image" Target="../media/image52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5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57.wmf"/><Relationship Id="rId18" Type="http://schemas.openxmlformats.org/officeDocument/2006/relationships/oleObject" Target="../embeddings/oleObject59.bin"/><Relationship Id="rId26" Type="http://schemas.openxmlformats.org/officeDocument/2006/relationships/oleObject" Target="../embeddings/oleObject63.bin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39.wmf"/><Relationship Id="rId7" Type="http://schemas.openxmlformats.org/officeDocument/2006/relationships/image" Target="../media/image54.w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59.wmf"/><Relationship Id="rId25" Type="http://schemas.openxmlformats.org/officeDocument/2006/relationships/image" Target="../media/image6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8.bin"/><Relationship Id="rId20" Type="http://schemas.openxmlformats.org/officeDocument/2006/relationships/oleObject" Target="../embeddings/oleObject60.bin"/><Relationship Id="rId29" Type="http://schemas.openxmlformats.org/officeDocument/2006/relationships/image" Target="../media/image63.w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56.wmf"/><Relationship Id="rId24" Type="http://schemas.openxmlformats.org/officeDocument/2006/relationships/oleObject" Target="../embeddings/oleObject62.bin"/><Relationship Id="rId5" Type="http://schemas.openxmlformats.org/officeDocument/2006/relationships/image" Target="../media/image53.wmf"/><Relationship Id="rId15" Type="http://schemas.openxmlformats.org/officeDocument/2006/relationships/image" Target="../media/image58.wmf"/><Relationship Id="rId23" Type="http://schemas.openxmlformats.org/officeDocument/2006/relationships/image" Target="../media/image60.wmf"/><Relationship Id="rId28" Type="http://schemas.openxmlformats.org/officeDocument/2006/relationships/oleObject" Target="../embeddings/oleObject64.bin"/><Relationship Id="rId10" Type="http://schemas.openxmlformats.org/officeDocument/2006/relationships/oleObject" Target="../embeddings/oleObject55.bin"/><Relationship Id="rId19" Type="http://schemas.openxmlformats.org/officeDocument/2006/relationships/image" Target="../media/image38.wmf"/><Relationship Id="rId31" Type="http://schemas.openxmlformats.org/officeDocument/2006/relationships/image" Target="../media/image64.e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57.bin"/><Relationship Id="rId22" Type="http://schemas.openxmlformats.org/officeDocument/2006/relationships/oleObject" Target="../embeddings/oleObject61.bin"/><Relationship Id="rId27" Type="http://schemas.openxmlformats.org/officeDocument/2006/relationships/image" Target="../media/image62.wmf"/><Relationship Id="rId30" Type="http://schemas.openxmlformats.org/officeDocument/2006/relationships/oleObject" Target="../embeddings/oleObject6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72.emf"/><Relationship Id="rId3" Type="http://schemas.openxmlformats.org/officeDocument/2006/relationships/oleObject" Target="../embeddings/oleObject66.bin"/><Relationship Id="rId21" Type="http://schemas.openxmlformats.org/officeDocument/2006/relationships/oleObject" Target="../embeddings/oleObject75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73.bin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74.bin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78.wmf"/><Relationship Id="rId18" Type="http://schemas.openxmlformats.org/officeDocument/2006/relationships/image" Target="../media/image80.wmf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85.png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80.bin"/><Relationship Id="rId17" Type="http://schemas.openxmlformats.org/officeDocument/2006/relationships/oleObject" Target="../embeddings/oleObject82.bin"/><Relationship Id="rId25" Type="http://schemas.openxmlformats.org/officeDocument/2006/relationships/image" Target="../media/image8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9.wmf"/><Relationship Id="rId20" Type="http://schemas.openxmlformats.org/officeDocument/2006/relationships/image" Target="../media/image81.w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77.wmf"/><Relationship Id="rId24" Type="http://schemas.openxmlformats.org/officeDocument/2006/relationships/oleObject" Target="../embeddings/oleObject85.bin"/><Relationship Id="rId5" Type="http://schemas.openxmlformats.org/officeDocument/2006/relationships/image" Target="../media/image75.wmf"/><Relationship Id="rId15" Type="http://schemas.openxmlformats.org/officeDocument/2006/relationships/oleObject" Target="../embeddings/oleObject81.bin"/><Relationship Id="rId23" Type="http://schemas.openxmlformats.org/officeDocument/2006/relationships/image" Target="../media/image82.wmf"/><Relationship Id="rId10" Type="http://schemas.openxmlformats.org/officeDocument/2006/relationships/oleObject" Target="../embeddings/oleObject79.bin"/><Relationship Id="rId19" Type="http://schemas.openxmlformats.org/officeDocument/2006/relationships/oleObject" Target="../embeddings/oleObject83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6.wmf"/><Relationship Id="rId14" Type="http://schemas.openxmlformats.org/officeDocument/2006/relationships/image" Target="../media/image84.png"/><Relationship Id="rId22" Type="http://schemas.openxmlformats.org/officeDocument/2006/relationships/oleObject" Target="../embeddings/oleObject8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13" Type="http://schemas.openxmlformats.org/officeDocument/2006/relationships/image" Target="../media/image90.wmf"/><Relationship Id="rId18" Type="http://schemas.openxmlformats.org/officeDocument/2006/relationships/oleObject" Target="../embeddings/oleObject93.bin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94.wmf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2.bin"/><Relationship Id="rId20" Type="http://schemas.openxmlformats.org/officeDocument/2006/relationships/oleObject" Target="../embeddings/oleObject94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89.wmf"/><Relationship Id="rId5" Type="http://schemas.openxmlformats.org/officeDocument/2006/relationships/image" Target="../media/image86.wmf"/><Relationship Id="rId15" Type="http://schemas.openxmlformats.org/officeDocument/2006/relationships/image" Target="../media/image91.wmf"/><Relationship Id="rId10" Type="http://schemas.openxmlformats.org/officeDocument/2006/relationships/oleObject" Target="../embeddings/oleObject89.bin"/><Relationship Id="rId19" Type="http://schemas.openxmlformats.org/officeDocument/2006/relationships/image" Target="../media/image93.w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88.wmf"/><Relationship Id="rId14" Type="http://schemas.openxmlformats.org/officeDocument/2006/relationships/oleObject" Target="../embeddings/oleObject9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96.emf"/><Relationship Id="rId18" Type="http://schemas.openxmlformats.org/officeDocument/2006/relationships/oleObject" Target="../embeddings/oleObject102.bin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100.emf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99.bin"/><Relationship Id="rId17" Type="http://schemas.openxmlformats.org/officeDocument/2006/relationships/image" Target="../media/image98.wmf"/><Relationship Id="rId25" Type="http://schemas.openxmlformats.org/officeDocument/2006/relationships/image" Target="../media/image10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1.bin"/><Relationship Id="rId20" Type="http://schemas.openxmlformats.org/officeDocument/2006/relationships/oleObject" Target="../embeddings/oleObject103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95.emf"/><Relationship Id="rId24" Type="http://schemas.openxmlformats.org/officeDocument/2006/relationships/oleObject" Target="../embeddings/oleObject105.bin"/><Relationship Id="rId5" Type="http://schemas.openxmlformats.org/officeDocument/2006/relationships/image" Target="../media/image38.wmf"/><Relationship Id="rId15" Type="http://schemas.openxmlformats.org/officeDocument/2006/relationships/image" Target="../media/image97.emf"/><Relationship Id="rId23" Type="http://schemas.openxmlformats.org/officeDocument/2006/relationships/image" Target="../media/image101.wmf"/><Relationship Id="rId10" Type="http://schemas.openxmlformats.org/officeDocument/2006/relationships/oleObject" Target="../embeddings/oleObject98.bin"/><Relationship Id="rId19" Type="http://schemas.openxmlformats.org/officeDocument/2006/relationships/image" Target="../media/image99.w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100.bin"/><Relationship Id="rId22" Type="http://schemas.openxmlformats.org/officeDocument/2006/relationships/oleObject" Target="../embeddings/oleObject10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113.bin"/><Relationship Id="rId3" Type="http://schemas.openxmlformats.org/officeDocument/2006/relationships/notesSlide" Target="../notesSlides/notesSlide11.xml"/><Relationship Id="rId21" Type="http://schemas.openxmlformats.org/officeDocument/2006/relationships/image" Target="../media/image63.wmf"/><Relationship Id="rId7" Type="http://schemas.openxmlformats.org/officeDocument/2006/relationships/image" Target="../media/image104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6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2.bin"/><Relationship Id="rId20" Type="http://schemas.openxmlformats.org/officeDocument/2006/relationships/oleObject" Target="../embeddings/oleObject114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06.wmf"/><Relationship Id="rId5" Type="http://schemas.openxmlformats.org/officeDocument/2006/relationships/image" Target="../media/image103.wmf"/><Relationship Id="rId15" Type="http://schemas.openxmlformats.org/officeDocument/2006/relationships/image" Target="../media/image40.wmf"/><Relationship Id="rId23" Type="http://schemas.openxmlformats.org/officeDocument/2006/relationships/image" Target="../media/image107.wmf"/><Relationship Id="rId10" Type="http://schemas.openxmlformats.org/officeDocument/2006/relationships/oleObject" Target="../embeddings/oleObject109.bin"/><Relationship Id="rId19" Type="http://schemas.openxmlformats.org/officeDocument/2006/relationships/image" Target="../media/image62.w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05.wmf"/><Relationship Id="rId14" Type="http://schemas.openxmlformats.org/officeDocument/2006/relationships/oleObject" Target="../embeddings/oleObject111.bin"/><Relationship Id="rId22" Type="http://schemas.openxmlformats.org/officeDocument/2006/relationships/oleObject" Target="../embeddings/oleObject11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wmf"/><Relationship Id="rId18" Type="http://schemas.openxmlformats.org/officeDocument/2006/relationships/oleObject" Target="../embeddings/oleObject123.bin"/><Relationship Id="rId26" Type="http://schemas.openxmlformats.org/officeDocument/2006/relationships/oleObject" Target="../embeddings/oleObject127.bin"/><Relationship Id="rId3" Type="http://schemas.openxmlformats.org/officeDocument/2006/relationships/notesSlide" Target="../notesSlides/notesSlide14.xml"/><Relationship Id="rId21" Type="http://schemas.openxmlformats.org/officeDocument/2006/relationships/image" Target="../media/image39.wmf"/><Relationship Id="rId34" Type="http://schemas.openxmlformats.org/officeDocument/2006/relationships/oleObject" Target="../embeddings/oleObject131.bin"/><Relationship Id="rId7" Type="http://schemas.openxmlformats.org/officeDocument/2006/relationships/image" Target="../media/image114.wmf"/><Relationship Id="rId12" Type="http://schemas.openxmlformats.org/officeDocument/2006/relationships/oleObject" Target="../embeddings/oleObject120.bin"/><Relationship Id="rId17" Type="http://schemas.openxmlformats.org/officeDocument/2006/relationships/image" Target="../media/image117.wmf"/><Relationship Id="rId25" Type="http://schemas.openxmlformats.org/officeDocument/2006/relationships/image" Target="../media/image119.wmf"/><Relationship Id="rId33" Type="http://schemas.openxmlformats.org/officeDocument/2006/relationships/image" Target="../media/image12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2.bin"/><Relationship Id="rId20" Type="http://schemas.openxmlformats.org/officeDocument/2006/relationships/oleObject" Target="../embeddings/oleObject124.bin"/><Relationship Id="rId29" Type="http://schemas.openxmlformats.org/officeDocument/2006/relationships/image" Target="../media/image121.w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44.wmf"/><Relationship Id="rId24" Type="http://schemas.openxmlformats.org/officeDocument/2006/relationships/oleObject" Target="../embeddings/oleObject126.bin"/><Relationship Id="rId32" Type="http://schemas.openxmlformats.org/officeDocument/2006/relationships/oleObject" Target="../embeddings/oleObject130.bin"/><Relationship Id="rId5" Type="http://schemas.openxmlformats.org/officeDocument/2006/relationships/image" Target="../media/image113.wmf"/><Relationship Id="rId15" Type="http://schemas.openxmlformats.org/officeDocument/2006/relationships/image" Target="../media/image116.wmf"/><Relationship Id="rId23" Type="http://schemas.openxmlformats.org/officeDocument/2006/relationships/image" Target="../media/image118.wmf"/><Relationship Id="rId28" Type="http://schemas.openxmlformats.org/officeDocument/2006/relationships/oleObject" Target="../embeddings/oleObject128.bin"/><Relationship Id="rId36" Type="http://schemas.openxmlformats.org/officeDocument/2006/relationships/image" Target="../media/image124.wmf"/><Relationship Id="rId10" Type="http://schemas.openxmlformats.org/officeDocument/2006/relationships/oleObject" Target="../embeddings/oleObject119.bin"/><Relationship Id="rId19" Type="http://schemas.openxmlformats.org/officeDocument/2006/relationships/image" Target="../media/image38.wmf"/><Relationship Id="rId31" Type="http://schemas.openxmlformats.org/officeDocument/2006/relationships/image" Target="../media/image122.wmf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121.bin"/><Relationship Id="rId22" Type="http://schemas.openxmlformats.org/officeDocument/2006/relationships/oleObject" Target="../embeddings/oleObject125.bin"/><Relationship Id="rId27" Type="http://schemas.openxmlformats.org/officeDocument/2006/relationships/image" Target="../media/image120.wmf"/><Relationship Id="rId30" Type="http://schemas.openxmlformats.org/officeDocument/2006/relationships/oleObject" Target="../embeddings/oleObject129.bin"/><Relationship Id="rId35" Type="http://schemas.openxmlformats.org/officeDocument/2006/relationships/oleObject" Target="../embeddings/oleObject132.bin"/><Relationship Id="rId8" Type="http://schemas.openxmlformats.org/officeDocument/2006/relationships/oleObject" Target="../embeddings/oleObject11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image" Target="../media/image127.wmf"/><Relationship Id="rId18" Type="http://schemas.openxmlformats.org/officeDocument/2006/relationships/oleObject" Target="../embeddings/oleObject140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2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9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26.wmf"/><Relationship Id="rId5" Type="http://schemas.openxmlformats.org/officeDocument/2006/relationships/image" Target="../media/image56.wmf"/><Relationship Id="rId15" Type="http://schemas.openxmlformats.org/officeDocument/2006/relationships/image" Target="../media/image128.wmf"/><Relationship Id="rId10" Type="http://schemas.openxmlformats.org/officeDocument/2006/relationships/oleObject" Target="../embeddings/oleObject136.bin"/><Relationship Id="rId19" Type="http://schemas.openxmlformats.org/officeDocument/2006/relationships/image" Target="../media/image130.wmf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3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13" Type="http://schemas.openxmlformats.org/officeDocument/2006/relationships/image" Target="../media/image135.wmf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32.wmf"/><Relationship Id="rId12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42.bin"/><Relationship Id="rId11" Type="http://schemas.openxmlformats.org/officeDocument/2006/relationships/image" Target="../media/image134.wmf"/><Relationship Id="rId5" Type="http://schemas.openxmlformats.org/officeDocument/2006/relationships/image" Target="../media/image131.emf"/><Relationship Id="rId10" Type="http://schemas.openxmlformats.org/officeDocument/2006/relationships/oleObject" Target="../embeddings/oleObject144.bin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3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8.bin"/><Relationship Id="rId13" Type="http://schemas.openxmlformats.org/officeDocument/2006/relationships/image" Target="../media/image140.wmf"/><Relationship Id="rId18" Type="http://schemas.openxmlformats.org/officeDocument/2006/relationships/oleObject" Target="../embeddings/oleObject153.bin"/><Relationship Id="rId26" Type="http://schemas.openxmlformats.org/officeDocument/2006/relationships/oleObject" Target="../embeddings/oleObject157.bin"/><Relationship Id="rId3" Type="http://schemas.openxmlformats.org/officeDocument/2006/relationships/notesSlide" Target="../notesSlides/notesSlide17.xml"/><Relationship Id="rId21" Type="http://schemas.openxmlformats.org/officeDocument/2006/relationships/image" Target="../media/image144.wmf"/><Relationship Id="rId7" Type="http://schemas.openxmlformats.org/officeDocument/2006/relationships/image" Target="../media/image137.wmf"/><Relationship Id="rId12" Type="http://schemas.openxmlformats.org/officeDocument/2006/relationships/oleObject" Target="../embeddings/oleObject150.bin"/><Relationship Id="rId17" Type="http://schemas.openxmlformats.org/officeDocument/2006/relationships/image" Target="../media/image142.wmf"/><Relationship Id="rId25" Type="http://schemas.openxmlformats.org/officeDocument/2006/relationships/image" Target="../media/image14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2.bin"/><Relationship Id="rId20" Type="http://schemas.openxmlformats.org/officeDocument/2006/relationships/oleObject" Target="../embeddings/oleObject154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47.bin"/><Relationship Id="rId11" Type="http://schemas.openxmlformats.org/officeDocument/2006/relationships/image" Target="../media/image139.wmf"/><Relationship Id="rId24" Type="http://schemas.openxmlformats.org/officeDocument/2006/relationships/oleObject" Target="../embeddings/oleObject156.bin"/><Relationship Id="rId5" Type="http://schemas.openxmlformats.org/officeDocument/2006/relationships/image" Target="../media/image136.wmf"/><Relationship Id="rId15" Type="http://schemas.openxmlformats.org/officeDocument/2006/relationships/image" Target="../media/image141.wmf"/><Relationship Id="rId23" Type="http://schemas.openxmlformats.org/officeDocument/2006/relationships/image" Target="../media/image145.wmf"/><Relationship Id="rId10" Type="http://schemas.openxmlformats.org/officeDocument/2006/relationships/oleObject" Target="../embeddings/oleObject149.bin"/><Relationship Id="rId19" Type="http://schemas.openxmlformats.org/officeDocument/2006/relationships/image" Target="../media/image143.wmf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38.wmf"/><Relationship Id="rId14" Type="http://schemas.openxmlformats.org/officeDocument/2006/relationships/oleObject" Target="../embeddings/oleObject151.bin"/><Relationship Id="rId22" Type="http://schemas.openxmlformats.org/officeDocument/2006/relationships/oleObject" Target="../embeddings/oleObject155.bin"/><Relationship Id="rId27" Type="http://schemas.openxmlformats.org/officeDocument/2006/relationships/image" Target="../media/image14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13" Type="http://schemas.openxmlformats.org/officeDocument/2006/relationships/image" Target="../media/image152.wmf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49.wmf"/><Relationship Id="rId12" Type="http://schemas.openxmlformats.org/officeDocument/2006/relationships/oleObject" Target="../embeddings/oleObject1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59.bin"/><Relationship Id="rId11" Type="http://schemas.openxmlformats.org/officeDocument/2006/relationships/image" Target="../media/image151.wmf"/><Relationship Id="rId5" Type="http://schemas.openxmlformats.org/officeDocument/2006/relationships/image" Target="../media/image148.wmf"/><Relationship Id="rId15" Type="http://schemas.openxmlformats.org/officeDocument/2006/relationships/image" Target="../media/image153.wmf"/><Relationship Id="rId10" Type="http://schemas.openxmlformats.org/officeDocument/2006/relationships/oleObject" Target="../embeddings/oleObject161.bin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150.wmf"/><Relationship Id="rId14" Type="http://schemas.openxmlformats.org/officeDocument/2006/relationships/oleObject" Target="../embeddings/oleObject16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58.wmf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55.wmf"/><Relationship Id="rId12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57.wmf"/><Relationship Id="rId5" Type="http://schemas.openxmlformats.org/officeDocument/2006/relationships/image" Target="../media/image154.wmf"/><Relationship Id="rId15" Type="http://schemas.openxmlformats.org/officeDocument/2006/relationships/image" Target="../media/image152.wmf"/><Relationship Id="rId10" Type="http://schemas.openxmlformats.org/officeDocument/2006/relationships/oleObject" Target="../embeddings/oleObject167.bin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56.wmf"/><Relationship Id="rId14" Type="http://schemas.openxmlformats.org/officeDocument/2006/relationships/oleObject" Target="../embeddings/oleObject16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13" Type="http://schemas.openxmlformats.org/officeDocument/2006/relationships/image" Target="../media/image163.wmf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60.wmf"/><Relationship Id="rId12" Type="http://schemas.openxmlformats.org/officeDocument/2006/relationships/oleObject" Target="../embeddings/oleObject1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162.wmf"/><Relationship Id="rId5" Type="http://schemas.openxmlformats.org/officeDocument/2006/relationships/image" Target="../media/image159.wmf"/><Relationship Id="rId10" Type="http://schemas.openxmlformats.org/officeDocument/2006/relationships/oleObject" Target="../embeddings/oleObject173.bin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6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65.wmf"/><Relationship Id="rId5" Type="http://schemas.openxmlformats.org/officeDocument/2006/relationships/image" Target="../media/image164.wmf"/><Relationship Id="rId4" Type="http://schemas.openxmlformats.org/officeDocument/2006/relationships/oleObject" Target="../embeddings/oleObject175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8F5335-D56D-453A-99F1-D8DD11B4ACE2}" type="datetime1">
              <a:rPr kumimoji="1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2019/5/23</a:t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电路理论－颜秋容</a:t>
            </a:r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D6BE85-92DE-4761-B88C-8FFD39E11E88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01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970" cy="4956"/>
          </a:xfrm>
        </p:grpSpPr>
        <p:pic>
          <p:nvPicPr>
            <p:cNvPr id="4111" name="Picture 1027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2" name="Picture 1028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3" name="Picture 1029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14" name="Picture 1030" descr="beijing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0"/>
              <a:ext cx="1506" cy="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103" name="Picture 1074" descr="未命名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7200"/>
            <a:ext cx="7753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75" name="Text Box 1075"/>
          <p:cNvSpPr txBox="1">
            <a:spLocks noChangeArrowheads="1"/>
          </p:cNvSpPr>
          <p:nvPr/>
        </p:nvSpPr>
        <p:spPr bwMode="auto">
          <a:xfrm>
            <a:off x="298450" y="-100013"/>
            <a:ext cx="8845550" cy="144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Chapter 14 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正弦稳态电路的频率响应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7876" name="Text Box 1076"/>
          <p:cNvSpPr txBox="1">
            <a:spLocks noChangeArrowheads="1"/>
          </p:cNvSpPr>
          <p:nvPr/>
        </p:nvSpPr>
        <p:spPr bwMode="auto">
          <a:xfrm>
            <a:off x="1093788" y="1557338"/>
            <a:ext cx="61245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14.1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网络函数与频率响应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    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Network Function and Frequency Response </a:t>
            </a:r>
            <a:b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b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7877" name="Text Box 1077"/>
          <p:cNvSpPr txBox="1">
            <a:spLocks noChangeArrowheads="1"/>
          </p:cNvSpPr>
          <p:nvPr/>
        </p:nvSpPr>
        <p:spPr bwMode="auto">
          <a:xfrm>
            <a:off x="1042988" y="2593975"/>
            <a:ext cx="3570287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14.2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谐振电路的频率响应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     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Resonance</a:t>
            </a:r>
          </a:p>
        </p:txBody>
      </p:sp>
      <p:sp>
        <p:nvSpPr>
          <p:cNvPr id="4108" name="Text Box 1079"/>
          <p:cNvSpPr txBox="1">
            <a:spLocks noChangeArrowheads="1"/>
          </p:cNvSpPr>
          <p:nvPr/>
        </p:nvSpPr>
        <p:spPr bwMode="auto">
          <a:xfrm>
            <a:off x="611188" y="4437063"/>
            <a:ext cx="8208962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914400" indent="-4572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371600" indent="-4572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828800" indent="-4572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286000" indent="-45720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目标：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eriod"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理解频率响应的意义，会计算电路的频率响应；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eriod"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理解谐振现象及其特点，通过谐振电路的频率响应分析理解滤波的含义。</a:t>
            </a:r>
          </a:p>
        </p:txBody>
      </p:sp>
      <p:sp>
        <p:nvSpPr>
          <p:cNvPr id="77880" name="Text Box 1080"/>
          <p:cNvSpPr txBox="1">
            <a:spLocks noChangeArrowheads="1"/>
          </p:cNvSpPr>
          <p:nvPr/>
        </p:nvSpPr>
        <p:spPr bwMode="auto">
          <a:xfrm>
            <a:off x="682625" y="6021388"/>
            <a:ext cx="244169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讲授学时</a:t>
            </a:r>
            <a:r>
              <a:rPr kumimoji="1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：</a:t>
            </a:r>
            <a:r>
              <a:rPr kumimoji="1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2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724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916" name="Rectangle 92"/>
          <p:cNvSpPr>
            <a:spLocks noChangeArrowheads="1"/>
          </p:cNvSpPr>
          <p:nvPr/>
        </p:nvSpPr>
        <p:spPr bwMode="auto">
          <a:xfrm>
            <a:off x="269613" y="1376772"/>
            <a:ext cx="8229600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00FF"/>
                </a:solidFill>
              </a:rPr>
              <a:t>一、什么是正弦稳态电路的频率响应特性</a:t>
            </a:r>
            <a:r>
              <a:rPr lang="en-US" altLang="zh-CN" sz="2400" b="1" dirty="0">
                <a:solidFill>
                  <a:srgbClr val="0000FF"/>
                </a:solidFill>
                <a:latin typeface="Comic Sans MS" panose="030F0702030302020204" pitchFamily="66" charset="0"/>
              </a:rPr>
              <a:t>?</a:t>
            </a:r>
          </a:p>
        </p:txBody>
      </p:sp>
      <p:grpSp>
        <p:nvGrpSpPr>
          <p:cNvPr id="333955" name="Group 131"/>
          <p:cNvGrpSpPr>
            <a:grpSpLocks/>
          </p:cNvGrpSpPr>
          <p:nvPr/>
        </p:nvGrpSpPr>
        <p:grpSpPr bwMode="auto">
          <a:xfrm>
            <a:off x="6601800" y="3914598"/>
            <a:ext cx="2384425" cy="1897062"/>
            <a:chOff x="4195" y="2659"/>
            <a:chExt cx="1502" cy="1195"/>
          </a:xfrm>
        </p:grpSpPr>
        <p:sp>
          <p:nvSpPr>
            <p:cNvPr id="333918" name="Oval 94"/>
            <p:cNvSpPr>
              <a:spLocks noChangeArrowheads="1"/>
            </p:cNvSpPr>
            <p:nvPr/>
          </p:nvSpPr>
          <p:spPr bwMode="auto">
            <a:xfrm>
              <a:off x="4286" y="2659"/>
              <a:ext cx="1411" cy="62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3919" name="Text Box 95"/>
            <p:cNvSpPr txBox="1">
              <a:spLocks noChangeArrowheads="1"/>
            </p:cNvSpPr>
            <p:nvPr/>
          </p:nvSpPr>
          <p:spPr bwMode="auto">
            <a:xfrm>
              <a:off x="4195" y="3566"/>
              <a:ext cx="1475" cy="28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b="1">
                  <a:latin typeface="Comic Sans MS" panose="030F0702030302020204" pitchFamily="66" charset="0"/>
                </a:rPr>
                <a:t>相频响应特性</a:t>
              </a:r>
            </a:p>
          </p:txBody>
        </p:sp>
        <p:sp>
          <p:nvSpPr>
            <p:cNvPr id="333920" name="Line 96"/>
            <p:cNvSpPr>
              <a:spLocks noChangeShapeType="1"/>
            </p:cNvSpPr>
            <p:nvPr/>
          </p:nvSpPr>
          <p:spPr bwMode="auto">
            <a:xfrm>
              <a:off x="5056" y="3268"/>
              <a:ext cx="0" cy="288"/>
            </a:xfrm>
            <a:prstGeom prst="line">
              <a:avLst/>
            </a:prstGeom>
            <a:noFill/>
            <a:ln w="127000">
              <a:solidFill>
                <a:srgbClr val="FF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3954" name="Group 130"/>
          <p:cNvGrpSpPr>
            <a:grpSpLocks/>
          </p:cNvGrpSpPr>
          <p:nvPr/>
        </p:nvGrpSpPr>
        <p:grpSpPr bwMode="auto">
          <a:xfrm>
            <a:off x="3937975" y="3986035"/>
            <a:ext cx="2811462" cy="1825625"/>
            <a:chOff x="2517" y="2704"/>
            <a:chExt cx="1771" cy="1150"/>
          </a:xfrm>
        </p:grpSpPr>
        <p:sp>
          <p:nvSpPr>
            <p:cNvPr id="333922" name="Oval 98"/>
            <p:cNvSpPr>
              <a:spLocks noChangeArrowheads="1"/>
            </p:cNvSpPr>
            <p:nvPr/>
          </p:nvSpPr>
          <p:spPr bwMode="auto">
            <a:xfrm>
              <a:off x="3112" y="2704"/>
              <a:ext cx="1176" cy="68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3923" name="Text Box 99"/>
            <p:cNvSpPr txBox="1">
              <a:spLocks noChangeArrowheads="1"/>
            </p:cNvSpPr>
            <p:nvPr/>
          </p:nvSpPr>
          <p:spPr bwMode="auto">
            <a:xfrm>
              <a:off x="2517" y="3566"/>
              <a:ext cx="145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b="1">
                  <a:latin typeface="Comic Sans MS" panose="030F0702030302020204" pitchFamily="66" charset="0"/>
                </a:rPr>
                <a:t>幅频响应特性</a:t>
              </a:r>
            </a:p>
          </p:txBody>
        </p:sp>
        <p:sp>
          <p:nvSpPr>
            <p:cNvPr id="333924" name="Line 100"/>
            <p:cNvSpPr>
              <a:spLocks noChangeShapeType="1"/>
            </p:cNvSpPr>
            <p:nvPr/>
          </p:nvSpPr>
          <p:spPr bwMode="auto">
            <a:xfrm flipH="1">
              <a:off x="3155" y="3336"/>
              <a:ext cx="338" cy="288"/>
            </a:xfrm>
            <a:prstGeom prst="line">
              <a:avLst/>
            </a:prstGeom>
            <a:noFill/>
            <a:ln w="127000">
              <a:solidFill>
                <a:srgbClr val="FF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33925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557128"/>
              </p:ext>
            </p:extLst>
          </p:nvPr>
        </p:nvGraphicFramePr>
        <p:xfrm>
          <a:off x="3053737" y="4027310"/>
          <a:ext cx="5799138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011" name="Equation" r:id="rId4" imgW="3429000" imgH="533160" progId="Equation.DSMT4">
                  <p:embed/>
                </p:oleObj>
              </mc:Choice>
              <mc:Fallback>
                <p:oleObj name="Equation" r:id="rId4" imgW="3429000" imgH="533160" progId="Equation.DSMT4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3737" y="4027310"/>
                        <a:ext cx="5799138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3926" name="Rectangle 102"/>
          <p:cNvSpPr>
            <a:spLocks noChangeArrowheads="1"/>
          </p:cNvSpPr>
          <p:nvPr/>
        </p:nvSpPr>
        <p:spPr bwMode="auto">
          <a:xfrm>
            <a:off x="556951" y="2026060"/>
            <a:ext cx="822960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zh-CN" altLang="en-US" sz="2400" b="1">
                <a:latin typeface="Comic Sans MS" panose="030F0702030302020204" pitchFamily="66" charset="0"/>
              </a:rPr>
              <a:t>正弦激励下动态电路的</a:t>
            </a:r>
            <a:r>
              <a:rPr lang="zh-CN" altLang="en-US" sz="2400" b="1">
                <a:solidFill>
                  <a:srgbClr val="FF0000"/>
                </a:solidFill>
                <a:latin typeface="Comic Sans MS" panose="030F0702030302020204" pitchFamily="66" charset="0"/>
              </a:rPr>
              <a:t>稳态响应</a:t>
            </a:r>
            <a:r>
              <a:rPr lang="zh-CN" altLang="en-US" sz="2400" b="1">
                <a:latin typeface="Comic Sans MS" panose="030F0702030302020204" pitchFamily="66" charset="0"/>
              </a:rPr>
              <a:t>随</a:t>
            </a:r>
            <a:r>
              <a:rPr lang="zh-CN" altLang="en-US" sz="2400" b="1">
                <a:solidFill>
                  <a:srgbClr val="FF0000"/>
                </a:solidFill>
                <a:latin typeface="Comic Sans MS" panose="030F0702030302020204" pitchFamily="66" charset="0"/>
              </a:rPr>
              <a:t>激励频率</a:t>
            </a:r>
            <a:r>
              <a:rPr lang="zh-CN" altLang="en-US" sz="2400" b="1">
                <a:latin typeface="Comic Sans MS" panose="030F0702030302020204" pitchFamily="66" charset="0"/>
              </a:rPr>
              <a:t>变化的特性就称为频率响应特性。</a:t>
            </a:r>
          </a:p>
        </p:txBody>
      </p:sp>
      <p:sp>
        <p:nvSpPr>
          <p:cNvPr id="333928" name="Text Box 104"/>
          <p:cNvSpPr txBox="1">
            <a:spLocks noChangeArrowheads="1"/>
          </p:cNvSpPr>
          <p:nvPr/>
        </p:nvSpPr>
        <p:spPr bwMode="auto">
          <a:xfrm>
            <a:off x="328000" y="6104148"/>
            <a:ext cx="5903913" cy="4572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chemeClr val="bg1"/>
                </a:solidFill>
                <a:latin typeface="Comic Sans MS" panose="030F0702030302020204" pitchFamily="66" charset="0"/>
              </a:rPr>
              <a:t>稳态响应的</a:t>
            </a:r>
            <a:r>
              <a:rPr lang="zh-CN" altLang="en-US" sz="2400" b="1">
                <a:solidFill>
                  <a:srgbClr val="FF0000"/>
                </a:solidFill>
                <a:latin typeface="Comic Sans MS" panose="030F0702030302020204" pitchFamily="66" charset="0"/>
              </a:rPr>
              <a:t>幅值</a:t>
            </a:r>
            <a:r>
              <a:rPr lang="zh-CN" altLang="en-US" sz="2400" b="1">
                <a:solidFill>
                  <a:schemeClr val="bg1"/>
                </a:solidFill>
                <a:latin typeface="Comic Sans MS" panose="030F0702030302020204" pitchFamily="66" charset="0"/>
              </a:rPr>
              <a:t>和</a:t>
            </a:r>
            <a:r>
              <a:rPr lang="zh-CN" altLang="en-US" sz="2400" b="1">
                <a:solidFill>
                  <a:srgbClr val="FF0000"/>
                </a:solidFill>
                <a:latin typeface="Comic Sans MS" panose="030F0702030302020204" pitchFamily="66" charset="0"/>
              </a:rPr>
              <a:t>相位</a:t>
            </a:r>
            <a:r>
              <a:rPr lang="zh-CN" altLang="en-US" sz="2400" b="1">
                <a:solidFill>
                  <a:schemeClr val="bg1"/>
                </a:solidFill>
                <a:latin typeface="Comic Sans MS" panose="030F0702030302020204" pitchFamily="66" charset="0"/>
              </a:rPr>
              <a:t>都随着频率变化！</a:t>
            </a:r>
          </a:p>
        </p:txBody>
      </p:sp>
      <p:grpSp>
        <p:nvGrpSpPr>
          <p:cNvPr id="333929" name="Group 105"/>
          <p:cNvGrpSpPr>
            <a:grpSpLocks/>
          </p:cNvGrpSpPr>
          <p:nvPr/>
        </p:nvGrpSpPr>
        <p:grpSpPr bwMode="auto">
          <a:xfrm>
            <a:off x="107504" y="2834378"/>
            <a:ext cx="2887663" cy="1633538"/>
            <a:chOff x="754" y="2216"/>
            <a:chExt cx="1819" cy="1029"/>
          </a:xfrm>
        </p:grpSpPr>
        <p:sp>
          <p:nvSpPr>
            <p:cNvPr id="333930" name="Oval 106"/>
            <p:cNvSpPr>
              <a:spLocks noChangeArrowheads="1"/>
            </p:cNvSpPr>
            <p:nvPr/>
          </p:nvSpPr>
          <p:spPr bwMode="auto">
            <a:xfrm>
              <a:off x="934" y="2449"/>
              <a:ext cx="41" cy="4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931" name="Text Box 107"/>
            <p:cNvSpPr txBox="1">
              <a:spLocks noChangeArrowheads="1"/>
            </p:cNvSpPr>
            <p:nvPr/>
          </p:nvSpPr>
          <p:spPr bwMode="auto">
            <a:xfrm>
              <a:off x="2367" y="2339"/>
              <a:ext cx="187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33932" name="Text Box 108"/>
            <p:cNvSpPr txBox="1">
              <a:spLocks noChangeArrowheads="1"/>
            </p:cNvSpPr>
            <p:nvPr/>
          </p:nvSpPr>
          <p:spPr bwMode="auto">
            <a:xfrm>
              <a:off x="2367" y="3006"/>
              <a:ext cx="16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000" b="1"/>
            </a:p>
          </p:txBody>
        </p:sp>
        <p:sp>
          <p:nvSpPr>
            <p:cNvPr id="333933" name="Line 109"/>
            <p:cNvSpPr>
              <a:spLocks noChangeShapeType="1"/>
            </p:cNvSpPr>
            <p:nvPr/>
          </p:nvSpPr>
          <p:spPr bwMode="auto">
            <a:xfrm>
              <a:off x="1865" y="2742"/>
              <a:ext cx="14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934" name="Line 110"/>
            <p:cNvSpPr>
              <a:spLocks noChangeShapeType="1"/>
            </p:cNvSpPr>
            <p:nvPr/>
          </p:nvSpPr>
          <p:spPr bwMode="auto">
            <a:xfrm>
              <a:off x="1948" y="2474"/>
              <a:ext cx="0" cy="26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33935" name="Object 111"/>
            <p:cNvGraphicFramePr>
              <a:graphicFrameLocks noChangeAspect="1"/>
            </p:cNvGraphicFramePr>
            <p:nvPr/>
          </p:nvGraphicFramePr>
          <p:xfrm>
            <a:off x="2001" y="2699"/>
            <a:ext cx="322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012" name="公式" r:id="rId6" imgW="355320" imgH="431640" progId="Equation.3">
                    <p:embed/>
                  </p:oleObj>
                </mc:Choice>
                <mc:Fallback>
                  <p:oleObj name="公式" r:id="rId6" imgW="355320" imgH="431640" progId="Equation.3">
                    <p:embed/>
                    <p:pic>
                      <p:nvPicPr>
                        <p:cNvPr id="0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1" y="2699"/>
                          <a:ext cx="322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3936" name="Line 112"/>
            <p:cNvSpPr>
              <a:spLocks noChangeShapeType="1"/>
            </p:cNvSpPr>
            <p:nvPr/>
          </p:nvSpPr>
          <p:spPr bwMode="auto">
            <a:xfrm flipH="1">
              <a:off x="980" y="2473"/>
              <a:ext cx="13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937" name="Text Box 113"/>
            <p:cNvSpPr txBox="1">
              <a:spLocks noChangeArrowheads="1"/>
            </p:cNvSpPr>
            <p:nvPr/>
          </p:nvSpPr>
          <p:spPr bwMode="auto">
            <a:xfrm>
              <a:off x="754" y="2328"/>
              <a:ext cx="187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33938" name="Text Box 114"/>
            <p:cNvSpPr txBox="1">
              <a:spLocks noChangeArrowheads="1"/>
            </p:cNvSpPr>
            <p:nvPr/>
          </p:nvSpPr>
          <p:spPr bwMode="auto">
            <a:xfrm>
              <a:off x="755" y="3017"/>
              <a:ext cx="168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000" b="1"/>
            </a:p>
          </p:txBody>
        </p:sp>
        <p:graphicFrame>
          <p:nvGraphicFramePr>
            <p:cNvPr id="333939" name="Object 115"/>
            <p:cNvGraphicFramePr>
              <a:graphicFrameLocks noChangeAspect="1"/>
            </p:cNvGraphicFramePr>
            <p:nvPr/>
          </p:nvGraphicFramePr>
          <p:xfrm>
            <a:off x="775" y="2670"/>
            <a:ext cx="195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013" name="公式" r:id="rId8" imgW="215640" imgH="241200" progId="Equation.3">
                    <p:embed/>
                  </p:oleObj>
                </mc:Choice>
                <mc:Fallback>
                  <p:oleObj name="公式" r:id="rId8" imgW="215640" imgH="241200" progId="Equation.3">
                    <p:embed/>
                    <p:pic>
                      <p:nvPicPr>
                        <p:cNvPr id="0" name="Object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" y="2670"/>
                          <a:ext cx="195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3940" name="Rectangle 116"/>
            <p:cNvSpPr>
              <a:spLocks noChangeArrowheads="1"/>
            </p:cNvSpPr>
            <p:nvPr/>
          </p:nvSpPr>
          <p:spPr bwMode="auto">
            <a:xfrm>
              <a:off x="1491" y="2441"/>
              <a:ext cx="186" cy="7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941" name="Line 117"/>
            <p:cNvSpPr>
              <a:spLocks noChangeShapeType="1"/>
            </p:cNvSpPr>
            <p:nvPr/>
          </p:nvSpPr>
          <p:spPr bwMode="auto">
            <a:xfrm>
              <a:off x="1944" y="2811"/>
              <a:ext cx="0" cy="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942" name="Line 118"/>
            <p:cNvSpPr>
              <a:spLocks noChangeShapeType="1"/>
            </p:cNvSpPr>
            <p:nvPr/>
          </p:nvSpPr>
          <p:spPr bwMode="auto">
            <a:xfrm>
              <a:off x="1866" y="2810"/>
              <a:ext cx="14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33943" name="Object 119"/>
            <p:cNvGraphicFramePr>
              <a:graphicFrameLocks noChangeAspect="1"/>
            </p:cNvGraphicFramePr>
            <p:nvPr/>
          </p:nvGraphicFramePr>
          <p:xfrm>
            <a:off x="2376" y="2700"/>
            <a:ext cx="197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014" name="公式" r:id="rId10" imgW="228600" imgH="241200" progId="Equation.3">
                    <p:embed/>
                  </p:oleObj>
                </mc:Choice>
                <mc:Fallback>
                  <p:oleObj name="公式" r:id="rId10" imgW="228600" imgH="241200" progId="Equation.3">
                    <p:embed/>
                    <p:pic>
                      <p:nvPicPr>
                        <p:cNvPr id="0" name="Object 1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6" y="2700"/>
                          <a:ext cx="197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3944" name="Text Box 120"/>
            <p:cNvSpPr txBox="1">
              <a:spLocks noChangeArrowheads="1"/>
            </p:cNvSpPr>
            <p:nvPr/>
          </p:nvSpPr>
          <p:spPr bwMode="auto">
            <a:xfrm>
              <a:off x="1317" y="2457"/>
              <a:ext cx="18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33945" name="Text Box 121"/>
            <p:cNvSpPr txBox="1">
              <a:spLocks noChangeArrowheads="1"/>
            </p:cNvSpPr>
            <p:nvPr/>
          </p:nvSpPr>
          <p:spPr bwMode="auto">
            <a:xfrm>
              <a:off x="1676" y="2455"/>
              <a:ext cx="16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000" b="1"/>
            </a:p>
          </p:txBody>
        </p:sp>
        <p:graphicFrame>
          <p:nvGraphicFramePr>
            <p:cNvPr id="333946" name="Object 122"/>
            <p:cNvGraphicFramePr>
              <a:graphicFrameLocks noChangeAspect="1"/>
            </p:cNvGraphicFramePr>
            <p:nvPr/>
          </p:nvGraphicFramePr>
          <p:xfrm>
            <a:off x="1487" y="2531"/>
            <a:ext cx="208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015" name="公式" r:id="rId12" imgW="228600" imgH="228600" progId="Equation.3">
                    <p:embed/>
                  </p:oleObj>
                </mc:Choice>
                <mc:Fallback>
                  <p:oleObj name="公式" r:id="rId12" imgW="228600" imgH="228600" progId="Equation.3">
                    <p:embed/>
                    <p:pic>
                      <p:nvPicPr>
                        <p:cNvPr id="0" name="Object 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7" y="2531"/>
                          <a:ext cx="208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3947" name="Line 123"/>
            <p:cNvSpPr>
              <a:spLocks noChangeShapeType="1"/>
            </p:cNvSpPr>
            <p:nvPr/>
          </p:nvSpPr>
          <p:spPr bwMode="auto">
            <a:xfrm>
              <a:off x="1066" y="2443"/>
              <a:ext cx="25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33948" name="Object 124"/>
            <p:cNvGraphicFramePr>
              <a:graphicFrameLocks noChangeAspect="1"/>
            </p:cNvGraphicFramePr>
            <p:nvPr/>
          </p:nvGraphicFramePr>
          <p:xfrm>
            <a:off x="1122" y="2216"/>
            <a:ext cx="12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016" name="公式" r:id="rId14" imgW="126720" imgH="190440" progId="Equation.3">
                    <p:embed/>
                  </p:oleObj>
                </mc:Choice>
                <mc:Fallback>
                  <p:oleObj name="公式" r:id="rId14" imgW="126720" imgH="190440" progId="Equation.3">
                    <p:embed/>
                    <p:pic>
                      <p:nvPicPr>
                        <p:cNvPr id="0" name="Object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2" y="2216"/>
                          <a:ext cx="124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3949" name="Oval 125"/>
            <p:cNvSpPr>
              <a:spLocks noChangeArrowheads="1"/>
            </p:cNvSpPr>
            <p:nvPr/>
          </p:nvSpPr>
          <p:spPr bwMode="auto">
            <a:xfrm>
              <a:off x="2346" y="2449"/>
              <a:ext cx="41" cy="4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950" name="Oval 126"/>
            <p:cNvSpPr>
              <a:spLocks noChangeArrowheads="1"/>
            </p:cNvSpPr>
            <p:nvPr/>
          </p:nvSpPr>
          <p:spPr bwMode="auto">
            <a:xfrm>
              <a:off x="935" y="3134"/>
              <a:ext cx="40" cy="4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951" name="Line 127"/>
            <p:cNvSpPr>
              <a:spLocks noChangeShapeType="1"/>
            </p:cNvSpPr>
            <p:nvPr/>
          </p:nvSpPr>
          <p:spPr bwMode="auto">
            <a:xfrm flipH="1">
              <a:off x="981" y="3158"/>
              <a:ext cx="13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952" name="Oval 128"/>
            <p:cNvSpPr>
              <a:spLocks noChangeArrowheads="1"/>
            </p:cNvSpPr>
            <p:nvPr/>
          </p:nvSpPr>
          <p:spPr bwMode="auto">
            <a:xfrm>
              <a:off x="2347" y="3134"/>
              <a:ext cx="40" cy="4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953" name="Text Box 129"/>
            <p:cNvSpPr txBox="1">
              <a:spLocks noChangeArrowheads="1"/>
            </p:cNvSpPr>
            <p:nvPr/>
          </p:nvSpPr>
          <p:spPr bwMode="auto">
            <a:xfrm>
              <a:off x="1477" y="2223"/>
              <a:ext cx="315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R</a:t>
              </a:r>
              <a:endParaRPr lang="en-US" altLang="zh-CN" sz="2000" b="1"/>
            </a:p>
          </p:txBody>
        </p:sp>
      </p:grpSp>
      <p:sp>
        <p:nvSpPr>
          <p:cNvPr id="57" name="Text Box 19"/>
          <p:cNvSpPr txBox="1">
            <a:spLocks noChangeArrowheads="1"/>
          </p:cNvSpPr>
          <p:nvPr/>
        </p:nvSpPr>
        <p:spPr bwMode="auto">
          <a:xfrm>
            <a:off x="179388" y="146050"/>
            <a:ext cx="88455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正弦稳态电路的频率响应</a:t>
            </a:r>
            <a:endParaRPr lang="zh-CN" altLang="en-US" sz="44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5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836643"/>
              </p:ext>
            </p:extLst>
          </p:nvPr>
        </p:nvGraphicFramePr>
        <p:xfrm>
          <a:off x="3293617" y="2656763"/>
          <a:ext cx="1972034" cy="1231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017" name="Equation" r:id="rId16" imgW="1218960" imgH="761760" progId="Equation.DSMT4">
                  <p:embed/>
                </p:oleObj>
              </mc:Choice>
              <mc:Fallback>
                <p:oleObj name="Equation" r:id="rId16" imgW="1218960" imgH="761760" progId="Equation.DSMT4">
                  <p:embed/>
                  <p:pic>
                    <p:nvPicPr>
                      <p:cNvPr id="25397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3617" y="2656763"/>
                        <a:ext cx="1972034" cy="12316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3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33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3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3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33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33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33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33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916" grpId="0"/>
      <p:bldP spid="333926" grpId="0" build="p"/>
      <p:bldP spid="333928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4BCCAE-A68D-4C0F-A7C7-4E23261C44AF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179388" y="620713"/>
            <a:ext cx="496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1. 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网络函数（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Network Function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）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6150" name="Rectangle 23"/>
          <p:cNvSpPr>
            <a:spLocks noChangeArrowheads="1"/>
          </p:cNvSpPr>
          <p:nvPr/>
        </p:nvSpPr>
        <p:spPr bwMode="auto">
          <a:xfrm>
            <a:off x="395288" y="115888"/>
            <a:ext cx="8458200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14.1 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网络函数与频率响应</a:t>
            </a:r>
          </a:p>
        </p:txBody>
      </p:sp>
      <p:sp>
        <p:nvSpPr>
          <p:cNvPr id="211992" name="Rectangle 24"/>
          <p:cNvSpPr>
            <a:spLocks noChangeArrowheads="1"/>
          </p:cNvSpPr>
          <p:nvPr/>
        </p:nvSpPr>
        <p:spPr bwMode="auto">
          <a:xfrm>
            <a:off x="179388" y="3435225"/>
            <a:ext cx="48942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2. 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频率响应（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Frequency Response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）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graphicFrame>
        <p:nvGraphicFramePr>
          <p:cNvPr id="211995" name="Object 27"/>
          <p:cNvGraphicFramePr>
            <a:graphicFrameLocks noChangeAspect="1"/>
          </p:cNvGraphicFramePr>
          <p:nvPr/>
        </p:nvGraphicFramePr>
        <p:xfrm>
          <a:off x="5940425" y="620713"/>
          <a:ext cx="3024188" cy="229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32" name="Visio" r:id="rId3" imgW="1743218" imgH="1318879" progId="Visio.Drawing.11">
                  <p:embed/>
                </p:oleObj>
              </mc:Choice>
              <mc:Fallback>
                <p:oleObj name="Visio" r:id="rId3" imgW="1743218" imgH="1318879" progId="Visio.Drawing.11">
                  <p:embed/>
                  <p:pic>
                    <p:nvPicPr>
                      <p:cNvPr id="21199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620713"/>
                        <a:ext cx="3024188" cy="229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002" name="Object 34"/>
          <p:cNvGraphicFramePr>
            <a:graphicFrameLocks noChangeAspect="1"/>
          </p:cNvGraphicFramePr>
          <p:nvPr/>
        </p:nvGraphicFramePr>
        <p:xfrm>
          <a:off x="468313" y="1989138"/>
          <a:ext cx="4770437" cy="138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33" name="Equation" r:id="rId5" imgW="2616200" imgH="762000" progId="Equation.DSMT4">
                  <p:embed/>
                </p:oleObj>
              </mc:Choice>
              <mc:Fallback>
                <p:oleObj name="Equation" r:id="rId5" imgW="2616200" imgH="762000" progId="Equation.DSMT4">
                  <p:embed/>
                  <p:pic>
                    <p:nvPicPr>
                      <p:cNvPr id="212002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989138"/>
                        <a:ext cx="4770437" cy="1389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005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718797"/>
              </p:ext>
            </p:extLst>
          </p:nvPr>
        </p:nvGraphicFramePr>
        <p:xfrm>
          <a:off x="395288" y="4831135"/>
          <a:ext cx="518477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34" name="Equation" r:id="rId7" imgW="2489200" imgH="330200" progId="Equation.DSMT4">
                  <p:embed/>
                </p:oleObj>
              </mc:Choice>
              <mc:Fallback>
                <p:oleObj name="Equation" r:id="rId7" imgW="2489200" imgH="330200" progId="Equation.DSMT4">
                  <p:embed/>
                  <p:pic>
                    <p:nvPicPr>
                      <p:cNvPr id="212005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831135"/>
                        <a:ext cx="518477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00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785851"/>
              </p:ext>
            </p:extLst>
          </p:nvPr>
        </p:nvGraphicFramePr>
        <p:xfrm>
          <a:off x="395288" y="4077072"/>
          <a:ext cx="352901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35" name="Equation" r:id="rId9" imgW="1625600" imgH="254000" progId="Equation.DSMT4">
                  <p:embed/>
                </p:oleObj>
              </mc:Choice>
              <mc:Fallback>
                <p:oleObj name="Equation" r:id="rId9" imgW="1625600" imgH="254000" progId="Equation.DSMT4">
                  <p:embed/>
                  <p:pic>
                    <p:nvPicPr>
                      <p:cNvPr id="212007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077072"/>
                        <a:ext cx="3529012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009" name="Rectangle 41"/>
          <p:cNvSpPr>
            <a:spLocks noChangeArrowheads="1"/>
          </p:cNvSpPr>
          <p:nvPr/>
        </p:nvSpPr>
        <p:spPr bwMode="auto">
          <a:xfrm>
            <a:off x="1403350" y="4437435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幅频响应</a:t>
            </a:r>
          </a:p>
        </p:txBody>
      </p:sp>
      <p:sp>
        <p:nvSpPr>
          <p:cNvPr id="212010" name="Rectangle 42"/>
          <p:cNvSpPr>
            <a:spLocks noChangeArrowheads="1"/>
          </p:cNvSpPr>
          <p:nvPr/>
        </p:nvSpPr>
        <p:spPr bwMode="auto">
          <a:xfrm>
            <a:off x="2916238" y="4437435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相频响应</a:t>
            </a:r>
          </a:p>
        </p:txBody>
      </p:sp>
      <p:grpSp>
        <p:nvGrpSpPr>
          <p:cNvPr id="212013" name="Group 45"/>
          <p:cNvGrpSpPr>
            <a:grpSpLocks/>
          </p:cNvGrpSpPr>
          <p:nvPr/>
        </p:nvGrpSpPr>
        <p:grpSpPr bwMode="auto">
          <a:xfrm>
            <a:off x="493713" y="1123950"/>
            <a:ext cx="2971800" cy="889000"/>
            <a:chOff x="311" y="889"/>
            <a:chExt cx="1872" cy="560"/>
          </a:xfrm>
        </p:grpSpPr>
        <p:graphicFrame>
          <p:nvGraphicFramePr>
            <p:cNvPr id="6166" name="Object 30"/>
            <p:cNvGraphicFramePr>
              <a:graphicFrameLocks noChangeAspect="1"/>
            </p:cNvGraphicFramePr>
            <p:nvPr/>
          </p:nvGraphicFramePr>
          <p:xfrm>
            <a:off x="311" y="889"/>
            <a:ext cx="1872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636" name="Equation" r:id="rId11" imgW="1485255" imgH="444307" progId="Equation.DSMT4">
                    <p:embed/>
                  </p:oleObj>
                </mc:Choice>
                <mc:Fallback>
                  <p:oleObj name="Equation" r:id="rId11" imgW="1485255" imgH="444307" progId="Equation.DSMT4">
                    <p:embed/>
                    <p:pic>
                      <p:nvPicPr>
                        <p:cNvPr id="6166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" y="889"/>
                          <a:ext cx="1872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7" name="Rectangle 43"/>
            <p:cNvSpPr>
              <a:spLocks noChangeArrowheads="1"/>
            </p:cNvSpPr>
            <p:nvPr/>
          </p:nvSpPr>
          <p:spPr bwMode="auto">
            <a:xfrm>
              <a:off x="1020" y="981"/>
              <a:ext cx="500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响应</a:t>
              </a:r>
            </a:p>
            <a:p>
              <a:pPr marL="0" marR="0" lvl="0" indent="0" algn="l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激励</a:t>
              </a:r>
            </a:p>
          </p:txBody>
        </p:sp>
        <p:sp>
          <p:nvSpPr>
            <p:cNvPr id="6168" name="Line 44"/>
            <p:cNvSpPr>
              <a:spLocks noChangeShapeType="1"/>
            </p:cNvSpPr>
            <p:nvPr/>
          </p:nvSpPr>
          <p:spPr bwMode="auto">
            <a:xfrm>
              <a:off x="1065" y="1166"/>
              <a:ext cx="408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endParaRPr>
            </a:p>
          </p:txBody>
        </p:sp>
      </p:grpSp>
      <p:graphicFrame>
        <p:nvGraphicFramePr>
          <p:cNvPr id="21201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048610"/>
              </p:ext>
            </p:extLst>
          </p:nvPr>
        </p:nvGraphicFramePr>
        <p:xfrm>
          <a:off x="395288" y="5694735"/>
          <a:ext cx="1798637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37" name="Equation" r:id="rId13" imgW="863225" imgH="203112" progId="Equation.DSMT4">
                  <p:embed/>
                </p:oleObj>
              </mc:Choice>
              <mc:Fallback>
                <p:oleObj name="Equation" r:id="rId13" imgW="863225" imgH="203112" progId="Equation.DSMT4">
                  <p:embed/>
                  <p:pic>
                    <p:nvPicPr>
                      <p:cNvPr id="212016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694735"/>
                        <a:ext cx="1798637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017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980795"/>
              </p:ext>
            </p:extLst>
          </p:nvPr>
        </p:nvGraphicFramePr>
        <p:xfrm>
          <a:off x="3200400" y="5694735"/>
          <a:ext cx="237966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38" name="Equation" r:id="rId15" imgW="1143000" imgH="203200" progId="Equation.DSMT4">
                  <p:embed/>
                </p:oleObj>
              </mc:Choice>
              <mc:Fallback>
                <p:oleObj name="Equation" r:id="rId15" imgW="1143000" imgH="203200" progId="Equation.DSMT4">
                  <p:embed/>
                  <p:pic>
                    <p:nvPicPr>
                      <p:cNvPr id="212017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694735"/>
                        <a:ext cx="2379663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018" name="Object 50"/>
          <p:cNvGraphicFramePr>
            <a:graphicFrameLocks noChangeAspect="1"/>
          </p:cNvGraphicFramePr>
          <p:nvPr/>
        </p:nvGraphicFramePr>
        <p:xfrm>
          <a:off x="5724525" y="2276475"/>
          <a:ext cx="3025775" cy="225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39" name="Visio" r:id="rId17" imgW="1858947" imgH="1377601" progId="Visio.Drawing.11">
                  <p:embed/>
                </p:oleObj>
              </mc:Choice>
              <mc:Fallback>
                <p:oleObj name="Visio" r:id="rId17" imgW="1858947" imgH="1377601" progId="Visio.Drawing.11">
                  <p:embed/>
                  <p:pic>
                    <p:nvPicPr>
                      <p:cNvPr id="212018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2276475"/>
                        <a:ext cx="3025775" cy="225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019" name="Object 51"/>
          <p:cNvGraphicFramePr>
            <a:graphicFrameLocks noChangeAspect="1"/>
          </p:cNvGraphicFramePr>
          <p:nvPr/>
        </p:nvGraphicFramePr>
        <p:xfrm>
          <a:off x="5688013" y="4508500"/>
          <a:ext cx="3276600" cy="243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40" name="Visio" r:id="rId19" imgW="1858947" imgH="1377601" progId="Visio.Drawing.11">
                  <p:embed/>
                </p:oleObj>
              </mc:Choice>
              <mc:Fallback>
                <p:oleObj name="Visio" r:id="rId19" imgW="1858947" imgH="1377601" progId="Visio.Drawing.11">
                  <p:embed/>
                  <p:pic>
                    <p:nvPicPr>
                      <p:cNvPr id="212019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4508500"/>
                        <a:ext cx="3276600" cy="243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020" name="Object 52"/>
          <p:cNvGraphicFramePr>
            <a:graphicFrameLocks noChangeAspect="1"/>
          </p:cNvGraphicFramePr>
          <p:nvPr/>
        </p:nvGraphicFramePr>
        <p:xfrm>
          <a:off x="5795963" y="2611438"/>
          <a:ext cx="2879725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41" name="Visio" r:id="rId21" imgW="1822942" imgH="1290161" progId="Visio.Drawing.11">
                  <p:embed/>
                </p:oleObj>
              </mc:Choice>
              <mc:Fallback>
                <p:oleObj name="Visio" r:id="rId21" imgW="1822942" imgH="1290161" progId="Visio.Drawing.11">
                  <p:embed/>
                  <p:pic>
                    <p:nvPicPr>
                      <p:cNvPr id="21202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611438"/>
                        <a:ext cx="2879725" cy="195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226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12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1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0" grpId="0"/>
      <p:bldP spid="211992" grpId="0"/>
      <p:bldP spid="212009" grpId="0"/>
      <p:bldP spid="2120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Text Box 2"/>
          <p:cNvSpPr txBox="1">
            <a:spLocks noChangeArrowheads="1"/>
          </p:cNvSpPr>
          <p:nvPr/>
        </p:nvSpPr>
        <p:spPr bwMode="auto">
          <a:xfrm>
            <a:off x="287338" y="225425"/>
            <a:ext cx="81470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rgbClr val="0000FF"/>
                </a:solidFill>
                <a:latin typeface="Comic Sans MS" panose="030F0702030302020204" pitchFamily="66" charset="0"/>
              </a:rPr>
              <a:t>三、</a:t>
            </a:r>
            <a:r>
              <a:rPr lang="zh-CN" altLang="en-US" sz="2400" b="1">
                <a:solidFill>
                  <a:srgbClr val="0000FF"/>
                </a:solidFill>
              </a:rPr>
              <a:t> </a:t>
            </a:r>
            <a:r>
              <a:rPr lang="zh-CN" altLang="en-US" sz="2400" b="1">
                <a:solidFill>
                  <a:srgbClr val="0000FF"/>
                </a:solidFill>
                <a:latin typeface="Comic Sans MS" panose="030F0702030302020204" pitchFamily="66" charset="0"/>
              </a:rPr>
              <a:t>频响特性的有利应用</a:t>
            </a:r>
            <a:r>
              <a:rPr lang="zh-CN" altLang="en-US" sz="2400" b="1">
                <a:solidFill>
                  <a:srgbClr val="0000FF"/>
                </a:solidFill>
              </a:rPr>
              <a:t> </a:t>
            </a:r>
          </a:p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rgbClr val="0000FF"/>
                </a:solidFill>
              </a:rPr>
              <a:t>         </a:t>
            </a:r>
            <a:r>
              <a:rPr lang="en-US" altLang="zh-CN" sz="2400" b="1">
                <a:solidFill>
                  <a:srgbClr val="0000FF"/>
                </a:solidFill>
              </a:rPr>
              <a:t>—— </a:t>
            </a:r>
            <a:r>
              <a:rPr lang="zh-CN" altLang="en-US" sz="2400" b="1">
                <a:solidFill>
                  <a:srgbClr val="FF0000"/>
                </a:solidFill>
                <a:latin typeface="Comic Sans MS" panose="030F0702030302020204" pitchFamily="66" charset="0"/>
              </a:rPr>
              <a:t>构成各种滤波电路</a:t>
            </a:r>
          </a:p>
        </p:txBody>
      </p:sp>
      <p:sp>
        <p:nvSpPr>
          <p:cNvPr id="356364" name="Text Box 12"/>
          <p:cNvSpPr txBox="1">
            <a:spLocks noChangeArrowheads="1"/>
          </p:cNvSpPr>
          <p:nvPr/>
        </p:nvSpPr>
        <p:spPr bwMode="auto">
          <a:xfrm>
            <a:off x="576263" y="1016000"/>
            <a:ext cx="833120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23888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3275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2663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2400" b="1">
                <a:latin typeface="Comic Sans MS" panose="030F0702030302020204" pitchFamily="66" charset="0"/>
              </a:rPr>
              <a:t>滤波电路</a:t>
            </a:r>
            <a:r>
              <a:rPr lang="zh-CN" altLang="en-US" sz="2400" b="1">
                <a:solidFill>
                  <a:srgbClr val="FF0000"/>
                </a:solidFill>
                <a:latin typeface="Comic Sans MS" panose="030F0702030302020204" pitchFamily="66" charset="0"/>
              </a:rPr>
              <a:t>利用频响特性</a:t>
            </a:r>
            <a:r>
              <a:rPr lang="zh-CN" altLang="en-US" sz="2400" b="1">
                <a:latin typeface="Comic Sans MS" panose="030F0702030302020204" pitchFamily="66" charset="0"/>
              </a:rPr>
              <a:t>实现信号选择，它可以从输入信号中</a:t>
            </a:r>
            <a:r>
              <a:rPr lang="zh-CN" altLang="en-US" sz="2400" b="1">
                <a:solidFill>
                  <a:srgbClr val="FF0000"/>
                </a:solidFill>
                <a:latin typeface="Comic Sans MS" panose="030F0702030302020204" pitchFamily="66" charset="0"/>
              </a:rPr>
              <a:t>选出某些特性频率的信号</a:t>
            </a:r>
            <a:r>
              <a:rPr lang="zh-CN" altLang="en-US" sz="2400" b="1">
                <a:latin typeface="Comic Sans MS" panose="030F0702030302020204" pitchFamily="66" charset="0"/>
              </a:rPr>
              <a:t>作为输出。</a:t>
            </a:r>
          </a:p>
        </p:txBody>
      </p:sp>
      <p:sp>
        <p:nvSpPr>
          <p:cNvPr id="356366" name="Text Box 14"/>
          <p:cNvSpPr txBox="1">
            <a:spLocks noChangeArrowheads="1"/>
          </p:cNvSpPr>
          <p:nvPr/>
        </p:nvSpPr>
        <p:spPr bwMode="auto">
          <a:xfrm>
            <a:off x="434975" y="2133600"/>
            <a:ext cx="2265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1.</a:t>
            </a:r>
            <a:r>
              <a:rPr lang="en-US" altLang="zh-CN" sz="2400" b="1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Comic Sans MS" panose="030F0702030302020204" pitchFamily="66" charset="0"/>
              </a:rPr>
              <a:t>低通滤波器</a:t>
            </a:r>
          </a:p>
        </p:txBody>
      </p:sp>
      <p:grpSp>
        <p:nvGrpSpPr>
          <p:cNvPr id="356367" name="Group 15"/>
          <p:cNvGrpSpPr>
            <a:grpSpLocks/>
          </p:cNvGrpSpPr>
          <p:nvPr/>
        </p:nvGrpSpPr>
        <p:grpSpPr bwMode="auto">
          <a:xfrm>
            <a:off x="611188" y="2565400"/>
            <a:ext cx="2863850" cy="1670050"/>
            <a:chOff x="1865" y="969"/>
            <a:chExt cx="1726" cy="965"/>
          </a:xfrm>
        </p:grpSpPr>
        <p:grpSp>
          <p:nvGrpSpPr>
            <p:cNvPr id="356368" name="Group 16"/>
            <p:cNvGrpSpPr>
              <a:grpSpLocks/>
            </p:cNvGrpSpPr>
            <p:nvPr/>
          </p:nvGrpSpPr>
          <p:grpSpPr bwMode="auto">
            <a:xfrm>
              <a:off x="1865" y="969"/>
              <a:ext cx="1726" cy="965"/>
              <a:chOff x="1865" y="969"/>
              <a:chExt cx="1726" cy="965"/>
            </a:xfrm>
          </p:grpSpPr>
          <p:sp>
            <p:nvSpPr>
              <p:cNvPr id="356369" name="Oval 17"/>
              <p:cNvSpPr>
                <a:spLocks noChangeArrowheads="1"/>
              </p:cNvSpPr>
              <p:nvPr/>
            </p:nvSpPr>
            <p:spPr bwMode="auto">
              <a:xfrm>
                <a:off x="2033" y="1187"/>
                <a:ext cx="38" cy="44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6370" name="Text Box 18"/>
              <p:cNvSpPr txBox="1">
                <a:spLocks noChangeArrowheads="1"/>
              </p:cNvSpPr>
              <p:nvPr/>
            </p:nvSpPr>
            <p:spPr bwMode="auto">
              <a:xfrm>
                <a:off x="3382" y="1106"/>
                <a:ext cx="178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>
                  <a:spcBef>
                    <a:spcPct val="0"/>
                  </a:spcBef>
                </a:pPr>
                <a:r>
                  <a:rPr lang="en-US" altLang="zh-CN" sz="1600" b="1">
                    <a:latin typeface="Times New Roman" panose="02020603050405020304" pitchFamily="18" charset="0"/>
                  </a:rPr>
                  <a:t>+</a:t>
                </a:r>
                <a:endParaRPr lang="en-US" altLang="zh-CN" sz="1600" b="1"/>
              </a:p>
            </p:txBody>
          </p:sp>
          <p:sp>
            <p:nvSpPr>
              <p:cNvPr id="356371" name="Text Box 19"/>
              <p:cNvSpPr txBox="1">
                <a:spLocks noChangeArrowheads="1"/>
              </p:cNvSpPr>
              <p:nvPr/>
            </p:nvSpPr>
            <p:spPr bwMode="auto">
              <a:xfrm>
                <a:off x="3382" y="1709"/>
                <a:ext cx="159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>
                  <a:spcBef>
                    <a:spcPct val="0"/>
                  </a:spcBef>
                </a:pPr>
                <a:r>
                  <a:rPr lang="en-US" altLang="zh-CN" sz="16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endParaRPr lang="en-US" altLang="zh-CN" sz="1600" b="1"/>
              </a:p>
            </p:txBody>
          </p:sp>
          <p:sp>
            <p:nvSpPr>
              <p:cNvPr id="356372" name="Line 20"/>
              <p:cNvSpPr>
                <a:spLocks noChangeShapeType="1"/>
              </p:cNvSpPr>
              <p:nvPr/>
            </p:nvSpPr>
            <p:spPr bwMode="auto">
              <a:xfrm>
                <a:off x="2918" y="1455"/>
                <a:ext cx="142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6373" name="Line 21"/>
              <p:cNvSpPr>
                <a:spLocks noChangeShapeType="1"/>
              </p:cNvSpPr>
              <p:nvPr/>
            </p:nvSpPr>
            <p:spPr bwMode="auto">
              <a:xfrm>
                <a:off x="2997" y="1210"/>
                <a:ext cx="0" cy="23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56374" name="Object 22"/>
              <p:cNvGraphicFramePr>
                <a:graphicFrameLocks noChangeAspect="1"/>
              </p:cNvGraphicFramePr>
              <p:nvPr/>
            </p:nvGraphicFramePr>
            <p:xfrm>
              <a:off x="2613" y="1369"/>
              <a:ext cx="368" cy="3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6474" name="公式" r:id="rId4" imgW="355320" imgH="431640" progId="Equation.3">
                      <p:embed/>
                    </p:oleObj>
                  </mc:Choice>
                  <mc:Fallback>
                    <p:oleObj name="公式" r:id="rId4" imgW="355320" imgH="43164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13" y="1369"/>
                            <a:ext cx="368" cy="3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6375" name="Line 23"/>
              <p:cNvSpPr>
                <a:spLocks noChangeShapeType="1"/>
              </p:cNvSpPr>
              <p:nvPr/>
            </p:nvSpPr>
            <p:spPr bwMode="auto">
              <a:xfrm flipH="1">
                <a:off x="2077" y="1209"/>
                <a:ext cx="1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6376" name="Text Box 24"/>
              <p:cNvSpPr txBox="1">
                <a:spLocks noChangeArrowheads="1"/>
              </p:cNvSpPr>
              <p:nvPr/>
            </p:nvSpPr>
            <p:spPr bwMode="auto">
              <a:xfrm>
                <a:off x="1888" y="1095"/>
                <a:ext cx="178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>
                  <a:spcBef>
                    <a:spcPct val="0"/>
                  </a:spcBef>
                </a:pPr>
                <a:r>
                  <a:rPr lang="en-US" altLang="zh-CN" sz="1600" b="1">
                    <a:latin typeface="Times New Roman" panose="02020603050405020304" pitchFamily="18" charset="0"/>
                  </a:rPr>
                  <a:t>+</a:t>
                </a:r>
                <a:endParaRPr lang="en-US" altLang="zh-CN" sz="1600" b="1"/>
              </a:p>
            </p:txBody>
          </p:sp>
          <p:sp>
            <p:nvSpPr>
              <p:cNvPr id="356377" name="Text Box 25"/>
              <p:cNvSpPr txBox="1">
                <a:spLocks noChangeArrowheads="1"/>
              </p:cNvSpPr>
              <p:nvPr/>
            </p:nvSpPr>
            <p:spPr bwMode="auto">
              <a:xfrm>
                <a:off x="1865" y="1725"/>
                <a:ext cx="160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>
                  <a:spcBef>
                    <a:spcPct val="0"/>
                  </a:spcBef>
                </a:pPr>
                <a:r>
                  <a:rPr lang="en-US" altLang="zh-CN" sz="16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endParaRPr lang="en-US" altLang="zh-CN" sz="1600" b="1"/>
              </a:p>
            </p:txBody>
          </p:sp>
          <p:graphicFrame>
            <p:nvGraphicFramePr>
              <p:cNvPr id="356378" name="Object 26"/>
              <p:cNvGraphicFramePr>
                <a:graphicFrameLocks noChangeAspect="1"/>
              </p:cNvGraphicFramePr>
              <p:nvPr/>
            </p:nvGraphicFramePr>
            <p:xfrm>
              <a:off x="1937" y="1439"/>
              <a:ext cx="171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6475" name="公式" r:id="rId6" imgW="215640" imgH="241200" progId="Equation.3">
                      <p:embed/>
                    </p:oleObj>
                  </mc:Choice>
                  <mc:Fallback>
                    <p:oleObj name="公式" r:id="rId6" imgW="215640" imgH="24120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37" y="1439"/>
                            <a:ext cx="171" cy="2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6379" name="Rectangle 27"/>
              <p:cNvSpPr>
                <a:spLocks noChangeArrowheads="1"/>
              </p:cNvSpPr>
              <p:nvPr/>
            </p:nvSpPr>
            <p:spPr bwMode="auto">
              <a:xfrm>
                <a:off x="2563" y="1179"/>
                <a:ext cx="176" cy="67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 type="non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6380" name="Line 28"/>
              <p:cNvSpPr>
                <a:spLocks noChangeShapeType="1"/>
              </p:cNvSpPr>
              <p:nvPr/>
            </p:nvSpPr>
            <p:spPr bwMode="auto">
              <a:xfrm>
                <a:off x="2993" y="1518"/>
                <a:ext cx="0" cy="32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6381" name="Line 29"/>
              <p:cNvSpPr>
                <a:spLocks noChangeShapeType="1"/>
              </p:cNvSpPr>
              <p:nvPr/>
            </p:nvSpPr>
            <p:spPr bwMode="auto">
              <a:xfrm>
                <a:off x="2919" y="1517"/>
                <a:ext cx="142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56382" name="Object 30"/>
              <p:cNvGraphicFramePr>
                <a:graphicFrameLocks noChangeAspect="1"/>
              </p:cNvGraphicFramePr>
              <p:nvPr/>
            </p:nvGraphicFramePr>
            <p:xfrm>
              <a:off x="3404" y="1417"/>
              <a:ext cx="187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6476" name="公式" r:id="rId8" imgW="228600" imgH="241200" progId="Equation.3">
                      <p:embed/>
                    </p:oleObj>
                  </mc:Choice>
                  <mc:Fallback>
                    <p:oleObj name="公式" r:id="rId8" imgW="228600" imgH="24120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4" y="1417"/>
                            <a:ext cx="187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6383" name="Line 31"/>
              <p:cNvSpPr>
                <a:spLocks noChangeShapeType="1"/>
              </p:cNvSpPr>
              <p:nvPr/>
            </p:nvSpPr>
            <p:spPr bwMode="auto">
              <a:xfrm>
                <a:off x="2228" y="1168"/>
                <a:ext cx="198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56384" name="Object 32"/>
              <p:cNvGraphicFramePr>
                <a:graphicFrameLocks noChangeAspect="1"/>
              </p:cNvGraphicFramePr>
              <p:nvPr/>
            </p:nvGraphicFramePr>
            <p:xfrm>
              <a:off x="2272" y="969"/>
              <a:ext cx="115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6477" name="公式" r:id="rId10" imgW="126720" imgH="190440" progId="Equation.3">
                      <p:embed/>
                    </p:oleObj>
                  </mc:Choice>
                  <mc:Fallback>
                    <p:oleObj name="公式" r:id="rId10" imgW="126720" imgH="190440" progId="Equation.3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72" y="969"/>
                            <a:ext cx="115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54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6385" name="Oval 33"/>
              <p:cNvSpPr>
                <a:spLocks noChangeArrowheads="1"/>
              </p:cNvSpPr>
              <p:nvPr/>
            </p:nvSpPr>
            <p:spPr bwMode="auto">
              <a:xfrm>
                <a:off x="3376" y="1187"/>
                <a:ext cx="39" cy="44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6386" name="Oval 34"/>
              <p:cNvSpPr>
                <a:spLocks noChangeArrowheads="1"/>
              </p:cNvSpPr>
              <p:nvPr/>
            </p:nvSpPr>
            <p:spPr bwMode="auto">
              <a:xfrm>
                <a:off x="2033" y="1814"/>
                <a:ext cx="39" cy="44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6387" name="Line 35"/>
              <p:cNvSpPr>
                <a:spLocks noChangeShapeType="1"/>
              </p:cNvSpPr>
              <p:nvPr/>
            </p:nvSpPr>
            <p:spPr bwMode="auto">
              <a:xfrm flipH="1">
                <a:off x="2077" y="1836"/>
                <a:ext cx="1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6388" name="Oval 36"/>
              <p:cNvSpPr>
                <a:spLocks noChangeArrowheads="1"/>
              </p:cNvSpPr>
              <p:nvPr/>
            </p:nvSpPr>
            <p:spPr bwMode="auto">
              <a:xfrm>
                <a:off x="3376" y="1814"/>
                <a:ext cx="39" cy="44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6389" name="Text Box 37"/>
            <p:cNvSpPr txBox="1">
              <a:spLocks noChangeArrowheads="1"/>
            </p:cNvSpPr>
            <p:nvPr/>
          </p:nvSpPr>
          <p:spPr bwMode="auto">
            <a:xfrm>
              <a:off x="2558" y="998"/>
              <a:ext cx="178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1600" b="1" i="1">
                  <a:latin typeface="Times New Roman" panose="02020603050405020304" pitchFamily="18" charset="0"/>
                </a:rPr>
                <a:t>R</a:t>
              </a:r>
              <a:endParaRPr lang="en-US" altLang="zh-CN" sz="1600" b="1" i="1"/>
            </a:p>
          </p:txBody>
        </p:sp>
      </p:grpSp>
      <p:graphicFrame>
        <p:nvGraphicFramePr>
          <p:cNvPr id="35639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125120"/>
              </p:ext>
            </p:extLst>
          </p:nvPr>
        </p:nvGraphicFramePr>
        <p:xfrm>
          <a:off x="3951240" y="2592689"/>
          <a:ext cx="4354513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78" name="Equation" r:id="rId12" imgW="2387520" imgH="825480" progId="Equation.DSMT4">
                  <p:embed/>
                </p:oleObj>
              </mc:Choice>
              <mc:Fallback>
                <p:oleObj name="Equation" r:id="rId12" imgW="2387520" imgH="82548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1240" y="2592689"/>
                        <a:ext cx="4354513" cy="150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404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429837"/>
              </p:ext>
            </p:extLst>
          </p:nvPr>
        </p:nvGraphicFramePr>
        <p:xfrm>
          <a:off x="4770501" y="4922115"/>
          <a:ext cx="1665288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79" name="公式" r:id="rId14" imgW="647640" imgH="406080" progId="Equation.3">
                  <p:embed/>
                </p:oleObj>
              </mc:Choice>
              <mc:Fallback>
                <p:oleObj name="公式" r:id="rId14" imgW="647640" imgH="40608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0501" y="4922115"/>
                        <a:ext cx="1665288" cy="103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6405" name="Text Box 53"/>
          <p:cNvSpPr txBox="1">
            <a:spLocks noChangeArrowheads="1"/>
          </p:cNvSpPr>
          <p:nvPr/>
        </p:nvSpPr>
        <p:spPr bwMode="auto">
          <a:xfrm>
            <a:off x="3995690" y="2148189"/>
            <a:ext cx="176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00FF"/>
                </a:solidFill>
                <a:latin typeface="Comic Sans MS" panose="030F0702030302020204" pitchFamily="66" charset="0"/>
              </a:rPr>
              <a:t>网络函数</a:t>
            </a:r>
          </a:p>
        </p:txBody>
      </p:sp>
      <p:grpSp>
        <p:nvGrpSpPr>
          <p:cNvPr id="356406" name="Group 54"/>
          <p:cNvGrpSpPr>
            <a:grpSpLocks/>
          </p:cNvGrpSpPr>
          <p:nvPr/>
        </p:nvGrpSpPr>
        <p:grpSpPr bwMode="auto">
          <a:xfrm>
            <a:off x="2331680" y="6411153"/>
            <a:ext cx="1976438" cy="452437"/>
            <a:chOff x="1554" y="3613"/>
            <a:chExt cx="1613" cy="363"/>
          </a:xfrm>
        </p:grpSpPr>
        <p:sp>
          <p:nvSpPr>
            <p:cNvPr id="356407" name="AutoShape 55"/>
            <p:cNvSpPr>
              <a:spLocks noChangeArrowheads="1"/>
            </p:cNvSpPr>
            <p:nvPr/>
          </p:nvSpPr>
          <p:spPr bwMode="auto">
            <a:xfrm>
              <a:off x="1554" y="3613"/>
              <a:ext cx="1613" cy="340"/>
            </a:xfrm>
            <a:prstGeom prst="wedgeEllipseCallout">
              <a:avLst>
                <a:gd name="adj1" fmla="val -70992"/>
                <a:gd name="adj2" fmla="val -41375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zh-CN" altLang="zh-CN" b="1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6408" name="Text Box 56"/>
            <p:cNvSpPr txBox="1">
              <a:spLocks noChangeArrowheads="1"/>
            </p:cNvSpPr>
            <p:nvPr/>
          </p:nvSpPr>
          <p:spPr bwMode="auto">
            <a:xfrm>
              <a:off x="1645" y="3658"/>
              <a:ext cx="1464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 b="1">
                  <a:solidFill>
                    <a:srgbClr val="FF0000"/>
                  </a:solidFill>
                  <a:latin typeface="Comic Sans MS" panose="030F0702030302020204" pitchFamily="66" charset="0"/>
                </a:rPr>
                <a:t>截止频率</a:t>
              </a:r>
              <a:endParaRPr lang="zh-CN" altLang="en-US" sz="2000" b="1">
                <a:latin typeface="Comic Sans MS" panose="030F0702030302020204" pitchFamily="66" charset="0"/>
              </a:endParaRPr>
            </a:p>
          </p:txBody>
        </p:sp>
      </p:grpSp>
      <p:sp>
        <p:nvSpPr>
          <p:cNvPr id="356409" name="Text Box 57"/>
          <p:cNvSpPr txBox="1">
            <a:spLocks noChangeArrowheads="1"/>
          </p:cNvSpPr>
          <p:nvPr/>
        </p:nvSpPr>
        <p:spPr bwMode="auto">
          <a:xfrm>
            <a:off x="4672448" y="6375521"/>
            <a:ext cx="1871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 dirty="0">
                <a:latin typeface="Times New Roman" panose="02020603050405020304" pitchFamily="18" charset="0"/>
              </a:rPr>
              <a:t>半功率频率</a:t>
            </a:r>
          </a:p>
        </p:txBody>
      </p:sp>
      <p:graphicFrame>
        <p:nvGraphicFramePr>
          <p:cNvPr id="50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916783"/>
              </p:ext>
            </p:extLst>
          </p:nvPr>
        </p:nvGraphicFramePr>
        <p:xfrm>
          <a:off x="11955" y="4219647"/>
          <a:ext cx="3276600" cy="243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80" name="Visio" r:id="rId16" imgW="1858947" imgH="1377601" progId="Visio.Drawing.11">
                  <p:embed/>
                </p:oleObj>
              </mc:Choice>
              <mc:Fallback>
                <p:oleObj name="Visio" r:id="rId16" imgW="1858947" imgH="1377601" progId="Visio.Drawing.11">
                  <p:embed/>
                  <p:pic>
                    <p:nvPicPr>
                      <p:cNvPr id="212019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5" y="4219647"/>
                        <a:ext cx="3276600" cy="243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182983"/>
              </p:ext>
            </p:extLst>
          </p:nvPr>
        </p:nvGraphicFramePr>
        <p:xfrm>
          <a:off x="4572000" y="4161275"/>
          <a:ext cx="3793442" cy="616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81" name="Equation" r:id="rId18" imgW="2031840" imgH="330120" progId="Equation.DSMT4">
                  <p:embed/>
                </p:oleObj>
              </mc:Choice>
              <mc:Fallback>
                <p:oleObj name="Equation" r:id="rId18" imgW="2031840" imgH="330120" progId="Equation.DSMT4">
                  <p:embed/>
                  <p:pic>
                    <p:nvPicPr>
                      <p:cNvPr id="212005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161275"/>
                        <a:ext cx="3793442" cy="616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6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6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5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356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35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9" dur="500"/>
                                        <p:tgtEl>
                                          <p:spTgt spid="35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6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56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4" grpId="0"/>
      <p:bldP spid="356364" grpId="0"/>
      <p:bldP spid="356366" grpId="0"/>
      <p:bldP spid="356405" grpId="0"/>
      <p:bldP spid="3564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Text Box 2"/>
          <p:cNvSpPr txBox="1">
            <a:spLocks noChangeArrowheads="1"/>
          </p:cNvSpPr>
          <p:nvPr/>
        </p:nvSpPr>
        <p:spPr bwMode="auto">
          <a:xfrm>
            <a:off x="566738" y="458788"/>
            <a:ext cx="2276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400" b="1">
                <a:solidFill>
                  <a:srgbClr val="FF0000"/>
                </a:solidFill>
              </a:rPr>
              <a:t>2. </a:t>
            </a:r>
            <a:r>
              <a:rPr lang="zh-CN" altLang="en-US" sz="2400" b="1">
                <a:solidFill>
                  <a:srgbClr val="FF0000"/>
                </a:solidFill>
                <a:latin typeface="Comic Sans MS" panose="030F0702030302020204" pitchFamily="66" charset="0"/>
              </a:rPr>
              <a:t>高通滤波器</a:t>
            </a:r>
          </a:p>
        </p:txBody>
      </p:sp>
      <p:graphicFrame>
        <p:nvGraphicFramePr>
          <p:cNvPr id="364547" name="Object 3"/>
          <p:cNvGraphicFramePr>
            <a:graphicFrameLocks noChangeAspect="1"/>
          </p:cNvGraphicFramePr>
          <p:nvPr/>
        </p:nvGraphicFramePr>
        <p:xfrm>
          <a:off x="4867275" y="1628775"/>
          <a:ext cx="4002088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652" name="Equation" r:id="rId4" imgW="2349360" imgH="634680" progId="Equation.DSMT4">
                  <p:embed/>
                </p:oleObj>
              </mc:Choice>
              <mc:Fallback>
                <p:oleObj name="Equation" r:id="rId4" imgW="2349360" imgH="6346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7275" y="1628775"/>
                        <a:ext cx="4002088" cy="1082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48" name="Object 4"/>
          <p:cNvGraphicFramePr>
            <a:graphicFrameLocks noChangeAspect="1"/>
          </p:cNvGraphicFramePr>
          <p:nvPr/>
        </p:nvGraphicFramePr>
        <p:xfrm>
          <a:off x="5876925" y="4014788"/>
          <a:ext cx="1665288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653" name="公式" r:id="rId6" imgW="647640" imgH="406080" progId="Equation.3">
                  <p:embed/>
                </p:oleObj>
              </mc:Choice>
              <mc:Fallback>
                <p:oleObj name="公式" r:id="rId6" imgW="647640" imgH="4060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4014788"/>
                        <a:ext cx="1665288" cy="103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4549" name="Group 5"/>
          <p:cNvGrpSpPr>
            <a:grpSpLocks/>
          </p:cNvGrpSpPr>
          <p:nvPr/>
        </p:nvGrpSpPr>
        <p:grpSpPr bwMode="auto">
          <a:xfrm>
            <a:off x="1016000" y="1179513"/>
            <a:ext cx="3416300" cy="1574800"/>
            <a:chOff x="640" y="743"/>
            <a:chExt cx="2152" cy="992"/>
          </a:xfrm>
        </p:grpSpPr>
        <p:sp>
          <p:nvSpPr>
            <p:cNvPr id="364550" name="Oval 6"/>
            <p:cNvSpPr>
              <a:spLocks noChangeArrowheads="1"/>
            </p:cNvSpPr>
            <p:nvPr/>
          </p:nvSpPr>
          <p:spPr bwMode="auto">
            <a:xfrm>
              <a:off x="830" y="852"/>
              <a:ext cx="56" cy="6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551" name="Text Box 7"/>
            <p:cNvSpPr txBox="1">
              <a:spLocks noChangeArrowheads="1"/>
            </p:cNvSpPr>
            <p:nvPr/>
          </p:nvSpPr>
          <p:spPr bwMode="auto">
            <a:xfrm>
              <a:off x="2536" y="755"/>
              <a:ext cx="226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64552" name="Text Box 8"/>
            <p:cNvSpPr txBox="1">
              <a:spLocks noChangeArrowheads="1"/>
            </p:cNvSpPr>
            <p:nvPr/>
          </p:nvSpPr>
          <p:spPr bwMode="auto">
            <a:xfrm>
              <a:off x="2544" y="1483"/>
              <a:ext cx="202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000" b="1"/>
            </a:p>
          </p:txBody>
        </p:sp>
        <p:sp>
          <p:nvSpPr>
            <p:cNvPr id="364553" name="Line 9"/>
            <p:cNvSpPr>
              <a:spLocks noChangeShapeType="1"/>
            </p:cNvSpPr>
            <p:nvPr/>
          </p:nvSpPr>
          <p:spPr bwMode="auto">
            <a:xfrm rot="-5400000">
              <a:off x="2067" y="432"/>
              <a:ext cx="1" cy="89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64554" name="Object 10"/>
            <p:cNvGraphicFramePr>
              <a:graphicFrameLocks noChangeAspect="1"/>
            </p:cNvGraphicFramePr>
            <p:nvPr/>
          </p:nvGraphicFramePr>
          <p:xfrm>
            <a:off x="1292" y="856"/>
            <a:ext cx="338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654" name="公式" r:id="rId8" imgW="355320" imgH="431640" progId="Equation.3">
                    <p:embed/>
                  </p:oleObj>
                </mc:Choice>
                <mc:Fallback>
                  <p:oleObj name="公式" r:id="rId8" imgW="355320" imgH="4316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856"/>
                          <a:ext cx="338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4555" name="Line 11"/>
            <p:cNvSpPr>
              <a:spLocks noChangeShapeType="1"/>
            </p:cNvSpPr>
            <p:nvPr/>
          </p:nvSpPr>
          <p:spPr bwMode="auto">
            <a:xfrm flipH="1" flipV="1">
              <a:off x="894" y="879"/>
              <a:ext cx="65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556" name="Line 12"/>
            <p:cNvSpPr>
              <a:spLocks noChangeShapeType="1"/>
            </p:cNvSpPr>
            <p:nvPr/>
          </p:nvSpPr>
          <p:spPr bwMode="auto">
            <a:xfrm flipH="1" flipV="1">
              <a:off x="894" y="1626"/>
              <a:ext cx="165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557" name="Text Box 13"/>
            <p:cNvSpPr txBox="1">
              <a:spLocks noChangeArrowheads="1"/>
            </p:cNvSpPr>
            <p:nvPr/>
          </p:nvSpPr>
          <p:spPr bwMode="auto">
            <a:xfrm>
              <a:off x="646" y="743"/>
              <a:ext cx="227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+</a:t>
              </a:r>
              <a:endParaRPr lang="en-US" altLang="zh-CN" sz="2000" b="1"/>
            </a:p>
          </p:txBody>
        </p:sp>
        <p:sp>
          <p:nvSpPr>
            <p:cNvPr id="364558" name="Text Box 14"/>
            <p:cNvSpPr txBox="1">
              <a:spLocks noChangeArrowheads="1"/>
            </p:cNvSpPr>
            <p:nvPr/>
          </p:nvSpPr>
          <p:spPr bwMode="auto">
            <a:xfrm>
              <a:off x="640" y="1486"/>
              <a:ext cx="202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000" b="1"/>
            </a:p>
          </p:txBody>
        </p:sp>
        <p:graphicFrame>
          <p:nvGraphicFramePr>
            <p:cNvPr id="364559" name="Object 15"/>
            <p:cNvGraphicFramePr>
              <a:graphicFrameLocks noChangeAspect="1"/>
            </p:cNvGraphicFramePr>
            <p:nvPr/>
          </p:nvGraphicFramePr>
          <p:xfrm>
            <a:off x="669" y="1139"/>
            <a:ext cx="25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655" name="公式" r:id="rId10" imgW="215640" imgH="241200" progId="Equation.3">
                    <p:embed/>
                  </p:oleObj>
                </mc:Choice>
                <mc:Fallback>
                  <p:oleObj name="公式" r:id="rId10" imgW="215640" imgH="2412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9" y="1139"/>
                          <a:ext cx="251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4560" name="Object 16"/>
            <p:cNvGraphicFramePr>
              <a:graphicFrameLocks noChangeAspect="1"/>
            </p:cNvGraphicFramePr>
            <p:nvPr/>
          </p:nvGraphicFramePr>
          <p:xfrm>
            <a:off x="1783" y="1094"/>
            <a:ext cx="186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656" name="公式" r:id="rId12" imgW="164880" imgH="164880" progId="Equation.3">
                    <p:embed/>
                  </p:oleObj>
                </mc:Choice>
                <mc:Fallback>
                  <p:oleObj name="公式" r:id="rId12" imgW="164880" imgH="16488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3" y="1094"/>
                          <a:ext cx="186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4561" name="Line 17"/>
            <p:cNvSpPr>
              <a:spLocks noChangeShapeType="1"/>
            </p:cNvSpPr>
            <p:nvPr/>
          </p:nvSpPr>
          <p:spPr bwMode="auto">
            <a:xfrm>
              <a:off x="2010" y="886"/>
              <a:ext cx="0" cy="74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4562" name="Group 18"/>
            <p:cNvGrpSpPr>
              <a:grpSpLocks/>
            </p:cNvGrpSpPr>
            <p:nvPr/>
          </p:nvGrpSpPr>
          <p:grpSpPr bwMode="auto">
            <a:xfrm rot="5400000">
              <a:off x="1485" y="846"/>
              <a:ext cx="198" cy="67"/>
              <a:chOff x="5298" y="5502"/>
              <a:chExt cx="338" cy="126"/>
            </a:xfrm>
          </p:grpSpPr>
          <p:sp>
            <p:nvSpPr>
              <p:cNvPr id="364563" name="Line 19"/>
              <p:cNvSpPr>
                <a:spLocks noChangeShapeType="1"/>
              </p:cNvSpPr>
              <p:nvPr/>
            </p:nvSpPr>
            <p:spPr bwMode="auto">
              <a:xfrm>
                <a:off x="5298" y="5502"/>
                <a:ext cx="33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4564" name="Line 20"/>
              <p:cNvSpPr>
                <a:spLocks noChangeShapeType="1"/>
              </p:cNvSpPr>
              <p:nvPr/>
            </p:nvSpPr>
            <p:spPr bwMode="auto">
              <a:xfrm>
                <a:off x="5300" y="5628"/>
                <a:ext cx="33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64565" name="Object 21"/>
            <p:cNvGraphicFramePr>
              <a:graphicFrameLocks noChangeAspect="1"/>
            </p:cNvGraphicFramePr>
            <p:nvPr/>
          </p:nvGraphicFramePr>
          <p:xfrm>
            <a:off x="2540" y="1144"/>
            <a:ext cx="252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657" name="公式" r:id="rId14" imgW="228600" imgH="228600" progId="Equation.3">
                    <p:embed/>
                  </p:oleObj>
                </mc:Choice>
                <mc:Fallback>
                  <p:oleObj name="公式" r:id="rId14" imgW="228600" imgH="2286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0" y="1144"/>
                          <a:ext cx="252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4566" name="Rectangle 22"/>
            <p:cNvSpPr>
              <a:spLocks noChangeArrowheads="1"/>
            </p:cNvSpPr>
            <p:nvPr/>
          </p:nvSpPr>
          <p:spPr bwMode="auto">
            <a:xfrm rot="5400000">
              <a:off x="1885" y="1150"/>
              <a:ext cx="247" cy="7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567" name="Oval 23"/>
            <p:cNvSpPr>
              <a:spLocks noChangeArrowheads="1"/>
            </p:cNvSpPr>
            <p:nvPr/>
          </p:nvSpPr>
          <p:spPr bwMode="auto">
            <a:xfrm>
              <a:off x="830" y="1600"/>
              <a:ext cx="56" cy="6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568" name="Oval 24"/>
            <p:cNvSpPr>
              <a:spLocks noChangeArrowheads="1"/>
            </p:cNvSpPr>
            <p:nvPr/>
          </p:nvSpPr>
          <p:spPr bwMode="auto">
            <a:xfrm>
              <a:off x="2496" y="852"/>
              <a:ext cx="55" cy="6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569" name="Oval 25"/>
            <p:cNvSpPr>
              <a:spLocks noChangeArrowheads="1"/>
            </p:cNvSpPr>
            <p:nvPr/>
          </p:nvSpPr>
          <p:spPr bwMode="auto">
            <a:xfrm>
              <a:off x="2496" y="1600"/>
              <a:ext cx="55" cy="6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4570" name="Group 26"/>
          <p:cNvGrpSpPr>
            <a:grpSpLocks/>
          </p:cNvGrpSpPr>
          <p:nvPr/>
        </p:nvGrpSpPr>
        <p:grpSpPr bwMode="auto">
          <a:xfrm>
            <a:off x="1116013" y="2924175"/>
            <a:ext cx="3611562" cy="2473325"/>
            <a:chOff x="2264" y="2445"/>
            <a:chExt cx="2275" cy="1558"/>
          </a:xfrm>
        </p:grpSpPr>
        <p:pic>
          <p:nvPicPr>
            <p:cNvPr id="364571" name="Picture 27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4" y="2727"/>
              <a:ext cx="2031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64572" name="Line 28"/>
            <p:cNvSpPr>
              <a:spLocks noChangeShapeType="1"/>
            </p:cNvSpPr>
            <p:nvPr/>
          </p:nvSpPr>
          <p:spPr bwMode="auto">
            <a:xfrm>
              <a:off x="2446" y="3651"/>
              <a:ext cx="195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573" name="Line 29"/>
            <p:cNvSpPr>
              <a:spLocks noChangeShapeType="1"/>
            </p:cNvSpPr>
            <p:nvPr/>
          </p:nvSpPr>
          <p:spPr bwMode="auto">
            <a:xfrm flipV="1">
              <a:off x="2443" y="2562"/>
              <a:ext cx="0" cy="144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574" name="Text Box 30"/>
            <p:cNvSpPr txBox="1">
              <a:spLocks noChangeArrowheads="1"/>
            </p:cNvSpPr>
            <p:nvPr/>
          </p:nvSpPr>
          <p:spPr bwMode="auto">
            <a:xfrm>
              <a:off x="4269" y="3610"/>
              <a:ext cx="270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lang="en-US" altLang="zh-CN" sz="2000" b="1"/>
            </a:p>
          </p:txBody>
        </p:sp>
        <p:graphicFrame>
          <p:nvGraphicFramePr>
            <p:cNvPr id="364575" name="Object 31"/>
            <p:cNvGraphicFramePr>
              <a:graphicFrameLocks noChangeAspect="1"/>
            </p:cNvGraphicFramePr>
            <p:nvPr/>
          </p:nvGraphicFramePr>
          <p:xfrm>
            <a:off x="2435" y="2445"/>
            <a:ext cx="493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658" name="Equation" r:id="rId17" imgW="520560" imgH="241200" progId="Equation.DSMT4">
                    <p:embed/>
                  </p:oleObj>
                </mc:Choice>
                <mc:Fallback>
                  <p:oleObj name="Equation" r:id="rId17" imgW="520560" imgH="2412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5" y="2445"/>
                          <a:ext cx="493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4576" name="Line 32"/>
            <p:cNvSpPr>
              <a:spLocks noChangeShapeType="1"/>
            </p:cNvSpPr>
            <p:nvPr/>
          </p:nvSpPr>
          <p:spPr bwMode="auto">
            <a:xfrm>
              <a:off x="2442" y="2760"/>
              <a:ext cx="11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577" name="Text Box 33"/>
            <p:cNvSpPr txBox="1">
              <a:spLocks noChangeArrowheads="1"/>
            </p:cNvSpPr>
            <p:nvPr/>
          </p:nvSpPr>
          <p:spPr bwMode="auto">
            <a:xfrm>
              <a:off x="2264" y="3537"/>
              <a:ext cx="270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2000" b="1"/>
            </a:p>
          </p:txBody>
        </p:sp>
        <p:sp>
          <p:nvSpPr>
            <p:cNvPr id="364578" name="Text Box 34"/>
            <p:cNvSpPr txBox="1">
              <a:spLocks noChangeArrowheads="1"/>
            </p:cNvSpPr>
            <p:nvPr/>
          </p:nvSpPr>
          <p:spPr bwMode="auto">
            <a:xfrm>
              <a:off x="2268" y="2638"/>
              <a:ext cx="270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000" b="1"/>
            </a:p>
          </p:txBody>
        </p:sp>
      </p:grpSp>
      <p:grpSp>
        <p:nvGrpSpPr>
          <p:cNvPr id="364579" name="Group 35"/>
          <p:cNvGrpSpPr>
            <a:grpSpLocks/>
          </p:cNvGrpSpPr>
          <p:nvPr/>
        </p:nvGrpSpPr>
        <p:grpSpPr bwMode="auto">
          <a:xfrm>
            <a:off x="844550" y="3633788"/>
            <a:ext cx="2314575" cy="1498600"/>
            <a:chOff x="458" y="2513"/>
            <a:chExt cx="1458" cy="944"/>
          </a:xfrm>
        </p:grpSpPr>
        <p:sp>
          <p:nvSpPr>
            <p:cNvPr id="364580" name="Text Box 36"/>
            <p:cNvSpPr txBox="1">
              <a:spLocks noChangeArrowheads="1"/>
            </p:cNvSpPr>
            <p:nvPr/>
          </p:nvSpPr>
          <p:spPr bwMode="auto">
            <a:xfrm>
              <a:off x="458" y="2513"/>
              <a:ext cx="480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1600" b="1">
                  <a:latin typeface="Times New Roman" panose="02020603050405020304" pitchFamily="18" charset="0"/>
                </a:rPr>
                <a:t>0.707</a:t>
              </a:r>
              <a:endParaRPr lang="en-US" altLang="zh-CN" sz="1600" b="1"/>
            </a:p>
          </p:txBody>
        </p:sp>
        <p:sp>
          <p:nvSpPr>
            <p:cNvPr id="364581" name="Text Box 37"/>
            <p:cNvSpPr txBox="1">
              <a:spLocks noChangeArrowheads="1"/>
            </p:cNvSpPr>
            <p:nvPr/>
          </p:nvSpPr>
          <p:spPr bwMode="auto">
            <a:xfrm>
              <a:off x="1463" y="3210"/>
              <a:ext cx="453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0"/>
                </a:spcBef>
              </a:pPr>
              <a:r>
                <a:rPr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C</a:t>
              </a:r>
              <a:endParaRPr lang="en-US" altLang="zh-CN" sz="2000" b="1"/>
            </a:p>
          </p:txBody>
        </p:sp>
        <p:sp>
          <p:nvSpPr>
            <p:cNvPr id="364582" name="Line 38"/>
            <p:cNvSpPr>
              <a:spLocks noChangeShapeType="1"/>
            </p:cNvSpPr>
            <p:nvPr/>
          </p:nvSpPr>
          <p:spPr bwMode="auto">
            <a:xfrm>
              <a:off x="818" y="2642"/>
              <a:ext cx="7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583" name="Line 39"/>
            <p:cNvSpPr>
              <a:spLocks noChangeShapeType="1"/>
            </p:cNvSpPr>
            <p:nvPr/>
          </p:nvSpPr>
          <p:spPr bwMode="auto">
            <a:xfrm rot="5400000">
              <a:off x="1295" y="2951"/>
              <a:ext cx="624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3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3" dur="500"/>
                                        <p:tgtEl>
                                          <p:spTgt spid="3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Text Box 2"/>
          <p:cNvSpPr txBox="1">
            <a:spLocks noChangeArrowheads="1"/>
          </p:cNvSpPr>
          <p:nvPr/>
        </p:nvSpPr>
        <p:spPr bwMode="auto">
          <a:xfrm>
            <a:off x="250825" y="1052513"/>
            <a:ext cx="3554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一、什么是电路的谐振？</a:t>
            </a:r>
          </a:p>
        </p:txBody>
      </p:sp>
      <p:sp>
        <p:nvSpPr>
          <p:cNvPr id="376835" name="Text Box 3"/>
          <p:cNvSpPr txBox="1">
            <a:spLocks noChangeArrowheads="1"/>
          </p:cNvSpPr>
          <p:nvPr/>
        </p:nvSpPr>
        <p:spPr bwMode="auto">
          <a:xfrm>
            <a:off x="1042988" y="4868863"/>
            <a:ext cx="7561262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20000"/>
              </a:lnSpc>
              <a:spcBef>
                <a:spcPct val="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   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当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=|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latin typeface="Times New Roman" panose="02020603050405020304" pitchFamily="18" charset="0"/>
              </a:rPr>
              <a:t>|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</a:t>
            </a:r>
            <a:r>
              <a:rPr kumimoji="1"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0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端口上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电压、电流同相</a:t>
            </a:r>
            <a:r>
              <a:rPr kumimoji="1" lang="zh-CN" altLang="en-US" sz="2400" b="1">
                <a:latin typeface="Times New Roman" panose="02020603050405020304" pitchFamily="18" charset="0"/>
              </a:rPr>
              <a:t>。电路的这种状态称为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谐振</a:t>
            </a:r>
            <a:r>
              <a:rPr kumimoji="1" lang="zh-CN" altLang="en-US" sz="2400" b="1">
                <a:latin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376836" name="Object 4"/>
          <p:cNvGraphicFramePr>
            <a:graphicFrameLocks noChangeAspect="1"/>
          </p:cNvGraphicFramePr>
          <p:nvPr/>
        </p:nvGraphicFramePr>
        <p:xfrm>
          <a:off x="4960938" y="1328738"/>
          <a:ext cx="25908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933" name="Equation" r:id="rId4" imgW="1295280" imgH="342720" progId="Equation.3">
                  <p:embed/>
                </p:oleObj>
              </mc:Choice>
              <mc:Fallback>
                <p:oleObj name="Equation" r:id="rId4" imgW="1295280" imgH="3427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0938" y="1328738"/>
                        <a:ext cx="259080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37" name="Object 5"/>
          <p:cNvGraphicFramePr>
            <a:graphicFrameLocks noChangeAspect="1"/>
          </p:cNvGraphicFramePr>
          <p:nvPr/>
        </p:nvGraphicFramePr>
        <p:xfrm>
          <a:off x="5051425" y="2047875"/>
          <a:ext cx="12827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934" name="Equation" r:id="rId6" imgW="634680" imgH="406080" progId="Equation.3">
                  <p:embed/>
                </p:oleObj>
              </mc:Choice>
              <mc:Fallback>
                <p:oleObj name="Equation" r:id="rId6" imgW="634680" imgH="406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1425" y="2047875"/>
                        <a:ext cx="1282700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6838" name="Group 6"/>
          <p:cNvGrpSpPr>
            <a:grpSpLocks/>
          </p:cNvGrpSpPr>
          <p:nvPr/>
        </p:nvGrpSpPr>
        <p:grpSpPr bwMode="auto">
          <a:xfrm>
            <a:off x="1168400" y="1403350"/>
            <a:ext cx="2708275" cy="2541588"/>
            <a:chOff x="364" y="1831"/>
            <a:chExt cx="1706" cy="1601"/>
          </a:xfrm>
        </p:grpSpPr>
        <p:grpSp>
          <p:nvGrpSpPr>
            <p:cNvPr id="376839" name="Group 7"/>
            <p:cNvGrpSpPr>
              <a:grpSpLocks/>
            </p:cNvGrpSpPr>
            <p:nvPr/>
          </p:nvGrpSpPr>
          <p:grpSpPr bwMode="auto">
            <a:xfrm>
              <a:off x="1356" y="3126"/>
              <a:ext cx="258" cy="91"/>
              <a:chOff x="1351" y="3976"/>
              <a:chExt cx="174" cy="93"/>
            </a:xfrm>
          </p:grpSpPr>
          <p:sp>
            <p:nvSpPr>
              <p:cNvPr id="376840" name="Line 8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6841" name="Line 9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6842" name="Line 10"/>
            <p:cNvSpPr>
              <a:spLocks noChangeShapeType="1"/>
            </p:cNvSpPr>
            <p:nvPr/>
          </p:nvSpPr>
          <p:spPr bwMode="auto">
            <a:xfrm>
              <a:off x="1487" y="2928"/>
              <a:ext cx="1" cy="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6843" name="Line 11"/>
            <p:cNvSpPr>
              <a:spLocks noChangeShapeType="1"/>
            </p:cNvSpPr>
            <p:nvPr/>
          </p:nvSpPr>
          <p:spPr bwMode="auto">
            <a:xfrm>
              <a:off x="1488" y="321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6844" name="Line 12"/>
            <p:cNvSpPr>
              <a:spLocks noChangeShapeType="1"/>
            </p:cNvSpPr>
            <p:nvPr/>
          </p:nvSpPr>
          <p:spPr bwMode="auto">
            <a:xfrm>
              <a:off x="516" y="3402"/>
              <a:ext cx="9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6845" name="Line 13"/>
            <p:cNvSpPr>
              <a:spLocks noChangeShapeType="1"/>
            </p:cNvSpPr>
            <p:nvPr/>
          </p:nvSpPr>
          <p:spPr bwMode="auto">
            <a:xfrm>
              <a:off x="516" y="2358"/>
              <a:ext cx="3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6846" name="Line 14"/>
            <p:cNvSpPr>
              <a:spLocks noChangeShapeType="1"/>
            </p:cNvSpPr>
            <p:nvPr/>
          </p:nvSpPr>
          <p:spPr bwMode="auto">
            <a:xfrm flipV="1">
              <a:off x="1488" y="2352"/>
              <a:ext cx="0" cy="1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6847" name="Object 15"/>
            <p:cNvGraphicFramePr>
              <a:graphicFrameLocks noChangeAspect="1"/>
            </p:cNvGraphicFramePr>
            <p:nvPr/>
          </p:nvGraphicFramePr>
          <p:xfrm>
            <a:off x="516" y="1831"/>
            <a:ext cx="159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6935" name="公式" r:id="rId8" imgW="126720" imgH="330120" progId="Equation.3">
                    <p:embed/>
                  </p:oleObj>
                </mc:Choice>
                <mc:Fallback>
                  <p:oleObj name="公式" r:id="rId8" imgW="126720" imgH="33012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" y="1831"/>
                          <a:ext cx="159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6848" name="Text Box 16"/>
            <p:cNvSpPr txBox="1">
              <a:spLocks noChangeArrowheads="1"/>
            </p:cNvSpPr>
            <p:nvPr/>
          </p:nvSpPr>
          <p:spPr bwMode="auto">
            <a:xfrm>
              <a:off x="888" y="202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76849" name="Text Box 17"/>
            <p:cNvSpPr txBox="1">
              <a:spLocks noChangeArrowheads="1"/>
            </p:cNvSpPr>
            <p:nvPr/>
          </p:nvSpPr>
          <p:spPr bwMode="auto">
            <a:xfrm>
              <a:off x="1584" y="2550"/>
              <a:ext cx="4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j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376850" name="Line 18"/>
            <p:cNvSpPr>
              <a:spLocks noChangeShapeType="1"/>
            </p:cNvSpPr>
            <p:nvPr/>
          </p:nvSpPr>
          <p:spPr bwMode="auto">
            <a:xfrm>
              <a:off x="1152" y="2352"/>
              <a:ext cx="336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6851" name="Line 19"/>
            <p:cNvSpPr>
              <a:spLocks noChangeShapeType="1"/>
            </p:cNvSpPr>
            <p:nvPr/>
          </p:nvSpPr>
          <p:spPr bwMode="auto">
            <a:xfrm>
              <a:off x="480" y="2264"/>
              <a:ext cx="28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6852" name="Text Box 20"/>
            <p:cNvSpPr txBox="1">
              <a:spLocks noChangeArrowheads="1"/>
            </p:cNvSpPr>
            <p:nvPr/>
          </p:nvSpPr>
          <p:spPr bwMode="auto">
            <a:xfrm>
              <a:off x="374" y="237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76853" name="Text Box 21"/>
            <p:cNvSpPr txBox="1">
              <a:spLocks noChangeArrowheads="1"/>
            </p:cNvSpPr>
            <p:nvPr/>
          </p:nvSpPr>
          <p:spPr bwMode="auto">
            <a:xfrm>
              <a:off x="364" y="299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grpSp>
          <p:nvGrpSpPr>
            <p:cNvPr id="376854" name="Group 22"/>
            <p:cNvGrpSpPr>
              <a:grpSpLocks/>
            </p:cNvGrpSpPr>
            <p:nvPr/>
          </p:nvGrpSpPr>
          <p:grpSpPr bwMode="auto">
            <a:xfrm rot="5400000">
              <a:off x="1327" y="2711"/>
              <a:ext cx="379" cy="57"/>
              <a:chOff x="1200" y="1584"/>
              <a:chExt cx="379" cy="45"/>
            </a:xfrm>
          </p:grpSpPr>
          <p:sp>
            <p:nvSpPr>
              <p:cNvPr id="376855" name="Arc 23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6856" name="Arc 24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6857" name="Arc 25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6858" name="Arc 26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76859" name="Oval 27"/>
            <p:cNvSpPr>
              <a:spLocks noChangeArrowheads="1"/>
            </p:cNvSpPr>
            <p:nvPr/>
          </p:nvSpPr>
          <p:spPr bwMode="auto">
            <a:xfrm>
              <a:off x="468" y="3372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6860" name="Oval 28"/>
            <p:cNvSpPr>
              <a:spLocks noChangeArrowheads="1"/>
            </p:cNvSpPr>
            <p:nvPr/>
          </p:nvSpPr>
          <p:spPr bwMode="auto">
            <a:xfrm>
              <a:off x="468" y="232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6861" name="Rectangle 29"/>
            <p:cNvSpPr>
              <a:spLocks noChangeArrowheads="1"/>
            </p:cNvSpPr>
            <p:nvPr/>
          </p:nvSpPr>
          <p:spPr bwMode="auto">
            <a:xfrm>
              <a:off x="864" y="2306"/>
              <a:ext cx="295" cy="113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6862" name="Object 30"/>
            <p:cNvGraphicFramePr>
              <a:graphicFrameLocks noChangeAspect="1"/>
            </p:cNvGraphicFramePr>
            <p:nvPr/>
          </p:nvGraphicFramePr>
          <p:xfrm>
            <a:off x="1622" y="2908"/>
            <a:ext cx="448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6936" name="公式" r:id="rId10" imgW="368280" imgH="431640" progId="Equation.3">
                    <p:embed/>
                  </p:oleObj>
                </mc:Choice>
                <mc:Fallback>
                  <p:oleObj name="公式" r:id="rId10" imgW="368280" imgH="43164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2" y="2908"/>
                          <a:ext cx="448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6863" name="Object 31"/>
            <p:cNvGraphicFramePr>
              <a:graphicFrameLocks noChangeAspect="1"/>
            </p:cNvGraphicFramePr>
            <p:nvPr/>
          </p:nvGraphicFramePr>
          <p:xfrm>
            <a:off x="380" y="2610"/>
            <a:ext cx="207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6937" name="公式" r:id="rId12" imgW="164880" imgH="342720" progId="Equation.3">
                    <p:embed/>
                  </p:oleObj>
                </mc:Choice>
                <mc:Fallback>
                  <p:oleObj name="公式" r:id="rId12" imgW="164880" imgH="34272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" y="2610"/>
                          <a:ext cx="207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6864" name="Object 32"/>
          <p:cNvGraphicFramePr>
            <a:graphicFrameLocks noChangeAspect="1"/>
          </p:cNvGraphicFramePr>
          <p:nvPr/>
        </p:nvGraphicFramePr>
        <p:xfrm>
          <a:off x="5051425" y="2947988"/>
          <a:ext cx="128270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938" name="Equation" r:id="rId14" imgW="634680" imgH="406080" progId="Equation.3">
                  <p:embed/>
                </p:oleObj>
              </mc:Choice>
              <mc:Fallback>
                <p:oleObj name="Equation" r:id="rId14" imgW="634680" imgH="40608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1425" y="2947988"/>
                        <a:ext cx="1282700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65" name="Text Box 33"/>
          <p:cNvSpPr txBox="1">
            <a:spLocks noChangeArrowheads="1"/>
          </p:cNvSpPr>
          <p:nvPr/>
        </p:nvSpPr>
        <p:spPr bwMode="auto">
          <a:xfrm>
            <a:off x="6516688" y="2205038"/>
            <a:ext cx="119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感性</a:t>
            </a:r>
          </a:p>
        </p:txBody>
      </p:sp>
      <p:sp>
        <p:nvSpPr>
          <p:cNvPr id="376866" name="Text Box 34"/>
          <p:cNvSpPr txBox="1">
            <a:spLocks noChangeArrowheads="1"/>
          </p:cNvSpPr>
          <p:nvPr/>
        </p:nvSpPr>
        <p:spPr bwMode="auto">
          <a:xfrm>
            <a:off x="6551613" y="3105150"/>
            <a:ext cx="1343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容性</a:t>
            </a:r>
          </a:p>
        </p:txBody>
      </p:sp>
      <p:sp>
        <p:nvSpPr>
          <p:cNvPr id="376867" name="Text Box 35"/>
          <p:cNvSpPr txBox="1">
            <a:spLocks noChangeArrowheads="1"/>
          </p:cNvSpPr>
          <p:nvPr/>
        </p:nvSpPr>
        <p:spPr bwMode="auto">
          <a:xfrm>
            <a:off x="1584325" y="413385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串联谐振</a:t>
            </a:r>
          </a:p>
        </p:txBody>
      </p:sp>
      <p:graphicFrame>
        <p:nvGraphicFramePr>
          <p:cNvPr id="376868" name="Object 36"/>
          <p:cNvGraphicFramePr>
            <a:graphicFrameLocks noChangeAspect="1"/>
          </p:cNvGraphicFramePr>
          <p:nvPr/>
        </p:nvGraphicFramePr>
        <p:xfrm>
          <a:off x="5051425" y="3848100"/>
          <a:ext cx="12827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939" name="Equation" r:id="rId16" imgW="634680" imgH="406080" progId="Equation.3">
                  <p:embed/>
                </p:oleObj>
              </mc:Choice>
              <mc:Fallback>
                <p:oleObj name="Equation" r:id="rId16" imgW="634680" imgH="40608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1425" y="3848100"/>
                        <a:ext cx="1282700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69" name="Text Box 37"/>
          <p:cNvSpPr txBox="1">
            <a:spLocks noChangeArrowheads="1"/>
          </p:cNvSpPr>
          <p:nvPr/>
        </p:nvSpPr>
        <p:spPr bwMode="auto">
          <a:xfrm>
            <a:off x="6516688" y="4076700"/>
            <a:ext cx="119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阻性</a:t>
            </a:r>
          </a:p>
        </p:txBody>
      </p:sp>
      <p:sp>
        <p:nvSpPr>
          <p:cNvPr id="376872" name="Text Box 40"/>
          <p:cNvSpPr txBox="1">
            <a:spLocks noChangeArrowheads="1"/>
          </p:cNvSpPr>
          <p:nvPr/>
        </p:nvSpPr>
        <p:spPr bwMode="auto">
          <a:xfrm>
            <a:off x="2916238" y="5913438"/>
            <a:ext cx="3735387" cy="4572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谐振时入端阻抗为纯电阻。</a:t>
            </a:r>
          </a:p>
        </p:txBody>
      </p:sp>
      <p:sp>
        <p:nvSpPr>
          <p:cNvPr id="44" name="Rectangle 31"/>
          <p:cNvSpPr>
            <a:spLocks noChangeArrowheads="1"/>
          </p:cNvSpPr>
          <p:nvPr/>
        </p:nvSpPr>
        <p:spPr bwMode="auto">
          <a:xfrm>
            <a:off x="395288" y="260350"/>
            <a:ext cx="845820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>
                <a:solidFill>
                  <a:schemeClr val="tx2"/>
                </a:solidFill>
                <a:ea typeface="隶书" panose="02010509060101010101" pitchFamily="49" charset="-122"/>
              </a:rPr>
              <a:t>14.2 </a:t>
            </a:r>
            <a:r>
              <a:rPr lang="zh-CN" altLang="en-US" sz="3200">
                <a:solidFill>
                  <a:schemeClr val="tx2"/>
                </a:solidFill>
                <a:ea typeface="隶书" panose="02010509060101010101" pitchFamily="49" charset="-122"/>
              </a:rPr>
              <a:t>谐振电路的频率响应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6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6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6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6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6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6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7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76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6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6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4" grpId="0"/>
      <p:bldP spid="376835" grpId="0" build="p" autoUpdateAnimBg="0"/>
      <p:bldP spid="376865" grpId="0" autoUpdateAnimBg="0"/>
      <p:bldP spid="376866" grpId="0" autoUpdateAnimBg="0"/>
      <p:bldP spid="376867" grpId="0" autoUpdateAnimBg="0"/>
      <p:bldP spid="376869" grpId="0" autoUpdateAnimBg="0"/>
      <p:bldP spid="37687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882" name="Group 2"/>
          <p:cNvGrpSpPr>
            <a:grpSpLocks/>
          </p:cNvGrpSpPr>
          <p:nvPr/>
        </p:nvGrpSpPr>
        <p:grpSpPr bwMode="auto">
          <a:xfrm>
            <a:off x="2413000" y="360363"/>
            <a:ext cx="3513138" cy="1447800"/>
            <a:chOff x="1608" y="1380"/>
            <a:chExt cx="2213" cy="912"/>
          </a:xfrm>
        </p:grpSpPr>
        <p:sp>
          <p:nvSpPr>
            <p:cNvPr id="378883" name="Text Box 3"/>
            <p:cNvSpPr txBox="1">
              <a:spLocks noChangeArrowheads="1"/>
            </p:cNvSpPr>
            <p:nvPr/>
          </p:nvSpPr>
          <p:spPr bwMode="auto">
            <a:xfrm>
              <a:off x="2304" y="1380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378884" name="Text Box 4"/>
            <p:cNvSpPr txBox="1">
              <a:spLocks noChangeArrowheads="1"/>
            </p:cNvSpPr>
            <p:nvPr/>
          </p:nvSpPr>
          <p:spPr bwMode="auto">
            <a:xfrm>
              <a:off x="2310" y="18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grpSp>
          <p:nvGrpSpPr>
            <p:cNvPr id="378885" name="Group 5"/>
            <p:cNvGrpSpPr>
              <a:grpSpLocks/>
            </p:cNvGrpSpPr>
            <p:nvPr/>
          </p:nvGrpSpPr>
          <p:grpSpPr bwMode="auto">
            <a:xfrm>
              <a:off x="2916" y="1770"/>
              <a:ext cx="258" cy="93"/>
              <a:chOff x="1351" y="3976"/>
              <a:chExt cx="174" cy="93"/>
            </a:xfrm>
          </p:grpSpPr>
          <p:sp>
            <p:nvSpPr>
              <p:cNvPr id="378886" name="Line 6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8887" name="Line 7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8888" name="Line 8"/>
            <p:cNvSpPr>
              <a:spLocks noChangeShapeType="1"/>
            </p:cNvSpPr>
            <p:nvPr/>
          </p:nvSpPr>
          <p:spPr bwMode="auto">
            <a:xfrm flipV="1">
              <a:off x="3504" y="1380"/>
              <a:ext cx="0" cy="2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889" name="Line 9"/>
            <p:cNvSpPr>
              <a:spLocks noChangeShapeType="1"/>
            </p:cNvSpPr>
            <p:nvPr/>
          </p:nvSpPr>
          <p:spPr bwMode="auto">
            <a:xfrm>
              <a:off x="3504" y="2011"/>
              <a:ext cx="0" cy="2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890" name="Line 10"/>
            <p:cNvSpPr>
              <a:spLocks noChangeShapeType="1"/>
            </p:cNvSpPr>
            <p:nvPr/>
          </p:nvSpPr>
          <p:spPr bwMode="auto">
            <a:xfrm flipH="1">
              <a:off x="2016" y="2292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891" name="Line 11"/>
            <p:cNvSpPr>
              <a:spLocks noChangeShapeType="1"/>
            </p:cNvSpPr>
            <p:nvPr/>
          </p:nvSpPr>
          <p:spPr bwMode="auto">
            <a:xfrm flipH="1">
              <a:off x="2016" y="138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892" name="Line 12"/>
            <p:cNvSpPr>
              <a:spLocks noChangeShapeType="1"/>
            </p:cNvSpPr>
            <p:nvPr/>
          </p:nvSpPr>
          <p:spPr bwMode="auto">
            <a:xfrm>
              <a:off x="3048" y="1862"/>
              <a:ext cx="0" cy="4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893" name="Line 13"/>
            <p:cNvSpPr>
              <a:spLocks noChangeShapeType="1"/>
            </p:cNvSpPr>
            <p:nvPr/>
          </p:nvSpPr>
          <p:spPr bwMode="auto">
            <a:xfrm flipV="1">
              <a:off x="3048" y="1380"/>
              <a:ext cx="0" cy="3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894" name="Line 14"/>
            <p:cNvSpPr>
              <a:spLocks noChangeShapeType="1"/>
            </p:cNvSpPr>
            <p:nvPr/>
          </p:nvSpPr>
          <p:spPr bwMode="auto">
            <a:xfrm>
              <a:off x="2580" y="1380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895" name="Line 15"/>
            <p:cNvSpPr>
              <a:spLocks noChangeShapeType="1"/>
            </p:cNvSpPr>
            <p:nvPr/>
          </p:nvSpPr>
          <p:spPr bwMode="auto">
            <a:xfrm>
              <a:off x="2016" y="1380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896" name="Oval 16"/>
            <p:cNvSpPr>
              <a:spLocks noChangeArrowheads="1"/>
            </p:cNvSpPr>
            <p:nvPr/>
          </p:nvSpPr>
          <p:spPr bwMode="auto">
            <a:xfrm>
              <a:off x="1872" y="1698"/>
              <a:ext cx="288" cy="28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8897" name="Line 17"/>
            <p:cNvSpPr>
              <a:spLocks noChangeShapeType="1"/>
            </p:cNvSpPr>
            <p:nvPr/>
          </p:nvSpPr>
          <p:spPr bwMode="auto">
            <a:xfrm>
              <a:off x="1872" y="1842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8898" name="Object 18"/>
            <p:cNvGraphicFramePr>
              <a:graphicFrameLocks noChangeAspect="1"/>
            </p:cNvGraphicFramePr>
            <p:nvPr/>
          </p:nvGraphicFramePr>
          <p:xfrm>
            <a:off x="1608" y="1604"/>
            <a:ext cx="205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977" name="公式" r:id="rId4" imgW="177480" imgH="304560" progId="Equation.3">
                    <p:embed/>
                  </p:oleObj>
                </mc:Choice>
                <mc:Fallback>
                  <p:oleObj name="公式" r:id="rId4" imgW="177480" imgH="30456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8" y="1604"/>
                          <a:ext cx="205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899" name="Line 19"/>
            <p:cNvSpPr>
              <a:spLocks noChangeShapeType="1"/>
            </p:cNvSpPr>
            <p:nvPr/>
          </p:nvSpPr>
          <p:spPr bwMode="auto">
            <a:xfrm flipV="1">
              <a:off x="1818" y="1682"/>
              <a:ext cx="0" cy="28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00" name="Text Box 20"/>
            <p:cNvSpPr txBox="1">
              <a:spLocks noChangeArrowheads="1"/>
            </p:cNvSpPr>
            <p:nvPr/>
          </p:nvSpPr>
          <p:spPr bwMode="auto">
            <a:xfrm>
              <a:off x="2618" y="169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378901" name="Text Box 21"/>
            <p:cNvSpPr txBox="1">
              <a:spLocks noChangeArrowheads="1"/>
            </p:cNvSpPr>
            <p:nvPr/>
          </p:nvSpPr>
          <p:spPr bwMode="auto">
            <a:xfrm>
              <a:off x="3138" y="167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78902" name="Text Box 22"/>
            <p:cNvSpPr txBox="1">
              <a:spLocks noChangeArrowheads="1"/>
            </p:cNvSpPr>
            <p:nvPr/>
          </p:nvSpPr>
          <p:spPr bwMode="auto">
            <a:xfrm>
              <a:off x="3588" y="1638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378903" name="Group 23"/>
            <p:cNvGrpSpPr>
              <a:grpSpLocks/>
            </p:cNvGrpSpPr>
            <p:nvPr/>
          </p:nvGrpSpPr>
          <p:grpSpPr bwMode="auto">
            <a:xfrm rot="5400000">
              <a:off x="3343" y="1793"/>
              <a:ext cx="379" cy="57"/>
              <a:chOff x="1200" y="1584"/>
              <a:chExt cx="379" cy="45"/>
            </a:xfrm>
          </p:grpSpPr>
          <p:sp>
            <p:nvSpPr>
              <p:cNvPr id="378904" name="Arc 24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8905" name="Arc 25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8906" name="Arc 26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8907" name="Arc 27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78908" name="Rectangle 28"/>
            <p:cNvSpPr>
              <a:spLocks noChangeArrowheads="1"/>
            </p:cNvSpPr>
            <p:nvPr/>
          </p:nvSpPr>
          <p:spPr bwMode="auto">
            <a:xfrm>
              <a:off x="2529" y="1710"/>
              <a:ext cx="101" cy="2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78909" name="Object 29"/>
            <p:cNvGraphicFramePr>
              <a:graphicFrameLocks noChangeAspect="1"/>
            </p:cNvGraphicFramePr>
            <p:nvPr/>
          </p:nvGraphicFramePr>
          <p:xfrm>
            <a:off x="2311" y="1635"/>
            <a:ext cx="190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978" name="公式" r:id="rId6" imgW="164880" imgH="279360" progId="Equation.3">
                    <p:embed/>
                  </p:oleObj>
                </mc:Choice>
                <mc:Fallback>
                  <p:oleObj name="公式" r:id="rId6" imgW="164880" imgH="27936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1" y="1635"/>
                          <a:ext cx="190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8910" name="Object 30"/>
          <p:cNvGraphicFramePr>
            <a:graphicFrameLocks noChangeAspect="1"/>
          </p:cNvGraphicFramePr>
          <p:nvPr/>
        </p:nvGraphicFramePr>
        <p:xfrm>
          <a:off x="2108200" y="2265363"/>
          <a:ext cx="25908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79" name="Equation" r:id="rId8" imgW="1295280" imgH="342720" progId="Equation.3">
                  <p:embed/>
                </p:oleObj>
              </mc:Choice>
              <mc:Fallback>
                <p:oleObj name="Equation" r:id="rId8" imgW="1295280" imgH="34272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2265363"/>
                        <a:ext cx="259080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1" name="Object 31"/>
          <p:cNvGraphicFramePr>
            <a:graphicFrameLocks noChangeAspect="1"/>
          </p:cNvGraphicFramePr>
          <p:nvPr/>
        </p:nvGraphicFramePr>
        <p:xfrm>
          <a:off x="2098675" y="3103563"/>
          <a:ext cx="128428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0" name="Equation" r:id="rId10" imgW="634680" imgH="406080" progId="Equation.3">
                  <p:embed/>
                </p:oleObj>
              </mc:Choice>
              <mc:Fallback>
                <p:oleObj name="Equation" r:id="rId10" imgW="634680" imgH="40608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3103563"/>
                        <a:ext cx="1284288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2" name="Object 32"/>
          <p:cNvGraphicFramePr>
            <a:graphicFrameLocks noChangeAspect="1"/>
          </p:cNvGraphicFramePr>
          <p:nvPr/>
        </p:nvGraphicFramePr>
        <p:xfrm>
          <a:off x="2098675" y="4003675"/>
          <a:ext cx="1284288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1" name="Equation" r:id="rId12" imgW="634680" imgH="406080" progId="Equation.3">
                  <p:embed/>
                </p:oleObj>
              </mc:Choice>
              <mc:Fallback>
                <p:oleObj name="Equation" r:id="rId12" imgW="634680" imgH="40608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4003675"/>
                        <a:ext cx="1284288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3" name="Text Box 33"/>
          <p:cNvSpPr txBox="1">
            <a:spLocks noChangeArrowheads="1"/>
          </p:cNvSpPr>
          <p:nvPr/>
        </p:nvSpPr>
        <p:spPr bwMode="auto">
          <a:xfrm>
            <a:off x="3708400" y="418465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感性</a:t>
            </a:r>
          </a:p>
        </p:txBody>
      </p:sp>
      <p:sp>
        <p:nvSpPr>
          <p:cNvPr id="378914" name="Text Box 34"/>
          <p:cNvSpPr txBox="1">
            <a:spLocks noChangeArrowheads="1"/>
          </p:cNvSpPr>
          <p:nvPr/>
        </p:nvSpPr>
        <p:spPr bwMode="auto">
          <a:xfrm>
            <a:off x="3708400" y="3284538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容性</a:t>
            </a:r>
          </a:p>
        </p:txBody>
      </p:sp>
      <p:sp>
        <p:nvSpPr>
          <p:cNvPr id="378915" name="Text Box 35"/>
          <p:cNvSpPr txBox="1">
            <a:spLocks noChangeArrowheads="1"/>
          </p:cNvSpPr>
          <p:nvPr/>
        </p:nvSpPr>
        <p:spPr bwMode="auto">
          <a:xfrm>
            <a:off x="5080000" y="5008563"/>
            <a:ext cx="1809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并联谐振</a:t>
            </a:r>
          </a:p>
        </p:txBody>
      </p:sp>
      <p:graphicFrame>
        <p:nvGraphicFramePr>
          <p:cNvPr id="378916" name="Object 36"/>
          <p:cNvGraphicFramePr>
            <a:graphicFrameLocks noChangeAspect="1"/>
          </p:cNvGraphicFramePr>
          <p:nvPr/>
        </p:nvGraphicFramePr>
        <p:xfrm>
          <a:off x="2082800" y="4919663"/>
          <a:ext cx="128270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2" name="Equation" r:id="rId14" imgW="634680" imgH="406080" progId="Equation.3">
                  <p:embed/>
                </p:oleObj>
              </mc:Choice>
              <mc:Fallback>
                <p:oleObj name="Equation" r:id="rId14" imgW="634680" imgH="40608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4919663"/>
                        <a:ext cx="1282700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7" name="Text Box 37"/>
          <p:cNvSpPr txBox="1">
            <a:spLocks noChangeArrowheads="1"/>
          </p:cNvSpPr>
          <p:nvPr/>
        </p:nvSpPr>
        <p:spPr bwMode="auto">
          <a:xfrm>
            <a:off x="3708400" y="5084763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阻性</a:t>
            </a:r>
          </a:p>
        </p:txBody>
      </p:sp>
      <p:graphicFrame>
        <p:nvGraphicFramePr>
          <p:cNvPr id="378918" name="Object 38"/>
          <p:cNvGraphicFramePr>
            <a:graphicFrameLocks noChangeAspect="1"/>
          </p:cNvGraphicFramePr>
          <p:nvPr/>
        </p:nvGraphicFramePr>
        <p:xfrm>
          <a:off x="5308600" y="1965325"/>
          <a:ext cx="2819400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3" name="Equation" r:id="rId16" imgW="1409400" imgH="647640" progId="Equation.3">
                  <p:embed/>
                </p:oleObj>
              </mc:Choice>
              <mc:Fallback>
                <p:oleObj name="Equation" r:id="rId16" imgW="1409400" imgH="64764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600" y="1965325"/>
                        <a:ext cx="2819400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8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7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8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78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7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3" grpId="0" autoUpdateAnimBg="0"/>
      <p:bldP spid="378914" grpId="0" autoUpdateAnimBg="0"/>
      <p:bldP spid="378915" grpId="0" autoUpdateAnimBg="0"/>
      <p:bldP spid="37891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1" name="Text Box 3"/>
          <p:cNvSpPr txBox="1">
            <a:spLocks noChangeArrowheads="1"/>
          </p:cNvSpPr>
          <p:nvPr/>
        </p:nvSpPr>
        <p:spPr bwMode="auto">
          <a:xfrm>
            <a:off x="323850" y="333375"/>
            <a:ext cx="202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二、串联谐振</a:t>
            </a:r>
          </a:p>
        </p:txBody>
      </p:sp>
      <p:sp>
        <p:nvSpPr>
          <p:cNvPr id="380932" name="Text Box 4"/>
          <p:cNvSpPr txBox="1">
            <a:spLocks noChangeArrowheads="1"/>
          </p:cNvSpPr>
          <p:nvPr/>
        </p:nvSpPr>
        <p:spPr bwMode="auto">
          <a:xfrm>
            <a:off x="1123950" y="2324100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谐振时</a:t>
            </a:r>
          </a:p>
        </p:txBody>
      </p:sp>
      <p:sp>
        <p:nvSpPr>
          <p:cNvPr id="380933" name="Text Box 5"/>
          <p:cNvSpPr txBox="1">
            <a:spLocks noChangeArrowheads="1"/>
          </p:cNvSpPr>
          <p:nvPr/>
        </p:nvSpPr>
        <p:spPr bwMode="auto">
          <a:xfrm>
            <a:off x="730250" y="1568450"/>
            <a:ext cx="5076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(1)   </a:t>
            </a:r>
            <a:r>
              <a:rPr kumimoji="1"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LC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不变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改变 </a:t>
            </a:r>
            <a:r>
              <a:rPr kumimoji="1" lang="en-US" altLang="zh-CN" sz="2400" b="1" i="1">
                <a:solidFill>
                  <a:schemeClr val="accent2"/>
                </a:solidFill>
                <a:latin typeface="Symbol" panose="05050102010706020507" pitchFamily="18" charset="2"/>
              </a:rPr>
              <a:t>w , </a:t>
            </a: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使 </a:t>
            </a:r>
            <a:r>
              <a:rPr kumimoji="1"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=|</a:t>
            </a:r>
            <a:r>
              <a:rPr kumimoji="1"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rPr>
              <a:t>|</a:t>
            </a:r>
            <a:r>
              <a:rPr kumimoji="1"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80934" name="Rectangle 6"/>
          <p:cNvSpPr>
            <a:spLocks noChangeArrowheads="1"/>
          </p:cNvSpPr>
          <p:nvPr/>
        </p:nvSpPr>
        <p:spPr bwMode="auto">
          <a:xfrm>
            <a:off x="971550" y="5481228"/>
            <a:ext cx="633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67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电源频率不变，改变 </a:t>
            </a:r>
            <a:r>
              <a:rPr kumimoji="1"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L 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或 </a:t>
            </a:r>
            <a:r>
              <a:rPr kumimoji="1"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C 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 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常改变</a:t>
            </a:r>
            <a:r>
              <a:rPr kumimoji="1"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C 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380935" name="Rectangle 7"/>
          <p:cNvSpPr>
            <a:spLocks noChangeArrowheads="1"/>
          </p:cNvSpPr>
          <p:nvPr/>
        </p:nvSpPr>
        <p:spPr bwMode="auto">
          <a:xfrm>
            <a:off x="2555875" y="3413125"/>
            <a:ext cx="5502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谐振角频率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resonant angular frequency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380936" name="Object 8"/>
          <p:cNvGraphicFramePr>
            <a:graphicFrameLocks noChangeAspect="1"/>
          </p:cNvGraphicFramePr>
          <p:nvPr/>
        </p:nvGraphicFramePr>
        <p:xfrm>
          <a:off x="982663" y="3270250"/>
          <a:ext cx="1354137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18" name="公式" r:id="rId4" imgW="723600" imgH="393480" progId="Equation.3">
                  <p:embed/>
                </p:oleObj>
              </mc:Choice>
              <mc:Fallback>
                <p:oleObj name="公式" r:id="rId4" imgW="72360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63" y="3270250"/>
                        <a:ext cx="1354137" cy="7350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00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0937" name="Object 9"/>
          <p:cNvGraphicFramePr>
            <a:graphicFrameLocks noChangeAspect="1"/>
          </p:cNvGraphicFramePr>
          <p:nvPr/>
        </p:nvGraphicFramePr>
        <p:xfrm>
          <a:off x="2495550" y="2106613"/>
          <a:ext cx="1590675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19" name="公式" r:id="rId6" imgW="787320" imgH="444240" progId="Equation.3">
                  <p:embed/>
                </p:oleObj>
              </mc:Choice>
              <mc:Fallback>
                <p:oleObj name="公式" r:id="rId6" imgW="787320" imgH="444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106613"/>
                        <a:ext cx="1590675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0938" name="Group 10"/>
          <p:cNvGrpSpPr>
            <a:grpSpLocks/>
          </p:cNvGrpSpPr>
          <p:nvPr/>
        </p:nvGrpSpPr>
        <p:grpSpPr bwMode="auto">
          <a:xfrm>
            <a:off x="6227763" y="404813"/>
            <a:ext cx="2708275" cy="2541587"/>
            <a:chOff x="364" y="1831"/>
            <a:chExt cx="1706" cy="1601"/>
          </a:xfrm>
        </p:grpSpPr>
        <p:grpSp>
          <p:nvGrpSpPr>
            <p:cNvPr id="380939" name="Group 11"/>
            <p:cNvGrpSpPr>
              <a:grpSpLocks/>
            </p:cNvGrpSpPr>
            <p:nvPr/>
          </p:nvGrpSpPr>
          <p:grpSpPr bwMode="auto">
            <a:xfrm>
              <a:off x="1356" y="3126"/>
              <a:ext cx="258" cy="91"/>
              <a:chOff x="1351" y="3976"/>
              <a:chExt cx="174" cy="93"/>
            </a:xfrm>
          </p:grpSpPr>
          <p:sp>
            <p:nvSpPr>
              <p:cNvPr id="380940" name="Line 12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0941" name="Line 13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0942" name="Line 14"/>
            <p:cNvSpPr>
              <a:spLocks noChangeShapeType="1"/>
            </p:cNvSpPr>
            <p:nvPr/>
          </p:nvSpPr>
          <p:spPr bwMode="auto">
            <a:xfrm>
              <a:off x="1487" y="2928"/>
              <a:ext cx="1" cy="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943" name="Line 15"/>
            <p:cNvSpPr>
              <a:spLocks noChangeShapeType="1"/>
            </p:cNvSpPr>
            <p:nvPr/>
          </p:nvSpPr>
          <p:spPr bwMode="auto">
            <a:xfrm>
              <a:off x="1488" y="321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944" name="Line 16"/>
            <p:cNvSpPr>
              <a:spLocks noChangeShapeType="1"/>
            </p:cNvSpPr>
            <p:nvPr/>
          </p:nvSpPr>
          <p:spPr bwMode="auto">
            <a:xfrm>
              <a:off x="516" y="3402"/>
              <a:ext cx="9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945" name="Line 17"/>
            <p:cNvSpPr>
              <a:spLocks noChangeShapeType="1"/>
            </p:cNvSpPr>
            <p:nvPr/>
          </p:nvSpPr>
          <p:spPr bwMode="auto">
            <a:xfrm>
              <a:off x="516" y="2358"/>
              <a:ext cx="3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946" name="Line 18"/>
            <p:cNvSpPr>
              <a:spLocks noChangeShapeType="1"/>
            </p:cNvSpPr>
            <p:nvPr/>
          </p:nvSpPr>
          <p:spPr bwMode="auto">
            <a:xfrm flipV="1">
              <a:off x="1488" y="2352"/>
              <a:ext cx="0" cy="1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80947" name="Object 19"/>
            <p:cNvGraphicFramePr>
              <a:graphicFrameLocks noChangeAspect="1"/>
            </p:cNvGraphicFramePr>
            <p:nvPr/>
          </p:nvGraphicFramePr>
          <p:xfrm>
            <a:off x="516" y="1831"/>
            <a:ext cx="159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20" name="公式" r:id="rId8" imgW="126720" imgH="330120" progId="Equation.3">
                    <p:embed/>
                  </p:oleObj>
                </mc:Choice>
                <mc:Fallback>
                  <p:oleObj name="公式" r:id="rId8" imgW="126720" imgH="33012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" y="1831"/>
                          <a:ext cx="159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0948" name="Text Box 20"/>
            <p:cNvSpPr txBox="1">
              <a:spLocks noChangeArrowheads="1"/>
            </p:cNvSpPr>
            <p:nvPr/>
          </p:nvSpPr>
          <p:spPr bwMode="auto">
            <a:xfrm>
              <a:off x="888" y="202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80949" name="Text Box 21"/>
            <p:cNvSpPr txBox="1">
              <a:spLocks noChangeArrowheads="1"/>
            </p:cNvSpPr>
            <p:nvPr/>
          </p:nvSpPr>
          <p:spPr bwMode="auto">
            <a:xfrm>
              <a:off x="1584" y="2550"/>
              <a:ext cx="4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j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380950" name="Line 22"/>
            <p:cNvSpPr>
              <a:spLocks noChangeShapeType="1"/>
            </p:cNvSpPr>
            <p:nvPr/>
          </p:nvSpPr>
          <p:spPr bwMode="auto">
            <a:xfrm>
              <a:off x="1152" y="2352"/>
              <a:ext cx="336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951" name="Line 23"/>
            <p:cNvSpPr>
              <a:spLocks noChangeShapeType="1"/>
            </p:cNvSpPr>
            <p:nvPr/>
          </p:nvSpPr>
          <p:spPr bwMode="auto">
            <a:xfrm>
              <a:off x="480" y="2264"/>
              <a:ext cx="28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952" name="Text Box 24"/>
            <p:cNvSpPr txBox="1">
              <a:spLocks noChangeArrowheads="1"/>
            </p:cNvSpPr>
            <p:nvPr/>
          </p:nvSpPr>
          <p:spPr bwMode="auto">
            <a:xfrm>
              <a:off x="374" y="237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80953" name="Text Box 25"/>
            <p:cNvSpPr txBox="1">
              <a:spLocks noChangeArrowheads="1"/>
            </p:cNvSpPr>
            <p:nvPr/>
          </p:nvSpPr>
          <p:spPr bwMode="auto">
            <a:xfrm>
              <a:off x="364" y="299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grpSp>
          <p:nvGrpSpPr>
            <p:cNvPr id="380954" name="Group 26"/>
            <p:cNvGrpSpPr>
              <a:grpSpLocks/>
            </p:cNvGrpSpPr>
            <p:nvPr/>
          </p:nvGrpSpPr>
          <p:grpSpPr bwMode="auto">
            <a:xfrm rot="5400000">
              <a:off x="1327" y="2711"/>
              <a:ext cx="379" cy="57"/>
              <a:chOff x="1200" y="1584"/>
              <a:chExt cx="379" cy="45"/>
            </a:xfrm>
          </p:grpSpPr>
          <p:sp>
            <p:nvSpPr>
              <p:cNvPr id="380955" name="Arc 27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956" name="Arc 28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957" name="Arc 29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958" name="Arc 30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80959" name="Oval 31"/>
            <p:cNvSpPr>
              <a:spLocks noChangeArrowheads="1"/>
            </p:cNvSpPr>
            <p:nvPr/>
          </p:nvSpPr>
          <p:spPr bwMode="auto">
            <a:xfrm>
              <a:off x="468" y="3372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960" name="Oval 32"/>
            <p:cNvSpPr>
              <a:spLocks noChangeArrowheads="1"/>
            </p:cNvSpPr>
            <p:nvPr/>
          </p:nvSpPr>
          <p:spPr bwMode="auto">
            <a:xfrm>
              <a:off x="468" y="232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961" name="Rectangle 33"/>
            <p:cNvSpPr>
              <a:spLocks noChangeArrowheads="1"/>
            </p:cNvSpPr>
            <p:nvPr/>
          </p:nvSpPr>
          <p:spPr bwMode="auto">
            <a:xfrm>
              <a:off x="864" y="2306"/>
              <a:ext cx="295" cy="113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80962" name="Object 34"/>
            <p:cNvGraphicFramePr>
              <a:graphicFrameLocks noChangeAspect="1"/>
            </p:cNvGraphicFramePr>
            <p:nvPr/>
          </p:nvGraphicFramePr>
          <p:xfrm>
            <a:off x="1622" y="2908"/>
            <a:ext cx="448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21" name="公式" r:id="rId10" imgW="368280" imgH="431640" progId="Equation.3">
                    <p:embed/>
                  </p:oleObj>
                </mc:Choice>
                <mc:Fallback>
                  <p:oleObj name="公式" r:id="rId10" imgW="368280" imgH="43164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2" y="2908"/>
                          <a:ext cx="448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0963" name="Object 35"/>
            <p:cNvGraphicFramePr>
              <a:graphicFrameLocks noChangeAspect="1"/>
            </p:cNvGraphicFramePr>
            <p:nvPr/>
          </p:nvGraphicFramePr>
          <p:xfrm>
            <a:off x="380" y="2610"/>
            <a:ext cx="207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022" name="公式" r:id="rId12" imgW="164880" imgH="342720" progId="Equation.3">
                    <p:embed/>
                  </p:oleObj>
                </mc:Choice>
                <mc:Fallback>
                  <p:oleObj name="公式" r:id="rId12" imgW="164880" imgH="34272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" y="2610"/>
                          <a:ext cx="207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0964" name="Object 36"/>
          <p:cNvGraphicFramePr>
            <a:graphicFrameLocks noChangeAspect="1"/>
          </p:cNvGraphicFramePr>
          <p:nvPr/>
        </p:nvGraphicFramePr>
        <p:xfrm>
          <a:off x="971550" y="4265613"/>
          <a:ext cx="10668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23" name="Equation" r:id="rId14" imgW="482400" imgH="228600" progId="Equation.3">
                  <p:embed/>
                </p:oleObj>
              </mc:Choice>
              <mc:Fallback>
                <p:oleObj name="Equation" r:id="rId14" imgW="482400" imgH="2286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265613"/>
                        <a:ext cx="1066800" cy="5032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00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0965" name="Rectangle 37"/>
          <p:cNvSpPr>
            <a:spLocks noChangeArrowheads="1"/>
          </p:cNvSpPr>
          <p:nvPr/>
        </p:nvSpPr>
        <p:spPr bwMode="auto">
          <a:xfrm>
            <a:off x="2566988" y="4287838"/>
            <a:ext cx="1716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谐振时阻抗</a:t>
            </a:r>
          </a:p>
        </p:txBody>
      </p:sp>
      <p:sp>
        <p:nvSpPr>
          <p:cNvPr id="380967" name="Rectangle 39"/>
          <p:cNvSpPr>
            <a:spLocks noChangeArrowheads="1"/>
          </p:cNvSpPr>
          <p:nvPr/>
        </p:nvSpPr>
        <p:spPr bwMode="auto">
          <a:xfrm>
            <a:off x="611188" y="908050"/>
            <a:ext cx="1747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00FF"/>
                </a:solidFill>
              </a:rPr>
              <a:t>1. </a:t>
            </a:r>
            <a:r>
              <a:rPr lang="zh-CN" altLang="en-US" sz="2400" b="1">
                <a:solidFill>
                  <a:srgbClr val="0000FF"/>
                </a:solidFill>
              </a:rPr>
              <a:t>谐振条件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0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0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0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0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0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0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0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809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2" grpId="0" build="p" autoUpdateAnimBg="0"/>
      <p:bldP spid="380933" grpId="0" build="p" autoUpdateAnimBg="0"/>
      <p:bldP spid="380934" grpId="0" build="p" autoUpdateAnimBg="0"/>
      <p:bldP spid="380935" grpId="0" build="p" autoUpdateAnimBg="0"/>
      <p:bldP spid="38096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Text Box 2"/>
          <p:cNvSpPr txBox="1">
            <a:spLocks noChangeArrowheads="1"/>
          </p:cNvSpPr>
          <p:nvPr/>
        </p:nvSpPr>
        <p:spPr bwMode="auto">
          <a:xfrm>
            <a:off x="468313" y="455613"/>
            <a:ext cx="3917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2.  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串联谐振时的电压和电流</a:t>
            </a:r>
          </a:p>
        </p:txBody>
      </p:sp>
      <p:graphicFrame>
        <p:nvGraphicFramePr>
          <p:cNvPr id="382979" name="Object 3"/>
          <p:cNvGraphicFramePr>
            <a:graphicFrameLocks noChangeAspect="1"/>
          </p:cNvGraphicFramePr>
          <p:nvPr/>
        </p:nvGraphicFramePr>
        <p:xfrm>
          <a:off x="1058863" y="1090613"/>
          <a:ext cx="2386012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165" name="公式" r:id="rId4" imgW="901440" imgH="241200" progId="Equation.3">
                  <p:embed/>
                </p:oleObj>
              </mc:Choice>
              <mc:Fallback>
                <p:oleObj name="公式" r:id="rId4" imgW="901440" imgH="24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1090613"/>
                        <a:ext cx="2386012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0" name="Object 4"/>
          <p:cNvGraphicFramePr>
            <a:graphicFrameLocks noChangeAspect="1"/>
          </p:cNvGraphicFramePr>
          <p:nvPr/>
        </p:nvGraphicFramePr>
        <p:xfrm>
          <a:off x="1042988" y="2711450"/>
          <a:ext cx="409892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166" name="Equation" r:id="rId6" imgW="1663560" imgH="444240" progId="Equation.3">
                  <p:embed/>
                </p:oleObj>
              </mc:Choice>
              <mc:Fallback>
                <p:oleObj name="Equation" r:id="rId6" imgW="166356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711450"/>
                        <a:ext cx="4098925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1" name="Object 5"/>
          <p:cNvGraphicFramePr>
            <a:graphicFrameLocks noChangeAspect="1"/>
          </p:cNvGraphicFramePr>
          <p:nvPr/>
        </p:nvGraphicFramePr>
        <p:xfrm>
          <a:off x="1042988" y="1751013"/>
          <a:ext cx="34528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167" name="Equation" r:id="rId8" imgW="1498320" imgH="406080" progId="Equation.3">
                  <p:embed/>
                </p:oleObj>
              </mc:Choice>
              <mc:Fallback>
                <p:oleObj name="Equation" r:id="rId8" imgW="1498320" imgH="406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751013"/>
                        <a:ext cx="3452812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2982" name="Group 6"/>
          <p:cNvGrpSpPr>
            <a:grpSpLocks/>
          </p:cNvGrpSpPr>
          <p:nvPr/>
        </p:nvGrpSpPr>
        <p:grpSpPr bwMode="auto">
          <a:xfrm>
            <a:off x="6084888" y="2781300"/>
            <a:ext cx="2476500" cy="3114675"/>
            <a:chOff x="3738" y="336"/>
            <a:chExt cx="1560" cy="1962"/>
          </a:xfrm>
        </p:grpSpPr>
        <p:grpSp>
          <p:nvGrpSpPr>
            <p:cNvPr id="382983" name="Group 7"/>
            <p:cNvGrpSpPr>
              <a:grpSpLocks/>
            </p:cNvGrpSpPr>
            <p:nvPr/>
          </p:nvGrpSpPr>
          <p:grpSpPr bwMode="auto">
            <a:xfrm>
              <a:off x="3936" y="336"/>
              <a:ext cx="996" cy="1645"/>
              <a:chOff x="3626" y="299"/>
              <a:chExt cx="996" cy="1645"/>
            </a:xfrm>
          </p:grpSpPr>
          <p:sp>
            <p:nvSpPr>
              <p:cNvPr id="382984" name="Line 8"/>
              <p:cNvSpPr>
                <a:spLocks noChangeShapeType="1"/>
              </p:cNvSpPr>
              <p:nvPr/>
            </p:nvSpPr>
            <p:spPr bwMode="auto">
              <a:xfrm>
                <a:off x="3924" y="1140"/>
                <a:ext cx="696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2985" name="Line 9"/>
              <p:cNvSpPr>
                <a:spLocks noChangeShapeType="1"/>
              </p:cNvSpPr>
              <p:nvPr/>
            </p:nvSpPr>
            <p:spPr bwMode="auto">
              <a:xfrm>
                <a:off x="3924" y="1140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2986" name="Line 10"/>
              <p:cNvSpPr>
                <a:spLocks noChangeShapeType="1"/>
              </p:cNvSpPr>
              <p:nvPr/>
            </p:nvSpPr>
            <p:spPr bwMode="auto">
              <a:xfrm flipV="1">
                <a:off x="3924" y="420"/>
                <a:ext cx="0" cy="79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2987" name="Line 11"/>
              <p:cNvSpPr>
                <a:spLocks noChangeShapeType="1"/>
              </p:cNvSpPr>
              <p:nvPr/>
            </p:nvSpPr>
            <p:spPr bwMode="auto">
              <a:xfrm>
                <a:off x="3924" y="1140"/>
                <a:ext cx="0" cy="79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82988" name="Object 12"/>
              <p:cNvGraphicFramePr>
                <a:graphicFrameLocks noChangeAspect="1"/>
              </p:cNvGraphicFramePr>
              <p:nvPr/>
            </p:nvGraphicFramePr>
            <p:xfrm>
              <a:off x="3643" y="299"/>
              <a:ext cx="289" cy="4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3168" name="公式" r:id="rId10" imgW="215640" imgH="304560" progId="Equation.3">
                      <p:embed/>
                    </p:oleObj>
                  </mc:Choice>
                  <mc:Fallback>
                    <p:oleObj name="公式" r:id="rId10" imgW="215640" imgH="30456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3" y="299"/>
                            <a:ext cx="289" cy="4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2989" name="Object 13"/>
              <p:cNvGraphicFramePr>
                <a:graphicFrameLocks noChangeAspect="1"/>
              </p:cNvGraphicFramePr>
              <p:nvPr/>
            </p:nvGraphicFramePr>
            <p:xfrm>
              <a:off x="3626" y="1534"/>
              <a:ext cx="272" cy="4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3169" name="公式" r:id="rId12" imgW="203040" imgH="304560" progId="Equation.3">
                      <p:embed/>
                    </p:oleObj>
                  </mc:Choice>
                  <mc:Fallback>
                    <p:oleObj name="公式" r:id="rId12" imgW="203040" imgH="30456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26" y="1534"/>
                            <a:ext cx="272" cy="4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2990" name="Object 14"/>
              <p:cNvGraphicFramePr>
                <a:graphicFrameLocks noChangeAspect="1"/>
              </p:cNvGraphicFramePr>
              <p:nvPr/>
            </p:nvGraphicFramePr>
            <p:xfrm>
              <a:off x="4013" y="1094"/>
              <a:ext cx="308" cy="4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3170" name="公式" r:id="rId14" imgW="228600" imgH="304560" progId="Equation.3">
                      <p:embed/>
                    </p:oleObj>
                  </mc:Choice>
                  <mc:Fallback>
                    <p:oleObj name="公式" r:id="rId14" imgW="228600" imgH="304560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13" y="1094"/>
                            <a:ext cx="308" cy="4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2991" name="Object 15"/>
              <p:cNvGraphicFramePr>
                <a:graphicFrameLocks noChangeAspect="1"/>
              </p:cNvGraphicFramePr>
              <p:nvPr/>
            </p:nvGraphicFramePr>
            <p:xfrm>
              <a:off x="4453" y="1094"/>
              <a:ext cx="169" cy="3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3171" name="公式" r:id="rId16" imgW="126720" imgH="266400" progId="Equation.3">
                      <p:embed/>
                    </p:oleObj>
                  </mc:Choice>
                  <mc:Fallback>
                    <p:oleObj name="公式" r:id="rId16" imgW="126720" imgH="266400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3" y="1094"/>
                            <a:ext cx="169" cy="3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82992" name="Text Box 16"/>
            <p:cNvSpPr txBox="1">
              <a:spLocks noChangeArrowheads="1"/>
            </p:cNvSpPr>
            <p:nvPr/>
          </p:nvSpPr>
          <p:spPr bwMode="auto">
            <a:xfrm>
              <a:off x="3738" y="2010"/>
              <a:ext cx="1560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prst="shdw17" dist="17961" dir="2700000">
                <a:srgbClr val="FFFF00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 eaLnBrk="0" hangingPunct="0"/>
              <a:r>
                <a:rPr kumimoji="1" lang="zh-CN" altLang="en-US" sz="2400" b="1">
                  <a:latin typeface="Times New Roman" panose="02020603050405020304" pitchFamily="18" charset="0"/>
                </a:rPr>
                <a:t>谐振时的相量图</a:t>
              </a:r>
            </a:p>
          </p:txBody>
        </p:sp>
      </p:grpSp>
      <p:sp>
        <p:nvSpPr>
          <p:cNvPr id="382993" name="Rectangle 17"/>
          <p:cNvSpPr>
            <a:spLocks noChangeArrowheads="1"/>
          </p:cNvSpPr>
          <p:nvPr/>
        </p:nvSpPr>
        <p:spPr bwMode="auto">
          <a:xfrm>
            <a:off x="1087438" y="4706938"/>
            <a:ext cx="37560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串联谐振又称</a:t>
            </a:r>
            <a:r>
              <a:rPr kumimoji="1" lang="zh-CN" altLang="en-US" sz="2800" b="1" u="sng">
                <a:solidFill>
                  <a:srgbClr val="FF3300"/>
                </a:solidFill>
                <a:latin typeface="Times New Roman" panose="02020603050405020304" pitchFamily="18" charset="0"/>
              </a:rPr>
              <a:t>电压谐振</a:t>
            </a: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382994" name="Text Box 18"/>
          <p:cNvSpPr txBox="1">
            <a:spLocks noChangeArrowheads="1"/>
          </p:cNvSpPr>
          <p:nvPr/>
        </p:nvSpPr>
        <p:spPr bwMode="auto">
          <a:xfrm>
            <a:off x="4730750" y="29305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</a:pPr>
            <a:endParaRPr kumimoji="1" lang="zh-CN" altLang="zh-CN" sz="2400" b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382995" name="Group 19"/>
          <p:cNvGrpSpPr>
            <a:grpSpLocks/>
          </p:cNvGrpSpPr>
          <p:nvPr/>
        </p:nvGrpSpPr>
        <p:grpSpPr bwMode="auto">
          <a:xfrm>
            <a:off x="6116638" y="0"/>
            <a:ext cx="2733675" cy="2633663"/>
            <a:chOff x="3853" y="0"/>
            <a:chExt cx="1722" cy="1659"/>
          </a:xfrm>
        </p:grpSpPr>
        <p:grpSp>
          <p:nvGrpSpPr>
            <p:cNvPr id="382996" name="Group 20"/>
            <p:cNvGrpSpPr>
              <a:grpSpLocks/>
            </p:cNvGrpSpPr>
            <p:nvPr/>
          </p:nvGrpSpPr>
          <p:grpSpPr bwMode="auto">
            <a:xfrm>
              <a:off x="3853" y="0"/>
              <a:ext cx="1722" cy="1601"/>
              <a:chOff x="348" y="1831"/>
              <a:chExt cx="1722" cy="1601"/>
            </a:xfrm>
          </p:grpSpPr>
          <p:grpSp>
            <p:nvGrpSpPr>
              <p:cNvPr id="382997" name="Group 21"/>
              <p:cNvGrpSpPr>
                <a:grpSpLocks/>
              </p:cNvGrpSpPr>
              <p:nvPr/>
            </p:nvGrpSpPr>
            <p:grpSpPr bwMode="auto">
              <a:xfrm>
                <a:off x="1356" y="3126"/>
                <a:ext cx="258" cy="91"/>
                <a:chOff x="1351" y="3976"/>
                <a:chExt cx="174" cy="93"/>
              </a:xfrm>
            </p:grpSpPr>
            <p:sp>
              <p:nvSpPr>
                <p:cNvPr id="382998" name="Line 22"/>
                <p:cNvSpPr>
                  <a:spLocks noChangeShapeType="1"/>
                </p:cNvSpPr>
                <p:nvPr/>
              </p:nvSpPr>
              <p:spPr bwMode="auto">
                <a:xfrm>
                  <a:off x="1351" y="3976"/>
                  <a:ext cx="174" cy="1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2999" name="Line 23"/>
                <p:cNvSpPr>
                  <a:spLocks noChangeShapeType="1"/>
                </p:cNvSpPr>
                <p:nvPr/>
              </p:nvSpPr>
              <p:spPr bwMode="auto">
                <a:xfrm>
                  <a:off x="1351" y="4068"/>
                  <a:ext cx="174" cy="1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3000" name="Line 24"/>
              <p:cNvSpPr>
                <a:spLocks noChangeShapeType="1"/>
              </p:cNvSpPr>
              <p:nvPr/>
            </p:nvSpPr>
            <p:spPr bwMode="auto">
              <a:xfrm>
                <a:off x="1487" y="2928"/>
                <a:ext cx="1" cy="2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3001" name="Line 25"/>
              <p:cNvSpPr>
                <a:spLocks noChangeShapeType="1"/>
              </p:cNvSpPr>
              <p:nvPr/>
            </p:nvSpPr>
            <p:spPr bwMode="auto">
              <a:xfrm>
                <a:off x="1488" y="3216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3002" name="Line 26"/>
              <p:cNvSpPr>
                <a:spLocks noChangeShapeType="1"/>
              </p:cNvSpPr>
              <p:nvPr/>
            </p:nvSpPr>
            <p:spPr bwMode="auto">
              <a:xfrm>
                <a:off x="516" y="3402"/>
                <a:ext cx="9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3003" name="Line 27"/>
              <p:cNvSpPr>
                <a:spLocks noChangeShapeType="1"/>
              </p:cNvSpPr>
              <p:nvPr/>
            </p:nvSpPr>
            <p:spPr bwMode="auto">
              <a:xfrm>
                <a:off x="516" y="2358"/>
                <a:ext cx="3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3004" name="Line 28"/>
              <p:cNvSpPr>
                <a:spLocks noChangeShapeType="1"/>
              </p:cNvSpPr>
              <p:nvPr/>
            </p:nvSpPr>
            <p:spPr bwMode="auto">
              <a:xfrm flipV="1">
                <a:off x="1488" y="2352"/>
                <a:ext cx="0" cy="19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83005" name="Object 29"/>
              <p:cNvGraphicFramePr>
                <a:graphicFrameLocks noChangeAspect="1"/>
              </p:cNvGraphicFramePr>
              <p:nvPr/>
            </p:nvGraphicFramePr>
            <p:xfrm>
              <a:off x="516" y="1831"/>
              <a:ext cx="159" cy="4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3172" name="公式" r:id="rId18" imgW="126720" imgH="330120" progId="Equation.3">
                      <p:embed/>
                    </p:oleObj>
                  </mc:Choice>
                  <mc:Fallback>
                    <p:oleObj name="公式" r:id="rId18" imgW="126720" imgH="330120" progId="Equation.3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6" y="1831"/>
                            <a:ext cx="159" cy="4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3006" name="Text Box 30"/>
              <p:cNvSpPr txBox="1">
                <a:spLocks noChangeArrowheads="1"/>
              </p:cNvSpPr>
              <p:nvPr/>
            </p:nvSpPr>
            <p:spPr bwMode="auto">
              <a:xfrm>
                <a:off x="888" y="2022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>
                  <a:spcBef>
                    <a:spcPct val="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383007" name="Text Box 31"/>
              <p:cNvSpPr txBox="1">
                <a:spLocks noChangeArrowheads="1"/>
              </p:cNvSpPr>
              <p:nvPr/>
            </p:nvSpPr>
            <p:spPr bwMode="auto">
              <a:xfrm>
                <a:off x="1584" y="2550"/>
                <a:ext cx="47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>
                  <a:spcBef>
                    <a:spcPct val="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j</a:t>
                </a:r>
                <a:r>
                  <a:rPr kumimoji="1"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 </a:t>
                </a: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383008" name="Line 32"/>
              <p:cNvSpPr>
                <a:spLocks noChangeShapeType="1"/>
              </p:cNvSpPr>
              <p:nvPr/>
            </p:nvSpPr>
            <p:spPr bwMode="auto">
              <a:xfrm>
                <a:off x="1152" y="2352"/>
                <a:ext cx="336" cy="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3009" name="Line 33"/>
              <p:cNvSpPr>
                <a:spLocks noChangeShapeType="1"/>
              </p:cNvSpPr>
              <p:nvPr/>
            </p:nvSpPr>
            <p:spPr bwMode="auto">
              <a:xfrm>
                <a:off x="480" y="2264"/>
                <a:ext cx="288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3010" name="Text Box 34"/>
              <p:cNvSpPr txBox="1">
                <a:spLocks noChangeArrowheads="1"/>
              </p:cNvSpPr>
              <p:nvPr/>
            </p:nvSpPr>
            <p:spPr bwMode="auto">
              <a:xfrm>
                <a:off x="374" y="2376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>
                  <a:spcBef>
                    <a:spcPct val="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383011" name="Text Box 35"/>
              <p:cNvSpPr txBox="1">
                <a:spLocks noChangeArrowheads="1"/>
              </p:cNvSpPr>
              <p:nvPr/>
            </p:nvSpPr>
            <p:spPr bwMode="auto">
              <a:xfrm>
                <a:off x="364" y="299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>
                  <a:spcBef>
                    <a:spcPct val="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_</a:t>
                </a:r>
              </a:p>
            </p:txBody>
          </p:sp>
          <p:grpSp>
            <p:nvGrpSpPr>
              <p:cNvPr id="383012" name="Group 36"/>
              <p:cNvGrpSpPr>
                <a:grpSpLocks/>
              </p:cNvGrpSpPr>
              <p:nvPr/>
            </p:nvGrpSpPr>
            <p:grpSpPr bwMode="auto">
              <a:xfrm rot="5400000">
                <a:off x="1327" y="2711"/>
                <a:ext cx="379" cy="57"/>
                <a:chOff x="1200" y="1584"/>
                <a:chExt cx="379" cy="45"/>
              </a:xfrm>
            </p:grpSpPr>
            <p:sp>
              <p:nvSpPr>
                <p:cNvPr id="383013" name="Arc 37"/>
                <p:cNvSpPr>
                  <a:spLocks/>
                </p:cNvSpPr>
                <p:nvPr/>
              </p:nvSpPr>
              <p:spPr bwMode="auto">
                <a:xfrm rot="5400000" flipH="1" flipV="1">
                  <a:off x="1223" y="1561"/>
                  <a:ext cx="45" cy="91"/>
                </a:xfrm>
                <a:custGeom>
                  <a:avLst/>
                  <a:gdLst>
                    <a:gd name="G0" fmla="+- 1123 0 0"/>
                    <a:gd name="G1" fmla="+- 21600 0 0"/>
                    <a:gd name="G2" fmla="+- 21600 0 0"/>
                    <a:gd name="T0" fmla="*/ 1123 w 22723"/>
                    <a:gd name="T1" fmla="*/ 0 h 43200"/>
                    <a:gd name="T2" fmla="*/ 0 w 22723"/>
                    <a:gd name="T3" fmla="*/ 43171 h 43200"/>
                    <a:gd name="T4" fmla="*/ 1123 w 22723"/>
                    <a:gd name="T5" fmla="*/ 21600 h 43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723" h="43200" fill="none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</a:path>
                    <a:path w="22723" h="43200" stroke="0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  <a:lnTo>
                        <a:pt x="1123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3014" name="Arc 38"/>
                <p:cNvSpPr>
                  <a:spLocks/>
                </p:cNvSpPr>
                <p:nvPr/>
              </p:nvSpPr>
              <p:spPr bwMode="auto">
                <a:xfrm rot="5400000" flipH="1" flipV="1">
                  <a:off x="1319" y="1561"/>
                  <a:ext cx="45" cy="91"/>
                </a:xfrm>
                <a:custGeom>
                  <a:avLst/>
                  <a:gdLst>
                    <a:gd name="G0" fmla="+- 1123 0 0"/>
                    <a:gd name="G1" fmla="+- 21600 0 0"/>
                    <a:gd name="G2" fmla="+- 21600 0 0"/>
                    <a:gd name="T0" fmla="*/ 1123 w 22723"/>
                    <a:gd name="T1" fmla="*/ 0 h 43200"/>
                    <a:gd name="T2" fmla="*/ 0 w 22723"/>
                    <a:gd name="T3" fmla="*/ 43171 h 43200"/>
                    <a:gd name="T4" fmla="*/ 1123 w 22723"/>
                    <a:gd name="T5" fmla="*/ 21600 h 43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723" h="43200" fill="none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</a:path>
                    <a:path w="22723" h="43200" stroke="0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  <a:lnTo>
                        <a:pt x="1123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3015" name="Arc 39"/>
                <p:cNvSpPr>
                  <a:spLocks/>
                </p:cNvSpPr>
                <p:nvPr/>
              </p:nvSpPr>
              <p:spPr bwMode="auto">
                <a:xfrm rot="5400000" flipH="1" flipV="1">
                  <a:off x="1415" y="1561"/>
                  <a:ext cx="45" cy="91"/>
                </a:xfrm>
                <a:custGeom>
                  <a:avLst/>
                  <a:gdLst>
                    <a:gd name="G0" fmla="+- 1123 0 0"/>
                    <a:gd name="G1" fmla="+- 21600 0 0"/>
                    <a:gd name="G2" fmla="+- 21600 0 0"/>
                    <a:gd name="T0" fmla="*/ 1123 w 22723"/>
                    <a:gd name="T1" fmla="*/ 0 h 43200"/>
                    <a:gd name="T2" fmla="*/ 0 w 22723"/>
                    <a:gd name="T3" fmla="*/ 43171 h 43200"/>
                    <a:gd name="T4" fmla="*/ 1123 w 22723"/>
                    <a:gd name="T5" fmla="*/ 21600 h 43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723" h="43200" fill="none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</a:path>
                    <a:path w="22723" h="43200" stroke="0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  <a:lnTo>
                        <a:pt x="1123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3016" name="Arc 40"/>
                <p:cNvSpPr>
                  <a:spLocks/>
                </p:cNvSpPr>
                <p:nvPr/>
              </p:nvSpPr>
              <p:spPr bwMode="auto">
                <a:xfrm rot="5400000" flipH="1" flipV="1">
                  <a:off x="1511" y="1561"/>
                  <a:ext cx="45" cy="91"/>
                </a:xfrm>
                <a:custGeom>
                  <a:avLst/>
                  <a:gdLst>
                    <a:gd name="G0" fmla="+- 1123 0 0"/>
                    <a:gd name="G1" fmla="+- 21600 0 0"/>
                    <a:gd name="G2" fmla="+- 21600 0 0"/>
                    <a:gd name="T0" fmla="*/ 1123 w 22723"/>
                    <a:gd name="T1" fmla="*/ 0 h 43200"/>
                    <a:gd name="T2" fmla="*/ 0 w 22723"/>
                    <a:gd name="T3" fmla="*/ 43171 h 43200"/>
                    <a:gd name="T4" fmla="*/ 1123 w 22723"/>
                    <a:gd name="T5" fmla="*/ 21600 h 43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723" h="43200" fill="none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</a:path>
                    <a:path w="22723" h="43200" stroke="0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  <a:lnTo>
                        <a:pt x="1123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83017" name="Oval 41"/>
              <p:cNvSpPr>
                <a:spLocks noChangeArrowheads="1"/>
              </p:cNvSpPr>
              <p:nvPr/>
            </p:nvSpPr>
            <p:spPr bwMode="auto">
              <a:xfrm>
                <a:off x="468" y="3372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3018" name="Oval 42"/>
              <p:cNvSpPr>
                <a:spLocks noChangeArrowheads="1"/>
              </p:cNvSpPr>
              <p:nvPr/>
            </p:nvSpPr>
            <p:spPr bwMode="auto">
              <a:xfrm>
                <a:off x="468" y="2328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3019" name="Rectangle 43"/>
              <p:cNvSpPr>
                <a:spLocks noChangeArrowheads="1"/>
              </p:cNvSpPr>
              <p:nvPr/>
            </p:nvSpPr>
            <p:spPr bwMode="auto">
              <a:xfrm>
                <a:off x="864" y="2306"/>
                <a:ext cx="295" cy="113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83020" name="Object 44"/>
              <p:cNvGraphicFramePr>
                <a:graphicFrameLocks noChangeAspect="1"/>
              </p:cNvGraphicFramePr>
              <p:nvPr/>
            </p:nvGraphicFramePr>
            <p:xfrm>
              <a:off x="1622" y="2908"/>
              <a:ext cx="448" cy="5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3173" name="公式" r:id="rId20" imgW="368280" imgH="431640" progId="Equation.3">
                      <p:embed/>
                    </p:oleObj>
                  </mc:Choice>
                  <mc:Fallback>
                    <p:oleObj name="公式" r:id="rId20" imgW="368280" imgH="431640" progId="Equation.3">
                      <p:embed/>
                      <p:pic>
                        <p:nvPicPr>
                          <p:cNvPr id="0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22" y="2908"/>
                            <a:ext cx="448" cy="5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3021" name="Object 45"/>
              <p:cNvGraphicFramePr>
                <a:graphicFrameLocks noChangeAspect="1"/>
              </p:cNvGraphicFramePr>
              <p:nvPr/>
            </p:nvGraphicFramePr>
            <p:xfrm>
              <a:off x="348" y="2674"/>
              <a:ext cx="271" cy="3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3174" name="公式" r:id="rId22" imgW="215640" imgH="241200" progId="Equation.3">
                      <p:embed/>
                    </p:oleObj>
                  </mc:Choice>
                  <mc:Fallback>
                    <p:oleObj name="公式" r:id="rId22" imgW="215640" imgH="241200" progId="Equation.3">
                      <p:embed/>
                      <p:pic>
                        <p:nvPicPr>
                          <p:cNvPr id="0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8" y="2674"/>
                            <a:ext cx="271" cy="3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83022" name="Group 46"/>
            <p:cNvGrpSpPr>
              <a:grpSpLocks/>
            </p:cNvGrpSpPr>
            <p:nvPr/>
          </p:nvGrpSpPr>
          <p:grpSpPr bwMode="auto">
            <a:xfrm>
              <a:off x="4729" y="602"/>
              <a:ext cx="274" cy="634"/>
              <a:chOff x="4633" y="602"/>
              <a:chExt cx="274" cy="634"/>
            </a:xfrm>
          </p:grpSpPr>
          <p:sp>
            <p:nvSpPr>
              <p:cNvPr id="383023" name="Text Box 47"/>
              <p:cNvSpPr txBox="1">
                <a:spLocks noChangeArrowheads="1"/>
              </p:cNvSpPr>
              <p:nvPr/>
            </p:nvSpPr>
            <p:spPr bwMode="auto">
              <a:xfrm>
                <a:off x="4633" y="602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>
                  <a:spcBef>
                    <a:spcPct val="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</a:p>
            </p:txBody>
          </p:sp>
          <p:sp>
            <p:nvSpPr>
              <p:cNvPr id="383024" name="Text Box 48"/>
              <p:cNvSpPr txBox="1">
                <a:spLocks noChangeArrowheads="1"/>
              </p:cNvSpPr>
              <p:nvPr/>
            </p:nvSpPr>
            <p:spPr bwMode="auto">
              <a:xfrm>
                <a:off x="4675" y="94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>
                  <a:spcBef>
                    <a:spcPct val="0"/>
                  </a:spcBef>
                </a:pPr>
                <a:r>
                  <a:rPr kumimoji="1"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-</a:t>
                </a:r>
              </a:p>
            </p:txBody>
          </p:sp>
          <p:graphicFrame>
            <p:nvGraphicFramePr>
              <p:cNvPr id="383025" name="Object 49"/>
              <p:cNvGraphicFramePr>
                <a:graphicFrameLocks noChangeAspect="1"/>
              </p:cNvGraphicFramePr>
              <p:nvPr/>
            </p:nvGraphicFramePr>
            <p:xfrm>
              <a:off x="4635" y="788"/>
              <a:ext cx="272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3175" name="公式" r:id="rId24" imgW="228600" imgH="228600" progId="Equation.3">
                      <p:embed/>
                    </p:oleObj>
                  </mc:Choice>
                  <mc:Fallback>
                    <p:oleObj name="公式" r:id="rId24" imgW="228600" imgH="228600" progId="Equation.3">
                      <p:embed/>
                      <p:pic>
                        <p:nvPicPr>
                          <p:cNvPr id="0" name="Object 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35" y="788"/>
                            <a:ext cx="272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83026" name="Group 50"/>
            <p:cNvGrpSpPr>
              <a:grpSpLocks/>
            </p:cNvGrpSpPr>
            <p:nvPr/>
          </p:nvGrpSpPr>
          <p:grpSpPr bwMode="auto">
            <a:xfrm>
              <a:off x="4656" y="1052"/>
              <a:ext cx="274" cy="607"/>
              <a:chOff x="4656" y="1052"/>
              <a:chExt cx="274" cy="607"/>
            </a:xfrm>
          </p:grpSpPr>
          <p:sp>
            <p:nvSpPr>
              <p:cNvPr id="383027" name="Text Box 51"/>
              <p:cNvSpPr txBox="1">
                <a:spLocks noChangeArrowheads="1"/>
              </p:cNvSpPr>
              <p:nvPr/>
            </p:nvSpPr>
            <p:spPr bwMode="auto">
              <a:xfrm>
                <a:off x="4656" y="1052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>
                  <a:spcBef>
                    <a:spcPct val="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</a:p>
            </p:txBody>
          </p:sp>
          <p:sp>
            <p:nvSpPr>
              <p:cNvPr id="383028" name="Text Box 52"/>
              <p:cNvSpPr txBox="1">
                <a:spLocks noChangeArrowheads="1"/>
              </p:cNvSpPr>
              <p:nvPr/>
            </p:nvSpPr>
            <p:spPr bwMode="auto">
              <a:xfrm>
                <a:off x="4662" y="1371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>
                  <a:spcBef>
                    <a:spcPct val="0"/>
                  </a:spcBef>
                </a:pPr>
                <a:r>
                  <a:rPr kumimoji="1"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-</a:t>
                </a:r>
              </a:p>
            </p:txBody>
          </p:sp>
          <p:graphicFrame>
            <p:nvGraphicFramePr>
              <p:cNvPr id="383029" name="Object 53"/>
              <p:cNvGraphicFramePr>
                <a:graphicFrameLocks noChangeAspect="1"/>
              </p:cNvGraphicFramePr>
              <p:nvPr/>
            </p:nvGraphicFramePr>
            <p:xfrm>
              <a:off x="4658" y="1232"/>
              <a:ext cx="272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3176" name="公式" r:id="rId26" imgW="228600" imgH="241200" progId="Equation.3">
                      <p:embed/>
                    </p:oleObj>
                  </mc:Choice>
                  <mc:Fallback>
                    <p:oleObj name="公式" r:id="rId26" imgW="228600" imgH="241200" progId="Equation.3">
                      <p:embed/>
                      <p:pic>
                        <p:nvPicPr>
                          <p:cNvPr id="0" name="Object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8" y="1232"/>
                            <a:ext cx="272" cy="2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83030" name="Text Box 54"/>
            <p:cNvSpPr txBox="1">
              <a:spLocks noChangeArrowheads="1"/>
            </p:cNvSpPr>
            <p:nvPr/>
          </p:nvSpPr>
          <p:spPr bwMode="auto">
            <a:xfrm>
              <a:off x="4171" y="482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383031" name="Text Box 55"/>
            <p:cNvSpPr txBox="1">
              <a:spLocks noChangeArrowheads="1"/>
            </p:cNvSpPr>
            <p:nvPr/>
          </p:nvSpPr>
          <p:spPr bwMode="auto">
            <a:xfrm>
              <a:off x="4615" y="47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-</a:t>
              </a:r>
            </a:p>
          </p:txBody>
        </p:sp>
        <p:graphicFrame>
          <p:nvGraphicFramePr>
            <p:cNvPr id="383032" name="Object 56"/>
            <p:cNvGraphicFramePr>
              <a:graphicFrameLocks noChangeAspect="1"/>
            </p:cNvGraphicFramePr>
            <p:nvPr/>
          </p:nvGraphicFramePr>
          <p:xfrm>
            <a:off x="4389" y="578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177" name="公式" r:id="rId28" imgW="228600" imgH="228600" progId="Equation.3">
                    <p:embed/>
                  </p:oleObj>
                </mc:Choice>
                <mc:Fallback>
                  <p:oleObj name="公式" r:id="rId28" imgW="228600" imgH="22860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9" y="578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3033" name="Oval 57"/>
          <p:cNvSpPr>
            <a:spLocks noChangeArrowheads="1"/>
          </p:cNvSpPr>
          <p:nvPr/>
        </p:nvSpPr>
        <p:spPr bwMode="auto">
          <a:xfrm>
            <a:off x="3303588" y="1711325"/>
            <a:ext cx="649287" cy="936625"/>
          </a:xfrm>
          <a:prstGeom prst="ellips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3034" name="Oval 58"/>
          <p:cNvSpPr>
            <a:spLocks noChangeArrowheads="1"/>
          </p:cNvSpPr>
          <p:nvPr/>
        </p:nvSpPr>
        <p:spPr bwMode="auto">
          <a:xfrm>
            <a:off x="3573463" y="2701925"/>
            <a:ext cx="1054100" cy="1152525"/>
          </a:xfrm>
          <a:prstGeom prst="ellips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83035" name="Object 59"/>
          <p:cNvGraphicFramePr>
            <a:graphicFrameLocks noChangeAspect="1"/>
          </p:cNvGraphicFramePr>
          <p:nvPr/>
        </p:nvGraphicFramePr>
        <p:xfrm>
          <a:off x="1447800" y="3986213"/>
          <a:ext cx="23844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178" name="公式" r:id="rId30" imgW="876240" imgH="253800" progId="Equation.3">
                  <p:embed/>
                </p:oleObj>
              </mc:Choice>
              <mc:Fallback>
                <p:oleObj name="公式" r:id="rId30" imgW="876240" imgH="25380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986213"/>
                        <a:ext cx="238442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2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2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3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3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82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8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8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9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5" name="Rectangle 7"/>
          <p:cNvSpPr>
            <a:spLocks noChangeArrowheads="1"/>
          </p:cNvSpPr>
          <p:nvPr/>
        </p:nvSpPr>
        <p:spPr bwMode="auto">
          <a:xfrm>
            <a:off x="117475" y="687388"/>
            <a:ext cx="4814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2. RLC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串联谐振电路 及其电气特点</a:t>
            </a:r>
          </a:p>
        </p:txBody>
      </p:sp>
      <p:graphicFrame>
        <p:nvGraphicFramePr>
          <p:cNvPr id="196616" name="Object 8"/>
          <p:cNvGraphicFramePr>
            <a:graphicFrameLocks noChangeAspect="1"/>
          </p:cNvGraphicFramePr>
          <p:nvPr/>
        </p:nvGraphicFramePr>
        <p:xfrm>
          <a:off x="5105400" y="723900"/>
          <a:ext cx="3813175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36" name="VISIO" r:id="rId3" imgW="1928388" imgH="819339" progId="Visio.Drawing.5">
                  <p:embed/>
                </p:oleObj>
              </mc:Choice>
              <mc:Fallback>
                <p:oleObj name="VISIO" r:id="rId3" imgW="1928388" imgH="819339" progId="Visio.Drawing.5">
                  <p:embed/>
                  <p:pic>
                    <p:nvPicPr>
                      <p:cNvPr id="1966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723900"/>
                        <a:ext cx="3813175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7" name="Object 9"/>
          <p:cNvGraphicFramePr>
            <a:graphicFrameLocks noChangeAspect="1"/>
          </p:cNvGraphicFramePr>
          <p:nvPr/>
        </p:nvGraphicFramePr>
        <p:xfrm>
          <a:off x="468313" y="1268413"/>
          <a:ext cx="25130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37" name="Equation" r:id="rId5" imgW="1256755" imgH="393529" progId="Equation.3">
                  <p:embed/>
                </p:oleObj>
              </mc:Choice>
              <mc:Fallback>
                <p:oleObj name="Equation" r:id="rId5" imgW="1256755" imgH="393529" progId="Equation.3">
                  <p:embed/>
                  <p:pic>
                    <p:nvPicPr>
                      <p:cNvPr id="1966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268413"/>
                        <a:ext cx="251301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8" name="Object 10"/>
          <p:cNvGraphicFramePr>
            <a:graphicFrameLocks noChangeAspect="1"/>
          </p:cNvGraphicFramePr>
          <p:nvPr/>
        </p:nvGraphicFramePr>
        <p:xfrm>
          <a:off x="457200" y="3657600"/>
          <a:ext cx="3251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38" name="Equation" r:id="rId7" imgW="1625600" imgH="241300" progId="Equation.3">
                  <p:embed/>
                </p:oleObj>
              </mc:Choice>
              <mc:Fallback>
                <p:oleObj name="Equation" r:id="rId7" imgW="1625600" imgH="241300" progId="Equation.3">
                  <p:embed/>
                  <p:pic>
                    <p:nvPicPr>
                      <p:cNvPr id="1966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657600"/>
                        <a:ext cx="3251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6619" name="Group 11"/>
          <p:cNvGrpSpPr>
            <a:grpSpLocks/>
          </p:cNvGrpSpPr>
          <p:nvPr/>
        </p:nvGrpSpPr>
        <p:grpSpPr bwMode="auto">
          <a:xfrm>
            <a:off x="468313" y="2060575"/>
            <a:ext cx="5049837" cy="838200"/>
            <a:chOff x="384" y="1344"/>
            <a:chExt cx="3181" cy="528"/>
          </a:xfrm>
        </p:grpSpPr>
        <p:graphicFrame>
          <p:nvGraphicFramePr>
            <p:cNvPr id="8213" name="Object 12"/>
            <p:cNvGraphicFramePr>
              <a:graphicFrameLocks noChangeAspect="1"/>
            </p:cNvGraphicFramePr>
            <p:nvPr/>
          </p:nvGraphicFramePr>
          <p:xfrm>
            <a:off x="384" y="1344"/>
            <a:ext cx="1183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639" name="Equation" r:id="rId9" imgW="939800" imgH="419100" progId="Equation.3">
                    <p:embed/>
                  </p:oleObj>
                </mc:Choice>
                <mc:Fallback>
                  <p:oleObj name="Equation" r:id="rId9" imgW="939800" imgH="419100" progId="Equation.3">
                    <p:embed/>
                    <p:pic>
                      <p:nvPicPr>
                        <p:cNvPr id="821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344"/>
                          <a:ext cx="1183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6621" name="Rectangle 13"/>
            <p:cNvSpPr>
              <a:spLocks noChangeArrowheads="1"/>
            </p:cNvSpPr>
            <p:nvPr/>
          </p:nvSpPr>
          <p:spPr bwMode="auto">
            <a:xfrm>
              <a:off x="1872" y="1437"/>
              <a:ext cx="16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Resonant frequency </a:t>
              </a:r>
            </a:p>
          </p:txBody>
        </p:sp>
      </p:grpSp>
      <p:sp>
        <p:nvSpPr>
          <p:cNvPr id="196622" name="Rectangle 14"/>
          <p:cNvSpPr>
            <a:spLocks noChangeArrowheads="1"/>
          </p:cNvSpPr>
          <p:nvPr/>
        </p:nvSpPr>
        <p:spPr bwMode="auto">
          <a:xfrm>
            <a:off x="136525" y="3043238"/>
            <a:ext cx="2706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谐振时的电气特点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:</a:t>
            </a:r>
          </a:p>
        </p:txBody>
      </p:sp>
      <p:graphicFrame>
        <p:nvGraphicFramePr>
          <p:cNvPr id="196623" name="Object 15"/>
          <p:cNvGraphicFramePr>
            <a:graphicFrameLocks noChangeAspect="1"/>
          </p:cNvGraphicFramePr>
          <p:nvPr/>
        </p:nvGraphicFramePr>
        <p:xfrm>
          <a:off x="444500" y="5029200"/>
          <a:ext cx="2997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40" name="Equation" r:id="rId11" imgW="1497950" imgH="482391" progId="Equation.3">
                  <p:embed/>
                </p:oleObj>
              </mc:Choice>
              <mc:Fallback>
                <p:oleObj name="Equation" r:id="rId11" imgW="1497950" imgH="482391" progId="Equation.3">
                  <p:embed/>
                  <p:pic>
                    <p:nvPicPr>
                      <p:cNvPr id="19662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5029200"/>
                        <a:ext cx="29972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4" name="Object 16"/>
          <p:cNvGraphicFramePr>
            <a:graphicFrameLocks noChangeAspect="1"/>
          </p:cNvGraphicFramePr>
          <p:nvPr/>
        </p:nvGraphicFramePr>
        <p:xfrm>
          <a:off x="496888" y="4419600"/>
          <a:ext cx="31988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41" name="公式" r:id="rId13" imgW="1600200" imgH="254000" progId="Equation.3">
                  <p:embed/>
                </p:oleObj>
              </mc:Choice>
              <mc:Fallback>
                <p:oleObj name="公式" r:id="rId13" imgW="1600200" imgH="254000" progId="Equation.3">
                  <p:embed/>
                  <p:pic>
                    <p:nvPicPr>
                      <p:cNvPr id="19662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8" y="4419600"/>
                        <a:ext cx="31988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5" name="Object 17"/>
          <p:cNvGraphicFramePr>
            <a:graphicFrameLocks noChangeAspect="1"/>
          </p:cNvGraphicFramePr>
          <p:nvPr/>
        </p:nvGraphicFramePr>
        <p:xfrm>
          <a:off x="4683125" y="3573463"/>
          <a:ext cx="3730625" cy="167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42" name="Equation" r:id="rId15" imgW="1866900" imgH="838200" progId="Equation.DSMT4">
                  <p:embed/>
                </p:oleObj>
              </mc:Choice>
              <mc:Fallback>
                <p:oleObj name="Equation" r:id="rId15" imgW="1866900" imgH="838200" progId="Equation.DSMT4">
                  <p:embed/>
                  <p:pic>
                    <p:nvPicPr>
                      <p:cNvPr id="19662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25" y="3573463"/>
                        <a:ext cx="3730625" cy="167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6626" name="Group 18"/>
          <p:cNvGrpSpPr>
            <a:grpSpLocks/>
          </p:cNvGrpSpPr>
          <p:nvPr/>
        </p:nvGrpSpPr>
        <p:grpSpPr bwMode="auto">
          <a:xfrm>
            <a:off x="6181725" y="1104900"/>
            <a:ext cx="2495550" cy="1671638"/>
            <a:chOff x="3894" y="432"/>
            <a:chExt cx="1572" cy="1053"/>
          </a:xfrm>
        </p:grpSpPr>
        <p:sp>
          <p:nvSpPr>
            <p:cNvPr id="196627" name="Rectangle 19"/>
            <p:cNvSpPr>
              <a:spLocks noChangeArrowheads="1"/>
            </p:cNvSpPr>
            <p:nvPr/>
          </p:nvSpPr>
          <p:spPr bwMode="auto">
            <a:xfrm>
              <a:off x="3894" y="1197"/>
              <a:ext cx="15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对外相当于短路 </a:t>
              </a: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!</a:t>
              </a:r>
            </a:p>
          </p:txBody>
        </p:sp>
        <p:graphicFrame>
          <p:nvGraphicFramePr>
            <p:cNvPr id="8212" name="Object 20"/>
            <p:cNvGraphicFramePr>
              <a:graphicFrameLocks noChangeAspect="1"/>
            </p:cNvGraphicFramePr>
            <p:nvPr/>
          </p:nvGraphicFramePr>
          <p:xfrm>
            <a:off x="4128" y="432"/>
            <a:ext cx="889" cy="8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643" name="VISIO" r:id="rId17" imgW="674331" imgH="662816" progId="Visio.Drawing.5">
                    <p:embed/>
                  </p:oleObj>
                </mc:Choice>
                <mc:Fallback>
                  <p:oleObj name="VISIO" r:id="rId17" imgW="674331" imgH="662816" progId="Visio.Drawing.5">
                    <p:embed/>
                    <p:pic>
                      <p:nvPicPr>
                        <p:cNvPr id="821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432"/>
                          <a:ext cx="889" cy="8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6629" name="Object 21"/>
          <p:cNvGraphicFramePr>
            <a:graphicFrameLocks noChangeAspect="1"/>
          </p:cNvGraphicFramePr>
          <p:nvPr/>
        </p:nvGraphicFramePr>
        <p:xfrm>
          <a:off x="406400" y="5981700"/>
          <a:ext cx="16748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44" name="Equation" r:id="rId19" imgW="838200" imgH="241300" progId="Equation.3">
                  <p:embed/>
                </p:oleObj>
              </mc:Choice>
              <mc:Fallback>
                <p:oleObj name="Equation" r:id="rId19" imgW="838200" imgH="241300" progId="Equation.3">
                  <p:embed/>
                  <p:pic>
                    <p:nvPicPr>
                      <p:cNvPr id="19662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5981700"/>
                        <a:ext cx="16748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3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297379"/>
              </p:ext>
            </p:extLst>
          </p:nvPr>
        </p:nvGraphicFramePr>
        <p:xfrm>
          <a:off x="4687981" y="5816600"/>
          <a:ext cx="2184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645" name="Equation" r:id="rId21" imgW="1091726" imgH="228501" progId="Equation.DSMT4">
                  <p:embed/>
                </p:oleObj>
              </mc:Choice>
              <mc:Fallback>
                <p:oleObj name="Equation" r:id="rId21" imgW="1091726" imgH="228501" progId="Equation.DSMT4">
                  <p:embed/>
                  <p:pic>
                    <p:nvPicPr>
                      <p:cNvPr id="19663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7981" y="5816600"/>
                        <a:ext cx="2184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31" name="Rectangle 23"/>
          <p:cNvSpPr>
            <a:spLocks noChangeArrowheads="1"/>
          </p:cNvSpPr>
          <p:nvPr/>
        </p:nvSpPr>
        <p:spPr bwMode="auto">
          <a:xfrm>
            <a:off x="3996429" y="6345324"/>
            <a:ext cx="45849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5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5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5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50000"/>
              </a:spcBef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Q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——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品质因数（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Quality factor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）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8210" name="Rectangle 25"/>
          <p:cNvSpPr>
            <a:spLocks noChangeArrowheads="1"/>
          </p:cNvSpPr>
          <p:nvPr/>
        </p:nvSpPr>
        <p:spPr bwMode="auto">
          <a:xfrm>
            <a:off x="395288" y="260350"/>
            <a:ext cx="845820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14.2 RLC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串联谐振电路的频率响应</a:t>
            </a:r>
          </a:p>
        </p:txBody>
      </p:sp>
      <p:sp>
        <p:nvSpPr>
          <p:cNvPr id="23" name="Text Box 60"/>
          <p:cNvSpPr txBox="1">
            <a:spLocks noChangeArrowheads="1"/>
          </p:cNvSpPr>
          <p:nvPr/>
        </p:nvSpPr>
        <p:spPr bwMode="auto">
          <a:xfrm>
            <a:off x="4624388" y="5258936"/>
            <a:ext cx="3554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上可能出现高电压</a:t>
            </a:r>
          </a:p>
        </p:txBody>
      </p:sp>
    </p:spTree>
    <p:extLst>
      <p:ext uri="{BB962C8B-B14F-4D97-AF65-F5344CB8AC3E}">
        <p14:creationId xmlns:p14="http://schemas.microsoft.com/office/powerpoint/2010/main" val="269483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22" grpId="0" autoUpdateAnimBg="0"/>
      <p:bldP spid="196631" grpId="0" autoUpdateAnimBg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Text Box 2"/>
          <p:cNvSpPr txBox="1">
            <a:spLocks noChangeArrowheads="1"/>
          </p:cNvSpPr>
          <p:nvPr/>
        </p:nvSpPr>
        <p:spPr bwMode="auto">
          <a:xfrm>
            <a:off x="323850" y="384175"/>
            <a:ext cx="361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3.  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串联谐振时的频率特性</a:t>
            </a:r>
          </a:p>
        </p:txBody>
      </p:sp>
      <p:sp>
        <p:nvSpPr>
          <p:cNvPr id="385027" name="Text Box 3"/>
          <p:cNvSpPr txBox="1">
            <a:spLocks noChangeArrowheads="1"/>
          </p:cNvSpPr>
          <p:nvPr/>
        </p:nvSpPr>
        <p:spPr bwMode="auto">
          <a:xfrm>
            <a:off x="684213" y="908050"/>
            <a:ext cx="3449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(1)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网络函数的频率特性</a:t>
            </a:r>
          </a:p>
        </p:txBody>
      </p:sp>
      <p:grpSp>
        <p:nvGrpSpPr>
          <p:cNvPr id="385028" name="Group 4"/>
          <p:cNvGrpSpPr>
            <a:grpSpLocks/>
          </p:cNvGrpSpPr>
          <p:nvPr/>
        </p:nvGrpSpPr>
        <p:grpSpPr bwMode="auto">
          <a:xfrm>
            <a:off x="5076825" y="692150"/>
            <a:ext cx="3167063" cy="1806575"/>
            <a:chOff x="316" y="779"/>
            <a:chExt cx="1995" cy="1138"/>
          </a:xfrm>
        </p:grpSpPr>
        <p:sp>
          <p:nvSpPr>
            <p:cNvPr id="385029" name="Line 5"/>
            <p:cNvSpPr>
              <a:spLocks noChangeShapeType="1"/>
            </p:cNvSpPr>
            <p:nvPr/>
          </p:nvSpPr>
          <p:spPr bwMode="auto">
            <a:xfrm>
              <a:off x="484" y="1899"/>
              <a:ext cx="152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5030" name="Line 6"/>
            <p:cNvSpPr>
              <a:spLocks noChangeShapeType="1"/>
            </p:cNvSpPr>
            <p:nvPr/>
          </p:nvSpPr>
          <p:spPr bwMode="auto">
            <a:xfrm>
              <a:off x="484" y="1114"/>
              <a:ext cx="3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85031" name="Object 7"/>
            <p:cNvGraphicFramePr>
              <a:graphicFrameLocks noChangeAspect="1"/>
            </p:cNvGraphicFramePr>
            <p:nvPr/>
          </p:nvGraphicFramePr>
          <p:xfrm>
            <a:off x="507" y="779"/>
            <a:ext cx="159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171" name="公式" r:id="rId4" imgW="126720" imgH="190440" progId="Equation.3">
                    <p:embed/>
                  </p:oleObj>
                </mc:Choice>
                <mc:Fallback>
                  <p:oleObj name="公式" r:id="rId4" imgW="126720" imgH="1904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" y="779"/>
                          <a:ext cx="159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5032" name="Text Box 8"/>
            <p:cNvSpPr txBox="1">
              <a:spLocks noChangeArrowheads="1"/>
            </p:cNvSpPr>
            <p:nvPr/>
          </p:nvSpPr>
          <p:spPr bwMode="auto">
            <a:xfrm>
              <a:off x="1716" y="1403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85033" name="Line 9"/>
            <p:cNvSpPr>
              <a:spLocks noChangeShapeType="1"/>
            </p:cNvSpPr>
            <p:nvPr/>
          </p:nvSpPr>
          <p:spPr bwMode="auto">
            <a:xfrm>
              <a:off x="448" y="1020"/>
              <a:ext cx="28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5034" name="Text Box 10"/>
            <p:cNvSpPr txBox="1">
              <a:spLocks noChangeArrowheads="1"/>
            </p:cNvSpPr>
            <p:nvPr/>
          </p:nvSpPr>
          <p:spPr bwMode="auto">
            <a:xfrm>
              <a:off x="332" y="106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85035" name="Text Box 11"/>
            <p:cNvSpPr txBox="1">
              <a:spLocks noChangeArrowheads="1"/>
            </p:cNvSpPr>
            <p:nvPr/>
          </p:nvSpPr>
          <p:spPr bwMode="auto">
            <a:xfrm>
              <a:off x="342" y="15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385036" name="Oval 12"/>
            <p:cNvSpPr>
              <a:spLocks noChangeArrowheads="1"/>
            </p:cNvSpPr>
            <p:nvPr/>
          </p:nvSpPr>
          <p:spPr bwMode="auto">
            <a:xfrm>
              <a:off x="436" y="1869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5037" name="Oval 13"/>
            <p:cNvSpPr>
              <a:spLocks noChangeArrowheads="1"/>
            </p:cNvSpPr>
            <p:nvPr/>
          </p:nvSpPr>
          <p:spPr bwMode="auto">
            <a:xfrm>
              <a:off x="436" y="1084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85038" name="Group 14"/>
            <p:cNvGrpSpPr>
              <a:grpSpLocks/>
            </p:cNvGrpSpPr>
            <p:nvPr/>
          </p:nvGrpSpPr>
          <p:grpSpPr bwMode="auto">
            <a:xfrm rot="-5400000">
              <a:off x="1559" y="1078"/>
              <a:ext cx="258" cy="91"/>
              <a:chOff x="1351" y="3976"/>
              <a:chExt cx="174" cy="93"/>
            </a:xfrm>
          </p:grpSpPr>
          <p:sp>
            <p:nvSpPr>
              <p:cNvPr id="385039" name="Line 15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5040" name="Line 16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5041" name="Line 17"/>
            <p:cNvSpPr>
              <a:spLocks noChangeShapeType="1"/>
            </p:cNvSpPr>
            <p:nvPr/>
          </p:nvSpPr>
          <p:spPr bwMode="auto">
            <a:xfrm rot="-5400000">
              <a:off x="1430" y="901"/>
              <a:ext cx="0" cy="4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5042" name="Line 18"/>
            <p:cNvSpPr>
              <a:spLocks noChangeShapeType="1"/>
            </p:cNvSpPr>
            <p:nvPr/>
          </p:nvSpPr>
          <p:spPr bwMode="auto">
            <a:xfrm rot="-5400000">
              <a:off x="1869" y="984"/>
              <a:ext cx="0" cy="2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5043" name="Line 19"/>
            <p:cNvSpPr>
              <a:spLocks noChangeShapeType="1"/>
            </p:cNvSpPr>
            <p:nvPr/>
          </p:nvSpPr>
          <p:spPr bwMode="auto">
            <a:xfrm flipV="1">
              <a:off x="2005" y="1120"/>
              <a:ext cx="0" cy="7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5044" name="Text Box 20"/>
            <p:cNvSpPr txBox="1">
              <a:spLocks noChangeArrowheads="1"/>
            </p:cNvSpPr>
            <p:nvPr/>
          </p:nvSpPr>
          <p:spPr bwMode="auto">
            <a:xfrm>
              <a:off x="782" y="1066"/>
              <a:ext cx="4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j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385045" name="Group 21"/>
            <p:cNvGrpSpPr>
              <a:grpSpLocks/>
            </p:cNvGrpSpPr>
            <p:nvPr/>
          </p:nvGrpSpPr>
          <p:grpSpPr bwMode="auto">
            <a:xfrm>
              <a:off x="832" y="1066"/>
              <a:ext cx="379" cy="57"/>
              <a:chOff x="1200" y="1584"/>
              <a:chExt cx="379" cy="45"/>
            </a:xfrm>
          </p:grpSpPr>
          <p:sp>
            <p:nvSpPr>
              <p:cNvPr id="385046" name="Arc 22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5047" name="Arc 23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5048" name="Arc 24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5049" name="Arc 25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85050" name="Object 26"/>
            <p:cNvGraphicFramePr>
              <a:graphicFrameLocks noChangeAspect="1"/>
            </p:cNvGraphicFramePr>
            <p:nvPr/>
          </p:nvGraphicFramePr>
          <p:xfrm>
            <a:off x="1319" y="1096"/>
            <a:ext cx="414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172" name="公式" r:id="rId6" imgW="368280" imgH="431640" progId="Equation.3">
                    <p:embed/>
                  </p:oleObj>
                </mc:Choice>
                <mc:Fallback>
                  <p:oleObj name="公式" r:id="rId6" imgW="368280" imgH="43164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9" y="1096"/>
                          <a:ext cx="414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5051" name="Object 27"/>
            <p:cNvGraphicFramePr>
              <a:graphicFrameLocks noChangeAspect="1"/>
            </p:cNvGraphicFramePr>
            <p:nvPr/>
          </p:nvGraphicFramePr>
          <p:xfrm>
            <a:off x="316" y="1372"/>
            <a:ext cx="271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173" name="公式" r:id="rId8" imgW="215640" imgH="241200" progId="Equation.3">
                    <p:embed/>
                  </p:oleObj>
                </mc:Choice>
                <mc:Fallback>
                  <p:oleObj name="公式" r:id="rId8" imgW="215640" imgH="2412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" y="1372"/>
                          <a:ext cx="271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5052" name="Rectangle 28"/>
            <p:cNvSpPr>
              <a:spLocks noChangeArrowheads="1"/>
            </p:cNvSpPr>
            <p:nvPr/>
          </p:nvSpPr>
          <p:spPr bwMode="auto">
            <a:xfrm rot="5400000">
              <a:off x="1857" y="1487"/>
              <a:ext cx="295" cy="113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5053" name="Text Box 29"/>
            <p:cNvSpPr txBox="1">
              <a:spLocks noChangeArrowheads="1"/>
            </p:cNvSpPr>
            <p:nvPr/>
          </p:nvSpPr>
          <p:spPr bwMode="auto">
            <a:xfrm>
              <a:off x="2061" y="1084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85054" name="Text Box 30"/>
            <p:cNvSpPr txBox="1">
              <a:spLocks noChangeArrowheads="1"/>
            </p:cNvSpPr>
            <p:nvPr/>
          </p:nvSpPr>
          <p:spPr bwMode="auto">
            <a:xfrm>
              <a:off x="2071" y="15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graphicFrame>
          <p:nvGraphicFramePr>
            <p:cNvPr id="385055" name="Object 31"/>
            <p:cNvGraphicFramePr>
              <a:graphicFrameLocks noChangeAspect="1"/>
            </p:cNvGraphicFramePr>
            <p:nvPr/>
          </p:nvGraphicFramePr>
          <p:xfrm>
            <a:off x="2071" y="1403"/>
            <a:ext cx="240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174" name="公式" r:id="rId10" imgW="228600" imgH="228600" progId="Equation.3">
                    <p:embed/>
                  </p:oleObj>
                </mc:Choice>
                <mc:Fallback>
                  <p:oleObj name="公式" r:id="rId10" imgW="228600" imgH="22860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1" y="1403"/>
                          <a:ext cx="240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5056" name="Object 32"/>
          <p:cNvGraphicFramePr>
            <a:graphicFrameLocks noChangeAspect="1"/>
          </p:cNvGraphicFramePr>
          <p:nvPr/>
        </p:nvGraphicFramePr>
        <p:xfrm>
          <a:off x="1398588" y="2587625"/>
          <a:ext cx="52641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175" name="Equation" r:id="rId12" imgW="3390840" imgH="545760" progId="Equation.DSMT4">
                  <p:embed/>
                </p:oleObj>
              </mc:Choice>
              <mc:Fallback>
                <p:oleObj name="Equation" r:id="rId12" imgW="3390840" imgH="54576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8588" y="2587625"/>
                        <a:ext cx="52641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5057" name="Group 33"/>
          <p:cNvGrpSpPr>
            <a:grpSpLocks/>
          </p:cNvGrpSpPr>
          <p:nvPr/>
        </p:nvGrpSpPr>
        <p:grpSpPr bwMode="auto">
          <a:xfrm>
            <a:off x="4557713" y="3517900"/>
            <a:ext cx="3181350" cy="1912938"/>
            <a:chOff x="3096" y="2066"/>
            <a:chExt cx="2004" cy="1205"/>
          </a:xfrm>
        </p:grpSpPr>
        <p:pic>
          <p:nvPicPr>
            <p:cNvPr id="385058" name="Picture 34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1" y="2348"/>
              <a:ext cx="1569" cy="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5059" name="Line 35"/>
            <p:cNvSpPr>
              <a:spLocks noChangeShapeType="1"/>
            </p:cNvSpPr>
            <p:nvPr/>
          </p:nvSpPr>
          <p:spPr bwMode="auto">
            <a:xfrm>
              <a:off x="3408" y="2738"/>
              <a:ext cx="147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60" name="Line 36"/>
            <p:cNvSpPr>
              <a:spLocks noChangeShapeType="1"/>
            </p:cNvSpPr>
            <p:nvPr/>
          </p:nvSpPr>
          <p:spPr bwMode="auto">
            <a:xfrm flipV="1">
              <a:off x="3406" y="2127"/>
              <a:ext cx="0" cy="114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61" name="Text Box 37"/>
            <p:cNvSpPr txBox="1">
              <a:spLocks noChangeArrowheads="1"/>
            </p:cNvSpPr>
            <p:nvPr/>
          </p:nvSpPr>
          <p:spPr bwMode="auto">
            <a:xfrm>
              <a:off x="4745" y="2708"/>
              <a:ext cx="355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1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kumimoji="1"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385062" name="Text Box 38"/>
            <p:cNvSpPr txBox="1">
              <a:spLocks noChangeArrowheads="1"/>
            </p:cNvSpPr>
            <p:nvPr/>
          </p:nvSpPr>
          <p:spPr bwMode="auto">
            <a:xfrm>
              <a:off x="3276" y="2646"/>
              <a:ext cx="354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1600" b="1">
                  <a:latin typeface="Times New Roman" panose="02020603050405020304" pitchFamily="18" charset="0"/>
                </a:rPr>
                <a:t>0</a:t>
              </a:r>
            </a:p>
          </p:txBody>
        </p:sp>
        <p:graphicFrame>
          <p:nvGraphicFramePr>
            <p:cNvPr id="385063" name="Object 39"/>
            <p:cNvGraphicFramePr>
              <a:graphicFrameLocks noChangeAspect="1"/>
            </p:cNvGraphicFramePr>
            <p:nvPr/>
          </p:nvGraphicFramePr>
          <p:xfrm>
            <a:off x="3415" y="2066"/>
            <a:ext cx="25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176" name="公式" r:id="rId15" imgW="342720" imgH="215640" progId="Equation.3">
                    <p:embed/>
                  </p:oleObj>
                </mc:Choice>
                <mc:Fallback>
                  <p:oleObj name="公式" r:id="rId15" imgW="342720" imgH="21564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5" y="2066"/>
                          <a:ext cx="25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5064" name="Object 40"/>
            <p:cNvGraphicFramePr>
              <a:graphicFrameLocks noChangeAspect="1"/>
            </p:cNvGraphicFramePr>
            <p:nvPr/>
          </p:nvGraphicFramePr>
          <p:xfrm>
            <a:off x="3181" y="2311"/>
            <a:ext cx="216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177" name="公式" r:id="rId17" imgW="241200" imgH="203040" progId="Equation.3">
                    <p:embed/>
                  </p:oleObj>
                </mc:Choice>
                <mc:Fallback>
                  <p:oleObj name="公式" r:id="rId17" imgW="241200" imgH="20304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1" y="2311"/>
                          <a:ext cx="216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5065" name="Line 41"/>
            <p:cNvSpPr>
              <a:spLocks noChangeShapeType="1"/>
            </p:cNvSpPr>
            <p:nvPr/>
          </p:nvSpPr>
          <p:spPr bwMode="auto">
            <a:xfrm>
              <a:off x="3411" y="3081"/>
              <a:ext cx="117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5066" name="Object 42"/>
            <p:cNvGraphicFramePr>
              <a:graphicFrameLocks noChangeAspect="1"/>
            </p:cNvGraphicFramePr>
            <p:nvPr/>
          </p:nvGraphicFramePr>
          <p:xfrm>
            <a:off x="3096" y="2978"/>
            <a:ext cx="325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178" name="公式" r:id="rId19" imgW="355320" imgH="203040" progId="Equation.3">
                    <p:embed/>
                  </p:oleObj>
                </mc:Choice>
                <mc:Fallback>
                  <p:oleObj name="公式" r:id="rId19" imgW="355320" imgH="20304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6" y="2978"/>
                          <a:ext cx="325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5067" name="Text Box 43"/>
            <p:cNvSpPr txBox="1">
              <a:spLocks noChangeArrowheads="1"/>
            </p:cNvSpPr>
            <p:nvPr/>
          </p:nvSpPr>
          <p:spPr bwMode="auto">
            <a:xfrm>
              <a:off x="3801" y="2690"/>
              <a:ext cx="345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1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1600" b="1" baseline="-25000">
                  <a:latin typeface="Times New Roman" panose="02020603050405020304" pitchFamily="18" charset="0"/>
                </a:rPr>
                <a:t>0</a:t>
              </a:r>
              <a:endParaRPr kumimoji="1" lang="en-US" altLang="zh-CN" sz="16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5068" name="Group 44"/>
          <p:cNvGrpSpPr>
            <a:grpSpLocks/>
          </p:cNvGrpSpPr>
          <p:nvPr/>
        </p:nvGrpSpPr>
        <p:grpSpPr bwMode="auto">
          <a:xfrm>
            <a:off x="1061913" y="3517900"/>
            <a:ext cx="3294063" cy="2125663"/>
            <a:chOff x="1036" y="2075"/>
            <a:chExt cx="2075" cy="1339"/>
          </a:xfrm>
        </p:grpSpPr>
        <p:pic>
          <p:nvPicPr>
            <p:cNvPr id="385069" name="Picture 45"/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0" y="2280"/>
              <a:ext cx="1701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5070" name="Text Box 46"/>
            <p:cNvSpPr txBox="1">
              <a:spLocks noChangeArrowheads="1"/>
            </p:cNvSpPr>
            <p:nvPr/>
          </p:nvSpPr>
          <p:spPr bwMode="auto">
            <a:xfrm>
              <a:off x="2594" y="3053"/>
              <a:ext cx="24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1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kumimoji="1"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385071" name="Line 47"/>
            <p:cNvSpPr>
              <a:spLocks noChangeShapeType="1"/>
            </p:cNvSpPr>
            <p:nvPr/>
          </p:nvSpPr>
          <p:spPr bwMode="auto">
            <a:xfrm flipV="1">
              <a:off x="1226" y="3085"/>
              <a:ext cx="154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72" name="Line 48"/>
            <p:cNvSpPr>
              <a:spLocks noChangeShapeType="1"/>
            </p:cNvSpPr>
            <p:nvPr/>
          </p:nvSpPr>
          <p:spPr bwMode="auto">
            <a:xfrm flipV="1">
              <a:off x="1417" y="2170"/>
              <a:ext cx="0" cy="11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73" name="Text Box 49"/>
            <p:cNvSpPr txBox="1">
              <a:spLocks noChangeArrowheads="1"/>
            </p:cNvSpPr>
            <p:nvPr/>
          </p:nvSpPr>
          <p:spPr bwMode="auto">
            <a:xfrm>
              <a:off x="1280" y="3079"/>
              <a:ext cx="304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16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5074" name="Text Box 50"/>
            <p:cNvSpPr txBox="1">
              <a:spLocks noChangeArrowheads="1"/>
            </p:cNvSpPr>
            <p:nvPr/>
          </p:nvSpPr>
          <p:spPr bwMode="auto">
            <a:xfrm>
              <a:off x="1258" y="2205"/>
              <a:ext cx="24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1600" b="1">
                  <a:latin typeface="Times New Roman" panose="02020603050405020304" pitchFamily="18" charset="0"/>
                </a:rPr>
                <a:t>1</a:t>
              </a:r>
            </a:p>
          </p:txBody>
        </p:sp>
        <p:graphicFrame>
          <p:nvGraphicFramePr>
            <p:cNvPr id="385075" name="Object 51"/>
            <p:cNvGraphicFramePr>
              <a:graphicFrameLocks noChangeAspect="1"/>
            </p:cNvGraphicFramePr>
            <p:nvPr/>
          </p:nvGraphicFramePr>
          <p:xfrm>
            <a:off x="1398" y="2075"/>
            <a:ext cx="409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179" name="Equation" r:id="rId22" imgW="520560" imgH="241200" progId="Equation.DSMT4">
                    <p:embed/>
                  </p:oleObj>
                </mc:Choice>
                <mc:Fallback>
                  <p:oleObj name="Equation" r:id="rId22" imgW="520560" imgH="241200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8" y="2075"/>
                          <a:ext cx="409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5076" name="Line 52"/>
            <p:cNvSpPr>
              <a:spLocks noChangeShapeType="1"/>
            </p:cNvSpPr>
            <p:nvPr/>
          </p:nvSpPr>
          <p:spPr bwMode="auto">
            <a:xfrm>
              <a:off x="1421" y="2324"/>
              <a:ext cx="6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77" name="Line 53"/>
            <p:cNvSpPr>
              <a:spLocks noChangeShapeType="1"/>
            </p:cNvSpPr>
            <p:nvPr/>
          </p:nvSpPr>
          <p:spPr bwMode="auto">
            <a:xfrm>
              <a:off x="1417" y="2540"/>
              <a:ext cx="65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78" name="Line 54"/>
            <p:cNvSpPr>
              <a:spLocks noChangeShapeType="1"/>
            </p:cNvSpPr>
            <p:nvPr/>
          </p:nvSpPr>
          <p:spPr bwMode="auto">
            <a:xfrm rot="-5400000">
              <a:off x="1717" y="2816"/>
              <a:ext cx="54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79" name="Text Box 55"/>
            <p:cNvSpPr txBox="1">
              <a:spLocks noChangeArrowheads="1"/>
            </p:cNvSpPr>
            <p:nvPr/>
          </p:nvSpPr>
          <p:spPr bwMode="auto">
            <a:xfrm>
              <a:off x="1036" y="2439"/>
              <a:ext cx="43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1600" b="1">
                  <a:latin typeface="Times New Roman" panose="02020603050405020304" pitchFamily="18" charset="0"/>
                </a:rPr>
                <a:t>0.707</a:t>
              </a:r>
            </a:p>
          </p:txBody>
        </p:sp>
        <p:sp>
          <p:nvSpPr>
            <p:cNvPr id="385080" name="Text Box 56"/>
            <p:cNvSpPr txBox="1">
              <a:spLocks noChangeArrowheads="1"/>
            </p:cNvSpPr>
            <p:nvPr/>
          </p:nvSpPr>
          <p:spPr bwMode="auto">
            <a:xfrm>
              <a:off x="1759" y="3025"/>
              <a:ext cx="377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1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1600" b="1" baseline="-25000">
                  <a:latin typeface="Times New Roman" panose="02020603050405020304" pitchFamily="18" charset="0"/>
                </a:rPr>
                <a:t>C1</a:t>
              </a:r>
              <a:endParaRPr kumimoji="1"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385081" name="Line 57"/>
            <p:cNvSpPr>
              <a:spLocks noChangeShapeType="1"/>
            </p:cNvSpPr>
            <p:nvPr/>
          </p:nvSpPr>
          <p:spPr bwMode="auto">
            <a:xfrm rot="-5400000">
              <a:off x="1801" y="2811"/>
              <a:ext cx="54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82" name="Text Box 58"/>
            <p:cNvSpPr txBox="1">
              <a:spLocks noChangeArrowheads="1"/>
            </p:cNvSpPr>
            <p:nvPr/>
          </p:nvSpPr>
          <p:spPr bwMode="auto">
            <a:xfrm>
              <a:off x="2007" y="3045"/>
              <a:ext cx="37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1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1600" b="1" baseline="-25000">
                  <a:latin typeface="Times New Roman" panose="02020603050405020304" pitchFamily="18" charset="0"/>
                </a:rPr>
                <a:t>C2</a:t>
              </a:r>
              <a:endParaRPr kumimoji="1"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385083" name="Line 59"/>
            <p:cNvSpPr>
              <a:spLocks noChangeShapeType="1"/>
            </p:cNvSpPr>
            <p:nvPr/>
          </p:nvSpPr>
          <p:spPr bwMode="auto">
            <a:xfrm rot="-5400000">
              <a:off x="1653" y="2690"/>
              <a:ext cx="7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084" name="Text Box 60"/>
            <p:cNvSpPr txBox="1">
              <a:spLocks noChangeArrowheads="1"/>
            </p:cNvSpPr>
            <p:nvPr/>
          </p:nvSpPr>
          <p:spPr bwMode="auto">
            <a:xfrm>
              <a:off x="1923" y="3220"/>
              <a:ext cx="29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kumimoji="1" lang="en-US" altLang="zh-CN" sz="16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1600" b="1" baseline="-25000">
                  <a:latin typeface="Times New Roman" panose="02020603050405020304" pitchFamily="18" charset="0"/>
                </a:rPr>
                <a:t>0</a:t>
              </a:r>
              <a:endParaRPr kumimoji="1"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385085" name="Line 61"/>
            <p:cNvSpPr>
              <a:spLocks noChangeShapeType="1"/>
            </p:cNvSpPr>
            <p:nvPr/>
          </p:nvSpPr>
          <p:spPr bwMode="auto">
            <a:xfrm flipH="1" flipV="1">
              <a:off x="2037" y="3081"/>
              <a:ext cx="4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85086" name="Rectangle 62"/>
          <p:cNvSpPr>
            <a:spLocks noChangeArrowheads="1"/>
          </p:cNvSpPr>
          <p:nvPr/>
        </p:nvSpPr>
        <p:spPr bwMode="auto">
          <a:xfrm>
            <a:off x="1273175" y="5813425"/>
            <a:ext cx="3100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LC 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带通滤波电路电路</a:t>
            </a:r>
          </a:p>
        </p:txBody>
      </p:sp>
      <p:graphicFrame>
        <p:nvGraphicFramePr>
          <p:cNvPr id="385087" name="Object 63"/>
          <p:cNvGraphicFramePr>
            <a:graphicFrameLocks noChangeAspect="1"/>
          </p:cNvGraphicFramePr>
          <p:nvPr/>
        </p:nvGraphicFramePr>
        <p:xfrm>
          <a:off x="4783138" y="5499100"/>
          <a:ext cx="1585912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180" name="公式" r:id="rId24" imgW="723600" imgH="431640" progId="Equation.3">
                  <p:embed/>
                </p:oleObj>
              </mc:Choice>
              <mc:Fallback>
                <p:oleObj name="公式" r:id="rId24" imgW="723600" imgH="43164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3138" y="5499100"/>
                        <a:ext cx="1585912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88" name="Text Box 64"/>
          <p:cNvSpPr txBox="1">
            <a:spLocks noChangeArrowheads="1"/>
          </p:cNvSpPr>
          <p:nvPr/>
        </p:nvSpPr>
        <p:spPr bwMode="auto">
          <a:xfrm>
            <a:off x="6538913" y="5768975"/>
            <a:ext cx="1566862" cy="4572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中心频率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5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5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85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8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8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8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8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27" grpId="0" autoUpdateAnimBg="0"/>
      <p:bldP spid="385086" grpId="0"/>
      <p:bldP spid="38508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314" name="Group 2"/>
          <p:cNvGrpSpPr>
            <a:grpSpLocks/>
          </p:cNvGrpSpPr>
          <p:nvPr/>
        </p:nvGrpSpPr>
        <p:grpSpPr bwMode="auto">
          <a:xfrm>
            <a:off x="889000" y="2189163"/>
            <a:ext cx="3727450" cy="1924050"/>
            <a:chOff x="648" y="2208"/>
            <a:chExt cx="2348" cy="1212"/>
          </a:xfrm>
        </p:grpSpPr>
        <p:sp>
          <p:nvSpPr>
            <p:cNvPr id="397315" name="Text Box 3"/>
            <p:cNvSpPr txBox="1">
              <a:spLocks noChangeArrowheads="1"/>
            </p:cNvSpPr>
            <p:nvPr/>
          </p:nvSpPr>
          <p:spPr bwMode="auto">
            <a:xfrm>
              <a:off x="648" y="2208"/>
              <a:ext cx="1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电源发出功率</a:t>
              </a:r>
            </a:p>
          </p:txBody>
        </p:sp>
        <p:graphicFrame>
          <p:nvGraphicFramePr>
            <p:cNvPr id="397316" name="Object 4"/>
            <p:cNvGraphicFramePr>
              <a:graphicFrameLocks noChangeAspect="1"/>
            </p:cNvGraphicFramePr>
            <p:nvPr/>
          </p:nvGraphicFramePr>
          <p:xfrm>
            <a:off x="1380" y="3108"/>
            <a:ext cx="161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437" name="公式" r:id="rId4" imgW="1244520" imgH="228600" progId="Equation.3">
                    <p:embed/>
                  </p:oleObj>
                </mc:Choice>
                <mc:Fallback>
                  <p:oleObj name="公式" r:id="rId4" imgW="124452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0" y="3108"/>
                          <a:ext cx="1616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7317" name="Object 5"/>
            <p:cNvGraphicFramePr>
              <a:graphicFrameLocks noChangeAspect="1"/>
            </p:cNvGraphicFramePr>
            <p:nvPr/>
          </p:nvGraphicFramePr>
          <p:xfrm>
            <a:off x="1356" y="2664"/>
            <a:ext cx="1291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438" name="公式" r:id="rId6" imgW="1066680" imgH="203040" progId="Equation.3">
                    <p:embed/>
                  </p:oleObj>
                </mc:Choice>
                <mc:Fallback>
                  <p:oleObj name="公式" r:id="rId6" imgW="1066680" imgH="2030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6" y="2664"/>
                          <a:ext cx="1291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7318" name="Rectangle 6"/>
            <p:cNvSpPr>
              <a:spLocks noChangeArrowheads="1"/>
            </p:cNvSpPr>
            <p:nvPr/>
          </p:nvSpPr>
          <p:spPr bwMode="auto">
            <a:xfrm>
              <a:off x="768" y="3132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有功</a:t>
              </a:r>
            </a:p>
          </p:txBody>
        </p:sp>
        <p:sp>
          <p:nvSpPr>
            <p:cNvPr id="397319" name="Text Box 7"/>
            <p:cNvSpPr txBox="1">
              <a:spLocks noChangeArrowheads="1"/>
            </p:cNvSpPr>
            <p:nvPr/>
          </p:nvSpPr>
          <p:spPr bwMode="auto">
            <a:xfrm>
              <a:off x="720" y="2604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无功</a:t>
              </a:r>
            </a:p>
          </p:txBody>
        </p:sp>
      </p:grpSp>
      <p:grpSp>
        <p:nvGrpSpPr>
          <p:cNvPr id="397320" name="Group 8"/>
          <p:cNvGrpSpPr>
            <a:grpSpLocks/>
          </p:cNvGrpSpPr>
          <p:nvPr/>
        </p:nvGrpSpPr>
        <p:grpSpPr bwMode="auto">
          <a:xfrm>
            <a:off x="5364163" y="765175"/>
            <a:ext cx="3554412" cy="2362200"/>
            <a:chOff x="3285" y="1860"/>
            <a:chExt cx="2239" cy="1488"/>
          </a:xfrm>
        </p:grpSpPr>
        <p:grpSp>
          <p:nvGrpSpPr>
            <p:cNvPr id="397321" name="Group 9"/>
            <p:cNvGrpSpPr>
              <a:grpSpLocks/>
            </p:cNvGrpSpPr>
            <p:nvPr/>
          </p:nvGrpSpPr>
          <p:grpSpPr bwMode="auto">
            <a:xfrm>
              <a:off x="3456" y="1860"/>
              <a:ext cx="2068" cy="1488"/>
              <a:chOff x="1466" y="1716"/>
              <a:chExt cx="2068" cy="1488"/>
            </a:xfrm>
          </p:grpSpPr>
          <p:sp>
            <p:nvSpPr>
              <p:cNvPr id="397322" name="Oval 10"/>
              <p:cNvSpPr>
                <a:spLocks noChangeArrowheads="1"/>
              </p:cNvSpPr>
              <p:nvPr/>
            </p:nvSpPr>
            <p:spPr bwMode="auto">
              <a:xfrm>
                <a:off x="1583" y="2512"/>
                <a:ext cx="295" cy="295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7323" name="Text Box 11"/>
              <p:cNvSpPr txBox="1">
                <a:spLocks noChangeArrowheads="1"/>
              </p:cNvSpPr>
              <p:nvPr/>
            </p:nvSpPr>
            <p:spPr bwMode="auto">
              <a:xfrm>
                <a:off x="1466" y="2280"/>
                <a:ext cx="22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827E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kumimoji="1" lang="en-US" altLang="zh-CN" sz="2400" b="1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</a:p>
            </p:txBody>
          </p:sp>
          <p:sp>
            <p:nvSpPr>
              <p:cNvPr id="397324" name="Text Box 12"/>
              <p:cNvSpPr txBox="1">
                <a:spLocks noChangeArrowheads="1"/>
              </p:cNvSpPr>
              <p:nvPr/>
            </p:nvSpPr>
            <p:spPr bwMode="auto">
              <a:xfrm>
                <a:off x="1479" y="260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827E4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eaLnBrk="0" hangingPunct="0"/>
                <a:r>
                  <a:rPr kumimoji="1" lang="en-US" altLang="zh-CN" sz="2400" b="1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_</a:t>
                </a:r>
              </a:p>
            </p:txBody>
          </p:sp>
          <p:grpSp>
            <p:nvGrpSpPr>
              <p:cNvPr id="397325" name="Group 13"/>
              <p:cNvGrpSpPr>
                <a:grpSpLocks/>
              </p:cNvGrpSpPr>
              <p:nvPr/>
            </p:nvGrpSpPr>
            <p:grpSpPr bwMode="auto">
              <a:xfrm>
                <a:off x="2810" y="1962"/>
                <a:ext cx="84" cy="270"/>
                <a:chOff x="625" y="3889"/>
                <a:chExt cx="93" cy="174"/>
              </a:xfrm>
            </p:grpSpPr>
            <p:sp>
              <p:nvSpPr>
                <p:cNvPr id="397326" name="Line 14"/>
                <p:cNvSpPr>
                  <a:spLocks noChangeShapeType="1"/>
                </p:cNvSpPr>
                <p:nvPr/>
              </p:nvSpPr>
              <p:spPr bwMode="auto">
                <a:xfrm rot="-5400000">
                  <a:off x="539" y="3975"/>
                  <a:ext cx="174" cy="1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7327" name="Line 15"/>
                <p:cNvSpPr>
                  <a:spLocks noChangeShapeType="1"/>
                </p:cNvSpPr>
                <p:nvPr/>
              </p:nvSpPr>
              <p:spPr bwMode="auto">
                <a:xfrm rot="-5400000">
                  <a:off x="631" y="3975"/>
                  <a:ext cx="174" cy="1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97328" name="Line 16"/>
              <p:cNvSpPr>
                <a:spLocks noChangeShapeType="1"/>
              </p:cNvSpPr>
              <p:nvPr/>
            </p:nvSpPr>
            <p:spPr bwMode="auto">
              <a:xfrm>
                <a:off x="2468" y="2106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7329" name="Line 17"/>
              <p:cNvSpPr>
                <a:spLocks noChangeShapeType="1"/>
              </p:cNvSpPr>
              <p:nvPr/>
            </p:nvSpPr>
            <p:spPr bwMode="auto">
              <a:xfrm>
                <a:off x="2894" y="2106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7330" name="Line 18"/>
              <p:cNvSpPr>
                <a:spLocks noChangeShapeType="1"/>
              </p:cNvSpPr>
              <p:nvPr/>
            </p:nvSpPr>
            <p:spPr bwMode="auto">
              <a:xfrm flipH="1">
                <a:off x="1742" y="2112"/>
                <a:ext cx="34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7331" name="Line 19"/>
              <p:cNvSpPr>
                <a:spLocks noChangeShapeType="1"/>
              </p:cNvSpPr>
              <p:nvPr/>
            </p:nvSpPr>
            <p:spPr bwMode="auto">
              <a:xfrm>
                <a:off x="3230" y="2100"/>
                <a:ext cx="0" cy="11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7332" name="Line 20"/>
              <p:cNvSpPr>
                <a:spLocks noChangeShapeType="1"/>
              </p:cNvSpPr>
              <p:nvPr/>
            </p:nvSpPr>
            <p:spPr bwMode="auto">
              <a:xfrm flipH="1">
                <a:off x="1742" y="3198"/>
                <a:ext cx="14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7333" name="Line 21"/>
              <p:cNvSpPr>
                <a:spLocks noChangeShapeType="1"/>
              </p:cNvSpPr>
              <p:nvPr/>
            </p:nvSpPr>
            <p:spPr bwMode="auto">
              <a:xfrm>
                <a:off x="1742" y="2112"/>
                <a:ext cx="0" cy="10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7334" name="Line 22"/>
              <p:cNvSpPr>
                <a:spLocks noChangeShapeType="1"/>
              </p:cNvSpPr>
              <p:nvPr/>
            </p:nvSpPr>
            <p:spPr bwMode="auto">
              <a:xfrm>
                <a:off x="1982" y="2712"/>
                <a:ext cx="1104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7335" name="Text Box 23"/>
              <p:cNvSpPr txBox="1">
                <a:spLocks noChangeArrowheads="1"/>
              </p:cNvSpPr>
              <p:nvPr/>
            </p:nvSpPr>
            <p:spPr bwMode="auto">
              <a:xfrm>
                <a:off x="2420" y="2712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>
                  <a:spcBef>
                    <a:spcPct val="0"/>
                  </a:spcBef>
                </a:pPr>
                <a:r>
                  <a:rPr kumimoji="1" lang="en-US" altLang="zh-CN" sz="2400" b="1" i="1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397336" name="Arc 24"/>
              <p:cNvSpPr>
                <a:spLocks/>
              </p:cNvSpPr>
              <p:nvPr/>
            </p:nvSpPr>
            <p:spPr bwMode="auto">
              <a:xfrm rot="-13544099">
                <a:off x="2313" y="2013"/>
                <a:ext cx="376" cy="361"/>
              </a:xfrm>
              <a:custGeom>
                <a:avLst/>
                <a:gdLst>
                  <a:gd name="G0" fmla="+- 2597 0 0"/>
                  <a:gd name="G1" fmla="+- 21600 0 0"/>
                  <a:gd name="G2" fmla="+- 21600 0 0"/>
                  <a:gd name="T0" fmla="*/ 0 w 24197"/>
                  <a:gd name="T1" fmla="*/ 157 h 23163"/>
                  <a:gd name="T2" fmla="*/ 24140 w 24197"/>
                  <a:gd name="T3" fmla="*/ 23163 h 23163"/>
                  <a:gd name="T4" fmla="*/ 2597 w 24197"/>
                  <a:gd name="T5" fmla="*/ 21600 h 23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197" h="23163" fill="none" extrusionOk="0">
                    <a:moveTo>
                      <a:pt x="-1" y="156"/>
                    </a:moveTo>
                    <a:cubicBezTo>
                      <a:pt x="861" y="52"/>
                      <a:pt x="1728" y="0"/>
                      <a:pt x="2597" y="0"/>
                    </a:cubicBezTo>
                    <a:cubicBezTo>
                      <a:pt x="14526" y="0"/>
                      <a:pt x="24197" y="9670"/>
                      <a:pt x="24197" y="21600"/>
                    </a:cubicBezTo>
                    <a:cubicBezTo>
                      <a:pt x="24197" y="22121"/>
                      <a:pt x="24178" y="22642"/>
                      <a:pt x="24140" y="23163"/>
                    </a:cubicBezTo>
                  </a:path>
                  <a:path w="24197" h="23163" stroke="0" extrusionOk="0">
                    <a:moveTo>
                      <a:pt x="-1" y="156"/>
                    </a:moveTo>
                    <a:cubicBezTo>
                      <a:pt x="861" y="52"/>
                      <a:pt x="1728" y="0"/>
                      <a:pt x="2597" y="0"/>
                    </a:cubicBezTo>
                    <a:cubicBezTo>
                      <a:pt x="14526" y="0"/>
                      <a:pt x="24197" y="9670"/>
                      <a:pt x="24197" y="21600"/>
                    </a:cubicBezTo>
                    <a:cubicBezTo>
                      <a:pt x="24197" y="22121"/>
                      <a:pt x="24178" y="22642"/>
                      <a:pt x="24140" y="23163"/>
                    </a:cubicBezTo>
                    <a:lnTo>
                      <a:pt x="2597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 type="stealth" w="sm" len="med"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7337" name="Text Box 25"/>
              <p:cNvSpPr txBox="1">
                <a:spLocks noChangeArrowheads="1"/>
              </p:cNvSpPr>
              <p:nvPr/>
            </p:nvSpPr>
            <p:spPr bwMode="auto">
              <a:xfrm>
                <a:off x="2366" y="2262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>
                  <a:spcBef>
                    <a:spcPct val="0"/>
                  </a:spcBef>
                </a:pPr>
                <a:r>
                  <a:rPr kumimoji="1"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397338" name="Text Box 26"/>
              <p:cNvSpPr txBox="1">
                <a:spLocks noChangeArrowheads="1"/>
              </p:cNvSpPr>
              <p:nvPr/>
            </p:nvSpPr>
            <p:spPr bwMode="auto">
              <a:xfrm>
                <a:off x="2222" y="1752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>
                  <a:spcBef>
                    <a:spcPct val="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397339" name="Text Box 27"/>
              <p:cNvSpPr txBox="1">
                <a:spLocks noChangeArrowheads="1"/>
              </p:cNvSpPr>
              <p:nvPr/>
            </p:nvSpPr>
            <p:spPr bwMode="auto">
              <a:xfrm>
                <a:off x="2732" y="1716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>
                  <a:spcBef>
                    <a:spcPct val="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397340" name="Text Box 28"/>
              <p:cNvSpPr txBox="1">
                <a:spLocks noChangeArrowheads="1"/>
              </p:cNvSpPr>
              <p:nvPr/>
            </p:nvSpPr>
            <p:spPr bwMode="auto">
              <a:xfrm>
                <a:off x="3290" y="2532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>
                  <a:spcBef>
                    <a:spcPct val="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R</a:t>
                </a:r>
              </a:p>
            </p:txBody>
          </p:sp>
          <p:grpSp>
            <p:nvGrpSpPr>
              <p:cNvPr id="397341" name="Group 29"/>
              <p:cNvGrpSpPr>
                <a:grpSpLocks/>
              </p:cNvGrpSpPr>
              <p:nvPr/>
            </p:nvGrpSpPr>
            <p:grpSpPr bwMode="auto">
              <a:xfrm>
                <a:off x="2083" y="2055"/>
                <a:ext cx="379" cy="57"/>
                <a:chOff x="1200" y="1584"/>
                <a:chExt cx="379" cy="45"/>
              </a:xfrm>
            </p:grpSpPr>
            <p:sp>
              <p:nvSpPr>
                <p:cNvPr id="397342" name="Arc 30"/>
                <p:cNvSpPr>
                  <a:spLocks/>
                </p:cNvSpPr>
                <p:nvPr/>
              </p:nvSpPr>
              <p:spPr bwMode="auto">
                <a:xfrm rot="5400000" flipH="1" flipV="1">
                  <a:off x="1223" y="1561"/>
                  <a:ext cx="45" cy="91"/>
                </a:xfrm>
                <a:custGeom>
                  <a:avLst/>
                  <a:gdLst>
                    <a:gd name="G0" fmla="+- 1123 0 0"/>
                    <a:gd name="G1" fmla="+- 21600 0 0"/>
                    <a:gd name="G2" fmla="+- 21600 0 0"/>
                    <a:gd name="T0" fmla="*/ 1123 w 22723"/>
                    <a:gd name="T1" fmla="*/ 0 h 43200"/>
                    <a:gd name="T2" fmla="*/ 0 w 22723"/>
                    <a:gd name="T3" fmla="*/ 43171 h 43200"/>
                    <a:gd name="T4" fmla="*/ 1123 w 22723"/>
                    <a:gd name="T5" fmla="*/ 21600 h 43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723" h="43200" fill="none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</a:path>
                    <a:path w="22723" h="43200" stroke="0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  <a:lnTo>
                        <a:pt x="1123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7343" name="Arc 31"/>
                <p:cNvSpPr>
                  <a:spLocks/>
                </p:cNvSpPr>
                <p:nvPr/>
              </p:nvSpPr>
              <p:spPr bwMode="auto">
                <a:xfrm rot="5400000" flipH="1" flipV="1">
                  <a:off x="1319" y="1561"/>
                  <a:ext cx="45" cy="91"/>
                </a:xfrm>
                <a:custGeom>
                  <a:avLst/>
                  <a:gdLst>
                    <a:gd name="G0" fmla="+- 1123 0 0"/>
                    <a:gd name="G1" fmla="+- 21600 0 0"/>
                    <a:gd name="G2" fmla="+- 21600 0 0"/>
                    <a:gd name="T0" fmla="*/ 1123 w 22723"/>
                    <a:gd name="T1" fmla="*/ 0 h 43200"/>
                    <a:gd name="T2" fmla="*/ 0 w 22723"/>
                    <a:gd name="T3" fmla="*/ 43171 h 43200"/>
                    <a:gd name="T4" fmla="*/ 1123 w 22723"/>
                    <a:gd name="T5" fmla="*/ 21600 h 43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723" h="43200" fill="none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</a:path>
                    <a:path w="22723" h="43200" stroke="0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  <a:lnTo>
                        <a:pt x="1123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7344" name="Arc 32"/>
                <p:cNvSpPr>
                  <a:spLocks/>
                </p:cNvSpPr>
                <p:nvPr/>
              </p:nvSpPr>
              <p:spPr bwMode="auto">
                <a:xfrm rot="5400000" flipH="1" flipV="1">
                  <a:off x="1415" y="1561"/>
                  <a:ext cx="45" cy="91"/>
                </a:xfrm>
                <a:custGeom>
                  <a:avLst/>
                  <a:gdLst>
                    <a:gd name="G0" fmla="+- 1123 0 0"/>
                    <a:gd name="G1" fmla="+- 21600 0 0"/>
                    <a:gd name="G2" fmla="+- 21600 0 0"/>
                    <a:gd name="T0" fmla="*/ 1123 w 22723"/>
                    <a:gd name="T1" fmla="*/ 0 h 43200"/>
                    <a:gd name="T2" fmla="*/ 0 w 22723"/>
                    <a:gd name="T3" fmla="*/ 43171 h 43200"/>
                    <a:gd name="T4" fmla="*/ 1123 w 22723"/>
                    <a:gd name="T5" fmla="*/ 21600 h 43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723" h="43200" fill="none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</a:path>
                    <a:path w="22723" h="43200" stroke="0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  <a:lnTo>
                        <a:pt x="1123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7345" name="Arc 33"/>
                <p:cNvSpPr>
                  <a:spLocks/>
                </p:cNvSpPr>
                <p:nvPr/>
              </p:nvSpPr>
              <p:spPr bwMode="auto">
                <a:xfrm rot="5400000" flipH="1" flipV="1">
                  <a:off x="1511" y="1561"/>
                  <a:ext cx="45" cy="91"/>
                </a:xfrm>
                <a:custGeom>
                  <a:avLst/>
                  <a:gdLst>
                    <a:gd name="G0" fmla="+- 1123 0 0"/>
                    <a:gd name="G1" fmla="+- 21600 0 0"/>
                    <a:gd name="G2" fmla="+- 21600 0 0"/>
                    <a:gd name="T0" fmla="*/ 1123 w 22723"/>
                    <a:gd name="T1" fmla="*/ 0 h 43200"/>
                    <a:gd name="T2" fmla="*/ 0 w 22723"/>
                    <a:gd name="T3" fmla="*/ 43171 h 43200"/>
                    <a:gd name="T4" fmla="*/ 1123 w 22723"/>
                    <a:gd name="T5" fmla="*/ 21600 h 43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723" h="43200" fill="none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</a:path>
                    <a:path w="22723" h="43200" stroke="0" extrusionOk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199"/>
                        <a:pt x="374" y="43190"/>
                        <a:pt x="0" y="43170"/>
                      </a:cubicBezTo>
                      <a:lnTo>
                        <a:pt x="1123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97346" name="Rectangle 34"/>
              <p:cNvSpPr>
                <a:spLocks noChangeArrowheads="1"/>
              </p:cNvSpPr>
              <p:nvPr/>
            </p:nvSpPr>
            <p:spPr bwMode="auto">
              <a:xfrm>
                <a:off x="3176" y="2518"/>
                <a:ext cx="102" cy="295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7347" name="Text Box 35"/>
            <p:cNvSpPr txBox="1">
              <a:spLocks noChangeArrowheads="1"/>
            </p:cNvSpPr>
            <p:nvPr/>
          </p:nvSpPr>
          <p:spPr bwMode="auto">
            <a:xfrm>
              <a:off x="3285" y="2618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</a:p>
          </p:txBody>
        </p:sp>
      </p:grpSp>
      <p:sp>
        <p:nvSpPr>
          <p:cNvPr id="397348" name="Text Box 36"/>
          <p:cNvSpPr txBox="1">
            <a:spLocks noChangeArrowheads="1"/>
          </p:cNvSpPr>
          <p:nvPr/>
        </p:nvSpPr>
        <p:spPr bwMode="auto">
          <a:xfrm>
            <a:off x="468313" y="311150"/>
            <a:ext cx="26597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串联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谐振时的能量</a:t>
            </a:r>
          </a:p>
        </p:txBody>
      </p:sp>
      <p:grpSp>
        <p:nvGrpSpPr>
          <p:cNvPr id="397349" name="Group 37"/>
          <p:cNvGrpSpPr>
            <a:grpSpLocks/>
          </p:cNvGrpSpPr>
          <p:nvPr/>
        </p:nvGrpSpPr>
        <p:grpSpPr bwMode="auto">
          <a:xfrm>
            <a:off x="827088" y="836613"/>
            <a:ext cx="3598862" cy="1230312"/>
            <a:chOff x="1104" y="672"/>
            <a:chExt cx="2267" cy="775"/>
          </a:xfrm>
        </p:grpSpPr>
        <p:graphicFrame>
          <p:nvGraphicFramePr>
            <p:cNvPr id="397350" name="Object 38"/>
            <p:cNvGraphicFramePr>
              <a:graphicFrameLocks noChangeAspect="1"/>
            </p:cNvGraphicFramePr>
            <p:nvPr/>
          </p:nvGraphicFramePr>
          <p:xfrm>
            <a:off x="1440" y="703"/>
            <a:ext cx="1215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439" name="Equation" r:id="rId8" imgW="927000" imgH="228600" progId="Equation.3">
                    <p:embed/>
                  </p:oleObj>
                </mc:Choice>
                <mc:Fallback>
                  <p:oleObj name="Equation" r:id="rId8" imgW="927000" imgH="22860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703"/>
                          <a:ext cx="1215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7351" name="Text Box 39"/>
            <p:cNvSpPr txBox="1">
              <a:spLocks noChangeArrowheads="1"/>
            </p:cNvSpPr>
            <p:nvPr/>
          </p:nvSpPr>
          <p:spPr bwMode="auto">
            <a:xfrm>
              <a:off x="1104" y="67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设</a:t>
              </a:r>
            </a:p>
          </p:txBody>
        </p:sp>
        <p:graphicFrame>
          <p:nvGraphicFramePr>
            <p:cNvPr id="397352" name="Object 40"/>
            <p:cNvGraphicFramePr>
              <a:graphicFrameLocks noChangeAspect="1"/>
            </p:cNvGraphicFramePr>
            <p:nvPr/>
          </p:nvGraphicFramePr>
          <p:xfrm>
            <a:off x="1440" y="1008"/>
            <a:ext cx="1931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440" name="Equation" r:id="rId10" imgW="1676160" imgH="380880" progId="Equation.3">
                    <p:embed/>
                  </p:oleObj>
                </mc:Choice>
                <mc:Fallback>
                  <p:oleObj name="Equation" r:id="rId10" imgW="1676160" imgH="38088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008"/>
                          <a:ext cx="1931" cy="4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7353" name="Text Box 41"/>
            <p:cNvSpPr txBox="1">
              <a:spLocks noChangeArrowheads="1"/>
            </p:cNvSpPr>
            <p:nvPr/>
          </p:nvSpPr>
          <p:spPr bwMode="auto">
            <a:xfrm>
              <a:off x="1128" y="110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则</a:t>
              </a:r>
            </a:p>
          </p:txBody>
        </p:sp>
      </p:grpSp>
      <p:graphicFrame>
        <p:nvGraphicFramePr>
          <p:cNvPr id="397354" name="Object 42"/>
          <p:cNvGraphicFramePr>
            <a:graphicFrameLocks noChangeAspect="1"/>
          </p:cNvGraphicFramePr>
          <p:nvPr/>
        </p:nvGraphicFramePr>
        <p:xfrm>
          <a:off x="977900" y="5006975"/>
          <a:ext cx="683577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441" name="Equation" r:id="rId12" imgW="3936960" imgH="419040" progId="Equation.3">
                  <p:embed/>
                </p:oleObj>
              </mc:Choice>
              <mc:Fallback>
                <p:oleObj name="Equation" r:id="rId12" imgW="3936960" imgH="41904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5006975"/>
                        <a:ext cx="683577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7355" name="Group 43"/>
          <p:cNvGrpSpPr>
            <a:grpSpLocks/>
          </p:cNvGrpSpPr>
          <p:nvPr/>
        </p:nvGrpSpPr>
        <p:grpSpPr bwMode="auto">
          <a:xfrm>
            <a:off x="903288" y="4341813"/>
            <a:ext cx="5259387" cy="658812"/>
            <a:chOff x="1152" y="2880"/>
            <a:chExt cx="3313" cy="415"/>
          </a:xfrm>
        </p:grpSpPr>
        <p:graphicFrame>
          <p:nvGraphicFramePr>
            <p:cNvPr id="397356" name="Object 44"/>
            <p:cNvGraphicFramePr>
              <a:graphicFrameLocks noChangeAspect="1"/>
            </p:cNvGraphicFramePr>
            <p:nvPr/>
          </p:nvGraphicFramePr>
          <p:xfrm>
            <a:off x="2200" y="2880"/>
            <a:ext cx="2265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442" name="Equation" r:id="rId14" imgW="1765080" imgH="342720" progId="Equation.3">
                    <p:embed/>
                  </p:oleObj>
                </mc:Choice>
                <mc:Fallback>
                  <p:oleObj name="Equation" r:id="rId14" imgW="1765080" imgH="34272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2880"/>
                          <a:ext cx="2265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7357" name="Text Box 45"/>
            <p:cNvSpPr txBox="1">
              <a:spLocks noChangeArrowheads="1"/>
            </p:cNvSpPr>
            <p:nvPr/>
          </p:nvSpPr>
          <p:spPr bwMode="auto">
            <a:xfrm>
              <a:off x="1152" y="2944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磁场能量</a:t>
              </a:r>
            </a:p>
          </p:txBody>
        </p:sp>
      </p:grpSp>
      <p:grpSp>
        <p:nvGrpSpPr>
          <p:cNvPr id="397358" name="Group 46"/>
          <p:cNvGrpSpPr>
            <a:grpSpLocks/>
          </p:cNvGrpSpPr>
          <p:nvPr/>
        </p:nvGrpSpPr>
        <p:grpSpPr bwMode="auto">
          <a:xfrm>
            <a:off x="896938" y="5821363"/>
            <a:ext cx="7277100" cy="692150"/>
            <a:chOff x="1148" y="3812"/>
            <a:chExt cx="4584" cy="436"/>
          </a:xfrm>
        </p:grpSpPr>
        <p:sp>
          <p:nvSpPr>
            <p:cNvPr id="397359" name="Text Box 47"/>
            <p:cNvSpPr txBox="1">
              <a:spLocks noChangeArrowheads="1"/>
            </p:cNvSpPr>
            <p:nvPr/>
          </p:nvSpPr>
          <p:spPr bwMode="auto">
            <a:xfrm>
              <a:off x="1148" y="3862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电场能量</a:t>
              </a:r>
            </a:p>
          </p:txBody>
        </p:sp>
        <p:graphicFrame>
          <p:nvGraphicFramePr>
            <p:cNvPr id="397360" name="Object 48"/>
            <p:cNvGraphicFramePr>
              <a:graphicFrameLocks noChangeAspect="1"/>
            </p:cNvGraphicFramePr>
            <p:nvPr/>
          </p:nvGraphicFramePr>
          <p:xfrm>
            <a:off x="2075" y="3830"/>
            <a:ext cx="934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443" name="公式" r:id="rId16" imgW="761760" imgH="342720" progId="Equation.3">
                    <p:embed/>
                  </p:oleObj>
                </mc:Choice>
                <mc:Fallback>
                  <p:oleObj name="公式" r:id="rId16" imgW="761760" imgH="34272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5" y="3830"/>
                          <a:ext cx="934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7361" name="Object 49"/>
            <p:cNvGraphicFramePr>
              <a:graphicFrameLocks noChangeAspect="1"/>
            </p:cNvGraphicFramePr>
            <p:nvPr/>
          </p:nvGraphicFramePr>
          <p:xfrm>
            <a:off x="4424" y="3812"/>
            <a:ext cx="1308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444" name="Equation" r:id="rId18" imgW="1066680" imgH="342720" progId="Equation.3">
                    <p:embed/>
                  </p:oleObj>
                </mc:Choice>
                <mc:Fallback>
                  <p:oleObj name="Equation" r:id="rId18" imgW="1066680" imgH="34272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4" y="3812"/>
                          <a:ext cx="1308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7362" name="Object 50"/>
            <p:cNvGraphicFramePr>
              <a:graphicFrameLocks noChangeAspect="1"/>
            </p:cNvGraphicFramePr>
            <p:nvPr/>
          </p:nvGraphicFramePr>
          <p:xfrm>
            <a:off x="2999" y="3812"/>
            <a:ext cx="1448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445" name="Equation" r:id="rId20" imgW="1180800" imgH="342720" progId="Equation.3">
                    <p:embed/>
                  </p:oleObj>
                </mc:Choice>
                <mc:Fallback>
                  <p:oleObj name="Equation" r:id="rId20" imgW="1180800" imgH="34272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9" y="3812"/>
                          <a:ext cx="1448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7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458" name="Group 2"/>
          <p:cNvGrpSpPr>
            <a:grpSpLocks/>
          </p:cNvGrpSpPr>
          <p:nvPr/>
        </p:nvGrpSpPr>
        <p:grpSpPr bwMode="auto">
          <a:xfrm>
            <a:off x="1082675" y="1006475"/>
            <a:ext cx="2708275" cy="2541588"/>
            <a:chOff x="364" y="1831"/>
            <a:chExt cx="1706" cy="1601"/>
          </a:xfrm>
        </p:grpSpPr>
        <p:grpSp>
          <p:nvGrpSpPr>
            <p:cNvPr id="403459" name="Group 3"/>
            <p:cNvGrpSpPr>
              <a:grpSpLocks/>
            </p:cNvGrpSpPr>
            <p:nvPr/>
          </p:nvGrpSpPr>
          <p:grpSpPr bwMode="auto">
            <a:xfrm>
              <a:off x="1356" y="3126"/>
              <a:ext cx="258" cy="91"/>
              <a:chOff x="1351" y="3976"/>
              <a:chExt cx="174" cy="93"/>
            </a:xfrm>
          </p:grpSpPr>
          <p:sp>
            <p:nvSpPr>
              <p:cNvPr id="403460" name="Line 4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3461" name="Line 5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03462" name="Line 6"/>
            <p:cNvSpPr>
              <a:spLocks noChangeShapeType="1"/>
            </p:cNvSpPr>
            <p:nvPr/>
          </p:nvSpPr>
          <p:spPr bwMode="auto">
            <a:xfrm>
              <a:off x="1487" y="2928"/>
              <a:ext cx="1" cy="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3463" name="Line 7"/>
            <p:cNvSpPr>
              <a:spLocks noChangeShapeType="1"/>
            </p:cNvSpPr>
            <p:nvPr/>
          </p:nvSpPr>
          <p:spPr bwMode="auto">
            <a:xfrm>
              <a:off x="1488" y="321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3464" name="Line 8"/>
            <p:cNvSpPr>
              <a:spLocks noChangeShapeType="1"/>
            </p:cNvSpPr>
            <p:nvPr/>
          </p:nvSpPr>
          <p:spPr bwMode="auto">
            <a:xfrm>
              <a:off x="516" y="3402"/>
              <a:ext cx="9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3465" name="Line 9"/>
            <p:cNvSpPr>
              <a:spLocks noChangeShapeType="1"/>
            </p:cNvSpPr>
            <p:nvPr/>
          </p:nvSpPr>
          <p:spPr bwMode="auto">
            <a:xfrm>
              <a:off x="516" y="2358"/>
              <a:ext cx="3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3466" name="Line 10"/>
            <p:cNvSpPr>
              <a:spLocks noChangeShapeType="1"/>
            </p:cNvSpPr>
            <p:nvPr/>
          </p:nvSpPr>
          <p:spPr bwMode="auto">
            <a:xfrm flipV="1">
              <a:off x="1488" y="2352"/>
              <a:ext cx="0" cy="1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3467" name="Object 11"/>
            <p:cNvGraphicFramePr>
              <a:graphicFrameLocks noChangeAspect="1"/>
            </p:cNvGraphicFramePr>
            <p:nvPr/>
          </p:nvGraphicFramePr>
          <p:xfrm>
            <a:off x="516" y="1831"/>
            <a:ext cx="159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592" name="公式" r:id="rId4" imgW="126720" imgH="330120" progId="Equation.3">
                    <p:embed/>
                  </p:oleObj>
                </mc:Choice>
                <mc:Fallback>
                  <p:oleObj name="公式" r:id="rId4" imgW="126720" imgH="33012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" y="1831"/>
                          <a:ext cx="159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3468" name="Text Box 12"/>
            <p:cNvSpPr txBox="1">
              <a:spLocks noChangeArrowheads="1"/>
            </p:cNvSpPr>
            <p:nvPr/>
          </p:nvSpPr>
          <p:spPr bwMode="auto">
            <a:xfrm>
              <a:off x="888" y="202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03469" name="Text Box 13"/>
            <p:cNvSpPr txBox="1">
              <a:spLocks noChangeArrowheads="1"/>
            </p:cNvSpPr>
            <p:nvPr/>
          </p:nvSpPr>
          <p:spPr bwMode="auto">
            <a:xfrm>
              <a:off x="1584" y="2550"/>
              <a:ext cx="4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j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03470" name="Line 14"/>
            <p:cNvSpPr>
              <a:spLocks noChangeShapeType="1"/>
            </p:cNvSpPr>
            <p:nvPr/>
          </p:nvSpPr>
          <p:spPr bwMode="auto">
            <a:xfrm>
              <a:off x="1152" y="2352"/>
              <a:ext cx="336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3471" name="Line 15"/>
            <p:cNvSpPr>
              <a:spLocks noChangeShapeType="1"/>
            </p:cNvSpPr>
            <p:nvPr/>
          </p:nvSpPr>
          <p:spPr bwMode="auto">
            <a:xfrm>
              <a:off x="480" y="2264"/>
              <a:ext cx="28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3472" name="Text Box 16"/>
            <p:cNvSpPr txBox="1">
              <a:spLocks noChangeArrowheads="1"/>
            </p:cNvSpPr>
            <p:nvPr/>
          </p:nvSpPr>
          <p:spPr bwMode="auto">
            <a:xfrm>
              <a:off x="374" y="2376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03473" name="Text Box 17"/>
            <p:cNvSpPr txBox="1">
              <a:spLocks noChangeArrowheads="1"/>
            </p:cNvSpPr>
            <p:nvPr/>
          </p:nvSpPr>
          <p:spPr bwMode="auto">
            <a:xfrm>
              <a:off x="364" y="299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grpSp>
          <p:nvGrpSpPr>
            <p:cNvPr id="403474" name="Group 18"/>
            <p:cNvGrpSpPr>
              <a:grpSpLocks/>
            </p:cNvGrpSpPr>
            <p:nvPr/>
          </p:nvGrpSpPr>
          <p:grpSpPr bwMode="auto">
            <a:xfrm rot="5400000">
              <a:off x="1327" y="2711"/>
              <a:ext cx="379" cy="57"/>
              <a:chOff x="1200" y="1584"/>
              <a:chExt cx="379" cy="45"/>
            </a:xfrm>
          </p:grpSpPr>
          <p:sp>
            <p:nvSpPr>
              <p:cNvPr id="403475" name="Arc 19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3476" name="Arc 20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3477" name="Arc 21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3478" name="Arc 22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03479" name="Oval 23"/>
            <p:cNvSpPr>
              <a:spLocks noChangeArrowheads="1"/>
            </p:cNvSpPr>
            <p:nvPr/>
          </p:nvSpPr>
          <p:spPr bwMode="auto">
            <a:xfrm>
              <a:off x="468" y="3372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3480" name="Oval 24"/>
            <p:cNvSpPr>
              <a:spLocks noChangeArrowheads="1"/>
            </p:cNvSpPr>
            <p:nvPr/>
          </p:nvSpPr>
          <p:spPr bwMode="auto">
            <a:xfrm>
              <a:off x="468" y="232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3481" name="Rectangle 25"/>
            <p:cNvSpPr>
              <a:spLocks noChangeArrowheads="1"/>
            </p:cNvSpPr>
            <p:nvPr/>
          </p:nvSpPr>
          <p:spPr bwMode="auto">
            <a:xfrm>
              <a:off x="864" y="2306"/>
              <a:ext cx="295" cy="113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3482" name="Object 26"/>
            <p:cNvGraphicFramePr>
              <a:graphicFrameLocks noChangeAspect="1"/>
            </p:cNvGraphicFramePr>
            <p:nvPr/>
          </p:nvGraphicFramePr>
          <p:xfrm>
            <a:off x="1622" y="2908"/>
            <a:ext cx="448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593" name="公式" r:id="rId6" imgW="368280" imgH="431640" progId="Equation.3">
                    <p:embed/>
                  </p:oleObj>
                </mc:Choice>
                <mc:Fallback>
                  <p:oleObj name="公式" r:id="rId6" imgW="368280" imgH="43164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2" y="2908"/>
                          <a:ext cx="448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3483" name="Object 27"/>
            <p:cNvGraphicFramePr>
              <a:graphicFrameLocks noChangeAspect="1"/>
            </p:cNvGraphicFramePr>
            <p:nvPr/>
          </p:nvGraphicFramePr>
          <p:xfrm>
            <a:off x="380" y="2610"/>
            <a:ext cx="207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594" name="公式" r:id="rId8" imgW="164880" imgH="342720" progId="Equation.3">
                    <p:embed/>
                  </p:oleObj>
                </mc:Choice>
                <mc:Fallback>
                  <p:oleObj name="公式" r:id="rId8" imgW="164880" imgH="34272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" y="2610"/>
                          <a:ext cx="207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3484" name="Object 28"/>
          <p:cNvGraphicFramePr>
            <a:graphicFrameLocks noChangeAspect="1"/>
          </p:cNvGraphicFramePr>
          <p:nvPr/>
        </p:nvGraphicFramePr>
        <p:xfrm>
          <a:off x="2286000" y="4821238"/>
          <a:ext cx="15176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595" name="Equation" r:id="rId10" imgW="749160" imgH="317160" progId="Equation.3">
                  <p:embed/>
                </p:oleObj>
              </mc:Choice>
              <mc:Fallback>
                <p:oleObj name="Equation" r:id="rId10" imgW="749160" imgH="3171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821238"/>
                        <a:ext cx="151765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85" name="Object 29"/>
          <p:cNvGraphicFramePr>
            <a:graphicFrameLocks noChangeAspect="1"/>
          </p:cNvGraphicFramePr>
          <p:nvPr/>
        </p:nvGraphicFramePr>
        <p:xfrm>
          <a:off x="4327525" y="4986338"/>
          <a:ext cx="17002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596" name="Equation" r:id="rId12" imgW="838080" imgH="241200" progId="Equation.3">
                  <p:embed/>
                </p:oleObj>
              </mc:Choice>
              <mc:Fallback>
                <p:oleObj name="Equation" r:id="rId12" imgW="838080" imgH="2412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7525" y="4986338"/>
                        <a:ext cx="170021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86" name="Text Box 30"/>
          <p:cNvSpPr txBox="1">
            <a:spLocks noChangeArrowheads="1"/>
          </p:cNvSpPr>
          <p:nvPr/>
        </p:nvSpPr>
        <p:spPr bwMode="auto">
          <a:xfrm>
            <a:off x="1490663" y="5638800"/>
            <a:ext cx="811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大</a:t>
            </a:r>
          </a:p>
        </p:txBody>
      </p:sp>
      <p:sp>
        <p:nvSpPr>
          <p:cNvPr id="403487" name="Text Box 31"/>
          <p:cNvSpPr txBox="1">
            <a:spLocks noChangeArrowheads="1"/>
          </p:cNvSpPr>
          <p:nvPr/>
        </p:nvSpPr>
        <p:spPr bwMode="auto">
          <a:xfrm>
            <a:off x="568325" y="765175"/>
            <a:ext cx="5137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1.  </a:t>
            </a:r>
            <a:r>
              <a:rPr kumimoji="1" lang="zh-CN" altLang="en-US" sz="2400" b="1">
                <a:solidFill>
                  <a:srgbClr val="3333FF"/>
                </a:solidFill>
                <a:latin typeface="Times New Roman" panose="02020603050405020304" pitchFamily="18" charset="0"/>
              </a:rPr>
              <a:t>从放大信号的能力来衡量谐振电路</a:t>
            </a:r>
          </a:p>
        </p:txBody>
      </p:sp>
      <p:graphicFrame>
        <p:nvGraphicFramePr>
          <p:cNvPr id="403488" name="Object 32"/>
          <p:cNvGraphicFramePr>
            <a:graphicFrameLocks noChangeAspect="1"/>
          </p:cNvGraphicFramePr>
          <p:nvPr/>
        </p:nvGraphicFramePr>
        <p:xfrm>
          <a:off x="4105275" y="2117725"/>
          <a:ext cx="12700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597" name="Equation" r:id="rId14" imgW="622080" imgH="406080" progId="Equation.3">
                  <p:embed/>
                </p:oleObj>
              </mc:Choice>
              <mc:Fallback>
                <p:oleObj name="Equation" r:id="rId14" imgW="622080" imgH="40608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275" y="2117725"/>
                        <a:ext cx="12700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89" name="Object 33"/>
          <p:cNvGraphicFramePr>
            <a:graphicFrameLocks noChangeAspect="1"/>
          </p:cNvGraphicFramePr>
          <p:nvPr/>
        </p:nvGraphicFramePr>
        <p:xfrm>
          <a:off x="4443413" y="2822575"/>
          <a:ext cx="1065212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598" name="Equation" r:id="rId16" imgW="444240" imgH="406080" progId="Equation.3">
                  <p:embed/>
                </p:oleObj>
              </mc:Choice>
              <mc:Fallback>
                <p:oleObj name="Equation" r:id="rId16" imgW="444240" imgH="40608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3413" y="2822575"/>
                        <a:ext cx="1065212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90" name="Object 34"/>
          <p:cNvGraphicFramePr>
            <a:graphicFrameLocks noChangeAspect="1"/>
          </p:cNvGraphicFramePr>
          <p:nvPr/>
        </p:nvGraphicFramePr>
        <p:xfrm>
          <a:off x="5462588" y="2805113"/>
          <a:ext cx="1370012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599" name="Equation" r:id="rId18" imgW="571320" imgH="444240" progId="Equation.3">
                  <p:embed/>
                </p:oleObj>
              </mc:Choice>
              <mc:Fallback>
                <p:oleObj name="Equation" r:id="rId18" imgW="571320" imgH="44424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588" y="2805113"/>
                        <a:ext cx="1370012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91" name="Object 35"/>
          <p:cNvGraphicFramePr>
            <a:graphicFrameLocks noChangeAspect="1"/>
          </p:cNvGraphicFramePr>
          <p:nvPr/>
        </p:nvGraphicFramePr>
        <p:xfrm>
          <a:off x="6858000" y="2746375"/>
          <a:ext cx="139858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600" name="Equation" r:id="rId20" imgW="583920" imgH="444240" progId="Equation.3">
                  <p:embed/>
                </p:oleObj>
              </mc:Choice>
              <mc:Fallback>
                <p:oleObj name="Equation" r:id="rId20" imgW="583920" imgH="44424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746375"/>
                        <a:ext cx="1398588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92" name="Oval 36"/>
          <p:cNvSpPr>
            <a:spLocks noChangeArrowheads="1"/>
          </p:cNvSpPr>
          <p:nvPr/>
        </p:nvSpPr>
        <p:spPr bwMode="auto">
          <a:xfrm>
            <a:off x="7134225" y="2667000"/>
            <a:ext cx="765175" cy="1214438"/>
          </a:xfrm>
          <a:prstGeom prst="ellipse">
            <a:avLst/>
          </a:prstGeom>
          <a:noFill/>
          <a:ln w="349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3493" name="Object 37"/>
          <p:cNvGraphicFramePr>
            <a:graphicFrameLocks noChangeAspect="1"/>
          </p:cNvGraphicFramePr>
          <p:nvPr/>
        </p:nvGraphicFramePr>
        <p:xfrm>
          <a:off x="5629275" y="3930650"/>
          <a:ext cx="284480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601" name="公式" r:id="rId22" imgW="1434960" imgH="406080" progId="Equation.3">
                  <p:embed/>
                </p:oleObj>
              </mc:Choice>
              <mc:Fallback>
                <p:oleObj name="公式" r:id="rId22" imgW="1434960" imgH="40608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3930650"/>
                        <a:ext cx="2844800" cy="8016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00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94" name="Text Box 38"/>
          <p:cNvSpPr txBox="1">
            <a:spLocks noChangeArrowheads="1"/>
          </p:cNvSpPr>
          <p:nvPr/>
        </p:nvSpPr>
        <p:spPr bwMode="auto">
          <a:xfrm>
            <a:off x="1443038" y="3841750"/>
            <a:ext cx="35242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特性阻抗 </a:t>
            </a:r>
          </a:p>
          <a:p>
            <a:pPr algn="l" eaLnBrk="0" hangingPunct="0">
              <a:spcBef>
                <a:spcPct val="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characteristic impedance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03495" name="Rectangle 39"/>
          <p:cNvSpPr>
            <a:spLocks noChangeArrowheads="1"/>
          </p:cNvSpPr>
          <p:nvPr/>
        </p:nvSpPr>
        <p:spPr bwMode="auto">
          <a:xfrm>
            <a:off x="3305175" y="3824288"/>
            <a:ext cx="1333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单位：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403496" name="Text Box 40"/>
          <p:cNvSpPr txBox="1">
            <a:spLocks noChangeArrowheads="1"/>
          </p:cNvSpPr>
          <p:nvPr/>
        </p:nvSpPr>
        <p:spPr bwMode="auto">
          <a:xfrm>
            <a:off x="1476375" y="6092825"/>
            <a:ext cx="7231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对并联谐振电路分析可以得到类似的电流放大结果。</a:t>
            </a:r>
          </a:p>
        </p:txBody>
      </p:sp>
      <p:grpSp>
        <p:nvGrpSpPr>
          <p:cNvPr id="403497" name="Group 41"/>
          <p:cNvGrpSpPr>
            <a:grpSpLocks/>
          </p:cNvGrpSpPr>
          <p:nvPr/>
        </p:nvGrpSpPr>
        <p:grpSpPr bwMode="auto">
          <a:xfrm>
            <a:off x="2481263" y="5624513"/>
            <a:ext cx="5981700" cy="457200"/>
            <a:chOff x="1833" y="3255"/>
            <a:chExt cx="3768" cy="288"/>
          </a:xfrm>
        </p:grpSpPr>
        <p:sp>
          <p:nvSpPr>
            <p:cNvPr id="403498" name="Text Box 42"/>
            <p:cNvSpPr txBox="1">
              <a:spLocks noChangeArrowheads="1"/>
            </p:cNvSpPr>
            <p:nvPr/>
          </p:nvSpPr>
          <p:spPr bwMode="auto">
            <a:xfrm>
              <a:off x="2352" y="3255"/>
              <a:ext cx="3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谐振电路对电压或电流的放大能力大</a:t>
              </a:r>
            </a:p>
          </p:txBody>
        </p:sp>
        <p:sp>
          <p:nvSpPr>
            <p:cNvPr id="403499" name="Line 43"/>
            <p:cNvSpPr>
              <a:spLocks noChangeShapeType="1"/>
            </p:cNvSpPr>
            <p:nvPr/>
          </p:nvSpPr>
          <p:spPr bwMode="auto">
            <a:xfrm>
              <a:off x="1833" y="3405"/>
              <a:ext cx="567" cy="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03500" name="Object 44"/>
          <p:cNvGraphicFramePr>
            <a:graphicFrameLocks noChangeAspect="1"/>
          </p:cNvGraphicFramePr>
          <p:nvPr/>
        </p:nvGraphicFramePr>
        <p:xfrm>
          <a:off x="4019550" y="1143000"/>
          <a:ext cx="3505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602" name="Equation" r:id="rId24" imgW="1536480" imgH="406080" progId="Equation.3">
                  <p:embed/>
                </p:oleObj>
              </mc:Choice>
              <mc:Fallback>
                <p:oleObj name="Equation" r:id="rId24" imgW="1536480" imgH="40608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550" y="1143000"/>
                        <a:ext cx="3505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501" name="Text Box 45"/>
          <p:cNvSpPr txBox="1">
            <a:spLocks noChangeArrowheads="1"/>
          </p:cNvSpPr>
          <p:nvPr/>
        </p:nvSpPr>
        <p:spPr bwMode="auto">
          <a:xfrm>
            <a:off x="323850" y="188913"/>
            <a:ext cx="6480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三、衡量电路谐振程度的指标</a:t>
            </a:r>
            <a:r>
              <a:rPr lang="en-US" altLang="zh-CN" sz="2400" b="1">
                <a:latin typeface="宋体" panose="02010600030101010101" pitchFamily="2" charset="-122"/>
              </a:rPr>
              <a:t>——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品质因数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3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3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3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3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03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0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0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0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3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03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03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03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03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03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3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3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03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03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03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0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0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0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86" grpId="0" autoUpdateAnimBg="0"/>
      <p:bldP spid="403487" grpId="0" autoUpdateAnimBg="0"/>
      <p:bldP spid="403494" grpId="0" autoUpdateAnimBg="0"/>
      <p:bldP spid="403495" grpId="0" build="p" autoUpdateAnimBg="0"/>
      <p:bldP spid="40349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Text Box 2"/>
          <p:cNvSpPr txBox="1">
            <a:spLocks noChangeArrowheads="1"/>
          </p:cNvSpPr>
          <p:nvPr/>
        </p:nvSpPr>
        <p:spPr bwMode="auto">
          <a:xfrm>
            <a:off x="714375" y="312738"/>
            <a:ext cx="5137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2.  </a:t>
            </a:r>
            <a:r>
              <a:rPr kumimoji="1" lang="zh-CN" altLang="en-US" sz="2400" b="1">
                <a:solidFill>
                  <a:srgbClr val="3333FF"/>
                </a:solidFill>
                <a:latin typeface="Times New Roman" panose="02020603050405020304" pitchFamily="18" charset="0"/>
              </a:rPr>
              <a:t>从电磁能量的转换来衡量谐振电路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405507" name="Object 3"/>
          <p:cNvGraphicFramePr>
            <a:graphicFrameLocks noChangeAspect="1"/>
          </p:cNvGraphicFramePr>
          <p:nvPr/>
        </p:nvGraphicFramePr>
        <p:xfrm>
          <a:off x="1290638" y="915988"/>
          <a:ext cx="208915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34" name="Equation" r:id="rId4" imgW="1002960" imgH="228600" progId="Equation.3">
                  <p:embed/>
                </p:oleObj>
              </mc:Choice>
              <mc:Fallback>
                <p:oleObj name="Equation" r:id="rId4" imgW="100296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915988"/>
                        <a:ext cx="208915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08" name="Object 4"/>
          <p:cNvGraphicFramePr>
            <a:graphicFrameLocks noChangeAspect="1"/>
          </p:cNvGraphicFramePr>
          <p:nvPr/>
        </p:nvGraphicFramePr>
        <p:xfrm>
          <a:off x="1236663" y="1512888"/>
          <a:ext cx="34131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35" name="Equation" r:id="rId6" imgW="1866600" imgH="380880" progId="Equation.3">
                  <p:embed/>
                </p:oleObj>
              </mc:Choice>
              <mc:Fallback>
                <p:oleObj name="Equation" r:id="rId6" imgW="1866600" imgH="3808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663" y="1512888"/>
                        <a:ext cx="341312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09" name="Object 5"/>
          <p:cNvGraphicFramePr>
            <a:graphicFrameLocks noChangeAspect="1"/>
          </p:cNvGraphicFramePr>
          <p:nvPr/>
        </p:nvGraphicFramePr>
        <p:xfrm>
          <a:off x="1171575" y="2293938"/>
          <a:ext cx="609600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36" name="Equation" r:id="rId8" imgW="2793960" imgH="342720" progId="Equation.3">
                  <p:embed/>
                </p:oleObj>
              </mc:Choice>
              <mc:Fallback>
                <p:oleObj name="Equation" r:id="rId8" imgW="2793960" imgH="3427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2293938"/>
                        <a:ext cx="6096000" cy="750887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bg1"/>
                          </a:gs>
                          <a:gs pos="100000">
                            <a:schemeClr val="bg1">
                              <a:gamma/>
                              <a:tint val="0"/>
                              <a:invGamma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5510" name="Group 6"/>
          <p:cNvGrpSpPr>
            <a:grpSpLocks/>
          </p:cNvGrpSpPr>
          <p:nvPr/>
        </p:nvGrpSpPr>
        <p:grpSpPr bwMode="auto">
          <a:xfrm>
            <a:off x="7042150" y="44450"/>
            <a:ext cx="2066925" cy="1854200"/>
            <a:chOff x="3869" y="149"/>
            <a:chExt cx="1737" cy="1558"/>
          </a:xfrm>
        </p:grpSpPr>
        <p:grpSp>
          <p:nvGrpSpPr>
            <p:cNvPr id="405511" name="Group 7"/>
            <p:cNvGrpSpPr>
              <a:grpSpLocks/>
            </p:cNvGrpSpPr>
            <p:nvPr/>
          </p:nvGrpSpPr>
          <p:grpSpPr bwMode="auto">
            <a:xfrm>
              <a:off x="4861" y="1295"/>
              <a:ext cx="258" cy="91"/>
              <a:chOff x="1351" y="3976"/>
              <a:chExt cx="174" cy="93"/>
            </a:xfrm>
          </p:grpSpPr>
          <p:sp>
            <p:nvSpPr>
              <p:cNvPr id="405512" name="Line 8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5513" name="Line 9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05514" name="Line 10"/>
            <p:cNvSpPr>
              <a:spLocks noChangeShapeType="1"/>
            </p:cNvSpPr>
            <p:nvPr/>
          </p:nvSpPr>
          <p:spPr bwMode="auto">
            <a:xfrm>
              <a:off x="4992" y="1097"/>
              <a:ext cx="1" cy="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5515" name="Line 11"/>
            <p:cNvSpPr>
              <a:spLocks noChangeShapeType="1"/>
            </p:cNvSpPr>
            <p:nvPr/>
          </p:nvSpPr>
          <p:spPr bwMode="auto">
            <a:xfrm>
              <a:off x="4993" y="1385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5516" name="Line 12"/>
            <p:cNvSpPr>
              <a:spLocks noChangeShapeType="1"/>
            </p:cNvSpPr>
            <p:nvPr/>
          </p:nvSpPr>
          <p:spPr bwMode="auto">
            <a:xfrm>
              <a:off x="4021" y="1571"/>
              <a:ext cx="9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5517" name="Line 13"/>
            <p:cNvSpPr>
              <a:spLocks noChangeShapeType="1"/>
            </p:cNvSpPr>
            <p:nvPr/>
          </p:nvSpPr>
          <p:spPr bwMode="auto">
            <a:xfrm>
              <a:off x="4021" y="527"/>
              <a:ext cx="3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5518" name="Line 14"/>
            <p:cNvSpPr>
              <a:spLocks noChangeShapeType="1"/>
            </p:cNvSpPr>
            <p:nvPr/>
          </p:nvSpPr>
          <p:spPr bwMode="auto">
            <a:xfrm flipV="1">
              <a:off x="4993" y="521"/>
              <a:ext cx="0" cy="1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5519" name="Object 15"/>
            <p:cNvGraphicFramePr>
              <a:graphicFrameLocks noChangeAspect="1"/>
            </p:cNvGraphicFramePr>
            <p:nvPr/>
          </p:nvGraphicFramePr>
          <p:xfrm>
            <a:off x="4021" y="149"/>
            <a:ext cx="159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5637" name="公式" r:id="rId10" imgW="126720" imgH="190440" progId="Equation.3">
                    <p:embed/>
                  </p:oleObj>
                </mc:Choice>
                <mc:Fallback>
                  <p:oleObj name="公式" r:id="rId10" imgW="126720" imgH="19044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1" y="149"/>
                          <a:ext cx="159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5520" name="Text Box 16"/>
            <p:cNvSpPr txBox="1">
              <a:spLocks noChangeArrowheads="1"/>
            </p:cNvSpPr>
            <p:nvPr/>
          </p:nvSpPr>
          <p:spPr bwMode="auto">
            <a:xfrm>
              <a:off x="4393" y="237"/>
              <a:ext cx="283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05521" name="Text Box 17"/>
            <p:cNvSpPr txBox="1">
              <a:spLocks noChangeArrowheads="1"/>
            </p:cNvSpPr>
            <p:nvPr/>
          </p:nvSpPr>
          <p:spPr bwMode="auto">
            <a:xfrm>
              <a:off x="5089" y="767"/>
              <a:ext cx="517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b="1">
                  <a:latin typeface="Times New Roman" panose="02020603050405020304" pitchFamily="18" charset="0"/>
                </a:rPr>
                <a:t>j</a:t>
              </a:r>
              <a:r>
                <a:rPr kumimoji="1" lang="en-US" altLang="zh-CN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r>
                <a:rPr kumimoji="1" lang="en-US" altLang="zh-CN" b="1" i="1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05522" name="Line 18"/>
            <p:cNvSpPr>
              <a:spLocks noChangeShapeType="1"/>
            </p:cNvSpPr>
            <p:nvPr/>
          </p:nvSpPr>
          <p:spPr bwMode="auto">
            <a:xfrm>
              <a:off x="4657" y="521"/>
              <a:ext cx="336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5523" name="Line 19"/>
            <p:cNvSpPr>
              <a:spLocks noChangeShapeType="1"/>
            </p:cNvSpPr>
            <p:nvPr/>
          </p:nvSpPr>
          <p:spPr bwMode="auto">
            <a:xfrm>
              <a:off x="3985" y="433"/>
              <a:ext cx="28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5524" name="Text Box 20"/>
            <p:cNvSpPr txBox="1">
              <a:spLocks noChangeArrowheads="1"/>
            </p:cNvSpPr>
            <p:nvPr/>
          </p:nvSpPr>
          <p:spPr bwMode="auto">
            <a:xfrm>
              <a:off x="3878" y="545"/>
              <a:ext cx="300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05525" name="Text Box 21"/>
            <p:cNvSpPr txBox="1">
              <a:spLocks noChangeArrowheads="1"/>
            </p:cNvSpPr>
            <p:nvPr/>
          </p:nvSpPr>
          <p:spPr bwMode="auto">
            <a:xfrm>
              <a:off x="3869" y="1161"/>
              <a:ext cx="283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grpSp>
          <p:nvGrpSpPr>
            <p:cNvPr id="405526" name="Group 22"/>
            <p:cNvGrpSpPr>
              <a:grpSpLocks/>
            </p:cNvGrpSpPr>
            <p:nvPr/>
          </p:nvGrpSpPr>
          <p:grpSpPr bwMode="auto">
            <a:xfrm rot="5400000">
              <a:off x="4832" y="880"/>
              <a:ext cx="379" cy="57"/>
              <a:chOff x="1200" y="1584"/>
              <a:chExt cx="379" cy="45"/>
            </a:xfrm>
          </p:grpSpPr>
          <p:sp>
            <p:nvSpPr>
              <p:cNvPr id="405527" name="Arc 23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28" name="Arc 24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29" name="Arc 25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30" name="Arc 26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05531" name="Oval 27"/>
            <p:cNvSpPr>
              <a:spLocks noChangeArrowheads="1"/>
            </p:cNvSpPr>
            <p:nvPr/>
          </p:nvSpPr>
          <p:spPr bwMode="auto">
            <a:xfrm>
              <a:off x="3973" y="1541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5532" name="Oval 28"/>
            <p:cNvSpPr>
              <a:spLocks noChangeArrowheads="1"/>
            </p:cNvSpPr>
            <p:nvPr/>
          </p:nvSpPr>
          <p:spPr bwMode="auto">
            <a:xfrm>
              <a:off x="3973" y="497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5533" name="Rectangle 29"/>
            <p:cNvSpPr>
              <a:spLocks noChangeArrowheads="1"/>
            </p:cNvSpPr>
            <p:nvPr/>
          </p:nvSpPr>
          <p:spPr bwMode="auto">
            <a:xfrm>
              <a:off x="4369" y="475"/>
              <a:ext cx="295" cy="113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5534" name="Object 30"/>
            <p:cNvGraphicFramePr>
              <a:graphicFrameLocks noChangeAspect="1"/>
            </p:cNvGraphicFramePr>
            <p:nvPr/>
          </p:nvGraphicFramePr>
          <p:xfrm>
            <a:off x="5127" y="1077"/>
            <a:ext cx="448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5638" name="公式" r:id="rId12" imgW="368280" imgH="431640" progId="Equation.3">
                    <p:embed/>
                  </p:oleObj>
                </mc:Choice>
                <mc:Fallback>
                  <p:oleObj name="公式" r:id="rId12" imgW="368280" imgH="43164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7" y="1077"/>
                          <a:ext cx="448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5535" name="Object 31"/>
            <p:cNvGraphicFramePr>
              <a:graphicFrameLocks noChangeAspect="1"/>
            </p:cNvGraphicFramePr>
            <p:nvPr/>
          </p:nvGraphicFramePr>
          <p:xfrm>
            <a:off x="3885" y="779"/>
            <a:ext cx="207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5639" name="公式" r:id="rId14" imgW="164880" imgH="342720" progId="Equation.3">
                    <p:embed/>
                  </p:oleObj>
                </mc:Choice>
                <mc:Fallback>
                  <p:oleObj name="公式" r:id="rId14" imgW="164880" imgH="34272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5" y="779"/>
                          <a:ext cx="207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05536" name="Group 32"/>
            <p:cNvGrpSpPr>
              <a:grpSpLocks/>
            </p:cNvGrpSpPr>
            <p:nvPr/>
          </p:nvGrpSpPr>
          <p:grpSpPr bwMode="auto">
            <a:xfrm>
              <a:off x="4692" y="554"/>
              <a:ext cx="327" cy="730"/>
              <a:chOff x="4596" y="554"/>
              <a:chExt cx="327" cy="730"/>
            </a:xfrm>
          </p:grpSpPr>
          <p:sp>
            <p:nvSpPr>
              <p:cNvPr id="405537" name="Text Box 33"/>
              <p:cNvSpPr txBox="1">
                <a:spLocks noChangeArrowheads="1"/>
              </p:cNvSpPr>
              <p:nvPr/>
            </p:nvSpPr>
            <p:spPr bwMode="auto">
              <a:xfrm>
                <a:off x="4596" y="554"/>
                <a:ext cx="300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>
                  <a:spcBef>
                    <a:spcPct val="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</a:p>
            </p:txBody>
          </p:sp>
          <p:sp>
            <p:nvSpPr>
              <p:cNvPr id="405538" name="Text Box 34"/>
              <p:cNvSpPr txBox="1">
                <a:spLocks noChangeArrowheads="1"/>
              </p:cNvSpPr>
              <p:nvPr/>
            </p:nvSpPr>
            <p:spPr bwMode="auto">
              <a:xfrm>
                <a:off x="4638" y="900"/>
                <a:ext cx="285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>
                  <a:spcBef>
                    <a:spcPct val="0"/>
                  </a:spcBef>
                </a:pPr>
                <a:r>
                  <a:rPr kumimoji="1"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-</a:t>
                </a:r>
              </a:p>
            </p:txBody>
          </p:sp>
          <p:graphicFrame>
            <p:nvGraphicFramePr>
              <p:cNvPr id="405539" name="Object 35"/>
              <p:cNvGraphicFramePr>
                <a:graphicFrameLocks noChangeAspect="1"/>
              </p:cNvGraphicFramePr>
              <p:nvPr/>
            </p:nvGraphicFramePr>
            <p:xfrm>
              <a:off x="4635" y="788"/>
              <a:ext cx="272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5640" name="公式" r:id="rId16" imgW="228600" imgH="228600" progId="Equation.3">
                      <p:embed/>
                    </p:oleObj>
                  </mc:Choice>
                  <mc:Fallback>
                    <p:oleObj name="公式" r:id="rId16" imgW="228600" imgH="228600" progId="Equation.3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35" y="788"/>
                            <a:ext cx="272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05540" name="Group 36"/>
            <p:cNvGrpSpPr>
              <a:grpSpLocks/>
            </p:cNvGrpSpPr>
            <p:nvPr/>
          </p:nvGrpSpPr>
          <p:grpSpPr bwMode="auto">
            <a:xfrm>
              <a:off x="4618" y="1004"/>
              <a:ext cx="312" cy="703"/>
              <a:chOff x="4618" y="1004"/>
              <a:chExt cx="312" cy="703"/>
            </a:xfrm>
          </p:grpSpPr>
          <p:sp>
            <p:nvSpPr>
              <p:cNvPr id="405541" name="Text Box 37"/>
              <p:cNvSpPr txBox="1">
                <a:spLocks noChangeArrowheads="1"/>
              </p:cNvSpPr>
              <p:nvPr/>
            </p:nvSpPr>
            <p:spPr bwMode="auto">
              <a:xfrm>
                <a:off x="4618" y="1004"/>
                <a:ext cx="301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>
                  <a:spcBef>
                    <a:spcPct val="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</a:p>
            </p:txBody>
          </p:sp>
          <p:sp>
            <p:nvSpPr>
              <p:cNvPr id="405542" name="Text Box 38"/>
              <p:cNvSpPr txBox="1">
                <a:spLocks noChangeArrowheads="1"/>
              </p:cNvSpPr>
              <p:nvPr/>
            </p:nvSpPr>
            <p:spPr bwMode="auto">
              <a:xfrm>
                <a:off x="4625" y="1323"/>
                <a:ext cx="285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>
                  <a:spcBef>
                    <a:spcPct val="0"/>
                  </a:spcBef>
                </a:pPr>
                <a:r>
                  <a:rPr kumimoji="1"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-</a:t>
                </a:r>
              </a:p>
            </p:txBody>
          </p:sp>
          <p:graphicFrame>
            <p:nvGraphicFramePr>
              <p:cNvPr id="405543" name="Object 39"/>
              <p:cNvGraphicFramePr>
                <a:graphicFrameLocks noChangeAspect="1"/>
              </p:cNvGraphicFramePr>
              <p:nvPr/>
            </p:nvGraphicFramePr>
            <p:xfrm>
              <a:off x="4658" y="1232"/>
              <a:ext cx="272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5641" name="公式" r:id="rId18" imgW="228600" imgH="241200" progId="Equation.3">
                      <p:embed/>
                    </p:oleObj>
                  </mc:Choice>
                  <mc:Fallback>
                    <p:oleObj name="公式" r:id="rId18" imgW="228600" imgH="241200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8" y="1232"/>
                            <a:ext cx="272" cy="2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05544" name="Text Box 40"/>
            <p:cNvSpPr txBox="1">
              <a:spLocks noChangeArrowheads="1"/>
            </p:cNvSpPr>
            <p:nvPr/>
          </p:nvSpPr>
          <p:spPr bwMode="auto">
            <a:xfrm>
              <a:off x="4133" y="434"/>
              <a:ext cx="300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05545" name="Text Box 41"/>
            <p:cNvSpPr txBox="1">
              <a:spLocks noChangeArrowheads="1"/>
            </p:cNvSpPr>
            <p:nvPr/>
          </p:nvSpPr>
          <p:spPr bwMode="auto">
            <a:xfrm>
              <a:off x="4579" y="426"/>
              <a:ext cx="284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-</a:t>
              </a:r>
            </a:p>
          </p:txBody>
        </p:sp>
        <p:graphicFrame>
          <p:nvGraphicFramePr>
            <p:cNvPr id="405546" name="Object 42"/>
            <p:cNvGraphicFramePr>
              <a:graphicFrameLocks noChangeAspect="1"/>
            </p:cNvGraphicFramePr>
            <p:nvPr/>
          </p:nvGraphicFramePr>
          <p:xfrm>
            <a:off x="4389" y="578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5642" name="公式" r:id="rId20" imgW="228600" imgH="228600" progId="Equation.3">
                    <p:embed/>
                  </p:oleObj>
                </mc:Choice>
                <mc:Fallback>
                  <p:oleObj name="公式" r:id="rId20" imgW="228600" imgH="2286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9" y="578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5547" name="Text Box 43"/>
          <p:cNvSpPr txBox="1">
            <a:spLocks noChangeArrowheads="1"/>
          </p:cNvSpPr>
          <p:nvPr/>
        </p:nvSpPr>
        <p:spPr bwMode="auto">
          <a:xfrm>
            <a:off x="1122363" y="5732463"/>
            <a:ext cx="811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大</a:t>
            </a:r>
          </a:p>
        </p:txBody>
      </p:sp>
      <p:grpSp>
        <p:nvGrpSpPr>
          <p:cNvPr id="405548" name="Group 44"/>
          <p:cNvGrpSpPr>
            <a:grpSpLocks/>
          </p:cNvGrpSpPr>
          <p:nvPr/>
        </p:nvGrpSpPr>
        <p:grpSpPr bwMode="auto">
          <a:xfrm>
            <a:off x="1857375" y="5680075"/>
            <a:ext cx="6324600" cy="457200"/>
            <a:chOff x="1632" y="3636"/>
            <a:chExt cx="3984" cy="288"/>
          </a:xfrm>
        </p:grpSpPr>
        <p:sp>
          <p:nvSpPr>
            <p:cNvPr id="405549" name="Text Box 45"/>
            <p:cNvSpPr txBox="1">
              <a:spLocks noChangeArrowheads="1"/>
            </p:cNvSpPr>
            <p:nvPr/>
          </p:nvSpPr>
          <p:spPr bwMode="auto">
            <a:xfrm>
              <a:off x="2199" y="3636"/>
              <a:ext cx="34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维持一定的储能所消耗的平均功率少</a:t>
              </a:r>
            </a:p>
          </p:txBody>
        </p:sp>
        <p:sp>
          <p:nvSpPr>
            <p:cNvPr id="405550" name="Line 46"/>
            <p:cNvSpPr>
              <a:spLocks noChangeShapeType="1"/>
            </p:cNvSpPr>
            <p:nvPr/>
          </p:nvSpPr>
          <p:spPr bwMode="auto">
            <a:xfrm>
              <a:off x="1632" y="3813"/>
              <a:ext cx="567" cy="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05551" name="Object 47"/>
          <p:cNvGraphicFramePr>
            <a:graphicFrameLocks noChangeAspect="1"/>
          </p:cNvGraphicFramePr>
          <p:nvPr/>
        </p:nvGraphicFramePr>
        <p:xfrm>
          <a:off x="1476375" y="3284538"/>
          <a:ext cx="5791200" cy="187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643" name="Equation" r:id="rId22" imgW="2679480" imgH="888840" progId="Equation.3">
                  <p:embed/>
                </p:oleObj>
              </mc:Choice>
              <mc:Fallback>
                <p:oleObj name="Equation" r:id="rId22" imgW="2679480" imgH="88884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284538"/>
                        <a:ext cx="5791200" cy="18780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00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05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500"/>
                                        <p:tgtEl>
                                          <p:spTgt spid="405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0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0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5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5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0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6" grpId="0" autoUpdateAnimBg="0"/>
      <p:bldP spid="40554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578" name="Group 2"/>
          <p:cNvGrpSpPr>
            <a:grpSpLocks/>
          </p:cNvGrpSpPr>
          <p:nvPr/>
        </p:nvGrpSpPr>
        <p:grpSpPr bwMode="auto">
          <a:xfrm>
            <a:off x="827088" y="728663"/>
            <a:ext cx="3449637" cy="1408112"/>
            <a:chOff x="1037" y="402"/>
            <a:chExt cx="2173" cy="887"/>
          </a:xfrm>
        </p:grpSpPr>
        <p:pic>
          <p:nvPicPr>
            <p:cNvPr id="408579" name="Picture 3" descr="谐振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7" y="544"/>
              <a:ext cx="2173" cy="7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8580" name="Text Box 4"/>
            <p:cNvSpPr txBox="1">
              <a:spLocks noChangeArrowheads="1"/>
            </p:cNvSpPr>
            <p:nvPr/>
          </p:nvSpPr>
          <p:spPr bwMode="auto">
            <a:xfrm>
              <a:off x="2160" y="402"/>
              <a:ext cx="9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=5035Hz</a:t>
              </a:r>
            </a:p>
          </p:txBody>
        </p:sp>
      </p:grpSp>
      <p:pic>
        <p:nvPicPr>
          <p:cNvPr id="408581" name="Picture 5" descr="谐振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350" y="622300"/>
            <a:ext cx="3659188" cy="187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8582" name="Group 6"/>
          <p:cNvGrpSpPr>
            <a:grpSpLocks/>
          </p:cNvGrpSpPr>
          <p:nvPr/>
        </p:nvGrpSpPr>
        <p:grpSpPr bwMode="auto">
          <a:xfrm>
            <a:off x="763588" y="2473325"/>
            <a:ext cx="3552825" cy="2041525"/>
            <a:chOff x="209" y="1664"/>
            <a:chExt cx="2238" cy="1286"/>
          </a:xfrm>
        </p:grpSpPr>
        <p:pic>
          <p:nvPicPr>
            <p:cNvPr id="408583" name="Picture 7" descr="谐振2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" y="1664"/>
              <a:ext cx="2238" cy="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8584" name="Text Box 8"/>
            <p:cNvSpPr txBox="1">
              <a:spLocks noChangeArrowheads="1"/>
            </p:cNvSpPr>
            <p:nvPr/>
          </p:nvSpPr>
          <p:spPr bwMode="auto">
            <a:xfrm>
              <a:off x="1024" y="2662"/>
              <a:ext cx="11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=503500Hz</a:t>
              </a:r>
            </a:p>
          </p:txBody>
        </p:sp>
      </p:grpSp>
      <p:pic>
        <p:nvPicPr>
          <p:cNvPr id="408585" name="Picture 9" descr="谐振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413" y="2711450"/>
            <a:ext cx="3779837" cy="190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8586" name="Text Box 10"/>
          <p:cNvSpPr txBox="1">
            <a:spLocks noChangeArrowheads="1"/>
          </p:cNvSpPr>
          <p:nvPr/>
        </p:nvSpPr>
        <p:spPr bwMode="auto">
          <a:xfrm>
            <a:off x="900113" y="4713288"/>
            <a:ext cx="6584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频率特性的尖锐程度反映了电路选择性的好坏。</a:t>
            </a:r>
          </a:p>
        </p:txBody>
      </p:sp>
      <p:sp>
        <p:nvSpPr>
          <p:cNvPr id="408588" name="Text Box 12"/>
          <p:cNvSpPr txBox="1">
            <a:spLocks noChangeArrowheads="1"/>
          </p:cNvSpPr>
          <p:nvPr/>
        </p:nvSpPr>
        <p:spPr bwMode="auto">
          <a:xfrm>
            <a:off x="368300" y="193675"/>
            <a:ext cx="422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3.  </a:t>
            </a:r>
            <a:r>
              <a:rPr kumimoji="1" lang="zh-CN" altLang="en-US" sz="2400" b="1">
                <a:solidFill>
                  <a:srgbClr val="3333FF"/>
                </a:solidFill>
                <a:latin typeface="Times New Roman" panose="02020603050405020304" pitchFamily="18" charset="0"/>
              </a:rPr>
              <a:t>从频率特性来衡量谐振电路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8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8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8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08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86" grpId="0" autoUpdateAnimBg="0"/>
      <p:bldP spid="40858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Text Box 2"/>
          <p:cNvSpPr txBox="1">
            <a:spLocks noChangeArrowheads="1"/>
          </p:cNvSpPr>
          <p:nvPr/>
        </p:nvSpPr>
        <p:spPr bwMode="auto">
          <a:xfrm>
            <a:off x="4724400" y="3263900"/>
            <a:ext cx="730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Q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=1</a:t>
            </a:r>
          </a:p>
        </p:txBody>
      </p:sp>
      <p:grpSp>
        <p:nvGrpSpPr>
          <p:cNvPr id="412675" name="Group 3"/>
          <p:cNvGrpSpPr>
            <a:grpSpLocks/>
          </p:cNvGrpSpPr>
          <p:nvPr/>
        </p:nvGrpSpPr>
        <p:grpSpPr bwMode="auto">
          <a:xfrm>
            <a:off x="1936750" y="1512888"/>
            <a:ext cx="3746500" cy="2990850"/>
            <a:chOff x="1860" y="966"/>
            <a:chExt cx="2360" cy="1884"/>
          </a:xfrm>
        </p:grpSpPr>
        <p:sp>
          <p:nvSpPr>
            <p:cNvPr id="412676" name="Text Box 4"/>
            <p:cNvSpPr txBox="1">
              <a:spLocks noChangeArrowheads="1"/>
            </p:cNvSpPr>
            <p:nvPr/>
          </p:nvSpPr>
          <p:spPr bwMode="auto">
            <a:xfrm>
              <a:off x="3616" y="1439"/>
              <a:ext cx="6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Q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=0.5</a:t>
              </a:r>
            </a:p>
          </p:txBody>
        </p:sp>
        <p:sp>
          <p:nvSpPr>
            <p:cNvPr id="412677" name="Freeform 5"/>
            <p:cNvSpPr>
              <a:spLocks/>
            </p:cNvSpPr>
            <p:nvPr/>
          </p:nvSpPr>
          <p:spPr bwMode="auto">
            <a:xfrm>
              <a:off x="1860" y="966"/>
              <a:ext cx="2337" cy="1884"/>
            </a:xfrm>
            <a:custGeom>
              <a:avLst/>
              <a:gdLst>
                <a:gd name="T0" fmla="*/ 0 w 2337"/>
                <a:gd name="T1" fmla="*/ 1884 h 1884"/>
                <a:gd name="T2" fmla="*/ 420 w 2337"/>
                <a:gd name="T3" fmla="*/ 516 h 1884"/>
                <a:gd name="T4" fmla="*/ 690 w 2337"/>
                <a:gd name="T5" fmla="*/ 63 h 1884"/>
                <a:gd name="T6" fmla="*/ 975 w 2337"/>
                <a:gd name="T7" fmla="*/ 138 h 1884"/>
                <a:gd name="T8" fmla="*/ 1347 w 2337"/>
                <a:gd name="T9" fmla="*/ 462 h 1884"/>
                <a:gd name="T10" fmla="*/ 1608 w 2337"/>
                <a:gd name="T11" fmla="*/ 660 h 1884"/>
                <a:gd name="T12" fmla="*/ 1905 w 2337"/>
                <a:gd name="T13" fmla="*/ 840 h 1884"/>
                <a:gd name="T14" fmla="*/ 2337 w 2337"/>
                <a:gd name="T15" fmla="*/ 1026 h 1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37" h="1884">
                  <a:moveTo>
                    <a:pt x="0" y="1884"/>
                  </a:moveTo>
                  <a:cubicBezTo>
                    <a:pt x="70" y="1656"/>
                    <a:pt x="305" y="820"/>
                    <a:pt x="420" y="516"/>
                  </a:cubicBezTo>
                  <a:cubicBezTo>
                    <a:pt x="535" y="212"/>
                    <a:pt x="597" y="126"/>
                    <a:pt x="690" y="63"/>
                  </a:cubicBezTo>
                  <a:cubicBezTo>
                    <a:pt x="783" y="0"/>
                    <a:pt x="866" y="72"/>
                    <a:pt x="975" y="138"/>
                  </a:cubicBezTo>
                  <a:cubicBezTo>
                    <a:pt x="1084" y="204"/>
                    <a:pt x="1242" y="375"/>
                    <a:pt x="1347" y="462"/>
                  </a:cubicBezTo>
                  <a:cubicBezTo>
                    <a:pt x="1452" y="549"/>
                    <a:pt x="1515" y="597"/>
                    <a:pt x="1608" y="660"/>
                  </a:cubicBezTo>
                  <a:cubicBezTo>
                    <a:pt x="1701" y="723"/>
                    <a:pt x="1784" y="779"/>
                    <a:pt x="1905" y="840"/>
                  </a:cubicBezTo>
                  <a:cubicBezTo>
                    <a:pt x="2026" y="901"/>
                    <a:pt x="2247" y="987"/>
                    <a:pt x="2337" y="1026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12678" name="Group 6"/>
          <p:cNvGrpSpPr>
            <a:grpSpLocks/>
          </p:cNvGrpSpPr>
          <p:nvPr/>
        </p:nvGrpSpPr>
        <p:grpSpPr bwMode="auto">
          <a:xfrm>
            <a:off x="1957388" y="1571625"/>
            <a:ext cx="3705225" cy="2951163"/>
            <a:chOff x="1873" y="1003"/>
            <a:chExt cx="2334" cy="1859"/>
          </a:xfrm>
        </p:grpSpPr>
        <p:sp>
          <p:nvSpPr>
            <p:cNvPr id="412679" name="Text Box 7"/>
            <p:cNvSpPr txBox="1">
              <a:spLocks noChangeArrowheads="1"/>
            </p:cNvSpPr>
            <p:nvPr/>
          </p:nvSpPr>
          <p:spPr bwMode="auto">
            <a:xfrm>
              <a:off x="3586" y="2471"/>
              <a:ext cx="5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Q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=10</a:t>
              </a:r>
            </a:p>
          </p:txBody>
        </p:sp>
        <p:sp>
          <p:nvSpPr>
            <p:cNvPr id="412680" name="Freeform 8"/>
            <p:cNvSpPr>
              <a:spLocks/>
            </p:cNvSpPr>
            <p:nvPr/>
          </p:nvSpPr>
          <p:spPr bwMode="auto">
            <a:xfrm>
              <a:off x="1873" y="1003"/>
              <a:ext cx="2334" cy="1859"/>
            </a:xfrm>
            <a:custGeom>
              <a:avLst/>
              <a:gdLst>
                <a:gd name="T0" fmla="*/ 0 w 2334"/>
                <a:gd name="T1" fmla="*/ 1859 h 1859"/>
                <a:gd name="T2" fmla="*/ 462 w 2334"/>
                <a:gd name="T3" fmla="*/ 1682 h 1859"/>
                <a:gd name="T4" fmla="*/ 645 w 2334"/>
                <a:gd name="T5" fmla="*/ 1343 h 1859"/>
                <a:gd name="T6" fmla="*/ 714 w 2334"/>
                <a:gd name="T7" fmla="*/ 851 h 1859"/>
                <a:gd name="T8" fmla="*/ 747 w 2334"/>
                <a:gd name="T9" fmla="*/ 242 h 1859"/>
                <a:gd name="T10" fmla="*/ 771 w 2334"/>
                <a:gd name="T11" fmla="*/ 8 h 1859"/>
                <a:gd name="T12" fmla="*/ 798 w 2334"/>
                <a:gd name="T13" fmla="*/ 293 h 1859"/>
                <a:gd name="T14" fmla="*/ 855 w 2334"/>
                <a:gd name="T15" fmla="*/ 1040 h 1859"/>
                <a:gd name="T16" fmla="*/ 1020 w 2334"/>
                <a:gd name="T17" fmla="*/ 1535 h 1859"/>
                <a:gd name="T18" fmla="*/ 1527 w 2334"/>
                <a:gd name="T19" fmla="*/ 1733 h 1859"/>
                <a:gd name="T20" fmla="*/ 2334 w 2334"/>
                <a:gd name="T21" fmla="*/ 1787 h 1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34" h="1859">
                  <a:moveTo>
                    <a:pt x="0" y="1859"/>
                  </a:moveTo>
                  <a:cubicBezTo>
                    <a:pt x="77" y="1830"/>
                    <a:pt x="355" y="1768"/>
                    <a:pt x="462" y="1682"/>
                  </a:cubicBezTo>
                  <a:cubicBezTo>
                    <a:pt x="569" y="1596"/>
                    <a:pt x="603" y="1481"/>
                    <a:pt x="645" y="1343"/>
                  </a:cubicBezTo>
                  <a:cubicBezTo>
                    <a:pt x="687" y="1205"/>
                    <a:pt x="697" y="1034"/>
                    <a:pt x="714" y="851"/>
                  </a:cubicBezTo>
                  <a:cubicBezTo>
                    <a:pt x="731" y="668"/>
                    <a:pt x="738" y="382"/>
                    <a:pt x="747" y="242"/>
                  </a:cubicBezTo>
                  <a:cubicBezTo>
                    <a:pt x="756" y="102"/>
                    <a:pt x="763" y="0"/>
                    <a:pt x="771" y="8"/>
                  </a:cubicBezTo>
                  <a:cubicBezTo>
                    <a:pt x="779" y="16"/>
                    <a:pt x="784" y="121"/>
                    <a:pt x="798" y="293"/>
                  </a:cubicBezTo>
                  <a:cubicBezTo>
                    <a:pt x="812" y="465"/>
                    <a:pt x="818" y="833"/>
                    <a:pt x="855" y="1040"/>
                  </a:cubicBezTo>
                  <a:cubicBezTo>
                    <a:pt x="892" y="1247"/>
                    <a:pt x="908" y="1419"/>
                    <a:pt x="1020" y="1535"/>
                  </a:cubicBezTo>
                  <a:cubicBezTo>
                    <a:pt x="1132" y="1651"/>
                    <a:pt x="1308" y="1691"/>
                    <a:pt x="1527" y="1733"/>
                  </a:cubicBezTo>
                  <a:cubicBezTo>
                    <a:pt x="1746" y="1775"/>
                    <a:pt x="2166" y="1776"/>
                    <a:pt x="2334" y="1787"/>
                  </a:cubicBezTo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12681" name="Group 9"/>
          <p:cNvGrpSpPr>
            <a:grpSpLocks/>
          </p:cNvGrpSpPr>
          <p:nvPr/>
        </p:nvGrpSpPr>
        <p:grpSpPr bwMode="auto">
          <a:xfrm>
            <a:off x="1609725" y="1208088"/>
            <a:ext cx="4700588" cy="3752850"/>
            <a:chOff x="1654" y="774"/>
            <a:chExt cx="2961" cy="2364"/>
          </a:xfrm>
        </p:grpSpPr>
        <p:sp>
          <p:nvSpPr>
            <p:cNvPr id="412682" name="Freeform 10"/>
            <p:cNvSpPr>
              <a:spLocks/>
            </p:cNvSpPr>
            <p:nvPr/>
          </p:nvSpPr>
          <p:spPr bwMode="auto">
            <a:xfrm>
              <a:off x="1881" y="1001"/>
              <a:ext cx="2346" cy="1855"/>
            </a:xfrm>
            <a:custGeom>
              <a:avLst/>
              <a:gdLst>
                <a:gd name="T0" fmla="*/ 0 w 2346"/>
                <a:gd name="T1" fmla="*/ 1855 h 1855"/>
                <a:gd name="T2" fmla="*/ 246 w 2346"/>
                <a:gd name="T3" fmla="*/ 1231 h 1855"/>
                <a:gd name="T4" fmla="*/ 528 w 2346"/>
                <a:gd name="T5" fmla="*/ 385 h 1855"/>
                <a:gd name="T6" fmla="*/ 672 w 2346"/>
                <a:gd name="T7" fmla="*/ 79 h 1855"/>
                <a:gd name="T8" fmla="*/ 798 w 2346"/>
                <a:gd name="T9" fmla="*/ 10 h 1855"/>
                <a:gd name="T10" fmla="*/ 948 w 2346"/>
                <a:gd name="T11" fmla="*/ 142 h 1855"/>
                <a:gd name="T12" fmla="*/ 1188 w 2346"/>
                <a:gd name="T13" fmla="*/ 475 h 1855"/>
                <a:gd name="T14" fmla="*/ 1458 w 2346"/>
                <a:gd name="T15" fmla="*/ 763 h 1855"/>
                <a:gd name="T16" fmla="*/ 1878 w 2346"/>
                <a:gd name="T17" fmla="*/ 1039 h 1855"/>
                <a:gd name="T18" fmla="*/ 2346 w 2346"/>
                <a:gd name="T19" fmla="*/ 1213 h 18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46" h="1855">
                  <a:moveTo>
                    <a:pt x="0" y="1855"/>
                  </a:moveTo>
                  <a:cubicBezTo>
                    <a:pt x="41" y="1751"/>
                    <a:pt x="158" y="1476"/>
                    <a:pt x="246" y="1231"/>
                  </a:cubicBezTo>
                  <a:cubicBezTo>
                    <a:pt x="334" y="986"/>
                    <a:pt x="457" y="577"/>
                    <a:pt x="528" y="385"/>
                  </a:cubicBezTo>
                  <a:cubicBezTo>
                    <a:pt x="599" y="193"/>
                    <a:pt x="627" y="141"/>
                    <a:pt x="672" y="79"/>
                  </a:cubicBezTo>
                  <a:cubicBezTo>
                    <a:pt x="717" y="17"/>
                    <a:pt x="752" y="0"/>
                    <a:pt x="798" y="10"/>
                  </a:cubicBezTo>
                  <a:cubicBezTo>
                    <a:pt x="844" y="20"/>
                    <a:pt x="883" y="65"/>
                    <a:pt x="948" y="142"/>
                  </a:cubicBezTo>
                  <a:cubicBezTo>
                    <a:pt x="1013" y="219"/>
                    <a:pt x="1103" y="372"/>
                    <a:pt x="1188" y="475"/>
                  </a:cubicBezTo>
                  <a:cubicBezTo>
                    <a:pt x="1273" y="578"/>
                    <a:pt x="1343" y="669"/>
                    <a:pt x="1458" y="763"/>
                  </a:cubicBezTo>
                  <a:cubicBezTo>
                    <a:pt x="1573" y="857"/>
                    <a:pt x="1730" y="964"/>
                    <a:pt x="1878" y="1039"/>
                  </a:cubicBezTo>
                  <a:cubicBezTo>
                    <a:pt x="2026" y="1114"/>
                    <a:pt x="2249" y="1177"/>
                    <a:pt x="2346" y="1213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2683" name="Line 11"/>
            <p:cNvSpPr>
              <a:spLocks noChangeShapeType="1"/>
            </p:cNvSpPr>
            <p:nvPr/>
          </p:nvSpPr>
          <p:spPr bwMode="auto">
            <a:xfrm>
              <a:off x="2641" y="1027"/>
              <a:ext cx="0" cy="18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2684" name="Line 12"/>
            <p:cNvSpPr>
              <a:spLocks noChangeShapeType="1"/>
            </p:cNvSpPr>
            <p:nvPr/>
          </p:nvSpPr>
          <p:spPr bwMode="auto">
            <a:xfrm flipV="1">
              <a:off x="1678" y="2850"/>
              <a:ext cx="2865" cy="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2685" name="Line 13"/>
            <p:cNvSpPr>
              <a:spLocks noChangeShapeType="1"/>
            </p:cNvSpPr>
            <p:nvPr/>
          </p:nvSpPr>
          <p:spPr bwMode="auto">
            <a:xfrm flipV="1">
              <a:off x="1867" y="774"/>
              <a:ext cx="3" cy="23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2686" name="Text Box 14"/>
            <p:cNvSpPr txBox="1">
              <a:spLocks noChangeArrowheads="1"/>
            </p:cNvSpPr>
            <p:nvPr/>
          </p:nvSpPr>
          <p:spPr bwMode="auto">
            <a:xfrm>
              <a:off x="2538" y="285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12688" name="Text Box 16"/>
            <p:cNvSpPr txBox="1">
              <a:spLocks noChangeArrowheads="1"/>
            </p:cNvSpPr>
            <p:nvPr/>
          </p:nvSpPr>
          <p:spPr bwMode="auto">
            <a:xfrm>
              <a:off x="1654" y="283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12689" name="Text Box 17"/>
            <p:cNvSpPr txBox="1">
              <a:spLocks noChangeArrowheads="1"/>
            </p:cNvSpPr>
            <p:nvPr/>
          </p:nvSpPr>
          <p:spPr bwMode="auto">
            <a:xfrm>
              <a:off x="4319" y="2808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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412690" name="Text Box 18"/>
          <p:cNvSpPr txBox="1">
            <a:spLocks noChangeArrowheads="1"/>
          </p:cNvSpPr>
          <p:nvPr/>
        </p:nvSpPr>
        <p:spPr bwMode="auto">
          <a:xfrm>
            <a:off x="469900" y="393700"/>
            <a:ext cx="2622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通用谐振频率特性</a:t>
            </a:r>
          </a:p>
        </p:txBody>
      </p:sp>
      <p:sp>
        <p:nvSpPr>
          <p:cNvPr id="412692" name="Text Box 20"/>
          <p:cNvSpPr txBox="1">
            <a:spLocks noChangeArrowheads="1"/>
          </p:cNvSpPr>
          <p:nvPr/>
        </p:nvSpPr>
        <p:spPr bwMode="auto">
          <a:xfrm>
            <a:off x="755650" y="5084763"/>
            <a:ext cx="7920038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572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477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Q</a:t>
            </a:r>
            <a:r>
              <a:rPr kumimoji="1" lang="zh-CN" altLang="en-US" sz="2400" b="1">
                <a:latin typeface="Times New Roman" panose="02020603050405020304" pitchFamily="18" charset="0"/>
              </a:rPr>
              <a:t>越大，谐振曲线越尖。当稍微偏离谐振点时，曲线就急剧下降，电路对非谐振频率下的电流具有较强的抑制能力，所以选择性好。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49" y="1113834"/>
            <a:ext cx="1331814" cy="5980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1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4" grpId="0" autoUpdateAnimBg="0"/>
      <p:bldP spid="412690" grpId="0" autoUpdateAnimBg="0"/>
      <p:bldP spid="41269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Text Box 2"/>
          <p:cNvSpPr txBox="1">
            <a:spLocks noChangeArrowheads="1"/>
          </p:cNvSpPr>
          <p:nvPr/>
        </p:nvSpPr>
        <p:spPr bwMode="auto">
          <a:xfrm>
            <a:off x="468313" y="765175"/>
            <a:ext cx="1784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1. 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并联谐振</a:t>
            </a:r>
          </a:p>
        </p:txBody>
      </p:sp>
      <p:graphicFrame>
        <p:nvGraphicFramePr>
          <p:cNvPr id="420867" name="Object 3"/>
          <p:cNvGraphicFramePr>
            <a:graphicFrameLocks noChangeAspect="1"/>
          </p:cNvGraphicFramePr>
          <p:nvPr/>
        </p:nvGraphicFramePr>
        <p:xfrm>
          <a:off x="1736725" y="3136900"/>
          <a:ext cx="25304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86" name="公式" r:id="rId4" imgW="1282680" imgH="342720" progId="Equation.3">
                  <p:embed/>
                </p:oleObj>
              </mc:Choice>
              <mc:Fallback>
                <p:oleObj name="公式" r:id="rId4" imgW="1282680" imgH="3427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3136900"/>
                        <a:ext cx="25304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68" name="Object 4"/>
          <p:cNvGraphicFramePr>
            <a:graphicFrameLocks noChangeAspect="1"/>
          </p:cNvGraphicFramePr>
          <p:nvPr/>
        </p:nvGraphicFramePr>
        <p:xfrm>
          <a:off x="2455863" y="4665663"/>
          <a:ext cx="111442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87" name="Equation" r:id="rId6" imgW="596880" imgH="304560" progId="Equation.3">
                  <p:embed/>
                </p:oleObj>
              </mc:Choice>
              <mc:Fallback>
                <p:oleObj name="Equation" r:id="rId6" imgW="596880" imgH="304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3" y="4665663"/>
                        <a:ext cx="1114425" cy="5667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00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69" name="Rectangle 5"/>
          <p:cNvSpPr>
            <a:spLocks noChangeArrowheads="1"/>
          </p:cNvSpPr>
          <p:nvPr/>
        </p:nvSpPr>
        <p:spPr bwMode="auto">
          <a:xfrm>
            <a:off x="2455863" y="6061075"/>
            <a:ext cx="140335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电流谐振</a:t>
            </a:r>
          </a:p>
        </p:txBody>
      </p:sp>
      <p:grpSp>
        <p:nvGrpSpPr>
          <p:cNvPr id="420870" name="Group 6"/>
          <p:cNvGrpSpPr>
            <a:grpSpLocks/>
          </p:cNvGrpSpPr>
          <p:nvPr/>
        </p:nvGrpSpPr>
        <p:grpSpPr bwMode="auto">
          <a:xfrm>
            <a:off x="1223963" y="1179513"/>
            <a:ext cx="3519487" cy="1471612"/>
            <a:chOff x="1020" y="694"/>
            <a:chExt cx="2217" cy="927"/>
          </a:xfrm>
        </p:grpSpPr>
        <p:sp>
          <p:nvSpPr>
            <p:cNvPr id="420871" name="Text Box 7"/>
            <p:cNvSpPr txBox="1">
              <a:spLocks noChangeArrowheads="1"/>
            </p:cNvSpPr>
            <p:nvPr/>
          </p:nvSpPr>
          <p:spPr bwMode="auto">
            <a:xfrm>
              <a:off x="1716" y="709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20872" name="Text Box 8"/>
            <p:cNvSpPr txBox="1">
              <a:spLocks noChangeArrowheads="1"/>
            </p:cNvSpPr>
            <p:nvPr/>
          </p:nvSpPr>
          <p:spPr bwMode="auto">
            <a:xfrm>
              <a:off x="1722" y="120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grpSp>
          <p:nvGrpSpPr>
            <p:cNvPr id="420873" name="Group 9"/>
            <p:cNvGrpSpPr>
              <a:grpSpLocks/>
            </p:cNvGrpSpPr>
            <p:nvPr/>
          </p:nvGrpSpPr>
          <p:grpSpPr bwMode="auto">
            <a:xfrm>
              <a:off x="2328" y="1099"/>
              <a:ext cx="258" cy="93"/>
              <a:chOff x="1351" y="3976"/>
              <a:chExt cx="174" cy="93"/>
            </a:xfrm>
          </p:grpSpPr>
          <p:sp>
            <p:nvSpPr>
              <p:cNvPr id="420874" name="Line 10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875" name="Line 11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0876" name="Line 12"/>
            <p:cNvSpPr>
              <a:spLocks noChangeShapeType="1"/>
            </p:cNvSpPr>
            <p:nvPr/>
          </p:nvSpPr>
          <p:spPr bwMode="auto">
            <a:xfrm flipV="1">
              <a:off x="2916" y="709"/>
              <a:ext cx="0" cy="2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877" name="Line 13"/>
            <p:cNvSpPr>
              <a:spLocks noChangeShapeType="1"/>
            </p:cNvSpPr>
            <p:nvPr/>
          </p:nvSpPr>
          <p:spPr bwMode="auto">
            <a:xfrm>
              <a:off x="2916" y="1340"/>
              <a:ext cx="0" cy="2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878" name="Line 14"/>
            <p:cNvSpPr>
              <a:spLocks noChangeShapeType="1"/>
            </p:cNvSpPr>
            <p:nvPr/>
          </p:nvSpPr>
          <p:spPr bwMode="auto">
            <a:xfrm flipH="1">
              <a:off x="1428" y="1621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879" name="Line 15"/>
            <p:cNvSpPr>
              <a:spLocks noChangeShapeType="1"/>
            </p:cNvSpPr>
            <p:nvPr/>
          </p:nvSpPr>
          <p:spPr bwMode="auto">
            <a:xfrm flipH="1">
              <a:off x="1428" y="709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880" name="Line 16"/>
            <p:cNvSpPr>
              <a:spLocks noChangeShapeType="1"/>
            </p:cNvSpPr>
            <p:nvPr/>
          </p:nvSpPr>
          <p:spPr bwMode="auto">
            <a:xfrm>
              <a:off x="2460" y="1191"/>
              <a:ext cx="0" cy="4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881" name="Line 17"/>
            <p:cNvSpPr>
              <a:spLocks noChangeShapeType="1"/>
            </p:cNvSpPr>
            <p:nvPr/>
          </p:nvSpPr>
          <p:spPr bwMode="auto">
            <a:xfrm flipV="1">
              <a:off x="2460" y="709"/>
              <a:ext cx="0" cy="3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882" name="Line 18"/>
            <p:cNvSpPr>
              <a:spLocks noChangeShapeType="1"/>
            </p:cNvSpPr>
            <p:nvPr/>
          </p:nvSpPr>
          <p:spPr bwMode="auto">
            <a:xfrm>
              <a:off x="1992" y="709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883" name="Line 19"/>
            <p:cNvSpPr>
              <a:spLocks noChangeShapeType="1"/>
            </p:cNvSpPr>
            <p:nvPr/>
          </p:nvSpPr>
          <p:spPr bwMode="auto">
            <a:xfrm>
              <a:off x="1428" y="709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884" name="Oval 20"/>
            <p:cNvSpPr>
              <a:spLocks noChangeArrowheads="1"/>
            </p:cNvSpPr>
            <p:nvPr/>
          </p:nvSpPr>
          <p:spPr bwMode="auto">
            <a:xfrm>
              <a:off x="1284" y="1027"/>
              <a:ext cx="288" cy="28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885" name="Line 21"/>
            <p:cNvSpPr>
              <a:spLocks noChangeShapeType="1"/>
            </p:cNvSpPr>
            <p:nvPr/>
          </p:nvSpPr>
          <p:spPr bwMode="auto">
            <a:xfrm>
              <a:off x="1284" y="1171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886" name="Object 22"/>
            <p:cNvGraphicFramePr>
              <a:graphicFrameLocks noChangeAspect="1"/>
            </p:cNvGraphicFramePr>
            <p:nvPr/>
          </p:nvGraphicFramePr>
          <p:xfrm>
            <a:off x="1020" y="933"/>
            <a:ext cx="205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88" name="公式" r:id="rId8" imgW="177480" imgH="304560" progId="Equation.3">
                    <p:embed/>
                  </p:oleObj>
                </mc:Choice>
                <mc:Fallback>
                  <p:oleObj name="公式" r:id="rId8" imgW="177480" imgH="30456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933"/>
                          <a:ext cx="205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887" name="Line 23"/>
            <p:cNvSpPr>
              <a:spLocks noChangeShapeType="1"/>
            </p:cNvSpPr>
            <p:nvPr/>
          </p:nvSpPr>
          <p:spPr bwMode="auto">
            <a:xfrm flipV="1">
              <a:off x="1230" y="1011"/>
              <a:ext cx="0" cy="28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888" name="Text Box 24"/>
            <p:cNvSpPr txBox="1">
              <a:spLocks noChangeArrowheads="1"/>
            </p:cNvSpPr>
            <p:nvPr/>
          </p:nvSpPr>
          <p:spPr bwMode="auto">
            <a:xfrm>
              <a:off x="2030" y="1023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420889" name="Text Box 25"/>
            <p:cNvSpPr txBox="1">
              <a:spLocks noChangeArrowheads="1"/>
            </p:cNvSpPr>
            <p:nvPr/>
          </p:nvSpPr>
          <p:spPr bwMode="auto">
            <a:xfrm>
              <a:off x="2550" y="1003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20890" name="Text Box 26"/>
            <p:cNvSpPr txBox="1">
              <a:spLocks noChangeArrowheads="1"/>
            </p:cNvSpPr>
            <p:nvPr/>
          </p:nvSpPr>
          <p:spPr bwMode="auto">
            <a:xfrm>
              <a:off x="3000" y="967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420891" name="Group 27"/>
            <p:cNvGrpSpPr>
              <a:grpSpLocks/>
            </p:cNvGrpSpPr>
            <p:nvPr/>
          </p:nvGrpSpPr>
          <p:grpSpPr bwMode="auto">
            <a:xfrm rot="5400000">
              <a:off x="2755" y="1122"/>
              <a:ext cx="379" cy="57"/>
              <a:chOff x="1200" y="1584"/>
              <a:chExt cx="379" cy="45"/>
            </a:xfrm>
          </p:grpSpPr>
          <p:sp>
            <p:nvSpPr>
              <p:cNvPr id="420892" name="Arc 28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893" name="Arc 29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894" name="Arc 30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895" name="Arc 31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20896" name="Rectangle 32"/>
            <p:cNvSpPr>
              <a:spLocks noChangeArrowheads="1"/>
            </p:cNvSpPr>
            <p:nvPr/>
          </p:nvSpPr>
          <p:spPr bwMode="auto">
            <a:xfrm>
              <a:off x="1941" y="1039"/>
              <a:ext cx="101" cy="292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20897" name="Object 33"/>
            <p:cNvGraphicFramePr>
              <a:graphicFrameLocks noChangeAspect="1"/>
            </p:cNvGraphicFramePr>
            <p:nvPr/>
          </p:nvGraphicFramePr>
          <p:xfrm>
            <a:off x="1723" y="964"/>
            <a:ext cx="190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89" name="公式" r:id="rId10" imgW="164880" imgH="279360" progId="Equation.3">
                    <p:embed/>
                  </p:oleObj>
                </mc:Choice>
                <mc:Fallback>
                  <p:oleObj name="公式" r:id="rId10" imgW="164880" imgH="27936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3" y="964"/>
                          <a:ext cx="190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898" name="Line 34"/>
            <p:cNvSpPr>
              <a:spLocks noChangeShapeType="1"/>
            </p:cNvSpPr>
            <p:nvPr/>
          </p:nvSpPr>
          <p:spPr bwMode="auto">
            <a:xfrm>
              <a:off x="2016" y="816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20899" name="Object 35"/>
            <p:cNvGraphicFramePr>
              <a:graphicFrameLocks noChangeAspect="1"/>
            </p:cNvGraphicFramePr>
            <p:nvPr/>
          </p:nvGraphicFramePr>
          <p:xfrm>
            <a:off x="2086" y="743"/>
            <a:ext cx="223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90" name="公式" r:id="rId12" imgW="177480" imgH="241200" progId="Equation.3">
                    <p:embed/>
                  </p:oleObj>
                </mc:Choice>
                <mc:Fallback>
                  <p:oleObj name="公式" r:id="rId12" imgW="177480" imgH="24120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6" y="743"/>
                          <a:ext cx="223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900" name="Line 36"/>
            <p:cNvSpPr>
              <a:spLocks noChangeShapeType="1"/>
            </p:cNvSpPr>
            <p:nvPr/>
          </p:nvSpPr>
          <p:spPr bwMode="auto">
            <a:xfrm>
              <a:off x="2512" y="799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20901" name="Object 37"/>
            <p:cNvGraphicFramePr>
              <a:graphicFrameLocks noChangeAspect="1"/>
            </p:cNvGraphicFramePr>
            <p:nvPr/>
          </p:nvGraphicFramePr>
          <p:xfrm>
            <a:off x="2568" y="714"/>
            <a:ext cx="223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91" name="公式" r:id="rId14" imgW="177480" imgH="241200" progId="Equation.3">
                    <p:embed/>
                  </p:oleObj>
                </mc:Choice>
                <mc:Fallback>
                  <p:oleObj name="公式" r:id="rId14" imgW="177480" imgH="24120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8" y="714"/>
                          <a:ext cx="223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902" name="Line 38"/>
            <p:cNvSpPr>
              <a:spLocks noChangeShapeType="1"/>
            </p:cNvSpPr>
            <p:nvPr/>
          </p:nvSpPr>
          <p:spPr bwMode="auto">
            <a:xfrm>
              <a:off x="2966" y="771"/>
              <a:ext cx="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20903" name="Object 39"/>
            <p:cNvGraphicFramePr>
              <a:graphicFrameLocks noChangeAspect="1"/>
            </p:cNvGraphicFramePr>
            <p:nvPr/>
          </p:nvGraphicFramePr>
          <p:xfrm>
            <a:off x="3030" y="694"/>
            <a:ext cx="207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92" name="公式" r:id="rId16" imgW="164880" imgH="228600" progId="Equation.3">
                    <p:embed/>
                  </p:oleObj>
                </mc:Choice>
                <mc:Fallback>
                  <p:oleObj name="公式" r:id="rId16" imgW="164880" imgH="22860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0" y="694"/>
                          <a:ext cx="207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904" name="Text Box 40"/>
          <p:cNvSpPr txBox="1">
            <a:spLocks noChangeArrowheads="1"/>
          </p:cNvSpPr>
          <p:nvPr/>
        </p:nvSpPr>
        <p:spPr bwMode="auto">
          <a:xfrm>
            <a:off x="323850" y="160338"/>
            <a:ext cx="202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四、其他谐振</a:t>
            </a:r>
          </a:p>
        </p:txBody>
      </p:sp>
      <p:grpSp>
        <p:nvGrpSpPr>
          <p:cNvPr id="420905" name="Group 41"/>
          <p:cNvGrpSpPr>
            <a:grpSpLocks/>
          </p:cNvGrpSpPr>
          <p:nvPr/>
        </p:nvGrpSpPr>
        <p:grpSpPr bwMode="auto">
          <a:xfrm>
            <a:off x="5003800" y="549275"/>
            <a:ext cx="3252788" cy="2274888"/>
            <a:chOff x="3304" y="2312"/>
            <a:chExt cx="2134" cy="1636"/>
          </a:xfrm>
        </p:grpSpPr>
        <p:grpSp>
          <p:nvGrpSpPr>
            <p:cNvPr id="420906" name="Group 42"/>
            <p:cNvGrpSpPr>
              <a:grpSpLocks/>
            </p:cNvGrpSpPr>
            <p:nvPr/>
          </p:nvGrpSpPr>
          <p:grpSpPr bwMode="auto">
            <a:xfrm>
              <a:off x="4714" y="3607"/>
              <a:ext cx="258" cy="91"/>
              <a:chOff x="1351" y="3976"/>
              <a:chExt cx="174" cy="93"/>
            </a:xfrm>
          </p:grpSpPr>
          <p:sp>
            <p:nvSpPr>
              <p:cNvPr id="420907" name="Line 43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908" name="Line 44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0909" name="Line 45"/>
            <p:cNvSpPr>
              <a:spLocks noChangeShapeType="1"/>
            </p:cNvSpPr>
            <p:nvPr/>
          </p:nvSpPr>
          <p:spPr bwMode="auto">
            <a:xfrm flipH="1">
              <a:off x="4846" y="3409"/>
              <a:ext cx="0" cy="1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10" name="Line 46"/>
            <p:cNvSpPr>
              <a:spLocks noChangeShapeType="1"/>
            </p:cNvSpPr>
            <p:nvPr/>
          </p:nvSpPr>
          <p:spPr bwMode="auto">
            <a:xfrm>
              <a:off x="4846" y="3697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11" name="Line 47"/>
            <p:cNvSpPr>
              <a:spLocks noChangeShapeType="1"/>
            </p:cNvSpPr>
            <p:nvPr/>
          </p:nvSpPr>
          <p:spPr bwMode="auto">
            <a:xfrm>
              <a:off x="3610" y="3883"/>
              <a:ext cx="12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12" name="Line 48"/>
            <p:cNvSpPr>
              <a:spLocks noChangeShapeType="1"/>
            </p:cNvSpPr>
            <p:nvPr/>
          </p:nvSpPr>
          <p:spPr bwMode="auto">
            <a:xfrm>
              <a:off x="3610" y="2839"/>
              <a:ext cx="3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13" name="Line 49"/>
            <p:cNvSpPr>
              <a:spLocks noChangeShapeType="1"/>
            </p:cNvSpPr>
            <p:nvPr/>
          </p:nvSpPr>
          <p:spPr bwMode="auto">
            <a:xfrm flipV="1">
              <a:off x="4846" y="2833"/>
              <a:ext cx="0" cy="1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914" name="Object 50"/>
            <p:cNvGraphicFramePr>
              <a:graphicFrameLocks noChangeAspect="1"/>
            </p:cNvGraphicFramePr>
            <p:nvPr/>
          </p:nvGraphicFramePr>
          <p:xfrm>
            <a:off x="3610" y="2312"/>
            <a:ext cx="159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93" name="公式" r:id="rId18" imgW="126720" imgH="330120" progId="Equation.3">
                    <p:embed/>
                  </p:oleObj>
                </mc:Choice>
                <mc:Fallback>
                  <p:oleObj name="公式" r:id="rId18" imgW="126720" imgH="33012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0" y="2312"/>
                          <a:ext cx="159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915" name="Text Box 51"/>
            <p:cNvSpPr txBox="1">
              <a:spLocks noChangeArrowheads="1"/>
            </p:cNvSpPr>
            <p:nvPr/>
          </p:nvSpPr>
          <p:spPr bwMode="auto">
            <a:xfrm>
              <a:off x="3982" y="2503"/>
              <a:ext cx="254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20916" name="Text Box 52"/>
            <p:cNvSpPr txBox="1">
              <a:spLocks noChangeArrowheads="1"/>
            </p:cNvSpPr>
            <p:nvPr/>
          </p:nvSpPr>
          <p:spPr bwMode="auto">
            <a:xfrm>
              <a:off x="4942" y="3031"/>
              <a:ext cx="496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j</a:t>
              </a: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20917" name="Line 53"/>
            <p:cNvSpPr>
              <a:spLocks noChangeShapeType="1"/>
            </p:cNvSpPr>
            <p:nvPr/>
          </p:nvSpPr>
          <p:spPr bwMode="auto">
            <a:xfrm>
              <a:off x="4246" y="2833"/>
              <a:ext cx="599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18" name="Line 54"/>
            <p:cNvSpPr>
              <a:spLocks noChangeShapeType="1"/>
            </p:cNvSpPr>
            <p:nvPr/>
          </p:nvSpPr>
          <p:spPr bwMode="auto">
            <a:xfrm>
              <a:off x="3574" y="2745"/>
              <a:ext cx="28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19" name="Text Box 55"/>
            <p:cNvSpPr txBox="1">
              <a:spLocks noChangeArrowheads="1"/>
            </p:cNvSpPr>
            <p:nvPr/>
          </p:nvSpPr>
          <p:spPr bwMode="auto">
            <a:xfrm>
              <a:off x="3309" y="2691"/>
              <a:ext cx="235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20920" name="Text Box 56"/>
            <p:cNvSpPr txBox="1">
              <a:spLocks noChangeArrowheads="1"/>
            </p:cNvSpPr>
            <p:nvPr/>
          </p:nvSpPr>
          <p:spPr bwMode="auto">
            <a:xfrm>
              <a:off x="3304" y="3620"/>
              <a:ext cx="221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grpSp>
          <p:nvGrpSpPr>
            <p:cNvPr id="420921" name="Group 57"/>
            <p:cNvGrpSpPr>
              <a:grpSpLocks/>
            </p:cNvGrpSpPr>
            <p:nvPr/>
          </p:nvGrpSpPr>
          <p:grpSpPr bwMode="auto">
            <a:xfrm rot="5400000">
              <a:off x="4685" y="3192"/>
              <a:ext cx="379" cy="57"/>
              <a:chOff x="1200" y="1584"/>
              <a:chExt cx="379" cy="45"/>
            </a:xfrm>
          </p:grpSpPr>
          <p:sp>
            <p:nvSpPr>
              <p:cNvPr id="420922" name="Arc 58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923" name="Arc 59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924" name="Arc 60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925" name="Arc 61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20926" name="Oval 62"/>
            <p:cNvSpPr>
              <a:spLocks noChangeArrowheads="1"/>
            </p:cNvSpPr>
            <p:nvPr/>
          </p:nvSpPr>
          <p:spPr bwMode="auto">
            <a:xfrm>
              <a:off x="3562" y="3853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27" name="Oval 63"/>
            <p:cNvSpPr>
              <a:spLocks noChangeArrowheads="1"/>
            </p:cNvSpPr>
            <p:nvPr/>
          </p:nvSpPr>
          <p:spPr bwMode="auto">
            <a:xfrm>
              <a:off x="3562" y="2809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928" name="Rectangle 64"/>
            <p:cNvSpPr>
              <a:spLocks noChangeArrowheads="1"/>
            </p:cNvSpPr>
            <p:nvPr/>
          </p:nvSpPr>
          <p:spPr bwMode="auto">
            <a:xfrm>
              <a:off x="3958" y="2787"/>
              <a:ext cx="295" cy="113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929" name="Object 65"/>
            <p:cNvGraphicFramePr>
              <a:graphicFrameLocks noChangeAspect="1"/>
            </p:cNvGraphicFramePr>
            <p:nvPr/>
          </p:nvGraphicFramePr>
          <p:xfrm>
            <a:off x="4980" y="3389"/>
            <a:ext cx="448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94" name="公式" r:id="rId20" imgW="368280" imgH="431640" progId="Equation.3">
                    <p:embed/>
                  </p:oleObj>
                </mc:Choice>
                <mc:Fallback>
                  <p:oleObj name="公式" r:id="rId20" imgW="368280" imgH="431640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0" y="3389"/>
                          <a:ext cx="448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930" name="Object 66"/>
            <p:cNvGraphicFramePr>
              <a:graphicFrameLocks noChangeAspect="1"/>
            </p:cNvGraphicFramePr>
            <p:nvPr/>
          </p:nvGraphicFramePr>
          <p:xfrm>
            <a:off x="3309" y="3036"/>
            <a:ext cx="207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95" name="公式" r:id="rId22" imgW="164880" imgH="342720" progId="Equation.3">
                    <p:embed/>
                  </p:oleObj>
                </mc:Choice>
                <mc:Fallback>
                  <p:oleObj name="公式" r:id="rId22" imgW="164880" imgH="342720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9" y="3036"/>
                          <a:ext cx="207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931" name="Text Box 67"/>
            <p:cNvSpPr txBox="1">
              <a:spLocks noChangeArrowheads="1"/>
            </p:cNvSpPr>
            <p:nvPr/>
          </p:nvSpPr>
          <p:spPr bwMode="auto">
            <a:xfrm>
              <a:off x="3733" y="2858"/>
              <a:ext cx="235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20932" name="Text Box 68"/>
            <p:cNvSpPr txBox="1">
              <a:spLocks noChangeArrowheads="1"/>
            </p:cNvSpPr>
            <p:nvPr/>
          </p:nvSpPr>
          <p:spPr bwMode="auto">
            <a:xfrm>
              <a:off x="4547" y="2803"/>
              <a:ext cx="234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20933" name="Text Box 69"/>
            <p:cNvSpPr txBox="1">
              <a:spLocks noChangeArrowheads="1"/>
            </p:cNvSpPr>
            <p:nvPr/>
          </p:nvSpPr>
          <p:spPr bwMode="auto">
            <a:xfrm>
              <a:off x="4553" y="3367"/>
              <a:ext cx="234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20934" name="Text Box 70"/>
            <p:cNvSpPr txBox="1">
              <a:spLocks noChangeArrowheads="1"/>
            </p:cNvSpPr>
            <p:nvPr/>
          </p:nvSpPr>
          <p:spPr bwMode="auto">
            <a:xfrm>
              <a:off x="4268" y="2754"/>
              <a:ext cx="22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20935" name="Text Box 71"/>
            <p:cNvSpPr txBox="1">
              <a:spLocks noChangeArrowheads="1"/>
            </p:cNvSpPr>
            <p:nvPr/>
          </p:nvSpPr>
          <p:spPr bwMode="auto">
            <a:xfrm>
              <a:off x="4553" y="3152"/>
              <a:ext cx="221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20936" name="Text Box 72"/>
            <p:cNvSpPr txBox="1">
              <a:spLocks noChangeArrowheads="1"/>
            </p:cNvSpPr>
            <p:nvPr/>
          </p:nvSpPr>
          <p:spPr bwMode="auto">
            <a:xfrm>
              <a:off x="4560" y="3565"/>
              <a:ext cx="221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_</a:t>
              </a:r>
            </a:p>
          </p:txBody>
        </p:sp>
        <p:graphicFrame>
          <p:nvGraphicFramePr>
            <p:cNvPr id="420937" name="Object 73"/>
            <p:cNvGraphicFramePr>
              <a:graphicFrameLocks noChangeAspect="1"/>
            </p:cNvGraphicFramePr>
            <p:nvPr/>
          </p:nvGraphicFramePr>
          <p:xfrm>
            <a:off x="3995" y="2762"/>
            <a:ext cx="255" cy="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96" name="公式" r:id="rId24" imgW="203040" imgH="368280" progId="Equation.3">
                    <p:embed/>
                  </p:oleObj>
                </mc:Choice>
                <mc:Fallback>
                  <p:oleObj name="公式" r:id="rId24" imgW="203040" imgH="368280" progId="Equation.3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5" y="2762"/>
                          <a:ext cx="255" cy="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938" name="Object 74"/>
            <p:cNvGraphicFramePr>
              <a:graphicFrameLocks noChangeAspect="1"/>
            </p:cNvGraphicFramePr>
            <p:nvPr/>
          </p:nvGraphicFramePr>
          <p:xfrm>
            <a:off x="4480" y="2868"/>
            <a:ext cx="255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97" name="公式" r:id="rId26" imgW="203040" imgH="380880" progId="Equation.3">
                    <p:embed/>
                  </p:oleObj>
                </mc:Choice>
                <mc:Fallback>
                  <p:oleObj name="公式" r:id="rId26" imgW="203040" imgH="380880" progId="Equation.3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0" y="2868"/>
                          <a:ext cx="255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939" name="Object 75"/>
            <p:cNvGraphicFramePr>
              <a:graphicFrameLocks noChangeAspect="1"/>
            </p:cNvGraphicFramePr>
            <p:nvPr/>
          </p:nvGraphicFramePr>
          <p:xfrm>
            <a:off x="4447" y="3361"/>
            <a:ext cx="255" cy="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098" name="公式" r:id="rId28" imgW="203040" imgH="368280" progId="Equation.3">
                    <p:embed/>
                  </p:oleObj>
                </mc:Choice>
                <mc:Fallback>
                  <p:oleObj name="公式" r:id="rId28" imgW="203040" imgH="368280" progId="Equation.3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7" y="3361"/>
                          <a:ext cx="255" cy="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0941" name="Object 77"/>
          <p:cNvGraphicFramePr>
            <a:graphicFrameLocks noChangeAspect="1"/>
          </p:cNvGraphicFramePr>
          <p:nvPr/>
        </p:nvGraphicFramePr>
        <p:xfrm>
          <a:off x="5021263" y="3090863"/>
          <a:ext cx="2586037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99" name="Equation" r:id="rId30" imgW="1320480" imgH="342720" progId="Equation.3">
                  <p:embed/>
                </p:oleObj>
              </mc:Choice>
              <mc:Fallback>
                <p:oleObj name="Equation" r:id="rId30" imgW="1320480" imgH="342720" progId="Equation.3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263" y="3090863"/>
                        <a:ext cx="2586037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942" name="Object 78"/>
          <p:cNvGraphicFramePr>
            <a:graphicFrameLocks noChangeAspect="1"/>
          </p:cNvGraphicFramePr>
          <p:nvPr/>
        </p:nvGraphicFramePr>
        <p:xfrm>
          <a:off x="5499100" y="3703638"/>
          <a:ext cx="152082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00" name="公式" r:id="rId32" imgW="723600" imgH="393480" progId="Equation.3">
                  <p:embed/>
                </p:oleObj>
              </mc:Choice>
              <mc:Fallback>
                <p:oleObj name="公式" r:id="rId32" imgW="723600" imgH="393480" progId="Equation.3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100" y="3703638"/>
                        <a:ext cx="1520825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943" name="Object 79"/>
          <p:cNvGraphicFramePr>
            <a:graphicFrameLocks noChangeAspect="1"/>
          </p:cNvGraphicFramePr>
          <p:nvPr/>
        </p:nvGraphicFramePr>
        <p:xfrm>
          <a:off x="2232025" y="3765550"/>
          <a:ext cx="148907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01" name="公式" r:id="rId34" imgW="723600" imgH="393480" progId="Equation.3">
                  <p:embed/>
                </p:oleObj>
              </mc:Choice>
              <mc:Fallback>
                <p:oleObj name="公式" r:id="rId34" imgW="723600" imgH="393480" progId="Equation.3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3765550"/>
                        <a:ext cx="1489075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944" name="Object 80"/>
          <p:cNvGraphicFramePr>
            <a:graphicFrameLocks noChangeAspect="1"/>
          </p:cNvGraphicFramePr>
          <p:nvPr/>
        </p:nvGraphicFramePr>
        <p:xfrm>
          <a:off x="5892800" y="4646613"/>
          <a:ext cx="9017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02" name="公式" r:id="rId35" imgW="482400" imgH="228600" progId="Equation.3">
                  <p:embed/>
                </p:oleObj>
              </mc:Choice>
              <mc:Fallback>
                <p:oleObj name="公式" r:id="rId35" imgW="482400" imgH="228600" progId="Equation.3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2800" y="4646613"/>
                        <a:ext cx="901700" cy="425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00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945" name="Text Box 81"/>
          <p:cNvSpPr txBox="1">
            <a:spLocks noChangeArrowheads="1"/>
          </p:cNvSpPr>
          <p:nvPr/>
        </p:nvSpPr>
        <p:spPr bwMode="auto">
          <a:xfrm>
            <a:off x="5435600" y="5229225"/>
            <a:ext cx="19764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LC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串联部分相当于短路</a:t>
            </a:r>
          </a:p>
        </p:txBody>
      </p:sp>
      <p:sp>
        <p:nvSpPr>
          <p:cNvPr id="420946" name="Text Box 82"/>
          <p:cNvSpPr txBox="1">
            <a:spLocks noChangeArrowheads="1"/>
          </p:cNvSpPr>
          <p:nvPr/>
        </p:nvSpPr>
        <p:spPr bwMode="auto">
          <a:xfrm>
            <a:off x="2320925" y="5295900"/>
            <a:ext cx="1876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LC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并联部分相当于开路</a:t>
            </a:r>
          </a:p>
        </p:txBody>
      </p:sp>
      <p:sp>
        <p:nvSpPr>
          <p:cNvPr id="420947" name="Rectangle 83"/>
          <p:cNvSpPr>
            <a:spLocks noChangeArrowheads="1"/>
          </p:cNvSpPr>
          <p:nvPr/>
        </p:nvSpPr>
        <p:spPr bwMode="auto">
          <a:xfrm>
            <a:off x="5741988" y="6040438"/>
            <a:ext cx="140335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0" hangingPunct="0"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电压谐振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420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42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420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420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20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420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420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2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20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6" grpId="0" build="p" autoUpdateAnimBg="0"/>
      <p:bldP spid="420869" grpId="0" build="p" autoUpdateAnimBg="0"/>
      <p:bldP spid="420945" grpId="0"/>
      <p:bldP spid="420946" grpId="0"/>
      <p:bldP spid="420947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Text Box 2"/>
          <p:cNvSpPr txBox="1">
            <a:spLocks noChangeArrowheads="1"/>
          </p:cNvSpPr>
          <p:nvPr/>
        </p:nvSpPr>
        <p:spPr bwMode="auto">
          <a:xfrm>
            <a:off x="5526088" y="219075"/>
            <a:ext cx="161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400" b="1" i="1" u="sng">
                <a:latin typeface="Times New Roman" panose="02020603050405020304" pitchFamily="18" charset="0"/>
              </a:rPr>
              <a:t>R L C </a:t>
            </a:r>
            <a:r>
              <a:rPr kumimoji="1" lang="zh-CN" altLang="en-US" sz="2400" b="1" u="sng">
                <a:latin typeface="Times New Roman" panose="02020603050405020304" pitchFamily="18" charset="0"/>
              </a:rPr>
              <a:t>串联</a:t>
            </a:r>
          </a:p>
        </p:txBody>
      </p:sp>
      <p:sp>
        <p:nvSpPr>
          <p:cNvPr id="422915" name="Text Box 3"/>
          <p:cNvSpPr txBox="1">
            <a:spLocks noChangeArrowheads="1"/>
          </p:cNvSpPr>
          <p:nvPr/>
        </p:nvSpPr>
        <p:spPr bwMode="auto">
          <a:xfrm>
            <a:off x="2228850" y="220663"/>
            <a:ext cx="163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400" b="1" i="1" u="sng">
                <a:latin typeface="Times New Roman" panose="02020603050405020304" pitchFamily="18" charset="0"/>
              </a:rPr>
              <a:t>G C L </a:t>
            </a:r>
            <a:r>
              <a:rPr kumimoji="1" lang="zh-CN" altLang="en-US" sz="2400" b="1" u="sng">
                <a:latin typeface="Times New Roman" panose="02020603050405020304" pitchFamily="18" charset="0"/>
              </a:rPr>
              <a:t>并联</a:t>
            </a:r>
          </a:p>
        </p:txBody>
      </p:sp>
      <p:grpSp>
        <p:nvGrpSpPr>
          <p:cNvPr id="422916" name="Group 4"/>
          <p:cNvGrpSpPr>
            <a:grpSpLocks/>
          </p:cNvGrpSpPr>
          <p:nvPr/>
        </p:nvGrpSpPr>
        <p:grpSpPr bwMode="auto">
          <a:xfrm>
            <a:off x="5180013" y="801688"/>
            <a:ext cx="2514600" cy="1471612"/>
            <a:chOff x="802" y="583"/>
            <a:chExt cx="1584" cy="927"/>
          </a:xfrm>
        </p:grpSpPr>
        <p:sp>
          <p:nvSpPr>
            <p:cNvPr id="422917" name="Line 5"/>
            <p:cNvSpPr>
              <a:spLocks noChangeShapeType="1"/>
            </p:cNvSpPr>
            <p:nvPr/>
          </p:nvSpPr>
          <p:spPr bwMode="auto">
            <a:xfrm>
              <a:off x="876" y="1269"/>
              <a:ext cx="15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18" name="Line 6"/>
            <p:cNvSpPr>
              <a:spLocks noChangeShapeType="1"/>
            </p:cNvSpPr>
            <p:nvPr/>
          </p:nvSpPr>
          <p:spPr bwMode="auto">
            <a:xfrm flipV="1">
              <a:off x="1105" y="592"/>
              <a:ext cx="0" cy="8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19" name="Freeform 7"/>
            <p:cNvSpPr>
              <a:spLocks/>
            </p:cNvSpPr>
            <p:nvPr/>
          </p:nvSpPr>
          <p:spPr bwMode="auto">
            <a:xfrm>
              <a:off x="1306" y="606"/>
              <a:ext cx="914" cy="508"/>
            </a:xfrm>
            <a:custGeom>
              <a:avLst/>
              <a:gdLst>
                <a:gd name="T0" fmla="*/ 0 w 914"/>
                <a:gd name="T1" fmla="*/ 95 h 508"/>
                <a:gd name="T2" fmla="*/ 189 w 914"/>
                <a:gd name="T3" fmla="*/ 364 h 508"/>
                <a:gd name="T4" fmla="*/ 378 w 914"/>
                <a:gd name="T5" fmla="*/ 503 h 508"/>
                <a:gd name="T6" fmla="*/ 554 w 914"/>
                <a:gd name="T7" fmla="*/ 336 h 508"/>
                <a:gd name="T8" fmla="*/ 734 w 914"/>
                <a:gd name="T9" fmla="*/ 132 h 508"/>
                <a:gd name="T10" fmla="*/ 914 w 914"/>
                <a:gd name="T11" fmla="*/ 0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4" h="508">
                  <a:moveTo>
                    <a:pt x="0" y="95"/>
                  </a:moveTo>
                  <a:cubicBezTo>
                    <a:pt x="31" y="140"/>
                    <a:pt x="126" y="295"/>
                    <a:pt x="189" y="364"/>
                  </a:cubicBezTo>
                  <a:cubicBezTo>
                    <a:pt x="252" y="432"/>
                    <a:pt x="317" y="508"/>
                    <a:pt x="378" y="503"/>
                  </a:cubicBezTo>
                  <a:cubicBezTo>
                    <a:pt x="439" y="498"/>
                    <a:pt x="495" y="398"/>
                    <a:pt x="554" y="336"/>
                  </a:cubicBezTo>
                  <a:cubicBezTo>
                    <a:pt x="613" y="274"/>
                    <a:pt x="674" y="188"/>
                    <a:pt x="734" y="132"/>
                  </a:cubicBezTo>
                  <a:cubicBezTo>
                    <a:pt x="794" y="76"/>
                    <a:pt x="876" y="28"/>
                    <a:pt x="914" y="0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20" name="Line 8"/>
            <p:cNvSpPr>
              <a:spLocks noChangeShapeType="1"/>
            </p:cNvSpPr>
            <p:nvPr/>
          </p:nvSpPr>
          <p:spPr bwMode="auto">
            <a:xfrm>
              <a:off x="1677" y="1120"/>
              <a:ext cx="0" cy="1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21" name="Text Box 9"/>
            <p:cNvSpPr txBox="1">
              <a:spLocks noChangeArrowheads="1"/>
            </p:cNvSpPr>
            <p:nvPr/>
          </p:nvSpPr>
          <p:spPr bwMode="auto">
            <a:xfrm>
              <a:off x="802" y="583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|Z|</a:t>
              </a:r>
            </a:p>
          </p:txBody>
        </p:sp>
        <p:sp>
          <p:nvSpPr>
            <p:cNvPr id="422922" name="Text Box 10"/>
            <p:cNvSpPr txBox="1">
              <a:spLocks noChangeArrowheads="1"/>
            </p:cNvSpPr>
            <p:nvPr/>
          </p:nvSpPr>
          <p:spPr bwMode="auto">
            <a:xfrm>
              <a:off x="2157" y="1260"/>
              <a:ext cx="2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000" b="1" i="1">
                  <a:latin typeface="Symbol" panose="05050102010706020507" pitchFamily="18" charset="2"/>
                </a:rPr>
                <a:t>w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22923" name="Text Box 11"/>
            <p:cNvSpPr txBox="1">
              <a:spLocks noChangeArrowheads="1"/>
            </p:cNvSpPr>
            <p:nvPr/>
          </p:nvSpPr>
          <p:spPr bwMode="auto">
            <a:xfrm>
              <a:off x="1517" y="1260"/>
              <a:ext cx="27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000" b="1" i="1">
                  <a:latin typeface="Symbol" panose="05050102010706020507" pitchFamily="18" charset="2"/>
                </a:rPr>
                <a:t>w</a:t>
              </a:r>
              <a:r>
                <a:rPr kumimoji="1" lang="en-US" altLang="zh-CN" sz="2000" b="1" baseline="-25000">
                  <a:latin typeface="Symbol" panose="05050102010706020507" pitchFamily="18" charset="2"/>
                </a:rPr>
                <a:t>0</a:t>
              </a:r>
              <a:endParaRPr kumimoji="1" lang="en-US" altLang="zh-CN" sz="20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22924" name="Text Box 12"/>
            <p:cNvSpPr txBox="1">
              <a:spLocks noChangeArrowheads="1"/>
            </p:cNvSpPr>
            <p:nvPr/>
          </p:nvSpPr>
          <p:spPr bwMode="auto">
            <a:xfrm>
              <a:off x="848" y="1249"/>
              <a:ext cx="3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000" b="1">
                  <a:latin typeface="Symbol" panose="05050102010706020507" pitchFamily="18" charset="2"/>
                </a:rPr>
                <a:t>0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22925" name="Line 13"/>
            <p:cNvSpPr>
              <a:spLocks noChangeShapeType="1"/>
            </p:cNvSpPr>
            <p:nvPr/>
          </p:nvSpPr>
          <p:spPr bwMode="auto">
            <a:xfrm>
              <a:off x="1105" y="1118"/>
              <a:ext cx="5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26" name="Text Box 14"/>
            <p:cNvSpPr txBox="1">
              <a:spLocks noChangeArrowheads="1"/>
            </p:cNvSpPr>
            <p:nvPr/>
          </p:nvSpPr>
          <p:spPr bwMode="auto">
            <a:xfrm>
              <a:off x="859" y="973"/>
              <a:ext cx="25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R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22927" name="Group 15"/>
          <p:cNvGrpSpPr>
            <a:grpSpLocks/>
          </p:cNvGrpSpPr>
          <p:nvPr/>
        </p:nvGrpSpPr>
        <p:grpSpPr bwMode="auto">
          <a:xfrm>
            <a:off x="4859338" y="2205038"/>
            <a:ext cx="3003550" cy="2014537"/>
            <a:chOff x="564" y="1693"/>
            <a:chExt cx="2105" cy="1427"/>
          </a:xfrm>
        </p:grpSpPr>
        <p:sp>
          <p:nvSpPr>
            <p:cNvPr id="422928" name="Freeform 16"/>
            <p:cNvSpPr>
              <a:spLocks/>
            </p:cNvSpPr>
            <p:nvPr/>
          </p:nvSpPr>
          <p:spPr bwMode="auto">
            <a:xfrm>
              <a:off x="1118" y="1997"/>
              <a:ext cx="1324" cy="793"/>
            </a:xfrm>
            <a:custGeom>
              <a:avLst/>
              <a:gdLst>
                <a:gd name="T0" fmla="*/ 0 w 2346"/>
                <a:gd name="T1" fmla="*/ 1863 h 1863"/>
                <a:gd name="T2" fmla="*/ 165 w 2346"/>
                <a:gd name="T3" fmla="*/ 1464 h 1863"/>
                <a:gd name="T4" fmla="*/ 327 w 2346"/>
                <a:gd name="T5" fmla="*/ 1035 h 1863"/>
                <a:gd name="T6" fmla="*/ 618 w 2346"/>
                <a:gd name="T7" fmla="*/ 198 h 1863"/>
                <a:gd name="T8" fmla="*/ 780 w 2346"/>
                <a:gd name="T9" fmla="*/ 9 h 1863"/>
                <a:gd name="T10" fmla="*/ 960 w 2346"/>
                <a:gd name="T11" fmla="*/ 147 h 1863"/>
                <a:gd name="T12" fmla="*/ 1281 w 2346"/>
                <a:gd name="T13" fmla="*/ 570 h 1863"/>
                <a:gd name="T14" fmla="*/ 1521 w 2346"/>
                <a:gd name="T15" fmla="*/ 798 h 1863"/>
                <a:gd name="T16" fmla="*/ 1812 w 2346"/>
                <a:gd name="T17" fmla="*/ 990 h 1863"/>
                <a:gd name="T18" fmla="*/ 2085 w 2346"/>
                <a:gd name="T19" fmla="*/ 1116 h 1863"/>
                <a:gd name="T20" fmla="*/ 2346 w 2346"/>
                <a:gd name="T21" fmla="*/ 1206 h 1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46" h="1863">
                  <a:moveTo>
                    <a:pt x="0" y="1863"/>
                  </a:moveTo>
                  <a:cubicBezTo>
                    <a:pt x="27" y="1797"/>
                    <a:pt x="111" y="1602"/>
                    <a:pt x="165" y="1464"/>
                  </a:cubicBezTo>
                  <a:cubicBezTo>
                    <a:pt x="219" y="1326"/>
                    <a:pt x="252" y="1246"/>
                    <a:pt x="327" y="1035"/>
                  </a:cubicBezTo>
                  <a:cubicBezTo>
                    <a:pt x="402" y="824"/>
                    <a:pt x="543" y="369"/>
                    <a:pt x="618" y="198"/>
                  </a:cubicBezTo>
                  <a:cubicBezTo>
                    <a:pt x="693" y="27"/>
                    <a:pt x="723" y="18"/>
                    <a:pt x="780" y="9"/>
                  </a:cubicBezTo>
                  <a:cubicBezTo>
                    <a:pt x="837" y="0"/>
                    <a:pt x="877" y="54"/>
                    <a:pt x="960" y="147"/>
                  </a:cubicBezTo>
                  <a:cubicBezTo>
                    <a:pt x="1043" y="240"/>
                    <a:pt x="1188" y="462"/>
                    <a:pt x="1281" y="570"/>
                  </a:cubicBezTo>
                  <a:cubicBezTo>
                    <a:pt x="1374" y="678"/>
                    <a:pt x="1433" y="728"/>
                    <a:pt x="1521" y="798"/>
                  </a:cubicBezTo>
                  <a:cubicBezTo>
                    <a:pt x="1609" y="868"/>
                    <a:pt x="1718" y="937"/>
                    <a:pt x="1812" y="990"/>
                  </a:cubicBezTo>
                  <a:cubicBezTo>
                    <a:pt x="1906" y="1043"/>
                    <a:pt x="1996" y="1080"/>
                    <a:pt x="2085" y="1116"/>
                  </a:cubicBezTo>
                  <a:cubicBezTo>
                    <a:pt x="2174" y="1152"/>
                    <a:pt x="2292" y="1187"/>
                    <a:pt x="2346" y="1206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2929" name="Line 17"/>
            <p:cNvSpPr>
              <a:spLocks noChangeShapeType="1"/>
            </p:cNvSpPr>
            <p:nvPr/>
          </p:nvSpPr>
          <p:spPr bwMode="auto">
            <a:xfrm>
              <a:off x="895" y="2801"/>
              <a:ext cx="16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2930" name="Line 18"/>
            <p:cNvSpPr>
              <a:spLocks noChangeShapeType="1"/>
            </p:cNvSpPr>
            <p:nvPr/>
          </p:nvSpPr>
          <p:spPr bwMode="auto">
            <a:xfrm flipV="1">
              <a:off x="1118" y="1774"/>
              <a:ext cx="4" cy="13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2931" name="Line 19"/>
            <p:cNvSpPr>
              <a:spLocks noChangeShapeType="1"/>
            </p:cNvSpPr>
            <p:nvPr/>
          </p:nvSpPr>
          <p:spPr bwMode="auto">
            <a:xfrm>
              <a:off x="1549" y="2012"/>
              <a:ext cx="0" cy="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2932" name="Text Box 20"/>
            <p:cNvSpPr txBox="1">
              <a:spLocks noChangeArrowheads="1"/>
            </p:cNvSpPr>
            <p:nvPr/>
          </p:nvSpPr>
          <p:spPr bwMode="auto">
            <a:xfrm>
              <a:off x="1371" y="2740"/>
              <a:ext cx="353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r>
                <a:rPr kumimoji="1" lang="en-US" altLang="zh-CN" sz="2000" b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22933" name="Text Box 21"/>
            <p:cNvSpPr txBox="1">
              <a:spLocks noChangeArrowheads="1"/>
            </p:cNvSpPr>
            <p:nvPr/>
          </p:nvSpPr>
          <p:spPr bwMode="auto">
            <a:xfrm>
              <a:off x="2373" y="2738"/>
              <a:ext cx="296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22934" name="Text Box 22"/>
            <p:cNvSpPr txBox="1">
              <a:spLocks noChangeArrowheads="1"/>
            </p:cNvSpPr>
            <p:nvPr/>
          </p:nvSpPr>
          <p:spPr bwMode="auto">
            <a:xfrm>
              <a:off x="919" y="2765"/>
              <a:ext cx="218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22935" name="Text Box 23"/>
            <p:cNvSpPr txBox="1">
              <a:spLocks noChangeArrowheads="1"/>
            </p:cNvSpPr>
            <p:nvPr/>
          </p:nvSpPr>
          <p:spPr bwMode="auto">
            <a:xfrm>
              <a:off x="564" y="1693"/>
              <a:ext cx="601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 </a:t>
              </a:r>
              <a:r>
                <a:rPr kumimoji="1"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422936" name="Line 24"/>
            <p:cNvSpPr>
              <a:spLocks noChangeShapeType="1"/>
            </p:cNvSpPr>
            <p:nvPr/>
          </p:nvSpPr>
          <p:spPr bwMode="auto">
            <a:xfrm>
              <a:off x="1118" y="2006"/>
              <a:ext cx="43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2937" name="Text Box 25"/>
            <p:cNvSpPr txBox="1">
              <a:spLocks noChangeArrowheads="1"/>
            </p:cNvSpPr>
            <p:nvPr/>
          </p:nvSpPr>
          <p:spPr bwMode="auto">
            <a:xfrm>
              <a:off x="732" y="1881"/>
              <a:ext cx="426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0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/</a:t>
              </a:r>
              <a:r>
                <a:rPr kumimoji="1" lang="en-US" altLang="zh-CN" sz="2000" b="1" i="1">
                  <a:latin typeface="Times New Roman" panose="02020603050405020304" pitchFamily="18" charset="0"/>
                </a:rPr>
                <a:t>R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22938" name="Group 26"/>
          <p:cNvGrpSpPr>
            <a:grpSpLocks/>
          </p:cNvGrpSpPr>
          <p:nvPr/>
        </p:nvGrpSpPr>
        <p:grpSpPr bwMode="auto">
          <a:xfrm>
            <a:off x="1568450" y="2263775"/>
            <a:ext cx="3003550" cy="2014538"/>
            <a:chOff x="564" y="1693"/>
            <a:chExt cx="2105" cy="1427"/>
          </a:xfrm>
        </p:grpSpPr>
        <p:sp>
          <p:nvSpPr>
            <p:cNvPr id="422939" name="Freeform 27"/>
            <p:cNvSpPr>
              <a:spLocks/>
            </p:cNvSpPr>
            <p:nvPr/>
          </p:nvSpPr>
          <p:spPr bwMode="auto">
            <a:xfrm>
              <a:off x="1118" y="1997"/>
              <a:ext cx="1324" cy="793"/>
            </a:xfrm>
            <a:custGeom>
              <a:avLst/>
              <a:gdLst>
                <a:gd name="T0" fmla="*/ 0 w 2346"/>
                <a:gd name="T1" fmla="*/ 1863 h 1863"/>
                <a:gd name="T2" fmla="*/ 165 w 2346"/>
                <a:gd name="T3" fmla="*/ 1464 h 1863"/>
                <a:gd name="T4" fmla="*/ 327 w 2346"/>
                <a:gd name="T5" fmla="*/ 1035 h 1863"/>
                <a:gd name="T6" fmla="*/ 618 w 2346"/>
                <a:gd name="T7" fmla="*/ 198 h 1863"/>
                <a:gd name="T8" fmla="*/ 780 w 2346"/>
                <a:gd name="T9" fmla="*/ 9 h 1863"/>
                <a:gd name="T10" fmla="*/ 960 w 2346"/>
                <a:gd name="T11" fmla="*/ 147 h 1863"/>
                <a:gd name="T12" fmla="*/ 1281 w 2346"/>
                <a:gd name="T13" fmla="*/ 570 h 1863"/>
                <a:gd name="T14" fmla="*/ 1521 w 2346"/>
                <a:gd name="T15" fmla="*/ 798 h 1863"/>
                <a:gd name="T16" fmla="*/ 1812 w 2346"/>
                <a:gd name="T17" fmla="*/ 990 h 1863"/>
                <a:gd name="T18" fmla="*/ 2085 w 2346"/>
                <a:gd name="T19" fmla="*/ 1116 h 1863"/>
                <a:gd name="T20" fmla="*/ 2346 w 2346"/>
                <a:gd name="T21" fmla="*/ 1206 h 1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46" h="1863">
                  <a:moveTo>
                    <a:pt x="0" y="1863"/>
                  </a:moveTo>
                  <a:cubicBezTo>
                    <a:pt x="27" y="1797"/>
                    <a:pt x="111" y="1602"/>
                    <a:pt x="165" y="1464"/>
                  </a:cubicBezTo>
                  <a:cubicBezTo>
                    <a:pt x="219" y="1326"/>
                    <a:pt x="252" y="1246"/>
                    <a:pt x="327" y="1035"/>
                  </a:cubicBezTo>
                  <a:cubicBezTo>
                    <a:pt x="402" y="824"/>
                    <a:pt x="543" y="369"/>
                    <a:pt x="618" y="198"/>
                  </a:cubicBezTo>
                  <a:cubicBezTo>
                    <a:pt x="693" y="27"/>
                    <a:pt x="723" y="18"/>
                    <a:pt x="780" y="9"/>
                  </a:cubicBezTo>
                  <a:cubicBezTo>
                    <a:pt x="837" y="0"/>
                    <a:pt x="877" y="54"/>
                    <a:pt x="960" y="147"/>
                  </a:cubicBezTo>
                  <a:cubicBezTo>
                    <a:pt x="1043" y="240"/>
                    <a:pt x="1188" y="462"/>
                    <a:pt x="1281" y="570"/>
                  </a:cubicBezTo>
                  <a:cubicBezTo>
                    <a:pt x="1374" y="678"/>
                    <a:pt x="1433" y="728"/>
                    <a:pt x="1521" y="798"/>
                  </a:cubicBezTo>
                  <a:cubicBezTo>
                    <a:pt x="1609" y="868"/>
                    <a:pt x="1718" y="937"/>
                    <a:pt x="1812" y="990"/>
                  </a:cubicBezTo>
                  <a:cubicBezTo>
                    <a:pt x="1906" y="1043"/>
                    <a:pt x="1996" y="1080"/>
                    <a:pt x="2085" y="1116"/>
                  </a:cubicBezTo>
                  <a:cubicBezTo>
                    <a:pt x="2174" y="1152"/>
                    <a:pt x="2292" y="1187"/>
                    <a:pt x="2346" y="1206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2940" name="Line 28"/>
            <p:cNvSpPr>
              <a:spLocks noChangeShapeType="1"/>
            </p:cNvSpPr>
            <p:nvPr/>
          </p:nvSpPr>
          <p:spPr bwMode="auto">
            <a:xfrm>
              <a:off x="895" y="2801"/>
              <a:ext cx="16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2941" name="Line 29"/>
            <p:cNvSpPr>
              <a:spLocks noChangeShapeType="1"/>
            </p:cNvSpPr>
            <p:nvPr/>
          </p:nvSpPr>
          <p:spPr bwMode="auto">
            <a:xfrm flipV="1">
              <a:off x="1118" y="1774"/>
              <a:ext cx="4" cy="13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2942" name="Line 30"/>
            <p:cNvSpPr>
              <a:spLocks noChangeShapeType="1"/>
            </p:cNvSpPr>
            <p:nvPr/>
          </p:nvSpPr>
          <p:spPr bwMode="auto">
            <a:xfrm>
              <a:off x="1549" y="2012"/>
              <a:ext cx="0" cy="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2943" name="Text Box 31"/>
            <p:cNvSpPr txBox="1">
              <a:spLocks noChangeArrowheads="1"/>
            </p:cNvSpPr>
            <p:nvPr/>
          </p:nvSpPr>
          <p:spPr bwMode="auto">
            <a:xfrm>
              <a:off x="1371" y="2740"/>
              <a:ext cx="353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r>
                <a:rPr kumimoji="1" lang="en-US" altLang="zh-CN" sz="2000" b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22944" name="Text Box 32"/>
            <p:cNvSpPr txBox="1">
              <a:spLocks noChangeArrowheads="1"/>
            </p:cNvSpPr>
            <p:nvPr/>
          </p:nvSpPr>
          <p:spPr bwMode="auto">
            <a:xfrm>
              <a:off x="2373" y="2738"/>
              <a:ext cx="296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22945" name="Text Box 33"/>
            <p:cNvSpPr txBox="1">
              <a:spLocks noChangeArrowheads="1"/>
            </p:cNvSpPr>
            <p:nvPr/>
          </p:nvSpPr>
          <p:spPr bwMode="auto">
            <a:xfrm>
              <a:off x="919" y="2765"/>
              <a:ext cx="218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22946" name="Text Box 34"/>
            <p:cNvSpPr txBox="1">
              <a:spLocks noChangeArrowheads="1"/>
            </p:cNvSpPr>
            <p:nvPr/>
          </p:nvSpPr>
          <p:spPr bwMode="auto">
            <a:xfrm>
              <a:off x="564" y="1693"/>
              <a:ext cx="601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kumimoji="1"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0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 </a:t>
              </a:r>
              <a:r>
                <a:rPr kumimoji="1" lang="en-US" altLang="zh-CN" sz="2000" b="1"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422947" name="Line 35"/>
            <p:cNvSpPr>
              <a:spLocks noChangeShapeType="1"/>
            </p:cNvSpPr>
            <p:nvPr/>
          </p:nvSpPr>
          <p:spPr bwMode="auto">
            <a:xfrm>
              <a:off x="1118" y="2006"/>
              <a:ext cx="43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2948" name="Text Box 36"/>
            <p:cNvSpPr txBox="1">
              <a:spLocks noChangeArrowheads="1"/>
            </p:cNvSpPr>
            <p:nvPr/>
          </p:nvSpPr>
          <p:spPr bwMode="auto">
            <a:xfrm>
              <a:off x="725" y="1881"/>
              <a:ext cx="441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1" lang="en-US" altLang="zh-CN" sz="2000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baseline="-25000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/</a:t>
              </a:r>
              <a:r>
                <a:rPr kumimoji="1" lang="en-US" altLang="zh-CN" sz="2000" b="1" i="1">
                  <a:latin typeface="Times New Roman" panose="02020603050405020304" pitchFamily="18" charset="0"/>
                </a:rPr>
                <a:t>G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22949" name="Group 37"/>
          <p:cNvGrpSpPr>
            <a:grpSpLocks/>
          </p:cNvGrpSpPr>
          <p:nvPr/>
        </p:nvGrpSpPr>
        <p:grpSpPr bwMode="auto">
          <a:xfrm>
            <a:off x="5241925" y="4352925"/>
            <a:ext cx="1535113" cy="2178050"/>
            <a:chOff x="1175" y="2700"/>
            <a:chExt cx="967" cy="1372"/>
          </a:xfrm>
        </p:grpSpPr>
        <p:sp>
          <p:nvSpPr>
            <p:cNvPr id="422950" name="Line 38"/>
            <p:cNvSpPr>
              <a:spLocks noChangeShapeType="1"/>
            </p:cNvSpPr>
            <p:nvPr/>
          </p:nvSpPr>
          <p:spPr bwMode="auto">
            <a:xfrm>
              <a:off x="1422" y="3360"/>
              <a:ext cx="62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51" name="Line 39"/>
            <p:cNvSpPr>
              <a:spLocks noChangeShapeType="1"/>
            </p:cNvSpPr>
            <p:nvPr/>
          </p:nvSpPr>
          <p:spPr bwMode="auto">
            <a:xfrm>
              <a:off x="1422" y="336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52" name="Line 40"/>
            <p:cNvSpPr>
              <a:spLocks noChangeShapeType="1"/>
            </p:cNvSpPr>
            <p:nvPr/>
          </p:nvSpPr>
          <p:spPr bwMode="auto">
            <a:xfrm flipV="1">
              <a:off x="1422" y="2700"/>
              <a:ext cx="0" cy="6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53" name="Line 41"/>
            <p:cNvSpPr>
              <a:spLocks noChangeShapeType="1"/>
            </p:cNvSpPr>
            <p:nvPr/>
          </p:nvSpPr>
          <p:spPr bwMode="auto">
            <a:xfrm>
              <a:off x="1422" y="3360"/>
              <a:ext cx="0" cy="7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2954" name="Object 42"/>
            <p:cNvGraphicFramePr>
              <a:graphicFrameLocks noChangeAspect="1"/>
            </p:cNvGraphicFramePr>
            <p:nvPr/>
          </p:nvGraphicFramePr>
          <p:xfrm>
            <a:off x="1189" y="2730"/>
            <a:ext cx="240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044" name="公式" r:id="rId4" imgW="215640" imgH="304560" progId="Equation.3">
                    <p:embed/>
                  </p:oleObj>
                </mc:Choice>
                <mc:Fallback>
                  <p:oleObj name="公式" r:id="rId4" imgW="215640" imgH="30456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9" y="2730"/>
                          <a:ext cx="240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2955" name="Object 43"/>
            <p:cNvGraphicFramePr>
              <a:graphicFrameLocks noChangeAspect="1"/>
            </p:cNvGraphicFramePr>
            <p:nvPr/>
          </p:nvGraphicFramePr>
          <p:xfrm>
            <a:off x="1175" y="3656"/>
            <a:ext cx="226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045" name="公式" r:id="rId6" imgW="203040" imgH="304560" progId="Equation.3">
                    <p:embed/>
                  </p:oleObj>
                </mc:Choice>
                <mc:Fallback>
                  <p:oleObj name="公式" r:id="rId6" imgW="203040" imgH="30456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5" y="3656"/>
                          <a:ext cx="226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2956" name="Object 44"/>
            <p:cNvGraphicFramePr>
              <a:graphicFrameLocks noChangeAspect="1"/>
            </p:cNvGraphicFramePr>
            <p:nvPr/>
          </p:nvGraphicFramePr>
          <p:xfrm>
            <a:off x="1455" y="3326"/>
            <a:ext cx="482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046" name="公式" r:id="rId8" imgW="431640" imgH="304560" progId="Equation.3">
                    <p:embed/>
                  </p:oleObj>
                </mc:Choice>
                <mc:Fallback>
                  <p:oleObj name="公式" r:id="rId8" imgW="431640" imgH="30456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5" y="3326"/>
                          <a:ext cx="482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2957" name="Object 45"/>
            <p:cNvGraphicFramePr>
              <a:graphicFrameLocks noChangeAspect="1"/>
            </p:cNvGraphicFramePr>
            <p:nvPr/>
          </p:nvGraphicFramePr>
          <p:xfrm>
            <a:off x="2002" y="3326"/>
            <a:ext cx="140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047" name="公式" r:id="rId10" imgW="126720" imgH="266400" progId="Equation.3">
                    <p:embed/>
                  </p:oleObj>
                </mc:Choice>
                <mc:Fallback>
                  <p:oleObj name="公式" r:id="rId10" imgW="126720" imgH="2664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2" y="3326"/>
                          <a:ext cx="140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2958" name="Group 46"/>
          <p:cNvGrpSpPr>
            <a:grpSpLocks/>
          </p:cNvGrpSpPr>
          <p:nvPr/>
        </p:nvGrpSpPr>
        <p:grpSpPr bwMode="auto">
          <a:xfrm>
            <a:off x="2012950" y="4335463"/>
            <a:ext cx="1536700" cy="2309812"/>
            <a:chOff x="3164" y="2808"/>
            <a:chExt cx="968" cy="1455"/>
          </a:xfrm>
        </p:grpSpPr>
        <p:sp>
          <p:nvSpPr>
            <p:cNvPr id="422959" name="Line 47"/>
            <p:cNvSpPr>
              <a:spLocks noChangeShapeType="1"/>
            </p:cNvSpPr>
            <p:nvPr/>
          </p:nvSpPr>
          <p:spPr bwMode="auto">
            <a:xfrm>
              <a:off x="3390" y="3546"/>
              <a:ext cx="62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60" name="Line 48"/>
            <p:cNvSpPr>
              <a:spLocks noChangeShapeType="1"/>
            </p:cNvSpPr>
            <p:nvPr/>
          </p:nvSpPr>
          <p:spPr bwMode="auto">
            <a:xfrm>
              <a:off x="3390" y="354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61" name="Line 49"/>
            <p:cNvSpPr>
              <a:spLocks noChangeShapeType="1"/>
            </p:cNvSpPr>
            <p:nvPr/>
          </p:nvSpPr>
          <p:spPr bwMode="auto">
            <a:xfrm flipV="1">
              <a:off x="3390" y="2886"/>
              <a:ext cx="0" cy="6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62" name="Line 50"/>
            <p:cNvSpPr>
              <a:spLocks noChangeShapeType="1"/>
            </p:cNvSpPr>
            <p:nvPr/>
          </p:nvSpPr>
          <p:spPr bwMode="auto">
            <a:xfrm>
              <a:off x="3390" y="3546"/>
              <a:ext cx="0" cy="7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2963" name="Object 51"/>
            <p:cNvGraphicFramePr>
              <a:graphicFrameLocks noChangeAspect="1"/>
            </p:cNvGraphicFramePr>
            <p:nvPr/>
          </p:nvGraphicFramePr>
          <p:xfrm>
            <a:off x="3164" y="2808"/>
            <a:ext cx="213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048" name="公式" r:id="rId12" imgW="190440" imgH="304560" progId="Equation.3">
                    <p:embed/>
                  </p:oleObj>
                </mc:Choice>
                <mc:Fallback>
                  <p:oleObj name="公式" r:id="rId12" imgW="190440" imgH="30456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4" y="2808"/>
                          <a:ext cx="213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2964" name="Object 52"/>
            <p:cNvGraphicFramePr>
              <a:graphicFrameLocks noChangeAspect="1"/>
            </p:cNvGraphicFramePr>
            <p:nvPr/>
          </p:nvGraphicFramePr>
          <p:xfrm>
            <a:off x="3164" y="3956"/>
            <a:ext cx="18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049" name="公式" r:id="rId14" imgW="164880" imgH="304560" progId="Equation.3">
                    <p:embed/>
                  </p:oleObj>
                </mc:Choice>
                <mc:Fallback>
                  <p:oleObj name="公式" r:id="rId14" imgW="164880" imgH="304560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4" y="3956"/>
                          <a:ext cx="184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2965" name="Object 53"/>
            <p:cNvGraphicFramePr>
              <a:graphicFrameLocks noChangeAspect="1"/>
            </p:cNvGraphicFramePr>
            <p:nvPr/>
          </p:nvGraphicFramePr>
          <p:xfrm>
            <a:off x="3381" y="3506"/>
            <a:ext cx="56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050" name="公式" r:id="rId16" imgW="507960" imgH="317160" progId="Equation.3">
                    <p:embed/>
                  </p:oleObj>
                </mc:Choice>
                <mc:Fallback>
                  <p:oleObj name="公式" r:id="rId16" imgW="507960" imgH="31716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1" y="3506"/>
                          <a:ext cx="568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2966" name="Object 54"/>
            <p:cNvGraphicFramePr>
              <a:graphicFrameLocks noChangeAspect="1"/>
            </p:cNvGraphicFramePr>
            <p:nvPr/>
          </p:nvGraphicFramePr>
          <p:xfrm>
            <a:off x="3949" y="3505"/>
            <a:ext cx="183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051" name="公式" r:id="rId18" imgW="164880" imgH="279360" progId="Equation.3">
                    <p:embed/>
                  </p:oleObj>
                </mc:Choice>
                <mc:Fallback>
                  <p:oleObj name="公式" r:id="rId18" imgW="164880" imgH="27936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9" y="3505"/>
                          <a:ext cx="183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2967" name="Group 55"/>
          <p:cNvGrpSpPr>
            <a:grpSpLocks/>
          </p:cNvGrpSpPr>
          <p:nvPr/>
        </p:nvGrpSpPr>
        <p:grpSpPr bwMode="auto">
          <a:xfrm>
            <a:off x="1870075" y="803275"/>
            <a:ext cx="2514600" cy="1471613"/>
            <a:chOff x="3074" y="583"/>
            <a:chExt cx="1584" cy="927"/>
          </a:xfrm>
        </p:grpSpPr>
        <p:sp>
          <p:nvSpPr>
            <p:cNvPr id="422968" name="Line 56"/>
            <p:cNvSpPr>
              <a:spLocks noChangeShapeType="1"/>
            </p:cNvSpPr>
            <p:nvPr/>
          </p:nvSpPr>
          <p:spPr bwMode="auto">
            <a:xfrm>
              <a:off x="3148" y="1269"/>
              <a:ext cx="15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69" name="Line 57"/>
            <p:cNvSpPr>
              <a:spLocks noChangeShapeType="1"/>
            </p:cNvSpPr>
            <p:nvPr/>
          </p:nvSpPr>
          <p:spPr bwMode="auto">
            <a:xfrm flipV="1">
              <a:off x="3377" y="592"/>
              <a:ext cx="0" cy="8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70" name="Freeform 58"/>
            <p:cNvSpPr>
              <a:spLocks/>
            </p:cNvSpPr>
            <p:nvPr/>
          </p:nvSpPr>
          <p:spPr bwMode="auto">
            <a:xfrm>
              <a:off x="3578" y="600"/>
              <a:ext cx="914" cy="508"/>
            </a:xfrm>
            <a:custGeom>
              <a:avLst/>
              <a:gdLst>
                <a:gd name="T0" fmla="*/ 0 w 914"/>
                <a:gd name="T1" fmla="*/ 95 h 508"/>
                <a:gd name="T2" fmla="*/ 189 w 914"/>
                <a:gd name="T3" fmla="*/ 364 h 508"/>
                <a:gd name="T4" fmla="*/ 378 w 914"/>
                <a:gd name="T5" fmla="*/ 503 h 508"/>
                <a:gd name="T6" fmla="*/ 554 w 914"/>
                <a:gd name="T7" fmla="*/ 336 h 508"/>
                <a:gd name="T8" fmla="*/ 734 w 914"/>
                <a:gd name="T9" fmla="*/ 132 h 508"/>
                <a:gd name="T10" fmla="*/ 914 w 914"/>
                <a:gd name="T11" fmla="*/ 0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4" h="508">
                  <a:moveTo>
                    <a:pt x="0" y="95"/>
                  </a:moveTo>
                  <a:cubicBezTo>
                    <a:pt x="31" y="140"/>
                    <a:pt x="126" y="295"/>
                    <a:pt x="189" y="364"/>
                  </a:cubicBezTo>
                  <a:cubicBezTo>
                    <a:pt x="252" y="432"/>
                    <a:pt x="317" y="508"/>
                    <a:pt x="378" y="503"/>
                  </a:cubicBezTo>
                  <a:cubicBezTo>
                    <a:pt x="439" y="498"/>
                    <a:pt x="495" y="398"/>
                    <a:pt x="554" y="336"/>
                  </a:cubicBezTo>
                  <a:cubicBezTo>
                    <a:pt x="613" y="274"/>
                    <a:pt x="674" y="188"/>
                    <a:pt x="734" y="132"/>
                  </a:cubicBezTo>
                  <a:cubicBezTo>
                    <a:pt x="794" y="76"/>
                    <a:pt x="876" y="28"/>
                    <a:pt x="914" y="0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71" name="Line 59"/>
            <p:cNvSpPr>
              <a:spLocks noChangeShapeType="1"/>
            </p:cNvSpPr>
            <p:nvPr/>
          </p:nvSpPr>
          <p:spPr bwMode="auto">
            <a:xfrm>
              <a:off x="3949" y="1120"/>
              <a:ext cx="0" cy="1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72" name="Text Box 60"/>
            <p:cNvSpPr txBox="1">
              <a:spLocks noChangeArrowheads="1"/>
            </p:cNvSpPr>
            <p:nvPr/>
          </p:nvSpPr>
          <p:spPr bwMode="auto">
            <a:xfrm>
              <a:off x="3074" y="583"/>
              <a:ext cx="2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|Y|</a:t>
              </a:r>
            </a:p>
          </p:txBody>
        </p:sp>
        <p:sp>
          <p:nvSpPr>
            <p:cNvPr id="422973" name="Text Box 61"/>
            <p:cNvSpPr txBox="1">
              <a:spLocks noChangeArrowheads="1"/>
            </p:cNvSpPr>
            <p:nvPr/>
          </p:nvSpPr>
          <p:spPr bwMode="auto">
            <a:xfrm>
              <a:off x="4429" y="1260"/>
              <a:ext cx="22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000" b="1" i="1">
                  <a:latin typeface="Symbol" panose="05050102010706020507" pitchFamily="18" charset="2"/>
                </a:rPr>
                <a:t>w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22974" name="Text Box 62"/>
            <p:cNvSpPr txBox="1">
              <a:spLocks noChangeArrowheads="1"/>
            </p:cNvSpPr>
            <p:nvPr/>
          </p:nvSpPr>
          <p:spPr bwMode="auto">
            <a:xfrm>
              <a:off x="3789" y="1260"/>
              <a:ext cx="27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000" b="1" i="1">
                  <a:latin typeface="Symbol" panose="05050102010706020507" pitchFamily="18" charset="2"/>
                </a:rPr>
                <a:t>w</a:t>
              </a:r>
              <a:r>
                <a:rPr kumimoji="1" lang="en-US" altLang="zh-CN" sz="2000" b="1" baseline="-25000">
                  <a:latin typeface="Symbol" panose="05050102010706020507" pitchFamily="18" charset="2"/>
                </a:rPr>
                <a:t>0</a:t>
              </a:r>
              <a:endParaRPr kumimoji="1" lang="en-US" altLang="zh-CN" sz="20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22975" name="Text Box 63"/>
            <p:cNvSpPr txBox="1">
              <a:spLocks noChangeArrowheads="1"/>
            </p:cNvSpPr>
            <p:nvPr/>
          </p:nvSpPr>
          <p:spPr bwMode="auto">
            <a:xfrm>
              <a:off x="3120" y="1249"/>
              <a:ext cx="3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000" b="1">
                  <a:latin typeface="Symbol" panose="05050102010706020507" pitchFamily="18" charset="2"/>
                </a:rPr>
                <a:t>0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22976" name="Line 64"/>
            <p:cNvSpPr>
              <a:spLocks noChangeShapeType="1"/>
            </p:cNvSpPr>
            <p:nvPr/>
          </p:nvSpPr>
          <p:spPr bwMode="auto">
            <a:xfrm>
              <a:off x="3377" y="1118"/>
              <a:ext cx="5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2977" name="Text Box 65"/>
            <p:cNvSpPr txBox="1">
              <a:spLocks noChangeArrowheads="1"/>
            </p:cNvSpPr>
            <p:nvPr/>
          </p:nvSpPr>
          <p:spPr bwMode="auto">
            <a:xfrm>
              <a:off x="3131" y="973"/>
              <a:ext cx="25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G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2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2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2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2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2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2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22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22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22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22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22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22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2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2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14" grpId="0" autoUpdateAnimBg="0"/>
      <p:bldP spid="42291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Text Box 2"/>
          <p:cNvSpPr txBox="1">
            <a:spLocks noChangeArrowheads="1"/>
          </p:cNvSpPr>
          <p:nvPr/>
        </p:nvSpPr>
        <p:spPr bwMode="auto">
          <a:xfrm>
            <a:off x="5732463" y="403225"/>
            <a:ext cx="161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400" b="1" i="1" u="sng">
                <a:latin typeface="Times New Roman" panose="02020603050405020304" pitchFamily="18" charset="0"/>
              </a:rPr>
              <a:t>R L C </a:t>
            </a:r>
            <a:r>
              <a:rPr kumimoji="1" lang="zh-CN" altLang="en-US" sz="2400" b="1" u="sng">
                <a:latin typeface="Times New Roman" panose="02020603050405020304" pitchFamily="18" charset="0"/>
              </a:rPr>
              <a:t>串联</a:t>
            </a:r>
          </a:p>
        </p:txBody>
      </p:sp>
      <p:sp>
        <p:nvSpPr>
          <p:cNvPr id="424963" name="Text Box 3"/>
          <p:cNvSpPr txBox="1">
            <a:spLocks noChangeArrowheads="1"/>
          </p:cNvSpPr>
          <p:nvPr/>
        </p:nvSpPr>
        <p:spPr bwMode="auto">
          <a:xfrm>
            <a:off x="1997075" y="403225"/>
            <a:ext cx="163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400" b="1" i="1" u="sng">
                <a:solidFill>
                  <a:srgbClr val="0000FF"/>
                </a:solidFill>
                <a:latin typeface="Times New Roman" panose="02020603050405020304" pitchFamily="18" charset="0"/>
              </a:rPr>
              <a:t>G C L </a:t>
            </a:r>
            <a:r>
              <a:rPr kumimoji="1" lang="zh-CN" altLang="en-US" sz="2400" b="1" u="sng">
                <a:solidFill>
                  <a:srgbClr val="0000FF"/>
                </a:solidFill>
                <a:latin typeface="Times New Roman" panose="02020603050405020304" pitchFamily="18" charset="0"/>
              </a:rPr>
              <a:t>并联</a:t>
            </a:r>
          </a:p>
        </p:txBody>
      </p:sp>
      <p:sp>
        <p:nvSpPr>
          <p:cNvPr id="424964" name="Text Box 4"/>
          <p:cNvSpPr txBox="1">
            <a:spLocks noChangeArrowheads="1"/>
          </p:cNvSpPr>
          <p:nvPr/>
        </p:nvSpPr>
        <p:spPr bwMode="auto">
          <a:xfrm>
            <a:off x="5146675" y="1077913"/>
            <a:ext cx="312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i="1" baseline="-25000"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Symbol" panose="05050102010706020507" pitchFamily="18" charset="2"/>
              </a:rPr>
              <a:t>w 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)=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C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latin typeface="Symbol" panose="05050102010706020507" pitchFamily="18" charset="2"/>
              </a:rPr>
              <a:t>w 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latin typeface="Times New Roman" panose="02020603050405020304" pitchFamily="18" charset="0"/>
              </a:rPr>
              <a:t>)=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QU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S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424965" name="Text Box 5"/>
          <p:cNvSpPr txBox="1">
            <a:spLocks noChangeArrowheads="1"/>
          </p:cNvSpPr>
          <p:nvPr/>
        </p:nvSpPr>
        <p:spPr bwMode="auto">
          <a:xfrm>
            <a:off x="1322388" y="1077913"/>
            <a:ext cx="3305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solidFill>
                  <a:srgbClr val="0000FF"/>
                </a:solidFill>
                <a:latin typeface="Symbol" panose="05050102010706020507" pitchFamily="18" charset="2"/>
              </a:rPr>
              <a:t>w 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b="1" i="1">
                <a:solidFill>
                  <a:srgbClr val="0000FF"/>
                </a:solidFill>
                <a:latin typeface="Symbol" panose="05050102010706020507" pitchFamily="18" charset="2"/>
              </a:rPr>
              <a:t>w 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QI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S </a:t>
            </a:r>
          </a:p>
        </p:txBody>
      </p:sp>
      <p:graphicFrame>
        <p:nvGraphicFramePr>
          <p:cNvPr id="424966" name="Object 6"/>
          <p:cNvGraphicFramePr>
            <a:graphicFrameLocks noChangeAspect="1"/>
          </p:cNvGraphicFramePr>
          <p:nvPr/>
        </p:nvGraphicFramePr>
        <p:xfrm>
          <a:off x="1006475" y="1765300"/>
          <a:ext cx="37433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14" name="公式" r:id="rId4" imgW="1714320" imgH="431640" progId="Equation.3">
                  <p:embed/>
                </p:oleObj>
              </mc:Choice>
              <mc:Fallback>
                <p:oleObj name="公式" r:id="rId4" imgW="171432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1765300"/>
                        <a:ext cx="374332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7" name="Object 7"/>
          <p:cNvGraphicFramePr>
            <a:graphicFrameLocks noChangeAspect="1"/>
          </p:cNvGraphicFramePr>
          <p:nvPr/>
        </p:nvGraphicFramePr>
        <p:xfrm>
          <a:off x="4922838" y="1843088"/>
          <a:ext cx="34036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15" name="公式" r:id="rId6" imgW="1726920" imgH="431640" progId="Equation.3">
                  <p:embed/>
                </p:oleObj>
              </mc:Choice>
              <mc:Fallback>
                <p:oleObj name="公式" r:id="rId6" imgW="172692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1843088"/>
                        <a:ext cx="340360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68" name="Text Box 8"/>
          <p:cNvSpPr txBox="1">
            <a:spLocks noChangeArrowheads="1"/>
          </p:cNvSpPr>
          <p:nvPr/>
        </p:nvSpPr>
        <p:spPr bwMode="auto">
          <a:xfrm>
            <a:off x="1187450" y="2924175"/>
            <a:ext cx="45275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推导过程如下：</a:t>
            </a:r>
          </a:p>
          <a:p>
            <a:pPr algn="l">
              <a:spcBef>
                <a:spcPct val="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     从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能量的角度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定义的品质因数</a:t>
            </a:r>
          </a:p>
        </p:txBody>
      </p:sp>
      <p:graphicFrame>
        <p:nvGraphicFramePr>
          <p:cNvPr id="424969" name="Object 9"/>
          <p:cNvGraphicFramePr>
            <a:graphicFrameLocks noChangeAspect="1"/>
          </p:cNvGraphicFramePr>
          <p:nvPr/>
        </p:nvGraphicFramePr>
        <p:xfrm>
          <a:off x="4741863" y="5308600"/>
          <a:ext cx="9556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16" name="公式" r:id="rId8" imgW="457200" imgH="393480" progId="Equation.3">
                  <p:embed/>
                </p:oleObj>
              </mc:Choice>
              <mc:Fallback>
                <p:oleObj name="公式" r:id="rId8" imgW="45720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863" y="5308600"/>
                        <a:ext cx="95567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0" name="Object 10"/>
          <p:cNvGraphicFramePr>
            <a:graphicFrameLocks noChangeAspect="1"/>
          </p:cNvGraphicFramePr>
          <p:nvPr/>
        </p:nvGraphicFramePr>
        <p:xfrm>
          <a:off x="3092450" y="4029075"/>
          <a:ext cx="21367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17" name="公式" r:id="rId10" imgW="1079280" imgH="571320" progId="Equation.3">
                  <p:embed/>
                </p:oleObj>
              </mc:Choice>
              <mc:Fallback>
                <p:oleObj name="公式" r:id="rId10" imgW="1079280" imgH="5713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4029075"/>
                        <a:ext cx="213677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1" name="Object 11"/>
          <p:cNvGraphicFramePr>
            <a:graphicFrameLocks noChangeAspect="1"/>
          </p:cNvGraphicFramePr>
          <p:nvPr/>
        </p:nvGraphicFramePr>
        <p:xfrm>
          <a:off x="3322638" y="5346700"/>
          <a:ext cx="132873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018" name="公式" r:id="rId12" imgW="634680" imgH="355320" progId="Equation.3">
                  <p:embed/>
                </p:oleObj>
              </mc:Choice>
              <mc:Fallback>
                <p:oleObj name="公式" r:id="rId12" imgW="634680" imgH="35532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2638" y="5346700"/>
                        <a:ext cx="1328737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4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4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4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4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42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42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424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42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24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3" dur="500"/>
                                        <p:tgtEl>
                                          <p:spTgt spid="42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8" dur="500"/>
                                        <p:tgtEl>
                                          <p:spTgt spid="42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500"/>
                                        <p:tgtEl>
                                          <p:spTgt spid="42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2" grpId="0" autoUpdateAnimBg="0"/>
      <p:bldP spid="424963" grpId="0" autoUpdateAnimBg="0"/>
      <p:bldP spid="424964" grpId="0" autoUpdateAnimBg="0"/>
      <p:bldP spid="424965" grpId="0" autoUpdateAnimBg="0"/>
      <p:bldP spid="42496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Text Box 2"/>
          <p:cNvSpPr txBox="1">
            <a:spLocks noChangeArrowheads="1"/>
          </p:cNvSpPr>
          <p:nvPr/>
        </p:nvSpPr>
        <p:spPr bwMode="auto">
          <a:xfrm>
            <a:off x="503238" y="225425"/>
            <a:ext cx="3935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2. 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电感线圈与电容并联谐振</a:t>
            </a:r>
          </a:p>
        </p:txBody>
      </p:sp>
      <p:graphicFrame>
        <p:nvGraphicFramePr>
          <p:cNvPr id="427011" name="Object 3"/>
          <p:cNvGraphicFramePr>
            <a:graphicFrameLocks noChangeAspect="1"/>
          </p:cNvGraphicFramePr>
          <p:nvPr/>
        </p:nvGraphicFramePr>
        <p:xfrm>
          <a:off x="3651250" y="2387600"/>
          <a:ext cx="12922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151" name="公式" r:id="rId4" imgW="596880" imgH="203040" progId="Equation.3">
                  <p:embed/>
                </p:oleObj>
              </mc:Choice>
              <mc:Fallback>
                <p:oleObj name="公式" r:id="rId4" imgW="59688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2387600"/>
                        <a:ext cx="129222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2" name="Object 4"/>
          <p:cNvGraphicFramePr>
            <a:graphicFrameLocks noChangeAspect="1"/>
          </p:cNvGraphicFramePr>
          <p:nvPr/>
        </p:nvGraphicFramePr>
        <p:xfrm>
          <a:off x="3379788" y="714375"/>
          <a:ext cx="281146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152" name="公式" r:id="rId6" imgW="1295280" imgH="380880" progId="Equation.3">
                  <p:embed/>
                </p:oleObj>
              </mc:Choice>
              <mc:Fallback>
                <p:oleObj name="公式" r:id="rId6" imgW="1295280" imgH="3808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9788" y="714375"/>
                        <a:ext cx="281146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3" name="Object 5"/>
          <p:cNvGraphicFramePr>
            <a:graphicFrameLocks noChangeAspect="1"/>
          </p:cNvGraphicFramePr>
          <p:nvPr/>
        </p:nvGraphicFramePr>
        <p:xfrm>
          <a:off x="3725863" y="1462088"/>
          <a:ext cx="4621212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153" name="公式" r:id="rId8" imgW="2247840" imgH="393480" progId="Equation.3">
                  <p:embed/>
                </p:oleObj>
              </mc:Choice>
              <mc:Fallback>
                <p:oleObj name="公式" r:id="rId8" imgW="224784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5863" y="1462088"/>
                        <a:ext cx="4621212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14" name="Text Box 6"/>
          <p:cNvSpPr txBox="1">
            <a:spLocks noChangeArrowheads="1"/>
          </p:cNvSpPr>
          <p:nvPr/>
        </p:nvSpPr>
        <p:spPr bwMode="auto">
          <a:xfrm>
            <a:off x="1431925" y="3206750"/>
            <a:ext cx="2312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谐振时 </a:t>
            </a:r>
            <a:r>
              <a:rPr kumimoji="1" lang="en-US" altLang="zh-CN" sz="2400" b="1" i="1">
                <a:latin typeface="Times New Roman" panose="02020603050405020304" pitchFamily="18" charset="0"/>
              </a:rPr>
              <a:t>B</a:t>
            </a:r>
            <a:r>
              <a:rPr kumimoji="1" lang="en-US" altLang="zh-CN" sz="2400" b="1">
                <a:latin typeface="Times New Roman" panose="02020603050405020304" pitchFamily="18" charset="0"/>
              </a:rPr>
              <a:t>=0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，即</a:t>
            </a:r>
          </a:p>
        </p:txBody>
      </p:sp>
      <p:graphicFrame>
        <p:nvGraphicFramePr>
          <p:cNvPr id="427015" name="Object 7"/>
          <p:cNvGraphicFramePr>
            <a:graphicFrameLocks noChangeAspect="1"/>
          </p:cNvGraphicFramePr>
          <p:nvPr/>
        </p:nvGraphicFramePr>
        <p:xfrm>
          <a:off x="3924300" y="2962275"/>
          <a:ext cx="29654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154" name="公式" r:id="rId10" imgW="1473120" imgH="444240" progId="Equation.3">
                  <p:embed/>
                </p:oleObj>
              </mc:Choice>
              <mc:Fallback>
                <p:oleObj name="公式" r:id="rId10" imgW="147312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962275"/>
                        <a:ext cx="296545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16" name="Rectangle 8"/>
          <p:cNvSpPr>
            <a:spLocks noChangeArrowheads="1"/>
          </p:cNvSpPr>
          <p:nvPr/>
        </p:nvSpPr>
        <p:spPr bwMode="auto">
          <a:xfrm>
            <a:off x="4005263" y="4149725"/>
            <a:ext cx="2622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由电路参数决定。</a:t>
            </a:r>
          </a:p>
        </p:txBody>
      </p:sp>
      <p:graphicFrame>
        <p:nvGraphicFramePr>
          <p:cNvPr id="427017" name="Object 9"/>
          <p:cNvGraphicFramePr>
            <a:graphicFrameLocks noChangeAspect="1"/>
          </p:cNvGraphicFramePr>
          <p:nvPr/>
        </p:nvGraphicFramePr>
        <p:xfrm>
          <a:off x="1620838" y="3968750"/>
          <a:ext cx="22288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155" name="公式" r:id="rId12" imgW="1155600" imgH="380880" progId="Equation.3">
                  <p:embed/>
                </p:oleObj>
              </mc:Choice>
              <mc:Fallback>
                <p:oleObj name="公式" r:id="rId12" imgW="1155600" imgH="3808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3968750"/>
                        <a:ext cx="2228850" cy="733425"/>
                      </a:xfrm>
                      <a:prstGeom prst="rect">
                        <a:avLst/>
                      </a:prstGeom>
                      <a:solidFill>
                        <a:srgbClr val="00FFCC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00FFCC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7018" name="Group 10"/>
          <p:cNvGrpSpPr>
            <a:grpSpLocks/>
          </p:cNvGrpSpPr>
          <p:nvPr/>
        </p:nvGrpSpPr>
        <p:grpSpPr bwMode="auto">
          <a:xfrm>
            <a:off x="900113" y="908050"/>
            <a:ext cx="2682875" cy="1928813"/>
            <a:chOff x="408" y="1594"/>
            <a:chExt cx="1690" cy="1215"/>
          </a:xfrm>
        </p:grpSpPr>
        <p:sp>
          <p:nvSpPr>
            <p:cNvPr id="427019" name="Line 11"/>
            <p:cNvSpPr>
              <a:spLocks noChangeShapeType="1"/>
            </p:cNvSpPr>
            <p:nvPr/>
          </p:nvSpPr>
          <p:spPr bwMode="auto">
            <a:xfrm>
              <a:off x="1104" y="1632"/>
              <a:ext cx="0" cy="6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20" name="Line 12"/>
            <p:cNvSpPr>
              <a:spLocks noChangeShapeType="1"/>
            </p:cNvSpPr>
            <p:nvPr/>
          </p:nvSpPr>
          <p:spPr bwMode="auto">
            <a:xfrm>
              <a:off x="1104" y="2622"/>
              <a:ext cx="0" cy="1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21" name="Rectangle 13"/>
            <p:cNvSpPr>
              <a:spLocks noChangeArrowheads="1"/>
            </p:cNvSpPr>
            <p:nvPr/>
          </p:nvSpPr>
          <p:spPr bwMode="auto">
            <a:xfrm>
              <a:off x="1044" y="1788"/>
              <a:ext cx="120" cy="28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7022" name="Line 14"/>
            <p:cNvSpPr>
              <a:spLocks noChangeShapeType="1"/>
            </p:cNvSpPr>
            <p:nvPr/>
          </p:nvSpPr>
          <p:spPr bwMode="auto">
            <a:xfrm>
              <a:off x="480" y="1632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23" name="Line 15"/>
            <p:cNvSpPr>
              <a:spLocks noChangeShapeType="1"/>
            </p:cNvSpPr>
            <p:nvPr/>
          </p:nvSpPr>
          <p:spPr bwMode="auto">
            <a:xfrm>
              <a:off x="1728" y="1632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24" name="Line 16"/>
            <p:cNvSpPr>
              <a:spLocks noChangeShapeType="1"/>
            </p:cNvSpPr>
            <p:nvPr/>
          </p:nvSpPr>
          <p:spPr bwMode="auto">
            <a:xfrm>
              <a:off x="1728" y="2256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025" name="Line 17"/>
            <p:cNvSpPr>
              <a:spLocks noChangeShapeType="1"/>
            </p:cNvSpPr>
            <p:nvPr/>
          </p:nvSpPr>
          <p:spPr bwMode="auto">
            <a:xfrm flipH="1">
              <a:off x="480" y="2784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27026" name="Group 18"/>
            <p:cNvGrpSpPr>
              <a:grpSpLocks/>
            </p:cNvGrpSpPr>
            <p:nvPr/>
          </p:nvGrpSpPr>
          <p:grpSpPr bwMode="auto">
            <a:xfrm>
              <a:off x="1596" y="2163"/>
              <a:ext cx="258" cy="93"/>
              <a:chOff x="1351" y="3976"/>
              <a:chExt cx="174" cy="93"/>
            </a:xfrm>
          </p:grpSpPr>
          <p:sp>
            <p:nvSpPr>
              <p:cNvPr id="427027" name="Line 19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7028" name="Line 20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7029" name="Text Box 21"/>
            <p:cNvSpPr txBox="1">
              <a:spLocks noChangeArrowheads="1"/>
            </p:cNvSpPr>
            <p:nvPr/>
          </p:nvSpPr>
          <p:spPr bwMode="auto">
            <a:xfrm>
              <a:off x="1854" y="206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27030" name="Text Box 22"/>
            <p:cNvSpPr txBox="1">
              <a:spLocks noChangeArrowheads="1"/>
            </p:cNvSpPr>
            <p:nvPr/>
          </p:nvSpPr>
          <p:spPr bwMode="auto">
            <a:xfrm>
              <a:off x="1179" y="2274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427031" name="Group 23"/>
            <p:cNvGrpSpPr>
              <a:grpSpLocks/>
            </p:cNvGrpSpPr>
            <p:nvPr/>
          </p:nvGrpSpPr>
          <p:grpSpPr bwMode="auto">
            <a:xfrm rot="5400000">
              <a:off x="940" y="2405"/>
              <a:ext cx="379" cy="57"/>
              <a:chOff x="1200" y="1584"/>
              <a:chExt cx="379" cy="45"/>
            </a:xfrm>
          </p:grpSpPr>
          <p:sp>
            <p:nvSpPr>
              <p:cNvPr id="427032" name="Arc 24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7033" name="Arc 25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7034" name="Arc 26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7035" name="Arc 27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27036" name="Text Box 28"/>
            <p:cNvSpPr txBox="1">
              <a:spLocks noChangeArrowheads="1"/>
            </p:cNvSpPr>
            <p:nvPr/>
          </p:nvSpPr>
          <p:spPr bwMode="auto">
            <a:xfrm>
              <a:off x="1180" y="179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27037" name="Oval 29"/>
            <p:cNvSpPr>
              <a:spLocks noChangeArrowheads="1"/>
            </p:cNvSpPr>
            <p:nvPr/>
          </p:nvSpPr>
          <p:spPr bwMode="auto">
            <a:xfrm>
              <a:off x="420" y="2741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7038" name="Oval 30"/>
            <p:cNvSpPr>
              <a:spLocks noChangeArrowheads="1"/>
            </p:cNvSpPr>
            <p:nvPr/>
          </p:nvSpPr>
          <p:spPr bwMode="auto">
            <a:xfrm>
              <a:off x="408" y="1594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427039" name="Object 31"/>
          <p:cNvGraphicFramePr>
            <a:graphicFrameLocks noChangeAspect="1"/>
          </p:cNvGraphicFramePr>
          <p:nvPr/>
        </p:nvGraphicFramePr>
        <p:xfrm>
          <a:off x="1485900" y="4914900"/>
          <a:ext cx="433546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156" name="公式" r:id="rId14" imgW="2133360" imgH="406080" progId="Equation.3">
                  <p:embed/>
                </p:oleObj>
              </mc:Choice>
              <mc:Fallback>
                <p:oleObj name="公式" r:id="rId14" imgW="2133360" imgH="40608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4914900"/>
                        <a:ext cx="4335463" cy="823913"/>
                      </a:xfrm>
                      <a:prstGeom prst="rect">
                        <a:avLst/>
                      </a:prstGeom>
                      <a:solidFill>
                        <a:srgbClr val="00FFCC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00FFCC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7040" name="Group 32"/>
          <p:cNvGrpSpPr>
            <a:grpSpLocks/>
          </p:cNvGrpSpPr>
          <p:nvPr/>
        </p:nvGrpSpPr>
        <p:grpSpPr bwMode="auto">
          <a:xfrm>
            <a:off x="5940425" y="4689475"/>
            <a:ext cx="2441575" cy="1906588"/>
            <a:chOff x="1037" y="2982"/>
            <a:chExt cx="1538" cy="1201"/>
          </a:xfrm>
        </p:grpSpPr>
        <p:sp>
          <p:nvSpPr>
            <p:cNvPr id="427041" name="Line 33"/>
            <p:cNvSpPr>
              <a:spLocks noChangeShapeType="1"/>
            </p:cNvSpPr>
            <p:nvPr/>
          </p:nvSpPr>
          <p:spPr bwMode="auto">
            <a:xfrm>
              <a:off x="1292" y="3521"/>
              <a:ext cx="108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042" name="Line 34"/>
            <p:cNvSpPr>
              <a:spLocks noChangeShapeType="1"/>
            </p:cNvSpPr>
            <p:nvPr/>
          </p:nvSpPr>
          <p:spPr bwMode="auto">
            <a:xfrm flipV="1">
              <a:off x="1292" y="3067"/>
              <a:ext cx="0" cy="40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043" name="Line 35"/>
            <p:cNvSpPr>
              <a:spLocks noChangeShapeType="1"/>
            </p:cNvSpPr>
            <p:nvPr/>
          </p:nvSpPr>
          <p:spPr bwMode="auto">
            <a:xfrm>
              <a:off x="1292" y="3067"/>
              <a:ext cx="635" cy="40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044" name="Line 36"/>
            <p:cNvSpPr>
              <a:spLocks noChangeShapeType="1"/>
            </p:cNvSpPr>
            <p:nvPr/>
          </p:nvSpPr>
          <p:spPr bwMode="auto">
            <a:xfrm>
              <a:off x="1292" y="3492"/>
              <a:ext cx="635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045" name="Line 37"/>
            <p:cNvSpPr>
              <a:spLocks noChangeShapeType="1"/>
            </p:cNvSpPr>
            <p:nvPr/>
          </p:nvSpPr>
          <p:spPr bwMode="auto">
            <a:xfrm>
              <a:off x="1295" y="3533"/>
              <a:ext cx="794" cy="45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046" name="Line 38"/>
            <p:cNvSpPr>
              <a:spLocks noChangeShapeType="1"/>
            </p:cNvSpPr>
            <p:nvPr/>
          </p:nvSpPr>
          <p:spPr bwMode="auto">
            <a:xfrm rot="-5400000">
              <a:off x="1993" y="3626"/>
              <a:ext cx="478" cy="2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27047" name="Object 39"/>
            <p:cNvGraphicFramePr>
              <a:graphicFrameLocks noChangeAspect="1"/>
            </p:cNvGraphicFramePr>
            <p:nvPr/>
          </p:nvGraphicFramePr>
          <p:xfrm>
            <a:off x="1774" y="3521"/>
            <a:ext cx="159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7157" name="公式" r:id="rId16" imgW="126720" imgH="190440" progId="Equation.3">
                    <p:embed/>
                  </p:oleObj>
                </mc:Choice>
                <mc:Fallback>
                  <p:oleObj name="公式" r:id="rId16" imgW="126720" imgH="19044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4" y="3521"/>
                          <a:ext cx="159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7048" name="Object 40"/>
            <p:cNvGraphicFramePr>
              <a:graphicFrameLocks noChangeAspect="1"/>
            </p:cNvGraphicFramePr>
            <p:nvPr/>
          </p:nvGraphicFramePr>
          <p:xfrm>
            <a:off x="1859" y="3096"/>
            <a:ext cx="17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7158" name="公式" r:id="rId18" imgW="139680" imgH="228600" progId="Equation.3">
                    <p:embed/>
                  </p:oleObj>
                </mc:Choice>
                <mc:Fallback>
                  <p:oleObj name="公式" r:id="rId18" imgW="139680" imgH="2286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9" y="3096"/>
                          <a:ext cx="175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7049" name="Object 41"/>
            <p:cNvGraphicFramePr>
              <a:graphicFrameLocks noChangeAspect="1"/>
            </p:cNvGraphicFramePr>
            <p:nvPr/>
          </p:nvGraphicFramePr>
          <p:xfrm>
            <a:off x="1037" y="2982"/>
            <a:ext cx="207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7159" name="公式" r:id="rId20" imgW="164880" imgH="228600" progId="Equation.3">
                    <p:embed/>
                  </p:oleObj>
                </mc:Choice>
                <mc:Fallback>
                  <p:oleObj name="公式" r:id="rId20" imgW="164880" imgH="22860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7" y="2982"/>
                          <a:ext cx="207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7050" name="Object 42"/>
            <p:cNvGraphicFramePr>
              <a:graphicFrameLocks noChangeAspect="1"/>
            </p:cNvGraphicFramePr>
            <p:nvPr/>
          </p:nvGraphicFramePr>
          <p:xfrm>
            <a:off x="1774" y="3918"/>
            <a:ext cx="219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7160" name="公式" r:id="rId22" imgW="190440" imgH="228600" progId="Equation.3">
                    <p:embed/>
                  </p:oleObj>
                </mc:Choice>
                <mc:Fallback>
                  <p:oleObj name="公式" r:id="rId22" imgW="190440" imgH="2286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4" y="3918"/>
                          <a:ext cx="219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7051" name="Object 43"/>
            <p:cNvGraphicFramePr>
              <a:graphicFrameLocks noChangeAspect="1"/>
            </p:cNvGraphicFramePr>
            <p:nvPr/>
          </p:nvGraphicFramePr>
          <p:xfrm>
            <a:off x="2341" y="3634"/>
            <a:ext cx="234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7161" name="公式" r:id="rId24" imgW="203040" imgH="228600" progId="Equation.3">
                    <p:embed/>
                  </p:oleObj>
                </mc:Choice>
                <mc:Fallback>
                  <p:oleObj name="公式" r:id="rId24" imgW="203040" imgH="22860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1" y="3634"/>
                          <a:ext cx="234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7052" name="Object 44"/>
            <p:cNvGraphicFramePr>
              <a:graphicFrameLocks noChangeAspect="1"/>
            </p:cNvGraphicFramePr>
            <p:nvPr/>
          </p:nvGraphicFramePr>
          <p:xfrm>
            <a:off x="2256" y="3181"/>
            <a:ext cx="19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7162" name="公式" r:id="rId26" imgW="164880" imgH="203040" progId="Equation.3">
                    <p:embed/>
                  </p:oleObj>
                </mc:Choice>
                <mc:Fallback>
                  <p:oleObj name="公式" r:id="rId26" imgW="164880" imgH="20304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3181"/>
                          <a:ext cx="190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4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2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27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427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 autoUpdateAnimBg="0"/>
      <p:bldP spid="427014" grpId="0" autoUpdateAnimBg="0"/>
      <p:bldP spid="42701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Text Box 2"/>
          <p:cNvSpPr txBox="1">
            <a:spLocks noChangeArrowheads="1"/>
          </p:cNvSpPr>
          <p:nvPr/>
        </p:nvSpPr>
        <p:spPr bwMode="auto">
          <a:xfrm>
            <a:off x="395288" y="333375"/>
            <a:ext cx="506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3.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由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纯电感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和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纯电容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构成的谐振电路</a:t>
            </a:r>
          </a:p>
        </p:txBody>
      </p:sp>
      <p:grpSp>
        <p:nvGrpSpPr>
          <p:cNvPr id="429059" name="Group 3"/>
          <p:cNvGrpSpPr>
            <a:grpSpLocks/>
          </p:cNvGrpSpPr>
          <p:nvPr/>
        </p:nvGrpSpPr>
        <p:grpSpPr bwMode="auto">
          <a:xfrm>
            <a:off x="3186113" y="827088"/>
            <a:ext cx="1274762" cy="1917700"/>
            <a:chOff x="924" y="2936"/>
            <a:chExt cx="803" cy="1208"/>
          </a:xfrm>
        </p:grpSpPr>
        <p:sp>
          <p:nvSpPr>
            <p:cNvPr id="429060" name="Line 4"/>
            <p:cNvSpPr>
              <a:spLocks noChangeShapeType="1"/>
            </p:cNvSpPr>
            <p:nvPr/>
          </p:nvSpPr>
          <p:spPr bwMode="auto">
            <a:xfrm>
              <a:off x="1664" y="3919"/>
              <a:ext cx="0" cy="2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9061" name="Line 5"/>
            <p:cNvSpPr>
              <a:spLocks noChangeShapeType="1"/>
            </p:cNvSpPr>
            <p:nvPr/>
          </p:nvSpPr>
          <p:spPr bwMode="auto">
            <a:xfrm flipV="1">
              <a:off x="1663" y="3344"/>
              <a:ext cx="1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9062" name="Line 6"/>
            <p:cNvSpPr>
              <a:spLocks noChangeShapeType="1"/>
            </p:cNvSpPr>
            <p:nvPr/>
          </p:nvSpPr>
          <p:spPr bwMode="auto">
            <a:xfrm>
              <a:off x="1376" y="3344"/>
              <a:ext cx="2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9063" name="Line 7"/>
            <p:cNvSpPr>
              <a:spLocks noChangeShapeType="1"/>
            </p:cNvSpPr>
            <p:nvPr/>
          </p:nvSpPr>
          <p:spPr bwMode="auto">
            <a:xfrm flipH="1">
              <a:off x="992" y="334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9064" name="Line 8"/>
            <p:cNvSpPr>
              <a:spLocks noChangeShapeType="1"/>
            </p:cNvSpPr>
            <p:nvPr/>
          </p:nvSpPr>
          <p:spPr bwMode="auto">
            <a:xfrm flipH="1">
              <a:off x="992" y="4112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9065" name="Text Box 9"/>
            <p:cNvSpPr txBox="1">
              <a:spLocks noChangeArrowheads="1"/>
            </p:cNvSpPr>
            <p:nvPr/>
          </p:nvSpPr>
          <p:spPr bwMode="auto">
            <a:xfrm>
              <a:off x="1376" y="3584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29066" name="Text Box 10"/>
            <p:cNvSpPr txBox="1">
              <a:spLocks noChangeArrowheads="1"/>
            </p:cNvSpPr>
            <p:nvPr/>
          </p:nvSpPr>
          <p:spPr bwMode="auto">
            <a:xfrm>
              <a:off x="1160" y="2936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pSp>
          <p:nvGrpSpPr>
            <p:cNvPr id="429067" name="Group 11"/>
            <p:cNvGrpSpPr>
              <a:grpSpLocks/>
            </p:cNvGrpSpPr>
            <p:nvPr/>
          </p:nvGrpSpPr>
          <p:grpSpPr bwMode="auto">
            <a:xfrm rot="5400000">
              <a:off x="1509" y="3702"/>
              <a:ext cx="379" cy="57"/>
              <a:chOff x="1200" y="1584"/>
              <a:chExt cx="379" cy="45"/>
            </a:xfrm>
          </p:grpSpPr>
          <p:sp>
            <p:nvSpPr>
              <p:cNvPr id="429068" name="Arc 12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9069" name="Arc 13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9070" name="Arc 14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9071" name="Arc 15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29072" name="Oval 16"/>
            <p:cNvSpPr>
              <a:spLocks noChangeArrowheads="1"/>
            </p:cNvSpPr>
            <p:nvPr/>
          </p:nvSpPr>
          <p:spPr bwMode="auto">
            <a:xfrm>
              <a:off x="924" y="330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9073" name="Oval 17"/>
            <p:cNvSpPr>
              <a:spLocks noChangeArrowheads="1"/>
            </p:cNvSpPr>
            <p:nvPr/>
          </p:nvSpPr>
          <p:spPr bwMode="auto">
            <a:xfrm>
              <a:off x="924" y="407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29074" name="Group 18"/>
            <p:cNvGrpSpPr>
              <a:grpSpLocks/>
            </p:cNvGrpSpPr>
            <p:nvPr/>
          </p:nvGrpSpPr>
          <p:grpSpPr bwMode="auto">
            <a:xfrm rot="5400000">
              <a:off x="1204" y="3294"/>
              <a:ext cx="258" cy="93"/>
              <a:chOff x="1351" y="3976"/>
              <a:chExt cx="174" cy="93"/>
            </a:xfrm>
          </p:grpSpPr>
          <p:sp>
            <p:nvSpPr>
              <p:cNvPr id="429075" name="Line 19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9076" name="Line 20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29077" name="Object 21"/>
          <p:cNvGraphicFramePr>
            <a:graphicFrameLocks noChangeAspect="1"/>
          </p:cNvGraphicFramePr>
          <p:nvPr/>
        </p:nvGraphicFramePr>
        <p:xfrm>
          <a:off x="5256213" y="1457325"/>
          <a:ext cx="2136775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148" name="Equation" r:id="rId4" imgW="1155600" imgH="444240" progId="Equation.3">
                  <p:embed/>
                </p:oleObj>
              </mc:Choice>
              <mc:Fallback>
                <p:oleObj name="Equation" r:id="rId4" imgW="1155600" imgH="4442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213" y="1457325"/>
                        <a:ext cx="2136775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9078" name="Group 22"/>
          <p:cNvGrpSpPr>
            <a:grpSpLocks/>
          </p:cNvGrpSpPr>
          <p:nvPr/>
        </p:nvGrpSpPr>
        <p:grpSpPr bwMode="auto">
          <a:xfrm>
            <a:off x="2690813" y="3033713"/>
            <a:ext cx="3632200" cy="2432050"/>
            <a:chOff x="1971" y="2160"/>
            <a:chExt cx="2288" cy="1532"/>
          </a:xfrm>
        </p:grpSpPr>
        <p:sp>
          <p:nvSpPr>
            <p:cNvPr id="429079" name="Line 23"/>
            <p:cNvSpPr>
              <a:spLocks noChangeShapeType="1"/>
            </p:cNvSpPr>
            <p:nvPr/>
          </p:nvSpPr>
          <p:spPr bwMode="auto">
            <a:xfrm>
              <a:off x="2001" y="2954"/>
              <a:ext cx="21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9080" name="Line 24"/>
            <p:cNvSpPr>
              <a:spLocks noChangeShapeType="1"/>
            </p:cNvSpPr>
            <p:nvPr/>
          </p:nvSpPr>
          <p:spPr bwMode="auto">
            <a:xfrm flipV="1">
              <a:off x="2142" y="2387"/>
              <a:ext cx="0" cy="10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29081" name="Object 25"/>
            <p:cNvGraphicFramePr>
              <a:graphicFrameLocks noChangeAspect="1"/>
            </p:cNvGraphicFramePr>
            <p:nvPr/>
          </p:nvGraphicFramePr>
          <p:xfrm>
            <a:off x="4013" y="3123"/>
            <a:ext cx="24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9149" name="公式" r:id="rId6" imgW="152280" imgH="139680" progId="Equation.3">
                    <p:embed/>
                  </p:oleObj>
                </mc:Choice>
                <mc:Fallback>
                  <p:oleObj name="公式" r:id="rId6" imgW="152280" imgH="13968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3" y="3123"/>
                          <a:ext cx="246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9082" name="Text Box 26"/>
            <p:cNvSpPr txBox="1">
              <a:spLocks noChangeArrowheads="1"/>
            </p:cNvSpPr>
            <p:nvPr/>
          </p:nvSpPr>
          <p:spPr bwMode="auto">
            <a:xfrm>
              <a:off x="2199" y="2160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29083" name="Text Box 27"/>
            <p:cNvSpPr txBox="1">
              <a:spLocks noChangeArrowheads="1"/>
            </p:cNvSpPr>
            <p:nvPr/>
          </p:nvSpPr>
          <p:spPr bwMode="auto">
            <a:xfrm>
              <a:off x="1971" y="29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29084" name="Line 28"/>
            <p:cNvSpPr>
              <a:spLocks noChangeShapeType="1"/>
            </p:cNvSpPr>
            <p:nvPr/>
          </p:nvSpPr>
          <p:spPr bwMode="auto">
            <a:xfrm flipV="1">
              <a:off x="2142" y="2411"/>
              <a:ext cx="964" cy="5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9085" name="Freeform 29"/>
            <p:cNvSpPr>
              <a:spLocks/>
            </p:cNvSpPr>
            <p:nvPr/>
          </p:nvSpPr>
          <p:spPr bwMode="auto">
            <a:xfrm>
              <a:off x="2199" y="3001"/>
              <a:ext cx="1488" cy="691"/>
            </a:xfrm>
            <a:custGeom>
              <a:avLst/>
              <a:gdLst>
                <a:gd name="T0" fmla="*/ 0 w 1488"/>
                <a:gd name="T1" fmla="*/ 691 h 691"/>
                <a:gd name="T2" fmla="*/ 216 w 1488"/>
                <a:gd name="T3" fmla="*/ 307 h 691"/>
                <a:gd name="T4" fmla="*/ 768 w 1488"/>
                <a:gd name="T5" fmla="*/ 77 h 691"/>
                <a:gd name="T6" fmla="*/ 1488 w 1488"/>
                <a:gd name="T7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88" h="691">
                  <a:moveTo>
                    <a:pt x="0" y="691"/>
                  </a:moveTo>
                  <a:cubicBezTo>
                    <a:pt x="35" y="627"/>
                    <a:pt x="88" y="409"/>
                    <a:pt x="216" y="307"/>
                  </a:cubicBezTo>
                  <a:cubicBezTo>
                    <a:pt x="344" y="205"/>
                    <a:pt x="556" y="128"/>
                    <a:pt x="768" y="77"/>
                  </a:cubicBezTo>
                  <a:cubicBezTo>
                    <a:pt x="980" y="26"/>
                    <a:pt x="1338" y="16"/>
                    <a:pt x="148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29086" name="Object 30"/>
            <p:cNvGraphicFramePr>
              <a:graphicFrameLocks noChangeAspect="1"/>
            </p:cNvGraphicFramePr>
            <p:nvPr/>
          </p:nvGraphicFramePr>
          <p:xfrm>
            <a:off x="3494" y="3001"/>
            <a:ext cx="547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9150" name="Equation" r:id="rId8" imgW="406080" imgH="406080" progId="Equation.3">
                    <p:embed/>
                  </p:oleObj>
                </mc:Choice>
                <mc:Fallback>
                  <p:oleObj name="Equation" r:id="rId8" imgW="406080" imgH="40608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4" y="3001"/>
                          <a:ext cx="547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9087" name="Object 31"/>
            <p:cNvGraphicFramePr>
              <a:graphicFrameLocks noChangeAspect="1"/>
            </p:cNvGraphicFramePr>
            <p:nvPr/>
          </p:nvGraphicFramePr>
          <p:xfrm>
            <a:off x="2559" y="2284"/>
            <a:ext cx="318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9151" name="Equation" r:id="rId10" imgW="241200" imgH="177480" progId="Equation.3">
                    <p:embed/>
                  </p:oleObj>
                </mc:Choice>
                <mc:Fallback>
                  <p:oleObj name="Equation" r:id="rId10" imgW="241200" imgH="17748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9" y="2284"/>
                          <a:ext cx="318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9088" name="Object 32"/>
            <p:cNvGraphicFramePr>
              <a:graphicFrameLocks noChangeAspect="1"/>
            </p:cNvGraphicFramePr>
            <p:nvPr/>
          </p:nvGraphicFramePr>
          <p:xfrm>
            <a:off x="2509" y="2964"/>
            <a:ext cx="225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9152" name="公式" r:id="rId12" imgW="190440" imgH="228600" progId="Equation.3">
                    <p:embed/>
                  </p:oleObj>
                </mc:Choice>
                <mc:Fallback>
                  <p:oleObj name="公式" r:id="rId12" imgW="190440" imgH="2286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9" y="2964"/>
                          <a:ext cx="225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9089" name="Group 33"/>
          <p:cNvGrpSpPr>
            <a:grpSpLocks/>
          </p:cNvGrpSpPr>
          <p:nvPr/>
        </p:nvGrpSpPr>
        <p:grpSpPr bwMode="auto">
          <a:xfrm>
            <a:off x="2738438" y="5599113"/>
            <a:ext cx="3089275" cy="461962"/>
            <a:chOff x="1803" y="3833"/>
            <a:chExt cx="1946" cy="291"/>
          </a:xfrm>
        </p:grpSpPr>
        <p:graphicFrame>
          <p:nvGraphicFramePr>
            <p:cNvPr id="429090" name="Object 34"/>
            <p:cNvGraphicFramePr>
              <a:graphicFrameLocks noChangeAspect="1"/>
            </p:cNvGraphicFramePr>
            <p:nvPr/>
          </p:nvGraphicFramePr>
          <p:xfrm>
            <a:off x="1803" y="3833"/>
            <a:ext cx="581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9153" name="Equation" r:id="rId14" imgW="457200" imgH="228600" progId="Equation.3">
                    <p:embed/>
                  </p:oleObj>
                </mc:Choice>
                <mc:Fallback>
                  <p:oleObj name="Equation" r:id="rId14" imgW="457200" imgH="2286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3" y="3833"/>
                          <a:ext cx="581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9091" name="Text Box 35"/>
            <p:cNvSpPr txBox="1">
              <a:spLocks noChangeArrowheads="1"/>
            </p:cNvSpPr>
            <p:nvPr/>
          </p:nvSpPr>
          <p:spPr bwMode="auto">
            <a:xfrm>
              <a:off x="2313" y="3834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时，</a:t>
              </a:r>
            </a:p>
          </p:txBody>
        </p:sp>
        <p:sp>
          <p:nvSpPr>
            <p:cNvPr id="429092" name="Text Box 36"/>
            <p:cNvSpPr txBox="1">
              <a:spLocks noChangeArrowheads="1"/>
            </p:cNvSpPr>
            <p:nvPr/>
          </p:nvSpPr>
          <p:spPr bwMode="auto">
            <a:xfrm>
              <a:off x="2673" y="3834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相当于短路</a:t>
              </a:r>
            </a:p>
          </p:txBody>
        </p:sp>
      </p:grpSp>
      <p:sp>
        <p:nvSpPr>
          <p:cNvPr id="429093" name="Text Box 37"/>
          <p:cNvSpPr txBox="1">
            <a:spLocks noChangeArrowheads="1"/>
          </p:cNvSpPr>
          <p:nvPr/>
        </p:nvSpPr>
        <p:spPr bwMode="auto">
          <a:xfrm>
            <a:off x="1025525" y="1098550"/>
            <a:ext cx="1403350" cy="4572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串联谐振</a:t>
            </a:r>
          </a:p>
        </p:txBody>
      </p:sp>
      <p:grpSp>
        <p:nvGrpSpPr>
          <p:cNvPr id="429094" name="Group 38"/>
          <p:cNvGrpSpPr>
            <a:grpSpLocks/>
          </p:cNvGrpSpPr>
          <p:nvPr/>
        </p:nvGrpSpPr>
        <p:grpSpPr bwMode="auto">
          <a:xfrm>
            <a:off x="3008313" y="3454400"/>
            <a:ext cx="2586037" cy="1836738"/>
            <a:chOff x="2171" y="2425"/>
            <a:chExt cx="1629" cy="1157"/>
          </a:xfrm>
        </p:grpSpPr>
        <p:sp>
          <p:nvSpPr>
            <p:cNvPr id="429095" name="Text Box 39"/>
            <p:cNvSpPr txBox="1">
              <a:spLocks noChangeArrowheads="1"/>
            </p:cNvSpPr>
            <p:nvPr/>
          </p:nvSpPr>
          <p:spPr bwMode="auto">
            <a:xfrm>
              <a:off x="3248" y="2425"/>
              <a:ext cx="5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r>
                <a:rPr kumimoji="1"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endPara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9096" name="Freeform 40"/>
            <p:cNvSpPr>
              <a:spLocks/>
            </p:cNvSpPr>
            <p:nvPr/>
          </p:nvSpPr>
          <p:spPr bwMode="auto">
            <a:xfrm>
              <a:off x="2171" y="2430"/>
              <a:ext cx="1020" cy="1152"/>
            </a:xfrm>
            <a:custGeom>
              <a:avLst/>
              <a:gdLst>
                <a:gd name="T0" fmla="*/ 0 w 1020"/>
                <a:gd name="T1" fmla="*/ 1152 h 1152"/>
                <a:gd name="T2" fmla="*/ 192 w 1020"/>
                <a:gd name="T3" fmla="*/ 689 h 1152"/>
                <a:gd name="T4" fmla="*/ 606 w 1020"/>
                <a:gd name="T5" fmla="*/ 289 h 1152"/>
                <a:gd name="T6" fmla="*/ 1020 w 1020"/>
                <a:gd name="T7" fmla="*/ 0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20" h="1152">
                  <a:moveTo>
                    <a:pt x="0" y="1152"/>
                  </a:moveTo>
                  <a:cubicBezTo>
                    <a:pt x="32" y="1075"/>
                    <a:pt x="91" y="833"/>
                    <a:pt x="192" y="689"/>
                  </a:cubicBezTo>
                  <a:cubicBezTo>
                    <a:pt x="293" y="545"/>
                    <a:pt x="468" y="404"/>
                    <a:pt x="606" y="289"/>
                  </a:cubicBezTo>
                  <a:cubicBezTo>
                    <a:pt x="744" y="175"/>
                    <a:pt x="951" y="48"/>
                    <a:pt x="1020" y="0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9097" name="Oval 41"/>
            <p:cNvSpPr>
              <a:spLocks noChangeArrowheads="1"/>
            </p:cNvSpPr>
            <p:nvPr/>
          </p:nvSpPr>
          <p:spPr bwMode="auto">
            <a:xfrm>
              <a:off x="2481" y="2924"/>
              <a:ext cx="57" cy="56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29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2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2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9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58" grpId="0" autoUpdateAnimBg="0"/>
      <p:bldP spid="42909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106" name="Group 2"/>
          <p:cNvGrpSpPr>
            <a:grpSpLocks/>
          </p:cNvGrpSpPr>
          <p:nvPr/>
        </p:nvGrpSpPr>
        <p:grpSpPr bwMode="auto">
          <a:xfrm>
            <a:off x="1627188" y="674688"/>
            <a:ext cx="2176462" cy="1330325"/>
            <a:chOff x="1247" y="2343"/>
            <a:chExt cx="1371" cy="838"/>
          </a:xfrm>
        </p:grpSpPr>
        <p:sp>
          <p:nvSpPr>
            <p:cNvPr id="431107" name="Line 3"/>
            <p:cNvSpPr>
              <a:spLocks noChangeShapeType="1"/>
            </p:cNvSpPr>
            <p:nvPr/>
          </p:nvSpPr>
          <p:spPr bwMode="auto">
            <a:xfrm>
              <a:off x="1798" y="2956"/>
              <a:ext cx="0" cy="2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08" name="Line 4"/>
            <p:cNvSpPr>
              <a:spLocks noChangeShapeType="1"/>
            </p:cNvSpPr>
            <p:nvPr/>
          </p:nvSpPr>
          <p:spPr bwMode="auto">
            <a:xfrm flipV="1">
              <a:off x="1797" y="2381"/>
              <a:ext cx="1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09" name="Line 5"/>
            <p:cNvSpPr>
              <a:spLocks noChangeShapeType="1"/>
            </p:cNvSpPr>
            <p:nvPr/>
          </p:nvSpPr>
          <p:spPr bwMode="auto">
            <a:xfrm>
              <a:off x="1510" y="2381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10" name="Line 6"/>
            <p:cNvSpPr>
              <a:spLocks noChangeShapeType="1"/>
            </p:cNvSpPr>
            <p:nvPr/>
          </p:nvSpPr>
          <p:spPr bwMode="auto">
            <a:xfrm flipH="1">
              <a:off x="1315" y="2381"/>
              <a:ext cx="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11" name="Line 7"/>
            <p:cNvSpPr>
              <a:spLocks noChangeShapeType="1"/>
            </p:cNvSpPr>
            <p:nvPr/>
          </p:nvSpPr>
          <p:spPr bwMode="auto">
            <a:xfrm>
              <a:off x="2278" y="2381"/>
              <a:ext cx="0" cy="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12" name="Line 8"/>
            <p:cNvSpPr>
              <a:spLocks noChangeShapeType="1"/>
            </p:cNvSpPr>
            <p:nvPr/>
          </p:nvSpPr>
          <p:spPr bwMode="auto">
            <a:xfrm>
              <a:off x="2278" y="2813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13" name="Line 9"/>
            <p:cNvSpPr>
              <a:spLocks noChangeShapeType="1"/>
            </p:cNvSpPr>
            <p:nvPr/>
          </p:nvSpPr>
          <p:spPr bwMode="auto">
            <a:xfrm flipH="1">
              <a:off x="1315" y="3149"/>
              <a:ext cx="9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14" name="Text Box 10"/>
            <p:cNvSpPr txBox="1">
              <a:spLocks noChangeArrowheads="1"/>
            </p:cNvSpPr>
            <p:nvPr/>
          </p:nvSpPr>
          <p:spPr bwMode="auto">
            <a:xfrm>
              <a:off x="1510" y="2621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31115" name="Text Box 11"/>
            <p:cNvSpPr txBox="1">
              <a:spLocks noChangeArrowheads="1"/>
            </p:cNvSpPr>
            <p:nvPr/>
          </p:nvSpPr>
          <p:spPr bwMode="auto">
            <a:xfrm>
              <a:off x="2374" y="2621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pSp>
          <p:nvGrpSpPr>
            <p:cNvPr id="431116" name="Group 12"/>
            <p:cNvGrpSpPr>
              <a:grpSpLocks/>
            </p:cNvGrpSpPr>
            <p:nvPr/>
          </p:nvGrpSpPr>
          <p:grpSpPr bwMode="auto">
            <a:xfrm rot="5400000">
              <a:off x="1643" y="2739"/>
              <a:ext cx="379" cy="57"/>
              <a:chOff x="1200" y="1584"/>
              <a:chExt cx="379" cy="45"/>
            </a:xfrm>
          </p:grpSpPr>
          <p:sp>
            <p:nvSpPr>
              <p:cNvPr id="431117" name="Arc 13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118" name="Arc 14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119" name="Arc 15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120" name="Arc 16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1121" name="Oval 17"/>
            <p:cNvSpPr>
              <a:spLocks noChangeArrowheads="1"/>
            </p:cNvSpPr>
            <p:nvPr/>
          </p:nvSpPr>
          <p:spPr bwMode="auto">
            <a:xfrm>
              <a:off x="1247" y="2343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1122" name="Oval 18"/>
            <p:cNvSpPr>
              <a:spLocks noChangeArrowheads="1"/>
            </p:cNvSpPr>
            <p:nvPr/>
          </p:nvSpPr>
          <p:spPr bwMode="auto">
            <a:xfrm>
              <a:off x="1247" y="3113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31123" name="Group 19"/>
            <p:cNvGrpSpPr>
              <a:grpSpLocks/>
            </p:cNvGrpSpPr>
            <p:nvPr/>
          </p:nvGrpSpPr>
          <p:grpSpPr bwMode="auto">
            <a:xfrm>
              <a:off x="2152" y="2716"/>
              <a:ext cx="258" cy="93"/>
              <a:chOff x="1351" y="3976"/>
              <a:chExt cx="174" cy="93"/>
            </a:xfrm>
          </p:grpSpPr>
          <p:sp>
            <p:nvSpPr>
              <p:cNvPr id="431124" name="Line 20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1125" name="Line 21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31126" name="Object 22"/>
          <p:cNvGraphicFramePr>
            <a:graphicFrameLocks noChangeAspect="1"/>
          </p:cNvGraphicFramePr>
          <p:nvPr/>
        </p:nvGraphicFramePr>
        <p:xfrm>
          <a:off x="4103688" y="898525"/>
          <a:ext cx="349567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07" name="Equation" r:id="rId4" imgW="1968480" imgH="431640" progId="Equation.3">
                  <p:embed/>
                </p:oleObj>
              </mc:Choice>
              <mc:Fallback>
                <p:oleObj name="Equation" r:id="rId4" imgW="1968480" imgH="4316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3688" y="898525"/>
                        <a:ext cx="3495675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1127" name="Group 23"/>
          <p:cNvGrpSpPr>
            <a:grpSpLocks/>
          </p:cNvGrpSpPr>
          <p:nvPr/>
        </p:nvGrpSpPr>
        <p:grpSpPr bwMode="auto">
          <a:xfrm>
            <a:off x="1177925" y="2654300"/>
            <a:ext cx="3151188" cy="3219450"/>
            <a:chOff x="1121" y="1367"/>
            <a:chExt cx="1985" cy="2028"/>
          </a:xfrm>
        </p:grpSpPr>
        <p:sp>
          <p:nvSpPr>
            <p:cNvPr id="431128" name="Line 24"/>
            <p:cNvSpPr>
              <a:spLocks noChangeShapeType="1"/>
            </p:cNvSpPr>
            <p:nvPr/>
          </p:nvSpPr>
          <p:spPr bwMode="auto">
            <a:xfrm flipV="1">
              <a:off x="1554" y="1619"/>
              <a:ext cx="732" cy="9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31129" name="Object 25"/>
            <p:cNvGraphicFramePr>
              <a:graphicFrameLocks noChangeAspect="1"/>
            </p:cNvGraphicFramePr>
            <p:nvPr/>
          </p:nvGraphicFramePr>
          <p:xfrm>
            <a:off x="1908" y="1452"/>
            <a:ext cx="351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208" name="Equation" r:id="rId6" imgW="266400" imgH="177480" progId="Equation.3">
                    <p:embed/>
                  </p:oleObj>
                </mc:Choice>
                <mc:Fallback>
                  <p:oleObj name="Equation" r:id="rId6" imgW="266400" imgH="17748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8" y="1452"/>
                          <a:ext cx="351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31130" name="Group 26"/>
            <p:cNvGrpSpPr>
              <a:grpSpLocks/>
            </p:cNvGrpSpPr>
            <p:nvPr/>
          </p:nvGrpSpPr>
          <p:grpSpPr bwMode="auto">
            <a:xfrm>
              <a:off x="1121" y="1367"/>
              <a:ext cx="1985" cy="2016"/>
              <a:chOff x="575" y="1872"/>
              <a:chExt cx="1985" cy="2016"/>
            </a:xfrm>
          </p:grpSpPr>
          <p:sp>
            <p:nvSpPr>
              <p:cNvPr id="431131" name="Text Box 27"/>
              <p:cNvSpPr txBox="1">
                <a:spLocks noChangeArrowheads="1"/>
              </p:cNvSpPr>
              <p:nvPr/>
            </p:nvSpPr>
            <p:spPr bwMode="auto">
              <a:xfrm>
                <a:off x="2312" y="2904"/>
                <a:ext cx="24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0" hangingPunct="0">
                  <a:spcBef>
                    <a:spcPct val="0"/>
                  </a:spcBef>
                </a:pPr>
                <a:r>
                  <a:rPr kumimoji="1" lang="en-US" altLang="zh-CN" sz="2400" b="1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</a:p>
            </p:txBody>
          </p:sp>
          <p:grpSp>
            <p:nvGrpSpPr>
              <p:cNvPr id="431132" name="Group 28"/>
              <p:cNvGrpSpPr>
                <a:grpSpLocks/>
              </p:cNvGrpSpPr>
              <p:nvPr/>
            </p:nvGrpSpPr>
            <p:grpSpPr bwMode="auto">
              <a:xfrm>
                <a:off x="575" y="1872"/>
                <a:ext cx="1813" cy="2016"/>
                <a:chOff x="263" y="1944"/>
                <a:chExt cx="1813" cy="2016"/>
              </a:xfrm>
            </p:grpSpPr>
            <p:sp>
              <p:nvSpPr>
                <p:cNvPr id="431133" name="Line 29"/>
                <p:cNvSpPr>
                  <a:spLocks noChangeShapeType="1"/>
                </p:cNvSpPr>
                <p:nvPr/>
              </p:nvSpPr>
              <p:spPr bwMode="auto">
                <a:xfrm>
                  <a:off x="432" y="3084"/>
                  <a:ext cx="16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1134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684" y="2016"/>
                  <a:ext cx="0" cy="19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1135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470" y="3084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eaLnBrk="0" hangingPunct="0">
                    <a:spcBef>
                      <a:spcPct val="0"/>
                    </a:spcBef>
                  </a:pPr>
                  <a:r>
                    <a:rPr kumimoji="1" lang="en-US" altLang="zh-CN" sz="2400" b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0</a:t>
                  </a:r>
                </a:p>
              </p:txBody>
            </p:sp>
            <p:sp>
              <p:nvSpPr>
                <p:cNvPr id="43113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263" y="1944"/>
                  <a:ext cx="24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eaLnBrk="0" hangingPunct="0">
                    <a:spcBef>
                      <a:spcPct val="0"/>
                    </a:spcBef>
                  </a:pPr>
                  <a:r>
                    <a:rPr kumimoji="1" lang="en-US" altLang="zh-CN" sz="2400" b="1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B</a:t>
                  </a:r>
                  <a:endParaRPr kumimoji="1" lang="en-US" altLang="zh-CN" sz="2400" b="1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p:grpSp>
        </p:grpSp>
        <p:sp>
          <p:nvSpPr>
            <p:cNvPr id="431137" name="Freeform 33"/>
            <p:cNvSpPr>
              <a:spLocks/>
            </p:cNvSpPr>
            <p:nvPr/>
          </p:nvSpPr>
          <p:spPr bwMode="auto">
            <a:xfrm>
              <a:off x="1602" y="1667"/>
              <a:ext cx="768" cy="1728"/>
            </a:xfrm>
            <a:custGeom>
              <a:avLst/>
              <a:gdLst>
                <a:gd name="T0" fmla="*/ 0 w 768"/>
                <a:gd name="T1" fmla="*/ 1728 h 1728"/>
                <a:gd name="T2" fmla="*/ 72 w 768"/>
                <a:gd name="T3" fmla="*/ 1164 h 1728"/>
                <a:gd name="T4" fmla="*/ 240 w 768"/>
                <a:gd name="T5" fmla="*/ 828 h 1728"/>
                <a:gd name="T6" fmla="*/ 552 w 768"/>
                <a:gd name="T7" fmla="*/ 312 h 1728"/>
                <a:gd name="T8" fmla="*/ 768 w 768"/>
                <a:gd name="T9" fmla="*/ 0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1728">
                  <a:moveTo>
                    <a:pt x="0" y="1728"/>
                  </a:moveTo>
                  <a:cubicBezTo>
                    <a:pt x="16" y="1521"/>
                    <a:pt x="32" y="1314"/>
                    <a:pt x="72" y="1164"/>
                  </a:cubicBezTo>
                  <a:cubicBezTo>
                    <a:pt x="112" y="1014"/>
                    <a:pt x="160" y="970"/>
                    <a:pt x="240" y="828"/>
                  </a:cubicBezTo>
                  <a:cubicBezTo>
                    <a:pt x="320" y="686"/>
                    <a:pt x="464" y="450"/>
                    <a:pt x="552" y="312"/>
                  </a:cubicBezTo>
                  <a:cubicBezTo>
                    <a:pt x="640" y="174"/>
                    <a:pt x="723" y="65"/>
                    <a:pt x="768" y="0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1138" name="Freeform 34"/>
            <p:cNvSpPr>
              <a:spLocks/>
            </p:cNvSpPr>
            <p:nvPr/>
          </p:nvSpPr>
          <p:spPr bwMode="auto">
            <a:xfrm>
              <a:off x="1662" y="2593"/>
              <a:ext cx="1056" cy="790"/>
            </a:xfrm>
            <a:custGeom>
              <a:avLst/>
              <a:gdLst>
                <a:gd name="T0" fmla="*/ 0 w 1056"/>
                <a:gd name="T1" fmla="*/ 790 h 790"/>
                <a:gd name="T2" fmla="*/ 120 w 1056"/>
                <a:gd name="T3" fmla="*/ 454 h 790"/>
                <a:gd name="T4" fmla="*/ 336 w 1056"/>
                <a:gd name="T5" fmla="*/ 154 h 790"/>
                <a:gd name="T6" fmla="*/ 672 w 1056"/>
                <a:gd name="T7" fmla="*/ 22 h 790"/>
                <a:gd name="T8" fmla="*/ 1056 w 1056"/>
                <a:gd name="T9" fmla="*/ 22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790">
                  <a:moveTo>
                    <a:pt x="0" y="790"/>
                  </a:moveTo>
                  <a:cubicBezTo>
                    <a:pt x="20" y="734"/>
                    <a:pt x="64" y="560"/>
                    <a:pt x="120" y="454"/>
                  </a:cubicBezTo>
                  <a:cubicBezTo>
                    <a:pt x="176" y="348"/>
                    <a:pt x="244" y="226"/>
                    <a:pt x="336" y="154"/>
                  </a:cubicBezTo>
                  <a:cubicBezTo>
                    <a:pt x="428" y="82"/>
                    <a:pt x="552" y="44"/>
                    <a:pt x="672" y="22"/>
                  </a:cubicBezTo>
                  <a:cubicBezTo>
                    <a:pt x="792" y="0"/>
                    <a:pt x="992" y="24"/>
                    <a:pt x="1056" y="22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31139" name="Object 35"/>
            <p:cNvGraphicFramePr>
              <a:graphicFrameLocks noChangeAspect="1"/>
            </p:cNvGraphicFramePr>
            <p:nvPr/>
          </p:nvGraphicFramePr>
          <p:xfrm>
            <a:off x="2160" y="2592"/>
            <a:ext cx="359" cy="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209" name="Equation" r:id="rId8" imgW="266400" imgH="406080" progId="Equation.3">
                    <p:embed/>
                  </p:oleObj>
                </mc:Choice>
                <mc:Fallback>
                  <p:oleObj name="Equation" r:id="rId8" imgW="266400" imgH="40608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2592"/>
                          <a:ext cx="359" cy="5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1140" name="Object 36"/>
          <p:cNvGraphicFramePr>
            <a:graphicFrameLocks noChangeAspect="1"/>
          </p:cNvGraphicFramePr>
          <p:nvPr/>
        </p:nvGraphicFramePr>
        <p:xfrm>
          <a:off x="4121150" y="1666875"/>
          <a:ext cx="21844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210" name="Equation" r:id="rId10" imgW="1180800" imgH="444240" progId="Equation.3">
                  <p:embed/>
                </p:oleObj>
              </mc:Choice>
              <mc:Fallback>
                <p:oleObj name="Equation" r:id="rId10" imgW="1180800" imgH="44424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50" y="1666875"/>
                        <a:ext cx="2184400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1141" name="Group 37"/>
          <p:cNvGrpSpPr>
            <a:grpSpLocks/>
          </p:cNvGrpSpPr>
          <p:nvPr/>
        </p:nvGrpSpPr>
        <p:grpSpPr bwMode="auto">
          <a:xfrm>
            <a:off x="2798763" y="5894388"/>
            <a:ext cx="3476625" cy="506412"/>
            <a:chOff x="2135" y="3606"/>
            <a:chExt cx="2190" cy="319"/>
          </a:xfrm>
        </p:grpSpPr>
        <p:graphicFrame>
          <p:nvGraphicFramePr>
            <p:cNvPr id="431142" name="Object 38"/>
            <p:cNvGraphicFramePr>
              <a:graphicFrameLocks noChangeAspect="1"/>
            </p:cNvGraphicFramePr>
            <p:nvPr/>
          </p:nvGraphicFramePr>
          <p:xfrm>
            <a:off x="2135" y="3634"/>
            <a:ext cx="581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211" name="Equation" r:id="rId12" imgW="457200" imgH="228600" progId="Equation.3">
                    <p:embed/>
                  </p:oleObj>
                </mc:Choice>
                <mc:Fallback>
                  <p:oleObj name="Equation" r:id="rId12" imgW="457200" imgH="22860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5" y="3634"/>
                          <a:ext cx="581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1143" name="Text Box 39"/>
            <p:cNvSpPr txBox="1">
              <a:spLocks noChangeArrowheads="1"/>
            </p:cNvSpPr>
            <p:nvPr/>
          </p:nvSpPr>
          <p:spPr bwMode="auto">
            <a:xfrm>
              <a:off x="2766" y="361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时</a:t>
              </a:r>
            </a:p>
          </p:txBody>
        </p:sp>
        <p:sp>
          <p:nvSpPr>
            <p:cNvPr id="431144" name="Text Box 40"/>
            <p:cNvSpPr txBox="1">
              <a:spLocks noChangeArrowheads="1"/>
            </p:cNvSpPr>
            <p:nvPr/>
          </p:nvSpPr>
          <p:spPr bwMode="auto">
            <a:xfrm>
              <a:off x="3249" y="3606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相当于开路</a:t>
              </a:r>
            </a:p>
          </p:txBody>
        </p:sp>
      </p:grpSp>
      <p:sp>
        <p:nvSpPr>
          <p:cNvPr id="431145" name="Text Box 41"/>
          <p:cNvSpPr txBox="1">
            <a:spLocks noChangeArrowheads="1"/>
          </p:cNvSpPr>
          <p:nvPr/>
        </p:nvSpPr>
        <p:spPr bwMode="auto">
          <a:xfrm>
            <a:off x="3924300" y="404813"/>
            <a:ext cx="1403350" cy="4572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并联谐振</a:t>
            </a:r>
          </a:p>
        </p:txBody>
      </p:sp>
      <p:grpSp>
        <p:nvGrpSpPr>
          <p:cNvPr id="431146" name="Group 42"/>
          <p:cNvGrpSpPr>
            <a:grpSpLocks/>
          </p:cNvGrpSpPr>
          <p:nvPr/>
        </p:nvGrpSpPr>
        <p:grpSpPr bwMode="auto">
          <a:xfrm>
            <a:off x="4598988" y="3328988"/>
            <a:ext cx="3749675" cy="2420937"/>
            <a:chOff x="3277" y="2103"/>
            <a:chExt cx="2362" cy="1525"/>
          </a:xfrm>
        </p:grpSpPr>
        <p:sp>
          <p:nvSpPr>
            <p:cNvPr id="431147" name="Line 43"/>
            <p:cNvSpPr>
              <a:spLocks noChangeShapeType="1"/>
            </p:cNvSpPr>
            <p:nvPr/>
          </p:nvSpPr>
          <p:spPr bwMode="auto">
            <a:xfrm>
              <a:off x="3478" y="2934"/>
              <a:ext cx="19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1148" name="Line 44"/>
            <p:cNvSpPr>
              <a:spLocks noChangeShapeType="1"/>
            </p:cNvSpPr>
            <p:nvPr/>
          </p:nvSpPr>
          <p:spPr bwMode="auto">
            <a:xfrm flipV="1">
              <a:off x="3802" y="2139"/>
              <a:ext cx="0" cy="14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1149" name="Line 45"/>
            <p:cNvSpPr>
              <a:spLocks noChangeShapeType="1"/>
            </p:cNvSpPr>
            <p:nvPr/>
          </p:nvSpPr>
          <p:spPr bwMode="auto">
            <a:xfrm>
              <a:off x="4523" y="2139"/>
              <a:ext cx="0" cy="14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1150" name="Text Box 46"/>
            <p:cNvSpPr txBox="1">
              <a:spLocks noChangeArrowheads="1"/>
            </p:cNvSpPr>
            <p:nvPr/>
          </p:nvSpPr>
          <p:spPr bwMode="auto">
            <a:xfrm>
              <a:off x="5343" y="2980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 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31151" name="Text Box 47"/>
            <p:cNvSpPr txBox="1">
              <a:spLocks noChangeArrowheads="1"/>
            </p:cNvSpPr>
            <p:nvPr/>
          </p:nvSpPr>
          <p:spPr bwMode="auto">
            <a:xfrm>
              <a:off x="3277" y="2103"/>
              <a:ext cx="7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endPara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31152" name="Text Box 48"/>
            <p:cNvSpPr txBox="1">
              <a:spLocks noChangeArrowheads="1"/>
            </p:cNvSpPr>
            <p:nvPr/>
          </p:nvSpPr>
          <p:spPr bwMode="auto">
            <a:xfrm>
              <a:off x="3563" y="291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31153" name="Freeform 49"/>
            <p:cNvSpPr>
              <a:spLocks/>
            </p:cNvSpPr>
            <p:nvPr/>
          </p:nvSpPr>
          <p:spPr bwMode="auto">
            <a:xfrm>
              <a:off x="4560" y="2966"/>
              <a:ext cx="666" cy="654"/>
            </a:xfrm>
            <a:custGeom>
              <a:avLst/>
              <a:gdLst>
                <a:gd name="T0" fmla="*/ 666 w 666"/>
                <a:gd name="T1" fmla="*/ 0 h 654"/>
                <a:gd name="T2" fmla="*/ 216 w 666"/>
                <a:gd name="T3" fmla="*/ 138 h 654"/>
                <a:gd name="T4" fmla="*/ 0 w 666"/>
                <a:gd name="T5" fmla="*/ 65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6" h="654">
                  <a:moveTo>
                    <a:pt x="666" y="0"/>
                  </a:moveTo>
                  <a:cubicBezTo>
                    <a:pt x="592" y="23"/>
                    <a:pt x="327" y="29"/>
                    <a:pt x="216" y="138"/>
                  </a:cubicBezTo>
                  <a:cubicBezTo>
                    <a:pt x="105" y="247"/>
                    <a:pt x="45" y="546"/>
                    <a:pt x="0" y="654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1154" name="Freeform 50"/>
            <p:cNvSpPr>
              <a:spLocks/>
            </p:cNvSpPr>
            <p:nvPr/>
          </p:nvSpPr>
          <p:spPr bwMode="auto">
            <a:xfrm flipH="1" flipV="1">
              <a:off x="3804" y="2270"/>
              <a:ext cx="666" cy="654"/>
            </a:xfrm>
            <a:custGeom>
              <a:avLst/>
              <a:gdLst>
                <a:gd name="T0" fmla="*/ 666 w 666"/>
                <a:gd name="T1" fmla="*/ 0 h 654"/>
                <a:gd name="T2" fmla="*/ 216 w 666"/>
                <a:gd name="T3" fmla="*/ 138 h 654"/>
                <a:gd name="T4" fmla="*/ 0 w 666"/>
                <a:gd name="T5" fmla="*/ 65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6" h="654">
                  <a:moveTo>
                    <a:pt x="666" y="0"/>
                  </a:moveTo>
                  <a:cubicBezTo>
                    <a:pt x="592" y="23"/>
                    <a:pt x="327" y="29"/>
                    <a:pt x="216" y="138"/>
                  </a:cubicBezTo>
                  <a:cubicBezTo>
                    <a:pt x="105" y="247"/>
                    <a:pt x="45" y="546"/>
                    <a:pt x="0" y="654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1155" name="Oval 51"/>
            <p:cNvSpPr>
              <a:spLocks noChangeArrowheads="1"/>
            </p:cNvSpPr>
            <p:nvPr/>
          </p:nvSpPr>
          <p:spPr bwMode="auto">
            <a:xfrm>
              <a:off x="4502" y="2903"/>
              <a:ext cx="57" cy="56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31156" name="Object 52"/>
            <p:cNvGraphicFramePr>
              <a:graphicFrameLocks noChangeAspect="1"/>
            </p:cNvGraphicFramePr>
            <p:nvPr/>
          </p:nvGraphicFramePr>
          <p:xfrm>
            <a:off x="4553" y="2684"/>
            <a:ext cx="225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212" name="公式" r:id="rId14" imgW="190440" imgH="228600" progId="Equation.3">
                    <p:embed/>
                  </p:oleObj>
                </mc:Choice>
                <mc:Fallback>
                  <p:oleObj name="公式" r:id="rId14" imgW="190440" imgH="228600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3" y="2684"/>
                          <a:ext cx="225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3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3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3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3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154" name="Group 2"/>
          <p:cNvGrpSpPr>
            <a:grpSpLocks/>
          </p:cNvGrpSpPr>
          <p:nvPr/>
        </p:nvGrpSpPr>
        <p:grpSpPr bwMode="auto">
          <a:xfrm>
            <a:off x="1547813" y="476250"/>
            <a:ext cx="2578100" cy="1917700"/>
            <a:chOff x="3100" y="1056"/>
            <a:chExt cx="1624" cy="1208"/>
          </a:xfrm>
        </p:grpSpPr>
        <p:sp>
          <p:nvSpPr>
            <p:cNvPr id="433155" name="Line 3"/>
            <p:cNvSpPr>
              <a:spLocks noChangeShapeType="1"/>
            </p:cNvSpPr>
            <p:nvPr/>
          </p:nvSpPr>
          <p:spPr bwMode="auto">
            <a:xfrm>
              <a:off x="3840" y="2039"/>
              <a:ext cx="0" cy="2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3156" name="Line 4"/>
            <p:cNvSpPr>
              <a:spLocks noChangeShapeType="1"/>
            </p:cNvSpPr>
            <p:nvPr/>
          </p:nvSpPr>
          <p:spPr bwMode="auto">
            <a:xfrm flipV="1">
              <a:off x="3839" y="1464"/>
              <a:ext cx="1" cy="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3157" name="Line 5"/>
            <p:cNvSpPr>
              <a:spLocks noChangeShapeType="1"/>
            </p:cNvSpPr>
            <p:nvPr/>
          </p:nvSpPr>
          <p:spPr bwMode="auto">
            <a:xfrm>
              <a:off x="3552" y="1464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3158" name="Line 6"/>
            <p:cNvSpPr>
              <a:spLocks noChangeShapeType="1"/>
            </p:cNvSpPr>
            <p:nvPr/>
          </p:nvSpPr>
          <p:spPr bwMode="auto">
            <a:xfrm flipH="1">
              <a:off x="3168" y="146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3159" name="Line 7"/>
            <p:cNvSpPr>
              <a:spLocks noChangeShapeType="1"/>
            </p:cNvSpPr>
            <p:nvPr/>
          </p:nvSpPr>
          <p:spPr bwMode="auto">
            <a:xfrm>
              <a:off x="4320" y="1464"/>
              <a:ext cx="0" cy="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3160" name="Line 8"/>
            <p:cNvSpPr>
              <a:spLocks noChangeShapeType="1"/>
            </p:cNvSpPr>
            <p:nvPr/>
          </p:nvSpPr>
          <p:spPr bwMode="auto">
            <a:xfrm>
              <a:off x="4320" y="18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3161" name="Line 9"/>
            <p:cNvSpPr>
              <a:spLocks noChangeShapeType="1"/>
            </p:cNvSpPr>
            <p:nvPr/>
          </p:nvSpPr>
          <p:spPr bwMode="auto">
            <a:xfrm flipH="1">
              <a:off x="3168" y="2232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3162" name="Text Box 10"/>
            <p:cNvSpPr txBox="1">
              <a:spLocks noChangeArrowheads="1"/>
            </p:cNvSpPr>
            <p:nvPr/>
          </p:nvSpPr>
          <p:spPr bwMode="auto">
            <a:xfrm>
              <a:off x="3552" y="1704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33163" name="Text Box 11"/>
            <p:cNvSpPr txBox="1">
              <a:spLocks noChangeArrowheads="1"/>
            </p:cNvSpPr>
            <p:nvPr/>
          </p:nvSpPr>
          <p:spPr bwMode="auto">
            <a:xfrm>
              <a:off x="4416" y="170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33164" name="Text Box 12"/>
            <p:cNvSpPr txBox="1">
              <a:spLocks noChangeArrowheads="1"/>
            </p:cNvSpPr>
            <p:nvPr/>
          </p:nvSpPr>
          <p:spPr bwMode="auto">
            <a:xfrm>
              <a:off x="3336" y="105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3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pSp>
          <p:nvGrpSpPr>
            <p:cNvPr id="433165" name="Group 13"/>
            <p:cNvGrpSpPr>
              <a:grpSpLocks/>
            </p:cNvGrpSpPr>
            <p:nvPr/>
          </p:nvGrpSpPr>
          <p:grpSpPr bwMode="auto">
            <a:xfrm rot="5400000">
              <a:off x="3685" y="1822"/>
              <a:ext cx="379" cy="57"/>
              <a:chOff x="1200" y="1584"/>
              <a:chExt cx="379" cy="45"/>
            </a:xfrm>
          </p:grpSpPr>
          <p:sp>
            <p:nvSpPr>
              <p:cNvPr id="433166" name="Arc 14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3167" name="Arc 15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3168" name="Arc 16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3169" name="Arc 17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3170" name="Oval 18"/>
            <p:cNvSpPr>
              <a:spLocks noChangeArrowheads="1"/>
            </p:cNvSpPr>
            <p:nvPr/>
          </p:nvSpPr>
          <p:spPr bwMode="auto">
            <a:xfrm>
              <a:off x="3100" y="142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3171" name="Oval 19"/>
            <p:cNvSpPr>
              <a:spLocks noChangeArrowheads="1"/>
            </p:cNvSpPr>
            <p:nvPr/>
          </p:nvSpPr>
          <p:spPr bwMode="auto">
            <a:xfrm>
              <a:off x="3100" y="2196"/>
              <a:ext cx="68" cy="6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33172" name="Group 20"/>
            <p:cNvGrpSpPr>
              <a:grpSpLocks/>
            </p:cNvGrpSpPr>
            <p:nvPr/>
          </p:nvGrpSpPr>
          <p:grpSpPr bwMode="auto">
            <a:xfrm>
              <a:off x="4194" y="1799"/>
              <a:ext cx="258" cy="93"/>
              <a:chOff x="1351" y="3976"/>
              <a:chExt cx="174" cy="93"/>
            </a:xfrm>
          </p:grpSpPr>
          <p:sp>
            <p:nvSpPr>
              <p:cNvPr id="433173" name="Line 21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3174" name="Line 22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3175" name="Group 23"/>
            <p:cNvGrpSpPr>
              <a:grpSpLocks/>
            </p:cNvGrpSpPr>
            <p:nvPr/>
          </p:nvGrpSpPr>
          <p:grpSpPr bwMode="auto">
            <a:xfrm rot="5400000">
              <a:off x="3380" y="1414"/>
              <a:ext cx="258" cy="93"/>
              <a:chOff x="1351" y="3976"/>
              <a:chExt cx="174" cy="93"/>
            </a:xfrm>
          </p:grpSpPr>
          <p:sp>
            <p:nvSpPr>
              <p:cNvPr id="433176" name="Line 24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3177" name="Line 25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33179" name="Group 27"/>
          <p:cNvGrpSpPr>
            <a:grpSpLocks/>
          </p:cNvGrpSpPr>
          <p:nvPr/>
        </p:nvGrpSpPr>
        <p:grpSpPr bwMode="auto">
          <a:xfrm>
            <a:off x="4156075" y="250825"/>
            <a:ext cx="4044950" cy="2528888"/>
            <a:chOff x="3016" y="177"/>
            <a:chExt cx="2548" cy="1593"/>
          </a:xfrm>
        </p:grpSpPr>
        <p:sp>
          <p:nvSpPr>
            <p:cNvPr id="433180" name="Line 28"/>
            <p:cNvSpPr>
              <a:spLocks noChangeShapeType="1"/>
            </p:cNvSpPr>
            <p:nvPr/>
          </p:nvSpPr>
          <p:spPr bwMode="auto">
            <a:xfrm>
              <a:off x="3044" y="1068"/>
              <a:ext cx="23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3181" name="Line 29"/>
            <p:cNvSpPr>
              <a:spLocks noChangeShapeType="1"/>
            </p:cNvSpPr>
            <p:nvPr/>
          </p:nvSpPr>
          <p:spPr bwMode="auto">
            <a:xfrm flipV="1">
              <a:off x="3372" y="321"/>
              <a:ext cx="0" cy="14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3182" name="Text Box 30"/>
            <p:cNvSpPr txBox="1">
              <a:spLocks noChangeArrowheads="1"/>
            </p:cNvSpPr>
            <p:nvPr/>
          </p:nvSpPr>
          <p:spPr bwMode="auto">
            <a:xfrm>
              <a:off x="3016" y="177"/>
              <a:ext cx="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33183" name="Text Box 31"/>
            <p:cNvSpPr txBox="1">
              <a:spLocks noChangeArrowheads="1"/>
            </p:cNvSpPr>
            <p:nvPr/>
          </p:nvSpPr>
          <p:spPr bwMode="auto">
            <a:xfrm>
              <a:off x="5168" y="1010"/>
              <a:ext cx="3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433185" name="Text Box 33"/>
          <p:cNvSpPr txBox="1">
            <a:spLocks noChangeArrowheads="1"/>
          </p:cNvSpPr>
          <p:nvPr/>
        </p:nvSpPr>
        <p:spPr bwMode="auto">
          <a:xfrm>
            <a:off x="395288" y="260350"/>
            <a:ext cx="1403350" cy="4572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混联谐振</a:t>
            </a:r>
          </a:p>
        </p:txBody>
      </p:sp>
      <p:grpSp>
        <p:nvGrpSpPr>
          <p:cNvPr id="433186" name="Group 34"/>
          <p:cNvGrpSpPr>
            <a:grpSpLocks/>
          </p:cNvGrpSpPr>
          <p:nvPr/>
        </p:nvGrpSpPr>
        <p:grpSpPr bwMode="auto">
          <a:xfrm>
            <a:off x="4932363" y="476250"/>
            <a:ext cx="1189037" cy="1993900"/>
            <a:chOff x="3505" y="319"/>
            <a:chExt cx="749" cy="1256"/>
          </a:xfrm>
        </p:grpSpPr>
        <p:sp>
          <p:nvSpPr>
            <p:cNvPr id="433187" name="Freeform 35"/>
            <p:cNvSpPr>
              <a:spLocks/>
            </p:cNvSpPr>
            <p:nvPr/>
          </p:nvSpPr>
          <p:spPr bwMode="auto">
            <a:xfrm>
              <a:off x="3505" y="319"/>
              <a:ext cx="749" cy="1256"/>
            </a:xfrm>
            <a:custGeom>
              <a:avLst/>
              <a:gdLst>
                <a:gd name="T0" fmla="*/ 749 w 749"/>
                <a:gd name="T1" fmla="*/ 0 h 1256"/>
                <a:gd name="T2" fmla="*/ 721 w 749"/>
                <a:gd name="T3" fmla="*/ 236 h 1256"/>
                <a:gd name="T4" fmla="*/ 680 w 749"/>
                <a:gd name="T5" fmla="*/ 403 h 1256"/>
                <a:gd name="T6" fmla="*/ 576 w 749"/>
                <a:gd name="T7" fmla="*/ 562 h 1256"/>
                <a:gd name="T8" fmla="*/ 354 w 749"/>
                <a:gd name="T9" fmla="*/ 708 h 1256"/>
                <a:gd name="T10" fmla="*/ 138 w 749"/>
                <a:gd name="T11" fmla="*/ 916 h 1256"/>
                <a:gd name="T12" fmla="*/ 0 w 749"/>
                <a:gd name="T13" fmla="*/ 1256 h 1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9" h="1256">
                  <a:moveTo>
                    <a:pt x="749" y="0"/>
                  </a:moveTo>
                  <a:cubicBezTo>
                    <a:pt x="744" y="38"/>
                    <a:pt x="732" y="169"/>
                    <a:pt x="721" y="236"/>
                  </a:cubicBezTo>
                  <a:cubicBezTo>
                    <a:pt x="710" y="303"/>
                    <a:pt x="704" y="349"/>
                    <a:pt x="680" y="403"/>
                  </a:cubicBezTo>
                  <a:cubicBezTo>
                    <a:pt x="656" y="457"/>
                    <a:pt x="630" y="511"/>
                    <a:pt x="576" y="562"/>
                  </a:cubicBezTo>
                  <a:cubicBezTo>
                    <a:pt x="522" y="613"/>
                    <a:pt x="427" y="649"/>
                    <a:pt x="354" y="708"/>
                  </a:cubicBezTo>
                  <a:cubicBezTo>
                    <a:pt x="281" y="767"/>
                    <a:pt x="197" y="825"/>
                    <a:pt x="138" y="916"/>
                  </a:cubicBezTo>
                  <a:cubicBezTo>
                    <a:pt x="79" y="1007"/>
                    <a:pt x="29" y="1185"/>
                    <a:pt x="0" y="125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3188" name="Text Box 36"/>
            <p:cNvSpPr txBox="1">
              <a:spLocks noChangeArrowheads="1"/>
            </p:cNvSpPr>
            <p:nvPr/>
          </p:nvSpPr>
          <p:spPr bwMode="auto">
            <a:xfrm>
              <a:off x="3645" y="998"/>
              <a:ext cx="3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  <a:endPara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33189" name="Group 37"/>
          <p:cNvGrpSpPr>
            <a:grpSpLocks/>
          </p:cNvGrpSpPr>
          <p:nvPr/>
        </p:nvGrpSpPr>
        <p:grpSpPr bwMode="auto">
          <a:xfrm>
            <a:off x="5616575" y="479425"/>
            <a:ext cx="1733550" cy="2300288"/>
            <a:chOff x="3936" y="321"/>
            <a:chExt cx="1092" cy="1449"/>
          </a:xfrm>
        </p:grpSpPr>
        <p:sp>
          <p:nvSpPr>
            <p:cNvPr id="433190" name="Text Box 38"/>
            <p:cNvSpPr txBox="1">
              <a:spLocks noChangeArrowheads="1"/>
            </p:cNvSpPr>
            <p:nvPr/>
          </p:nvSpPr>
          <p:spPr bwMode="auto">
            <a:xfrm>
              <a:off x="4149" y="1042"/>
              <a:ext cx="3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kumimoji="1" lang="en-US" altLang="zh-CN" sz="2400" b="1" baseline="-2500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endPara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33191" name="Group 39"/>
            <p:cNvGrpSpPr>
              <a:grpSpLocks/>
            </p:cNvGrpSpPr>
            <p:nvPr/>
          </p:nvGrpSpPr>
          <p:grpSpPr bwMode="auto">
            <a:xfrm>
              <a:off x="3936" y="321"/>
              <a:ext cx="1092" cy="1449"/>
              <a:chOff x="3936" y="321"/>
              <a:chExt cx="1092" cy="1449"/>
            </a:xfrm>
          </p:grpSpPr>
          <p:sp>
            <p:nvSpPr>
              <p:cNvPr id="433192" name="Line 40"/>
              <p:cNvSpPr>
                <a:spLocks noChangeShapeType="1"/>
              </p:cNvSpPr>
              <p:nvPr/>
            </p:nvSpPr>
            <p:spPr bwMode="auto">
              <a:xfrm>
                <a:off x="4320" y="321"/>
                <a:ext cx="0" cy="144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3193" name="Freeform 41"/>
              <p:cNvSpPr>
                <a:spLocks/>
              </p:cNvSpPr>
              <p:nvPr/>
            </p:nvSpPr>
            <p:spPr bwMode="auto">
              <a:xfrm rot="16200000" flipV="1">
                <a:off x="4400" y="1104"/>
                <a:ext cx="600" cy="656"/>
              </a:xfrm>
              <a:custGeom>
                <a:avLst/>
                <a:gdLst>
                  <a:gd name="T0" fmla="*/ 600 w 600"/>
                  <a:gd name="T1" fmla="*/ 0 h 608"/>
                  <a:gd name="T2" fmla="*/ 576 w 600"/>
                  <a:gd name="T3" fmla="*/ 200 h 608"/>
                  <a:gd name="T4" fmla="*/ 520 w 600"/>
                  <a:gd name="T5" fmla="*/ 336 h 608"/>
                  <a:gd name="T6" fmla="*/ 408 w 600"/>
                  <a:gd name="T7" fmla="*/ 456 h 608"/>
                  <a:gd name="T8" fmla="*/ 272 w 600"/>
                  <a:gd name="T9" fmla="*/ 552 h 608"/>
                  <a:gd name="T10" fmla="*/ 136 w 600"/>
                  <a:gd name="T11" fmla="*/ 592 h 608"/>
                  <a:gd name="T12" fmla="*/ 0 w 600"/>
                  <a:gd name="T13" fmla="*/ 608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0" h="608">
                    <a:moveTo>
                      <a:pt x="600" y="0"/>
                    </a:moveTo>
                    <a:cubicBezTo>
                      <a:pt x="594" y="72"/>
                      <a:pt x="589" y="144"/>
                      <a:pt x="576" y="200"/>
                    </a:cubicBezTo>
                    <a:cubicBezTo>
                      <a:pt x="563" y="256"/>
                      <a:pt x="548" y="293"/>
                      <a:pt x="520" y="336"/>
                    </a:cubicBezTo>
                    <a:cubicBezTo>
                      <a:pt x="492" y="379"/>
                      <a:pt x="449" y="420"/>
                      <a:pt x="408" y="456"/>
                    </a:cubicBezTo>
                    <a:cubicBezTo>
                      <a:pt x="367" y="492"/>
                      <a:pt x="317" y="529"/>
                      <a:pt x="272" y="552"/>
                    </a:cubicBezTo>
                    <a:cubicBezTo>
                      <a:pt x="227" y="575"/>
                      <a:pt x="181" y="583"/>
                      <a:pt x="136" y="592"/>
                    </a:cubicBezTo>
                    <a:cubicBezTo>
                      <a:pt x="91" y="601"/>
                      <a:pt x="45" y="604"/>
                      <a:pt x="0" y="608"/>
                    </a:cubicBez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3194" name="Freeform 42"/>
              <p:cNvSpPr>
                <a:spLocks/>
              </p:cNvSpPr>
              <p:nvPr/>
            </p:nvSpPr>
            <p:spPr bwMode="auto">
              <a:xfrm>
                <a:off x="3936" y="324"/>
                <a:ext cx="310" cy="654"/>
              </a:xfrm>
              <a:custGeom>
                <a:avLst/>
                <a:gdLst>
                  <a:gd name="T0" fmla="*/ 310 w 310"/>
                  <a:gd name="T1" fmla="*/ 0 h 654"/>
                  <a:gd name="T2" fmla="*/ 282 w 310"/>
                  <a:gd name="T3" fmla="*/ 236 h 654"/>
                  <a:gd name="T4" fmla="*/ 241 w 310"/>
                  <a:gd name="T5" fmla="*/ 403 h 654"/>
                  <a:gd name="T6" fmla="*/ 137 w 310"/>
                  <a:gd name="T7" fmla="*/ 562 h 654"/>
                  <a:gd name="T8" fmla="*/ 0 w 310"/>
                  <a:gd name="T9" fmla="*/ 654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0" h="654">
                    <a:moveTo>
                      <a:pt x="310" y="0"/>
                    </a:moveTo>
                    <a:cubicBezTo>
                      <a:pt x="305" y="38"/>
                      <a:pt x="293" y="169"/>
                      <a:pt x="282" y="236"/>
                    </a:cubicBezTo>
                    <a:cubicBezTo>
                      <a:pt x="271" y="303"/>
                      <a:pt x="265" y="349"/>
                      <a:pt x="241" y="403"/>
                    </a:cubicBezTo>
                    <a:cubicBezTo>
                      <a:pt x="217" y="457"/>
                      <a:pt x="177" y="520"/>
                      <a:pt x="137" y="562"/>
                    </a:cubicBezTo>
                    <a:cubicBezTo>
                      <a:pt x="97" y="604"/>
                      <a:pt x="23" y="639"/>
                      <a:pt x="0" y="654"/>
                    </a:cubicBez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33195" name="Object 43"/>
          <p:cNvGraphicFramePr>
            <a:graphicFrameLocks noChangeAspect="1"/>
          </p:cNvGraphicFramePr>
          <p:nvPr/>
        </p:nvGraphicFramePr>
        <p:xfrm>
          <a:off x="1187450" y="2565400"/>
          <a:ext cx="5641975" cy="208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45" name="公式" r:id="rId4" imgW="3238200" imgH="1193760" progId="Equation.3">
                  <p:embed/>
                </p:oleObj>
              </mc:Choice>
              <mc:Fallback>
                <p:oleObj name="公式" r:id="rId4" imgW="3238200" imgH="119376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565400"/>
                        <a:ext cx="5641975" cy="208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3196" name="Text Box 44"/>
          <p:cNvSpPr txBox="1">
            <a:spLocks noChangeArrowheads="1"/>
          </p:cNvSpPr>
          <p:nvPr/>
        </p:nvSpPr>
        <p:spPr bwMode="auto">
          <a:xfrm>
            <a:off x="684213" y="4652963"/>
            <a:ext cx="445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分别令分子、分母为零，可得：</a:t>
            </a:r>
          </a:p>
        </p:txBody>
      </p:sp>
      <p:sp>
        <p:nvSpPr>
          <p:cNvPr id="433197" name="Rectangle 45"/>
          <p:cNvSpPr>
            <a:spLocks noChangeArrowheads="1"/>
          </p:cNvSpPr>
          <p:nvPr/>
        </p:nvSpPr>
        <p:spPr bwMode="auto">
          <a:xfrm>
            <a:off x="4510088" y="526415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串联谐振</a:t>
            </a:r>
          </a:p>
        </p:txBody>
      </p:sp>
      <p:graphicFrame>
        <p:nvGraphicFramePr>
          <p:cNvPr id="433198" name="Object 46"/>
          <p:cNvGraphicFramePr>
            <a:graphicFrameLocks noChangeAspect="1"/>
          </p:cNvGraphicFramePr>
          <p:nvPr/>
        </p:nvGraphicFramePr>
        <p:xfrm>
          <a:off x="1528763" y="5084763"/>
          <a:ext cx="2611437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46" name="Equation" r:id="rId6" imgW="1218960" imgH="431640" progId="Equation.DSMT4">
                  <p:embed/>
                </p:oleObj>
              </mc:Choice>
              <mc:Fallback>
                <p:oleObj name="Equation" r:id="rId6" imgW="1218960" imgH="43164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763" y="5084763"/>
                        <a:ext cx="2611437" cy="8921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CCFF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3199" name="Rectangle 47"/>
          <p:cNvSpPr>
            <a:spLocks noChangeArrowheads="1"/>
          </p:cNvSpPr>
          <p:nvPr/>
        </p:nvSpPr>
        <p:spPr bwMode="auto">
          <a:xfrm>
            <a:off x="4583113" y="6272213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并联谐振</a:t>
            </a:r>
          </a:p>
        </p:txBody>
      </p:sp>
      <p:graphicFrame>
        <p:nvGraphicFramePr>
          <p:cNvPr id="433200" name="Object 48"/>
          <p:cNvGraphicFramePr>
            <a:graphicFrameLocks noChangeAspect="1"/>
          </p:cNvGraphicFramePr>
          <p:nvPr/>
        </p:nvGraphicFramePr>
        <p:xfrm>
          <a:off x="1547813" y="5935663"/>
          <a:ext cx="177165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47" name="公式" r:id="rId8" imgW="825480" imgH="431640" progId="Equation.3">
                  <p:embed/>
                </p:oleObj>
              </mc:Choice>
              <mc:Fallback>
                <p:oleObj name="公式" r:id="rId8" imgW="825480" imgH="43164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5935663"/>
                        <a:ext cx="1771650" cy="92233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CCFF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201" name="Object 49"/>
          <p:cNvGraphicFramePr>
            <a:graphicFrameLocks noChangeAspect="1"/>
          </p:cNvGraphicFramePr>
          <p:nvPr/>
        </p:nvGraphicFramePr>
        <p:xfrm>
          <a:off x="6156325" y="5335588"/>
          <a:ext cx="83026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48" name="Equation" r:id="rId10" imgW="444240" imgH="228600" progId="Equation.3">
                  <p:embed/>
                </p:oleObj>
              </mc:Choice>
              <mc:Fallback>
                <p:oleObj name="Equation" r:id="rId10" imgW="444240" imgH="2286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5335588"/>
                        <a:ext cx="830263" cy="4238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00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202" name="Object 50"/>
          <p:cNvGraphicFramePr>
            <a:graphicFrameLocks noChangeAspect="1"/>
          </p:cNvGraphicFramePr>
          <p:nvPr/>
        </p:nvGraphicFramePr>
        <p:xfrm>
          <a:off x="6156325" y="6272213"/>
          <a:ext cx="9017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49" name="Equation" r:id="rId12" imgW="482400" imgH="228600" progId="Equation.3">
                  <p:embed/>
                </p:oleObj>
              </mc:Choice>
              <mc:Fallback>
                <p:oleObj name="Equation" r:id="rId12" imgW="482400" imgH="22860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6272213"/>
                        <a:ext cx="901700" cy="4238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00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3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3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43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3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3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3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3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3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3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3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3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33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33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3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96" grpId="0" autoUpdateAnimBg="0"/>
      <p:bldP spid="433197" grpId="0" autoUpdateAnimBg="0"/>
      <p:bldP spid="43319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Text Box 2"/>
          <p:cNvSpPr txBox="1">
            <a:spLocks noChangeArrowheads="1"/>
          </p:cNvSpPr>
          <p:nvPr/>
        </p:nvSpPr>
        <p:spPr bwMode="auto">
          <a:xfrm>
            <a:off x="569144" y="2096852"/>
            <a:ext cx="41195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20000"/>
              </a:lnSpc>
              <a:spcBef>
                <a:spcPct val="0"/>
              </a:spcBef>
            </a:pPr>
            <a:r>
              <a:rPr kumimoji="1" lang="en-US" altLang="zh-CN" sz="2000" b="1" i="1" dirty="0">
                <a:latin typeface="Times New Roman" panose="02020603050405020304" pitchFamily="18" charset="0"/>
              </a:rPr>
              <a:t>L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=250</a:t>
            </a:r>
            <a:r>
              <a:rPr kumimoji="1" lang="en-US" altLang="zh-CN" sz="2000" b="1" dirty="0">
                <a:latin typeface="Symbol" panose="05050102010706020507" pitchFamily="18" charset="2"/>
              </a:rPr>
              <a:t>m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H,  </a:t>
            </a:r>
            <a:r>
              <a:rPr kumimoji="1" lang="en-US" altLang="zh-CN" sz="2000" b="1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=20</a:t>
            </a:r>
            <a:r>
              <a:rPr kumimoji="1" lang="en-US" altLang="zh-CN" sz="2000" b="1" dirty="0">
                <a:latin typeface="Symbol" panose="05050102010706020507" pitchFamily="18" charset="2"/>
              </a:rPr>
              <a:t>W, </a:t>
            </a:r>
            <a:r>
              <a:rPr kumimoji="1" lang="en-US" altLang="zh-CN" sz="2000" b="1" i="1" dirty="0">
                <a:latin typeface="Times New Roman" panose="02020603050405020304" pitchFamily="18" charset="0"/>
              </a:rPr>
              <a:t>C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=150pF(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调好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) </a:t>
            </a:r>
            <a:r>
              <a:rPr kumimoji="1" lang="en-US" altLang="zh-CN" sz="2000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=</a:t>
            </a:r>
            <a:r>
              <a:rPr kumimoji="1" lang="en-US" altLang="zh-CN" sz="2000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= </a:t>
            </a:r>
            <a:r>
              <a:rPr kumimoji="1" lang="en-US" altLang="zh-CN" sz="2000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3 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=10</a:t>
            </a:r>
            <a:r>
              <a:rPr kumimoji="1" lang="en-US" altLang="zh-CN" sz="2000" b="1" dirty="0">
                <a:latin typeface="Symbol" panose="05050102010706020507" pitchFamily="18" charset="2"/>
              </a:rPr>
              <a:t>m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V</a:t>
            </a:r>
          </a:p>
        </p:txBody>
      </p:sp>
      <p:grpSp>
        <p:nvGrpSpPr>
          <p:cNvPr id="445443" name="Group 3"/>
          <p:cNvGrpSpPr>
            <a:grpSpLocks/>
          </p:cNvGrpSpPr>
          <p:nvPr/>
        </p:nvGrpSpPr>
        <p:grpSpPr bwMode="auto">
          <a:xfrm>
            <a:off x="3194050" y="3525838"/>
            <a:ext cx="4948238" cy="476250"/>
            <a:chOff x="2471" y="2194"/>
            <a:chExt cx="3117" cy="300"/>
          </a:xfrm>
        </p:grpSpPr>
        <p:sp>
          <p:nvSpPr>
            <p:cNvPr id="445444" name="Text Box 4"/>
            <p:cNvSpPr txBox="1">
              <a:spLocks noChangeArrowheads="1"/>
            </p:cNvSpPr>
            <p:nvPr/>
          </p:nvSpPr>
          <p:spPr bwMode="auto">
            <a:xfrm>
              <a:off x="2471" y="2197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zh-CN" altLang="en-US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北京台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5445" name="Text Box 5"/>
            <p:cNvSpPr txBox="1">
              <a:spLocks noChangeArrowheads="1"/>
            </p:cNvSpPr>
            <p:nvPr/>
          </p:nvSpPr>
          <p:spPr bwMode="auto">
            <a:xfrm>
              <a:off x="3449" y="2194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zh-CN" altLang="en-US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中央台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5446" name="Text Box 6"/>
            <p:cNvSpPr txBox="1">
              <a:spLocks noChangeArrowheads="1"/>
            </p:cNvSpPr>
            <p:nvPr/>
          </p:nvSpPr>
          <p:spPr bwMode="auto">
            <a:xfrm>
              <a:off x="4507" y="2206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zh-CN" altLang="en-US" sz="2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北京经济台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45447" name="Group 7"/>
          <p:cNvGrpSpPr>
            <a:grpSpLocks/>
          </p:cNvGrpSpPr>
          <p:nvPr/>
        </p:nvGrpSpPr>
        <p:grpSpPr bwMode="auto">
          <a:xfrm>
            <a:off x="1592263" y="4002088"/>
            <a:ext cx="6084887" cy="457200"/>
            <a:chOff x="1462" y="2494"/>
            <a:chExt cx="3833" cy="288"/>
          </a:xfrm>
        </p:grpSpPr>
        <p:sp>
          <p:nvSpPr>
            <p:cNvPr id="445448" name="Text Box 8"/>
            <p:cNvSpPr txBox="1">
              <a:spLocks noChangeArrowheads="1"/>
            </p:cNvSpPr>
            <p:nvPr/>
          </p:nvSpPr>
          <p:spPr bwMode="auto">
            <a:xfrm>
              <a:off x="1462" y="2494"/>
              <a:ext cx="6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f 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(kHz)</a:t>
              </a:r>
            </a:p>
          </p:txBody>
        </p:sp>
        <p:sp>
          <p:nvSpPr>
            <p:cNvPr id="445449" name="Text Box 9"/>
            <p:cNvSpPr txBox="1">
              <a:spLocks noChangeArrowheads="1"/>
            </p:cNvSpPr>
            <p:nvPr/>
          </p:nvSpPr>
          <p:spPr bwMode="auto">
            <a:xfrm>
              <a:off x="2615" y="2494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820</a:t>
              </a:r>
            </a:p>
          </p:txBody>
        </p:sp>
        <p:sp>
          <p:nvSpPr>
            <p:cNvPr id="445450" name="Text Box 10"/>
            <p:cNvSpPr txBox="1">
              <a:spLocks noChangeArrowheads="1"/>
            </p:cNvSpPr>
            <p:nvPr/>
          </p:nvSpPr>
          <p:spPr bwMode="auto">
            <a:xfrm>
              <a:off x="3593" y="2494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640</a:t>
              </a:r>
            </a:p>
          </p:txBody>
        </p:sp>
        <p:sp>
          <p:nvSpPr>
            <p:cNvPr id="445451" name="Text Box 11"/>
            <p:cNvSpPr txBox="1">
              <a:spLocks noChangeArrowheads="1"/>
            </p:cNvSpPr>
            <p:nvPr/>
          </p:nvSpPr>
          <p:spPr bwMode="auto">
            <a:xfrm>
              <a:off x="4795" y="2494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1026</a:t>
              </a:r>
            </a:p>
          </p:txBody>
        </p:sp>
      </p:grpSp>
      <p:grpSp>
        <p:nvGrpSpPr>
          <p:cNvPr id="445452" name="Group 12"/>
          <p:cNvGrpSpPr>
            <a:grpSpLocks/>
          </p:cNvGrpSpPr>
          <p:nvPr/>
        </p:nvGrpSpPr>
        <p:grpSpPr bwMode="auto">
          <a:xfrm>
            <a:off x="1989138" y="5634038"/>
            <a:ext cx="5688012" cy="457200"/>
            <a:chOff x="1712" y="3358"/>
            <a:chExt cx="3583" cy="288"/>
          </a:xfrm>
        </p:grpSpPr>
        <p:sp>
          <p:nvSpPr>
            <p:cNvPr id="445453" name="Text Box 13"/>
            <p:cNvSpPr txBox="1">
              <a:spLocks noChangeArrowheads="1"/>
            </p:cNvSpPr>
            <p:nvPr/>
          </p:nvSpPr>
          <p:spPr bwMode="auto">
            <a:xfrm>
              <a:off x="1712" y="335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45454" name="Text Box 14"/>
            <p:cNvSpPr txBox="1">
              <a:spLocks noChangeArrowheads="1"/>
            </p:cNvSpPr>
            <p:nvPr/>
          </p:nvSpPr>
          <p:spPr bwMode="auto">
            <a:xfrm>
              <a:off x="2711" y="335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45455" name="Text Box 15"/>
            <p:cNvSpPr txBox="1">
              <a:spLocks noChangeArrowheads="1"/>
            </p:cNvSpPr>
            <p:nvPr/>
          </p:nvSpPr>
          <p:spPr bwMode="auto">
            <a:xfrm>
              <a:off x="3537" y="3358"/>
              <a:ext cx="5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– 660</a:t>
              </a:r>
            </a:p>
          </p:txBody>
        </p:sp>
        <p:sp>
          <p:nvSpPr>
            <p:cNvPr id="445456" name="Text Box 16"/>
            <p:cNvSpPr txBox="1">
              <a:spLocks noChangeArrowheads="1"/>
            </p:cNvSpPr>
            <p:nvPr/>
          </p:nvSpPr>
          <p:spPr bwMode="auto">
            <a:xfrm>
              <a:off x="4891" y="3358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577</a:t>
              </a:r>
            </a:p>
          </p:txBody>
        </p:sp>
      </p:grpSp>
      <p:grpSp>
        <p:nvGrpSpPr>
          <p:cNvPr id="445457" name="Group 17"/>
          <p:cNvGrpSpPr>
            <a:grpSpLocks/>
          </p:cNvGrpSpPr>
          <p:nvPr/>
        </p:nvGrpSpPr>
        <p:grpSpPr bwMode="auto">
          <a:xfrm>
            <a:off x="1798638" y="4508500"/>
            <a:ext cx="5878512" cy="508000"/>
            <a:chOff x="1592" y="2758"/>
            <a:chExt cx="3703" cy="320"/>
          </a:xfrm>
        </p:grpSpPr>
        <p:sp>
          <p:nvSpPr>
            <p:cNvPr id="445458" name="Text Box 18"/>
            <p:cNvSpPr txBox="1">
              <a:spLocks noChangeArrowheads="1"/>
            </p:cNvSpPr>
            <p:nvPr/>
          </p:nvSpPr>
          <p:spPr bwMode="auto">
            <a:xfrm>
              <a:off x="1592" y="2758"/>
              <a:ext cx="4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Symbol" panose="05050102010706020507" pitchFamily="18" charset="2"/>
                  <a:sym typeface="Symbol" panose="05050102010706020507" pitchFamily="18" charset="2"/>
                </a:rPr>
                <a:t> 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5459" name="Text Box 19"/>
            <p:cNvSpPr txBox="1">
              <a:spLocks noChangeArrowheads="1"/>
            </p:cNvSpPr>
            <p:nvPr/>
          </p:nvSpPr>
          <p:spPr bwMode="auto">
            <a:xfrm>
              <a:off x="2567" y="2790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1290</a:t>
              </a:r>
            </a:p>
          </p:txBody>
        </p:sp>
        <p:sp>
          <p:nvSpPr>
            <p:cNvPr id="445460" name="Text Box 20"/>
            <p:cNvSpPr txBox="1">
              <a:spLocks noChangeArrowheads="1"/>
            </p:cNvSpPr>
            <p:nvPr/>
          </p:nvSpPr>
          <p:spPr bwMode="auto">
            <a:xfrm>
              <a:off x="3545" y="2790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1000</a:t>
              </a:r>
            </a:p>
          </p:txBody>
        </p:sp>
        <p:sp>
          <p:nvSpPr>
            <p:cNvPr id="445461" name="Text Box 21"/>
            <p:cNvSpPr txBox="1">
              <a:spLocks noChangeArrowheads="1"/>
            </p:cNvSpPr>
            <p:nvPr/>
          </p:nvSpPr>
          <p:spPr bwMode="auto">
            <a:xfrm>
              <a:off x="4795" y="2790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1612</a:t>
              </a:r>
            </a:p>
          </p:txBody>
        </p:sp>
      </p:grpSp>
      <p:grpSp>
        <p:nvGrpSpPr>
          <p:cNvPr id="445467" name="Group 27"/>
          <p:cNvGrpSpPr>
            <a:grpSpLocks/>
          </p:cNvGrpSpPr>
          <p:nvPr/>
        </p:nvGrpSpPr>
        <p:grpSpPr bwMode="auto">
          <a:xfrm>
            <a:off x="1924050" y="4918075"/>
            <a:ext cx="5753100" cy="661988"/>
            <a:chOff x="1671" y="2989"/>
            <a:chExt cx="3624" cy="417"/>
          </a:xfrm>
        </p:grpSpPr>
        <p:sp>
          <p:nvSpPr>
            <p:cNvPr id="445468" name="Text Box 28"/>
            <p:cNvSpPr txBox="1">
              <a:spLocks noChangeArrowheads="1"/>
            </p:cNvSpPr>
            <p:nvPr/>
          </p:nvSpPr>
          <p:spPr bwMode="auto">
            <a:xfrm>
              <a:off x="2567" y="3094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1290</a:t>
              </a:r>
            </a:p>
          </p:txBody>
        </p:sp>
        <p:sp>
          <p:nvSpPr>
            <p:cNvPr id="445469" name="Text Box 29"/>
            <p:cNvSpPr txBox="1">
              <a:spLocks noChangeArrowheads="1"/>
            </p:cNvSpPr>
            <p:nvPr/>
          </p:nvSpPr>
          <p:spPr bwMode="auto">
            <a:xfrm>
              <a:off x="3513" y="3094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1660</a:t>
              </a:r>
            </a:p>
          </p:txBody>
        </p:sp>
        <p:sp>
          <p:nvSpPr>
            <p:cNvPr id="445470" name="Text Box 30"/>
            <p:cNvSpPr txBox="1">
              <a:spLocks noChangeArrowheads="1"/>
            </p:cNvSpPr>
            <p:nvPr/>
          </p:nvSpPr>
          <p:spPr bwMode="auto">
            <a:xfrm>
              <a:off x="4795" y="3094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1034</a:t>
              </a:r>
            </a:p>
          </p:txBody>
        </p:sp>
        <p:graphicFrame>
          <p:nvGraphicFramePr>
            <p:cNvPr id="445471" name="Object 31"/>
            <p:cNvGraphicFramePr>
              <a:graphicFrameLocks noChangeAspect="1"/>
            </p:cNvGraphicFramePr>
            <p:nvPr/>
          </p:nvGraphicFramePr>
          <p:xfrm>
            <a:off x="1671" y="2989"/>
            <a:ext cx="300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5571" name="公式" r:id="rId4" imgW="291960" imgH="406080" progId="Equation.3">
                    <p:embed/>
                  </p:oleObj>
                </mc:Choice>
                <mc:Fallback>
                  <p:oleObj name="公式" r:id="rId4" imgW="291960" imgH="40608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1" y="2989"/>
                          <a:ext cx="300" cy="4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5472" name="Text Box 32"/>
          <p:cNvSpPr txBox="1">
            <a:spLocks noChangeArrowheads="1"/>
          </p:cNvSpPr>
          <p:nvPr/>
        </p:nvSpPr>
        <p:spPr bwMode="auto">
          <a:xfrm>
            <a:off x="971550" y="2867025"/>
            <a:ext cx="416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20000"/>
              </a:lnSpc>
              <a:spcBef>
                <a:spcPct val="0"/>
              </a:spcBef>
            </a:pPr>
            <a:r>
              <a:rPr kumimoji="1" lang="en-US" altLang="zh-CN" sz="2000" b="1" i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r>
              <a:rPr kumimoji="1"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=5.5</a:t>
            </a: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  <a:r>
              <a:rPr kumimoji="1" lang="en-US" altLang="zh-CN" sz="2000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6 </a:t>
            </a: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rad/s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，  </a:t>
            </a:r>
            <a:r>
              <a:rPr kumimoji="1"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=820 kHz.</a:t>
            </a:r>
          </a:p>
        </p:txBody>
      </p:sp>
      <p:grpSp>
        <p:nvGrpSpPr>
          <p:cNvPr id="445473" name="Group 33"/>
          <p:cNvGrpSpPr>
            <a:grpSpLocks/>
          </p:cNvGrpSpPr>
          <p:nvPr/>
        </p:nvGrpSpPr>
        <p:grpSpPr bwMode="auto">
          <a:xfrm>
            <a:off x="467544" y="485589"/>
            <a:ext cx="4656137" cy="1490662"/>
            <a:chOff x="1693" y="0"/>
            <a:chExt cx="3025" cy="968"/>
          </a:xfrm>
        </p:grpSpPr>
        <p:sp>
          <p:nvSpPr>
            <p:cNvPr id="445474" name="Line 34"/>
            <p:cNvSpPr>
              <a:spLocks noChangeShapeType="1"/>
            </p:cNvSpPr>
            <p:nvPr/>
          </p:nvSpPr>
          <p:spPr bwMode="auto">
            <a:xfrm>
              <a:off x="2250" y="666"/>
              <a:ext cx="0" cy="1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75" name="Line 35"/>
            <p:cNvSpPr>
              <a:spLocks noChangeShapeType="1"/>
            </p:cNvSpPr>
            <p:nvPr/>
          </p:nvSpPr>
          <p:spPr bwMode="auto">
            <a:xfrm flipV="1">
              <a:off x="2249" y="202"/>
              <a:ext cx="1" cy="1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76" name="Line 36"/>
            <p:cNvSpPr>
              <a:spLocks noChangeShapeType="1"/>
            </p:cNvSpPr>
            <p:nvPr/>
          </p:nvSpPr>
          <p:spPr bwMode="auto">
            <a:xfrm>
              <a:off x="2200" y="202"/>
              <a:ext cx="2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77" name="Line 37"/>
            <p:cNvSpPr>
              <a:spLocks noChangeShapeType="1"/>
            </p:cNvSpPr>
            <p:nvPr/>
          </p:nvSpPr>
          <p:spPr bwMode="auto">
            <a:xfrm flipH="1">
              <a:off x="1794" y="202"/>
              <a:ext cx="4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78" name="Line 38"/>
            <p:cNvSpPr>
              <a:spLocks noChangeShapeType="1"/>
            </p:cNvSpPr>
            <p:nvPr/>
          </p:nvSpPr>
          <p:spPr bwMode="auto">
            <a:xfrm>
              <a:off x="1795" y="202"/>
              <a:ext cx="0" cy="2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79" name="Line 39"/>
            <p:cNvSpPr>
              <a:spLocks noChangeShapeType="1"/>
            </p:cNvSpPr>
            <p:nvPr/>
          </p:nvSpPr>
          <p:spPr bwMode="auto">
            <a:xfrm>
              <a:off x="1795" y="551"/>
              <a:ext cx="0" cy="2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80" name="Line 40"/>
            <p:cNvSpPr>
              <a:spLocks noChangeShapeType="1"/>
            </p:cNvSpPr>
            <p:nvPr/>
          </p:nvSpPr>
          <p:spPr bwMode="auto">
            <a:xfrm flipH="1">
              <a:off x="1798" y="836"/>
              <a:ext cx="45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81" name="Text Box 41"/>
            <p:cNvSpPr txBox="1">
              <a:spLocks noChangeArrowheads="1"/>
            </p:cNvSpPr>
            <p:nvPr/>
          </p:nvSpPr>
          <p:spPr bwMode="auto">
            <a:xfrm>
              <a:off x="1993" y="278"/>
              <a:ext cx="30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45482" name="Text Box 42"/>
            <p:cNvSpPr txBox="1">
              <a:spLocks noChangeArrowheads="1"/>
            </p:cNvSpPr>
            <p:nvPr/>
          </p:nvSpPr>
          <p:spPr bwMode="auto">
            <a:xfrm>
              <a:off x="1876" y="510"/>
              <a:ext cx="251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pSp>
          <p:nvGrpSpPr>
            <p:cNvPr id="445483" name="Group 43"/>
            <p:cNvGrpSpPr>
              <a:grpSpLocks/>
            </p:cNvGrpSpPr>
            <p:nvPr/>
          </p:nvGrpSpPr>
          <p:grpSpPr bwMode="auto">
            <a:xfrm rot="5400000">
              <a:off x="2118" y="491"/>
              <a:ext cx="306" cy="46"/>
              <a:chOff x="1200" y="1584"/>
              <a:chExt cx="379" cy="45"/>
            </a:xfrm>
          </p:grpSpPr>
          <p:sp>
            <p:nvSpPr>
              <p:cNvPr id="445484" name="Arc 44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85" name="Arc 45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86" name="Arc 46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87" name="Arc 47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5488" name="Group 48"/>
            <p:cNvGrpSpPr>
              <a:grpSpLocks/>
            </p:cNvGrpSpPr>
            <p:nvPr/>
          </p:nvGrpSpPr>
          <p:grpSpPr bwMode="auto">
            <a:xfrm>
              <a:off x="1693" y="472"/>
              <a:ext cx="208" cy="75"/>
              <a:chOff x="1351" y="3976"/>
              <a:chExt cx="174" cy="93"/>
            </a:xfrm>
          </p:grpSpPr>
          <p:sp>
            <p:nvSpPr>
              <p:cNvPr id="445489" name="Line 49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5490" name="Line 50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5491" name="Rectangle 51"/>
            <p:cNvSpPr>
              <a:spLocks noChangeArrowheads="1"/>
            </p:cNvSpPr>
            <p:nvPr/>
          </p:nvSpPr>
          <p:spPr bwMode="auto">
            <a:xfrm>
              <a:off x="2847" y="75"/>
              <a:ext cx="482" cy="8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92" name="Line 52"/>
            <p:cNvSpPr>
              <a:spLocks noChangeShapeType="1"/>
            </p:cNvSpPr>
            <p:nvPr/>
          </p:nvSpPr>
          <p:spPr bwMode="auto">
            <a:xfrm>
              <a:off x="3329" y="305"/>
              <a:ext cx="2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493" name="Line 53"/>
            <p:cNvSpPr>
              <a:spLocks noChangeShapeType="1"/>
            </p:cNvSpPr>
            <p:nvPr/>
          </p:nvSpPr>
          <p:spPr bwMode="auto">
            <a:xfrm>
              <a:off x="3329" y="759"/>
              <a:ext cx="2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494" name="Line 54"/>
            <p:cNvSpPr>
              <a:spLocks noChangeShapeType="1"/>
            </p:cNvSpPr>
            <p:nvPr/>
          </p:nvSpPr>
          <p:spPr bwMode="auto">
            <a:xfrm flipV="1">
              <a:off x="1738" y="396"/>
              <a:ext cx="133" cy="2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495" name="Text Box 55"/>
            <p:cNvSpPr txBox="1">
              <a:spLocks noChangeArrowheads="1"/>
            </p:cNvSpPr>
            <p:nvPr/>
          </p:nvSpPr>
          <p:spPr bwMode="auto">
            <a:xfrm>
              <a:off x="2848" y="265"/>
              <a:ext cx="518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放大</a:t>
              </a:r>
            </a:p>
            <a:p>
              <a:pPr algn="l">
                <a:spcBef>
                  <a:spcPct val="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电路</a:t>
              </a:r>
            </a:p>
          </p:txBody>
        </p:sp>
        <p:sp>
          <p:nvSpPr>
            <p:cNvPr id="445496" name="Text Box 56"/>
            <p:cNvSpPr txBox="1">
              <a:spLocks noChangeArrowheads="1"/>
            </p:cNvSpPr>
            <p:nvPr/>
          </p:nvSpPr>
          <p:spPr bwMode="auto">
            <a:xfrm>
              <a:off x="2547" y="299"/>
              <a:ext cx="30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  <a:r>
                <a:rPr kumimoji="1" lang="en-US" altLang="zh-CN" sz="24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445497" name="Group 57"/>
            <p:cNvGrpSpPr>
              <a:grpSpLocks/>
            </p:cNvGrpSpPr>
            <p:nvPr/>
          </p:nvGrpSpPr>
          <p:grpSpPr bwMode="auto">
            <a:xfrm rot="16200000" flipH="1">
              <a:off x="2368" y="507"/>
              <a:ext cx="245" cy="37"/>
              <a:chOff x="1200" y="1584"/>
              <a:chExt cx="379" cy="45"/>
            </a:xfrm>
          </p:grpSpPr>
          <p:sp>
            <p:nvSpPr>
              <p:cNvPr id="445498" name="Arc 58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99" name="Arc 59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500" name="Arc 60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501" name="Arc 61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5502" name="Line 62"/>
            <p:cNvSpPr>
              <a:spLocks noChangeShapeType="1"/>
            </p:cNvSpPr>
            <p:nvPr/>
          </p:nvSpPr>
          <p:spPr bwMode="auto">
            <a:xfrm>
              <a:off x="2508" y="282"/>
              <a:ext cx="0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03" name="Line 63"/>
            <p:cNvSpPr>
              <a:spLocks noChangeShapeType="1"/>
            </p:cNvSpPr>
            <p:nvPr/>
          </p:nvSpPr>
          <p:spPr bwMode="auto">
            <a:xfrm>
              <a:off x="2504" y="281"/>
              <a:ext cx="3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04" name="Line 64"/>
            <p:cNvSpPr>
              <a:spLocks noChangeShapeType="1"/>
            </p:cNvSpPr>
            <p:nvPr/>
          </p:nvSpPr>
          <p:spPr bwMode="auto">
            <a:xfrm>
              <a:off x="2508" y="651"/>
              <a:ext cx="0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05" name="Oval 65"/>
            <p:cNvSpPr>
              <a:spLocks noChangeArrowheads="1"/>
            </p:cNvSpPr>
            <p:nvPr/>
          </p:nvSpPr>
          <p:spPr bwMode="auto">
            <a:xfrm>
              <a:off x="2277" y="296"/>
              <a:ext cx="45" cy="4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06" name="Oval 66"/>
            <p:cNvSpPr>
              <a:spLocks noChangeArrowheads="1"/>
            </p:cNvSpPr>
            <p:nvPr/>
          </p:nvSpPr>
          <p:spPr bwMode="auto">
            <a:xfrm>
              <a:off x="2447" y="311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07" name="Freeform 67"/>
            <p:cNvSpPr>
              <a:spLocks/>
            </p:cNvSpPr>
            <p:nvPr/>
          </p:nvSpPr>
          <p:spPr bwMode="auto">
            <a:xfrm>
              <a:off x="2262" y="221"/>
              <a:ext cx="222" cy="45"/>
            </a:xfrm>
            <a:custGeom>
              <a:avLst/>
              <a:gdLst>
                <a:gd name="T0" fmla="*/ 0 w 275"/>
                <a:gd name="T1" fmla="*/ 47 h 56"/>
                <a:gd name="T2" fmla="*/ 138 w 275"/>
                <a:gd name="T3" fmla="*/ 1 h 56"/>
                <a:gd name="T4" fmla="*/ 275 w 275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56">
                  <a:moveTo>
                    <a:pt x="0" y="47"/>
                  </a:moveTo>
                  <a:cubicBezTo>
                    <a:pt x="46" y="23"/>
                    <a:pt x="92" y="0"/>
                    <a:pt x="138" y="1"/>
                  </a:cubicBezTo>
                  <a:cubicBezTo>
                    <a:pt x="184" y="2"/>
                    <a:pt x="229" y="29"/>
                    <a:pt x="275" y="5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508" name="Text Box 68"/>
            <p:cNvSpPr txBox="1">
              <a:spLocks noChangeArrowheads="1"/>
            </p:cNvSpPr>
            <p:nvPr/>
          </p:nvSpPr>
          <p:spPr bwMode="auto">
            <a:xfrm>
              <a:off x="2283" y="0"/>
              <a:ext cx="29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445509" name="Line 69"/>
            <p:cNvSpPr>
              <a:spLocks noChangeShapeType="1"/>
            </p:cNvSpPr>
            <p:nvPr/>
          </p:nvSpPr>
          <p:spPr bwMode="auto">
            <a:xfrm>
              <a:off x="2512" y="769"/>
              <a:ext cx="32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445510" name="Picture 70" descr="MCj02303250000[1]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0" y="125"/>
              <a:ext cx="1138" cy="8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45511" name="Text Box 71"/>
          <p:cNvSpPr txBox="1">
            <a:spLocks noChangeArrowheads="1"/>
          </p:cNvSpPr>
          <p:nvPr/>
        </p:nvSpPr>
        <p:spPr bwMode="auto">
          <a:xfrm>
            <a:off x="5076825" y="128588"/>
            <a:ext cx="3902075" cy="401637"/>
          </a:xfrm>
          <a:prstGeom prst="rect">
            <a:avLst/>
          </a:prstGeom>
          <a:noFill/>
          <a:ln w="34925">
            <a:solidFill>
              <a:srgbClr val="FF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用内置磁棒上线圈作为天线的收音机</a:t>
            </a:r>
          </a:p>
        </p:txBody>
      </p:sp>
      <p:grpSp>
        <p:nvGrpSpPr>
          <p:cNvPr id="445512" name="Group 72"/>
          <p:cNvGrpSpPr>
            <a:grpSpLocks/>
          </p:cNvGrpSpPr>
          <p:nvPr/>
        </p:nvGrpSpPr>
        <p:grpSpPr bwMode="auto">
          <a:xfrm>
            <a:off x="5229225" y="1271588"/>
            <a:ext cx="2867025" cy="2319337"/>
            <a:chOff x="3643" y="491"/>
            <a:chExt cx="1989" cy="1609"/>
          </a:xfrm>
        </p:grpSpPr>
        <p:sp>
          <p:nvSpPr>
            <p:cNvPr id="445513" name="Text Box 73"/>
            <p:cNvSpPr txBox="1">
              <a:spLocks noChangeArrowheads="1"/>
            </p:cNvSpPr>
            <p:nvPr/>
          </p:nvSpPr>
          <p:spPr bwMode="auto">
            <a:xfrm>
              <a:off x="4503" y="572"/>
              <a:ext cx="128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45514" name="Oval 74"/>
            <p:cNvSpPr>
              <a:spLocks noChangeArrowheads="1"/>
            </p:cNvSpPr>
            <p:nvPr/>
          </p:nvSpPr>
          <p:spPr bwMode="auto">
            <a:xfrm>
              <a:off x="3836" y="864"/>
              <a:ext cx="231" cy="231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5515" name="Text Box 75"/>
            <p:cNvSpPr txBox="1">
              <a:spLocks noChangeArrowheads="1"/>
            </p:cNvSpPr>
            <p:nvPr/>
          </p:nvSpPr>
          <p:spPr bwMode="auto">
            <a:xfrm>
              <a:off x="3653" y="641"/>
              <a:ext cx="248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45516" name="Text Box 76"/>
            <p:cNvSpPr txBox="1">
              <a:spLocks noChangeArrowheads="1"/>
            </p:cNvSpPr>
            <p:nvPr/>
          </p:nvSpPr>
          <p:spPr bwMode="auto">
            <a:xfrm>
              <a:off x="3682" y="904"/>
              <a:ext cx="170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grpSp>
          <p:nvGrpSpPr>
            <p:cNvPr id="445517" name="Group 77"/>
            <p:cNvGrpSpPr>
              <a:grpSpLocks/>
            </p:cNvGrpSpPr>
            <p:nvPr/>
          </p:nvGrpSpPr>
          <p:grpSpPr bwMode="auto">
            <a:xfrm>
              <a:off x="4676" y="1572"/>
              <a:ext cx="240" cy="80"/>
              <a:chOff x="1351" y="3976"/>
              <a:chExt cx="174" cy="93"/>
            </a:xfrm>
          </p:grpSpPr>
          <p:sp>
            <p:nvSpPr>
              <p:cNvPr id="445518" name="Line 78"/>
              <p:cNvSpPr>
                <a:spLocks noChangeShapeType="1"/>
              </p:cNvSpPr>
              <p:nvPr/>
            </p:nvSpPr>
            <p:spPr bwMode="auto">
              <a:xfrm>
                <a:off x="1351" y="3976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5519" name="Line 79"/>
              <p:cNvSpPr>
                <a:spLocks noChangeShapeType="1"/>
              </p:cNvSpPr>
              <p:nvPr/>
            </p:nvSpPr>
            <p:spPr bwMode="auto">
              <a:xfrm>
                <a:off x="1351" y="4068"/>
                <a:ext cx="1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5520" name="Line 80"/>
            <p:cNvSpPr>
              <a:spLocks noChangeShapeType="1"/>
            </p:cNvSpPr>
            <p:nvPr/>
          </p:nvSpPr>
          <p:spPr bwMode="auto">
            <a:xfrm>
              <a:off x="3954" y="760"/>
              <a:ext cx="8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21" name="Oval 81"/>
            <p:cNvSpPr>
              <a:spLocks noChangeArrowheads="1"/>
            </p:cNvSpPr>
            <p:nvPr/>
          </p:nvSpPr>
          <p:spPr bwMode="auto">
            <a:xfrm>
              <a:off x="3836" y="1282"/>
              <a:ext cx="231" cy="231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5522" name="Text Box 82"/>
            <p:cNvSpPr txBox="1">
              <a:spLocks noChangeArrowheads="1"/>
            </p:cNvSpPr>
            <p:nvPr/>
          </p:nvSpPr>
          <p:spPr bwMode="auto">
            <a:xfrm>
              <a:off x="3653" y="1072"/>
              <a:ext cx="248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45523" name="Text Box 83"/>
            <p:cNvSpPr txBox="1">
              <a:spLocks noChangeArrowheads="1"/>
            </p:cNvSpPr>
            <p:nvPr/>
          </p:nvSpPr>
          <p:spPr bwMode="auto">
            <a:xfrm>
              <a:off x="3682" y="1322"/>
              <a:ext cx="169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45524" name="Oval 84"/>
            <p:cNvSpPr>
              <a:spLocks noChangeArrowheads="1"/>
            </p:cNvSpPr>
            <p:nvPr/>
          </p:nvSpPr>
          <p:spPr bwMode="auto">
            <a:xfrm>
              <a:off x="3836" y="1715"/>
              <a:ext cx="231" cy="231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5525" name="Text Box 85"/>
            <p:cNvSpPr txBox="1">
              <a:spLocks noChangeArrowheads="1"/>
            </p:cNvSpPr>
            <p:nvPr/>
          </p:nvSpPr>
          <p:spPr bwMode="auto">
            <a:xfrm>
              <a:off x="3643" y="1511"/>
              <a:ext cx="248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45526" name="Line 86"/>
            <p:cNvSpPr>
              <a:spLocks noChangeShapeType="1"/>
            </p:cNvSpPr>
            <p:nvPr/>
          </p:nvSpPr>
          <p:spPr bwMode="auto">
            <a:xfrm>
              <a:off x="3954" y="760"/>
              <a:ext cx="0" cy="12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27" name="Line 87"/>
            <p:cNvSpPr>
              <a:spLocks noChangeShapeType="1"/>
            </p:cNvSpPr>
            <p:nvPr/>
          </p:nvSpPr>
          <p:spPr bwMode="auto">
            <a:xfrm>
              <a:off x="4796" y="760"/>
              <a:ext cx="0" cy="3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28" name="Line 88"/>
            <p:cNvSpPr>
              <a:spLocks noChangeShapeType="1"/>
            </p:cNvSpPr>
            <p:nvPr/>
          </p:nvSpPr>
          <p:spPr bwMode="auto">
            <a:xfrm>
              <a:off x="4796" y="1371"/>
              <a:ext cx="0" cy="2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29" name="Line 89"/>
            <p:cNvSpPr>
              <a:spLocks noChangeShapeType="1"/>
            </p:cNvSpPr>
            <p:nvPr/>
          </p:nvSpPr>
          <p:spPr bwMode="auto">
            <a:xfrm>
              <a:off x="4796" y="1644"/>
              <a:ext cx="0" cy="3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30" name="Line 90"/>
            <p:cNvSpPr>
              <a:spLocks noChangeShapeType="1"/>
            </p:cNvSpPr>
            <p:nvPr/>
          </p:nvSpPr>
          <p:spPr bwMode="auto">
            <a:xfrm flipV="1">
              <a:off x="4681" y="1467"/>
              <a:ext cx="235" cy="235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31" name="Text Box 91"/>
            <p:cNvSpPr txBox="1">
              <a:spLocks noChangeArrowheads="1"/>
            </p:cNvSpPr>
            <p:nvPr/>
          </p:nvSpPr>
          <p:spPr bwMode="auto">
            <a:xfrm>
              <a:off x="5058" y="1053"/>
              <a:ext cx="257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45532" name="Text Box 92"/>
            <p:cNvSpPr txBox="1">
              <a:spLocks noChangeArrowheads="1"/>
            </p:cNvSpPr>
            <p:nvPr/>
          </p:nvSpPr>
          <p:spPr bwMode="auto">
            <a:xfrm>
              <a:off x="4902" y="1491"/>
              <a:ext cx="268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45533" name="Rectangle 93"/>
            <p:cNvSpPr>
              <a:spLocks noChangeArrowheads="1"/>
            </p:cNvSpPr>
            <p:nvPr/>
          </p:nvSpPr>
          <p:spPr bwMode="auto">
            <a:xfrm rot="-5400000">
              <a:off x="4345" y="645"/>
              <a:ext cx="96" cy="23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5534" name="Text Box 94"/>
            <p:cNvSpPr txBox="1">
              <a:spLocks noChangeArrowheads="1"/>
            </p:cNvSpPr>
            <p:nvPr/>
          </p:nvSpPr>
          <p:spPr bwMode="auto">
            <a:xfrm>
              <a:off x="4425" y="491"/>
              <a:ext cx="269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45535" name="Text Box 95"/>
            <p:cNvSpPr txBox="1">
              <a:spLocks noChangeArrowheads="1"/>
            </p:cNvSpPr>
            <p:nvPr/>
          </p:nvSpPr>
          <p:spPr bwMode="auto">
            <a:xfrm>
              <a:off x="3646" y="873"/>
              <a:ext cx="283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000" b="1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45536" name="Text Box 96"/>
            <p:cNvSpPr txBox="1">
              <a:spLocks noChangeArrowheads="1"/>
            </p:cNvSpPr>
            <p:nvPr/>
          </p:nvSpPr>
          <p:spPr bwMode="auto">
            <a:xfrm>
              <a:off x="3663" y="1325"/>
              <a:ext cx="283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000" b="1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45537" name="Text Box 97"/>
            <p:cNvSpPr txBox="1">
              <a:spLocks noChangeArrowheads="1"/>
            </p:cNvSpPr>
            <p:nvPr/>
          </p:nvSpPr>
          <p:spPr bwMode="auto">
            <a:xfrm>
              <a:off x="3681" y="1786"/>
              <a:ext cx="283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000" b="1" i="1"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000" b="1" baseline="-25000">
                  <a:latin typeface="Times New Roman" panose="02020603050405020304" pitchFamily="18" charset="0"/>
                </a:rPr>
                <a:t>3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grpSp>
          <p:nvGrpSpPr>
            <p:cNvPr id="445538" name="Group 98"/>
            <p:cNvGrpSpPr>
              <a:grpSpLocks/>
            </p:cNvGrpSpPr>
            <p:nvPr/>
          </p:nvGrpSpPr>
          <p:grpSpPr bwMode="auto">
            <a:xfrm rot="5400000">
              <a:off x="4666" y="1195"/>
              <a:ext cx="304" cy="46"/>
              <a:chOff x="1200" y="1584"/>
              <a:chExt cx="379" cy="45"/>
            </a:xfrm>
          </p:grpSpPr>
          <p:sp>
            <p:nvSpPr>
              <p:cNvPr id="445539" name="Arc 99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540" name="Arc 100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541" name="Arc 101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542" name="Arc 102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5543" name="Line 103"/>
            <p:cNvSpPr>
              <a:spLocks noChangeShapeType="1"/>
            </p:cNvSpPr>
            <p:nvPr/>
          </p:nvSpPr>
          <p:spPr bwMode="auto">
            <a:xfrm>
              <a:off x="3959" y="2029"/>
              <a:ext cx="8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44" name="Text Box 104"/>
            <p:cNvSpPr txBox="1">
              <a:spLocks noChangeArrowheads="1"/>
            </p:cNvSpPr>
            <p:nvPr/>
          </p:nvSpPr>
          <p:spPr bwMode="auto">
            <a:xfrm>
              <a:off x="3686" y="1783"/>
              <a:ext cx="170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45545" name="Text Box 105"/>
            <p:cNvSpPr txBox="1">
              <a:spLocks noChangeArrowheads="1"/>
            </p:cNvSpPr>
            <p:nvPr/>
          </p:nvSpPr>
          <p:spPr bwMode="auto">
            <a:xfrm>
              <a:off x="4435" y="1089"/>
              <a:ext cx="256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445546" name="Group 106"/>
            <p:cNvGrpSpPr>
              <a:grpSpLocks/>
            </p:cNvGrpSpPr>
            <p:nvPr/>
          </p:nvGrpSpPr>
          <p:grpSpPr bwMode="auto">
            <a:xfrm rot="5400000">
              <a:off x="4859" y="1177"/>
              <a:ext cx="304" cy="46"/>
              <a:chOff x="1200" y="1584"/>
              <a:chExt cx="379" cy="45"/>
            </a:xfrm>
          </p:grpSpPr>
          <p:sp>
            <p:nvSpPr>
              <p:cNvPr id="445547" name="Arc 107"/>
              <p:cNvSpPr>
                <a:spLocks/>
              </p:cNvSpPr>
              <p:nvPr/>
            </p:nvSpPr>
            <p:spPr bwMode="auto">
              <a:xfrm rot="5400000" flipH="1" flipV="1">
                <a:off x="1223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548" name="Arc 108"/>
              <p:cNvSpPr>
                <a:spLocks/>
              </p:cNvSpPr>
              <p:nvPr/>
            </p:nvSpPr>
            <p:spPr bwMode="auto">
              <a:xfrm rot="5400000" flipH="1" flipV="1">
                <a:off x="1319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549" name="Arc 109"/>
              <p:cNvSpPr>
                <a:spLocks/>
              </p:cNvSpPr>
              <p:nvPr/>
            </p:nvSpPr>
            <p:spPr bwMode="auto">
              <a:xfrm rot="5400000" flipH="1" flipV="1">
                <a:off x="1415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550" name="Arc 110"/>
              <p:cNvSpPr>
                <a:spLocks/>
              </p:cNvSpPr>
              <p:nvPr/>
            </p:nvSpPr>
            <p:spPr bwMode="auto">
              <a:xfrm rot="5400000" flipH="1" flipV="1">
                <a:off x="1511" y="1561"/>
                <a:ext cx="45" cy="91"/>
              </a:xfrm>
              <a:custGeom>
                <a:avLst/>
                <a:gdLst>
                  <a:gd name="G0" fmla="+- 1123 0 0"/>
                  <a:gd name="G1" fmla="+- 21600 0 0"/>
                  <a:gd name="G2" fmla="+- 21600 0 0"/>
                  <a:gd name="T0" fmla="*/ 1123 w 22723"/>
                  <a:gd name="T1" fmla="*/ 0 h 43200"/>
                  <a:gd name="T2" fmla="*/ 0 w 22723"/>
                  <a:gd name="T3" fmla="*/ 43171 h 43200"/>
                  <a:gd name="T4" fmla="*/ 1123 w 22723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723" h="43200" fill="none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</a:path>
                  <a:path w="22723" h="43200" stroke="0" extrusionOk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199"/>
                      <a:pt x="374" y="43190"/>
                      <a:pt x="0" y="43170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5551" name="Line 111"/>
            <p:cNvSpPr>
              <a:spLocks noChangeShapeType="1"/>
            </p:cNvSpPr>
            <p:nvPr/>
          </p:nvSpPr>
          <p:spPr bwMode="auto">
            <a:xfrm>
              <a:off x="4988" y="898"/>
              <a:ext cx="0" cy="1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52" name="Line 112"/>
            <p:cNvSpPr>
              <a:spLocks noChangeShapeType="1"/>
            </p:cNvSpPr>
            <p:nvPr/>
          </p:nvSpPr>
          <p:spPr bwMode="auto">
            <a:xfrm>
              <a:off x="5001" y="897"/>
              <a:ext cx="3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53" name="Line 113"/>
            <p:cNvSpPr>
              <a:spLocks noChangeShapeType="1"/>
            </p:cNvSpPr>
            <p:nvPr/>
          </p:nvSpPr>
          <p:spPr bwMode="auto">
            <a:xfrm>
              <a:off x="4988" y="1355"/>
              <a:ext cx="0" cy="1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54" name="Oval 114"/>
            <p:cNvSpPr>
              <a:spLocks noChangeArrowheads="1"/>
            </p:cNvSpPr>
            <p:nvPr/>
          </p:nvSpPr>
          <p:spPr bwMode="auto">
            <a:xfrm>
              <a:off x="4701" y="1007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55" name="Oval 115"/>
            <p:cNvSpPr>
              <a:spLocks noChangeArrowheads="1"/>
            </p:cNvSpPr>
            <p:nvPr/>
          </p:nvSpPr>
          <p:spPr bwMode="auto">
            <a:xfrm>
              <a:off x="5030" y="989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56" name="Freeform 116"/>
            <p:cNvSpPr>
              <a:spLocks/>
            </p:cNvSpPr>
            <p:nvPr/>
          </p:nvSpPr>
          <p:spPr bwMode="auto">
            <a:xfrm>
              <a:off x="4747" y="905"/>
              <a:ext cx="275" cy="56"/>
            </a:xfrm>
            <a:custGeom>
              <a:avLst/>
              <a:gdLst>
                <a:gd name="T0" fmla="*/ 0 w 275"/>
                <a:gd name="T1" fmla="*/ 47 h 56"/>
                <a:gd name="T2" fmla="*/ 138 w 275"/>
                <a:gd name="T3" fmla="*/ 1 h 56"/>
                <a:gd name="T4" fmla="*/ 275 w 275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5" h="56">
                  <a:moveTo>
                    <a:pt x="0" y="47"/>
                  </a:moveTo>
                  <a:cubicBezTo>
                    <a:pt x="46" y="23"/>
                    <a:pt x="92" y="0"/>
                    <a:pt x="138" y="1"/>
                  </a:cubicBezTo>
                  <a:cubicBezTo>
                    <a:pt x="184" y="2"/>
                    <a:pt x="229" y="29"/>
                    <a:pt x="275" y="5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557" name="Text Box 117"/>
            <p:cNvSpPr txBox="1">
              <a:spLocks noChangeArrowheads="1"/>
            </p:cNvSpPr>
            <p:nvPr/>
          </p:nvSpPr>
          <p:spPr bwMode="auto">
            <a:xfrm>
              <a:off x="4801" y="568"/>
              <a:ext cx="317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445558" name="Line 118"/>
            <p:cNvSpPr>
              <a:spLocks noChangeShapeType="1"/>
            </p:cNvSpPr>
            <p:nvPr/>
          </p:nvSpPr>
          <p:spPr bwMode="auto">
            <a:xfrm>
              <a:off x="4992" y="1501"/>
              <a:ext cx="3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559" name="Rectangle 119"/>
            <p:cNvSpPr>
              <a:spLocks noChangeArrowheads="1"/>
            </p:cNvSpPr>
            <p:nvPr/>
          </p:nvSpPr>
          <p:spPr bwMode="auto">
            <a:xfrm>
              <a:off x="5303" y="722"/>
              <a:ext cx="329" cy="99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放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大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电</a:t>
              </a:r>
            </a:p>
            <a:p>
              <a:pPr>
                <a:spcBef>
                  <a:spcPct val="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路</a:t>
              </a:r>
            </a:p>
          </p:txBody>
        </p:sp>
      </p:grpSp>
      <p:sp>
        <p:nvSpPr>
          <p:cNvPr id="445560" name="Text Box 120"/>
          <p:cNvSpPr txBox="1">
            <a:spLocks noChangeArrowheads="1"/>
          </p:cNvSpPr>
          <p:nvPr/>
        </p:nvSpPr>
        <p:spPr bwMode="auto">
          <a:xfrm>
            <a:off x="6223000" y="839788"/>
            <a:ext cx="202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等效电路模型</a:t>
            </a:r>
          </a:p>
        </p:txBody>
      </p:sp>
      <p:sp>
        <p:nvSpPr>
          <p:cNvPr id="123" name="Rectangle 10"/>
          <p:cNvSpPr>
            <a:spLocks noChangeArrowheads="1"/>
          </p:cNvSpPr>
          <p:nvPr/>
        </p:nvSpPr>
        <p:spPr bwMode="auto">
          <a:xfrm>
            <a:off x="1203326" y="6251576"/>
            <a:ext cx="6938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0"/>
              </a:spcBef>
            </a:pPr>
            <a:r>
              <a:rPr kumimoji="1"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Q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对选择性的影响：</a:t>
            </a:r>
            <a:r>
              <a:rPr kumimoji="1"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Q</a:t>
            </a:r>
            <a:r>
              <a:rPr kumimoji="1" lang="zh-CN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越大，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选择性越好</a:t>
            </a:r>
          </a:p>
        </p:txBody>
      </p:sp>
      <p:sp>
        <p:nvSpPr>
          <p:cNvPr id="117" name="Text Box 123"/>
          <p:cNvSpPr txBox="1">
            <a:spLocks noChangeArrowheads="1"/>
          </p:cNvSpPr>
          <p:nvPr/>
        </p:nvSpPr>
        <p:spPr bwMode="auto">
          <a:xfrm>
            <a:off x="195263" y="100013"/>
            <a:ext cx="3105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五、谐振的应用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5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4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5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45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4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45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5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4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2" grpId="0" autoUpdateAnimBg="0"/>
      <p:bldP spid="445472" grpId="0" autoUpdateAnimBg="0"/>
      <p:bldP spid="445511" grpId="0" animBg="1" autoUpdateAnimBg="0"/>
      <p:bldP spid="445560" grpId="0" autoUpdateAnimBg="0"/>
      <p:bldP spid="12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>
          <a:xfrm>
            <a:off x="628650" y="-8733"/>
            <a:ext cx="7886700" cy="1325563"/>
          </a:xfrm>
        </p:spPr>
        <p:txBody>
          <a:bodyPr/>
          <a:lstStyle/>
          <a:p>
            <a:pPr algn="ctr"/>
            <a:r>
              <a:rPr lang="zh-CN" altLang="en-US" dirty="0"/>
              <a:t>作业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381000" y="914400"/>
            <a:ext cx="8294688" cy="5181600"/>
          </a:xfrm>
        </p:spPr>
        <p:txBody>
          <a:bodyPr/>
          <a:lstStyle/>
          <a:p>
            <a:r>
              <a:rPr lang="en-US" altLang="zh-CN" dirty="0"/>
              <a:t>14.3</a:t>
            </a:r>
            <a:r>
              <a:rPr lang="zh-CN" altLang="en-US" dirty="0"/>
              <a:t>节：</a:t>
            </a:r>
            <a:r>
              <a:rPr lang="en-US" altLang="zh-CN" dirty="0"/>
              <a:t>14-9</a:t>
            </a:r>
            <a:r>
              <a:rPr lang="zh-CN" altLang="en-US" dirty="0"/>
              <a:t>，</a:t>
            </a:r>
            <a:r>
              <a:rPr lang="en-US" altLang="zh-CN" dirty="0"/>
              <a:t>14-10</a:t>
            </a:r>
          </a:p>
          <a:p>
            <a:r>
              <a:rPr lang="en-US" altLang="zh-CN" dirty="0"/>
              <a:t>14.4</a:t>
            </a:r>
            <a:r>
              <a:rPr lang="zh-CN" altLang="en-US" dirty="0"/>
              <a:t>节：</a:t>
            </a:r>
            <a:r>
              <a:rPr lang="en-US" altLang="zh-CN" dirty="0" smtClean="0"/>
              <a:t>14-14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04BC380-5849-4E82-9448-222F2C781241}" type="datetime1">
              <a:rPr lang="zh-CN" altLang="en-US" smtClean="0"/>
              <a:pPr>
                <a:defRPr/>
              </a:pPr>
              <a:t>2019/5/23</a:t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BECC24-E164-4786-A8C5-2CB7D75106FC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895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3300"/>
      </a:hlink>
      <a:folHlink>
        <a:srgbClr val="FF3300"/>
      </a:folHlink>
    </a:clrScheme>
    <a:fontScheme name="默认设计模板">
      <a:majorFont>
        <a:latin typeface="Times New Roman"/>
        <a:ea typeface="华文隶书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隶书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隶书" panose="02010509060101010101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1500</TotalTime>
  <Words>970</Words>
  <Application>Microsoft Office PowerPoint</Application>
  <PresentationFormat>全屏显示(4:3)</PresentationFormat>
  <Paragraphs>341</Paragraphs>
  <Slides>25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黑体</vt:lpstr>
      <vt:lpstr>华文行楷</vt:lpstr>
      <vt:lpstr>华文楷体</vt:lpstr>
      <vt:lpstr>华文隶书</vt:lpstr>
      <vt:lpstr>华文宋体</vt:lpstr>
      <vt:lpstr>隶书</vt:lpstr>
      <vt:lpstr>宋体</vt:lpstr>
      <vt:lpstr>Arial</vt:lpstr>
      <vt:lpstr>Comic Sans MS</vt:lpstr>
      <vt:lpstr>Symbol</vt:lpstr>
      <vt:lpstr>Times New Roman</vt:lpstr>
      <vt:lpstr>默认设计模板</vt:lpstr>
      <vt:lpstr>1_默认设计模板</vt:lpstr>
      <vt:lpstr>Equation</vt:lpstr>
      <vt:lpstr>公式</vt:lpstr>
      <vt:lpstr>Visio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</vt:vector>
  </TitlesOfParts>
  <Company>thu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正弦激励下动态电路的稳态分析</dc:title>
  <dc:creator>gpzhu</dc:creator>
  <cp:lastModifiedBy>Yang Yong</cp:lastModifiedBy>
  <cp:revision>218</cp:revision>
  <dcterms:created xsi:type="dcterms:W3CDTF">2007-11-19T02:15:52Z</dcterms:created>
  <dcterms:modified xsi:type="dcterms:W3CDTF">2019-05-23T13:04:34Z</dcterms:modified>
</cp:coreProperties>
</file>